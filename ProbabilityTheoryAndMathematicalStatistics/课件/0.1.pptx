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04" r:id="rId3"/>
    <p:sldId id="305" r:id="rId4"/>
    <p:sldId id="323" r:id="rId5"/>
    <p:sldId id="310" r:id="rId6"/>
    <p:sldId id="318" r:id="rId7"/>
    <p:sldId id="324" r:id="rId8"/>
    <p:sldId id="325" r:id="rId9"/>
    <p:sldId id="327" r:id="rId10"/>
    <p:sldId id="343" r:id="rId11"/>
    <p:sldId id="335" r:id="rId12"/>
    <p:sldId id="336" r:id="rId13"/>
    <p:sldId id="337" r:id="rId14"/>
    <p:sldId id="338" r:id="rId15"/>
    <p:sldId id="339" r:id="rId16"/>
    <p:sldId id="340" r:id="rId17"/>
    <p:sldId id="341" r:id="rId18"/>
  </p:sldIdLst>
  <p:sldSz cx="9144000" cy="6858000" type="screen4x3"/>
  <p:notesSz cx="6858000" cy="9144000"/>
  <p:custShowLst>
    <p:custShow name="笛卡儿" id="0">
      <p:sldLst/>
    </p:custShow>
    <p:custShow name="华罗庚" id="1">
      <p:sldLst/>
    </p:custShow>
  </p:custShowLst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27" userDrawn="1">
          <p15:clr>
            <a:srgbClr val="A4A3A4"/>
          </p15:clr>
        </p15:guide>
        <p15:guide id="2" pos="20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CC"/>
    <a:srgbClr val="357ED3"/>
    <a:srgbClr val="003300"/>
    <a:srgbClr val="660033"/>
    <a:srgbClr val="663300"/>
    <a:srgbClr val="292929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6"/>
    <p:restoredTop sz="90928"/>
  </p:normalViewPr>
  <p:slideViewPr>
    <p:cSldViewPr showGuides="1">
      <p:cViewPr varScale="1">
        <p:scale>
          <a:sx n="93" d="100"/>
          <a:sy n="93" d="100"/>
        </p:scale>
        <p:origin x="1722" y="90"/>
      </p:cViewPr>
      <p:guideLst>
        <p:guide orient="horz" pos="2827"/>
        <p:guide pos="20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Header Placeholder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075" name="Date Placeholder 3074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076" name="Footer Placeholder 3075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077" name="Slide Number Placeholder 3076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0E5DBE-0D6B-4316-80D1-484DA6D503E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Header Placeholder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51" name="Date Placeholder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8916" name="Slide Image Placeholder 20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Text Placeholder 2052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单击以编辑母版文本样式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4" name="Footer Placeholder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55" name="Slide Number Placeholder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DF1AD2-9087-41D4-8885-30A4480BF7F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7.jpeg"/><Relationship Id="rId16" Type="http://schemas.openxmlformats.org/officeDocument/2006/relationships/image" Target="../media/image6.jpeg"/><Relationship Id="rId15" Type="http://schemas.openxmlformats.org/officeDocument/2006/relationships/image" Target="../media/image5.jpeg"/><Relationship Id="rId14" Type="http://schemas.openxmlformats.org/officeDocument/2006/relationships/image" Target="../media/image4.jpeg"/><Relationship Id="rId13" Type="http://schemas.openxmlformats.org/officeDocument/2006/relationships/image" Target="../media/image3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Text Placeholder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单击以编辑母版文本样式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Text Box 1047"/>
          <p:cNvSpPr txBox="1">
            <a:spLocks noChangeArrowheads="1"/>
          </p:cNvSpPr>
          <p:nvPr/>
        </p:nvSpPr>
        <p:spPr bwMode="auto">
          <a:xfrm>
            <a:off x="6513513" y="6600825"/>
            <a:ext cx="2279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目录   上页   下页   返回   结束 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pic>
        <p:nvPicPr>
          <p:cNvPr id="1029" name="Picture 1048" descr="F:\My Documents\数学资源库\返回.jpg">
            <a:hlinkClick r:id="" action="ppaction://hlinkshowjump?jump=lastslideviewed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Picture 1049" descr="F:\My Documents\数学资源库\目录.jp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56431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1" name="Picture 1050" descr="F:\My Documents\数学资源库\上一页.jpg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010400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1051" descr="F:\My Documents\数学资源库\退出.jpg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052" descr="F:\My Documents\数学资源库\下一页.jp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456488" y="6376988"/>
            <a:ext cx="355600" cy="28733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" name="图片 1" descr="班群二维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060" y="537210"/>
            <a:ext cx="3865245" cy="5783580"/>
          </a:xfrm>
          <a:prstGeom prst="rect">
            <a:avLst/>
          </a:prstGeom>
        </p:spPr>
      </p:pic>
      <p:sp>
        <p:nvSpPr>
          <p:cNvPr id="5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61" name="Title 1"/>
          <p:cNvSpPr>
            <a:spLocks noGrp="1"/>
          </p:cNvSpPr>
          <p:nvPr>
            <p:ph type="title" idx="4294967295"/>
          </p:nvPr>
        </p:nvSpPr>
        <p:spPr>
          <a:xfrm>
            <a:off x="685800" y="938530"/>
            <a:ext cx="7772400" cy="498030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任课教师:</a:t>
            </a:r>
            <a:r>
              <a:rPr lang="en-US" altLang="zh-CN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陈祥宏</a:t>
            </a:r>
            <a:br>
              <a:rPr lang="en-US" altLang="zh-CN" dirty="0">
                <a:solidFill>
                  <a:srgbClr val="0033CC"/>
                </a:solidFill>
              </a:rPr>
            </a:br>
            <a:r>
              <a:rPr lang="en-US" altLang="zh-CN" dirty="0">
                <a:solidFill>
                  <a:srgbClr val="0033CC"/>
                </a:solidFill>
              </a:rPr>
              <a:t>chenxiangh@mail.sysu.edu.cn</a:t>
            </a:r>
            <a:endParaRPr lang="en-US" altLang="zh-CN" dirty="0">
              <a:solidFill>
                <a:srgbClr val="0033CC"/>
              </a:solidFill>
            </a:endParaRPr>
          </a:p>
        </p:txBody>
      </p:sp>
      <p:sp>
        <p:nvSpPr>
          <p:cNvPr id="2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教材封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1440" y="1217295"/>
            <a:ext cx="3881120" cy="4997450"/>
          </a:xfrm>
          <a:prstGeom prst="rect">
            <a:avLst/>
          </a:prstGeom>
        </p:spPr>
      </p:pic>
      <p:sp>
        <p:nvSpPr>
          <p:cNvPr id="41985" name="Text Box 66563"/>
          <p:cNvSpPr txBox="1"/>
          <p:nvPr/>
        </p:nvSpPr>
        <p:spPr>
          <a:xfrm>
            <a:off x="827088" y="549275"/>
            <a:ext cx="125349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教材</a:t>
            </a:r>
            <a:r>
              <a:rPr lang="en-US" altLang="zh-CN" sz="3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36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985" name="Text Box 66563"/>
          <p:cNvSpPr txBox="1"/>
          <p:nvPr/>
        </p:nvSpPr>
        <p:spPr>
          <a:xfrm>
            <a:off x="827088" y="549275"/>
            <a:ext cx="217170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参考教材</a:t>
            </a:r>
            <a:r>
              <a:rPr lang="en-US" altLang="zh-CN" sz="3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36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6" name="Text Box 66564"/>
          <p:cNvSpPr txBox="1"/>
          <p:nvPr/>
        </p:nvSpPr>
        <p:spPr>
          <a:xfrm>
            <a:off x="827088" y="1694498"/>
            <a:ext cx="6269037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l" eaLnBrk="0" hangingPunct="0">
              <a:spcBef>
                <a:spcPct val="50000"/>
              </a:spcBef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《概率论与数理统计》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7" name="Text Box 66568"/>
          <p:cNvSpPr txBox="1"/>
          <p:nvPr/>
        </p:nvSpPr>
        <p:spPr>
          <a:xfrm>
            <a:off x="1235075" y="2402523"/>
            <a:ext cx="19177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龙永红 著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8" name="Text Box 1"/>
          <p:cNvSpPr txBox="1"/>
          <p:nvPr/>
        </p:nvSpPr>
        <p:spPr>
          <a:xfrm>
            <a:off x="827088" y="3332798"/>
            <a:ext cx="30410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spcBef>
                <a:spcPct val="50000"/>
              </a:spcBef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sym typeface="+mn-ea"/>
              </a:rPr>
              <a:t>《概率论基础》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9" name="Text Box 2"/>
          <p:cNvSpPr txBox="1"/>
          <p:nvPr/>
        </p:nvSpPr>
        <p:spPr>
          <a:xfrm>
            <a:off x="1235075" y="4005898"/>
            <a:ext cx="19177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sym typeface="+mn-ea"/>
              </a:rPr>
              <a:t>李贤平 著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90" name="Text Box 10"/>
          <p:cNvSpPr txBox="1"/>
          <p:nvPr/>
        </p:nvSpPr>
        <p:spPr>
          <a:xfrm>
            <a:off x="4427538" y="4005898"/>
            <a:ext cx="30410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sym typeface="宋体" panose="02010600030101010101" pitchFamily="2" charset="-122"/>
              </a:rPr>
              <a:t>高等教育出版社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  <p:sp>
        <p:nvSpPr>
          <p:cNvPr id="41991" name="Text Box 11"/>
          <p:cNvSpPr txBox="1"/>
          <p:nvPr/>
        </p:nvSpPr>
        <p:spPr>
          <a:xfrm>
            <a:off x="4427538" y="2402523"/>
            <a:ext cx="30410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高等教育出版社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 Box 1"/>
          <p:cNvSpPr txBox="1"/>
          <p:nvPr/>
        </p:nvSpPr>
        <p:spPr>
          <a:xfrm>
            <a:off x="827088" y="4994593"/>
            <a:ext cx="426593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spcBef>
                <a:spcPct val="50000"/>
              </a:spcBef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《概率论及数理统计》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Text Box 2"/>
          <p:cNvSpPr txBox="1"/>
          <p:nvPr/>
        </p:nvSpPr>
        <p:spPr>
          <a:xfrm>
            <a:off x="1235075" y="5667693"/>
            <a:ext cx="232600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邓集贤等 著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Text Box 10"/>
          <p:cNvSpPr txBox="1"/>
          <p:nvPr/>
        </p:nvSpPr>
        <p:spPr>
          <a:xfrm>
            <a:off x="4427538" y="5667693"/>
            <a:ext cx="304101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0" hangingPunct="0">
              <a:buClrTx/>
              <a:buSzTx/>
              <a:buFontTx/>
            </a:pPr>
            <a:r>
              <a:rPr lang="zh-CN" altLang="en-US" sz="3200" b="1" dirty="0">
                <a:solidFill>
                  <a:srgbClr val="0033CC"/>
                </a:solidFill>
                <a:sym typeface="宋体" panose="02010600030101010101" pitchFamily="2" charset="-122"/>
              </a:rPr>
              <a:t>高等教育出版社</a:t>
            </a:r>
            <a:endParaRPr lang="zh-CN" altLang="en-US" sz="32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3009" name="Group 1"/>
          <p:cNvGrpSpPr/>
          <p:nvPr/>
        </p:nvGrpSpPr>
        <p:grpSpPr>
          <a:xfrm>
            <a:off x="3204210" y="2071370"/>
            <a:ext cx="2055980" cy="2714625"/>
            <a:chOff x="3552" y="3728"/>
            <a:chExt cx="3235" cy="3241"/>
          </a:xfrm>
        </p:grpSpPr>
        <p:sp>
          <p:nvSpPr>
            <p:cNvPr id="43010" name="Text Box 35"/>
            <p:cNvSpPr txBox="1"/>
            <p:nvPr/>
          </p:nvSpPr>
          <p:spPr>
            <a:xfrm>
              <a:off x="3912" y="3728"/>
              <a:ext cx="2875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每周作业</a:t>
              </a:r>
              <a:endPara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011" name="Text Box 37"/>
            <p:cNvSpPr txBox="1"/>
            <p:nvPr/>
          </p:nvSpPr>
          <p:spPr>
            <a:xfrm>
              <a:off x="3912" y="6271"/>
              <a:ext cx="2875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期末考试</a:t>
              </a:r>
              <a:endPara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012" name="AutoShape 41"/>
            <p:cNvSpPr/>
            <p:nvPr/>
          </p:nvSpPr>
          <p:spPr>
            <a:xfrm>
              <a:off x="3552" y="4117"/>
              <a:ext cx="360" cy="2520"/>
            </a:xfrm>
            <a:prstGeom prst="leftBrace">
              <a:avLst>
                <a:gd name="adj1" fmla="val 58203"/>
                <a:gd name="adj2" fmla="val 50000"/>
              </a:avLst>
            </a:prstGeom>
            <a:noFill/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/>
              <a:endParaRPr lang="en-US" altLang="en-US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013" name="Text Box 35"/>
            <p:cNvSpPr txBox="1"/>
            <p:nvPr/>
          </p:nvSpPr>
          <p:spPr>
            <a:xfrm>
              <a:off x="3912" y="4576"/>
              <a:ext cx="1573" cy="6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小测</a:t>
              </a:r>
              <a:endPara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014" name="Text Box 37"/>
            <p:cNvSpPr txBox="1"/>
            <p:nvPr/>
          </p:nvSpPr>
          <p:spPr>
            <a:xfrm>
              <a:off x="3912" y="5423"/>
              <a:ext cx="1583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出勤</a:t>
              </a:r>
              <a:endPara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3015" name="Text Box 66563"/>
          <p:cNvSpPr txBox="1"/>
          <p:nvPr/>
        </p:nvSpPr>
        <p:spPr>
          <a:xfrm>
            <a:off x="827088" y="549275"/>
            <a:ext cx="217170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成绩评定</a:t>
            </a:r>
            <a:r>
              <a:rPr lang="en-US" altLang="zh-CN" sz="3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36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394460" y="668020"/>
            <a:ext cx="6354445" cy="5521325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095" y="3789045"/>
            <a:ext cx="6354000" cy="22754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67" t="-5753" r="623"/>
          <a:stretch>
            <a:fillRect/>
          </a:stretch>
        </p:blipFill>
        <p:spPr>
          <a:xfrm>
            <a:off x="1395095" y="404495"/>
            <a:ext cx="6354000" cy="3511388"/>
          </a:xfrm>
          <a:prstGeom prst="rect">
            <a:avLst/>
          </a:prstGeom>
        </p:spPr>
      </p:pic>
      <p:sp>
        <p:nvSpPr>
          <p:cNvPr id="5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-999" b="32504"/>
          <a:stretch>
            <a:fillRect/>
          </a:stretch>
        </p:blipFill>
        <p:spPr>
          <a:xfrm>
            <a:off x="1395095" y="1228090"/>
            <a:ext cx="6354000" cy="440240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8" name="TextBox 8"/>
          <p:cNvSpPr txBox="1"/>
          <p:nvPr/>
        </p:nvSpPr>
        <p:spPr>
          <a:xfrm>
            <a:off x="858837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095" y="868045"/>
            <a:ext cx="6354000" cy="281749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904"/>
          <a:stretch>
            <a:fillRect/>
          </a:stretch>
        </p:blipFill>
        <p:spPr>
          <a:xfrm>
            <a:off x="1395095" y="3589020"/>
            <a:ext cx="6354000" cy="2340742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0025" y="-156845"/>
            <a:ext cx="9544050" cy="7172325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847534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62255" y="-147320"/>
            <a:ext cx="9525000" cy="715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685" y="-147320"/>
            <a:ext cx="9552940" cy="1297940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8403590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9550" y="-152400"/>
            <a:ext cx="9563100" cy="7162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5420" y="-147320"/>
            <a:ext cx="9552940" cy="1297940"/>
          </a:xfrm>
          <a:prstGeom prst="rect">
            <a:avLst/>
          </a:prstGeom>
        </p:spPr>
      </p:pic>
      <p:sp>
        <p:nvSpPr>
          <p:cNvPr id="6" name="TextBox 8"/>
          <p:cNvSpPr txBox="1"/>
          <p:nvPr/>
        </p:nvSpPr>
        <p:spPr>
          <a:xfrm>
            <a:off x="847534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4945" y="-147320"/>
            <a:ext cx="9534525" cy="715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930" y="-147320"/>
            <a:ext cx="9552940" cy="1297940"/>
          </a:xfrm>
          <a:prstGeom prst="rect">
            <a:avLst/>
          </a:prstGeom>
        </p:spPr>
      </p:pic>
      <p:sp>
        <p:nvSpPr>
          <p:cNvPr id="4" name="TextBox 8"/>
          <p:cNvSpPr txBox="1"/>
          <p:nvPr/>
        </p:nvSpPr>
        <p:spPr>
          <a:xfrm>
            <a:off x="847534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4945" y="-147320"/>
            <a:ext cx="9534525" cy="715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930" y="-147320"/>
            <a:ext cx="9552940" cy="1297940"/>
          </a:xfrm>
          <a:prstGeom prst="rect">
            <a:avLst/>
          </a:prstGeom>
        </p:spPr>
      </p:pic>
      <p:sp>
        <p:nvSpPr>
          <p:cNvPr id="4" name="TextBox 8"/>
          <p:cNvSpPr txBox="1"/>
          <p:nvPr/>
        </p:nvSpPr>
        <p:spPr>
          <a:xfrm>
            <a:off x="847534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0025" y="-147320"/>
            <a:ext cx="9544050" cy="715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930" y="-147320"/>
            <a:ext cx="9552940" cy="1297940"/>
          </a:xfrm>
          <a:prstGeom prst="rect">
            <a:avLst/>
          </a:prstGeom>
        </p:spPr>
      </p:pic>
      <p:sp>
        <p:nvSpPr>
          <p:cNvPr id="4" name="TextBox 8"/>
          <p:cNvSpPr txBox="1"/>
          <p:nvPr/>
        </p:nvSpPr>
        <p:spPr>
          <a:xfrm>
            <a:off x="847534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3995" y="-161925"/>
            <a:ext cx="9572625" cy="7181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930" y="-147320"/>
            <a:ext cx="9552940" cy="1297940"/>
          </a:xfrm>
          <a:prstGeom prst="rect">
            <a:avLst/>
          </a:prstGeom>
        </p:spPr>
      </p:pic>
      <p:sp>
        <p:nvSpPr>
          <p:cNvPr id="14348" name="TextBox 8"/>
          <p:cNvSpPr txBox="1"/>
          <p:nvPr/>
        </p:nvSpPr>
        <p:spPr>
          <a:xfrm>
            <a:off x="8475345" y="65246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fld id="{9A0DB2DC-4C9A-4742-B13C-FB6460FD3503}" type="slidenum"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</a:fld>
            <a:r>
              <a:rPr lang="en-US" altLang="zh-CN" sz="1800" dirty="0">
                <a:solidFill>
                  <a:srgbClr val="7F7F7F"/>
                </a:solidFill>
                <a:latin typeface="Times New Roman" panose="02020603050405020304" pitchFamily="18" charset="0"/>
              </a:rPr>
              <a:t>/16</a:t>
            </a:r>
            <a:endParaRPr lang="en-US" altLang="zh-CN" sz="1800" dirty="0">
              <a:solidFill>
                <a:srgbClr val="7F7F7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commondata" val="eyJoZGlkIjoiMzk4MGYxNDFlNDllYmNhZmYyZjg3ZjNhMGFhODEyMWUifQ=="/>
</p:tagLst>
</file>

<file path=ppt/theme/theme1.xml><?xml version="1.0" encoding="utf-8"?>
<a:theme xmlns:a="http://schemas.openxmlformats.org/drawingml/2006/main" name="空演示文稿">
  <a:themeElements>
    <a:clrScheme name="">
      <a:dk1>
        <a:srgbClr val="FFFFFF"/>
      </a:dk1>
      <a:lt1>
        <a:srgbClr val="000099"/>
      </a:lt1>
      <a:dk2>
        <a:srgbClr val="FFFF00"/>
      </a:dk2>
      <a:lt2>
        <a:srgbClr val="000000"/>
      </a:lt2>
      <a:accent1>
        <a:srgbClr val="FF9900"/>
      </a:accent1>
      <a:accent2>
        <a:srgbClr val="00FFFF"/>
      </a:accent2>
      <a:accent3>
        <a:srgbClr val="AAAACA"/>
      </a:accent3>
      <a:accent4>
        <a:srgbClr val="DCDCDC"/>
      </a:accent4>
      <a:accent5>
        <a:srgbClr val="FFCAAA"/>
      </a:accent5>
      <a:accent6>
        <a:srgbClr val="00E5E5"/>
      </a:accent6>
      <a:hlink>
        <a:srgbClr val="FF0033"/>
      </a:hlink>
      <a:folHlink>
        <a:srgbClr val="969696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Office\Templates\空演示文稿.pot</Template>
  <TotalTime>0</TotalTime>
  <Words>190</Words>
  <Application>WPS 演示</Application>
  <PresentationFormat>On-screen Show (4:3)</PresentationFormat>
  <Paragraphs>66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  <vt:variant>
        <vt:lpstr>自定义放映</vt:lpstr>
      </vt:variant>
      <vt:variant>
        <vt:i4>2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楷体_GB2312</vt:lpstr>
      <vt:lpstr>新宋体</vt:lpstr>
      <vt:lpstr>楷体</vt:lpstr>
      <vt:lpstr>微软雅黑</vt:lpstr>
      <vt:lpstr>Arial Unicode MS</vt:lpstr>
      <vt:lpstr>空演示文稿</vt:lpstr>
      <vt:lpstr>PowerPoint 演示文稿</vt:lpstr>
      <vt:lpstr>任课教师: 陈祥宏 chenxiangh@mail.sysu.edu.cn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笛卡儿</vt:lpstr>
      <vt:lpstr>华罗庚</vt:lpstr>
    </vt:vector>
  </TitlesOfParts>
  <Company>中国矿业大学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函数与极限</dc:title>
  <dc:creator>曹璎珞，李安昌</dc:creator>
  <cp:lastModifiedBy>T</cp:lastModifiedBy>
  <cp:revision>137</cp:revision>
  <dcterms:created xsi:type="dcterms:W3CDTF">2000-07-15T07:30:00Z</dcterms:created>
  <dcterms:modified xsi:type="dcterms:W3CDTF">2024-02-26T10:10:35Z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7F65AEA6BBA244818110292915F5521E_13</vt:lpwstr>
  </property>
  <property fmtid="{D5CDD505-2E9C-101B-9397-08002B2CF9AE}" pid="3" name="KSOProductBuildVer">
    <vt:lpwstr>2052-12.1.0.16388</vt:lpwstr>
  </property>
</Properties>
</file>