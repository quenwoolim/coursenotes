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80" r:id="rId2"/>
    <p:sldId id="309" r:id="rId3"/>
    <p:sldId id="310" r:id="rId4"/>
    <p:sldId id="317" r:id="rId5"/>
    <p:sldId id="318" r:id="rId6"/>
    <p:sldId id="311" r:id="rId7"/>
    <p:sldId id="316" r:id="rId8"/>
    <p:sldId id="290" r:id="rId9"/>
    <p:sldId id="313" r:id="rId10"/>
    <p:sldId id="282" r:id="rId11"/>
    <p:sldId id="303" r:id="rId12"/>
    <p:sldId id="329" r:id="rId13"/>
    <p:sldId id="283" r:id="rId14"/>
    <p:sldId id="321" r:id="rId15"/>
    <p:sldId id="322" r:id="rId16"/>
    <p:sldId id="334" r:id="rId17"/>
    <p:sldId id="284" r:id="rId18"/>
    <p:sldId id="323" r:id="rId19"/>
    <p:sldId id="324" r:id="rId20"/>
    <p:sldId id="325" r:id="rId21"/>
    <p:sldId id="319" r:id="rId22"/>
    <p:sldId id="298" r:id="rId23"/>
    <p:sldId id="285" r:id="rId24"/>
    <p:sldId id="326" r:id="rId25"/>
    <p:sldId id="302" r:id="rId26"/>
    <p:sldId id="314" r:id="rId27"/>
    <p:sldId id="327" r:id="rId28"/>
    <p:sldId id="333" r:id="rId29"/>
    <p:sldId id="308" r:id="rId30"/>
    <p:sldId id="304" r:id="rId31"/>
    <p:sldId id="305" r:id="rId32"/>
    <p:sldId id="306" r:id="rId33"/>
    <p:sldId id="307" r:id="rId34"/>
    <p:sldId id="315" r:id="rId35"/>
    <p:sldId id="289" r:id="rId36"/>
    <p:sldId id="291" r:id="rId37"/>
    <p:sldId id="301" r:id="rId38"/>
    <p:sldId id="331" r:id="rId39"/>
    <p:sldId id="332" r:id="rId40"/>
  </p:sldIdLst>
  <p:sldSz cx="9144000" cy="6858000" type="screen4x3"/>
  <p:notesSz cx="6858000" cy="9144000"/>
  <p:custShowLst>
    <p:custShow name="贝努利" id="0">
      <p:sldLst>
        <p:sld r:id="rId39"/>
      </p:sldLst>
    </p:custShow>
    <p:custShow name="泊松资料" id="1">
      <p:sldLst>
        <p:sld r:id="rId40"/>
      </p:sldLst>
    </p:custShow>
  </p:custShowLst>
  <p:custDataLst>
    <p:tags r:id="rId4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8" userDrawn="1">
          <p15:clr>
            <a:srgbClr val="A4A3A4"/>
          </p15:clr>
        </p15:guide>
        <p15:guide id="2" pos="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FF00"/>
    <a:srgbClr val="993300"/>
    <a:srgbClr val="7E76E8"/>
    <a:srgbClr val="EEE870"/>
    <a:srgbClr val="66FF66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800" y="40"/>
      </p:cViewPr>
      <p:guideLst>
        <p:guide orient="horz" pos="448"/>
        <p:guide pos="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 lenovo" userId="c60c95c47ca672f9" providerId="LiveId" clId="{04FB92EF-6D6A-4AF1-AE95-CFA988C99BED}"/>
    <pc:docChg chg="custSel addSld delSld modSld">
      <pc:chgData name="T lenovo" userId="c60c95c47ca672f9" providerId="LiveId" clId="{04FB92EF-6D6A-4AF1-AE95-CFA988C99BED}" dt="2024-04-01T17:57:00.780" v="6" actId="2696"/>
      <pc:docMkLst>
        <pc:docMk/>
      </pc:docMkLst>
      <pc:sldChg chg="add del mod modTransition modClrScheme chgLayout">
        <pc:chgData name="T lenovo" userId="c60c95c47ca672f9" providerId="LiveId" clId="{04FB92EF-6D6A-4AF1-AE95-CFA988C99BED}" dt="2024-04-01T17:57:00.780" v="6" actId="2696"/>
        <pc:sldMkLst>
          <pc:docMk/>
          <pc:sldMk cId="0" sldId="274"/>
        </pc:sldMkLst>
      </pc:sldChg>
      <pc:sldChg chg="modSp mod">
        <pc:chgData name="T lenovo" userId="c60c95c47ca672f9" providerId="LiveId" clId="{04FB92EF-6D6A-4AF1-AE95-CFA988C99BED}" dt="2024-04-01T17:55:53.313" v="5" actId="1076"/>
        <pc:sldMkLst>
          <pc:docMk/>
          <pc:sldMk cId="0" sldId="333"/>
        </pc:sldMkLst>
        <pc:spChg chg="mod">
          <ac:chgData name="T lenovo" userId="c60c95c47ca672f9" providerId="LiveId" clId="{04FB92EF-6D6A-4AF1-AE95-CFA988C99BED}" dt="2024-04-01T17:55:53.313" v="5" actId="1076"/>
          <ac:spMkLst>
            <pc:docMk/>
            <pc:sldMk cId="0" sldId="333"/>
            <ac:spMk id="4403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471788-E521-41DE-B5EE-AB79F93CE30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4/1/2024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2662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11</a:t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9155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4915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32</a:t>
            </a:fld>
            <a:endParaRPr lang="en-US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365125"/>
            <a:ext cx="1985963" cy="5811838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4275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4449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Action Button: Custom 104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6858000" y="6172200"/>
            <a:ext cx="457200" cy="381000"/>
          </a:xfrm>
          <a:prstGeom prst="actionButtonBlank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ction Button: Custom 10445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543800" y="6121400"/>
            <a:ext cx="457200" cy="457200"/>
          </a:xfrm>
          <a:prstGeom prst="actionButtonBlank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Action Button: Custom 10445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267700" y="6172200"/>
            <a:ext cx="457200" cy="381000"/>
          </a:xfrm>
          <a:prstGeom prst="actionButtonBlank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e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9.wmf"/><Relationship Id="rId3" Type="http://schemas.openxmlformats.org/officeDocument/2006/relationships/image" Target="../media/image11.wmf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6.bin"/><Relationship Id="rId2" Type="http://schemas.openxmlformats.org/officeDocument/2006/relationships/oleObject" Target="../embeddings/oleObject9.bin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7.wmf"/><Relationship Id="rId22" Type="http://schemas.openxmlformats.org/officeDocument/2006/relationships/image" Target="../media/image2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22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6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5" Type="http://schemas.openxmlformats.org/officeDocument/2006/relationships/image" Target="../media/image15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17.wmf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38.wmf"/><Relationship Id="rId18" Type="http://schemas.openxmlformats.org/officeDocument/2006/relationships/oleObject" Target="../embeddings/oleObject42.bin"/><Relationship Id="rId3" Type="http://schemas.openxmlformats.org/officeDocument/2006/relationships/image" Target="../media/image33.wmf"/><Relationship Id="rId21" Type="http://schemas.openxmlformats.org/officeDocument/2006/relationships/image" Target="../media/image41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8.wmf"/><Relationship Id="rId23" Type="http://schemas.openxmlformats.org/officeDocument/2006/relationships/image" Target="../media/image42.w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40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4.wmf"/><Relationship Id="rId3" Type="http://schemas.openxmlformats.org/officeDocument/2006/relationships/image" Target="../media/image43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50.bin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0.wmf"/><Relationship Id="rId5" Type="http://schemas.openxmlformats.org/officeDocument/2006/relationships/image" Target="../media/image38.w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5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oleObject" Target="../embeddings/oleObject52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wmf"/><Relationship Id="rId18" Type="http://schemas.openxmlformats.org/officeDocument/2006/relationships/oleObject" Target="../embeddings/oleObject61.bin"/><Relationship Id="rId26" Type="http://schemas.openxmlformats.org/officeDocument/2006/relationships/image" Target="../media/image60.wmf"/><Relationship Id="rId21" Type="http://schemas.openxmlformats.org/officeDocument/2006/relationships/oleObject" Target="../embeddings/oleObject63.bin"/><Relationship Id="rId34" Type="http://schemas.openxmlformats.org/officeDocument/2006/relationships/image" Target="../media/image64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56.wmf"/><Relationship Id="rId25" Type="http://schemas.openxmlformats.org/officeDocument/2006/relationships/oleObject" Target="../embeddings/oleObject65.bin"/><Relationship Id="rId33" Type="http://schemas.openxmlformats.org/officeDocument/2006/relationships/oleObject" Target="../embeddings/oleObject69.bin"/><Relationship Id="rId38" Type="http://schemas.openxmlformats.org/officeDocument/2006/relationships/image" Target="../media/image66.w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29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3.wmf"/><Relationship Id="rId24" Type="http://schemas.openxmlformats.org/officeDocument/2006/relationships/image" Target="../media/image59.wmf"/><Relationship Id="rId32" Type="http://schemas.openxmlformats.org/officeDocument/2006/relationships/image" Target="../media/image63.wmf"/><Relationship Id="rId37" Type="http://schemas.openxmlformats.org/officeDocument/2006/relationships/oleObject" Target="../embeddings/oleObject71.bin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61.wmf"/><Relationship Id="rId36" Type="http://schemas.openxmlformats.org/officeDocument/2006/relationships/image" Target="../media/image65.wmf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57.wmf"/><Relationship Id="rId31" Type="http://schemas.openxmlformats.org/officeDocument/2006/relationships/oleObject" Target="../embeddings/oleObject68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59.bin"/><Relationship Id="rId22" Type="http://schemas.openxmlformats.org/officeDocument/2006/relationships/image" Target="../media/image58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62.wmf"/><Relationship Id="rId35" Type="http://schemas.openxmlformats.org/officeDocument/2006/relationships/oleObject" Target="../embeddings/oleObject70.bin"/><Relationship Id="rId8" Type="http://schemas.openxmlformats.org/officeDocument/2006/relationships/oleObject" Target="../embeddings/oleObject56.bin"/><Relationship Id="rId3" Type="http://schemas.openxmlformats.org/officeDocument/2006/relationships/image" Target="../media/image49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wmf"/><Relationship Id="rId4" Type="http://schemas.openxmlformats.org/officeDocument/2006/relationships/oleObject" Target="../embeddings/oleObject7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1.e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7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77.emf"/><Relationship Id="rId18" Type="http://schemas.openxmlformats.org/officeDocument/2006/relationships/oleObject" Target="../embeddings/oleObject85.bin"/><Relationship Id="rId3" Type="http://schemas.openxmlformats.org/officeDocument/2006/relationships/image" Target="../media/image72.wmf"/><Relationship Id="rId21" Type="http://schemas.openxmlformats.org/officeDocument/2006/relationships/image" Target="../media/image81.wmf"/><Relationship Id="rId7" Type="http://schemas.openxmlformats.org/officeDocument/2006/relationships/image" Target="../media/image74.emf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79.emf"/><Relationship Id="rId2" Type="http://schemas.openxmlformats.org/officeDocument/2006/relationships/oleObject" Target="../embeddings/oleObject77.bin"/><Relationship Id="rId16" Type="http://schemas.openxmlformats.org/officeDocument/2006/relationships/oleObject" Target="../embeddings/oleObject84.bin"/><Relationship Id="rId20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76.emf"/><Relationship Id="rId5" Type="http://schemas.openxmlformats.org/officeDocument/2006/relationships/image" Target="../media/image73.wmf"/><Relationship Id="rId15" Type="http://schemas.openxmlformats.org/officeDocument/2006/relationships/image" Target="../media/image78.emf"/><Relationship Id="rId23" Type="http://schemas.openxmlformats.org/officeDocument/2006/relationships/image" Target="../media/image82.wmf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80.wmf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5.emf"/><Relationship Id="rId14" Type="http://schemas.openxmlformats.org/officeDocument/2006/relationships/oleObject" Target="../embeddings/oleObject83.bin"/><Relationship Id="rId22" Type="http://schemas.openxmlformats.org/officeDocument/2006/relationships/oleObject" Target="../embeddings/oleObject8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88.wmf"/><Relationship Id="rId3" Type="http://schemas.openxmlformats.org/officeDocument/2006/relationships/image" Target="../media/image83.wmf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90.wmf"/><Relationship Id="rId2" Type="http://schemas.openxmlformats.org/officeDocument/2006/relationships/oleObject" Target="../embeddings/oleObject88.bin"/><Relationship Id="rId16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87.wmf"/><Relationship Id="rId5" Type="http://schemas.openxmlformats.org/officeDocument/2006/relationships/image" Target="../media/image84.emf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9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104.bin"/><Relationship Id="rId26" Type="http://schemas.openxmlformats.org/officeDocument/2006/relationships/oleObject" Target="../embeddings/oleObject108.bin"/><Relationship Id="rId3" Type="http://schemas.openxmlformats.org/officeDocument/2006/relationships/image" Target="../media/image95.wmf"/><Relationship Id="rId21" Type="http://schemas.openxmlformats.org/officeDocument/2006/relationships/image" Target="../media/image102.w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50.wmf"/><Relationship Id="rId25" Type="http://schemas.openxmlformats.org/officeDocument/2006/relationships/image" Target="../media/image104.wmf"/><Relationship Id="rId2" Type="http://schemas.openxmlformats.org/officeDocument/2006/relationships/oleObject" Target="../embeddings/oleObject96.bin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29" Type="http://schemas.openxmlformats.org/officeDocument/2006/relationships/image" Target="../media/image10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99.wmf"/><Relationship Id="rId24" Type="http://schemas.openxmlformats.org/officeDocument/2006/relationships/oleObject" Target="../embeddings/oleObject107.bin"/><Relationship Id="rId5" Type="http://schemas.openxmlformats.org/officeDocument/2006/relationships/image" Target="../media/image96.wmf"/><Relationship Id="rId15" Type="http://schemas.openxmlformats.org/officeDocument/2006/relationships/image" Target="../media/image49.wmf"/><Relationship Id="rId23" Type="http://schemas.openxmlformats.org/officeDocument/2006/relationships/image" Target="../media/image103.wmf"/><Relationship Id="rId28" Type="http://schemas.openxmlformats.org/officeDocument/2006/relationships/oleObject" Target="../embeddings/oleObject109.bin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101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102.bin"/><Relationship Id="rId22" Type="http://schemas.openxmlformats.org/officeDocument/2006/relationships/oleObject" Target="../embeddings/oleObject106.bin"/><Relationship Id="rId27" Type="http://schemas.openxmlformats.org/officeDocument/2006/relationships/image" Target="../media/image10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111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20.bin"/><Relationship Id="rId26" Type="http://schemas.openxmlformats.org/officeDocument/2006/relationships/oleObject" Target="../embeddings/oleObject124.bin"/><Relationship Id="rId3" Type="http://schemas.openxmlformats.org/officeDocument/2006/relationships/image" Target="../media/image109.wmf"/><Relationship Id="rId21" Type="http://schemas.openxmlformats.org/officeDocument/2006/relationships/image" Target="../media/image118.wmf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16.wmf"/><Relationship Id="rId25" Type="http://schemas.openxmlformats.org/officeDocument/2006/relationships/image" Target="../media/image120.wmf"/><Relationship Id="rId33" Type="http://schemas.openxmlformats.org/officeDocument/2006/relationships/image" Target="../media/image124.wmf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29" Type="http://schemas.openxmlformats.org/officeDocument/2006/relationships/image" Target="../media/image1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3.wmf"/><Relationship Id="rId24" Type="http://schemas.openxmlformats.org/officeDocument/2006/relationships/oleObject" Target="../embeddings/oleObject123.bin"/><Relationship Id="rId32" Type="http://schemas.openxmlformats.org/officeDocument/2006/relationships/oleObject" Target="../embeddings/oleObject127.bin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23" Type="http://schemas.openxmlformats.org/officeDocument/2006/relationships/image" Target="../media/image119.wmf"/><Relationship Id="rId28" Type="http://schemas.openxmlformats.org/officeDocument/2006/relationships/oleObject" Target="../embeddings/oleObject125.bin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117.wmf"/><Relationship Id="rId31" Type="http://schemas.openxmlformats.org/officeDocument/2006/relationships/image" Target="../media/image123.w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8.bin"/><Relationship Id="rId22" Type="http://schemas.openxmlformats.org/officeDocument/2006/relationships/oleObject" Target="../embeddings/oleObject122.bin"/><Relationship Id="rId27" Type="http://schemas.openxmlformats.org/officeDocument/2006/relationships/image" Target="../media/image121.wmf"/><Relationship Id="rId30" Type="http://schemas.openxmlformats.org/officeDocument/2006/relationships/oleObject" Target="../embeddings/oleObject126.bin"/><Relationship Id="rId8" Type="http://schemas.openxmlformats.org/officeDocument/2006/relationships/oleObject" Target="../embeddings/oleObject11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31.wmf"/><Relationship Id="rId18" Type="http://schemas.openxmlformats.org/officeDocument/2006/relationships/oleObject" Target="../embeddings/oleObject136.bin"/><Relationship Id="rId3" Type="http://schemas.openxmlformats.org/officeDocument/2006/relationships/image" Target="../media/image126.wmf"/><Relationship Id="rId7" Type="http://schemas.openxmlformats.org/officeDocument/2006/relationships/image" Target="../media/image128.wmf"/><Relationship Id="rId12" Type="http://schemas.openxmlformats.org/officeDocument/2006/relationships/oleObject" Target="../embeddings/oleObject133.bin"/><Relationship Id="rId17" Type="http://schemas.openxmlformats.org/officeDocument/2006/relationships/image" Target="../media/image133.wmf"/><Relationship Id="rId2" Type="http://schemas.openxmlformats.org/officeDocument/2006/relationships/oleObject" Target="../embeddings/oleObject128.bin"/><Relationship Id="rId16" Type="http://schemas.openxmlformats.org/officeDocument/2006/relationships/oleObject" Target="../embeddings/oleObject135.bin"/><Relationship Id="rId20" Type="http://schemas.openxmlformats.org/officeDocument/2006/relationships/image" Target="../media/image135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30.wmf"/><Relationship Id="rId5" Type="http://schemas.openxmlformats.org/officeDocument/2006/relationships/image" Target="../media/image127.wmf"/><Relationship Id="rId15" Type="http://schemas.openxmlformats.org/officeDocument/2006/relationships/image" Target="../media/image132.wmf"/><Relationship Id="rId10" Type="http://schemas.openxmlformats.org/officeDocument/2006/relationships/oleObject" Target="../embeddings/oleObject132.bin"/><Relationship Id="rId19" Type="http://schemas.openxmlformats.org/officeDocument/2006/relationships/image" Target="../media/image134.wmf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29.wmf"/><Relationship Id="rId14" Type="http://schemas.openxmlformats.org/officeDocument/2006/relationships/oleObject" Target="../embeddings/oleObject13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image" Target="../media/image136.wmf"/><Relationship Id="rId7" Type="http://schemas.openxmlformats.org/officeDocument/2006/relationships/oleObject" Target="../embeddings/oleObject139.bin"/><Relationship Id="rId2" Type="http://schemas.openxmlformats.org/officeDocument/2006/relationships/oleObject" Target="../embeddings/oleObject13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10" Type="http://schemas.openxmlformats.org/officeDocument/2006/relationships/image" Target="../media/image140.wmf"/><Relationship Id="rId4" Type="http://schemas.openxmlformats.org/officeDocument/2006/relationships/oleObject" Target="../embeddings/oleObject138.bin"/><Relationship Id="rId9" Type="http://schemas.openxmlformats.org/officeDocument/2006/relationships/oleObject" Target="../embeddings/oleObject14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7" Type="http://schemas.openxmlformats.org/officeDocument/2006/relationships/image" Target="../media/image151.jpeg"/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jpeg"/><Relationship Id="rId5" Type="http://schemas.openxmlformats.org/officeDocument/2006/relationships/image" Target="../media/image149.jpeg"/><Relationship Id="rId4" Type="http://schemas.openxmlformats.org/officeDocument/2006/relationships/image" Target="../media/image14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6" Type="http://schemas.openxmlformats.org/officeDocument/2006/relationships/image" Target="../media/image152.png"/><Relationship Id="rId5" Type="http://schemas.openxmlformats.org/officeDocument/2006/relationships/image" Target="../media/image140.wmf"/><Relationship Id="rId4" Type="http://schemas.openxmlformats.org/officeDocument/2006/relationships/oleObject" Target="../embeddings/oleObject14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oleObject" Target="../embeddings/oleObject148.bin"/><Relationship Id="rId3" Type="http://schemas.openxmlformats.org/officeDocument/2006/relationships/image" Target="../media/image153.wmf"/><Relationship Id="rId7" Type="http://schemas.openxmlformats.org/officeDocument/2006/relationships/image" Target="../media/image155.wmf"/><Relationship Id="rId12" Type="http://schemas.openxmlformats.org/officeDocument/2006/relationships/image" Target="../media/image136.wmf"/><Relationship Id="rId2" Type="http://schemas.openxmlformats.org/officeDocument/2006/relationships/oleObject" Target="../embeddings/oleObject1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5.bin"/><Relationship Id="rId11" Type="http://schemas.openxmlformats.org/officeDocument/2006/relationships/oleObject" Target="../embeddings/oleObject147.bin"/><Relationship Id="rId5" Type="http://schemas.openxmlformats.org/officeDocument/2006/relationships/image" Target="../media/image154.wmf"/><Relationship Id="rId10" Type="http://schemas.openxmlformats.org/officeDocument/2006/relationships/image" Target="../media/image138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56.wmf"/><Relationship Id="rId14" Type="http://schemas.openxmlformats.org/officeDocument/2006/relationships/image" Target="../media/image13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3" Type="http://schemas.openxmlformats.org/officeDocument/2006/relationships/image" Target="../media/image157.wmf"/><Relationship Id="rId7" Type="http://schemas.openxmlformats.org/officeDocument/2006/relationships/image" Target="../media/image159.wmf"/><Relationship Id="rId2" Type="http://schemas.openxmlformats.org/officeDocument/2006/relationships/oleObject" Target="../embeddings/oleObject1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61.wmf"/><Relationship Id="rId5" Type="http://schemas.openxmlformats.org/officeDocument/2006/relationships/image" Target="../media/image158.wmf"/><Relationship Id="rId10" Type="http://schemas.openxmlformats.org/officeDocument/2006/relationships/oleObject" Target="../embeddings/oleObject153.bin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6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67.wmf"/><Relationship Id="rId3" Type="http://schemas.openxmlformats.org/officeDocument/2006/relationships/image" Target="../media/image162.wmf"/><Relationship Id="rId7" Type="http://schemas.openxmlformats.org/officeDocument/2006/relationships/image" Target="../media/image164.wmf"/><Relationship Id="rId12" Type="http://schemas.openxmlformats.org/officeDocument/2006/relationships/oleObject" Target="../embeddings/oleObject159.bin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66.wmf"/><Relationship Id="rId5" Type="http://schemas.openxmlformats.org/officeDocument/2006/relationships/image" Target="../media/image163.wmf"/><Relationship Id="rId15" Type="http://schemas.openxmlformats.org/officeDocument/2006/relationships/image" Target="../media/image168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65.wmf"/><Relationship Id="rId14" Type="http://schemas.openxmlformats.org/officeDocument/2006/relationships/oleObject" Target="../embeddings/oleObject16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6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image" Target="../media/image177.wmf"/><Relationship Id="rId3" Type="http://schemas.openxmlformats.org/officeDocument/2006/relationships/image" Target="../media/image172.wmf"/><Relationship Id="rId7" Type="http://schemas.openxmlformats.org/officeDocument/2006/relationships/image" Target="../media/image174.wmf"/><Relationship Id="rId12" Type="http://schemas.openxmlformats.org/officeDocument/2006/relationships/oleObject" Target="../embeddings/oleObject169.bin"/><Relationship Id="rId17" Type="http://schemas.openxmlformats.org/officeDocument/2006/relationships/image" Target="../media/image179.wmf"/><Relationship Id="rId2" Type="http://schemas.openxmlformats.org/officeDocument/2006/relationships/oleObject" Target="../embeddings/oleObject164.bin"/><Relationship Id="rId16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6.bin"/><Relationship Id="rId11" Type="http://schemas.openxmlformats.org/officeDocument/2006/relationships/image" Target="../media/image176.wmf"/><Relationship Id="rId5" Type="http://schemas.openxmlformats.org/officeDocument/2006/relationships/image" Target="../media/image173.wmf"/><Relationship Id="rId15" Type="http://schemas.openxmlformats.org/officeDocument/2006/relationships/image" Target="../media/image178.wmf"/><Relationship Id="rId10" Type="http://schemas.openxmlformats.org/officeDocument/2006/relationships/oleObject" Target="../embeddings/oleObject168.bin"/><Relationship Id="rId4" Type="http://schemas.openxmlformats.org/officeDocument/2006/relationships/oleObject" Target="../embeddings/oleObject165.bin"/><Relationship Id="rId9" Type="http://schemas.openxmlformats.org/officeDocument/2006/relationships/image" Target="../media/image175.wmf"/><Relationship Id="rId14" Type="http://schemas.openxmlformats.org/officeDocument/2006/relationships/oleObject" Target="../embeddings/oleObject17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85.wmf"/><Relationship Id="rId3" Type="http://schemas.openxmlformats.org/officeDocument/2006/relationships/image" Target="../media/image180.wmf"/><Relationship Id="rId7" Type="http://schemas.openxmlformats.org/officeDocument/2006/relationships/image" Target="../media/image182.wmf"/><Relationship Id="rId12" Type="http://schemas.openxmlformats.org/officeDocument/2006/relationships/oleObject" Target="../embeddings/oleObject177.bin"/><Relationship Id="rId2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84.wmf"/><Relationship Id="rId5" Type="http://schemas.openxmlformats.org/officeDocument/2006/relationships/image" Target="../media/image181.wmf"/><Relationship Id="rId10" Type="http://schemas.openxmlformats.org/officeDocument/2006/relationships/oleObject" Target="../embeddings/oleObject176.bin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8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89.wmf"/><Relationship Id="rId3" Type="http://schemas.openxmlformats.org/officeDocument/2006/relationships/image" Target="../media/image186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183.bin"/><Relationship Id="rId2" Type="http://schemas.openxmlformats.org/officeDocument/2006/relationships/oleObject" Target="../embeddings/oleObject1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88.wmf"/><Relationship Id="rId5" Type="http://schemas.openxmlformats.org/officeDocument/2006/relationships/image" Target="../media/image49.wmf"/><Relationship Id="rId15" Type="http://schemas.openxmlformats.org/officeDocument/2006/relationships/image" Target="../media/image190.wmf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87.wmf"/><Relationship Id="rId14" Type="http://schemas.openxmlformats.org/officeDocument/2006/relationships/oleObject" Target="../embeddings/oleObject18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196.wmf"/><Relationship Id="rId3" Type="http://schemas.openxmlformats.org/officeDocument/2006/relationships/image" Target="../media/image191.wmf"/><Relationship Id="rId7" Type="http://schemas.openxmlformats.org/officeDocument/2006/relationships/image" Target="../media/image193.wmf"/><Relationship Id="rId12" Type="http://schemas.openxmlformats.org/officeDocument/2006/relationships/oleObject" Target="../embeddings/oleObject190.bin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195.wmf"/><Relationship Id="rId5" Type="http://schemas.openxmlformats.org/officeDocument/2006/relationships/image" Target="../media/image192.wmf"/><Relationship Id="rId15" Type="http://schemas.openxmlformats.org/officeDocument/2006/relationships/image" Target="../media/image197.wmf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194.wmf"/><Relationship Id="rId14" Type="http://schemas.openxmlformats.org/officeDocument/2006/relationships/oleObject" Target="../embeddings/oleObject191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7" Type="http://schemas.openxmlformats.org/officeDocument/2006/relationships/image" Target="../media/image200.wmf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4.bin"/><Relationship Id="rId5" Type="http://schemas.openxmlformats.org/officeDocument/2006/relationships/image" Target="../media/image199.wmf"/><Relationship Id="rId4" Type="http://schemas.openxmlformats.org/officeDocument/2006/relationships/oleObject" Target="../embeddings/oleObject193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s 29711"/>
          <p:cNvSpPr/>
          <p:nvPr/>
        </p:nvSpPr>
        <p:spPr>
          <a:xfrm>
            <a:off x="1497013" y="2693988"/>
            <a:ext cx="611663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一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离散型随机变量的分布律</a:t>
            </a:r>
          </a:p>
        </p:txBody>
      </p:sp>
      <p:sp>
        <p:nvSpPr>
          <p:cNvPr id="15363" name="Rectangles 29712"/>
          <p:cNvSpPr/>
          <p:nvPr/>
        </p:nvSpPr>
        <p:spPr>
          <a:xfrm>
            <a:off x="1497013" y="3455988"/>
            <a:ext cx="710723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二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常见离散型随机变量的概率分布</a:t>
            </a:r>
          </a:p>
        </p:txBody>
      </p:sp>
      <p:sp>
        <p:nvSpPr>
          <p:cNvPr id="15364" name="Rectangles 29713"/>
          <p:cNvSpPr/>
          <p:nvPr/>
        </p:nvSpPr>
        <p:spPr>
          <a:xfrm>
            <a:off x="1497013" y="4217988"/>
            <a:ext cx="291623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三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13316" name="Title 2971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00150"/>
            <a:ext cx="9168765" cy="706755"/>
          </a:xfrm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+mj-ea"/>
                <a:cs typeface="+mj-cs"/>
              </a:rPr>
              <a:t>第二节 离散型随机变量及其分布律</a:t>
            </a:r>
          </a:p>
        </p:txBody>
      </p:sp>
      <p:sp>
        <p:nvSpPr>
          <p:cNvPr id="15366" name="Rectangles 29717">
            <a:hlinkClick r:id="rId2" action="ppaction://hlinksldjump"/>
          </p:cNvPr>
          <p:cNvSpPr/>
          <p:nvPr/>
        </p:nvSpPr>
        <p:spPr>
          <a:xfrm>
            <a:off x="1593850" y="2814638"/>
            <a:ext cx="52578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5367" name="Rectangles 29718">
            <a:hlinkClick r:id="rId3" action="ppaction://hlinksldjump"/>
          </p:cNvPr>
          <p:cNvSpPr/>
          <p:nvPr/>
        </p:nvSpPr>
        <p:spPr>
          <a:xfrm>
            <a:off x="1670050" y="3562350"/>
            <a:ext cx="64008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5368" name="Rectangles 29719">
            <a:hlinkClick r:id="rId4" action="ppaction://hlinksldjump"/>
          </p:cNvPr>
          <p:cNvSpPr/>
          <p:nvPr/>
        </p:nvSpPr>
        <p:spPr>
          <a:xfrm>
            <a:off x="1670050" y="4324350"/>
            <a:ext cx="15240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5369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0" name="Text Box 64519"/>
          <p:cNvSpPr txBox="1"/>
          <p:nvPr/>
        </p:nvSpPr>
        <p:spPr>
          <a:xfrm>
            <a:off x="742950" y="4725988"/>
            <a:ext cx="9906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</a:p>
        </p:txBody>
      </p:sp>
      <p:graphicFrame>
        <p:nvGraphicFramePr>
          <p:cNvPr id="64521" name="Object 64520"/>
          <p:cNvGraphicFramePr/>
          <p:nvPr/>
        </p:nvGraphicFramePr>
        <p:xfrm>
          <a:off x="2190750" y="4802188"/>
          <a:ext cx="3365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64230" imgH="431800" progId="">
                  <p:embed/>
                </p:oleObj>
              </mc:Choice>
              <mc:Fallback>
                <p:oleObj r:id="rId2" imgW="3364230" imgH="431800" progId="">
                  <p:embed/>
                  <p:pic>
                    <p:nvPicPr>
                      <p:cNvPr id="64521" name="Object 645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0750" y="4802188"/>
                        <a:ext cx="3365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2" name="Object 64521"/>
          <p:cNvGraphicFramePr/>
          <p:nvPr/>
        </p:nvGraphicFramePr>
        <p:xfrm>
          <a:off x="2190750" y="5335588"/>
          <a:ext cx="1930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29765" imgH="901065" progId="">
                  <p:embed/>
                </p:oleObj>
              </mc:Choice>
              <mc:Fallback>
                <p:oleObj r:id="rId4" imgW="1929765" imgH="901065" progId="">
                  <p:embed/>
                  <p:pic>
                    <p:nvPicPr>
                      <p:cNvPr id="64522" name="Object 645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0750" y="5335588"/>
                        <a:ext cx="19304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itle 64525"/>
          <p:cNvSpPr>
            <a:spLocks noGrp="1"/>
          </p:cNvSpPr>
          <p:nvPr>
            <p:ph type="title" idx="4294967295"/>
          </p:nvPr>
        </p:nvSpPr>
        <p:spPr>
          <a:xfrm>
            <a:off x="-17462" y="666750"/>
            <a:ext cx="9161462" cy="708025"/>
          </a:xfrm>
        </p:spPr>
        <p:txBody>
          <a:bodyPr vert="horz" wrap="square" lIns="91440" tIns="45720" rIns="91440" bIns="45720" anchor="ctr" anchorCtr="0"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</a:rPr>
              <a:t>一、离散型随机变量的分布律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41363" y="1609725"/>
            <a:ext cx="7502525" cy="2898775"/>
            <a:chOff x="741363" y="1609725"/>
            <a:chExt cx="7431037" cy="2899395"/>
          </a:xfrm>
        </p:grpSpPr>
        <p:sp>
          <p:nvSpPr>
            <p:cNvPr id="16393" name="Rectangle 23"/>
            <p:cNvSpPr/>
            <p:nvPr/>
          </p:nvSpPr>
          <p:spPr>
            <a:xfrm>
              <a:off x="741363" y="1609725"/>
              <a:ext cx="7431037" cy="2899395"/>
            </a:xfrm>
            <a:prstGeom prst="rect">
              <a:avLst/>
            </a:prstGeom>
            <a:solidFill>
              <a:srgbClr val="66FF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6394" name="Text Box 64527"/>
            <p:cNvSpPr txBox="1"/>
            <p:nvPr/>
          </p:nvSpPr>
          <p:spPr>
            <a:xfrm>
              <a:off x="741363" y="1670050"/>
              <a:ext cx="1477962" cy="522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定义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: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16391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  <p:graphicFrame>
        <p:nvGraphicFramePr>
          <p:cNvPr id="64523" name="Object 64522"/>
          <p:cNvGraphicFramePr/>
          <p:nvPr/>
        </p:nvGraphicFramePr>
        <p:xfrm>
          <a:off x="822325" y="1752600"/>
          <a:ext cx="7718425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32700" imgH="2641600" progId="">
                  <p:embed/>
                </p:oleObj>
              </mc:Choice>
              <mc:Fallback>
                <p:oleObj r:id="rId6" imgW="7632700" imgH="2641600" progId="">
                  <p:embed/>
                  <p:pic>
                    <p:nvPicPr>
                      <p:cNvPr id="64523" name="Object 645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2325" y="1752600"/>
                        <a:ext cx="7718425" cy="264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s 65537"/>
          <p:cNvSpPr/>
          <p:nvPr/>
        </p:nvSpPr>
        <p:spPr>
          <a:xfrm>
            <a:off x="741363" y="1119188"/>
            <a:ext cx="626110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离散型随机变量的分布律也可表示为：</a:t>
            </a:r>
          </a:p>
        </p:txBody>
      </p:sp>
      <p:graphicFrame>
        <p:nvGraphicFramePr>
          <p:cNvPr id="65539" name="Object 65538"/>
          <p:cNvGraphicFramePr/>
          <p:nvPr/>
        </p:nvGraphicFramePr>
        <p:xfrm>
          <a:off x="2571750" y="2343150"/>
          <a:ext cx="4064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59275" imgH="1107440" progId="">
                  <p:embed/>
                </p:oleObj>
              </mc:Choice>
              <mc:Fallback>
                <p:oleObj r:id="rId2" imgW="4359275" imgH="1107440" progId="">
                  <p:embed/>
                  <p:pic>
                    <p:nvPicPr>
                      <p:cNvPr id="65539" name="Object 6553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71750" y="2343150"/>
                        <a:ext cx="40640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547" name="Group 65546"/>
          <p:cNvGrpSpPr/>
          <p:nvPr/>
        </p:nvGrpSpPr>
        <p:grpSpPr>
          <a:xfrm>
            <a:off x="2555875" y="4038600"/>
            <a:ext cx="3841750" cy="1090613"/>
            <a:chOff x="1528" y="2688"/>
            <a:chExt cx="2420" cy="687"/>
          </a:xfrm>
        </p:grpSpPr>
        <p:grpSp>
          <p:nvGrpSpPr>
            <p:cNvPr id="17414" name="Group 65539"/>
            <p:cNvGrpSpPr/>
            <p:nvPr/>
          </p:nvGrpSpPr>
          <p:grpSpPr>
            <a:xfrm>
              <a:off x="1528" y="2718"/>
              <a:ext cx="2420" cy="657"/>
              <a:chOff x="1288" y="1806"/>
              <a:chExt cx="2420" cy="657"/>
            </a:xfrm>
          </p:grpSpPr>
          <p:sp>
            <p:nvSpPr>
              <p:cNvPr id="17419" name="Straight Connector 65540"/>
              <p:cNvSpPr/>
              <p:nvPr/>
            </p:nvSpPr>
            <p:spPr>
              <a:xfrm>
                <a:off x="1288" y="2118"/>
                <a:ext cx="242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7420" name="Straight Connector 65541"/>
              <p:cNvSpPr/>
              <p:nvPr/>
            </p:nvSpPr>
            <p:spPr>
              <a:xfrm>
                <a:off x="1680" y="1806"/>
                <a:ext cx="0" cy="657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17415" name="Object 65542"/>
            <p:cNvGraphicFramePr/>
            <p:nvPr/>
          </p:nvGraphicFramePr>
          <p:xfrm>
            <a:off x="1536" y="2742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34645" imgH="283210" progId="">
                    <p:embed/>
                  </p:oleObj>
                </mc:Choice>
                <mc:Fallback>
                  <p:oleObj r:id="rId4" imgW="334645" imgH="283210" progId="">
                    <p:embed/>
                    <p:pic>
                      <p:nvPicPr>
                        <p:cNvPr id="17415" name="Object 65542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36" y="2742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6" name="Object 65543"/>
            <p:cNvGraphicFramePr/>
            <p:nvPr/>
          </p:nvGraphicFramePr>
          <p:xfrm>
            <a:off x="1536" y="3072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81000" imgH="431800" progId="">
                    <p:embed/>
                  </p:oleObj>
                </mc:Choice>
                <mc:Fallback>
                  <p:oleObj r:id="rId6" imgW="381000" imgH="431800" progId="">
                    <p:embed/>
                    <p:pic>
                      <p:nvPicPr>
                        <p:cNvPr id="17416" name="Object 65543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36" y="3072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65544"/>
            <p:cNvGraphicFramePr/>
            <p:nvPr/>
          </p:nvGraphicFramePr>
          <p:xfrm>
            <a:off x="2094" y="2688"/>
            <a:ext cx="17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897505" imgH="444500" progId="">
                    <p:embed/>
                  </p:oleObj>
                </mc:Choice>
                <mc:Fallback>
                  <p:oleObj r:id="rId8" imgW="2897505" imgH="444500" progId="">
                    <p:embed/>
                    <p:pic>
                      <p:nvPicPr>
                        <p:cNvPr id="17417" name="Object 65544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94" y="2688"/>
                          <a:ext cx="17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8" name="Object 65545"/>
            <p:cNvGraphicFramePr/>
            <p:nvPr/>
          </p:nvGraphicFramePr>
          <p:xfrm>
            <a:off x="2094" y="3072"/>
            <a:ext cx="17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929890" imgH="444500" progId="">
                    <p:embed/>
                  </p:oleObj>
                </mc:Choice>
                <mc:Fallback>
                  <p:oleObj r:id="rId10" imgW="2929890" imgH="444500" progId="">
                    <p:embed/>
                    <p:pic>
                      <p:nvPicPr>
                        <p:cNvPr id="17418" name="Object 65545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94" y="3072"/>
                          <a:ext cx="17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3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79873"/>
          <p:cNvGraphicFramePr/>
          <p:nvPr/>
        </p:nvGraphicFramePr>
        <p:xfrm>
          <a:off x="906463" y="765175"/>
          <a:ext cx="7581900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581900" imgH="2565400" progId="">
                  <p:embed/>
                </p:oleObj>
              </mc:Choice>
              <mc:Fallback>
                <p:oleObj r:id="rId2" imgW="7581900" imgH="2565400" progId="">
                  <p:embed/>
                  <p:pic>
                    <p:nvPicPr>
                      <p:cNvPr id="18434" name="Object 7987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6463" y="765175"/>
                        <a:ext cx="7581900" cy="256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5" name="Picture 79874" descr="BD07304_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188" y="2781300"/>
            <a:ext cx="1371600" cy="1365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80" name="Rectangles 79879"/>
          <p:cNvSpPr/>
          <p:nvPr/>
        </p:nvSpPr>
        <p:spPr>
          <a:xfrm>
            <a:off x="838200" y="3505200"/>
            <a:ext cx="5397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79895" name="Group 79894"/>
          <p:cNvGrpSpPr/>
          <p:nvPr/>
        </p:nvGrpSpPr>
        <p:grpSpPr>
          <a:xfrm>
            <a:off x="914400" y="4122738"/>
            <a:ext cx="7272338" cy="530225"/>
            <a:chOff x="576" y="2634"/>
            <a:chExt cx="4494" cy="334"/>
          </a:xfrm>
        </p:grpSpPr>
        <p:graphicFrame>
          <p:nvGraphicFramePr>
            <p:cNvPr id="18452" name="Object 79880"/>
            <p:cNvGraphicFramePr/>
            <p:nvPr/>
          </p:nvGraphicFramePr>
          <p:xfrm>
            <a:off x="576" y="2688"/>
            <a:ext cx="394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6258560" imgH="444500" progId="">
                    <p:embed/>
                  </p:oleObj>
                </mc:Choice>
                <mc:Fallback>
                  <p:oleObj r:id="rId5" imgW="6258560" imgH="444500" progId="">
                    <p:embed/>
                    <p:pic>
                      <p:nvPicPr>
                        <p:cNvPr id="18452" name="Object 7988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6" y="2688"/>
                          <a:ext cx="3944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3" name="Text Box 79881"/>
            <p:cNvSpPr txBox="1"/>
            <p:nvPr/>
          </p:nvSpPr>
          <p:spPr>
            <a:xfrm>
              <a:off x="4504" y="2634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ahoma" panose="020B0604030504040204" pitchFamily="34" charset="0"/>
                </a:rPr>
                <a:t>则有</a:t>
              </a:r>
            </a:p>
          </p:txBody>
        </p:sp>
      </p:grpSp>
      <p:grpSp>
        <p:nvGrpSpPr>
          <p:cNvPr id="79894" name="Group 79893"/>
          <p:cNvGrpSpPr/>
          <p:nvPr/>
        </p:nvGrpSpPr>
        <p:grpSpPr>
          <a:xfrm>
            <a:off x="971550" y="4962525"/>
            <a:ext cx="7272338" cy="1066800"/>
            <a:chOff x="703" y="3126"/>
            <a:chExt cx="4581" cy="672"/>
          </a:xfrm>
        </p:grpSpPr>
        <p:sp>
          <p:nvSpPr>
            <p:cNvPr id="18450" name="Straight Connector 79882"/>
            <p:cNvSpPr/>
            <p:nvPr/>
          </p:nvSpPr>
          <p:spPr>
            <a:xfrm>
              <a:off x="703" y="3420"/>
              <a:ext cx="4581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8451" name="Straight Connector 79883"/>
            <p:cNvSpPr/>
            <p:nvPr/>
          </p:nvSpPr>
          <p:spPr>
            <a:xfrm>
              <a:off x="1029" y="3126"/>
              <a:ext cx="0" cy="67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aphicFrame>
        <p:nvGraphicFramePr>
          <p:cNvPr id="79886" name="Object 79885"/>
          <p:cNvGraphicFramePr/>
          <p:nvPr/>
        </p:nvGraphicFramePr>
        <p:xfrm>
          <a:off x="1041400" y="5607050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81000" imgH="431800" progId="">
                  <p:embed/>
                </p:oleObj>
              </mc:Choice>
              <mc:Fallback>
                <p:oleObj r:id="rId7" imgW="381000" imgH="431800" progId="">
                  <p:embed/>
                  <p:pic>
                    <p:nvPicPr>
                      <p:cNvPr id="79886" name="Object 798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1400" y="5607050"/>
                        <a:ext cx="381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896" name="Group 79895"/>
          <p:cNvGrpSpPr/>
          <p:nvPr/>
        </p:nvGrpSpPr>
        <p:grpSpPr>
          <a:xfrm>
            <a:off x="1041400" y="4972050"/>
            <a:ext cx="6596063" cy="373063"/>
            <a:chOff x="747" y="3132"/>
            <a:chExt cx="4155" cy="235"/>
          </a:xfrm>
        </p:grpSpPr>
        <p:graphicFrame>
          <p:nvGraphicFramePr>
            <p:cNvPr id="18448" name="Object 79884"/>
            <p:cNvGraphicFramePr/>
            <p:nvPr/>
          </p:nvGraphicFramePr>
          <p:xfrm>
            <a:off x="747" y="3132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355600" imgH="292100" progId="">
                    <p:embed/>
                  </p:oleObj>
                </mc:Choice>
                <mc:Fallback>
                  <p:oleObj r:id="rId9" imgW="355600" imgH="292100" progId="">
                    <p:embed/>
                    <p:pic>
                      <p:nvPicPr>
                        <p:cNvPr id="18448" name="Object 798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47" y="3132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79886"/>
            <p:cNvGraphicFramePr/>
            <p:nvPr/>
          </p:nvGraphicFramePr>
          <p:xfrm>
            <a:off x="1179" y="3132"/>
            <a:ext cx="3723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6220460" imgH="393700" progId="">
                    <p:embed/>
                  </p:oleObj>
                </mc:Choice>
                <mc:Fallback>
                  <p:oleObj r:id="rId11" imgW="6220460" imgH="393700" progId="">
                    <p:embed/>
                    <p:pic>
                      <p:nvPicPr>
                        <p:cNvPr id="18449" name="Object 7988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79" y="3132"/>
                          <a:ext cx="3723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888" name="Object 79887"/>
          <p:cNvGraphicFramePr/>
          <p:nvPr/>
        </p:nvGraphicFramePr>
        <p:xfrm>
          <a:off x="1712913" y="5721350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66065" imgH="316865" progId="">
                  <p:embed/>
                </p:oleObj>
              </mc:Choice>
              <mc:Fallback>
                <p:oleObj r:id="rId13" imgW="266065" imgH="316865" progId="">
                  <p:embed/>
                  <p:pic>
                    <p:nvPicPr>
                      <p:cNvPr id="79888" name="Object 7988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12913" y="5721350"/>
                        <a:ext cx="266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9" name="Object 79888"/>
          <p:cNvGraphicFramePr/>
          <p:nvPr/>
        </p:nvGraphicFramePr>
        <p:xfrm>
          <a:off x="2336800" y="5645150"/>
          <a:ext cx="123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231265" imgH="393700" progId="">
                  <p:embed/>
                </p:oleObj>
              </mc:Choice>
              <mc:Fallback>
                <p:oleObj r:id="rId15" imgW="1231265" imgH="393700" progId="">
                  <p:embed/>
                  <p:pic>
                    <p:nvPicPr>
                      <p:cNvPr id="79889" name="Object 7988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36800" y="5645150"/>
                        <a:ext cx="1231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0" name="Object 79889"/>
          <p:cNvGraphicFramePr/>
          <p:nvPr/>
        </p:nvGraphicFramePr>
        <p:xfrm>
          <a:off x="3895725" y="5581650"/>
          <a:ext cx="1212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371600" imgH="457200" progId="">
                  <p:embed/>
                </p:oleObj>
              </mc:Choice>
              <mc:Fallback>
                <p:oleObj r:id="rId17" imgW="1371600" imgH="457200" progId="">
                  <p:embed/>
                  <p:pic>
                    <p:nvPicPr>
                      <p:cNvPr id="79890" name="Object 7988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95725" y="5581650"/>
                        <a:ext cx="121285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1" name="Object 79890"/>
          <p:cNvGraphicFramePr/>
          <p:nvPr/>
        </p:nvGraphicFramePr>
        <p:xfrm>
          <a:off x="5375275" y="5581650"/>
          <a:ext cx="1295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371600" imgH="457200" progId="">
                  <p:embed/>
                </p:oleObj>
              </mc:Choice>
              <mc:Fallback>
                <p:oleObj r:id="rId19" imgW="1371600" imgH="457200" progId="">
                  <p:embed/>
                  <p:pic>
                    <p:nvPicPr>
                      <p:cNvPr id="79891" name="Object 7989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75275" y="5581650"/>
                        <a:ext cx="1295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2" name="Object 79891"/>
          <p:cNvGraphicFramePr/>
          <p:nvPr/>
        </p:nvGraphicFramePr>
        <p:xfrm>
          <a:off x="7004050" y="5581650"/>
          <a:ext cx="110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104900" imgH="457200" progId="">
                  <p:embed/>
                </p:oleObj>
              </mc:Choice>
              <mc:Fallback>
                <p:oleObj r:id="rId21" imgW="1104900" imgH="457200" progId="">
                  <p:embed/>
                  <p:pic>
                    <p:nvPicPr>
                      <p:cNvPr id="79892" name="Object 7989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04050" y="5581650"/>
                        <a:ext cx="11049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Rectangles 79892"/>
          <p:cNvSpPr/>
          <p:nvPr/>
        </p:nvSpPr>
        <p:spPr>
          <a:xfrm>
            <a:off x="838200" y="674688"/>
            <a:ext cx="12192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8447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4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08" name="Object 80907"/>
          <p:cNvGraphicFramePr/>
          <p:nvPr/>
        </p:nvGraphicFramePr>
        <p:xfrm>
          <a:off x="914400" y="609600"/>
          <a:ext cx="2438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38400" imgH="825500" progId="">
                  <p:embed/>
                </p:oleObj>
              </mc:Choice>
              <mc:Fallback>
                <p:oleObj r:id="rId2" imgW="2438400" imgH="825500" progId="">
                  <p:embed/>
                  <p:pic>
                    <p:nvPicPr>
                      <p:cNvPr id="80908" name="Object 8090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09600"/>
                        <a:ext cx="2438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23" name="Group 80922"/>
          <p:cNvGrpSpPr/>
          <p:nvPr/>
        </p:nvGrpSpPr>
        <p:grpSpPr>
          <a:xfrm>
            <a:off x="1042988" y="1981200"/>
            <a:ext cx="7156450" cy="1066800"/>
            <a:chOff x="720" y="2784"/>
            <a:chExt cx="4508" cy="672"/>
          </a:xfrm>
        </p:grpSpPr>
        <p:sp>
          <p:nvSpPr>
            <p:cNvPr id="19466" name="Straight Connector 80908"/>
            <p:cNvSpPr/>
            <p:nvPr/>
          </p:nvSpPr>
          <p:spPr>
            <a:xfrm>
              <a:off x="720" y="3106"/>
              <a:ext cx="450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467" name="Straight Connector 80909"/>
            <p:cNvSpPr/>
            <p:nvPr/>
          </p:nvSpPr>
          <p:spPr>
            <a:xfrm>
              <a:off x="1026" y="2784"/>
              <a:ext cx="0" cy="67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19468" name="Object 80910"/>
            <p:cNvGraphicFramePr/>
            <p:nvPr/>
          </p:nvGraphicFramePr>
          <p:xfrm>
            <a:off x="720" y="2784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55600" imgH="292100" progId="">
                    <p:embed/>
                  </p:oleObj>
                </mc:Choice>
                <mc:Fallback>
                  <p:oleObj r:id="rId4" imgW="355600" imgH="292100" progId="">
                    <p:embed/>
                    <p:pic>
                      <p:nvPicPr>
                        <p:cNvPr id="19468" name="Object 80910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20" y="2784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80911"/>
            <p:cNvGraphicFramePr/>
            <p:nvPr/>
          </p:nvGraphicFramePr>
          <p:xfrm>
            <a:off x="720" y="3184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81000" imgH="431800" progId="">
                    <p:embed/>
                  </p:oleObj>
                </mc:Choice>
                <mc:Fallback>
                  <p:oleObj r:id="rId6" imgW="381000" imgH="431800" progId="">
                    <p:embed/>
                    <p:pic>
                      <p:nvPicPr>
                        <p:cNvPr id="19469" name="Object 8091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20" y="3184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Object 80912"/>
            <p:cNvGraphicFramePr/>
            <p:nvPr/>
          </p:nvGraphicFramePr>
          <p:xfrm>
            <a:off x="1220" y="2784"/>
            <a:ext cx="3723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6220460" imgH="393700" progId="">
                    <p:embed/>
                  </p:oleObj>
                </mc:Choice>
                <mc:Fallback>
                  <p:oleObj r:id="rId8" imgW="6220460" imgH="393700" progId="">
                    <p:embed/>
                    <p:pic>
                      <p:nvPicPr>
                        <p:cNvPr id="19470" name="Object 8091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20" y="2784"/>
                          <a:ext cx="3723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0914" name="Object 80913"/>
          <p:cNvGraphicFramePr/>
          <p:nvPr/>
        </p:nvGraphicFramePr>
        <p:xfrm>
          <a:off x="1677988" y="2720975"/>
          <a:ext cx="469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69265" imgH="317500" progId="">
                  <p:embed/>
                </p:oleObj>
              </mc:Choice>
              <mc:Fallback>
                <p:oleObj r:id="rId10" imgW="469265" imgH="317500" progId="">
                  <p:embed/>
                  <p:pic>
                    <p:nvPicPr>
                      <p:cNvPr id="80914" name="Object 809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77988" y="2720975"/>
                        <a:ext cx="4699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5" name="Object 80914"/>
          <p:cNvGraphicFramePr/>
          <p:nvPr/>
        </p:nvGraphicFramePr>
        <p:xfrm>
          <a:off x="2760663" y="2720975"/>
          <a:ext cx="647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47065" imgH="317500" progId="">
                  <p:embed/>
                </p:oleObj>
              </mc:Choice>
              <mc:Fallback>
                <p:oleObj r:id="rId12" imgW="647065" imgH="317500" progId="">
                  <p:embed/>
                  <p:pic>
                    <p:nvPicPr>
                      <p:cNvPr id="80915" name="Object 809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60663" y="2720975"/>
                        <a:ext cx="647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6" name="Object 80915"/>
          <p:cNvGraphicFramePr/>
          <p:nvPr/>
        </p:nvGraphicFramePr>
        <p:xfrm>
          <a:off x="4195763" y="2720975"/>
          <a:ext cx="8096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913765" imgH="317500" progId="">
                  <p:embed/>
                </p:oleObj>
              </mc:Choice>
              <mc:Fallback>
                <p:oleObj r:id="rId14" imgW="913765" imgH="317500" progId="">
                  <p:embed/>
                  <p:pic>
                    <p:nvPicPr>
                      <p:cNvPr id="80916" name="Object 8091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95763" y="2720975"/>
                        <a:ext cx="809625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7" name="Object 80916"/>
          <p:cNvGraphicFramePr/>
          <p:nvPr/>
        </p:nvGraphicFramePr>
        <p:xfrm>
          <a:off x="5605463" y="2720975"/>
          <a:ext cx="10318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91565" imgH="317500" progId="">
                  <p:embed/>
                </p:oleObj>
              </mc:Choice>
              <mc:Fallback>
                <p:oleObj r:id="rId16" imgW="1091565" imgH="317500" progId="">
                  <p:embed/>
                  <p:pic>
                    <p:nvPicPr>
                      <p:cNvPr id="80917" name="Object 8091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05463" y="2720975"/>
                        <a:ext cx="1031875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8" name="Object 80917"/>
          <p:cNvGraphicFramePr/>
          <p:nvPr/>
        </p:nvGraphicFramePr>
        <p:xfrm>
          <a:off x="7108825" y="2720975"/>
          <a:ext cx="1092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91565" imgH="317500" progId="">
                  <p:embed/>
                </p:oleObj>
              </mc:Choice>
              <mc:Fallback>
                <p:oleObj r:id="rId18" imgW="1091565" imgH="317500" progId="">
                  <p:embed/>
                  <p:pic>
                    <p:nvPicPr>
                      <p:cNvPr id="80918" name="Object 8091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08825" y="2720975"/>
                        <a:ext cx="1092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5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3"/>
          <p:cNvSpPr/>
          <p:nvPr/>
        </p:nvSpPr>
        <p:spPr>
          <a:xfrm>
            <a:off x="763905" y="2229485"/>
            <a:ext cx="7499985" cy="2850515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0482" name="Title 66567"/>
          <p:cNvSpPr>
            <a:spLocks noGrp="1"/>
          </p:cNvSpPr>
          <p:nvPr>
            <p:ph type="title" idx="4294967295"/>
          </p:nvPr>
        </p:nvSpPr>
        <p:spPr>
          <a:xfrm>
            <a:off x="-12700" y="700088"/>
            <a:ext cx="9156700" cy="644525"/>
          </a:xfrm>
        </p:spPr>
        <p:txBody>
          <a:bodyPr vert="horz" wrap="square" lIns="91440" tIns="45720" rIns="91440" bIns="45720" anchor="ctr" anchorCtr="0">
            <a:spAutoFit/>
          </a:bodyPr>
          <a:lstStyle/>
          <a:p>
            <a:pPr algn="ctr" eaLnBrk="1" hangingPunct="1"/>
            <a:r>
              <a:rPr lang="zh-CN" altLang="en-US" sz="3600" dirty="0">
                <a:solidFill>
                  <a:schemeClr val="tx1"/>
                </a:solidFill>
                <a:latin typeface="黑体" panose="02010609060101010101" pitchFamily="49" charset="-122"/>
              </a:rPr>
              <a:t>二、常见离散型随机变量的概率分布         </a:t>
            </a:r>
          </a:p>
        </p:txBody>
      </p:sp>
      <p:sp>
        <p:nvSpPr>
          <p:cNvPr id="66569" name="Rectangles 66568"/>
          <p:cNvSpPr/>
          <p:nvPr/>
        </p:nvSpPr>
        <p:spPr>
          <a:xfrm>
            <a:off x="728663" y="2247900"/>
            <a:ext cx="7772400" cy="952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　　若随机变量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只取</a:t>
            </a:r>
            <a:r>
              <a:rPr lang="en-US" altLang="zh-CN" sz="2800" b="1" dirty="0">
                <a:latin typeface="Times New Roman" panose="02020603050405020304" pitchFamily="18" charset="0"/>
              </a:rPr>
              <a:t> 0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latin typeface="Times New Roman" panose="02020603050405020304" pitchFamily="18" charset="0"/>
              </a:rPr>
              <a:t>1 </a:t>
            </a:r>
            <a:r>
              <a:rPr lang="zh-CN" altLang="en-US" sz="2800" b="1" dirty="0">
                <a:latin typeface="Times New Roman" panose="02020603050405020304" pitchFamily="18" charset="0"/>
              </a:rPr>
              <a:t>两个值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则它的分布律为</a:t>
            </a:r>
          </a:p>
        </p:txBody>
      </p:sp>
      <p:grpSp>
        <p:nvGrpSpPr>
          <p:cNvPr id="66581" name="Group 66580"/>
          <p:cNvGrpSpPr/>
          <p:nvPr/>
        </p:nvGrpSpPr>
        <p:grpSpPr>
          <a:xfrm>
            <a:off x="2817813" y="3471863"/>
            <a:ext cx="3311525" cy="788987"/>
            <a:chOff x="1565" y="2199"/>
            <a:chExt cx="2086" cy="497"/>
          </a:xfrm>
        </p:grpSpPr>
        <p:grpSp>
          <p:nvGrpSpPr>
            <p:cNvPr id="20488" name="Group 66569"/>
            <p:cNvGrpSpPr/>
            <p:nvPr/>
          </p:nvGrpSpPr>
          <p:grpSpPr>
            <a:xfrm>
              <a:off x="1565" y="2199"/>
              <a:ext cx="2086" cy="483"/>
              <a:chOff x="1142" y="1823"/>
              <a:chExt cx="2767" cy="513"/>
            </a:xfrm>
          </p:grpSpPr>
          <p:sp>
            <p:nvSpPr>
              <p:cNvPr id="20495" name="Straight Connector 66570"/>
              <p:cNvSpPr/>
              <p:nvPr/>
            </p:nvSpPr>
            <p:spPr>
              <a:xfrm>
                <a:off x="1142" y="2064"/>
                <a:ext cx="2767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0496" name="Straight Connector 66571"/>
              <p:cNvSpPr/>
              <p:nvPr/>
            </p:nvSpPr>
            <p:spPr>
              <a:xfrm>
                <a:off x="1751" y="1823"/>
                <a:ext cx="0" cy="513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20489" name="Object 66572"/>
            <p:cNvGraphicFramePr/>
            <p:nvPr/>
          </p:nvGraphicFramePr>
          <p:xfrm>
            <a:off x="1628" y="2204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55600" imgH="292100" progId="">
                    <p:embed/>
                  </p:oleObj>
                </mc:Choice>
                <mc:Fallback>
                  <p:oleObj r:id="rId2" imgW="355600" imgH="292100" progId="">
                    <p:embed/>
                    <p:pic>
                      <p:nvPicPr>
                        <p:cNvPr id="20489" name="Object 6657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28" y="2204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0" name="Object 66573"/>
            <p:cNvGraphicFramePr/>
            <p:nvPr/>
          </p:nvGraphicFramePr>
          <p:xfrm>
            <a:off x="1632" y="2416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81000" imgH="431800" progId="">
                    <p:embed/>
                  </p:oleObj>
                </mc:Choice>
                <mc:Fallback>
                  <p:oleObj r:id="rId4" imgW="381000" imgH="431800" progId="">
                    <p:embed/>
                    <p:pic>
                      <p:nvPicPr>
                        <p:cNvPr id="20490" name="Object 6657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632" y="2416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Object 66574"/>
            <p:cNvGraphicFramePr/>
            <p:nvPr/>
          </p:nvGraphicFramePr>
          <p:xfrm>
            <a:off x="2400" y="22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03200" imgH="317500" progId="">
                    <p:embed/>
                  </p:oleObj>
                </mc:Choice>
                <mc:Fallback>
                  <p:oleObj r:id="rId6" imgW="203200" imgH="317500" progId="">
                    <p:embed/>
                    <p:pic>
                      <p:nvPicPr>
                        <p:cNvPr id="20491" name="Object 6657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400" y="22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2" name="Object 66575"/>
            <p:cNvGraphicFramePr/>
            <p:nvPr/>
          </p:nvGraphicFramePr>
          <p:xfrm>
            <a:off x="2236" y="2448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735965" imgH="393700" progId="">
                    <p:embed/>
                  </p:oleObj>
                </mc:Choice>
                <mc:Fallback>
                  <p:oleObj r:id="rId8" imgW="735965" imgH="393700" progId="">
                    <p:embed/>
                    <p:pic>
                      <p:nvPicPr>
                        <p:cNvPr id="20492" name="Object 6657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36" y="2448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3" name="Object 66576"/>
            <p:cNvGraphicFramePr/>
            <p:nvPr/>
          </p:nvGraphicFramePr>
          <p:xfrm>
            <a:off x="3408" y="2208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77800" imgH="304165" progId="">
                    <p:embed/>
                  </p:oleObj>
                </mc:Choice>
                <mc:Fallback>
                  <p:oleObj r:id="rId10" imgW="177800" imgH="304165" progId="">
                    <p:embed/>
                    <p:pic>
                      <p:nvPicPr>
                        <p:cNvPr id="20493" name="Object 6657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08" y="2208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ct 66577"/>
            <p:cNvGraphicFramePr/>
            <p:nvPr/>
          </p:nvGraphicFramePr>
          <p:xfrm>
            <a:off x="3378" y="2496"/>
            <a:ext cx="1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66065" imgH="316865" progId="">
                    <p:embed/>
                  </p:oleObj>
                </mc:Choice>
                <mc:Fallback>
                  <p:oleObj r:id="rId12" imgW="266065" imgH="316865" progId="">
                    <p:embed/>
                    <p:pic>
                      <p:nvPicPr>
                        <p:cNvPr id="20494" name="Object 66577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378" y="2496"/>
                          <a:ext cx="16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79" name="Rectangles 66578"/>
          <p:cNvSpPr/>
          <p:nvPr/>
        </p:nvSpPr>
        <p:spPr>
          <a:xfrm>
            <a:off x="727075" y="4537075"/>
            <a:ext cx="64770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服从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(0-1)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</a:t>
            </a:r>
            <a:r>
              <a:rPr lang="zh-CN" altLang="en-US" sz="2800" b="1" dirty="0">
                <a:latin typeface="Times New Roman" panose="02020603050405020304" pitchFamily="18" charset="0"/>
              </a:rPr>
              <a:t>或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两点分布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580" name="Rectangles 66579"/>
          <p:cNvSpPr/>
          <p:nvPr/>
        </p:nvSpPr>
        <p:spPr>
          <a:xfrm>
            <a:off x="727075" y="1577975"/>
            <a:ext cx="27384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两点分布   </a:t>
            </a:r>
          </a:p>
        </p:txBody>
      </p:sp>
      <p:sp>
        <p:nvSpPr>
          <p:cNvPr id="20487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6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6569" grpId="0"/>
      <p:bldP spid="66579" grpId="0"/>
      <p:bldP spid="6658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78849"/>
          <p:cNvSpPr txBox="1"/>
          <p:nvPr/>
        </p:nvSpPr>
        <p:spPr>
          <a:xfrm>
            <a:off x="914400" y="981075"/>
            <a:ext cx="732948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抛掷硬币试验中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观察正、反面情况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</a:rPr>
              <a:t>令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</a:p>
        </p:txBody>
      </p:sp>
      <p:sp>
        <p:nvSpPr>
          <p:cNvPr id="78852" name="Rectangles 78851"/>
          <p:cNvSpPr/>
          <p:nvPr/>
        </p:nvSpPr>
        <p:spPr>
          <a:xfrm>
            <a:off x="685800" y="3248025"/>
            <a:ext cx="54102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则随机变量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服从 </a:t>
            </a:r>
            <a:r>
              <a:rPr lang="en-US" altLang="zh-CN" sz="2800" b="1" dirty="0">
                <a:latin typeface="Times New Roman" panose="02020603050405020304" pitchFamily="18" charset="0"/>
              </a:rPr>
              <a:t>(0-1)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分布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78869" name="Group 78868"/>
          <p:cNvGrpSpPr/>
          <p:nvPr/>
        </p:nvGrpSpPr>
        <p:grpSpPr>
          <a:xfrm>
            <a:off x="2540000" y="1887538"/>
            <a:ext cx="4064000" cy="977900"/>
            <a:chOff x="1344" y="1253"/>
            <a:chExt cx="2560" cy="616"/>
          </a:xfrm>
        </p:grpSpPr>
        <p:graphicFrame>
          <p:nvGraphicFramePr>
            <p:cNvPr id="21521" name="Object 78862"/>
            <p:cNvGraphicFramePr/>
            <p:nvPr/>
          </p:nvGraphicFramePr>
          <p:xfrm>
            <a:off x="2592" y="1589"/>
            <a:ext cx="16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66065" imgH="367665" progId="">
                    <p:embed/>
                  </p:oleObj>
                </mc:Choice>
                <mc:Fallback>
                  <p:oleObj r:id="rId2" imgW="266065" imgH="367665" progId="">
                    <p:embed/>
                    <p:pic>
                      <p:nvPicPr>
                        <p:cNvPr id="21521" name="Object 7886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592" y="1589"/>
                          <a:ext cx="168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22" name="Group 78866"/>
            <p:cNvGrpSpPr/>
            <p:nvPr/>
          </p:nvGrpSpPr>
          <p:grpSpPr>
            <a:xfrm>
              <a:off x="1344" y="1253"/>
              <a:ext cx="2560" cy="616"/>
              <a:chOff x="1344" y="1253"/>
              <a:chExt cx="2560" cy="616"/>
            </a:xfrm>
          </p:grpSpPr>
          <p:graphicFrame>
            <p:nvGraphicFramePr>
              <p:cNvPr id="21523" name="Object 78850"/>
              <p:cNvGraphicFramePr/>
              <p:nvPr/>
            </p:nvGraphicFramePr>
            <p:xfrm>
              <a:off x="1344" y="1449"/>
              <a:ext cx="912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1447165" imgH="393700" progId="">
                      <p:embed/>
                    </p:oleObj>
                  </mc:Choice>
                  <mc:Fallback>
                    <p:oleObj r:id="rId4" imgW="1447165" imgH="393700" progId="">
                      <p:embed/>
                      <p:pic>
                        <p:nvPicPr>
                          <p:cNvPr id="21523" name="Object 78850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344" y="1449"/>
                            <a:ext cx="912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4" name="Object 78860"/>
              <p:cNvGraphicFramePr/>
              <p:nvPr/>
            </p:nvGraphicFramePr>
            <p:xfrm>
              <a:off x="2256" y="1253"/>
              <a:ext cx="488" cy="6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774065" imgH="977265" progId="">
                      <p:embed/>
                    </p:oleObj>
                  </mc:Choice>
                  <mc:Fallback>
                    <p:oleObj r:id="rId6" imgW="774065" imgH="977265" progId="">
                      <p:embed/>
                      <p:pic>
                        <p:nvPicPr>
                          <p:cNvPr id="21524" name="Object 78860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256" y="1253"/>
                            <a:ext cx="488" cy="6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5" name="Object 78861"/>
              <p:cNvGraphicFramePr/>
              <p:nvPr/>
            </p:nvGraphicFramePr>
            <p:xfrm>
              <a:off x="2832" y="1253"/>
              <a:ext cx="1072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700530" imgH="405765" progId="">
                      <p:embed/>
                    </p:oleObj>
                  </mc:Choice>
                  <mc:Fallback>
                    <p:oleObj r:id="rId8" imgW="1700530" imgH="405765" progId="">
                      <p:embed/>
                      <p:pic>
                        <p:nvPicPr>
                          <p:cNvPr id="21525" name="Object 78861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2832" y="1253"/>
                            <a:ext cx="1072" cy="2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6" name="Object 78863"/>
              <p:cNvGraphicFramePr/>
              <p:nvPr/>
            </p:nvGraphicFramePr>
            <p:xfrm>
              <a:off x="2832" y="1589"/>
              <a:ext cx="106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688465" imgH="381000" progId="">
                      <p:embed/>
                    </p:oleObj>
                  </mc:Choice>
                  <mc:Fallback>
                    <p:oleObj r:id="rId10" imgW="1688465" imgH="381000" progId="">
                      <p:embed/>
                      <p:pic>
                        <p:nvPicPr>
                          <p:cNvPr id="21526" name="Object 78863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832" y="1589"/>
                            <a:ext cx="1064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8868" name="Group 78867"/>
          <p:cNvGrpSpPr/>
          <p:nvPr/>
        </p:nvGrpSpPr>
        <p:grpSpPr>
          <a:xfrm>
            <a:off x="914400" y="4302125"/>
            <a:ext cx="5026025" cy="1287463"/>
            <a:chOff x="576" y="2710"/>
            <a:chExt cx="3166" cy="811"/>
          </a:xfrm>
        </p:grpSpPr>
        <p:grpSp>
          <p:nvGrpSpPr>
            <p:cNvPr id="21511" name="Group 78865"/>
            <p:cNvGrpSpPr/>
            <p:nvPr/>
          </p:nvGrpSpPr>
          <p:grpSpPr>
            <a:xfrm>
              <a:off x="2154" y="2710"/>
              <a:ext cx="1588" cy="811"/>
              <a:chOff x="2154" y="2928"/>
              <a:chExt cx="1588" cy="811"/>
            </a:xfrm>
          </p:grpSpPr>
          <p:sp>
            <p:nvSpPr>
              <p:cNvPr id="21519" name="Straight Connector 78852"/>
              <p:cNvSpPr/>
              <p:nvPr/>
            </p:nvSpPr>
            <p:spPr>
              <a:xfrm>
                <a:off x="2154" y="3168"/>
                <a:ext cx="1588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520" name="Straight Connector 78853"/>
              <p:cNvSpPr/>
              <p:nvPr/>
            </p:nvSpPr>
            <p:spPr>
              <a:xfrm>
                <a:off x="2544" y="2928"/>
                <a:ext cx="0" cy="811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21512" name="Object 78854"/>
            <p:cNvGraphicFramePr/>
            <p:nvPr/>
          </p:nvGraphicFramePr>
          <p:xfrm>
            <a:off x="2212" y="2718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55600" imgH="292100" progId="">
                    <p:embed/>
                  </p:oleObj>
                </mc:Choice>
                <mc:Fallback>
                  <p:oleObj r:id="rId12" imgW="355600" imgH="292100" progId="">
                    <p:embed/>
                    <p:pic>
                      <p:nvPicPr>
                        <p:cNvPr id="21512" name="Object 7885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212" y="2718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3" name="Object 78855"/>
            <p:cNvGraphicFramePr/>
            <p:nvPr/>
          </p:nvGraphicFramePr>
          <p:xfrm>
            <a:off x="2208" y="3094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81000" imgH="431800" progId="">
                    <p:embed/>
                  </p:oleObj>
                </mc:Choice>
                <mc:Fallback>
                  <p:oleObj r:id="rId14" imgW="381000" imgH="431800" progId="">
                    <p:embed/>
                    <p:pic>
                      <p:nvPicPr>
                        <p:cNvPr id="21513" name="Object 7885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208" y="3094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4" name="Object 78856"/>
            <p:cNvGraphicFramePr/>
            <p:nvPr/>
          </p:nvGraphicFramePr>
          <p:xfrm>
            <a:off x="2836" y="2714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03200" imgH="317500" progId="">
                    <p:embed/>
                  </p:oleObj>
                </mc:Choice>
                <mc:Fallback>
                  <p:oleObj r:id="rId16" imgW="203200" imgH="317500" progId="">
                    <p:embed/>
                    <p:pic>
                      <p:nvPicPr>
                        <p:cNvPr id="21514" name="Object 78856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836" y="2714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5" name="Object 78857"/>
            <p:cNvGraphicFramePr/>
            <p:nvPr/>
          </p:nvGraphicFramePr>
          <p:xfrm>
            <a:off x="3504" y="2710"/>
            <a:ext cx="1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90500" imgH="317500" progId="">
                    <p:embed/>
                  </p:oleObj>
                </mc:Choice>
                <mc:Fallback>
                  <p:oleObj r:id="rId18" imgW="190500" imgH="317500" progId="">
                    <p:embed/>
                    <p:pic>
                      <p:nvPicPr>
                        <p:cNvPr id="21515" name="Object 78857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504" y="2710"/>
                          <a:ext cx="12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6" name="Object 78858"/>
            <p:cNvGraphicFramePr/>
            <p:nvPr/>
          </p:nvGraphicFramePr>
          <p:xfrm>
            <a:off x="2812" y="3001"/>
            <a:ext cx="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41300" imgH="824865" progId="">
                    <p:embed/>
                  </p:oleObj>
                </mc:Choice>
                <mc:Fallback>
                  <p:oleObj r:id="rId20" imgW="241300" imgH="824865" progId="">
                    <p:embed/>
                    <p:pic>
                      <p:nvPicPr>
                        <p:cNvPr id="21516" name="Object 78858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812" y="3001"/>
                          <a:ext cx="152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7" name="Object 78859"/>
            <p:cNvGraphicFramePr/>
            <p:nvPr/>
          </p:nvGraphicFramePr>
          <p:xfrm>
            <a:off x="3484" y="3001"/>
            <a:ext cx="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41300" imgH="824865" progId="">
                    <p:embed/>
                  </p:oleObj>
                </mc:Choice>
                <mc:Fallback>
                  <p:oleObj r:id="rId22" imgW="241300" imgH="824865" progId="">
                    <p:embed/>
                    <p:pic>
                      <p:nvPicPr>
                        <p:cNvPr id="21517" name="Object 78859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484" y="3001"/>
                          <a:ext cx="152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8" name="Rectangles 78864"/>
            <p:cNvSpPr/>
            <p:nvPr/>
          </p:nvSpPr>
          <p:spPr>
            <a:xfrm>
              <a:off x="576" y="2758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其分布律为</a:t>
              </a:r>
            </a:p>
          </p:txBody>
        </p:sp>
      </p:grpSp>
      <p:sp>
        <p:nvSpPr>
          <p:cNvPr id="21510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7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1985"/>
          <p:cNvSpPr txBox="1"/>
          <p:nvPr/>
        </p:nvSpPr>
        <p:spPr>
          <a:xfrm>
            <a:off x="914400" y="990600"/>
            <a:ext cx="7834313" cy="952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  200 </a:t>
            </a:r>
            <a:r>
              <a:rPr lang="zh-CN" altLang="en-US" sz="2800" b="1" dirty="0">
                <a:latin typeface="Times New Roman" panose="02020603050405020304" pitchFamily="18" charset="0"/>
              </a:rPr>
              <a:t>件产品中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</a:t>
            </a:r>
            <a:r>
              <a:rPr lang="en-US" altLang="zh-CN" sz="2800" b="1" dirty="0">
                <a:latin typeface="Times New Roman" panose="02020603050405020304" pitchFamily="18" charset="0"/>
              </a:rPr>
              <a:t> 190 </a:t>
            </a:r>
            <a:r>
              <a:rPr lang="zh-CN" altLang="en-US" sz="2800" b="1" dirty="0">
                <a:latin typeface="Times New Roman" panose="02020603050405020304" pitchFamily="18" charset="0"/>
              </a:rPr>
              <a:t>件合格品</a:t>
            </a:r>
            <a:r>
              <a:rPr lang="en-US" altLang="zh-CN" sz="2800" b="1" dirty="0">
                <a:latin typeface="Times New Roman" panose="02020603050405020304" pitchFamily="18" charset="0"/>
              </a:rPr>
              <a:t>, 10 </a:t>
            </a:r>
            <a:r>
              <a:rPr lang="zh-CN" altLang="en-US" sz="2800" b="1" dirty="0">
                <a:latin typeface="Times New Roman" panose="02020603050405020304" pitchFamily="18" charset="0"/>
              </a:rPr>
              <a:t>件不合格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品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现从中随机抽取一件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r>
              <a:rPr lang="zh-CN" altLang="en-US" sz="2800" b="1" dirty="0">
                <a:latin typeface="Times New Roman" panose="02020603050405020304" pitchFamily="18" charset="0"/>
              </a:rPr>
              <a:t> 若规定</a:t>
            </a:r>
          </a:p>
        </p:txBody>
      </p:sp>
      <p:grpSp>
        <p:nvGrpSpPr>
          <p:cNvPr id="42006" name="Group 42005"/>
          <p:cNvGrpSpPr/>
          <p:nvPr/>
        </p:nvGrpSpPr>
        <p:grpSpPr>
          <a:xfrm>
            <a:off x="2716213" y="2105025"/>
            <a:ext cx="3733800" cy="1052513"/>
            <a:chOff x="1248" y="1326"/>
            <a:chExt cx="2352" cy="663"/>
          </a:xfrm>
        </p:grpSpPr>
        <p:graphicFrame>
          <p:nvGraphicFramePr>
            <p:cNvPr id="22543" name="Object 41986"/>
            <p:cNvGraphicFramePr/>
            <p:nvPr/>
          </p:nvGraphicFramePr>
          <p:xfrm>
            <a:off x="1248" y="1364"/>
            <a:ext cx="736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68400" imgH="977900" progId="">
                    <p:embed/>
                  </p:oleObj>
                </mc:Choice>
                <mc:Fallback>
                  <p:oleObj r:id="rId2" imgW="1168400" imgH="977900" progId="">
                    <p:embed/>
                    <p:pic>
                      <p:nvPicPr>
                        <p:cNvPr id="22543" name="Object 4198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248" y="1364"/>
                          <a:ext cx="736" cy="6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4" name="Rectangles 41988"/>
            <p:cNvSpPr/>
            <p:nvPr/>
          </p:nvSpPr>
          <p:spPr>
            <a:xfrm>
              <a:off x="2064" y="1326"/>
              <a:ext cx="15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抽得不合格品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22545" name="Rectangles 41989"/>
            <p:cNvSpPr/>
            <p:nvPr/>
          </p:nvSpPr>
          <p:spPr>
            <a:xfrm>
              <a:off x="2064" y="1662"/>
              <a:ext cx="12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抽得合格品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41992" name="Rectangles 41991"/>
          <p:cNvSpPr/>
          <p:nvPr/>
        </p:nvSpPr>
        <p:spPr>
          <a:xfrm>
            <a:off x="914400" y="5334000"/>
            <a:ext cx="55626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则随机变量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服从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(0-1)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分布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42007" name="Group 42006"/>
          <p:cNvGrpSpPr/>
          <p:nvPr/>
        </p:nvGrpSpPr>
        <p:grpSpPr>
          <a:xfrm>
            <a:off x="3151188" y="3587750"/>
            <a:ext cx="2841625" cy="1365250"/>
            <a:chOff x="1474" y="2260"/>
            <a:chExt cx="1790" cy="860"/>
          </a:xfrm>
        </p:grpSpPr>
        <p:sp>
          <p:nvSpPr>
            <p:cNvPr id="22535" name="Straight Connector 41994"/>
            <p:cNvSpPr/>
            <p:nvPr/>
          </p:nvSpPr>
          <p:spPr>
            <a:xfrm>
              <a:off x="1474" y="2544"/>
              <a:ext cx="1790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22536" name="Object 41996"/>
            <p:cNvGraphicFramePr/>
            <p:nvPr/>
          </p:nvGraphicFramePr>
          <p:xfrm>
            <a:off x="1536" y="2304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55600" imgH="292100" progId="">
                    <p:embed/>
                  </p:oleObj>
                </mc:Choice>
                <mc:Fallback>
                  <p:oleObj r:id="rId4" imgW="355600" imgH="292100" progId="">
                    <p:embed/>
                    <p:pic>
                      <p:nvPicPr>
                        <p:cNvPr id="22536" name="Object 4199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536" y="2304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7" name="Object 41997"/>
            <p:cNvGraphicFramePr/>
            <p:nvPr/>
          </p:nvGraphicFramePr>
          <p:xfrm>
            <a:off x="1536" y="2704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81000" imgH="431800" progId="">
                    <p:embed/>
                  </p:oleObj>
                </mc:Choice>
                <mc:Fallback>
                  <p:oleObj r:id="rId6" imgW="381000" imgH="431800" progId="">
                    <p:embed/>
                    <p:pic>
                      <p:nvPicPr>
                        <p:cNvPr id="22537" name="Object 4199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36" y="2704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8" name="Object 41998"/>
            <p:cNvGraphicFramePr/>
            <p:nvPr/>
          </p:nvGraphicFramePr>
          <p:xfrm>
            <a:off x="2164" y="2294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03200" imgH="317500" progId="">
                    <p:embed/>
                  </p:oleObj>
                </mc:Choice>
                <mc:Fallback>
                  <p:oleObj r:id="rId8" imgW="203200" imgH="317500" progId="">
                    <p:embed/>
                    <p:pic>
                      <p:nvPicPr>
                        <p:cNvPr id="22538" name="Object 4199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164" y="2294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9" name="Object 41999"/>
            <p:cNvGraphicFramePr/>
            <p:nvPr/>
          </p:nvGraphicFramePr>
          <p:xfrm>
            <a:off x="2904" y="2290"/>
            <a:ext cx="1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90500" imgH="317500" progId="">
                    <p:embed/>
                  </p:oleObj>
                </mc:Choice>
                <mc:Fallback>
                  <p:oleObj r:id="rId10" imgW="190500" imgH="317500" progId="">
                    <p:embed/>
                    <p:pic>
                      <p:nvPicPr>
                        <p:cNvPr id="22539" name="Object 4199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904" y="2290"/>
                          <a:ext cx="12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0" name="Object 42002"/>
            <p:cNvGraphicFramePr/>
            <p:nvPr/>
          </p:nvGraphicFramePr>
          <p:xfrm>
            <a:off x="2046" y="2592"/>
            <a:ext cx="376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96900" imgH="838200" progId="">
                    <p:embed/>
                  </p:oleObj>
                </mc:Choice>
                <mc:Fallback>
                  <p:oleObj r:id="rId12" imgW="596900" imgH="838200" progId="">
                    <p:embed/>
                    <p:pic>
                      <p:nvPicPr>
                        <p:cNvPr id="22540" name="Object 4200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046" y="2592"/>
                          <a:ext cx="376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1" name="Object 42003"/>
            <p:cNvGraphicFramePr/>
            <p:nvPr/>
          </p:nvGraphicFramePr>
          <p:xfrm>
            <a:off x="2732" y="2592"/>
            <a:ext cx="48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596900" imgH="838200" progId="">
                    <p:embed/>
                  </p:oleObj>
                </mc:Choice>
                <mc:Fallback>
                  <p:oleObj r:id="rId14" imgW="596900" imgH="838200" progId="">
                    <p:embed/>
                    <p:pic>
                      <p:nvPicPr>
                        <p:cNvPr id="22541" name="Object 4200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732" y="2592"/>
                          <a:ext cx="480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2" name="Straight Connector 42004"/>
            <p:cNvSpPr/>
            <p:nvPr/>
          </p:nvSpPr>
          <p:spPr>
            <a:xfrm>
              <a:off x="1920" y="2260"/>
              <a:ext cx="0" cy="86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2534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8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70657"/>
          <p:cNvSpPr txBox="1"/>
          <p:nvPr/>
        </p:nvSpPr>
        <p:spPr>
          <a:xfrm>
            <a:off x="893763" y="1484313"/>
            <a:ext cx="8066087" cy="1814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两点分布是最简单的一种分布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任何只有两种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可能结果的随机现象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比如新生婴儿是男孩还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是女孩、明天是否下雨、种籽是否发芽等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都</a:t>
            </a:r>
            <a:br>
              <a:rPr lang="zh-CN" altLang="en-US" sz="2800" b="1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latin typeface="Times New Roman" panose="02020603050405020304" pitchFamily="18" charset="0"/>
              </a:rPr>
              <a:t>属于两点分布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22531" name="Picture 70660" descr="AG00434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38" y="3932238"/>
            <a:ext cx="1219200" cy="876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Rectangles 70661"/>
          <p:cNvSpPr/>
          <p:nvPr/>
        </p:nvSpPr>
        <p:spPr>
          <a:xfrm>
            <a:off x="869950" y="981075"/>
            <a:ext cx="10160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22533" name="Picture 706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63" y="3646488"/>
            <a:ext cx="1235075" cy="14478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2534" name="Object 70664"/>
          <p:cNvGraphicFramePr>
            <a:graphicFrameLocks noChangeAspect="1"/>
          </p:cNvGraphicFramePr>
          <p:nvPr/>
        </p:nvGraphicFramePr>
        <p:xfrm>
          <a:off x="1008063" y="4092575"/>
          <a:ext cx="17526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76400" imgH="533400" progId="Paint.Picture">
                  <p:embed/>
                </p:oleObj>
              </mc:Choice>
              <mc:Fallback>
                <p:oleObj r:id="rId4" imgW="1676400" imgH="533400" progId="Paint.Picture">
                  <p:embed/>
                  <p:pic>
                    <p:nvPicPr>
                      <p:cNvPr id="22534" name="Object 7066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8063" y="4092575"/>
                        <a:ext cx="1752600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9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/>
          <p:nvPr/>
        </p:nvSpPr>
        <p:spPr>
          <a:xfrm>
            <a:off x="755650" y="1412875"/>
            <a:ext cx="7143750" cy="2620010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4578" name="Rectangles 31745"/>
          <p:cNvSpPr/>
          <p:nvPr/>
        </p:nvSpPr>
        <p:spPr>
          <a:xfrm>
            <a:off x="746125" y="765175"/>
            <a:ext cx="382587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等可能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</a:t>
            </a:r>
          </a:p>
        </p:txBody>
      </p:sp>
      <p:sp>
        <p:nvSpPr>
          <p:cNvPr id="31747" name="Text Box 31746"/>
          <p:cNvSpPr txBox="1"/>
          <p:nvPr/>
        </p:nvSpPr>
        <p:spPr>
          <a:xfrm>
            <a:off x="1484313" y="1430338"/>
            <a:ext cx="45307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如果随机变量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的分布律为</a:t>
            </a:r>
          </a:p>
        </p:txBody>
      </p:sp>
      <p:sp>
        <p:nvSpPr>
          <p:cNvPr id="31758" name="Rectangles 31757"/>
          <p:cNvSpPr/>
          <p:nvPr/>
        </p:nvSpPr>
        <p:spPr>
          <a:xfrm>
            <a:off x="727075" y="4149725"/>
            <a:ext cx="6392863" cy="9525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   抛掷骰子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记出现的点数为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X.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则有</a:t>
            </a:r>
          </a:p>
          <a:p>
            <a:pPr eaLnBrk="1" hangingPunct="1"/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1790" name="Group 31789"/>
          <p:cNvGrpSpPr/>
          <p:nvPr/>
        </p:nvGrpSpPr>
        <p:grpSpPr>
          <a:xfrm>
            <a:off x="784225" y="4803775"/>
            <a:ext cx="6380163" cy="1241425"/>
            <a:chOff x="519" y="2907"/>
            <a:chExt cx="4019" cy="782"/>
          </a:xfrm>
        </p:grpSpPr>
        <p:sp>
          <p:nvSpPr>
            <p:cNvPr id="24591" name="Straight Connector 31760"/>
            <p:cNvSpPr/>
            <p:nvPr/>
          </p:nvSpPr>
          <p:spPr>
            <a:xfrm>
              <a:off x="1317" y="3145"/>
              <a:ext cx="3221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4592" name="Straight Connector 31761"/>
            <p:cNvSpPr/>
            <p:nvPr/>
          </p:nvSpPr>
          <p:spPr>
            <a:xfrm>
              <a:off x="1765" y="2921"/>
              <a:ext cx="0" cy="76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24593" name="Object 31763"/>
            <p:cNvGraphicFramePr/>
            <p:nvPr/>
          </p:nvGraphicFramePr>
          <p:xfrm>
            <a:off x="1354" y="2913"/>
            <a:ext cx="2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67665" imgH="317500" progId="">
                    <p:embed/>
                  </p:oleObj>
                </mc:Choice>
                <mc:Fallback>
                  <p:oleObj r:id="rId2" imgW="367665" imgH="317500" progId="">
                    <p:embed/>
                    <p:pic>
                      <p:nvPicPr>
                        <p:cNvPr id="24593" name="Object 3176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354" y="2913"/>
                          <a:ext cx="2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4" name="Object 31764"/>
            <p:cNvGraphicFramePr/>
            <p:nvPr/>
          </p:nvGraphicFramePr>
          <p:xfrm>
            <a:off x="1354" y="3257"/>
            <a:ext cx="2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93700" imgH="457200" progId="">
                    <p:embed/>
                  </p:oleObj>
                </mc:Choice>
                <mc:Fallback>
                  <p:oleObj r:id="rId4" imgW="393700" imgH="457200" progId="">
                    <p:embed/>
                    <p:pic>
                      <p:nvPicPr>
                        <p:cNvPr id="24594" name="Object 3176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54" y="3257"/>
                          <a:ext cx="24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5" name="Object 31765"/>
            <p:cNvGraphicFramePr/>
            <p:nvPr/>
          </p:nvGraphicFramePr>
          <p:xfrm>
            <a:off x="1954" y="2907"/>
            <a:ext cx="1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533400" imgH="393700" progId="">
                    <p:embed/>
                  </p:oleObj>
                </mc:Choice>
                <mc:Fallback>
                  <p:oleObj r:id="rId6" imgW="533400" imgH="393700" progId="">
                    <p:embed/>
                    <p:pic>
                      <p:nvPicPr>
                        <p:cNvPr id="24595" name="Object 3176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954" y="2907"/>
                          <a:ext cx="10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31766"/>
            <p:cNvGraphicFramePr/>
            <p:nvPr/>
          </p:nvGraphicFramePr>
          <p:xfrm>
            <a:off x="1930" y="3161"/>
            <a:ext cx="20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28600" imgH="838200" progId="">
                    <p:embed/>
                  </p:oleObj>
                </mc:Choice>
                <mc:Fallback>
                  <p:oleObj r:id="rId8" imgW="228600" imgH="838200" progId="">
                    <p:embed/>
                    <p:pic>
                      <p:nvPicPr>
                        <p:cNvPr id="24596" name="Object 3176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930" y="3161"/>
                          <a:ext cx="20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31771"/>
            <p:cNvGraphicFramePr/>
            <p:nvPr/>
          </p:nvGraphicFramePr>
          <p:xfrm>
            <a:off x="2455" y="2913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15900" imgH="304165" progId="">
                    <p:embed/>
                  </p:oleObj>
                </mc:Choice>
                <mc:Fallback>
                  <p:oleObj r:id="rId10" imgW="215900" imgH="304165" progId="">
                    <p:embed/>
                    <p:pic>
                      <p:nvPicPr>
                        <p:cNvPr id="24597" name="Object 3177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455" y="2913"/>
                          <a:ext cx="13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8" name="Object 31772"/>
            <p:cNvGraphicFramePr/>
            <p:nvPr/>
          </p:nvGraphicFramePr>
          <p:xfrm>
            <a:off x="2927" y="2913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15900" imgH="316865" progId="">
                    <p:embed/>
                  </p:oleObj>
                </mc:Choice>
                <mc:Fallback>
                  <p:oleObj r:id="rId12" imgW="215900" imgH="316865" progId="">
                    <p:embed/>
                    <p:pic>
                      <p:nvPicPr>
                        <p:cNvPr id="24598" name="Object 3177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927" y="2913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9" name="Object 31773"/>
            <p:cNvGraphicFramePr/>
            <p:nvPr/>
          </p:nvGraphicFramePr>
          <p:xfrm>
            <a:off x="3388" y="2919"/>
            <a:ext cx="12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03200" imgH="304800" progId="">
                    <p:embed/>
                  </p:oleObj>
                </mc:Choice>
                <mc:Fallback>
                  <p:oleObj r:id="rId14" imgW="203200" imgH="304800" progId="">
                    <p:embed/>
                    <p:pic>
                      <p:nvPicPr>
                        <p:cNvPr id="24599" name="Object 3177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388" y="2919"/>
                          <a:ext cx="128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0" name="Object 31774"/>
            <p:cNvGraphicFramePr/>
            <p:nvPr/>
          </p:nvGraphicFramePr>
          <p:xfrm>
            <a:off x="3866" y="2925"/>
            <a:ext cx="12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03200" imgH="304800" progId="">
                    <p:embed/>
                  </p:oleObj>
                </mc:Choice>
                <mc:Fallback>
                  <p:oleObj r:id="rId16" imgW="203200" imgH="304800" progId="">
                    <p:embed/>
                    <p:pic>
                      <p:nvPicPr>
                        <p:cNvPr id="24600" name="Object 3177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866" y="2925"/>
                          <a:ext cx="128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1" name="Object 31775"/>
            <p:cNvGraphicFramePr/>
            <p:nvPr/>
          </p:nvGraphicFramePr>
          <p:xfrm>
            <a:off x="4330" y="2913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03200" imgH="317500" progId="">
                    <p:embed/>
                  </p:oleObj>
                </mc:Choice>
                <mc:Fallback>
                  <p:oleObj r:id="rId18" imgW="203200" imgH="317500" progId="">
                    <p:embed/>
                    <p:pic>
                      <p:nvPicPr>
                        <p:cNvPr id="24601" name="Object 31775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330" y="2913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2" name="Object 31776"/>
            <p:cNvGraphicFramePr/>
            <p:nvPr/>
          </p:nvGraphicFramePr>
          <p:xfrm>
            <a:off x="2458" y="3161"/>
            <a:ext cx="1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28600" imgH="838200" progId="">
                    <p:embed/>
                  </p:oleObj>
                </mc:Choice>
                <mc:Fallback>
                  <p:oleObj r:id="rId20" imgW="228600" imgH="838200" progId="">
                    <p:embed/>
                    <p:pic>
                      <p:nvPicPr>
                        <p:cNvPr id="24602" name="Object 3177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458" y="3161"/>
                          <a:ext cx="14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3" name="Object 31777"/>
            <p:cNvGraphicFramePr/>
            <p:nvPr/>
          </p:nvGraphicFramePr>
          <p:xfrm>
            <a:off x="2926" y="3161"/>
            <a:ext cx="1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228600" imgH="838200" progId="">
                    <p:embed/>
                  </p:oleObj>
                </mc:Choice>
                <mc:Fallback>
                  <p:oleObj r:id="rId21" imgW="228600" imgH="838200" progId="">
                    <p:embed/>
                    <p:pic>
                      <p:nvPicPr>
                        <p:cNvPr id="24603" name="Object 31777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926" y="3161"/>
                          <a:ext cx="14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4" name="Object 31778"/>
            <p:cNvGraphicFramePr/>
            <p:nvPr/>
          </p:nvGraphicFramePr>
          <p:xfrm>
            <a:off x="3394" y="3161"/>
            <a:ext cx="1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228600" imgH="838200" progId="">
                    <p:embed/>
                  </p:oleObj>
                </mc:Choice>
                <mc:Fallback>
                  <p:oleObj r:id="rId23" imgW="228600" imgH="838200" progId="">
                    <p:embed/>
                    <p:pic>
                      <p:nvPicPr>
                        <p:cNvPr id="24604" name="Object 31778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394" y="3161"/>
                          <a:ext cx="14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5" name="Object 31779"/>
            <p:cNvGraphicFramePr/>
            <p:nvPr/>
          </p:nvGraphicFramePr>
          <p:xfrm>
            <a:off x="3862" y="3161"/>
            <a:ext cx="1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228600" imgH="838200" progId="">
                    <p:embed/>
                  </p:oleObj>
                </mc:Choice>
                <mc:Fallback>
                  <p:oleObj r:id="rId25" imgW="228600" imgH="838200" progId="">
                    <p:embed/>
                    <p:pic>
                      <p:nvPicPr>
                        <p:cNvPr id="24605" name="Object 31779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862" y="3161"/>
                          <a:ext cx="14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6" name="Object 31780"/>
            <p:cNvGraphicFramePr/>
            <p:nvPr/>
          </p:nvGraphicFramePr>
          <p:xfrm>
            <a:off x="4330" y="3161"/>
            <a:ext cx="1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228600" imgH="838200" progId="">
                    <p:embed/>
                  </p:oleObj>
                </mc:Choice>
                <mc:Fallback>
                  <p:oleObj r:id="rId27" imgW="228600" imgH="838200" progId="">
                    <p:embed/>
                    <p:pic>
                      <p:nvPicPr>
                        <p:cNvPr id="24606" name="Object 31780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330" y="3161"/>
                          <a:ext cx="14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7" name="Rectangles 31781"/>
            <p:cNvSpPr/>
            <p:nvPr/>
          </p:nvSpPr>
          <p:spPr>
            <a:xfrm>
              <a:off x="519" y="2987"/>
              <a:ext cx="11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1785" name="Object 31784"/>
          <p:cNvGraphicFramePr/>
          <p:nvPr/>
        </p:nvGraphicFramePr>
        <p:xfrm>
          <a:off x="804863" y="3509963"/>
          <a:ext cx="7099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7096125" imgH="495300" progId="">
                  <p:embed/>
                </p:oleObj>
              </mc:Choice>
              <mc:Fallback>
                <p:oleObj r:id="rId29" imgW="7096125" imgH="495300" progId="">
                  <p:embed/>
                  <p:pic>
                    <p:nvPicPr>
                      <p:cNvPr id="31785" name="Object 3178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04863" y="3509963"/>
                        <a:ext cx="70993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89" name="Group 31788"/>
          <p:cNvGrpSpPr/>
          <p:nvPr/>
        </p:nvGrpSpPr>
        <p:grpSpPr>
          <a:xfrm>
            <a:off x="2601913" y="2028825"/>
            <a:ext cx="3914775" cy="1346200"/>
            <a:chOff x="1519" y="1360"/>
            <a:chExt cx="2466" cy="848"/>
          </a:xfrm>
        </p:grpSpPr>
        <p:sp>
          <p:nvSpPr>
            <p:cNvPr id="24585" name="Straight Connector 31749"/>
            <p:cNvSpPr/>
            <p:nvPr/>
          </p:nvSpPr>
          <p:spPr>
            <a:xfrm>
              <a:off x="1968" y="1400"/>
              <a:ext cx="0" cy="80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24586" name="Object 31750"/>
            <p:cNvGraphicFramePr/>
            <p:nvPr/>
          </p:nvGraphicFramePr>
          <p:xfrm>
            <a:off x="1584" y="1406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1" imgW="355600" imgH="292100" progId="">
                    <p:embed/>
                  </p:oleObj>
                </mc:Choice>
                <mc:Fallback>
                  <p:oleObj r:id="rId31" imgW="355600" imgH="292100" progId="">
                    <p:embed/>
                    <p:pic>
                      <p:nvPicPr>
                        <p:cNvPr id="24586" name="Object 31750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584" y="1406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31751"/>
            <p:cNvGraphicFramePr/>
            <p:nvPr/>
          </p:nvGraphicFramePr>
          <p:xfrm>
            <a:off x="1584" y="1794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3" imgW="381000" imgH="431800" progId="">
                    <p:embed/>
                  </p:oleObj>
                </mc:Choice>
                <mc:Fallback>
                  <p:oleObj r:id="rId33" imgW="381000" imgH="431800" progId="">
                    <p:embed/>
                    <p:pic>
                      <p:nvPicPr>
                        <p:cNvPr id="24587" name="Object 31751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584" y="1794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31752"/>
            <p:cNvGraphicFramePr/>
            <p:nvPr/>
          </p:nvGraphicFramePr>
          <p:xfrm>
            <a:off x="2350" y="1360"/>
            <a:ext cx="163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5" imgW="1777365" imgH="431800" progId="">
                    <p:embed/>
                  </p:oleObj>
                </mc:Choice>
                <mc:Fallback>
                  <p:oleObj r:id="rId35" imgW="1777365" imgH="431800" progId="">
                    <p:embed/>
                    <p:pic>
                      <p:nvPicPr>
                        <p:cNvPr id="24588" name="Object 31752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2350" y="1360"/>
                          <a:ext cx="163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31753"/>
            <p:cNvGraphicFramePr/>
            <p:nvPr/>
          </p:nvGraphicFramePr>
          <p:xfrm>
            <a:off x="2334" y="1680"/>
            <a:ext cx="165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7" imgW="1625600" imgH="838200" progId="">
                    <p:embed/>
                  </p:oleObj>
                </mc:Choice>
                <mc:Fallback>
                  <p:oleObj r:id="rId37" imgW="1625600" imgH="838200" progId="">
                    <p:embed/>
                    <p:pic>
                      <p:nvPicPr>
                        <p:cNvPr id="24589" name="Object 31753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2334" y="1680"/>
                          <a:ext cx="1650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0" name="Straight Connector 31787"/>
            <p:cNvSpPr/>
            <p:nvPr/>
          </p:nvSpPr>
          <p:spPr>
            <a:xfrm>
              <a:off x="1519" y="1656"/>
              <a:ext cx="2465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4584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10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1747" grpId="0"/>
      <p:bldP spid="317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/>
          <p:nvPr/>
        </p:nvSpPr>
        <p:spPr>
          <a:xfrm>
            <a:off x="755650" y="2099945"/>
            <a:ext cx="7905750" cy="2385060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2" name="Text Box 55298"/>
          <p:cNvSpPr txBox="1"/>
          <p:nvPr/>
        </p:nvSpPr>
        <p:spPr>
          <a:xfrm>
            <a:off x="733425" y="2060575"/>
            <a:ext cx="7943850" cy="24161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zh-CN" altLang="en-US" sz="2800" b="1" dirty="0">
                <a:latin typeface="Times New Roman" panose="02020603050405020304" pitchFamily="18" charset="0"/>
              </a:rPr>
              <a:t>　　将试验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重复进行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次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若各次试验的结果互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zh-CN" altLang="en-US" sz="2800" b="1" dirty="0">
                <a:latin typeface="Times New Roman" panose="02020603050405020304" pitchFamily="18" charset="0"/>
              </a:rPr>
              <a:t>不影响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即每次试验的结果不受其他各次试验的结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zh-CN" altLang="en-US" sz="2800" b="1" dirty="0">
                <a:latin typeface="Times New Roman" panose="02020603050405020304" pitchFamily="18" charset="0"/>
              </a:rPr>
              <a:t>果影响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则称这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次试验是相互独立的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称为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次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重复独立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试验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25603" name="Rectangles 55302"/>
          <p:cNvSpPr/>
          <p:nvPr/>
        </p:nvSpPr>
        <p:spPr>
          <a:xfrm>
            <a:off x="1476375" y="1470025"/>
            <a:ext cx="2919413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重复独立试验</a:t>
            </a:r>
          </a:p>
        </p:txBody>
      </p:sp>
      <p:sp>
        <p:nvSpPr>
          <p:cNvPr id="25604" name="Rectangles 55303"/>
          <p:cNvSpPr/>
          <p:nvPr/>
        </p:nvSpPr>
        <p:spPr>
          <a:xfrm>
            <a:off x="755650" y="749300"/>
            <a:ext cx="25273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二项分布</a:t>
            </a:r>
          </a:p>
        </p:txBody>
      </p:sp>
      <p:sp>
        <p:nvSpPr>
          <p:cNvPr id="25605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11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5602" grpId="0"/>
      <p:bldP spid="2560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/>
          <p:nvPr/>
        </p:nvSpPr>
        <p:spPr>
          <a:xfrm>
            <a:off x="755650" y="1360805"/>
            <a:ext cx="7852410" cy="2873375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93186" name="Rectangles 93185"/>
          <p:cNvSpPr/>
          <p:nvPr/>
        </p:nvSpPr>
        <p:spPr>
          <a:xfrm>
            <a:off x="1474788" y="765175"/>
            <a:ext cx="49549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(2) 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重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伯努利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lt"/>
              </a:rPr>
              <a:t>(Bernoulli)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试验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aphicFrame>
        <p:nvGraphicFramePr>
          <p:cNvPr id="93187" name="Object 93186"/>
          <p:cNvGraphicFramePr/>
          <p:nvPr/>
        </p:nvGraphicFramePr>
        <p:xfrm>
          <a:off x="801688" y="1412875"/>
          <a:ext cx="78740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74000" imgH="1574800" progId="">
                  <p:embed/>
                </p:oleObj>
              </mc:Choice>
              <mc:Fallback>
                <p:oleObj r:id="rId2" imgW="7874000" imgH="1574800" progId="">
                  <p:embed/>
                  <p:pic>
                    <p:nvPicPr>
                      <p:cNvPr id="93187" name="Object 931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1688" y="1412875"/>
                        <a:ext cx="7874000" cy="157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93193"/>
          <p:cNvGraphicFramePr/>
          <p:nvPr/>
        </p:nvGraphicFramePr>
        <p:xfrm>
          <a:off x="812800" y="3203575"/>
          <a:ext cx="758444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477125" imgH="951865" progId="">
                  <p:embed/>
                </p:oleObj>
              </mc:Choice>
              <mc:Fallback>
                <p:oleObj r:id="rId4" imgW="7477125" imgH="951865" progId="">
                  <p:embed/>
                  <p:pic>
                    <p:nvPicPr>
                      <p:cNvPr id="93194" name="Object 9319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2800" y="3203575"/>
                        <a:ext cx="758444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12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2804"/>
          <p:cNvSpPr txBox="1"/>
          <p:nvPr/>
        </p:nvSpPr>
        <p:spPr>
          <a:xfrm>
            <a:off x="838200" y="819150"/>
            <a:ext cx="7766050" cy="952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en-US" altLang="zh-CN" sz="2800" b="1" dirty="0">
                <a:latin typeface="Tahoma" panose="020B0604030504040204" pitchFamily="34" charset="0"/>
              </a:rPr>
              <a:t>  </a:t>
            </a:r>
            <a:r>
              <a:rPr lang="zh-CN" altLang="en-US" sz="2800" b="1" dirty="0">
                <a:latin typeface="Tahoma" panose="020B0604030504040204" pitchFamily="34" charset="0"/>
              </a:rPr>
              <a:t>抛一枚硬币观察得到正面或反面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ahoma" panose="020B0604030504040204" pitchFamily="34" charset="0"/>
              </a:rPr>
              <a:t>若将硬币抛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ahoma" panose="020B0604030504040204" pitchFamily="34" charset="0"/>
              </a:rPr>
              <a:t>次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</a:rPr>
              <a:t>即是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n </a:t>
            </a:r>
            <a:r>
              <a:rPr lang="zh-CN" altLang="en-US" sz="2800" b="1" dirty="0">
                <a:latin typeface="宋体" panose="02010600030101010101" pitchFamily="2" charset="-122"/>
              </a:rPr>
              <a:t>重伯努利试验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2806" name="Rectangles 32805"/>
          <p:cNvSpPr/>
          <p:nvPr/>
        </p:nvSpPr>
        <p:spPr>
          <a:xfrm>
            <a:off x="838200" y="2190750"/>
            <a:ext cx="7696200" cy="2244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800" b="1" dirty="0">
                <a:latin typeface="Tahoma" panose="020B0604030504040204" pitchFamily="34" charset="0"/>
              </a:rPr>
              <a:t>  </a:t>
            </a:r>
            <a:r>
              <a:rPr lang="zh-CN" altLang="en-US" sz="2800" b="1" dirty="0">
                <a:latin typeface="Tahoma" panose="020B0604030504040204" pitchFamily="34" charset="0"/>
              </a:rPr>
              <a:t>抛一颗骰子</a:t>
            </a: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ahoma" panose="020B0604030504040204" pitchFamily="34" charset="0"/>
              </a:rPr>
              <a:t>次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ahoma" panose="020B0604030504040204" pitchFamily="34" charset="0"/>
              </a:rPr>
              <a:t>观察是否“出现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6 </a:t>
            </a:r>
            <a:r>
              <a:rPr lang="zh-CN" altLang="en-US" sz="2800" b="1" dirty="0">
                <a:latin typeface="Tahoma" panose="020B0604030504040204" pitchFamily="34" charset="0"/>
              </a:rPr>
              <a:t>点”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</a:rPr>
              <a:t>也是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n </a:t>
            </a:r>
            <a:r>
              <a:rPr lang="zh-CN" altLang="en-US" sz="2800" b="1" dirty="0">
                <a:latin typeface="宋体" panose="02010600030101010101" pitchFamily="2" charset="-122"/>
              </a:rPr>
              <a:t>重伯努利试验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　　　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2807" name="Rectangles 32806"/>
          <p:cNvSpPr/>
          <p:nvPr/>
        </p:nvSpPr>
        <p:spPr>
          <a:xfrm>
            <a:off x="1474788" y="3573463"/>
            <a:ext cx="2919412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(3)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二项概率公式</a:t>
            </a:r>
          </a:p>
        </p:txBody>
      </p:sp>
      <p:graphicFrame>
        <p:nvGraphicFramePr>
          <p:cNvPr id="32808" name="Object 32807"/>
          <p:cNvGraphicFramePr/>
          <p:nvPr/>
        </p:nvGraphicFramePr>
        <p:xfrm>
          <a:off x="900113" y="4292600"/>
          <a:ext cx="7493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489825" imgH="431800" progId="">
                  <p:embed/>
                </p:oleObj>
              </mc:Choice>
              <mc:Fallback>
                <p:oleObj r:id="rId2" imgW="7489825" imgH="431800" progId="">
                  <p:embed/>
                  <p:pic>
                    <p:nvPicPr>
                      <p:cNvPr id="32808" name="Object 3280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0113" y="4292600"/>
                        <a:ext cx="7493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9" name="Object 32808"/>
          <p:cNvGraphicFramePr/>
          <p:nvPr/>
        </p:nvGraphicFramePr>
        <p:xfrm>
          <a:off x="914400" y="4895850"/>
          <a:ext cx="3810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08095" imgH="431800" progId="">
                  <p:embed/>
                </p:oleObj>
              </mc:Choice>
              <mc:Fallback>
                <p:oleObj r:id="rId4" imgW="3808095" imgH="431800" progId="">
                  <p:embed/>
                  <p:pic>
                    <p:nvPicPr>
                      <p:cNvPr id="32809" name="Object 3280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4895850"/>
                        <a:ext cx="3810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0" name="Object 32809"/>
          <p:cNvGraphicFramePr/>
          <p:nvPr/>
        </p:nvGraphicFramePr>
        <p:xfrm>
          <a:off x="3078798" y="5497513"/>
          <a:ext cx="295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161665" imgH="405765" progId="">
                  <p:embed/>
                </p:oleObj>
              </mc:Choice>
              <mc:Fallback>
                <p:oleObj r:id="rId6" imgW="3161665" imgH="405765" progId="">
                  <p:embed/>
                  <p:pic>
                    <p:nvPicPr>
                      <p:cNvPr id="32810" name="Object 3280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78798" y="5497513"/>
                        <a:ext cx="2959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13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06" grpId="0"/>
      <p:bldP spid="328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83986"/>
          <p:cNvGraphicFramePr/>
          <p:nvPr/>
        </p:nvGraphicFramePr>
        <p:xfrm>
          <a:off x="827088" y="762000"/>
          <a:ext cx="347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78530" imgH="431800" progId="">
                  <p:embed/>
                </p:oleObj>
              </mc:Choice>
              <mc:Fallback>
                <p:oleObj r:id="rId2" imgW="3478530" imgH="431800" progId="">
                  <p:embed/>
                  <p:pic>
                    <p:nvPicPr>
                      <p:cNvPr id="29698" name="Object 839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7088" y="762000"/>
                        <a:ext cx="3479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8" name="Object 83987"/>
          <p:cNvGraphicFramePr/>
          <p:nvPr/>
        </p:nvGraphicFramePr>
        <p:xfrm>
          <a:off x="827088" y="1341438"/>
          <a:ext cx="476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760595" imgH="431800" progId="">
                  <p:embed/>
                </p:oleObj>
              </mc:Choice>
              <mc:Fallback>
                <p:oleObj r:id="rId4" imgW="4760595" imgH="431800" progId="">
                  <p:embed/>
                  <p:pic>
                    <p:nvPicPr>
                      <p:cNvPr id="83988" name="Object 8398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088" y="1341438"/>
                        <a:ext cx="4762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9" name="Object 83988"/>
          <p:cNvGraphicFramePr/>
          <p:nvPr/>
        </p:nvGraphicFramePr>
        <p:xfrm>
          <a:off x="2687638" y="2060575"/>
          <a:ext cx="1270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26515" imgH="882015" progId="">
                  <p:embed/>
                </p:oleObj>
              </mc:Choice>
              <mc:Fallback>
                <p:oleObj r:id="rId6" imgW="1326515" imgH="882015" progId="">
                  <p:embed/>
                  <p:pic>
                    <p:nvPicPr>
                      <p:cNvPr id="83989" name="Object 8398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87638" y="2060575"/>
                        <a:ext cx="12700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0" name="Object 83989"/>
          <p:cNvGraphicFramePr/>
          <p:nvPr/>
        </p:nvGraphicFramePr>
        <p:xfrm>
          <a:off x="4135438" y="2060575"/>
          <a:ext cx="1422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94155" imgH="991870" progId="">
                  <p:embed/>
                </p:oleObj>
              </mc:Choice>
              <mc:Fallback>
                <p:oleObj r:id="rId8" imgW="1494155" imgH="991870" progId="">
                  <p:embed/>
                  <p:pic>
                    <p:nvPicPr>
                      <p:cNvPr id="83990" name="Object 8398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35438" y="2060575"/>
                        <a:ext cx="14224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1" name="Object 83990"/>
          <p:cNvGraphicFramePr/>
          <p:nvPr/>
        </p:nvGraphicFramePr>
        <p:xfrm>
          <a:off x="2687638" y="3317875"/>
          <a:ext cx="1371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435735" imgH="933450" progId="">
                  <p:embed/>
                </p:oleObj>
              </mc:Choice>
              <mc:Fallback>
                <p:oleObj r:id="rId10" imgW="1435735" imgH="933450" progId="">
                  <p:embed/>
                  <p:pic>
                    <p:nvPicPr>
                      <p:cNvPr id="83991" name="Object 83990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87638" y="3317875"/>
                        <a:ext cx="1371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2" name="Object 83991"/>
          <p:cNvGraphicFramePr/>
          <p:nvPr/>
        </p:nvGraphicFramePr>
        <p:xfrm>
          <a:off x="4135438" y="327977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76860" imgH="386080" progId="">
                  <p:embed/>
                </p:oleObj>
              </mc:Choice>
              <mc:Fallback>
                <p:oleObj r:id="rId12" imgW="276860" imgH="386080" progId="">
                  <p:embed/>
                  <p:pic>
                    <p:nvPicPr>
                      <p:cNvPr id="83992" name="Object 83991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35438" y="3279775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3" name="Object 83992"/>
          <p:cNvGraphicFramePr/>
          <p:nvPr/>
        </p:nvGraphicFramePr>
        <p:xfrm>
          <a:off x="4592638" y="3346450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76860" imgH="315595" progId="">
                  <p:embed/>
                </p:oleObj>
              </mc:Choice>
              <mc:Fallback>
                <p:oleObj r:id="rId14" imgW="276860" imgH="315595" progId="">
                  <p:embed/>
                  <p:pic>
                    <p:nvPicPr>
                      <p:cNvPr id="83993" name="Object 83992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92638" y="3346450"/>
                        <a:ext cx="2921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4" name="Object 83993"/>
          <p:cNvGraphicFramePr/>
          <p:nvPr/>
        </p:nvGraphicFramePr>
        <p:xfrm>
          <a:off x="5049838" y="3267075"/>
          <a:ext cx="1270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326515" imgH="991870" progId="">
                  <p:embed/>
                </p:oleObj>
              </mc:Choice>
              <mc:Fallback>
                <p:oleObj r:id="rId16" imgW="1326515" imgH="991870" progId="">
                  <p:embed/>
                  <p:pic>
                    <p:nvPicPr>
                      <p:cNvPr id="83994" name="Object 83993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49838" y="3267075"/>
                        <a:ext cx="12700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5" name="Object 83994"/>
          <p:cNvGraphicFramePr/>
          <p:nvPr/>
        </p:nvGraphicFramePr>
        <p:xfrm>
          <a:off x="7067550" y="3470275"/>
          <a:ext cx="6731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672465" imgH="101600" progId="">
                  <p:embed/>
                </p:oleObj>
              </mc:Choice>
              <mc:Fallback>
                <p:oleObj r:id="rId18" imgW="672465" imgH="101600" progId="">
                  <p:embed/>
                  <p:pic>
                    <p:nvPicPr>
                      <p:cNvPr id="83995" name="Object 8399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067550" y="3470275"/>
                        <a:ext cx="673100" cy="10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7" name="Object 83996"/>
          <p:cNvGraphicFramePr/>
          <p:nvPr/>
        </p:nvGraphicFramePr>
        <p:xfrm>
          <a:off x="812800" y="4597400"/>
          <a:ext cx="619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6195060" imgH="431800" progId="">
                  <p:embed/>
                </p:oleObj>
              </mc:Choice>
              <mc:Fallback>
                <p:oleObj r:id="rId20" imgW="6195060" imgH="431800" progId="">
                  <p:embed/>
                  <p:pic>
                    <p:nvPicPr>
                      <p:cNvPr id="83997" name="Object 8399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12800" y="4597400"/>
                        <a:ext cx="6197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00" name="Object 83999"/>
          <p:cNvGraphicFramePr/>
          <p:nvPr/>
        </p:nvGraphicFramePr>
        <p:xfrm>
          <a:off x="7107238" y="4279900"/>
          <a:ext cx="1104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104900" imgH="977900" progId="">
                  <p:embed/>
                </p:oleObj>
              </mc:Choice>
              <mc:Fallback>
                <p:oleObj r:id="rId22" imgW="1104900" imgH="977900" progId="">
                  <p:embed/>
                  <p:pic>
                    <p:nvPicPr>
                      <p:cNvPr id="84000" name="Object 8399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107238" y="4279900"/>
                        <a:ext cx="11049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1" name="Text Box 84000"/>
          <p:cNvSpPr txBox="1"/>
          <p:nvPr/>
        </p:nvSpPr>
        <p:spPr>
          <a:xfrm>
            <a:off x="736600" y="5229225"/>
            <a:ext cx="27749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ahoma" panose="020B0604030504040204" pitchFamily="34" charset="0"/>
              </a:rPr>
              <a:t>且两两互不相容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9710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14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/>
          <p:nvPr/>
        </p:nvSpPr>
        <p:spPr>
          <a:xfrm>
            <a:off x="755650" y="3081020"/>
            <a:ext cx="7905750" cy="2385060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5005" name="Object 85004"/>
          <p:cNvGraphicFramePr/>
          <p:nvPr/>
        </p:nvGraphicFramePr>
        <p:xfrm>
          <a:off x="914400" y="3287713"/>
          <a:ext cx="76962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80200" imgH="1308100" progId="">
                  <p:embed/>
                </p:oleObj>
              </mc:Choice>
              <mc:Fallback>
                <p:oleObj r:id="rId2" imgW="6680200" imgH="1308100" progId="">
                  <p:embed/>
                  <p:pic>
                    <p:nvPicPr>
                      <p:cNvPr id="85005" name="Object 8500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3287713"/>
                        <a:ext cx="7696200" cy="1308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7" name="Rectangles 85006"/>
          <p:cNvSpPr/>
          <p:nvPr/>
        </p:nvSpPr>
        <p:spPr>
          <a:xfrm>
            <a:off x="827088" y="4822825"/>
            <a:ext cx="42926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称该分布为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二项分布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</a:rPr>
              <a:t>记为</a:t>
            </a:r>
          </a:p>
        </p:txBody>
      </p:sp>
      <p:graphicFrame>
        <p:nvGraphicFramePr>
          <p:cNvPr id="85008" name="Object 85007"/>
          <p:cNvGraphicFramePr/>
          <p:nvPr/>
        </p:nvGraphicFramePr>
        <p:xfrm>
          <a:off x="5076825" y="4935538"/>
          <a:ext cx="179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86585" imgH="405765" progId="">
                  <p:embed/>
                </p:oleObj>
              </mc:Choice>
              <mc:Fallback>
                <p:oleObj r:id="rId4" imgW="1886585" imgH="405765" progId="">
                  <p:embed/>
                  <p:pic>
                    <p:nvPicPr>
                      <p:cNvPr id="85008" name="Object 8500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4935538"/>
                        <a:ext cx="1790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85008"/>
          <p:cNvGraphicFramePr/>
          <p:nvPr/>
        </p:nvGraphicFramePr>
        <p:xfrm>
          <a:off x="939800" y="762000"/>
          <a:ext cx="607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68060" imgH="431800" progId="">
                  <p:embed/>
                </p:oleObj>
              </mc:Choice>
              <mc:Fallback>
                <p:oleObj r:id="rId6" imgW="6068060" imgH="431800" progId="">
                  <p:embed/>
                  <p:pic>
                    <p:nvPicPr>
                      <p:cNvPr id="30725" name="Object 8500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9800" y="762000"/>
                        <a:ext cx="6070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1" name="Object 85010"/>
          <p:cNvGraphicFramePr/>
          <p:nvPr/>
        </p:nvGraphicFramePr>
        <p:xfrm>
          <a:off x="1143000" y="1422400"/>
          <a:ext cx="2387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387600" imgH="977900" progId="">
                  <p:embed/>
                </p:oleObj>
              </mc:Choice>
              <mc:Fallback>
                <p:oleObj r:id="rId8" imgW="2387600" imgH="977900" progId="">
                  <p:embed/>
                  <p:pic>
                    <p:nvPicPr>
                      <p:cNvPr id="85011" name="Object 850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43000" y="1422400"/>
                        <a:ext cx="2387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3" name="Right Arrow 85012"/>
          <p:cNvSpPr/>
          <p:nvPr/>
        </p:nvSpPr>
        <p:spPr>
          <a:xfrm>
            <a:off x="3733800" y="1976438"/>
            <a:ext cx="1981200" cy="152400"/>
          </a:xfrm>
          <a:prstGeom prst="rightArrow">
            <a:avLst>
              <a:gd name="adj1" fmla="val 50000"/>
              <a:gd name="adj2" fmla="val 3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85014" name="Object 85013"/>
          <p:cNvGraphicFramePr/>
          <p:nvPr/>
        </p:nvGraphicFramePr>
        <p:xfrm>
          <a:off x="3752850" y="1519238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39265" imgH="431800" progId="">
                  <p:embed/>
                </p:oleObj>
              </mc:Choice>
              <mc:Fallback>
                <p:oleObj r:id="rId10" imgW="1739265" imgH="431800" progId="">
                  <p:embed/>
                  <p:pic>
                    <p:nvPicPr>
                      <p:cNvPr id="85014" name="Object 850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52850" y="1519238"/>
                        <a:ext cx="1739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6" name="Object 85015"/>
          <p:cNvGraphicFramePr/>
          <p:nvPr/>
        </p:nvGraphicFramePr>
        <p:xfrm>
          <a:off x="6011863" y="1427163"/>
          <a:ext cx="1587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87500" imgH="977900" progId="">
                  <p:embed/>
                </p:oleObj>
              </mc:Choice>
              <mc:Fallback>
                <p:oleObj r:id="rId12" imgW="1587500" imgH="977900" progId="">
                  <p:embed/>
                  <p:pic>
                    <p:nvPicPr>
                      <p:cNvPr id="85016" name="Object 8501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11863" y="1427163"/>
                        <a:ext cx="15875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7" name="Object 85016"/>
          <p:cNvGraphicFramePr/>
          <p:nvPr/>
        </p:nvGraphicFramePr>
        <p:xfrm>
          <a:off x="914400" y="2627313"/>
          <a:ext cx="2514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513330" imgH="431800" progId="">
                  <p:embed/>
                </p:oleObj>
              </mc:Choice>
              <mc:Fallback>
                <p:oleObj r:id="rId14" imgW="2513330" imgH="431800" progId="">
                  <p:embed/>
                  <p:pic>
                    <p:nvPicPr>
                      <p:cNvPr id="85017" name="Object 850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14400" y="2627313"/>
                        <a:ext cx="2514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25" name="Group 85024"/>
          <p:cNvGrpSpPr/>
          <p:nvPr/>
        </p:nvGrpSpPr>
        <p:grpSpPr>
          <a:xfrm>
            <a:off x="2267268" y="6957378"/>
            <a:ext cx="4584700" cy="595312"/>
            <a:chOff x="1344" y="3327"/>
            <a:chExt cx="2888" cy="375"/>
          </a:xfrm>
        </p:grpSpPr>
        <p:sp>
          <p:nvSpPr>
            <p:cNvPr id="30733" name="Text Box 85018"/>
            <p:cNvSpPr txBox="1"/>
            <p:nvPr/>
          </p:nvSpPr>
          <p:spPr>
            <a:xfrm>
              <a:off x="1344" y="3375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二项分布</a:t>
              </a:r>
            </a:p>
          </p:txBody>
        </p:sp>
        <p:grpSp>
          <p:nvGrpSpPr>
            <p:cNvPr id="30734" name="Group 85023"/>
            <p:cNvGrpSpPr/>
            <p:nvPr/>
          </p:nvGrpSpPr>
          <p:grpSpPr>
            <a:xfrm>
              <a:off x="2400" y="3327"/>
              <a:ext cx="1832" cy="375"/>
              <a:chOff x="2400" y="3327"/>
              <a:chExt cx="1832" cy="375"/>
            </a:xfrm>
          </p:grpSpPr>
          <p:grpSp>
            <p:nvGrpSpPr>
              <p:cNvPr id="30735" name="Group 85019"/>
              <p:cNvGrpSpPr/>
              <p:nvPr/>
            </p:nvGrpSpPr>
            <p:grpSpPr>
              <a:xfrm>
                <a:off x="2400" y="3327"/>
                <a:ext cx="720" cy="236"/>
                <a:chOff x="2352" y="1300"/>
                <a:chExt cx="720" cy="236"/>
              </a:xfrm>
            </p:grpSpPr>
            <p:graphicFrame>
              <p:nvGraphicFramePr>
                <p:cNvPr id="30737" name="Object 85020"/>
                <p:cNvGraphicFramePr/>
                <p:nvPr/>
              </p:nvGraphicFramePr>
              <p:xfrm>
                <a:off x="2460" y="1300"/>
                <a:ext cx="472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6" imgW="748665" imgH="317500" progId="">
                        <p:embed/>
                      </p:oleObj>
                    </mc:Choice>
                    <mc:Fallback>
                      <p:oleObj r:id="rId16" imgW="748665" imgH="317500" progId="">
                        <p:embed/>
                        <p:pic>
                          <p:nvPicPr>
                            <p:cNvPr id="30737" name="Object 85020"/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60" y="1300"/>
                              <a:ext cx="472" cy="20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0738" name="Straight Connector 85021"/>
                <p:cNvSpPr/>
                <p:nvPr/>
              </p:nvSpPr>
              <p:spPr>
                <a:xfrm>
                  <a:off x="2352" y="1536"/>
                  <a:ext cx="72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triangle" w="lg" len="med"/>
                </a:ln>
              </p:spPr>
            </p:sp>
          </p:grpSp>
          <p:sp>
            <p:nvSpPr>
              <p:cNvPr id="30736" name="Text Box 85022"/>
              <p:cNvSpPr txBox="1"/>
              <p:nvPr/>
            </p:nvSpPr>
            <p:spPr>
              <a:xfrm>
                <a:off x="3216" y="3375"/>
                <a:ext cx="10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两点分布</a:t>
                </a:r>
              </a:p>
            </p:txBody>
          </p:sp>
        </p:grpSp>
      </p:grpSp>
      <p:sp>
        <p:nvSpPr>
          <p:cNvPr id="30732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15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8500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s 106497"/>
          <p:cNvSpPr/>
          <p:nvPr/>
        </p:nvSpPr>
        <p:spPr>
          <a:xfrm>
            <a:off x="2414270" y="5330825"/>
            <a:ext cx="42310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二项分布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sym typeface="+mn-ea"/>
              </a:rPr>
              <a:t>b</a:t>
            </a:r>
            <a:r>
              <a:rPr lang="en-US" altLang="zh-CN" sz="2800" b="1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sym typeface="+mn-ea"/>
              </a:rPr>
              <a:t>n</a:t>
            </a:r>
            <a:r>
              <a:rPr lang="en-US" altLang="zh-CN" sz="2800" b="1" dirty="0">
                <a:solidFill>
                  <a:srgbClr val="0000FF"/>
                </a:solidFill>
                <a:sym typeface="+mn-ea"/>
              </a:rPr>
              <a:t>, </a:t>
            </a:r>
            <a:r>
              <a:rPr lang="en-US" altLang="zh-CN" sz="2800" b="1" i="1" dirty="0">
                <a:solidFill>
                  <a:srgbClr val="0000FF"/>
                </a:solidFill>
                <a:sym typeface="+mn-ea"/>
              </a:rPr>
              <a:t>p</a:t>
            </a:r>
            <a:r>
              <a:rPr lang="en-US" altLang="zh-CN" sz="2800" b="1" dirty="0">
                <a:solidFill>
                  <a:srgbClr val="0000FF"/>
                </a:solidFill>
                <a:sym typeface="+mn-ea"/>
              </a:rPr>
              <a:t>) 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pic>
        <p:nvPicPr>
          <p:cNvPr id="106500" name="Picture 1064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981075"/>
            <a:ext cx="3902075" cy="208915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06501" name="Picture 106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3" y="3068638"/>
            <a:ext cx="3902075" cy="208915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06502" name="Picture 1065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875" y="3068638"/>
            <a:ext cx="3902075" cy="208915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06503" name="Picture 1065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875" y="981075"/>
            <a:ext cx="3902075" cy="208915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1751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16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3796"/>
          <p:cNvSpPr txBox="1"/>
          <p:nvPr/>
        </p:nvSpPr>
        <p:spPr>
          <a:xfrm>
            <a:off x="755650" y="822325"/>
            <a:ext cx="7761288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   在相同条件下独立地进行 </a:t>
            </a:r>
            <a:r>
              <a:rPr lang="en-US" altLang="zh-CN" sz="2800" b="1" dirty="0">
                <a:latin typeface="Times New Roman" panose="02020603050405020304" pitchFamily="18" charset="0"/>
              </a:rPr>
              <a:t>5 </a:t>
            </a:r>
            <a:r>
              <a:rPr lang="zh-CN" altLang="en-US" sz="2800" b="1" dirty="0">
                <a:latin typeface="Times New Roman" panose="02020603050405020304" pitchFamily="18" charset="0"/>
              </a:rPr>
              <a:t>次射击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每次命中目标的概率为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0.6,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则命中目标的次数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服从二项分布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(5, 0.6).</a:t>
            </a:r>
          </a:p>
        </p:txBody>
      </p:sp>
      <p:graphicFrame>
        <p:nvGraphicFramePr>
          <p:cNvPr id="33810" name="Object 33809"/>
          <p:cNvGraphicFramePr/>
          <p:nvPr/>
        </p:nvGraphicFramePr>
        <p:xfrm>
          <a:off x="1519238" y="3535363"/>
          <a:ext cx="69532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38200" imgH="469900" progId="">
                  <p:embed/>
                </p:oleObj>
              </mc:Choice>
              <mc:Fallback>
                <p:oleObj r:id="rId2" imgW="838200" imgH="469900" progId="">
                  <p:embed/>
                  <p:pic>
                    <p:nvPicPr>
                      <p:cNvPr id="33810" name="Object 3380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9238" y="3535363"/>
                        <a:ext cx="695325" cy="44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33810"/>
          <p:cNvGraphicFramePr/>
          <p:nvPr/>
        </p:nvGraphicFramePr>
        <p:xfrm>
          <a:off x="2286000" y="3375025"/>
          <a:ext cx="12493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65300" imgH="977900" progId="">
                  <p:embed/>
                </p:oleObj>
              </mc:Choice>
              <mc:Fallback>
                <p:oleObj r:id="rId4" imgW="1765300" imgH="977900" progId="">
                  <p:embed/>
                  <p:pic>
                    <p:nvPicPr>
                      <p:cNvPr id="33811" name="Object 338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0" y="3375025"/>
                        <a:ext cx="1249363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33811"/>
          <p:cNvGraphicFramePr/>
          <p:nvPr/>
        </p:nvGraphicFramePr>
        <p:xfrm>
          <a:off x="3657600" y="3375025"/>
          <a:ext cx="13970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17700" imgH="977900" progId="">
                  <p:embed/>
                </p:oleObj>
              </mc:Choice>
              <mc:Fallback>
                <p:oleObj r:id="rId6" imgW="1917700" imgH="977900" progId="">
                  <p:embed/>
                  <p:pic>
                    <p:nvPicPr>
                      <p:cNvPr id="33812" name="Object 338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57600" y="3375025"/>
                        <a:ext cx="139700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33812"/>
          <p:cNvGraphicFramePr/>
          <p:nvPr/>
        </p:nvGraphicFramePr>
        <p:xfrm>
          <a:off x="5181600" y="3351213"/>
          <a:ext cx="132397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17700" imgH="977900" progId="">
                  <p:embed/>
                </p:oleObj>
              </mc:Choice>
              <mc:Fallback>
                <p:oleObj r:id="rId8" imgW="1917700" imgH="977900" progId="">
                  <p:embed/>
                  <p:pic>
                    <p:nvPicPr>
                      <p:cNvPr id="33813" name="Object 338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81600" y="3351213"/>
                        <a:ext cx="1323975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33813"/>
          <p:cNvGraphicFramePr/>
          <p:nvPr/>
        </p:nvGraphicFramePr>
        <p:xfrm>
          <a:off x="6705600" y="3375025"/>
          <a:ext cx="11922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90700" imgH="977900" progId="">
                  <p:embed/>
                </p:oleObj>
              </mc:Choice>
              <mc:Fallback>
                <p:oleObj r:id="rId10" imgW="1790700" imgH="977900" progId="">
                  <p:embed/>
                  <p:pic>
                    <p:nvPicPr>
                      <p:cNvPr id="33814" name="Object 338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05600" y="3375025"/>
                        <a:ext cx="1192213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5" name="Object 33814"/>
          <p:cNvGraphicFramePr/>
          <p:nvPr/>
        </p:nvGraphicFramePr>
        <p:xfrm>
          <a:off x="8077200" y="3603625"/>
          <a:ext cx="5270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84200" imgH="381000" progId="">
                  <p:embed/>
                </p:oleObj>
              </mc:Choice>
              <mc:Fallback>
                <p:oleObj r:id="rId12" imgW="584200" imgH="381000" progId="">
                  <p:embed/>
                  <p:pic>
                    <p:nvPicPr>
                      <p:cNvPr id="33815" name="Object 338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77200" y="3603625"/>
                        <a:ext cx="52705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35" name="Group 33834"/>
          <p:cNvGrpSpPr/>
          <p:nvPr/>
        </p:nvGrpSpPr>
        <p:grpSpPr>
          <a:xfrm>
            <a:off x="895350" y="2828925"/>
            <a:ext cx="7696200" cy="1419225"/>
            <a:chOff x="564" y="1616"/>
            <a:chExt cx="4848" cy="894"/>
          </a:xfrm>
        </p:grpSpPr>
        <p:sp>
          <p:nvSpPr>
            <p:cNvPr id="32779" name="Straight Connector 33802"/>
            <p:cNvSpPr/>
            <p:nvPr/>
          </p:nvSpPr>
          <p:spPr>
            <a:xfrm flipV="1">
              <a:off x="564" y="1891"/>
              <a:ext cx="484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32780" name="Object 33804"/>
            <p:cNvGraphicFramePr/>
            <p:nvPr/>
          </p:nvGraphicFramePr>
          <p:xfrm>
            <a:off x="576" y="1616"/>
            <a:ext cx="221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67665" imgH="317500" progId="">
                    <p:embed/>
                  </p:oleObj>
                </mc:Choice>
                <mc:Fallback>
                  <p:oleObj r:id="rId14" imgW="367665" imgH="317500" progId="">
                    <p:embed/>
                    <p:pic>
                      <p:nvPicPr>
                        <p:cNvPr id="32780" name="Object 3380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76" y="1616"/>
                          <a:ext cx="221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1" name="Object 33805"/>
            <p:cNvGraphicFramePr/>
            <p:nvPr/>
          </p:nvGraphicFramePr>
          <p:xfrm>
            <a:off x="576" y="2030"/>
            <a:ext cx="2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93700" imgH="457200" progId="">
                    <p:embed/>
                  </p:oleObj>
                </mc:Choice>
                <mc:Fallback>
                  <p:oleObj r:id="rId16" imgW="393700" imgH="457200" progId="">
                    <p:embed/>
                    <p:pic>
                      <p:nvPicPr>
                        <p:cNvPr id="32781" name="Object 3380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76" y="2030"/>
                          <a:ext cx="23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2" name="Object 33808"/>
            <p:cNvGraphicFramePr/>
            <p:nvPr/>
          </p:nvGraphicFramePr>
          <p:xfrm>
            <a:off x="1111" y="1620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03200" imgH="317500" progId="">
                    <p:embed/>
                  </p:oleObj>
                </mc:Choice>
                <mc:Fallback>
                  <p:oleObj r:id="rId18" imgW="203200" imgH="317500" progId="">
                    <p:embed/>
                    <p:pic>
                      <p:nvPicPr>
                        <p:cNvPr id="32782" name="Object 3380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11" y="1620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3" name="Object 33822"/>
            <p:cNvGraphicFramePr/>
            <p:nvPr/>
          </p:nvGraphicFramePr>
          <p:xfrm>
            <a:off x="1837" y="1620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77800" imgH="304165" progId="">
                    <p:embed/>
                  </p:oleObj>
                </mc:Choice>
                <mc:Fallback>
                  <p:oleObj r:id="rId20" imgW="177800" imgH="304165" progId="">
                    <p:embed/>
                    <p:pic>
                      <p:nvPicPr>
                        <p:cNvPr id="32783" name="Object 3382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837" y="1620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4" name="Object 33823"/>
            <p:cNvGraphicFramePr/>
            <p:nvPr/>
          </p:nvGraphicFramePr>
          <p:xfrm>
            <a:off x="2754" y="1620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15900" imgH="304165" progId="">
                    <p:embed/>
                  </p:oleObj>
                </mc:Choice>
                <mc:Fallback>
                  <p:oleObj r:id="rId22" imgW="215900" imgH="304165" progId="">
                    <p:embed/>
                    <p:pic>
                      <p:nvPicPr>
                        <p:cNvPr id="32784" name="Object 33823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754" y="1620"/>
                          <a:ext cx="13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5" name="Object 33824"/>
            <p:cNvGraphicFramePr/>
            <p:nvPr/>
          </p:nvGraphicFramePr>
          <p:xfrm>
            <a:off x="3651" y="1620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15900" imgH="316865" progId="">
                    <p:embed/>
                  </p:oleObj>
                </mc:Choice>
                <mc:Fallback>
                  <p:oleObj r:id="rId24" imgW="215900" imgH="316865" progId="">
                    <p:embed/>
                    <p:pic>
                      <p:nvPicPr>
                        <p:cNvPr id="32785" name="Object 3382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651" y="1620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6" name="Object 33825"/>
            <p:cNvGraphicFramePr/>
            <p:nvPr/>
          </p:nvGraphicFramePr>
          <p:xfrm>
            <a:off x="4521" y="1620"/>
            <a:ext cx="12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03200" imgH="304800" progId="">
                    <p:embed/>
                  </p:oleObj>
                </mc:Choice>
                <mc:Fallback>
                  <p:oleObj r:id="rId26" imgW="203200" imgH="304800" progId="">
                    <p:embed/>
                    <p:pic>
                      <p:nvPicPr>
                        <p:cNvPr id="32786" name="Object 33825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4521" y="1620"/>
                          <a:ext cx="128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7" name="Object 33826"/>
            <p:cNvGraphicFramePr/>
            <p:nvPr/>
          </p:nvGraphicFramePr>
          <p:xfrm>
            <a:off x="5172" y="1620"/>
            <a:ext cx="12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203200" imgH="304800" progId="">
                    <p:embed/>
                  </p:oleObj>
                </mc:Choice>
                <mc:Fallback>
                  <p:oleObj r:id="rId28" imgW="203200" imgH="304800" progId="">
                    <p:embed/>
                    <p:pic>
                      <p:nvPicPr>
                        <p:cNvPr id="32787" name="Object 33826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172" y="1620"/>
                          <a:ext cx="128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8" name="Straight Connector 33832"/>
            <p:cNvSpPr/>
            <p:nvPr/>
          </p:nvSpPr>
          <p:spPr>
            <a:xfrm>
              <a:off x="912" y="1616"/>
              <a:ext cx="0" cy="894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32778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17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86017"/>
          <p:cNvGraphicFramePr/>
          <p:nvPr/>
        </p:nvGraphicFramePr>
        <p:xfrm>
          <a:off x="819150" y="838200"/>
          <a:ext cx="75819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467600" imgH="2070100" progId="">
                  <p:embed/>
                </p:oleObj>
              </mc:Choice>
              <mc:Fallback>
                <p:oleObj r:id="rId2" imgW="7467600" imgH="2070100" progId="">
                  <p:embed/>
                  <p:pic>
                    <p:nvPicPr>
                      <p:cNvPr id="33794" name="Object 8601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9150" y="838200"/>
                        <a:ext cx="7581900" cy="207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1" name="Text Box 86020"/>
          <p:cNvSpPr txBox="1"/>
          <p:nvPr/>
        </p:nvSpPr>
        <p:spPr>
          <a:xfrm>
            <a:off x="731838" y="3124200"/>
            <a:ext cx="7921625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75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</a:rPr>
              <a:t>这是不放回抽样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ahoma" panose="020B0604030504040204" pitchFamily="34" charset="0"/>
              </a:rPr>
              <a:t>但由于元件的总数很大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且抽查元件的数量相对于元件的总数来说又很小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因而可近似当作有放回抽样来处理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graphicFrame>
        <p:nvGraphicFramePr>
          <p:cNvPr id="86022" name="Object 86021"/>
          <p:cNvGraphicFramePr/>
          <p:nvPr/>
        </p:nvGraphicFramePr>
        <p:xfrm>
          <a:off x="831850" y="4941888"/>
          <a:ext cx="6764338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972300" imgH="977900" progId="">
                  <p:embed/>
                </p:oleObj>
              </mc:Choice>
              <mc:Fallback>
                <p:oleObj r:id="rId4" imgW="6972300" imgH="977900" progId="">
                  <p:embed/>
                  <p:pic>
                    <p:nvPicPr>
                      <p:cNvPr id="86022" name="Object 860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1850" y="4941888"/>
                        <a:ext cx="6764338" cy="950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Rectangles 86022"/>
          <p:cNvSpPr/>
          <p:nvPr/>
        </p:nvSpPr>
        <p:spPr>
          <a:xfrm>
            <a:off x="742950" y="769938"/>
            <a:ext cx="7175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33798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18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s 87041"/>
          <p:cNvSpPr/>
          <p:nvPr/>
        </p:nvSpPr>
        <p:spPr>
          <a:xfrm>
            <a:off x="755650" y="671513"/>
            <a:ext cx="541338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87043" name="Object 87042"/>
          <p:cNvGraphicFramePr/>
          <p:nvPr/>
        </p:nvGraphicFramePr>
        <p:xfrm>
          <a:off x="1441450" y="762000"/>
          <a:ext cx="52911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69560" imgH="431800" progId="">
                  <p:embed/>
                </p:oleObj>
              </mc:Choice>
              <mc:Fallback>
                <p:oleObj r:id="rId2" imgW="5369560" imgH="431800" progId="">
                  <p:embed/>
                  <p:pic>
                    <p:nvPicPr>
                      <p:cNvPr id="87043" name="Object 8704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41450" y="762000"/>
                        <a:ext cx="5291138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4" name="Object 87043"/>
          <p:cNvGraphicFramePr/>
          <p:nvPr/>
        </p:nvGraphicFramePr>
        <p:xfrm>
          <a:off x="1416050" y="1393825"/>
          <a:ext cx="288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81630" imgH="431800" progId="">
                  <p:embed/>
                </p:oleObj>
              </mc:Choice>
              <mc:Fallback>
                <p:oleObj r:id="rId4" imgW="2881630" imgH="431800" progId="">
                  <p:embed/>
                  <p:pic>
                    <p:nvPicPr>
                      <p:cNvPr id="87044" name="Object 8704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16050" y="1393825"/>
                        <a:ext cx="2882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87044"/>
          <p:cNvGraphicFramePr/>
          <p:nvPr/>
        </p:nvGraphicFramePr>
        <p:xfrm>
          <a:off x="4489450" y="1412875"/>
          <a:ext cx="260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02230" imgH="431800" progId="">
                  <p:embed/>
                </p:oleObj>
              </mc:Choice>
              <mc:Fallback>
                <p:oleObj r:id="rId6" imgW="2602230" imgH="431800" progId="">
                  <p:embed/>
                  <p:pic>
                    <p:nvPicPr>
                      <p:cNvPr id="87045" name="Object 8704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89450" y="1412875"/>
                        <a:ext cx="2603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87045"/>
          <p:cNvGraphicFramePr/>
          <p:nvPr/>
        </p:nvGraphicFramePr>
        <p:xfrm>
          <a:off x="1116013" y="2036763"/>
          <a:ext cx="6934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934200" imgH="977900" progId="">
                  <p:embed/>
                </p:oleObj>
              </mc:Choice>
              <mc:Fallback>
                <p:oleObj r:id="rId8" imgW="6934200" imgH="977900" progId="">
                  <p:embed/>
                  <p:pic>
                    <p:nvPicPr>
                      <p:cNvPr id="87046" name="Object 8704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16013" y="2036763"/>
                        <a:ext cx="69342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064" name="Group 87063"/>
          <p:cNvGrpSpPr/>
          <p:nvPr/>
        </p:nvGrpSpPr>
        <p:grpSpPr>
          <a:xfrm>
            <a:off x="900113" y="3265488"/>
            <a:ext cx="7620000" cy="2762250"/>
            <a:chOff x="594" y="2042"/>
            <a:chExt cx="4800" cy="1740"/>
          </a:xfrm>
        </p:grpSpPr>
        <p:grpSp>
          <p:nvGrpSpPr>
            <p:cNvPr id="34825" name="Group 87062"/>
            <p:cNvGrpSpPr/>
            <p:nvPr/>
          </p:nvGrpSpPr>
          <p:grpSpPr>
            <a:xfrm>
              <a:off x="594" y="2042"/>
              <a:ext cx="4800" cy="1740"/>
              <a:chOff x="576" y="2112"/>
              <a:chExt cx="4800" cy="1740"/>
            </a:xfrm>
          </p:grpSpPr>
          <p:sp>
            <p:nvSpPr>
              <p:cNvPr id="34838" name="Rectangles 87046"/>
              <p:cNvSpPr/>
              <p:nvPr/>
            </p:nvSpPr>
            <p:spPr>
              <a:xfrm>
                <a:off x="576" y="2124"/>
                <a:ext cx="4800" cy="1728"/>
              </a:xfrm>
              <a:prstGeom prst="rect">
                <a:avLst/>
              </a:prstGeom>
              <a:noFill/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39" name="Straight Connector 87047"/>
              <p:cNvSpPr/>
              <p:nvPr/>
            </p:nvSpPr>
            <p:spPr>
              <a:xfrm>
                <a:off x="576" y="3504"/>
                <a:ext cx="480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4840" name="Straight Connector 87048"/>
              <p:cNvSpPr/>
              <p:nvPr/>
            </p:nvSpPr>
            <p:spPr>
              <a:xfrm>
                <a:off x="2112" y="2112"/>
                <a:ext cx="0" cy="13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4841" name="Straight Connector 87049"/>
              <p:cNvSpPr/>
              <p:nvPr/>
            </p:nvSpPr>
            <p:spPr>
              <a:xfrm>
                <a:off x="3792" y="2112"/>
                <a:ext cx="0" cy="13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34826" name="Object 87050"/>
            <p:cNvGraphicFramePr/>
            <p:nvPr/>
          </p:nvGraphicFramePr>
          <p:xfrm>
            <a:off x="611" y="2105"/>
            <a:ext cx="1351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208530" imgH="330200" progId="">
                    <p:embed/>
                  </p:oleObj>
                </mc:Choice>
                <mc:Fallback>
                  <p:oleObj r:id="rId10" imgW="2208530" imgH="330200" progId="">
                    <p:embed/>
                    <p:pic>
                      <p:nvPicPr>
                        <p:cNvPr id="34826" name="Object 8705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11" y="2105"/>
                          <a:ext cx="1351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7" name="Object 87051"/>
            <p:cNvGraphicFramePr/>
            <p:nvPr/>
          </p:nvGraphicFramePr>
          <p:xfrm>
            <a:off x="611" y="2489"/>
            <a:ext cx="1357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195830" imgH="330200" progId="">
                    <p:embed/>
                  </p:oleObj>
                </mc:Choice>
                <mc:Fallback>
                  <p:oleObj r:id="rId12" imgW="2195830" imgH="330200" progId="">
                    <p:embed/>
                    <p:pic>
                      <p:nvPicPr>
                        <p:cNvPr id="34827" name="Object 8705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11" y="2489"/>
                          <a:ext cx="1357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8" name="Object 87052"/>
            <p:cNvGraphicFramePr/>
            <p:nvPr/>
          </p:nvGraphicFramePr>
          <p:xfrm>
            <a:off x="611" y="2873"/>
            <a:ext cx="139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221230" imgH="330200" progId="">
                    <p:embed/>
                  </p:oleObj>
                </mc:Choice>
                <mc:Fallback>
                  <p:oleObj r:id="rId14" imgW="2221230" imgH="330200" progId="">
                    <p:embed/>
                    <p:pic>
                      <p:nvPicPr>
                        <p:cNvPr id="34828" name="Object 87052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11" y="2873"/>
                          <a:ext cx="1393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9" name="Object 87053"/>
            <p:cNvGraphicFramePr/>
            <p:nvPr/>
          </p:nvGraphicFramePr>
          <p:xfrm>
            <a:off x="611" y="3224"/>
            <a:ext cx="139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221230" imgH="330200" progId="">
                    <p:embed/>
                  </p:oleObj>
                </mc:Choice>
                <mc:Fallback>
                  <p:oleObj r:id="rId16" imgW="2221230" imgH="330200" progId="">
                    <p:embed/>
                    <p:pic>
                      <p:nvPicPr>
                        <p:cNvPr id="34829" name="Object 8705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11" y="3224"/>
                          <a:ext cx="1397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0" name="Object 87054"/>
            <p:cNvGraphicFramePr/>
            <p:nvPr/>
          </p:nvGraphicFramePr>
          <p:xfrm>
            <a:off x="2294" y="2105"/>
            <a:ext cx="135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208530" imgH="330200" progId="">
                    <p:embed/>
                  </p:oleObj>
                </mc:Choice>
                <mc:Fallback>
                  <p:oleObj r:id="rId18" imgW="2208530" imgH="330200" progId="">
                    <p:embed/>
                    <p:pic>
                      <p:nvPicPr>
                        <p:cNvPr id="34830" name="Object 8705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294" y="2105"/>
                          <a:ext cx="1351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1" name="Object 87055"/>
            <p:cNvGraphicFramePr/>
            <p:nvPr/>
          </p:nvGraphicFramePr>
          <p:xfrm>
            <a:off x="2294" y="2489"/>
            <a:ext cx="135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208530" imgH="330200" progId="">
                    <p:embed/>
                  </p:oleObj>
                </mc:Choice>
                <mc:Fallback>
                  <p:oleObj r:id="rId20" imgW="2208530" imgH="330200" progId="">
                    <p:embed/>
                    <p:pic>
                      <p:nvPicPr>
                        <p:cNvPr id="34831" name="Object 87055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294" y="2489"/>
                          <a:ext cx="1351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2" name="Object 87056"/>
            <p:cNvGraphicFramePr/>
            <p:nvPr/>
          </p:nvGraphicFramePr>
          <p:xfrm>
            <a:off x="2294" y="2873"/>
            <a:ext cx="135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208530" imgH="330200" progId="">
                    <p:embed/>
                  </p:oleObj>
                </mc:Choice>
                <mc:Fallback>
                  <p:oleObj r:id="rId22" imgW="2208530" imgH="330200" progId="">
                    <p:embed/>
                    <p:pic>
                      <p:nvPicPr>
                        <p:cNvPr id="34832" name="Object 87056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294" y="2873"/>
                          <a:ext cx="1351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3" name="Object 87057"/>
            <p:cNvGraphicFramePr/>
            <p:nvPr/>
          </p:nvGraphicFramePr>
          <p:xfrm>
            <a:off x="2294" y="3224"/>
            <a:ext cx="1393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221230" imgH="330200" progId="">
                    <p:embed/>
                  </p:oleObj>
                </mc:Choice>
                <mc:Fallback>
                  <p:oleObj r:id="rId24" imgW="2221230" imgH="330200" progId="">
                    <p:embed/>
                    <p:pic>
                      <p:nvPicPr>
                        <p:cNvPr id="34833" name="Object 87057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294" y="3224"/>
                          <a:ext cx="1393" cy="2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4" name="Object 87058"/>
            <p:cNvGraphicFramePr/>
            <p:nvPr/>
          </p:nvGraphicFramePr>
          <p:xfrm>
            <a:off x="3918" y="2105"/>
            <a:ext cx="135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208530" imgH="330200" progId="">
                    <p:embed/>
                  </p:oleObj>
                </mc:Choice>
                <mc:Fallback>
                  <p:oleObj r:id="rId26" imgW="2208530" imgH="330200" progId="">
                    <p:embed/>
                    <p:pic>
                      <p:nvPicPr>
                        <p:cNvPr id="34834" name="Object 87058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3918" y="2105"/>
                          <a:ext cx="1351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5" name="Object 87059"/>
            <p:cNvGraphicFramePr/>
            <p:nvPr/>
          </p:nvGraphicFramePr>
          <p:xfrm>
            <a:off x="3918" y="2489"/>
            <a:ext cx="135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2221230" imgH="330200" progId="">
                    <p:embed/>
                  </p:oleObj>
                </mc:Choice>
                <mc:Fallback>
                  <p:oleObj r:id="rId28" imgW="2221230" imgH="330200" progId="">
                    <p:embed/>
                    <p:pic>
                      <p:nvPicPr>
                        <p:cNvPr id="34835" name="Object 87059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918" y="2489"/>
                          <a:ext cx="1359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6" name="Object 87060"/>
            <p:cNvGraphicFramePr/>
            <p:nvPr/>
          </p:nvGraphicFramePr>
          <p:xfrm>
            <a:off x="3918" y="2873"/>
            <a:ext cx="139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2348230" imgH="330200" progId="">
                    <p:embed/>
                  </p:oleObj>
                </mc:Choice>
                <mc:Fallback>
                  <p:oleObj r:id="rId30" imgW="2348230" imgH="330200" progId="">
                    <p:embed/>
                    <p:pic>
                      <p:nvPicPr>
                        <p:cNvPr id="34836" name="Object 87060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3918" y="2873"/>
                          <a:ext cx="1391" cy="1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7" name="Object 87061"/>
            <p:cNvGraphicFramePr/>
            <p:nvPr/>
          </p:nvGraphicFramePr>
          <p:xfrm>
            <a:off x="1582" y="3479"/>
            <a:ext cx="280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4735195" imgH="431800" progId="">
                    <p:embed/>
                  </p:oleObj>
                </mc:Choice>
                <mc:Fallback>
                  <p:oleObj r:id="rId32" imgW="4735195" imgH="431800" progId="">
                    <p:embed/>
                    <p:pic>
                      <p:nvPicPr>
                        <p:cNvPr id="34837" name="Object 87061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582" y="3479"/>
                          <a:ext cx="2806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24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19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84" name="Picture 880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836613"/>
            <a:ext cx="7343775" cy="45720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5843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20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67125" y="1279525"/>
            <a:ext cx="17945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i="1" dirty="0">
                <a:sym typeface="+mn-ea"/>
              </a:rPr>
              <a:t>b</a:t>
            </a:r>
            <a:r>
              <a:rPr lang="en-US" altLang="zh-CN" sz="2800" b="1" dirty="0">
                <a:sym typeface="+mn-ea"/>
              </a:rPr>
              <a:t>(20, 0.2)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81921"/>
          <p:cNvGraphicFramePr/>
          <p:nvPr/>
        </p:nvGraphicFramePr>
        <p:xfrm>
          <a:off x="831850" y="674688"/>
          <a:ext cx="754538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429500" imgH="977900" progId="">
                  <p:embed/>
                </p:oleObj>
              </mc:Choice>
              <mc:Fallback>
                <p:oleObj r:id="rId2" imgW="7429500" imgH="977900" progId="">
                  <p:embed/>
                  <p:pic>
                    <p:nvPicPr>
                      <p:cNvPr id="36866" name="Object 819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1850" y="674688"/>
                        <a:ext cx="7545388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3" name="Rectangles 81922"/>
          <p:cNvSpPr/>
          <p:nvPr/>
        </p:nvSpPr>
        <p:spPr>
          <a:xfrm>
            <a:off x="755650" y="1944688"/>
            <a:ext cx="5397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81924" name="Object 81923"/>
          <p:cNvGraphicFramePr/>
          <p:nvPr/>
        </p:nvGraphicFramePr>
        <p:xfrm>
          <a:off x="1441450" y="2024063"/>
          <a:ext cx="300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08630" imgH="431800" progId="">
                  <p:embed/>
                </p:oleObj>
              </mc:Choice>
              <mc:Fallback>
                <p:oleObj r:id="rId4" imgW="3008630" imgH="431800" progId="">
                  <p:embed/>
                  <p:pic>
                    <p:nvPicPr>
                      <p:cNvPr id="81924" name="Object 8192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1450" y="2024063"/>
                        <a:ext cx="3009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81924"/>
          <p:cNvGraphicFramePr/>
          <p:nvPr/>
        </p:nvGraphicFramePr>
        <p:xfrm>
          <a:off x="831850" y="2655888"/>
          <a:ext cx="314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148330" imgH="431800" progId="">
                  <p:embed/>
                </p:oleObj>
              </mc:Choice>
              <mc:Fallback>
                <p:oleObj r:id="rId6" imgW="3148330" imgH="431800" progId="">
                  <p:embed/>
                  <p:pic>
                    <p:nvPicPr>
                      <p:cNvPr id="81925" name="Object 819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1850" y="2655888"/>
                        <a:ext cx="3149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81925"/>
          <p:cNvGraphicFramePr/>
          <p:nvPr/>
        </p:nvGraphicFramePr>
        <p:xfrm>
          <a:off x="831850" y="3287713"/>
          <a:ext cx="218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83765" imgH="431800" progId="">
                  <p:embed/>
                </p:oleObj>
              </mc:Choice>
              <mc:Fallback>
                <p:oleObj r:id="rId8" imgW="2183765" imgH="431800" progId="">
                  <p:embed/>
                  <p:pic>
                    <p:nvPicPr>
                      <p:cNvPr id="81926" name="Object 819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1850" y="3287713"/>
                        <a:ext cx="2184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7" name="Object 81926"/>
          <p:cNvGraphicFramePr/>
          <p:nvPr/>
        </p:nvGraphicFramePr>
        <p:xfrm>
          <a:off x="812800" y="3921125"/>
          <a:ext cx="5334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334000" imgH="977900" progId="">
                  <p:embed/>
                </p:oleObj>
              </mc:Choice>
              <mc:Fallback>
                <p:oleObj r:id="rId10" imgW="5334000" imgH="977900" progId="">
                  <p:embed/>
                  <p:pic>
                    <p:nvPicPr>
                      <p:cNvPr id="81927" name="Object 8192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12800" y="3921125"/>
                        <a:ext cx="53340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8" name="Object 81927"/>
          <p:cNvGraphicFramePr/>
          <p:nvPr/>
        </p:nvGraphicFramePr>
        <p:xfrm>
          <a:off x="6267450" y="4235450"/>
          <a:ext cx="218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184400" imgH="368300" progId="">
                  <p:embed/>
                </p:oleObj>
              </mc:Choice>
              <mc:Fallback>
                <p:oleObj r:id="rId12" imgW="2184400" imgH="368300" progId="">
                  <p:embed/>
                  <p:pic>
                    <p:nvPicPr>
                      <p:cNvPr id="81928" name="Object 8192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267450" y="4235450"/>
                        <a:ext cx="21844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Text Box 81928"/>
          <p:cNvSpPr txBox="1"/>
          <p:nvPr/>
        </p:nvSpPr>
        <p:spPr>
          <a:xfrm>
            <a:off x="736600" y="4995863"/>
            <a:ext cx="119697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ahoma" panose="020B0604030504040204" pitchFamily="34" charset="0"/>
              </a:rPr>
              <a:t>因此</a:t>
            </a:r>
          </a:p>
        </p:txBody>
      </p:sp>
      <p:graphicFrame>
        <p:nvGraphicFramePr>
          <p:cNvPr id="81930" name="Object 81929"/>
          <p:cNvGraphicFramePr/>
          <p:nvPr/>
        </p:nvGraphicFramePr>
        <p:xfrm>
          <a:off x="1803400" y="5099050"/>
          <a:ext cx="537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369560" imgH="381000" progId="">
                  <p:embed/>
                </p:oleObj>
              </mc:Choice>
              <mc:Fallback>
                <p:oleObj r:id="rId14" imgW="5369560" imgH="381000" progId="">
                  <p:embed/>
                  <p:pic>
                    <p:nvPicPr>
                      <p:cNvPr id="81930" name="Object 8192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03400" y="5099050"/>
                        <a:ext cx="5372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1" name="Object 81930"/>
          <p:cNvGraphicFramePr/>
          <p:nvPr/>
        </p:nvGraphicFramePr>
        <p:xfrm>
          <a:off x="1847850" y="5680075"/>
          <a:ext cx="4978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978400" imgH="469900" progId="">
                  <p:embed/>
                </p:oleObj>
              </mc:Choice>
              <mc:Fallback>
                <p:oleObj r:id="rId16" imgW="4978400" imgH="469900" progId="">
                  <p:embed/>
                  <p:pic>
                    <p:nvPicPr>
                      <p:cNvPr id="81931" name="Object 8193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847850" y="5680075"/>
                        <a:ext cx="4978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2" name="Object 81931"/>
          <p:cNvGraphicFramePr/>
          <p:nvPr/>
        </p:nvGraphicFramePr>
        <p:xfrm>
          <a:off x="6756400" y="5762625"/>
          <a:ext cx="1384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383030" imgH="317500" progId="">
                  <p:embed/>
                </p:oleObj>
              </mc:Choice>
              <mc:Fallback>
                <p:oleObj r:id="rId18" imgW="1383030" imgH="317500" progId="">
                  <p:embed/>
                  <p:pic>
                    <p:nvPicPr>
                      <p:cNvPr id="81932" name="Object 8193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756400" y="5762625"/>
                        <a:ext cx="1384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77" name="Picture 81932" descr="001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48263" y="1988503"/>
            <a:ext cx="2626360" cy="16554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8" name="Rectangles 81933"/>
          <p:cNvSpPr/>
          <p:nvPr/>
        </p:nvSpPr>
        <p:spPr>
          <a:xfrm>
            <a:off x="755650" y="620713"/>
            <a:ext cx="7175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36879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21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/>
      <p:bldP spid="819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50177"/>
          <p:cNvSpPr txBox="1"/>
          <p:nvPr/>
        </p:nvSpPr>
        <p:spPr>
          <a:xfrm>
            <a:off x="800100" y="676275"/>
            <a:ext cx="309563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7891" name="Text Box 50178"/>
          <p:cNvSpPr txBox="1"/>
          <p:nvPr/>
        </p:nvSpPr>
        <p:spPr>
          <a:xfrm>
            <a:off x="728663" y="560388"/>
            <a:ext cx="7978775" cy="1814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有一繁忙的汽车站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每天有大量汽车通过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设每辆汽车在一天的某段时间内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出事故的概率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0.0001,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在每天的该段时间内有</a:t>
            </a:r>
            <a:r>
              <a:rPr lang="en-US" altLang="zh-CN" sz="2800" b="1" dirty="0">
                <a:latin typeface="Times New Roman" panose="02020603050405020304" pitchFamily="18" charset="0"/>
              </a:rPr>
              <a:t> 1000 </a:t>
            </a:r>
            <a:r>
              <a:rPr lang="zh-CN" altLang="en-US" sz="2800" b="1" dirty="0">
                <a:latin typeface="Times New Roman" panose="02020603050405020304" pitchFamily="18" charset="0"/>
              </a:rPr>
              <a:t>辆汽车通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过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问出事故的次数不小于</a:t>
            </a:r>
            <a:r>
              <a:rPr lang="en-US" altLang="zh-CN" sz="2800" b="1" dirty="0">
                <a:latin typeface="Times New Roman" panose="02020603050405020304" pitchFamily="18" charset="0"/>
              </a:rPr>
              <a:t> 2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的概率是多少</a:t>
            </a:r>
            <a:r>
              <a:rPr lang="en-US" altLang="zh-CN" sz="2800" b="1" dirty="0">
                <a:latin typeface="Times New Roman" panose="02020603050405020304" pitchFamily="18" charset="0"/>
              </a:rPr>
              <a:t>?</a:t>
            </a:r>
          </a:p>
        </p:txBody>
      </p:sp>
      <p:graphicFrame>
        <p:nvGraphicFramePr>
          <p:cNvPr id="50183" name="Object 50182"/>
          <p:cNvGraphicFramePr/>
          <p:nvPr/>
        </p:nvGraphicFramePr>
        <p:xfrm>
          <a:off x="1041400" y="3546475"/>
          <a:ext cx="32432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72130" imgH="393700" progId="">
                  <p:embed/>
                </p:oleObj>
              </mc:Choice>
              <mc:Fallback>
                <p:oleObj r:id="rId2" imgW="3072130" imgH="393700" progId="">
                  <p:embed/>
                  <p:pic>
                    <p:nvPicPr>
                      <p:cNvPr id="50183" name="Object 501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1400" y="3546475"/>
                        <a:ext cx="324326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50187"/>
          <p:cNvGraphicFramePr/>
          <p:nvPr/>
        </p:nvGraphicFramePr>
        <p:xfrm>
          <a:off x="1490663" y="4624388"/>
          <a:ext cx="616426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286500" imgH="977900" progId="">
                  <p:embed/>
                </p:oleObj>
              </mc:Choice>
              <mc:Fallback>
                <p:oleObj r:id="rId4" imgW="6286500" imgH="977900" progId="">
                  <p:embed/>
                  <p:pic>
                    <p:nvPicPr>
                      <p:cNvPr id="50188" name="Object 5018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90663" y="4624388"/>
                        <a:ext cx="6164262" cy="992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02" name="Group 50201"/>
          <p:cNvGrpSpPr/>
          <p:nvPr/>
        </p:nvGrpSpPr>
        <p:grpSpPr>
          <a:xfrm>
            <a:off x="712788" y="2505075"/>
            <a:ext cx="3873500" cy="963613"/>
            <a:chOff x="521" y="1537"/>
            <a:chExt cx="2440" cy="607"/>
          </a:xfrm>
        </p:grpSpPr>
        <p:sp>
          <p:nvSpPr>
            <p:cNvPr id="37905" name="Text Box 50181"/>
            <p:cNvSpPr txBox="1"/>
            <p:nvPr/>
          </p:nvSpPr>
          <p:spPr>
            <a:xfrm>
              <a:off x="521" y="1543"/>
              <a:ext cx="2440" cy="6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1000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辆车通过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</a:t>
              </a:r>
            </a:p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出事故的次数为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则</a:t>
              </a:r>
            </a:p>
          </p:txBody>
        </p:sp>
        <p:sp>
          <p:nvSpPr>
            <p:cNvPr id="37906" name="Rectangles 50191"/>
            <p:cNvSpPr/>
            <p:nvPr/>
          </p:nvSpPr>
          <p:spPr>
            <a:xfrm>
              <a:off x="540" y="1537"/>
              <a:ext cx="3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</a:t>
              </a:r>
            </a:p>
          </p:txBody>
        </p:sp>
      </p:grpSp>
      <p:pic>
        <p:nvPicPr>
          <p:cNvPr id="37895" name="Picture 50193" descr="BD07195_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625" y="2557463"/>
            <a:ext cx="2057400" cy="1373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6" name="Rectangles 50198"/>
          <p:cNvSpPr/>
          <p:nvPr/>
        </p:nvSpPr>
        <p:spPr>
          <a:xfrm>
            <a:off x="742950" y="549275"/>
            <a:ext cx="817563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</a:p>
        </p:txBody>
      </p:sp>
      <p:grpSp>
        <p:nvGrpSpPr>
          <p:cNvPr id="50203" name="Group 50202"/>
          <p:cNvGrpSpPr/>
          <p:nvPr/>
        </p:nvGrpSpPr>
        <p:grpSpPr>
          <a:xfrm>
            <a:off x="712788" y="4040188"/>
            <a:ext cx="7796212" cy="519112"/>
            <a:chOff x="521" y="2432"/>
            <a:chExt cx="4911" cy="327"/>
          </a:xfrm>
        </p:grpSpPr>
        <p:sp>
          <p:nvSpPr>
            <p:cNvPr id="37903" name="Rectangles 50185"/>
            <p:cNvSpPr/>
            <p:nvPr/>
          </p:nvSpPr>
          <p:spPr>
            <a:xfrm>
              <a:off x="521" y="2432"/>
              <a:ext cx="14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故所求概率为</a:t>
              </a:r>
            </a:p>
          </p:txBody>
        </p:sp>
        <p:graphicFrame>
          <p:nvGraphicFramePr>
            <p:cNvPr id="37904" name="Object 50199"/>
            <p:cNvGraphicFramePr/>
            <p:nvPr/>
          </p:nvGraphicFramePr>
          <p:xfrm>
            <a:off x="1976" y="2506"/>
            <a:ext cx="34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483860" imgH="381000" progId="">
                    <p:embed/>
                  </p:oleObj>
                </mc:Choice>
                <mc:Fallback>
                  <p:oleObj r:id="rId7" imgW="5483860" imgH="381000" progId="">
                    <p:embed/>
                    <p:pic>
                      <p:nvPicPr>
                        <p:cNvPr id="37904" name="Object 5019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76" y="2506"/>
                          <a:ext cx="345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06" name="Group 50205"/>
          <p:cNvGrpSpPr/>
          <p:nvPr/>
        </p:nvGrpSpPr>
        <p:grpSpPr>
          <a:xfrm>
            <a:off x="1331913" y="5741988"/>
            <a:ext cx="6499225" cy="639762"/>
            <a:chOff x="1056" y="3408"/>
            <a:chExt cx="4094" cy="403"/>
          </a:xfrm>
        </p:grpSpPr>
        <p:sp>
          <p:nvSpPr>
            <p:cNvPr id="37900" name="Text Box 50195"/>
            <p:cNvSpPr txBox="1"/>
            <p:nvPr/>
          </p:nvSpPr>
          <p:spPr>
            <a:xfrm>
              <a:off x="1056" y="3484"/>
              <a:ext cx="40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二项分布</a:t>
              </a:r>
              <a:r>
                <a:rPr lang="zh-CN" altLang="en-US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           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                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泊松分布</a:t>
              </a:r>
            </a:p>
          </p:txBody>
        </p:sp>
        <p:sp>
          <p:nvSpPr>
            <p:cNvPr id="37901" name="Right Arrow 50197"/>
            <p:cNvSpPr/>
            <p:nvPr/>
          </p:nvSpPr>
          <p:spPr>
            <a:xfrm>
              <a:off x="2128" y="3658"/>
              <a:ext cx="1668" cy="58"/>
            </a:xfrm>
            <a:prstGeom prst="rightArrow">
              <a:avLst>
                <a:gd name="adj1" fmla="val 50000"/>
                <a:gd name="adj2" fmla="val 450152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7902" name="Object 50204"/>
            <p:cNvGraphicFramePr/>
            <p:nvPr/>
          </p:nvGraphicFramePr>
          <p:xfrm>
            <a:off x="2112" y="3408"/>
            <a:ext cx="17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805430" imgH="393700" progId="">
                    <p:embed/>
                  </p:oleObj>
                </mc:Choice>
                <mc:Fallback>
                  <p:oleObj r:id="rId9" imgW="2805430" imgH="393700" progId="">
                    <p:embed/>
                    <p:pic>
                      <p:nvPicPr>
                        <p:cNvPr id="37902" name="Object 5020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12" y="3408"/>
                          <a:ext cx="17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9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22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/>
          <p:nvPr/>
        </p:nvSpPr>
        <p:spPr>
          <a:xfrm>
            <a:off x="755650" y="1473835"/>
            <a:ext cx="7905750" cy="3321685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s 34817"/>
          <p:cNvSpPr/>
          <p:nvPr/>
        </p:nvSpPr>
        <p:spPr>
          <a:xfrm>
            <a:off x="850900" y="620713"/>
            <a:ext cx="4183063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泊松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+mj-lt"/>
              </a:rPr>
              <a:t>(Poisson)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  <p:graphicFrame>
        <p:nvGraphicFramePr>
          <p:cNvPr id="34830" name="Object 34829"/>
          <p:cNvGraphicFramePr/>
          <p:nvPr/>
        </p:nvGraphicFramePr>
        <p:xfrm>
          <a:off x="914400" y="1628775"/>
          <a:ext cx="7642225" cy="307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620000" imgH="3073400" progId="">
                  <p:embed/>
                </p:oleObj>
              </mc:Choice>
              <mc:Fallback>
                <p:oleObj r:id="rId2" imgW="7620000" imgH="3073400" progId="">
                  <p:embed/>
                  <p:pic>
                    <p:nvPicPr>
                      <p:cNvPr id="34830" name="Object 3482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1628775"/>
                        <a:ext cx="7642225" cy="307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23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s 89090"/>
          <p:cNvSpPr/>
          <p:nvPr/>
        </p:nvSpPr>
        <p:spPr>
          <a:xfrm>
            <a:off x="2944813" y="5511800"/>
            <a:ext cx="3254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泊松分布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i="1" dirty="0">
                <a:solidFill>
                  <a:srgbClr val="0000FF"/>
                </a:solidFill>
                <a:latin typeface="+mj-lt"/>
                <a:cs typeface="+mj-lt"/>
              </a:rPr>
              <a:t>π</a:t>
            </a:r>
            <a:r>
              <a:rPr lang="en-US" altLang="zh-CN" sz="900" b="1" dirty="0">
                <a:solidFill>
                  <a:srgbClr val="0000FF"/>
                </a:solidFill>
                <a:latin typeface="+mj-lt"/>
                <a:cs typeface="+mj-lt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+mj-lt"/>
                <a:cs typeface="+mj-lt"/>
              </a:rPr>
              <a:t>(</a:t>
            </a:r>
            <a:r>
              <a:rPr lang="zh-CN" altLang="en-US" sz="2800" i="1" dirty="0">
                <a:solidFill>
                  <a:srgbClr val="0000FF"/>
                </a:solidFill>
                <a:latin typeface="+mj-lt"/>
                <a:cs typeface="+mj-lt"/>
              </a:rPr>
              <a:t>λ</a:t>
            </a:r>
            <a:r>
              <a:rPr lang="zh-CN" altLang="en-US" sz="2800" b="1" dirty="0">
                <a:solidFill>
                  <a:srgbClr val="0000FF"/>
                </a:solidFill>
                <a:latin typeface="+mj-lt"/>
                <a:cs typeface="+mj-lt"/>
              </a:rPr>
              <a:t>)</a:t>
            </a:r>
          </a:p>
        </p:txBody>
      </p:sp>
      <p:pic>
        <p:nvPicPr>
          <p:cNvPr id="89094" name="Picture 890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836613"/>
            <a:ext cx="3743325" cy="2268537"/>
          </a:xfrm>
          <a:prstGeom prst="rect">
            <a:avLst/>
          </a:prstGeom>
          <a:noFill/>
          <a:ln w="190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89096" name="Picture 890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0" y="3113088"/>
            <a:ext cx="3743325" cy="2268537"/>
          </a:xfrm>
          <a:prstGeom prst="rect">
            <a:avLst/>
          </a:prstGeom>
          <a:noFill/>
          <a:ln w="190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89097" name="Picture 890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88" y="836613"/>
            <a:ext cx="3743325" cy="2268537"/>
          </a:xfrm>
          <a:prstGeom prst="rect">
            <a:avLst/>
          </a:prstGeom>
          <a:noFill/>
          <a:ln w="190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89095" name="Picture 890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88" y="3113088"/>
            <a:ext cx="3743325" cy="2268537"/>
          </a:xfrm>
          <a:prstGeom prst="rect">
            <a:avLst/>
          </a:prstGeom>
          <a:noFill/>
          <a:ln w="190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9943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24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s 54276"/>
          <p:cNvSpPr/>
          <p:nvPr/>
        </p:nvSpPr>
        <p:spPr>
          <a:xfrm>
            <a:off x="827088" y="692150"/>
            <a:ext cx="3757612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泊松分布的背景及应用</a:t>
            </a:r>
          </a:p>
        </p:txBody>
      </p:sp>
      <p:sp>
        <p:nvSpPr>
          <p:cNvPr id="37891" name="Text Box 54277"/>
          <p:cNvSpPr txBox="1">
            <a:spLocks noChangeArrowheads="1"/>
          </p:cNvSpPr>
          <p:nvPr/>
        </p:nvSpPr>
        <p:spPr bwMode="auto">
          <a:xfrm>
            <a:off x="930275" y="1360488"/>
            <a:ext cx="7240588" cy="224472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FFFF00"/>
            </a:solidFill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　　二十世纪初</a:t>
            </a: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卢瑟福和盖克两位科学家</a:t>
            </a:r>
            <a:endParaRPr kumimoji="0" lang="en-US" altLang="zh-CN" sz="2800" b="1" kern="1200" cap="none" spc="0" normalizeH="0" baseline="0" noProof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在观察放射性物质放出的</a:t>
            </a:r>
            <a:r>
              <a:rPr kumimoji="0" lang="en-US" altLang="zh-CN" sz="2800" b="1" i="1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α 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粒子个数时</a:t>
            </a: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进行</a:t>
            </a:r>
            <a:endParaRPr kumimoji="0" lang="en-US" altLang="zh-CN" sz="2800" b="1" kern="1200" cap="none" spc="0" normalizeH="0" baseline="0" noProof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了</a:t>
            </a: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2608 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次观察</a:t>
            </a: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每次时间</a:t>
            </a: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7.5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秒</a:t>
            </a: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), 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发现放射性</a:t>
            </a:r>
            <a:endParaRPr kumimoji="0" lang="en-US" altLang="zh-CN" sz="2800" b="1" kern="1200" cap="none" spc="0" normalizeH="0" baseline="0" noProof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物质在规定的一段时间内</a:t>
            </a: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放射的粒子数 </a:t>
            </a:r>
            <a:r>
              <a:rPr kumimoji="0" lang="en-US" altLang="zh-CN" sz="2800" b="1" i="1" kern="1200" cap="none" spc="0" normalizeH="0" baseline="0" noProof="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 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服从泊松分布</a:t>
            </a: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40965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25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910" y="4103370"/>
            <a:ext cx="3980180" cy="19939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s 71687"/>
          <p:cNvSpPr>
            <a:spLocks noChangeArrowheads="1"/>
          </p:cNvSpPr>
          <p:nvPr/>
        </p:nvSpPr>
        <p:spPr bwMode="auto">
          <a:xfrm>
            <a:off x="827088" y="1360488"/>
            <a:ext cx="7332663" cy="22018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FFFF00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在生物学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医学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工业统计、保险科学及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公用事业的排队等问题中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泊松分布是常见的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例如地震、火山爆发、特大洪水、交换台的电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话呼唤次数等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都服从泊松分布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41987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26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763963" y="3522663"/>
            <a:ext cx="2446337" cy="2392362"/>
            <a:chOff x="3763169" y="3522192"/>
            <a:chExt cx="2447131" cy="2392362"/>
          </a:xfrm>
        </p:grpSpPr>
        <p:pic>
          <p:nvPicPr>
            <p:cNvPr id="43029" name="Picture 90114" descr="呼叫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3169" y="4134967"/>
              <a:ext cx="2438400" cy="17795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30" name="Rectangles 90115"/>
            <p:cNvSpPr/>
            <p:nvPr/>
          </p:nvSpPr>
          <p:spPr>
            <a:xfrm>
              <a:off x="3771900" y="3522192"/>
              <a:ext cx="243840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latin typeface="宋体" panose="02010600030101010101" pitchFamily="2" charset="-122"/>
                </a:rPr>
                <a:t>电话呼叫次数</a:t>
              </a:r>
              <a:endParaRPr lang="zh-CN" altLang="en-US" sz="28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283325" y="3522663"/>
            <a:ext cx="2327275" cy="2392362"/>
            <a:chOff x="6283325" y="3522192"/>
            <a:chExt cx="2327275" cy="2392362"/>
          </a:xfrm>
        </p:grpSpPr>
        <p:grpSp>
          <p:nvGrpSpPr>
            <p:cNvPr id="43025" name="Group 90122"/>
            <p:cNvGrpSpPr/>
            <p:nvPr/>
          </p:nvGrpSpPr>
          <p:grpSpPr>
            <a:xfrm>
              <a:off x="6342062" y="4161954"/>
              <a:ext cx="2209800" cy="1752600"/>
              <a:chOff x="3936" y="2496"/>
              <a:chExt cx="1392" cy="1104"/>
            </a:xfrm>
          </p:grpSpPr>
          <p:sp>
            <p:nvSpPr>
              <p:cNvPr id="43027" name="Rectangles 90118"/>
              <p:cNvSpPr/>
              <p:nvPr/>
            </p:nvSpPr>
            <p:spPr>
              <a:xfrm>
                <a:off x="3936" y="2496"/>
                <a:ext cx="1392" cy="110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</p:spPr>
            <p:txBody>
              <a:bodyPr/>
              <a:lstStyle/>
              <a:p>
                <a:pPr eaLnBrk="1" hangingPunct="1"/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pic>
            <p:nvPicPr>
              <p:cNvPr id="43028" name="Picture 90119" descr="BD07195_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2" y="2688"/>
                <a:ext cx="1151" cy="76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43026" name="Rectangles 90120"/>
            <p:cNvSpPr/>
            <p:nvPr/>
          </p:nvSpPr>
          <p:spPr>
            <a:xfrm>
              <a:off x="6283325" y="3522192"/>
              <a:ext cx="2327275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交通事故次数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62000" y="3522663"/>
            <a:ext cx="3048000" cy="2392362"/>
            <a:chOff x="762000" y="3522192"/>
            <a:chExt cx="3048000" cy="2392362"/>
          </a:xfrm>
        </p:grpSpPr>
        <p:pic>
          <p:nvPicPr>
            <p:cNvPr id="43023" name="Picture 90116" descr="买东西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0" y="4117504"/>
              <a:ext cx="2667000" cy="17970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4" name="Rectangles 90121"/>
            <p:cNvSpPr/>
            <p:nvPr/>
          </p:nvSpPr>
          <p:spPr>
            <a:xfrm>
              <a:off x="762000" y="3522192"/>
              <a:ext cx="3048000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</a:rPr>
                <a:t>商场的顾客数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952500" y="779463"/>
            <a:ext cx="2292350" cy="2576512"/>
            <a:chOff x="952500" y="778992"/>
            <a:chExt cx="2292350" cy="2576512"/>
          </a:xfrm>
        </p:grpSpPr>
        <p:sp>
          <p:nvSpPr>
            <p:cNvPr id="43021" name="Rectangles 90124"/>
            <p:cNvSpPr/>
            <p:nvPr/>
          </p:nvSpPr>
          <p:spPr>
            <a:xfrm>
              <a:off x="1649413" y="778992"/>
              <a:ext cx="898525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地震</a:t>
              </a:r>
            </a:p>
          </p:txBody>
        </p:sp>
        <p:pic>
          <p:nvPicPr>
            <p:cNvPr id="43022" name="Picture 90127" descr="地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2500" y="1450504"/>
              <a:ext cx="2292350" cy="190500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" name="Group 2"/>
          <p:cNvGrpSpPr/>
          <p:nvPr/>
        </p:nvGrpSpPr>
        <p:grpSpPr>
          <a:xfrm>
            <a:off x="3490913" y="779463"/>
            <a:ext cx="2584450" cy="2576512"/>
            <a:chOff x="3490119" y="778992"/>
            <a:chExt cx="2584450" cy="2576512"/>
          </a:xfrm>
        </p:grpSpPr>
        <p:pic>
          <p:nvPicPr>
            <p:cNvPr id="43019" name="Picture 90126" descr="火山喷发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90119" y="1450504"/>
              <a:ext cx="2584450" cy="19050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0" name="Rectangles 90128"/>
            <p:cNvSpPr/>
            <p:nvPr/>
          </p:nvSpPr>
          <p:spPr>
            <a:xfrm>
              <a:off x="3975894" y="778992"/>
              <a:ext cx="1612900" cy="519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火山爆发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319838" y="765175"/>
            <a:ext cx="2235200" cy="2590800"/>
            <a:chOff x="6319838" y="764704"/>
            <a:chExt cx="2235200" cy="2590800"/>
          </a:xfrm>
        </p:grpSpPr>
        <p:pic>
          <p:nvPicPr>
            <p:cNvPr id="43017" name="Picture 90125" descr="洪水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19838" y="1450504"/>
              <a:ext cx="2235200" cy="19050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18" name="Rectangles 90129"/>
            <p:cNvSpPr/>
            <p:nvPr/>
          </p:nvSpPr>
          <p:spPr>
            <a:xfrm>
              <a:off x="6630988" y="764704"/>
              <a:ext cx="1612900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特大洪水</a:t>
              </a:r>
            </a:p>
          </p:txBody>
        </p:sp>
      </p:grpSp>
      <p:sp>
        <p:nvSpPr>
          <p:cNvPr id="4301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27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/>
          <p:nvPr/>
        </p:nvSpPr>
        <p:spPr>
          <a:xfrm>
            <a:off x="621665" y="1196975"/>
            <a:ext cx="7894955" cy="805815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4034" name="Text Box 105477"/>
          <p:cNvSpPr txBox="1"/>
          <p:nvPr/>
        </p:nvSpPr>
        <p:spPr>
          <a:xfrm>
            <a:off x="603250" y="509012"/>
            <a:ext cx="207140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sz="3200" b="1" dirty="0">
                <a:sym typeface="+mn-ea"/>
              </a:rPr>
              <a:t>泊松定理</a:t>
            </a:r>
            <a:r>
              <a:rPr lang="en-US" altLang="zh-CN" sz="3200" b="1" dirty="0">
                <a:sym typeface="+mn-ea"/>
              </a:rPr>
              <a:t>: </a:t>
            </a:r>
            <a:endParaRPr lang="en-US" altLang="zh-CN" sz="3200" b="1" dirty="0"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105483" name="Group 105482"/>
          <p:cNvGrpSpPr/>
          <p:nvPr/>
        </p:nvGrpSpPr>
        <p:grpSpPr>
          <a:xfrm>
            <a:off x="365760" y="1268413"/>
            <a:ext cx="8670925" cy="657225"/>
            <a:chOff x="233" y="3399"/>
            <a:chExt cx="5462" cy="414"/>
          </a:xfrm>
        </p:grpSpPr>
        <p:sp>
          <p:nvSpPr>
            <p:cNvPr id="44038" name="Text Box 105483"/>
            <p:cNvSpPr txBox="1"/>
            <p:nvPr/>
          </p:nvSpPr>
          <p:spPr>
            <a:xfrm>
              <a:off x="233" y="3484"/>
              <a:ext cx="546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二项分布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800" b="1" i="1" dirty="0">
                  <a:solidFill>
                    <a:srgbClr val="0000FF"/>
                  </a:solidFill>
                  <a:sym typeface="+mn-ea"/>
                </a:rPr>
                <a:t>b</a:t>
              </a:r>
              <a:r>
                <a:rPr lang="en-US" altLang="zh-CN" sz="2800" b="1" dirty="0">
                  <a:solidFill>
                    <a:srgbClr val="0000FF"/>
                  </a:solidFill>
                  <a:sym typeface="+mn-ea"/>
                </a:rPr>
                <a:t>(</a:t>
              </a:r>
              <a:r>
                <a:rPr lang="en-US" altLang="zh-CN" sz="2800" b="1" i="1" dirty="0">
                  <a:solidFill>
                    <a:srgbClr val="0000FF"/>
                  </a:solidFill>
                  <a:sym typeface="+mn-ea"/>
                </a:rPr>
                <a:t>n</a:t>
              </a:r>
              <a:r>
                <a:rPr lang="en-US" altLang="zh-CN" sz="2800" b="1" dirty="0">
                  <a:solidFill>
                    <a:srgbClr val="0000FF"/>
                  </a:solidFill>
                  <a:sym typeface="+mn-ea"/>
                </a:rPr>
                <a:t>, </a:t>
              </a:r>
              <a:r>
                <a:rPr lang="en-US" altLang="zh-CN" sz="2800" b="1" i="1" dirty="0">
                  <a:solidFill>
                    <a:srgbClr val="0000FF"/>
                  </a:solidFill>
                  <a:sym typeface="+mn-ea"/>
                </a:rPr>
                <a:t>p</a:t>
              </a:r>
              <a:r>
                <a:rPr lang="en-US" altLang="zh-CN" sz="2800" b="1" dirty="0">
                  <a:solidFill>
                    <a:srgbClr val="0000FF"/>
                  </a:solidFill>
                  <a:sym typeface="+mn-ea"/>
                </a:rPr>
                <a:t>)</a:t>
              </a:r>
              <a:r>
                <a:rPr lang="zh-CN" altLang="en-US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           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                 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泊松分布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b="1" i="1" dirty="0">
                  <a:solidFill>
                    <a:srgbClr val="0000FF"/>
                  </a:solidFill>
                  <a:latin typeface="+mj-lt"/>
                  <a:cs typeface="+mj-lt"/>
                  <a:sym typeface="+mn-ea"/>
                </a:rPr>
                <a:t>π</a:t>
              </a:r>
              <a:r>
                <a:rPr lang="en-US" altLang="zh-CN" sz="900" b="1" dirty="0">
                  <a:solidFill>
                    <a:srgbClr val="0000FF"/>
                  </a:solidFill>
                  <a:latin typeface="+mj-lt"/>
                  <a:cs typeface="+mj-lt"/>
                  <a:sym typeface="+mn-ea"/>
                </a:rPr>
                <a:t> </a:t>
              </a:r>
              <a:r>
                <a:rPr lang="zh-CN" altLang="en-US" sz="2800" b="1" dirty="0">
                  <a:solidFill>
                    <a:srgbClr val="0000FF"/>
                  </a:solidFill>
                  <a:latin typeface="+mj-lt"/>
                  <a:cs typeface="+mj-lt"/>
                  <a:sym typeface="+mn-ea"/>
                </a:rPr>
                <a:t>(</a:t>
              </a:r>
              <a:r>
                <a:rPr lang="zh-CN" altLang="en-US" sz="2800" i="1" dirty="0">
                  <a:solidFill>
                    <a:srgbClr val="0000FF"/>
                  </a:solidFill>
                  <a:latin typeface="+mj-lt"/>
                  <a:cs typeface="+mj-lt"/>
                  <a:sym typeface="+mn-ea"/>
                </a:rPr>
                <a:t>λ</a:t>
              </a:r>
              <a:r>
                <a:rPr lang="zh-CN" altLang="en-US" sz="2800" b="1" dirty="0">
                  <a:solidFill>
                    <a:srgbClr val="0000FF"/>
                  </a:solidFill>
                  <a:latin typeface="+mj-lt"/>
                  <a:cs typeface="+mj-lt"/>
                  <a:sym typeface="+mn-ea"/>
                </a:rPr>
                <a:t>)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4039" name="Right Arrow 105484"/>
            <p:cNvSpPr/>
            <p:nvPr/>
          </p:nvSpPr>
          <p:spPr>
            <a:xfrm>
              <a:off x="2128" y="3637"/>
              <a:ext cx="1686" cy="57"/>
            </a:xfrm>
            <a:prstGeom prst="rightArrow">
              <a:avLst>
                <a:gd name="adj1" fmla="val 50000"/>
                <a:gd name="adj2" fmla="val 45012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4040" name="Object 105485"/>
            <p:cNvGraphicFramePr/>
            <p:nvPr/>
          </p:nvGraphicFramePr>
          <p:xfrm>
            <a:off x="2112" y="3399"/>
            <a:ext cx="17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805430" imgH="393700" progId="">
                    <p:embed/>
                  </p:oleObj>
                </mc:Choice>
                <mc:Fallback>
                  <p:oleObj r:id="rId4" imgW="2805430" imgH="393700" progId="">
                    <p:embed/>
                    <p:pic>
                      <p:nvPicPr>
                        <p:cNvPr id="44040" name="Object 10548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12" y="3399"/>
                          <a:ext cx="17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37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28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  <p:pic>
        <p:nvPicPr>
          <p:cNvPr id="3" name="2-2泊松分布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53920" y="2303780"/>
            <a:ext cx="4835525" cy="362648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17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2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8" name="Rectangles 61447"/>
          <p:cNvSpPr/>
          <p:nvPr/>
        </p:nvSpPr>
        <p:spPr>
          <a:xfrm>
            <a:off x="738188" y="4660900"/>
            <a:ext cx="340042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可利用泊松定理计算</a:t>
            </a:r>
          </a:p>
        </p:txBody>
      </p:sp>
      <p:graphicFrame>
        <p:nvGraphicFramePr>
          <p:cNvPr id="61449" name="Object 61448"/>
          <p:cNvGraphicFramePr/>
          <p:nvPr/>
        </p:nvGraphicFramePr>
        <p:xfrm>
          <a:off x="4548188" y="4748213"/>
          <a:ext cx="34798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79800" imgH="368300" progId="">
                  <p:embed/>
                </p:oleObj>
              </mc:Choice>
              <mc:Fallback>
                <p:oleObj r:id="rId2" imgW="3479800" imgH="368300" progId="">
                  <p:embed/>
                  <p:pic>
                    <p:nvPicPr>
                      <p:cNvPr id="61449" name="Object 614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48188" y="4748213"/>
                        <a:ext cx="34798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61451"/>
          <p:cNvGraphicFramePr/>
          <p:nvPr/>
        </p:nvGraphicFramePr>
        <p:xfrm>
          <a:off x="827088" y="4554538"/>
          <a:ext cx="62865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286500" imgH="977900" progId="">
                  <p:embed/>
                </p:oleObj>
              </mc:Choice>
              <mc:Fallback>
                <p:oleObj r:id="rId4" imgW="6286500" imgH="977900" progId="">
                  <p:embed/>
                  <p:pic>
                    <p:nvPicPr>
                      <p:cNvPr id="61452" name="Object 6145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088" y="4554538"/>
                        <a:ext cx="6286500" cy="81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61452"/>
          <p:cNvGraphicFramePr/>
          <p:nvPr/>
        </p:nvGraphicFramePr>
        <p:xfrm>
          <a:off x="3127375" y="5334000"/>
          <a:ext cx="4432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432300" imgH="889000" progId="">
                  <p:embed/>
                </p:oleObj>
              </mc:Choice>
              <mc:Fallback>
                <p:oleObj r:id="rId6" imgW="4432300" imgH="889000" progId="">
                  <p:embed/>
                  <p:pic>
                    <p:nvPicPr>
                      <p:cNvPr id="61453" name="Object 6145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27375" y="5334000"/>
                        <a:ext cx="44323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5" name="Object 61454"/>
          <p:cNvGraphicFramePr/>
          <p:nvPr/>
        </p:nvGraphicFramePr>
        <p:xfrm>
          <a:off x="1692275" y="5602288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21765" imgH="381000" progId="">
                  <p:embed/>
                </p:oleObj>
              </mc:Choice>
              <mc:Fallback>
                <p:oleObj r:id="rId8" imgW="1421765" imgH="381000" progId="">
                  <p:embed/>
                  <p:pic>
                    <p:nvPicPr>
                      <p:cNvPr id="61455" name="Object 6145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92275" y="5602288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063" name="Picture 61459" descr="BD07195_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2135" y="2620645"/>
            <a:ext cx="1979613" cy="1320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4" name="Text Box 61460"/>
          <p:cNvSpPr txBox="1"/>
          <p:nvPr/>
        </p:nvSpPr>
        <p:spPr>
          <a:xfrm>
            <a:off x="736600" y="685800"/>
            <a:ext cx="7678738" cy="18145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有一繁忙的汽车站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每天有大量汽车通过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设每辆汽车在一天的某段时间内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出事故的概率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0.0001,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在每天的该段时间内有</a:t>
            </a:r>
            <a:r>
              <a:rPr lang="en-US" altLang="zh-CN" sz="2800" b="1" dirty="0">
                <a:latin typeface="Times New Roman" panose="02020603050405020304" pitchFamily="18" charset="0"/>
              </a:rPr>
              <a:t> 1000 </a:t>
            </a:r>
            <a:r>
              <a:rPr lang="zh-CN" altLang="en-US" sz="2800" b="1" dirty="0">
                <a:latin typeface="Times New Roman" panose="02020603050405020304" pitchFamily="18" charset="0"/>
              </a:rPr>
              <a:t>辆汽车通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过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问出事故的次数不小于</a:t>
            </a:r>
            <a:r>
              <a:rPr lang="en-US" altLang="zh-CN" sz="2800" b="1" dirty="0">
                <a:latin typeface="Times New Roman" panose="02020603050405020304" pitchFamily="18" charset="0"/>
              </a:rPr>
              <a:t> 2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的概率是多少</a:t>
            </a:r>
            <a:r>
              <a:rPr lang="en-US" altLang="zh-CN" sz="2800" b="1" dirty="0">
                <a:latin typeface="Times New Roman" panose="02020603050405020304" pitchFamily="18" charset="0"/>
              </a:rPr>
              <a:t>?</a:t>
            </a:r>
          </a:p>
        </p:txBody>
      </p:sp>
      <p:graphicFrame>
        <p:nvGraphicFramePr>
          <p:cNvPr id="45065" name="Object 13"/>
          <p:cNvGraphicFramePr/>
          <p:nvPr/>
        </p:nvGraphicFramePr>
        <p:xfrm>
          <a:off x="1041400" y="3546475"/>
          <a:ext cx="32432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072130" imgH="393700" progId="">
                  <p:embed/>
                </p:oleObj>
              </mc:Choice>
              <mc:Fallback>
                <p:oleObj r:id="rId11" imgW="3072130" imgH="393700" progId="">
                  <p:embed/>
                  <p:pic>
                    <p:nvPicPr>
                      <p:cNvPr id="45065" name="Object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1400" y="3546475"/>
                        <a:ext cx="324326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66" name="Group 14"/>
          <p:cNvGrpSpPr/>
          <p:nvPr/>
        </p:nvGrpSpPr>
        <p:grpSpPr>
          <a:xfrm>
            <a:off x="712788" y="2505075"/>
            <a:ext cx="3873500" cy="963613"/>
            <a:chOff x="521" y="1537"/>
            <a:chExt cx="2440" cy="607"/>
          </a:xfrm>
        </p:grpSpPr>
        <p:sp>
          <p:nvSpPr>
            <p:cNvPr id="45071" name="Text Box 50181"/>
            <p:cNvSpPr txBox="1"/>
            <p:nvPr/>
          </p:nvSpPr>
          <p:spPr>
            <a:xfrm>
              <a:off x="521" y="1543"/>
              <a:ext cx="2440" cy="6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1000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辆车通过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</a:t>
              </a:r>
            </a:p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出事故的次数为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则</a:t>
              </a:r>
            </a:p>
          </p:txBody>
        </p:sp>
        <p:sp>
          <p:nvSpPr>
            <p:cNvPr id="45072" name="Rectangles 50191"/>
            <p:cNvSpPr/>
            <p:nvPr/>
          </p:nvSpPr>
          <p:spPr>
            <a:xfrm>
              <a:off x="540" y="1537"/>
              <a:ext cx="3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</a:t>
              </a:r>
            </a:p>
          </p:txBody>
        </p:sp>
      </p:grpSp>
      <p:grpSp>
        <p:nvGrpSpPr>
          <p:cNvPr id="45067" name="Group 17"/>
          <p:cNvGrpSpPr/>
          <p:nvPr/>
        </p:nvGrpSpPr>
        <p:grpSpPr>
          <a:xfrm>
            <a:off x="712788" y="4040188"/>
            <a:ext cx="7796212" cy="519112"/>
            <a:chOff x="521" y="2432"/>
            <a:chExt cx="4911" cy="327"/>
          </a:xfrm>
        </p:grpSpPr>
        <p:sp>
          <p:nvSpPr>
            <p:cNvPr id="45069" name="Rectangles 50185"/>
            <p:cNvSpPr/>
            <p:nvPr/>
          </p:nvSpPr>
          <p:spPr>
            <a:xfrm>
              <a:off x="521" y="2432"/>
              <a:ext cx="14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故所求概率为</a:t>
              </a:r>
            </a:p>
          </p:txBody>
        </p:sp>
        <p:graphicFrame>
          <p:nvGraphicFramePr>
            <p:cNvPr id="45070" name="Object 50199"/>
            <p:cNvGraphicFramePr/>
            <p:nvPr/>
          </p:nvGraphicFramePr>
          <p:xfrm>
            <a:off x="1976" y="2506"/>
            <a:ext cx="34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5483860" imgH="381000" progId="">
                    <p:embed/>
                  </p:oleObj>
                </mc:Choice>
                <mc:Fallback>
                  <p:oleObj r:id="rId13" imgW="5483860" imgH="381000" progId="">
                    <p:embed/>
                    <p:pic>
                      <p:nvPicPr>
                        <p:cNvPr id="45070" name="Object 5019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976" y="2506"/>
                          <a:ext cx="345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68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29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57346"/>
          <p:cNvSpPr txBox="1"/>
          <p:nvPr/>
        </p:nvSpPr>
        <p:spPr>
          <a:xfrm>
            <a:off x="755650" y="1404938"/>
            <a:ext cx="7867650" cy="2676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为了保证设备正常工作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需配备适量的维修</a:t>
            </a: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工人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现有同类设备</a:t>
            </a:r>
            <a:r>
              <a:rPr lang="en-US" altLang="zh-CN" sz="2800" b="1" dirty="0">
                <a:latin typeface="Times New Roman" panose="02020603050405020304" pitchFamily="18" charset="0"/>
              </a:rPr>
              <a:t> 300 </a:t>
            </a:r>
            <a:r>
              <a:rPr lang="zh-CN" altLang="en-US" sz="2800" b="1" dirty="0">
                <a:latin typeface="Times New Roman" panose="02020603050405020304" pitchFamily="18" charset="0"/>
              </a:rPr>
              <a:t>台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各台工作是相互独立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发生故障的概率都是</a:t>
            </a:r>
            <a:r>
              <a:rPr lang="en-US" altLang="zh-CN" sz="2800" b="1" dirty="0">
                <a:latin typeface="Times New Roman" panose="02020603050405020304" pitchFamily="18" charset="0"/>
              </a:rPr>
              <a:t> 0.01.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在通常情况下一台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设备故障可由一名维修工来处理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问至少需配备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多少工人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才能保证设备发生故障但不能及时维修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的概率小于 </a:t>
            </a:r>
            <a:r>
              <a:rPr lang="en-US" altLang="zh-CN" sz="2800" b="1" dirty="0">
                <a:latin typeface="Times New Roman" panose="02020603050405020304" pitchFamily="18" charset="0"/>
              </a:rPr>
              <a:t>0.01?</a:t>
            </a:r>
          </a:p>
        </p:txBody>
      </p:sp>
      <p:grpSp>
        <p:nvGrpSpPr>
          <p:cNvPr id="57361" name="Group 57360"/>
          <p:cNvGrpSpPr/>
          <p:nvPr/>
        </p:nvGrpSpPr>
        <p:grpSpPr>
          <a:xfrm>
            <a:off x="755650" y="4175125"/>
            <a:ext cx="3225800" cy="523875"/>
            <a:chOff x="528" y="2822"/>
            <a:chExt cx="1976" cy="330"/>
          </a:xfrm>
        </p:grpSpPr>
        <p:sp>
          <p:nvSpPr>
            <p:cNvPr id="46093" name="Rectangles 57347"/>
            <p:cNvSpPr/>
            <p:nvPr/>
          </p:nvSpPr>
          <p:spPr>
            <a:xfrm>
              <a:off x="528" y="2822"/>
              <a:ext cx="3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</a:t>
              </a:r>
            </a:p>
          </p:txBody>
        </p:sp>
        <p:graphicFrame>
          <p:nvGraphicFramePr>
            <p:cNvPr id="46094" name="Object 57348"/>
            <p:cNvGraphicFramePr/>
            <p:nvPr/>
          </p:nvGraphicFramePr>
          <p:xfrm>
            <a:off x="1056" y="2880"/>
            <a:ext cx="14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297430" imgH="431800" progId="">
                    <p:embed/>
                  </p:oleObj>
                </mc:Choice>
                <mc:Fallback>
                  <p:oleObj r:id="rId2" imgW="2297430" imgH="431800" progId="">
                    <p:embed/>
                    <p:pic>
                      <p:nvPicPr>
                        <p:cNvPr id="46094" name="Object 5734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56" y="2880"/>
                          <a:ext cx="144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362" name="Group 57361"/>
          <p:cNvGrpSpPr/>
          <p:nvPr/>
        </p:nvGrpSpPr>
        <p:grpSpPr>
          <a:xfrm>
            <a:off x="831850" y="4248150"/>
            <a:ext cx="7727950" cy="990600"/>
            <a:chOff x="576" y="2880"/>
            <a:chExt cx="4733" cy="624"/>
          </a:xfrm>
        </p:grpSpPr>
        <p:graphicFrame>
          <p:nvGraphicFramePr>
            <p:cNvPr id="46091" name="Object 57349"/>
            <p:cNvGraphicFramePr/>
            <p:nvPr/>
          </p:nvGraphicFramePr>
          <p:xfrm>
            <a:off x="2619" y="2880"/>
            <a:ext cx="269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352290" imgH="405765" progId="">
                    <p:embed/>
                  </p:oleObj>
                </mc:Choice>
                <mc:Fallback>
                  <p:oleObj r:id="rId4" imgW="4352290" imgH="405765" progId="">
                    <p:embed/>
                    <p:pic>
                      <p:nvPicPr>
                        <p:cNvPr id="46091" name="Object 5734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19" y="2880"/>
                          <a:ext cx="2690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2" name="Object 57350"/>
            <p:cNvGraphicFramePr/>
            <p:nvPr/>
          </p:nvGraphicFramePr>
          <p:xfrm>
            <a:off x="576" y="3232"/>
            <a:ext cx="9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548765" imgH="431800" progId="">
                    <p:embed/>
                  </p:oleObj>
                </mc:Choice>
                <mc:Fallback>
                  <p:oleObj r:id="rId6" imgW="1548765" imgH="431800" progId="">
                    <p:embed/>
                    <p:pic>
                      <p:nvPicPr>
                        <p:cNvPr id="46092" name="Object 57350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76" y="3232"/>
                          <a:ext cx="97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52" name="Object 57351"/>
          <p:cNvGraphicFramePr/>
          <p:nvPr/>
        </p:nvGraphicFramePr>
        <p:xfrm>
          <a:off x="2538413" y="4805363"/>
          <a:ext cx="33829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288030" imgH="431800" progId="">
                  <p:embed/>
                </p:oleObj>
              </mc:Choice>
              <mc:Fallback>
                <p:oleObj r:id="rId8" imgW="3288030" imgH="431800" progId="">
                  <p:embed/>
                  <p:pic>
                    <p:nvPicPr>
                      <p:cNvPr id="57352" name="Object 5735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38413" y="4805363"/>
                        <a:ext cx="3382962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8" name="Text Box 57352"/>
          <p:cNvSpPr txBox="1"/>
          <p:nvPr/>
        </p:nvSpPr>
        <p:spPr>
          <a:xfrm>
            <a:off x="5957888" y="4746625"/>
            <a:ext cx="26860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所需解决的问题</a:t>
            </a:r>
          </a:p>
        </p:txBody>
      </p:sp>
      <p:graphicFrame>
        <p:nvGraphicFramePr>
          <p:cNvPr id="43019" name="Object 57353"/>
          <p:cNvGraphicFramePr/>
          <p:nvPr/>
        </p:nvGraphicFramePr>
        <p:xfrm>
          <a:off x="836613" y="5373688"/>
          <a:ext cx="267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678430" imgH="431800" progId="">
                  <p:embed/>
                </p:oleObj>
              </mc:Choice>
              <mc:Fallback>
                <p:oleObj r:id="rId10" imgW="2678430" imgH="431800" progId="">
                  <p:embed/>
                  <p:pic>
                    <p:nvPicPr>
                      <p:cNvPr id="43019" name="Object 5735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6613" y="5373688"/>
                        <a:ext cx="2679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0" name="Text Box 57354"/>
          <p:cNvSpPr txBox="1"/>
          <p:nvPr/>
        </p:nvSpPr>
        <p:spPr>
          <a:xfrm>
            <a:off x="3502025" y="5286375"/>
            <a:ext cx="89852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使得</a:t>
            </a:r>
          </a:p>
        </p:txBody>
      </p:sp>
      <p:sp>
        <p:nvSpPr>
          <p:cNvPr id="46089" name="Rectangles 57359"/>
          <p:cNvSpPr/>
          <p:nvPr/>
        </p:nvSpPr>
        <p:spPr>
          <a:xfrm>
            <a:off x="755650" y="685800"/>
            <a:ext cx="45720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维修工人配备问题</a:t>
            </a:r>
          </a:p>
        </p:txBody>
      </p:sp>
      <p:sp>
        <p:nvSpPr>
          <p:cNvPr id="46090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30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43018" grpId="0"/>
      <p:bldP spid="430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s 58370"/>
          <p:cNvSpPr/>
          <p:nvPr/>
        </p:nvSpPr>
        <p:spPr>
          <a:xfrm>
            <a:off x="3526155" y="718820"/>
            <a:ext cx="377952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由泊松定理得</a:t>
            </a:r>
          </a:p>
        </p:txBody>
      </p:sp>
      <p:graphicFrame>
        <p:nvGraphicFramePr>
          <p:cNvPr id="58372" name="Object 58371"/>
          <p:cNvGraphicFramePr/>
          <p:nvPr/>
        </p:nvGraphicFramePr>
        <p:xfrm>
          <a:off x="2843213" y="1322388"/>
          <a:ext cx="327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76600" imgH="965200" progId="">
                  <p:embed/>
                </p:oleObj>
              </mc:Choice>
              <mc:Fallback>
                <p:oleObj r:id="rId2" imgW="3276600" imgH="965200" progId="">
                  <p:embed/>
                  <p:pic>
                    <p:nvPicPr>
                      <p:cNvPr id="58372" name="Object 5837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43213" y="1322388"/>
                        <a:ext cx="32766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91" name="Group 58390"/>
          <p:cNvGrpSpPr/>
          <p:nvPr/>
        </p:nvGrpSpPr>
        <p:grpSpPr>
          <a:xfrm>
            <a:off x="736600" y="2365375"/>
            <a:ext cx="3860800" cy="965200"/>
            <a:chOff x="521" y="1454"/>
            <a:chExt cx="2432" cy="608"/>
          </a:xfrm>
        </p:grpSpPr>
        <p:sp>
          <p:nvSpPr>
            <p:cNvPr id="47119" name="Rectangles 58372"/>
            <p:cNvSpPr/>
            <p:nvPr/>
          </p:nvSpPr>
          <p:spPr>
            <a:xfrm>
              <a:off x="521" y="1587"/>
              <a:ext cx="79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故应有</a:t>
              </a:r>
            </a:p>
          </p:txBody>
        </p:sp>
        <p:graphicFrame>
          <p:nvGraphicFramePr>
            <p:cNvPr id="47120" name="Object 58373"/>
            <p:cNvGraphicFramePr/>
            <p:nvPr/>
          </p:nvGraphicFramePr>
          <p:xfrm>
            <a:off x="1473" y="1454"/>
            <a:ext cx="1480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349500" imgH="965200" progId="">
                    <p:embed/>
                  </p:oleObj>
                </mc:Choice>
                <mc:Fallback>
                  <p:oleObj r:id="rId4" imgW="2349500" imgH="965200" progId="">
                    <p:embed/>
                    <p:pic>
                      <p:nvPicPr>
                        <p:cNvPr id="47120" name="Object 5837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73" y="1454"/>
                          <a:ext cx="1480" cy="6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92" name="Group 58391"/>
          <p:cNvGrpSpPr/>
          <p:nvPr/>
        </p:nvGrpSpPr>
        <p:grpSpPr>
          <a:xfrm>
            <a:off x="738188" y="3486150"/>
            <a:ext cx="2578100" cy="965200"/>
            <a:chOff x="522" y="2196"/>
            <a:chExt cx="1624" cy="608"/>
          </a:xfrm>
        </p:grpSpPr>
        <p:sp>
          <p:nvSpPr>
            <p:cNvPr id="47117" name="Text Box 58374"/>
            <p:cNvSpPr txBox="1"/>
            <p:nvPr/>
          </p:nvSpPr>
          <p:spPr>
            <a:xfrm>
              <a:off x="522" y="2309"/>
              <a:ext cx="3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即</a:t>
              </a:r>
            </a:p>
          </p:txBody>
        </p:sp>
        <p:graphicFrame>
          <p:nvGraphicFramePr>
            <p:cNvPr id="47118" name="Object 58375"/>
            <p:cNvGraphicFramePr/>
            <p:nvPr/>
          </p:nvGraphicFramePr>
          <p:xfrm>
            <a:off x="1042" y="2196"/>
            <a:ext cx="1104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752600" imgH="965200" progId="">
                    <p:embed/>
                  </p:oleObj>
                </mc:Choice>
                <mc:Fallback>
                  <p:oleObj r:id="rId6" imgW="1752600" imgH="965200" progId="">
                    <p:embed/>
                    <p:pic>
                      <p:nvPicPr>
                        <p:cNvPr id="47118" name="Object 5837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42" y="2196"/>
                          <a:ext cx="1104" cy="6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377" name="Object 58376"/>
          <p:cNvGraphicFramePr/>
          <p:nvPr/>
        </p:nvGraphicFramePr>
        <p:xfrm>
          <a:off x="3440113" y="3486150"/>
          <a:ext cx="1879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79600" imgH="965200" progId="">
                  <p:embed/>
                </p:oleObj>
              </mc:Choice>
              <mc:Fallback>
                <p:oleObj r:id="rId8" imgW="1879600" imgH="965200" progId="">
                  <p:embed/>
                  <p:pic>
                    <p:nvPicPr>
                      <p:cNvPr id="58377" name="Object 5837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40113" y="3486150"/>
                        <a:ext cx="18796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8" name="Object 58377"/>
          <p:cNvGraphicFramePr/>
          <p:nvPr/>
        </p:nvGraphicFramePr>
        <p:xfrm>
          <a:off x="5446713" y="3784600"/>
          <a:ext cx="101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16000" imgH="368300" progId="">
                  <p:embed/>
                </p:oleObj>
              </mc:Choice>
              <mc:Fallback>
                <p:oleObj r:id="rId10" imgW="1016000" imgH="368300" progId="">
                  <p:embed/>
                  <p:pic>
                    <p:nvPicPr>
                      <p:cNvPr id="58378" name="Object 5837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46713" y="3784600"/>
                        <a:ext cx="10160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Object 58378"/>
          <p:cNvGraphicFramePr/>
          <p:nvPr/>
        </p:nvGraphicFramePr>
        <p:xfrm>
          <a:off x="842963" y="4735513"/>
          <a:ext cx="52768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229860" imgH="393700" progId="">
                  <p:embed/>
                </p:oleObj>
              </mc:Choice>
              <mc:Fallback>
                <p:oleObj r:id="rId12" imgW="5229860" imgH="393700" progId="">
                  <p:embed/>
                  <p:pic>
                    <p:nvPicPr>
                      <p:cNvPr id="58379" name="Object 5837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42963" y="4735513"/>
                        <a:ext cx="527685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5" name="Rectangles 58379"/>
          <p:cNvSpPr/>
          <p:nvPr/>
        </p:nvSpPr>
        <p:spPr>
          <a:xfrm>
            <a:off x="766763" y="5354638"/>
            <a:ext cx="8001000" cy="116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8 </a:t>
            </a:r>
            <a:r>
              <a:rPr lang="zh-CN" altLang="en-US" sz="2800" b="1" dirty="0">
                <a:latin typeface="Times New Roman" panose="02020603050405020304" pitchFamily="18" charset="0"/>
              </a:rPr>
              <a:t>名工人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才能保证设备发生故障不能及时维修的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概率小于</a:t>
            </a:r>
            <a:r>
              <a:rPr lang="en-US" altLang="zh-CN" sz="2800" b="1" dirty="0">
                <a:latin typeface="Times New Roman" panose="02020603050405020304" pitchFamily="18" charset="0"/>
              </a:rPr>
              <a:t> 0.01.</a:t>
            </a:r>
          </a:p>
        </p:txBody>
      </p:sp>
      <p:sp>
        <p:nvSpPr>
          <p:cNvPr id="44046" name="Rectangles 58380"/>
          <p:cNvSpPr/>
          <p:nvPr/>
        </p:nvSpPr>
        <p:spPr>
          <a:xfrm>
            <a:off x="6229350" y="4662488"/>
            <a:ext cx="232727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故至少需配备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7115" name="Object 58382"/>
          <p:cNvGraphicFramePr/>
          <p:nvPr/>
        </p:nvGraphicFramePr>
        <p:xfrm>
          <a:off x="852488" y="828675"/>
          <a:ext cx="264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640330" imgH="381000" progId="">
                  <p:embed/>
                </p:oleObj>
              </mc:Choice>
              <mc:Fallback>
                <p:oleObj r:id="rId14" imgW="2640330" imgH="381000" progId="">
                  <p:embed/>
                  <p:pic>
                    <p:nvPicPr>
                      <p:cNvPr id="47115" name="Object 5838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52488" y="828675"/>
                        <a:ext cx="2641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31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/>
      <p:bldP spid="440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s 59394"/>
          <p:cNvSpPr/>
          <p:nvPr/>
        </p:nvSpPr>
        <p:spPr>
          <a:xfrm>
            <a:off x="755650" y="742950"/>
            <a:ext cx="78486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设有 </a:t>
            </a:r>
            <a:r>
              <a:rPr lang="en-US" altLang="zh-CN" sz="2800" b="1" dirty="0">
                <a:latin typeface="Times New Roman" panose="02020603050405020304" pitchFamily="18" charset="0"/>
              </a:rPr>
              <a:t>80 </a:t>
            </a:r>
            <a:r>
              <a:rPr lang="zh-CN" altLang="en-US" sz="2800" b="1" dirty="0">
                <a:latin typeface="Times New Roman" panose="02020603050405020304" pitchFamily="18" charset="0"/>
              </a:rPr>
              <a:t>台同类型设备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各台工作相互独立， 发生故障的概率都是 </a:t>
            </a:r>
            <a:r>
              <a:rPr lang="en-US" altLang="zh-CN" sz="2800" b="1" dirty="0">
                <a:latin typeface="Times New Roman" panose="02020603050405020304" pitchFamily="18" charset="0"/>
              </a:rPr>
              <a:t>0.01,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且一台设备故障能由一个人处理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</a:rPr>
              <a:t>考虑两个配备维修工人的方案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一是由</a:t>
            </a:r>
            <a:r>
              <a:rPr lang="en-US" altLang="zh-CN" sz="2800" b="1" dirty="0">
                <a:latin typeface="Times New Roman" panose="02020603050405020304" pitchFamily="18" charset="0"/>
              </a:rPr>
              <a:t> 4 </a:t>
            </a:r>
            <a:r>
              <a:rPr lang="zh-CN" altLang="en-US" sz="2800" b="1" dirty="0">
                <a:latin typeface="Times New Roman" panose="02020603050405020304" pitchFamily="18" charset="0"/>
              </a:rPr>
              <a:t>人维护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每人负责</a:t>
            </a:r>
            <a:r>
              <a:rPr lang="en-US" altLang="zh-CN" sz="2800" b="1" dirty="0">
                <a:latin typeface="Times New Roman" panose="02020603050405020304" pitchFamily="18" charset="0"/>
              </a:rPr>
              <a:t> 20 </a:t>
            </a:r>
            <a:r>
              <a:rPr lang="zh-CN" altLang="en-US" sz="2800" b="1" dirty="0">
                <a:latin typeface="Times New Roman" panose="02020603050405020304" pitchFamily="18" charset="0"/>
              </a:rPr>
              <a:t>台</a:t>
            </a:r>
            <a:r>
              <a:rPr lang="en-US" altLang="zh-CN" sz="2800" b="1" dirty="0">
                <a:latin typeface="Times New Roman" panose="02020603050405020304" pitchFamily="18" charset="0"/>
              </a:rPr>
              <a:t>; </a:t>
            </a:r>
            <a:r>
              <a:rPr lang="zh-CN" altLang="en-US" sz="2800" b="1" dirty="0">
                <a:latin typeface="Times New Roman" panose="02020603050405020304" pitchFamily="18" charset="0"/>
              </a:rPr>
              <a:t>二是由</a:t>
            </a:r>
            <a:r>
              <a:rPr lang="en-US" altLang="zh-CN" sz="2800" b="1" dirty="0">
                <a:latin typeface="Times New Roman" panose="02020603050405020304" pitchFamily="18" charset="0"/>
              </a:rPr>
              <a:t> 3 </a:t>
            </a:r>
            <a:r>
              <a:rPr lang="zh-CN" altLang="en-US" sz="2800" b="1" dirty="0">
                <a:latin typeface="Times New Roman" panose="02020603050405020304" pitchFamily="18" charset="0"/>
              </a:rPr>
              <a:t>人共同维护台</a:t>
            </a:r>
            <a:r>
              <a:rPr lang="en-US" altLang="zh-CN" sz="2800" b="1" dirty="0">
                <a:latin typeface="Times New Roman" panose="02020603050405020304" pitchFamily="18" charset="0"/>
              </a:rPr>
              <a:t> 80. </a:t>
            </a:r>
            <a:r>
              <a:rPr lang="zh-CN" altLang="en-US" sz="2800" b="1" dirty="0">
                <a:latin typeface="Times New Roman" panose="02020603050405020304" pitchFamily="18" charset="0"/>
              </a:rPr>
              <a:t>试比较这在两个方案下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设备发生故障不能及时维修的概率大小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5059" name="Rectangles 59395"/>
          <p:cNvSpPr/>
          <p:nvPr/>
        </p:nvSpPr>
        <p:spPr>
          <a:xfrm>
            <a:off x="755650" y="3486150"/>
            <a:ext cx="5397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45060" name="Rectangles 59396"/>
          <p:cNvSpPr/>
          <p:nvPr/>
        </p:nvSpPr>
        <p:spPr>
          <a:xfrm>
            <a:off x="1598613" y="3482975"/>
            <a:ext cx="280352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第一个配备方案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5063" name="Object 59397"/>
          <p:cNvGraphicFramePr/>
          <p:nvPr/>
        </p:nvGraphicFramePr>
        <p:xfrm>
          <a:off x="841375" y="4103688"/>
          <a:ext cx="79867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83525" imgH="951865" progId="">
                  <p:embed/>
                </p:oleObj>
              </mc:Choice>
              <mc:Fallback>
                <p:oleObj r:id="rId3" imgW="7883525" imgH="951865" progId="">
                  <p:embed/>
                  <p:pic>
                    <p:nvPicPr>
                      <p:cNvPr id="45063" name="Object 593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1375" y="4103688"/>
                        <a:ext cx="7986713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1600200" y="4676775"/>
            <a:ext cx="7292975" cy="444500"/>
            <a:chOff x="1600202" y="4676353"/>
            <a:chExt cx="7292976" cy="444500"/>
          </a:xfrm>
        </p:grpSpPr>
        <p:graphicFrame>
          <p:nvGraphicFramePr>
            <p:cNvPr id="48139" name="Object 59399"/>
            <p:cNvGraphicFramePr/>
            <p:nvPr/>
          </p:nvGraphicFramePr>
          <p:xfrm>
            <a:off x="3959227" y="4685878"/>
            <a:ext cx="4933951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760595" imgH="393700" progId="">
                    <p:embed/>
                  </p:oleObj>
                </mc:Choice>
                <mc:Fallback>
                  <p:oleObj r:id="rId5" imgW="4760595" imgH="393700" progId="">
                    <p:embed/>
                    <p:pic>
                      <p:nvPicPr>
                        <p:cNvPr id="48139" name="Object 5939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59227" y="4685878"/>
                          <a:ext cx="4933951" cy="3937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0" name="Object 59398"/>
            <p:cNvGraphicFramePr/>
            <p:nvPr/>
          </p:nvGraphicFramePr>
          <p:xfrm>
            <a:off x="1600202" y="4676353"/>
            <a:ext cx="23876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386330" imgH="444500" progId="">
                    <p:embed/>
                  </p:oleObj>
                </mc:Choice>
                <mc:Fallback>
                  <p:oleObj r:id="rId7" imgW="2386330" imgH="444500" progId="">
                    <p:embed/>
                    <p:pic>
                      <p:nvPicPr>
                        <p:cNvPr id="48140" name="Object 5939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00202" y="4676353"/>
                          <a:ext cx="2387600" cy="4445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65" name="Rectangles 59400"/>
          <p:cNvSpPr/>
          <p:nvPr/>
        </p:nvSpPr>
        <p:spPr>
          <a:xfrm>
            <a:off x="744538" y="5229225"/>
            <a:ext cx="456247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发生故障时不能及时维修”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45067" name="Rectangles 59401"/>
          <p:cNvSpPr/>
          <p:nvPr/>
        </p:nvSpPr>
        <p:spPr>
          <a:xfrm>
            <a:off x="741363" y="5862638"/>
            <a:ext cx="411480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而不能及时维修的概率为</a:t>
            </a:r>
          </a:p>
        </p:txBody>
      </p:sp>
      <p:sp>
        <p:nvSpPr>
          <p:cNvPr id="45068" name="Rectangles 59402"/>
          <p:cNvSpPr/>
          <p:nvPr/>
        </p:nvSpPr>
        <p:spPr>
          <a:xfrm>
            <a:off x="5219700" y="5229225"/>
            <a:ext cx="3576638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则知 </a:t>
            </a:r>
            <a:r>
              <a:rPr lang="en-US" altLang="zh-CN" sz="2800" b="1" dirty="0">
                <a:latin typeface="Times New Roman" panose="02020603050405020304" pitchFamily="18" charset="0"/>
              </a:rPr>
              <a:t>80 </a:t>
            </a:r>
            <a:r>
              <a:rPr lang="zh-CN" altLang="en-US" sz="2800" b="1" dirty="0">
                <a:latin typeface="Times New Roman" panose="02020603050405020304" pitchFamily="18" charset="0"/>
              </a:rPr>
              <a:t>台中发生故障</a:t>
            </a:r>
          </a:p>
        </p:txBody>
      </p:sp>
      <p:sp>
        <p:nvSpPr>
          <p:cNvPr id="48138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32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/>
      <p:bldP spid="45060" grpId="0"/>
      <p:bldP spid="45065" grpId="0"/>
      <p:bldP spid="45067" grpId="0"/>
      <p:bldP spid="4506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60417"/>
          <p:cNvGraphicFramePr/>
          <p:nvPr/>
        </p:nvGraphicFramePr>
        <p:xfrm>
          <a:off x="831850" y="1066800"/>
          <a:ext cx="4394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92295" imgH="431800" progId="">
                  <p:embed/>
                </p:oleObj>
              </mc:Choice>
              <mc:Fallback>
                <p:oleObj r:id="rId2" imgW="4392295" imgH="431800" progId="">
                  <p:embed/>
                  <p:pic>
                    <p:nvPicPr>
                      <p:cNvPr id="50178" name="Object 6041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1850" y="1066800"/>
                        <a:ext cx="4394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9" name="Object 60418"/>
          <p:cNvGraphicFramePr/>
          <p:nvPr/>
        </p:nvGraphicFramePr>
        <p:xfrm>
          <a:off x="841375" y="1828800"/>
          <a:ext cx="181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15465" imgH="381000" progId="">
                  <p:embed/>
                </p:oleObj>
              </mc:Choice>
              <mc:Fallback>
                <p:oleObj r:id="rId4" imgW="1815465" imgH="381000" progId="">
                  <p:embed/>
                  <p:pic>
                    <p:nvPicPr>
                      <p:cNvPr id="60419" name="Object 6041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1375" y="1828800"/>
                        <a:ext cx="1816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60419"/>
          <p:cNvGraphicFramePr/>
          <p:nvPr/>
        </p:nvGraphicFramePr>
        <p:xfrm>
          <a:off x="831850" y="2590800"/>
          <a:ext cx="273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730500" imgH="419100" progId="">
                  <p:embed/>
                </p:oleObj>
              </mc:Choice>
              <mc:Fallback>
                <p:oleObj r:id="rId6" imgW="2730500" imgH="419100" progId="">
                  <p:embed/>
                  <p:pic>
                    <p:nvPicPr>
                      <p:cNvPr id="60420" name="Object 6041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1850" y="2590800"/>
                        <a:ext cx="2730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37" name="Group 60436"/>
          <p:cNvGrpSpPr/>
          <p:nvPr/>
        </p:nvGrpSpPr>
        <p:grpSpPr>
          <a:xfrm>
            <a:off x="3721100" y="2584450"/>
            <a:ext cx="2387600" cy="419100"/>
            <a:chOff x="2492" y="1820"/>
            <a:chExt cx="1504" cy="264"/>
          </a:xfrm>
        </p:grpSpPr>
        <p:graphicFrame>
          <p:nvGraphicFramePr>
            <p:cNvPr id="50192" name="Object 60420"/>
            <p:cNvGraphicFramePr/>
            <p:nvPr/>
          </p:nvGraphicFramePr>
          <p:xfrm>
            <a:off x="2492" y="1820"/>
            <a:ext cx="9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459865" imgH="419100" progId="">
                    <p:embed/>
                  </p:oleObj>
                </mc:Choice>
                <mc:Fallback>
                  <p:oleObj r:id="rId8" imgW="1459865" imgH="419100" progId="">
                    <p:embed/>
                    <p:pic>
                      <p:nvPicPr>
                        <p:cNvPr id="50192" name="Object 6042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492" y="1820"/>
                          <a:ext cx="92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3" name="Object 60421"/>
            <p:cNvGraphicFramePr/>
            <p:nvPr/>
          </p:nvGraphicFramePr>
          <p:xfrm>
            <a:off x="3460" y="1824"/>
            <a:ext cx="53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850265" imgH="368300" progId="">
                    <p:embed/>
                  </p:oleObj>
                </mc:Choice>
                <mc:Fallback>
                  <p:oleObj r:id="rId10" imgW="850265" imgH="368300" progId="">
                    <p:embed/>
                    <p:pic>
                      <p:nvPicPr>
                        <p:cNvPr id="50193" name="Object 6042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60" y="1824"/>
                          <a:ext cx="536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25" name="Object 60424"/>
          <p:cNvGraphicFramePr/>
          <p:nvPr/>
        </p:nvGraphicFramePr>
        <p:xfrm>
          <a:off x="5537200" y="3657600"/>
          <a:ext cx="1384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83030" imgH="317500" progId="">
                  <p:embed/>
                </p:oleObj>
              </mc:Choice>
              <mc:Fallback>
                <p:oleObj r:id="rId12" imgW="1383030" imgH="317500" progId="">
                  <p:embed/>
                  <p:pic>
                    <p:nvPicPr>
                      <p:cNvPr id="60425" name="Object 604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37200" y="3657600"/>
                        <a:ext cx="1384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39" name="Group 60438"/>
          <p:cNvGrpSpPr/>
          <p:nvPr/>
        </p:nvGrpSpPr>
        <p:grpSpPr>
          <a:xfrm>
            <a:off x="736600" y="4648200"/>
            <a:ext cx="5632450" cy="519113"/>
            <a:chOff x="624" y="3120"/>
            <a:chExt cx="3548" cy="327"/>
          </a:xfrm>
        </p:grpSpPr>
        <p:sp>
          <p:nvSpPr>
            <p:cNvPr id="50190" name="Rectangles 60425"/>
            <p:cNvSpPr/>
            <p:nvPr/>
          </p:nvSpPr>
          <p:spPr>
            <a:xfrm>
              <a:off x="624" y="3120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即有</a:t>
              </a:r>
            </a:p>
          </p:txBody>
        </p:sp>
        <p:graphicFrame>
          <p:nvGraphicFramePr>
            <p:cNvPr id="50191" name="Object 60426"/>
            <p:cNvGraphicFramePr/>
            <p:nvPr/>
          </p:nvGraphicFramePr>
          <p:xfrm>
            <a:off x="1292" y="3168"/>
            <a:ext cx="28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4570095" imgH="431800" progId="">
                    <p:embed/>
                  </p:oleObj>
                </mc:Choice>
                <mc:Fallback>
                  <p:oleObj r:id="rId14" imgW="4570095" imgH="431800" progId="">
                    <p:embed/>
                    <p:pic>
                      <p:nvPicPr>
                        <p:cNvPr id="50191" name="Object 60426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292" y="3168"/>
                          <a:ext cx="288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4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33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36600" y="3302000"/>
            <a:ext cx="4813300" cy="1016000"/>
            <a:chOff x="736600" y="3302236"/>
            <a:chExt cx="4813300" cy="1015764"/>
          </a:xfrm>
        </p:grpSpPr>
        <p:grpSp>
          <p:nvGrpSpPr>
            <p:cNvPr id="50186" name="Group 60437"/>
            <p:cNvGrpSpPr/>
            <p:nvPr/>
          </p:nvGrpSpPr>
          <p:grpSpPr>
            <a:xfrm>
              <a:off x="736600" y="3352800"/>
              <a:ext cx="4813300" cy="965200"/>
              <a:chOff x="624" y="2304"/>
              <a:chExt cx="3032" cy="608"/>
            </a:xfrm>
          </p:grpSpPr>
          <p:sp>
            <p:nvSpPr>
              <p:cNvPr id="50188" name="Rectangles 60422"/>
              <p:cNvSpPr/>
              <p:nvPr/>
            </p:nvSpPr>
            <p:spPr>
              <a:xfrm>
                <a:off x="624" y="2400"/>
                <a:ext cx="56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800" b="1" dirty="0">
                    <a:latin typeface="Times New Roman" panose="02020603050405020304" pitchFamily="18" charset="0"/>
                  </a:rPr>
                  <a:t>故有</a:t>
                </a:r>
              </a:p>
            </p:txBody>
          </p:sp>
          <p:graphicFrame>
            <p:nvGraphicFramePr>
              <p:cNvPr id="50189" name="Object 60423"/>
              <p:cNvGraphicFramePr/>
              <p:nvPr/>
            </p:nvGraphicFramePr>
            <p:xfrm>
              <a:off x="1296" y="2304"/>
              <a:ext cx="2360" cy="6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3746500" imgH="965200" progId="">
                      <p:embed/>
                    </p:oleObj>
                  </mc:Choice>
                  <mc:Fallback>
                    <p:oleObj r:id="rId16" imgW="3746500" imgH="965200" progId="">
                      <p:embed/>
                      <p:pic>
                        <p:nvPicPr>
                          <p:cNvPr id="50189" name="Object 60423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1296" y="2304"/>
                            <a:ext cx="2360" cy="6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 useBgFill="1">
          <p:nvSpPr>
            <p:cNvPr id="50187" name="Rectangles 59394"/>
            <p:cNvSpPr/>
            <p:nvPr/>
          </p:nvSpPr>
          <p:spPr>
            <a:xfrm>
              <a:off x="4819902" y="3302236"/>
              <a:ext cx="221650" cy="523220"/>
            </a:xfrm>
            <a:prstGeom prst="rect">
              <a:avLst/>
            </a:prstGeom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e</a:t>
              </a: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s 77825"/>
          <p:cNvSpPr/>
          <p:nvPr/>
        </p:nvSpPr>
        <p:spPr>
          <a:xfrm>
            <a:off x="642938" y="838200"/>
            <a:ext cx="289242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第二个配备方案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7827" name="Object 77826"/>
          <p:cNvGraphicFramePr/>
          <p:nvPr/>
        </p:nvGraphicFramePr>
        <p:xfrm>
          <a:off x="814388" y="1676400"/>
          <a:ext cx="613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20460" imgH="444500" progId="">
                  <p:embed/>
                </p:oleObj>
              </mc:Choice>
              <mc:Fallback>
                <p:oleObj r:id="rId2" imgW="6220460" imgH="444500" progId="">
                  <p:embed/>
                  <p:pic>
                    <p:nvPicPr>
                      <p:cNvPr id="77827" name="Object 778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4388" y="1676400"/>
                        <a:ext cx="6134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77827"/>
          <p:cNvGraphicFramePr/>
          <p:nvPr/>
        </p:nvGraphicFramePr>
        <p:xfrm>
          <a:off x="814388" y="2362200"/>
          <a:ext cx="3263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262630" imgH="431800" progId="">
                  <p:embed/>
                </p:oleObj>
              </mc:Choice>
              <mc:Fallback>
                <p:oleObj r:id="rId4" imgW="3262630" imgH="431800" progId="">
                  <p:embed/>
                  <p:pic>
                    <p:nvPicPr>
                      <p:cNvPr id="77828" name="Object 778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4388" y="2362200"/>
                        <a:ext cx="3263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34" name="Group 77833"/>
          <p:cNvGrpSpPr/>
          <p:nvPr/>
        </p:nvGrpSpPr>
        <p:grpSpPr>
          <a:xfrm>
            <a:off x="795338" y="3124200"/>
            <a:ext cx="2317750" cy="419100"/>
            <a:chOff x="660" y="1968"/>
            <a:chExt cx="1460" cy="264"/>
          </a:xfrm>
        </p:grpSpPr>
        <p:graphicFrame>
          <p:nvGraphicFramePr>
            <p:cNvPr id="51212" name="Object 77828"/>
            <p:cNvGraphicFramePr/>
            <p:nvPr/>
          </p:nvGraphicFramePr>
          <p:xfrm>
            <a:off x="660" y="1968"/>
            <a:ext cx="9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459865" imgH="419100" progId="">
                    <p:embed/>
                  </p:oleObj>
                </mc:Choice>
                <mc:Fallback>
                  <p:oleObj r:id="rId6" imgW="1459865" imgH="419100" progId="">
                    <p:embed/>
                    <p:pic>
                      <p:nvPicPr>
                        <p:cNvPr id="51212" name="Object 77828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60" y="1968"/>
                          <a:ext cx="92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3" name="Object 77829"/>
            <p:cNvGraphicFramePr/>
            <p:nvPr/>
          </p:nvGraphicFramePr>
          <p:xfrm>
            <a:off x="1584" y="1976"/>
            <a:ext cx="53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850265" imgH="368300" progId="">
                    <p:embed/>
                  </p:oleObj>
                </mc:Choice>
                <mc:Fallback>
                  <p:oleObj r:id="rId8" imgW="850265" imgH="368300" progId="">
                    <p:embed/>
                    <p:pic>
                      <p:nvPicPr>
                        <p:cNvPr id="51213" name="Object 7782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584" y="1976"/>
                          <a:ext cx="536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831" name="Rectangles 77830"/>
          <p:cNvSpPr/>
          <p:nvPr/>
        </p:nvSpPr>
        <p:spPr>
          <a:xfrm>
            <a:off x="728663" y="3886200"/>
            <a:ext cx="66167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故</a:t>
            </a:r>
            <a:r>
              <a:rPr lang="en-US" altLang="zh-CN" sz="2800" b="1" dirty="0">
                <a:latin typeface="Times New Roman" panose="02020603050405020304" pitchFamily="18" charset="0"/>
              </a:rPr>
              <a:t>80</a:t>
            </a:r>
            <a:r>
              <a:rPr lang="zh-CN" altLang="en-US" sz="2800" b="1" dirty="0">
                <a:latin typeface="Times New Roman" panose="02020603050405020304" pitchFamily="18" charset="0"/>
              </a:rPr>
              <a:t>台中发生故障不能及时维修的概率为</a:t>
            </a:r>
          </a:p>
        </p:txBody>
      </p:sp>
      <p:graphicFrame>
        <p:nvGraphicFramePr>
          <p:cNvPr id="77833" name="Object 77832"/>
          <p:cNvGraphicFramePr/>
          <p:nvPr/>
        </p:nvGraphicFramePr>
        <p:xfrm>
          <a:off x="4535488" y="5029200"/>
          <a:ext cx="1384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383030" imgH="317500" progId="">
                  <p:embed/>
                </p:oleObj>
              </mc:Choice>
              <mc:Fallback>
                <p:oleObj r:id="rId10" imgW="1383030" imgH="317500" progId="">
                  <p:embed/>
                  <p:pic>
                    <p:nvPicPr>
                      <p:cNvPr id="77833" name="Object 7783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35488" y="5029200"/>
                        <a:ext cx="1384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34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14388" y="4662488"/>
            <a:ext cx="3670300" cy="1020762"/>
            <a:chOff x="814388" y="4662277"/>
            <a:chExt cx="3670300" cy="1020973"/>
          </a:xfrm>
        </p:grpSpPr>
        <p:graphicFrame>
          <p:nvGraphicFramePr>
            <p:cNvPr id="51210" name="Object 77831"/>
            <p:cNvGraphicFramePr/>
            <p:nvPr/>
          </p:nvGraphicFramePr>
          <p:xfrm>
            <a:off x="814388" y="4718050"/>
            <a:ext cx="3670300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670300" imgH="965200" progId="">
                    <p:embed/>
                  </p:oleObj>
                </mc:Choice>
                <mc:Fallback>
                  <p:oleObj r:id="rId12" imgW="3670300" imgH="965200" progId="">
                    <p:embed/>
                    <p:pic>
                      <p:nvPicPr>
                        <p:cNvPr id="51210" name="Object 7783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14388" y="4718050"/>
                          <a:ext cx="3670300" cy="965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51211" name="Rectangles 59394"/>
            <p:cNvSpPr/>
            <p:nvPr/>
          </p:nvSpPr>
          <p:spPr>
            <a:xfrm>
              <a:off x="3770613" y="4662277"/>
              <a:ext cx="221650" cy="523220"/>
            </a:xfrm>
            <a:prstGeom prst="rect">
              <a:avLst/>
            </a:prstGeom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e</a:t>
              </a: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/>
          <p:nvPr/>
        </p:nvSpPr>
        <p:spPr>
          <a:xfrm>
            <a:off x="755650" y="1407795"/>
            <a:ext cx="7080885" cy="2620645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52226" name="Rectangles 38913"/>
          <p:cNvSpPr/>
          <p:nvPr/>
        </p:nvSpPr>
        <p:spPr>
          <a:xfrm>
            <a:off x="773113" y="625475"/>
            <a:ext cx="2735262" cy="706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几何分布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38915" name="Text Box 38914"/>
          <p:cNvSpPr txBox="1"/>
          <p:nvPr/>
        </p:nvSpPr>
        <p:spPr>
          <a:xfrm>
            <a:off x="752475" y="1447800"/>
            <a:ext cx="4173538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若随机变量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的分布律为</a:t>
            </a:r>
          </a:p>
        </p:txBody>
      </p:sp>
      <p:sp>
        <p:nvSpPr>
          <p:cNvPr id="38918" name="Rectangles 38917"/>
          <p:cNvSpPr/>
          <p:nvPr/>
        </p:nvSpPr>
        <p:spPr>
          <a:xfrm>
            <a:off x="757238" y="3503613"/>
            <a:ext cx="354647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服从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几何分布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38919" name="Text Box 38918"/>
          <p:cNvSpPr txBox="1"/>
          <p:nvPr/>
        </p:nvSpPr>
        <p:spPr>
          <a:xfrm>
            <a:off x="769938" y="4219575"/>
            <a:ext cx="7834312" cy="1814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 设某批产品的次品率为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对该批产品做有放回的抽样检查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直到抽到次品为止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在此之前抽到的全是正品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则所抽的产品数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是一个随机变量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</a:rPr>
              <a:t>求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的分布律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38940" name="Group 38939"/>
          <p:cNvGrpSpPr/>
          <p:nvPr/>
        </p:nvGrpSpPr>
        <p:grpSpPr>
          <a:xfrm>
            <a:off x="1535113" y="2163763"/>
            <a:ext cx="6132512" cy="1143000"/>
            <a:chOff x="1104" y="1392"/>
            <a:chExt cx="3863" cy="720"/>
          </a:xfrm>
        </p:grpSpPr>
        <p:graphicFrame>
          <p:nvGraphicFramePr>
            <p:cNvPr id="52232" name="Object 38916"/>
            <p:cNvGraphicFramePr/>
            <p:nvPr/>
          </p:nvGraphicFramePr>
          <p:xfrm>
            <a:off x="3975" y="1584"/>
            <a:ext cx="99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74165" imgH="393700" progId="">
                    <p:embed/>
                  </p:oleObj>
                </mc:Choice>
                <mc:Fallback>
                  <p:oleObj r:id="rId2" imgW="1574165" imgH="393700" progId="">
                    <p:embed/>
                    <p:pic>
                      <p:nvPicPr>
                        <p:cNvPr id="52232" name="Object 3891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975" y="1584"/>
                          <a:ext cx="992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3" name="Straight Connector 38929"/>
            <p:cNvSpPr/>
            <p:nvPr/>
          </p:nvSpPr>
          <p:spPr>
            <a:xfrm>
              <a:off x="1488" y="1392"/>
              <a:ext cx="0" cy="72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2234" name="Straight Connector 38928"/>
            <p:cNvSpPr/>
            <p:nvPr/>
          </p:nvSpPr>
          <p:spPr>
            <a:xfrm>
              <a:off x="1104" y="1728"/>
              <a:ext cx="2801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52235" name="Object 38930"/>
            <p:cNvGraphicFramePr/>
            <p:nvPr/>
          </p:nvGraphicFramePr>
          <p:xfrm>
            <a:off x="1152" y="1440"/>
            <a:ext cx="2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67665" imgH="317500" progId="">
                    <p:embed/>
                  </p:oleObj>
                </mc:Choice>
                <mc:Fallback>
                  <p:oleObj r:id="rId4" imgW="367665" imgH="317500" progId="">
                    <p:embed/>
                    <p:pic>
                      <p:nvPicPr>
                        <p:cNvPr id="52235" name="Object 38930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152" y="1440"/>
                          <a:ext cx="2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6" name="Object 38931"/>
            <p:cNvGraphicFramePr/>
            <p:nvPr/>
          </p:nvGraphicFramePr>
          <p:xfrm>
            <a:off x="1152" y="1734"/>
            <a:ext cx="2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93700" imgH="457200" progId="">
                    <p:embed/>
                  </p:oleObj>
                </mc:Choice>
                <mc:Fallback>
                  <p:oleObj r:id="rId6" imgW="393700" imgH="457200" progId="">
                    <p:embed/>
                    <p:pic>
                      <p:nvPicPr>
                        <p:cNvPr id="52236" name="Object 3893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52" y="1734"/>
                          <a:ext cx="24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7" name="Object 38932"/>
            <p:cNvGraphicFramePr/>
            <p:nvPr/>
          </p:nvGraphicFramePr>
          <p:xfrm>
            <a:off x="1440" y="1440"/>
            <a:ext cx="283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447165" imgH="393700" progId="">
                    <p:embed/>
                  </p:oleObj>
                </mc:Choice>
                <mc:Fallback>
                  <p:oleObj r:id="rId8" imgW="1447165" imgH="393700" progId="">
                    <p:embed/>
                    <p:pic>
                      <p:nvPicPr>
                        <p:cNvPr id="52237" name="Object 3893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440" y="1440"/>
                          <a:ext cx="2832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8" name="Object 38934"/>
            <p:cNvGraphicFramePr/>
            <p:nvPr/>
          </p:nvGraphicFramePr>
          <p:xfrm>
            <a:off x="1596" y="1824"/>
            <a:ext cx="1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66065" imgH="316865" progId="">
                    <p:embed/>
                  </p:oleObj>
                </mc:Choice>
                <mc:Fallback>
                  <p:oleObj r:id="rId10" imgW="266065" imgH="316865" progId="">
                    <p:embed/>
                    <p:pic>
                      <p:nvPicPr>
                        <p:cNvPr id="52238" name="Object 3893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596" y="1824"/>
                          <a:ext cx="16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9" name="Object 38935"/>
            <p:cNvGraphicFramePr/>
            <p:nvPr/>
          </p:nvGraphicFramePr>
          <p:xfrm>
            <a:off x="1952" y="1824"/>
            <a:ext cx="24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93065" imgH="317500" progId="">
                    <p:embed/>
                  </p:oleObj>
                </mc:Choice>
                <mc:Fallback>
                  <p:oleObj r:id="rId12" imgW="393065" imgH="317500" progId="">
                    <p:embed/>
                    <p:pic>
                      <p:nvPicPr>
                        <p:cNvPr id="52239" name="Object 3893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952" y="1824"/>
                          <a:ext cx="24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0" name="Object 38936"/>
            <p:cNvGraphicFramePr/>
            <p:nvPr/>
          </p:nvGraphicFramePr>
          <p:xfrm>
            <a:off x="2522" y="1772"/>
            <a:ext cx="142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108200" imgH="469900" progId="">
                    <p:embed/>
                  </p:oleObj>
                </mc:Choice>
                <mc:Fallback>
                  <p:oleObj r:id="rId14" imgW="2108200" imgH="469900" progId="">
                    <p:embed/>
                    <p:pic>
                      <p:nvPicPr>
                        <p:cNvPr id="52240" name="Object 38936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522" y="1772"/>
                          <a:ext cx="142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231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35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8915" grpId="0"/>
      <p:bldP spid="38918" grpId="0"/>
      <p:bldP spid="389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5" name="Object 43014"/>
          <p:cNvGraphicFramePr/>
          <p:nvPr/>
        </p:nvGraphicFramePr>
        <p:xfrm>
          <a:off x="811213" y="2233613"/>
          <a:ext cx="44831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483100" imgH="469900" progId="">
                  <p:embed/>
                </p:oleObj>
              </mc:Choice>
              <mc:Fallback>
                <p:oleObj r:id="rId2" imgW="4483100" imgH="469900" progId="">
                  <p:embed/>
                  <p:pic>
                    <p:nvPicPr>
                      <p:cNvPr id="43015" name="Object 430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1213" y="2233613"/>
                        <a:ext cx="4483100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43015"/>
          <p:cNvGraphicFramePr/>
          <p:nvPr/>
        </p:nvGraphicFramePr>
        <p:xfrm>
          <a:off x="2317750" y="2944813"/>
          <a:ext cx="55006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499100" imgH="469900" progId="">
                  <p:embed/>
                </p:oleObj>
              </mc:Choice>
              <mc:Fallback>
                <p:oleObj r:id="rId4" imgW="5499100" imgH="469900" progId="">
                  <p:embed/>
                  <p:pic>
                    <p:nvPicPr>
                      <p:cNvPr id="43016" name="Object 430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17750" y="2944813"/>
                        <a:ext cx="5500688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43016"/>
          <p:cNvGraphicFramePr/>
          <p:nvPr/>
        </p:nvGraphicFramePr>
        <p:xfrm>
          <a:off x="2306638" y="3657600"/>
          <a:ext cx="45974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97400" imgH="838200" progId="">
                  <p:embed/>
                </p:oleObj>
              </mc:Choice>
              <mc:Fallback>
                <p:oleObj r:id="rId6" imgW="4597400" imgH="838200" progId="">
                  <p:embed/>
                  <p:pic>
                    <p:nvPicPr>
                      <p:cNvPr id="43017" name="Object 4301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06638" y="3657600"/>
                        <a:ext cx="4597400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43017"/>
          <p:cNvGraphicFramePr/>
          <p:nvPr/>
        </p:nvGraphicFramePr>
        <p:xfrm>
          <a:off x="6970713" y="3657600"/>
          <a:ext cx="116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68400" imgH="457200" progId="">
                  <p:embed/>
                </p:oleObj>
              </mc:Choice>
              <mc:Fallback>
                <p:oleObj r:id="rId8" imgW="1168400" imgH="457200" progId="">
                  <p:embed/>
                  <p:pic>
                    <p:nvPicPr>
                      <p:cNvPr id="43018" name="Object 4301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70713" y="3657600"/>
                        <a:ext cx="1168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43018"/>
          <p:cNvGraphicFramePr/>
          <p:nvPr/>
        </p:nvGraphicFramePr>
        <p:xfrm>
          <a:off x="6450013" y="4668838"/>
          <a:ext cx="16891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88465" imgH="393700" progId="">
                  <p:embed/>
                </p:oleObj>
              </mc:Choice>
              <mc:Fallback>
                <p:oleObj r:id="rId10" imgW="1688465" imgH="393700" progId="">
                  <p:embed/>
                  <p:pic>
                    <p:nvPicPr>
                      <p:cNvPr id="43019" name="Object 4301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50013" y="4668838"/>
                        <a:ext cx="16891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0" name="Rectangles 43019"/>
          <p:cNvSpPr/>
          <p:nvPr/>
        </p:nvSpPr>
        <p:spPr>
          <a:xfrm>
            <a:off x="769938" y="4586288"/>
            <a:ext cx="354647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所以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</a:rPr>
              <a:t>服从几何分布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3021" name="Text Box 43020"/>
          <p:cNvSpPr txBox="1"/>
          <p:nvPr/>
        </p:nvSpPr>
        <p:spPr>
          <a:xfrm>
            <a:off x="755650" y="5283200"/>
            <a:ext cx="7986713" cy="9525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几何分布可作为描述某个试验“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首次成功</a:t>
            </a:r>
            <a:r>
              <a:rPr lang="zh-CN" altLang="en-US" sz="2800" b="1" dirty="0">
                <a:latin typeface="宋体" panose="02010600030101010101" pitchFamily="2" charset="-122"/>
              </a:rPr>
              <a:t>”</a:t>
            </a:r>
          </a:p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的概率模型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3257" name="Rectangles 43024"/>
          <p:cNvSpPr/>
          <p:nvPr/>
        </p:nvSpPr>
        <p:spPr>
          <a:xfrm>
            <a:off x="755650" y="762000"/>
            <a:ext cx="5397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43026" name="Object 43025"/>
          <p:cNvGraphicFramePr/>
          <p:nvPr/>
        </p:nvGraphicFramePr>
        <p:xfrm>
          <a:off x="1476375" y="857250"/>
          <a:ext cx="452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519295" imgH="431800" progId="">
                  <p:embed/>
                </p:oleObj>
              </mc:Choice>
              <mc:Fallback>
                <p:oleObj r:id="rId12" imgW="4519295" imgH="431800" progId="">
                  <p:embed/>
                  <p:pic>
                    <p:nvPicPr>
                      <p:cNvPr id="43026" name="Object 4302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76375" y="857250"/>
                        <a:ext cx="4521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7" name="Object 43026"/>
          <p:cNvGraphicFramePr/>
          <p:nvPr/>
        </p:nvGraphicFramePr>
        <p:xfrm>
          <a:off x="831850" y="1531938"/>
          <a:ext cx="6159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159500" imgH="457200" progId="">
                  <p:embed/>
                </p:oleObj>
              </mc:Choice>
              <mc:Fallback>
                <p:oleObj r:id="rId14" imgW="6159500" imgH="457200" progId="">
                  <p:embed/>
                  <p:pic>
                    <p:nvPicPr>
                      <p:cNvPr id="43027" name="Object 4302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31850" y="1531938"/>
                        <a:ext cx="61595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0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36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0" grpId="0"/>
      <p:bldP spid="430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53250"/>
          <p:cNvSpPr txBox="1"/>
          <p:nvPr/>
        </p:nvSpPr>
        <p:spPr>
          <a:xfrm>
            <a:off x="1738313" y="2127250"/>
            <a:ext cx="612775" cy="33083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常见离散型随机变量</a:t>
            </a:r>
          </a:p>
        </p:txBody>
      </p:sp>
      <p:graphicFrame>
        <p:nvGraphicFramePr>
          <p:cNvPr id="53252" name="Object 53251"/>
          <p:cNvGraphicFramePr/>
          <p:nvPr/>
        </p:nvGraphicFramePr>
        <p:xfrm>
          <a:off x="2425700" y="2157413"/>
          <a:ext cx="404813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5765" imgH="2753360" progId="">
                  <p:embed/>
                </p:oleObj>
              </mc:Choice>
              <mc:Fallback>
                <p:oleObj r:id="rId2" imgW="405765" imgH="2753360" progId="">
                  <p:embed/>
                  <p:pic>
                    <p:nvPicPr>
                      <p:cNvPr id="53252" name="Object 5325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5700" y="2157413"/>
                        <a:ext cx="404813" cy="320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53252"/>
          <p:cNvSpPr txBox="1"/>
          <p:nvPr/>
        </p:nvSpPr>
        <p:spPr>
          <a:xfrm>
            <a:off x="2659063" y="2057400"/>
            <a:ext cx="16129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两点分布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254" name="Rectangles 53253"/>
          <p:cNvSpPr/>
          <p:nvPr/>
        </p:nvSpPr>
        <p:spPr>
          <a:xfrm>
            <a:off x="2659063" y="2765425"/>
            <a:ext cx="16129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均匀分布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255" name="Rectangles 53254"/>
          <p:cNvSpPr/>
          <p:nvPr/>
        </p:nvSpPr>
        <p:spPr>
          <a:xfrm>
            <a:off x="2671763" y="3475038"/>
            <a:ext cx="161290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二项分布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256" name="Rectangles 53255"/>
          <p:cNvSpPr/>
          <p:nvPr/>
        </p:nvSpPr>
        <p:spPr>
          <a:xfrm>
            <a:off x="2671763" y="4183063"/>
            <a:ext cx="161290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泊松分布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257" name="Rectangles 53256"/>
          <p:cNvSpPr/>
          <p:nvPr/>
        </p:nvSpPr>
        <p:spPr>
          <a:xfrm>
            <a:off x="2671763" y="4891088"/>
            <a:ext cx="161290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几何分布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258" name="Rectangles 53257"/>
          <p:cNvSpPr/>
          <p:nvPr/>
        </p:nvSpPr>
        <p:spPr>
          <a:xfrm>
            <a:off x="5241925" y="3492500"/>
            <a:ext cx="16129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二项分布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3274" name="Group 53273"/>
          <p:cNvGrpSpPr/>
          <p:nvPr/>
        </p:nvGrpSpPr>
        <p:grpSpPr>
          <a:xfrm>
            <a:off x="5229225" y="4024313"/>
            <a:ext cx="3175000" cy="1247775"/>
            <a:chOff x="3328" y="2399"/>
            <a:chExt cx="2000" cy="786"/>
          </a:xfrm>
        </p:grpSpPr>
        <p:sp>
          <p:nvSpPr>
            <p:cNvPr id="54289" name="Straight Connector 53258"/>
            <p:cNvSpPr/>
            <p:nvPr/>
          </p:nvSpPr>
          <p:spPr>
            <a:xfrm>
              <a:off x="3832" y="2399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4290" name="Rectangles 53259"/>
            <p:cNvSpPr/>
            <p:nvPr/>
          </p:nvSpPr>
          <p:spPr>
            <a:xfrm>
              <a:off x="3328" y="2858"/>
              <a:ext cx="10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泊松分布</a:t>
              </a:r>
              <a:endPara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54291" name="Object 53261"/>
            <p:cNvGraphicFramePr/>
            <p:nvPr/>
          </p:nvGraphicFramePr>
          <p:xfrm>
            <a:off x="3928" y="2495"/>
            <a:ext cx="140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220595" imgH="405765" progId="">
                    <p:embed/>
                  </p:oleObj>
                </mc:Choice>
                <mc:Fallback>
                  <p:oleObj r:id="rId4" imgW="2220595" imgH="405765" progId="">
                    <p:embed/>
                    <p:pic>
                      <p:nvPicPr>
                        <p:cNvPr id="54291" name="Object 5326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28" y="2495"/>
                          <a:ext cx="1400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73" name="Group 53272"/>
          <p:cNvGrpSpPr/>
          <p:nvPr/>
        </p:nvGrpSpPr>
        <p:grpSpPr>
          <a:xfrm>
            <a:off x="5219700" y="2276475"/>
            <a:ext cx="1749425" cy="1266825"/>
            <a:chOff x="3322" y="1298"/>
            <a:chExt cx="1102" cy="798"/>
          </a:xfrm>
        </p:grpSpPr>
        <p:sp>
          <p:nvSpPr>
            <p:cNvPr id="54286" name="Straight Connector 53262"/>
            <p:cNvSpPr/>
            <p:nvPr/>
          </p:nvSpPr>
          <p:spPr>
            <a:xfrm flipV="1">
              <a:off x="3832" y="1616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4287" name="Rectangles 53263"/>
            <p:cNvSpPr/>
            <p:nvPr/>
          </p:nvSpPr>
          <p:spPr>
            <a:xfrm>
              <a:off x="3322" y="1298"/>
              <a:ext cx="10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两点分布</a:t>
              </a:r>
              <a:endPara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54288" name="Object 53264"/>
            <p:cNvGraphicFramePr/>
            <p:nvPr/>
          </p:nvGraphicFramePr>
          <p:xfrm>
            <a:off x="3928" y="1734"/>
            <a:ext cx="49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786765" imgH="330200" progId="">
                    <p:embed/>
                  </p:oleObj>
                </mc:Choice>
                <mc:Fallback>
                  <p:oleObj r:id="rId6" imgW="786765" imgH="330200" progId="">
                    <p:embed/>
                    <p:pic>
                      <p:nvPicPr>
                        <p:cNvPr id="54288" name="Object 5326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928" y="1734"/>
                          <a:ext cx="496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84" name="Title 53271"/>
          <p:cNvSpPr>
            <a:spLocks noGrp="1"/>
          </p:cNvSpPr>
          <p:nvPr>
            <p:ph type="title" idx="4294967295"/>
          </p:nvPr>
        </p:nvSpPr>
        <p:spPr>
          <a:xfrm>
            <a:off x="20320" y="667385"/>
            <a:ext cx="9123680" cy="706755"/>
          </a:xfrm>
        </p:spPr>
        <p:txBody>
          <a:bodyPr vert="horz" wrap="square" lIns="91440" tIns="45720" rIns="91440" bIns="45720" anchor="ctr" anchorCtr="0"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</a:rPr>
              <a:t>三、小结</a:t>
            </a:r>
          </a:p>
        </p:txBody>
      </p:sp>
      <p:sp>
        <p:nvSpPr>
          <p:cNvPr id="54285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37</a:t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/37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/>
      <p:bldP spid="53253" grpId="0"/>
      <p:bldP spid="53254" grpId="0"/>
      <p:bldP spid="53255" grpId="0"/>
      <p:bldP spid="53256" grpId="0"/>
      <p:bldP spid="53257" grpId="0"/>
      <p:bldP spid="5325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95236" descr="Bernoulli_Jacob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50" y="1795463"/>
            <a:ext cx="2584450" cy="3505200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5299" name="Text Box 95237"/>
          <p:cNvSpPr txBox="1"/>
          <p:nvPr/>
        </p:nvSpPr>
        <p:spPr>
          <a:xfrm>
            <a:off x="4129088" y="2230438"/>
            <a:ext cx="4114800" cy="644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Jacob Bernoulli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55300" name="Text Box 95238"/>
          <p:cNvSpPr txBox="1"/>
          <p:nvPr/>
        </p:nvSpPr>
        <p:spPr>
          <a:xfrm>
            <a:off x="4433888" y="3068638"/>
            <a:ext cx="3581400" cy="1814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Born: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27 Dec 1654 in Basel, Switzerland</a:t>
            </a:r>
            <a:b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Died:</a:t>
            </a:r>
            <a:r>
              <a:rPr lang="en-US" altLang="zh-CN" sz="28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16 Aug 1705 in Basel, Switzerland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5301" name="Title 95239"/>
          <p:cNvSpPr>
            <a:spLocks noGrp="1"/>
          </p:cNvSpPr>
          <p:nvPr>
            <p:ph type="title" idx="4294967295"/>
          </p:nvPr>
        </p:nvSpPr>
        <p:spPr>
          <a:xfrm>
            <a:off x="4391025" y="742950"/>
            <a:ext cx="4752975" cy="708025"/>
          </a:xfrm>
        </p:spPr>
        <p:txBody>
          <a:bodyPr vert="horz" wrap="square" lIns="91440" tIns="45720" rIns="91440" bIns="45720" anchor="ctr" anchorCtr="0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伯努利资料</a:t>
            </a:r>
          </a:p>
        </p:txBody>
      </p:sp>
    </p:spTree>
  </p:cSld>
  <p:clrMapOvr>
    <a:masterClrMapping/>
  </p:clrMapOvr>
  <p:transition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96259"/>
          <p:cNvSpPr>
            <a:spLocks noGrp="1"/>
          </p:cNvSpPr>
          <p:nvPr>
            <p:ph type="title" idx="4294967295"/>
          </p:nvPr>
        </p:nvSpPr>
        <p:spPr>
          <a:xfrm>
            <a:off x="4678363" y="758825"/>
            <a:ext cx="4465637" cy="708025"/>
          </a:xfrm>
        </p:spPr>
        <p:txBody>
          <a:bodyPr vert="horz" wrap="square" lIns="91440" tIns="45720" rIns="91440" bIns="45720" anchor="ctr" anchorCtr="0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泊松资料</a:t>
            </a:r>
          </a:p>
        </p:txBody>
      </p:sp>
      <p:pic>
        <p:nvPicPr>
          <p:cNvPr id="56323" name="Picture 96260" descr="Poisson_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13" y="1782763"/>
            <a:ext cx="2516187" cy="3446462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6324" name="Text Box 96261"/>
          <p:cNvSpPr txBox="1"/>
          <p:nvPr/>
        </p:nvSpPr>
        <p:spPr>
          <a:xfrm>
            <a:off x="4295775" y="2833688"/>
            <a:ext cx="3810000" cy="2244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Born: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21 June 1781 in Pithiviers, France</a:t>
            </a:r>
            <a:b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Died:</a:t>
            </a:r>
            <a:r>
              <a:rPr lang="en-US" altLang="zh-CN" sz="28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25 April 1840 in Sceaux (near Paris), France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6325" name="Text Box 96262"/>
          <p:cNvSpPr txBox="1"/>
          <p:nvPr/>
        </p:nvSpPr>
        <p:spPr>
          <a:xfrm>
            <a:off x="4067175" y="1919288"/>
            <a:ext cx="4267200" cy="644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Siméon Poisson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k4MGYxNDFlNDllYmNhZmYyZjg3ZjNhMGFhODEyMWUifQ=="/>
</p:tagLst>
</file>

<file path=ppt/theme/theme1.xml><?xml version="1.0" encoding="utf-8"?>
<a:theme xmlns:a="http://schemas.openxmlformats.org/drawingml/2006/main" name="jy3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jy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y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Settings\a\Application Data\Microsoft\Templates\jy3.pot</Template>
  <TotalTime>214</TotalTime>
  <Words>1224</Words>
  <Application>Microsoft Office PowerPoint</Application>
  <PresentationFormat>全屏显示(4:3)</PresentationFormat>
  <Paragraphs>183</Paragraphs>
  <Slides>39</Slides>
  <Notes>2</Notes>
  <HiddenSlides>0</HiddenSlides>
  <MMClips>1</MMClips>
  <ScaleCrop>false</ScaleCrop>
  <HeadingPairs>
    <vt:vector size="10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  <vt:variant>
        <vt:lpstr>自定义放映</vt:lpstr>
      </vt:variant>
      <vt:variant>
        <vt:i4>2</vt:i4>
      </vt:variant>
    </vt:vector>
  </HeadingPairs>
  <TitlesOfParts>
    <vt:vector size="49" baseType="lpstr">
      <vt:lpstr>黑体</vt:lpstr>
      <vt:lpstr>宋体</vt:lpstr>
      <vt:lpstr>Arial</vt:lpstr>
      <vt:lpstr>Calibri</vt:lpstr>
      <vt:lpstr>Tahoma</vt:lpstr>
      <vt:lpstr>Times New Roman</vt:lpstr>
      <vt:lpstr>jy3</vt:lpstr>
      <vt:lpstr>Paintbrush Picture</vt:lpstr>
      <vt:lpstr>第二节 离散型随机变量及其分布律</vt:lpstr>
      <vt:lpstr>一、离散型随机变量的分布律</vt:lpstr>
      <vt:lpstr>PowerPoint 演示文稿</vt:lpstr>
      <vt:lpstr>PowerPoint 演示文稿</vt:lpstr>
      <vt:lpstr>PowerPoint 演示文稿</vt:lpstr>
      <vt:lpstr>二、常见离散型随机变量的概率分布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三、小结</vt:lpstr>
      <vt:lpstr>伯努利资料</vt:lpstr>
      <vt:lpstr>泊松资料</vt:lpstr>
      <vt:lpstr>贝努利</vt:lpstr>
      <vt:lpstr>泊松资料</vt:lpstr>
    </vt:vector>
  </TitlesOfParts>
  <Company>txxy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第二节 离散型随机变量及其分布律</dc:title>
  <dc:creator>西安通信学院数学教研室</dc:creator>
  <cp:lastModifiedBy>T lenovo</cp:lastModifiedBy>
  <cp:revision>375</cp:revision>
  <dcterms:created xsi:type="dcterms:W3CDTF">2000-02-23T02:14:00Z</dcterms:created>
  <dcterms:modified xsi:type="dcterms:W3CDTF">2024-04-01T17:57:15Z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A34A6DCA56164A7493621C190CD689B9_12</vt:lpwstr>
  </property>
  <property fmtid="{D5CDD505-2E9C-101B-9397-08002B2CF9AE}" pid="3" name="KSOProductBuildVer">
    <vt:lpwstr>2052-12.1.0.16417</vt:lpwstr>
  </property>
</Properties>
</file>