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328" r:id="rId3"/>
    <p:sldId id="335" r:id="rId5"/>
    <p:sldId id="313" r:id="rId6"/>
    <p:sldId id="314" r:id="rId7"/>
    <p:sldId id="341" r:id="rId8"/>
    <p:sldId id="339" r:id="rId9"/>
    <p:sldId id="336" r:id="rId10"/>
    <p:sldId id="315" r:id="rId11"/>
    <p:sldId id="342" r:id="rId12"/>
    <p:sldId id="309" r:id="rId13"/>
    <p:sldId id="316" r:id="rId14"/>
    <p:sldId id="340" r:id="rId15"/>
    <p:sldId id="311" r:id="rId16"/>
    <p:sldId id="312" r:id="rId17"/>
    <p:sldId id="317" r:id="rId18"/>
    <p:sldId id="318" r:id="rId19"/>
    <p:sldId id="343" r:id="rId20"/>
    <p:sldId id="319" r:id="rId21"/>
    <p:sldId id="320" r:id="rId22"/>
    <p:sldId id="344" r:id="rId23"/>
    <p:sldId id="321" r:id="rId24"/>
    <p:sldId id="322" r:id="rId25"/>
    <p:sldId id="290" r:id="rId26"/>
    <p:sldId id="291" r:id="rId27"/>
    <p:sldId id="338" r:id="rId28"/>
    <p:sldId id="332" r:id="rId29"/>
    <p:sldId id="333" r:id="rId30"/>
    <p:sldId id="329" r:id="rId31"/>
    <p:sldId id="324" r:id="rId32"/>
    <p:sldId id="325" r:id="rId33"/>
  </p:sldIdLst>
  <p:sldSz cx="9144000" cy="6858000" type="screen4x3"/>
  <p:notesSz cx="6858000" cy="9144000"/>
  <p:custDataLst>
    <p:tags r:id="rId3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9" userDrawn="1">
          <p15:clr>
            <a:srgbClr val="A4A3A4"/>
          </p15:clr>
        </p15:guide>
        <p15:guide id="2" pos="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6F7"/>
    <a:srgbClr val="0000FF"/>
    <a:srgbClr val="9933FF"/>
    <a:srgbClr val="FFFFEF"/>
    <a:srgbClr val="FF33CC"/>
    <a:srgbClr val="33CC33"/>
    <a:srgbClr val="FFFF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9"/>
    <p:restoredTop sz="95953"/>
  </p:normalViewPr>
  <p:slideViewPr>
    <p:cSldViewPr showGuides="1">
      <p:cViewPr varScale="1">
        <p:scale>
          <a:sx n="95" d="100"/>
          <a:sy n="95" d="100"/>
        </p:scale>
        <p:origin x="1980" y="66"/>
      </p:cViewPr>
      <p:guideLst>
        <p:guide orient="horz" pos="46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gs" Target="tags/tag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.wmf"/><Relationship Id="rId4" Type="http://schemas.openxmlformats.org/officeDocument/2006/relationships/image" Target="../media/image18.e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52.wmf"/><Relationship Id="rId3" Type="http://schemas.openxmlformats.org/officeDocument/2006/relationships/image" Target="../media/image51.emf"/><Relationship Id="rId2" Type="http://schemas.openxmlformats.org/officeDocument/2006/relationships/image" Target="../media/image50.wmf"/><Relationship Id="rId1" Type="http://schemas.openxmlformats.org/officeDocument/2006/relationships/image" Target="../media/image49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66.wmf"/><Relationship Id="rId8" Type="http://schemas.openxmlformats.org/officeDocument/2006/relationships/image" Target="../media/image65.wmf"/><Relationship Id="rId7" Type="http://schemas.openxmlformats.org/officeDocument/2006/relationships/image" Target="../media/image64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0" Type="http://schemas.openxmlformats.org/officeDocument/2006/relationships/image" Target="../media/image67.wmf"/><Relationship Id="rId1" Type="http://schemas.openxmlformats.org/officeDocument/2006/relationships/image" Target="../media/image58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emf"/></Relationships>
</file>

<file path=ppt/drawings/_rels/vmlDrawing20.vml.rels><?xml version="1.0" encoding="UTF-8" standalone="yes"?>
<Relationships xmlns="http://schemas.openxmlformats.org/package/2006/relationships"><Relationship Id="rId7" Type="http://schemas.openxmlformats.org/officeDocument/2006/relationships/image" Target="../media/image77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B122CB-B774-4B8F-B8F8-6EA405A143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Only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8" name="TextBox 14"/>
          <p:cNvSpPr txBox="1"/>
          <p:nvPr userDrawn="1"/>
        </p:nvSpPr>
        <p:spPr>
          <a:xfrm>
            <a:off x="8595360" y="6524625"/>
            <a:ext cx="72072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495300"/>
            <a:ext cx="1985962" cy="56816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95300"/>
            <a:ext cx="5805488" cy="56816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800100" y="4953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6858000" y="6172200"/>
            <a:ext cx="457200" cy="3810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543800" y="6121400"/>
            <a:ext cx="457200" cy="4572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267700" y="6172200"/>
            <a:ext cx="457200" cy="3810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8.xml"/><Relationship Id="rId4" Type="http://schemas.openxmlformats.org/officeDocument/2006/relationships/slide" Target="slide28.xml"/><Relationship Id="rId3" Type="http://schemas.openxmlformats.org/officeDocument/2006/relationships/slide" Target="slide14.xml"/><Relationship Id="rId2" Type="http://schemas.openxmlformats.org/officeDocument/2006/relationships/slide" Target="slide10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8.xml"/><Relationship Id="rId7" Type="http://schemas.openxmlformats.org/officeDocument/2006/relationships/image" Target="../media/image9.jpeg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6.wmf"/><Relationship Id="rId10" Type="http://schemas.openxmlformats.org/officeDocument/2006/relationships/notesSlide" Target="../notesSlides/notesSlide3.xml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14.jpeg"/><Relationship Id="rId7" Type="http://schemas.openxmlformats.org/officeDocument/2006/relationships/image" Target="../media/image13.GIF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0.wmf"/><Relationship Id="rId11" Type="http://schemas.openxmlformats.org/officeDocument/2006/relationships/notesSlide" Target="../notesSlides/notesSlide4.xml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oleObject" Target="../embeddings/oleObject12.bin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5.wmf"/><Relationship Id="rId17" Type="http://schemas.openxmlformats.org/officeDocument/2006/relationships/notesSlide" Target="../notesSlides/notesSlide5.xml"/><Relationship Id="rId16" Type="http://schemas.openxmlformats.org/officeDocument/2006/relationships/vmlDrawing" Target="../drawings/vmlDrawing4.v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20.w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1" Type="http://schemas.openxmlformats.org/officeDocument/2006/relationships/image" Target="../media/image18.emf"/><Relationship Id="rId10" Type="http://schemas.openxmlformats.org/officeDocument/2006/relationships/oleObject" Target="../embeddings/oleObject14.bin"/><Relationship Id="rId1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24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8.bin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5.emf"/><Relationship Id="rId1" Type="http://schemas.openxmlformats.org/officeDocument/2006/relationships/oleObject" Target="../embeddings/oleObject20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8.emf"/><Relationship Id="rId1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9.emf"/><Relationship Id="rId1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31.e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23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35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32.wmf"/><Relationship Id="rId11" Type="http://schemas.openxmlformats.org/officeDocument/2006/relationships/notesSlide" Target="../notesSlides/notesSlide16.xml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25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36.wmf"/><Relationship Id="rId19" Type="http://schemas.openxmlformats.org/officeDocument/2006/relationships/notesSlide" Target="../notesSlides/notesSlide18.xml"/><Relationship Id="rId18" Type="http://schemas.openxmlformats.org/officeDocument/2006/relationships/vmlDrawing" Target="../drawings/vmlDrawing12.vml"/><Relationship Id="rId17" Type="http://schemas.openxmlformats.org/officeDocument/2006/relationships/slideLayout" Target="../slideLayouts/slideLayout8.xml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36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35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34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29.bin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4.wmf"/><Relationship Id="rId1" Type="http://schemas.openxmlformats.org/officeDocument/2006/relationships/oleObject" Target="../embeddings/oleObject37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46.jpeg"/><Relationship Id="rId1" Type="http://schemas.openxmlformats.org/officeDocument/2006/relationships/image" Target="../media/image45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48.e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38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52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51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49.emf"/><Relationship Id="rId11" Type="http://schemas.openxmlformats.org/officeDocument/2006/relationships/notesSlide" Target="../notesSlides/notesSlide22.xml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40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57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56.wmf"/><Relationship Id="rId1" Type="http://schemas.openxmlformats.org/officeDocument/2006/relationships/oleObject" Target="../embeddings/oleObject44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61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60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59.wmf"/><Relationship Id="rId3" Type="http://schemas.openxmlformats.org/officeDocument/2006/relationships/oleObject" Target="../embeddings/oleObject47.bin"/><Relationship Id="rId23" Type="http://schemas.openxmlformats.org/officeDocument/2006/relationships/notesSlide" Target="../notesSlides/notesSlide26.xml"/><Relationship Id="rId22" Type="http://schemas.openxmlformats.org/officeDocument/2006/relationships/vmlDrawing" Target="../drawings/vmlDrawing17.vml"/><Relationship Id="rId21" Type="http://schemas.openxmlformats.org/officeDocument/2006/relationships/slideLayout" Target="../slideLayouts/slideLayout8.xml"/><Relationship Id="rId20" Type="http://schemas.openxmlformats.org/officeDocument/2006/relationships/image" Target="../media/image67.wmf"/><Relationship Id="rId2" Type="http://schemas.openxmlformats.org/officeDocument/2006/relationships/image" Target="../media/image58.wmf"/><Relationship Id="rId19" Type="http://schemas.openxmlformats.org/officeDocument/2006/relationships/oleObject" Target="../embeddings/oleObject55.bin"/><Relationship Id="rId18" Type="http://schemas.openxmlformats.org/officeDocument/2006/relationships/image" Target="../media/image66.wmf"/><Relationship Id="rId17" Type="http://schemas.openxmlformats.org/officeDocument/2006/relationships/oleObject" Target="../embeddings/oleObject54.bin"/><Relationship Id="rId16" Type="http://schemas.openxmlformats.org/officeDocument/2006/relationships/image" Target="../media/image65.wmf"/><Relationship Id="rId15" Type="http://schemas.openxmlformats.org/officeDocument/2006/relationships/oleObject" Target="../embeddings/oleObject53.bin"/><Relationship Id="rId14" Type="http://schemas.openxmlformats.org/officeDocument/2006/relationships/image" Target="../media/image64.wmf"/><Relationship Id="rId13" Type="http://schemas.openxmlformats.org/officeDocument/2006/relationships/oleObject" Target="../embeddings/oleObject52.bin"/><Relationship Id="rId12" Type="http://schemas.openxmlformats.org/officeDocument/2006/relationships/image" Target="../media/image63.wmf"/><Relationship Id="rId11" Type="http://schemas.openxmlformats.org/officeDocument/2006/relationships/oleObject" Target="../embeddings/oleObject51.bin"/><Relationship Id="rId10" Type="http://schemas.openxmlformats.org/officeDocument/2006/relationships/image" Target="../media/image62.wmf"/><Relationship Id="rId1" Type="http://schemas.openxmlformats.org/officeDocument/2006/relationships/oleObject" Target="../embeddings/oleObject46.bin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69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68.wmf"/><Relationship Id="rId1" Type="http://schemas.openxmlformats.org/officeDocument/2006/relationships/oleObject" Target="../embeddings/oleObject56.bin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0.emf"/><Relationship Id="rId1" Type="http://schemas.openxmlformats.org/officeDocument/2006/relationships/oleObject" Target="../embeddings/oleObject58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.bin"/><Relationship Id="rId8" Type="http://schemas.openxmlformats.org/officeDocument/2006/relationships/image" Target="../media/image74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71.wmf"/><Relationship Id="rId17" Type="http://schemas.openxmlformats.org/officeDocument/2006/relationships/notesSlide" Target="../notesSlides/notesSlide29.xml"/><Relationship Id="rId16" Type="http://schemas.openxmlformats.org/officeDocument/2006/relationships/vmlDrawing" Target="../drawings/vmlDrawing20.v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77.wmf"/><Relationship Id="rId13" Type="http://schemas.openxmlformats.org/officeDocument/2006/relationships/oleObject" Target="../embeddings/oleObject65.bin"/><Relationship Id="rId12" Type="http://schemas.openxmlformats.org/officeDocument/2006/relationships/image" Target="../media/image76.wmf"/><Relationship Id="rId11" Type="http://schemas.openxmlformats.org/officeDocument/2006/relationships/oleObject" Target="../embeddings/oleObject64.bin"/><Relationship Id="rId10" Type="http://schemas.openxmlformats.org/officeDocument/2006/relationships/image" Target="../media/image75.wmf"/><Relationship Id="rId1" Type="http://schemas.openxmlformats.org/officeDocument/2006/relationships/oleObject" Target="../embeddings/oleObject59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81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78.wmf"/><Relationship Id="rId11" Type="http://schemas.openxmlformats.org/officeDocument/2006/relationships/notesSlide" Target="../notesSlides/notesSlide30.xml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6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4338" name="Rectangle 1028"/>
          <p:cNvSpPr/>
          <p:nvPr/>
        </p:nvSpPr>
        <p:spPr>
          <a:xfrm>
            <a:off x="1752600" y="2574925"/>
            <a:ext cx="53340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一、样本空间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和样本点                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9" name="Rectangle 1029"/>
          <p:cNvSpPr/>
          <p:nvPr/>
        </p:nvSpPr>
        <p:spPr>
          <a:xfrm>
            <a:off x="1752600" y="3946525"/>
            <a:ext cx="64770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三、随机事件间的关系及运算        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0" name="Rectangle 1034"/>
          <p:cNvSpPr/>
          <p:nvPr/>
        </p:nvSpPr>
        <p:spPr>
          <a:xfrm>
            <a:off x="1752600" y="3236913"/>
            <a:ext cx="50292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二、随机事件的概念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1" name="Rectangle 1035"/>
          <p:cNvSpPr/>
          <p:nvPr/>
        </p:nvSpPr>
        <p:spPr>
          <a:xfrm>
            <a:off x="1752600" y="4652963"/>
            <a:ext cx="345694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四、小结        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2" name="Rectangle 1036"/>
          <p:cNvSpPr>
            <a:spLocks noGrp="1" noChangeArrowheads="1"/>
          </p:cNvSpPr>
          <p:nvPr>
            <p:ph type="title" idx="4294967295"/>
          </p:nvPr>
        </p:nvSpPr>
        <p:spPr>
          <a:xfrm>
            <a:off x="8890" y="1110615"/>
            <a:ext cx="9135110" cy="706755"/>
          </a:xfrm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+mj-ea"/>
                <a:cs typeface="+mj-cs"/>
              </a:rPr>
              <a:t>第二节　样本空间、随机事件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4344" name="Rectangle 1038">
            <a:hlinkClick r:id="rId1" action="ppaction://hlinksldjump"/>
          </p:cNvPr>
          <p:cNvSpPr/>
          <p:nvPr/>
        </p:nvSpPr>
        <p:spPr>
          <a:xfrm>
            <a:off x="1905000" y="2681288"/>
            <a:ext cx="4191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4345" name="Rectangle 1039">
            <a:hlinkClick r:id="rId2" action="ppaction://hlinksldjump"/>
          </p:cNvPr>
          <p:cNvSpPr/>
          <p:nvPr/>
        </p:nvSpPr>
        <p:spPr>
          <a:xfrm>
            <a:off x="1905000" y="3395663"/>
            <a:ext cx="3733800" cy="3524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4346" name="Rectangle 1040">
            <a:hlinkClick r:id="rId3" action="ppaction://hlinksldjump"/>
          </p:cNvPr>
          <p:cNvSpPr/>
          <p:nvPr/>
        </p:nvSpPr>
        <p:spPr>
          <a:xfrm>
            <a:off x="1905000" y="4098925"/>
            <a:ext cx="5334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4347" name="Rectangle 1041">
            <a:hlinkClick r:id="rId4" action="ppaction://hlinksldjump"/>
          </p:cNvPr>
          <p:cNvSpPr/>
          <p:nvPr/>
        </p:nvSpPr>
        <p:spPr>
          <a:xfrm>
            <a:off x="1890713" y="4752975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5369" name="TextBox 12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2404" name="Rectangle 4"/>
          <p:cNvSpPr/>
          <p:nvPr/>
        </p:nvSpPr>
        <p:spPr>
          <a:xfrm>
            <a:off x="914400" y="1700213"/>
            <a:ext cx="7543800" cy="112458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随机试验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的所有可能结果组成的集合称为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样本空间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记为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样本空间的元素即</a:t>
            </a:r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405" name="Rectangle 5"/>
          <p:cNvSpPr/>
          <p:nvPr/>
        </p:nvSpPr>
        <p:spPr>
          <a:xfrm>
            <a:off x="914400" y="2767013"/>
            <a:ext cx="7924800" cy="60769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试验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i="1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的每一个可能结果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称为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样本点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407" name="Rectangle 7"/>
          <p:cNvSpPr/>
          <p:nvPr/>
        </p:nvSpPr>
        <p:spPr>
          <a:xfrm>
            <a:off x="914400" y="3767138"/>
            <a:ext cx="741807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抛掷一枚硬币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观察正反面出现的情况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408" name="Object 8"/>
          <p:cNvGraphicFramePr>
            <a:graphicFrameLocks noChangeAspect="1"/>
          </p:cNvGraphicFramePr>
          <p:nvPr/>
        </p:nvGraphicFramePr>
        <p:xfrm>
          <a:off x="5105400" y="4691063"/>
          <a:ext cx="2171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171700" imgH="419100" progId="">
                  <p:embed/>
                </p:oleObj>
              </mc:Choice>
              <mc:Fallback>
                <p:oleObj name="" r:id="rId1" imgW="2171700" imgH="41910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05400" y="4691063"/>
                        <a:ext cx="21717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13" name="Picture 13" descr="yb1"/>
          <p:cNvPicPr>
            <a:picLocks noChangeAspect="1"/>
          </p:cNvPicPr>
          <p:nvPr/>
        </p:nvPicPr>
        <p:blipFill>
          <a:blip r:embed="rId3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  <a:lum contrast="54000"/>
          </a:blip>
          <a:stretch>
            <a:fillRect/>
          </a:stretch>
        </p:blipFill>
        <p:spPr>
          <a:xfrm>
            <a:off x="3276600" y="4529138"/>
            <a:ext cx="762000" cy="742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14" name="Picture 14" descr="yb3"/>
          <p:cNvPicPr>
            <a:picLocks noChangeAspect="1"/>
          </p:cNvPicPr>
          <p:nvPr/>
        </p:nvPicPr>
        <p:blipFill>
          <a:blip r:embed="rId4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9800" y="4529138"/>
            <a:ext cx="838200" cy="760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8" name="Rectangle 16"/>
          <p:cNvSpPr/>
          <p:nvPr>
            <p:ph type="title" idx="4294967295"/>
          </p:nvPr>
        </p:nvSpPr>
        <p:spPr>
          <a:xfrm>
            <a:off x="0" y="548640"/>
            <a:ext cx="9126220" cy="706755"/>
          </a:xfrm>
          <a:ln w="12700"/>
        </p:spPr>
        <p:txBody>
          <a:bodyPr vert="horz" wrap="square" lIns="91440" tIns="45720" rIns="91440" bIns="4572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</a:rPr>
              <a:t>一、样本空间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</a:rPr>
              <a:t>和样本点                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</a:endParaRPr>
          </a:p>
        </p:txBody>
      </p:sp>
      <p:sp>
        <p:nvSpPr>
          <p:cNvPr id="15369" name="TextBox 12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/>
      <p:bldP spid="102405" grpId="0"/>
      <p:bldP spid="10240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6386" name="Rectangle 2053"/>
          <p:cNvSpPr/>
          <p:nvPr/>
        </p:nvSpPr>
        <p:spPr>
          <a:xfrm>
            <a:off x="857250" y="762000"/>
            <a:ext cx="64833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抛掷一枚骰子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观察出现的点数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9878" name="Object 2054"/>
          <p:cNvGraphicFramePr>
            <a:graphicFrameLocks noChangeAspect="1"/>
          </p:cNvGraphicFramePr>
          <p:nvPr/>
        </p:nvGraphicFramePr>
        <p:xfrm>
          <a:off x="3060700" y="2438400"/>
          <a:ext cx="3022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022600" imgH="419100" progId="">
                  <p:embed/>
                </p:oleObj>
              </mc:Choice>
              <mc:Fallback>
                <p:oleObj name="" r:id="rId1" imgW="3022600" imgH="41910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60700" y="2438400"/>
                        <a:ext cx="30226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9" name="Rectangle 2055"/>
          <p:cNvSpPr/>
          <p:nvPr/>
        </p:nvSpPr>
        <p:spPr>
          <a:xfrm>
            <a:off x="857250" y="2971800"/>
            <a:ext cx="8107363" cy="121094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从一批产品中</a:t>
            </a:r>
            <a:r>
              <a:rPr lang="zh-CN" altLang="en-US" sz="2800" b="1" u="sng" dirty="0">
                <a:latin typeface="Times New Roman" panose="02020603050405020304" pitchFamily="18" charset="0"/>
              </a:rPr>
              <a:t>依次</a:t>
            </a:r>
            <a:r>
              <a:rPr lang="zh-CN" altLang="en-US" sz="2800" b="1" dirty="0">
                <a:latin typeface="Times New Roman" panose="02020603050405020304" pitchFamily="18" charset="0"/>
              </a:rPr>
              <a:t>任选三件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记录出现正品   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与次品的情况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9880" name="Object 2056"/>
          <p:cNvGraphicFramePr>
            <a:graphicFrameLocks noChangeAspect="1"/>
          </p:cNvGraphicFramePr>
          <p:nvPr/>
        </p:nvGraphicFramePr>
        <p:xfrm>
          <a:off x="2209800" y="5029200"/>
          <a:ext cx="61436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5397500" imgH="977900" progId="">
                  <p:embed/>
                </p:oleObj>
              </mc:Choice>
              <mc:Fallback>
                <p:oleObj name="" r:id="rId3" imgW="5397500" imgH="977900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9800" y="5029200"/>
                        <a:ext cx="6143625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1" name="Object 2057"/>
          <p:cNvGraphicFramePr>
            <a:graphicFrameLocks noChangeAspect="1"/>
          </p:cNvGraphicFramePr>
          <p:nvPr/>
        </p:nvGraphicFramePr>
        <p:xfrm>
          <a:off x="2182813" y="4343400"/>
          <a:ext cx="4229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4229100" imgH="431800" progId="">
                  <p:embed/>
                </p:oleObj>
              </mc:Choice>
              <mc:Fallback>
                <p:oleObj name="" r:id="rId5" imgW="4229100" imgH="43180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82813" y="4343400"/>
                        <a:ext cx="4229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9882" name="Picture 2058" descr="骰子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8550" y="1524000"/>
            <a:ext cx="4406900" cy="639763"/>
          </a:xfrm>
          <a:prstGeom prst="rect">
            <a:avLst/>
          </a:prstGeom>
          <a:solidFill>
            <a:srgbClr val="993366"/>
          </a:solidFill>
          <a:ln w="9525">
            <a:noFill/>
          </a:ln>
        </p:spPr>
      </p:pic>
      <p:sp>
        <p:nvSpPr>
          <p:cNvPr id="15369" name="TextBox 12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7410" name="Rectangle 2"/>
          <p:cNvSpPr/>
          <p:nvPr/>
        </p:nvSpPr>
        <p:spPr>
          <a:xfrm>
            <a:off x="857250" y="658813"/>
            <a:ext cx="4648835" cy="121094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记录公共汽车站上午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某时刻的等车人数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0899" name="Object 3"/>
          <p:cNvGraphicFramePr>
            <a:graphicFrameLocks noChangeAspect="1"/>
          </p:cNvGraphicFramePr>
          <p:nvPr/>
        </p:nvGraphicFramePr>
        <p:xfrm>
          <a:off x="2209800" y="2133600"/>
          <a:ext cx="247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2476500" imgH="419100" progId="">
                  <p:embed/>
                </p:oleObj>
              </mc:Choice>
              <mc:Fallback>
                <p:oleObj name="" r:id="rId1" imgW="2476500" imgH="419100" progId="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9800" y="2133600"/>
                        <a:ext cx="24765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0" name="Rectangle 4"/>
          <p:cNvSpPr/>
          <p:nvPr/>
        </p:nvSpPr>
        <p:spPr>
          <a:xfrm>
            <a:off x="857250" y="3048000"/>
            <a:ext cx="5181600" cy="121094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考察某地区 </a:t>
            </a:r>
            <a:r>
              <a:rPr lang="en-US" altLang="zh-CN" sz="2800" b="1" dirty="0"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latin typeface="Times New Roman" panose="02020603050405020304" pitchFamily="18" charset="0"/>
              </a:rPr>
              <a:t>月份的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平均气温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0901" name="Object 5"/>
          <p:cNvGraphicFramePr>
            <a:graphicFrameLocks noChangeAspect="1"/>
          </p:cNvGraphicFramePr>
          <p:nvPr/>
        </p:nvGraphicFramePr>
        <p:xfrm>
          <a:off x="2209800" y="4419600"/>
          <a:ext cx="2781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2781300" imgH="444500" progId="">
                  <p:embed/>
                </p:oleObj>
              </mc:Choice>
              <mc:Fallback>
                <p:oleObj name="" r:id="rId3" imgW="2781300" imgH="444500" progId="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9800" y="4419600"/>
                        <a:ext cx="27813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2" name="Object 6"/>
          <p:cNvGraphicFramePr>
            <a:graphicFrameLocks noChangeAspect="1"/>
          </p:cNvGraphicFramePr>
          <p:nvPr/>
        </p:nvGraphicFramePr>
        <p:xfrm>
          <a:off x="933450" y="5181600"/>
          <a:ext cx="3022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3022600" imgH="444500" progId="">
                  <p:embed/>
                </p:oleObj>
              </mc:Choice>
              <mc:Fallback>
                <p:oleObj name="" r:id="rId5" imgW="3022600" imgH="444500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3450" y="5181600"/>
                        <a:ext cx="30226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0915" name="Picture 19" descr="BD20663_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3716338"/>
            <a:ext cx="1600200" cy="1390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6" name="Picture 23" descr="双层车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838200"/>
            <a:ext cx="2209800" cy="160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9" name="TextBox 12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8434" name="Rectangle 2"/>
          <p:cNvSpPr/>
          <p:nvPr/>
        </p:nvSpPr>
        <p:spPr>
          <a:xfrm>
            <a:off x="869950" y="658813"/>
            <a:ext cx="3933825" cy="121094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从一批灯泡中任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取一只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测试其寿命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1859" name="Object 3"/>
          <p:cNvGraphicFramePr>
            <a:graphicFrameLocks noChangeAspect="1"/>
          </p:cNvGraphicFramePr>
          <p:nvPr/>
        </p:nvGraphicFramePr>
        <p:xfrm>
          <a:off x="1724025" y="2057400"/>
          <a:ext cx="226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260600" imgH="444500" progId="">
                  <p:embed/>
                </p:oleObj>
              </mc:Choice>
              <mc:Fallback>
                <p:oleObj name="" r:id="rId1" imgW="2260600" imgH="444500" progId="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24025" y="2057400"/>
                        <a:ext cx="22606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0" name="Object 4"/>
          <p:cNvGraphicFramePr>
            <a:graphicFrameLocks noChangeAspect="1"/>
          </p:cNvGraphicFramePr>
          <p:nvPr/>
        </p:nvGraphicFramePr>
        <p:xfrm>
          <a:off x="944563" y="2743200"/>
          <a:ext cx="334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3340100" imgH="431800" progId="">
                  <p:embed/>
                </p:oleObj>
              </mc:Choice>
              <mc:Fallback>
                <p:oleObj name="" r:id="rId3" imgW="3340100" imgH="431800" progId="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4563" y="2743200"/>
                        <a:ext cx="3340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7" name="Group 6"/>
          <p:cNvGrpSpPr/>
          <p:nvPr/>
        </p:nvGrpSpPr>
        <p:grpSpPr>
          <a:xfrm>
            <a:off x="5607050" y="1268413"/>
            <a:ext cx="1447800" cy="1371600"/>
            <a:chOff x="4224" y="2448"/>
            <a:chExt cx="977" cy="925"/>
          </a:xfrm>
        </p:grpSpPr>
        <p:graphicFrame>
          <p:nvGraphicFramePr>
            <p:cNvPr id="18445" name="Object 7"/>
            <p:cNvGraphicFramePr>
              <a:graphicFrameLocks noChangeAspect="1"/>
            </p:cNvGraphicFramePr>
            <p:nvPr/>
          </p:nvGraphicFramePr>
          <p:xfrm flipH="1">
            <a:off x="4224" y="2448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5" imgW="2478405" imgH="4460875" progId="MS_ClipArt_Gallery.5">
                    <p:embed/>
                  </p:oleObj>
                </mc:Choice>
                <mc:Fallback>
                  <p:oleObj name="" r:id="rId5" imgW="2478405" imgH="4460875" progId="MS_ClipArt_Gallery.5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 flipH="1">
                          <a:off x="4224" y="2448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6" name="Object 8"/>
            <p:cNvGraphicFramePr>
              <a:graphicFrameLocks noChangeAspect="1"/>
            </p:cNvGraphicFramePr>
            <p:nvPr/>
          </p:nvGraphicFramePr>
          <p:xfrm flipH="1">
            <a:off x="4464" y="2736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7" imgW="2478405" imgH="4460875" progId="MS_ClipArt_Gallery.5">
                    <p:embed/>
                  </p:oleObj>
                </mc:Choice>
                <mc:Fallback>
                  <p:oleObj name="" r:id="rId7" imgW="2478405" imgH="4460875" progId="MS_ClipArt_Gallery.5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 flipH="1">
                          <a:off x="4464" y="2736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7" name="Object 9"/>
            <p:cNvGraphicFramePr>
              <a:graphicFrameLocks noChangeAspect="1"/>
            </p:cNvGraphicFramePr>
            <p:nvPr/>
          </p:nvGraphicFramePr>
          <p:xfrm flipH="1">
            <a:off x="4560" y="2496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8" imgW="2478405" imgH="4460875" progId="MS_ClipArt_Gallery.5">
                    <p:embed/>
                  </p:oleObj>
                </mc:Choice>
                <mc:Fallback>
                  <p:oleObj name="" r:id="rId8" imgW="2478405" imgH="4460875" progId="MS_ClipArt_Gallery.5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 flipH="1">
                          <a:off x="4560" y="2496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8" name="Object 10"/>
            <p:cNvGraphicFramePr>
              <a:graphicFrameLocks noChangeAspect="1"/>
            </p:cNvGraphicFramePr>
            <p:nvPr/>
          </p:nvGraphicFramePr>
          <p:xfrm flipH="1">
            <a:off x="4848" y="2496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9" imgW="2478405" imgH="4460875" progId="MS_ClipArt_Gallery.5">
                    <p:embed/>
                  </p:oleObj>
                </mc:Choice>
                <mc:Fallback>
                  <p:oleObj name="" r:id="rId9" imgW="2478405" imgH="4460875" progId="MS_ClipArt_Gallery.5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 flipH="1">
                          <a:off x="4848" y="2496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9" name="Object 11"/>
            <p:cNvGraphicFramePr>
              <a:graphicFrameLocks noChangeAspect="1"/>
            </p:cNvGraphicFramePr>
            <p:nvPr/>
          </p:nvGraphicFramePr>
          <p:xfrm flipH="1">
            <a:off x="4848" y="2688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0" imgW="2490470" imgH="4513580" progId="MS_ClipArt_Gallery.5">
                    <p:embed/>
                  </p:oleObj>
                </mc:Choice>
                <mc:Fallback>
                  <p:oleObj name="" r:id="rId10" imgW="2490470" imgH="4513580" progId="MS_ClipArt_Gallery.5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  <a:clrChange>
                            <a:clrFrom>
                              <a:srgbClr val="404040"/>
                            </a:clrFrom>
                            <a:clrTo>
                              <a:srgbClr val="404040"/>
                            </a:clrTo>
                          </a:clrChange>
                          <a:clrChange>
                            <a:clrFrom>
                              <a:srgbClr val="808080"/>
                            </a:clrFrom>
                            <a:clrTo>
                              <a:srgbClr val="808080"/>
                            </a:clrTo>
                          </a:clrChange>
                          <a:clrChange>
                            <a:clrFrom>
                              <a:srgbClr val="A0A0A0"/>
                            </a:clrFrom>
                            <a:clrTo>
                              <a:srgbClr val="A0A0A0"/>
                            </a:clrTo>
                          </a:clrChange>
                          <a:lum contrast="1999"/>
                        </a:blip>
                        <a:stretch>
                          <a:fillRect/>
                        </a:stretch>
                      </p:blipFill>
                      <p:spPr>
                        <a:xfrm flipH="1">
                          <a:off x="4848" y="2688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1868" name="Rectangle 12"/>
          <p:cNvSpPr/>
          <p:nvPr/>
        </p:nvSpPr>
        <p:spPr>
          <a:xfrm>
            <a:off x="869950" y="3276600"/>
            <a:ext cx="3844925" cy="17703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</a:rPr>
              <a:t>记录某城市</a:t>
            </a:r>
            <a:r>
              <a:rPr lang="en-US" altLang="zh-CN" sz="2800" b="1" dirty="0">
                <a:latin typeface="Times New Roman" panose="02020603050405020304" pitchFamily="18" charset="0"/>
              </a:rPr>
              <a:t>120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急救电话台一昼夜接到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的呼叫次数</a:t>
            </a:r>
            <a:r>
              <a:rPr lang="en-US" altLang="zh-CN" sz="2800" b="1" dirty="0">
                <a:latin typeface="宋体" panose="02010600030101010101" pitchFamily="2" charset="-122"/>
              </a:rPr>
              <a:t>.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pic>
        <p:nvPicPr>
          <p:cNvPr id="121869" name="Picture 13" descr="BD07153_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8625" y="3657600"/>
            <a:ext cx="1646238" cy="180181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1873" name="Object 17"/>
          <p:cNvGraphicFramePr>
            <a:graphicFrameLocks noChangeAspect="1"/>
          </p:cNvGraphicFramePr>
          <p:nvPr/>
        </p:nvGraphicFramePr>
        <p:xfrm>
          <a:off x="1539875" y="5257800"/>
          <a:ext cx="26082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3" imgW="2679700" imgH="419100" progId="">
                  <p:embed/>
                </p:oleObj>
              </mc:Choice>
              <mc:Fallback>
                <p:oleObj name="" r:id="rId13" imgW="2679700" imgH="419100" progId="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39875" y="5257800"/>
                        <a:ext cx="2608263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/>
          <p:cNvSpPr/>
          <p:nvPr/>
        </p:nvSpPr>
        <p:spPr bwMode="auto">
          <a:xfrm>
            <a:off x="6110059" y="1340768"/>
            <a:ext cx="523105" cy="658813"/>
          </a:xfrm>
          <a:prstGeom prst="ellipse">
            <a:avLst/>
          </a:prstGeom>
          <a:solidFill>
            <a:srgbClr val="FFFF00">
              <a:alpha val="60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glow rad="127000">
              <a:srgbClr val="FFFF00">
                <a:alpha val="40000"/>
              </a:srgbClr>
            </a:glow>
            <a:outerShdw blurRad="50800" dist="50800" dir="5400000" algn="ctr" rotWithShape="0">
              <a:srgbClr val="FFFF00"/>
            </a:outerShdw>
            <a:softEdge rad="0"/>
          </a:effec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9" name="TextBox 12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822325" y="4197350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000FF"/>
                </a:solidFill>
                <a:latin typeface="+mj-ea"/>
                <a:ea typeface="+mj-ea"/>
                <a:cs typeface="+mn-cs"/>
              </a:rPr>
              <a:t>答案</a:t>
            </a:r>
            <a:endParaRPr kumimoji="1" lang="zh-CN" altLang="en-US" sz="2800" b="1" kern="1200" cap="none" spc="0" normalizeH="0" baseline="0" noProof="0" dirty="0">
              <a:solidFill>
                <a:srgbClr val="0000FF"/>
              </a:solidFill>
              <a:latin typeface="+mj-ea"/>
              <a:ea typeface="+mj-ea"/>
              <a:cs typeface="+mn-cs"/>
            </a:endParaRPr>
          </a:p>
        </p:txBody>
      </p:sp>
      <p:graphicFrame>
        <p:nvGraphicFramePr>
          <p:cNvPr id="116739" name="Object 3"/>
          <p:cNvGraphicFramePr>
            <a:graphicFrameLocks noChangeAspect="1"/>
          </p:cNvGraphicFramePr>
          <p:nvPr/>
        </p:nvGraphicFramePr>
        <p:xfrm>
          <a:off x="971550" y="4953000"/>
          <a:ext cx="35575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3213100" imgH="381000" progId="">
                  <p:embed/>
                </p:oleObj>
              </mc:Choice>
              <mc:Fallback>
                <p:oleObj name="" r:id="rId1" imgW="3213100" imgH="381000" progId="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4953000"/>
                        <a:ext cx="3557588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0" name="Object 4"/>
          <p:cNvGraphicFramePr>
            <a:graphicFrameLocks noChangeAspect="1"/>
          </p:cNvGraphicFramePr>
          <p:nvPr/>
        </p:nvGraphicFramePr>
        <p:xfrm>
          <a:off x="955675" y="5568950"/>
          <a:ext cx="35575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3175000" imgH="381000" progId="">
                  <p:embed/>
                </p:oleObj>
              </mc:Choice>
              <mc:Fallback>
                <p:oleObj name="" r:id="rId3" imgW="3175000" imgH="381000" progId="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5675" y="5568950"/>
                        <a:ext cx="3557588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4" name="Rectangle 8"/>
          <p:cNvSpPr/>
          <p:nvPr/>
        </p:nvSpPr>
        <p:spPr>
          <a:xfrm>
            <a:off x="838200" y="1698625"/>
            <a:ext cx="491934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写出下列随机试验的样本空间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6745" name="Text Box 9"/>
          <p:cNvSpPr txBox="1"/>
          <p:nvPr/>
        </p:nvSpPr>
        <p:spPr>
          <a:xfrm>
            <a:off x="900113" y="2362200"/>
            <a:ext cx="732917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latin typeface="Times New Roman" panose="02020603050405020304" pitchFamily="18" charset="0"/>
              </a:rPr>
              <a:t>同时掷三颗骰子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记录三颗骰子的点数之和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6746" name="Text Box 10"/>
          <p:cNvSpPr txBox="1"/>
          <p:nvPr/>
        </p:nvSpPr>
        <p:spPr>
          <a:xfrm>
            <a:off x="900113" y="2971800"/>
            <a:ext cx="7236460" cy="9956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1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2.  </a:t>
            </a:r>
            <a:r>
              <a:rPr lang="zh-CN" altLang="en-US" sz="2800" b="1" dirty="0">
                <a:latin typeface="Times New Roman" panose="02020603050405020304" pitchFamily="18" charset="0"/>
              </a:rPr>
              <a:t>生产某产品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直到得到</a:t>
            </a:r>
            <a:r>
              <a:rPr lang="en-US" altLang="zh-CN" sz="2800" b="1" dirty="0">
                <a:latin typeface="Times New Roman" panose="02020603050405020304" pitchFamily="18" charset="0"/>
              </a:rPr>
              <a:t> 10 </a:t>
            </a:r>
            <a:r>
              <a:rPr lang="zh-CN" altLang="en-US" sz="2800" b="1" dirty="0">
                <a:latin typeface="Times New Roman" panose="02020603050405020304" pitchFamily="18" charset="0"/>
              </a:rPr>
              <a:t>件正品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记录产品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   的总件数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9464" name="Text Box 11"/>
          <p:cNvSpPr txBox="1"/>
          <p:nvPr/>
        </p:nvSpPr>
        <p:spPr>
          <a:xfrm>
            <a:off x="822325" y="914400"/>
            <a:ext cx="181610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课堂练习</a:t>
            </a:r>
            <a:endParaRPr lang="zh-CN" altLang="en-US" sz="3200" b="1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TextBox 12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bldLvl="0" animBg="1"/>
      <p:bldP spid="116744" grpId="0"/>
      <p:bldP spid="116745" grpId="0"/>
      <p:bldP spid="1167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3426" name="Rectangle 2"/>
          <p:cNvSpPr/>
          <p:nvPr/>
        </p:nvSpPr>
        <p:spPr>
          <a:xfrm>
            <a:off x="739775" y="1219200"/>
            <a:ext cx="8001000" cy="108140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 2.  </a:t>
            </a:r>
            <a:r>
              <a:rPr lang="zh-CN" altLang="en-US" sz="2800" b="1" dirty="0">
                <a:latin typeface="Times New Roman" panose="02020603050405020304" pitchFamily="18" charset="0"/>
              </a:rPr>
              <a:t>同一试验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若试验目的不同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对应的样本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空间也可能不同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03427" name="Text Box 3"/>
          <p:cNvSpPr txBox="1"/>
          <p:nvPr/>
        </p:nvSpPr>
        <p:spPr>
          <a:xfrm>
            <a:off x="742950" y="2362200"/>
            <a:ext cx="7915275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例如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对于同一试验</a:t>
            </a:r>
            <a:r>
              <a:rPr lang="en-US" altLang="zh-CN" sz="2800" b="1" dirty="0">
                <a:latin typeface="Times New Roman" panose="02020603050405020304" pitchFamily="18" charset="0"/>
              </a:rPr>
              <a:t>: “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</a:rPr>
              <a:t>将一枚硬币抛掷三次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03428" name="Rectangle 4"/>
          <p:cNvSpPr/>
          <p:nvPr/>
        </p:nvSpPr>
        <p:spPr>
          <a:xfrm>
            <a:off x="831850" y="2895600"/>
            <a:ext cx="7696200" cy="121094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若观察正面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</a:t>
            </a:r>
            <a:r>
              <a:rPr lang="zh-CN" altLang="en-US" sz="2800" b="1" dirty="0">
                <a:latin typeface="Times New Roman" panose="02020603050405020304" pitchFamily="18" charset="0"/>
              </a:rPr>
              <a:t>、反面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 </a:t>
            </a:r>
            <a:r>
              <a:rPr lang="zh-CN" altLang="en-US" sz="2800" b="1" dirty="0">
                <a:latin typeface="Times New Roman" panose="02020603050405020304" pitchFamily="18" charset="0"/>
              </a:rPr>
              <a:t>出现的情况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则样本空间为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03435" name="Rectangle 11"/>
          <p:cNvSpPr/>
          <p:nvPr/>
        </p:nvSpPr>
        <p:spPr>
          <a:xfrm>
            <a:off x="831850" y="5029200"/>
            <a:ext cx="61722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若观察出现正面的次数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则样本空间为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3436" name="Object 12"/>
          <p:cNvGraphicFramePr>
            <a:graphicFrameLocks noChangeAspect="1"/>
          </p:cNvGraphicFramePr>
          <p:nvPr/>
        </p:nvGraphicFramePr>
        <p:xfrm>
          <a:off x="3416300" y="5715000"/>
          <a:ext cx="23114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2374900" imgH="393700" progId="">
                  <p:embed/>
                </p:oleObj>
              </mc:Choice>
              <mc:Fallback>
                <p:oleObj name="" r:id="rId1" imgW="2374900" imgH="393700" progId="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16300" y="5715000"/>
                        <a:ext cx="2311400" cy="382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7" name="Object 13"/>
          <p:cNvGraphicFramePr>
            <a:graphicFrameLocks noChangeAspect="1"/>
          </p:cNvGraphicFramePr>
          <p:nvPr/>
        </p:nvGraphicFramePr>
        <p:xfrm>
          <a:off x="1995488" y="3962400"/>
          <a:ext cx="51530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4749800" imgH="927100" progId="">
                  <p:embed/>
                </p:oleObj>
              </mc:Choice>
              <mc:Fallback>
                <p:oleObj name="" r:id="rId3" imgW="4749800" imgH="927100" progId="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5488" y="3962400"/>
                        <a:ext cx="5153025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Text Box 14"/>
          <p:cNvSpPr txBox="1"/>
          <p:nvPr/>
        </p:nvSpPr>
        <p:spPr>
          <a:xfrm>
            <a:off x="817563" y="762000"/>
            <a:ext cx="732726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lang="zh-CN" altLang="en-US" sz="2800" b="1" dirty="0">
                <a:latin typeface="Times New Roman" panose="02020603050405020304" pitchFamily="18" charset="0"/>
              </a:rPr>
              <a:t>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latin typeface="Times New Roman" panose="02020603050405020304" pitchFamily="18" charset="0"/>
              </a:rPr>
              <a:t>试验不同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对应的样本空间一般不同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15369" name="TextBox 12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/>
      <p:bldP spid="103427" grpId="0"/>
      <p:bldP spid="103428" grpId="0"/>
      <p:bldP spid="1034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1506" name="Rectangle 1026"/>
          <p:cNvSpPr/>
          <p:nvPr/>
        </p:nvSpPr>
        <p:spPr>
          <a:xfrm>
            <a:off x="914400" y="663575"/>
            <a:ext cx="7594600" cy="183578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3. </a:t>
            </a:r>
            <a:r>
              <a:rPr lang="zh-CN" altLang="en-US" sz="2800" b="1" dirty="0">
                <a:latin typeface="Times New Roman" panose="02020603050405020304" pitchFamily="18" charset="0"/>
              </a:rPr>
              <a:t>建立样本空间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实际上就是建立随现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象的数学模型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r>
              <a:rPr lang="zh-CN" altLang="en-US" sz="2800" b="1" dirty="0">
                <a:latin typeface="Times New Roman" panose="02020603050405020304" pitchFamily="18" charset="0"/>
              </a:rPr>
              <a:t>因此 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一个样本空间可以对应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截然不同的实际问题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1923" name="Text Box 1027"/>
          <p:cNvSpPr txBox="1"/>
          <p:nvPr/>
        </p:nvSpPr>
        <p:spPr>
          <a:xfrm>
            <a:off x="914400" y="2590800"/>
            <a:ext cx="67056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例如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只包含两个样本点的样本空间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81925" name="Text Box 1029"/>
          <p:cNvSpPr txBox="1"/>
          <p:nvPr/>
        </p:nvSpPr>
        <p:spPr>
          <a:xfrm>
            <a:off x="914400" y="3668713"/>
            <a:ext cx="7510780" cy="241744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它既可以作为抛掷硬币出现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正面</a:t>
            </a:r>
            <a:r>
              <a:rPr lang="zh-CN" altLang="en-US" sz="2800" b="1" dirty="0">
                <a:latin typeface="Times New Roman" panose="02020603050405020304" pitchFamily="18" charset="0"/>
              </a:rPr>
              <a:t>或出现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反面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模型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也可以作为产品检验中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与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的模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型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又可以作为排队现象中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有人排队</a:t>
            </a:r>
            <a:r>
              <a:rPr lang="zh-CN" altLang="en-US" sz="2800" b="1" dirty="0">
                <a:latin typeface="Times New Roman" panose="02020603050405020304" pitchFamily="18" charset="0"/>
              </a:rPr>
              <a:t>与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无人排队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的模型等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1938" name="Object 1042"/>
          <p:cNvGraphicFramePr>
            <a:graphicFrameLocks noChangeAspect="1"/>
          </p:cNvGraphicFramePr>
          <p:nvPr/>
        </p:nvGraphicFramePr>
        <p:xfrm>
          <a:off x="3746500" y="3276600"/>
          <a:ext cx="165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1644015" imgH="360045" progId="">
                  <p:embed/>
                </p:oleObj>
              </mc:Choice>
              <mc:Fallback>
                <p:oleObj name="" r:id="rId1" imgW="1644015" imgH="360045" progId="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46500" y="3276600"/>
                        <a:ext cx="1651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extBox 12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charRg st="21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25">
                                            <p:txEl>
                                              <p:charRg st="21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charRg st="44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25">
                                            <p:txEl>
                                              <p:charRg st="44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charRg st="67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1925">
                                            <p:txEl>
                                              <p:charRg st="67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2530" name="Picture 3" descr="BD07087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500" y="2514600"/>
            <a:ext cx="2895600" cy="2570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1" name="Rectangle 6"/>
          <p:cNvSpPr/>
          <p:nvPr/>
        </p:nvSpPr>
        <p:spPr>
          <a:xfrm>
            <a:off x="3065463" y="1828800"/>
            <a:ext cx="4648200" cy="2209800"/>
          </a:xfrm>
          <a:prstGeom prst="rect">
            <a:avLst/>
          </a:prstGeom>
          <a:solidFill>
            <a:srgbClr val="003399"/>
          </a:solidFill>
          <a:ln w="28575" cap="flat" cmpd="sng">
            <a:solidFill>
              <a:srgbClr val="FFFF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82880" tIns="365760" anchor="ctr" anchorCtr="0"/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在具体问题的研究中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endParaRPr lang="en-US" altLang="zh-CN" sz="2800" b="1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描述随机现象的第一步就是</a:t>
            </a:r>
            <a:endParaRPr lang="en-US" altLang="zh-CN" sz="28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建立样本空间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endParaRPr lang="en-US" altLang="zh-CN" sz="2800" b="1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/>
            <a:endParaRPr lang="en-US" altLang="zh-CN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5369" name="TextBox 12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5778" name="Rectangle 2"/>
          <p:cNvSpPr/>
          <p:nvPr/>
        </p:nvSpPr>
        <p:spPr>
          <a:xfrm>
            <a:off x="914400" y="2276475"/>
            <a:ext cx="7761288" cy="12325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lnSpc>
                <a:spcPct val="125000"/>
              </a:lnSpc>
              <a:spcBef>
                <a:spcPct val="15000"/>
              </a:spcBef>
            </a:pP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随机事件</a:t>
            </a:r>
            <a:r>
              <a:rPr lang="zh-CN" altLang="en-US" sz="2800" b="1" dirty="0">
                <a:latin typeface="Times New Roman" panose="02020603050405020304" pitchFamily="18" charset="0"/>
              </a:rPr>
              <a:t>  随机试验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的样本空间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的子集称为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1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随机事件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简称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事件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5787" name="Rectangle 11"/>
          <p:cNvSpPr/>
          <p:nvPr/>
        </p:nvSpPr>
        <p:spPr>
          <a:xfrm>
            <a:off x="903288" y="4495800"/>
            <a:ext cx="794766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试验中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出现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出现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… ,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出现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5788" name="Text Box 12"/>
          <p:cNvSpPr txBox="1"/>
          <p:nvPr/>
        </p:nvSpPr>
        <p:spPr>
          <a:xfrm>
            <a:off x="974725" y="5257800"/>
            <a:ext cx="786257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点数不大于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</a:rPr>
              <a:t>”, 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点数为偶数</a:t>
            </a:r>
            <a:r>
              <a:rPr lang="zh-CN" altLang="en-US" sz="2800" b="1" dirty="0">
                <a:latin typeface="Times New Roman" panose="02020603050405020304" pitchFamily="18" charset="0"/>
              </a:rPr>
              <a:t>”等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都为随机事件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38200" y="3657600"/>
            <a:ext cx="6084888" cy="519113"/>
            <a:chOff x="838200" y="3657600"/>
            <a:chExt cx="6084888" cy="519113"/>
          </a:xfrm>
        </p:grpSpPr>
        <p:sp>
          <p:nvSpPr>
            <p:cNvPr id="23562" name="Text Box 3"/>
            <p:cNvSpPr txBox="1"/>
            <p:nvPr/>
          </p:nvSpPr>
          <p:spPr>
            <a:xfrm>
              <a:off x="838200" y="3657600"/>
              <a:ext cx="1254125" cy="5191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实例</a:t>
              </a: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563" name="Rectangle 10"/>
            <p:cNvSpPr/>
            <p:nvPr/>
          </p:nvSpPr>
          <p:spPr>
            <a:xfrm>
              <a:off x="1828800" y="3657600"/>
              <a:ext cx="5094288" cy="5191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抛掷一枚骰子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观察出现的点数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pic>
        <p:nvPicPr>
          <p:cNvPr id="3" name="Picture 16" descr="4点1"/>
          <p:cNvPicPr>
            <a:picLocks noChangeAspect="1"/>
          </p:cNvPicPr>
          <p:nvPr/>
        </p:nvPicPr>
        <p:blipFill>
          <a:blip r:embed="rId1">
            <a:clrChange>
              <a:clrFrom>
                <a:srgbClr val="050D60"/>
              </a:clrFrom>
              <a:clrTo>
                <a:srgbClr val="050D6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62800" y="3352800"/>
            <a:ext cx="858838" cy="990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5794" name="Rectangle 18"/>
          <p:cNvSpPr/>
          <p:nvPr/>
        </p:nvSpPr>
        <p:spPr>
          <a:xfrm>
            <a:off x="827088" y="1651000"/>
            <a:ext cx="222250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基本概念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560" name="Rectangle 21"/>
          <p:cNvSpPr/>
          <p:nvPr>
            <p:ph type="title" idx="4294967295"/>
          </p:nvPr>
        </p:nvSpPr>
        <p:spPr>
          <a:xfrm>
            <a:off x="0" y="548640"/>
            <a:ext cx="9129395" cy="706755"/>
          </a:xfrm>
          <a:ln w="12700"/>
        </p:spPr>
        <p:txBody>
          <a:bodyPr vert="horz" wrap="square" lIns="91440" tIns="45720" rIns="91440" bIns="4572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</a:rPr>
              <a:t>二、随机事件的概念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</a:endParaRPr>
          </a:p>
        </p:txBody>
      </p: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87" grpId="0"/>
      <p:bldP spid="75788" grpId="0"/>
      <p:bldP spid="7579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2946" name="Rectangle 2"/>
          <p:cNvSpPr/>
          <p:nvPr/>
        </p:nvSpPr>
        <p:spPr>
          <a:xfrm>
            <a:off x="914400" y="2819400"/>
            <a:ext cx="750697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实例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上述试验中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点数不大于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latin typeface="Times New Roman" panose="02020603050405020304" pitchFamily="18" charset="0"/>
              </a:rPr>
              <a:t>”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为必然事件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2948" name="Rectangle 4"/>
          <p:cNvSpPr/>
          <p:nvPr/>
        </p:nvSpPr>
        <p:spPr>
          <a:xfrm>
            <a:off x="914400" y="2133600"/>
            <a:ext cx="670496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必然事件</a:t>
            </a:r>
            <a:r>
              <a:rPr lang="zh-CN" altLang="en-US" sz="2800" b="1" dirty="0">
                <a:latin typeface="Times New Roman" panose="02020603050405020304" pitchFamily="18" charset="0"/>
              </a:rPr>
              <a:t>    随机试验中必然会出现的结果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2949" name="Rectangle 5"/>
          <p:cNvSpPr/>
          <p:nvPr/>
        </p:nvSpPr>
        <p:spPr>
          <a:xfrm>
            <a:off x="914400" y="3505200"/>
            <a:ext cx="706247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不可能事件</a:t>
            </a:r>
            <a:r>
              <a:rPr lang="zh-CN" altLang="en-US" sz="2800" b="1" dirty="0">
                <a:latin typeface="Times New Roman" panose="02020603050405020304" pitchFamily="18" charset="0"/>
              </a:rPr>
              <a:t>   随机试验中不可能出现的结果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2951" name="Rectangle 7"/>
          <p:cNvSpPr/>
          <p:nvPr/>
        </p:nvSpPr>
        <p:spPr>
          <a:xfrm>
            <a:off x="914400" y="4114800"/>
            <a:ext cx="750697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实例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上述试验中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点数大于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latin typeface="Times New Roman" panose="02020603050405020304" pitchFamily="18" charset="0"/>
              </a:rPr>
              <a:t>”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为不可能事件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2957" name="Rectangle 13"/>
          <p:cNvSpPr/>
          <p:nvPr/>
        </p:nvSpPr>
        <p:spPr>
          <a:xfrm>
            <a:off x="914400" y="1447800"/>
            <a:ext cx="785685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实例</a:t>
            </a:r>
            <a:r>
              <a:rPr lang="zh-CN" altLang="en-US" sz="2800" b="1" dirty="0">
                <a:latin typeface="Times New Roman" panose="02020603050405020304" pitchFamily="18" charset="0"/>
              </a:rPr>
              <a:t> 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出现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</a:rPr>
              <a:t>, 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出现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</a:rPr>
              <a:t>,  … ,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出现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4583" name="Rectangle 14"/>
          <p:cNvSpPr/>
          <p:nvPr/>
        </p:nvSpPr>
        <p:spPr>
          <a:xfrm>
            <a:off x="914400" y="762000"/>
            <a:ext cx="634746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基本事件</a:t>
            </a:r>
            <a:r>
              <a:rPr lang="zh-CN" altLang="en-US" sz="2800" b="1" dirty="0">
                <a:latin typeface="Times New Roman" panose="02020603050405020304" pitchFamily="18" charset="0"/>
              </a:rPr>
              <a:t>    由一个样本点组成的单点集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8" grpId="0"/>
      <p:bldP spid="82949" grpId="0"/>
      <p:bldP spid="82951" grpId="0"/>
      <p:bldP spid="8295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5602" name="Text Box 2"/>
          <p:cNvSpPr txBox="1"/>
          <p:nvPr/>
        </p:nvSpPr>
        <p:spPr>
          <a:xfrm>
            <a:off x="914400" y="1066800"/>
            <a:ext cx="24384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几点说明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9813" name="Rectangle 5"/>
          <p:cNvSpPr/>
          <p:nvPr/>
        </p:nvSpPr>
        <p:spPr>
          <a:xfrm>
            <a:off x="914400" y="3276600"/>
            <a:ext cx="7329488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例如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抛掷一枚骰子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观察出现的点数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可设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9814" name="Rectangle 6"/>
          <p:cNvSpPr/>
          <p:nvPr/>
        </p:nvSpPr>
        <p:spPr>
          <a:xfrm>
            <a:off x="2843213" y="3962400"/>
            <a:ext cx="51054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</a:rPr>
              <a:t>  A </a:t>
            </a:r>
            <a:r>
              <a:rPr lang="en-US" altLang="zh-CN" sz="2800" b="1" dirty="0">
                <a:latin typeface="Times New Roman" panose="02020603050405020304" pitchFamily="18" charset="0"/>
              </a:rPr>
              <a:t>=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点数不大于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</a:rPr>
              <a:t>”,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9815" name="Text Box 7"/>
          <p:cNvSpPr txBox="1"/>
          <p:nvPr/>
        </p:nvSpPr>
        <p:spPr>
          <a:xfrm>
            <a:off x="2843213" y="4648200"/>
            <a:ext cx="4678362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latin typeface="Times New Roman" panose="02020603050405020304" pitchFamily="18" charset="0"/>
              </a:rPr>
              <a:t>=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点数为奇数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19817" name="Group 9"/>
          <p:cNvGrpSpPr/>
          <p:nvPr/>
        </p:nvGrpSpPr>
        <p:grpSpPr>
          <a:xfrm>
            <a:off x="914400" y="1752600"/>
            <a:ext cx="7696200" cy="1190625"/>
            <a:chOff x="576" y="1104"/>
            <a:chExt cx="4848" cy="750"/>
          </a:xfrm>
        </p:grpSpPr>
        <p:sp>
          <p:nvSpPr>
            <p:cNvPr id="25609" name="Rectangle 3"/>
            <p:cNvSpPr/>
            <p:nvPr/>
          </p:nvSpPr>
          <p:spPr>
            <a:xfrm>
              <a:off x="576" y="1104"/>
              <a:ext cx="4848" cy="75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marL="457200" indent="-457200" eaLnBrk="1" hangingPunct="1">
                <a:lnSpc>
                  <a:spcPct val="135000"/>
                </a:lnSpc>
                <a:buAutoNum type="arabicParenBoth"/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随机事件简称事件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常用大写英文字母 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marL="457200" indent="-457200" eaLnBrk="1" hangingPunct="1">
                <a:lnSpc>
                  <a:spcPct val="135000"/>
                </a:lnSpc>
                <a:buNone/>
              </a:pP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C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  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来表示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. 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10" name="Object 8"/>
            <p:cNvGraphicFramePr>
              <a:graphicFrameLocks noChangeAspect="1"/>
            </p:cNvGraphicFramePr>
            <p:nvPr/>
          </p:nvGraphicFramePr>
          <p:xfrm>
            <a:off x="1536" y="1680"/>
            <a:ext cx="208" cy="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1" imgW="301625" imgH="67945" progId="">
                    <p:embed/>
                  </p:oleObj>
                </mc:Choice>
                <mc:Fallback>
                  <p:oleObj name="" r:id="rId1" imgW="301625" imgH="67945" progId="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36" y="1680"/>
                          <a:ext cx="208" cy="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7"/>
          <p:cNvSpPr txBox="1"/>
          <p:nvPr/>
        </p:nvSpPr>
        <p:spPr>
          <a:xfrm>
            <a:off x="2832100" y="5334000"/>
            <a:ext cx="4678363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                 ...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/>
      <p:bldP spid="119814" grpId="0"/>
      <p:bldP spid="119815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6626" name="Rectangle 14"/>
          <p:cNvSpPr/>
          <p:nvPr/>
        </p:nvSpPr>
        <p:spPr>
          <a:xfrm>
            <a:off x="914400" y="990600"/>
            <a:ext cx="685228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 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随机试验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样本空间与随机事件的关系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77839" name="Rectangle 15"/>
          <p:cNvSpPr/>
          <p:nvPr/>
        </p:nvSpPr>
        <p:spPr>
          <a:xfrm>
            <a:off x="914400" y="1666875"/>
            <a:ext cx="7620000" cy="11684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lang="en-US" altLang="zh-CN" sz="12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每个随机试验对应一个样本空间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样本空间的子集就是随机事件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7841" name="Rectangle 17"/>
          <p:cNvSpPr/>
          <p:nvPr/>
        </p:nvSpPr>
        <p:spPr>
          <a:xfrm>
            <a:off x="914400" y="3124200"/>
            <a:ext cx="161290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随机试验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77842" name="Line 18"/>
          <p:cNvSpPr/>
          <p:nvPr/>
        </p:nvSpPr>
        <p:spPr>
          <a:xfrm>
            <a:off x="2559050" y="3382963"/>
            <a:ext cx="838200" cy="0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triangle" w="sm" len="sm"/>
          </a:ln>
        </p:spPr>
      </p:sp>
      <p:sp>
        <p:nvSpPr>
          <p:cNvPr id="77843" name="Rectangle 19"/>
          <p:cNvSpPr/>
          <p:nvPr/>
        </p:nvSpPr>
        <p:spPr>
          <a:xfrm>
            <a:off x="3387725" y="3124200"/>
            <a:ext cx="161290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样本空间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77853" name="Group 29"/>
          <p:cNvGrpSpPr/>
          <p:nvPr/>
        </p:nvGrpSpPr>
        <p:grpSpPr>
          <a:xfrm>
            <a:off x="5170488" y="2852738"/>
            <a:ext cx="1066800" cy="533400"/>
            <a:chOff x="3408" y="1989"/>
            <a:chExt cx="672" cy="336"/>
          </a:xfrm>
        </p:grpSpPr>
        <p:sp>
          <p:nvSpPr>
            <p:cNvPr id="26641" name="Line 20"/>
            <p:cNvSpPr/>
            <p:nvPr/>
          </p:nvSpPr>
          <p:spPr>
            <a:xfrm>
              <a:off x="3408" y="2325"/>
              <a:ext cx="672" cy="0"/>
            </a:xfrm>
            <a:prstGeom prst="line">
              <a:avLst/>
            </a:prstGeom>
            <a:ln w="38100" cap="sq" cmpd="sng">
              <a:solidFill>
                <a:srgbClr val="FF0000"/>
              </a:solidFill>
              <a:prstDash val="solid"/>
              <a:miter/>
              <a:headEnd type="none" w="sm" len="sm"/>
              <a:tailEnd type="triangle" w="sm" len="sm"/>
            </a:ln>
          </p:spPr>
        </p:sp>
        <p:sp>
          <p:nvSpPr>
            <p:cNvPr id="26642" name="Rectangle 21"/>
            <p:cNvSpPr/>
            <p:nvPr/>
          </p:nvSpPr>
          <p:spPr>
            <a:xfrm>
              <a:off x="3456" y="1989"/>
              <a:ext cx="56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子集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7846" name="Rectangle 22"/>
          <p:cNvSpPr/>
          <p:nvPr/>
        </p:nvSpPr>
        <p:spPr>
          <a:xfrm>
            <a:off x="6343650" y="3124200"/>
            <a:ext cx="161290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随机事件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77857" name="Group 33"/>
          <p:cNvGrpSpPr/>
          <p:nvPr/>
        </p:nvGrpSpPr>
        <p:grpSpPr>
          <a:xfrm>
            <a:off x="5502275" y="4027488"/>
            <a:ext cx="990600" cy="2044700"/>
            <a:chOff x="1920" y="2592"/>
            <a:chExt cx="624" cy="1288"/>
          </a:xfrm>
        </p:grpSpPr>
        <p:sp>
          <p:nvSpPr>
            <p:cNvPr id="26639" name="Text Box 23"/>
            <p:cNvSpPr txBox="1"/>
            <p:nvPr/>
          </p:nvSpPr>
          <p:spPr>
            <a:xfrm>
              <a:off x="1920" y="2765"/>
              <a:ext cx="385" cy="94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随机事件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40" name="Object 24"/>
            <p:cNvGraphicFramePr>
              <a:graphicFrameLocks noChangeAspect="1"/>
            </p:cNvGraphicFramePr>
            <p:nvPr/>
          </p:nvGraphicFramePr>
          <p:xfrm>
            <a:off x="2304" y="2592"/>
            <a:ext cx="240" cy="1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349885" imgH="2052320" progId="">
                    <p:embed/>
                  </p:oleObj>
                </mc:Choice>
                <mc:Fallback>
                  <p:oleObj name="" r:id="rId1" imgW="349885" imgH="2052320" progId="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04" y="2592"/>
                          <a:ext cx="240" cy="1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849" name="Rectangle 25"/>
          <p:cNvSpPr/>
          <p:nvPr/>
        </p:nvSpPr>
        <p:spPr>
          <a:xfrm>
            <a:off x="6343650" y="3860800"/>
            <a:ext cx="161290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基本事件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77850" name="Rectangle 26"/>
          <p:cNvSpPr/>
          <p:nvPr/>
        </p:nvSpPr>
        <p:spPr>
          <a:xfrm>
            <a:off x="6191250" y="5051425"/>
            <a:ext cx="179260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必然事件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77851" name="Rectangle 27"/>
          <p:cNvSpPr/>
          <p:nvPr/>
        </p:nvSpPr>
        <p:spPr>
          <a:xfrm>
            <a:off x="6343650" y="5646738"/>
            <a:ext cx="197040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不可能事件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77852" name="Rectangle 28"/>
          <p:cNvSpPr/>
          <p:nvPr/>
        </p:nvSpPr>
        <p:spPr>
          <a:xfrm>
            <a:off x="6343650" y="4456113"/>
            <a:ext cx="161290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复合事件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9" grpId="0"/>
      <p:bldP spid="77841" grpId="0"/>
      <p:bldP spid="77843" grpId="0"/>
      <p:bldP spid="77846" grpId="0"/>
      <p:bldP spid="77849" grpId="0"/>
      <p:bldP spid="77850" grpId="0"/>
      <p:bldP spid="77851" grpId="0"/>
      <p:bldP spid="778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8854" name="Text Box 6"/>
          <p:cNvSpPr txBox="1"/>
          <p:nvPr/>
        </p:nvSpPr>
        <p:spPr>
          <a:xfrm>
            <a:off x="685800" y="1589088"/>
            <a:ext cx="24384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包含关系</a:t>
            </a:r>
            <a:endParaRPr lang="zh-CN" altLang="en-US" sz="2800" b="1" i="1" dirty="0">
              <a:solidFill>
                <a:srgbClr val="2736F7"/>
              </a:solidFill>
              <a:latin typeface="宋体" panose="02010600030101010101" pitchFamily="2" charset="-122"/>
            </a:endParaRPr>
          </a:p>
        </p:txBody>
      </p:sp>
      <p:sp>
        <p:nvSpPr>
          <p:cNvPr id="78855" name="Text Box 7"/>
          <p:cNvSpPr txBox="1"/>
          <p:nvPr/>
        </p:nvSpPr>
        <p:spPr>
          <a:xfrm>
            <a:off x="2971800" y="1589088"/>
            <a:ext cx="58483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若事件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发生必然导致事件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</a:rPr>
              <a:t>发生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8856" name="Text Box 8"/>
          <p:cNvSpPr txBox="1"/>
          <p:nvPr/>
        </p:nvSpPr>
        <p:spPr>
          <a:xfrm>
            <a:off x="914400" y="2122488"/>
            <a:ext cx="725360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则称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事件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包含事件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记作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华文中宋" panose="02010600040101010101" pitchFamily="2" charset="-122"/>
              </a:rPr>
              <a:t>B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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华文中宋" panose="02010600040101010101" pitchFamily="2" charset="-122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或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华文中宋" panose="02010600040101010101" pitchFamily="2" charset="-122"/>
              </a:rPr>
              <a:t>A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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华文中宋" panose="02010600040101010101" pitchFamily="2" charset="-122"/>
              </a:rPr>
              <a:t>B</a:t>
            </a:r>
            <a:r>
              <a:rPr lang="en-US" altLang="zh-CN" sz="2800" b="1" i="1" dirty="0">
                <a:latin typeface="Times New Roman" panose="02020603050405020304" pitchFamily="18" charset="0"/>
                <a:sym typeface="华文中宋" panose="02010600040101010101" pitchFamily="2" charset="-122"/>
              </a:rPr>
              <a:t>.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78858" name="Text Box 10"/>
          <p:cNvSpPr txBox="1"/>
          <p:nvPr/>
        </p:nvSpPr>
        <p:spPr>
          <a:xfrm>
            <a:off x="914400" y="2852738"/>
            <a:ext cx="75438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长度不合格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”必然导致“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产品不合格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78860" name="Rectangle 12"/>
          <p:cNvSpPr/>
          <p:nvPr/>
        </p:nvSpPr>
        <p:spPr>
          <a:xfrm>
            <a:off x="914400" y="3386138"/>
            <a:ext cx="340042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所以“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产品不合格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78861" name="Rectangle 13"/>
          <p:cNvSpPr/>
          <p:nvPr/>
        </p:nvSpPr>
        <p:spPr>
          <a:xfrm>
            <a:off x="3886200" y="3386138"/>
            <a:ext cx="366712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  包含“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长度不合格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8862" name="Rectangle 14"/>
          <p:cNvSpPr/>
          <p:nvPr/>
        </p:nvSpPr>
        <p:spPr>
          <a:xfrm>
            <a:off x="4095750" y="5703888"/>
            <a:ext cx="94234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  <a:sym typeface="华文中宋" panose="02010600040101010101" pitchFamily="2" charset="-122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 </a:t>
            </a:r>
            <a:r>
              <a:rPr lang="en-US" altLang="zh-CN" b="1" i="1" dirty="0">
                <a:latin typeface="Times New Roman" panose="02020603050405020304" pitchFamily="18" charset="0"/>
                <a:sym typeface="华文中宋" panose="02010600040101010101" pitchFamily="2" charset="-122"/>
              </a:rPr>
              <a:t>B</a:t>
            </a:r>
            <a:endParaRPr lang="en-US" altLang="zh-CN" b="1" i="1" dirty="0">
              <a:latin typeface="Times New Roman" panose="02020603050405020304" pitchFamily="18" charset="0"/>
            </a:endParaRPr>
          </a:p>
        </p:txBody>
      </p:sp>
      <p:sp>
        <p:nvSpPr>
          <p:cNvPr id="78863" name="Rectangle 15"/>
          <p:cNvSpPr/>
          <p:nvPr/>
        </p:nvSpPr>
        <p:spPr>
          <a:xfrm>
            <a:off x="3048000" y="4233863"/>
            <a:ext cx="3048000" cy="1355725"/>
          </a:xfrm>
          <a:prstGeom prst="rect">
            <a:avLst/>
          </a:prstGeom>
          <a:solidFill>
            <a:srgbClr val="00FF99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 eaLnBrk="1" hangingPunct="1"/>
            <a:endParaRPr lang="en-US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78865" name="Text Box 17"/>
          <p:cNvSpPr txBox="1"/>
          <p:nvPr/>
        </p:nvSpPr>
        <p:spPr>
          <a:xfrm>
            <a:off x="5689600" y="5060950"/>
            <a:ext cx="380365" cy="521970"/>
          </a:xfrm>
          <a:prstGeom prst="rect">
            <a:avLst/>
          </a:prstGeom>
          <a:solidFill>
            <a:srgbClr val="00FF99"/>
          </a:solidFill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78866" name="Oval 18"/>
          <p:cNvSpPr/>
          <p:nvPr/>
        </p:nvSpPr>
        <p:spPr>
          <a:xfrm>
            <a:off x="3581400" y="4386263"/>
            <a:ext cx="1905000" cy="990600"/>
          </a:xfrm>
          <a:prstGeom prst="ellipse">
            <a:avLst/>
          </a:prstGeom>
          <a:solidFill>
            <a:srgbClr val="00B0F0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78867" name="Text Box 19"/>
          <p:cNvSpPr txBox="1"/>
          <p:nvPr/>
        </p:nvSpPr>
        <p:spPr>
          <a:xfrm>
            <a:off x="4800600" y="4614863"/>
            <a:ext cx="42037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grpSp>
        <p:nvGrpSpPr>
          <p:cNvPr id="78873" name="Group 25"/>
          <p:cNvGrpSpPr/>
          <p:nvPr/>
        </p:nvGrpSpPr>
        <p:grpSpPr>
          <a:xfrm>
            <a:off x="4038600" y="4614863"/>
            <a:ext cx="685800" cy="609600"/>
            <a:chOff x="4416" y="3216"/>
            <a:chExt cx="432" cy="384"/>
          </a:xfrm>
        </p:grpSpPr>
        <p:sp>
          <p:nvSpPr>
            <p:cNvPr id="27664" name="Oval 20"/>
            <p:cNvSpPr/>
            <p:nvPr/>
          </p:nvSpPr>
          <p:spPr>
            <a:xfrm>
              <a:off x="4416" y="3216"/>
              <a:ext cx="432" cy="384"/>
            </a:xfrm>
            <a:prstGeom prst="ellipse">
              <a:avLst/>
            </a:prstGeom>
            <a:solidFill>
              <a:srgbClr val="FFFF00"/>
            </a:soli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7665" name="Text Box 21"/>
            <p:cNvSpPr txBox="1"/>
            <p:nvPr/>
          </p:nvSpPr>
          <p:spPr>
            <a:xfrm>
              <a:off x="4503" y="3224"/>
              <a:ext cx="26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7662" name="Rectangle 31"/>
          <p:cNvSpPr/>
          <p:nvPr>
            <p:ph type="title" idx="4294967295"/>
          </p:nvPr>
        </p:nvSpPr>
        <p:spPr>
          <a:xfrm>
            <a:off x="0" y="548640"/>
            <a:ext cx="9140190" cy="706755"/>
          </a:xfrm>
          <a:ln w="12700"/>
        </p:spPr>
        <p:txBody>
          <a:bodyPr vert="horz" wrap="square" lIns="91440" tIns="45720" rIns="91440" bIns="4572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</a:rPr>
              <a:t>三、随机事件间的关系及运算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</a:endParaRPr>
          </a:p>
        </p:txBody>
      </p: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4" grpId="0"/>
      <p:bldP spid="78855" grpId="0"/>
      <p:bldP spid="78856" grpId="0"/>
      <p:bldP spid="78858" grpId="0"/>
      <p:bldP spid="78860" grpId="0"/>
      <p:bldP spid="78861" grpId="0"/>
      <p:bldP spid="78862" grpId="0"/>
      <p:bldP spid="78863" grpId="0" animBg="1"/>
      <p:bldP spid="78865" grpId="0" bldLvl="0" animBg="1"/>
      <p:bldP spid="78866" grpId="0" animBg="1"/>
      <p:bldP spid="7886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3970" name="Rectangle 1026"/>
          <p:cNvSpPr>
            <a:spLocks noChangeArrowheads="1"/>
          </p:cNvSpPr>
          <p:nvPr/>
        </p:nvSpPr>
        <p:spPr bwMode="auto">
          <a:xfrm>
            <a:off x="533400" y="609600"/>
            <a:ext cx="8286750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 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2736F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736F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等于</a:t>
            </a:r>
            <a:r>
              <a:rPr kumimoji="1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736F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2736F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若事件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包含事件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B,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事件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B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也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包含   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事件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则称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事件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与事件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B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相等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记作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A=B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Text Box 1027"/>
          <p:cNvSpPr txBox="1"/>
          <p:nvPr/>
        </p:nvSpPr>
        <p:spPr>
          <a:xfrm>
            <a:off x="995363" y="1916113"/>
            <a:ext cx="48006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 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的并</a:t>
            </a:r>
            <a:r>
              <a:rPr lang="en-US" altLang="zh-CN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和事件</a:t>
            </a:r>
            <a:r>
              <a:rPr lang="en-US" altLang="zh-CN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en-US" altLang="zh-CN" sz="2800" b="1" dirty="0">
              <a:solidFill>
                <a:srgbClr val="2736F7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3973" name="Object 1029"/>
          <p:cNvGraphicFramePr>
            <a:graphicFrameLocks noChangeAspect="1"/>
          </p:cNvGraphicFramePr>
          <p:nvPr/>
        </p:nvGraphicFramePr>
        <p:xfrm>
          <a:off x="1017588" y="2547938"/>
          <a:ext cx="7658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658100" imgH="952500" progId="">
                  <p:embed/>
                </p:oleObj>
              </mc:Choice>
              <mc:Fallback>
                <p:oleObj name="" r:id="rId1" imgW="7658100" imgH="952500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17588" y="2547938"/>
                        <a:ext cx="76581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Text Box 1030"/>
          <p:cNvSpPr txBox="1"/>
          <p:nvPr/>
        </p:nvSpPr>
        <p:spPr>
          <a:xfrm>
            <a:off x="952500" y="3573463"/>
            <a:ext cx="7723188" cy="17068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lnSpc>
                <a:spcPct val="125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某产品的合格与否由该产品的长度与直径是否合格所决定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r>
              <a:rPr lang="zh-CN" altLang="en-US" sz="2800" b="1" dirty="0">
                <a:latin typeface="Times New Roman" panose="02020603050405020304" pitchFamily="18" charset="0"/>
              </a:rPr>
              <a:t>因此“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产品不合格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”是“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长度不合格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”与“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直径不合格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”的并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3976" name="Rectangle 1032"/>
          <p:cNvSpPr/>
          <p:nvPr/>
        </p:nvSpPr>
        <p:spPr>
          <a:xfrm>
            <a:off x="3184525" y="5373688"/>
            <a:ext cx="2819400" cy="1066800"/>
          </a:xfrm>
          <a:prstGeom prst="rect">
            <a:avLst/>
          </a:prstGeom>
          <a:solidFill>
            <a:srgbClr val="00FF99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 eaLnBrk="1" hangingPunct="1"/>
            <a:endParaRPr lang="en-US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83977" name="Text Box 1033"/>
          <p:cNvSpPr txBox="1"/>
          <p:nvPr/>
        </p:nvSpPr>
        <p:spPr>
          <a:xfrm>
            <a:off x="5629275" y="5967413"/>
            <a:ext cx="38036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grpSp>
        <p:nvGrpSpPr>
          <p:cNvPr id="83984" name="Group 1040"/>
          <p:cNvGrpSpPr/>
          <p:nvPr/>
        </p:nvGrpSpPr>
        <p:grpSpPr>
          <a:xfrm>
            <a:off x="3267075" y="5510213"/>
            <a:ext cx="1905000" cy="762000"/>
            <a:chOff x="1200" y="3216"/>
            <a:chExt cx="1200" cy="624"/>
          </a:xfrm>
        </p:grpSpPr>
        <p:sp>
          <p:nvSpPr>
            <p:cNvPr id="28686" name="Oval 1034"/>
            <p:cNvSpPr/>
            <p:nvPr/>
          </p:nvSpPr>
          <p:spPr>
            <a:xfrm>
              <a:off x="1200" y="3216"/>
              <a:ext cx="1200" cy="624"/>
            </a:xfrm>
            <a:prstGeom prst="ellipse">
              <a:avLst/>
            </a:prstGeom>
            <a:solidFill>
              <a:srgbClr val="0070C0"/>
            </a:solidFill>
            <a:ln w="31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687" name="Text Box 1035"/>
            <p:cNvSpPr txBox="1"/>
            <p:nvPr/>
          </p:nvSpPr>
          <p:spPr>
            <a:xfrm>
              <a:off x="1661" y="3298"/>
              <a:ext cx="265" cy="425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714875" y="5586413"/>
            <a:ext cx="1000125" cy="609600"/>
            <a:chOff x="4715172" y="5586744"/>
            <a:chExt cx="1000472" cy="609600"/>
          </a:xfrm>
        </p:grpSpPr>
        <p:sp>
          <p:nvSpPr>
            <p:cNvPr id="28684" name="Oval 1036"/>
            <p:cNvSpPr/>
            <p:nvPr/>
          </p:nvSpPr>
          <p:spPr>
            <a:xfrm>
              <a:off x="4715172" y="5586744"/>
              <a:ext cx="990600" cy="609600"/>
            </a:xfrm>
            <a:prstGeom prst="ellipse">
              <a:avLst/>
            </a:prstGeom>
            <a:solidFill>
              <a:srgbClr val="00B0F0">
                <a:alpha val="78038"/>
              </a:srgbClr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685" name="Text Box 1037"/>
            <p:cNvSpPr txBox="1"/>
            <p:nvPr/>
          </p:nvSpPr>
          <p:spPr>
            <a:xfrm>
              <a:off x="5274319" y="5612144"/>
              <a:ext cx="441325" cy="5191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B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3994" name="Object 1050"/>
          <p:cNvGraphicFramePr>
            <a:graphicFrameLocks noChangeAspect="1"/>
          </p:cNvGraphicFramePr>
          <p:nvPr/>
        </p:nvGraphicFramePr>
        <p:xfrm>
          <a:off x="4500563" y="5738813"/>
          <a:ext cx="76200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894715" imgH="340360" progId="">
                  <p:embed/>
                </p:oleObj>
              </mc:Choice>
              <mc:Fallback>
                <p:oleObj name="" r:id="rId3" imgW="894715" imgH="34036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00563" y="5738813"/>
                        <a:ext cx="762000" cy="306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3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/>
      <p:bldP spid="83974" grpId="0"/>
      <p:bldP spid="83976" grpId="0" animBg="1"/>
      <p:bldP spid="8397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29698" name="Object 4"/>
          <p:cNvGraphicFramePr>
            <a:graphicFrameLocks noChangeAspect="1"/>
          </p:cNvGraphicFramePr>
          <p:nvPr/>
        </p:nvGraphicFramePr>
        <p:xfrm>
          <a:off x="914400" y="762000"/>
          <a:ext cx="7683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7683500" imgH="825500" progId="">
                  <p:embed/>
                </p:oleObj>
              </mc:Choice>
              <mc:Fallback>
                <p:oleObj name="" r:id="rId1" imgW="7683500" imgH="82550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762000"/>
                        <a:ext cx="76835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0" name="Rectangle 8"/>
          <p:cNvSpPr/>
          <p:nvPr/>
        </p:nvSpPr>
        <p:spPr>
          <a:xfrm>
            <a:off x="914400" y="2997200"/>
            <a:ext cx="444563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的交</a:t>
            </a:r>
            <a:r>
              <a:rPr lang="en-US" altLang="zh-CN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积事件</a:t>
            </a:r>
            <a:r>
              <a:rPr lang="en-US" altLang="zh-CN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en-US" altLang="zh-CN" sz="2800" b="1" dirty="0">
              <a:solidFill>
                <a:srgbClr val="2736F7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5002" name="Object 10"/>
          <p:cNvGraphicFramePr>
            <a:graphicFrameLocks noChangeAspect="1"/>
          </p:cNvGraphicFramePr>
          <p:nvPr/>
        </p:nvGraphicFramePr>
        <p:xfrm>
          <a:off x="1955800" y="4886325"/>
          <a:ext cx="4826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4826000" imgH="431800" progId="">
                  <p:embed/>
                </p:oleObj>
              </mc:Choice>
              <mc:Fallback>
                <p:oleObj name="" r:id="rId3" imgW="4826000" imgH="431800" progId="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800" y="4886325"/>
                        <a:ext cx="4826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5" name="Object 13"/>
          <p:cNvGraphicFramePr>
            <a:graphicFrameLocks noChangeAspect="1"/>
          </p:cNvGraphicFramePr>
          <p:nvPr/>
        </p:nvGraphicFramePr>
        <p:xfrm>
          <a:off x="1955800" y="1700213"/>
          <a:ext cx="6502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6502400" imgH="825500" progId="">
                  <p:embed/>
                </p:oleObj>
              </mc:Choice>
              <mc:Fallback>
                <p:oleObj name="" r:id="rId5" imgW="6502400" imgH="825500" progId="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5800" y="1700213"/>
                        <a:ext cx="65024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6" name="Object 14"/>
          <p:cNvGraphicFramePr>
            <a:graphicFrameLocks noChangeAspect="1"/>
          </p:cNvGraphicFramePr>
          <p:nvPr/>
        </p:nvGraphicFramePr>
        <p:xfrm>
          <a:off x="1009650" y="3759200"/>
          <a:ext cx="7315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7" imgW="7315200" imgH="1003300" progId="">
                  <p:embed/>
                </p:oleObj>
              </mc:Choice>
              <mc:Fallback>
                <p:oleObj name="" r:id="rId7" imgW="7315200" imgH="1003300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09650" y="3759200"/>
                        <a:ext cx="73152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4933" name="Rectangle 1029"/>
          <p:cNvSpPr>
            <a:spLocks noChangeArrowheads="1"/>
          </p:cNvSpPr>
          <p:nvPr/>
        </p:nvSpPr>
        <p:spPr bwMode="auto">
          <a:xfrm>
            <a:off x="2789238" y="2981325"/>
            <a:ext cx="3581400" cy="1600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934" name="Text Box 1030"/>
          <p:cNvSpPr txBox="1"/>
          <p:nvPr/>
        </p:nvSpPr>
        <p:spPr>
          <a:xfrm>
            <a:off x="5989638" y="4062413"/>
            <a:ext cx="38036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398838" y="3330575"/>
            <a:ext cx="1219200" cy="838200"/>
            <a:chOff x="3398812" y="3331096"/>
            <a:chExt cx="1219200" cy="838200"/>
          </a:xfrm>
        </p:grpSpPr>
        <p:sp>
          <p:nvSpPr>
            <p:cNvPr id="30731" name="Oval 1031"/>
            <p:cNvSpPr/>
            <p:nvPr/>
          </p:nvSpPr>
          <p:spPr>
            <a:xfrm>
              <a:off x="3398812" y="3331096"/>
              <a:ext cx="1219200" cy="838200"/>
            </a:xfrm>
            <a:prstGeom prst="ellipse">
              <a:avLst/>
            </a:prstGeom>
            <a:solidFill>
              <a:srgbClr val="00B0F0">
                <a:alpha val="79999"/>
              </a:srgbClr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732" name="Text Box 1032"/>
            <p:cNvSpPr txBox="1"/>
            <p:nvPr/>
          </p:nvSpPr>
          <p:spPr>
            <a:xfrm>
              <a:off x="3551212" y="3464446"/>
              <a:ext cx="420688" cy="5191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006850" y="3209925"/>
            <a:ext cx="1600200" cy="1066800"/>
            <a:chOff x="4006824" y="3209652"/>
            <a:chExt cx="1600200" cy="1066800"/>
          </a:xfrm>
        </p:grpSpPr>
        <p:sp>
          <p:nvSpPr>
            <p:cNvPr id="30729" name="Oval 1033"/>
            <p:cNvSpPr/>
            <p:nvPr/>
          </p:nvSpPr>
          <p:spPr>
            <a:xfrm>
              <a:off x="4006824" y="3209652"/>
              <a:ext cx="1600200" cy="1066800"/>
            </a:xfrm>
            <a:prstGeom prst="ellipse">
              <a:avLst/>
            </a:prstGeom>
            <a:solidFill>
              <a:srgbClr val="0070C0">
                <a:alpha val="50195"/>
              </a:srgbClr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730" name="Text Box 1034"/>
            <p:cNvSpPr txBox="1"/>
            <p:nvPr/>
          </p:nvSpPr>
          <p:spPr>
            <a:xfrm>
              <a:off x="4716016" y="3464446"/>
              <a:ext cx="420688" cy="5191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  <a:ea typeface="华文宋体" panose="02010600040101010101" pitchFamily="2" charset="-122"/>
                </a:rPr>
                <a:t>B</a:t>
              </a:r>
              <a:endParaRPr lang="en-US" altLang="zh-CN" sz="2800" b="1" i="1" dirty="0">
                <a:latin typeface="Times New Roman" panose="02020603050405020304" pitchFamily="18" charset="0"/>
                <a:ea typeface="华文宋体" panose="02010600040101010101" pitchFamily="2" charset="-122"/>
              </a:endParaRPr>
            </a:p>
          </p:txBody>
        </p:sp>
      </p:grpSp>
      <p:sp>
        <p:nvSpPr>
          <p:cNvPr id="124940" name="Text Box 1036"/>
          <p:cNvSpPr txBox="1"/>
          <p:nvPr/>
        </p:nvSpPr>
        <p:spPr>
          <a:xfrm>
            <a:off x="3983038" y="3463925"/>
            <a:ext cx="65786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AB</a:t>
            </a:r>
            <a:endParaRPr lang="en-US" altLang="zh-CN" sz="2800" b="1" i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7" name="Rectangle 1041"/>
          <p:cNvSpPr/>
          <p:nvPr/>
        </p:nvSpPr>
        <p:spPr>
          <a:xfrm>
            <a:off x="914400" y="990600"/>
            <a:ext cx="7761288" cy="17703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实例 </a:t>
            </a:r>
            <a:r>
              <a:rPr lang="zh-CN" altLang="en-US" sz="2800" b="1" dirty="0">
                <a:latin typeface="Times New Roman" panose="02020603050405020304" pitchFamily="18" charset="0"/>
              </a:rPr>
              <a:t>   某产品的合格与否由该产品的长度与直径是否合格所决定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r>
              <a:rPr lang="zh-CN" altLang="en-US" sz="2800" b="1" dirty="0">
                <a:latin typeface="Times New Roman" panose="02020603050405020304" pitchFamily="18" charset="0"/>
              </a:rPr>
              <a:t>因此“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产品合格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”是“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长度合格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”与“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直径合格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”的交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积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事件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4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4" grpId="0"/>
      <p:bldP spid="1249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6033" name="Rectangle 17"/>
          <p:cNvSpPr/>
          <p:nvPr/>
        </p:nvSpPr>
        <p:spPr>
          <a:xfrm>
            <a:off x="827088" y="3395663"/>
            <a:ext cx="447294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和事件与积事件的运算性质</a:t>
            </a:r>
            <a:endParaRPr lang="zh-CN" altLang="en-US" sz="2800" b="1" dirty="0">
              <a:solidFill>
                <a:srgbClr val="2736F7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6034" name="Object 18"/>
          <p:cNvGraphicFramePr>
            <a:graphicFrameLocks noChangeAspect="1"/>
          </p:cNvGraphicFramePr>
          <p:nvPr/>
        </p:nvGraphicFramePr>
        <p:xfrm>
          <a:off x="1968500" y="4279900"/>
          <a:ext cx="162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625600" imgH="381000" progId="">
                  <p:embed/>
                </p:oleObj>
              </mc:Choice>
              <mc:Fallback>
                <p:oleObj name="" r:id="rId1" imgW="1625600" imgH="381000" progId="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68500" y="4279900"/>
                        <a:ext cx="1625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5" name="Object 19"/>
          <p:cNvGraphicFramePr>
            <a:graphicFrameLocks noChangeAspect="1"/>
          </p:cNvGraphicFramePr>
          <p:nvPr/>
        </p:nvGraphicFramePr>
        <p:xfrm>
          <a:off x="4102100" y="4279900"/>
          <a:ext cx="158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587500" imgH="381000" progId="">
                  <p:embed/>
                </p:oleObj>
              </mc:Choice>
              <mc:Fallback>
                <p:oleObj name="" r:id="rId3" imgW="1587500" imgH="381000" progId="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02100" y="4279900"/>
                        <a:ext cx="1587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6" name="Object 20"/>
          <p:cNvGraphicFramePr>
            <a:graphicFrameLocks noChangeAspect="1"/>
          </p:cNvGraphicFramePr>
          <p:nvPr/>
        </p:nvGraphicFramePr>
        <p:xfrm>
          <a:off x="6172200" y="4279900"/>
          <a:ext cx="167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1676400" imgH="381000" progId="">
                  <p:embed/>
                </p:oleObj>
              </mc:Choice>
              <mc:Fallback>
                <p:oleObj name="" r:id="rId5" imgW="1676400" imgH="381000" progId="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72200" y="4279900"/>
                        <a:ext cx="1676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7" name="Object 21"/>
          <p:cNvGraphicFramePr>
            <a:graphicFrameLocks noChangeAspect="1"/>
          </p:cNvGraphicFramePr>
          <p:nvPr/>
        </p:nvGraphicFramePr>
        <p:xfrm>
          <a:off x="1968500" y="5064125"/>
          <a:ext cx="162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1625600" imgH="381000" progId="">
                  <p:embed/>
                </p:oleObj>
              </mc:Choice>
              <mc:Fallback>
                <p:oleObj name="" r:id="rId7" imgW="1625600" imgH="381000" progId="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8500" y="5064125"/>
                        <a:ext cx="1625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8" name="Object 22"/>
          <p:cNvGraphicFramePr>
            <a:graphicFrameLocks noChangeAspect="1"/>
          </p:cNvGraphicFramePr>
          <p:nvPr/>
        </p:nvGraphicFramePr>
        <p:xfrm>
          <a:off x="4102100" y="5064125"/>
          <a:ext cx="161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9" imgW="1612900" imgH="381000" progId="">
                  <p:embed/>
                </p:oleObj>
              </mc:Choice>
              <mc:Fallback>
                <p:oleObj name="" r:id="rId9" imgW="1612900" imgH="381000" progId="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02100" y="5064125"/>
                        <a:ext cx="1612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9" name="Object 23"/>
          <p:cNvGraphicFramePr>
            <a:graphicFrameLocks noChangeAspect="1"/>
          </p:cNvGraphicFramePr>
          <p:nvPr/>
        </p:nvGraphicFramePr>
        <p:xfrm>
          <a:off x="6172200" y="5064125"/>
          <a:ext cx="1701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1" imgW="1701800" imgH="368300" progId="">
                  <p:embed/>
                </p:oleObj>
              </mc:Choice>
              <mc:Fallback>
                <p:oleObj name="" r:id="rId11" imgW="1701800" imgH="368300" progId="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72200" y="5064125"/>
                        <a:ext cx="17018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Object 27"/>
          <p:cNvGraphicFramePr>
            <a:graphicFrameLocks noChangeAspect="1"/>
          </p:cNvGraphicFramePr>
          <p:nvPr/>
        </p:nvGraphicFramePr>
        <p:xfrm>
          <a:off x="920750" y="736600"/>
          <a:ext cx="7632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3" imgW="7632700" imgH="952500" progId="">
                  <p:embed/>
                </p:oleObj>
              </mc:Choice>
              <mc:Fallback>
                <p:oleObj name="" r:id="rId13" imgW="7632700" imgH="952500" progId="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20750" y="736600"/>
                        <a:ext cx="76327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4" name="Object 28"/>
          <p:cNvGraphicFramePr>
            <a:graphicFrameLocks noChangeAspect="1"/>
          </p:cNvGraphicFramePr>
          <p:nvPr/>
        </p:nvGraphicFramePr>
        <p:xfrm>
          <a:off x="1981200" y="1773238"/>
          <a:ext cx="6502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5" imgW="6502400" imgH="952500" progId="">
                  <p:embed/>
                </p:oleObj>
              </mc:Choice>
              <mc:Fallback>
                <p:oleObj name="" r:id="rId15" imgW="6502400" imgH="952500" progId="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81200" y="1773238"/>
                        <a:ext cx="65024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2770" name="Rectangle 2"/>
          <p:cNvSpPr/>
          <p:nvPr/>
        </p:nvSpPr>
        <p:spPr>
          <a:xfrm>
            <a:off x="914400" y="762000"/>
            <a:ext cx="54102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互不相容</a:t>
            </a:r>
            <a:r>
              <a:rPr lang="en-US" altLang="zh-CN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互斥</a:t>
            </a:r>
            <a:r>
              <a:rPr lang="en-US" altLang="zh-CN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en-US" altLang="zh-CN" sz="2800" b="1" dirty="0">
              <a:solidFill>
                <a:srgbClr val="2736F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7043" name="Text Box 3"/>
          <p:cNvSpPr txBox="1"/>
          <p:nvPr/>
        </p:nvSpPr>
        <p:spPr>
          <a:xfrm>
            <a:off x="914400" y="1371600"/>
            <a:ext cx="8121650" cy="17068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lnSpc>
                <a:spcPct val="125000"/>
              </a:lnSpc>
              <a:spcBef>
                <a:spcPct val="1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若事件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发生必然导致事件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</a:rPr>
              <a:t>不发生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</a:rPr>
              <a:t>发生也必然导致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不发生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事件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与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互不相容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即有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7044" name="Object 4"/>
          <p:cNvGraphicFramePr>
            <a:graphicFrameLocks noChangeAspect="1"/>
          </p:cNvGraphicFramePr>
          <p:nvPr/>
        </p:nvGraphicFramePr>
        <p:xfrm>
          <a:off x="1763713" y="2616200"/>
          <a:ext cx="2565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2565400" imgH="368300" progId="">
                  <p:embed/>
                </p:oleObj>
              </mc:Choice>
              <mc:Fallback>
                <p:oleObj name="" r:id="rId1" imgW="2565400" imgH="368300" progId="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2616200"/>
                        <a:ext cx="25654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/>
          <p:nvPr/>
        </p:nvSpPr>
        <p:spPr>
          <a:xfrm>
            <a:off x="2790825" y="3289300"/>
            <a:ext cx="3581400" cy="12192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0" name="Text Box 5"/>
          <p:cNvSpPr txBox="1"/>
          <p:nvPr/>
        </p:nvSpPr>
        <p:spPr>
          <a:xfrm>
            <a:off x="5915025" y="3975100"/>
            <a:ext cx="38036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grpSp>
        <p:nvGrpSpPr>
          <p:cNvPr id="11" name="Group 6"/>
          <p:cNvGrpSpPr/>
          <p:nvPr/>
        </p:nvGrpSpPr>
        <p:grpSpPr>
          <a:xfrm>
            <a:off x="3330575" y="3441700"/>
            <a:ext cx="914400" cy="838200"/>
            <a:chOff x="2688" y="3168"/>
            <a:chExt cx="576" cy="528"/>
          </a:xfrm>
        </p:grpSpPr>
        <p:sp>
          <p:nvSpPr>
            <p:cNvPr id="32780" name="Oval 7"/>
            <p:cNvSpPr/>
            <p:nvPr/>
          </p:nvSpPr>
          <p:spPr>
            <a:xfrm>
              <a:off x="2688" y="3168"/>
              <a:ext cx="576" cy="528"/>
            </a:xfrm>
            <a:prstGeom prst="ellipse">
              <a:avLst/>
            </a:prstGeom>
            <a:solidFill>
              <a:srgbClr val="F8F83E"/>
            </a:soli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781" name="Text Box 8"/>
            <p:cNvSpPr txBox="1"/>
            <p:nvPr/>
          </p:nvSpPr>
          <p:spPr>
            <a:xfrm>
              <a:off x="2853" y="3252"/>
              <a:ext cx="26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" name="Group 9"/>
          <p:cNvGrpSpPr/>
          <p:nvPr/>
        </p:nvGrpSpPr>
        <p:grpSpPr>
          <a:xfrm>
            <a:off x="4619625" y="3441700"/>
            <a:ext cx="1231900" cy="901700"/>
            <a:chOff x="3600" y="3168"/>
            <a:chExt cx="776" cy="568"/>
          </a:xfrm>
        </p:grpSpPr>
        <p:sp>
          <p:nvSpPr>
            <p:cNvPr id="32778" name="Freeform 10"/>
            <p:cNvSpPr/>
            <p:nvPr/>
          </p:nvSpPr>
          <p:spPr>
            <a:xfrm>
              <a:off x="3600" y="3168"/>
              <a:ext cx="776" cy="568"/>
            </a:xfrm>
            <a:custGeom>
              <a:avLst/>
              <a:gdLst/>
              <a:ahLst/>
              <a:cxnLst>
                <a:cxn ang="0">
                  <a:pos x="112" y="152"/>
                </a:cxn>
                <a:cxn ang="0">
                  <a:pos x="544" y="8"/>
                </a:cxn>
                <a:cxn ang="0">
                  <a:pos x="688" y="200"/>
                </a:cxn>
                <a:cxn ang="0">
                  <a:pos x="688" y="488"/>
                </a:cxn>
                <a:cxn ang="0">
                  <a:pos x="160" y="536"/>
                </a:cxn>
                <a:cxn ang="0">
                  <a:pos x="16" y="296"/>
                </a:cxn>
                <a:cxn ang="0">
                  <a:pos x="112" y="152"/>
                </a:cxn>
              </a:cxnLst>
              <a:pathLst>
                <a:path w="776" h="568">
                  <a:moveTo>
                    <a:pt x="112" y="152"/>
                  </a:moveTo>
                  <a:cubicBezTo>
                    <a:pt x="200" y="104"/>
                    <a:pt x="448" y="0"/>
                    <a:pt x="544" y="8"/>
                  </a:cubicBezTo>
                  <a:cubicBezTo>
                    <a:pt x="640" y="16"/>
                    <a:pt x="664" y="120"/>
                    <a:pt x="688" y="200"/>
                  </a:cubicBezTo>
                  <a:cubicBezTo>
                    <a:pt x="712" y="280"/>
                    <a:pt x="776" y="432"/>
                    <a:pt x="688" y="488"/>
                  </a:cubicBezTo>
                  <a:cubicBezTo>
                    <a:pt x="600" y="544"/>
                    <a:pt x="272" y="568"/>
                    <a:pt x="160" y="536"/>
                  </a:cubicBezTo>
                  <a:cubicBezTo>
                    <a:pt x="48" y="504"/>
                    <a:pt x="32" y="352"/>
                    <a:pt x="16" y="296"/>
                  </a:cubicBezTo>
                  <a:cubicBezTo>
                    <a:pt x="0" y="240"/>
                    <a:pt x="24" y="200"/>
                    <a:pt x="112" y="152"/>
                  </a:cubicBezTo>
                  <a:close/>
                </a:path>
              </a:pathLst>
            </a:custGeom>
            <a:solidFill>
              <a:srgbClr val="0070C0">
                <a:alpha val="100000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779" name="Text Box 11"/>
            <p:cNvSpPr txBox="1"/>
            <p:nvPr/>
          </p:nvSpPr>
          <p:spPr>
            <a:xfrm>
              <a:off x="3888" y="3268"/>
              <a:ext cx="265" cy="327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B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5954" name="Text Box 2"/>
          <p:cNvSpPr txBox="1"/>
          <p:nvPr/>
        </p:nvSpPr>
        <p:spPr>
          <a:xfrm>
            <a:off x="1358900" y="4267200"/>
            <a:ext cx="660844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骰子出现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</a:t>
            </a:r>
            <a:r>
              <a:rPr lang="zh-CN" altLang="en-US" sz="2800" b="1" dirty="0">
                <a:latin typeface="Times New Roman" panose="02020603050405020304" pitchFamily="18" charset="0"/>
              </a:rPr>
              <a:t>”             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骰子出现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25964" name="Group 12"/>
          <p:cNvGrpSpPr/>
          <p:nvPr/>
        </p:nvGrpSpPr>
        <p:grpSpPr>
          <a:xfrm>
            <a:off x="4021138" y="4810125"/>
            <a:ext cx="1066800" cy="563563"/>
            <a:chOff x="2496" y="2962"/>
            <a:chExt cx="672" cy="355"/>
          </a:xfrm>
        </p:grpSpPr>
        <p:sp>
          <p:nvSpPr>
            <p:cNvPr id="33806" name="Rectangle 13"/>
            <p:cNvSpPr/>
            <p:nvPr/>
          </p:nvSpPr>
          <p:spPr>
            <a:xfrm>
              <a:off x="2544" y="2962"/>
              <a:ext cx="56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互斥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807" name="Line 14"/>
            <p:cNvSpPr/>
            <p:nvPr/>
          </p:nvSpPr>
          <p:spPr>
            <a:xfrm>
              <a:off x="2496" y="3317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triangle" w="med" len="med"/>
              <a:tailEnd type="triangle" w="med" len="med"/>
            </a:ln>
          </p:spPr>
        </p:sp>
      </p:grpSp>
      <p:pic>
        <p:nvPicPr>
          <p:cNvPr id="33802" name="Picture 16" descr="2点"/>
          <p:cNvPicPr>
            <a:picLocks noChangeAspect="1"/>
          </p:cNvPicPr>
          <p:nvPr/>
        </p:nvPicPr>
        <p:blipFill>
          <a:blip r:embed="rId1"/>
          <a:srcRect l="38" r="22144"/>
          <a:stretch>
            <a:fillRect/>
          </a:stretch>
        </p:blipFill>
        <p:spPr>
          <a:xfrm>
            <a:off x="6227763" y="5049838"/>
            <a:ext cx="639762" cy="6858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  <p:pic>
        <p:nvPicPr>
          <p:cNvPr id="33803" name="Picture 17" descr="1点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75" y="5049838"/>
            <a:ext cx="701675" cy="685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</p:pic>
      <p:sp>
        <p:nvSpPr>
          <p:cNvPr id="125970" name="Rectangle 18"/>
          <p:cNvSpPr/>
          <p:nvPr/>
        </p:nvSpPr>
        <p:spPr>
          <a:xfrm>
            <a:off x="914400" y="3429000"/>
            <a:ext cx="61677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实例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抛掷一枚骰子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观察出现的点数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927100" y="765175"/>
            <a:ext cx="7955280" cy="12115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5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实例</a:t>
            </a:r>
            <a:r>
              <a:rPr lang="zh-CN" altLang="en-US" sz="2800" b="1" dirty="0">
                <a:latin typeface="Times New Roman" panose="02020603050405020304" pitchFamily="18" charset="0"/>
              </a:rPr>
              <a:t>   抛掷一枚硬币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出现正面</a:t>
            </a:r>
            <a:r>
              <a:rPr lang="zh-CN" altLang="en-US" sz="2800" b="1" dirty="0">
                <a:latin typeface="Times New Roman" panose="02020603050405020304" pitchFamily="18" charset="0"/>
              </a:rPr>
              <a:t>”与“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出现反面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是互不相容的两个事件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pic>
        <p:nvPicPr>
          <p:cNvPr id="25" name="Picture 23" descr="yb1"/>
          <p:cNvPicPr>
            <a:picLocks noChangeAspect="1"/>
          </p:cNvPicPr>
          <p:nvPr/>
        </p:nvPicPr>
        <p:blipFill>
          <a:blip r:embed="rId3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  <a:lum contrast="54000"/>
          </a:blip>
          <a:stretch>
            <a:fillRect/>
          </a:stretch>
        </p:blipFill>
        <p:spPr>
          <a:xfrm>
            <a:off x="5254625" y="2212975"/>
            <a:ext cx="685800" cy="668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" name="Picture 24" descr="yb3"/>
          <p:cNvPicPr>
            <a:picLocks noChangeAspect="1"/>
          </p:cNvPicPr>
          <p:nvPr/>
        </p:nvPicPr>
        <p:blipFill>
          <a:blip r:embed="rId4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46438" y="2212975"/>
            <a:ext cx="711200" cy="6445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" name="Group 12"/>
          <p:cNvGrpSpPr/>
          <p:nvPr/>
        </p:nvGrpSpPr>
        <p:grpSpPr>
          <a:xfrm>
            <a:off x="4048125" y="1971675"/>
            <a:ext cx="1066800" cy="563563"/>
            <a:chOff x="2496" y="2477"/>
            <a:chExt cx="672" cy="355"/>
          </a:xfrm>
        </p:grpSpPr>
        <p:sp>
          <p:nvSpPr>
            <p:cNvPr id="33804" name="Rectangle 13"/>
            <p:cNvSpPr/>
            <p:nvPr/>
          </p:nvSpPr>
          <p:spPr>
            <a:xfrm>
              <a:off x="2544" y="2477"/>
              <a:ext cx="56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互斥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805" name="Line 14"/>
            <p:cNvSpPr/>
            <p:nvPr/>
          </p:nvSpPr>
          <p:spPr>
            <a:xfrm>
              <a:off x="2496" y="2832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triangle" w="med" len="med"/>
              <a:tailEnd type="triangle" w="med" len="med"/>
            </a:ln>
          </p:spPr>
        </p:sp>
      </p:grp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5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/>
      <p:bldP spid="125970" grpId="0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4818" name="Rectangle 2"/>
          <p:cNvSpPr/>
          <p:nvPr/>
        </p:nvSpPr>
        <p:spPr>
          <a:xfrm>
            <a:off x="914400" y="762000"/>
            <a:ext cx="313690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6.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的差</a:t>
            </a:r>
            <a:endParaRPr lang="zh-CN" altLang="en-US" sz="2800" b="1" dirty="0">
              <a:solidFill>
                <a:srgbClr val="2736F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8067" name="Rectangle 3"/>
          <p:cNvSpPr/>
          <p:nvPr/>
        </p:nvSpPr>
        <p:spPr>
          <a:xfrm>
            <a:off x="914400" y="1366838"/>
            <a:ext cx="7620000" cy="11684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事件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A </a:t>
            </a:r>
            <a:r>
              <a:rPr lang="zh-CN" altLang="en-US" sz="2800" b="1" dirty="0">
                <a:latin typeface="Times New Roman" panose="02020603050405020304" pitchFamily="18" charset="0"/>
              </a:rPr>
              <a:t>发生而事件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</a:rPr>
              <a:t>不发生所对应的事件称为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事件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与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的差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记作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solidFill>
                  <a:srgbClr val="0000FF"/>
                </a:solidFill>
                <a:latin typeface="宋体" panose="02010600030101010101" pitchFamily="2" charset="-122"/>
              </a:rPr>
              <a:t>-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B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或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A\B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8070" name="Rectangle 6"/>
          <p:cNvSpPr/>
          <p:nvPr/>
        </p:nvSpPr>
        <p:spPr>
          <a:xfrm>
            <a:off x="1403350" y="4117975"/>
            <a:ext cx="3581400" cy="1219200"/>
          </a:xfrm>
          <a:prstGeom prst="rect">
            <a:avLst/>
          </a:prstGeom>
          <a:solidFill>
            <a:srgbClr val="00FF99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88071" name="Text Box 7"/>
          <p:cNvSpPr txBox="1"/>
          <p:nvPr/>
        </p:nvSpPr>
        <p:spPr>
          <a:xfrm>
            <a:off x="4572000" y="4819650"/>
            <a:ext cx="38036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grpSp>
        <p:nvGrpSpPr>
          <p:cNvPr id="88080" name="Group 16"/>
          <p:cNvGrpSpPr/>
          <p:nvPr/>
        </p:nvGrpSpPr>
        <p:grpSpPr>
          <a:xfrm>
            <a:off x="5724525" y="3916363"/>
            <a:ext cx="1906588" cy="1600200"/>
            <a:chOff x="4032" y="2544"/>
            <a:chExt cx="1201" cy="1008"/>
          </a:xfrm>
        </p:grpSpPr>
        <p:sp>
          <p:nvSpPr>
            <p:cNvPr id="34838" name="Rectangle 13"/>
            <p:cNvSpPr/>
            <p:nvPr/>
          </p:nvSpPr>
          <p:spPr>
            <a:xfrm>
              <a:off x="4032" y="2544"/>
              <a:ext cx="1200" cy="1008"/>
            </a:xfrm>
            <a:prstGeom prst="rect">
              <a:avLst/>
            </a:prstGeom>
            <a:solidFill>
              <a:srgbClr val="00FF99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39" name="Rectangle 15"/>
            <p:cNvSpPr/>
            <p:nvPr/>
          </p:nvSpPr>
          <p:spPr>
            <a:xfrm>
              <a:off x="4992" y="3216"/>
              <a:ext cx="241" cy="327"/>
            </a:xfrm>
            <a:prstGeom prst="rect">
              <a:avLst/>
            </a:prstGeom>
            <a:solidFill>
              <a:srgbClr val="00FF99"/>
            </a:solidFill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8072" name="Oval 8"/>
          <p:cNvSpPr/>
          <p:nvPr/>
        </p:nvSpPr>
        <p:spPr>
          <a:xfrm>
            <a:off x="1555750" y="4286250"/>
            <a:ext cx="1752600" cy="838200"/>
          </a:xfrm>
          <a:prstGeom prst="ellipse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0" name="Rectangle 20"/>
          <p:cNvSpPr/>
          <p:nvPr/>
        </p:nvSpPr>
        <p:spPr>
          <a:xfrm>
            <a:off x="1774825" y="4373563"/>
            <a:ext cx="42037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8092" name="Object 28"/>
          <p:cNvGraphicFramePr>
            <a:graphicFrameLocks noChangeAspect="1"/>
          </p:cNvGraphicFramePr>
          <p:nvPr/>
        </p:nvGraphicFramePr>
        <p:xfrm>
          <a:off x="1785938" y="4491038"/>
          <a:ext cx="814387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054100" imgH="393700" progId="">
                  <p:embed/>
                </p:oleObj>
              </mc:Choice>
              <mc:Fallback>
                <p:oleObj name="" r:id="rId1" imgW="1054100" imgH="393700" progId="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85938" y="4491038"/>
                        <a:ext cx="814387" cy="3794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106" name="Rectangle 42"/>
          <p:cNvSpPr/>
          <p:nvPr/>
        </p:nvSpPr>
        <p:spPr>
          <a:xfrm>
            <a:off x="939800" y="2590800"/>
            <a:ext cx="7620000" cy="11684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lnSpc>
                <a:spcPct val="125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实例</a:t>
            </a:r>
            <a:r>
              <a:rPr lang="zh-CN" altLang="en-US" sz="2800" b="1" dirty="0">
                <a:latin typeface="Times New Roman" panose="02020603050405020304" pitchFamily="18" charset="0"/>
              </a:rPr>
              <a:t>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长度合格但直径不合格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”是“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长度合格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与“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直径合格</a:t>
            </a:r>
            <a:r>
              <a:rPr lang="zh-CN" altLang="en-US" sz="2800" b="1" dirty="0">
                <a:latin typeface="Times New Roman" panose="02020603050405020304" pitchFamily="18" charset="0"/>
              </a:rPr>
              <a:t>”的差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876925" y="4078288"/>
            <a:ext cx="1524000" cy="1295400"/>
            <a:chOff x="5876925" y="4077816"/>
            <a:chExt cx="1524000" cy="1295400"/>
          </a:xfrm>
        </p:grpSpPr>
        <p:sp>
          <p:nvSpPr>
            <p:cNvPr id="34836" name="Oval 17"/>
            <p:cNvSpPr/>
            <p:nvPr/>
          </p:nvSpPr>
          <p:spPr>
            <a:xfrm>
              <a:off x="5876925" y="4077816"/>
              <a:ext cx="1524000" cy="1295400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37" name="Rectangle 20"/>
            <p:cNvSpPr/>
            <p:nvPr/>
          </p:nvSpPr>
          <p:spPr>
            <a:xfrm>
              <a:off x="6234461" y="4777988"/>
              <a:ext cx="423514" cy="52322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8090" name="Group 26"/>
          <p:cNvGrpSpPr/>
          <p:nvPr/>
        </p:nvGrpSpPr>
        <p:grpSpPr>
          <a:xfrm>
            <a:off x="2771775" y="4362450"/>
            <a:ext cx="1447800" cy="762000"/>
            <a:chOff x="1968" y="3072"/>
            <a:chExt cx="912" cy="480"/>
          </a:xfrm>
        </p:grpSpPr>
        <p:sp>
          <p:nvSpPr>
            <p:cNvPr id="34834" name="Oval 10"/>
            <p:cNvSpPr/>
            <p:nvPr/>
          </p:nvSpPr>
          <p:spPr>
            <a:xfrm>
              <a:off x="1968" y="3072"/>
              <a:ext cx="912" cy="480"/>
            </a:xfrm>
            <a:prstGeom prst="ellipse">
              <a:avLst/>
            </a:prstGeom>
            <a:solidFill>
              <a:srgbClr val="FF00FF">
                <a:alpha val="50195"/>
              </a:srgbClr>
            </a:soli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35" name="Text Box 11"/>
            <p:cNvSpPr txBox="1"/>
            <p:nvPr/>
          </p:nvSpPr>
          <p:spPr>
            <a:xfrm>
              <a:off x="2345" y="3154"/>
              <a:ext cx="257" cy="330"/>
            </a:xfrm>
            <a:prstGeom prst="rect">
              <a:avLst/>
            </a:prstGeom>
            <a:solidFill>
              <a:srgbClr val="FF00FF">
                <a:alpha val="0"/>
              </a:srgbClr>
            </a:solidFill>
            <a:ln w="127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B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130925" y="4233863"/>
            <a:ext cx="609600" cy="609600"/>
            <a:chOff x="6131223" y="4234532"/>
            <a:chExt cx="609600" cy="609600"/>
          </a:xfrm>
        </p:grpSpPr>
        <p:sp>
          <p:nvSpPr>
            <p:cNvPr id="34832" name="Oval 19"/>
            <p:cNvSpPr/>
            <p:nvPr/>
          </p:nvSpPr>
          <p:spPr>
            <a:xfrm>
              <a:off x="6131223" y="4234532"/>
              <a:ext cx="609600" cy="609600"/>
            </a:xfrm>
            <a:prstGeom prst="ellipse">
              <a:avLst/>
            </a:prstGeom>
            <a:solidFill>
              <a:srgbClr val="00B050">
                <a:alpha val="70195"/>
              </a:srgbClr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33" name="Rectangle 20"/>
            <p:cNvSpPr/>
            <p:nvPr/>
          </p:nvSpPr>
          <p:spPr>
            <a:xfrm>
              <a:off x="6228061" y="4282157"/>
              <a:ext cx="420687" cy="5191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B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8102" name="Object 38"/>
          <p:cNvGraphicFramePr>
            <a:graphicFrameLocks noChangeAspect="1"/>
          </p:cNvGraphicFramePr>
          <p:nvPr/>
        </p:nvGraphicFramePr>
        <p:xfrm>
          <a:off x="6278563" y="4879975"/>
          <a:ext cx="889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865505" imgH="272415" progId="">
                  <p:embed/>
                </p:oleObj>
              </mc:Choice>
              <mc:Fallback>
                <p:oleObj name="" r:id="rId3" imgW="865505" imgH="272415" progId="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808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78563" y="4879975"/>
                        <a:ext cx="8890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/>
      <p:bldP spid="88071" grpId="0"/>
      <p:bldP spid="88072" grpId="0" animBg="1"/>
      <p:bldP spid="30" grpId="0"/>
      <p:bldP spid="8810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9090" name="Text Box 2"/>
          <p:cNvSpPr txBox="1"/>
          <p:nvPr/>
        </p:nvSpPr>
        <p:spPr>
          <a:xfrm>
            <a:off x="914400" y="1438275"/>
            <a:ext cx="7405370" cy="11684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“事件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不发生”称为事件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对立事件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或逆事件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记作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3635375" y="209550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349885" imgH="349885" progId="">
                  <p:embed/>
                </p:oleObj>
              </mc:Choice>
              <mc:Fallback>
                <p:oleObj name="" r:id="rId1" imgW="349885" imgH="349885" progId="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35375" y="2095500"/>
                        <a:ext cx="3810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2" name="Rectangle 4"/>
          <p:cNvSpPr/>
          <p:nvPr/>
        </p:nvSpPr>
        <p:spPr>
          <a:xfrm>
            <a:off x="914400" y="2797175"/>
            <a:ext cx="803846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实例</a:t>
            </a:r>
            <a:r>
              <a:rPr lang="zh-CN" altLang="en-US" sz="2800" b="1" dirty="0">
                <a:latin typeface="Times New Roman" panose="02020603050405020304" pitchFamily="18" charset="0"/>
              </a:rPr>
              <a:t>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骰子出现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</a:t>
            </a:r>
            <a:r>
              <a:rPr lang="zh-CN" altLang="en-US" sz="2800" b="1" dirty="0">
                <a:latin typeface="Times New Roman" panose="02020603050405020304" pitchFamily="18" charset="0"/>
              </a:rPr>
              <a:t>”               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骰子不出现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点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89094" name="Rectangle 6"/>
          <p:cNvSpPr/>
          <p:nvPr/>
        </p:nvSpPr>
        <p:spPr>
          <a:xfrm>
            <a:off x="2916238" y="3711575"/>
            <a:ext cx="3276600" cy="1447800"/>
          </a:xfrm>
          <a:prstGeom prst="rect">
            <a:avLst/>
          </a:prstGeom>
          <a:solidFill>
            <a:srgbClr val="00FF99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89096" name="Text Box 8"/>
          <p:cNvSpPr txBox="1"/>
          <p:nvPr/>
        </p:nvSpPr>
        <p:spPr>
          <a:xfrm>
            <a:off x="5811838" y="4648200"/>
            <a:ext cx="38036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endParaRPr lang="en-US" altLang="zh-CN" sz="2800" b="1" i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9098" name="Text Box 10"/>
          <p:cNvSpPr txBox="1"/>
          <p:nvPr/>
        </p:nvSpPr>
        <p:spPr>
          <a:xfrm>
            <a:off x="4932363" y="3846513"/>
            <a:ext cx="42037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endParaRPr lang="en-US" altLang="zh-CN" sz="2800" b="1" i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9099" name="Object 11"/>
          <p:cNvGraphicFramePr>
            <a:graphicFrameLocks noChangeAspect="1"/>
          </p:cNvGraphicFramePr>
          <p:nvPr/>
        </p:nvGraphicFramePr>
        <p:xfrm>
          <a:off x="5332413" y="3892550"/>
          <a:ext cx="584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584200" imgH="368300" progId="">
                  <p:embed/>
                </p:oleObj>
              </mc:Choice>
              <mc:Fallback>
                <p:oleObj name="" r:id="rId3" imgW="584200" imgH="368300" progId="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2413" y="3892550"/>
                        <a:ext cx="5842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0" name="Rectangle 12"/>
          <p:cNvSpPr/>
          <p:nvPr/>
        </p:nvSpPr>
        <p:spPr>
          <a:xfrm>
            <a:off x="914400" y="5576888"/>
            <a:ext cx="447802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与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</a:rPr>
              <a:t>互为对立事件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9101" name="Object 13"/>
          <p:cNvGraphicFramePr>
            <a:graphicFrameLocks noChangeAspect="1"/>
          </p:cNvGraphicFramePr>
          <p:nvPr/>
        </p:nvGraphicFramePr>
        <p:xfrm>
          <a:off x="5364163" y="5661025"/>
          <a:ext cx="3378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5" imgW="3414395" imgH="389255" progId="">
                  <p:embed/>
                </p:oleObj>
              </mc:Choice>
              <mc:Fallback>
                <p:oleObj name="" r:id="rId5" imgW="3414395" imgH="389255" progId="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2736F7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64163" y="5661025"/>
                        <a:ext cx="33782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9120" name="Group 32"/>
          <p:cNvGrpSpPr/>
          <p:nvPr/>
        </p:nvGrpSpPr>
        <p:grpSpPr>
          <a:xfrm>
            <a:off x="3221038" y="3886200"/>
            <a:ext cx="1543050" cy="1066800"/>
            <a:chOff x="2868" y="2434"/>
            <a:chExt cx="972" cy="672"/>
          </a:xfrm>
        </p:grpSpPr>
        <p:sp>
          <p:nvSpPr>
            <p:cNvPr id="35857" name="Oval 7"/>
            <p:cNvSpPr/>
            <p:nvPr/>
          </p:nvSpPr>
          <p:spPr>
            <a:xfrm>
              <a:off x="2928" y="2434"/>
              <a:ext cx="912" cy="672"/>
            </a:xfrm>
            <a:prstGeom prst="ellipse">
              <a:avLst/>
            </a:prstGeom>
            <a:solidFill>
              <a:srgbClr val="F8F83E"/>
            </a:soli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858" name="Text Box 9"/>
            <p:cNvSpPr txBox="1"/>
            <p:nvPr/>
          </p:nvSpPr>
          <p:spPr>
            <a:xfrm>
              <a:off x="3256" y="2592"/>
              <a:ext cx="26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5859" name="Object 26"/>
            <p:cNvGraphicFramePr>
              <a:graphicFrameLocks noChangeAspect="1"/>
            </p:cNvGraphicFramePr>
            <p:nvPr/>
          </p:nvGraphicFramePr>
          <p:xfrm>
            <a:off x="2868" y="2830"/>
            <a:ext cx="12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7" imgW="190500" imgH="419100" progId="">
                    <p:embed/>
                  </p:oleObj>
                </mc:Choice>
                <mc:Fallback>
                  <p:oleObj name="" r:id="rId7" imgW="190500" imgH="419100" progId="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68" y="2830"/>
                          <a:ext cx="120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52" name="Rectangle 28"/>
          <p:cNvSpPr/>
          <p:nvPr/>
        </p:nvSpPr>
        <p:spPr>
          <a:xfrm>
            <a:off x="914400" y="838200"/>
            <a:ext cx="343662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7.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的对立事件</a:t>
            </a:r>
            <a:endParaRPr lang="zh-CN" altLang="en-US" sz="2800" b="1" dirty="0">
              <a:solidFill>
                <a:srgbClr val="2736F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89119" name="Group 31"/>
          <p:cNvGrpSpPr/>
          <p:nvPr/>
        </p:nvGrpSpPr>
        <p:grpSpPr>
          <a:xfrm>
            <a:off x="4572000" y="2552700"/>
            <a:ext cx="1143000" cy="552450"/>
            <a:chOff x="2784" y="1620"/>
            <a:chExt cx="720" cy="348"/>
          </a:xfrm>
        </p:grpSpPr>
        <p:sp>
          <p:nvSpPr>
            <p:cNvPr id="35855" name="Line 29"/>
            <p:cNvSpPr/>
            <p:nvPr/>
          </p:nvSpPr>
          <p:spPr>
            <a:xfrm>
              <a:off x="2784" y="1968"/>
              <a:ext cx="7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triangle" w="med" len="med"/>
              <a:tailEnd type="triangle" w="med" len="med"/>
            </a:ln>
          </p:spPr>
        </p:sp>
        <p:sp>
          <p:nvSpPr>
            <p:cNvPr id="35856" name="Rectangle 30"/>
            <p:cNvSpPr/>
            <p:nvPr/>
          </p:nvSpPr>
          <p:spPr>
            <a:xfrm>
              <a:off x="2832" y="1620"/>
              <a:ext cx="56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对立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8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/>
      <p:bldP spid="89092" grpId="0"/>
      <p:bldP spid="89096" grpId="0"/>
      <p:bldP spid="89098" grpId="0"/>
      <p:bldP spid="8910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973138" y="1524000"/>
            <a:ext cx="8686800" cy="398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R="0" algn="just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2736F7"/>
                </a:solidFill>
                <a:latin typeface="+mj-ea"/>
                <a:ea typeface="+mj-ea"/>
                <a:cs typeface="+mn-cs"/>
              </a:rPr>
              <a:t>并事件</a:t>
            </a:r>
            <a:endParaRPr kumimoji="1" lang="zh-CN" altLang="en-US" b="1" kern="1200" cap="none" spc="0" normalizeH="0" baseline="0" noProof="0" dirty="0">
              <a:solidFill>
                <a:srgbClr val="2736F7"/>
              </a:solidFill>
              <a:latin typeface="+mj-ea"/>
              <a:ea typeface="+mj-ea"/>
              <a:cs typeface="+mn-cs"/>
            </a:endParaRPr>
          </a:p>
          <a:p>
            <a:pPr marR="0" algn="just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 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交换律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(2) (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 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 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结合律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b="1" kern="1200" cap="none" spc="0" normalizeH="0" baseline="0" noProof="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2736F7"/>
                </a:solidFill>
                <a:latin typeface="+mj-ea"/>
                <a:ea typeface="+mj-ea"/>
                <a:cs typeface="+mn-cs"/>
              </a:rPr>
              <a:t>交事件</a:t>
            </a:r>
            <a:endParaRPr kumimoji="1" lang="zh-CN" altLang="en-US" b="1" kern="1200" cap="none" spc="0" normalizeH="0" baseline="0" noProof="0" dirty="0">
              <a:solidFill>
                <a:srgbClr val="2736F7"/>
              </a:solidFill>
              <a:latin typeface="+mj-ea"/>
              <a:ea typeface="+mj-ea"/>
              <a:cs typeface="+mn-cs"/>
            </a:endParaRPr>
          </a:p>
          <a:p>
            <a:pPr marR="0" algn="just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 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交换律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(2) (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 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 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结合律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b="1" kern="1200" cap="none" spc="0" normalizeH="0" baseline="0" noProof="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2736F7"/>
                </a:solidFill>
                <a:latin typeface="+mj-ea"/>
                <a:ea typeface="+mj-ea"/>
                <a:cs typeface="+mn-cs"/>
              </a:rPr>
              <a:t>并事件与交事件的混合</a:t>
            </a:r>
            <a:endParaRPr kumimoji="1" lang="zh-CN" altLang="en-US" b="1" kern="1200" cap="none" spc="0" normalizeH="0" baseline="0" noProof="0" dirty="0">
              <a:solidFill>
                <a:srgbClr val="2736F7"/>
              </a:solidFill>
              <a:latin typeface="+mj-ea"/>
              <a:ea typeface="+mj-ea"/>
              <a:cs typeface="+mn-cs"/>
            </a:endParaRPr>
          </a:p>
          <a:p>
            <a:pPr marR="0" algn="just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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1" lang="en-US" altLang="zh-CN" sz="18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第一分配律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(2) 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 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∩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∪</a:t>
            </a:r>
            <a:r>
              <a:rPr kumimoji="1" lang="en-US" altLang="zh-CN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 (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第二分配律</a:t>
            </a:r>
            <a:r>
              <a: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7" name="Rectangle 2"/>
          <p:cNvSpPr/>
          <p:nvPr/>
        </p:nvSpPr>
        <p:spPr>
          <a:xfrm>
            <a:off x="925513" y="744538"/>
            <a:ext cx="86868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eaLnBrk="1" hangingPunct="1"/>
            <a:r>
              <a:rPr lang="en-US" altLang="zh-CN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8. 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事件间的运算规律</a:t>
            </a:r>
            <a:endParaRPr lang="zh-CN" altLang="en-US" sz="2800" b="1" dirty="0">
              <a:solidFill>
                <a:srgbClr val="2736F7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2">
                                            <p:txEl>
                                              <p:charRg st="4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32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2">
                                            <p:txEl>
                                              <p:charRg st="32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76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2">
                                            <p:txEl>
                                              <p:charRg st="76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8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2">
                                            <p:txEl>
                                              <p:charRg st="80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108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2">
                                            <p:txEl>
                                              <p:charRg st="108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152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12">
                                            <p:txEl>
                                              <p:charRg st="152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163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012">
                                            <p:txEl>
                                              <p:charRg st="163" end="2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206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012">
                                            <p:txEl>
                                              <p:charRg st="206" end="2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66" name="Picture 10"/>
          <p:cNvPicPr>
            <a:picLocks noChangeAspect="1"/>
          </p:cNvPicPr>
          <p:nvPr/>
        </p:nvPicPr>
        <p:blipFill>
          <a:blip r:embed="rId1"/>
          <a:srcRect r="44939"/>
          <a:stretch>
            <a:fillRect/>
          </a:stretch>
        </p:blipFill>
        <p:spPr>
          <a:xfrm>
            <a:off x="1030288" y="2986088"/>
            <a:ext cx="4800600" cy="5381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5" name="Picture 9"/>
          <p:cNvPicPr>
            <a:picLocks noChangeAspect="1"/>
          </p:cNvPicPr>
          <p:nvPr/>
        </p:nvPicPr>
        <p:blipFill>
          <a:blip r:embed="rId2"/>
          <a:srcRect r="44064"/>
          <a:stretch>
            <a:fillRect/>
          </a:stretch>
        </p:blipFill>
        <p:spPr>
          <a:xfrm>
            <a:off x="1030288" y="2452688"/>
            <a:ext cx="4876800" cy="538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1021398" y="836613"/>
            <a:ext cx="1224280" cy="442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R="0" algn="just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2736F7"/>
                </a:solidFill>
                <a:latin typeface="+mj-ea"/>
                <a:ea typeface="+mj-ea"/>
                <a:cs typeface="+mn-cs"/>
              </a:rPr>
              <a:t>对立事件</a:t>
            </a:r>
            <a:endParaRPr kumimoji="1" lang="zh-CN" altLang="en-US" b="1" kern="1200" cap="none" spc="0" normalizeH="0" baseline="0" noProof="0" dirty="0">
              <a:solidFill>
                <a:srgbClr val="2736F7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989489" y="1979613"/>
            <a:ext cx="3826510" cy="442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R="0" algn="just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2736F7"/>
                </a:solidFill>
                <a:latin typeface="+mj-ea"/>
                <a:ea typeface="+mj-ea"/>
                <a:cs typeface="+mn-cs"/>
              </a:rPr>
              <a:t>并事件及交事件的对立事件 </a:t>
            </a:r>
            <a:endParaRPr kumimoji="1" lang="zh-CN" altLang="en-US" b="1" kern="1200" cap="none" spc="0" normalizeH="0" baseline="0" noProof="0" dirty="0">
              <a:solidFill>
                <a:srgbClr val="2736F7"/>
              </a:solidFill>
              <a:latin typeface="+mj-ea"/>
              <a:ea typeface="+mj-ea"/>
              <a:cs typeface="+mn-cs"/>
            </a:endParaRPr>
          </a:p>
        </p:txBody>
      </p:sp>
      <p:pic>
        <p:nvPicPr>
          <p:cNvPr id="37894" name="Picture 5"/>
          <p:cNvPicPr>
            <a:picLocks noChangeAspect="1"/>
          </p:cNvPicPr>
          <p:nvPr/>
        </p:nvPicPr>
        <p:blipFill>
          <a:blip r:embed="rId3"/>
          <a:srcRect r="64912"/>
          <a:stretch>
            <a:fillRect/>
          </a:stretch>
        </p:blipFill>
        <p:spPr>
          <a:xfrm>
            <a:off x="1017588" y="1350963"/>
            <a:ext cx="3048000" cy="555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0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865188" y="2489200"/>
            <a:ext cx="7689850" cy="1992313"/>
            <a:chOff x="865683" y="2488889"/>
            <a:chExt cx="7690049" cy="1992624"/>
          </a:xfrm>
        </p:grpSpPr>
        <p:sp>
          <p:nvSpPr>
            <p:cNvPr id="38920" name="Text Box 1027"/>
            <p:cNvSpPr txBox="1"/>
            <p:nvPr/>
          </p:nvSpPr>
          <p:spPr>
            <a:xfrm>
              <a:off x="865684" y="2490258"/>
              <a:ext cx="3418868" cy="5191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(1)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没有一个是次品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;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921" name="Rectangle 1028"/>
            <p:cNvSpPr/>
            <p:nvPr/>
          </p:nvSpPr>
          <p:spPr>
            <a:xfrm>
              <a:off x="4621907" y="2488889"/>
              <a:ext cx="3933825" cy="5191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(2)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至少有一个是次品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;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922" name="Rectangle 1029"/>
            <p:cNvSpPr/>
            <p:nvPr/>
          </p:nvSpPr>
          <p:spPr>
            <a:xfrm>
              <a:off x="865684" y="3226329"/>
              <a:ext cx="3418868" cy="5191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(3)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只有一个是次品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;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923" name="Rectangle 1030"/>
            <p:cNvSpPr/>
            <p:nvPr/>
          </p:nvSpPr>
          <p:spPr>
            <a:xfrm>
              <a:off x="4621907" y="3223591"/>
              <a:ext cx="3933825" cy="52322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(4)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至少有三个不是次品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;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924" name="Rectangle 1031"/>
            <p:cNvSpPr/>
            <p:nvPr/>
          </p:nvSpPr>
          <p:spPr>
            <a:xfrm>
              <a:off x="865683" y="3962400"/>
              <a:ext cx="3657593" cy="5191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(5)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恰好有三个是次品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;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925" name="Rectangle 1032"/>
            <p:cNvSpPr/>
            <p:nvPr/>
          </p:nvSpPr>
          <p:spPr>
            <a:xfrm>
              <a:off x="4621907" y="3962400"/>
              <a:ext cx="3933825" cy="5191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(6)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至多有一个是次品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5481" name="Rectangle 1033"/>
          <p:cNvSpPr/>
          <p:nvPr/>
        </p:nvSpPr>
        <p:spPr>
          <a:xfrm>
            <a:off x="841375" y="4953000"/>
            <a:ext cx="54038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sz="2800" b="1" dirty="0">
              <a:solidFill>
                <a:srgbClr val="2736F7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05482" name="Object 1034"/>
          <p:cNvGraphicFramePr>
            <a:graphicFrameLocks noChangeAspect="1"/>
          </p:cNvGraphicFramePr>
          <p:nvPr/>
        </p:nvGraphicFramePr>
        <p:xfrm>
          <a:off x="1547813" y="5029200"/>
          <a:ext cx="2247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2247900" imgH="431800" progId="">
                  <p:embed/>
                </p:oleObj>
              </mc:Choice>
              <mc:Fallback>
                <p:oleObj name="" r:id="rId1" imgW="2247900" imgH="431800" progId="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813" y="5029200"/>
                        <a:ext cx="2247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1036"/>
          <p:cNvGraphicFramePr>
            <a:graphicFrameLocks noChangeAspect="1"/>
          </p:cNvGraphicFramePr>
          <p:nvPr/>
        </p:nvGraphicFramePr>
        <p:xfrm>
          <a:off x="908050" y="762000"/>
          <a:ext cx="72644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7251700" imgH="1511300" progId="">
                  <p:embed/>
                </p:oleObj>
              </mc:Choice>
              <mc:Fallback>
                <p:oleObj name="" r:id="rId3" imgW="7251700" imgH="1511300" progId="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8050" y="762000"/>
                        <a:ext cx="7264400" cy="151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Rectangle 7"/>
          <p:cNvSpPr/>
          <p:nvPr/>
        </p:nvSpPr>
        <p:spPr>
          <a:xfrm>
            <a:off x="841375" y="679450"/>
            <a:ext cx="72009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2736F7"/>
                </a:solidFill>
                <a:latin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2736F7"/>
                </a:solidFill>
                <a:latin typeface="黑体" panose="02010609060101010101" pitchFamily="49" charset="-122"/>
              </a:rPr>
              <a:t>1</a:t>
            </a:r>
            <a:endParaRPr lang="zh-CN" altLang="en-US" sz="2800" b="1" dirty="0">
              <a:solidFill>
                <a:srgbClr val="2736F7"/>
              </a:solidFill>
              <a:latin typeface="黑体" panose="02010609060101010101" pitchFamily="49" charset="-122"/>
            </a:endParaRPr>
          </a:p>
        </p:txBody>
      </p: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39938" name="Object 1028"/>
          <p:cNvGraphicFramePr>
            <a:graphicFrameLocks noChangeAspect="1"/>
          </p:cNvGraphicFramePr>
          <p:nvPr/>
        </p:nvGraphicFramePr>
        <p:xfrm>
          <a:off x="914400" y="762000"/>
          <a:ext cx="735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7353300" imgH="469900" progId="">
                  <p:embed/>
                </p:oleObj>
              </mc:Choice>
              <mc:Fallback>
                <p:oleObj name="" r:id="rId1" imgW="7353300" imgH="469900" progId="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762000"/>
                        <a:ext cx="73533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3" name="Object 1029"/>
          <p:cNvGraphicFramePr>
            <a:graphicFrameLocks noChangeAspect="1"/>
          </p:cNvGraphicFramePr>
          <p:nvPr/>
        </p:nvGraphicFramePr>
        <p:xfrm>
          <a:off x="1230313" y="1447800"/>
          <a:ext cx="7416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" imgW="7416800" imgH="469900" progId="">
                  <p:embed/>
                </p:oleObj>
              </mc:Choice>
              <mc:Fallback>
                <p:oleObj name="" r:id="rId3" imgW="7416800" imgH="469900" progId="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0313" y="1447800"/>
                        <a:ext cx="74168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4" name="Object 1030"/>
          <p:cNvGraphicFramePr>
            <a:graphicFrameLocks noChangeAspect="1"/>
          </p:cNvGraphicFramePr>
          <p:nvPr/>
        </p:nvGraphicFramePr>
        <p:xfrm>
          <a:off x="1230313" y="2133600"/>
          <a:ext cx="3619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5" imgW="3619500" imgH="469900" progId="">
                  <p:embed/>
                </p:oleObj>
              </mc:Choice>
              <mc:Fallback>
                <p:oleObj name="" r:id="rId5" imgW="3619500" imgH="469900" progId="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30313" y="2133600"/>
                        <a:ext cx="36195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5" name="Object 1031"/>
          <p:cNvGraphicFramePr>
            <a:graphicFrameLocks noChangeAspect="1"/>
          </p:cNvGraphicFramePr>
          <p:nvPr/>
        </p:nvGraphicFramePr>
        <p:xfrm>
          <a:off x="4964113" y="2133600"/>
          <a:ext cx="378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7" imgW="3784600" imgH="469900" progId="">
                  <p:embed/>
                </p:oleObj>
              </mc:Choice>
              <mc:Fallback>
                <p:oleObj name="" r:id="rId7" imgW="3784600" imgH="469900" progId="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64113" y="2133600"/>
                        <a:ext cx="37846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6" name="Object 1032"/>
          <p:cNvGraphicFramePr>
            <a:graphicFrameLocks noChangeAspect="1"/>
          </p:cNvGraphicFramePr>
          <p:nvPr/>
        </p:nvGraphicFramePr>
        <p:xfrm>
          <a:off x="1230313" y="2819400"/>
          <a:ext cx="3886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9" imgW="3886200" imgH="469900" progId="">
                  <p:embed/>
                </p:oleObj>
              </mc:Choice>
              <mc:Fallback>
                <p:oleObj name="" r:id="rId9" imgW="3886200" imgH="469900" progId="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30313" y="2819400"/>
                        <a:ext cx="3886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7" name="Object 1033"/>
          <p:cNvGraphicFramePr>
            <a:graphicFrameLocks noChangeAspect="1"/>
          </p:cNvGraphicFramePr>
          <p:nvPr/>
        </p:nvGraphicFramePr>
        <p:xfrm>
          <a:off x="5040313" y="2819400"/>
          <a:ext cx="2057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1" imgW="2057400" imgH="469900" progId="">
                  <p:embed/>
                </p:oleObj>
              </mc:Choice>
              <mc:Fallback>
                <p:oleObj name="" r:id="rId11" imgW="2057400" imgH="469900" progId="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40313" y="2819400"/>
                        <a:ext cx="20574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8" name="Object 1034"/>
          <p:cNvGraphicFramePr>
            <a:graphicFrameLocks noChangeAspect="1"/>
          </p:cNvGraphicFramePr>
          <p:nvPr/>
        </p:nvGraphicFramePr>
        <p:xfrm>
          <a:off x="914400" y="3505200"/>
          <a:ext cx="2324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3" imgW="2324100" imgH="469900" progId="">
                  <p:embed/>
                </p:oleObj>
              </mc:Choice>
              <mc:Fallback>
                <p:oleObj name="" r:id="rId13" imgW="2324100" imgH="469900" progId="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14400" y="3505200"/>
                        <a:ext cx="23241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9" name="Object 1035"/>
          <p:cNvGraphicFramePr>
            <a:graphicFrameLocks noChangeAspect="1"/>
          </p:cNvGraphicFramePr>
          <p:nvPr/>
        </p:nvGraphicFramePr>
        <p:xfrm>
          <a:off x="914400" y="4191000"/>
          <a:ext cx="7645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5" imgW="7645400" imgH="469900" progId="">
                  <p:embed/>
                </p:oleObj>
              </mc:Choice>
              <mc:Fallback>
                <p:oleObj name="" r:id="rId15" imgW="7645400" imgH="469900" progId="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14400" y="4191000"/>
                        <a:ext cx="76454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0" name="Object 1036"/>
          <p:cNvGraphicFramePr>
            <a:graphicFrameLocks noChangeAspect="1"/>
          </p:cNvGraphicFramePr>
          <p:nvPr/>
        </p:nvGraphicFramePr>
        <p:xfrm>
          <a:off x="914400" y="5029200"/>
          <a:ext cx="7543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7" imgW="7543800" imgH="1003300" progId="">
                  <p:embed/>
                </p:oleObj>
              </mc:Choice>
              <mc:Fallback>
                <p:oleObj name="" r:id="rId17" imgW="7543800" imgH="1003300" progId="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14400" y="5029200"/>
                        <a:ext cx="75438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1" name="Object 1037"/>
          <p:cNvGraphicFramePr>
            <a:graphicFrameLocks noChangeAspect="1"/>
          </p:cNvGraphicFramePr>
          <p:nvPr/>
        </p:nvGraphicFramePr>
        <p:xfrm>
          <a:off x="1258888" y="5638800"/>
          <a:ext cx="184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9" imgW="1841500" imgH="431800" progId="">
                  <p:embed/>
                </p:oleObj>
              </mc:Choice>
              <mc:Fallback>
                <p:oleObj name="" r:id="rId19" imgW="1841500" imgH="431800" progId="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58888" y="5638800"/>
                        <a:ext cx="1841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9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914400" y="990600"/>
          <a:ext cx="59309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5930900" imgH="1028700" progId="">
                  <p:embed/>
                </p:oleObj>
              </mc:Choice>
              <mc:Fallback>
                <p:oleObj name="" r:id="rId1" imgW="5930900" imgH="1028700" progId="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990600"/>
                        <a:ext cx="5930900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5" name="Object 3"/>
          <p:cNvGraphicFramePr>
            <a:graphicFrameLocks noChangeAspect="1"/>
          </p:cNvGraphicFramePr>
          <p:nvPr/>
        </p:nvGraphicFramePr>
        <p:xfrm>
          <a:off x="914400" y="2438400"/>
          <a:ext cx="7543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7543800" imgH="1003300" progId="">
                  <p:embed/>
                </p:oleObj>
              </mc:Choice>
              <mc:Fallback>
                <p:oleObj name="" r:id="rId3" imgW="7543800" imgH="1003300" progId="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2438400"/>
                        <a:ext cx="75438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6259" name="Rectangle 3"/>
          <p:cNvSpPr/>
          <p:nvPr/>
        </p:nvSpPr>
        <p:spPr>
          <a:xfrm>
            <a:off x="938213" y="2590800"/>
            <a:ext cx="161290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随机试验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96275" name="Group 19"/>
          <p:cNvGrpSpPr/>
          <p:nvPr/>
        </p:nvGrpSpPr>
        <p:grpSpPr>
          <a:xfrm>
            <a:off x="2649538" y="2590800"/>
            <a:ext cx="2522537" cy="519113"/>
            <a:chOff x="1654" y="1632"/>
            <a:chExt cx="1589" cy="327"/>
          </a:xfrm>
        </p:grpSpPr>
        <p:sp>
          <p:nvSpPr>
            <p:cNvPr id="42003" name="Line 4"/>
            <p:cNvSpPr/>
            <p:nvPr/>
          </p:nvSpPr>
          <p:spPr>
            <a:xfrm>
              <a:off x="1654" y="1811"/>
              <a:ext cx="522" cy="0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triangle" w="lg" len="med"/>
            </a:ln>
          </p:spPr>
        </p:sp>
        <p:sp>
          <p:nvSpPr>
            <p:cNvPr id="42004" name="Rectangle 5"/>
            <p:cNvSpPr/>
            <p:nvPr/>
          </p:nvSpPr>
          <p:spPr>
            <a:xfrm>
              <a:off x="2228" y="1632"/>
              <a:ext cx="101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宋体" panose="02010600030101010101" pitchFamily="2" charset="-122"/>
                </a:rPr>
                <a:t>样本空间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96276" name="Group 20"/>
          <p:cNvGrpSpPr/>
          <p:nvPr/>
        </p:nvGrpSpPr>
        <p:grpSpPr>
          <a:xfrm>
            <a:off x="5257800" y="2301875"/>
            <a:ext cx="2728913" cy="808038"/>
            <a:chOff x="3297" y="1450"/>
            <a:chExt cx="1719" cy="509"/>
          </a:xfrm>
        </p:grpSpPr>
        <p:sp>
          <p:nvSpPr>
            <p:cNvPr id="42000" name="Line 6"/>
            <p:cNvSpPr/>
            <p:nvPr/>
          </p:nvSpPr>
          <p:spPr>
            <a:xfrm>
              <a:off x="3297" y="1811"/>
              <a:ext cx="672" cy="0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triangle" w="lg" len="med"/>
            </a:ln>
          </p:spPr>
        </p:sp>
        <p:sp>
          <p:nvSpPr>
            <p:cNvPr id="42001" name="Rectangle 7"/>
            <p:cNvSpPr/>
            <p:nvPr/>
          </p:nvSpPr>
          <p:spPr>
            <a:xfrm>
              <a:off x="3297" y="1450"/>
              <a:ext cx="56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宋体" panose="02010600030101010101" pitchFamily="2" charset="-122"/>
                </a:rPr>
                <a:t>子集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42002" name="Rectangle 8"/>
            <p:cNvSpPr/>
            <p:nvPr/>
          </p:nvSpPr>
          <p:spPr>
            <a:xfrm>
              <a:off x="4000" y="1632"/>
              <a:ext cx="101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宋体" panose="02010600030101010101" pitchFamily="2" charset="-122"/>
                </a:rPr>
                <a:t>随机事件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96277" name="Group 21"/>
          <p:cNvGrpSpPr/>
          <p:nvPr/>
        </p:nvGrpSpPr>
        <p:grpSpPr>
          <a:xfrm>
            <a:off x="938213" y="3517900"/>
            <a:ext cx="914400" cy="2044700"/>
            <a:chOff x="1728" y="2222"/>
            <a:chExt cx="576" cy="1288"/>
          </a:xfrm>
        </p:grpSpPr>
        <p:sp>
          <p:nvSpPr>
            <p:cNvPr id="41998" name="Text Box 9"/>
            <p:cNvSpPr txBox="1"/>
            <p:nvPr/>
          </p:nvSpPr>
          <p:spPr>
            <a:xfrm>
              <a:off x="1728" y="2395"/>
              <a:ext cx="385" cy="94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800" b="1" dirty="0">
                  <a:latin typeface="宋体" panose="02010600030101010101" pitchFamily="2" charset="-122"/>
                </a:rPr>
                <a:t>随机事件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41999" name="Object 10"/>
            <p:cNvGraphicFramePr>
              <a:graphicFrameLocks noChangeAspect="1"/>
            </p:cNvGraphicFramePr>
            <p:nvPr/>
          </p:nvGraphicFramePr>
          <p:xfrm>
            <a:off x="2064" y="2222"/>
            <a:ext cx="240" cy="1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1" imgW="349885" imgH="2052320" progId="">
                    <p:embed/>
                  </p:oleObj>
                </mc:Choice>
                <mc:Fallback>
                  <p:oleObj name="" r:id="rId1" imgW="349885" imgH="2052320" progId="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4" y="2222"/>
                          <a:ext cx="240" cy="1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6278" name="Group 22"/>
          <p:cNvGrpSpPr/>
          <p:nvPr/>
        </p:nvGrpSpPr>
        <p:grpSpPr>
          <a:xfrm>
            <a:off x="1624013" y="3470275"/>
            <a:ext cx="1970087" cy="2119313"/>
            <a:chOff x="2160" y="2208"/>
            <a:chExt cx="1241" cy="1335"/>
          </a:xfrm>
        </p:grpSpPr>
        <p:sp>
          <p:nvSpPr>
            <p:cNvPr id="41994" name="Rectangle 11"/>
            <p:cNvSpPr/>
            <p:nvPr/>
          </p:nvSpPr>
          <p:spPr>
            <a:xfrm>
              <a:off x="2160" y="2208"/>
              <a:ext cx="101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800" b="1" dirty="0">
                  <a:latin typeface="宋体" panose="02010600030101010101" pitchFamily="2" charset="-122"/>
                </a:rPr>
                <a:t>基本事件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41995" name="Rectangle 12"/>
            <p:cNvSpPr/>
            <p:nvPr/>
          </p:nvSpPr>
          <p:spPr>
            <a:xfrm>
              <a:off x="2160" y="2880"/>
              <a:ext cx="101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宋体" panose="02010600030101010101" pitchFamily="2" charset="-122"/>
                </a:rPr>
                <a:t>必然事件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41996" name="Rectangle 13"/>
            <p:cNvSpPr/>
            <p:nvPr/>
          </p:nvSpPr>
          <p:spPr>
            <a:xfrm>
              <a:off x="2160" y="3216"/>
              <a:ext cx="12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宋体" panose="02010600030101010101" pitchFamily="2" charset="-122"/>
                </a:rPr>
                <a:t>不可能事件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41997" name="Rectangle 14"/>
            <p:cNvSpPr/>
            <p:nvPr/>
          </p:nvSpPr>
          <p:spPr>
            <a:xfrm>
              <a:off x="2160" y="2544"/>
              <a:ext cx="101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宋体" panose="02010600030101010101" pitchFamily="2" charset="-122"/>
                </a:rPr>
                <a:t>复合事件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1991" name="Text Box 17"/>
          <p:cNvSpPr/>
          <p:nvPr>
            <p:ph type="title" idx="4294967295"/>
          </p:nvPr>
        </p:nvSpPr>
        <p:spPr>
          <a:xfrm>
            <a:off x="0" y="548640"/>
            <a:ext cx="9131935" cy="706755"/>
          </a:xfrm>
          <a:ln w="12700"/>
        </p:spPr>
        <p:txBody>
          <a:bodyPr vert="horz" wrap="square" lIns="91440" tIns="45720" rIns="91440" bIns="4572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</a:rPr>
              <a:t>四、小结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</a:endParaRPr>
          </a:p>
        </p:txBody>
      </p:sp>
      <p:sp>
        <p:nvSpPr>
          <p:cNvPr id="96274" name="Rectangle 18"/>
          <p:cNvSpPr/>
          <p:nvPr/>
        </p:nvSpPr>
        <p:spPr>
          <a:xfrm>
            <a:off x="914400" y="1752600"/>
            <a:ext cx="70231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2736F7"/>
                </a:solidFill>
                <a:latin typeface="宋体" panose="02010600030101010101" pitchFamily="2" charset="-122"/>
              </a:rPr>
              <a:t>随机试验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2736F7"/>
                </a:solidFill>
                <a:latin typeface="宋体" panose="02010600030101010101" pitchFamily="2" charset="-122"/>
              </a:rPr>
              <a:t>样本空间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2736F7"/>
                </a:solidFill>
                <a:latin typeface="宋体" panose="02010600030101010101" pitchFamily="2" charset="-122"/>
              </a:rPr>
              <a:t>随机事件的关系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/>
      <p:bldP spid="9627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3010" name="Rectangle 38"/>
          <p:cNvSpPr/>
          <p:nvPr/>
        </p:nvSpPr>
        <p:spPr>
          <a:xfrm>
            <a:off x="914400" y="762000"/>
            <a:ext cx="554355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2736F7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2736F7"/>
                </a:solidFill>
                <a:latin typeface="Times New Roman" panose="02020603050405020304" pitchFamily="18" charset="0"/>
              </a:rPr>
              <a:t>概率论与集合论之间的对应关系</a:t>
            </a:r>
            <a:endParaRPr lang="zh-CN" altLang="en-US" sz="2800" b="1" dirty="0">
              <a:solidFill>
                <a:srgbClr val="2736F7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1182" name="Group 46"/>
          <p:cNvGrpSpPr/>
          <p:nvPr/>
        </p:nvGrpSpPr>
        <p:grpSpPr>
          <a:xfrm>
            <a:off x="1087438" y="1484313"/>
            <a:ext cx="7696200" cy="4497387"/>
            <a:chOff x="576" y="915"/>
            <a:chExt cx="4848" cy="2833"/>
          </a:xfrm>
        </p:grpSpPr>
        <p:sp>
          <p:nvSpPr>
            <p:cNvPr id="43013" name="Line 2"/>
            <p:cNvSpPr/>
            <p:nvPr/>
          </p:nvSpPr>
          <p:spPr>
            <a:xfrm>
              <a:off x="576" y="1347"/>
              <a:ext cx="4848" cy="0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43014" name="Line 3"/>
            <p:cNvSpPr/>
            <p:nvPr/>
          </p:nvSpPr>
          <p:spPr>
            <a:xfrm>
              <a:off x="1200" y="915"/>
              <a:ext cx="0" cy="2833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43015" name="Line 4"/>
            <p:cNvSpPr/>
            <p:nvPr/>
          </p:nvSpPr>
          <p:spPr>
            <a:xfrm>
              <a:off x="3360" y="915"/>
              <a:ext cx="0" cy="2833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43016" name="Text Box 5"/>
            <p:cNvSpPr txBox="1"/>
            <p:nvPr/>
          </p:nvSpPr>
          <p:spPr>
            <a:xfrm>
              <a:off x="600" y="963"/>
              <a:ext cx="56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记号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3017" name="Text Box 6"/>
            <p:cNvSpPr txBox="1"/>
            <p:nvPr/>
          </p:nvSpPr>
          <p:spPr>
            <a:xfrm>
              <a:off x="1912" y="963"/>
              <a:ext cx="79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概率论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3018" name="Text Box 7"/>
            <p:cNvSpPr txBox="1"/>
            <p:nvPr/>
          </p:nvSpPr>
          <p:spPr>
            <a:xfrm>
              <a:off x="3984" y="963"/>
              <a:ext cx="79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集合论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43019" name="Object 8"/>
            <p:cNvGraphicFramePr>
              <a:graphicFrameLocks noChangeAspect="1"/>
            </p:cNvGraphicFramePr>
            <p:nvPr/>
          </p:nvGraphicFramePr>
          <p:xfrm>
            <a:off x="796" y="1443"/>
            <a:ext cx="17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1" imgW="279400" imgH="317500" progId="">
                    <p:embed/>
                  </p:oleObj>
                </mc:Choice>
                <mc:Fallback>
                  <p:oleObj name="" r:id="rId1" imgW="279400" imgH="317500" progId="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96" y="1443"/>
                          <a:ext cx="17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0" name="Text Box 9"/>
            <p:cNvSpPr txBox="1"/>
            <p:nvPr/>
          </p:nvSpPr>
          <p:spPr>
            <a:xfrm>
              <a:off x="1283" y="1365"/>
              <a:ext cx="2048" cy="3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样本空间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必然事件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3021" name="Rectangle 10"/>
            <p:cNvSpPr/>
            <p:nvPr/>
          </p:nvSpPr>
          <p:spPr>
            <a:xfrm>
              <a:off x="3984" y="1374"/>
              <a:ext cx="798" cy="3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全空间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43022" name="Object 11"/>
            <p:cNvGraphicFramePr>
              <a:graphicFrameLocks noChangeAspect="1"/>
            </p:cNvGraphicFramePr>
            <p:nvPr/>
          </p:nvGraphicFramePr>
          <p:xfrm>
            <a:off x="780" y="1784"/>
            <a:ext cx="20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3" imgW="330200" imgH="317500" progId="">
                    <p:embed/>
                  </p:oleObj>
                </mc:Choice>
                <mc:Fallback>
                  <p:oleObj name="" r:id="rId3" imgW="330200" imgH="317500" progId="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80" y="1784"/>
                          <a:ext cx="20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3" name="Rectangle 12"/>
            <p:cNvSpPr/>
            <p:nvPr/>
          </p:nvSpPr>
          <p:spPr>
            <a:xfrm>
              <a:off x="1686" y="1705"/>
              <a:ext cx="1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不可能事件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3024" name="Rectangle 13"/>
            <p:cNvSpPr/>
            <p:nvPr/>
          </p:nvSpPr>
          <p:spPr>
            <a:xfrm>
              <a:off x="4104" y="1710"/>
              <a:ext cx="56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空集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43025" name="Object 14"/>
            <p:cNvGraphicFramePr>
              <a:graphicFrameLocks noChangeAspect="1"/>
            </p:cNvGraphicFramePr>
            <p:nvPr/>
          </p:nvGraphicFramePr>
          <p:xfrm>
            <a:off x="820" y="2126"/>
            <a:ext cx="12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5" imgW="203200" imgH="241300" progId="">
                    <p:embed/>
                  </p:oleObj>
                </mc:Choice>
                <mc:Fallback>
                  <p:oleObj name="" r:id="rId5" imgW="203200" imgH="241300" progId="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20" y="2126"/>
                          <a:ext cx="128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6" name="Rectangle 15"/>
            <p:cNvSpPr/>
            <p:nvPr/>
          </p:nvSpPr>
          <p:spPr>
            <a:xfrm>
              <a:off x="1407" y="2043"/>
              <a:ext cx="1769" cy="3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基本事件</a:t>
              </a: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/</a:t>
              </a:r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样本点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3027" name="Text Box 16"/>
            <p:cNvSpPr txBox="1"/>
            <p:nvPr/>
          </p:nvSpPr>
          <p:spPr>
            <a:xfrm>
              <a:off x="4104" y="2046"/>
              <a:ext cx="56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元素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43028" name="Object 17"/>
            <p:cNvGraphicFramePr>
              <a:graphicFrameLocks noChangeAspect="1"/>
            </p:cNvGraphicFramePr>
            <p:nvPr/>
          </p:nvGraphicFramePr>
          <p:xfrm>
            <a:off x="792" y="2419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7" imgW="292100" imgH="304800" progId="">
                    <p:embed/>
                  </p:oleObj>
                </mc:Choice>
                <mc:Fallback>
                  <p:oleObj name="" r:id="rId7" imgW="292100" imgH="304800" progId="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92" y="2419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9" name="Rectangle 18"/>
            <p:cNvSpPr/>
            <p:nvPr/>
          </p:nvSpPr>
          <p:spPr>
            <a:xfrm>
              <a:off x="1799" y="2380"/>
              <a:ext cx="101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随机事件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3030" name="Rectangle 19"/>
            <p:cNvSpPr/>
            <p:nvPr/>
          </p:nvSpPr>
          <p:spPr>
            <a:xfrm>
              <a:off x="4113" y="2381"/>
              <a:ext cx="67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子集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43031" name="Object 20"/>
            <p:cNvGraphicFramePr>
              <a:graphicFrameLocks noChangeAspect="1"/>
            </p:cNvGraphicFramePr>
            <p:nvPr/>
          </p:nvGraphicFramePr>
          <p:xfrm>
            <a:off x="792" y="2752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9" imgW="292100" imgH="368300" progId="">
                    <p:embed/>
                  </p:oleObj>
                </mc:Choice>
                <mc:Fallback>
                  <p:oleObj name="" r:id="rId9" imgW="292100" imgH="368300" progId="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92" y="2752"/>
                          <a:ext cx="184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2" name="Rectangle 21"/>
            <p:cNvSpPr/>
            <p:nvPr/>
          </p:nvSpPr>
          <p:spPr>
            <a:xfrm>
              <a:off x="1612" y="2717"/>
              <a:ext cx="1447" cy="3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 </a:t>
              </a:r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的对立事件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3033" name="Rectangle 22"/>
            <p:cNvSpPr/>
            <p:nvPr/>
          </p:nvSpPr>
          <p:spPr>
            <a:xfrm>
              <a:off x="3917" y="2717"/>
              <a:ext cx="992" cy="3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 </a:t>
              </a:r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的补集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43034" name="Object 23"/>
            <p:cNvGraphicFramePr>
              <a:graphicFrameLocks noChangeAspect="1"/>
            </p:cNvGraphicFramePr>
            <p:nvPr/>
          </p:nvGraphicFramePr>
          <p:xfrm>
            <a:off x="598" y="3125"/>
            <a:ext cx="570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1" imgW="977265" imgH="304800" progId="">
                    <p:embed/>
                  </p:oleObj>
                </mc:Choice>
                <mc:Fallback>
                  <p:oleObj name="" r:id="rId11" imgW="977265" imgH="304800" progId="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98" y="3125"/>
                          <a:ext cx="570" cy="1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5" name="Rectangle 24"/>
            <p:cNvSpPr/>
            <p:nvPr/>
          </p:nvSpPr>
          <p:spPr>
            <a:xfrm>
              <a:off x="1208" y="3058"/>
              <a:ext cx="2152" cy="3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A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包含于事件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3036" name="Rectangle 25"/>
            <p:cNvSpPr/>
            <p:nvPr/>
          </p:nvSpPr>
          <p:spPr>
            <a:xfrm>
              <a:off x="3730" y="3056"/>
              <a:ext cx="1483" cy="3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是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的子集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3037" name="Object 26"/>
            <p:cNvGraphicFramePr>
              <a:graphicFrameLocks noChangeAspect="1"/>
            </p:cNvGraphicFramePr>
            <p:nvPr/>
          </p:nvGraphicFramePr>
          <p:xfrm>
            <a:off x="592" y="3459"/>
            <a:ext cx="5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3" imgW="926465" imgH="304800" progId="">
                    <p:embed/>
                  </p:oleObj>
                </mc:Choice>
                <mc:Fallback>
                  <p:oleObj name="" r:id="rId13" imgW="926465" imgH="304800" progId="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92" y="3459"/>
                          <a:ext cx="584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8" name="Rectangle 27"/>
            <p:cNvSpPr/>
            <p:nvPr/>
          </p:nvSpPr>
          <p:spPr>
            <a:xfrm>
              <a:off x="1205" y="3395"/>
              <a:ext cx="2149" cy="3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A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等于事件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3039" name="Rectangle 28"/>
            <p:cNvSpPr/>
            <p:nvPr/>
          </p:nvSpPr>
          <p:spPr>
            <a:xfrm>
              <a:off x="3366" y="3395"/>
              <a:ext cx="2052" cy="3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集合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A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等于集合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3040" name="Line 37"/>
            <p:cNvSpPr/>
            <p:nvPr/>
          </p:nvSpPr>
          <p:spPr>
            <a:xfrm>
              <a:off x="576" y="915"/>
              <a:ext cx="4848" cy="0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43041" name="Line 39"/>
            <p:cNvSpPr/>
            <p:nvPr/>
          </p:nvSpPr>
          <p:spPr>
            <a:xfrm>
              <a:off x="576" y="3747"/>
              <a:ext cx="4848" cy="0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43042" name="Line 40"/>
            <p:cNvSpPr/>
            <p:nvPr/>
          </p:nvSpPr>
          <p:spPr>
            <a:xfrm>
              <a:off x="576" y="915"/>
              <a:ext cx="0" cy="2832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43043" name="Line 41"/>
            <p:cNvSpPr/>
            <p:nvPr/>
          </p:nvSpPr>
          <p:spPr>
            <a:xfrm>
              <a:off x="5424" y="915"/>
              <a:ext cx="0" cy="2832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</p:sp>
      </p:grpSp>
      <p:sp>
        <p:nvSpPr>
          <p:cNvPr id="23561" name="TextBox 11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44034" name="Group 32"/>
          <p:cNvGrpSpPr/>
          <p:nvPr/>
        </p:nvGrpSpPr>
        <p:grpSpPr>
          <a:xfrm>
            <a:off x="914400" y="620713"/>
            <a:ext cx="7715250" cy="3276600"/>
            <a:chOff x="576" y="720"/>
            <a:chExt cx="4860" cy="2064"/>
          </a:xfrm>
        </p:grpSpPr>
        <p:sp>
          <p:nvSpPr>
            <p:cNvPr id="44036" name="Line 2"/>
            <p:cNvSpPr/>
            <p:nvPr/>
          </p:nvSpPr>
          <p:spPr>
            <a:xfrm>
              <a:off x="576" y="2784"/>
              <a:ext cx="4848" cy="0"/>
            </a:xfrm>
            <a:prstGeom prst="line">
              <a:avLst/>
            </a:prstGeom>
            <a:ln w="12700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44037" name="Line 3"/>
            <p:cNvSpPr/>
            <p:nvPr/>
          </p:nvSpPr>
          <p:spPr>
            <a:xfrm>
              <a:off x="1296" y="720"/>
              <a:ext cx="0" cy="2064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44038" name="Line 4"/>
            <p:cNvSpPr/>
            <p:nvPr/>
          </p:nvSpPr>
          <p:spPr>
            <a:xfrm>
              <a:off x="3264" y="720"/>
              <a:ext cx="0" cy="2064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</p:sp>
        <p:graphicFrame>
          <p:nvGraphicFramePr>
            <p:cNvPr id="44039" name="Object 5"/>
            <p:cNvGraphicFramePr>
              <a:graphicFrameLocks noChangeAspect="1"/>
            </p:cNvGraphicFramePr>
            <p:nvPr/>
          </p:nvGraphicFramePr>
          <p:xfrm>
            <a:off x="656" y="1909"/>
            <a:ext cx="5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1" imgW="888365" imgH="304800" progId="">
                    <p:embed/>
                  </p:oleObj>
                </mc:Choice>
                <mc:Fallback>
                  <p:oleObj name="" r:id="rId1" imgW="888365" imgH="304800" progId="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56" y="1909"/>
                          <a:ext cx="560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0" name="Rectangle 6"/>
            <p:cNvSpPr/>
            <p:nvPr/>
          </p:nvSpPr>
          <p:spPr>
            <a:xfrm>
              <a:off x="1294" y="1859"/>
              <a:ext cx="1968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A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与事件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的差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041" name="Rectangle 7"/>
            <p:cNvSpPr/>
            <p:nvPr/>
          </p:nvSpPr>
          <p:spPr>
            <a:xfrm>
              <a:off x="3296" y="1859"/>
              <a:ext cx="2110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集合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A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与集合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的差集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4042" name="Object 8"/>
            <p:cNvGraphicFramePr>
              <a:graphicFrameLocks noChangeAspect="1"/>
            </p:cNvGraphicFramePr>
            <p:nvPr/>
          </p:nvGraphicFramePr>
          <p:xfrm>
            <a:off x="601" y="2402"/>
            <a:ext cx="669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3" imgW="1218565" imgH="317500" progId="">
                    <p:embed/>
                  </p:oleObj>
                </mc:Choice>
                <mc:Fallback>
                  <p:oleObj name="" r:id="rId3" imgW="1218565" imgH="317500" progId="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1" y="2402"/>
                          <a:ext cx="669" cy="1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3" name="Rectangle 9"/>
            <p:cNvSpPr/>
            <p:nvPr/>
          </p:nvSpPr>
          <p:spPr>
            <a:xfrm>
              <a:off x="1304" y="2343"/>
              <a:ext cx="1947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A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与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互不相容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044" name="Rectangle 10"/>
            <p:cNvSpPr/>
            <p:nvPr/>
          </p:nvSpPr>
          <p:spPr>
            <a:xfrm>
              <a:off x="3266" y="2343"/>
              <a:ext cx="2170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集合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A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与集合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不相交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4045" name="Object 18"/>
            <p:cNvGraphicFramePr>
              <a:graphicFrameLocks noChangeAspect="1"/>
            </p:cNvGraphicFramePr>
            <p:nvPr/>
          </p:nvGraphicFramePr>
          <p:xfrm>
            <a:off x="648" y="903"/>
            <a:ext cx="57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5" imgW="914400" imgH="368300" progId="">
                    <p:embed/>
                  </p:oleObj>
                </mc:Choice>
                <mc:Fallback>
                  <p:oleObj name="" r:id="rId5" imgW="914400" imgH="368300" progId="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8" y="903"/>
                          <a:ext cx="576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6" name="Rectangle 19"/>
            <p:cNvSpPr/>
            <p:nvPr/>
          </p:nvSpPr>
          <p:spPr>
            <a:xfrm>
              <a:off x="1296" y="873"/>
              <a:ext cx="1963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A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与事件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的并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047" name="Rectangle 20"/>
            <p:cNvSpPr/>
            <p:nvPr/>
          </p:nvSpPr>
          <p:spPr>
            <a:xfrm>
              <a:off x="3296" y="873"/>
              <a:ext cx="2110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集合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A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与集合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的并集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4048" name="Object 21"/>
            <p:cNvGraphicFramePr>
              <a:graphicFrameLocks noChangeAspect="1"/>
            </p:cNvGraphicFramePr>
            <p:nvPr/>
          </p:nvGraphicFramePr>
          <p:xfrm>
            <a:off x="764" y="1413"/>
            <a:ext cx="3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7" imgW="545465" imgH="304800" progId="">
                    <p:embed/>
                  </p:oleObj>
                </mc:Choice>
                <mc:Fallback>
                  <p:oleObj name="" r:id="rId7" imgW="545465" imgH="304800" progId="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64" y="1413"/>
                          <a:ext cx="344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9" name="Rectangle 22"/>
            <p:cNvSpPr/>
            <p:nvPr/>
          </p:nvSpPr>
          <p:spPr>
            <a:xfrm>
              <a:off x="1302" y="1363"/>
              <a:ext cx="1952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A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与事件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的交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050" name="Rectangle 23"/>
            <p:cNvSpPr/>
            <p:nvPr/>
          </p:nvSpPr>
          <p:spPr>
            <a:xfrm>
              <a:off x="3296" y="1363"/>
              <a:ext cx="2110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集合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A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与集合</a:t>
              </a:r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B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的交集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051" name="Rectangle 25"/>
            <p:cNvSpPr/>
            <p:nvPr/>
          </p:nvSpPr>
          <p:spPr>
            <a:xfrm>
              <a:off x="576" y="720"/>
              <a:ext cx="4848" cy="2064"/>
            </a:xfrm>
            <a:prstGeom prst="rect">
              <a:avLst/>
            </a:prstGeom>
            <a:noFill/>
            <a:ln w="28575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4035" name="TextBox 18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zk4MGYxNDFlNDllYmNhZmYyZjg3ZjNhMGFhODEyMWUifQ=="/>
</p:tagLst>
</file>

<file path=ppt/theme/theme1.xml><?xml version="1.0" encoding="utf-8"?>
<a:theme xmlns:a="http://schemas.openxmlformats.org/drawingml/2006/main" name="jy3">
  <a:themeElements>
    <a:clrScheme name="jy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y3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jy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y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Settings\a\Application Data\Microsoft\Templates\jy3.pot</Template>
  <TotalTime>0</TotalTime>
  <Words>2874</Words>
  <Application>WPS 演示</Application>
  <PresentationFormat>On-screen Show (4:3)</PresentationFormat>
  <Paragraphs>407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30</vt:i4>
      </vt:variant>
    </vt:vector>
  </HeadingPairs>
  <TitlesOfParts>
    <vt:vector size="47" baseType="lpstr">
      <vt:lpstr>Arial</vt:lpstr>
      <vt:lpstr>宋体</vt:lpstr>
      <vt:lpstr>Wingdings</vt:lpstr>
      <vt:lpstr>Times New Roman</vt:lpstr>
      <vt:lpstr>黑体</vt:lpstr>
      <vt:lpstr>Tahoma</vt:lpstr>
      <vt:lpstr>微软雅黑</vt:lpstr>
      <vt:lpstr>Arial Unicode MS</vt:lpstr>
      <vt:lpstr>华文中宋</vt:lpstr>
      <vt:lpstr>Symbol</vt:lpstr>
      <vt:lpstr>华文宋体</vt:lpstr>
      <vt:lpstr>jy3</vt:lpstr>
      <vt:lpstr>MS_ClipArt_Gallery.5</vt:lpstr>
      <vt:lpstr>MS_ClipArt_Gallery.5</vt:lpstr>
      <vt:lpstr>MS_ClipArt_Gallery.5</vt:lpstr>
      <vt:lpstr>MS_ClipArt_Gallery.5</vt:lpstr>
      <vt:lpstr>MS_ClipArt_Gallery.5</vt:lpstr>
      <vt:lpstr>第二节　样本空间、随机事件</vt:lpstr>
      <vt:lpstr>一、样本空间  样本点      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二、随机事件的概念</vt:lpstr>
      <vt:lpstr>PowerPoint 演示文稿</vt:lpstr>
      <vt:lpstr>PowerPoint 演示文稿</vt:lpstr>
      <vt:lpstr>PowerPoint 演示文稿</vt:lpstr>
      <vt:lpstr>三、随机事件间的关系及运算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四、小结</vt:lpstr>
      <vt:lpstr>PowerPoint 演示文稿</vt:lpstr>
      <vt:lpstr>PowerPoint 演示文稿</vt:lpstr>
    </vt:vector>
  </TitlesOfParts>
  <Company>txxy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第二节 样本空间、随机事件</dc:title>
  <dc:creator>西安通信学院数学教研室</dc:creator>
  <cp:lastModifiedBy>T</cp:lastModifiedBy>
  <cp:revision>480</cp:revision>
  <dcterms:created xsi:type="dcterms:W3CDTF">2000-02-11T01:32:00Z</dcterms:created>
  <dcterms:modified xsi:type="dcterms:W3CDTF">2024-02-26T10:34:36Z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48801913782D4E069E0D4EE52452CC29_12</vt:lpwstr>
  </property>
  <property fmtid="{D5CDD505-2E9C-101B-9397-08002B2CF9AE}" pid="3" name="KSOProductBuildVer">
    <vt:lpwstr>2052-12.1.0.16388</vt:lpwstr>
  </property>
</Properties>
</file>