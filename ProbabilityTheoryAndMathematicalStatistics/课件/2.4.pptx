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4" r:id="rId4"/>
    <p:sldId id="275" r:id="rId5"/>
    <p:sldId id="296" r:id="rId6"/>
    <p:sldId id="276" r:id="rId7"/>
    <p:sldId id="353" r:id="rId8"/>
    <p:sldId id="354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3" r:id="rId28"/>
    <p:sldId id="374" r:id="rId29"/>
    <p:sldId id="375" r:id="rId30"/>
    <p:sldId id="376" r:id="rId31"/>
    <p:sldId id="377" r:id="rId32"/>
    <p:sldId id="378" r:id="rId33"/>
    <p:sldId id="379" r:id="rId34"/>
    <p:sldId id="380" r:id="rId35"/>
    <p:sldId id="381" r:id="rId36"/>
    <p:sldId id="382" r:id="rId37"/>
    <p:sldId id="383" r:id="rId38"/>
    <p:sldId id="384" r:id="rId39"/>
    <p:sldId id="385" r:id="rId40"/>
    <p:sldId id="386" r:id="rId41"/>
    <p:sldId id="387" r:id="rId42"/>
  </p:sldIdLst>
  <p:sldSz cx="9144000" cy="6858000" type="screen4x3"/>
  <p:notesSz cx="6858000" cy="9144000"/>
  <p:custShowLst>
    <p:custShow name="高斯资料" id="0">
      <p:sldLst/>
    </p:custShow>
  </p:custShowLst>
  <p:custDataLst>
    <p:tags r:id="rId46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7" userDrawn="1">
          <p15:clr>
            <a:srgbClr val="A4A3A4"/>
          </p15:clr>
        </p15:guide>
        <p15:guide id="2" pos="5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6600CC"/>
    <a:srgbClr val="CC00FF"/>
    <a:srgbClr val="993366"/>
    <a:srgbClr val="FF99FF"/>
    <a:srgbClr val="FFFF99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6"/>
    <p:restoredTop sz="94660"/>
  </p:normalViewPr>
  <p:slideViewPr>
    <p:cSldViewPr showGuides="1">
      <p:cViewPr varScale="1">
        <p:scale>
          <a:sx n="111" d="100"/>
          <a:sy n="111" d="100"/>
        </p:scale>
        <p:origin x="1686" y="54"/>
      </p:cViewPr>
      <p:guideLst>
        <p:guide orient="horz" pos="447"/>
        <p:guide pos="5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76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gs" Target="tags/tag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e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.wmf"/><Relationship Id="rId8" Type="http://schemas.openxmlformats.org/officeDocument/2006/relationships/image" Target="../media/image18.wmf"/><Relationship Id="rId7" Type="http://schemas.openxmlformats.org/officeDocument/2006/relationships/image" Target="../media/image17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0" Type="http://schemas.openxmlformats.org/officeDocument/2006/relationships/image" Target="../media/image20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7" Type="http://schemas.openxmlformats.org/officeDocument/2006/relationships/image" Target="../media/image33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46.wmf"/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59.wmf"/><Relationship Id="rId8" Type="http://schemas.openxmlformats.org/officeDocument/2006/relationships/image" Target="../media/image58.wmf"/><Relationship Id="rId7" Type="http://schemas.openxmlformats.org/officeDocument/2006/relationships/image" Target="../media/image49.wmf"/><Relationship Id="rId6" Type="http://schemas.openxmlformats.org/officeDocument/2006/relationships/image" Target="../media/image4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1" Type="http://schemas.openxmlformats.org/officeDocument/2006/relationships/image" Target="../media/image61.wmf"/><Relationship Id="rId10" Type="http://schemas.openxmlformats.org/officeDocument/2006/relationships/image" Target="../media/image60.wmf"/><Relationship Id="rId1" Type="http://schemas.openxmlformats.org/officeDocument/2006/relationships/image" Target="../media/image53.wmf"/></Relationships>
</file>

<file path=ppt/drawings/_rels/vmlDrawing11.vml.rels><?xml version="1.0" encoding="UTF-8" standalone="yes"?>
<Relationships xmlns="http://schemas.openxmlformats.org/package/2006/relationships"><Relationship Id="rId7" Type="http://schemas.openxmlformats.org/officeDocument/2006/relationships/image" Target="../media/image64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63.wmf"/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62.w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68.wmf"/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14.vml.rels><?xml version="1.0" encoding="UTF-8" standalone="yes"?>
<Relationships xmlns="http://schemas.openxmlformats.org/package/2006/relationships"><Relationship Id="rId7" Type="http://schemas.openxmlformats.org/officeDocument/2006/relationships/image" Target="../media/image76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8.vml.rels><?xml version="1.0" encoding="UTF-8" standalone="yes"?>
<Relationships xmlns="http://schemas.openxmlformats.org/package/2006/relationships"><Relationship Id="rId7" Type="http://schemas.openxmlformats.org/officeDocument/2006/relationships/image" Target="../media/image89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0.wmf"/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27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5.wmf"/><Relationship Id="rId4" Type="http://schemas.openxmlformats.org/officeDocument/2006/relationships/image" Target="../media/image124.wmf"/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4.wmf"/><Relationship Id="rId8" Type="http://schemas.openxmlformats.org/officeDocument/2006/relationships/image" Target="../media/image133.wmf"/><Relationship Id="rId7" Type="http://schemas.openxmlformats.org/officeDocument/2006/relationships/image" Target="../media/image132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1" Type="http://schemas.openxmlformats.org/officeDocument/2006/relationships/image" Target="../media/image136.wmf"/><Relationship Id="rId10" Type="http://schemas.openxmlformats.org/officeDocument/2006/relationships/image" Target="../media/image135.wmf"/><Relationship Id="rId1" Type="http://schemas.openxmlformats.org/officeDocument/2006/relationships/image" Target="../media/image126.wmf"/></Relationships>
</file>

<file path=ppt/drawings/_rels/vmlDrawing29.vml.rels><?xml version="1.0" encoding="UTF-8" standalone="yes"?>
<Relationships xmlns="http://schemas.openxmlformats.org/package/2006/relationships"><Relationship Id="rId6" Type="http://schemas.openxmlformats.org/officeDocument/2006/relationships/image" Target="../media/image142.wmf"/><Relationship Id="rId5" Type="http://schemas.openxmlformats.org/officeDocument/2006/relationships/image" Target="../media/image141.wmf"/><Relationship Id="rId4" Type="http://schemas.openxmlformats.org/officeDocument/2006/relationships/image" Target="../media/image140.wmf"/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30.vml.rels><?xml version="1.0" encoding="UTF-8" standalone="yes"?>
<Relationships xmlns="http://schemas.openxmlformats.org/package/2006/relationships"><Relationship Id="rId7" Type="http://schemas.openxmlformats.org/officeDocument/2006/relationships/image" Target="../media/image149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/Relationships>
</file>

<file path=ppt/drawings/_rels/vmlDrawing3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3.wmf"/><Relationship Id="rId3" Type="http://schemas.openxmlformats.org/officeDocument/2006/relationships/image" Target="../media/image152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/Relationships>
</file>

<file path=ppt/drawings/_rels/vmlDrawing3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61.wmf"/><Relationship Id="rId5" Type="http://schemas.openxmlformats.org/officeDocument/2006/relationships/image" Target="../media/image160.wmf"/><Relationship Id="rId4" Type="http://schemas.openxmlformats.org/officeDocument/2006/relationships/image" Target="../media/image159.wmf"/><Relationship Id="rId3" Type="http://schemas.openxmlformats.org/officeDocument/2006/relationships/image" Target="../media/image158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/Relationships>
</file>

<file path=ppt/drawings/_rels/vmlDrawing3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68.wmf"/><Relationship Id="rId6" Type="http://schemas.openxmlformats.org/officeDocument/2006/relationships/image" Target="../media/image167.wmf"/><Relationship Id="rId5" Type="http://schemas.openxmlformats.org/officeDocument/2006/relationships/image" Target="../media/image166.wmf"/><Relationship Id="rId4" Type="http://schemas.openxmlformats.org/officeDocument/2006/relationships/image" Target="../media/image165.wmf"/><Relationship Id="rId3" Type="http://schemas.openxmlformats.org/officeDocument/2006/relationships/image" Target="../media/image164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w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pattFill prst="pct10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pattFill prst="pct10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pattFill prst="pct10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bg>
      <p:bgPr>
        <a:pattFill prst="pct10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bg>
      <p:bgPr>
        <a:pattFill prst="pct10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bg>
      <p:bgPr>
        <a:pattFill prst="pct10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bg>
      <p:bgPr>
        <a:pattFill prst="pct10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Only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/>
  </p:transition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Pr>
        <a:pattFill prst="pct10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Pr>
        <a:pattFill prst="pct10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bg>
      <p:bgPr>
        <a:pattFill prst="pct10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bg>
      <p:bgPr>
        <a:pattFill prst="pct10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538" y="495300"/>
            <a:ext cx="1985962" cy="56816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95300"/>
            <a:ext cx="5805488" cy="56816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/>
          </p:cNvSpPr>
          <p:nvPr>
            <p:ph type="title"/>
          </p:nvPr>
        </p:nvSpPr>
        <p:spPr>
          <a:xfrm>
            <a:off x="800100" y="4953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AutoShape 1027">
            <a:hlinkClick r:id="" action="ppaction://hlinkshowjump?jump=previousslide"/>
          </p:cNvPr>
          <p:cNvSpPr/>
          <p:nvPr/>
        </p:nvSpPr>
        <p:spPr>
          <a:xfrm>
            <a:off x="6858000" y="6172200"/>
            <a:ext cx="457200" cy="381000"/>
          </a:xfrm>
          <a:prstGeom prst="actionButtonBlank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1028" name="AutoShape 1028">
            <a:hlinkClick r:id="" action="ppaction://hlinkshowjump?jump=nextslide"/>
          </p:cNvPr>
          <p:cNvSpPr/>
          <p:nvPr/>
        </p:nvSpPr>
        <p:spPr>
          <a:xfrm>
            <a:off x="7543800" y="6121400"/>
            <a:ext cx="457200" cy="457200"/>
          </a:xfrm>
          <a:prstGeom prst="actionButtonBlank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1029" name="AutoShape 1029">
            <a:hlinkClick r:id="" action="ppaction://hlinkshowjump?jump=firstslide"/>
          </p:cNvPr>
          <p:cNvSpPr/>
          <p:nvPr/>
        </p:nvSpPr>
        <p:spPr>
          <a:xfrm>
            <a:off x="8267700" y="6172200"/>
            <a:ext cx="457200" cy="381000"/>
          </a:xfrm>
          <a:prstGeom prst="actionButtonBlank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/>
            <a:endParaRPr lang="en-US" altLang="x-none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40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 b="1">
          <a:solidFill>
            <a:srgbClr val="000000"/>
          </a:solidFill>
          <a:latin typeface="Times New Roman" panose="02020603050405020304" pitchFamily="18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1" Type="http://schemas.openxmlformats.org/officeDocument/2006/relationships/vmlDrawing" Target="../drawings/vmlDrawing1.vml"/><Relationship Id="rId20" Type="http://schemas.openxmlformats.org/officeDocument/2006/relationships/slideLayout" Target="../slideLayouts/slideLayout8.xml"/><Relationship Id="rId2" Type="http://schemas.openxmlformats.org/officeDocument/2006/relationships/image" Target="../media/image2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0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9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6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2.bin"/><Relationship Id="rId22" Type="http://schemas.openxmlformats.org/officeDocument/2006/relationships/vmlDrawing" Target="../drawings/vmlDrawing2.vml"/><Relationship Id="rId21" Type="http://schemas.openxmlformats.org/officeDocument/2006/relationships/slideLayout" Target="../slideLayouts/slideLayout8.xml"/><Relationship Id="rId20" Type="http://schemas.openxmlformats.org/officeDocument/2006/relationships/image" Target="../media/image20.wmf"/><Relationship Id="rId2" Type="http://schemas.openxmlformats.org/officeDocument/2006/relationships/image" Target="../media/image11.wmf"/><Relationship Id="rId19" Type="http://schemas.openxmlformats.org/officeDocument/2006/relationships/oleObject" Target="../embeddings/oleObject20.bin"/><Relationship Id="rId18" Type="http://schemas.openxmlformats.org/officeDocument/2006/relationships/image" Target="../media/image19.wmf"/><Relationship Id="rId17" Type="http://schemas.openxmlformats.org/officeDocument/2006/relationships/oleObject" Target="../embeddings/oleObject19.bin"/><Relationship Id="rId16" Type="http://schemas.openxmlformats.org/officeDocument/2006/relationships/image" Target="../media/image18.wmf"/><Relationship Id="rId15" Type="http://schemas.openxmlformats.org/officeDocument/2006/relationships/oleObject" Target="../embeddings/oleObject18.bin"/><Relationship Id="rId14" Type="http://schemas.openxmlformats.org/officeDocument/2006/relationships/image" Target="../media/image17.wmf"/><Relationship Id="rId13" Type="http://schemas.openxmlformats.org/officeDocument/2006/relationships/oleObject" Target="../embeddings/oleObject17.bin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16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1.wmf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8.xml"/><Relationship Id="rId12" Type="http://schemas.openxmlformats.org/officeDocument/2006/relationships/image" Target="../media/image26.wmf"/><Relationship Id="rId11" Type="http://schemas.openxmlformats.org/officeDocument/2006/relationships/oleObject" Target="../embeddings/oleObject26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2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.bin"/><Relationship Id="rId8" Type="http://schemas.openxmlformats.org/officeDocument/2006/relationships/image" Target="../media/image30.wmf"/><Relationship Id="rId7" Type="http://schemas.openxmlformats.org/officeDocument/2006/relationships/oleObject" Target="../embeddings/oleObject30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27.wmf"/><Relationship Id="rId18" Type="http://schemas.openxmlformats.org/officeDocument/2006/relationships/vmlDrawing" Target="../drawings/vmlDrawing4.vml"/><Relationship Id="rId17" Type="http://schemas.openxmlformats.org/officeDocument/2006/relationships/slideLayout" Target="../slideLayouts/slideLayout8.xml"/><Relationship Id="rId16" Type="http://schemas.openxmlformats.org/officeDocument/2006/relationships/image" Target="../media/image34.wmf"/><Relationship Id="rId15" Type="http://schemas.openxmlformats.org/officeDocument/2006/relationships/oleObject" Target="../embeddings/oleObject34.bin"/><Relationship Id="rId14" Type="http://schemas.openxmlformats.org/officeDocument/2006/relationships/image" Target="../media/image33.wmf"/><Relationship Id="rId13" Type="http://schemas.openxmlformats.org/officeDocument/2006/relationships/oleObject" Target="../embeddings/oleObject33.bin"/><Relationship Id="rId12" Type="http://schemas.openxmlformats.org/officeDocument/2006/relationships/image" Target="../media/image32.wmf"/><Relationship Id="rId11" Type="http://schemas.openxmlformats.org/officeDocument/2006/relationships/oleObject" Target="../embeddings/oleObject32.bin"/><Relationship Id="rId10" Type="http://schemas.openxmlformats.org/officeDocument/2006/relationships/image" Target="../media/image31.wmf"/><Relationship Id="rId1" Type="http://schemas.openxmlformats.org/officeDocument/2006/relationships/oleObject" Target="../embeddings/oleObject27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36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35.wmf"/><Relationship Id="rId1" Type="http://schemas.openxmlformats.org/officeDocument/2006/relationships/oleObject" Target="../embeddings/oleObject35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image" Target="../media/image40.wmf"/><Relationship Id="rId7" Type="http://schemas.openxmlformats.org/officeDocument/2006/relationships/oleObject" Target="../embeddings/oleObject40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37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37.bin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42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41.wmf"/><Relationship Id="rId1" Type="http://schemas.openxmlformats.org/officeDocument/2006/relationships/oleObject" Target="../embeddings/oleObject4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image" Target="../media/image46.wmf"/><Relationship Id="rId7" Type="http://schemas.openxmlformats.org/officeDocument/2006/relationships/oleObject" Target="../embeddings/oleObject46.bin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43.w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43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50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8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47.wmf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8.xml"/><Relationship Id="rId12" Type="http://schemas.openxmlformats.org/officeDocument/2006/relationships/image" Target="../media/image52.wmf"/><Relationship Id="rId11" Type="http://schemas.openxmlformats.org/officeDocument/2006/relationships/oleObject" Target="../embeddings/oleObject52.bin"/><Relationship Id="rId10" Type="http://schemas.openxmlformats.org/officeDocument/2006/relationships/image" Target="../media/image51.wmf"/><Relationship Id="rId1" Type="http://schemas.openxmlformats.org/officeDocument/2006/relationships/oleObject" Target="../embeddings/oleObject47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7.bin"/><Relationship Id="rId8" Type="http://schemas.openxmlformats.org/officeDocument/2006/relationships/image" Target="../media/image56.wmf"/><Relationship Id="rId7" Type="http://schemas.openxmlformats.org/officeDocument/2006/relationships/oleObject" Target="../embeddings/oleObject56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4.wmf"/><Relationship Id="rId3" Type="http://schemas.openxmlformats.org/officeDocument/2006/relationships/oleObject" Target="../embeddings/oleObject54.bin"/><Relationship Id="rId24" Type="http://schemas.openxmlformats.org/officeDocument/2006/relationships/vmlDrawing" Target="../drawings/vmlDrawing10.vml"/><Relationship Id="rId23" Type="http://schemas.openxmlformats.org/officeDocument/2006/relationships/slideLayout" Target="../slideLayouts/slideLayout8.xml"/><Relationship Id="rId22" Type="http://schemas.openxmlformats.org/officeDocument/2006/relationships/image" Target="../media/image61.wmf"/><Relationship Id="rId21" Type="http://schemas.openxmlformats.org/officeDocument/2006/relationships/oleObject" Target="../embeddings/oleObject63.bin"/><Relationship Id="rId20" Type="http://schemas.openxmlformats.org/officeDocument/2006/relationships/image" Target="../media/image60.wmf"/><Relationship Id="rId2" Type="http://schemas.openxmlformats.org/officeDocument/2006/relationships/image" Target="../media/image53.wmf"/><Relationship Id="rId19" Type="http://schemas.openxmlformats.org/officeDocument/2006/relationships/oleObject" Target="../embeddings/oleObject62.bin"/><Relationship Id="rId18" Type="http://schemas.openxmlformats.org/officeDocument/2006/relationships/image" Target="../media/image59.wmf"/><Relationship Id="rId17" Type="http://schemas.openxmlformats.org/officeDocument/2006/relationships/oleObject" Target="../embeddings/oleObject61.bin"/><Relationship Id="rId16" Type="http://schemas.openxmlformats.org/officeDocument/2006/relationships/image" Target="../media/image58.wmf"/><Relationship Id="rId15" Type="http://schemas.openxmlformats.org/officeDocument/2006/relationships/oleObject" Target="../embeddings/oleObject60.bin"/><Relationship Id="rId14" Type="http://schemas.openxmlformats.org/officeDocument/2006/relationships/image" Target="../media/image49.wmf"/><Relationship Id="rId13" Type="http://schemas.openxmlformats.org/officeDocument/2006/relationships/oleObject" Target="../embeddings/oleObject59.bin"/><Relationship Id="rId12" Type="http://schemas.openxmlformats.org/officeDocument/2006/relationships/image" Target="../media/image48.wmf"/><Relationship Id="rId11" Type="http://schemas.openxmlformats.org/officeDocument/2006/relationships/oleObject" Target="../embeddings/oleObject58.bin"/><Relationship Id="rId10" Type="http://schemas.openxmlformats.org/officeDocument/2006/relationships/image" Target="../media/image57.wmf"/><Relationship Id="rId1" Type="http://schemas.openxmlformats.org/officeDocument/2006/relationships/oleObject" Target="../embeddings/oleObject53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8.bin"/><Relationship Id="rId8" Type="http://schemas.openxmlformats.org/officeDocument/2006/relationships/image" Target="../media/image63.wmf"/><Relationship Id="rId7" Type="http://schemas.openxmlformats.org/officeDocument/2006/relationships/oleObject" Target="../embeddings/oleObject67.bin"/><Relationship Id="rId6" Type="http://schemas.openxmlformats.org/officeDocument/2006/relationships/image" Target="../media/image48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62.wmf"/><Relationship Id="rId16" Type="http://schemas.openxmlformats.org/officeDocument/2006/relationships/vmlDrawing" Target="../drawings/vmlDrawing11.vml"/><Relationship Id="rId15" Type="http://schemas.openxmlformats.org/officeDocument/2006/relationships/slideLayout" Target="../slideLayouts/slideLayout8.xml"/><Relationship Id="rId14" Type="http://schemas.openxmlformats.org/officeDocument/2006/relationships/image" Target="../media/image64.wmf"/><Relationship Id="rId13" Type="http://schemas.openxmlformats.org/officeDocument/2006/relationships/oleObject" Target="../embeddings/oleObject70.bin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69.bin"/><Relationship Id="rId10" Type="http://schemas.openxmlformats.org/officeDocument/2006/relationships/image" Target="../media/image58.wmf"/><Relationship Id="rId1" Type="http://schemas.openxmlformats.org/officeDocument/2006/relationships/oleObject" Target="../embeddings/oleObject64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5.bin"/><Relationship Id="rId8" Type="http://schemas.openxmlformats.org/officeDocument/2006/relationships/image" Target="../media/image68.wmf"/><Relationship Id="rId7" Type="http://schemas.openxmlformats.org/officeDocument/2006/relationships/oleObject" Target="../embeddings/oleObject74.bin"/><Relationship Id="rId6" Type="http://schemas.openxmlformats.org/officeDocument/2006/relationships/image" Target="../media/image67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66.wmf"/><Relationship Id="rId3" Type="http://schemas.openxmlformats.org/officeDocument/2006/relationships/oleObject" Target="../embeddings/oleObject72.bin"/><Relationship Id="rId2" Type="http://schemas.openxmlformats.org/officeDocument/2006/relationships/image" Target="../media/image65.wmf"/><Relationship Id="rId13" Type="http://schemas.openxmlformats.org/officeDocument/2006/relationships/vmlDrawing" Target="../drawings/vmlDrawing12.vml"/><Relationship Id="rId12" Type="http://schemas.openxmlformats.org/officeDocument/2006/relationships/slideLayout" Target="../slideLayouts/slideLayout8.xml"/><Relationship Id="rId11" Type="http://schemas.openxmlformats.org/officeDocument/2006/relationships/oleObject" Target="../embeddings/oleObject77.bin"/><Relationship Id="rId10" Type="http://schemas.openxmlformats.org/officeDocument/2006/relationships/oleObject" Target="../embeddings/oleObject76.bin"/><Relationship Id="rId1" Type="http://schemas.openxmlformats.org/officeDocument/2006/relationships/oleObject" Target="../embeddings/oleObject71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69.wmf"/><Relationship Id="rId1" Type="http://schemas.openxmlformats.org/officeDocument/2006/relationships/oleObject" Target="../embeddings/oleObject78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3.bin"/><Relationship Id="rId8" Type="http://schemas.openxmlformats.org/officeDocument/2006/relationships/image" Target="../media/image73.wmf"/><Relationship Id="rId7" Type="http://schemas.openxmlformats.org/officeDocument/2006/relationships/oleObject" Target="../embeddings/oleObject82.bin"/><Relationship Id="rId6" Type="http://schemas.openxmlformats.org/officeDocument/2006/relationships/image" Target="../media/image72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71.wmf"/><Relationship Id="rId3" Type="http://schemas.openxmlformats.org/officeDocument/2006/relationships/oleObject" Target="../embeddings/oleObject80.bin"/><Relationship Id="rId2" Type="http://schemas.openxmlformats.org/officeDocument/2006/relationships/image" Target="../media/image70.wmf"/><Relationship Id="rId16" Type="http://schemas.openxmlformats.org/officeDocument/2006/relationships/vmlDrawing" Target="../drawings/vmlDrawing14.vml"/><Relationship Id="rId15" Type="http://schemas.openxmlformats.org/officeDocument/2006/relationships/slideLayout" Target="../slideLayouts/slideLayout8.xml"/><Relationship Id="rId14" Type="http://schemas.openxmlformats.org/officeDocument/2006/relationships/image" Target="../media/image76.wmf"/><Relationship Id="rId13" Type="http://schemas.openxmlformats.org/officeDocument/2006/relationships/oleObject" Target="../embeddings/oleObject85.bin"/><Relationship Id="rId12" Type="http://schemas.openxmlformats.org/officeDocument/2006/relationships/image" Target="../media/image75.wmf"/><Relationship Id="rId11" Type="http://schemas.openxmlformats.org/officeDocument/2006/relationships/oleObject" Target="../embeddings/oleObject84.bin"/><Relationship Id="rId10" Type="http://schemas.openxmlformats.org/officeDocument/2006/relationships/image" Target="../media/image74.wmf"/><Relationship Id="rId1" Type="http://schemas.openxmlformats.org/officeDocument/2006/relationships/oleObject" Target="../embeddings/oleObject79.bin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78.wmf"/><Relationship Id="rId2" Type="http://schemas.openxmlformats.org/officeDocument/2006/relationships/oleObject" Target="../embeddings/oleObject86.bin"/><Relationship Id="rId1" Type="http://schemas.openxmlformats.org/officeDocument/2006/relationships/image" Target="../media/image77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80.png"/><Relationship Id="rId2" Type="http://schemas.openxmlformats.org/officeDocument/2006/relationships/image" Target="../media/image79.wmf"/><Relationship Id="rId1" Type="http://schemas.openxmlformats.org/officeDocument/2006/relationships/oleObject" Target="../embeddings/oleObject87.bin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82.wmf"/><Relationship Id="rId3" Type="http://schemas.openxmlformats.org/officeDocument/2006/relationships/oleObject" Target="../embeddings/oleObject89.bin"/><Relationship Id="rId2" Type="http://schemas.openxmlformats.org/officeDocument/2006/relationships/image" Target="../media/image81.wmf"/><Relationship Id="rId1" Type="http://schemas.openxmlformats.org/officeDocument/2006/relationships/oleObject" Target="../embeddings/oleObject88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4.bin"/><Relationship Id="rId8" Type="http://schemas.openxmlformats.org/officeDocument/2006/relationships/image" Target="../media/image86.wmf"/><Relationship Id="rId7" Type="http://schemas.openxmlformats.org/officeDocument/2006/relationships/oleObject" Target="../embeddings/oleObject93.bin"/><Relationship Id="rId6" Type="http://schemas.openxmlformats.org/officeDocument/2006/relationships/image" Target="../media/image85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84.wmf"/><Relationship Id="rId3" Type="http://schemas.openxmlformats.org/officeDocument/2006/relationships/oleObject" Target="../embeddings/oleObject91.bin"/><Relationship Id="rId2" Type="http://schemas.openxmlformats.org/officeDocument/2006/relationships/image" Target="../media/image83.wmf"/><Relationship Id="rId16" Type="http://schemas.openxmlformats.org/officeDocument/2006/relationships/vmlDrawing" Target="../drawings/vmlDrawing18.vml"/><Relationship Id="rId15" Type="http://schemas.openxmlformats.org/officeDocument/2006/relationships/slideLayout" Target="../slideLayouts/slideLayout8.xml"/><Relationship Id="rId14" Type="http://schemas.openxmlformats.org/officeDocument/2006/relationships/image" Target="../media/image89.wmf"/><Relationship Id="rId13" Type="http://schemas.openxmlformats.org/officeDocument/2006/relationships/oleObject" Target="../embeddings/oleObject96.bin"/><Relationship Id="rId12" Type="http://schemas.openxmlformats.org/officeDocument/2006/relationships/image" Target="../media/image88.wmf"/><Relationship Id="rId11" Type="http://schemas.openxmlformats.org/officeDocument/2006/relationships/oleObject" Target="../embeddings/oleObject95.bin"/><Relationship Id="rId10" Type="http://schemas.openxmlformats.org/officeDocument/2006/relationships/image" Target="../media/image87.wmf"/><Relationship Id="rId1" Type="http://schemas.openxmlformats.org/officeDocument/2006/relationships/oleObject" Target="../embeddings/oleObject90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9.vml"/><Relationship Id="rId8" Type="http://schemas.openxmlformats.org/officeDocument/2006/relationships/slideLayout" Target="../slideLayouts/slideLayout8.xml"/><Relationship Id="rId7" Type="http://schemas.openxmlformats.org/officeDocument/2006/relationships/image" Target="../media/image93.wmf"/><Relationship Id="rId6" Type="http://schemas.openxmlformats.org/officeDocument/2006/relationships/image" Target="../media/image92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91.wmf"/><Relationship Id="rId3" Type="http://schemas.openxmlformats.org/officeDocument/2006/relationships/oleObject" Target="../embeddings/oleObject98.bin"/><Relationship Id="rId2" Type="http://schemas.openxmlformats.org/officeDocument/2006/relationships/image" Target="../media/image90.wmf"/><Relationship Id="rId1" Type="http://schemas.openxmlformats.org/officeDocument/2006/relationships/oleObject" Target="../embeddings/oleObject97.bin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0.v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95.wmf"/><Relationship Id="rId2" Type="http://schemas.openxmlformats.org/officeDocument/2006/relationships/oleObject" Target="../embeddings/oleObject100.bin"/><Relationship Id="rId1" Type="http://schemas.openxmlformats.org/officeDocument/2006/relationships/image" Target="../media/image94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wmf"/><Relationship Id="rId8" Type="http://schemas.openxmlformats.org/officeDocument/2006/relationships/oleObject" Target="../embeddings/oleObject104.bin"/><Relationship Id="rId7" Type="http://schemas.openxmlformats.org/officeDocument/2006/relationships/image" Target="../media/image99.png"/><Relationship Id="rId6" Type="http://schemas.openxmlformats.org/officeDocument/2006/relationships/image" Target="../media/image98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97.wmf"/><Relationship Id="rId3" Type="http://schemas.openxmlformats.org/officeDocument/2006/relationships/oleObject" Target="../embeddings/oleObject102.bin"/><Relationship Id="rId2" Type="http://schemas.openxmlformats.org/officeDocument/2006/relationships/image" Target="../media/image96.wmf"/><Relationship Id="rId11" Type="http://schemas.openxmlformats.org/officeDocument/2006/relationships/vmlDrawing" Target="../drawings/vmlDrawing21.vml"/><Relationship Id="rId10" Type="http://schemas.openxmlformats.org/officeDocument/2006/relationships/slideLayout" Target="../slideLayouts/slideLayout8.xml"/><Relationship Id="rId1" Type="http://schemas.openxmlformats.org/officeDocument/2006/relationships/oleObject" Target="../embeddings/oleObject101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2.v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wmf"/><Relationship Id="rId3" Type="http://schemas.openxmlformats.org/officeDocument/2006/relationships/oleObject" Target="../embeddings/oleObject106.bin"/><Relationship Id="rId2" Type="http://schemas.openxmlformats.org/officeDocument/2006/relationships/image" Target="../media/image101.wmf"/><Relationship Id="rId1" Type="http://schemas.openxmlformats.org/officeDocument/2006/relationships/oleObject" Target="../embeddings/oleObject105.bin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3.v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06.png"/><Relationship Id="rId2" Type="http://schemas.openxmlformats.org/officeDocument/2006/relationships/image" Target="../media/image105.wmf"/><Relationship Id="rId1" Type="http://schemas.openxmlformats.org/officeDocument/2006/relationships/oleObject" Target="../embeddings/oleObject107.bin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4.v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08.png"/><Relationship Id="rId2" Type="http://schemas.openxmlformats.org/officeDocument/2006/relationships/image" Target="../media/image107.wmf"/><Relationship Id="rId1" Type="http://schemas.openxmlformats.org/officeDocument/2006/relationships/oleObject" Target="../embeddings/oleObject108.bin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112.png"/><Relationship Id="rId3" Type="http://schemas.openxmlformats.org/officeDocument/2006/relationships/image" Target="../media/image111.wmf"/><Relationship Id="rId2" Type="http://schemas.openxmlformats.org/officeDocument/2006/relationships/image" Target="../media/image110.jpeg"/><Relationship Id="rId1" Type="http://schemas.openxmlformats.org/officeDocument/2006/relationships/image" Target="../media/image109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5.v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114.wmf"/><Relationship Id="rId3" Type="http://schemas.openxmlformats.org/officeDocument/2006/relationships/oleObject" Target="../embeddings/oleObject110.bin"/><Relationship Id="rId2" Type="http://schemas.openxmlformats.org/officeDocument/2006/relationships/image" Target="../media/image113.wmf"/><Relationship Id="rId1" Type="http://schemas.openxmlformats.org/officeDocument/2006/relationships/oleObject" Target="../embeddings/oleObject10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6.v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113.bin"/><Relationship Id="rId2" Type="http://schemas.openxmlformats.org/officeDocument/2006/relationships/image" Target="../media/image116.wmf"/><Relationship Id="rId1" Type="http://schemas.openxmlformats.org/officeDocument/2006/relationships/oleObject" Target="../embeddings/oleObject112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0.png"/><Relationship Id="rId1" Type="http://schemas.openxmlformats.org/officeDocument/2006/relationships/image" Target="../media/image119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9.bin"/><Relationship Id="rId8" Type="http://schemas.openxmlformats.org/officeDocument/2006/relationships/image" Target="../media/image124.wmf"/><Relationship Id="rId7" Type="http://schemas.openxmlformats.org/officeDocument/2006/relationships/oleObject" Target="../embeddings/oleObject118.bin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22.wmf"/><Relationship Id="rId3" Type="http://schemas.openxmlformats.org/officeDocument/2006/relationships/oleObject" Target="../embeddings/oleObject116.bin"/><Relationship Id="rId2" Type="http://schemas.openxmlformats.org/officeDocument/2006/relationships/image" Target="../media/image121.wmf"/><Relationship Id="rId12" Type="http://schemas.openxmlformats.org/officeDocument/2006/relationships/vmlDrawing" Target="../drawings/vmlDrawing27.vml"/><Relationship Id="rId11" Type="http://schemas.openxmlformats.org/officeDocument/2006/relationships/slideLayout" Target="../slideLayouts/slideLayout8.xml"/><Relationship Id="rId10" Type="http://schemas.openxmlformats.org/officeDocument/2006/relationships/image" Target="../media/image125.wmf"/><Relationship Id="rId1" Type="http://schemas.openxmlformats.org/officeDocument/2006/relationships/oleObject" Target="../embeddings/oleObject115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4.bin"/><Relationship Id="rId8" Type="http://schemas.openxmlformats.org/officeDocument/2006/relationships/image" Target="../media/image129.wmf"/><Relationship Id="rId7" Type="http://schemas.openxmlformats.org/officeDocument/2006/relationships/oleObject" Target="../embeddings/oleObject123.bin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27.wmf"/><Relationship Id="rId3" Type="http://schemas.openxmlformats.org/officeDocument/2006/relationships/oleObject" Target="../embeddings/oleObject121.bin"/><Relationship Id="rId24" Type="http://schemas.openxmlformats.org/officeDocument/2006/relationships/vmlDrawing" Target="../drawings/vmlDrawing28.vml"/><Relationship Id="rId23" Type="http://schemas.openxmlformats.org/officeDocument/2006/relationships/slideLayout" Target="../slideLayouts/slideLayout8.xml"/><Relationship Id="rId22" Type="http://schemas.openxmlformats.org/officeDocument/2006/relationships/image" Target="../media/image136.wmf"/><Relationship Id="rId21" Type="http://schemas.openxmlformats.org/officeDocument/2006/relationships/oleObject" Target="../embeddings/oleObject130.bin"/><Relationship Id="rId20" Type="http://schemas.openxmlformats.org/officeDocument/2006/relationships/image" Target="../media/image135.wmf"/><Relationship Id="rId2" Type="http://schemas.openxmlformats.org/officeDocument/2006/relationships/image" Target="../media/image126.wmf"/><Relationship Id="rId19" Type="http://schemas.openxmlformats.org/officeDocument/2006/relationships/oleObject" Target="../embeddings/oleObject129.bin"/><Relationship Id="rId18" Type="http://schemas.openxmlformats.org/officeDocument/2006/relationships/image" Target="../media/image134.wmf"/><Relationship Id="rId17" Type="http://schemas.openxmlformats.org/officeDocument/2006/relationships/oleObject" Target="../embeddings/oleObject128.bin"/><Relationship Id="rId16" Type="http://schemas.openxmlformats.org/officeDocument/2006/relationships/image" Target="../media/image133.wmf"/><Relationship Id="rId15" Type="http://schemas.openxmlformats.org/officeDocument/2006/relationships/oleObject" Target="../embeddings/oleObject127.bin"/><Relationship Id="rId14" Type="http://schemas.openxmlformats.org/officeDocument/2006/relationships/image" Target="../media/image132.wmf"/><Relationship Id="rId13" Type="http://schemas.openxmlformats.org/officeDocument/2006/relationships/oleObject" Target="../embeddings/oleObject126.bin"/><Relationship Id="rId12" Type="http://schemas.openxmlformats.org/officeDocument/2006/relationships/image" Target="../media/image131.wmf"/><Relationship Id="rId11" Type="http://schemas.openxmlformats.org/officeDocument/2006/relationships/oleObject" Target="../embeddings/oleObject125.bin"/><Relationship Id="rId10" Type="http://schemas.openxmlformats.org/officeDocument/2006/relationships/image" Target="../media/image130.wmf"/><Relationship Id="rId1" Type="http://schemas.openxmlformats.org/officeDocument/2006/relationships/oleObject" Target="../embeddings/oleObject120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5.bin"/><Relationship Id="rId8" Type="http://schemas.openxmlformats.org/officeDocument/2006/relationships/image" Target="../media/image140.wmf"/><Relationship Id="rId7" Type="http://schemas.openxmlformats.org/officeDocument/2006/relationships/oleObject" Target="../embeddings/oleObject134.bin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33.bin"/><Relationship Id="rId4" Type="http://schemas.openxmlformats.org/officeDocument/2006/relationships/image" Target="../media/image138.wmf"/><Relationship Id="rId3" Type="http://schemas.openxmlformats.org/officeDocument/2006/relationships/oleObject" Target="../embeddings/oleObject132.bin"/><Relationship Id="rId2" Type="http://schemas.openxmlformats.org/officeDocument/2006/relationships/image" Target="../media/image137.wmf"/><Relationship Id="rId14" Type="http://schemas.openxmlformats.org/officeDocument/2006/relationships/vmlDrawing" Target="../drawings/vmlDrawing29.vml"/><Relationship Id="rId13" Type="http://schemas.openxmlformats.org/officeDocument/2006/relationships/slideLayout" Target="../slideLayouts/slideLayout8.xml"/><Relationship Id="rId12" Type="http://schemas.openxmlformats.org/officeDocument/2006/relationships/image" Target="../media/image142.wmf"/><Relationship Id="rId11" Type="http://schemas.openxmlformats.org/officeDocument/2006/relationships/oleObject" Target="../embeddings/oleObject136.bin"/><Relationship Id="rId10" Type="http://schemas.openxmlformats.org/officeDocument/2006/relationships/image" Target="../media/image141.wmf"/><Relationship Id="rId1" Type="http://schemas.openxmlformats.org/officeDocument/2006/relationships/oleObject" Target="../embeddings/oleObject131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1.bin"/><Relationship Id="rId8" Type="http://schemas.openxmlformats.org/officeDocument/2006/relationships/image" Target="../media/image146.wmf"/><Relationship Id="rId7" Type="http://schemas.openxmlformats.org/officeDocument/2006/relationships/oleObject" Target="../embeddings/oleObject140.bin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144.wmf"/><Relationship Id="rId3" Type="http://schemas.openxmlformats.org/officeDocument/2006/relationships/oleObject" Target="../embeddings/oleObject138.bin"/><Relationship Id="rId2" Type="http://schemas.openxmlformats.org/officeDocument/2006/relationships/image" Target="../media/image143.wmf"/><Relationship Id="rId16" Type="http://schemas.openxmlformats.org/officeDocument/2006/relationships/vmlDrawing" Target="../drawings/vmlDrawing30.vml"/><Relationship Id="rId15" Type="http://schemas.openxmlformats.org/officeDocument/2006/relationships/slideLayout" Target="../slideLayouts/slideLayout8.xml"/><Relationship Id="rId14" Type="http://schemas.openxmlformats.org/officeDocument/2006/relationships/image" Target="../media/image149.wmf"/><Relationship Id="rId13" Type="http://schemas.openxmlformats.org/officeDocument/2006/relationships/oleObject" Target="../embeddings/oleObject143.bin"/><Relationship Id="rId12" Type="http://schemas.openxmlformats.org/officeDocument/2006/relationships/image" Target="../media/image148.wmf"/><Relationship Id="rId11" Type="http://schemas.openxmlformats.org/officeDocument/2006/relationships/oleObject" Target="../embeddings/oleObject142.bin"/><Relationship Id="rId10" Type="http://schemas.openxmlformats.org/officeDocument/2006/relationships/image" Target="../media/image147.wmf"/><Relationship Id="rId1" Type="http://schemas.openxmlformats.org/officeDocument/2006/relationships/oleObject" Target="../embeddings/oleObject137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4.png"/><Relationship Id="rId8" Type="http://schemas.openxmlformats.org/officeDocument/2006/relationships/image" Target="../media/image153.wmf"/><Relationship Id="rId7" Type="http://schemas.openxmlformats.org/officeDocument/2006/relationships/oleObject" Target="../embeddings/oleObject147.bin"/><Relationship Id="rId6" Type="http://schemas.openxmlformats.org/officeDocument/2006/relationships/image" Target="../media/image152.wmf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51.wmf"/><Relationship Id="rId3" Type="http://schemas.openxmlformats.org/officeDocument/2006/relationships/oleObject" Target="../embeddings/oleObject145.bin"/><Relationship Id="rId2" Type="http://schemas.openxmlformats.org/officeDocument/2006/relationships/image" Target="../media/image150.wmf"/><Relationship Id="rId12" Type="http://schemas.openxmlformats.org/officeDocument/2006/relationships/vmlDrawing" Target="../drawings/vmlDrawing31.vml"/><Relationship Id="rId11" Type="http://schemas.openxmlformats.org/officeDocument/2006/relationships/slideLayout" Target="../slideLayouts/slideLayout8.xml"/><Relationship Id="rId10" Type="http://schemas.openxmlformats.org/officeDocument/2006/relationships/image" Target="../media/image155.png"/><Relationship Id="rId1" Type="http://schemas.openxmlformats.org/officeDocument/2006/relationships/oleObject" Target="../embeddings/oleObject144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2.bin"/><Relationship Id="rId8" Type="http://schemas.openxmlformats.org/officeDocument/2006/relationships/image" Target="../media/image159.wmf"/><Relationship Id="rId7" Type="http://schemas.openxmlformats.org/officeDocument/2006/relationships/oleObject" Target="../embeddings/oleObject151.bin"/><Relationship Id="rId6" Type="http://schemas.openxmlformats.org/officeDocument/2006/relationships/image" Target="../media/image158.wmf"/><Relationship Id="rId5" Type="http://schemas.openxmlformats.org/officeDocument/2006/relationships/oleObject" Target="../embeddings/oleObject150.bin"/><Relationship Id="rId4" Type="http://schemas.openxmlformats.org/officeDocument/2006/relationships/image" Target="../media/image157.wmf"/><Relationship Id="rId3" Type="http://schemas.openxmlformats.org/officeDocument/2006/relationships/oleObject" Target="../embeddings/oleObject149.bin"/><Relationship Id="rId2" Type="http://schemas.openxmlformats.org/officeDocument/2006/relationships/image" Target="../media/image156.wmf"/><Relationship Id="rId14" Type="http://schemas.openxmlformats.org/officeDocument/2006/relationships/vmlDrawing" Target="../drawings/vmlDrawing32.vml"/><Relationship Id="rId13" Type="http://schemas.openxmlformats.org/officeDocument/2006/relationships/slideLayout" Target="../slideLayouts/slideLayout8.xml"/><Relationship Id="rId12" Type="http://schemas.openxmlformats.org/officeDocument/2006/relationships/image" Target="../media/image161.wmf"/><Relationship Id="rId11" Type="http://schemas.openxmlformats.org/officeDocument/2006/relationships/oleObject" Target="../embeddings/oleObject153.bin"/><Relationship Id="rId10" Type="http://schemas.openxmlformats.org/officeDocument/2006/relationships/image" Target="../media/image160.wmf"/><Relationship Id="rId1" Type="http://schemas.openxmlformats.org/officeDocument/2006/relationships/oleObject" Target="../embeddings/oleObject148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8.bin"/><Relationship Id="rId8" Type="http://schemas.openxmlformats.org/officeDocument/2006/relationships/image" Target="../media/image165.wmf"/><Relationship Id="rId7" Type="http://schemas.openxmlformats.org/officeDocument/2006/relationships/oleObject" Target="../embeddings/oleObject157.bin"/><Relationship Id="rId6" Type="http://schemas.openxmlformats.org/officeDocument/2006/relationships/image" Target="../media/image164.w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63.wmf"/><Relationship Id="rId3" Type="http://schemas.openxmlformats.org/officeDocument/2006/relationships/oleObject" Target="../embeddings/oleObject155.bin"/><Relationship Id="rId2" Type="http://schemas.openxmlformats.org/officeDocument/2006/relationships/image" Target="../media/image162.wmf"/><Relationship Id="rId16" Type="http://schemas.openxmlformats.org/officeDocument/2006/relationships/vmlDrawing" Target="../drawings/vmlDrawing33.vml"/><Relationship Id="rId15" Type="http://schemas.openxmlformats.org/officeDocument/2006/relationships/slideLayout" Target="../slideLayouts/slideLayout8.xml"/><Relationship Id="rId14" Type="http://schemas.openxmlformats.org/officeDocument/2006/relationships/image" Target="../media/image168.wmf"/><Relationship Id="rId13" Type="http://schemas.openxmlformats.org/officeDocument/2006/relationships/oleObject" Target="../embeddings/oleObject160.bin"/><Relationship Id="rId12" Type="http://schemas.openxmlformats.org/officeDocument/2006/relationships/image" Target="../media/image167.wmf"/><Relationship Id="rId11" Type="http://schemas.openxmlformats.org/officeDocument/2006/relationships/oleObject" Target="../embeddings/oleObject159.bin"/><Relationship Id="rId10" Type="http://schemas.openxmlformats.org/officeDocument/2006/relationships/image" Target="../media/image166.wmf"/><Relationship Id="rId1" Type="http://schemas.openxmlformats.org/officeDocument/2006/relationships/oleObject" Target="../embeddings/oleObject154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4.v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171.wmf"/><Relationship Id="rId5" Type="http://schemas.openxmlformats.org/officeDocument/2006/relationships/oleObject" Target="../embeddings/oleObject163.bin"/><Relationship Id="rId4" Type="http://schemas.openxmlformats.org/officeDocument/2006/relationships/image" Target="../media/image170.wmf"/><Relationship Id="rId3" Type="http://schemas.openxmlformats.org/officeDocument/2006/relationships/oleObject" Target="../embeddings/oleObject162.bin"/><Relationship Id="rId2" Type="http://schemas.openxmlformats.org/officeDocument/2006/relationships/image" Target="../media/image169.wmf"/><Relationship Id="rId1" Type="http://schemas.openxmlformats.org/officeDocument/2006/relationships/oleObject" Target="../embeddings/oleObject161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image" Target="../media/image17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7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3"/>
          <p:cNvSpPr/>
          <p:nvPr/>
        </p:nvSpPr>
        <p:spPr>
          <a:xfrm>
            <a:off x="1708150" y="2592705"/>
            <a:ext cx="6629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一、概率密度的概念与性质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315" name="Rectangle 14"/>
          <p:cNvSpPr/>
          <p:nvPr/>
        </p:nvSpPr>
        <p:spPr>
          <a:xfrm>
            <a:off x="1708150" y="3324543"/>
            <a:ext cx="7010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二、常见连续型随机变量的分布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316" name="Rectangle 15"/>
          <p:cNvSpPr/>
          <p:nvPr/>
        </p:nvSpPr>
        <p:spPr>
          <a:xfrm>
            <a:off x="1708150" y="4056380"/>
            <a:ext cx="3429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三、小结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064" name="Rectangle 16"/>
          <p:cNvSpPr>
            <a:spLocks noGrp="1" noChangeArrowheads="1"/>
          </p:cNvSpPr>
          <p:nvPr>
            <p:ph type="title" idx="4294967295"/>
          </p:nvPr>
        </p:nvSpPr>
        <p:spPr>
          <a:xfrm>
            <a:off x="-18415" y="1136333"/>
            <a:ext cx="9162415" cy="706755"/>
          </a:xfrm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+mj-ea"/>
                <a:cs typeface="+mj-cs"/>
              </a:rPr>
              <a:t>第四节 连续型随机变量及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+mj-ea"/>
                <a:cs typeface="+mj-cs"/>
              </a:rPr>
              <a:t>其概率密度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+mj-ea"/>
              <a:cs typeface="+mj-cs"/>
            </a:endParaRPr>
          </a:p>
        </p:txBody>
      </p:sp>
      <p:sp>
        <p:nvSpPr>
          <p:cNvPr id="13319" name="Rectangle 18">
            <a:hlinkClick r:id="rId1" action="ppaction://hlinksldjump"/>
          </p:cNvPr>
          <p:cNvSpPr/>
          <p:nvPr/>
        </p:nvSpPr>
        <p:spPr>
          <a:xfrm>
            <a:off x="1708150" y="2745105"/>
            <a:ext cx="49530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13320" name="Rectangle 19">
            <a:hlinkClick r:id="" action="ppaction://noaction"/>
          </p:cNvPr>
          <p:cNvSpPr/>
          <p:nvPr/>
        </p:nvSpPr>
        <p:spPr>
          <a:xfrm>
            <a:off x="1708150" y="3476943"/>
            <a:ext cx="57150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13321" name="Rectangle 20">
            <a:hlinkClick r:id="" action="ppaction://noaction"/>
          </p:cNvPr>
          <p:cNvSpPr/>
          <p:nvPr/>
        </p:nvSpPr>
        <p:spPr>
          <a:xfrm>
            <a:off x="1708150" y="4208780"/>
            <a:ext cx="19050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en-US" altLang="x-none" dirty="0">
              <a:latin typeface="Times New Roman" panose="02020603050405020304" pitchFamily="18" charset="0"/>
            </a:endParaRPr>
          </a:p>
        </p:txBody>
      </p:sp>
      <p:sp>
        <p:nvSpPr>
          <p:cNvPr id="10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4" name="Object 24"/>
          <p:cNvGraphicFramePr>
            <a:graphicFrameLocks noChangeAspect="1"/>
          </p:cNvGraphicFramePr>
          <p:nvPr/>
        </p:nvGraphicFramePr>
        <p:xfrm>
          <a:off x="622300" y="1631528"/>
          <a:ext cx="8197850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1" imgW="8064500" imgH="2311400" progId="Equation.3">
                  <p:embed/>
                </p:oleObj>
              </mc:Choice>
              <mc:Fallback>
                <p:oleObj name="" r:id="rId1" imgW="8064500" imgH="2311400" progId="Equation.3">
                  <p:embed/>
                  <p:pic>
                    <p:nvPicPr>
                      <p:cNvPr id="0" name="Object 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2300" y="1631528"/>
                        <a:ext cx="8197850" cy="231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Rectangle 33"/>
          <p:cNvSpPr>
            <a:spLocks noGrp="1"/>
          </p:cNvSpPr>
          <p:nvPr>
            <p:ph type="title" idx="4294967295"/>
          </p:nvPr>
        </p:nvSpPr>
        <p:spPr>
          <a:xfrm>
            <a:off x="0" y="578485"/>
            <a:ext cx="9154795" cy="706755"/>
          </a:xfrm>
        </p:spPr>
        <p:txBody>
          <a:bodyPr vert="horz" wrap="square" lIns="91440" tIns="45720" rIns="91440" bIns="45720" anchor="ctr" anchorCtr="0">
            <a:spAutoFit/>
          </a:bodyPr>
          <a:lstStyle/>
          <a:p>
            <a:pPr algn="ctr" eaLnBrk="1" hangingPunct="1"/>
            <a:r>
              <a:rPr lang="zh-CN" altLang="en-US" dirty="0">
                <a:solidFill>
                  <a:schemeClr val="tx1"/>
                </a:solidFill>
              </a:rPr>
              <a:t>一、概率密度的概念与性质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514" name="Text Box 34"/>
          <p:cNvSpPr txBox="1"/>
          <p:nvPr/>
        </p:nvSpPr>
        <p:spPr>
          <a:xfrm>
            <a:off x="323850" y="1520403"/>
            <a:ext cx="19208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0515" name="Group 35"/>
          <p:cNvGrpSpPr/>
          <p:nvPr/>
        </p:nvGrpSpPr>
        <p:grpSpPr>
          <a:xfrm>
            <a:off x="3962400" y="3942928"/>
            <a:ext cx="4724400" cy="2438400"/>
            <a:chOff x="1104" y="2688"/>
            <a:chExt cx="2160" cy="1344"/>
          </a:xfrm>
        </p:grpSpPr>
        <p:sp>
          <p:nvSpPr>
            <p:cNvPr id="14380" name="Line 36"/>
            <p:cNvSpPr/>
            <p:nvPr/>
          </p:nvSpPr>
          <p:spPr>
            <a:xfrm>
              <a:off x="1104" y="3696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81" name="Line 37"/>
            <p:cNvSpPr/>
            <p:nvPr/>
          </p:nvSpPr>
          <p:spPr>
            <a:xfrm flipV="1">
              <a:off x="1920" y="2688"/>
              <a:ext cx="0" cy="13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0518" name="Group 38"/>
          <p:cNvGrpSpPr/>
          <p:nvPr/>
        </p:nvGrpSpPr>
        <p:grpSpPr>
          <a:xfrm>
            <a:off x="4900613" y="3817516"/>
            <a:ext cx="3867150" cy="2276475"/>
            <a:chOff x="2943" y="401"/>
            <a:chExt cx="2436" cy="1434"/>
          </a:xfrm>
        </p:grpSpPr>
        <p:graphicFrame>
          <p:nvGraphicFramePr>
            <p:cNvPr id="14377" name="Object 39"/>
            <p:cNvGraphicFramePr>
              <a:graphicFrameLocks noChangeAspect="1"/>
            </p:cNvGraphicFramePr>
            <p:nvPr/>
          </p:nvGraphicFramePr>
          <p:xfrm>
            <a:off x="5188" y="1684"/>
            <a:ext cx="191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name="" r:id="rId3" imgW="254000" imgH="241300" progId="Equation.3">
                    <p:embed/>
                  </p:oleObj>
                </mc:Choice>
                <mc:Fallback>
                  <p:oleObj name="" r:id="rId3" imgW="254000" imgH="241300" progId="Equation.3">
                    <p:embed/>
                    <p:pic>
                      <p:nvPicPr>
                        <p:cNvPr id="0" name="Object 3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88" y="1684"/>
                          <a:ext cx="191" cy="1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9" name="Object 41"/>
            <p:cNvGraphicFramePr>
              <a:graphicFrameLocks noChangeAspect="1"/>
            </p:cNvGraphicFramePr>
            <p:nvPr/>
          </p:nvGraphicFramePr>
          <p:xfrm>
            <a:off x="2943" y="401"/>
            <a:ext cx="44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" name="" r:id="rId5" imgW="774065" imgH="393700" progId="Equation.3">
                    <p:embed/>
                  </p:oleObj>
                </mc:Choice>
                <mc:Fallback>
                  <p:oleObj name="" r:id="rId5" imgW="774065" imgH="393700" progId="Equation.3">
                    <p:embed/>
                    <p:pic>
                      <p:nvPicPr>
                        <p:cNvPr id="0" name="Object 4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943" y="401"/>
                          <a:ext cx="448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23" name="Group 43"/>
          <p:cNvGrpSpPr/>
          <p:nvPr/>
        </p:nvGrpSpPr>
        <p:grpSpPr>
          <a:xfrm>
            <a:off x="3986212" y="4498553"/>
            <a:ext cx="4330700" cy="1273175"/>
            <a:chOff x="1407" y="1118"/>
            <a:chExt cx="2728" cy="802"/>
          </a:xfrm>
        </p:grpSpPr>
        <p:sp>
          <p:nvSpPr>
            <p:cNvPr id="14358" name="Line 44"/>
            <p:cNvSpPr/>
            <p:nvPr/>
          </p:nvSpPr>
          <p:spPr>
            <a:xfrm flipH="1">
              <a:off x="1407" y="1632"/>
              <a:ext cx="192" cy="288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9" name="Line 45"/>
            <p:cNvSpPr/>
            <p:nvPr/>
          </p:nvSpPr>
          <p:spPr>
            <a:xfrm flipH="1">
              <a:off x="1536" y="1632"/>
              <a:ext cx="192" cy="288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0" name="Line 46"/>
            <p:cNvSpPr/>
            <p:nvPr/>
          </p:nvSpPr>
          <p:spPr>
            <a:xfrm flipH="1">
              <a:off x="1680" y="1632"/>
              <a:ext cx="192" cy="288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1" name="Line 47"/>
            <p:cNvSpPr/>
            <p:nvPr/>
          </p:nvSpPr>
          <p:spPr>
            <a:xfrm flipH="1">
              <a:off x="1824" y="1632"/>
              <a:ext cx="192" cy="288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2" name="Line 48"/>
            <p:cNvSpPr/>
            <p:nvPr/>
          </p:nvSpPr>
          <p:spPr>
            <a:xfrm flipH="1">
              <a:off x="1968" y="1578"/>
              <a:ext cx="216" cy="342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3" name="Line 49"/>
            <p:cNvSpPr/>
            <p:nvPr/>
          </p:nvSpPr>
          <p:spPr>
            <a:xfrm flipH="1">
              <a:off x="2094" y="1264"/>
              <a:ext cx="414" cy="656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4" name="Line 50"/>
            <p:cNvSpPr/>
            <p:nvPr/>
          </p:nvSpPr>
          <p:spPr>
            <a:xfrm flipH="1">
              <a:off x="2256" y="1118"/>
              <a:ext cx="516" cy="802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5" name="Line 51"/>
            <p:cNvSpPr/>
            <p:nvPr/>
          </p:nvSpPr>
          <p:spPr>
            <a:xfrm flipH="1">
              <a:off x="2400" y="1200"/>
              <a:ext cx="480" cy="720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6" name="Line 52"/>
            <p:cNvSpPr/>
            <p:nvPr/>
          </p:nvSpPr>
          <p:spPr>
            <a:xfrm flipH="1">
              <a:off x="2544" y="1299"/>
              <a:ext cx="411" cy="621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7" name="Line 53"/>
            <p:cNvSpPr/>
            <p:nvPr/>
          </p:nvSpPr>
          <p:spPr>
            <a:xfrm flipH="1">
              <a:off x="2688" y="1392"/>
              <a:ext cx="336" cy="528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8" name="Line 54"/>
            <p:cNvSpPr/>
            <p:nvPr/>
          </p:nvSpPr>
          <p:spPr>
            <a:xfrm flipH="1">
              <a:off x="2832" y="1392"/>
              <a:ext cx="336" cy="528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69" name="Line 55"/>
            <p:cNvSpPr/>
            <p:nvPr/>
          </p:nvSpPr>
          <p:spPr>
            <a:xfrm flipH="1">
              <a:off x="2976" y="1248"/>
              <a:ext cx="432" cy="672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70" name="Line 56"/>
            <p:cNvSpPr/>
            <p:nvPr/>
          </p:nvSpPr>
          <p:spPr>
            <a:xfrm flipH="1">
              <a:off x="3120" y="1248"/>
              <a:ext cx="432" cy="672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71" name="Line 57"/>
            <p:cNvSpPr/>
            <p:nvPr/>
          </p:nvSpPr>
          <p:spPr>
            <a:xfrm flipH="1">
              <a:off x="3264" y="1344"/>
              <a:ext cx="384" cy="576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72" name="Line 58"/>
            <p:cNvSpPr/>
            <p:nvPr/>
          </p:nvSpPr>
          <p:spPr>
            <a:xfrm flipH="1">
              <a:off x="3580" y="1488"/>
              <a:ext cx="260" cy="424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73" name="Line 59"/>
            <p:cNvSpPr/>
            <p:nvPr/>
          </p:nvSpPr>
          <p:spPr>
            <a:xfrm flipH="1">
              <a:off x="3422" y="1420"/>
              <a:ext cx="321" cy="500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74" name="Line 60"/>
            <p:cNvSpPr/>
            <p:nvPr/>
          </p:nvSpPr>
          <p:spPr>
            <a:xfrm flipH="1">
              <a:off x="3714" y="1529"/>
              <a:ext cx="221" cy="386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75" name="Line 61"/>
            <p:cNvSpPr/>
            <p:nvPr/>
          </p:nvSpPr>
          <p:spPr>
            <a:xfrm flipH="1">
              <a:off x="3843" y="1578"/>
              <a:ext cx="182" cy="336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76" name="Line 62"/>
            <p:cNvSpPr/>
            <p:nvPr/>
          </p:nvSpPr>
          <p:spPr>
            <a:xfrm flipH="1">
              <a:off x="3970" y="1616"/>
              <a:ext cx="165" cy="303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0543" name="Group 63"/>
          <p:cNvGrpSpPr/>
          <p:nvPr/>
        </p:nvGrpSpPr>
        <p:grpSpPr>
          <a:xfrm>
            <a:off x="6629400" y="4581103"/>
            <a:ext cx="609600" cy="1190625"/>
            <a:chOff x="3072" y="1152"/>
            <a:chExt cx="432" cy="768"/>
          </a:xfrm>
        </p:grpSpPr>
        <p:sp>
          <p:nvSpPr>
            <p:cNvPr id="14356" name="Rectangle 64"/>
            <p:cNvSpPr/>
            <p:nvPr/>
          </p:nvSpPr>
          <p:spPr>
            <a:xfrm>
              <a:off x="3072" y="1392"/>
              <a:ext cx="432" cy="528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en-US" altLang="x-none" dirty="0">
                <a:latin typeface="Times New Roman" panose="02020603050405020304" pitchFamily="18" charset="0"/>
              </a:endParaRPr>
            </a:p>
          </p:txBody>
        </p:sp>
        <p:sp>
          <p:nvSpPr>
            <p:cNvPr id="14357" name="AutoShape 65"/>
            <p:cNvSpPr/>
            <p:nvPr/>
          </p:nvSpPr>
          <p:spPr>
            <a:xfrm rot="-62203" flipH="1">
              <a:off x="3072" y="1152"/>
              <a:ext cx="432" cy="240"/>
            </a:xfrm>
            <a:prstGeom prst="rtTriangle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/>
              <a:endParaRPr lang="en-US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0546" name="Text Box 66"/>
          <p:cNvSpPr txBox="1"/>
          <p:nvPr/>
        </p:nvSpPr>
        <p:spPr>
          <a:xfrm>
            <a:off x="6371908" y="3860696"/>
            <a:ext cx="92583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6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=1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0547" name="Object 67"/>
          <p:cNvGraphicFramePr>
            <a:graphicFrameLocks noChangeAspect="1"/>
          </p:cNvGraphicFramePr>
          <p:nvPr/>
        </p:nvGraphicFramePr>
        <p:xfrm>
          <a:off x="895350" y="4310558"/>
          <a:ext cx="2870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" r:id="rId7" imgW="2870200" imgH="698500" progId="Equation.3">
                  <p:embed/>
                </p:oleObj>
              </mc:Choice>
              <mc:Fallback>
                <p:oleObj name="" r:id="rId7" imgW="2870200" imgH="698500" progId="Equation.3">
                  <p:embed/>
                  <p:pic>
                    <p:nvPicPr>
                      <p:cNvPr id="0" name="Object 6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95350" y="4310558"/>
                        <a:ext cx="28702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8" name="Object 68"/>
          <p:cNvGraphicFramePr>
            <a:graphicFrameLocks noChangeAspect="1"/>
          </p:cNvGraphicFramePr>
          <p:nvPr/>
        </p:nvGraphicFramePr>
        <p:xfrm>
          <a:off x="6781800" y="5162128"/>
          <a:ext cx="368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" r:id="rId9" imgW="379095" imgH="466725" progId="Equation.3">
                  <p:embed/>
                </p:oleObj>
              </mc:Choice>
              <mc:Fallback>
                <p:oleObj name="" r:id="rId9" imgW="379095" imgH="466725" progId="Equation.3">
                  <p:embed/>
                  <p:pic>
                    <p:nvPicPr>
                      <p:cNvPr id="0" name="Object 6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781800" y="5162128"/>
                        <a:ext cx="3683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9" name="Object 69"/>
          <p:cNvGraphicFramePr>
            <a:graphicFrameLocks noChangeAspect="1"/>
          </p:cNvGraphicFramePr>
          <p:nvPr/>
        </p:nvGraphicFramePr>
        <p:xfrm>
          <a:off x="914400" y="5313858"/>
          <a:ext cx="2438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" r:id="rId11" imgW="2438400" imgH="749300" progId="Equation.3">
                  <p:embed/>
                </p:oleObj>
              </mc:Choice>
              <mc:Fallback>
                <p:oleObj name="" r:id="rId11" imgW="2438400" imgH="749300" progId="Equation.3">
                  <p:embed/>
                  <p:pic>
                    <p:nvPicPr>
                      <p:cNvPr id="0" name="Object 6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14400" y="5313858"/>
                        <a:ext cx="2438400" cy="74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550" name="Group 70"/>
          <p:cNvGrpSpPr/>
          <p:nvPr/>
        </p:nvGrpSpPr>
        <p:grpSpPr>
          <a:xfrm>
            <a:off x="6516688" y="5695528"/>
            <a:ext cx="330200" cy="590550"/>
            <a:chOff x="3961" y="1584"/>
            <a:chExt cx="208" cy="372"/>
          </a:xfrm>
        </p:grpSpPr>
        <p:graphicFrame>
          <p:nvGraphicFramePr>
            <p:cNvPr id="14354" name="Object 71"/>
            <p:cNvGraphicFramePr>
              <a:graphicFrameLocks noChangeAspect="1"/>
            </p:cNvGraphicFramePr>
            <p:nvPr/>
          </p:nvGraphicFramePr>
          <p:xfrm>
            <a:off x="3961" y="1692"/>
            <a:ext cx="20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" name="" r:id="rId13" imgW="330200" imgH="419100" progId="">
                    <p:embed/>
                  </p:oleObj>
                </mc:Choice>
                <mc:Fallback>
                  <p:oleObj name="" r:id="rId13" imgW="330200" imgH="419100" progId="">
                    <p:embed/>
                    <p:pic>
                      <p:nvPicPr>
                        <p:cNvPr id="0" name="Object 7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961" y="1692"/>
                          <a:ext cx="208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5" name="Object 72"/>
            <p:cNvGraphicFramePr>
              <a:graphicFrameLocks noChangeAspect="1"/>
            </p:cNvGraphicFramePr>
            <p:nvPr/>
          </p:nvGraphicFramePr>
          <p:xfrm>
            <a:off x="3984" y="1584"/>
            <a:ext cx="120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4" name="" r:id="rId15" imgW="190500" imgH="190500" progId="Equation.3">
                    <p:embed/>
                  </p:oleObj>
                </mc:Choice>
                <mc:Fallback>
                  <p:oleObj name="" r:id="rId15" imgW="190500" imgH="190500" progId="Equation.3">
                    <p:embed/>
                    <p:pic>
                      <p:nvPicPr>
                        <p:cNvPr id="0" name="Object 7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984" y="1584"/>
                          <a:ext cx="120" cy="1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53" name="Group 73"/>
          <p:cNvGrpSpPr/>
          <p:nvPr/>
        </p:nvGrpSpPr>
        <p:grpSpPr>
          <a:xfrm>
            <a:off x="7116763" y="5695528"/>
            <a:ext cx="355600" cy="590550"/>
            <a:chOff x="4339" y="1584"/>
            <a:chExt cx="224" cy="372"/>
          </a:xfrm>
        </p:grpSpPr>
        <p:graphicFrame>
          <p:nvGraphicFramePr>
            <p:cNvPr id="14352" name="Object 74"/>
            <p:cNvGraphicFramePr>
              <a:graphicFrameLocks noChangeAspect="1"/>
            </p:cNvGraphicFramePr>
            <p:nvPr/>
          </p:nvGraphicFramePr>
          <p:xfrm>
            <a:off x="4339" y="1692"/>
            <a:ext cx="22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" name="" r:id="rId17" imgW="355600" imgH="418465" progId="Equation.3">
                    <p:embed/>
                  </p:oleObj>
                </mc:Choice>
                <mc:Fallback>
                  <p:oleObj name="" r:id="rId17" imgW="355600" imgH="418465" progId="Equation.3">
                    <p:embed/>
                    <p:pic>
                      <p:nvPicPr>
                        <p:cNvPr id="0" name="Object 74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339" y="1692"/>
                          <a:ext cx="224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3" name="Object 75"/>
            <p:cNvGraphicFramePr>
              <a:graphicFrameLocks noChangeAspect="1"/>
            </p:cNvGraphicFramePr>
            <p:nvPr/>
          </p:nvGraphicFramePr>
          <p:xfrm>
            <a:off x="4368" y="1584"/>
            <a:ext cx="120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" name="" r:id="rId19" imgW="190500" imgH="190500" progId="Equation.3">
                    <p:embed/>
                  </p:oleObj>
                </mc:Choice>
                <mc:Fallback>
                  <p:oleObj name="" r:id="rId19" imgW="190500" imgH="190500" progId="Equation.3">
                    <p:embed/>
                    <p:pic>
                      <p:nvPicPr>
                        <p:cNvPr id="0" name="Object 7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368" y="1584"/>
                          <a:ext cx="120" cy="1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522" name="Freeform 42"/>
          <p:cNvSpPr/>
          <p:nvPr/>
        </p:nvSpPr>
        <p:spPr>
          <a:xfrm>
            <a:off x="4038600" y="4323928"/>
            <a:ext cx="4343400" cy="1041400"/>
          </a:xfrm>
          <a:custGeom>
            <a:avLst/>
            <a:gdLst/>
            <a:ahLst/>
            <a:cxnLst>
              <a:cxn ang="0">
                <a:pos x="0" y="965200"/>
              </a:cxn>
              <a:cxn ang="0">
                <a:pos x="1219200" y="889000"/>
              </a:cxn>
              <a:cxn ang="0">
                <a:pos x="1981200" y="50800"/>
              </a:cxn>
              <a:cxn ang="0">
                <a:pos x="2590800" y="584200"/>
              </a:cxn>
              <a:cxn ang="0">
                <a:pos x="3200400" y="279400"/>
              </a:cxn>
              <a:cxn ang="0">
                <a:pos x="3657600" y="660400"/>
              </a:cxn>
              <a:cxn ang="0">
                <a:pos x="4343400" y="965200"/>
              </a:cxn>
            </a:cxnLst>
            <a:rect l="0" t="0" r="0" b="0"/>
            <a:pathLst>
              <a:path w="2736" h="656">
                <a:moveTo>
                  <a:pt x="0" y="608"/>
                </a:moveTo>
                <a:cubicBezTo>
                  <a:pt x="280" y="632"/>
                  <a:pt x="560" y="656"/>
                  <a:pt x="768" y="560"/>
                </a:cubicBezTo>
                <a:cubicBezTo>
                  <a:pt x="976" y="464"/>
                  <a:pt x="1104" y="64"/>
                  <a:pt x="1248" y="32"/>
                </a:cubicBezTo>
                <a:cubicBezTo>
                  <a:pt x="1392" y="0"/>
                  <a:pt x="1504" y="344"/>
                  <a:pt x="1632" y="368"/>
                </a:cubicBezTo>
                <a:cubicBezTo>
                  <a:pt x="1760" y="392"/>
                  <a:pt x="1904" y="168"/>
                  <a:pt x="2016" y="176"/>
                </a:cubicBezTo>
                <a:cubicBezTo>
                  <a:pt x="2128" y="184"/>
                  <a:pt x="2184" y="344"/>
                  <a:pt x="2304" y="416"/>
                </a:cubicBezTo>
                <a:cubicBezTo>
                  <a:pt x="2424" y="488"/>
                  <a:pt x="2664" y="576"/>
                  <a:pt x="2736" y="608"/>
                </a:cubicBez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0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4" grpId="0"/>
      <p:bldP spid="205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70" name="Group 66"/>
          <p:cNvGrpSpPr/>
          <p:nvPr/>
        </p:nvGrpSpPr>
        <p:grpSpPr>
          <a:xfrm>
            <a:off x="1661160" y="2060575"/>
            <a:ext cx="7370763" cy="765175"/>
            <a:chOff x="576" y="2069"/>
            <a:chExt cx="4643" cy="482"/>
          </a:xfrm>
        </p:grpSpPr>
        <p:graphicFrame>
          <p:nvGraphicFramePr>
            <p:cNvPr id="15373" name="Object 46"/>
            <p:cNvGraphicFramePr>
              <a:graphicFrameLocks noChangeAspect="1"/>
            </p:cNvGraphicFramePr>
            <p:nvPr/>
          </p:nvGraphicFramePr>
          <p:xfrm>
            <a:off x="576" y="2173"/>
            <a:ext cx="3156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" name="" r:id="rId1" imgW="5397500" imgH="419100" progId="Equation.3">
                    <p:embed/>
                  </p:oleObj>
                </mc:Choice>
                <mc:Fallback>
                  <p:oleObj name="" r:id="rId1" imgW="5397500" imgH="419100" progId="Equation.3">
                    <p:embed/>
                    <p:pic>
                      <p:nvPicPr>
                        <p:cNvPr id="0" name="Object 4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76" y="2173"/>
                          <a:ext cx="3156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4" name="Object 47"/>
            <p:cNvGraphicFramePr>
              <a:graphicFrameLocks noChangeAspect="1"/>
            </p:cNvGraphicFramePr>
            <p:nvPr/>
          </p:nvGraphicFramePr>
          <p:xfrm>
            <a:off x="3783" y="2069"/>
            <a:ext cx="1436" cy="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" name="" r:id="rId3" imgW="2235200" imgH="749300" progId="Equation.3">
                    <p:embed/>
                  </p:oleObj>
                </mc:Choice>
                <mc:Fallback>
                  <p:oleObj name="" r:id="rId3" imgW="2235200" imgH="749300" progId="Equation.3">
                    <p:embed/>
                    <p:pic>
                      <p:nvPicPr>
                        <p:cNvPr id="0" name="Object 4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83" y="2069"/>
                          <a:ext cx="1436" cy="4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553" name="Object 49"/>
          <p:cNvGraphicFramePr>
            <a:graphicFrameLocks noChangeAspect="1"/>
          </p:cNvGraphicFramePr>
          <p:nvPr/>
        </p:nvGraphicFramePr>
        <p:xfrm>
          <a:off x="1956118" y="4651375"/>
          <a:ext cx="1854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" r:id="rId5" imgW="2082800" imgH="698500" progId="Equation.3">
                  <p:embed/>
                </p:oleObj>
              </mc:Choice>
              <mc:Fallback>
                <p:oleObj name="" r:id="rId5" imgW="2082800" imgH="698500" progId="Equation.3">
                  <p:embed/>
                  <p:pic>
                    <p:nvPicPr>
                      <p:cNvPr id="0" name="Object 4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56118" y="4651375"/>
                        <a:ext cx="18542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56" name="Rectangle 52"/>
          <p:cNvSpPr/>
          <p:nvPr/>
        </p:nvSpPr>
        <p:spPr>
          <a:xfrm>
            <a:off x="519430" y="3811588"/>
            <a:ext cx="1524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证明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(3)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1558" name="Object 54"/>
          <p:cNvGraphicFramePr>
            <a:graphicFrameLocks noChangeAspect="1"/>
          </p:cNvGraphicFramePr>
          <p:nvPr/>
        </p:nvGraphicFramePr>
        <p:xfrm>
          <a:off x="5796280" y="4652963"/>
          <a:ext cx="2138363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" r:id="rId7" imgW="2095500" imgH="749300" progId="Equation.3">
                  <p:embed/>
                </p:oleObj>
              </mc:Choice>
              <mc:Fallback>
                <p:oleObj name="" r:id="rId7" imgW="2095500" imgH="749300" progId="Equation.3">
                  <p:embed/>
                  <p:pic>
                    <p:nvPicPr>
                      <p:cNvPr id="0" name="Object 5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96280" y="4652963"/>
                        <a:ext cx="2138363" cy="765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0" name="Object 56"/>
          <p:cNvGraphicFramePr>
            <a:graphicFrameLocks noChangeAspect="1"/>
          </p:cNvGraphicFramePr>
          <p:nvPr/>
        </p:nvGraphicFramePr>
        <p:xfrm>
          <a:off x="2146618" y="3902075"/>
          <a:ext cx="453866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" r:id="rId9" imgW="4889500" imgH="419100" progId="Equation.3">
                  <p:embed/>
                </p:oleObj>
              </mc:Choice>
              <mc:Fallback>
                <p:oleObj name="" r:id="rId9" imgW="4889500" imgH="419100" progId="Equation.3">
                  <p:embed/>
                  <p:pic>
                    <p:nvPicPr>
                      <p:cNvPr id="0" name="Object 5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46618" y="3902075"/>
                        <a:ext cx="4538662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1" name="Object 57"/>
          <p:cNvGraphicFramePr>
            <a:graphicFrameLocks noChangeAspect="1"/>
          </p:cNvGraphicFramePr>
          <p:nvPr/>
        </p:nvGraphicFramePr>
        <p:xfrm>
          <a:off x="3883343" y="4651375"/>
          <a:ext cx="18319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" r:id="rId11" imgW="2057400" imgH="698500" progId="Equation.3">
                  <p:embed/>
                </p:oleObj>
              </mc:Choice>
              <mc:Fallback>
                <p:oleObj name="" r:id="rId11" imgW="2057400" imgH="698500" progId="Equation.3">
                  <p:embed/>
                  <p:pic>
                    <p:nvPicPr>
                      <p:cNvPr id="0" name="Object 5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83343" y="4651375"/>
                        <a:ext cx="1831975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Text Box 67"/>
          <p:cNvSpPr txBox="1"/>
          <p:nvPr/>
        </p:nvSpPr>
        <p:spPr>
          <a:xfrm>
            <a:off x="492760" y="624523"/>
            <a:ext cx="9017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性质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1572" name="Object 68"/>
          <p:cNvGraphicFramePr>
            <a:graphicFrameLocks noChangeAspect="1"/>
          </p:cNvGraphicFramePr>
          <p:nvPr/>
        </p:nvGraphicFramePr>
        <p:xfrm>
          <a:off x="1559560" y="703898"/>
          <a:ext cx="23066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" r:id="rId13" imgW="2221230" imgH="393700" progId="Equation.3">
                  <p:embed/>
                </p:oleObj>
              </mc:Choice>
              <mc:Fallback>
                <p:oleObj name="" r:id="rId13" imgW="2221230" imgH="393700" progId="Equation.3">
                  <p:embed/>
                  <p:pic>
                    <p:nvPicPr>
                      <p:cNvPr id="0" name="Object 6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59560" y="703898"/>
                        <a:ext cx="2306638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3" name="Object 69"/>
          <p:cNvGraphicFramePr>
            <a:graphicFrameLocks noChangeAspect="1"/>
          </p:cNvGraphicFramePr>
          <p:nvPr/>
        </p:nvGraphicFramePr>
        <p:xfrm>
          <a:off x="1562735" y="1340485"/>
          <a:ext cx="3187700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" r:id="rId15" imgW="3187700" imgH="698500" progId="Equation.3">
                  <p:embed/>
                </p:oleObj>
              </mc:Choice>
              <mc:Fallback>
                <p:oleObj name="" r:id="rId15" imgW="3187700" imgH="698500" progId="Equation.3">
                  <p:embed/>
                  <p:pic>
                    <p:nvPicPr>
                      <p:cNvPr id="0" name="Object 6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62735" y="1340485"/>
                        <a:ext cx="3187700" cy="646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74" name="Text Box 70"/>
          <p:cNvSpPr txBox="1"/>
          <p:nvPr/>
        </p:nvSpPr>
        <p:spPr>
          <a:xfrm>
            <a:off x="1942465" y="7451090"/>
            <a:ext cx="1219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证明     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1575" name="Object 71"/>
          <p:cNvGraphicFramePr>
            <a:graphicFrameLocks noChangeAspect="1"/>
          </p:cNvGraphicFramePr>
          <p:nvPr/>
        </p:nvGraphicFramePr>
        <p:xfrm>
          <a:off x="3275965" y="7389178"/>
          <a:ext cx="3505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" r:id="rId17" imgW="3505200" imgH="698500" progId="Equation.3">
                  <p:embed/>
                </p:oleObj>
              </mc:Choice>
              <mc:Fallback>
                <p:oleObj name="" r:id="rId17" imgW="3505200" imgH="698500" progId="Equation.3">
                  <p:embed/>
                  <p:pic>
                    <p:nvPicPr>
                      <p:cNvPr id="0" name="Object 7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75965" y="7389178"/>
                        <a:ext cx="35052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  <p:graphicFrame>
        <p:nvGraphicFramePr>
          <p:cNvPr id="43010" name="Object 1026"/>
          <p:cNvGraphicFramePr>
            <a:graphicFrameLocks noChangeAspect="1"/>
          </p:cNvGraphicFramePr>
          <p:nvPr/>
        </p:nvGraphicFramePr>
        <p:xfrm>
          <a:off x="1653223" y="2996248"/>
          <a:ext cx="69992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" r:id="rId19" imgW="6994525" imgH="431800" progId="Equation.3">
                  <p:embed/>
                </p:oleObj>
              </mc:Choice>
              <mc:Fallback>
                <p:oleObj name="" r:id="rId19" imgW="6994525" imgH="431800" progId="Equation.3">
                  <p:embed/>
                  <p:pic>
                    <p:nvPicPr>
                      <p:cNvPr id="0" name="Object 102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53223" y="2996248"/>
                        <a:ext cx="6999287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1" name="Object 1027"/>
          <p:cNvGraphicFramePr>
            <a:graphicFrameLocks noChangeAspect="1"/>
          </p:cNvGraphicFramePr>
          <p:nvPr/>
        </p:nvGraphicFramePr>
        <p:xfrm>
          <a:off x="2372995" y="7213283"/>
          <a:ext cx="24479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" r:id="rId1" imgW="2640330" imgH="393700" progId="Equation.3">
                  <p:embed/>
                </p:oleObj>
              </mc:Choice>
              <mc:Fallback>
                <p:oleObj name="" r:id="rId1" imgW="2640330" imgH="393700" progId="Equation.3">
                  <p:embed/>
                  <p:pic>
                    <p:nvPicPr>
                      <p:cNvPr id="0" name="Object 102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72995" y="7213283"/>
                        <a:ext cx="2447925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1028"/>
          <p:cNvGraphicFramePr>
            <a:graphicFrameLocks noChangeAspect="1"/>
          </p:cNvGraphicFramePr>
          <p:nvPr/>
        </p:nvGraphicFramePr>
        <p:xfrm>
          <a:off x="4932045" y="7029133"/>
          <a:ext cx="2108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2108200" imgH="698500" progId="Equation.3">
                  <p:embed/>
                </p:oleObj>
              </mc:Choice>
              <mc:Fallback>
                <p:oleObj name="" r:id="rId3" imgW="2108200" imgH="698500" progId="Equation.3">
                  <p:embed/>
                  <p:pic>
                    <p:nvPicPr>
                      <p:cNvPr id="0" name="Object 10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32045" y="7029133"/>
                        <a:ext cx="21082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1029"/>
          <p:cNvGraphicFramePr>
            <a:graphicFrameLocks noChangeAspect="1"/>
          </p:cNvGraphicFramePr>
          <p:nvPr/>
        </p:nvGraphicFramePr>
        <p:xfrm>
          <a:off x="2005965" y="1477963"/>
          <a:ext cx="35210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5" imgW="3795395" imgH="393700" progId="Equation.3">
                  <p:embed/>
                </p:oleObj>
              </mc:Choice>
              <mc:Fallback>
                <p:oleObj name="" r:id="rId5" imgW="3795395" imgH="393700" progId="Equation.3">
                  <p:embed/>
                  <p:pic>
                    <p:nvPicPr>
                      <p:cNvPr id="0" name="Object 10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05965" y="1477963"/>
                        <a:ext cx="3521075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1030"/>
          <p:cNvGraphicFramePr>
            <a:graphicFrameLocks noChangeAspect="1"/>
          </p:cNvGraphicFramePr>
          <p:nvPr/>
        </p:nvGraphicFramePr>
        <p:xfrm>
          <a:off x="3485515" y="2163763"/>
          <a:ext cx="4089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7" imgW="4087495" imgH="673100" progId="Equation.3">
                  <p:embed/>
                </p:oleObj>
              </mc:Choice>
              <mc:Fallback>
                <p:oleObj name="" r:id="rId7" imgW="4087495" imgH="673100" progId="Equation.3">
                  <p:embed/>
                  <p:pic>
                    <p:nvPicPr>
                      <p:cNvPr id="0" name="Object 103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85515" y="2163763"/>
                        <a:ext cx="4089400" cy="673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1031"/>
          <p:cNvGraphicFramePr>
            <a:graphicFrameLocks noChangeAspect="1"/>
          </p:cNvGraphicFramePr>
          <p:nvPr/>
        </p:nvGraphicFramePr>
        <p:xfrm>
          <a:off x="5536565" y="1465263"/>
          <a:ext cx="15240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9" imgW="1523365" imgH="393700" progId="Equation.3">
                  <p:embed/>
                </p:oleObj>
              </mc:Choice>
              <mc:Fallback>
                <p:oleObj name="" r:id="rId9" imgW="1523365" imgH="393700" progId="Equation.3">
                  <p:embed/>
                  <p:pic>
                    <p:nvPicPr>
                      <p:cNvPr id="0" name="Object 103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36565" y="1465263"/>
                        <a:ext cx="1524000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7" name="Object 1033"/>
          <p:cNvGraphicFramePr>
            <a:graphicFrameLocks noChangeAspect="1"/>
          </p:cNvGraphicFramePr>
          <p:nvPr/>
        </p:nvGraphicFramePr>
        <p:xfrm>
          <a:off x="3491865" y="3141663"/>
          <a:ext cx="201930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1" imgW="2019300" imgH="698500" progId="Equation.3">
                  <p:embed/>
                </p:oleObj>
              </mc:Choice>
              <mc:Fallback>
                <p:oleObj name="" r:id="rId11" imgW="2019300" imgH="698500" progId="Equation.3">
                  <p:embed/>
                  <p:pic>
                    <p:nvPicPr>
                      <p:cNvPr id="0" name="Object 103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91865" y="3141663"/>
                        <a:ext cx="2019300" cy="696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9" name="Text Box 1035"/>
          <p:cNvSpPr txBox="1">
            <a:spLocks noChangeArrowheads="1"/>
          </p:cNvSpPr>
          <p:nvPr/>
        </p:nvSpPr>
        <p:spPr bwMode="auto">
          <a:xfrm>
            <a:off x="467360" y="620078"/>
            <a:ext cx="579913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此外</a:t>
            </a:r>
            <a:r>
              <a:rPr kumimoji="1" lang="zh-CN" altLang="en-US" sz="2800" b="1" kern="1200" cap="none" spc="0" normalizeH="0" baseline="0" noProof="0" dirty="0">
                <a:latin typeface="+mj-lt"/>
                <a:ea typeface="宋体" panose="02010600030101010101" pitchFamily="2" charset="-122"/>
                <a:cs typeface="+mj-lt"/>
              </a:rPr>
              <a:t>,</a:t>
            </a:r>
            <a:r>
              <a:rPr kumimoji="1" lang="zh-CN" altLang="en-US" sz="2800" b="1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常</a:t>
            </a:r>
            <a:r>
              <a:rPr kumimoji="1" lang="zh-CN" altLang="en-US" sz="2800" b="1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用到以下计算公式</a:t>
            </a:r>
            <a:r>
              <a:rPr kumimoji="1" lang="en-US" altLang="zh-CN" sz="2800" b="1" kern="1200" cap="none" spc="0" normalizeH="0" baseline="0" noProof="0" dirty="0">
                <a:latin typeface="+mj-lt"/>
                <a:ea typeface="宋体" panose="02010600030101010101" pitchFamily="2" charset="-122"/>
                <a:cs typeface="+mn-cs"/>
              </a:rPr>
              <a:t>: </a:t>
            </a:r>
            <a:endParaRPr kumimoji="1" lang="zh-CN" altLang="en-US" sz="2800" b="1" kern="1200" cap="none" spc="0" normalizeH="0" baseline="0" noProof="0" dirty="0"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/>
          <p:nvPr/>
        </p:nvSpPr>
        <p:spPr>
          <a:xfrm>
            <a:off x="476885" y="548640"/>
            <a:ext cx="7543800" cy="11245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lang="zh-CN" altLang="en-US" sz="2800" b="1" dirty="0">
                <a:latin typeface="Times New Roman" panose="02020603050405020304" pitchFamily="18" charset="0"/>
              </a:rPr>
              <a:t>   对于任意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连续型随机变量取值为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的概率等于零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即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3099435" y="1709420"/>
          <a:ext cx="2070100" cy="379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" r:id="rId1" imgW="2069465" imgH="381000" progId="Equation.3">
                  <p:embed/>
                </p:oleObj>
              </mc:Choice>
              <mc:Fallback>
                <p:oleObj name="" r:id="rId1" imgW="2069465" imgH="381000" progId="Equation.3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99435" y="1709420"/>
                        <a:ext cx="2070100" cy="3790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Text Box 7"/>
          <p:cNvSpPr txBox="1"/>
          <p:nvPr/>
        </p:nvSpPr>
        <p:spPr>
          <a:xfrm>
            <a:off x="497840" y="5813108"/>
            <a:ext cx="8978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证明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2536" name="Object 8"/>
          <p:cNvGraphicFramePr>
            <a:graphicFrameLocks noChangeAspect="1"/>
          </p:cNvGraphicFramePr>
          <p:nvPr/>
        </p:nvGraphicFramePr>
        <p:xfrm>
          <a:off x="1717040" y="5924550"/>
          <a:ext cx="1435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" r:id="rId3" imgW="1434465" imgH="381000" progId="Equation.3">
                  <p:embed/>
                </p:oleObj>
              </mc:Choice>
              <mc:Fallback>
                <p:oleObj name="" r:id="rId3" imgW="1434465" imgH="381000" progId="Equation.3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17040" y="5924550"/>
                        <a:ext cx="14351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6225540" y="5911850"/>
          <a:ext cx="584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" r:id="rId5" imgW="583565" imgH="317500" progId="Equation.3">
                  <p:embed/>
                </p:oleObj>
              </mc:Choice>
              <mc:Fallback>
                <p:oleObj name="" r:id="rId5" imgW="583565" imgH="317500" progId="Equation.3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25540" y="5911850"/>
                        <a:ext cx="5842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Text Box 10"/>
          <p:cNvSpPr txBox="1"/>
          <p:nvPr/>
        </p:nvSpPr>
        <p:spPr>
          <a:xfrm>
            <a:off x="445135" y="2124710"/>
            <a:ext cx="137350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由此得</a:t>
            </a:r>
            <a:r>
              <a:rPr lang="en-US" altLang="zh-CN" sz="2800" b="1" dirty="0">
                <a:latin typeface="Times New Roman" panose="02020603050405020304" pitchFamily="18" charset="0"/>
              </a:rPr>
              <a:t>: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563" name="Object 35"/>
          <p:cNvGraphicFramePr>
            <a:graphicFrameLocks noChangeAspect="1"/>
          </p:cNvGraphicFramePr>
          <p:nvPr/>
        </p:nvGraphicFramePr>
        <p:xfrm>
          <a:off x="3218815" y="5734050"/>
          <a:ext cx="2921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" r:id="rId7" imgW="2919730" imgH="723900" progId="Equation.3">
                  <p:embed/>
                </p:oleObj>
              </mc:Choice>
              <mc:Fallback>
                <p:oleObj name="" r:id="rId7" imgW="2919730" imgH="723900" progId="Equation.3">
                  <p:embed/>
                  <p:pic>
                    <p:nvPicPr>
                      <p:cNvPr id="0" name="Object 3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18815" y="5734050"/>
                        <a:ext cx="2921000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4" name="Text Box 36"/>
          <p:cNvSpPr txBox="1"/>
          <p:nvPr/>
        </p:nvSpPr>
        <p:spPr>
          <a:xfrm>
            <a:off x="1707515" y="4457700"/>
            <a:ext cx="5727700" cy="953135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即连续型随机变量取值于某一区间的概率与区间的开闭无关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2567" name="Group 39"/>
          <p:cNvGrpSpPr/>
          <p:nvPr/>
        </p:nvGrpSpPr>
        <p:grpSpPr bwMode="auto">
          <a:xfrm>
            <a:off x="1379810" y="2857500"/>
            <a:ext cx="6400800" cy="1600200"/>
            <a:chOff x="876" y="2352"/>
            <a:chExt cx="4032" cy="1008"/>
          </a:xfrm>
          <a:noFill/>
        </p:grpSpPr>
        <p:sp>
          <p:nvSpPr>
            <p:cNvPr id="22565" name="Rectangle 37"/>
            <p:cNvSpPr>
              <a:spLocks noChangeArrowheads="1"/>
            </p:cNvSpPr>
            <p:nvPr/>
          </p:nvSpPr>
          <p:spPr bwMode="auto">
            <a:xfrm>
              <a:off x="876" y="2352"/>
              <a:ext cx="4032" cy="768"/>
            </a:xfrm>
            <a:prstGeom prst="rect">
              <a:avLst/>
            </a:prstGeom>
            <a:grpFill/>
            <a:ln w="25400" cmpd="sng">
              <a:solidFill>
                <a:srgbClr val="0000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66" name="AutoShape 38"/>
            <p:cNvSpPr>
              <a:spLocks noChangeArrowheads="1"/>
            </p:cNvSpPr>
            <p:nvPr/>
          </p:nvSpPr>
          <p:spPr bwMode="auto">
            <a:xfrm>
              <a:off x="2794" y="3120"/>
              <a:ext cx="182" cy="240"/>
            </a:xfrm>
            <a:prstGeom prst="downArrow">
              <a:avLst>
                <a:gd name="adj1" fmla="val 50000"/>
                <a:gd name="adj2" fmla="val 25000"/>
              </a:avLst>
            </a:prstGeom>
            <a:grpFill/>
            <a:ln w="25400" cmpd="sng">
              <a:solidFill>
                <a:srgbClr val="0000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22568" name="Object 40"/>
          <p:cNvGraphicFramePr>
            <a:graphicFrameLocks noChangeAspect="1"/>
          </p:cNvGraphicFramePr>
          <p:nvPr/>
        </p:nvGraphicFramePr>
        <p:xfrm>
          <a:off x="1474788" y="3009900"/>
          <a:ext cx="19050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" r:id="rId9" imgW="1980565" imgH="381000" progId="Equation.3">
                  <p:embed/>
                </p:oleObj>
              </mc:Choice>
              <mc:Fallback>
                <p:oleObj name="" r:id="rId9" imgW="1980565" imgH="381000" progId="Equation.3">
                  <p:embed/>
                  <p:pic>
                    <p:nvPicPr>
                      <p:cNvPr id="0" name="Object 4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4788" y="3009900"/>
                        <a:ext cx="1905000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9" name="Object 41"/>
          <p:cNvGraphicFramePr>
            <a:graphicFrameLocks noChangeAspect="1"/>
          </p:cNvGraphicFramePr>
          <p:nvPr/>
        </p:nvGraphicFramePr>
        <p:xfrm>
          <a:off x="3417888" y="3009900"/>
          <a:ext cx="20574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" r:id="rId11" imgW="2272030" imgH="381000" progId="Equation.3">
                  <p:embed/>
                </p:oleObj>
              </mc:Choice>
              <mc:Fallback>
                <p:oleObj name="" r:id="rId11" imgW="2272030" imgH="381000" progId="Equation.3">
                  <p:embed/>
                  <p:pic>
                    <p:nvPicPr>
                      <p:cNvPr id="0" name="Object 4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17888" y="3009900"/>
                        <a:ext cx="2057400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70" name="Object 42"/>
          <p:cNvGraphicFramePr>
            <a:graphicFrameLocks noChangeAspect="1"/>
          </p:cNvGraphicFramePr>
          <p:nvPr/>
        </p:nvGraphicFramePr>
        <p:xfrm>
          <a:off x="5551488" y="3009900"/>
          <a:ext cx="21336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" r:id="rId13" imgW="2272030" imgH="381000" progId="Equation.3">
                  <p:embed/>
                </p:oleObj>
              </mc:Choice>
              <mc:Fallback>
                <p:oleObj name="" r:id="rId13" imgW="2272030" imgH="381000" progId="Equation.3">
                  <p:embed/>
                  <p:pic>
                    <p:nvPicPr>
                      <p:cNvPr id="0" name="Object 4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51488" y="3009900"/>
                        <a:ext cx="2133600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71" name="Object 43"/>
          <p:cNvGraphicFramePr>
            <a:graphicFrameLocks noChangeAspect="1"/>
          </p:cNvGraphicFramePr>
          <p:nvPr/>
        </p:nvGraphicFramePr>
        <p:xfrm>
          <a:off x="3417888" y="3619500"/>
          <a:ext cx="204787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" r:id="rId15" imgW="2373630" imgH="381000" progId="Equation.3">
                  <p:embed/>
                </p:oleObj>
              </mc:Choice>
              <mc:Fallback>
                <p:oleObj name="" r:id="rId15" imgW="2373630" imgH="381000" progId="Equation.3">
                  <p:embed/>
                  <p:pic>
                    <p:nvPicPr>
                      <p:cNvPr id="0" name="Object 4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17888" y="3619500"/>
                        <a:ext cx="2047875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5" grpId="0"/>
      <p:bldP spid="22538" grpId="0"/>
      <p:bldP spid="2256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914400" y="914400"/>
          <a:ext cx="6057900" cy="400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" r:id="rId1" imgW="6057900" imgH="4000500" progId="Equation.3">
                  <p:embed/>
                </p:oleObj>
              </mc:Choice>
              <mc:Fallback>
                <p:oleObj name="" r:id="rId1" imgW="6057900" imgH="40005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914400"/>
                        <a:ext cx="6057900" cy="400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5" name="Rectangle 3"/>
          <p:cNvSpPr/>
          <p:nvPr/>
        </p:nvSpPr>
        <p:spPr>
          <a:xfrm>
            <a:off x="838200" y="5288280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05476" name="Object 4"/>
          <p:cNvGraphicFramePr>
            <a:graphicFrameLocks noChangeAspect="1"/>
          </p:cNvGraphicFramePr>
          <p:nvPr/>
        </p:nvGraphicFramePr>
        <p:xfrm>
          <a:off x="1676400" y="5181600"/>
          <a:ext cx="3175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" r:id="rId3" imgW="3175000" imgH="698500" progId="Equation.3">
                  <p:embed/>
                </p:oleObj>
              </mc:Choice>
              <mc:Fallback>
                <p:oleObj name="" r:id="rId3" imgW="3175000" imgH="698500" progId="Equation.3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6400" y="5181600"/>
                        <a:ext cx="31750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Text Box 7"/>
          <p:cNvSpPr txBox="1"/>
          <p:nvPr/>
        </p:nvSpPr>
        <p:spPr>
          <a:xfrm>
            <a:off x="842645" y="846138"/>
            <a:ext cx="7181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498" name="Object 2"/>
          <p:cNvGraphicFramePr>
            <a:graphicFrameLocks noChangeAspect="1"/>
          </p:cNvGraphicFramePr>
          <p:nvPr/>
        </p:nvGraphicFramePr>
        <p:xfrm>
          <a:off x="914400" y="1898308"/>
          <a:ext cx="4686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" r:id="rId1" imgW="4686300" imgH="838200" progId="Equation.3">
                  <p:embed/>
                </p:oleObj>
              </mc:Choice>
              <mc:Fallback>
                <p:oleObj name="" r:id="rId1" imgW="4686300" imgH="8382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1898308"/>
                        <a:ext cx="46863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499" name="Object 3"/>
          <p:cNvGraphicFramePr>
            <a:graphicFrameLocks noChangeAspect="1"/>
          </p:cNvGraphicFramePr>
          <p:nvPr/>
        </p:nvGraphicFramePr>
        <p:xfrm>
          <a:off x="2584450" y="2888908"/>
          <a:ext cx="3975100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" r:id="rId3" imgW="3975100" imgH="2933700" progId="Equation.3">
                  <p:embed/>
                </p:oleObj>
              </mc:Choice>
              <mc:Fallback>
                <p:oleObj name="" r:id="rId3" imgW="3975100" imgH="2933700" progId="Equation.3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84450" y="2888908"/>
                        <a:ext cx="3975100" cy="293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5"/>
          <p:cNvGraphicFramePr>
            <a:graphicFrameLocks noChangeAspect="1"/>
          </p:cNvGraphicFramePr>
          <p:nvPr/>
        </p:nvGraphicFramePr>
        <p:xfrm>
          <a:off x="915020" y="620688"/>
          <a:ext cx="4737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" r:id="rId5" imgW="4737100" imgH="825500" progId="Equation.3">
                  <p:embed/>
                </p:oleObj>
              </mc:Choice>
              <mc:Fallback>
                <p:oleObj name="" r:id="rId5" imgW="4737100" imgH="825500" progId="Equation.3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5020" y="620688"/>
                        <a:ext cx="47371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2" name="Object 6"/>
          <p:cNvGraphicFramePr>
            <a:graphicFrameLocks noChangeAspect="1"/>
          </p:cNvGraphicFramePr>
          <p:nvPr/>
        </p:nvGraphicFramePr>
        <p:xfrm>
          <a:off x="5867400" y="620688"/>
          <a:ext cx="2349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" r:id="rId7" imgW="2349500" imgH="838200" progId="Equation.3">
                  <p:embed/>
                </p:oleObj>
              </mc:Choice>
              <mc:Fallback>
                <p:oleObj name="" r:id="rId7" imgW="2349500" imgH="838200" progId="Equation.3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67400" y="620688"/>
                        <a:ext cx="23495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522" name="Object 1026"/>
          <p:cNvGraphicFramePr>
            <a:graphicFrameLocks noChangeAspect="1"/>
          </p:cNvGraphicFramePr>
          <p:nvPr/>
        </p:nvGraphicFramePr>
        <p:xfrm>
          <a:off x="1346200" y="1697975"/>
          <a:ext cx="6451600" cy="288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" r:id="rId1" imgW="6451600" imgH="2882900" progId="Equation.3">
                  <p:embed/>
                </p:oleObj>
              </mc:Choice>
              <mc:Fallback>
                <p:oleObj name="" r:id="rId1" imgW="6451600" imgH="2882900" progId="Equation.3">
                  <p:embed/>
                  <p:pic>
                    <p:nvPicPr>
                      <p:cNvPr id="0" name="Object 10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46200" y="1697975"/>
                        <a:ext cx="6451600" cy="288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1029"/>
          <p:cNvGraphicFramePr>
            <a:graphicFrameLocks noChangeAspect="1"/>
          </p:cNvGraphicFramePr>
          <p:nvPr/>
        </p:nvGraphicFramePr>
        <p:xfrm>
          <a:off x="990600" y="620688"/>
          <a:ext cx="3657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" r:id="rId3" imgW="3657600" imgH="698500" progId="Equation.3">
                  <p:embed/>
                </p:oleObj>
              </mc:Choice>
              <mc:Fallback>
                <p:oleObj name="" r:id="rId3" imgW="3657600" imgH="698500" progId="Equation.3">
                  <p:embed/>
                  <p:pic>
                    <p:nvPicPr>
                      <p:cNvPr id="0" name="Object 10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600" y="620688"/>
                        <a:ext cx="36576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1026"/>
          <p:cNvGraphicFramePr>
            <a:graphicFrameLocks noChangeAspect="1"/>
          </p:cNvGraphicFramePr>
          <p:nvPr/>
        </p:nvGraphicFramePr>
        <p:xfrm>
          <a:off x="918642" y="620713"/>
          <a:ext cx="5829300" cy="295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" r:id="rId1" imgW="5829300" imgH="2959100" progId="Equation.3">
                  <p:embed/>
                </p:oleObj>
              </mc:Choice>
              <mc:Fallback>
                <p:oleObj name="" r:id="rId1" imgW="5829300" imgH="2959100" progId="Equation.3">
                  <p:embed/>
                  <p:pic>
                    <p:nvPicPr>
                      <p:cNvPr id="0" name="Object 10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8642" y="620713"/>
                        <a:ext cx="5829300" cy="295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7" name="Object 1027"/>
          <p:cNvGraphicFramePr>
            <a:graphicFrameLocks noChangeAspect="1"/>
          </p:cNvGraphicFramePr>
          <p:nvPr/>
        </p:nvGraphicFramePr>
        <p:xfrm>
          <a:off x="914400" y="4269423"/>
          <a:ext cx="247808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" r:id="rId3" imgW="2463800" imgH="825500" progId="Equation.3">
                  <p:embed/>
                </p:oleObj>
              </mc:Choice>
              <mc:Fallback>
                <p:oleObj name="" r:id="rId3" imgW="2463800" imgH="825500" progId="Equation.3">
                  <p:embed/>
                  <p:pic>
                    <p:nvPicPr>
                      <p:cNvPr id="0" name="Object 10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4269423"/>
                        <a:ext cx="2478088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8" name="Object 1028"/>
          <p:cNvGraphicFramePr>
            <a:graphicFrameLocks noChangeAspect="1"/>
          </p:cNvGraphicFramePr>
          <p:nvPr/>
        </p:nvGraphicFramePr>
        <p:xfrm>
          <a:off x="3479800" y="4307523"/>
          <a:ext cx="2108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" r:id="rId5" imgW="2095500" imgH="825500" progId="Equation.3">
                  <p:embed/>
                </p:oleObj>
              </mc:Choice>
              <mc:Fallback>
                <p:oleObj name="" r:id="rId5" imgW="2095500" imgH="825500" progId="Equation.3">
                  <p:embed/>
                  <p:pic>
                    <p:nvPicPr>
                      <p:cNvPr id="0" name="Object 102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79800" y="4307523"/>
                        <a:ext cx="21082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9" name="Object 1029"/>
          <p:cNvGraphicFramePr>
            <a:graphicFrameLocks noChangeAspect="1"/>
          </p:cNvGraphicFramePr>
          <p:nvPr/>
        </p:nvGraphicFramePr>
        <p:xfrm>
          <a:off x="5638800" y="4307523"/>
          <a:ext cx="8175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" r:id="rId7" imgW="812165" imgH="837565" progId="Equation.3">
                  <p:embed/>
                </p:oleObj>
              </mc:Choice>
              <mc:Fallback>
                <p:oleObj name="" r:id="rId7" imgW="812165" imgH="837565" progId="Equation.3">
                  <p:embed/>
                  <p:pic>
                    <p:nvPicPr>
                      <p:cNvPr id="0" name="Object 102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38800" y="4307523"/>
                        <a:ext cx="817563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14"/>
          <p:cNvSpPr txBox="1">
            <a:spLocks noChangeArrowheads="1"/>
          </p:cNvSpPr>
          <p:nvPr/>
        </p:nvSpPr>
        <p:spPr bwMode="auto">
          <a:xfrm>
            <a:off x="8569325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4C86CDDD-F113-407D-8982-04AFD55F88FD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4" name="Title 80903"/>
          <p:cNvSpPr>
            <a:spLocks noGrp="1"/>
          </p:cNvSpPr>
          <p:nvPr>
            <p:ph type="title" idx="4294967295"/>
          </p:nvPr>
        </p:nvSpPr>
        <p:spPr>
          <a:xfrm>
            <a:off x="-15875" y="608965"/>
            <a:ext cx="9159875" cy="706755"/>
          </a:xfrm>
        </p:spPr>
        <p:txBody>
          <a:bodyPr wrap="square" anchor="ctr" anchorCtr="0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二、常见连续型随机变量的分布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0919" name="Rectangles 80918"/>
          <p:cNvSpPr/>
          <p:nvPr/>
        </p:nvSpPr>
        <p:spPr>
          <a:xfrm>
            <a:off x="827088" y="1413510"/>
            <a:ext cx="222250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均匀分布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647883" y="4853623"/>
            <a:ext cx="2838451" cy="1654175"/>
            <a:chOff x="4647883" y="4853623"/>
            <a:chExt cx="2838451" cy="1654175"/>
          </a:xfrm>
        </p:grpSpPr>
        <p:sp>
          <p:nvSpPr>
            <p:cNvPr id="80909" name="Straight Connector 80908"/>
            <p:cNvSpPr/>
            <p:nvPr/>
          </p:nvSpPr>
          <p:spPr>
            <a:xfrm>
              <a:off x="4647883" y="6087111"/>
              <a:ext cx="274320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lg" len="med"/>
            </a:ln>
          </p:spPr>
        </p:sp>
        <p:sp>
          <p:nvSpPr>
            <p:cNvPr id="80910" name="Straight Connector 80909"/>
            <p:cNvSpPr/>
            <p:nvPr/>
          </p:nvSpPr>
          <p:spPr>
            <a:xfrm flipV="1">
              <a:off x="5943283" y="4953636"/>
              <a:ext cx="0" cy="15113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lg" len="med"/>
            </a:ln>
          </p:spPr>
        </p:sp>
        <p:graphicFrame>
          <p:nvGraphicFramePr>
            <p:cNvPr id="80912" name="Object 80911"/>
            <p:cNvGraphicFramePr/>
            <p:nvPr/>
          </p:nvGraphicFramePr>
          <p:xfrm>
            <a:off x="7233921" y="6239511"/>
            <a:ext cx="252413" cy="239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8" name="" r:id="rId1" imgW="254000" imgH="241300" progId="Equation.3">
                    <p:embed/>
                  </p:oleObj>
                </mc:Choice>
                <mc:Fallback>
                  <p:oleObj name="" r:id="rId1" imgW="254000" imgH="241300" progId="Equation.3">
                    <p:embed/>
                    <p:pic>
                      <p:nvPicPr>
                        <p:cNvPr id="0" name="Object 8091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233921" y="6239511"/>
                          <a:ext cx="252413" cy="2397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13" name="Object 80912"/>
            <p:cNvGraphicFramePr/>
            <p:nvPr/>
          </p:nvGraphicFramePr>
          <p:xfrm>
            <a:off x="5638483" y="6087111"/>
            <a:ext cx="228600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9" name="" r:id="rId3" imgW="228600" imgH="254000" progId="Equation.3">
                    <p:embed/>
                  </p:oleObj>
                </mc:Choice>
                <mc:Fallback>
                  <p:oleObj name="" r:id="rId3" imgW="228600" imgH="254000" progId="Equation.3">
                    <p:embed/>
                    <p:pic>
                      <p:nvPicPr>
                        <p:cNvPr id="0" name="Object 8091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638483" y="6087111"/>
                          <a:ext cx="228600" cy="2524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14" name="Object 80913"/>
            <p:cNvGraphicFramePr/>
            <p:nvPr/>
          </p:nvGraphicFramePr>
          <p:xfrm>
            <a:off x="6014721" y="4853623"/>
            <a:ext cx="685800" cy="347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0" name="" r:id="rId5" imgW="774065" imgH="393700" progId="Equation.3">
                    <p:embed/>
                  </p:oleObj>
                </mc:Choice>
                <mc:Fallback>
                  <p:oleObj name="" r:id="rId5" imgW="774065" imgH="393700" progId="Equation.3">
                    <p:embed/>
                    <p:pic>
                      <p:nvPicPr>
                        <p:cNvPr id="0" name="Object 8091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014721" y="4853623"/>
                          <a:ext cx="685800" cy="3476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17" name="Object 80916"/>
            <p:cNvGraphicFramePr/>
            <p:nvPr/>
          </p:nvGraphicFramePr>
          <p:xfrm>
            <a:off x="4876483" y="5950586"/>
            <a:ext cx="227013" cy="541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1" name="" r:id="rId7" imgW="228600" imgH="546100" progId="Equation.3">
                    <p:embed/>
                  </p:oleObj>
                </mc:Choice>
                <mc:Fallback>
                  <p:oleObj name="" r:id="rId7" imgW="228600" imgH="546100" progId="Equation.3">
                    <p:embed/>
                    <p:pic>
                      <p:nvPicPr>
                        <p:cNvPr id="0" name="Object 8091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876483" y="5950586"/>
                          <a:ext cx="227013" cy="5413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18" name="Object 80917"/>
            <p:cNvGraphicFramePr/>
            <p:nvPr/>
          </p:nvGraphicFramePr>
          <p:xfrm>
            <a:off x="6476683" y="5948998"/>
            <a:ext cx="220663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2" name="" r:id="rId9" imgW="215900" imgH="545465" progId="Equation.3">
                    <p:embed/>
                  </p:oleObj>
                </mc:Choice>
                <mc:Fallback>
                  <p:oleObj name="" r:id="rId9" imgW="215900" imgH="545465" progId="Equation.3">
                    <p:embed/>
                    <p:pic>
                      <p:nvPicPr>
                        <p:cNvPr id="0" name="Object 8091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476683" y="5948998"/>
                          <a:ext cx="220663" cy="558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Group 1"/>
          <p:cNvGrpSpPr/>
          <p:nvPr/>
        </p:nvGrpSpPr>
        <p:grpSpPr>
          <a:xfrm>
            <a:off x="4647882" y="5553710"/>
            <a:ext cx="2660422" cy="533400"/>
            <a:chOff x="4647882" y="5553711"/>
            <a:chExt cx="2660422" cy="533400"/>
          </a:xfrm>
        </p:grpSpPr>
        <p:sp>
          <p:nvSpPr>
            <p:cNvPr id="80915" name="Straight Connector 80914"/>
            <p:cNvSpPr/>
            <p:nvPr/>
          </p:nvSpPr>
          <p:spPr>
            <a:xfrm>
              <a:off x="4981258" y="5553711"/>
              <a:ext cx="1600200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" name="Straight Connector 13"/>
            <p:cNvSpPr/>
            <p:nvPr/>
          </p:nvSpPr>
          <p:spPr>
            <a:xfrm>
              <a:off x="4647882" y="6087111"/>
              <a:ext cx="296857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" name="Straight Connector 14"/>
            <p:cNvSpPr/>
            <p:nvPr/>
          </p:nvSpPr>
          <p:spPr>
            <a:xfrm>
              <a:off x="6627597" y="6086153"/>
              <a:ext cx="680707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8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1086" y="2094865"/>
            <a:ext cx="7047258" cy="3145790"/>
            <a:chOff x="621086" y="2093596"/>
            <a:chExt cx="7047258" cy="3146424"/>
          </a:xfrm>
        </p:grpSpPr>
        <p:graphicFrame>
          <p:nvGraphicFramePr>
            <p:cNvPr id="80916" name="Object 80915"/>
            <p:cNvGraphicFramePr/>
            <p:nvPr/>
          </p:nvGraphicFramePr>
          <p:xfrm>
            <a:off x="900430" y="2204720"/>
            <a:ext cx="6767914" cy="303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3" name="" r:id="rId11" imgW="6578600" imgH="3035300" progId="Equation.3">
                    <p:embed/>
                  </p:oleObj>
                </mc:Choice>
                <mc:Fallback>
                  <p:oleObj name="" r:id="rId11" imgW="6578600" imgH="3035300" progId="Equation.3">
                    <p:embed/>
                    <p:pic>
                      <p:nvPicPr>
                        <p:cNvPr id="0" name="Object 8091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900430" y="2204720"/>
                          <a:ext cx="6767914" cy="3035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 useBgFill="1">
          <p:nvSpPr>
            <p:cNvPr id="19" name="Text Box 34"/>
            <p:cNvSpPr txBox="1"/>
            <p:nvPr/>
          </p:nvSpPr>
          <p:spPr>
            <a:xfrm>
              <a:off x="621086" y="2093596"/>
              <a:ext cx="1224136" cy="553998"/>
            </a:xfrm>
            <a:prstGeom prst="rect">
              <a:avLst/>
            </a:prstGeom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30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定义</a:t>
              </a:r>
              <a:endParaRPr lang="zh-CN" altLang="en-US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14" name="Object 71713"/>
          <p:cNvGraphicFramePr/>
          <p:nvPr/>
        </p:nvGraphicFramePr>
        <p:xfrm>
          <a:off x="3987483" y="4082415"/>
          <a:ext cx="8382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Microsoft 公式 3.0 中文版" r:id="rId1" imgW="1180465" imgH="913765" progId="">
                  <p:embed/>
                </p:oleObj>
              </mc:Choice>
              <mc:Fallback>
                <p:oleObj name="Microsoft 公式 3.0 中文版" r:id="rId1" imgW="1180465" imgH="913765" progId="">
                  <p:embed/>
                  <p:pic>
                    <p:nvPicPr>
                      <p:cNvPr id="0" name="Object 717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87483" y="4082415"/>
                        <a:ext cx="838200" cy="649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8" name="Object 71717"/>
          <p:cNvGraphicFramePr/>
          <p:nvPr/>
        </p:nvGraphicFramePr>
        <p:xfrm>
          <a:off x="5034136" y="3933190"/>
          <a:ext cx="7620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Microsoft 公式 3.0 中文版" r:id="rId3" imgW="1180465" imgH="913765" progId="">
                  <p:embed/>
                </p:oleObj>
              </mc:Choice>
              <mc:Fallback>
                <p:oleObj name="Microsoft 公式 3.0 中文版" r:id="rId3" imgW="1180465" imgH="913765" progId="">
                  <p:embed/>
                  <p:pic>
                    <p:nvPicPr>
                      <p:cNvPr id="0" name="Object 717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34136" y="3933190"/>
                        <a:ext cx="762000" cy="649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9" name="Rectangles 71698"/>
          <p:cNvSpPr/>
          <p:nvPr/>
        </p:nvSpPr>
        <p:spPr>
          <a:xfrm>
            <a:off x="845392" y="762000"/>
            <a:ext cx="340042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均匀分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布的几何意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义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71700" name="Object 71699"/>
          <p:cNvGraphicFramePr/>
          <p:nvPr/>
        </p:nvGraphicFramePr>
        <p:xfrm>
          <a:off x="1676401" y="1524000"/>
          <a:ext cx="6640016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" r:id="rId5" imgW="6651625" imgH="444500" progId="Equation.3">
                  <p:embed/>
                </p:oleObj>
              </mc:Choice>
              <mc:Fallback>
                <p:oleObj name="" r:id="rId5" imgW="6651625" imgH="444500" progId="Equation.3">
                  <p:embed/>
                  <p:pic>
                    <p:nvPicPr>
                      <p:cNvPr id="0" name="Object 716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6401" y="1524000"/>
                        <a:ext cx="6640016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01" name="Object 71700"/>
          <p:cNvGraphicFramePr/>
          <p:nvPr/>
        </p:nvGraphicFramePr>
        <p:xfrm>
          <a:off x="914402" y="2057400"/>
          <a:ext cx="7330006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" r:id="rId7" imgW="7277100" imgH="977900" progId="Equation.3">
                  <p:embed/>
                </p:oleObj>
              </mc:Choice>
              <mc:Fallback>
                <p:oleObj name="" r:id="rId7" imgW="7277100" imgH="977900" progId="Equation.3">
                  <p:embed/>
                  <p:pic>
                    <p:nvPicPr>
                      <p:cNvPr id="0" name="Object 7170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4402" y="2057400"/>
                        <a:ext cx="7330006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23" name="Group 71722"/>
          <p:cNvGrpSpPr/>
          <p:nvPr/>
        </p:nvGrpSpPr>
        <p:grpSpPr>
          <a:xfrm>
            <a:off x="3301683" y="3222625"/>
            <a:ext cx="3557588" cy="2574925"/>
            <a:chOff x="1776" y="1978"/>
            <a:chExt cx="2241" cy="1622"/>
          </a:xfrm>
        </p:grpSpPr>
        <p:grpSp>
          <p:nvGrpSpPr>
            <p:cNvPr id="71702" name="Group 71701"/>
            <p:cNvGrpSpPr/>
            <p:nvPr/>
          </p:nvGrpSpPr>
          <p:grpSpPr>
            <a:xfrm>
              <a:off x="1776" y="2016"/>
              <a:ext cx="2160" cy="1584"/>
              <a:chOff x="1104" y="2688"/>
              <a:chExt cx="2160" cy="1344"/>
            </a:xfrm>
          </p:grpSpPr>
          <p:sp>
            <p:nvSpPr>
              <p:cNvPr id="71703" name="Straight Connector 71702"/>
              <p:cNvSpPr/>
              <p:nvPr/>
            </p:nvSpPr>
            <p:spPr>
              <a:xfrm>
                <a:off x="1104" y="3696"/>
                <a:ext cx="216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lg" len="med"/>
              </a:ln>
            </p:spPr>
          </p:sp>
          <p:sp>
            <p:nvSpPr>
              <p:cNvPr id="71704" name="Straight Connector 71703"/>
              <p:cNvSpPr/>
              <p:nvPr/>
            </p:nvSpPr>
            <p:spPr>
              <a:xfrm flipV="1">
                <a:off x="1920" y="2688"/>
                <a:ext cx="0" cy="13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lg" len="med"/>
              </a:ln>
            </p:spPr>
          </p:sp>
        </p:grpSp>
        <p:grpSp>
          <p:nvGrpSpPr>
            <p:cNvPr id="71722" name="Group 71721"/>
            <p:cNvGrpSpPr/>
            <p:nvPr/>
          </p:nvGrpSpPr>
          <p:grpSpPr>
            <a:xfrm>
              <a:off x="2410" y="1978"/>
              <a:ext cx="1607" cy="1463"/>
              <a:chOff x="2410" y="1978"/>
              <a:chExt cx="1607" cy="1463"/>
            </a:xfrm>
          </p:grpSpPr>
          <p:graphicFrame>
            <p:nvGraphicFramePr>
              <p:cNvPr id="71706" name="Object 71705"/>
              <p:cNvGraphicFramePr/>
              <p:nvPr/>
            </p:nvGraphicFramePr>
            <p:xfrm>
              <a:off x="3853" y="3292"/>
              <a:ext cx="164" cy="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46" name="" r:id="rId9" imgW="266065" imgH="253365" progId="Equation.3">
                      <p:embed/>
                    </p:oleObj>
                  </mc:Choice>
                  <mc:Fallback>
                    <p:oleObj name="" r:id="rId9" imgW="266065" imgH="253365" progId="Equation.3">
                      <p:embed/>
                      <p:pic>
                        <p:nvPicPr>
                          <p:cNvPr id="0" name="Object 71705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3853" y="3292"/>
                            <a:ext cx="164" cy="1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707" name="Object 71706"/>
              <p:cNvGraphicFramePr/>
              <p:nvPr/>
            </p:nvGraphicFramePr>
            <p:xfrm>
              <a:off x="2410" y="3203"/>
              <a:ext cx="142" cy="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47" name="" r:id="rId11" imgW="228600" imgH="254000" progId="Equation.3">
                      <p:embed/>
                    </p:oleObj>
                  </mc:Choice>
                  <mc:Fallback>
                    <p:oleObj name="" r:id="rId11" imgW="228600" imgH="254000" progId="Equation.3">
                      <p:embed/>
                      <p:pic>
                        <p:nvPicPr>
                          <p:cNvPr id="0" name="Object 71706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410" y="3203"/>
                            <a:ext cx="142" cy="1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708" name="Object 71707"/>
              <p:cNvGraphicFramePr/>
              <p:nvPr/>
            </p:nvGraphicFramePr>
            <p:xfrm>
              <a:off x="2682" y="1978"/>
              <a:ext cx="391" cy="2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48" name="" r:id="rId13" imgW="774065" imgH="393700" progId="Equation.3">
                      <p:embed/>
                    </p:oleObj>
                  </mc:Choice>
                  <mc:Fallback>
                    <p:oleObj name="" r:id="rId13" imgW="774065" imgH="393700" progId="Equation.3">
                      <p:embed/>
                      <p:pic>
                        <p:nvPicPr>
                          <p:cNvPr id="0" name="Object 71707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682" y="1978"/>
                            <a:ext cx="391" cy="23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71709" name="Object 71708"/>
          <p:cNvGraphicFramePr/>
          <p:nvPr/>
        </p:nvGraphicFramePr>
        <p:xfrm>
          <a:off x="3606483" y="5035550"/>
          <a:ext cx="22701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" r:id="rId15" imgW="228600" imgH="546100" progId="Equation.3">
                  <p:embed/>
                </p:oleObj>
              </mc:Choice>
              <mc:Fallback>
                <p:oleObj name="" r:id="rId15" imgW="228600" imgH="546100" progId="Equation.3">
                  <p:embed/>
                  <p:pic>
                    <p:nvPicPr>
                      <p:cNvPr id="0" name="Object 7170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06483" y="5035550"/>
                        <a:ext cx="227012" cy="541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0" name="Object 71709"/>
          <p:cNvGraphicFramePr/>
          <p:nvPr/>
        </p:nvGraphicFramePr>
        <p:xfrm>
          <a:off x="5892483" y="5035550"/>
          <a:ext cx="215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" r:id="rId17" imgW="215900" imgH="545465" progId="Equation.3">
                  <p:embed/>
                </p:oleObj>
              </mc:Choice>
              <mc:Fallback>
                <p:oleObj name="" r:id="rId17" imgW="215900" imgH="545465" progId="Equation.3">
                  <p:embed/>
                  <p:pic>
                    <p:nvPicPr>
                      <p:cNvPr id="0" name="Object 7170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892483" y="5035550"/>
                        <a:ext cx="215900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1" name="Straight Connector 71710"/>
          <p:cNvSpPr/>
          <p:nvPr/>
        </p:nvSpPr>
        <p:spPr>
          <a:xfrm>
            <a:off x="3606483" y="4358640"/>
            <a:ext cx="2438400" cy="0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71712" name="Object 71711"/>
          <p:cNvGraphicFramePr/>
          <p:nvPr/>
        </p:nvGraphicFramePr>
        <p:xfrm>
          <a:off x="6152516" y="4014961"/>
          <a:ext cx="5969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" r:id="rId19" imgW="761365" imgH="837565" progId="Equation.3">
                  <p:embed/>
                </p:oleObj>
              </mc:Choice>
              <mc:Fallback>
                <p:oleObj name="" r:id="rId19" imgW="761365" imgH="837565" progId="Equation.3">
                  <p:embed/>
                  <p:pic>
                    <p:nvPicPr>
                      <p:cNvPr id="0" name="Object 7171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152516" y="4014961"/>
                        <a:ext cx="596900" cy="657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3" name="Straight Connector 71712"/>
          <p:cNvSpPr/>
          <p:nvPr/>
        </p:nvSpPr>
        <p:spPr>
          <a:xfrm>
            <a:off x="3987483" y="4358640"/>
            <a:ext cx="8382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71715" name="Object 71714"/>
          <p:cNvGraphicFramePr/>
          <p:nvPr/>
        </p:nvGraphicFramePr>
        <p:xfrm>
          <a:off x="1619672" y="3887470"/>
          <a:ext cx="1371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" r:id="rId21" imgW="1371600" imgH="838200" progId="Equation.3">
                  <p:embed/>
                </p:oleObj>
              </mc:Choice>
              <mc:Fallback>
                <p:oleObj name="" r:id="rId21" imgW="1371600" imgH="838200" progId="Equation.3">
                  <p:embed/>
                  <p:pic>
                    <p:nvPicPr>
                      <p:cNvPr id="0" name="Object 7171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619672" y="3887470"/>
                        <a:ext cx="13716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7" name="Straight Connector 71716"/>
          <p:cNvSpPr/>
          <p:nvPr/>
        </p:nvSpPr>
        <p:spPr>
          <a:xfrm>
            <a:off x="5034136" y="4358640"/>
            <a:ext cx="762000" cy="0"/>
          </a:xfrm>
          <a:prstGeom prst="line">
            <a:avLst/>
          </a:prstGeom>
          <a:ln w="38100" cap="flat" cmpd="sng">
            <a:solidFill>
              <a:srgbClr val="FFC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19" name="Straight Connector 71718"/>
          <p:cNvSpPr/>
          <p:nvPr/>
        </p:nvSpPr>
        <p:spPr>
          <a:xfrm flipH="1" flipV="1">
            <a:off x="3225482" y="4617846"/>
            <a:ext cx="105848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ysDot"/>
            <a:headEnd type="none" w="med" len="med"/>
            <a:tailEnd type="triangle" w="lg" len="med"/>
          </a:ln>
        </p:spPr>
      </p:sp>
      <p:sp>
        <p:nvSpPr>
          <p:cNvPr id="71720" name="Straight Connector 71719"/>
          <p:cNvSpPr/>
          <p:nvPr/>
        </p:nvSpPr>
        <p:spPr>
          <a:xfrm flipH="1">
            <a:off x="3225482" y="4061712"/>
            <a:ext cx="2066598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ysDot"/>
            <a:headEnd type="none" w="med" len="med"/>
            <a:tailEnd type="triangle" w="lg" len="med"/>
          </a:ln>
        </p:spPr>
      </p:sp>
      <p:sp>
        <p:nvSpPr>
          <p:cNvPr id="24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71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7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71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1" name="Object 73730"/>
          <p:cNvGraphicFramePr/>
          <p:nvPr/>
        </p:nvGraphicFramePr>
        <p:xfrm>
          <a:off x="900113" y="1687513"/>
          <a:ext cx="3962400" cy="202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" r:id="rId1" imgW="4013200" imgH="1968500" progId="Equation.3">
                  <p:embed/>
                </p:oleObj>
              </mc:Choice>
              <mc:Fallback>
                <p:oleObj name="" r:id="rId1" imgW="4013200" imgH="1968500" progId="Equation.3">
                  <p:embed/>
                  <p:pic>
                    <p:nvPicPr>
                      <p:cNvPr id="0" name="Object 7373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0113" y="1687513"/>
                        <a:ext cx="3962400" cy="2028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5" name="Rectangles 73734"/>
          <p:cNvSpPr/>
          <p:nvPr/>
        </p:nvSpPr>
        <p:spPr>
          <a:xfrm>
            <a:off x="840110" y="762000"/>
            <a:ext cx="40176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均匀分布的分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布函数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73750" name="Group 73749"/>
          <p:cNvGrpSpPr/>
          <p:nvPr/>
        </p:nvGrpSpPr>
        <p:grpSpPr>
          <a:xfrm>
            <a:off x="4857750" y="1484313"/>
            <a:ext cx="3530601" cy="2535238"/>
            <a:chOff x="1872" y="2243"/>
            <a:chExt cx="2224" cy="1597"/>
          </a:xfrm>
        </p:grpSpPr>
        <p:grpSp>
          <p:nvGrpSpPr>
            <p:cNvPr id="73736" name="Group 73735"/>
            <p:cNvGrpSpPr/>
            <p:nvPr/>
          </p:nvGrpSpPr>
          <p:grpSpPr>
            <a:xfrm>
              <a:off x="1872" y="2304"/>
              <a:ext cx="2160" cy="1536"/>
              <a:chOff x="1104" y="2688"/>
              <a:chExt cx="2160" cy="1344"/>
            </a:xfrm>
          </p:grpSpPr>
          <p:sp>
            <p:nvSpPr>
              <p:cNvPr id="73737" name="Straight Connector 73736"/>
              <p:cNvSpPr/>
              <p:nvPr/>
            </p:nvSpPr>
            <p:spPr>
              <a:xfrm>
                <a:off x="1104" y="3696"/>
                <a:ext cx="216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lg" len="med"/>
              </a:ln>
            </p:spPr>
          </p:sp>
          <p:sp>
            <p:nvSpPr>
              <p:cNvPr id="73738" name="Straight Connector 73737"/>
              <p:cNvSpPr/>
              <p:nvPr/>
            </p:nvSpPr>
            <p:spPr>
              <a:xfrm flipV="1">
                <a:off x="1920" y="2688"/>
                <a:ext cx="0" cy="13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lg" len="med"/>
              </a:ln>
            </p:spPr>
          </p:sp>
        </p:grpSp>
        <p:graphicFrame>
          <p:nvGraphicFramePr>
            <p:cNvPr id="73739" name="Object 73738"/>
            <p:cNvGraphicFramePr/>
            <p:nvPr/>
          </p:nvGraphicFramePr>
          <p:xfrm>
            <a:off x="3937" y="3556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7" name="" r:id="rId3" imgW="254000" imgH="241300" progId="Equation.3">
                    <p:embed/>
                  </p:oleObj>
                </mc:Choice>
                <mc:Fallback>
                  <p:oleObj name="" r:id="rId3" imgW="254000" imgH="241300" progId="Equation.3">
                    <p:embed/>
                    <p:pic>
                      <p:nvPicPr>
                        <p:cNvPr id="0" name="Object 7373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37" y="3556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740" name="Object 73739"/>
            <p:cNvGraphicFramePr/>
            <p:nvPr/>
          </p:nvGraphicFramePr>
          <p:xfrm>
            <a:off x="2496" y="3468"/>
            <a:ext cx="144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8" name="" r:id="rId5" imgW="228600" imgH="254000" progId="Equation.3">
                    <p:embed/>
                  </p:oleObj>
                </mc:Choice>
                <mc:Fallback>
                  <p:oleObj name="" r:id="rId5" imgW="228600" imgH="254000" progId="Equation.3">
                    <p:embed/>
                    <p:pic>
                      <p:nvPicPr>
                        <p:cNvPr id="0" name="Object 7373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496" y="3468"/>
                          <a:ext cx="144" cy="1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741" name="Object 73740"/>
            <p:cNvGraphicFramePr/>
            <p:nvPr/>
          </p:nvGraphicFramePr>
          <p:xfrm>
            <a:off x="2750" y="2243"/>
            <a:ext cx="50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9" name="" r:id="rId7" imgW="799465" imgH="393700" progId="Equation.3">
                    <p:embed/>
                  </p:oleObj>
                </mc:Choice>
                <mc:Fallback>
                  <p:oleObj name="" r:id="rId7" imgW="799465" imgH="393700" progId="Equation.3">
                    <p:embed/>
                    <p:pic>
                      <p:nvPicPr>
                        <p:cNvPr id="0" name="Object 7374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50" y="2243"/>
                          <a:ext cx="504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742" name="Straight Connector 73741"/>
          <p:cNvSpPr/>
          <p:nvPr/>
        </p:nvSpPr>
        <p:spPr>
          <a:xfrm>
            <a:off x="7062787" y="2343150"/>
            <a:ext cx="11430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3743" name="Straight Connector 73742"/>
          <p:cNvSpPr/>
          <p:nvPr/>
        </p:nvSpPr>
        <p:spPr>
          <a:xfrm flipH="1">
            <a:off x="5467350" y="2343150"/>
            <a:ext cx="1600200" cy="10668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73744" name="Object 73743"/>
          <p:cNvGraphicFramePr/>
          <p:nvPr/>
        </p:nvGraphicFramePr>
        <p:xfrm>
          <a:off x="5391150" y="3274802"/>
          <a:ext cx="22701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" r:id="rId9" imgW="228600" imgH="546100" progId="Equation.3">
                  <p:embed/>
                </p:oleObj>
              </mc:Choice>
              <mc:Fallback>
                <p:oleObj name="" r:id="rId9" imgW="228600" imgH="546100" progId="Equation.3">
                  <p:embed/>
                  <p:pic>
                    <p:nvPicPr>
                      <p:cNvPr id="0" name="Object 7374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91150" y="3274802"/>
                        <a:ext cx="227013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5" name="Object 73744"/>
          <p:cNvGraphicFramePr/>
          <p:nvPr/>
        </p:nvGraphicFramePr>
        <p:xfrm>
          <a:off x="6915150" y="3274802"/>
          <a:ext cx="215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" r:id="rId11" imgW="215900" imgH="545465" progId="Equation.3">
                  <p:embed/>
                </p:oleObj>
              </mc:Choice>
              <mc:Fallback>
                <p:oleObj name="" r:id="rId11" imgW="215900" imgH="545465" progId="Equation.3">
                  <p:embed/>
                  <p:pic>
                    <p:nvPicPr>
                      <p:cNvPr id="0" name="Object 7374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915150" y="3274802"/>
                        <a:ext cx="215900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6" name="Object 73745"/>
          <p:cNvGraphicFramePr>
            <a:graphicFrameLocks noChangeAspect="1"/>
          </p:cNvGraphicFramePr>
          <p:nvPr/>
        </p:nvGraphicFramePr>
        <p:xfrm>
          <a:off x="5924550" y="2205038"/>
          <a:ext cx="294799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Microsoft 公式 3.0 中文版" r:id="rId13" imgW="393065" imgH="304800" progId="">
                  <p:embed/>
                </p:oleObj>
              </mc:Choice>
              <mc:Fallback>
                <p:oleObj name="Microsoft 公式 3.0 中文版" r:id="rId13" imgW="393065" imgH="304800" progId="">
                  <p:embed/>
                  <p:pic>
                    <p:nvPicPr>
                      <p:cNvPr id="0" name="Object 7374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24550" y="2205038"/>
                        <a:ext cx="294799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47" name="Straight Connector 73746"/>
          <p:cNvSpPr/>
          <p:nvPr/>
        </p:nvSpPr>
        <p:spPr>
          <a:xfrm>
            <a:off x="6153150" y="2343150"/>
            <a:ext cx="869950" cy="0"/>
          </a:xfrm>
          <a:prstGeom prst="line">
            <a:avLst/>
          </a:prstGeom>
          <a:ln w="38100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8" name="Straight Connector 17"/>
          <p:cNvSpPr/>
          <p:nvPr/>
        </p:nvSpPr>
        <p:spPr>
          <a:xfrm>
            <a:off x="4857750" y="3409950"/>
            <a:ext cx="609599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7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3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4098"/>
          <p:cNvSpPr txBox="1"/>
          <p:nvPr/>
        </p:nvSpPr>
        <p:spPr>
          <a:xfrm>
            <a:off x="825946" y="2492896"/>
            <a:ext cx="762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00" name="Text Box 4099"/>
          <p:cNvSpPr txBox="1"/>
          <p:nvPr/>
        </p:nvSpPr>
        <p:spPr>
          <a:xfrm>
            <a:off x="1511746" y="2507183"/>
            <a:ext cx="390461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由题意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R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的概率密度为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101" name="Object 4100"/>
          <p:cNvGraphicFramePr/>
          <p:nvPr/>
        </p:nvGraphicFramePr>
        <p:xfrm>
          <a:off x="1479202" y="3212976"/>
          <a:ext cx="6008688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" r:id="rId1" imgW="6007100" imgH="977900" progId="Equation.3">
                  <p:embed/>
                </p:oleObj>
              </mc:Choice>
              <mc:Fallback>
                <p:oleObj name="" r:id="rId1" imgW="6007100" imgH="977900" progId="Equation.3">
                  <p:embed/>
                  <p:pic>
                    <p:nvPicPr>
                      <p:cNvPr id="0" name="Object 4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79202" y="3212976"/>
                        <a:ext cx="6008688" cy="906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Text Box 4101"/>
          <p:cNvSpPr txBox="1"/>
          <p:nvPr/>
        </p:nvSpPr>
        <p:spPr>
          <a:xfrm>
            <a:off x="816421" y="4390430"/>
            <a:ext cx="8978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故有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103" name="Object 4102"/>
          <p:cNvGraphicFramePr/>
          <p:nvPr/>
        </p:nvGraphicFramePr>
        <p:xfrm>
          <a:off x="1819250" y="4544418"/>
          <a:ext cx="27813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" r:id="rId3" imgW="2780030" imgH="381000" progId="Equation.3">
                  <p:embed/>
                </p:oleObj>
              </mc:Choice>
              <mc:Fallback>
                <p:oleObj name="" r:id="rId3" imgW="2780030" imgH="381000" progId="Equation.3">
                  <p:embed/>
                  <p:pic>
                    <p:nvPicPr>
                      <p:cNvPr id="0" name="Object 41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19250" y="4544418"/>
                        <a:ext cx="2781300" cy="33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4103"/>
          <p:cNvGraphicFramePr/>
          <p:nvPr/>
        </p:nvGraphicFramePr>
        <p:xfrm>
          <a:off x="4645843" y="4304705"/>
          <a:ext cx="28575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" r:id="rId5" imgW="2857500" imgH="838200" progId="Equation.3">
                  <p:embed/>
                </p:oleObj>
              </mc:Choice>
              <mc:Fallback>
                <p:oleObj name="" r:id="rId5" imgW="2857500" imgH="838200" progId="Equation.3">
                  <p:embed/>
                  <p:pic>
                    <p:nvPicPr>
                      <p:cNvPr id="0" name="Object 41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45843" y="4304705"/>
                        <a:ext cx="2857500" cy="766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24" name="Group 4123"/>
          <p:cNvGrpSpPr/>
          <p:nvPr/>
        </p:nvGrpSpPr>
        <p:grpSpPr>
          <a:xfrm>
            <a:off x="825946" y="762000"/>
            <a:ext cx="8229600" cy="1544638"/>
            <a:chOff x="576" y="624"/>
            <a:chExt cx="5184" cy="973"/>
          </a:xfrm>
        </p:grpSpPr>
        <p:sp>
          <p:nvSpPr>
            <p:cNvPr id="4098" name="Text Box 4097"/>
            <p:cNvSpPr txBox="1"/>
            <p:nvPr/>
          </p:nvSpPr>
          <p:spPr>
            <a:xfrm>
              <a:off x="576" y="624"/>
              <a:ext cx="5184" cy="9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457200" indent="-457200">
                <a:spcBef>
                  <a:spcPct val="20000"/>
                </a:spcBef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2800" b="1" dirty="0">
                  <a:solidFill>
                    <a:srgbClr val="FF0000"/>
                  </a:solidFill>
                  <a:ea typeface="黑体" panose="02010609060101010101" pitchFamily="49" charset="-122"/>
                </a:rPr>
                <a:t>2</a:t>
              </a: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设电阻值 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 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是一个随机变量</a:t>
              </a: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均匀分布在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spcBef>
                  <a:spcPct val="20000"/>
                </a:spcBef>
                <a:buAutoNum type="arabicPlain" startAt="900"/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~ 1100    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．求 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 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的概率密度及 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 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落在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spcBef>
                  <a:spcPct val="2000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950      ~ 1050      </a:t>
              </a: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的概率．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120" name="Object 4119"/>
            <p:cNvGraphicFramePr/>
            <p:nvPr/>
          </p:nvGraphicFramePr>
          <p:xfrm>
            <a:off x="1012" y="1008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3" name="" r:id="rId7" imgW="317500" imgH="292100" progId="Equation.3">
                    <p:embed/>
                  </p:oleObj>
                </mc:Choice>
                <mc:Fallback>
                  <p:oleObj name="" r:id="rId7" imgW="317500" imgH="292100" progId="Equation.3">
                    <p:embed/>
                    <p:pic>
                      <p:nvPicPr>
                        <p:cNvPr id="0" name="Object 411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12" y="1008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1" name="Object 4120"/>
            <p:cNvGraphicFramePr/>
            <p:nvPr/>
          </p:nvGraphicFramePr>
          <p:xfrm>
            <a:off x="1912" y="1017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4" name="" r:id="rId9" imgW="317500" imgH="292100" progId="Equation.3">
                    <p:embed/>
                  </p:oleObj>
                </mc:Choice>
                <mc:Fallback>
                  <p:oleObj name="" r:id="rId9" imgW="317500" imgH="292100" progId="Equation.3">
                    <p:embed/>
                    <p:pic>
                      <p:nvPicPr>
                        <p:cNvPr id="0" name="Object 412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12" y="1017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2" name="Object 4121"/>
            <p:cNvGraphicFramePr/>
            <p:nvPr/>
          </p:nvGraphicFramePr>
          <p:xfrm>
            <a:off x="1008" y="1352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5" name="" r:id="rId10" imgW="317500" imgH="292100" progId="Equation.3">
                    <p:embed/>
                  </p:oleObj>
                </mc:Choice>
                <mc:Fallback>
                  <p:oleObj name="" r:id="rId10" imgW="317500" imgH="292100" progId="Equation.3">
                    <p:embed/>
                    <p:pic>
                      <p:nvPicPr>
                        <p:cNvPr id="0" name="Object 412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08" y="1352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3" name="Object 4122"/>
            <p:cNvGraphicFramePr/>
            <p:nvPr/>
          </p:nvGraphicFramePr>
          <p:xfrm>
            <a:off x="1976" y="1352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6" name="" r:id="rId11" imgW="317500" imgH="292100" progId="Equation.3">
                    <p:embed/>
                  </p:oleObj>
                </mc:Choice>
                <mc:Fallback>
                  <p:oleObj name="" r:id="rId11" imgW="317500" imgH="292100" progId="Equation.3">
                    <p:embed/>
                    <p:pic>
                      <p:nvPicPr>
                        <p:cNvPr id="0" name="Object 412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76" y="1352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/>
      <p:bldP spid="4100" grpId="0"/>
      <p:bldP spid="410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46081"/>
          <p:cNvSpPr txBox="1"/>
          <p:nvPr/>
        </p:nvSpPr>
        <p:spPr>
          <a:xfrm>
            <a:off x="838200" y="781050"/>
            <a:ext cx="7578090" cy="14897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设随机变量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在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[2, 5]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上均匀分布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现对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endParaRPr lang="en-US" altLang="zh-CN" sz="28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进行三次独立观测</a:t>
            </a:r>
            <a:r>
              <a:rPr lang="en-US" altLang="zh-CN" sz="2800" b="1" dirty="0"/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试求至少有两次观测值大于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sz="2800" b="1" dirty="0"/>
              <a:t>3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的概率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  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3" name="Rectangles 46082"/>
          <p:cNvSpPr/>
          <p:nvPr/>
        </p:nvSpPr>
        <p:spPr>
          <a:xfrm>
            <a:off x="1143000" y="2499404"/>
            <a:ext cx="319341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的密度函数为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6084" name="Object 46083"/>
          <p:cNvGraphicFramePr/>
          <p:nvPr/>
        </p:nvGraphicFramePr>
        <p:xfrm>
          <a:off x="2889250" y="3261404"/>
          <a:ext cx="33655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" r:id="rId1" imgW="3365500" imgH="1409700" progId="Equation.3">
                  <p:embed/>
                </p:oleObj>
              </mc:Choice>
              <mc:Fallback>
                <p:oleObj name="" r:id="rId1" imgW="3365500" imgH="1409700" progId="Equation.3">
                  <p:embed/>
                  <p:pic>
                    <p:nvPicPr>
                      <p:cNvPr id="0" name="Object 46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89250" y="3261404"/>
                        <a:ext cx="3365500" cy="140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7" name="Text Box 46086"/>
          <p:cNvSpPr txBox="1"/>
          <p:nvPr/>
        </p:nvSpPr>
        <p:spPr>
          <a:xfrm>
            <a:off x="808534" y="4937804"/>
            <a:ext cx="563943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表示“对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的观测值大于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95" name="Rectangles 46094"/>
          <p:cNvSpPr/>
          <p:nvPr/>
        </p:nvSpPr>
        <p:spPr>
          <a:xfrm>
            <a:off x="838200" y="2485117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097" name="Rectangles 46096"/>
          <p:cNvSpPr/>
          <p:nvPr/>
        </p:nvSpPr>
        <p:spPr>
          <a:xfrm>
            <a:off x="818059" y="5714092"/>
            <a:ext cx="23037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即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 {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&gt;3}.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  <p:bldP spid="46087" grpId="0"/>
      <p:bldP spid="46095" grpId="0"/>
      <p:bldP spid="4609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4" name="Object 69633"/>
          <p:cNvGraphicFramePr/>
          <p:nvPr/>
        </p:nvGraphicFramePr>
        <p:xfrm>
          <a:off x="914400" y="4741838"/>
          <a:ext cx="1346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" r:id="rId1" imgW="1345565" imgH="381000" progId="Equation.3">
                  <p:embed/>
                </p:oleObj>
              </mc:Choice>
              <mc:Fallback>
                <p:oleObj name="" r:id="rId1" imgW="1345565" imgH="381000" progId="Equation.3">
                  <p:embed/>
                  <p:pic>
                    <p:nvPicPr>
                      <p:cNvPr id="0" name="Object 6963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4741838"/>
                        <a:ext cx="1346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5" name="Object 69634"/>
          <p:cNvGraphicFramePr/>
          <p:nvPr/>
        </p:nvGraphicFramePr>
        <p:xfrm>
          <a:off x="7620000" y="4506888"/>
          <a:ext cx="825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" r:id="rId3" imgW="825500" imgH="825500" progId="Equation.3">
                  <p:embed/>
                </p:oleObj>
              </mc:Choice>
              <mc:Fallback>
                <p:oleObj name="" r:id="rId3" imgW="825500" imgH="825500" progId="Equation.3">
                  <p:embed/>
                  <p:pic>
                    <p:nvPicPr>
                      <p:cNvPr id="0" name="Object 6963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00" y="4506888"/>
                        <a:ext cx="8255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6" name="Rectangles 69635"/>
          <p:cNvSpPr/>
          <p:nvPr/>
        </p:nvSpPr>
        <p:spPr>
          <a:xfrm>
            <a:off x="838200" y="3642727"/>
            <a:ext cx="8978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因而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637" name="Rectangles 69636"/>
          <p:cNvSpPr/>
          <p:nvPr/>
        </p:nvSpPr>
        <p:spPr>
          <a:xfrm>
            <a:off x="838200" y="1727736"/>
            <a:ext cx="744220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表示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3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次独立观测中观测值大于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3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的次数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638" name="Rectangles 69637"/>
          <p:cNvSpPr/>
          <p:nvPr/>
        </p:nvSpPr>
        <p:spPr>
          <a:xfrm>
            <a:off x="841375" y="2656096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9639" name="Object 69638"/>
          <p:cNvGraphicFramePr/>
          <p:nvPr/>
        </p:nvGraphicFramePr>
        <p:xfrm>
          <a:off x="1499121" y="2545765"/>
          <a:ext cx="213677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" r:id="rId5" imgW="1815465" imgH="901065" progId="Equation.3">
                  <p:embed/>
                </p:oleObj>
              </mc:Choice>
              <mc:Fallback>
                <p:oleObj name="" r:id="rId5" imgW="1815465" imgH="901065" progId="Equation.3">
                  <p:embed/>
                  <p:pic>
                    <p:nvPicPr>
                      <p:cNvPr id="0" name="Object 6963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99121" y="2545765"/>
                        <a:ext cx="2136775" cy="854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1" name="Object 69640"/>
          <p:cNvGraphicFramePr/>
          <p:nvPr/>
        </p:nvGraphicFramePr>
        <p:xfrm>
          <a:off x="2286000" y="4430688"/>
          <a:ext cx="2616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" r:id="rId7" imgW="2616200" imgH="1016000" progId="Equation.3">
                  <p:embed/>
                </p:oleObj>
              </mc:Choice>
              <mc:Fallback>
                <p:oleObj name="" r:id="rId7" imgW="2616200" imgH="1016000" progId="Equation.3">
                  <p:embed/>
                  <p:pic>
                    <p:nvPicPr>
                      <p:cNvPr id="0" name="Object 6964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86000" y="4430688"/>
                        <a:ext cx="26162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2" name="Object 69641"/>
          <p:cNvGraphicFramePr/>
          <p:nvPr/>
        </p:nvGraphicFramePr>
        <p:xfrm>
          <a:off x="4876800" y="4430688"/>
          <a:ext cx="271938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" r:id="rId9" imgW="2717800" imgH="1016000" progId="Equation.3">
                  <p:embed/>
                </p:oleObj>
              </mc:Choice>
              <mc:Fallback>
                <p:oleObj name="" r:id="rId9" imgW="2717800" imgH="1016000" progId="Equation.3">
                  <p:embed/>
                  <p:pic>
                    <p:nvPicPr>
                      <p:cNvPr id="0" name="Object 6964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76800" y="4430688"/>
                        <a:ext cx="2719388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4" name="Object 69643"/>
          <p:cNvGraphicFramePr/>
          <p:nvPr/>
        </p:nvGraphicFramePr>
        <p:xfrm>
          <a:off x="977900" y="849288"/>
          <a:ext cx="33147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" r:id="rId11" imgW="3313430" imgH="431800" progId="Equation.3">
                  <p:embed/>
                </p:oleObj>
              </mc:Choice>
              <mc:Fallback>
                <p:oleObj name="" r:id="rId11" imgW="3313430" imgH="431800" progId="Equation.3">
                  <p:embed/>
                  <p:pic>
                    <p:nvPicPr>
                      <p:cNvPr id="0" name="Object 6964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77900" y="849288"/>
                        <a:ext cx="3314700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5" name="Object 69644"/>
          <p:cNvGraphicFramePr/>
          <p:nvPr/>
        </p:nvGraphicFramePr>
        <p:xfrm>
          <a:off x="4397350" y="620688"/>
          <a:ext cx="2209924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" r:id="rId13" imgW="1993900" imgH="838200" progId="Equation.3">
                  <p:embed/>
                </p:oleObj>
              </mc:Choice>
              <mc:Fallback>
                <p:oleObj name="" r:id="rId13" imgW="1993900" imgH="838200" progId="Equation.3">
                  <p:embed/>
                  <p:pic>
                    <p:nvPicPr>
                      <p:cNvPr id="0" name="Object 6964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97350" y="620688"/>
                        <a:ext cx="2209924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/>
      <p:bldP spid="69637" grpId="0"/>
      <p:bldP spid="696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9" name="Rectangles 75788"/>
          <p:cNvSpPr/>
          <p:nvPr/>
        </p:nvSpPr>
        <p:spPr>
          <a:xfrm>
            <a:off x="899795" y="510540"/>
            <a:ext cx="222250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指数分布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75792" name="Picture 757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4852" y="4149031"/>
            <a:ext cx="4219376" cy="237618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02618" y="1222058"/>
            <a:ext cx="7541789" cy="2935287"/>
            <a:chOff x="702618" y="1293813"/>
            <a:chExt cx="7541789" cy="2935287"/>
          </a:xfrm>
        </p:grpSpPr>
        <p:graphicFrame>
          <p:nvGraphicFramePr>
            <p:cNvPr id="75780" name="Object 75779"/>
            <p:cNvGraphicFramePr/>
            <p:nvPr/>
          </p:nvGraphicFramePr>
          <p:xfrm>
            <a:off x="970358" y="1371600"/>
            <a:ext cx="7274049" cy="285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2" name="" r:id="rId2" imgW="7086600" imgH="2857500" progId="Equation.3">
                    <p:embed/>
                  </p:oleObj>
                </mc:Choice>
                <mc:Fallback>
                  <p:oleObj name="" r:id="rId2" imgW="7086600" imgH="2857500" progId="Equation.3">
                    <p:embed/>
                    <p:pic>
                      <p:nvPicPr>
                        <p:cNvPr id="0" name="Object 75779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970358" y="1371600"/>
                          <a:ext cx="7274049" cy="28575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 useBgFill="1">
          <p:nvSpPr>
            <p:cNvPr id="7" name="Text Box 34"/>
            <p:cNvSpPr txBox="1"/>
            <p:nvPr/>
          </p:nvSpPr>
          <p:spPr>
            <a:xfrm>
              <a:off x="702618" y="1293813"/>
              <a:ext cx="1224136" cy="553998"/>
            </a:xfrm>
            <a:prstGeom prst="rect">
              <a:avLst/>
            </a:prstGeom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30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定义</a:t>
              </a:r>
              <a:endParaRPr lang="zh-CN" altLang="en-US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s 76801"/>
          <p:cNvSpPr/>
          <p:nvPr/>
        </p:nvSpPr>
        <p:spPr>
          <a:xfrm>
            <a:off x="866140" y="4768850"/>
            <a:ext cx="7547610" cy="1512570"/>
          </a:xfrm>
          <a:prstGeom prst="rect">
            <a:avLst/>
          </a:prstGeom>
          <a:solidFill>
            <a:srgbClr val="002060"/>
          </a:solidFill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某些元件或设备的寿命服从指数分布</a:t>
            </a:r>
            <a:r>
              <a:rPr lang="en-US" altLang="zh-CN" sz="2800" b="1" dirty="0">
                <a:solidFill>
                  <a:srgbClr val="FFFF00"/>
                </a:solidFill>
              </a:rPr>
              <a:t>,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例如无线电元件的寿命、电力设备的寿命、动物的寿命等都服从指数分布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en-US" altLang="zh-CN" sz="2800" b="1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03" name="Rectangles 76802"/>
          <p:cNvSpPr/>
          <p:nvPr/>
        </p:nvSpPr>
        <p:spPr>
          <a:xfrm>
            <a:off x="755576" y="4086403"/>
            <a:ext cx="161290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应用背景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6824" name="Rectangles 76823"/>
          <p:cNvSpPr/>
          <p:nvPr/>
        </p:nvSpPr>
        <p:spPr>
          <a:xfrm>
            <a:off x="755576" y="520497"/>
            <a:ext cx="340042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指数分布的分布函数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76825" name="Object 76824"/>
          <p:cNvGraphicFramePr/>
          <p:nvPr/>
        </p:nvGraphicFramePr>
        <p:xfrm>
          <a:off x="838200" y="1373262"/>
          <a:ext cx="37338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" r:id="rId1" imgW="3733800" imgH="1282700" progId="Equation.3">
                  <p:embed/>
                </p:oleObj>
              </mc:Choice>
              <mc:Fallback>
                <p:oleObj name="" r:id="rId1" imgW="3733800" imgH="1282700" progId="Equation.3">
                  <p:embed/>
                  <p:pic>
                    <p:nvPicPr>
                      <p:cNvPr id="0" name="Object 768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1373262"/>
                        <a:ext cx="3733800" cy="1282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6828" name="Picture 768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971" y="611505"/>
            <a:ext cx="3806825" cy="3427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  <p:sp useBgFill="1">
        <p:nvSpPr>
          <p:cNvPr id="2" name="Rectangle 1"/>
          <p:cNvSpPr/>
          <p:nvPr/>
        </p:nvSpPr>
        <p:spPr bwMode="auto">
          <a:xfrm>
            <a:off x="2618259" y="1287810"/>
            <a:ext cx="288032" cy="936104"/>
          </a:xfrm>
          <a:prstGeom prst="rect">
            <a:avLst/>
          </a:prstGeom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bldLvl="0" animBg="1"/>
      <p:bldP spid="7680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599" name="Object 110598"/>
          <p:cNvGraphicFramePr/>
          <p:nvPr/>
        </p:nvGraphicFramePr>
        <p:xfrm>
          <a:off x="4476750" y="321945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" r:id="rId1" imgW="190500" imgH="419100" progId="Equation.3">
                  <p:embed/>
                </p:oleObj>
              </mc:Choice>
              <mc:Fallback>
                <p:oleObj name="" r:id="rId1" imgW="190500" imgH="419100" progId="Equation.3">
                  <p:embed/>
                  <p:pic>
                    <p:nvPicPr>
                      <p:cNvPr id="0" name="Object 1105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76750" y="3219450"/>
                        <a:ext cx="1905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1" name="Text Box 110600"/>
          <p:cNvSpPr txBox="1"/>
          <p:nvPr/>
        </p:nvSpPr>
        <p:spPr>
          <a:xfrm>
            <a:off x="855663" y="685800"/>
            <a:ext cx="7537450" cy="34067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设某种日光灯管的使用寿命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服从参数为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θ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2000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的指数分布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单位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小时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). 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任取一只这种灯管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求能正常使用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1000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小时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以上的概率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有一只这种灯管已经正常使用了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1000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小时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dirty="0"/>
              <a:t>求还能至少再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1000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小时的概率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10602" name="Object 110601"/>
          <p:cNvGraphicFramePr/>
          <p:nvPr/>
        </p:nvGraphicFramePr>
        <p:xfrm>
          <a:off x="2540000" y="5026114"/>
          <a:ext cx="40640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" r:id="rId3" imgW="4064000" imgH="1282700" progId="Equation.3">
                  <p:embed/>
                </p:oleObj>
              </mc:Choice>
              <mc:Fallback>
                <p:oleObj name="" r:id="rId3" imgW="4064000" imgH="1282700" progId="Equation.3">
                  <p:embed/>
                  <p:pic>
                    <p:nvPicPr>
                      <p:cNvPr id="0" name="Object 11060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40000" y="5026114"/>
                        <a:ext cx="4064000" cy="1282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3" name="Text Box 110602"/>
          <p:cNvSpPr txBox="1"/>
          <p:nvPr/>
        </p:nvSpPr>
        <p:spPr>
          <a:xfrm>
            <a:off x="1735138" y="4340314"/>
            <a:ext cx="276383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的分布函数为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0604" name="Rectangles 110603"/>
          <p:cNvSpPr/>
          <p:nvPr/>
        </p:nvSpPr>
        <p:spPr>
          <a:xfrm>
            <a:off x="866775" y="4321264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4648200" y="5156686"/>
            <a:ext cx="0" cy="36004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6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06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06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06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0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3" grpId="0"/>
      <p:bldP spid="11060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7" name="Object 77826"/>
          <p:cNvGraphicFramePr/>
          <p:nvPr/>
        </p:nvGraphicFramePr>
        <p:xfrm>
          <a:off x="926976" y="764704"/>
          <a:ext cx="24130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" r:id="rId1" imgW="2411730" imgH="393700" progId="Equation.3">
                  <p:embed/>
                </p:oleObj>
              </mc:Choice>
              <mc:Fallback>
                <p:oleObj name="" r:id="rId1" imgW="2411730" imgH="393700" progId="Equation.3">
                  <p:embed/>
                  <p:pic>
                    <p:nvPicPr>
                      <p:cNvPr id="0" name="Object 778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26976" y="764704"/>
                        <a:ext cx="241300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8" name="Object 77827"/>
          <p:cNvGraphicFramePr/>
          <p:nvPr/>
        </p:nvGraphicFramePr>
        <p:xfrm>
          <a:off x="3393926" y="764704"/>
          <a:ext cx="27051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" r:id="rId3" imgW="2703830" imgH="381000" progId="Equation.3">
                  <p:embed/>
                </p:oleObj>
              </mc:Choice>
              <mc:Fallback>
                <p:oleObj name="" r:id="rId3" imgW="2703830" imgH="381000" progId="Equation.3">
                  <p:embed/>
                  <p:pic>
                    <p:nvPicPr>
                      <p:cNvPr id="0" name="Object 778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93926" y="764704"/>
                        <a:ext cx="2705100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Object 77828"/>
          <p:cNvGraphicFramePr/>
          <p:nvPr/>
        </p:nvGraphicFramePr>
        <p:xfrm>
          <a:off x="3393926" y="1418803"/>
          <a:ext cx="20320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" r:id="rId5" imgW="2031365" imgH="393700" progId="Equation.3">
                  <p:embed/>
                </p:oleObj>
              </mc:Choice>
              <mc:Fallback>
                <p:oleObj name="" r:id="rId5" imgW="2031365" imgH="393700" progId="Equation.3">
                  <p:embed/>
                  <p:pic>
                    <p:nvPicPr>
                      <p:cNvPr id="0" name="Object 7782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93926" y="1418803"/>
                        <a:ext cx="203200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3" name="Object 77832"/>
          <p:cNvGraphicFramePr/>
          <p:nvPr/>
        </p:nvGraphicFramePr>
        <p:xfrm>
          <a:off x="3393926" y="1958504"/>
          <a:ext cx="20320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" r:id="rId7" imgW="2032000" imgH="647700" progId="Equation.3">
                  <p:embed/>
                </p:oleObj>
              </mc:Choice>
              <mc:Fallback>
                <p:oleObj name="" r:id="rId7" imgW="2032000" imgH="647700" progId="Equation.3">
                  <p:embed/>
                  <p:pic>
                    <p:nvPicPr>
                      <p:cNvPr id="0" name="Object 7783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93926" y="1958504"/>
                        <a:ext cx="2032000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5" name="Object 77834"/>
          <p:cNvGraphicFramePr/>
          <p:nvPr/>
        </p:nvGraphicFramePr>
        <p:xfrm>
          <a:off x="3392388" y="3735710"/>
          <a:ext cx="3771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" r:id="rId9" imgW="3769995" imgH="901065" progId="Equation.3">
                  <p:embed/>
                </p:oleObj>
              </mc:Choice>
              <mc:Fallback>
                <p:oleObj name="" r:id="rId9" imgW="3769995" imgH="901065" progId="Equation.3">
                  <p:embed/>
                  <p:pic>
                    <p:nvPicPr>
                      <p:cNvPr id="0" name="Object 7783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92388" y="3735710"/>
                        <a:ext cx="37719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6" name="Object 77835"/>
          <p:cNvGraphicFramePr/>
          <p:nvPr/>
        </p:nvGraphicFramePr>
        <p:xfrm>
          <a:off x="3392388" y="4879504"/>
          <a:ext cx="2273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" r:id="rId11" imgW="2272030" imgH="901065" progId="Equation.3">
                  <p:embed/>
                </p:oleObj>
              </mc:Choice>
              <mc:Fallback>
                <p:oleObj name="" r:id="rId11" imgW="2272030" imgH="901065" progId="Equation.3">
                  <p:embed/>
                  <p:pic>
                    <p:nvPicPr>
                      <p:cNvPr id="0" name="Object 7783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92388" y="4879504"/>
                        <a:ext cx="22733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3988698" y="2060848"/>
            <a:ext cx="0" cy="36004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5" name="Group 4"/>
          <p:cNvGrpSpPr/>
          <p:nvPr/>
        </p:nvGrpSpPr>
        <p:grpSpPr>
          <a:xfrm>
            <a:off x="926976" y="3050704"/>
            <a:ext cx="3886200" cy="442913"/>
            <a:chOff x="926976" y="3050704"/>
            <a:chExt cx="3886200" cy="442913"/>
          </a:xfrm>
        </p:grpSpPr>
        <p:graphicFrame>
          <p:nvGraphicFramePr>
            <p:cNvPr id="77834" name="Object 77833"/>
            <p:cNvGraphicFramePr/>
            <p:nvPr/>
          </p:nvGraphicFramePr>
          <p:xfrm>
            <a:off x="926976" y="3050704"/>
            <a:ext cx="3886200" cy="442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0" name="" r:id="rId13" imgW="3884295" imgH="444500" progId="Equation.3">
                    <p:embed/>
                  </p:oleObj>
                </mc:Choice>
                <mc:Fallback>
                  <p:oleObj name="" r:id="rId13" imgW="3884295" imgH="444500" progId="Equation.3">
                    <p:embed/>
                    <p:pic>
                      <p:nvPicPr>
                        <p:cNvPr id="0" name="Object 7783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26976" y="3050704"/>
                          <a:ext cx="3886200" cy="4429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2" name="Straight Connector 11"/>
            <p:cNvCxnSpPr/>
            <p:nvPr/>
          </p:nvCxnSpPr>
          <p:spPr bwMode="auto">
            <a:xfrm>
              <a:off x="3266331" y="3050704"/>
              <a:ext cx="0" cy="416397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0" name="Object 78849"/>
          <p:cNvGraphicFramePr/>
          <p:nvPr/>
        </p:nvGraphicFramePr>
        <p:xfrm>
          <a:off x="3635896" y="730796"/>
          <a:ext cx="2755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" r:id="rId1" imgW="2754630" imgH="901065" progId="Equation.3">
                  <p:embed/>
                </p:oleObj>
              </mc:Choice>
              <mc:Fallback>
                <p:oleObj name="" r:id="rId1" imgW="2754630" imgH="901065" progId="Equation.3">
                  <p:embed/>
                  <p:pic>
                    <p:nvPicPr>
                      <p:cNvPr id="0" name="Object 788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35896" y="730796"/>
                        <a:ext cx="27559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1" name="Object 78850"/>
          <p:cNvGraphicFramePr/>
          <p:nvPr/>
        </p:nvGraphicFramePr>
        <p:xfrm>
          <a:off x="3635896" y="1969046"/>
          <a:ext cx="2082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" r:id="rId3" imgW="2082800" imgH="914400" progId="Equation.3">
                  <p:embed/>
                </p:oleObj>
              </mc:Choice>
              <mc:Fallback>
                <p:oleObj name="" r:id="rId3" imgW="2082800" imgH="914400" progId="Equation.3">
                  <p:embed/>
                  <p:pic>
                    <p:nvPicPr>
                      <p:cNvPr id="0" name="Object 788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35896" y="1969046"/>
                        <a:ext cx="20828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2" name="Object 78851"/>
          <p:cNvGraphicFramePr/>
          <p:nvPr/>
        </p:nvGraphicFramePr>
        <p:xfrm>
          <a:off x="3642246" y="3189516"/>
          <a:ext cx="20320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" r:id="rId5" imgW="2032000" imgH="647700" progId="Equation.3">
                  <p:embed/>
                </p:oleObj>
              </mc:Choice>
              <mc:Fallback>
                <p:oleObj name="" r:id="rId5" imgW="2032000" imgH="647700" progId="Equation.3">
                  <p:embed/>
                  <p:pic>
                    <p:nvPicPr>
                      <p:cNvPr id="0" name="Object 7885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42246" y="3189516"/>
                        <a:ext cx="2032000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4226249" y="3254504"/>
            <a:ext cx="0" cy="36004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" name="Rectangles 78852"/>
          <p:cNvSpPr/>
          <p:nvPr/>
        </p:nvSpPr>
        <p:spPr>
          <a:xfrm>
            <a:off x="836474" y="5076939"/>
            <a:ext cx="393763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是</a:t>
            </a:r>
            <a:r>
              <a:rPr lang="zh-CN" altLang="en-US" sz="2800" b="1" dirty="0">
                <a:latin typeface="+mn-ea"/>
                <a:ea typeface="+mn-ea"/>
                <a:cs typeface="+mn-ea"/>
                <a:sym typeface="+mn-ea"/>
              </a:rPr>
              <a:t>指数分布的特征性质.</a:t>
            </a:r>
            <a:endParaRPr lang="zh-CN" altLang="en-US" sz="2800" b="1" dirty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28600" y="4438650"/>
            <a:ext cx="8868410" cy="598805"/>
            <a:chOff x="360" y="6990"/>
            <a:chExt cx="13966" cy="943"/>
          </a:xfrm>
        </p:grpSpPr>
        <p:grpSp>
          <p:nvGrpSpPr>
            <p:cNvPr id="3" name="组合 2"/>
            <p:cNvGrpSpPr/>
            <p:nvPr/>
          </p:nvGrpSpPr>
          <p:grpSpPr>
            <a:xfrm>
              <a:off x="360" y="7079"/>
              <a:ext cx="13680" cy="854"/>
              <a:chOff x="360" y="7835"/>
              <a:chExt cx="13680" cy="854"/>
            </a:xfrm>
          </p:grpSpPr>
          <p:pic>
            <p:nvPicPr>
              <p:cNvPr id="13320" name="Picture 8"/>
              <p:cNvPicPr>
                <a:picLocks noChangeAspect="1"/>
              </p:cNvPicPr>
              <p:nvPr/>
            </p:nvPicPr>
            <p:blipFill>
              <a:blip r:embed="rId7"/>
              <a:srcRect b="30901"/>
              <a:stretch>
                <a:fillRect/>
              </a:stretch>
            </p:blipFill>
            <p:spPr>
              <a:xfrm>
                <a:off x="360" y="7835"/>
                <a:ext cx="13680" cy="8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 useBgFill="1">
            <p:nvSpPr>
              <p:cNvPr id="2" name="矩形 1"/>
              <p:cNvSpPr/>
              <p:nvPr/>
            </p:nvSpPr>
            <p:spPr>
              <a:xfrm>
                <a:off x="12643" y="7895"/>
                <a:ext cx="1248" cy="79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318" y="6990"/>
              <a:ext cx="13008" cy="858"/>
              <a:chOff x="1318" y="6990"/>
              <a:chExt cx="13008" cy="858"/>
            </a:xfrm>
          </p:grpSpPr>
          <p:sp>
            <p:nvSpPr>
              <p:cNvPr id="78853" name="Rectangles 78852"/>
              <p:cNvSpPr/>
              <p:nvPr/>
            </p:nvSpPr>
            <p:spPr>
              <a:xfrm>
                <a:off x="1318" y="6990"/>
                <a:ext cx="6451" cy="8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 algn="l"/>
                <a:r>
                  <a:rPr lang="zh-CN" altLang="en-US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注</a:t>
                </a:r>
                <a:r>
                  <a:rPr lang="en-US" altLang="zh-CN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                                       </a:t>
                </a:r>
                <a:endParaRPr lang="en-US" altLang="zh-CN" sz="2800" b="1" dirty="0">
                  <a:solidFill>
                    <a:schemeClr val="tx1"/>
                  </a:solidFill>
                  <a:latin typeface="+mn-ea"/>
                  <a:ea typeface="+mn-ea"/>
                  <a:cs typeface="+mn-ea"/>
                  <a:sym typeface="+mn-ea"/>
                </a:endParaRPr>
              </a:p>
            </p:txBody>
          </p:sp>
          <p:sp useBgFill="1">
            <p:nvSpPr>
              <p:cNvPr id="5" name="文本框 4"/>
              <p:cNvSpPr txBox="1"/>
              <p:nvPr/>
            </p:nvSpPr>
            <p:spPr>
              <a:xfrm>
                <a:off x="7126" y="7026"/>
                <a:ext cx="7200" cy="822"/>
              </a:xfrm>
              <a:prstGeom prst="rect">
                <a:avLst/>
              </a:prstGeom>
            </p:spPr>
            <p:txBody>
              <a:bodyPr wrap="square" rtlCol="0" anchor="t">
                <a:spAutoFit/>
              </a:bodyPr>
              <a:p>
                <a:pPr algn="l"/>
                <a:r>
                  <a:rPr lang="zh-CN" altLang="en-US" sz="2800" b="1" dirty="0">
                    <a:latin typeface="+mn-ea"/>
                    <a:ea typeface="+mn-ea"/>
                    <a:cs typeface="+mn-ea"/>
                    <a:sym typeface="+mn-ea"/>
                  </a:rPr>
                  <a:t>称为指数分布的</a:t>
                </a:r>
                <a:r>
                  <a:rPr lang="zh-CN" altLang="en-US" sz="2800" b="1" dirty="0">
                    <a:latin typeface="+mj-ea"/>
                    <a:ea typeface="+mj-ea"/>
                    <a:cs typeface="+mn-ea"/>
                    <a:sym typeface="+mn-ea"/>
                  </a:rPr>
                  <a:t>无记忆性</a:t>
                </a:r>
                <a:r>
                  <a:rPr lang="en-US" altLang="zh-CN" sz="2800" b="1" dirty="0">
                    <a:latin typeface="+mn-ea"/>
                    <a:ea typeface="+mn-ea"/>
                    <a:cs typeface="+mn-ea"/>
                    <a:sym typeface="+mn-ea"/>
                  </a:rPr>
                  <a:t>.</a:t>
                </a:r>
                <a:endParaRPr lang="en-US" altLang="zh-CN" sz="2800" b="1" dirty="0">
                  <a:latin typeface="+mn-ea"/>
                  <a:ea typeface="+mn-ea"/>
                  <a:cs typeface="+mn-ea"/>
                  <a:sym typeface="+mn-ea"/>
                </a:endParaRPr>
              </a:p>
            </p:txBody>
          </p:sp>
        </p:grp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8" name="Rectangles 5167"/>
          <p:cNvSpPr/>
          <p:nvPr/>
        </p:nvSpPr>
        <p:spPr>
          <a:xfrm>
            <a:off x="862013" y="476925"/>
            <a:ext cx="222250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正态分布</a:t>
            </a:r>
            <a:endParaRPr lang="en-US" altLang="zh-CN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5172" name="Picture 51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784" y="4194361"/>
            <a:ext cx="3888432" cy="23538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45468" y="1137032"/>
            <a:ext cx="7782540" cy="2763550"/>
            <a:chOff x="645468" y="1112902"/>
            <a:chExt cx="7782540" cy="2763550"/>
          </a:xfrm>
        </p:grpSpPr>
        <p:graphicFrame>
          <p:nvGraphicFramePr>
            <p:cNvPr id="5167" name="Object 5166"/>
            <p:cNvGraphicFramePr/>
            <p:nvPr/>
          </p:nvGraphicFramePr>
          <p:xfrm>
            <a:off x="914400" y="1196752"/>
            <a:ext cx="7513608" cy="267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2" name="" r:id="rId2" imgW="7353300" imgH="2679700" progId="Equation.3">
                    <p:embed/>
                  </p:oleObj>
                </mc:Choice>
                <mc:Fallback>
                  <p:oleObj name="" r:id="rId2" imgW="7353300" imgH="2679700" progId="Equation.3">
                    <p:embed/>
                    <p:pic>
                      <p:nvPicPr>
                        <p:cNvPr id="0" name="Object 516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914400" y="1196752"/>
                          <a:ext cx="7513608" cy="26797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 useBgFill="1">
          <p:nvSpPr>
            <p:cNvPr id="6" name="Text Box 34"/>
            <p:cNvSpPr txBox="1"/>
            <p:nvPr/>
          </p:nvSpPr>
          <p:spPr>
            <a:xfrm>
              <a:off x="645468" y="1112902"/>
              <a:ext cx="1224136" cy="553998"/>
            </a:xfrm>
            <a:prstGeom prst="rect">
              <a:avLst/>
            </a:prstGeom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30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定义</a:t>
              </a:r>
              <a:endParaRPr lang="zh-CN" altLang="en-US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cxnSp>
        <p:nvCxnSpPr>
          <p:cNvPr id="8" name="Straight Connector 7"/>
          <p:cNvCxnSpPr/>
          <p:nvPr/>
        </p:nvCxnSpPr>
        <p:spPr bwMode="auto">
          <a:xfrm>
            <a:off x="3301256" y="1868954"/>
            <a:ext cx="0" cy="36004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s 6145"/>
          <p:cNvSpPr/>
          <p:nvPr/>
        </p:nvSpPr>
        <p:spPr>
          <a:xfrm>
            <a:off x="827088" y="486410"/>
            <a:ext cx="483044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正态分布密度函数的图像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特点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211" name="Object 6210"/>
          <p:cNvGraphicFramePr/>
          <p:nvPr/>
        </p:nvGraphicFramePr>
        <p:xfrm>
          <a:off x="914400" y="4344670"/>
          <a:ext cx="3683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" r:id="rId1" imgW="3681095" imgH="431800" progId="Equation.3">
                  <p:embed/>
                </p:oleObj>
              </mc:Choice>
              <mc:Fallback>
                <p:oleObj name="" r:id="rId1" imgW="3681095" imgH="431800" progId="Equation.3">
                  <p:embed/>
                  <p:pic>
                    <p:nvPicPr>
                      <p:cNvPr id="0" name="Object 62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4344670"/>
                        <a:ext cx="3683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12" name="Object 6211"/>
          <p:cNvGraphicFramePr/>
          <p:nvPr/>
        </p:nvGraphicFramePr>
        <p:xfrm>
          <a:off x="914400" y="4688036"/>
          <a:ext cx="5740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" r:id="rId3" imgW="5737860" imgH="850265" progId="Equation.3">
                  <p:embed/>
                </p:oleObj>
              </mc:Choice>
              <mc:Fallback>
                <p:oleObj name="" r:id="rId3" imgW="5737860" imgH="850265" progId="Equation.3">
                  <p:embed/>
                  <p:pic>
                    <p:nvPicPr>
                      <p:cNvPr id="0" name="Object 62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4688036"/>
                        <a:ext cx="57404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13" name="Object 6212"/>
          <p:cNvGraphicFramePr/>
          <p:nvPr/>
        </p:nvGraphicFramePr>
        <p:xfrm>
          <a:off x="914400" y="5478611"/>
          <a:ext cx="4254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" r:id="rId5" imgW="4252595" imgH="431800" progId="Equation.3">
                  <p:embed/>
                </p:oleObj>
              </mc:Choice>
              <mc:Fallback>
                <p:oleObj name="" r:id="rId5" imgW="4252595" imgH="431800" progId="Equation.3">
                  <p:embed/>
                  <p:pic>
                    <p:nvPicPr>
                      <p:cNvPr id="0" name="Object 62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5478611"/>
                        <a:ext cx="42545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215" name="Picture 62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1984" y="1198245"/>
            <a:ext cx="4534272" cy="28511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6216" name="Object 6215"/>
          <p:cNvGraphicFramePr/>
          <p:nvPr/>
        </p:nvGraphicFramePr>
        <p:xfrm>
          <a:off x="914400" y="6040586"/>
          <a:ext cx="47861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" r:id="rId8" imgW="4671695" imgH="431800" progId="Equation.3">
                  <p:embed/>
                </p:oleObj>
              </mc:Choice>
              <mc:Fallback>
                <p:oleObj name="" r:id="rId8" imgW="4671695" imgH="431800" progId="Equation.3">
                  <p:embed/>
                  <p:pic>
                    <p:nvPicPr>
                      <p:cNvPr id="0" name="Object 621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14400" y="6040586"/>
                        <a:ext cx="4786138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80" name="Object 57379"/>
          <p:cNvGraphicFramePr/>
          <p:nvPr/>
        </p:nvGraphicFramePr>
        <p:xfrm>
          <a:off x="965820" y="1120021"/>
          <a:ext cx="46863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" r:id="rId1" imgW="4686300" imgH="1536700" progId="Equation.3">
                  <p:embed/>
                </p:oleObj>
              </mc:Choice>
              <mc:Fallback>
                <p:oleObj name="" r:id="rId1" imgW="4686300" imgH="1536700" progId="Equation.3">
                  <p:embed/>
                  <p:pic>
                    <p:nvPicPr>
                      <p:cNvPr id="0" name="Object 573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65820" y="1120021"/>
                        <a:ext cx="4686300" cy="1536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82" name="Object 57381"/>
          <p:cNvGraphicFramePr/>
          <p:nvPr/>
        </p:nvGraphicFramePr>
        <p:xfrm>
          <a:off x="965820" y="543858"/>
          <a:ext cx="401764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" r:id="rId3" imgW="3833495" imgH="444500" progId="Equation.3">
                  <p:embed/>
                </p:oleObj>
              </mc:Choice>
              <mc:Fallback>
                <p:oleObj name="" r:id="rId3" imgW="3833495" imgH="444500" progId="Equation.3">
                  <p:embed/>
                  <p:pic>
                    <p:nvPicPr>
                      <p:cNvPr id="0" name="Object 573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5820" y="543858"/>
                        <a:ext cx="401764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7383" name="Picture 573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82" y="2997458"/>
            <a:ext cx="3548509" cy="28057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384" name="Picture 5738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7804" y="2997458"/>
            <a:ext cx="4190777" cy="2808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72" name="Object 92171"/>
          <p:cNvGraphicFramePr/>
          <p:nvPr/>
        </p:nvGraphicFramePr>
        <p:xfrm>
          <a:off x="973906" y="532274"/>
          <a:ext cx="76835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" r:id="rId1" imgW="7683500" imgH="1485900" progId="Equation.3">
                  <p:embed/>
                </p:oleObj>
              </mc:Choice>
              <mc:Fallback>
                <p:oleObj name="" r:id="rId1" imgW="7683500" imgH="1485900" progId="Equation.3">
                  <p:embed/>
                  <p:pic>
                    <p:nvPicPr>
                      <p:cNvPr id="0" name="Object 9217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3906" y="532274"/>
                        <a:ext cx="7683500" cy="148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180" name="Picture 921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2510949"/>
            <a:ext cx="4752528" cy="32940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8433"/>
          <p:cNvSpPr txBox="1"/>
          <p:nvPr/>
        </p:nvSpPr>
        <p:spPr>
          <a:xfrm>
            <a:off x="827088" y="476885"/>
            <a:ext cx="3505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正态分布的分布函数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8435" name="Object 18434"/>
          <p:cNvGraphicFramePr/>
          <p:nvPr/>
        </p:nvGraphicFramePr>
        <p:xfrm>
          <a:off x="2673350" y="1204878"/>
          <a:ext cx="37973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" r:id="rId1" imgW="3795395" imgH="1002665" progId="Equation.3">
                  <p:embed/>
                </p:oleObj>
              </mc:Choice>
              <mc:Fallback>
                <p:oleObj name="" r:id="rId1" imgW="3795395" imgH="1002665" progId="Equation.3">
                  <p:embed/>
                  <p:pic>
                    <p:nvPicPr>
                      <p:cNvPr id="0" name="Object 1843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73350" y="1204878"/>
                        <a:ext cx="37973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80" name="Picture 184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2709763"/>
            <a:ext cx="4867448" cy="3311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5373613" y="1417727"/>
            <a:ext cx="0" cy="36004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s 74753"/>
          <p:cNvSpPr/>
          <p:nvPr/>
        </p:nvSpPr>
        <p:spPr>
          <a:xfrm>
            <a:off x="850900" y="1029335"/>
            <a:ext cx="8075295" cy="22872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en-US" altLang="zh-CN" sz="2800" b="1" dirty="0">
                <a:solidFill>
                  <a:srgbClr val="66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正态分布是</a:t>
            </a:r>
            <a:r>
              <a:rPr lang="zh-CN" altLang="en-US" sz="2800" b="1" dirty="0"/>
              <a:t>非常常见和重要的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一种分布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例如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测量误差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人的身高、体重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正常情况下生产</a:t>
            </a:r>
            <a:r>
              <a:rPr lang="zh-CN" altLang="en-US" sz="2800" b="1" dirty="0"/>
              <a:t>的产品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尺寸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直径、长度、重</a:t>
            </a:r>
            <a:r>
              <a:rPr lang="zh-CN" altLang="en-US" sz="2800" b="1" dirty="0"/>
              <a:t>量、高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度等都近似服从正态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分布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760" name="Rectangles 74759"/>
          <p:cNvSpPr/>
          <p:nvPr/>
        </p:nvSpPr>
        <p:spPr>
          <a:xfrm>
            <a:off x="827088" y="472123"/>
            <a:ext cx="384683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正态分布的应用与背景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4768" name="Picture 74767" descr="称体重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7793" y="3602673"/>
            <a:ext cx="873125" cy="2209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4771" name="Picture 74770" descr="量身高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3526473"/>
            <a:ext cx="960438" cy="2286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4780" name="Group 74779"/>
          <p:cNvGrpSpPr/>
          <p:nvPr/>
        </p:nvGrpSpPr>
        <p:grpSpPr>
          <a:xfrm>
            <a:off x="6276553" y="3678873"/>
            <a:ext cx="1295400" cy="2133600"/>
            <a:chOff x="3264" y="2496"/>
            <a:chExt cx="816" cy="1344"/>
          </a:xfrm>
        </p:grpSpPr>
        <p:pic>
          <p:nvPicPr>
            <p:cNvPr id="74774" name="Picture 74773" descr="BD07686_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" y="2496"/>
              <a:ext cx="816" cy="134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4779" name="Picture 74778" descr="WB01740_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4" y="2928"/>
              <a:ext cx="384" cy="38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9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s 113665"/>
          <p:cNvSpPr/>
          <p:nvPr/>
        </p:nvSpPr>
        <p:spPr>
          <a:xfrm>
            <a:off x="827088" y="480378"/>
            <a:ext cx="268541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正态分布的计算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13667" name="Object 113666"/>
          <p:cNvGraphicFramePr/>
          <p:nvPr/>
        </p:nvGraphicFramePr>
        <p:xfrm>
          <a:off x="2413050" y="1271588"/>
          <a:ext cx="40894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" r:id="rId1" imgW="4087495" imgH="1002665" progId="Equation.3">
                  <p:embed/>
                </p:oleObj>
              </mc:Choice>
              <mc:Fallback>
                <p:oleObj name="" r:id="rId1" imgW="4087495" imgH="1002665" progId="Equation.3">
                  <p:embed/>
                  <p:pic>
                    <p:nvPicPr>
                      <p:cNvPr id="0" name="Object 11366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13050" y="1271588"/>
                        <a:ext cx="40894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8" name="Object 113667"/>
          <p:cNvGraphicFramePr/>
          <p:nvPr/>
        </p:nvGraphicFramePr>
        <p:xfrm>
          <a:off x="895400" y="1677988"/>
          <a:ext cx="1460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" r:id="rId3" imgW="1459865" imgH="381000" progId="Equation.3">
                  <p:embed/>
                </p:oleObj>
              </mc:Choice>
              <mc:Fallback>
                <p:oleObj name="" r:id="rId3" imgW="1459865" imgH="381000" progId="Equation.3">
                  <p:embed/>
                  <p:pic>
                    <p:nvPicPr>
                      <p:cNvPr id="0" name="Object 11366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5400" y="1677988"/>
                        <a:ext cx="14605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9" name="Object 113668"/>
          <p:cNvGraphicFramePr/>
          <p:nvPr/>
        </p:nvGraphicFramePr>
        <p:xfrm>
          <a:off x="3550950" y="2636838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" r:id="rId5" imgW="481965" imgH="317500" progId="Equation.3">
                  <p:embed/>
                </p:oleObj>
              </mc:Choice>
              <mc:Fallback>
                <p:oleObj name="" r:id="rId5" imgW="481965" imgH="317500" progId="Equation.3">
                  <p:embed/>
                  <p:pic>
                    <p:nvPicPr>
                      <p:cNvPr id="0" name="Object 11366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50950" y="2636838"/>
                        <a:ext cx="4826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0" name="Rectangles 113669"/>
          <p:cNvSpPr/>
          <p:nvPr/>
        </p:nvSpPr>
        <p:spPr>
          <a:xfrm>
            <a:off x="4735660" y="1280214"/>
            <a:ext cx="1766790" cy="9334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3671" name="Text Box 113670"/>
          <p:cNvSpPr txBox="1"/>
          <p:nvPr/>
        </p:nvSpPr>
        <p:spPr>
          <a:xfrm>
            <a:off x="7045662" y="1339702"/>
            <a:ext cx="1970405" cy="9531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原函数不是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初等函数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!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 flipV="1">
            <a:off x="6630118" y="1835132"/>
            <a:ext cx="432048" cy="63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</p:spPr>
      </p:cxnSp>
      <p:sp>
        <p:nvSpPr>
          <p:cNvPr id="14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5408542" y="1540272"/>
            <a:ext cx="0" cy="36004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3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72" name="Object 58371"/>
          <p:cNvGraphicFramePr/>
          <p:nvPr/>
        </p:nvGraphicFramePr>
        <p:xfrm>
          <a:off x="954405" y="1332865"/>
          <a:ext cx="73247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" r:id="rId1" imgW="7667625" imgH="1002665" progId="Equation.3">
                  <p:embed/>
                </p:oleObj>
              </mc:Choice>
              <mc:Fallback>
                <p:oleObj name="" r:id="rId1" imgW="7667625" imgH="1002665" progId="Equation.3">
                  <p:embed/>
                  <p:pic>
                    <p:nvPicPr>
                      <p:cNvPr id="0" name="Object 5837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54405" y="1332865"/>
                        <a:ext cx="7324725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5" name="Rectangles 58374"/>
          <p:cNvSpPr/>
          <p:nvPr/>
        </p:nvSpPr>
        <p:spPr>
          <a:xfrm>
            <a:off x="1540054" y="2548890"/>
            <a:ext cx="5701665" cy="5067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700" b="1" dirty="0">
                <a:latin typeface="+mj-ea"/>
                <a:ea typeface="+mj-ea"/>
              </a:rPr>
              <a:t>标准正态分布的概率密度函数记为</a:t>
            </a:r>
            <a:r>
              <a:rPr lang="en-US" altLang="zh-CN" sz="2700" b="1" dirty="0">
                <a:latin typeface="+mj-ea"/>
                <a:ea typeface="+mj-ea"/>
              </a:rPr>
              <a:t>: </a:t>
            </a:r>
            <a:endParaRPr lang="en-US" altLang="zh-CN" sz="2700" b="1" dirty="0">
              <a:latin typeface="+mj-ea"/>
              <a:ea typeface="+mj-ea"/>
            </a:endParaRPr>
          </a:p>
        </p:txBody>
      </p:sp>
      <p:graphicFrame>
        <p:nvGraphicFramePr>
          <p:cNvPr id="58376" name="Object 58375"/>
          <p:cNvGraphicFramePr/>
          <p:nvPr/>
        </p:nvGraphicFramePr>
        <p:xfrm>
          <a:off x="2317591" y="3141345"/>
          <a:ext cx="4711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" r:id="rId3" imgW="4711700" imgH="977900" progId="Equation.3">
                  <p:embed/>
                </p:oleObj>
              </mc:Choice>
              <mc:Fallback>
                <p:oleObj name="" r:id="rId3" imgW="4711700" imgH="977900" progId="Equation.3">
                  <p:embed/>
                  <p:pic>
                    <p:nvPicPr>
                      <p:cNvPr id="0" name="Object 583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17591" y="3141345"/>
                        <a:ext cx="47117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7" name="Rectangles 58376"/>
          <p:cNvSpPr/>
          <p:nvPr/>
        </p:nvSpPr>
        <p:spPr>
          <a:xfrm>
            <a:off x="844997" y="489585"/>
            <a:ext cx="263271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标准正态分布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8379" name="Rectangles 58378"/>
          <p:cNvSpPr/>
          <p:nvPr/>
        </p:nvSpPr>
        <p:spPr>
          <a:xfrm>
            <a:off x="1540054" y="4437380"/>
            <a:ext cx="5012055" cy="5067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700" b="1" dirty="0">
                <a:latin typeface="+mj-ea"/>
                <a:ea typeface="+mj-ea"/>
              </a:rPr>
              <a:t>标准正态分布的分布函数记为</a:t>
            </a:r>
            <a:r>
              <a:rPr lang="en-US" altLang="zh-CN" sz="2700" b="1" dirty="0">
                <a:latin typeface="+mj-ea"/>
                <a:ea typeface="+mj-ea"/>
              </a:rPr>
              <a:t>: </a:t>
            </a:r>
            <a:endParaRPr lang="en-US" altLang="zh-CN" sz="2700" b="1" dirty="0">
              <a:latin typeface="+mj-ea"/>
              <a:ea typeface="+mj-ea"/>
            </a:endParaRP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 bwMode="auto">
          <a:xfrm>
            <a:off x="4355976" y="3467353"/>
            <a:ext cx="0" cy="36004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4" name="组合 3"/>
          <p:cNvGrpSpPr/>
          <p:nvPr/>
        </p:nvGrpSpPr>
        <p:grpSpPr>
          <a:xfrm>
            <a:off x="2242185" y="4980305"/>
            <a:ext cx="5588635" cy="977900"/>
            <a:chOff x="3531" y="7843"/>
            <a:chExt cx="8801" cy="1540"/>
          </a:xfrm>
        </p:grpSpPr>
        <p:graphicFrame>
          <p:nvGraphicFramePr>
            <p:cNvPr id="58380" name="Object 58379"/>
            <p:cNvGraphicFramePr/>
            <p:nvPr/>
          </p:nvGraphicFramePr>
          <p:xfrm>
            <a:off x="3650" y="7843"/>
            <a:ext cx="8683" cy="1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28" name="" r:id="rId5" imgW="5511800" imgH="977900" progId="Equation.3">
                    <p:embed/>
                  </p:oleObj>
                </mc:Choice>
                <mc:Fallback>
                  <p:oleObj name="" r:id="rId5" imgW="5511800" imgH="977900" progId="Equation.3">
                    <p:embed/>
                    <p:pic>
                      <p:nvPicPr>
                        <p:cNvPr id="0" name="Object 5837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50" y="7843"/>
                          <a:ext cx="8683" cy="15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" name="Straight Connector 9"/>
            <p:cNvCxnSpPr/>
            <p:nvPr/>
          </p:nvCxnSpPr>
          <p:spPr bwMode="auto">
            <a:xfrm>
              <a:off x="6973" y="8295"/>
              <a:ext cx="0" cy="567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 useBgFill="1">
          <p:nvSpPr>
            <p:cNvPr id="3" name="文本框 2"/>
            <p:cNvSpPr txBox="1"/>
            <p:nvPr/>
          </p:nvSpPr>
          <p:spPr>
            <a:xfrm>
              <a:off x="3531" y="8314"/>
              <a:ext cx="1867" cy="822"/>
            </a:xfrm>
            <a:prstGeom prst="rect">
              <a:avLst/>
            </a:prstGeom>
          </p:spPr>
          <p:txBody>
            <a:bodyPr wrap="square" rtlCol="0" anchor="t">
              <a:spAutoFit/>
            </a:bodyPr>
            <a:p>
              <a:r>
                <a:rPr lang="en-US" altLang="zh-CN" sz="2800" b="1" i="1" dirty="0">
                  <a:sym typeface="+mn-ea"/>
                </a:rPr>
                <a:t>Φ</a:t>
              </a:r>
              <a:r>
                <a:rPr lang="en-US" altLang="zh-CN" sz="2800" b="1" dirty="0">
                  <a:sym typeface="+mn-ea"/>
                </a:rPr>
                <a:t>(</a:t>
              </a:r>
              <a:r>
                <a:rPr lang="en-US" altLang="zh-CN" sz="2800" b="1" i="1" dirty="0">
                  <a:sym typeface="+mn-ea"/>
                </a:rPr>
                <a:t>x</a:t>
              </a:r>
              <a:r>
                <a:rPr lang="en-US" altLang="zh-CN" sz="2800" b="1" dirty="0">
                  <a:sym typeface="+mn-ea"/>
                </a:rPr>
                <a:t>) =</a:t>
              </a:r>
              <a:endParaRPr lang="en-US" altLang="zh-CN" sz="2800" b="1" dirty="0">
                <a:sym typeface="+mn-ea"/>
              </a:endParaRP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5" grpId="0"/>
      <p:bldP spid="5837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9" name="Rectangles 32788"/>
          <p:cNvSpPr/>
          <p:nvPr/>
        </p:nvSpPr>
        <p:spPr>
          <a:xfrm>
            <a:off x="828219" y="477431"/>
            <a:ext cx="340042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标准正态分布的</a:t>
            </a:r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图像</a:t>
            </a:r>
            <a:endParaRPr lang="zh-CN" altLang="en-US" sz="2800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pic>
        <p:nvPicPr>
          <p:cNvPr id="32814" name="Picture 328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775" y="1328068"/>
            <a:ext cx="4032449" cy="2413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15" name="Picture 328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971" y="3968563"/>
            <a:ext cx="4032057" cy="24127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32045" y="1557020"/>
            <a:ext cx="14503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i="1" dirty="0">
                <a:sym typeface="+mn-ea"/>
              </a:rPr>
              <a:t>y </a:t>
            </a:r>
            <a:r>
              <a:rPr lang="en-US" altLang="zh-CN" sz="2800" b="1" dirty="0">
                <a:sym typeface="+mn-ea"/>
              </a:rPr>
              <a:t>= </a:t>
            </a:r>
            <a:r>
              <a:rPr lang="en-US" altLang="zh-CN" sz="2800" b="1" i="1" dirty="0">
                <a:sym typeface="+mn-ea"/>
              </a:rPr>
              <a:t>φ</a:t>
            </a:r>
            <a:r>
              <a:rPr lang="en-US" altLang="zh-CN" sz="2800" b="1" dirty="0">
                <a:sym typeface="+mn-ea"/>
              </a:rPr>
              <a:t>(</a:t>
            </a:r>
            <a:r>
              <a:rPr lang="en-US" altLang="zh-CN" sz="2800" b="1" i="1" dirty="0">
                <a:sym typeface="+mn-ea"/>
              </a:rPr>
              <a:t>x</a:t>
            </a:r>
            <a:r>
              <a:rPr lang="en-US" altLang="zh-CN" sz="2800" b="1" dirty="0">
                <a:sym typeface="+mn-ea"/>
              </a:rPr>
              <a:t>)</a:t>
            </a:r>
            <a:endParaRPr lang="en-US" altLang="zh-CN" sz="28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32045" y="3992245"/>
            <a:ext cx="14503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i="1" dirty="0">
                <a:sym typeface="+mn-ea"/>
              </a:rPr>
              <a:t>y </a:t>
            </a:r>
            <a:r>
              <a:rPr lang="en-US" altLang="zh-CN" sz="2800" b="1" dirty="0">
                <a:sym typeface="+mn-ea"/>
              </a:rPr>
              <a:t>= </a:t>
            </a:r>
            <a:r>
              <a:rPr lang="en-US" altLang="zh-CN" sz="2800" b="1" i="1" dirty="0">
                <a:sym typeface="+mn-ea"/>
              </a:rPr>
              <a:t>Φ</a:t>
            </a:r>
            <a:r>
              <a:rPr lang="en-US" altLang="zh-CN" sz="2800" b="1" dirty="0">
                <a:sym typeface="+mn-ea"/>
              </a:rPr>
              <a:t>(</a:t>
            </a:r>
            <a:r>
              <a:rPr lang="en-US" altLang="zh-CN" sz="2800" b="1" i="1" dirty="0">
                <a:sym typeface="+mn-ea"/>
              </a:rPr>
              <a:t>x</a:t>
            </a:r>
            <a:r>
              <a:rPr lang="en-US" altLang="zh-CN" sz="2800" b="1" dirty="0">
                <a:sym typeface="+mn-ea"/>
              </a:rPr>
              <a:t>)</a:t>
            </a:r>
            <a:endParaRPr lang="en-US" altLang="zh-CN" sz="2800" b="1" dirty="0">
              <a:sym typeface="+mn-ea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34" name="Object 120833"/>
          <p:cNvGraphicFramePr/>
          <p:nvPr/>
        </p:nvGraphicFramePr>
        <p:xfrm>
          <a:off x="1035547" y="768896"/>
          <a:ext cx="634476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" r:id="rId1" imgW="6283960" imgH="431800" progId="Equation.3">
                  <p:embed/>
                </p:oleObj>
              </mc:Choice>
              <mc:Fallback>
                <p:oleObj name="" r:id="rId1" imgW="6283960" imgH="431800" progId="Equation.3">
                  <p:embed/>
                  <p:pic>
                    <p:nvPicPr>
                      <p:cNvPr id="0" name="Object 12083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35547" y="768896"/>
                        <a:ext cx="6344765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5" name="Text Box 120834"/>
          <p:cNvSpPr txBox="1"/>
          <p:nvPr/>
        </p:nvSpPr>
        <p:spPr>
          <a:xfrm>
            <a:off x="844836" y="1658374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20836" name="Object 120835"/>
          <p:cNvGraphicFramePr/>
          <p:nvPr/>
        </p:nvGraphicFramePr>
        <p:xfrm>
          <a:off x="1820888" y="1761084"/>
          <a:ext cx="2217738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" r:id="rId3" imgW="2399030" imgH="381000" progId="Equation.3">
                  <p:embed/>
                </p:oleObj>
              </mc:Choice>
              <mc:Fallback>
                <p:oleObj name="" r:id="rId3" imgW="2399030" imgH="381000" progId="Equation.3">
                  <p:embed/>
                  <p:pic>
                    <p:nvPicPr>
                      <p:cNvPr id="0" name="Object 1208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0888" y="1761084"/>
                        <a:ext cx="2217738" cy="379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7" name="Object 120836"/>
          <p:cNvGraphicFramePr/>
          <p:nvPr/>
        </p:nvGraphicFramePr>
        <p:xfrm>
          <a:off x="4067201" y="1761084"/>
          <a:ext cx="23336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" name="" r:id="rId5" imgW="2526030" imgH="393700" progId="Equation.3">
                  <p:embed/>
                </p:oleObj>
              </mc:Choice>
              <mc:Fallback>
                <p:oleObj name="" r:id="rId5" imgW="2526030" imgH="393700" progId="Equation.3">
                  <p:embed/>
                  <p:pic>
                    <p:nvPicPr>
                      <p:cNvPr id="0" name="Object 12083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67201" y="1761084"/>
                        <a:ext cx="2333625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8" name="Object 120837"/>
          <p:cNvGraphicFramePr/>
          <p:nvPr/>
        </p:nvGraphicFramePr>
        <p:xfrm>
          <a:off x="4063073" y="2674690"/>
          <a:ext cx="241617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3" name="" r:id="rId7" imgW="2613660" imgH="317500" progId="Equation.3">
                  <p:embed/>
                </p:oleObj>
              </mc:Choice>
              <mc:Fallback>
                <p:oleObj name="" r:id="rId7" imgW="2613660" imgH="317500" progId="Equation.3">
                  <p:embed/>
                  <p:pic>
                    <p:nvPicPr>
                      <p:cNvPr id="0" name="Object 12083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63073" y="2674690"/>
                        <a:ext cx="2416175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9" name="Rectangles 120838"/>
          <p:cNvSpPr/>
          <p:nvPr/>
        </p:nvSpPr>
        <p:spPr>
          <a:xfrm>
            <a:off x="827584" y="700844"/>
            <a:ext cx="88582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0840" name="Object 120839"/>
          <p:cNvGraphicFramePr/>
          <p:nvPr/>
        </p:nvGraphicFramePr>
        <p:xfrm>
          <a:off x="4063073" y="3513684"/>
          <a:ext cx="14192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" r:id="rId9" imgW="1535430" imgH="317500" progId="Equation.3">
                  <p:embed/>
                </p:oleObj>
              </mc:Choice>
              <mc:Fallback>
                <p:oleObj name="" r:id="rId9" imgW="1535430" imgH="317500" progId="Equation.3">
                  <p:embed/>
                  <p:pic>
                    <p:nvPicPr>
                      <p:cNvPr id="0" name="Object 12083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63073" y="3513684"/>
                        <a:ext cx="1419225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0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401" name="Object 59400"/>
          <p:cNvGraphicFramePr/>
          <p:nvPr/>
        </p:nvGraphicFramePr>
        <p:xfrm>
          <a:off x="914400" y="548680"/>
          <a:ext cx="718599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" r:id="rId1" imgW="6934200" imgH="838200" progId="Equation.3">
                  <p:embed/>
                </p:oleObj>
              </mc:Choice>
              <mc:Fallback>
                <p:oleObj name="" r:id="rId1" imgW="6934200" imgH="838200" progId="Equation.3">
                  <p:embed/>
                  <p:pic>
                    <p:nvPicPr>
                      <p:cNvPr id="0" name="Object 5940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14400" y="548680"/>
                        <a:ext cx="7185992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2" name="Rectangles 59401"/>
          <p:cNvSpPr/>
          <p:nvPr/>
        </p:nvSpPr>
        <p:spPr>
          <a:xfrm>
            <a:off x="820049" y="1575842"/>
            <a:ext cx="8978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证明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59403" name="Object 59402"/>
          <p:cNvGraphicFramePr/>
          <p:nvPr/>
        </p:nvGraphicFramePr>
        <p:xfrm>
          <a:off x="1997075" y="1451992"/>
          <a:ext cx="3721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" r:id="rId3" imgW="3721100" imgH="838200" progId="Equation.3">
                  <p:embed/>
                </p:oleObj>
              </mc:Choice>
              <mc:Fallback>
                <p:oleObj name="" r:id="rId3" imgW="3721100" imgH="838200" progId="Equation.3">
                  <p:embed/>
                  <p:pic>
                    <p:nvPicPr>
                      <p:cNvPr id="0" name="Object 594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97075" y="1451992"/>
                        <a:ext cx="37211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4" name="Object 59403"/>
          <p:cNvGraphicFramePr/>
          <p:nvPr/>
        </p:nvGraphicFramePr>
        <p:xfrm>
          <a:off x="914400" y="2684512"/>
          <a:ext cx="142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" r:id="rId5" imgW="1421765" imgH="381000" progId="Equation.3">
                  <p:embed/>
                </p:oleObj>
              </mc:Choice>
              <mc:Fallback>
                <p:oleObj name="" r:id="rId5" imgW="1421765" imgH="381000" progId="Equation.3">
                  <p:embed/>
                  <p:pic>
                    <p:nvPicPr>
                      <p:cNvPr id="0" name="Object 594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2684512"/>
                        <a:ext cx="14224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5" name="Object 59404"/>
          <p:cNvGraphicFramePr/>
          <p:nvPr/>
        </p:nvGraphicFramePr>
        <p:xfrm>
          <a:off x="2374354" y="2420888"/>
          <a:ext cx="2451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" r:id="rId7" imgW="2449830" imgH="901065" progId="Equation.3">
                  <p:embed/>
                </p:oleObj>
              </mc:Choice>
              <mc:Fallback>
                <p:oleObj name="" r:id="rId7" imgW="2449830" imgH="901065" progId="Equation.3">
                  <p:embed/>
                  <p:pic>
                    <p:nvPicPr>
                      <p:cNvPr id="0" name="Object 5940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74354" y="2420888"/>
                        <a:ext cx="24511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6" name="Object 59405"/>
          <p:cNvGraphicFramePr/>
          <p:nvPr/>
        </p:nvGraphicFramePr>
        <p:xfrm>
          <a:off x="4931370" y="2687687"/>
          <a:ext cx="2501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" r:id="rId9" imgW="2500630" imgH="393700" progId="Equation.3">
                  <p:embed/>
                </p:oleObj>
              </mc:Choice>
              <mc:Fallback>
                <p:oleObj name="" r:id="rId9" imgW="2500630" imgH="393700" progId="Equation.3">
                  <p:embed/>
                  <p:pic>
                    <p:nvPicPr>
                      <p:cNvPr id="0" name="Object 5940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31370" y="2687687"/>
                        <a:ext cx="25019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7" name="Object 59406"/>
          <p:cNvGraphicFramePr/>
          <p:nvPr/>
        </p:nvGraphicFramePr>
        <p:xfrm>
          <a:off x="2368550" y="3386187"/>
          <a:ext cx="34163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" r:id="rId11" imgW="3415030" imgH="1002665" progId="Equation.3">
                  <p:embed/>
                </p:oleObj>
              </mc:Choice>
              <mc:Fallback>
                <p:oleObj name="" r:id="rId11" imgW="3415030" imgH="1002665" progId="Equation.3">
                  <p:embed/>
                  <p:pic>
                    <p:nvPicPr>
                      <p:cNvPr id="0" name="Object 5940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68550" y="3386187"/>
                        <a:ext cx="34163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8" name="Object 59407"/>
          <p:cNvGraphicFramePr/>
          <p:nvPr/>
        </p:nvGraphicFramePr>
        <p:xfrm>
          <a:off x="914400" y="4607024"/>
          <a:ext cx="2171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" r:id="rId13" imgW="2171700" imgH="838200" progId="Equation.3">
                  <p:embed/>
                </p:oleObj>
              </mc:Choice>
              <mc:Fallback>
                <p:oleObj name="" r:id="rId13" imgW="2171700" imgH="838200" progId="Equation.3">
                  <p:embed/>
                  <p:pic>
                    <p:nvPicPr>
                      <p:cNvPr id="0" name="Object 5940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14400" y="4607024"/>
                        <a:ext cx="21717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9" name="Object 59408"/>
          <p:cNvGraphicFramePr/>
          <p:nvPr/>
        </p:nvGraphicFramePr>
        <p:xfrm>
          <a:off x="3352800" y="4835624"/>
          <a:ext cx="142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name="" r:id="rId15" imgW="1421765" imgH="381000" progId="Equation.3">
                  <p:embed/>
                </p:oleObj>
              </mc:Choice>
              <mc:Fallback>
                <p:oleObj name="" r:id="rId15" imgW="1421765" imgH="381000" progId="Equation.3">
                  <p:embed/>
                  <p:pic>
                    <p:nvPicPr>
                      <p:cNvPr id="0" name="Object 5940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52800" y="4835624"/>
                        <a:ext cx="14224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0" name="Object 59409"/>
          <p:cNvGraphicFramePr/>
          <p:nvPr/>
        </p:nvGraphicFramePr>
        <p:xfrm>
          <a:off x="4806950" y="4454624"/>
          <a:ext cx="2425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2" name="" r:id="rId17" imgW="2425700" imgH="977900" progId="Equation.3">
                  <p:embed/>
                </p:oleObj>
              </mc:Choice>
              <mc:Fallback>
                <p:oleObj name="" r:id="rId17" imgW="2425700" imgH="977900" progId="Equation.3">
                  <p:embed/>
                  <p:pic>
                    <p:nvPicPr>
                      <p:cNvPr id="0" name="Object 5940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06950" y="4454624"/>
                        <a:ext cx="24257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1" name="Object 59410"/>
          <p:cNvGraphicFramePr/>
          <p:nvPr/>
        </p:nvGraphicFramePr>
        <p:xfrm>
          <a:off x="7308850" y="4822924"/>
          <a:ext cx="1181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3" name="" r:id="rId19" imgW="1180465" imgH="393700" progId="Equation.3">
                  <p:embed/>
                </p:oleObj>
              </mc:Choice>
              <mc:Fallback>
                <p:oleObj name="" r:id="rId19" imgW="1180465" imgH="393700" progId="Equation.3">
                  <p:embed/>
                  <p:pic>
                    <p:nvPicPr>
                      <p:cNvPr id="0" name="Object 5941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308850" y="4822924"/>
                        <a:ext cx="1181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2" name="Object 59411"/>
          <p:cNvGraphicFramePr/>
          <p:nvPr/>
        </p:nvGraphicFramePr>
        <p:xfrm>
          <a:off x="914400" y="5543128"/>
          <a:ext cx="3733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4" name="" r:id="rId21" imgW="3733800" imgH="838200" progId="Equation.3">
                  <p:embed/>
                </p:oleObj>
              </mc:Choice>
              <mc:Fallback>
                <p:oleObj name="" r:id="rId21" imgW="3733800" imgH="838200" progId="Equation.3">
                  <p:embed/>
                  <p:pic>
                    <p:nvPicPr>
                      <p:cNvPr id="0" name="Object 5941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14400" y="5543128"/>
                        <a:ext cx="37338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9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0" name="Text Box 60429"/>
          <p:cNvSpPr txBox="1"/>
          <p:nvPr/>
        </p:nvSpPr>
        <p:spPr>
          <a:xfrm>
            <a:off x="838200" y="1604541"/>
            <a:ext cx="5403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0431" name="Object 60430"/>
          <p:cNvGraphicFramePr/>
          <p:nvPr/>
        </p:nvGraphicFramePr>
        <p:xfrm>
          <a:off x="3890963" y="1321916"/>
          <a:ext cx="3271837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" r:id="rId1" imgW="3110230" imgH="1002665" progId="Equation.3">
                  <p:embed/>
                </p:oleObj>
              </mc:Choice>
              <mc:Fallback>
                <p:oleObj name="" r:id="rId1" imgW="3110230" imgH="1002665" progId="Equation.3">
                  <p:embed/>
                  <p:pic>
                    <p:nvPicPr>
                      <p:cNvPr id="0" name="Object 6043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90963" y="1321916"/>
                        <a:ext cx="3271837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2" name="Object 60431"/>
          <p:cNvGraphicFramePr/>
          <p:nvPr/>
        </p:nvGraphicFramePr>
        <p:xfrm>
          <a:off x="914400" y="2922116"/>
          <a:ext cx="1955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" r:id="rId3" imgW="1955800" imgH="838200" progId="Equation.3">
                  <p:embed/>
                </p:oleObj>
              </mc:Choice>
              <mc:Fallback>
                <p:oleObj name="" r:id="rId3" imgW="1955800" imgH="838200" progId="Equation.3">
                  <p:embed/>
                  <p:pic>
                    <p:nvPicPr>
                      <p:cNvPr id="0" name="Object 6043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2922116"/>
                        <a:ext cx="19558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3" name="Object 60432"/>
          <p:cNvGraphicFramePr/>
          <p:nvPr/>
        </p:nvGraphicFramePr>
        <p:xfrm>
          <a:off x="3890963" y="2769716"/>
          <a:ext cx="3840162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" r:id="rId5" imgW="3251200" imgH="1079500" progId="Equation.3">
                  <p:embed/>
                </p:oleObj>
              </mc:Choice>
              <mc:Fallback>
                <p:oleObj name="" r:id="rId5" imgW="3251200" imgH="1079500" progId="Equation.3">
                  <p:embed/>
                  <p:pic>
                    <p:nvPicPr>
                      <p:cNvPr id="0" name="Object 6043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90963" y="2769716"/>
                        <a:ext cx="3840162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4" name="Object 60433"/>
          <p:cNvGraphicFramePr/>
          <p:nvPr/>
        </p:nvGraphicFramePr>
        <p:xfrm>
          <a:off x="1816100" y="1728316"/>
          <a:ext cx="19939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" r:id="rId7" imgW="1993265" imgH="381000" progId="Equation.3">
                  <p:embed/>
                </p:oleObj>
              </mc:Choice>
              <mc:Fallback>
                <p:oleObj name="" r:id="rId7" imgW="1993265" imgH="381000" progId="Equation.3">
                  <p:embed/>
                  <p:pic>
                    <p:nvPicPr>
                      <p:cNvPr id="0" name="Object 6043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16100" y="1728316"/>
                        <a:ext cx="1993900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6" name="Object 60435"/>
          <p:cNvGraphicFramePr/>
          <p:nvPr/>
        </p:nvGraphicFramePr>
        <p:xfrm>
          <a:off x="3890963" y="4293716"/>
          <a:ext cx="333216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" r:id="rId9" imgW="2819400" imgH="1079500" progId="Equation.3">
                  <p:embed/>
                </p:oleObj>
              </mc:Choice>
              <mc:Fallback>
                <p:oleObj name="" r:id="rId9" imgW="2819400" imgH="1079500" progId="Equation.3">
                  <p:embed/>
                  <p:pic>
                    <p:nvPicPr>
                      <p:cNvPr id="0" name="Object 6043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90963" y="4293716"/>
                        <a:ext cx="3332163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0" name="Object 60439"/>
          <p:cNvGraphicFramePr/>
          <p:nvPr/>
        </p:nvGraphicFramePr>
        <p:xfrm>
          <a:off x="1049338" y="741908"/>
          <a:ext cx="640298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" r:id="rId11" imgW="6197600" imgH="469900" progId="Equation.3">
                  <p:embed/>
                </p:oleObj>
              </mc:Choice>
              <mc:Fallback>
                <p:oleObj name="" r:id="rId11" imgW="6197600" imgH="469900" progId="Equation.3">
                  <p:embed/>
                  <p:pic>
                    <p:nvPicPr>
                      <p:cNvPr id="0" name="Object 6043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49338" y="741908"/>
                        <a:ext cx="6402982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41" name="Rectangles 60440"/>
          <p:cNvSpPr/>
          <p:nvPr/>
        </p:nvSpPr>
        <p:spPr>
          <a:xfrm>
            <a:off x="838200" y="692696"/>
            <a:ext cx="79692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96" name="Object 16395"/>
          <p:cNvGraphicFramePr/>
          <p:nvPr/>
        </p:nvGraphicFramePr>
        <p:xfrm>
          <a:off x="2087066" y="1954188"/>
          <a:ext cx="17780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" r:id="rId1" imgW="1777365" imgH="901065" progId="Equation.3">
                  <p:embed/>
                </p:oleObj>
              </mc:Choice>
              <mc:Fallback>
                <p:oleObj name="" r:id="rId1" imgW="1777365" imgH="901065" progId="Equation.3">
                  <p:embed/>
                  <p:pic>
                    <p:nvPicPr>
                      <p:cNvPr id="0" name="Object 163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87066" y="1954188"/>
                        <a:ext cx="1778000" cy="830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8" name="Object 16397"/>
          <p:cNvGraphicFramePr/>
          <p:nvPr/>
        </p:nvGraphicFramePr>
        <p:xfrm>
          <a:off x="2090241" y="620688"/>
          <a:ext cx="312896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" r:id="rId3" imgW="2819400" imgH="977900" progId="Equation.3">
                  <p:embed/>
                </p:oleObj>
              </mc:Choice>
              <mc:Fallback>
                <p:oleObj name="" r:id="rId3" imgW="2819400" imgH="977900" progId="Equation.3">
                  <p:embed/>
                  <p:pic>
                    <p:nvPicPr>
                      <p:cNvPr id="0" name="Object 163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90241" y="620688"/>
                        <a:ext cx="3128963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9" name="Object 16398"/>
          <p:cNvGraphicFramePr/>
          <p:nvPr/>
        </p:nvGraphicFramePr>
        <p:xfrm>
          <a:off x="5289054" y="620688"/>
          <a:ext cx="306546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" r:id="rId5" imgW="2768600" imgH="977900" progId="Equation.3">
                  <p:embed/>
                </p:oleObj>
              </mc:Choice>
              <mc:Fallback>
                <p:oleObj name="" r:id="rId5" imgW="2768600" imgH="977900" progId="Equation.3">
                  <p:embed/>
                  <p:pic>
                    <p:nvPicPr>
                      <p:cNvPr id="0" name="Object 1639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89054" y="620688"/>
                        <a:ext cx="3065462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7" name="Object 16406"/>
          <p:cNvGraphicFramePr/>
          <p:nvPr/>
        </p:nvGraphicFramePr>
        <p:xfrm>
          <a:off x="914400" y="3140857"/>
          <a:ext cx="50450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name="" r:id="rId7" imgW="5041900" imgH="419100" progId="Equation.3">
                  <p:embed/>
                </p:oleObj>
              </mc:Choice>
              <mc:Fallback>
                <p:oleObj name="" r:id="rId7" imgW="5041900" imgH="419100" progId="Equation.3">
                  <p:embed/>
                  <p:pic>
                    <p:nvPicPr>
                      <p:cNvPr id="0" name="Object 1640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4400" y="3140857"/>
                        <a:ext cx="5045075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8" name="Object 16407"/>
          <p:cNvGraphicFramePr/>
          <p:nvPr/>
        </p:nvGraphicFramePr>
        <p:xfrm>
          <a:off x="3830638" y="3947710"/>
          <a:ext cx="3449637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" r:id="rId9" imgW="3618230" imgH="901065" progId="Equation.3">
                  <p:embed/>
                </p:oleObj>
              </mc:Choice>
              <mc:Fallback>
                <p:oleObj name="" r:id="rId9" imgW="3618230" imgH="901065" progId="Equation.3">
                  <p:embed/>
                  <p:pic>
                    <p:nvPicPr>
                      <p:cNvPr id="0" name="Object 1640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30638" y="3947710"/>
                        <a:ext cx="3449637" cy="925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9" name="Object 16408"/>
          <p:cNvGraphicFramePr/>
          <p:nvPr/>
        </p:nvGraphicFramePr>
        <p:xfrm>
          <a:off x="3901678" y="1954591"/>
          <a:ext cx="18034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" r:id="rId11" imgW="1802765" imgH="901065" progId="Equation.3">
                  <p:embed/>
                </p:oleObj>
              </mc:Choice>
              <mc:Fallback>
                <p:oleObj name="" r:id="rId11" imgW="1802765" imgH="901065" progId="Equation.3">
                  <p:embed/>
                  <p:pic>
                    <p:nvPicPr>
                      <p:cNvPr id="0" name="Object 1640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01678" y="1954591"/>
                        <a:ext cx="1803400" cy="830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0" name="Object 16409"/>
          <p:cNvGraphicFramePr/>
          <p:nvPr/>
        </p:nvGraphicFramePr>
        <p:xfrm>
          <a:off x="920750" y="5229225"/>
          <a:ext cx="6146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" name="" r:id="rId13" imgW="6296660" imgH="901065" progId="Equation.3">
                  <p:embed/>
                </p:oleObj>
              </mc:Choice>
              <mc:Fallback>
                <p:oleObj name="" r:id="rId13" imgW="6296660" imgH="901065" progId="Equation.3">
                  <p:embed/>
                  <p:pic>
                    <p:nvPicPr>
                      <p:cNvPr id="0" name="Object 16409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20750" y="5229225"/>
                        <a:ext cx="61468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6865"/>
          <p:cNvSpPr txBox="1"/>
          <p:nvPr/>
        </p:nvSpPr>
        <p:spPr>
          <a:xfrm>
            <a:off x="693093" y="736600"/>
            <a:ext cx="17595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证明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6867" name="Object 36866"/>
          <p:cNvGraphicFramePr/>
          <p:nvPr/>
        </p:nvGraphicFramePr>
        <p:xfrm>
          <a:off x="2553643" y="857250"/>
          <a:ext cx="27178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" r:id="rId1" imgW="2716530" imgH="393700" progId="Equation.3">
                  <p:embed/>
                </p:oleObj>
              </mc:Choice>
              <mc:Fallback>
                <p:oleObj name="" r:id="rId1" imgW="2716530" imgH="393700" progId="Equation.3">
                  <p:embed/>
                  <p:pic>
                    <p:nvPicPr>
                      <p:cNvPr id="0" name="Object 3686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53643" y="857250"/>
                        <a:ext cx="271780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36868"/>
          <p:cNvGraphicFramePr/>
          <p:nvPr/>
        </p:nvGraphicFramePr>
        <p:xfrm>
          <a:off x="1890068" y="1394991"/>
          <a:ext cx="3606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" r:id="rId3" imgW="3606800" imgH="977900" progId="Equation.3">
                  <p:embed/>
                </p:oleObj>
              </mc:Choice>
              <mc:Fallback>
                <p:oleObj name="" r:id="rId3" imgW="3606800" imgH="977900" progId="Equation.3">
                  <p:embed/>
                  <p:pic>
                    <p:nvPicPr>
                      <p:cNvPr id="0" name="Object 3686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90068" y="1394991"/>
                        <a:ext cx="36068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36869"/>
          <p:cNvGraphicFramePr/>
          <p:nvPr/>
        </p:nvGraphicFramePr>
        <p:xfrm>
          <a:off x="5574829" y="1403251"/>
          <a:ext cx="2476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8" name="" r:id="rId5" imgW="2476500" imgH="977900" progId="Equation.3">
                  <p:embed/>
                </p:oleObj>
              </mc:Choice>
              <mc:Fallback>
                <p:oleObj name="" r:id="rId5" imgW="2476500" imgH="977900" progId="Equation.3">
                  <p:embed/>
                  <p:pic>
                    <p:nvPicPr>
                      <p:cNvPr id="0" name="Object 3686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74829" y="1403251"/>
                        <a:ext cx="24765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36872"/>
          <p:cNvGraphicFramePr/>
          <p:nvPr/>
        </p:nvGraphicFramePr>
        <p:xfrm>
          <a:off x="5574829" y="2638326"/>
          <a:ext cx="16510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" r:id="rId7" imgW="1650365" imgH="393700" progId="Equation.3">
                  <p:embed/>
                </p:oleObj>
              </mc:Choice>
              <mc:Fallback>
                <p:oleObj name="" r:id="rId7" imgW="1650365" imgH="393700" progId="Equation.3">
                  <p:embed/>
                  <p:pic>
                    <p:nvPicPr>
                      <p:cNvPr id="0" name="Object 3687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74829" y="2638326"/>
                        <a:ext cx="1651000" cy="390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6" name="Rectangles 36875"/>
          <p:cNvSpPr/>
          <p:nvPr/>
        </p:nvSpPr>
        <p:spPr>
          <a:xfrm>
            <a:off x="700820" y="1642641"/>
            <a:ext cx="8978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证明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36880" name="Picture 3687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375" y="3286026"/>
            <a:ext cx="3816350" cy="2735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81" name="Picture 3688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2741" y="3286026"/>
            <a:ext cx="3816350" cy="27352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1" name="Text Box 34830"/>
          <p:cNvSpPr txBox="1"/>
          <p:nvPr/>
        </p:nvSpPr>
        <p:spPr>
          <a:xfrm>
            <a:off x="1388790" y="4190008"/>
            <a:ext cx="35909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(1)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所求概率为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4832" name="Object 34831"/>
          <p:cNvGraphicFramePr/>
          <p:nvPr/>
        </p:nvGraphicFramePr>
        <p:xfrm>
          <a:off x="1447800" y="5018683"/>
          <a:ext cx="16002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0" name="" r:id="rId1" imgW="1599565" imgH="381000" progId="Equation.3">
                  <p:embed/>
                </p:oleObj>
              </mc:Choice>
              <mc:Fallback>
                <p:oleObj name="" r:id="rId1" imgW="1599565" imgH="381000" progId="Equation.3">
                  <p:embed/>
                  <p:pic>
                    <p:nvPicPr>
                      <p:cNvPr id="0" name="Object 348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47800" y="5018683"/>
                        <a:ext cx="1600200" cy="379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4" name="Object 34833"/>
          <p:cNvGraphicFramePr/>
          <p:nvPr/>
        </p:nvGraphicFramePr>
        <p:xfrm>
          <a:off x="3101975" y="4747220"/>
          <a:ext cx="3327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name="" r:id="rId3" imgW="3326130" imgH="901065" progId="Equation.3">
                  <p:embed/>
                </p:oleObj>
              </mc:Choice>
              <mc:Fallback>
                <p:oleObj name="" r:id="rId3" imgW="3326130" imgH="901065" progId="Equation.3">
                  <p:embed/>
                  <p:pic>
                    <p:nvPicPr>
                      <p:cNvPr id="0" name="Object 348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01975" y="4747220"/>
                        <a:ext cx="33274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5" name="Object 34834"/>
          <p:cNvGraphicFramePr/>
          <p:nvPr/>
        </p:nvGraphicFramePr>
        <p:xfrm>
          <a:off x="6483350" y="5013920"/>
          <a:ext cx="15240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name="" r:id="rId5" imgW="1523365" imgH="393700" progId="Equation.3">
                  <p:embed/>
                </p:oleObj>
              </mc:Choice>
              <mc:Fallback>
                <p:oleObj name="" r:id="rId5" imgW="1523365" imgH="393700" progId="Equation.3">
                  <p:embed/>
                  <p:pic>
                    <p:nvPicPr>
                      <p:cNvPr id="0" name="Object 3483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83350" y="5013920"/>
                        <a:ext cx="1524000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6" name="Object 34835"/>
          <p:cNvGraphicFramePr/>
          <p:nvPr/>
        </p:nvGraphicFramePr>
        <p:xfrm>
          <a:off x="3106738" y="5953720"/>
          <a:ext cx="176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" name="" r:id="rId7" imgW="1764030" imgH="317500" progId="Equation.3">
                  <p:embed/>
                </p:oleObj>
              </mc:Choice>
              <mc:Fallback>
                <p:oleObj name="" r:id="rId7" imgW="1764030" imgH="317500" progId="Equation.3">
                  <p:embed/>
                  <p:pic>
                    <p:nvPicPr>
                      <p:cNvPr id="0" name="Object 3483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06738" y="5953720"/>
                        <a:ext cx="1765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8" name="Object 34837"/>
          <p:cNvGraphicFramePr/>
          <p:nvPr/>
        </p:nvGraphicFramePr>
        <p:xfrm>
          <a:off x="4948238" y="5953720"/>
          <a:ext cx="1384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" r:id="rId9" imgW="1383030" imgH="317500" progId="Equation.3">
                  <p:embed/>
                </p:oleObj>
              </mc:Choice>
              <mc:Fallback>
                <p:oleObj name="" r:id="rId9" imgW="1383030" imgH="317500" progId="Equation.3">
                  <p:embed/>
                  <p:pic>
                    <p:nvPicPr>
                      <p:cNvPr id="0" name="Object 3483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48238" y="5953720"/>
                        <a:ext cx="13843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9" name="Rectangles 34838"/>
          <p:cNvSpPr/>
          <p:nvPr/>
        </p:nvSpPr>
        <p:spPr>
          <a:xfrm>
            <a:off x="745282" y="4209058"/>
            <a:ext cx="533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4843" name="Rectangles 34842"/>
          <p:cNvSpPr/>
          <p:nvPr/>
        </p:nvSpPr>
        <p:spPr>
          <a:xfrm>
            <a:off x="781949" y="708025"/>
            <a:ext cx="1066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9</a:t>
            </a:r>
            <a:endParaRPr lang="en-US" altLang="zh-CN" sz="28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4844" name="Object 34843"/>
          <p:cNvGraphicFramePr/>
          <p:nvPr/>
        </p:nvGraphicFramePr>
        <p:xfrm>
          <a:off x="817563" y="762000"/>
          <a:ext cx="7886700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" r:id="rId11" imgW="7886700" imgH="3276600" progId="Equation.3">
                  <p:embed/>
                </p:oleObj>
              </mc:Choice>
              <mc:Fallback>
                <p:oleObj name="" r:id="rId11" imgW="7886700" imgH="3276600" progId="Equation.3">
                  <p:embed/>
                  <p:pic>
                    <p:nvPicPr>
                      <p:cNvPr id="0" name="Object 3484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17563" y="762000"/>
                        <a:ext cx="7886700" cy="327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1" name="Rectangles 60440"/>
          <p:cNvSpPr/>
          <p:nvPr/>
        </p:nvSpPr>
        <p:spPr>
          <a:xfrm>
            <a:off x="726327" y="700863"/>
            <a:ext cx="718185" cy="521970"/>
          </a:xfrm>
          <a:prstGeom prst="rect">
            <a:avLst/>
          </a:prstGeom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31" grpId="0"/>
      <p:bldP spid="3483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35841"/>
          <p:cNvGraphicFramePr/>
          <p:nvPr/>
        </p:nvGraphicFramePr>
        <p:xfrm>
          <a:off x="899592" y="774700"/>
          <a:ext cx="33401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" name="" r:id="rId1" imgW="3338830" imgH="393700" progId="Equation.3">
                  <p:embed/>
                </p:oleObj>
              </mc:Choice>
              <mc:Fallback>
                <p:oleObj name="" r:id="rId1" imgW="3338830" imgH="393700" progId="Equation.3">
                  <p:embed/>
                  <p:pic>
                    <p:nvPicPr>
                      <p:cNvPr id="0" name="Object 3584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99592" y="774700"/>
                        <a:ext cx="334010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35842"/>
          <p:cNvGraphicFramePr/>
          <p:nvPr/>
        </p:nvGraphicFramePr>
        <p:xfrm>
          <a:off x="1232074" y="1460500"/>
          <a:ext cx="35052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5" name="" r:id="rId3" imgW="3503930" imgH="381000" progId="Equation.3">
                  <p:embed/>
                </p:oleObj>
              </mc:Choice>
              <mc:Fallback>
                <p:oleObj name="" r:id="rId3" imgW="3503930" imgH="381000" progId="Equation.3">
                  <p:embed/>
                  <p:pic>
                    <p:nvPicPr>
                      <p:cNvPr id="0" name="Object 358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2074" y="1460500"/>
                        <a:ext cx="3505200" cy="379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35843"/>
          <p:cNvGraphicFramePr/>
          <p:nvPr/>
        </p:nvGraphicFramePr>
        <p:xfrm>
          <a:off x="1232074" y="2216150"/>
          <a:ext cx="28321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6" name="" r:id="rId5" imgW="2830830" imgH="393700" progId="Equation.3">
                  <p:embed/>
                </p:oleObj>
              </mc:Choice>
              <mc:Fallback>
                <p:oleObj name="" r:id="rId5" imgW="2830830" imgH="393700" progId="Equation.3">
                  <p:embed/>
                  <p:pic>
                    <p:nvPicPr>
                      <p:cNvPr id="0" name="Object 3584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32074" y="2216150"/>
                        <a:ext cx="283210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35844"/>
          <p:cNvGraphicFramePr/>
          <p:nvPr/>
        </p:nvGraphicFramePr>
        <p:xfrm>
          <a:off x="1232074" y="2863850"/>
          <a:ext cx="3517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7" name="" r:id="rId7" imgW="3516630" imgH="901065" progId="Equation.3">
                  <p:embed/>
                </p:oleObj>
              </mc:Choice>
              <mc:Fallback>
                <p:oleObj name="" r:id="rId7" imgW="3516630" imgH="901065" progId="Equation.3">
                  <p:embed/>
                  <p:pic>
                    <p:nvPicPr>
                      <p:cNvPr id="0" name="Object 3584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32074" y="2863850"/>
                        <a:ext cx="35179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35845"/>
          <p:cNvGraphicFramePr/>
          <p:nvPr/>
        </p:nvGraphicFramePr>
        <p:xfrm>
          <a:off x="1232074" y="3930650"/>
          <a:ext cx="4584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" r:id="rId9" imgW="4582795" imgH="901065" progId="Equation.3">
                  <p:embed/>
                </p:oleObj>
              </mc:Choice>
              <mc:Fallback>
                <p:oleObj name="" r:id="rId9" imgW="4582795" imgH="901065" progId="Equation.3">
                  <p:embed/>
                  <p:pic>
                    <p:nvPicPr>
                      <p:cNvPr id="0" name="Object 3584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32074" y="3930650"/>
                        <a:ext cx="45847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35846"/>
          <p:cNvGraphicFramePr/>
          <p:nvPr/>
        </p:nvGraphicFramePr>
        <p:xfrm>
          <a:off x="899592" y="5111080"/>
          <a:ext cx="2882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name="" r:id="rId11" imgW="2882900" imgH="838200" progId="Equation.3">
                  <p:embed/>
                </p:oleObj>
              </mc:Choice>
              <mc:Fallback>
                <p:oleObj name="" r:id="rId11" imgW="2882900" imgH="838200" progId="Equation.3">
                  <p:embed/>
                  <p:pic>
                    <p:nvPicPr>
                      <p:cNvPr id="0" name="Object 3584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99592" y="5111080"/>
                        <a:ext cx="28829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35847"/>
          <p:cNvGraphicFramePr/>
          <p:nvPr/>
        </p:nvGraphicFramePr>
        <p:xfrm>
          <a:off x="3864200" y="5339680"/>
          <a:ext cx="2286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" r:id="rId13" imgW="2284095" imgH="317500" progId="Equation.3">
                  <p:embed/>
                </p:oleObj>
              </mc:Choice>
              <mc:Fallback>
                <p:oleObj name="" r:id="rId13" imgW="2284095" imgH="317500" progId="Equation.3">
                  <p:embed/>
                  <p:pic>
                    <p:nvPicPr>
                      <p:cNvPr id="0" name="Object 3584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64200" y="5339680"/>
                        <a:ext cx="22860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1" name="Group 81940"/>
          <p:cNvGrpSpPr/>
          <p:nvPr/>
        </p:nvGrpSpPr>
        <p:grpSpPr>
          <a:xfrm>
            <a:off x="3779839" y="1621730"/>
            <a:ext cx="1612900" cy="1543051"/>
            <a:chOff x="2381" y="1152"/>
            <a:chExt cx="1016" cy="972"/>
          </a:xfrm>
        </p:grpSpPr>
        <p:sp>
          <p:nvSpPr>
            <p:cNvPr id="81932" name="Rectangles 81931"/>
            <p:cNvSpPr/>
            <p:nvPr/>
          </p:nvSpPr>
          <p:spPr>
            <a:xfrm>
              <a:off x="2642" y="1152"/>
              <a:ext cx="523" cy="288"/>
            </a:xfrm>
            <a:prstGeom prst="rect">
              <a:avLst/>
            </a:prstGeom>
            <a:solidFill>
              <a:srgbClr val="FFC000"/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935" name="Rectangles 81934"/>
            <p:cNvSpPr/>
            <p:nvPr/>
          </p:nvSpPr>
          <p:spPr>
            <a:xfrm>
              <a:off x="2381" y="1797"/>
              <a:ext cx="10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分布函数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 useBgFill="1">
          <p:nvSpPr>
            <p:cNvPr id="81936" name="Down Arrow 81935"/>
            <p:cNvSpPr/>
            <p:nvPr/>
          </p:nvSpPr>
          <p:spPr>
            <a:xfrm>
              <a:off x="2857" y="1445"/>
              <a:ext cx="68" cy="384"/>
            </a:xfrm>
            <a:prstGeom prst="downArrow">
              <a:avLst>
                <a:gd name="adj1" fmla="val 50000"/>
                <a:gd name="adj2" fmla="val 66666"/>
              </a:avLst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1942" name="Group 81941"/>
          <p:cNvGrpSpPr/>
          <p:nvPr/>
        </p:nvGrpSpPr>
        <p:grpSpPr>
          <a:xfrm>
            <a:off x="5559428" y="1621730"/>
            <a:ext cx="1460500" cy="1481138"/>
            <a:chOff x="3502" y="1152"/>
            <a:chExt cx="920" cy="933"/>
          </a:xfrm>
        </p:grpSpPr>
        <p:sp>
          <p:nvSpPr>
            <p:cNvPr id="81933" name="Rectangles 81932"/>
            <p:cNvSpPr/>
            <p:nvPr/>
          </p:nvSpPr>
          <p:spPr>
            <a:xfrm>
              <a:off x="3648" y="1152"/>
              <a:ext cx="432" cy="288"/>
            </a:xfrm>
            <a:prstGeom prst="rect">
              <a:avLst/>
            </a:prstGeom>
            <a:solidFill>
              <a:srgbClr val="FFC000"/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81937" name="Object 81936"/>
            <p:cNvGraphicFramePr/>
            <p:nvPr/>
          </p:nvGraphicFramePr>
          <p:xfrm>
            <a:off x="3502" y="1829"/>
            <a:ext cx="92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18" name="" r:id="rId1" imgW="1459230" imgH="405765" progId="Equation.3">
                    <p:embed/>
                  </p:oleObj>
                </mc:Choice>
                <mc:Fallback>
                  <p:oleObj name="" r:id="rId1" imgW="1459230" imgH="405765" progId="Equation.3">
                    <p:embed/>
                    <p:pic>
                      <p:nvPicPr>
                        <p:cNvPr id="0" name="Object 8193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502" y="1829"/>
                          <a:ext cx="920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 useBgFill="1">
          <p:nvSpPr>
            <p:cNvPr id="81938" name="Down Arrow 81937"/>
            <p:cNvSpPr/>
            <p:nvPr/>
          </p:nvSpPr>
          <p:spPr>
            <a:xfrm>
              <a:off x="3833" y="1439"/>
              <a:ext cx="68" cy="384"/>
            </a:xfrm>
            <a:prstGeom prst="downArrow">
              <a:avLst>
                <a:gd name="adj1" fmla="val 50000"/>
                <a:gd name="adj2" fmla="val 66666"/>
              </a:avLst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1923" name="Rectangles 81922"/>
          <p:cNvSpPr/>
          <p:nvPr/>
        </p:nvSpPr>
        <p:spPr>
          <a:xfrm>
            <a:off x="914400" y="709613"/>
            <a:ext cx="309880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endParaRPr sz="40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1926" name="Title 81925"/>
          <p:cNvSpPr>
            <a:spLocks noGrp="1"/>
          </p:cNvSpPr>
          <p:nvPr>
            <p:ph type="title" idx="4294967295"/>
          </p:nvPr>
        </p:nvSpPr>
        <p:spPr>
          <a:xfrm>
            <a:off x="10795" y="608965"/>
            <a:ext cx="9133205" cy="706755"/>
          </a:xfrm>
        </p:spPr>
        <p:txBody>
          <a:bodyPr wrap="square" anchor="ctr" anchorCtr="0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三、小结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81934" name="Object 81933"/>
          <p:cNvGraphicFramePr/>
          <p:nvPr/>
        </p:nvGraphicFramePr>
        <p:xfrm>
          <a:off x="914400" y="1484784"/>
          <a:ext cx="59309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9" name="Microsoft 公式 3.0 中文版" r:id="rId3" imgW="5928360" imgH="673100" progId="">
                  <p:embed/>
                </p:oleObj>
              </mc:Choice>
              <mc:Fallback>
                <p:oleObj name="Microsoft 公式 3.0 中文版" r:id="rId3" imgW="5928360" imgH="673100" progId="">
                  <p:embed/>
                  <p:pic>
                    <p:nvPicPr>
                      <p:cNvPr id="0" name="Object 819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1484784"/>
                        <a:ext cx="5930900" cy="673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0" name="Rectangles 81929"/>
          <p:cNvSpPr/>
          <p:nvPr/>
        </p:nvSpPr>
        <p:spPr>
          <a:xfrm>
            <a:off x="838200" y="3624898"/>
            <a:ext cx="5257800" cy="52197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常见连续型随机变量的分布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1943" name="Group 81942"/>
          <p:cNvGrpSpPr/>
          <p:nvPr/>
        </p:nvGrpSpPr>
        <p:grpSpPr>
          <a:xfrm>
            <a:off x="3678694" y="4350121"/>
            <a:ext cx="1779588" cy="1660524"/>
            <a:chOff x="1200" y="2745"/>
            <a:chExt cx="1121" cy="1046"/>
          </a:xfrm>
        </p:grpSpPr>
        <p:sp>
          <p:nvSpPr>
            <p:cNvPr id="81927" name="Rectangles 81926"/>
            <p:cNvSpPr/>
            <p:nvPr/>
          </p:nvSpPr>
          <p:spPr>
            <a:xfrm>
              <a:off x="1296" y="2745"/>
              <a:ext cx="10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均匀分布</a:t>
              </a:r>
              <a:endPara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1928" name="Rectangles 81927"/>
            <p:cNvSpPr/>
            <p:nvPr/>
          </p:nvSpPr>
          <p:spPr>
            <a:xfrm>
              <a:off x="1296" y="3461"/>
              <a:ext cx="1025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正态分布</a:t>
              </a:r>
              <a:endPara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1929" name="Rectangles 81928"/>
            <p:cNvSpPr/>
            <p:nvPr/>
          </p:nvSpPr>
          <p:spPr>
            <a:xfrm>
              <a:off x="1296" y="3103"/>
              <a:ext cx="10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指数分布</a:t>
              </a:r>
              <a:endPara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81940" name="Object 81939"/>
            <p:cNvGraphicFramePr/>
            <p:nvPr/>
          </p:nvGraphicFramePr>
          <p:xfrm>
            <a:off x="1200" y="2792"/>
            <a:ext cx="240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0" name="" r:id="rId5" imgW="381000" imgH="1510665" progId="Equation.3">
                    <p:embed/>
                  </p:oleObj>
                </mc:Choice>
                <mc:Fallback>
                  <p:oleObj name="" r:id="rId5" imgW="381000" imgH="1510665" progId="Equation.3">
                    <p:embed/>
                    <p:pic>
                      <p:nvPicPr>
                        <p:cNvPr id="0" name="Object 8193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00" y="2792"/>
                          <a:ext cx="240" cy="9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3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9" name="Rectangles 115718"/>
          <p:cNvSpPr/>
          <p:nvPr/>
        </p:nvSpPr>
        <p:spPr>
          <a:xfrm>
            <a:off x="876300" y="1424824"/>
            <a:ext cx="7599680" cy="11677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一个随机变量如果受到大量</a:t>
            </a:r>
            <a:r>
              <a:rPr lang="zh-CN" altLang="en-US" sz="2800" b="1" dirty="0">
                <a:sym typeface="+mn-ea"/>
              </a:rPr>
              <a:t>、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微小、独立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的随机因素影响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则这个变量往往服从正态分布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21" name="Text Box 115720"/>
          <p:cNvSpPr txBox="1"/>
          <p:nvPr/>
        </p:nvSpPr>
        <p:spPr>
          <a:xfrm>
            <a:off x="914400" y="838200"/>
            <a:ext cx="590105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正态分布是概率论中最常见的分布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 Box 118786"/>
          <p:cNvSpPr txBox="1"/>
          <p:nvPr/>
        </p:nvSpPr>
        <p:spPr>
          <a:xfrm>
            <a:off x="867990" y="2507429"/>
            <a:ext cx="7688580" cy="16414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另外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ahoma" panose="020B0604030504040204" pitchFamily="34" charset="0"/>
              </a:rPr>
              <a:t>在适当条件下</a:t>
            </a:r>
            <a:r>
              <a:rPr lang="en-US" altLang="zh-CN" sz="2800" b="1" dirty="0"/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二项分布、泊松分布的极限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分布是正态分布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因此无论在实践中还是在</a:t>
            </a:r>
            <a:r>
              <a:rPr lang="zh-CN" altLang="en-US" sz="2800" b="1" dirty="0"/>
              <a:t>理论</a:t>
            </a:r>
            <a:endParaRPr lang="en-US" altLang="zh-CN" sz="2800" b="1" dirty="0"/>
          </a:p>
          <a:p>
            <a:pPr>
              <a:lnSpc>
                <a:spcPct val="120000"/>
              </a:lnSpc>
            </a:pPr>
            <a:r>
              <a:rPr lang="zh-CN" altLang="en-US" sz="2800" b="1" dirty="0"/>
              <a:t>上</a:t>
            </a:r>
            <a:r>
              <a:rPr lang="en-US" altLang="zh-CN" sz="2800" b="1" dirty="0"/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正态分布</a:t>
            </a:r>
            <a:r>
              <a:rPr lang="zh-CN" altLang="en-US" sz="2800" b="1" dirty="0"/>
              <a:t>都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是非常重要的一类分布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5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90" name="Text Box 118789"/>
          <p:cNvSpPr txBox="1"/>
          <p:nvPr/>
        </p:nvSpPr>
        <p:spPr>
          <a:xfrm>
            <a:off x="2336800" y="4365104"/>
            <a:ext cx="447294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二项分布向正态分布的转换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8800" name="Picture 1187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176" y="1844824"/>
            <a:ext cx="2851626" cy="229129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8801" name="Picture 118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187" y="1844824"/>
            <a:ext cx="2851626" cy="229129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8799" name="Picture 1187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98" y="1844824"/>
            <a:ext cx="2851626" cy="229129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2" name="Picture 119811" descr="Gau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525" y="2078038"/>
            <a:ext cx="2614613" cy="3179762"/>
          </a:xfrm>
          <a:prstGeom prst="rect">
            <a:avLst/>
          </a:prstGeom>
          <a:noFill/>
          <a:ln w="38100" cap="flat" cmpd="dbl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19813" name="Text Box 119812"/>
          <p:cNvSpPr txBox="1"/>
          <p:nvPr/>
        </p:nvSpPr>
        <p:spPr>
          <a:xfrm>
            <a:off x="4191000" y="2552124"/>
            <a:ext cx="4343400" cy="28917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Born: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30 Apr. 1777 in Brunswick, Duchy of Brunswick (now Germany)</a:t>
            </a:r>
            <a:endParaRPr lang="en-US" altLang="zh-CN" sz="2800" b="1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Died:</a:t>
            </a:r>
            <a:r>
              <a:rPr lang="en-US" altLang="zh-CN" sz="2800" b="1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23 Feb. 1855 in Göttingen, Hanover (now Germany)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9814" name="Text Box 119813"/>
          <p:cNvSpPr txBox="1"/>
          <p:nvPr/>
        </p:nvSpPr>
        <p:spPr>
          <a:xfrm>
            <a:off x="3923928" y="1897782"/>
            <a:ext cx="4419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Carl Friedrich Gauss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9815" name="Title 119814"/>
          <p:cNvSpPr>
            <a:spLocks noGrp="1"/>
          </p:cNvSpPr>
          <p:nvPr>
            <p:ph type="title" idx="4294967295"/>
          </p:nvPr>
        </p:nvSpPr>
        <p:spPr>
          <a:xfrm>
            <a:off x="12065" y="764540"/>
            <a:ext cx="9147175" cy="706755"/>
          </a:xfrm>
        </p:spPr>
        <p:txBody>
          <a:bodyPr wrap="square" anchor="ctr" anchorCtr="0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</a:rPr>
              <a:t>高斯资料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</a:endParaRPr>
          </a:p>
        </p:txBody>
      </p:sp>
      <p:sp>
        <p:nvSpPr>
          <p:cNvPr id="6" name="TextBox 14"/>
          <p:cNvSpPr txBox="1">
            <a:spLocks noChangeArrowheads="1"/>
          </p:cNvSpPr>
          <p:nvPr/>
        </p:nvSpPr>
        <p:spPr bwMode="auto">
          <a:xfrm>
            <a:off x="8459788" y="65246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fld id="{E5E477DE-DC70-4ED6-AEC0-7F57DD4294AA}" type="slidenum">
              <a:rPr lang="en-US" altLang="zh-CN" sz="1800" smtClean="0">
                <a:solidFill>
                  <a:srgbClr val="7F7F7F"/>
                </a:solidFill>
              </a:rPr>
            </a:fld>
            <a:r>
              <a:rPr lang="en-US" altLang="zh-CN" sz="1800" dirty="0">
                <a:solidFill>
                  <a:srgbClr val="7F7F7F"/>
                </a:solidFill>
              </a:rPr>
              <a:t>/40</a:t>
            </a:r>
            <a:endParaRPr lang="en-US" altLang="zh-CN" sz="1800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>
    <p:wipe/>
  </p:transition>
</p:sld>
</file>

<file path=ppt/tags/tag1.xml><?xml version="1.0" encoding="utf-8"?>
<p:tagLst xmlns:p="http://schemas.openxmlformats.org/presentationml/2006/main">
  <p:tag name="commondata" val="eyJoZGlkIjoiMzk4MGYxNDFlNDllYmNhZmYyZjg3ZjNhMGFhODEyMWUifQ=="/>
</p:tagLst>
</file>

<file path=ppt/theme/theme1.xml><?xml version="1.0" encoding="utf-8"?>
<a:theme xmlns:a="http://schemas.openxmlformats.org/drawingml/2006/main" name="jy3">
  <a:themeElements>
    <a:clrScheme name="jy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jy3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jy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y3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y3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Settings\a\Application Data\Microsoft\Templates\jy3.pot</Template>
  <TotalTime>0</TotalTime>
  <Words>1458</Words>
  <Application>WPS 演示</Application>
  <PresentationFormat>On-screen Show (4:3)</PresentationFormat>
  <Paragraphs>265</Paragraphs>
  <Slides>40</Slides>
  <Notes>0</Notes>
  <HiddenSlides>0</HiddenSlides>
  <MMClips>0</MMClips>
  <ScaleCrop>false</ScaleCrop>
  <HeadingPairs>
    <vt:vector size="10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158</vt:i4>
      </vt:variant>
      <vt:variant>
        <vt:lpstr>幻灯片标题</vt:lpstr>
      </vt:variant>
      <vt:variant>
        <vt:i4>40</vt:i4>
      </vt:variant>
      <vt:variant>
        <vt:lpstr>自定义放映</vt:lpstr>
      </vt:variant>
      <vt:variant>
        <vt:i4>1</vt:i4>
      </vt:variant>
    </vt:vector>
  </HeadingPairs>
  <TitlesOfParts>
    <vt:vector size="210" baseType="lpstr">
      <vt:lpstr>Arial</vt:lpstr>
      <vt:lpstr>宋体</vt:lpstr>
      <vt:lpstr>Wingdings</vt:lpstr>
      <vt:lpstr>Times New Roman</vt:lpstr>
      <vt:lpstr>黑体</vt:lpstr>
      <vt:lpstr>Tahoma</vt:lpstr>
      <vt:lpstr>微软雅黑</vt:lpstr>
      <vt:lpstr>Arial Unicode MS</vt:lpstr>
      <vt:lpstr>Calibri</vt:lpstr>
      <vt:lpstr>Verdana</vt:lpstr>
      <vt:lpstr>jy3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第四节 连续型随机变量及其 概率密度</vt:lpstr>
      <vt:lpstr>一、概率密度的概念与性质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二、常见连续型随机变量的分布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三、小结</vt:lpstr>
      <vt:lpstr>PowerPoint 演示文稿</vt:lpstr>
      <vt:lpstr>PowerPoint 演示文稿</vt:lpstr>
      <vt:lpstr>高斯资料</vt:lpstr>
      <vt:lpstr>高斯资料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第四节 连续型随机变量及其概率密度</dc:title>
  <dc:creator>西安通信学院数学教研室</dc:creator>
  <cp:lastModifiedBy>T</cp:lastModifiedBy>
  <cp:revision>367</cp:revision>
  <dcterms:created xsi:type="dcterms:W3CDTF">2000-03-24T11:27:00Z</dcterms:created>
  <dcterms:modified xsi:type="dcterms:W3CDTF">2024-04-08T05:15:41Z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1895E80489B440C1A935E198A6366FBE</vt:lpwstr>
  </property>
  <property fmtid="{D5CDD505-2E9C-101B-9397-08002B2CF9AE}" pid="3" name="KSOProductBuildVer">
    <vt:lpwstr>2052-12.1.0.16417</vt:lpwstr>
  </property>
</Properties>
</file>