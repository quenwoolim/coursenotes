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95" r:id="rId7"/>
    <p:sldId id="275" r:id="rId8"/>
    <p:sldId id="277" r:id="rId9"/>
    <p:sldId id="298" r:id="rId10"/>
    <p:sldId id="297" r:id="rId11"/>
    <p:sldId id="279" r:id="rId12"/>
    <p:sldId id="302" r:id="rId13"/>
    <p:sldId id="303" r:id="rId14"/>
    <p:sldId id="305" r:id="rId15"/>
    <p:sldId id="296" r:id="rId16"/>
    <p:sldId id="294" r:id="rId17"/>
    <p:sldId id="284" r:id="rId18"/>
    <p:sldId id="280" r:id="rId19"/>
    <p:sldId id="281" r:id="rId20"/>
    <p:sldId id="285" r:id="rId21"/>
    <p:sldId id="286" r:id="rId22"/>
    <p:sldId id="282" r:id="rId23"/>
    <p:sldId id="283" r:id="rId24"/>
    <p:sldId id="289" r:id="rId25"/>
    <p:sldId id="288" r:id="rId26"/>
    <p:sldId id="290" r:id="rId27"/>
    <p:sldId id="291" r:id="rId28"/>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我们展示的是基于知识图谱的企业技术需求与高校教师智能匹配系统。企业提出技术需求后，系统从企业、教师、专利、论文和项目等多源数据中组织证据，推荐适合合作的高校教师，并解释推荐依据。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传统做法可能是人工检索教师主页、论文和项目，但信息分散且很难判断合作是否可靠。真正需要的是一个从企业需求出发的推荐系统，不仅给候选教师，还要说明推荐理由。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系统输入是一条企业需求，包含企业名称、技术任务和筛选条件。输出不是单个答案，而是一组教师推荐结果，每位教师都有综合分、多维分数、标签和解释文本。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系统输入是一条企业需求，包含企业名称、技术任务和筛选条件。输出不是单个答案，而是一组教师推荐结果，每位教师都有综合分、多维分数、标签和解释文本。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系统输入是一条企业需求，包含企业名称、技术任务和筛选条件。输出不是单个答案，而是一组教师推荐结果，每位教师都有综合分、多维分数、标签和解释文本。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知识图谱关键是关系如何定义。本项目中企业和教师的核心直接关联是专利，企业作为申请人或相关单位，教师作为发明人或教师关联方，当两者出现在同一项专利中，就能形成可追溯合作边。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推荐算法的输出层已经体现在 output.json 中。每位教师都有总分和多个维度分数，同时每个关键维度都有自然语言解释。知识图谱把论文、项目、专利和合作企业等证据组织起来，再转化为研究匹配、技术攻关、产业协同和合作历史等维度。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推荐算法的输出层已经体现在 output.json 中。每位教师都有总分和多个维度分数，同时每个关键维度都有自然语言解释。知识图谱把论文、项目、专利和合作企业等证据组织起来，再转化为研究匹配、技术攻关、产业协同和合作历史等维度。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系统输入是一条企业需求，包含企业名称、技术任务和筛选条件。输出不是单个答案，而是一组教师推荐结果，每位教师都有综合分、多维分数、标签和解释文本。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这一页对应课程要求里的实现基础。企业侧包含工商信息和专利资产，教师侧包含个人画像、论文、项目、专利、合作企业和研究方向，二者通过共同专利形成可追溯合作关系。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这一页对应课程要求里的实现基础。企业侧包含工商信息和专利资产，教师侧包含个人画像、论文、项目、专利、合作企业和研究方向，二者通过共同专利形成可追溯合作关系。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这一页对应课程要求里的实现基础。企业侧包含工商信息和专利资产，教师侧包含个人画像、论文、项目、专利、合作企业和研究方向，二者通过共同专利形成可追溯合作关系。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系统输入是一条企业需求，包含企业名称、技术任务和筛选条件。输出不是单个答案，而是一组教师推荐结果，每位教师都有综合分、多维分数、标签和解释文本。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系统输入是一条企业需求，包含企业名称、技术任务和筛选条件。输出不是单个答案，而是一组教师推荐结果，每位教师都有综合分、多维分数、标签和解释文本。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系统输入是一条企业需求，包含企业名称、技术任务和筛选条件。输出不是单个答案，而是一组教师推荐结果，每位教师都有综合分、多维分数、标签和解释文本。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系统输入是一条企业需求，包含企业名称、技术任务和筛选条件。输出不是单个答案，而是一组教师推荐结果，每位教师都有综合分、多维分数、标签和解释文本。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系统输入是一条企业需求，包含企业名称、技术任务和筛选条件。输出不是单个答案，而是一组教师推荐结果，每位教师都有综合分、多维分数、标签和解释文本。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系统输入是一条企业需求，包含企业名称、技术任务和筛选条件。输出不是单个答案，而是一组教师推荐结果，每位教师都有综合分、多维分数、标签和解释文本。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系统输入是一条企业需求，包含企业名称、技术任务和筛选条件。输出不是单个答案，而是一组教师推荐结果，每位教师都有综合分、多维分数、标签和解释文本。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系统输入是一条企业需求，包含企业名称、技术任务和筛选条件。输出不是单个答案，而是一组教师推荐结果，每位教师都有综合分、多维分数、标签和解释文本。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系统输入是一条企业需求，包含企业名称、技术任务和筛选条件。输出不是单个答案，而是一组教师推荐结果，每位教师都有综合分、多维分数、标签和解释文本。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系统输入是一条企业需求，包含企业名称、技术任务和筛选条件。输出不是单个答案，而是一组教师推荐结果，每位教师都有综合分、多维分数、标签和解释文本。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系统输入是一条企业需求，包含企业名称、技术任务和筛选条件。输出不是单个答案，而是一组教师推荐结果，每位教师都有综合分、多维分数、标签和解释文本。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系统输入是一条企业需求，包含企业名称、技术任务和筛选条件。输出不是单个答案，而是一组教师推荐结果，每位教师都有综合分、多维分数、标签和解释文本。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系统输入是一条企业需求，包含企业名称、技术任务和筛选条件。输出不是单个答案，而是一组教师推荐结果，每位教师都有综合分、多维分数、标签和解释文本。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1" Type="http://schemas.openxmlformats.org/officeDocument/2006/relationships/notesSlide" Target="../notesSlides/notesSlide2.xml"/><Relationship Id="rId10" Type="http://schemas.openxmlformats.org/officeDocument/2006/relationships/slideLayout" Target="../slideLayouts/slideLayout1.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9" Type="http://schemas.openxmlformats.org/officeDocument/2006/relationships/tags" Target="../tags/tag18.xml"/><Relationship Id="rId8" Type="http://schemas.openxmlformats.org/officeDocument/2006/relationships/tags" Target="../tags/tag17.xml"/><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4" Type="http://schemas.openxmlformats.org/officeDocument/2006/relationships/notesSlide" Target="../notesSlides/notesSlide10.xml"/><Relationship Id="rId13" Type="http://schemas.openxmlformats.org/officeDocument/2006/relationships/slideLayout" Target="../slideLayouts/slideLayout1.xml"/><Relationship Id="rId12" Type="http://schemas.openxmlformats.org/officeDocument/2006/relationships/tags" Target="../tags/tag21.xml"/><Relationship Id="rId11" Type="http://schemas.openxmlformats.org/officeDocument/2006/relationships/tags" Target="../tags/tag20.xml"/><Relationship Id="rId10" Type="http://schemas.openxmlformats.org/officeDocument/2006/relationships/tags" Target="../tags/tag19.xml"/><Relationship Id="rId1" Type="http://schemas.openxmlformats.org/officeDocument/2006/relationships/tags" Target="../tags/tag10.xml"/></Relationships>
</file>

<file path=ppt/slides/_rels/slide11.xml.rels><?xml version="1.0" encoding="UTF-8" standalone="yes"?>
<Relationships xmlns="http://schemas.openxmlformats.org/package/2006/relationships"><Relationship Id="rId9" Type="http://schemas.openxmlformats.org/officeDocument/2006/relationships/tags" Target="../tags/tag30.xml"/><Relationship Id="rId8" Type="http://schemas.openxmlformats.org/officeDocument/2006/relationships/tags" Target="../tags/tag29.xml"/><Relationship Id="rId7" Type="http://schemas.openxmlformats.org/officeDocument/2006/relationships/tags" Target="../tags/tag28.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 Id="rId3" Type="http://schemas.openxmlformats.org/officeDocument/2006/relationships/tags" Target="../tags/tag24.xml"/><Relationship Id="rId2" Type="http://schemas.openxmlformats.org/officeDocument/2006/relationships/tags" Target="../tags/tag23.xml"/><Relationship Id="rId12" Type="http://schemas.openxmlformats.org/officeDocument/2006/relationships/notesSlide" Target="../notesSlides/notesSlide11.xml"/><Relationship Id="rId11" Type="http://schemas.openxmlformats.org/officeDocument/2006/relationships/slideLayout" Target="../slideLayouts/slideLayout1.xml"/><Relationship Id="rId10" Type="http://schemas.openxmlformats.org/officeDocument/2006/relationships/tags" Target="../tags/tag31.xml"/><Relationship Id="rId1" Type="http://schemas.openxmlformats.org/officeDocument/2006/relationships/tags" Target="../tags/tag22.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tags" Target="../tags/tag33.xml"/><Relationship Id="rId1" Type="http://schemas.openxmlformats.org/officeDocument/2006/relationships/tags" Target="../tags/tag3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slideLayout" Target="../slideLayouts/slideLayout1.xml"/><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AF8"/>
        </a:solidFill>
        <a:effectLst/>
      </p:bgPr>
    </p:bg>
    <p:spTree>
      <p:nvGrpSpPr>
        <p:cNvPr id="1" name=""/>
        <p:cNvGrpSpPr/>
        <p:nvPr/>
      </p:nvGrpSpPr>
      <p:grpSpPr>
        <a:xfrm>
          <a:off x="0" y="0"/>
          <a:ext cx="0" cy="0"/>
          <a:chOff x="0" y="0"/>
          <a:chExt cx="0" cy="0"/>
        </a:xfrm>
      </p:grpSpPr>
      <p:sp>
        <p:nvSpPr>
          <p:cNvPr id="2" name="Shape 0"/>
          <p:cNvSpPr/>
          <p:nvPr/>
        </p:nvSpPr>
        <p:spPr>
          <a:xfrm>
            <a:off x="0" y="0"/>
            <a:ext cx="1828800" cy="5143500"/>
          </a:xfrm>
          <a:prstGeom prst="rect">
            <a:avLst/>
          </a:prstGeom>
          <a:solidFill>
            <a:srgbClr val="0F2437"/>
          </a:solidFill>
          <a:ln w="12700">
            <a:solidFill>
              <a:srgbClr val="0F2437">
                <a:alpha val="0"/>
              </a:srgbClr>
            </a:solidFill>
            <a:prstDash val="solid"/>
          </a:ln>
        </p:spPr>
      </p:sp>
      <p:sp>
        <p:nvSpPr>
          <p:cNvPr id="3" name="Shape 1"/>
          <p:cNvSpPr/>
          <p:nvPr/>
        </p:nvSpPr>
        <p:spPr>
          <a:xfrm>
            <a:off x="1444752" y="0"/>
            <a:ext cx="384048" cy="5143500"/>
          </a:xfrm>
          <a:prstGeom prst="rect">
            <a:avLst/>
          </a:prstGeom>
          <a:solidFill>
            <a:srgbClr val="1BAE9F"/>
          </a:solidFill>
          <a:ln w="12700">
            <a:solidFill>
              <a:srgbClr val="1BAE9F">
                <a:alpha val="0"/>
              </a:srgbClr>
            </a:solidFill>
            <a:prstDash val="solid"/>
          </a:ln>
        </p:spPr>
      </p:sp>
      <p:sp>
        <p:nvSpPr>
          <p:cNvPr id="6" name="Text 4"/>
          <p:cNvSpPr/>
          <p:nvPr/>
        </p:nvSpPr>
        <p:spPr>
          <a:xfrm>
            <a:off x="2212975" y="914400"/>
            <a:ext cx="6601460" cy="1325880"/>
          </a:xfrm>
          <a:prstGeom prst="rect">
            <a:avLst/>
          </a:prstGeom>
          <a:noFill/>
        </p:spPr>
        <p:txBody>
          <a:bodyPr wrap="square" lIns="254" tIns="254" rIns="254" bIns="254" rtlCol="0" anchor="ctr">
            <a:normAutofit/>
          </a:bodyPr>
          <a:lstStyle/>
          <a:p>
            <a:pPr marL="0" indent="0">
              <a:buNone/>
            </a:pPr>
            <a:r>
              <a:rPr lang="zh-CN" altLang="en-US" sz="37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企业技术需求与专家团队的</a:t>
            </a:r>
            <a:endParaRPr lang="zh-CN" altLang="en-US" sz="37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buNone/>
            </a:pPr>
            <a:r>
              <a:rPr lang="zh-CN" altLang="en-US" sz="37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智能匹配推荐系统</a:t>
            </a:r>
            <a:endParaRPr lang="en-US" sz="3700" dirty="0"/>
          </a:p>
        </p:txBody>
      </p:sp>
      <p:sp>
        <p:nvSpPr>
          <p:cNvPr id="7" name="Text 5"/>
          <p:cNvSpPr/>
          <p:nvPr/>
        </p:nvSpPr>
        <p:spPr>
          <a:xfrm>
            <a:off x="2212975" y="3584575"/>
            <a:ext cx="6233160" cy="292735"/>
          </a:xfrm>
          <a:prstGeom prst="rect">
            <a:avLst/>
          </a:prstGeom>
          <a:noFill/>
        </p:spPr>
        <p:txBody>
          <a:bodyPr wrap="square" lIns="0" tIns="0" rIns="0" bIns="0" rtlCol="0" anchor="ctr"/>
          <a:lstStyle/>
          <a:p>
            <a:pPr marL="0" indent="0">
              <a:buNone/>
            </a:pPr>
            <a:r>
              <a:rPr lang="zh-CN" altLang="en-US" sz="1250" dirty="0">
                <a:solidFill>
                  <a:srgbClr val="245B66"/>
                </a:solidFill>
                <a:latin typeface="微软雅黑" panose="020B0503020204020204" pitchFamily="34" charset="-122"/>
                <a:ea typeface="微软雅黑" panose="020B0503020204020204" pitchFamily="34" charset="-122"/>
                <a:cs typeface="微软雅黑" panose="020B0503020204020204" pitchFamily="34" charset="-120"/>
                <a:sym typeface="+mn-ea"/>
              </a:rPr>
              <a:t>林宏宇  23320093</a:t>
            </a:r>
            <a:endParaRPr lang="en-US" sz="1250" dirty="0"/>
          </a:p>
        </p:txBody>
      </p:sp>
      <p:sp>
        <p:nvSpPr>
          <p:cNvPr id="8" name="Text 6"/>
          <p:cNvSpPr/>
          <p:nvPr/>
        </p:nvSpPr>
        <p:spPr>
          <a:xfrm>
            <a:off x="2267712" y="2158238"/>
            <a:ext cx="5715000" cy="457200"/>
          </a:xfrm>
          <a:prstGeom prst="rect">
            <a:avLst/>
          </a:prstGeom>
          <a:noFill/>
        </p:spPr>
        <p:txBody>
          <a:bodyPr wrap="square" lIns="0" tIns="0" rIns="0" bIns="0" rtlCol="0" anchor="ctr">
            <a:normAutofit/>
          </a:bodyPr>
          <a:lstStyle/>
          <a:p>
            <a:pPr marL="0" indent="0">
              <a:buNone/>
            </a:pPr>
            <a:r>
              <a:rPr lang="en-US" sz="1100" dirty="0">
                <a:solidFill>
                  <a:srgbClr val="245B66"/>
                </a:solidFill>
                <a:latin typeface="微软雅黑" panose="020B0503020204020204" pitchFamily="34" charset="-122"/>
                <a:ea typeface="微软雅黑" panose="020B0503020204020204" pitchFamily="34" charset="-122"/>
                <a:cs typeface="微软雅黑" panose="020B0503020204020204" pitchFamily="34" charset="-120"/>
              </a:rPr>
              <a:t>企业需求 | 知识图谱 | 教师推荐 | 共同专利 | 可解释推荐 | Chatbot</a:t>
            </a:r>
            <a:endParaRPr lang="en-US" sz="1100" dirty="0"/>
          </a:p>
        </p:txBody>
      </p:sp>
      <p:sp>
        <p:nvSpPr>
          <p:cNvPr id="9" name="Shape 7"/>
          <p:cNvSpPr/>
          <p:nvPr/>
        </p:nvSpPr>
        <p:spPr>
          <a:xfrm>
            <a:off x="2267712" y="4224528"/>
            <a:ext cx="5166360" cy="0"/>
          </a:xfrm>
          <a:prstGeom prst="line">
            <a:avLst/>
          </a:prstGeom>
          <a:noFill/>
          <a:ln w="13970">
            <a:solidFill>
              <a:srgbClr val="B7E4DF"/>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AF8"/>
        </a:solidFill>
        <a:effectLst/>
      </p:bgPr>
    </p:bg>
    <p:spTree>
      <p:nvGrpSpPr>
        <p:cNvPr id="1" name=""/>
        <p:cNvGrpSpPr/>
        <p:nvPr/>
      </p:nvGrpSpPr>
      <p:grpSpPr>
        <a:xfrm>
          <a:off x="0" y="0"/>
          <a:ext cx="0" cy="0"/>
          <a:chOff x="0" y="0"/>
          <a:chExt cx="0" cy="0"/>
        </a:xfrm>
      </p:grpSpPr>
      <p:sp>
        <p:nvSpPr>
          <p:cNvPr id="2" name="Shape 0"/>
          <p:cNvSpPr/>
          <p:nvPr/>
        </p:nvSpPr>
        <p:spPr>
          <a:xfrm>
            <a:off x="502920" y="411480"/>
            <a:ext cx="109728" cy="109728"/>
          </a:xfrm>
          <a:prstGeom prst="rect">
            <a:avLst/>
          </a:prstGeom>
          <a:solidFill>
            <a:srgbClr val="1BAE9F"/>
          </a:solidFill>
          <a:ln w="12700">
            <a:solidFill>
              <a:srgbClr val="1BAE9F">
                <a:alpha val="0"/>
              </a:srgbClr>
            </a:solidFill>
            <a:prstDash val="solid"/>
          </a:ln>
        </p:spPr>
      </p:sp>
      <p:sp>
        <p:nvSpPr>
          <p:cNvPr id="3" name="Text 1"/>
          <p:cNvSpPr/>
          <p:nvPr/>
        </p:nvSpPr>
        <p:spPr>
          <a:xfrm>
            <a:off x="685800" y="347472"/>
            <a:ext cx="2926080" cy="256032"/>
          </a:xfrm>
          <a:prstGeom prst="rect">
            <a:avLst/>
          </a:prstGeom>
          <a:noFill/>
        </p:spPr>
        <p:txBody>
          <a:bodyPr wrap="square" lIns="0" tIns="0" rIns="0" bIns="0" rtlCol="0" anchor="ctr"/>
          <a:lstStyle/>
          <a:p>
            <a:pPr marL="0" indent="0">
              <a:buNone/>
            </a:pPr>
            <a:r>
              <a:rPr lang="zh-CN" altLang="en-US" sz="2800" b="1" kern="0" spc="140" dirty="0">
                <a:solidFill>
                  <a:srgbClr val="245B66"/>
                </a:solidFill>
                <a:latin typeface="Aptos" pitchFamily="34" charset="0"/>
                <a:ea typeface="Aptos" pitchFamily="34" charset="-122"/>
                <a:cs typeface="Aptos" pitchFamily="34" charset="-120"/>
              </a:rPr>
              <a:t>背景与</a:t>
            </a:r>
            <a:r>
              <a:rPr lang="zh-CN" altLang="en-US" sz="2800" b="1" kern="0" spc="140" dirty="0">
                <a:solidFill>
                  <a:srgbClr val="245B66"/>
                </a:solidFill>
                <a:latin typeface="Aptos" pitchFamily="34" charset="0"/>
                <a:ea typeface="Aptos" pitchFamily="34" charset="-122"/>
                <a:cs typeface="Aptos" pitchFamily="34" charset="-120"/>
              </a:rPr>
              <a:t>目的</a:t>
            </a:r>
            <a:endParaRPr lang="zh-CN" altLang="en-US" sz="2800" b="1" kern="0" spc="140" dirty="0">
              <a:solidFill>
                <a:srgbClr val="245B66"/>
              </a:solidFill>
              <a:latin typeface="Aptos" pitchFamily="34" charset="0"/>
              <a:ea typeface="Aptos" pitchFamily="34" charset="-122"/>
              <a:cs typeface="Aptos" pitchFamily="34" charset="-120"/>
            </a:endParaRPr>
          </a:p>
        </p:txBody>
      </p:sp>
      <p:sp>
        <p:nvSpPr>
          <p:cNvPr id="4" name="Text 2"/>
          <p:cNvSpPr/>
          <p:nvPr/>
        </p:nvSpPr>
        <p:spPr>
          <a:xfrm>
            <a:off x="567055" y="1201420"/>
            <a:ext cx="8129270" cy="773430"/>
          </a:xfrm>
          <a:prstGeom prst="rect">
            <a:avLst/>
          </a:prstGeom>
          <a:noFill/>
        </p:spPr>
        <p:txBody>
          <a:bodyPr wrap="square" lIns="0" tIns="0" rIns="0" bIns="0" rtlCol="0" anchor="ctr">
            <a:normAutofit fontScale="50000"/>
          </a:bodyPr>
          <a:lstStyle/>
          <a:p>
            <a:pPr marL="0" indent="0">
              <a:buNone/>
            </a:pPr>
            <a:r>
              <a:rPr lang="en-US" sz="25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本系统是一个</a:t>
            </a:r>
            <a:r>
              <a:rPr lang="zh-CN" altLang="en-US" sz="25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a:t>
            </a:r>
            <a:r>
              <a:rPr lang="en-US" sz="25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人岗匹配</a:t>
            </a:r>
            <a:r>
              <a:rPr lang="zh-CN" altLang="en-US" sz="25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a:t>
            </a:r>
            <a:r>
              <a:rPr lang="en-US" sz="25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推荐引擎，通过输入</a:t>
            </a:r>
            <a:r>
              <a:rPr lang="zh-CN" altLang="en-US" sz="25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a:t>
            </a:r>
            <a:r>
              <a:rPr lang="en-US" sz="25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企业名称 + 技术任务描述 + 选择偏好</a:t>
            </a:r>
            <a:r>
              <a:rPr lang="zh-CN" altLang="en-US" sz="25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a:t>
            </a:r>
            <a:r>
              <a:rPr lang="en-US" sz="25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，自动从专家库中匹配技术专家团队，</a:t>
            </a:r>
            <a:r>
              <a:rPr lang="zh-CN" altLang="en-US" sz="25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实现企业技术需求与专家团队的智能匹配</a:t>
            </a:r>
            <a:r>
              <a:rPr lang="en-US" sz="25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，并给出多维度的可解释推荐理由，重点是技术领域匹配、</a:t>
            </a:r>
            <a:r>
              <a:rPr lang="zh-CN" altLang="en-US" sz="25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历史合作模式匹配</a:t>
            </a:r>
            <a:r>
              <a:rPr lang="en-US" sz="25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、教师与企业层级匹配来形成高度的合作可行性推荐</a:t>
            </a:r>
            <a:endParaRPr lang="zh-CN" altLang="en-US" sz="2500" dirty="0"/>
          </a:p>
        </p:txBody>
      </p:sp>
      <p:sp>
        <p:nvSpPr>
          <p:cNvPr id="5" name="Shape 3"/>
          <p:cNvSpPr/>
          <p:nvPr>
            <p:custDataLst>
              <p:tags r:id="rId1"/>
            </p:custDataLst>
          </p:nvPr>
        </p:nvSpPr>
        <p:spPr>
          <a:xfrm>
            <a:off x="567055" y="2572385"/>
            <a:ext cx="2487295" cy="1505585"/>
          </a:xfrm>
          <a:prstGeom prst="rect">
            <a:avLst/>
          </a:prstGeom>
          <a:solidFill>
            <a:srgbClr val="FFFFFF"/>
          </a:solidFill>
          <a:ln w="10160">
            <a:solidFill>
              <a:srgbClr val="B7E4DF"/>
            </a:solidFill>
            <a:prstDash val="solid"/>
          </a:ln>
        </p:spPr>
      </p:sp>
      <p:sp>
        <p:nvSpPr>
          <p:cNvPr id="6" name="Text 4"/>
          <p:cNvSpPr/>
          <p:nvPr>
            <p:custDataLst>
              <p:tags r:id="rId2"/>
            </p:custDataLst>
          </p:nvPr>
        </p:nvSpPr>
        <p:spPr>
          <a:xfrm>
            <a:off x="1120140" y="2679700"/>
            <a:ext cx="1857375" cy="516890"/>
          </a:xfrm>
          <a:prstGeom prst="rect">
            <a:avLst/>
          </a:prstGeom>
          <a:noFill/>
        </p:spPr>
        <p:txBody>
          <a:bodyPr wrap="square" lIns="0" tIns="0" rIns="0" bIns="0" rtlCol="0" anchor="ctr"/>
          <a:lstStyle/>
          <a:p>
            <a:pPr marL="0" indent="0">
              <a:buNone/>
            </a:pPr>
            <a:r>
              <a:rPr lang="zh-CN" altLang="en-US" sz="1400" b="1" dirty="0">
                <a:solidFill>
                  <a:srgbClr val="1BAE9F"/>
                </a:solidFill>
                <a:latin typeface="Aptos" pitchFamily="34" charset="0"/>
                <a:ea typeface="Aptos" pitchFamily="34" charset="-122"/>
                <a:cs typeface="Aptos" pitchFamily="34" charset="-120"/>
              </a:rPr>
              <a:t>不明确的需求与</a:t>
            </a:r>
            <a:endParaRPr lang="zh-CN" altLang="en-US" sz="1400" b="1" dirty="0">
              <a:solidFill>
                <a:srgbClr val="1BAE9F"/>
              </a:solidFill>
              <a:latin typeface="Aptos" pitchFamily="34" charset="0"/>
              <a:ea typeface="Aptos" pitchFamily="34" charset="-122"/>
              <a:cs typeface="Aptos" pitchFamily="34" charset="-120"/>
            </a:endParaRPr>
          </a:p>
          <a:p>
            <a:pPr marL="0" indent="0">
              <a:buNone/>
            </a:pPr>
            <a:r>
              <a:rPr lang="zh-CN" altLang="en-US" sz="1400" b="1" dirty="0">
                <a:solidFill>
                  <a:srgbClr val="1BAE9F"/>
                </a:solidFill>
                <a:latin typeface="Aptos" pitchFamily="34" charset="0"/>
                <a:ea typeface="Aptos" pitchFamily="34" charset="-122"/>
                <a:cs typeface="Aptos" pitchFamily="34" charset="-120"/>
              </a:rPr>
              <a:t>实际落地</a:t>
            </a:r>
            <a:r>
              <a:rPr lang="zh-CN" altLang="en-US" sz="1400" b="1" dirty="0">
                <a:solidFill>
                  <a:srgbClr val="1BAE9F"/>
                </a:solidFill>
                <a:latin typeface="Aptos" pitchFamily="34" charset="0"/>
                <a:ea typeface="Aptos" pitchFamily="34" charset="-122"/>
                <a:cs typeface="Aptos" pitchFamily="34" charset="-120"/>
              </a:rPr>
              <a:t>要求</a:t>
            </a:r>
            <a:endParaRPr lang="zh-CN" altLang="en-US" sz="1400" b="1" dirty="0">
              <a:solidFill>
                <a:srgbClr val="1BAE9F"/>
              </a:solidFill>
              <a:latin typeface="Aptos" pitchFamily="34" charset="0"/>
              <a:ea typeface="Aptos" pitchFamily="34" charset="-122"/>
              <a:cs typeface="Aptos" pitchFamily="34" charset="-120"/>
            </a:endParaRPr>
          </a:p>
        </p:txBody>
      </p:sp>
      <p:sp>
        <p:nvSpPr>
          <p:cNvPr id="7" name="Text 5"/>
          <p:cNvSpPr/>
          <p:nvPr>
            <p:custDataLst>
              <p:tags r:id="rId3"/>
            </p:custDataLst>
          </p:nvPr>
        </p:nvSpPr>
        <p:spPr>
          <a:xfrm>
            <a:off x="809625" y="3182620"/>
            <a:ext cx="2074545" cy="773430"/>
          </a:xfrm>
          <a:prstGeom prst="rect">
            <a:avLst/>
          </a:prstGeom>
          <a:noFill/>
        </p:spPr>
        <p:txBody>
          <a:bodyPr wrap="square" lIns="0" tIns="0" rIns="0" bIns="0" rtlCol="0" anchor="ctr">
            <a:normAutofit/>
          </a:bodyPr>
          <a:lstStyle/>
          <a:p>
            <a:pPr marL="0" indent="0">
              <a:buNone/>
            </a:pPr>
            <a:r>
              <a:rPr lang="zh-CN" altLang="en-US" sz="122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企业需求通常是业务语言，很难直接对应教师研究方向</a:t>
            </a:r>
            <a:r>
              <a:rPr lang="en-US" altLang="zh-CN" sz="122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a:t>
            </a:r>
            <a:r>
              <a:rPr lang="zh-CN" altLang="en-US" sz="122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并且需要考虑实际合作</a:t>
            </a:r>
            <a:r>
              <a:rPr lang="zh-CN" altLang="en-US" sz="122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可能性</a:t>
            </a:r>
            <a:endParaRPr lang="zh-CN" altLang="en-US" sz="122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8" name="Shape 6"/>
          <p:cNvSpPr/>
          <p:nvPr>
            <p:custDataLst>
              <p:tags r:id="rId4"/>
            </p:custDataLst>
          </p:nvPr>
        </p:nvSpPr>
        <p:spPr>
          <a:xfrm>
            <a:off x="3355975" y="2572385"/>
            <a:ext cx="2487295" cy="1505585"/>
          </a:xfrm>
          <a:prstGeom prst="rect">
            <a:avLst/>
          </a:prstGeom>
          <a:solidFill>
            <a:srgbClr val="0F2437"/>
          </a:solidFill>
          <a:ln w="10160">
            <a:solidFill>
              <a:srgbClr val="0F2437"/>
            </a:solidFill>
            <a:prstDash val="solid"/>
          </a:ln>
        </p:spPr>
      </p:sp>
      <p:sp>
        <p:nvSpPr>
          <p:cNvPr id="9" name="Text 7"/>
          <p:cNvSpPr/>
          <p:nvPr>
            <p:custDataLst>
              <p:tags r:id="rId5"/>
            </p:custDataLst>
          </p:nvPr>
        </p:nvSpPr>
        <p:spPr>
          <a:xfrm>
            <a:off x="3611880" y="2809875"/>
            <a:ext cx="960755" cy="292735"/>
          </a:xfrm>
          <a:prstGeom prst="rect">
            <a:avLst/>
          </a:prstGeom>
          <a:noFill/>
        </p:spPr>
        <p:txBody>
          <a:bodyPr wrap="square" lIns="0" tIns="0" rIns="0" bIns="0" rtlCol="0" anchor="ctr"/>
          <a:lstStyle/>
          <a:p>
            <a:pPr marL="0" indent="0">
              <a:buNone/>
            </a:pPr>
            <a:r>
              <a:rPr lang="zh-CN" altLang="en-US" sz="1400" b="1" dirty="0">
                <a:solidFill>
                  <a:srgbClr val="B7E4DF"/>
                </a:solidFill>
                <a:latin typeface="Aptos" pitchFamily="34" charset="0"/>
                <a:ea typeface="Aptos" pitchFamily="34" charset="-122"/>
                <a:cs typeface="Aptos" pitchFamily="34" charset="-120"/>
              </a:rPr>
              <a:t>数据分散</a:t>
            </a:r>
            <a:endParaRPr lang="en-US" sz="1400" dirty="0"/>
          </a:p>
        </p:txBody>
      </p:sp>
      <p:sp>
        <p:nvSpPr>
          <p:cNvPr id="10" name="Text 8"/>
          <p:cNvSpPr/>
          <p:nvPr>
            <p:custDataLst>
              <p:tags r:id="rId6"/>
            </p:custDataLst>
          </p:nvPr>
        </p:nvSpPr>
        <p:spPr>
          <a:xfrm>
            <a:off x="3522345" y="3054985"/>
            <a:ext cx="2155190" cy="1014730"/>
          </a:xfrm>
          <a:prstGeom prst="rect">
            <a:avLst/>
          </a:prstGeom>
          <a:noFill/>
        </p:spPr>
        <p:txBody>
          <a:bodyPr wrap="square" lIns="0" tIns="0" rIns="0" bIns="0" rtlCol="0" anchor="ctr">
            <a:normAutofit/>
          </a:bodyPr>
          <a:lstStyle/>
          <a:p>
            <a:pPr marL="0" indent="0">
              <a:buNone/>
            </a:pPr>
            <a:r>
              <a:rPr lang="en-US" sz="122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教师、论文、项目、专利和企业合作信息分散在不同来源</a:t>
            </a:r>
            <a:endParaRPr lang="en-US" sz="122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buNone/>
            </a:pPr>
            <a:r>
              <a:rPr lang="zh-CN" altLang="en-US" sz="122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需要一个完整的</a:t>
            </a:r>
            <a:r>
              <a:rPr lang="zh-CN" altLang="en-US" sz="122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信息画像</a:t>
            </a:r>
            <a:endParaRPr lang="zh-CN" altLang="en-US" sz="122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1" name="Shape 9"/>
          <p:cNvSpPr/>
          <p:nvPr>
            <p:custDataLst>
              <p:tags r:id="rId7"/>
            </p:custDataLst>
          </p:nvPr>
        </p:nvSpPr>
        <p:spPr>
          <a:xfrm>
            <a:off x="6144895" y="2573020"/>
            <a:ext cx="2487295" cy="1504950"/>
          </a:xfrm>
          <a:prstGeom prst="rect">
            <a:avLst/>
          </a:prstGeom>
          <a:solidFill>
            <a:srgbClr val="FFFFFF"/>
          </a:solidFill>
          <a:ln w="10160">
            <a:solidFill>
              <a:srgbClr val="B7E4DF"/>
            </a:solidFill>
            <a:prstDash val="solid"/>
          </a:ln>
        </p:spPr>
      </p:sp>
      <p:sp>
        <p:nvSpPr>
          <p:cNvPr id="12" name="Text 10"/>
          <p:cNvSpPr/>
          <p:nvPr>
            <p:custDataLst>
              <p:tags r:id="rId8"/>
            </p:custDataLst>
          </p:nvPr>
        </p:nvSpPr>
        <p:spPr>
          <a:xfrm>
            <a:off x="6315075" y="2644140"/>
            <a:ext cx="2023110" cy="603885"/>
          </a:xfrm>
          <a:prstGeom prst="rect">
            <a:avLst/>
          </a:prstGeom>
          <a:noFill/>
        </p:spPr>
        <p:txBody>
          <a:bodyPr wrap="square" lIns="0" tIns="0" rIns="0" bIns="0" rtlCol="0" anchor="ctr"/>
          <a:lstStyle/>
          <a:p>
            <a:pPr marL="0" indent="0">
              <a:buNone/>
            </a:pPr>
            <a:r>
              <a:rPr lang="zh-CN" altLang="en-US" sz="1400" b="1" dirty="0">
                <a:solidFill>
                  <a:srgbClr val="1BAE9F"/>
                </a:solidFill>
                <a:latin typeface="Aptos" pitchFamily="34" charset="0"/>
                <a:ea typeface="Aptos" pitchFamily="34" charset="-122"/>
                <a:cs typeface="Aptos" pitchFamily="34" charset="-120"/>
              </a:rPr>
              <a:t>推荐理由难解释与</a:t>
            </a:r>
            <a:r>
              <a:rPr lang="zh-CN" altLang="en-US" sz="1400" b="1" dirty="0">
                <a:solidFill>
                  <a:srgbClr val="1BAE9F"/>
                </a:solidFill>
                <a:latin typeface="Aptos" pitchFamily="34" charset="0"/>
                <a:ea typeface="Aptos" pitchFamily="34" charset="-122"/>
                <a:cs typeface="Aptos" pitchFamily="34" charset="-120"/>
              </a:rPr>
              <a:t>不合理</a:t>
            </a:r>
            <a:endParaRPr lang="zh-CN" altLang="en-US" sz="1400" b="1" dirty="0">
              <a:solidFill>
                <a:srgbClr val="1BAE9F"/>
              </a:solidFill>
              <a:latin typeface="Aptos" pitchFamily="34" charset="0"/>
              <a:ea typeface="Aptos" pitchFamily="34" charset="-122"/>
              <a:cs typeface="Aptos" pitchFamily="34" charset="-120"/>
            </a:endParaRPr>
          </a:p>
        </p:txBody>
      </p:sp>
      <p:sp>
        <p:nvSpPr>
          <p:cNvPr id="13" name="Text 11"/>
          <p:cNvSpPr/>
          <p:nvPr>
            <p:custDataLst>
              <p:tags r:id="rId9"/>
            </p:custDataLst>
          </p:nvPr>
        </p:nvSpPr>
        <p:spPr>
          <a:xfrm>
            <a:off x="6315075" y="2941955"/>
            <a:ext cx="2134235" cy="1136650"/>
          </a:xfrm>
          <a:prstGeom prst="rect">
            <a:avLst/>
          </a:prstGeom>
          <a:noFill/>
        </p:spPr>
        <p:txBody>
          <a:bodyPr wrap="square" lIns="0" tIns="0" rIns="0" bIns="0" rtlCol="0" anchor="ctr">
            <a:normAutofit/>
          </a:bodyPr>
          <a:lstStyle/>
          <a:p>
            <a:pPr marL="0" indent="0">
              <a:buNone/>
            </a:pPr>
            <a:r>
              <a:rPr lang="zh-CN" altLang="en-US" sz="122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通过</a:t>
            </a:r>
            <a:r>
              <a:rPr lang="en-US" altLang="zh-CN" sz="122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KG、RAG</a:t>
            </a:r>
            <a:r>
              <a:rPr lang="zh-CN" altLang="en-US" sz="122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等技术对教师企业之间</a:t>
            </a:r>
            <a:r>
              <a:rPr lang="zh-CN" altLang="en-US" sz="122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的历史合作经历匹配</a:t>
            </a:r>
            <a:r>
              <a:rPr lang="en-US" altLang="zh-CN" sz="122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a:t>
            </a:r>
            <a:r>
              <a:rPr lang="zh-CN" altLang="en-US" sz="122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层级匹配等精确匹配</a:t>
            </a:r>
            <a:endParaRPr lang="en-US" sz="12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AF8"/>
        </a:solidFill>
        <a:effectLst/>
      </p:bgPr>
    </p:bg>
    <p:spTree>
      <p:nvGrpSpPr>
        <p:cNvPr id="1" name=""/>
        <p:cNvGrpSpPr/>
        <p:nvPr/>
      </p:nvGrpSpPr>
      <p:grpSpPr>
        <a:xfrm>
          <a:off x="0" y="0"/>
          <a:ext cx="0" cy="0"/>
          <a:chOff x="0" y="0"/>
          <a:chExt cx="0" cy="0"/>
        </a:xfrm>
      </p:grpSpPr>
      <p:sp>
        <p:nvSpPr>
          <p:cNvPr id="2" name="Shape 0"/>
          <p:cNvSpPr/>
          <p:nvPr/>
        </p:nvSpPr>
        <p:spPr>
          <a:xfrm>
            <a:off x="502920" y="411480"/>
            <a:ext cx="109728" cy="109728"/>
          </a:xfrm>
          <a:prstGeom prst="rect">
            <a:avLst/>
          </a:prstGeom>
          <a:solidFill>
            <a:srgbClr val="1BAE9F"/>
          </a:solidFill>
          <a:ln w="12700">
            <a:solidFill>
              <a:srgbClr val="1BAE9F">
                <a:alpha val="0"/>
              </a:srgbClr>
            </a:solidFill>
            <a:prstDash val="solid"/>
          </a:ln>
        </p:spPr>
      </p:sp>
      <p:sp>
        <p:nvSpPr>
          <p:cNvPr id="3" name="Text 1"/>
          <p:cNvSpPr/>
          <p:nvPr/>
        </p:nvSpPr>
        <p:spPr>
          <a:xfrm>
            <a:off x="685800" y="347345"/>
            <a:ext cx="7268845" cy="255905"/>
          </a:xfrm>
          <a:prstGeom prst="rect">
            <a:avLst/>
          </a:prstGeom>
          <a:noFill/>
        </p:spPr>
        <p:txBody>
          <a:bodyPr wrap="square" lIns="0" tIns="0" rIns="0" bIns="0" rtlCol="0" anchor="ctr"/>
          <a:lstStyle/>
          <a:p>
            <a:pPr marL="0" indent="0">
              <a:buNone/>
            </a:pPr>
            <a:r>
              <a:rPr lang="zh-CN" altLang="en-US" sz="2800" b="1" kern="0" spc="140" dirty="0">
                <a:solidFill>
                  <a:srgbClr val="245B66"/>
                </a:solidFill>
                <a:latin typeface="Aptos" pitchFamily="34" charset="0"/>
                <a:ea typeface="Aptos" pitchFamily="34" charset="-122"/>
                <a:cs typeface="Aptos" pitchFamily="34" charset="-120"/>
              </a:rPr>
              <a:t>任务定义：输入</a:t>
            </a:r>
            <a:r>
              <a:rPr lang="zh-CN" altLang="en-US" sz="2800" b="1" kern="0" spc="140" dirty="0">
                <a:solidFill>
                  <a:srgbClr val="245B66"/>
                </a:solidFill>
                <a:latin typeface="Aptos" pitchFamily="34" charset="0"/>
                <a:ea typeface="Aptos" pitchFamily="34" charset="-122"/>
                <a:cs typeface="Aptos" pitchFamily="34" charset="-120"/>
              </a:rPr>
              <a:t>与输出</a:t>
            </a:r>
            <a:endParaRPr lang="en-US" sz="2800" dirty="0"/>
          </a:p>
        </p:txBody>
      </p:sp>
      <p:sp>
        <p:nvSpPr>
          <p:cNvPr id="5" name="Shape 3"/>
          <p:cNvSpPr/>
          <p:nvPr/>
        </p:nvSpPr>
        <p:spPr>
          <a:xfrm>
            <a:off x="585470" y="1122680"/>
            <a:ext cx="3246120" cy="2604770"/>
          </a:xfrm>
          <a:prstGeom prst="rect">
            <a:avLst/>
          </a:prstGeom>
          <a:solidFill>
            <a:srgbClr val="B7E4DF"/>
          </a:solidFill>
          <a:ln w="12700">
            <a:solidFill>
              <a:srgbClr val="B7E4DF">
                <a:alpha val="0"/>
              </a:srgbClr>
            </a:solidFill>
            <a:prstDash val="solid"/>
          </a:ln>
        </p:spPr>
      </p:sp>
      <p:sp>
        <p:nvSpPr>
          <p:cNvPr id="6" name="Text 4"/>
          <p:cNvSpPr/>
          <p:nvPr/>
        </p:nvSpPr>
        <p:spPr>
          <a:xfrm>
            <a:off x="913765" y="1389380"/>
            <a:ext cx="2398395" cy="2000885"/>
          </a:xfrm>
          <a:prstGeom prst="rect">
            <a:avLst/>
          </a:prstGeom>
          <a:noFill/>
        </p:spPr>
        <p:txBody>
          <a:bodyPr wrap="square" lIns="0" tIns="0" rIns="0" bIns="0" rtlCol="0" anchor="ctr">
            <a:noAutofit/>
          </a:bodyPr>
          <a:lstStyle/>
          <a:p>
            <a:pPr marL="0" indent="0">
              <a:buNone/>
            </a:pPr>
            <a:r>
              <a:rPr lang="zh-CN" altLang="en-US" sz="24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企业名字</a:t>
            </a:r>
            <a:endParaRPr lang="zh-CN" altLang="en-US" sz="24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buNone/>
            </a:pPr>
            <a:endParaRPr lang="zh-CN" altLang="en-US" sz="24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buNone/>
            </a:pPr>
            <a:r>
              <a:rPr lang="zh-CN" altLang="en-US" sz="24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企业技术需求</a:t>
            </a:r>
            <a:endParaRPr lang="zh-CN" altLang="en-US" sz="24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buNone/>
            </a:pPr>
            <a:endParaRPr lang="zh-CN" altLang="en-US" sz="24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buNone/>
            </a:pPr>
            <a:r>
              <a:rPr lang="zh-CN" altLang="en-US" sz="24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地区等偏好</a:t>
            </a:r>
            <a:r>
              <a:rPr lang="zh-CN" altLang="en-US" sz="24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sym typeface="+mn-ea"/>
              </a:rPr>
              <a:t>要求</a:t>
            </a:r>
            <a:endParaRPr lang="zh-CN" altLang="en-US" sz="24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sym typeface="+mn-ea"/>
            </a:endParaRPr>
          </a:p>
        </p:txBody>
      </p:sp>
      <p:sp>
        <p:nvSpPr>
          <p:cNvPr id="7" name="Shape 5"/>
          <p:cNvSpPr/>
          <p:nvPr/>
        </p:nvSpPr>
        <p:spPr>
          <a:xfrm>
            <a:off x="4521962" y="875157"/>
            <a:ext cx="73152" cy="3840480"/>
          </a:xfrm>
          <a:prstGeom prst="rect">
            <a:avLst/>
          </a:prstGeom>
          <a:solidFill>
            <a:srgbClr val="1BAE9F"/>
          </a:solidFill>
          <a:ln w="12700">
            <a:solidFill>
              <a:srgbClr val="1BAE9F">
                <a:alpha val="0"/>
              </a:srgbClr>
            </a:solidFill>
            <a:prstDash val="solid"/>
          </a:ln>
        </p:spPr>
      </p:sp>
      <p:sp>
        <p:nvSpPr>
          <p:cNvPr id="8" name="Shape 6"/>
          <p:cNvSpPr/>
          <p:nvPr/>
        </p:nvSpPr>
        <p:spPr>
          <a:xfrm>
            <a:off x="685800" y="2331593"/>
            <a:ext cx="118872" cy="118872"/>
          </a:xfrm>
          <a:prstGeom prst="ellipse">
            <a:avLst/>
          </a:prstGeom>
          <a:solidFill>
            <a:srgbClr val="1BAE9F"/>
          </a:solidFill>
          <a:ln w="12700">
            <a:solidFill>
              <a:srgbClr val="1BAE9F">
                <a:alpha val="0"/>
              </a:srgbClr>
            </a:solidFill>
            <a:prstDash val="solid"/>
          </a:ln>
        </p:spPr>
      </p:sp>
      <p:sp>
        <p:nvSpPr>
          <p:cNvPr id="9" name="Text 7"/>
          <p:cNvSpPr/>
          <p:nvPr/>
        </p:nvSpPr>
        <p:spPr>
          <a:xfrm>
            <a:off x="4983607" y="1122553"/>
            <a:ext cx="3246120" cy="384048"/>
          </a:xfrm>
          <a:prstGeom prst="rect">
            <a:avLst/>
          </a:prstGeom>
          <a:noFill/>
        </p:spPr>
        <p:txBody>
          <a:bodyPr wrap="square" lIns="0" tIns="0" rIns="0" bIns="0" rtlCol="0" anchor="ctr">
            <a:normAutofit/>
          </a:bodyPr>
          <a:lstStyle/>
          <a:p>
            <a:pPr marL="0" indent="0">
              <a:buNone/>
            </a:pPr>
            <a:r>
              <a:rPr lang="zh-CN" altLang="en-US"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教师推荐列表</a:t>
            </a:r>
            <a:endParaRPr lang="en-US" dirty="0"/>
          </a:p>
        </p:txBody>
      </p:sp>
      <p:sp>
        <p:nvSpPr>
          <p:cNvPr id="10" name="Shape 8"/>
          <p:cNvSpPr/>
          <p:nvPr/>
        </p:nvSpPr>
        <p:spPr>
          <a:xfrm>
            <a:off x="685800" y="1554734"/>
            <a:ext cx="118872" cy="118872"/>
          </a:xfrm>
          <a:prstGeom prst="ellipse">
            <a:avLst/>
          </a:prstGeom>
          <a:solidFill>
            <a:srgbClr val="1BAE9F"/>
          </a:solidFill>
          <a:ln w="12700">
            <a:solidFill>
              <a:srgbClr val="1BAE9F">
                <a:alpha val="0"/>
              </a:srgbClr>
            </a:solidFill>
            <a:prstDash val="solid"/>
          </a:ln>
        </p:spPr>
      </p:sp>
      <p:sp>
        <p:nvSpPr>
          <p:cNvPr id="12" name="Shape 10"/>
          <p:cNvSpPr/>
          <p:nvPr/>
        </p:nvSpPr>
        <p:spPr>
          <a:xfrm>
            <a:off x="4983480" y="1831340"/>
            <a:ext cx="118872" cy="118872"/>
          </a:xfrm>
          <a:prstGeom prst="ellipse">
            <a:avLst/>
          </a:prstGeom>
          <a:solidFill>
            <a:srgbClr val="1BAE9F"/>
          </a:solidFill>
          <a:ln w="12700">
            <a:solidFill>
              <a:srgbClr val="1BAE9F">
                <a:alpha val="0"/>
              </a:srgbClr>
            </a:solidFill>
            <a:prstDash val="solid"/>
          </a:ln>
        </p:spPr>
      </p:sp>
      <p:sp>
        <p:nvSpPr>
          <p:cNvPr id="13" name="Text 11"/>
          <p:cNvSpPr/>
          <p:nvPr/>
        </p:nvSpPr>
        <p:spPr>
          <a:xfrm>
            <a:off x="5210175" y="1757045"/>
            <a:ext cx="3683635" cy="509905"/>
          </a:xfrm>
          <a:prstGeom prst="rect">
            <a:avLst/>
          </a:prstGeom>
          <a:noFill/>
        </p:spPr>
        <p:txBody>
          <a:bodyPr wrap="square" lIns="0" tIns="0" rIns="0" bIns="0" rtlCol="0" anchor="ctr">
            <a:noAutofit/>
          </a:bodyPr>
          <a:lstStyle/>
          <a:p>
            <a:pPr marL="0" indent="0">
              <a:buNone/>
            </a:pPr>
            <a:r>
              <a:rPr lang="zh-CN" altLang="en-US" sz="14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多维度评价</a:t>
            </a:r>
            <a:endParaRPr lang="zh-CN" altLang="en-US" sz="14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buNone/>
            </a:pPr>
            <a:r>
              <a:rPr lang="zh-CN" altLang="en-US" sz="14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研究匹配、学术前沿、技术攻关、产业协同等</a:t>
            </a:r>
            <a:endParaRPr lang="zh-CN" altLang="en-US" sz="14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6" name="Text 14"/>
          <p:cNvSpPr/>
          <p:nvPr/>
        </p:nvSpPr>
        <p:spPr>
          <a:xfrm>
            <a:off x="8458200" y="4668012"/>
            <a:ext cx="384048" cy="219456"/>
          </a:xfrm>
          <a:prstGeom prst="rect">
            <a:avLst/>
          </a:prstGeom>
          <a:noFill/>
        </p:spPr>
        <p:txBody>
          <a:bodyPr wrap="square" lIns="0" tIns="0" rIns="0" bIns="0" rtlCol="0" anchor="ctr">
            <a:normAutofit/>
          </a:bodyPr>
          <a:lstStyle/>
          <a:p>
            <a:pPr marL="0" indent="0" algn="ctr">
              <a:buNone/>
            </a:pPr>
            <a:r>
              <a:rPr lang="en-US" sz="800" b="1" dirty="0">
                <a:solidFill>
                  <a:srgbClr val="FFFFFF"/>
                </a:solidFill>
                <a:latin typeface="Aptos" pitchFamily="34" charset="0"/>
                <a:ea typeface="Aptos" pitchFamily="34" charset="-122"/>
                <a:cs typeface="Aptos" pitchFamily="34" charset="-120"/>
              </a:rPr>
              <a:t>03</a:t>
            </a:r>
            <a:endParaRPr lang="en-US" sz="800" dirty="0"/>
          </a:p>
        </p:txBody>
      </p:sp>
      <p:sp>
        <p:nvSpPr>
          <p:cNvPr id="17" name="Shape 8"/>
          <p:cNvSpPr/>
          <p:nvPr/>
        </p:nvSpPr>
        <p:spPr>
          <a:xfrm>
            <a:off x="4983480" y="2572004"/>
            <a:ext cx="118872" cy="118872"/>
          </a:xfrm>
          <a:prstGeom prst="ellipse">
            <a:avLst/>
          </a:prstGeom>
          <a:solidFill>
            <a:srgbClr val="1BAE9F"/>
          </a:solidFill>
          <a:ln w="12700">
            <a:solidFill>
              <a:srgbClr val="1BAE9F">
                <a:alpha val="0"/>
              </a:srgbClr>
            </a:solidFill>
            <a:prstDash val="solid"/>
          </a:ln>
        </p:spPr>
      </p:sp>
      <p:sp>
        <p:nvSpPr>
          <p:cNvPr id="19" name="Shape 8"/>
          <p:cNvSpPr/>
          <p:nvPr/>
        </p:nvSpPr>
        <p:spPr>
          <a:xfrm>
            <a:off x="4983480" y="3358134"/>
            <a:ext cx="118872" cy="118872"/>
          </a:xfrm>
          <a:prstGeom prst="ellipse">
            <a:avLst/>
          </a:prstGeom>
          <a:solidFill>
            <a:srgbClr val="1BAE9F"/>
          </a:solidFill>
          <a:ln w="12700">
            <a:solidFill>
              <a:srgbClr val="1BAE9F">
                <a:alpha val="0"/>
              </a:srgbClr>
            </a:solidFill>
            <a:prstDash val="solid"/>
          </a:ln>
        </p:spPr>
      </p:sp>
      <p:sp>
        <p:nvSpPr>
          <p:cNvPr id="20" name="Text 9"/>
          <p:cNvSpPr/>
          <p:nvPr/>
        </p:nvSpPr>
        <p:spPr>
          <a:xfrm>
            <a:off x="5210302" y="3343529"/>
            <a:ext cx="3246120" cy="384048"/>
          </a:xfrm>
          <a:prstGeom prst="rect">
            <a:avLst/>
          </a:prstGeom>
          <a:noFill/>
        </p:spPr>
        <p:txBody>
          <a:bodyPr wrap="square" lIns="0" tIns="0" rIns="0" bIns="0" rtlCol="0" anchor="ctr">
            <a:noAutofit/>
          </a:bodyPr>
          <a:lstStyle/>
          <a:p>
            <a:pPr marL="0" indent="0">
              <a:buNone/>
            </a:pPr>
            <a:r>
              <a:rPr lang="zh-CN" altLang="en-US" sz="14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推荐理由</a:t>
            </a:r>
            <a:endParaRPr lang="zh-CN" altLang="en-US" sz="14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buNone/>
            </a:pPr>
            <a:r>
              <a:rPr lang="zh-CN" altLang="en-US" sz="14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自然语言说明推荐依据</a:t>
            </a:r>
            <a:endParaRPr lang="zh-CN" altLang="en-US" sz="14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2" name="Text 9"/>
          <p:cNvSpPr/>
          <p:nvPr/>
        </p:nvSpPr>
        <p:spPr>
          <a:xfrm>
            <a:off x="5212207" y="2544699"/>
            <a:ext cx="3246120" cy="384048"/>
          </a:xfrm>
          <a:prstGeom prst="rect">
            <a:avLst/>
          </a:prstGeom>
          <a:noFill/>
        </p:spPr>
        <p:txBody>
          <a:bodyPr wrap="square" lIns="0" tIns="0" rIns="0" bIns="0" rtlCol="0" anchor="ctr">
            <a:noAutofit/>
          </a:bodyPr>
          <a:lstStyle/>
          <a:p>
            <a:pPr marL="0" indent="0">
              <a:buNone/>
            </a:pPr>
            <a:r>
              <a:rPr lang="zh-CN" altLang="en-US" sz="14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合作可行性分析</a:t>
            </a:r>
            <a:endParaRPr lang="zh-CN" altLang="en-US" sz="14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buNone/>
            </a:pPr>
            <a:r>
              <a:rPr lang="zh-CN" altLang="en-US" sz="14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历史合作相似性</a:t>
            </a:r>
            <a:r>
              <a:rPr lang="en-US" altLang="zh-CN" sz="14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a:t>
            </a:r>
            <a:r>
              <a:rPr lang="zh-CN" altLang="en-US" sz="14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教师与企业层级</a:t>
            </a:r>
            <a:r>
              <a:rPr lang="zh-CN" altLang="en-US" sz="14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匹配</a:t>
            </a:r>
            <a:endParaRPr lang="zh-CN" altLang="en-US" sz="14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4" name="Shape 6"/>
          <p:cNvSpPr/>
          <p:nvPr/>
        </p:nvSpPr>
        <p:spPr>
          <a:xfrm>
            <a:off x="694055" y="3008503"/>
            <a:ext cx="118872" cy="118872"/>
          </a:xfrm>
          <a:prstGeom prst="ellipse">
            <a:avLst/>
          </a:prstGeom>
          <a:solidFill>
            <a:srgbClr val="1BAE9F"/>
          </a:solidFill>
          <a:ln w="12700">
            <a:solidFill>
              <a:srgbClr val="1BAE9F">
                <a:alpha val="0"/>
              </a:srgbClr>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312795" y="2050415"/>
            <a:ext cx="2855595" cy="645160"/>
          </a:xfrm>
          <a:prstGeom prst="rect">
            <a:avLst/>
          </a:prstGeom>
          <a:noFill/>
        </p:spPr>
        <p:txBody>
          <a:bodyPr wrap="square" lIns="0" tIns="0" rIns="0" bIns="0" rtlCol="0" anchor="ctr"/>
          <a:lstStyle/>
          <a:p>
            <a:pPr marL="0" indent="0">
              <a:buNone/>
            </a:pPr>
            <a:r>
              <a:rPr lang="zh-CN" altLang="en-US" sz="3600" b="1" kern="0" spc="140" dirty="0">
                <a:solidFill>
                  <a:srgbClr val="245B66"/>
                </a:solidFill>
                <a:latin typeface="Aptos" pitchFamily="34" charset="0"/>
                <a:ea typeface="Aptos" pitchFamily="34" charset="-122"/>
                <a:cs typeface="Aptos" pitchFamily="34" charset="-120"/>
              </a:rPr>
              <a:t>知识库构建</a:t>
            </a:r>
            <a:endParaRPr lang="zh-CN" altLang="en-US" sz="3600" b="1" kern="0" spc="140" dirty="0">
              <a:solidFill>
                <a:srgbClr val="245B66"/>
              </a:solidFill>
              <a:latin typeface="Aptos" pitchFamily="34" charset="0"/>
              <a:ea typeface="Aptos" pitchFamily="34" charset="-122"/>
              <a:cs typeface="Aptos" pitchFamily="34" charset="-12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AF8"/>
        </a:solidFill>
        <a:effectLst/>
      </p:bgPr>
    </p:bg>
    <p:spTree>
      <p:nvGrpSpPr>
        <p:cNvPr id="1" name=""/>
        <p:cNvGrpSpPr/>
        <p:nvPr/>
      </p:nvGrpSpPr>
      <p:grpSpPr>
        <a:xfrm>
          <a:off x="0" y="0"/>
          <a:ext cx="0" cy="0"/>
          <a:chOff x="0" y="0"/>
          <a:chExt cx="0" cy="0"/>
        </a:xfrm>
      </p:grpSpPr>
      <p:sp>
        <p:nvSpPr>
          <p:cNvPr id="2" name="Shape 0"/>
          <p:cNvSpPr/>
          <p:nvPr/>
        </p:nvSpPr>
        <p:spPr>
          <a:xfrm>
            <a:off x="502920" y="411480"/>
            <a:ext cx="109728" cy="109728"/>
          </a:xfrm>
          <a:prstGeom prst="rect">
            <a:avLst/>
          </a:prstGeom>
          <a:solidFill>
            <a:srgbClr val="1BAE9F"/>
          </a:solidFill>
          <a:ln w="12700">
            <a:solidFill>
              <a:srgbClr val="1BAE9F">
                <a:alpha val="0"/>
              </a:srgbClr>
            </a:solidFill>
            <a:prstDash val="solid"/>
          </a:ln>
        </p:spPr>
      </p:sp>
      <p:sp>
        <p:nvSpPr>
          <p:cNvPr id="3" name="Text 1"/>
          <p:cNvSpPr/>
          <p:nvPr/>
        </p:nvSpPr>
        <p:spPr>
          <a:xfrm>
            <a:off x="685800" y="347345"/>
            <a:ext cx="7268845" cy="255905"/>
          </a:xfrm>
          <a:prstGeom prst="rect">
            <a:avLst/>
          </a:prstGeom>
          <a:noFill/>
        </p:spPr>
        <p:txBody>
          <a:bodyPr wrap="square" lIns="0" tIns="0" rIns="0" bIns="0" rtlCol="0" anchor="ctr"/>
          <a:lstStyle/>
          <a:p>
            <a:pPr marL="0" indent="0">
              <a:buNone/>
            </a:pPr>
            <a:r>
              <a:rPr lang="zh-CN" altLang="en-US" sz="2800" b="1" kern="0" spc="140" dirty="0">
                <a:solidFill>
                  <a:srgbClr val="245B66"/>
                </a:solidFill>
                <a:latin typeface="Aptos" pitchFamily="34" charset="0"/>
                <a:ea typeface="Aptos" pitchFamily="34" charset="-122"/>
                <a:cs typeface="Aptos" pitchFamily="34" charset="-120"/>
              </a:rPr>
              <a:t>知识库数据</a:t>
            </a:r>
            <a:endParaRPr lang="zh-CN" altLang="en-US" sz="2800" b="1" kern="0" spc="140" dirty="0">
              <a:solidFill>
                <a:srgbClr val="245B66"/>
              </a:solidFill>
              <a:latin typeface="Aptos" pitchFamily="34" charset="0"/>
              <a:ea typeface="Aptos" pitchFamily="34" charset="-122"/>
              <a:cs typeface="Aptos" pitchFamily="34" charset="-120"/>
            </a:endParaRPr>
          </a:p>
        </p:txBody>
      </p:sp>
      <p:sp>
        <p:nvSpPr>
          <p:cNvPr id="9" name="Text 7"/>
          <p:cNvSpPr/>
          <p:nvPr/>
        </p:nvSpPr>
        <p:spPr>
          <a:xfrm>
            <a:off x="4983607" y="1258443"/>
            <a:ext cx="3246120" cy="384048"/>
          </a:xfrm>
          <a:prstGeom prst="rect">
            <a:avLst/>
          </a:prstGeom>
          <a:noFill/>
        </p:spPr>
        <p:txBody>
          <a:bodyPr wrap="square" lIns="0" tIns="0" rIns="0" bIns="0" rtlCol="0" anchor="ctr">
            <a:normAutofit/>
          </a:bodyPr>
          <a:lstStyle/>
          <a:p>
            <a:pPr marL="0" indent="0">
              <a:buNone/>
            </a:pPr>
            <a:r>
              <a:rPr lang="zh-CN" altLang="en-US"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教师侧信息</a:t>
            </a:r>
            <a:r>
              <a:rPr lang="zh-CN" altLang="en-US"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收集</a:t>
            </a:r>
            <a:endParaRPr lang="zh-CN" altLang="en-US"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2" name="Shape 10"/>
          <p:cNvSpPr/>
          <p:nvPr/>
        </p:nvSpPr>
        <p:spPr>
          <a:xfrm>
            <a:off x="4983480" y="1831340"/>
            <a:ext cx="118872" cy="118872"/>
          </a:xfrm>
          <a:prstGeom prst="ellipse">
            <a:avLst/>
          </a:prstGeom>
          <a:solidFill>
            <a:srgbClr val="1BAE9F"/>
          </a:solidFill>
          <a:ln w="12700">
            <a:solidFill>
              <a:srgbClr val="1BAE9F">
                <a:alpha val="0"/>
              </a:srgbClr>
            </a:solidFill>
            <a:prstDash val="solid"/>
          </a:ln>
        </p:spPr>
      </p:sp>
      <p:sp>
        <p:nvSpPr>
          <p:cNvPr id="13" name="Text 11"/>
          <p:cNvSpPr/>
          <p:nvPr/>
        </p:nvSpPr>
        <p:spPr>
          <a:xfrm>
            <a:off x="5212080" y="1647190"/>
            <a:ext cx="3683635" cy="509905"/>
          </a:xfrm>
          <a:prstGeom prst="rect">
            <a:avLst/>
          </a:prstGeom>
          <a:noFill/>
        </p:spPr>
        <p:txBody>
          <a:bodyPr wrap="square" lIns="0" tIns="0" rIns="0" bIns="0" rtlCol="0" anchor="ctr">
            <a:noAutofit/>
          </a:bodyPr>
          <a:lstStyle/>
          <a:p>
            <a:pPr marL="0" indent="0">
              <a:buNone/>
            </a:pPr>
            <a:r>
              <a:rPr lang="zh-CN" altLang="en-US" sz="14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基本</a:t>
            </a:r>
            <a:r>
              <a:rPr lang="zh-CN" altLang="en-US" sz="14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信息</a:t>
            </a:r>
            <a:endParaRPr lang="zh-CN" altLang="en-US" sz="14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6" name="Text 14"/>
          <p:cNvSpPr/>
          <p:nvPr/>
        </p:nvSpPr>
        <p:spPr>
          <a:xfrm>
            <a:off x="8458200" y="4668012"/>
            <a:ext cx="384048" cy="219456"/>
          </a:xfrm>
          <a:prstGeom prst="rect">
            <a:avLst/>
          </a:prstGeom>
          <a:noFill/>
        </p:spPr>
        <p:txBody>
          <a:bodyPr wrap="square" lIns="0" tIns="0" rIns="0" bIns="0" rtlCol="0" anchor="ctr">
            <a:normAutofit/>
          </a:bodyPr>
          <a:lstStyle/>
          <a:p>
            <a:pPr marL="0" indent="0" algn="ctr">
              <a:buNone/>
            </a:pPr>
            <a:r>
              <a:rPr lang="en-US" sz="800" b="1" dirty="0">
                <a:solidFill>
                  <a:srgbClr val="FFFFFF"/>
                </a:solidFill>
                <a:latin typeface="Aptos" pitchFamily="34" charset="0"/>
                <a:ea typeface="Aptos" pitchFamily="34" charset="-122"/>
                <a:cs typeface="Aptos" pitchFamily="34" charset="-120"/>
              </a:rPr>
              <a:t>03</a:t>
            </a:r>
            <a:endParaRPr lang="en-US" sz="800" dirty="0"/>
          </a:p>
        </p:txBody>
      </p:sp>
      <p:sp>
        <p:nvSpPr>
          <p:cNvPr id="17" name="Shape 8"/>
          <p:cNvSpPr/>
          <p:nvPr/>
        </p:nvSpPr>
        <p:spPr>
          <a:xfrm>
            <a:off x="4991735" y="2572004"/>
            <a:ext cx="118872" cy="118872"/>
          </a:xfrm>
          <a:prstGeom prst="ellipse">
            <a:avLst/>
          </a:prstGeom>
          <a:solidFill>
            <a:srgbClr val="1BAE9F"/>
          </a:solidFill>
          <a:ln w="12700">
            <a:solidFill>
              <a:srgbClr val="1BAE9F">
                <a:alpha val="0"/>
              </a:srgbClr>
            </a:solidFill>
            <a:prstDash val="solid"/>
          </a:ln>
        </p:spPr>
      </p:sp>
      <p:sp>
        <p:nvSpPr>
          <p:cNvPr id="19" name="Shape 8"/>
          <p:cNvSpPr/>
          <p:nvPr/>
        </p:nvSpPr>
        <p:spPr>
          <a:xfrm>
            <a:off x="4991735" y="2942844"/>
            <a:ext cx="118872" cy="118872"/>
          </a:xfrm>
          <a:prstGeom prst="ellipse">
            <a:avLst/>
          </a:prstGeom>
          <a:solidFill>
            <a:srgbClr val="1BAE9F"/>
          </a:solidFill>
          <a:ln w="12700">
            <a:solidFill>
              <a:srgbClr val="1BAE9F">
                <a:alpha val="0"/>
              </a:srgbClr>
            </a:solidFill>
            <a:prstDash val="solid"/>
          </a:ln>
        </p:spPr>
      </p:sp>
      <p:sp>
        <p:nvSpPr>
          <p:cNvPr id="22" name="Text 9"/>
          <p:cNvSpPr/>
          <p:nvPr/>
        </p:nvSpPr>
        <p:spPr>
          <a:xfrm>
            <a:off x="5212207" y="2944114"/>
            <a:ext cx="3246120" cy="384048"/>
          </a:xfrm>
          <a:prstGeom prst="rect">
            <a:avLst/>
          </a:prstGeom>
          <a:noFill/>
        </p:spPr>
        <p:txBody>
          <a:bodyPr wrap="square" lIns="0" tIns="0" rIns="0" bIns="0" rtlCol="0" anchor="ctr">
            <a:noAutofit/>
          </a:bodyPr>
          <a:lstStyle/>
          <a:p>
            <a:pPr marL="0" indent="0">
              <a:buNone/>
            </a:pPr>
            <a:endParaRPr lang="zh-CN" altLang="en-US" sz="14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Text 7"/>
          <p:cNvSpPr/>
          <p:nvPr/>
        </p:nvSpPr>
        <p:spPr>
          <a:xfrm>
            <a:off x="760857" y="1258443"/>
            <a:ext cx="3246120" cy="384048"/>
          </a:xfrm>
          <a:prstGeom prst="rect">
            <a:avLst/>
          </a:prstGeom>
          <a:noFill/>
        </p:spPr>
        <p:txBody>
          <a:bodyPr wrap="square" lIns="0" tIns="0" rIns="0" bIns="0" rtlCol="0" anchor="ctr">
            <a:normAutofit/>
          </a:bodyPr>
          <a:p>
            <a:pPr marL="0" indent="0">
              <a:buNone/>
            </a:pPr>
            <a:r>
              <a:rPr lang="zh-CN" altLang="en-US"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企业侧信息</a:t>
            </a:r>
            <a:r>
              <a:rPr lang="zh-CN" altLang="en-US"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收集</a:t>
            </a:r>
            <a:endParaRPr lang="zh-CN" altLang="en-US"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1" name="Shape 10"/>
          <p:cNvSpPr/>
          <p:nvPr/>
        </p:nvSpPr>
        <p:spPr>
          <a:xfrm>
            <a:off x="760730" y="2157095"/>
            <a:ext cx="118872" cy="118872"/>
          </a:xfrm>
          <a:prstGeom prst="ellipse">
            <a:avLst/>
          </a:prstGeom>
          <a:solidFill>
            <a:srgbClr val="1BAE9F"/>
          </a:solidFill>
          <a:ln w="12700">
            <a:solidFill>
              <a:srgbClr val="1BAE9F">
                <a:alpha val="0"/>
              </a:srgbClr>
            </a:solidFill>
            <a:prstDash val="solid"/>
          </a:ln>
        </p:spPr>
      </p:sp>
      <p:sp>
        <p:nvSpPr>
          <p:cNvPr id="18" name="Shape 8"/>
          <p:cNvSpPr/>
          <p:nvPr/>
        </p:nvSpPr>
        <p:spPr>
          <a:xfrm>
            <a:off x="760730" y="3014599"/>
            <a:ext cx="118872" cy="118872"/>
          </a:xfrm>
          <a:prstGeom prst="ellipse">
            <a:avLst/>
          </a:prstGeom>
          <a:solidFill>
            <a:srgbClr val="1BAE9F"/>
          </a:solidFill>
          <a:ln w="12700">
            <a:solidFill>
              <a:srgbClr val="1BAE9F">
                <a:alpha val="0"/>
              </a:srgbClr>
            </a:solidFill>
            <a:prstDash val="solid"/>
          </a:ln>
        </p:spPr>
      </p:sp>
      <p:sp>
        <p:nvSpPr>
          <p:cNvPr id="23" name="Text 9"/>
          <p:cNvSpPr/>
          <p:nvPr/>
        </p:nvSpPr>
        <p:spPr>
          <a:xfrm>
            <a:off x="987425" y="2890774"/>
            <a:ext cx="3246120" cy="384048"/>
          </a:xfrm>
          <a:prstGeom prst="rect">
            <a:avLst/>
          </a:prstGeom>
          <a:noFill/>
        </p:spPr>
        <p:txBody>
          <a:bodyPr wrap="square" lIns="0" tIns="0" rIns="0" bIns="0" rtlCol="0" anchor="ctr">
            <a:noAutofit/>
          </a:bodyPr>
          <a:p>
            <a:pPr marL="0" indent="0">
              <a:buNone/>
            </a:pPr>
            <a:r>
              <a:rPr lang="zh-CN" altLang="en-US" sz="14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专利信息</a:t>
            </a:r>
            <a:r>
              <a:rPr lang="en-US" altLang="zh-CN" sz="14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a:t>
            </a:r>
            <a:r>
              <a:rPr lang="zh-CN" altLang="en-US" sz="14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以企业为单位发表的所有</a:t>
            </a:r>
            <a:r>
              <a:rPr lang="zh-CN" altLang="en-US" sz="14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专利</a:t>
            </a:r>
            <a:endParaRPr lang="zh-CN" altLang="en-US" sz="14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4" name="Text 9"/>
          <p:cNvSpPr/>
          <p:nvPr/>
        </p:nvSpPr>
        <p:spPr>
          <a:xfrm>
            <a:off x="987552" y="2152269"/>
            <a:ext cx="3246120" cy="384048"/>
          </a:xfrm>
          <a:prstGeom prst="rect">
            <a:avLst/>
          </a:prstGeom>
          <a:noFill/>
        </p:spPr>
        <p:txBody>
          <a:bodyPr wrap="square" lIns="0" tIns="0" rIns="0" bIns="0" rtlCol="0" anchor="ctr">
            <a:noAutofit/>
          </a:bodyPr>
          <a:p>
            <a:pPr marL="0" indent="0">
              <a:buNone/>
            </a:pPr>
            <a:r>
              <a:rPr lang="zh-CN" altLang="en-US" sz="14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基本信息</a:t>
            </a:r>
            <a:r>
              <a:rPr lang="en-US" altLang="zh-CN" sz="14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a:t>
            </a:r>
            <a:r>
              <a:rPr lang="zh-CN" altLang="en-US" sz="14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企业名称、所在省份</a:t>
            </a:r>
            <a:r>
              <a:rPr lang="en-US" altLang="zh-CN" sz="14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a:t>
            </a:r>
            <a:r>
              <a:rPr lang="zh-CN" altLang="en-US" sz="14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城市、企业规模、行业类别</a:t>
            </a:r>
            <a:r>
              <a:rPr lang="zh-CN" altLang="en-US" sz="14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等</a:t>
            </a:r>
            <a:endParaRPr lang="zh-CN" altLang="en-US" sz="14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5" name="Text 11"/>
          <p:cNvSpPr/>
          <p:nvPr/>
        </p:nvSpPr>
        <p:spPr>
          <a:xfrm>
            <a:off x="5212080" y="2026285"/>
            <a:ext cx="3683635" cy="509905"/>
          </a:xfrm>
          <a:prstGeom prst="rect">
            <a:avLst/>
          </a:prstGeom>
          <a:noFill/>
        </p:spPr>
        <p:txBody>
          <a:bodyPr wrap="square" lIns="0" tIns="0" rIns="0" bIns="0" rtlCol="0" anchor="ctr">
            <a:noAutofit/>
          </a:bodyPr>
          <a:p>
            <a:pPr marL="0" indent="0">
              <a:buNone/>
            </a:pPr>
            <a:r>
              <a:rPr lang="zh-CN" altLang="en-US" sz="14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职称与</a:t>
            </a:r>
            <a:r>
              <a:rPr lang="zh-CN" altLang="en-US" sz="14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职务</a:t>
            </a:r>
            <a:endParaRPr lang="zh-CN" altLang="en-US" sz="14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7" name="Text 11"/>
          <p:cNvSpPr/>
          <p:nvPr/>
        </p:nvSpPr>
        <p:spPr>
          <a:xfrm>
            <a:off x="5212080" y="2380615"/>
            <a:ext cx="3683635" cy="509905"/>
          </a:xfrm>
          <a:prstGeom prst="rect">
            <a:avLst/>
          </a:prstGeom>
          <a:noFill/>
        </p:spPr>
        <p:txBody>
          <a:bodyPr wrap="square" lIns="0" tIns="0" rIns="0" bIns="0" rtlCol="0" anchor="ctr">
            <a:noAutofit/>
          </a:bodyPr>
          <a:p>
            <a:pPr marL="0" indent="0">
              <a:buNone/>
            </a:pPr>
            <a:r>
              <a:rPr lang="zh-CN" altLang="en-US" sz="14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sym typeface="+mn-ea"/>
              </a:rPr>
              <a:t>荣誉称号</a:t>
            </a:r>
            <a:endParaRPr lang="zh-CN" altLang="en-US" sz="14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8" name="Shape 10"/>
          <p:cNvSpPr/>
          <p:nvPr/>
        </p:nvSpPr>
        <p:spPr>
          <a:xfrm>
            <a:off x="4991735" y="2201545"/>
            <a:ext cx="118872" cy="118872"/>
          </a:xfrm>
          <a:prstGeom prst="ellipse">
            <a:avLst/>
          </a:prstGeom>
          <a:solidFill>
            <a:srgbClr val="1BAE9F"/>
          </a:solidFill>
          <a:ln w="12700">
            <a:solidFill>
              <a:srgbClr val="1BAE9F">
                <a:alpha val="0"/>
              </a:srgbClr>
            </a:solidFill>
            <a:prstDash val="solid"/>
          </a:ln>
        </p:spPr>
      </p:sp>
      <p:sp>
        <p:nvSpPr>
          <p:cNvPr id="29" name="Shape 8"/>
          <p:cNvSpPr/>
          <p:nvPr/>
        </p:nvSpPr>
        <p:spPr>
          <a:xfrm>
            <a:off x="4991735" y="3313049"/>
            <a:ext cx="118872" cy="118872"/>
          </a:xfrm>
          <a:prstGeom prst="ellipse">
            <a:avLst/>
          </a:prstGeom>
          <a:solidFill>
            <a:srgbClr val="1BAE9F"/>
          </a:solidFill>
          <a:ln w="12700">
            <a:solidFill>
              <a:srgbClr val="1BAE9F">
                <a:alpha val="0"/>
              </a:srgbClr>
            </a:solidFill>
            <a:prstDash val="solid"/>
          </a:ln>
        </p:spPr>
      </p:sp>
      <p:sp>
        <p:nvSpPr>
          <p:cNvPr id="30" name="Shape 8"/>
          <p:cNvSpPr/>
          <p:nvPr/>
        </p:nvSpPr>
        <p:spPr>
          <a:xfrm>
            <a:off x="4991735" y="3684524"/>
            <a:ext cx="118872" cy="118872"/>
          </a:xfrm>
          <a:prstGeom prst="ellipse">
            <a:avLst/>
          </a:prstGeom>
          <a:solidFill>
            <a:srgbClr val="1BAE9F"/>
          </a:solidFill>
          <a:ln w="12700">
            <a:solidFill>
              <a:srgbClr val="1BAE9F">
                <a:alpha val="0"/>
              </a:srgbClr>
            </a:solidFill>
            <a:prstDash val="solid"/>
          </a:ln>
        </p:spPr>
      </p:sp>
      <p:sp>
        <p:nvSpPr>
          <p:cNvPr id="31" name="Text 11"/>
          <p:cNvSpPr/>
          <p:nvPr/>
        </p:nvSpPr>
        <p:spPr>
          <a:xfrm>
            <a:off x="5212080" y="2747010"/>
            <a:ext cx="3683635" cy="509905"/>
          </a:xfrm>
          <a:prstGeom prst="rect">
            <a:avLst/>
          </a:prstGeom>
          <a:noFill/>
        </p:spPr>
        <p:txBody>
          <a:bodyPr wrap="square" lIns="0" tIns="0" rIns="0" bIns="0" rtlCol="0" anchor="ctr">
            <a:noAutofit/>
          </a:bodyPr>
          <a:p>
            <a:pPr marL="0" indent="0">
              <a:buNone/>
            </a:pPr>
            <a:r>
              <a:rPr lang="zh-CN" altLang="en-US" sz="14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sym typeface="+mn-ea"/>
              </a:rPr>
              <a:t>研究</a:t>
            </a:r>
            <a:r>
              <a:rPr lang="zh-CN" altLang="en-US" sz="14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sym typeface="+mn-ea"/>
              </a:rPr>
              <a:t>领域</a:t>
            </a:r>
            <a:endParaRPr lang="zh-CN" altLang="en-US" sz="14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sym typeface="+mn-ea"/>
            </a:endParaRPr>
          </a:p>
        </p:txBody>
      </p:sp>
      <p:sp>
        <p:nvSpPr>
          <p:cNvPr id="32" name="Text 11"/>
          <p:cNvSpPr/>
          <p:nvPr/>
        </p:nvSpPr>
        <p:spPr>
          <a:xfrm>
            <a:off x="5212080" y="3114040"/>
            <a:ext cx="3683635" cy="509905"/>
          </a:xfrm>
          <a:prstGeom prst="rect">
            <a:avLst/>
          </a:prstGeom>
          <a:noFill/>
        </p:spPr>
        <p:txBody>
          <a:bodyPr wrap="square" lIns="0" tIns="0" rIns="0" bIns="0" rtlCol="0" anchor="ctr">
            <a:noAutofit/>
          </a:bodyPr>
          <a:p>
            <a:pPr marL="0" indent="0">
              <a:buNone/>
            </a:pPr>
            <a:r>
              <a:rPr lang="zh-CN" altLang="en-US" sz="14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sym typeface="+mn-ea"/>
              </a:rPr>
              <a:t>论文</a:t>
            </a:r>
            <a:endParaRPr lang="zh-CN" altLang="en-US" sz="14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sym typeface="+mn-ea"/>
            </a:endParaRPr>
          </a:p>
        </p:txBody>
      </p:sp>
      <p:sp>
        <p:nvSpPr>
          <p:cNvPr id="33" name="Shape 8"/>
          <p:cNvSpPr/>
          <p:nvPr/>
        </p:nvSpPr>
        <p:spPr>
          <a:xfrm>
            <a:off x="4991735" y="4054094"/>
            <a:ext cx="118872" cy="118872"/>
          </a:xfrm>
          <a:prstGeom prst="ellipse">
            <a:avLst/>
          </a:prstGeom>
          <a:solidFill>
            <a:srgbClr val="1BAE9F"/>
          </a:solidFill>
          <a:ln w="12700">
            <a:solidFill>
              <a:srgbClr val="1BAE9F">
                <a:alpha val="0"/>
              </a:srgbClr>
            </a:solidFill>
            <a:prstDash val="solid"/>
          </a:ln>
        </p:spPr>
      </p:sp>
      <p:sp>
        <p:nvSpPr>
          <p:cNvPr id="34" name="Text 11"/>
          <p:cNvSpPr/>
          <p:nvPr/>
        </p:nvSpPr>
        <p:spPr>
          <a:xfrm>
            <a:off x="5212080" y="3512820"/>
            <a:ext cx="3683635" cy="509905"/>
          </a:xfrm>
          <a:prstGeom prst="rect">
            <a:avLst/>
          </a:prstGeom>
          <a:noFill/>
        </p:spPr>
        <p:txBody>
          <a:bodyPr wrap="square" lIns="0" tIns="0" rIns="0" bIns="0" rtlCol="0" anchor="ctr">
            <a:noAutofit/>
          </a:bodyPr>
          <a:p>
            <a:pPr marL="0" indent="0">
              <a:buNone/>
            </a:pPr>
            <a:r>
              <a:rPr lang="zh-CN" altLang="en-US" sz="14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sym typeface="+mn-ea"/>
              </a:rPr>
              <a:t>专利</a:t>
            </a:r>
            <a:endParaRPr lang="zh-CN" altLang="en-US" sz="14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sym typeface="+mn-ea"/>
            </a:endParaRPr>
          </a:p>
        </p:txBody>
      </p:sp>
      <p:sp>
        <p:nvSpPr>
          <p:cNvPr id="35" name="Text 11"/>
          <p:cNvSpPr/>
          <p:nvPr/>
        </p:nvSpPr>
        <p:spPr>
          <a:xfrm>
            <a:off x="5212080" y="3846830"/>
            <a:ext cx="3683635" cy="509905"/>
          </a:xfrm>
          <a:prstGeom prst="rect">
            <a:avLst/>
          </a:prstGeom>
          <a:noFill/>
        </p:spPr>
        <p:txBody>
          <a:bodyPr wrap="square" lIns="0" tIns="0" rIns="0" bIns="0" rtlCol="0" anchor="ctr">
            <a:noAutofit/>
          </a:bodyPr>
          <a:p>
            <a:pPr marL="0" indent="0">
              <a:buNone/>
            </a:pPr>
            <a:r>
              <a:rPr lang="zh-CN" altLang="en-US" sz="14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sym typeface="+mn-ea"/>
              </a:rPr>
              <a:t>研发项目</a:t>
            </a:r>
            <a:endParaRPr lang="zh-CN" altLang="en-US" sz="14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sym typeface="+mn-ea"/>
            </a:endParaRPr>
          </a:p>
        </p:txBody>
      </p:sp>
      <p:sp>
        <p:nvSpPr>
          <p:cNvPr id="6" name="Text 2"/>
          <p:cNvSpPr/>
          <p:nvPr/>
        </p:nvSpPr>
        <p:spPr>
          <a:xfrm>
            <a:off x="3691255" y="123825"/>
            <a:ext cx="4646295" cy="784225"/>
          </a:xfrm>
          <a:prstGeom prst="rect">
            <a:avLst/>
          </a:prstGeom>
          <a:noFill/>
        </p:spPr>
        <p:txBody>
          <a:bodyPr wrap="square" lIns="0" tIns="0" rIns="0" bIns="0" rtlCol="0" anchor="ctr">
            <a:normAutofit/>
          </a:bodyPr>
          <a:p>
            <a:pPr marL="0" indent="0">
              <a:buNone/>
            </a:pPr>
            <a:r>
              <a:rPr lang="en-US" altLang="zh-CN" sz="20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  180+</a:t>
            </a:r>
            <a:r>
              <a:rPr lang="zh-CN" altLang="en-US" sz="20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万教师数据</a:t>
            </a:r>
            <a:r>
              <a:rPr lang="en-US" altLang="zh-CN" sz="20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   5800+</a:t>
            </a:r>
            <a:r>
              <a:rPr lang="zh-CN" altLang="en-US" sz="20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万专利数据</a:t>
            </a:r>
            <a:r>
              <a:rPr lang="en-US" altLang="zh-CN" sz="20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 </a:t>
            </a:r>
            <a:endParaRPr lang="en-US" altLang="zh-CN" sz="20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buNone/>
            </a:pPr>
            <a:r>
              <a:rPr lang="en-US" altLang="zh-CN" sz="20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7000+</a:t>
            </a:r>
            <a:r>
              <a:rPr lang="zh-CN" altLang="en-US" sz="20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万论文数据</a:t>
            </a:r>
            <a:r>
              <a:rPr lang="en-US" altLang="zh-CN" sz="20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   7600+</a:t>
            </a:r>
            <a:r>
              <a:rPr lang="zh-CN" altLang="en-US" sz="20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万企业数据</a:t>
            </a:r>
            <a:r>
              <a:rPr lang="en-US" altLang="zh-CN" sz="20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 </a:t>
            </a:r>
            <a:endParaRPr lang="en-US" altLang="zh-CN" sz="20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109728" cy="109728"/>
          </a:xfrm>
          <a:prstGeom prst="rect">
            <a:avLst/>
          </a:prstGeom>
          <a:solidFill>
            <a:srgbClr val="1BAE9F"/>
          </a:solidFill>
          <a:ln w="12700">
            <a:solidFill>
              <a:srgbClr val="1BAE9F">
                <a:alpha val="0"/>
              </a:srgbClr>
            </a:solidFill>
            <a:prstDash val="solid"/>
          </a:ln>
        </p:spPr>
      </p:sp>
      <p:sp>
        <p:nvSpPr>
          <p:cNvPr id="3" name="Text 1"/>
          <p:cNvSpPr/>
          <p:nvPr/>
        </p:nvSpPr>
        <p:spPr>
          <a:xfrm>
            <a:off x="685800" y="347472"/>
            <a:ext cx="2926080" cy="256032"/>
          </a:xfrm>
          <a:prstGeom prst="rect">
            <a:avLst/>
          </a:prstGeom>
          <a:noFill/>
        </p:spPr>
        <p:txBody>
          <a:bodyPr wrap="square" lIns="0" tIns="0" rIns="0" bIns="0" rtlCol="0" anchor="ctr"/>
          <a:lstStyle/>
          <a:p>
            <a:pPr marL="0" indent="0">
              <a:buNone/>
            </a:pPr>
            <a:r>
              <a:rPr lang="zh-CN" altLang="en-US" sz="850" b="1" kern="0" spc="140" dirty="0">
                <a:solidFill>
                  <a:srgbClr val="245B66"/>
                </a:solidFill>
                <a:latin typeface="Aptos" pitchFamily="34" charset="0"/>
                <a:ea typeface="Aptos" pitchFamily="34" charset="-122"/>
                <a:cs typeface="Aptos" pitchFamily="34" charset="-120"/>
              </a:rPr>
              <a:t>知识图谱建模：以专利作为可追溯桥梁</a:t>
            </a:r>
            <a:endParaRPr lang="en-US" sz="850" dirty="0"/>
          </a:p>
        </p:txBody>
      </p:sp>
      <p:sp>
        <p:nvSpPr>
          <p:cNvPr id="4" name="Text 2"/>
          <p:cNvSpPr/>
          <p:nvPr/>
        </p:nvSpPr>
        <p:spPr>
          <a:xfrm>
            <a:off x="502920" y="713232"/>
            <a:ext cx="7406640" cy="566928"/>
          </a:xfrm>
          <a:prstGeom prst="rect">
            <a:avLst/>
          </a:prstGeom>
          <a:noFill/>
        </p:spPr>
        <p:txBody>
          <a:bodyPr wrap="square" lIns="0" tIns="0" rIns="0" bIns="0" rtlCol="0" anchor="ctr">
            <a:normAutofit/>
          </a:bodyPr>
          <a:lstStyle/>
          <a:p>
            <a:pPr marL="0" indent="0">
              <a:buNone/>
            </a:pPr>
            <a:r>
              <a:rPr lang="zh-CN" altLang="en-US" sz="25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图谱核心实体模型</a:t>
            </a:r>
            <a:endParaRPr lang="en-US" sz="2500" dirty="0"/>
          </a:p>
        </p:txBody>
      </p:sp>
      <p:sp>
        <p:nvSpPr>
          <p:cNvPr id="5" name="文本框 4"/>
          <p:cNvSpPr txBox="1"/>
          <p:nvPr/>
        </p:nvSpPr>
        <p:spPr>
          <a:xfrm>
            <a:off x="779780" y="1532890"/>
            <a:ext cx="3084195" cy="1183640"/>
          </a:xfrm>
          <a:prstGeom prst="rect">
            <a:avLst/>
          </a:prstGeom>
          <a:solidFill>
            <a:schemeClr val="bg2"/>
          </a:solidFill>
          <a:ln>
            <a:solidFill>
              <a:schemeClr val="tx1"/>
            </a:solidFill>
          </a:ln>
        </p:spPr>
        <p:txBody>
          <a:bodyPr wrap="square" rtlCol="0">
            <a:spAutoFit/>
          </a:bodyPr>
          <a:p>
            <a:r>
              <a:rPr lang="zh-CN" altLang="en-US" sz="2000" b="1">
                <a:solidFill>
                  <a:schemeClr val="accent5">
                    <a:lumMod val="75000"/>
                  </a:schemeClr>
                </a:solidFill>
              </a:rPr>
              <a:t>企业实体</a:t>
            </a:r>
            <a:endParaRPr lang="zh-CN" altLang="en-US" sz="2000" b="1">
              <a:solidFill>
                <a:schemeClr val="accent5">
                  <a:lumMod val="75000"/>
                </a:schemeClr>
              </a:solidFill>
            </a:endParaRPr>
          </a:p>
          <a:p>
            <a:r>
              <a:rPr lang="zh-CN" altLang="en-US" sz="1700"/>
              <a:t>包括行业背景、研发历史、地域属性及当前技术痛点，是需求的发起端。</a:t>
            </a:r>
            <a:endParaRPr lang="zh-CN" altLang="en-US" sz="1700"/>
          </a:p>
        </p:txBody>
      </p:sp>
      <p:sp>
        <p:nvSpPr>
          <p:cNvPr id="12" name="文本框 11"/>
          <p:cNvSpPr txBox="1"/>
          <p:nvPr/>
        </p:nvSpPr>
        <p:spPr>
          <a:xfrm>
            <a:off x="2259330" y="3111500"/>
            <a:ext cx="4986020" cy="1008380"/>
          </a:xfrm>
          <a:prstGeom prst="rect">
            <a:avLst/>
          </a:prstGeom>
          <a:solidFill>
            <a:schemeClr val="bg2"/>
          </a:solidFill>
          <a:ln>
            <a:solidFill>
              <a:schemeClr val="tx1"/>
            </a:solidFill>
          </a:ln>
        </p:spPr>
        <p:txBody>
          <a:bodyPr wrap="square" rtlCol="0">
            <a:noAutofit/>
          </a:bodyPr>
          <a:p>
            <a:r>
              <a:rPr lang="zh-CN" altLang="en-US" sz="2000" b="1">
                <a:solidFill>
                  <a:schemeClr val="accent5">
                    <a:lumMod val="75000"/>
                  </a:schemeClr>
                </a:solidFill>
              </a:rPr>
              <a:t>成果实体</a:t>
            </a:r>
            <a:endParaRPr lang="zh-CN" altLang="en-US" sz="2000" b="1">
              <a:solidFill>
                <a:schemeClr val="accent5">
                  <a:lumMod val="75000"/>
                </a:schemeClr>
              </a:solidFill>
            </a:endParaRPr>
          </a:p>
          <a:p>
            <a:r>
              <a:rPr lang="zh-CN" altLang="en-US" sz="1700"/>
              <a:t>包括专利、顶级期刊论文、国家级科研项目</a:t>
            </a:r>
            <a:r>
              <a:rPr lang="en-US" altLang="zh-CN" sz="1700"/>
              <a:t>、</a:t>
            </a:r>
            <a:r>
              <a:rPr lang="zh-CN" altLang="en-US" sz="1700"/>
              <a:t>新闻资讯等</a:t>
            </a:r>
            <a:r>
              <a:rPr lang="zh-CN" altLang="en-US" sz="1700"/>
              <a:t>数据。</a:t>
            </a:r>
            <a:endParaRPr lang="zh-CN" altLang="en-US" sz="1700"/>
          </a:p>
        </p:txBody>
      </p:sp>
      <p:sp>
        <p:nvSpPr>
          <p:cNvPr id="17" name="文本框 16"/>
          <p:cNvSpPr txBox="1"/>
          <p:nvPr/>
        </p:nvSpPr>
        <p:spPr>
          <a:xfrm>
            <a:off x="4897755" y="1532255"/>
            <a:ext cx="3084195" cy="1184275"/>
          </a:xfrm>
          <a:prstGeom prst="rect">
            <a:avLst/>
          </a:prstGeom>
          <a:solidFill>
            <a:schemeClr val="bg2"/>
          </a:solidFill>
          <a:ln>
            <a:solidFill>
              <a:schemeClr val="tx1"/>
            </a:solidFill>
          </a:ln>
        </p:spPr>
        <p:txBody>
          <a:bodyPr wrap="square" rtlCol="0">
            <a:noAutofit/>
          </a:bodyPr>
          <a:p>
            <a:r>
              <a:rPr lang="zh-CN" altLang="en-US" sz="2000" b="1">
                <a:solidFill>
                  <a:schemeClr val="accent5">
                    <a:lumMod val="75000"/>
                  </a:schemeClr>
                </a:solidFill>
              </a:rPr>
              <a:t>专家实体</a:t>
            </a:r>
            <a:endParaRPr lang="zh-CN" altLang="en-US" sz="2000" b="1">
              <a:solidFill>
                <a:schemeClr val="accent5">
                  <a:lumMod val="75000"/>
                </a:schemeClr>
              </a:solidFill>
            </a:endParaRPr>
          </a:p>
          <a:p>
            <a:r>
              <a:rPr lang="zh-CN" altLang="en-US" sz="1700"/>
              <a:t>涵盖所属院校、核心领域、学术等级及过往产业化成功案例。</a:t>
            </a:r>
            <a:endParaRPr lang="zh-CN" altLang="en-US" sz="17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85800" y="347472"/>
            <a:ext cx="2926080" cy="256032"/>
          </a:xfrm>
          <a:prstGeom prst="rect">
            <a:avLst/>
          </a:prstGeom>
          <a:noFill/>
        </p:spPr>
        <p:txBody>
          <a:bodyPr wrap="square" lIns="0" tIns="0" rIns="0" bIns="0" rtlCol="0" anchor="ctr"/>
          <a:lstStyle/>
          <a:p>
            <a:pPr marL="0" indent="0">
              <a:buNone/>
            </a:pPr>
            <a:endParaRPr lang="en-US" sz="850" dirty="0"/>
          </a:p>
        </p:txBody>
      </p:sp>
      <p:sp>
        <p:nvSpPr>
          <p:cNvPr id="4" name="Text 2"/>
          <p:cNvSpPr/>
          <p:nvPr/>
        </p:nvSpPr>
        <p:spPr>
          <a:xfrm>
            <a:off x="1072515" y="3954780"/>
            <a:ext cx="1760855" cy="603250"/>
          </a:xfrm>
          <a:prstGeom prst="rect">
            <a:avLst/>
          </a:prstGeom>
          <a:noFill/>
        </p:spPr>
        <p:txBody>
          <a:bodyPr wrap="square" lIns="0" tIns="0" rIns="0" bIns="0" rtlCol="0" anchor="ctr">
            <a:normAutofit fontScale="70000"/>
          </a:bodyPr>
          <a:lstStyle/>
          <a:p>
            <a:pPr marL="0" indent="0">
              <a:buNone/>
            </a:pPr>
            <a:r>
              <a:rPr lang="zh-CN" altLang="en-US" sz="25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企业与专利</a:t>
            </a:r>
            <a:r>
              <a:rPr lang="zh-CN" altLang="en-US" sz="25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关系</a:t>
            </a:r>
            <a:endParaRPr lang="zh-CN" altLang="en-US" sz="25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buNone/>
            </a:pPr>
            <a:endParaRPr lang="zh-CN" altLang="en-US" sz="25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endParaRPr>
          </a:p>
        </p:txBody>
      </p:sp>
      <p:pic>
        <p:nvPicPr>
          <p:cNvPr id="17" name="图片 16" descr="e19aaded2e53fb6805d94cb97ef7d9e5"/>
          <p:cNvPicPr>
            <a:picLocks noChangeAspect="1"/>
          </p:cNvPicPr>
          <p:nvPr/>
        </p:nvPicPr>
        <p:blipFill>
          <a:blip r:embed="rId1"/>
          <a:stretch>
            <a:fillRect/>
          </a:stretch>
        </p:blipFill>
        <p:spPr>
          <a:xfrm>
            <a:off x="314960" y="784860"/>
            <a:ext cx="3166745" cy="2793365"/>
          </a:xfrm>
          <a:prstGeom prst="rect">
            <a:avLst/>
          </a:prstGeom>
        </p:spPr>
      </p:pic>
      <p:pic>
        <p:nvPicPr>
          <p:cNvPr id="5" name="图片 4" descr="94d7554cf629a808a0240768dca04127"/>
          <p:cNvPicPr>
            <a:picLocks noChangeAspect="1"/>
          </p:cNvPicPr>
          <p:nvPr/>
        </p:nvPicPr>
        <p:blipFill>
          <a:blip r:embed="rId2"/>
          <a:stretch>
            <a:fillRect/>
          </a:stretch>
        </p:blipFill>
        <p:spPr>
          <a:xfrm>
            <a:off x="3465830" y="2004060"/>
            <a:ext cx="2437130" cy="2150110"/>
          </a:xfrm>
          <a:prstGeom prst="rect">
            <a:avLst/>
          </a:prstGeom>
        </p:spPr>
      </p:pic>
      <p:sp>
        <p:nvSpPr>
          <p:cNvPr id="6" name="Text 2"/>
          <p:cNvSpPr/>
          <p:nvPr/>
        </p:nvSpPr>
        <p:spPr>
          <a:xfrm>
            <a:off x="3336290" y="4154170"/>
            <a:ext cx="2926080" cy="603250"/>
          </a:xfrm>
          <a:prstGeom prst="rect">
            <a:avLst/>
          </a:prstGeom>
          <a:noFill/>
        </p:spPr>
        <p:txBody>
          <a:bodyPr wrap="square" lIns="0" tIns="0" rIns="0" bIns="0" rtlCol="0" anchor="ctr">
            <a:normAutofit fontScale="70000"/>
          </a:bodyPr>
          <a:p>
            <a:pPr marL="0" indent="0">
              <a:buNone/>
            </a:pPr>
            <a:r>
              <a:rPr lang="zh-CN" altLang="en-US" sz="25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sym typeface="+mn-ea"/>
              </a:rPr>
              <a:t>通过专利推理企业技术布局</a:t>
            </a:r>
            <a:endParaRPr lang="zh-CN" altLang="en-US" sz="25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buNone/>
            </a:pPr>
            <a:endParaRPr lang="zh-CN" altLang="en-US" sz="25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endParaRPr>
          </a:p>
        </p:txBody>
      </p:sp>
      <p:pic>
        <p:nvPicPr>
          <p:cNvPr id="7" name="图片 6" descr="da69be39ce560c692bc931117c8fb7dc"/>
          <p:cNvPicPr>
            <a:picLocks noChangeAspect="1"/>
          </p:cNvPicPr>
          <p:nvPr/>
        </p:nvPicPr>
        <p:blipFill>
          <a:blip r:embed="rId3"/>
          <a:stretch>
            <a:fillRect/>
          </a:stretch>
        </p:blipFill>
        <p:spPr>
          <a:xfrm>
            <a:off x="6262370" y="1210310"/>
            <a:ext cx="2505710" cy="2210435"/>
          </a:xfrm>
          <a:prstGeom prst="rect">
            <a:avLst/>
          </a:prstGeom>
        </p:spPr>
      </p:pic>
      <p:sp>
        <p:nvSpPr>
          <p:cNvPr id="8" name="Text 2"/>
          <p:cNvSpPr/>
          <p:nvPr/>
        </p:nvSpPr>
        <p:spPr>
          <a:xfrm>
            <a:off x="6766560" y="3883660"/>
            <a:ext cx="2163445" cy="603250"/>
          </a:xfrm>
          <a:prstGeom prst="rect">
            <a:avLst/>
          </a:prstGeom>
          <a:noFill/>
        </p:spPr>
        <p:txBody>
          <a:bodyPr wrap="square" lIns="0" tIns="0" rIns="0" bIns="0" rtlCol="0" anchor="ctr">
            <a:normAutofit fontScale="70000"/>
          </a:bodyPr>
          <a:p>
            <a:pPr marL="0" indent="0">
              <a:buNone/>
            </a:pPr>
            <a:r>
              <a:rPr lang="zh-CN" altLang="en-US" sz="25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教师与专利</a:t>
            </a:r>
            <a:r>
              <a:rPr lang="en-US" altLang="zh-CN" sz="25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a:t>
            </a:r>
            <a:r>
              <a:rPr lang="zh-CN" altLang="en-US" sz="25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论文关系</a:t>
            </a:r>
            <a:endParaRPr lang="zh-CN" altLang="en-US" sz="25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buNone/>
            </a:pPr>
            <a:endParaRPr lang="zh-CN" altLang="en-US" sz="25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endParaRPr>
          </a:p>
        </p:txBody>
      </p:sp>
      <p:pic>
        <p:nvPicPr>
          <p:cNvPr id="9" name="图片 8" descr="d97bdcf0ed847166cdf2fadad2a0bd4f"/>
          <p:cNvPicPr>
            <a:picLocks noChangeAspect="1"/>
          </p:cNvPicPr>
          <p:nvPr/>
        </p:nvPicPr>
        <p:blipFill>
          <a:blip r:embed="rId4"/>
          <a:stretch>
            <a:fillRect/>
          </a:stretch>
        </p:blipFill>
        <p:spPr>
          <a:xfrm>
            <a:off x="3219450" y="261620"/>
            <a:ext cx="3373120" cy="1742440"/>
          </a:xfrm>
          <a:prstGeom prst="rect">
            <a:avLst/>
          </a:prstGeom>
        </p:spPr>
      </p:pic>
      <p:sp>
        <p:nvSpPr>
          <p:cNvPr id="10" name="Text 2"/>
          <p:cNvSpPr/>
          <p:nvPr/>
        </p:nvSpPr>
        <p:spPr>
          <a:xfrm>
            <a:off x="3389630" y="1760220"/>
            <a:ext cx="2926080" cy="603250"/>
          </a:xfrm>
          <a:prstGeom prst="rect">
            <a:avLst/>
          </a:prstGeom>
          <a:noFill/>
        </p:spPr>
        <p:txBody>
          <a:bodyPr wrap="square" lIns="0" tIns="0" rIns="0" bIns="0" rtlCol="0" anchor="ctr">
            <a:normAutofit fontScale="70000"/>
          </a:bodyPr>
          <a:p>
            <a:pPr marL="0" indent="0">
              <a:buNone/>
            </a:pPr>
            <a:r>
              <a:rPr lang="zh-CN" altLang="en-US" sz="25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sym typeface="+mn-ea"/>
              </a:rPr>
              <a:t>技术与领域</a:t>
            </a:r>
            <a:r>
              <a:rPr lang="zh-CN" altLang="en-US" sz="25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sym typeface="+mn-ea"/>
              </a:rPr>
              <a:t>定位的关系推理</a:t>
            </a:r>
            <a:endParaRPr lang="zh-CN" altLang="en-US" sz="25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pPr marL="0" indent="0">
              <a:buNone/>
            </a:pPr>
            <a:endParaRPr lang="zh-CN" altLang="en-US" sz="25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109728" cy="109728"/>
          </a:xfrm>
          <a:prstGeom prst="rect">
            <a:avLst/>
          </a:prstGeom>
          <a:solidFill>
            <a:srgbClr val="1BAE9F"/>
          </a:solidFill>
          <a:ln w="12700">
            <a:solidFill>
              <a:srgbClr val="1BAE9F">
                <a:alpha val="0"/>
              </a:srgbClr>
            </a:solidFill>
            <a:prstDash val="solid"/>
          </a:ln>
        </p:spPr>
      </p:sp>
      <p:sp>
        <p:nvSpPr>
          <p:cNvPr id="3" name="Text 1"/>
          <p:cNvSpPr/>
          <p:nvPr/>
        </p:nvSpPr>
        <p:spPr>
          <a:xfrm>
            <a:off x="685800" y="347472"/>
            <a:ext cx="2926080" cy="256032"/>
          </a:xfrm>
          <a:prstGeom prst="rect">
            <a:avLst/>
          </a:prstGeom>
          <a:noFill/>
        </p:spPr>
        <p:txBody>
          <a:bodyPr wrap="square" lIns="0" tIns="0" rIns="0" bIns="0" rtlCol="0" anchor="ctr"/>
          <a:lstStyle/>
          <a:p>
            <a:pPr marL="0" indent="0">
              <a:buNone/>
            </a:pPr>
            <a:endParaRPr lang="en-US" sz="850" dirty="0"/>
          </a:p>
        </p:txBody>
      </p:sp>
      <p:sp>
        <p:nvSpPr>
          <p:cNvPr id="4" name="Text 2"/>
          <p:cNvSpPr/>
          <p:nvPr/>
        </p:nvSpPr>
        <p:spPr>
          <a:xfrm>
            <a:off x="876300" y="174117"/>
            <a:ext cx="7498080" cy="603504"/>
          </a:xfrm>
          <a:prstGeom prst="rect">
            <a:avLst/>
          </a:prstGeom>
          <a:noFill/>
        </p:spPr>
        <p:txBody>
          <a:bodyPr wrap="square" lIns="0" tIns="0" rIns="0" bIns="0" rtlCol="0" anchor="ctr">
            <a:normAutofit/>
          </a:bodyPr>
          <a:lstStyle/>
          <a:p>
            <a:pPr marL="0" indent="0">
              <a:buNone/>
            </a:pPr>
            <a:r>
              <a:rPr lang="zh-CN" altLang="en-US" sz="25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通过专利，实现企业与技术团队合作网络</a:t>
            </a:r>
            <a:r>
              <a:rPr lang="zh-CN" altLang="en-US" sz="25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构建</a:t>
            </a:r>
            <a:endParaRPr lang="zh-CN" altLang="en-US" sz="2500"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6" name="Text 14"/>
          <p:cNvSpPr/>
          <p:nvPr/>
        </p:nvSpPr>
        <p:spPr>
          <a:xfrm>
            <a:off x="8458200" y="4668012"/>
            <a:ext cx="384048" cy="219456"/>
          </a:xfrm>
          <a:prstGeom prst="rect">
            <a:avLst/>
          </a:prstGeom>
          <a:noFill/>
        </p:spPr>
        <p:txBody>
          <a:bodyPr wrap="square" lIns="0" tIns="0" rIns="0" bIns="0" rtlCol="0" anchor="ctr">
            <a:normAutofit/>
          </a:bodyPr>
          <a:lstStyle/>
          <a:p>
            <a:pPr marL="0" indent="0" algn="ctr">
              <a:buNone/>
            </a:pPr>
            <a:r>
              <a:rPr lang="en-US" sz="800" b="1" dirty="0">
                <a:solidFill>
                  <a:srgbClr val="FFFFFF"/>
                </a:solidFill>
                <a:latin typeface="Aptos" pitchFamily="34" charset="0"/>
                <a:ea typeface="Aptos" pitchFamily="34" charset="-122"/>
                <a:cs typeface="Aptos" pitchFamily="34" charset="-120"/>
              </a:rPr>
              <a:t>07</a:t>
            </a:r>
            <a:endParaRPr lang="en-US" sz="800" dirty="0"/>
          </a:p>
        </p:txBody>
      </p:sp>
      <p:pic>
        <p:nvPicPr>
          <p:cNvPr id="5" name="图片 4" descr="737931dc3e23731dc20d1db4ea4e1a9e"/>
          <p:cNvPicPr>
            <a:picLocks noChangeAspect="1"/>
          </p:cNvPicPr>
          <p:nvPr/>
        </p:nvPicPr>
        <p:blipFill>
          <a:blip r:embed="rId1"/>
          <a:stretch>
            <a:fillRect/>
          </a:stretch>
        </p:blipFill>
        <p:spPr>
          <a:xfrm>
            <a:off x="335915" y="661670"/>
            <a:ext cx="8240395" cy="425640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366135" y="2112010"/>
            <a:ext cx="2713990" cy="645160"/>
          </a:xfrm>
          <a:prstGeom prst="rect">
            <a:avLst/>
          </a:prstGeom>
          <a:noFill/>
        </p:spPr>
        <p:txBody>
          <a:bodyPr wrap="square" lIns="0" tIns="0" rIns="0" bIns="0" rtlCol="0" anchor="ctr"/>
          <a:lstStyle/>
          <a:p>
            <a:pPr marL="0" indent="0">
              <a:buNone/>
            </a:pPr>
            <a:r>
              <a:rPr lang="zh-CN" altLang="en-US" sz="3600" b="1" kern="0" spc="140" dirty="0">
                <a:solidFill>
                  <a:srgbClr val="245B66"/>
                </a:solidFill>
                <a:latin typeface="Aptos" pitchFamily="34" charset="0"/>
                <a:ea typeface="Aptos" pitchFamily="34" charset="-122"/>
                <a:cs typeface="Aptos" pitchFamily="34" charset="-120"/>
              </a:rPr>
              <a:t>模型与</a:t>
            </a:r>
            <a:r>
              <a:rPr lang="zh-CN" altLang="en-US" sz="3600" b="1" kern="0" spc="140" dirty="0">
                <a:solidFill>
                  <a:srgbClr val="245B66"/>
                </a:solidFill>
                <a:latin typeface="Aptos" pitchFamily="34" charset="0"/>
                <a:ea typeface="Aptos" pitchFamily="34" charset="-122"/>
                <a:cs typeface="Aptos" pitchFamily="34" charset="-120"/>
              </a:rPr>
              <a:t>算法</a:t>
            </a:r>
            <a:endParaRPr lang="zh-CN" altLang="en-US" sz="3600" b="1" kern="0" spc="140" dirty="0">
              <a:solidFill>
                <a:srgbClr val="245B66"/>
              </a:solidFill>
              <a:latin typeface="Aptos" pitchFamily="34" charset="0"/>
              <a:ea typeface="Aptos" pitchFamily="34" charset="-122"/>
              <a:cs typeface="Aptos" pitchFamily="34" charset="-12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109728" cy="109728"/>
          </a:xfrm>
          <a:prstGeom prst="rect">
            <a:avLst/>
          </a:prstGeom>
          <a:solidFill>
            <a:srgbClr val="1BAE9F"/>
          </a:solidFill>
          <a:ln w="12700">
            <a:solidFill>
              <a:srgbClr val="1BAE9F">
                <a:alpha val="0"/>
              </a:srgbClr>
            </a:solidFill>
            <a:prstDash val="solid"/>
          </a:ln>
        </p:spPr>
      </p:sp>
      <p:sp>
        <p:nvSpPr>
          <p:cNvPr id="3" name="Text 1"/>
          <p:cNvSpPr/>
          <p:nvPr/>
        </p:nvSpPr>
        <p:spPr>
          <a:xfrm>
            <a:off x="685800" y="347472"/>
            <a:ext cx="2926080" cy="256032"/>
          </a:xfrm>
          <a:prstGeom prst="rect">
            <a:avLst/>
          </a:prstGeom>
          <a:noFill/>
        </p:spPr>
        <p:txBody>
          <a:bodyPr wrap="square" lIns="0" tIns="0" rIns="0" bIns="0" rtlCol="0" anchor="ctr"/>
          <a:lstStyle/>
          <a:p>
            <a:pPr marL="0" indent="0">
              <a:buNone/>
            </a:pPr>
            <a:r>
              <a:rPr lang="zh-CN" altLang="en-US" sz="2800" b="1" kern="0" spc="140" dirty="0">
                <a:solidFill>
                  <a:srgbClr val="245B66"/>
                </a:solidFill>
                <a:latin typeface="Aptos" pitchFamily="34" charset="0"/>
                <a:ea typeface="Aptos" pitchFamily="34" charset="-122"/>
                <a:cs typeface="Aptos" pitchFamily="34" charset="-120"/>
              </a:rPr>
              <a:t>算法整体流程</a:t>
            </a:r>
            <a:endParaRPr lang="zh-CN" altLang="en-US" sz="2800" b="1" kern="0" spc="140" dirty="0">
              <a:solidFill>
                <a:srgbClr val="245B66"/>
              </a:solidFill>
              <a:latin typeface="Aptos" pitchFamily="34" charset="0"/>
              <a:ea typeface="Aptos" pitchFamily="34" charset="-122"/>
              <a:cs typeface="Aptos" pitchFamily="34" charset="-120"/>
            </a:endParaRPr>
          </a:p>
        </p:txBody>
      </p:sp>
      <p:sp>
        <p:nvSpPr>
          <p:cNvPr id="5" name="Shape 3"/>
          <p:cNvSpPr/>
          <p:nvPr>
            <p:custDataLst>
              <p:tags r:id="rId1"/>
            </p:custDataLst>
          </p:nvPr>
        </p:nvSpPr>
        <p:spPr>
          <a:xfrm>
            <a:off x="635635" y="939800"/>
            <a:ext cx="3194685" cy="830580"/>
          </a:xfrm>
          <a:prstGeom prst="rect">
            <a:avLst/>
          </a:prstGeom>
          <a:solidFill>
            <a:srgbClr val="0F2437"/>
          </a:solidFill>
          <a:ln w="12700">
            <a:solidFill>
              <a:srgbClr val="0F2437">
                <a:alpha val="0"/>
              </a:srgbClr>
            </a:solidFill>
            <a:prstDash val="solid"/>
          </a:ln>
        </p:spPr>
      </p:sp>
      <p:sp>
        <p:nvSpPr>
          <p:cNvPr id="6" name="Text 4"/>
          <p:cNvSpPr/>
          <p:nvPr>
            <p:custDataLst>
              <p:tags r:id="rId2"/>
            </p:custDataLst>
          </p:nvPr>
        </p:nvSpPr>
        <p:spPr>
          <a:xfrm>
            <a:off x="810260" y="676275"/>
            <a:ext cx="2818765" cy="1331595"/>
          </a:xfrm>
          <a:prstGeom prst="rect">
            <a:avLst/>
          </a:prstGeom>
          <a:noFill/>
        </p:spPr>
        <p:txBody>
          <a:bodyPr wrap="square" lIns="0" tIns="0" rIns="0" bIns="0" rtlCol="0" anchor="ctr">
            <a:normAutofit/>
          </a:bodyPr>
          <a:lstStyle/>
          <a:p>
            <a:pPr marL="0" indent="0">
              <a:buNone/>
            </a:pPr>
            <a:r>
              <a:rPr lang="zh-CN" alt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输入: </a:t>
            </a:r>
            <a:r>
              <a:rPr lang="en-US" altLang="zh-CN"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task (</a:t>
            </a:r>
            <a:r>
              <a:rPr lang="zh-CN" alt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技术需求) + </a:t>
            </a:r>
            <a:r>
              <a:rPr lang="en-US" altLang="zh-CN"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company (</a:t>
            </a:r>
            <a:r>
              <a:rPr lang="zh-CN" alt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企业) + </a:t>
            </a:r>
            <a:r>
              <a:rPr lang="en-US" altLang="zh-CN"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filter (</a:t>
            </a:r>
            <a:r>
              <a:rPr lang="zh-CN" alt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筛选条件)</a:t>
            </a:r>
            <a:endParaRPr lang="en-US" sz="1400" dirty="0"/>
          </a:p>
        </p:txBody>
      </p:sp>
      <p:sp>
        <p:nvSpPr>
          <p:cNvPr id="18" name="Shape 3"/>
          <p:cNvSpPr/>
          <p:nvPr>
            <p:custDataLst>
              <p:tags r:id="rId3"/>
            </p:custDataLst>
          </p:nvPr>
        </p:nvSpPr>
        <p:spPr>
          <a:xfrm>
            <a:off x="4571365" y="695325"/>
            <a:ext cx="3210560" cy="1735455"/>
          </a:xfrm>
          <a:prstGeom prst="rect">
            <a:avLst/>
          </a:prstGeom>
          <a:solidFill>
            <a:srgbClr val="0F2437"/>
          </a:solidFill>
          <a:ln w="12700">
            <a:solidFill>
              <a:srgbClr val="0F2437">
                <a:alpha val="0"/>
              </a:srgbClr>
            </a:solidFill>
            <a:prstDash val="solid"/>
          </a:ln>
        </p:spPr>
      </p:sp>
      <p:sp>
        <p:nvSpPr>
          <p:cNvPr id="19" name="Text 4"/>
          <p:cNvSpPr/>
          <p:nvPr>
            <p:custDataLst>
              <p:tags r:id="rId4"/>
            </p:custDataLst>
          </p:nvPr>
        </p:nvSpPr>
        <p:spPr>
          <a:xfrm>
            <a:off x="4766945" y="897255"/>
            <a:ext cx="2818765" cy="1331595"/>
          </a:xfrm>
          <a:prstGeom prst="rect">
            <a:avLst/>
          </a:prstGeom>
          <a:noFill/>
        </p:spPr>
        <p:txBody>
          <a:bodyPr wrap="square" lIns="0" tIns="0" rIns="0" bIns="0" rtlCol="0" anchor="ctr">
            <a:normAutofit/>
          </a:bodyPr>
          <a:lstStyle/>
          <a:p>
            <a:pPr marL="0" indent="0">
              <a:buNone/>
            </a:pPr>
            <a:r>
              <a:rPr lang="en-US" altLang="zh-CN"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[Stage 1] </a:t>
            </a:r>
            <a:r>
              <a:rPr lang="zh-CN" alt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任务解析 &amp; 实体提取入</a:t>
            </a:r>
            <a:endParaRPr lang="zh-CN" alt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buNone/>
            </a:pPr>
            <a:endParaRPr lang="zh-CN" alt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buNone/>
            </a:pPr>
            <a:r>
              <a:rPr lang="zh-CN" alt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从任务描述中提取技术关键词、学科领域、企业画像分析</a:t>
            </a:r>
            <a:endParaRPr lang="zh-CN" alt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buNone/>
            </a:pPr>
            <a:r>
              <a:rPr lang="zh-CN" alt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同时从知识图谱中检索企业信息、教师候选池</a:t>
            </a:r>
            <a:endParaRPr lang="en-US" sz="1400" dirty="0"/>
          </a:p>
        </p:txBody>
      </p:sp>
      <p:sp>
        <p:nvSpPr>
          <p:cNvPr id="20" name="燕尾形箭头 19"/>
          <p:cNvSpPr/>
          <p:nvPr/>
        </p:nvSpPr>
        <p:spPr>
          <a:xfrm>
            <a:off x="3974465" y="1214120"/>
            <a:ext cx="511175" cy="386080"/>
          </a:xfrm>
          <a:prstGeom prst="notched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1" name="Shape 3"/>
          <p:cNvSpPr/>
          <p:nvPr>
            <p:custDataLst>
              <p:tags r:id="rId5"/>
            </p:custDataLst>
          </p:nvPr>
        </p:nvSpPr>
        <p:spPr>
          <a:xfrm>
            <a:off x="93345" y="2262505"/>
            <a:ext cx="3061970" cy="1941830"/>
          </a:xfrm>
          <a:prstGeom prst="rect">
            <a:avLst/>
          </a:prstGeom>
          <a:solidFill>
            <a:srgbClr val="0F2437"/>
          </a:solidFill>
          <a:ln w="12700">
            <a:solidFill>
              <a:srgbClr val="0F2437">
                <a:alpha val="0"/>
              </a:srgbClr>
            </a:solidFill>
            <a:prstDash val="solid"/>
          </a:ln>
        </p:spPr>
      </p:sp>
      <p:sp>
        <p:nvSpPr>
          <p:cNvPr id="22" name="Text 4"/>
          <p:cNvSpPr/>
          <p:nvPr>
            <p:custDataLst>
              <p:tags r:id="rId6"/>
            </p:custDataLst>
          </p:nvPr>
        </p:nvSpPr>
        <p:spPr>
          <a:xfrm>
            <a:off x="288925" y="2413635"/>
            <a:ext cx="2687955" cy="1607185"/>
          </a:xfrm>
          <a:prstGeom prst="rect">
            <a:avLst/>
          </a:prstGeom>
          <a:noFill/>
        </p:spPr>
        <p:txBody>
          <a:bodyPr wrap="square" lIns="0" tIns="0" rIns="0" bIns="0" rtlCol="0" anchor="ctr">
            <a:normAutofit fontScale="90000"/>
          </a:bodyPr>
          <a:lstStyle/>
          <a:p>
            <a:pPr marL="0" indent="0">
              <a:buNone/>
            </a:pPr>
            <a:r>
              <a:rPr lang="en-US" altLang="zh-CN"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[Stage 2] </a:t>
            </a:r>
            <a:r>
              <a:rPr lang="zh-CN" alt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混合召回（三路并行）</a:t>
            </a:r>
            <a:endParaRPr lang="zh-CN" alt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buNone/>
            </a:pPr>
            <a:endParaRPr lang="zh-CN" alt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buNone/>
            </a:pPr>
            <a:r>
              <a:rPr lang="zh-CN" alt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路径1: 向量语义检索 — 匹配教师 </a:t>
            </a:r>
            <a:r>
              <a:rPr lang="en-US" altLang="zh-CN"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Embedding </a:t>
            </a:r>
            <a:r>
              <a:rPr lang="zh-CN" alt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与任务语义</a:t>
            </a:r>
            <a:endParaRPr lang="zh-CN" alt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buNone/>
            </a:pPr>
            <a:r>
              <a:rPr lang="zh-CN" alt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路径2: 图谱多跳遍历 — 沿学科领域、技术关键词等关系查找教师</a:t>
            </a:r>
            <a:endParaRPr lang="zh-CN" alt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buNone/>
            </a:pPr>
            <a:r>
              <a:rPr lang="zh-CN" alt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路径3: 合作网络扩展 — 从企业合作教师出发扩展合著者网络</a:t>
            </a:r>
            <a:endParaRPr lang="en-US" sz="1400" dirty="0"/>
          </a:p>
        </p:txBody>
      </p:sp>
      <p:sp>
        <p:nvSpPr>
          <p:cNvPr id="23" name="Shape 3"/>
          <p:cNvSpPr/>
          <p:nvPr>
            <p:custDataLst>
              <p:tags r:id="rId7"/>
            </p:custDataLst>
          </p:nvPr>
        </p:nvSpPr>
        <p:spPr>
          <a:xfrm>
            <a:off x="3582035" y="2760345"/>
            <a:ext cx="2555240" cy="956310"/>
          </a:xfrm>
          <a:prstGeom prst="rect">
            <a:avLst/>
          </a:prstGeom>
          <a:solidFill>
            <a:srgbClr val="0F2437"/>
          </a:solidFill>
          <a:ln w="12700">
            <a:solidFill>
              <a:srgbClr val="0F2437">
                <a:alpha val="0"/>
              </a:srgbClr>
            </a:solidFill>
            <a:prstDash val="solid"/>
          </a:ln>
        </p:spPr>
      </p:sp>
      <p:sp>
        <p:nvSpPr>
          <p:cNvPr id="24" name="Text 4"/>
          <p:cNvSpPr/>
          <p:nvPr>
            <p:custDataLst>
              <p:tags r:id="rId8"/>
            </p:custDataLst>
          </p:nvPr>
        </p:nvSpPr>
        <p:spPr>
          <a:xfrm>
            <a:off x="3712845" y="2789555"/>
            <a:ext cx="2292985" cy="905510"/>
          </a:xfrm>
          <a:prstGeom prst="rect">
            <a:avLst/>
          </a:prstGeom>
          <a:noFill/>
        </p:spPr>
        <p:txBody>
          <a:bodyPr wrap="square" lIns="0" tIns="0" rIns="0" bIns="0" rtlCol="0" anchor="ctr">
            <a:normAutofit/>
          </a:bodyPr>
          <a:lstStyle/>
          <a:p>
            <a:pPr marL="0" indent="0">
              <a:buNone/>
            </a:pPr>
            <a:r>
              <a:rPr lang="en-US" altLang="zh-CN"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[Stage 3] </a:t>
            </a:r>
            <a:r>
              <a:rPr lang="zh-CN" alt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粗排 — 多维评分</a:t>
            </a:r>
            <a:endParaRPr lang="zh-CN" alt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buNone/>
            </a:pPr>
            <a:endParaRPr lang="zh-CN" alt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buNone/>
            </a:pPr>
            <a:r>
              <a:rPr lang="zh-CN" alt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语义相似度 + 图谱路径得分 + 教师类型池</a:t>
            </a:r>
            <a:endParaRPr lang="en-US" sz="1400" dirty="0"/>
          </a:p>
        </p:txBody>
      </p:sp>
      <p:sp>
        <p:nvSpPr>
          <p:cNvPr id="27" name="燕尾形箭头 26"/>
          <p:cNvSpPr/>
          <p:nvPr/>
        </p:nvSpPr>
        <p:spPr>
          <a:xfrm>
            <a:off x="8065135" y="3251200"/>
            <a:ext cx="511175" cy="75565"/>
          </a:xfrm>
          <a:prstGeom prst="notched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8" name="Shape 3"/>
          <p:cNvSpPr/>
          <p:nvPr>
            <p:custDataLst>
              <p:tags r:id="rId9"/>
            </p:custDataLst>
          </p:nvPr>
        </p:nvSpPr>
        <p:spPr>
          <a:xfrm>
            <a:off x="2428875" y="4276725"/>
            <a:ext cx="3194685" cy="830580"/>
          </a:xfrm>
          <a:prstGeom prst="rect">
            <a:avLst/>
          </a:prstGeom>
          <a:solidFill>
            <a:srgbClr val="0F2437"/>
          </a:solidFill>
          <a:ln w="12700">
            <a:solidFill>
              <a:srgbClr val="0F2437">
                <a:alpha val="0"/>
              </a:srgbClr>
            </a:solidFill>
            <a:prstDash val="solid"/>
          </a:ln>
        </p:spPr>
      </p:sp>
      <p:sp>
        <p:nvSpPr>
          <p:cNvPr id="29" name="Text 4"/>
          <p:cNvSpPr/>
          <p:nvPr>
            <p:custDataLst>
              <p:tags r:id="rId10"/>
            </p:custDataLst>
          </p:nvPr>
        </p:nvSpPr>
        <p:spPr>
          <a:xfrm>
            <a:off x="2603500" y="4013200"/>
            <a:ext cx="2818765" cy="1331595"/>
          </a:xfrm>
          <a:prstGeom prst="rect">
            <a:avLst/>
          </a:prstGeom>
          <a:noFill/>
        </p:spPr>
        <p:txBody>
          <a:bodyPr wrap="square" lIns="0" tIns="0" rIns="0" bIns="0" rtlCol="0" anchor="ctr">
            <a:normAutofit/>
          </a:bodyPr>
          <a:lstStyle/>
          <a:p>
            <a:pPr marL="0" indent="0">
              <a:buNone/>
            </a:pPr>
            <a:r>
              <a:rPr lang="en-US" altLang="zh-CN"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[Stage 5] </a:t>
            </a:r>
            <a:r>
              <a:rPr lang="zh-CN" alt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输出推荐教师团队结果</a:t>
            </a:r>
            <a:endParaRPr lang="en-US" sz="1400" dirty="0"/>
          </a:p>
        </p:txBody>
      </p:sp>
      <p:sp>
        <p:nvSpPr>
          <p:cNvPr id="30" name="Shape 3"/>
          <p:cNvSpPr/>
          <p:nvPr>
            <p:custDataLst>
              <p:tags r:id="rId11"/>
            </p:custDataLst>
          </p:nvPr>
        </p:nvSpPr>
        <p:spPr>
          <a:xfrm>
            <a:off x="6507480" y="2595245"/>
            <a:ext cx="2555240" cy="1425575"/>
          </a:xfrm>
          <a:prstGeom prst="rect">
            <a:avLst/>
          </a:prstGeom>
          <a:solidFill>
            <a:srgbClr val="0F2437"/>
          </a:solidFill>
          <a:ln w="12700">
            <a:solidFill>
              <a:srgbClr val="0F2437">
                <a:alpha val="0"/>
              </a:srgbClr>
            </a:solidFill>
            <a:prstDash val="solid"/>
          </a:ln>
        </p:spPr>
      </p:sp>
      <p:sp>
        <p:nvSpPr>
          <p:cNvPr id="31" name="Text 4"/>
          <p:cNvSpPr/>
          <p:nvPr>
            <p:custDataLst>
              <p:tags r:id="rId12"/>
            </p:custDataLst>
          </p:nvPr>
        </p:nvSpPr>
        <p:spPr>
          <a:xfrm>
            <a:off x="6630670" y="2782570"/>
            <a:ext cx="2379980" cy="1075055"/>
          </a:xfrm>
          <a:prstGeom prst="rect">
            <a:avLst/>
          </a:prstGeom>
          <a:noFill/>
        </p:spPr>
        <p:txBody>
          <a:bodyPr wrap="square" lIns="0" tIns="0" rIns="0" bIns="0" rtlCol="0" anchor="ctr">
            <a:normAutofit lnSpcReduction="20000"/>
          </a:bodyPr>
          <a:lstStyle/>
          <a:p>
            <a:pPr marL="0" indent="0">
              <a:buNone/>
            </a:pPr>
            <a:r>
              <a:rPr lang="en-US" altLang="zh-CN"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[Stage 4] </a:t>
            </a:r>
            <a:r>
              <a:rPr lang="zh-CN" alt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精排 — 合作可行性分析</a:t>
            </a:r>
            <a:endParaRPr lang="zh-CN" alt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buNone/>
            </a:pPr>
            <a:endParaRPr lang="zh-CN" alt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buNone/>
            </a:pPr>
            <a:r>
              <a:rPr lang="zh-CN" alt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 评估教师合作意愿</a:t>
            </a:r>
            <a:endParaRPr lang="zh-CN" alt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buNone/>
            </a:pPr>
            <a:r>
              <a:rPr lang="zh-CN" alt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 历史合作匹配度</a:t>
            </a:r>
            <a:endParaRPr lang="zh-CN" alt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buNone/>
            </a:pPr>
            <a:r>
              <a:rPr lang="zh-CN" alt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 地理位置等偏好匹配</a:t>
            </a:r>
            <a:endParaRPr lang="en-US" sz="1400" dirty="0"/>
          </a:p>
        </p:txBody>
      </p:sp>
      <p:sp>
        <p:nvSpPr>
          <p:cNvPr id="32" name="燕尾形箭头 31"/>
          <p:cNvSpPr/>
          <p:nvPr/>
        </p:nvSpPr>
        <p:spPr>
          <a:xfrm>
            <a:off x="3159760" y="3059430"/>
            <a:ext cx="417830" cy="315595"/>
          </a:xfrm>
          <a:prstGeom prst="notched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燕尾形箭头 32"/>
          <p:cNvSpPr/>
          <p:nvPr/>
        </p:nvSpPr>
        <p:spPr>
          <a:xfrm>
            <a:off x="6146165" y="3059430"/>
            <a:ext cx="358775" cy="267970"/>
          </a:xfrm>
          <a:prstGeom prst="notched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4" name="燕尾形箭头 33"/>
          <p:cNvSpPr/>
          <p:nvPr/>
        </p:nvSpPr>
        <p:spPr>
          <a:xfrm>
            <a:off x="8101965" y="1214120"/>
            <a:ext cx="511175" cy="386080"/>
          </a:xfrm>
          <a:prstGeom prst="notched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5" name="燕尾形箭头 34"/>
          <p:cNvSpPr/>
          <p:nvPr/>
        </p:nvSpPr>
        <p:spPr>
          <a:xfrm>
            <a:off x="1861820" y="4458970"/>
            <a:ext cx="511175" cy="386080"/>
          </a:xfrm>
          <a:prstGeom prst="notched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109728" cy="109728"/>
          </a:xfrm>
          <a:prstGeom prst="rect">
            <a:avLst/>
          </a:prstGeom>
          <a:solidFill>
            <a:srgbClr val="1BAE9F"/>
          </a:solidFill>
          <a:ln w="12700">
            <a:solidFill>
              <a:srgbClr val="1BAE9F">
                <a:alpha val="0"/>
              </a:srgbClr>
            </a:solidFill>
            <a:prstDash val="solid"/>
          </a:ln>
        </p:spPr>
      </p:sp>
      <p:sp>
        <p:nvSpPr>
          <p:cNvPr id="3" name="Text 1"/>
          <p:cNvSpPr/>
          <p:nvPr/>
        </p:nvSpPr>
        <p:spPr>
          <a:xfrm>
            <a:off x="685800" y="347472"/>
            <a:ext cx="2926080" cy="256032"/>
          </a:xfrm>
          <a:prstGeom prst="rect">
            <a:avLst/>
          </a:prstGeom>
          <a:noFill/>
        </p:spPr>
        <p:txBody>
          <a:bodyPr wrap="square" lIns="0" tIns="0" rIns="0" bIns="0" rtlCol="0" anchor="ctr"/>
          <a:lstStyle/>
          <a:p>
            <a:pPr marL="0" indent="0">
              <a:buNone/>
            </a:pPr>
            <a:r>
              <a:rPr lang="zh-CN" altLang="en-US" sz="2800" b="1" kern="0" spc="140" dirty="0">
                <a:solidFill>
                  <a:srgbClr val="245B66"/>
                </a:solidFill>
                <a:latin typeface="Aptos" pitchFamily="34" charset="0"/>
                <a:ea typeface="Aptos" pitchFamily="34" charset="-122"/>
                <a:cs typeface="Aptos" pitchFamily="34" charset="-120"/>
              </a:rPr>
              <a:t>混合召回策略</a:t>
            </a:r>
            <a:endParaRPr lang="zh-CN" altLang="en-US" sz="2800" b="1" kern="0" spc="140" dirty="0">
              <a:solidFill>
                <a:srgbClr val="245B66"/>
              </a:solidFill>
              <a:latin typeface="Aptos" pitchFamily="34" charset="0"/>
              <a:ea typeface="Aptos" pitchFamily="34" charset="-122"/>
              <a:cs typeface="Aptos" pitchFamily="34" charset="-120"/>
            </a:endParaRPr>
          </a:p>
        </p:txBody>
      </p:sp>
      <p:sp>
        <p:nvSpPr>
          <p:cNvPr id="4" name="Text 2"/>
          <p:cNvSpPr/>
          <p:nvPr/>
        </p:nvSpPr>
        <p:spPr>
          <a:xfrm>
            <a:off x="2569210" y="4395470"/>
            <a:ext cx="5326380" cy="454660"/>
          </a:xfrm>
          <a:prstGeom prst="rect">
            <a:avLst/>
          </a:prstGeom>
          <a:noFill/>
        </p:spPr>
        <p:txBody>
          <a:bodyPr wrap="square" lIns="0" tIns="0" rIns="0" bIns="0" rtlCol="0" anchor="ctr">
            <a:normAutofit/>
          </a:bodyPr>
          <a:lstStyle/>
          <a:p>
            <a:pPr marL="0" indent="0">
              <a:buNone/>
            </a:pPr>
            <a:r>
              <a:rPr lang="zh-CN" altLang="en-US" b="1"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核心思想：从不同角度发现潜在匹配教师</a:t>
            </a:r>
            <a:endParaRPr lang="en-US" dirty="0"/>
          </a:p>
        </p:txBody>
      </p:sp>
      <p:sp>
        <p:nvSpPr>
          <p:cNvPr id="20" name="Shape 3"/>
          <p:cNvSpPr/>
          <p:nvPr>
            <p:custDataLst>
              <p:tags r:id="rId1"/>
            </p:custDataLst>
          </p:nvPr>
        </p:nvSpPr>
        <p:spPr>
          <a:xfrm>
            <a:off x="580512" y="1167892"/>
            <a:ext cx="2478790" cy="2442337"/>
          </a:xfrm>
          <a:prstGeom prst="rect">
            <a:avLst/>
          </a:prstGeom>
          <a:solidFill>
            <a:srgbClr val="FFFFFF"/>
          </a:solidFill>
          <a:ln w="10160">
            <a:solidFill>
              <a:srgbClr val="B7E4DF"/>
            </a:solidFill>
            <a:prstDash val="solid"/>
          </a:ln>
        </p:spPr>
      </p:sp>
      <p:sp>
        <p:nvSpPr>
          <p:cNvPr id="21" name="Text 4"/>
          <p:cNvSpPr/>
          <p:nvPr>
            <p:custDataLst>
              <p:tags r:id="rId2"/>
            </p:custDataLst>
          </p:nvPr>
        </p:nvSpPr>
        <p:spPr>
          <a:xfrm>
            <a:off x="798975" y="1386735"/>
            <a:ext cx="2101098" cy="291749"/>
          </a:xfrm>
          <a:prstGeom prst="rect">
            <a:avLst/>
          </a:prstGeom>
          <a:noFill/>
        </p:spPr>
        <p:txBody>
          <a:bodyPr wrap="square" lIns="0" tIns="0" rIns="0" bIns="0" rtlCol="0" anchor="ctr"/>
          <a:lstStyle/>
          <a:p>
            <a:pPr marL="0" indent="0">
              <a:buNone/>
            </a:pPr>
            <a:r>
              <a:rPr lang="zh-CN" altLang="en-US" sz="1600" b="1" dirty="0">
                <a:solidFill>
                  <a:srgbClr val="1BAE9F"/>
                </a:solidFill>
                <a:latin typeface="Aptos" pitchFamily="34" charset="0"/>
                <a:ea typeface="Aptos" pitchFamily="34" charset="-122"/>
                <a:cs typeface="Aptos" pitchFamily="34" charset="-120"/>
              </a:rPr>
              <a:t>路径 1: 向量语义检索</a:t>
            </a:r>
            <a:endParaRPr lang="en-US" sz="1600" dirty="0"/>
          </a:p>
        </p:txBody>
      </p:sp>
      <p:sp>
        <p:nvSpPr>
          <p:cNvPr id="22" name="Text 5"/>
          <p:cNvSpPr/>
          <p:nvPr>
            <p:custDataLst>
              <p:tags r:id="rId3"/>
            </p:custDataLst>
          </p:nvPr>
        </p:nvSpPr>
        <p:spPr>
          <a:xfrm>
            <a:off x="680085" y="1842135"/>
            <a:ext cx="2309495" cy="1257300"/>
          </a:xfrm>
          <a:prstGeom prst="rect">
            <a:avLst/>
          </a:prstGeom>
          <a:noFill/>
        </p:spPr>
        <p:txBody>
          <a:bodyPr wrap="square" lIns="0" tIns="0" rIns="0" bIns="0" rtlCol="0" anchor="ctr">
            <a:normAutofit/>
          </a:bodyPr>
          <a:lstStyle/>
          <a:p>
            <a:pPr marL="0" indent="0">
              <a:buNone/>
            </a:pPr>
            <a:r>
              <a:rPr lang="zh-CN" altLang="en-US" sz="122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"任务描述字面上像什么"</a:t>
            </a:r>
            <a:endParaRPr lang="zh-CN" altLang="en-US" sz="122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buNone/>
            </a:pPr>
            <a:endParaRPr lang="zh-CN" altLang="en-US" sz="122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buNone/>
            </a:pPr>
            <a:r>
              <a:rPr lang="en-US" altLang="zh-CN" sz="122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 </a:t>
            </a:r>
            <a:r>
              <a:rPr lang="zh-CN" altLang="en-US" sz="122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任务描述通过 </a:t>
            </a:r>
            <a:r>
              <a:rPr lang="en-US" altLang="zh-CN" sz="122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Embedding </a:t>
            </a:r>
            <a:r>
              <a:rPr lang="zh-CN" altLang="en-US" sz="122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模型编码</a:t>
            </a:r>
            <a:endParaRPr lang="zh-CN" altLang="en-US" sz="122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buNone/>
            </a:pPr>
            <a:r>
              <a:rPr lang="en-US" altLang="zh-CN" sz="122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 </a:t>
            </a:r>
            <a:r>
              <a:rPr lang="zh-CN" altLang="en-US" sz="122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检索在研究领域语义</a:t>
            </a:r>
            <a:r>
              <a:rPr lang="zh-CN" altLang="en-US" sz="122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上最相似的 </a:t>
            </a:r>
            <a:r>
              <a:rPr lang="en-US" altLang="zh-CN" sz="122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Top K </a:t>
            </a:r>
            <a:r>
              <a:rPr lang="zh-CN" altLang="en-US" sz="122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教师</a:t>
            </a:r>
            <a:endParaRPr lang="zh-CN" altLang="en-US" sz="122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3" name="Shape 6"/>
          <p:cNvSpPr/>
          <p:nvPr>
            <p:custDataLst>
              <p:tags r:id="rId4"/>
            </p:custDataLst>
          </p:nvPr>
        </p:nvSpPr>
        <p:spPr>
          <a:xfrm>
            <a:off x="3360037" y="1167892"/>
            <a:ext cx="2478790" cy="2442337"/>
          </a:xfrm>
          <a:prstGeom prst="rect">
            <a:avLst/>
          </a:prstGeom>
          <a:solidFill>
            <a:srgbClr val="0F2437"/>
          </a:solidFill>
          <a:ln w="10160">
            <a:solidFill>
              <a:srgbClr val="0F2437"/>
            </a:solidFill>
            <a:prstDash val="solid"/>
          </a:ln>
        </p:spPr>
      </p:sp>
      <p:sp>
        <p:nvSpPr>
          <p:cNvPr id="24" name="Text 7"/>
          <p:cNvSpPr/>
          <p:nvPr>
            <p:custDataLst>
              <p:tags r:id="rId5"/>
            </p:custDataLst>
          </p:nvPr>
        </p:nvSpPr>
        <p:spPr>
          <a:xfrm>
            <a:off x="3578501" y="1386735"/>
            <a:ext cx="2258048" cy="291749"/>
          </a:xfrm>
          <a:prstGeom prst="rect">
            <a:avLst/>
          </a:prstGeom>
          <a:noFill/>
        </p:spPr>
        <p:txBody>
          <a:bodyPr wrap="square" lIns="0" tIns="0" rIns="0" bIns="0" rtlCol="0" anchor="ctr"/>
          <a:lstStyle/>
          <a:p>
            <a:pPr marL="0" indent="0">
              <a:buNone/>
            </a:pPr>
            <a:r>
              <a:rPr lang="zh-CN" altLang="en-US" sz="1600" b="1" dirty="0">
                <a:solidFill>
                  <a:srgbClr val="B7E4DF"/>
                </a:solidFill>
                <a:latin typeface="Aptos" pitchFamily="34" charset="0"/>
                <a:ea typeface="Aptos" pitchFamily="34" charset="-122"/>
                <a:cs typeface="Aptos" pitchFamily="34" charset="-120"/>
              </a:rPr>
              <a:t>路径 2: 图谱多跳遍历</a:t>
            </a:r>
            <a:endParaRPr lang="en-US" sz="1600" dirty="0"/>
          </a:p>
        </p:txBody>
      </p:sp>
      <p:sp>
        <p:nvSpPr>
          <p:cNvPr id="25" name="Text 8"/>
          <p:cNvSpPr/>
          <p:nvPr>
            <p:custDataLst>
              <p:tags r:id="rId6"/>
            </p:custDataLst>
          </p:nvPr>
        </p:nvSpPr>
        <p:spPr>
          <a:xfrm>
            <a:off x="3578501" y="1843028"/>
            <a:ext cx="2154892" cy="1256862"/>
          </a:xfrm>
          <a:prstGeom prst="rect">
            <a:avLst/>
          </a:prstGeom>
          <a:noFill/>
        </p:spPr>
        <p:txBody>
          <a:bodyPr wrap="square" lIns="0" tIns="0" rIns="0" bIns="0" rtlCol="0" anchor="ctr">
            <a:normAutofit lnSpcReduction="10000"/>
          </a:bodyPr>
          <a:lstStyle/>
          <a:p>
            <a:pPr marL="0" indent="0">
              <a:buNone/>
            </a:pPr>
            <a:r>
              <a:rPr lang="zh-CN" altLang="en-US" sz="122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"技术领域结构上相关</a:t>
            </a:r>
            <a:r>
              <a:rPr lang="zh-CN" altLang="en-US" sz="122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sym typeface="+mn-ea"/>
              </a:rPr>
              <a:t>的教师</a:t>
            </a:r>
            <a:r>
              <a:rPr lang="zh-CN" altLang="en-US" sz="122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a:t>
            </a:r>
            <a:endParaRPr lang="zh-CN" altLang="en-US" sz="122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buNone/>
            </a:pPr>
            <a:endParaRPr lang="zh-CN" altLang="en-US" sz="122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buNone/>
            </a:pPr>
            <a:r>
              <a:rPr lang="en-US" altLang="zh-CN" sz="122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 </a:t>
            </a:r>
            <a:r>
              <a:rPr lang="zh-CN" altLang="en-US" sz="122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从任务中提取的技术实体出发</a:t>
            </a:r>
            <a:endParaRPr lang="zh-CN" altLang="en-US" sz="122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buNone/>
            </a:pPr>
            <a:r>
              <a:rPr lang="en-US" altLang="zh-CN" sz="122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 </a:t>
            </a:r>
            <a:r>
              <a:rPr lang="zh-CN" altLang="en-US" sz="122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沿知识图谱的关系边进行多跳遍历</a:t>
            </a:r>
            <a:endParaRPr lang="zh-CN" altLang="en-US" sz="122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buNone/>
            </a:pPr>
            <a:endParaRPr lang="en-US" sz="1220" dirty="0"/>
          </a:p>
        </p:txBody>
      </p:sp>
      <p:sp>
        <p:nvSpPr>
          <p:cNvPr id="26" name="Shape 9"/>
          <p:cNvSpPr/>
          <p:nvPr>
            <p:custDataLst>
              <p:tags r:id="rId7"/>
            </p:custDataLst>
          </p:nvPr>
        </p:nvSpPr>
        <p:spPr>
          <a:xfrm>
            <a:off x="6139562" y="1167892"/>
            <a:ext cx="2478790" cy="2442337"/>
          </a:xfrm>
          <a:prstGeom prst="rect">
            <a:avLst/>
          </a:prstGeom>
          <a:solidFill>
            <a:srgbClr val="FFFFFF"/>
          </a:solidFill>
          <a:ln w="10160">
            <a:solidFill>
              <a:srgbClr val="B7E4DF"/>
            </a:solidFill>
            <a:prstDash val="solid"/>
          </a:ln>
        </p:spPr>
      </p:sp>
      <p:sp>
        <p:nvSpPr>
          <p:cNvPr id="27" name="Text 10"/>
          <p:cNvSpPr/>
          <p:nvPr>
            <p:custDataLst>
              <p:tags r:id="rId8"/>
            </p:custDataLst>
          </p:nvPr>
        </p:nvSpPr>
        <p:spPr>
          <a:xfrm>
            <a:off x="6358026" y="1386735"/>
            <a:ext cx="2190965" cy="291749"/>
          </a:xfrm>
          <a:prstGeom prst="rect">
            <a:avLst/>
          </a:prstGeom>
          <a:noFill/>
        </p:spPr>
        <p:txBody>
          <a:bodyPr wrap="square" lIns="0" tIns="0" rIns="0" bIns="0" rtlCol="0" anchor="ctr"/>
          <a:lstStyle/>
          <a:p>
            <a:pPr marL="0" indent="0">
              <a:buNone/>
            </a:pPr>
            <a:r>
              <a:rPr lang="zh-CN" altLang="en-US" sz="1600" b="1" dirty="0">
                <a:solidFill>
                  <a:srgbClr val="1BAE9F"/>
                </a:solidFill>
                <a:latin typeface="Aptos" pitchFamily="34" charset="0"/>
                <a:ea typeface="Aptos" pitchFamily="34" charset="-122"/>
                <a:cs typeface="Aptos" pitchFamily="34" charset="-120"/>
              </a:rPr>
              <a:t>路径 3: 合作网络扩展</a:t>
            </a:r>
            <a:endParaRPr lang="en-US" sz="1600" dirty="0"/>
          </a:p>
        </p:txBody>
      </p:sp>
      <p:sp>
        <p:nvSpPr>
          <p:cNvPr id="28" name="Text 11"/>
          <p:cNvSpPr/>
          <p:nvPr>
            <p:custDataLst>
              <p:tags r:id="rId9"/>
            </p:custDataLst>
          </p:nvPr>
        </p:nvSpPr>
        <p:spPr>
          <a:xfrm>
            <a:off x="6252210" y="1678305"/>
            <a:ext cx="2342515" cy="1257300"/>
          </a:xfrm>
          <a:prstGeom prst="rect">
            <a:avLst/>
          </a:prstGeom>
          <a:noFill/>
        </p:spPr>
        <p:txBody>
          <a:bodyPr wrap="square" lIns="0" tIns="0" rIns="0" bIns="0" rtlCol="0" anchor="ctr">
            <a:noAutofit/>
          </a:bodyPr>
          <a:lstStyle/>
          <a:p>
            <a:pPr marL="0" indent="0">
              <a:buNone/>
            </a:pPr>
            <a:r>
              <a:rPr lang="zh-CN" altLang="en-US" sz="12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"合作网络上靠近</a:t>
            </a:r>
            <a:r>
              <a:rPr lang="zh-CN" altLang="en-US" sz="12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sym typeface="+mn-ea"/>
              </a:rPr>
              <a:t>的教师</a:t>
            </a:r>
            <a:r>
              <a:rPr lang="zh-CN" altLang="en-US" sz="12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a:t>
            </a:r>
            <a:endParaRPr lang="zh-CN" altLang="en-US" sz="12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buNone/>
            </a:pPr>
            <a:endParaRPr lang="zh-CN" altLang="en-US" sz="12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buNone/>
            </a:pPr>
            <a:r>
              <a:rPr lang="en-US" sz="12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 </a:t>
            </a:r>
            <a:r>
              <a:rPr lang="zh-CN" altLang="en-US" sz="12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从目标企业的</a:t>
            </a:r>
            <a:r>
              <a:rPr lang="zh-CN" altLang="en-US" sz="12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历史合作教师出发</a:t>
            </a:r>
            <a:endParaRPr lang="zh-CN" altLang="en-US" sz="12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buNone/>
            </a:pPr>
            <a:r>
              <a:rPr lang="en-US" altLang="zh-CN" sz="12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 </a:t>
            </a:r>
            <a:r>
              <a:rPr lang="zh-CN" altLang="en-US" sz="12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从每个教师的历史合作企业</a:t>
            </a:r>
            <a:r>
              <a:rPr lang="zh-CN" altLang="en-US" sz="12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rPr>
              <a:t>出发</a:t>
            </a:r>
            <a:endParaRPr lang="zh-CN" altLang="en-US" sz="1200" dirty="0">
              <a:solidFill>
                <a:srgbClr val="0F2437"/>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3" name="Text 7"/>
          <p:cNvSpPr/>
          <p:nvPr>
            <p:custDataLst>
              <p:tags r:id="rId10"/>
            </p:custDataLst>
          </p:nvPr>
        </p:nvSpPr>
        <p:spPr>
          <a:xfrm>
            <a:off x="3083560" y="3773170"/>
            <a:ext cx="3056255" cy="715645"/>
          </a:xfrm>
          <a:prstGeom prst="rect">
            <a:avLst/>
          </a:prstGeom>
          <a:noFill/>
        </p:spPr>
        <p:txBody>
          <a:bodyPr wrap="square" lIns="0" tIns="0" rIns="0" bIns="0" rtlCol="0" anchor="ctr"/>
          <a:lstStyle/>
          <a:p>
            <a:pPr marL="0" indent="0" algn="ctr">
              <a:buNone/>
            </a:pPr>
            <a:r>
              <a:rPr lang="zh-CN" altLang="en-US" sz="2400" b="1" dirty="0">
                <a:solidFill>
                  <a:schemeClr val="tx2">
                    <a:lumMod val="75000"/>
                  </a:schemeClr>
                </a:solidFill>
                <a:latin typeface="Aptos" pitchFamily="34" charset="0"/>
                <a:ea typeface="Aptos" pitchFamily="34" charset="-122"/>
                <a:cs typeface="Aptos" pitchFamily="34" charset="-120"/>
              </a:rPr>
              <a:t>三路融合</a:t>
            </a:r>
            <a:endParaRPr lang="zh-CN" altLang="en-US" sz="2400" b="1" dirty="0">
              <a:solidFill>
                <a:schemeClr val="tx2">
                  <a:lumMod val="75000"/>
                </a:schemeClr>
              </a:solidFill>
              <a:latin typeface="Aptos" pitchFamily="34" charset="0"/>
              <a:ea typeface="Aptos" pitchFamily="34" charset="-122"/>
              <a:cs typeface="Aptos" pitchFamily="34" charset="-12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109728" cy="109728"/>
          </a:xfrm>
          <a:prstGeom prst="rect">
            <a:avLst/>
          </a:prstGeom>
          <a:solidFill>
            <a:srgbClr val="1BAE9F"/>
          </a:solidFill>
          <a:ln w="12700">
            <a:solidFill>
              <a:srgbClr val="1BAE9F">
                <a:alpha val="0"/>
              </a:srgbClr>
            </a:solidFill>
            <a:prstDash val="solid"/>
          </a:ln>
        </p:spPr>
      </p:sp>
      <p:sp>
        <p:nvSpPr>
          <p:cNvPr id="3" name="Text 1"/>
          <p:cNvSpPr/>
          <p:nvPr/>
        </p:nvSpPr>
        <p:spPr>
          <a:xfrm>
            <a:off x="685800" y="347345"/>
            <a:ext cx="5022215" cy="255905"/>
          </a:xfrm>
          <a:prstGeom prst="rect">
            <a:avLst/>
          </a:prstGeom>
          <a:noFill/>
        </p:spPr>
        <p:txBody>
          <a:bodyPr wrap="square" lIns="0" tIns="0" rIns="0" bIns="0" rtlCol="0" anchor="ctr"/>
          <a:lstStyle/>
          <a:p>
            <a:pPr marL="0" indent="0">
              <a:buNone/>
            </a:pPr>
            <a:r>
              <a:rPr lang="zh-CN" altLang="en-US" sz="2800" b="1" kern="0" spc="140" dirty="0">
                <a:solidFill>
                  <a:srgbClr val="245B66"/>
                </a:solidFill>
                <a:latin typeface="Aptos" pitchFamily="34" charset="0"/>
                <a:ea typeface="Aptos" pitchFamily="34" charset="-122"/>
                <a:cs typeface="Aptos" pitchFamily="34" charset="-120"/>
              </a:rPr>
              <a:t>多维评分模型规则</a:t>
            </a:r>
            <a:r>
              <a:rPr lang="zh-CN" altLang="en-US" sz="2800" b="1" kern="0" spc="140" dirty="0">
                <a:solidFill>
                  <a:srgbClr val="245B66"/>
                </a:solidFill>
                <a:latin typeface="Aptos" pitchFamily="34" charset="0"/>
                <a:ea typeface="Aptos" pitchFamily="34" charset="-122"/>
                <a:cs typeface="Aptos" pitchFamily="34" charset="-120"/>
              </a:rPr>
              <a:t>说明</a:t>
            </a:r>
            <a:endParaRPr lang="zh-CN" altLang="en-US" sz="2800" b="1" kern="0" spc="140" dirty="0">
              <a:solidFill>
                <a:srgbClr val="245B66"/>
              </a:solidFill>
              <a:latin typeface="Aptos" pitchFamily="34" charset="0"/>
              <a:ea typeface="Aptos" pitchFamily="34" charset="-122"/>
              <a:cs typeface="Aptos" pitchFamily="34" charset="-120"/>
            </a:endParaRPr>
          </a:p>
        </p:txBody>
      </p:sp>
      <p:sp>
        <p:nvSpPr>
          <p:cNvPr id="34" name="Text 8"/>
          <p:cNvSpPr/>
          <p:nvPr>
            <p:custDataLst>
              <p:tags r:id="rId1"/>
            </p:custDataLst>
          </p:nvPr>
        </p:nvSpPr>
        <p:spPr>
          <a:xfrm>
            <a:off x="2419350" y="3911600"/>
            <a:ext cx="4472940" cy="1256665"/>
          </a:xfrm>
          <a:prstGeom prst="rect">
            <a:avLst/>
          </a:prstGeom>
          <a:noFill/>
        </p:spPr>
        <p:txBody>
          <a:bodyPr wrap="square" lIns="0" tIns="0" rIns="0" bIns="0" rtlCol="0" anchor="ctr">
            <a:normAutofit lnSpcReduction="10000"/>
          </a:bodyPr>
          <a:lstStyle/>
          <a:p>
            <a:pPr marL="0" indent="0">
              <a:buNone/>
            </a:pPr>
            <a:r>
              <a:rPr lang="zh-CN" altLang="en-US" sz="122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使用 </a:t>
            </a:r>
            <a:r>
              <a:rPr lang="en-US" altLang="zh-CN" sz="122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RRF (Reciprocal Rank Fusion) </a:t>
            </a:r>
            <a:r>
              <a:rPr lang="zh-CN" altLang="en-US" sz="122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算法融合三路各自返回列表</a:t>
            </a:r>
            <a:endParaRPr lang="zh-CN" altLang="en-US" sz="122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graphicFrame>
        <p:nvGraphicFramePr>
          <p:cNvPr id="6" name="表格 5"/>
          <p:cNvGraphicFramePr/>
          <p:nvPr>
            <p:custDataLst>
              <p:tags r:id="rId2"/>
            </p:custDataLst>
          </p:nvPr>
        </p:nvGraphicFramePr>
        <p:xfrm>
          <a:off x="503396" y="744379"/>
          <a:ext cx="8290560" cy="4112895"/>
        </p:xfrm>
        <a:graphic>
          <a:graphicData uri="http://schemas.openxmlformats.org/drawingml/2006/table">
            <a:tbl>
              <a:tblPr firstRow="1" bandRow="1">
                <a:tableStyleId>{5C22544A-7EE6-4342-B048-85BDC9FD1C3A}</a:tableStyleId>
              </a:tblPr>
              <a:tblGrid>
                <a:gridCol w="2758440"/>
                <a:gridCol w="2766060"/>
                <a:gridCol w="2766060"/>
              </a:tblGrid>
              <a:tr h="365760">
                <a:tc>
                  <a:txBody>
                    <a:bodyPr/>
                    <a:p>
                      <a:pPr>
                        <a:buNone/>
                      </a:pPr>
                      <a:r>
                        <a:rPr lang="zh-CN" altLang="en-US" sz="1800"/>
                        <a:t>评分维度</a:t>
                      </a:r>
                      <a:endParaRPr lang="zh-CN" altLang="en-US" sz="1800"/>
                    </a:p>
                  </a:txBody>
                  <a:tcPr/>
                </a:tc>
                <a:tc>
                  <a:txBody>
                    <a:bodyPr/>
                    <a:p>
                      <a:pPr>
                        <a:buNone/>
                      </a:pPr>
                      <a:r>
                        <a:rPr lang="zh-CN" altLang="en-US" sz="1800"/>
                        <a:t>计算方式</a:t>
                      </a:r>
                      <a:endParaRPr lang="zh-CN" altLang="en-US" sz="1800"/>
                    </a:p>
                  </a:txBody>
                  <a:tcPr/>
                </a:tc>
                <a:tc>
                  <a:txBody>
                    <a:bodyPr/>
                    <a:p>
                      <a:pPr>
                        <a:buNone/>
                      </a:pPr>
                      <a:r>
                        <a:rPr lang="zh-CN" altLang="en-US" sz="1800"/>
                        <a:t>说明</a:t>
                      </a:r>
                      <a:endParaRPr lang="zh-CN" altLang="en-US" sz="1800"/>
                    </a:p>
                  </a:txBody>
                  <a:tcPr/>
                </a:tc>
              </a:tr>
              <a:tr h="640080">
                <a:tc>
                  <a:txBody>
                    <a:bodyPr/>
                    <a:p>
                      <a:pPr>
                        <a:buNone/>
                      </a:pPr>
                      <a:r>
                        <a:rPr lang="zh-CN" altLang="en-US" sz="1800"/>
                        <a:t>语义相似度</a:t>
                      </a:r>
                      <a:endParaRPr lang="zh-CN" altLang="en-US" sz="1800"/>
                    </a:p>
                  </a:txBody>
                  <a:tcPr/>
                </a:tc>
                <a:tc>
                  <a:txBody>
                    <a:bodyPr/>
                    <a:p>
                      <a:pPr>
                        <a:buNone/>
                      </a:pPr>
                      <a:r>
                        <a:rPr lang="en-US" altLang="zh-CN" sz="1800"/>
                        <a:t>cosine(teacher_emb, task_emb)</a:t>
                      </a:r>
                      <a:endParaRPr lang="en-US" altLang="zh-CN" sz="1800"/>
                    </a:p>
                  </a:txBody>
                  <a:tcPr/>
                </a:tc>
                <a:tc>
                  <a:txBody>
                    <a:bodyPr/>
                    <a:p>
                      <a:pPr>
                        <a:buNone/>
                      </a:pPr>
                      <a:r>
                        <a:rPr lang="zh-CN" altLang="en-US" sz="1800"/>
                        <a:t>向量余弦相似度</a:t>
                      </a:r>
                      <a:endParaRPr lang="zh-CN" altLang="en-US" sz="1800"/>
                    </a:p>
                  </a:txBody>
                  <a:tcPr/>
                </a:tc>
              </a:tr>
              <a:tr h="640080">
                <a:tc>
                  <a:txBody>
                    <a:bodyPr/>
                    <a:p>
                      <a:pPr>
                        <a:buNone/>
                      </a:pPr>
                      <a:r>
                        <a:rPr lang="zh-CN" altLang="en-US" sz="1800"/>
                        <a:t>图谱路径得分</a:t>
                      </a:r>
                      <a:endParaRPr lang="zh-CN" altLang="en-US" sz="1800"/>
                    </a:p>
                  </a:txBody>
                  <a:tcPr/>
                </a:tc>
                <a:tc>
                  <a:txBody>
                    <a:bodyPr/>
                    <a:p>
                      <a:pPr>
                        <a:buNone/>
                      </a:pPr>
                      <a:r>
                        <a:rPr lang="en-US" altLang="zh-CN" sz="1800"/>
                        <a:t>Graph Path Score</a:t>
                      </a:r>
                      <a:endParaRPr lang="en-US" altLang="zh-CN" sz="1800"/>
                    </a:p>
                  </a:txBody>
                  <a:tcPr/>
                </a:tc>
                <a:tc>
                  <a:txBody>
                    <a:bodyPr/>
                    <a:p>
                      <a:pPr>
                        <a:buNone/>
                      </a:pPr>
                      <a:r>
                        <a:rPr lang="zh-CN" altLang="en-US" sz="1800"/>
                        <a:t>所有匹配路径的加权置信度求和</a:t>
                      </a:r>
                      <a:endParaRPr lang="zh-CN" altLang="en-US" sz="1800"/>
                    </a:p>
                  </a:txBody>
                  <a:tcPr/>
                </a:tc>
              </a:tr>
              <a:tr h="647065">
                <a:tc>
                  <a:txBody>
                    <a:bodyPr/>
                    <a:p>
                      <a:pPr>
                        <a:buNone/>
                      </a:pPr>
                      <a:r>
                        <a:rPr lang="zh-CN" altLang="en-US" sz="1800"/>
                        <a:t>子图结构相似度</a:t>
                      </a:r>
                      <a:endParaRPr lang="zh-CN" altLang="en-US" sz="1800"/>
                    </a:p>
                  </a:txBody>
                  <a:tcPr/>
                </a:tc>
                <a:tc>
                  <a:txBody>
                    <a:bodyPr/>
                    <a:p>
                      <a:pPr>
                        <a:buNone/>
                      </a:pPr>
                      <a:r>
                        <a:rPr lang="en-US" altLang="zh-CN" sz="1800"/>
                        <a:t>WL Kernel + Graph Embedding</a:t>
                      </a:r>
                      <a:endParaRPr lang="en-US" altLang="zh-CN" sz="1800"/>
                    </a:p>
                  </a:txBody>
                  <a:tcPr/>
                </a:tc>
                <a:tc>
                  <a:txBody>
                    <a:bodyPr/>
                    <a:p>
                      <a:pPr>
                        <a:buNone/>
                      </a:pPr>
                      <a:r>
                        <a:rPr lang="zh-CN" altLang="en-US" sz="1800"/>
                        <a:t>结构模式匹配度</a:t>
                      </a:r>
                      <a:endParaRPr lang="zh-CN" altLang="en-US" sz="1800"/>
                    </a:p>
                  </a:txBody>
                  <a:tcPr/>
                </a:tc>
              </a:tr>
              <a:tr h="452755">
                <a:tc>
                  <a:txBody>
                    <a:bodyPr/>
                    <a:p>
                      <a:pPr>
                        <a:buNone/>
                      </a:pPr>
                      <a:r>
                        <a:rPr lang="zh-CN" altLang="en-US" sz="1800"/>
                        <a:t>合作中心性</a:t>
                      </a:r>
                      <a:endParaRPr lang="zh-CN" altLang="en-US" sz="1800"/>
                    </a:p>
                  </a:txBody>
                  <a:tcPr/>
                </a:tc>
                <a:tc>
                  <a:txBody>
                    <a:bodyPr/>
                    <a:p>
                      <a:pPr>
                        <a:buNone/>
                      </a:pPr>
                      <a:r>
                        <a:rPr lang="en-US" altLang="zh-CN" sz="1800"/>
                        <a:t>Betweenness Centrality</a:t>
                      </a:r>
                      <a:endParaRPr lang="en-US" altLang="zh-CN" sz="1800"/>
                    </a:p>
                  </a:txBody>
                  <a:tcPr/>
                </a:tc>
                <a:tc>
                  <a:txBody>
                    <a:bodyPr/>
                    <a:p>
                      <a:pPr>
                        <a:buNone/>
                      </a:pPr>
                      <a:r>
                        <a:rPr lang="zh-CN" altLang="en-US" sz="1800"/>
                        <a:t>中介中心性</a:t>
                      </a:r>
                      <a:endParaRPr lang="zh-CN" altLang="en-US" sz="1800"/>
                    </a:p>
                  </a:txBody>
                  <a:tcPr/>
                </a:tc>
              </a:tr>
              <a:tr h="452755">
                <a:tc>
                  <a:txBody>
                    <a:bodyPr/>
                    <a:p>
                      <a:pPr>
                        <a:buNone/>
                      </a:pPr>
                      <a:r>
                        <a:rPr lang="zh-CN" altLang="en-US" sz="1800"/>
                        <a:t>社区归属度</a:t>
                      </a:r>
                      <a:endParaRPr lang="zh-CN" altLang="en-US" sz="1800"/>
                    </a:p>
                  </a:txBody>
                  <a:tcPr/>
                </a:tc>
                <a:tc>
                  <a:txBody>
                    <a:bodyPr/>
                    <a:p>
                      <a:pPr>
                        <a:buNone/>
                      </a:pPr>
                      <a:r>
                        <a:rPr lang="en-US" altLang="zh-CN" sz="1800"/>
                        <a:t>Community Affinity</a:t>
                      </a:r>
                      <a:endParaRPr lang="en-US" altLang="zh-CN" sz="1800"/>
                    </a:p>
                  </a:txBody>
                  <a:tcPr/>
                </a:tc>
                <a:tc>
                  <a:txBody>
                    <a:bodyPr/>
                    <a:p>
                      <a:pPr>
                        <a:buNone/>
                      </a:pPr>
                      <a:r>
                        <a:rPr lang="zh-CN" altLang="en-US" sz="1800"/>
                        <a:t>图社区判断</a:t>
                      </a:r>
                      <a:endParaRPr lang="zh-CN" altLang="en-US" sz="1800"/>
                    </a:p>
                  </a:txBody>
                  <a:tcPr/>
                </a:tc>
              </a:tr>
              <a:tr h="914400">
                <a:tc>
                  <a:txBody>
                    <a:bodyPr/>
                    <a:p>
                      <a:pPr>
                        <a:buNone/>
                      </a:pPr>
                      <a:r>
                        <a:rPr lang="zh-CN" altLang="en-US" sz="1800"/>
                        <a:t>教师类型</a:t>
                      </a:r>
                      <a:r>
                        <a:rPr lang="zh-CN" altLang="en-US" sz="1800"/>
                        <a:t>划分</a:t>
                      </a:r>
                      <a:endParaRPr lang="zh-CN" altLang="en-US" sz="1800"/>
                    </a:p>
                  </a:txBody>
                  <a:tcPr/>
                </a:tc>
                <a:tc>
                  <a:txBody>
                    <a:bodyPr/>
                    <a:p>
                      <a:pPr>
                        <a:buNone/>
                      </a:pPr>
                      <a:r>
                        <a:rPr lang="zh-CN" altLang="en-US" sz="1800"/>
                        <a:t>加权平均</a:t>
                      </a:r>
                      <a:endParaRPr lang="zh-CN" altLang="en-US" sz="1800"/>
                    </a:p>
                  </a:txBody>
                  <a:tcPr/>
                </a:tc>
                <a:tc>
                  <a:txBody>
                    <a:bodyPr/>
                    <a:p>
                      <a:pPr>
                        <a:buNone/>
                      </a:pPr>
                      <a:r>
                        <a:rPr lang="zh-CN" altLang="en-US" sz="1800"/>
                        <a:t>类型：学术前沿 / 技术攻关 / 产学研 / 成果转化 / 平台资源</a:t>
                      </a:r>
                      <a:endParaRPr lang="zh-CN" altLang="en-US" sz="1800"/>
                    </a:p>
                  </a:txBody>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2682240" y="2249170"/>
            <a:ext cx="3780155" cy="645160"/>
          </a:xfrm>
          <a:prstGeom prst="rect">
            <a:avLst/>
          </a:prstGeom>
          <a:noFill/>
        </p:spPr>
        <p:txBody>
          <a:bodyPr wrap="square" lIns="0" tIns="0" rIns="0" bIns="0" rtlCol="0" anchor="ctr"/>
          <a:lstStyle/>
          <a:p>
            <a:pPr marL="0" indent="0">
              <a:buNone/>
            </a:pPr>
            <a:r>
              <a:rPr lang="zh-CN" altLang="en-US" sz="3600" b="1" kern="0" spc="140" dirty="0">
                <a:solidFill>
                  <a:srgbClr val="245B66"/>
                </a:solidFill>
                <a:latin typeface="Aptos" pitchFamily="34" charset="0"/>
                <a:ea typeface="Aptos" pitchFamily="34" charset="-122"/>
                <a:cs typeface="Aptos" pitchFamily="34" charset="-120"/>
              </a:rPr>
              <a:t>结果展示与分析</a:t>
            </a:r>
            <a:endParaRPr lang="zh-CN" altLang="en-US" sz="3600" b="1" kern="0" spc="140" dirty="0">
              <a:solidFill>
                <a:srgbClr val="245B66"/>
              </a:solidFill>
              <a:latin typeface="Aptos" pitchFamily="34" charset="0"/>
              <a:ea typeface="Aptos" pitchFamily="34" charset="-122"/>
              <a:cs typeface="Aptos" pitchFamily="34" charset="-12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109728" cy="109728"/>
          </a:xfrm>
          <a:prstGeom prst="rect">
            <a:avLst/>
          </a:prstGeom>
          <a:solidFill>
            <a:srgbClr val="1BAE9F"/>
          </a:solidFill>
          <a:ln w="12700">
            <a:solidFill>
              <a:srgbClr val="1BAE9F">
                <a:alpha val="0"/>
              </a:srgbClr>
            </a:solidFill>
            <a:prstDash val="solid"/>
          </a:ln>
        </p:spPr>
      </p:sp>
      <p:sp>
        <p:nvSpPr>
          <p:cNvPr id="3" name="Text 1"/>
          <p:cNvSpPr/>
          <p:nvPr/>
        </p:nvSpPr>
        <p:spPr>
          <a:xfrm>
            <a:off x="685800" y="347345"/>
            <a:ext cx="7268845" cy="255905"/>
          </a:xfrm>
          <a:prstGeom prst="rect">
            <a:avLst/>
          </a:prstGeom>
          <a:noFill/>
        </p:spPr>
        <p:txBody>
          <a:bodyPr wrap="square" lIns="0" tIns="0" rIns="0" bIns="0" rtlCol="0" anchor="ctr"/>
          <a:lstStyle/>
          <a:p>
            <a:pPr marL="0" indent="0">
              <a:buNone/>
            </a:pPr>
            <a:r>
              <a:rPr lang="zh-CN" altLang="en-US" sz="2800" b="1" kern="0" spc="140" dirty="0">
                <a:solidFill>
                  <a:srgbClr val="245B66"/>
                </a:solidFill>
                <a:latin typeface="Aptos" pitchFamily="34" charset="0"/>
                <a:ea typeface="Aptos" pitchFamily="34" charset="-122"/>
                <a:cs typeface="Aptos" pitchFamily="34" charset="-120"/>
              </a:rPr>
              <a:t>主页面演示</a:t>
            </a:r>
            <a:endParaRPr lang="zh-CN" altLang="en-US" sz="2800" b="1" kern="0" spc="140" dirty="0">
              <a:solidFill>
                <a:srgbClr val="245B66"/>
              </a:solidFill>
              <a:latin typeface="Aptos" pitchFamily="34" charset="0"/>
              <a:ea typeface="Aptos" pitchFamily="34" charset="-122"/>
              <a:cs typeface="Aptos" pitchFamily="34" charset="-120"/>
            </a:endParaRPr>
          </a:p>
        </p:txBody>
      </p:sp>
      <p:pic>
        <p:nvPicPr>
          <p:cNvPr id="14" name="图片 13" descr="主页面"/>
          <p:cNvPicPr>
            <a:picLocks noChangeAspect="1"/>
          </p:cNvPicPr>
          <p:nvPr/>
        </p:nvPicPr>
        <p:blipFill>
          <a:blip r:embed="rId1"/>
          <a:srcRect t="9303"/>
          <a:stretch>
            <a:fillRect/>
          </a:stretch>
        </p:blipFill>
        <p:spPr>
          <a:xfrm>
            <a:off x="1208405" y="806450"/>
            <a:ext cx="6726555" cy="396811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109728" cy="109728"/>
          </a:xfrm>
          <a:prstGeom prst="rect">
            <a:avLst/>
          </a:prstGeom>
          <a:solidFill>
            <a:srgbClr val="1BAE9F"/>
          </a:solidFill>
          <a:ln w="12700">
            <a:solidFill>
              <a:srgbClr val="1BAE9F">
                <a:alpha val="0"/>
              </a:srgbClr>
            </a:solidFill>
            <a:prstDash val="solid"/>
          </a:ln>
        </p:spPr>
      </p:sp>
      <p:sp>
        <p:nvSpPr>
          <p:cNvPr id="3" name="Text 1"/>
          <p:cNvSpPr/>
          <p:nvPr/>
        </p:nvSpPr>
        <p:spPr>
          <a:xfrm>
            <a:off x="685800" y="347345"/>
            <a:ext cx="7268845" cy="255905"/>
          </a:xfrm>
          <a:prstGeom prst="rect">
            <a:avLst/>
          </a:prstGeom>
          <a:noFill/>
        </p:spPr>
        <p:txBody>
          <a:bodyPr wrap="square" lIns="0" tIns="0" rIns="0" bIns="0" rtlCol="0" anchor="ctr"/>
          <a:lstStyle/>
          <a:p>
            <a:pPr marL="0" indent="0">
              <a:buNone/>
            </a:pPr>
            <a:r>
              <a:rPr lang="zh-CN" altLang="en-US" sz="2800" b="1" kern="0" spc="140" dirty="0">
                <a:solidFill>
                  <a:srgbClr val="245B66"/>
                </a:solidFill>
                <a:latin typeface="Aptos" pitchFamily="34" charset="0"/>
                <a:ea typeface="Aptos" pitchFamily="34" charset="-122"/>
                <a:cs typeface="Aptos" pitchFamily="34" charset="-120"/>
                <a:sym typeface="+mn-ea"/>
              </a:rPr>
              <a:t>推荐结果演示</a:t>
            </a:r>
            <a:endParaRPr lang="zh-CN" altLang="en-US" sz="2800" b="1" kern="0" spc="140" dirty="0">
              <a:solidFill>
                <a:srgbClr val="245B66"/>
              </a:solidFill>
              <a:latin typeface="Aptos" pitchFamily="34" charset="0"/>
              <a:ea typeface="Aptos" pitchFamily="34" charset="-122"/>
              <a:cs typeface="Aptos" pitchFamily="34" charset="-120"/>
              <a:sym typeface="+mn-ea"/>
            </a:endParaRPr>
          </a:p>
        </p:txBody>
      </p:sp>
      <p:pic>
        <p:nvPicPr>
          <p:cNvPr id="4" name="图片 3" descr="推荐结果"/>
          <p:cNvPicPr>
            <a:picLocks noChangeAspect="1"/>
          </p:cNvPicPr>
          <p:nvPr/>
        </p:nvPicPr>
        <p:blipFill>
          <a:blip r:embed="rId1"/>
          <a:srcRect t="8987" b="1868"/>
          <a:stretch>
            <a:fillRect/>
          </a:stretch>
        </p:blipFill>
        <p:spPr>
          <a:xfrm>
            <a:off x="1003935" y="657225"/>
            <a:ext cx="7354570" cy="426402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109728" cy="109728"/>
          </a:xfrm>
          <a:prstGeom prst="rect">
            <a:avLst/>
          </a:prstGeom>
          <a:solidFill>
            <a:srgbClr val="1BAE9F"/>
          </a:solidFill>
          <a:ln w="12700">
            <a:solidFill>
              <a:srgbClr val="1BAE9F">
                <a:alpha val="0"/>
              </a:srgbClr>
            </a:solidFill>
            <a:prstDash val="solid"/>
          </a:ln>
        </p:spPr>
      </p:sp>
      <p:sp>
        <p:nvSpPr>
          <p:cNvPr id="3" name="Text 1"/>
          <p:cNvSpPr/>
          <p:nvPr/>
        </p:nvSpPr>
        <p:spPr>
          <a:xfrm>
            <a:off x="685800" y="347345"/>
            <a:ext cx="7268845" cy="255905"/>
          </a:xfrm>
          <a:prstGeom prst="rect">
            <a:avLst/>
          </a:prstGeom>
          <a:noFill/>
        </p:spPr>
        <p:txBody>
          <a:bodyPr wrap="square" lIns="0" tIns="0" rIns="0" bIns="0" rtlCol="0" anchor="ctr"/>
          <a:lstStyle/>
          <a:p>
            <a:pPr marL="0" indent="0">
              <a:buNone/>
            </a:pPr>
            <a:r>
              <a:rPr lang="zh-CN" altLang="en-US" sz="2800" b="1" kern="0" spc="140" dirty="0">
                <a:solidFill>
                  <a:srgbClr val="245B66"/>
                </a:solidFill>
                <a:latin typeface="Aptos" pitchFamily="34" charset="0"/>
                <a:ea typeface="Aptos" pitchFamily="34" charset="-122"/>
                <a:cs typeface="Aptos" pitchFamily="34" charset="-120"/>
              </a:rPr>
              <a:t>教师简介展示</a:t>
            </a:r>
            <a:endParaRPr lang="zh-CN" altLang="en-US" sz="2800" b="1" kern="0" spc="140" dirty="0">
              <a:solidFill>
                <a:srgbClr val="245B66"/>
              </a:solidFill>
              <a:latin typeface="Aptos" pitchFamily="34" charset="0"/>
              <a:ea typeface="Aptos" pitchFamily="34" charset="-122"/>
              <a:cs typeface="Aptos" pitchFamily="34" charset="-120"/>
            </a:endParaRPr>
          </a:p>
        </p:txBody>
      </p:sp>
      <p:sp>
        <p:nvSpPr>
          <p:cNvPr id="16" name="Text 14"/>
          <p:cNvSpPr/>
          <p:nvPr/>
        </p:nvSpPr>
        <p:spPr>
          <a:xfrm>
            <a:off x="8458200" y="4668012"/>
            <a:ext cx="384048" cy="219456"/>
          </a:xfrm>
          <a:prstGeom prst="rect">
            <a:avLst/>
          </a:prstGeom>
          <a:noFill/>
        </p:spPr>
        <p:txBody>
          <a:bodyPr wrap="square" lIns="0" tIns="0" rIns="0" bIns="0" rtlCol="0" anchor="ctr">
            <a:normAutofit/>
          </a:bodyPr>
          <a:lstStyle/>
          <a:p>
            <a:pPr marL="0" indent="0" algn="ctr">
              <a:buNone/>
            </a:pPr>
            <a:r>
              <a:rPr lang="en-US" sz="800" b="1" dirty="0">
                <a:solidFill>
                  <a:srgbClr val="FFFFFF"/>
                </a:solidFill>
                <a:latin typeface="Aptos" pitchFamily="34" charset="0"/>
                <a:ea typeface="Aptos" pitchFamily="34" charset="-122"/>
                <a:cs typeface="Aptos" pitchFamily="34" charset="-120"/>
              </a:rPr>
              <a:t>03</a:t>
            </a:r>
            <a:endParaRPr lang="en-US" sz="800" dirty="0"/>
          </a:p>
        </p:txBody>
      </p:sp>
      <p:pic>
        <p:nvPicPr>
          <p:cNvPr id="5" name="图片 4" descr="详情1-教师简介"/>
          <p:cNvPicPr>
            <a:picLocks noChangeAspect="1"/>
          </p:cNvPicPr>
          <p:nvPr/>
        </p:nvPicPr>
        <p:blipFill>
          <a:blip r:embed="rId1"/>
          <a:stretch>
            <a:fillRect/>
          </a:stretch>
        </p:blipFill>
        <p:spPr>
          <a:xfrm>
            <a:off x="355600" y="1154430"/>
            <a:ext cx="8542655" cy="296227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109728" cy="109728"/>
          </a:xfrm>
          <a:prstGeom prst="rect">
            <a:avLst/>
          </a:prstGeom>
          <a:solidFill>
            <a:srgbClr val="1BAE9F"/>
          </a:solidFill>
          <a:ln w="12700">
            <a:solidFill>
              <a:srgbClr val="1BAE9F">
                <a:alpha val="0"/>
              </a:srgbClr>
            </a:solidFill>
            <a:prstDash val="solid"/>
          </a:ln>
        </p:spPr>
      </p:sp>
      <p:sp>
        <p:nvSpPr>
          <p:cNvPr id="3" name="Text 1"/>
          <p:cNvSpPr/>
          <p:nvPr/>
        </p:nvSpPr>
        <p:spPr>
          <a:xfrm>
            <a:off x="685800" y="347345"/>
            <a:ext cx="7268845" cy="255905"/>
          </a:xfrm>
          <a:prstGeom prst="rect">
            <a:avLst/>
          </a:prstGeom>
          <a:noFill/>
        </p:spPr>
        <p:txBody>
          <a:bodyPr wrap="square" lIns="0" tIns="0" rIns="0" bIns="0" rtlCol="0" anchor="ctr"/>
          <a:lstStyle/>
          <a:p>
            <a:pPr marL="0" indent="0">
              <a:buNone/>
            </a:pPr>
            <a:r>
              <a:rPr lang="zh-CN" altLang="en-US" sz="2800" b="1" kern="0" spc="140" dirty="0">
                <a:solidFill>
                  <a:srgbClr val="245B66"/>
                </a:solidFill>
                <a:latin typeface="Aptos" pitchFamily="34" charset="0"/>
                <a:ea typeface="Aptos" pitchFamily="34" charset="-122"/>
                <a:cs typeface="Aptos" pitchFamily="34" charset="-120"/>
              </a:rPr>
              <a:t>教师相关成果展示</a:t>
            </a:r>
            <a:endParaRPr lang="zh-CN" altLang="en-US" sz="2800" b="1" kern="0" spc="140" dirty="0">
              <a:solidFill>
                <a:srgbClr val="245B66"/>
              </a:solidFill>
              <a:latin typeface="Aptos" pitchFamily="34" charset="0"/>
              <a:ea typeface="Aptos" pitchFamily="34" charset="-122"/>
              <a:cs typeface="Aptos" pitchFamily="34" charset="-120"/>
            </a:endParaRPr>
          </a:p>
        </p:txBody>
      </p:sp>
      <p:pic>
        <p:nvPicPr>
          <p:cNvPr id="4" name="图片 3" descr="详情2-相关成果"/>
          <p:cNvPicPr>
            <a:picLocks noChangeAspect="1"/>
          </p:cNvPicPr>
          <p:nvPr/>
        </p:nvPicPr>
        <p:blipFill>
          <a:blip r:embed="rId1"/>
          <a:stretch>
            <a:fillRect/>
          </a:stretch>
        </p:blipFill>
        <p:spPr>
          <a:xfrm>
            <a:off x="1985645" y="754380"/>
            <a:ext cx="4987290" cy="41859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109728" cy="109728"/>
          </a:xfrm>
          <a:prstGeom prst="rect">
            <a:avLst/>
          </a:prstGeom>
          <a:solidFill>
            <a:srgbClr val="1BAE9F"/>
          </a:solidFill>
          <a:ln w="12700">
            <a:solidFill>
              <a:srgbClr val="1BAE9F">
                <a:alpha val="0"/>
              </a:srgbClr>
            </a:solidFill>
            <a:prstDash val="solid"/>
          </a:ln>
        </p:spPr>
      </p:sp>
      <p:sp>
        <p:nvSpPr>
          <p:cNvPr id="3" name="Text 1"/>
          <p:cNvSpPr/>
          <p:nvPr/>
        </p:nvSpPr>
        <p:spPr>
          <a:xfrm>
            <a:off x="685800" y="347345"/>
            <a:ext cx="7268845" cy="255905"/>
          </a:xfrm>
          <a:prstGeom prst="rect">
            <a:avLst/>
          </a:prstGeom>
          <a:noFill/>
        </p:spPr>
        <p:txBody>
          <a:bodyPr wrap="square" lIns="0" tIns="0" rIns="0" bIns="0" rtlCol="0" anchor="ctr"/>
          <a:lstStyle/>
          <a:p>
            <a:pPr marL="0" indent="0">
              <a:buNone/>
            </a:pPr>
            <a:r>
              <a:rPr lang="zh-CN" altLang="en-US" sz="2800" b="1" kern="0" spc="140" dirty="0">
                <a:solidFill>
                  <a:srgbClr val="245B66"/>
                </a:solidFill>
                <a:latin typeface="Aptos" pitchFamily="34" charset="0"/>
                <a:ea typeface="Aptos" pitchFamily="34" charset="-122"/>
                <a:cs typeface="Aptos" pitchFamily="34" charset="-120"/>
              </a:rPr>
              <a:t>推荐理由展示</a:t>
            </a:r>
            <a:endParaRPr lang="zh-CN" altLang="en-US" sz="2800" b="1" kern="0" spc="140" dirty="0">
              <a:solidFill>
                <a:srgbClr val="245B66"/>
              </a:solidFill>
              <a:latin typeface="Aptos" pitchFamily="34" charset="0"/>
              <a:ea typeface="Aptos" pitchFamily="34" charset="-122"/>
              <a:cs typeface="Aptos" pitchFamily="34" charset="-120"/>
            </a:endParaRPr>
          </a:p>
        </p:txBody>
      </p:sp>
      <p:pic>
        <p:nvPicPr>
          <p:cNvPr id="6" name="图片 5" descr="详情3-推荐理由"/>
          <p:cNvPicPr>
            <a:picLocks noChangeAspect="1"/>
          </p:cNvPicPr>
          <p:nvPr/>
        </p:nvPicPr>
        <p:blipFill>
          <a:blip r:embed="rId1"/>
          <a:stretch>
            <a:fillRect/>
          </a:stretch>
        </p:blipFill>
        <p:spPr>
          <a:xfrm>
            <a:off x="826135" y="755650"/>
            <a:ext cx="7491730" cy="434657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109728" cy="109728"/>
          </a:xfrm>
          <a:prstGeom prst="rect">
            <a:avLst/>
          </a:prstGeom>
          <a:solidFill>
            <a:srgbClr val="1BAE9F"/>
          </a:solidFill>
          <a:ln w="12700">
            <a:solidFill>
              <a:srgbClr val="1BAE9F">
                <a:alpha val="0"/>
              </a:srgbClr>
            </a:solidFill>
            <a:prstDash val="solid"/>
          </a:ln>
        </p:spPr>
      </p:sp>
      <p:sp>
        <p:nvSpPr>
          <p:cNvPr id="3" name="Text 1"/>
          <p:cNvSpPr/>
          <p:nvPr/>
        </p:nvSpPr>
        <p:spPr>
          <a:xfrm>
            <a:off x="685800" y="347345"/>
            <a:ext cx="7268845" cy="255905"/>
          </a:xfrm>
          <a:prstGeom prst="rect">
            <a:avLst/>
          </a:prstGeom>
          <a:noFill/>
        </p:spPr>
        <p:txBody>
          <a:bodyPr wrap="square" lIns="0" tIns="0" rIns="0" bIns="0" rtlCol="0" anchor="ctr"/>
          <a:lstStyle/>
          <a:p>
            <a:pPr marL="0" indent="0">
              <a:buNone/>
            </a:pPr>
            <a:r>
              <a:rPr lang="zh-CN" altLang="en-US" sz="2800" b="1" kern="0" spc="140" dirty="0">
                <a:solidFill>
                  <a:srgbClr val="245B66"/>
                </a:solidFill>
                <a:latin typeface="Aptos" pitchFamily="34" charset="0"/>
                <a:ea typeface="Aptos" pitchFamily="34" charset="-122"/>
                <a:cs typeface="Aptos" pitchFamily="34" charset="-120"/>
              </a:rPr>
              <a:t>推荐理由展示</a:t>
            </a:r>
            <a:endParaRPr lang="zh-CN" altLang="en-US" sz="2800" b="1" kern="0" spc="140" dirty="0">
              <a:solidFill>
                <a:srgbClr val="245B66"/>
              </a:solidFill>
              <a:latin typeface="Aptos" pitchFamily="34" charset="0"/>
              <a:ea typeface="Aptos" pitchFamily="34" charset="-122"/>
              <a:cs typeface="Aptos" pitchFamily="34" charset="-120"/>
            </a:endParaRPr>
          </a:p>
        </p:txBody>
      </p:sp>
      <p:sp>
        <p:nvSpPr>
          <p:cNvPr id="16" name="Text 14"/>
          <p:cNvSpPr/>
          <p:nvPr/>
        </p:nvSpPr>
        <p:spPr>
          <a:xfrm>
            <a:off x="8458200" y="4668012"/>
            <a:ext cx="384048" cy="219456"/>
          </a:xfrm>
          <a:prstGeom prst="rect">
            <a:avLst/>
          </a:prstGeom>
          <a:noFill/>
        </p:spPr>
        <p:txBody>
          <a:bodyPr wrap="square" lIns="0" tIns="0" rIns="0" bIns="0" rtlCol="0" anchor="ctr">
            <a:normAutofit/>
          </a:bodyPr>
          <a:lstStyle/>
          <a:p>
            <a:pPr marL="0" indent="0" algn="ctr">
              <a:buNone/>
            </a:pPr>
            <a:r>
              <a:rPr lang="en-US" sz="800" b="1" dirty="0">
                <a:solidFill>
                  <a:srgbClr val="FFFFFF"/>
                </a:solidFill>
                <a:latin typeface="Aptos" pitchFamily="34" charset="0"/>
                <a:ea typeface="Aptos" pitchFamily="34" charset="-122"/>
                <a:cs typeface="Aptos" pitchFamily="34" charset="-120"/>
              </a:rPr>
              <a:t>03</a:t>
            </a:r>
            <a:endParaRPr lang="en-US" sz="800" dirty="0"/>
          </a:p>
        </p:txBody>
      </p:sp>
      <p:pic>
        <p:nvPicPr>
          <p:cNvPr id="4" name="图片 3" descr="详情3.2-推荐理由"/>
          <p:cNvPicPr>
            <a:picLocks noChangeAspect="1"/>
          </p:cNvPicPr>
          <p:nvPr/>
        </p:nvPicPr>
        <p:blipFill>
          <a:blip r:embed="rId1"/>
          <a:stretch>
            <a:fillRect/>
          </a:stretch>
        </p:blipFill>
        <p:spPr>
          <a:xfrm>
            <a:off x="0" y="1140460"/>
            <a:ext cx="9144000" cy="286194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109728" cy="109728"/>
          </a:xfrm>
          <a:prstGeom prst="rect">
            <a:avLst/>
          </a:prstGeom>
          <a:solidFill>
            <a:srgbClr val="1BAE9F"/>
          </a:solidFill>
          <a:ln w="12700">
            <a:solidFill>
              <a:srgbClr val="1BAE9F">
                <a:alpha val="0"/>
              </a:srgbClr>
            </a:solidFill>
            <a:prstDash val="solid"/>
          </a:ln>
        </p:spPr>
      </p:sp>
      <p:sp>
        <p:nvSpPr>
          <p:cNvPr id="3" name="Text 1"/>
          <p:cNvSpPr/>
          <p:nvPr/>
        </p:nvSpPr>
        <p:spPr>
          <a:xfrm>
            <a:off x="685800" y="347345"/>
            <a:ext cx="7268845" cy="255905"/>
          </a:xfrm>
          <a:prstGeom prst="rect">
            <a:avLst/>
          </a:prstGeom>
          <a:noFill/>
        </p:spPr>
        <p:txBody>
          <a:bodyPr wrap="square" lIns="0" tIns="0" rIns="0" bIns="0" rtlCol="0" anchor="ctr"/>
          <a:lstStyle/>
          <a:p>
            <a:pPr marL="0" indent="0">
              <a:buNone/>
            </a:pPr>
            <a:r>
              <a:rPr lang="zh-CN" altLang="en-US" sz="2800" b="1" kern="0" spc="140" dirty="0">
                <a:solidFill>
                  <a:srgbClr val="245B66"/>
                </a:solidFill>
                <a:latin typeface="Aptos" pitchFamily="34" charset="0"/>
                <a:ea typeface="Aptos" pitchFamily="34" charset="-122"/>
                <a:cs typeface="Aptos" pitchFamily="34" charset="-120"/>
              </a:rPr>
              <a:t>教师论文专利情况展示</a:t>
            </a:r>
            <a:endParaRPr lang="zh-CN" altLang="en-US" sz="2800" b="1" kern="0" spc="140" dirty="0">
              <a:solidFill>
                <a:srgbClr val="245B66"/>
              </a:solidFill>
              <a:latin typeface="Aptos" pitchFamily="34" charset="0"/>
              <a:ea typeface="Aptos" pitchFamily="34" charset="-122"/>
              <a:cs typeface="Aptos" pitchFamily="34" charset="-120"/>
            </a:endParaRPr>
          </a:p>
        </p:txBody>
      </p:sp>
      <p:pic>
        <p:nvPicPr>
          <p:cNvPr id="5" name="图片 4" descr="详情4-教师论文专利发表情况"/>
          <p:cNvPicPr>
            <a:picLocks noChangeAspect="1"/>
          </p:cNvPicPr>
          <p:nvPr/>
        </p:nvPicPr>
        <p:blipFill>
          <a:blip r:embed="rId1"/>
          <a:stretch>
            <a:fillRect/>
          </a:stretch>
        </p:blipFill>
        <p:spPr>
          <a:xfrm>
            <a:off x="1926590" y="772795"/>
            <a:ext cx="4786630" cy="41148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109728" cy="109728"/>
          </a:xfrm>
          <a:prstGeom prst="rect">
            <a:avLst/>
          </a:prstGeom>
          <a:solidFill>
            <a:srgbClr val="1BAE9F"/>
          </a:solidFill>
          <a:ln w="12700">
            <a:solidFill>
              <a:srgbClr val="1BAE9F">
                <a:alpha val="0"/>
              </a:srgbClr>
            </a:solidFill>
            <a:prstDash val="solid"/>
          </a:ln>
        </p:spPr>
      </p:sp>
      <p:sp>
        <p:nvSpPr>
          <p:cNvPr id="3" name="Text 1"/>
          <p:cNvSpPr/>
          <p:nvPr/>
        </p:nvSpPr>
        <p:spPr>
          <a:xfrm>
            <a:off x="685800" y="347345"/>
            <a:ext cx="7268845" cy="255905"/>
          </a:xfrm>
          <a:prstGeom prst="rect">
            <a:avLst/>
          </a:prstGeom>
          <a:noFill/>
        </p:spPr>
        <p:txBody>
          <a:bodyPr wrap="square" lIns="0" tIns="0" rIns="0" bIns="0" rtlCol="0" anchor="ctr"/>
          <a:lstStyle/>
          <a:p>
            <a:pPr marL="0" indent="0">
              <a:buNone/>
            </a:pPr>
            <a:r>
              <a:rPr lang="zh-CN" altLang="en-US" sz="2800" b="1" kern="0" spc="140" dirty="0">
                <a:solidFill>
                  <a:srgbClr val="245B66"/>
                </a:solidFill>
                <a:latin typeface="Aptos" pitchFamily="34" charset="0"/>
                <a:ea typeface="Aptos" pitchFamily="34" charset="-122"/>
                <a:cs typeface="Aptos" pitchFamily="34" charset="-120"/>
              </a:rPr>
              <a:t>教师参与重大项目展示</a:t>
            </a:r>
            <a:endParaRPr lang="zh-CN" altLang="en-US" sz="2800" b="1" kern="0" spc="140" dirty="0">
              <a:solidFill>
                <a:srgbClr val="245B66"/>
              </a:solidFill>
              <a:latin typeface="Aptos" pitchFamily="34" charset="0"/>
              <a:ea typeface="Aptos" pitchFamily="34" charset="-122"/>
              <a:cs typeface="Aptos" pitchFamily="34" charset="-120"/>
            </a:endParaRPr>
          </a:p>
        </p:txBody>
      </p:sp>
      <p:pic>
        <p:nvPicPr>
          <p:cNvPr id="5" name="图片 4" descr="详情5-教师参与重大项目"/>
          <p:cNvPicPr>
            <a:picLocks noChangeAspect="1"/>
          </p:cNvPicPr>
          <p:nvPr/>
        </p:nvPicPr>
        <p:blipFill>
          <a:blip r:embed="rId1"/>
          <a:stretch>
            <a:fillRect/>
          </a:stretch>
        </p:blipFill>
        <p:spPr>
          <a:xfrm>
            <a:off x="381000" y="797560"/>
            <a:ext cx="8382000" cy="371157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109728" cy="109728"/>
          </a:xfrm>
          <a:prstGeom prst="rect">
            <a:avLst/>
          </a:prstGeom>
          <a:solidFill>
            <a:srgbClr val="1BAE9F"/>
          </a:solidFill>
          <a:ln w="12700">
            <a:solidFill>
              <a:srgbClr val="1BAE9F">
                <a:alpha val="0"/>
              </a:srgbClr>
            </a:solidFill>
            <a:prstDash val="solid"/>
          </a:ln>
        </p:spPr>
      </p:sp>
      <p:sp>
        <p:nvSpPr>
          <p:cNvPr id="3" name="Text 1"/>
          <p:cNvSpPr/>
          <p:nvPr/>
        </p:nvSpPr>
        <p:spPr>
          <a:xfrm>
            <a:off x="685800" y="347345"/>
            <a:ext cx="7268845" cy="255905"/>
          </a:xfrm>
          <a:prstGeom prst="rect">
            <a:avLst/>
          </a:prstGeom>
          <a:noFill/>
        </p:spPr>
        <p:txBody>
          <a:bodyPr wrap="square" lIns="0" tIns="0" rIns="0" bIns="0" rtlCol="0" anchor="ctr"/>
          <a:lstStyle/>
          <a:p>
            <a:pPr marL="0" indent="0">
              <a:buNone/>
            </a:pPr>
            <a:r>
              <a:rPr lang="zh-CN" altLang="en-US" sz="2800" b="1" kern="0" spc="140" dirty="0">
                <a:solidFill>
                  <a:srgbClr val="245B66"/>
                </a:solidFill>
                <a:latin typeface="Aptos" pitchFamily="34" charset="0"/>
                <a:ea typeface="Aptos" pitchFamily="34" charset="-122"/>
                <a:cs typeface="Aptos" pitchFamily="34" charset="-120"/>
                <a:sym typeface="+mn-ea"/>
              </a:rPr>
              <a:t>不同请求的推荐结果展示</a:t>
            </a:r>
            <a:endParaRPr lang="zh-CN" altLang="en-US" sz="2800" b="1" kern="0" spc="140" dirty="0">
              <a:solidFill>
                <a:srgbClr val="245B66"/>
              </a:solidFill>
              <a:latin typeface="Aptos" pitchFamily="34" charset="0"/>
              <a:ea typeface="Aptos" pitchFamily="34" charset="-122"/>
              <a:cs typeface="Aptos" pitchFamily="34" charset="-120"/>
            </a:endParaRPr>
          </a:p>
        </p:txBody>
      </p:sp>
      <p:sp>
        <p:nvSpPr>
          <p:cNvPr id="16" name="Text 14"/>
          <p:cNvSpPr/>
          <p:nvPr/>
        </p:nvSpPr>
        <p:spPr>
          <a:xfrm>
            <a:off x="8458200" y="4668012"/>
            <a:ext cx="384048" cy="219456"/>
          </a:xfrm>
          <a:prstGeom prst="rect">
            <a:avLst/>
          </a:prstGeom>
          <a:noFill/>
        </p:spPr>
        <p:txBody>
          <a:bodyPr wrap="square" lIns="0" tIns="0" rIns="0" bIns="0" rtlCol="0" anchor="ctr">
            <a:normAutofit/>
          </a:bodyPr>
          <a:lstStyle/>
          <a:p>
            <a:pPr marL="0" indent="0" algn="ctr">
              <a:buNone/>
            </a:pPr>
            <a:r>
              <a:rPr lang="en-US" sz="800" b="1" dirty="0">
                <a:solidFill>
                  <a:srgbClr val="FFFFFF"/>
                </a:solidFill>
                <a:latin typeface="Aptos" pitchFamily="34" charset="0"/>
                <a:ea typeface="Aptos" pitchFamily="34" charset="-122"/>
                <a:cs typeface="Aptos" pitchFamily="34" charset="-120"/>
              </a:rPr>
              <a:t>03</a:t>
            </a:r>
            <a:endParaRPr lang="en-US" sz="800" dirty="0"/>
          </a:p>
        </p:txBody>
      </p:sp>
      <p:sp>
        <p:nvSpPr>
          <p:cNvPr id="8" name="Text 1"/>
          <p:cNvSpPr/>
          <p:nvPr/>
        </p:nvSpPr>
        <p:spPr>
          <a:xfrm>
            <a:off x="2846705" y="833755"/>
            <a:ext cx="3213100" cy="255905"/>
          </a:xfrm>
          <a:prstGeom prst="rect">
            <a:avLst/>
          </a:prstGeom>
          <a:noFill/>
        </p:spPr>
        <p:txBody>
          <a:bodyPr wrap="square" lIns="0" tIns="0" rIns="0" bIns="0" rtlCol="0" anchor="ctr"/>
          <a:lstStyle/>
          <a:p>
            <a:pPr marL="0" indent="0" algn="r">
              <a:buNone/>
            </a:pPr>
            <a:r>
              <a:rPr lang="zh-CN" altLang="en-US" sz="2100" b="1" kern="0" spc="140" dirty="0">
                <a:solidFill>
                  <a:srgbClr val="245B66"/>
                </a:solidFill>
                <a:latin typeface="Aptos" pitchFamily="34" charset="0"/>
                <a:ea typeface="Aptos" pitchFamily="34" charset="-122"/>
                <a:cs typeface="Aptos" pitchFamily="34" charset="-120"/>
              </a:rPr>
              <a:t>华为-智能穿戴设备-广东</a:t>
            </a:r>
            <a:endParaRPr lang="zh-CN" altLang="en-US" sz="2100" b="1" kern="0" spc="140" dirty="0">
              <a:solidFill>
                <a:srgbClr val="245B66"/>
              </a:solidFill>
              <a:latin typeface="Aptos" pitchFamily="34" charset="0"/>
              <a:ea typeface="Aptos" pitchFamily="34" charset="-122"/>
              <a:cs typeface="Aptos" pitchFamily="34" charset="-120"/>
            </a:endParaRPr>
          </a:p>
        </p:txBody>
      </p:sp>
      <p:pic>
        <p:nvPicPr>
          <p:cNvPr id="4" name="图片 3" descr="华为-智能穿戴设备-广东"/>
          <p:cNvPicPr>
            <a:picLocks noChangeAspect="1"/>
          </p:cNvPicPr>
          <p:nvPr/>
        </p:nvPicPr>
        <p:blipFill>
          <a:blip r:embed="rId1"/>
          <a:srcRect t="15721" b="16069"/>
          <a:stretch>
            <a:fillRect/>
          </a:stretch>
        </p:blipFill>
        <p:spPr>
          <a:xfrm>
            <a:off x="194310" y="1201420"/>
            <a:ext cx="8766810" cy="389001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109728" cy="109728"/>
          </a:xfrm>
          <a:prstGeom prst="rect">
            <a:avLst/>
          </a:prstGeom>
          <a:solidFill>
            <a:srgbClr val="1BAE9F"/>
          </a:solidFill>
          <a:ln w="12700">
            <a:solidFill>
              <a:srgbClr val="1BAE9F">
                <a:alpha val="0"/>
              </a:srgbClr>
            </a:solidFill>
            <a:prstDash val="solid"/>
          </a:ln>
        </p:spPr>
      </p:sp>
      <p:sp>
        <p:nvSpPr>
          <p:cNvPr id="3" name="Text 1"/>
          <p:cNvSpPr/>
          <p:nvPr/>
        </p:nvSpPr>
        <p:spPr>
          <a:xfrm>
            <a:off x="685800" y="347345"/>
            <a:ext cx="7268845" cy="255905"/>
          </a:xfrm>
          <a:prstGeom prst="rect">
            <a:avLst/>
          </a:prstGeom>
          <a:noFill/>
        </p:spPr>
        <p:txBody>
          <a:bodyPr wrap="square" lIns="0" tIns="0" rIns="0" bIns="0" rtlCol="0" anchor="ctr"/>
          <a:lstStyle/>
          <a:p>
            <a:pPr marL="0" indent="0">
              <a:buNone/>
            </a:pPr>
            <a:r>
              <a:rPr lang="zh-CN" altLang="en-US" sz="2800" b="1" kern="0" spc="140" dirty="0">
                <a:solidFill>
                  <a:srgbClr val="245B66"/>
                </a:solidFill>
                <a:latin typeface="Aptos" pitchFamily="34" charset="0"/>
                <a:ea typeface="Aptos" pitchFamily="34" charset="-122"/>
                <a:cs typeface="Aptos" pitchFamily="34" charset="-120"/>
                <a:sym typeface="+mn-ea"/>
              </a:rPr>
              <a:t>不同请求的推荐结果展示</a:t>
            </a:r>
            <a:endParaRPr lang="zh-CN" altLang="en-US" sz="2800" b="1" kern="0" spc="140" dirty="0">
              <a:solidFill>
                <a:srgbClr val="245B66"/>
              </a:solidFill>
              <a:latin typeface="Aptos" pitchFamily="34" charset="0"/>
              <a:ea typeface="Aptos" pitchFamily="34" charset="-122"/>
              <a:cs typeface="Aptos" pitchFamily="34" charset="-120"/>
            </a:endParaRPr>
          </a:p>
        </p:txBody>
      </p:sp>
      <p:sp>
        <p:nvSpPr>
          <p:cNvPr id="16" name="Text 14"/>
          <p:cNvSpPr/>
          <p:nvPr/>
        </p:nvSpPr>
        <p:spPr>
          <a:xfrm>
            <a:off x="8458200" y="4668012"/>
            <a:ext cx="384048" cy="219456"/>
          </a:xfrm>
          <a:prstGeom prst="rect">
            <a:avLst/>
          </a:prstGeom>
          <a:noFill/>
        </p:spPr>
        <p:txBody>
          <a:bodyPr wrap="square" lIns="0" tIns="0" rIns="0" bIns="0" rtlCol="0" anchor="ctr">
            <a:normAutofit/>
          </a:bodyPr>
          <a:lstStyle/>
          <a:p>
            <a:pPr marL="0" indent="0" algn="ctr">
              <a:buNone/>
            </a:pPr>
            <a:r>
              <a:rPr lang="en-US" sz="800" b="1" dirty="0">
                <a:solidFill>
                  <a:srgbClr val="FFFFFF"/>
                </a:solidFill>
                <a:latin typeface="Aptos" pitchFamily="34" charset="0"/>
                <a:ea typeface="Aptos" pitchFamily="34" charset="-122"/>
                <a:cs typeface="Aptos" pitchFamily="34" charset="-120"/>
              </a:rPr>
              <a:t>03</a:t>
            </a:r>
            <a:endParaRPr lang="en-US" sz="800" dirty="0"/>
          </a:p>
        </p:txBody>
      </p:sp>
      <p:sp>
        <p:nvSpPr>
          <p:cNvPr id="8" name="Text 1"/>
          <p:cNvSpPr/>
          <p:nvPr/>
        </p:nvSpPr>
        <p:spPr>
          <a:xfrm>
            <a:off x="2825750" y="696595"/>
            <a:ext cx="3281680" cy="255905"/>
          </a:xfrm>
          <a:prstGeom prst="rect">
            <a:avLst/>
          </a:prstGeom>
          <a:noFill/>
        </p:spPr>
        <p:txBody>
          <a:bodyPr wrap="square" lIns="0" tIns="0" rIns="0" bIns="0" rtlCol="0" anchor="ctr"/>
          <a:lstStyle/>
          <a:p>
            <a:pPr marL="0" indent="0" algn="r">
              <a:buNone/>
            </a:pPr>
            <a:r>
              <a:rPr lang="zh-CN" altLang="en-US" sz="2100" b="1" kern="0" spc="140" dirty="0">
                <a:solidFill>
                  <a:srgbClr val="245B66"/>
                </a:solidFill>
                <a:latin typeface="Aptos" pitchFamily="34" charset="0"/>
                <a:ea typeface="Aptos" pitchFamily="34" charset="-122"/>
                <a:cs typeface="Aptos" pitchFamily="34" charset="-120"/>
              </a:rPr>
              <a:t>华为-智能穿戴设备-全国</a:t>
            </a:r>
            <a:endParaRPr lang="zh-CN" altLang="en-US" sz="2100" b="1" kern="0" spc="140" dirty="0">
              <a:solidFill>
                <a:srgbClr val="245B66"/>
              </a:solidFill>
              <a:latin typeface="Aptos" pitchFamily="34" charset="0"/>
              <a:ea typeface="Aptos" pitchFamily="34" charset="-122"/>
              <a:cs typeface="Aptos" pitchFamily="34" charset="-120"/>
            </a:endParaRPr>
          </a:p>
        </p:txBody>
      </p:sp>
      <p:pic>
        <p:nvPicPr>
          <p:cNvPr id="9" name="图片 8" descr="华为-智能穿戴设备-全国"/>
          <p:cNvPicPr>
            <a:picLocks noChangeAspect="1"/>
          </p:cNvPicPr>
          <p:nvPr/>
        </p:nvPicPr>
        <p:blipFill>
          <a:blip r:embed="rId1"/>
          <a:srcRect t="15089" b="12883"/>
          <a:stretch>
            <a:fillRect/>
          </a:stretch>
        </p:blipFill>
        <p:spPr>
          <a:xfrm>
            <a:off x="259715" y="1045845"/>
            <a:ext cx="8491220" cy="397954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109728" cy="109728"/>
          </a:xfrm>
          <a:prstGeom prst="rect">
            <a:avLst/>
          </a:prstGeom>
          <a:solidFill>
            <a:srgbClr val="1BAE9F"/>
          </a:solidFill>
          <a:ln w="12700">
            <a:solidFill>
              <a:srgbClr val="1BAE9F">
                <a:alpha val="0"/>
              </a:srgbClr>
            </a:solidFill>
            <a:prstDash val="solid"/>
          </a:ln>
        </p:spPr>
      </p:sp>
      <p:sp>
        <p:nvSpPr>
          <p:cNvPr id="3" name="Text 1"/>
          <p:cNvSpPr/>
          <p:nvPr/>
        </p:nvSpPr>
        <p:spPr>
          <a:xfrm>
            <a:off x="685800" y="347345"/>
            <a:ext cx="7268845" cy="255905"/>
          </a:xfrm>
          <a:prstGeom prst="rect">
            <a:avLst/>
          </a:prstGeom>
          <a:noFill/>
        </p:spPr>
        <p:txBody>
          <a:bodyPr wrap="square" lIns="0" tIns="0" rIns="0" bIns="0" rtlCol="0" anchor="ctr"/>
          <a:lstStyle/>
          <a:p>
            <a:pPr marL="0" indent="0">
              <a:buNone/>
            </a:pPr>
            <a:r>
              <a:rPr lang="zh-CN" altLang="en-US" sz="2800" b="1" kern="0" spc="140" dirty="0">
                <a:solidFill>
                  <a:srgbClr val="245B66"/>
                </a:solidFill>
                <a:latin typeface="Aptos" pitchFamily="34" charset="0"/>
                <a:ea typeface="Aptos" pitchFamily="34" charset="-122"/>
                <a:cs typeface="Aptos" pitchFamily="34" charset="-120"/>
                <a:sym typeface="+mn-ea"/>
              </a:rPr>
              <a:t>不同请求的推荐结果展示</a:t>
            </a:r>
            <a:endParaRPr lang="zh-CN" altLang="en-US" sz="2800" b="1" kern="0" spc="140" dirty="0">
              <a:solidFill>
                <a:srgbClr val="245B66"/>
              </a:solidFill>
              <a:latin typeface="Aptos" pitchFamily="34" charset="0"/>
              <a:ea typeface="Aptos" pitchFamily="34" charset="-122"/>
              <a:cs typeface="Aptos" pitchFamily="34" charset="-120"/>
            </a:endParaRPr>
          </a:p>
        </p:txBody>
      </p:sp>
      <p:sp>
        <p:nvSpPr>
          <p:cNvPr id="16" name="Text 14"/>
          <p:cNvSpPr/>
          <p:nvPr/>
        </p:nvSpPr>
        <p:spPr>
          <a:xfrm>
            <a:off x="8458200" y="4668012"/>
            <a:ext cx="384048" cy="219456"/>
          </a:xfrm>
          <a:prstGeom prst="rect">
            <a:avLst/>
          </a:prstGeom>
          <a:noFill/>
        </p:spPr>
        <p:txBody>
          <a:bodyPr wrap="square" lIns="0" tIns="0" rIns="0" bIns="0" rtlCol="0" anchor="ctr">
            <a:normAutofit/>
          </a:bodyPr>
          <a:lstStyle/>
          <a:p>
            <a:pPr marL="0" indent="0" algn="ctr">
              <a:buNone/>
            </a:pPr>
            <a:r>
              <a:rPr lang="en-US" sz="800" b="1" dirty="0">
                <a:solidFill>
                  <a:srgbClr val="FFFFFF"/>
                </a:solidFill>
                <a:latin typeface="Aptos" pitchFamily="34" charset="0"/>
                <a:ea typeface="Aptos" pitchFamily="34" charset="-122"/>
                <a:cs typeface="Aptos" pitchFamily="34" charset="-120"/>
              </a:rPr>
              <a:t>03</a:t>
            </a:r>
            <a:endParaRPr lang="en-US" sz="800" dirty="0"/>
          </a:p>
        </p:txBody>
      </p:sp>
      <p:sp>
        <p:nvSpPr>
          <p:cNvPr id="8" name="Text 1"/>
          <p:cNvSpPr/>
          <p:nvPr/>
        </p:nvSpPr>
        <p:spPr>
          <a:xfrm>
            <a:off x="2757805" y="746760"/>
            <a:ext cx="3753485" cy="255905"/>
          </a:xfrm>
          <a:prstGeom prst="rect">
            <a:avLst/>
          </a:prstGeom>
          <a:noFill/>
        </p:spPr>
        <p:txBody>
          <a:bodyPr wrap="square" lIns="0" tIns="0" rIns="0" bIns="0" rtlCol="0" anchor="ctr"/>
          <a:lstStyle/>
          <a:p>
            <a:pPr marL="0" indent="0" algn="r">
              <a:buNone/>
            </a:pPr>
            <a:r>
              <a:rPr lang="zh-CN" altLang="en-US" sz="2100" b="1" kern="0" spc="140" dirty="0">
                <a:solidFill>
                  <a:srgbClr val="245B66"/>
                </a:solidFill>
                <a:latin typeface="Aptos" pitchFamily="34" charset="0"/>
                <a:ea typeface="Aptos" pitchFamily="34" charset="-122"/>
                <a:cs typeface="Aptos" pitchFamily="34" charset="-120"/>
              </a:rPr>
              <a:t>小微企业-智能穿戴设备-广东</a:t>
            </a:r>
            <a:endParaRPr lang="zh-CN" altLang="en-US" sz="2100" b="1" kern="0" spc="140" dirty="0">
              <a:solidFill>
                <a:srgbClr val="245B66"/>
              </a:solidFill>
              <a:latin typeface="Aptos" pitchFamily="34" charset="0"/>
              <a:ea typeface="Aptos" pitchFamily="34" charset="-122"/>
              <a:cs typeface="Aptos" pitchFamily="34" charset="-120"/>
            </a:endParaRPr>
          </a:p>
        </p:txBody>
      </p:sp>
      <p:pic>
        <p:nvPicPr>
          <p:cNvPr id="5" name="图片 4" descr="小微企业-智能穿戴设备-广东"/>
          <p:cNvPicPr>
            <a:picLocks noChangeAspect="1"/>
          </p:cNvPicPr>
          <p:nvPr/>
        </p:nvPicPr>
        <p:blipFill>
          <a:blip r:embed="rId1"/>
          <a:srcRect t="16768" b="14295"/>
          <a:stretch>
            <a:fillRect/>
          </a:stretch>
        </p:blipFill>
        <p:spPr>
          <a:xfrm>
            <a:off x="184785" y="1065530"/>
            <a:ext cx="8676640" cy="389064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411480"/>
            <a:ext cx="109728" cy="109728"/>
          </a:xfrm>
          <a:prstGeom prst="rect">
            <a:avLst/>
          </a:prstGeom>
          <a:solidFill>
            <a:srgbClr val="1BAE9F"/>
          </a:solidFill>
          <a:ln w="12700">
            <a:solidFill>
              <a:srgbClr val="1BAE9F">
                <a:alpha val="0"/>
              </a:srgbClr>
            </a:solidFill>
            <a:prstDash val="solid"/>
          </a:ln>
        </p:spPr>
      </p:sp>
      <p:sp>
        <p:nvSpPr>
          <p:cNvPr id="3" name="Text 1"/>
          <p:cNvSpPr/>
          <p:nvPr/>
        </p:nvSpPr>
        <p:spPr>
          <a:xfrm>
            <a:off x="685800" y="347345"/>
            <a:ext cx="7268845" cy="255905"/>
          </a:xfrm>
          <a:prstGeom prst="rect">
            <a:avLst/>
          </a:prstGeom>
          <a:noFill/>
        </p:spPr>
        <p:txBody>
          <a:bodyPr wrap="square" lIns="0" tIns="0" rIns="0" bIns="0" rtlCol="0" anchor="ctr"/>
          <a:lstStyle/>
          <a:p>
            <a:pPr marL="0" indent="0">
              <a:buNone/>
            </a:pPr>
            <a:r>
              <a:rPr lang="zh-CN" altLang="en-US" sz="2800" b="1" kern="0" spc="140" dirty="0">
                <a:solidFill>
                  <a:srgbClr val="245B66"/>
                </a:solidFill>
                <a:latin typeface="Aptos" pitchFamily="34" charset="0"/>
                <a:ea typeface="Aptos" pitchFamily="34" charset="-122"/>
                <a:cs typeface="Aptos" pitchFamily="34" charset="-120"/>
                <a:sym typeface="+mn-ea"/>
              </a:rPr>
              <a:t>同一个请求的不同老师推荐结果展示</a:t>
            </a:r>
            <a:endParaRPr lang="zh-CN" altLang="en-US" sz="2800" b="1" kern="0" spc="140" dirty="0">
              <a:solidFill>
                <a:srgbClr val="245B66"/>
              </a:solidFill>
              <a:latin typeface="Aptos" pitchFamily="34" charset="0"/>
              <a:ea typeface="Aptos" pitchFamily="34" charset="-122"/>
              <a:cs typeface="Aptos" pitchFamily="34" charset="-120"/>
            </a:endParaRPr>
          </a:p>
        </p:txBody>
      </p:sp>
      <p:pic>
        <p:nvPicPr>
          <p:cNvPr id="4" name="图片 3" descr="老师1"/>
          <p:cNvPicPr>
            <a:picLocks noChangeAspect="1"/>
          </p:cNvPicPr>
          <p:nvPr/>
        </p:nvPicPr>
        <p:blipFill>
          <a:blip r:embed="rId1"/>
          <a:stretch>
            <a:fillRect/>
          </a:stretch>
        </p:blipFill>
        <p:spPr>
          <a:xfrm>
            <a:off x="301625" y="603250"/>
            <a:ext cx="3221355" cy="4390390"/>
          </a:xfrm>
          <a:prstGeom prst="rect">
            <a:avLst/>
          </a:prstGeom>
        </p:spPr>
      </p:pic>
      <p:pic>
        <p:nvPicPr>
          <p:cNvPr id="6" name="图片 5" descr="老师2"/>
          <p:cNvPicPr>
            <a:picLocks noChangeAspect="1"/>
          </p:cNvPicPr>
          <p:nvPr/>
        </p:nvPicPr>
        <p:blipFill>
          <a:blip r:embed="rId2"/>
          <a:stretch>
            <a:fillRect/>
          </a:stretch>
        </p:blipFill>
        <p:spPr>
          <a:xfrm>
            <a:off x="3783330" y="685165"/>
            <a:ext cx="3790315" cy="3204845"/>
          </a:xfrm>
          <a:prstGeom prst="rect">
            <a:avLst/>
          </a:prstGeom>
        </p:spPr>
      </p:pic>
      <p:pic>
        <p:nvPicPr>
          <p:cNvPr id="7" name="图片 6" descr="老师3"/>
          <p:cNvPicPr>
            <a:picLocks noChangeAspect="1"/>
          </p:cNvPicPr>
          <p:nvPr/>
        </p:nvPicPr>
        <p:blipFill>
          <a:blip r:embed="rId3"/>
          <a:stretch>
            <a:fillRect/>
          </a:stretch>
        </p:blipFill>
        <p:spPr>
          <a:xfrm>
            <a:off x="5095240" y="1690370"/>
            <a:ext cx="3804285" cy="3303270"/>
          </a:xfrm>
          <a:prstGeom prst="rect">
            <a:avLst/>
          </a:prstGeom>
        </p:spPr>
      </p:pic>
    </p:spTree>
  </p:cSld>
  <p:clrMapOvr>
    <a:masterClrMapping/>
  </p:clrMapOvr>
</p:sld>
</file>

<file path=ppt/tags/tag1.xml><?xml version="1.0" encoding="utf-8"?>
<p:tagLst xmlns:p="http://schemas.openxmlformats.org/presentationml/2006/main">
  <p:tag name="KSO_WM_DIAGRAM_VIRTUALLY_FRAME" val="{&quot;height&quot;:192.95999999999998,&quot;left&quot;:44.64,&quot;top&quot;:128.16,&quot;width&quot;:635.04}"/>
</p:tagLst>
</file>

<file path=ppt/tags/tag2.xml><?xml version="1.0" encoding="utf-8"?>
<p:tagLst xmlns:p="http://schemas.openxmlformats.org/presentationml/2006/main">
  <p:tag name="KSO_WM_DIAGRAM_VIRTUALLY_FRAME" val="{&quot;height&quot;:192.95999999999998,&quot;left&quot;:44.64,&quot;top&quot;:128.16,&quot;width&quot;:635.04}"/>
</p:tagLst>
</file>

<file path=ppt/tags/tag3.xml><?xml version="1.0" encoding="utf-8"?>
<p:tagLst xmlns:p="http://schemas.openxmlformats.org/presentationml/2006/main">
  <p:tag name="KSO_WM_DIAGRAM_VIRTUALLY_FRAME" val="{&quot;height&quot;:192.95999999999998,&quot;left&quot;:44.64,&quot;top&quot;:128.16,&quot;width&quot;:635.04}"/>
</p:tagLst>
</file>

<file path=ppt/tags/tag4.xml><?xml version="1.0" encoding="utf-8"?>
<p:tagLst xmlns:p="http://schemas.openxmlformats.org/presentationml/2006/main">
  <p:tag name="KSO_WM_DIAGRAM_VIRTUALLY_FRAME" val="{&quot;height&quot;:192.95999999999998,&quot;left&quot;:44.64,&quot;top&quot;:128.16,&quot;width&quot;:635.04}"/>
</p:tagLst>
</file>

<file path=ppt/tags/tag5.xml><?xml version="1.0" encoding="utf-8"?>
<p:tagLst xmlns:p="http://schemas.openxmlformats.org/presentationml/2006/main">
  <p:tag name="KSO_WM_DIAGRAM_VIRTUALLY_FRAME" val="{&quot;height&quot;:192.95999999999998,&quot;left&quot;:44.64,&quot;top&quot;:128.16,&quot;width&quot;:635.04}"/>
</p:tagLst>
</file>

<file path=ppt/tags/tag6.xml><?xml version="1.0" encoding="utf-8"?>
<p:tagLst xmlns:p="http://schemas.openxmlformats.org/presentationml/2006/main">
  <p:tag name="KSO_WM_DIAGRAM_VIRTUALLY_FRAME" val="{&quot;height&quot;:192.95999999999998,&quot;left&quot;:44.64,&quot;top&quot;:128.16,&quot;width&quot;:635.04}"/>
</p:tagLst>
</file>

<file path=ppt/tags/tag7.xml><?xml version="1.0" encoding="utf-8"?>
<p:tagLst xmlns:p="http://schemas.openxmlformats.org/presentationml/2006/main">
  <p:tag name="KSO_WM_DIAGRAM_VIRTUALLY_FRAME" val="{&quot;height&quot;:192.95999999999998,&quot;left&quot;:44.64,&quot;top&quot;:128.16,&quot;width&quot;:635.04}"/>
</p:tagLst>
</file>

<file path=ppt/tags/tag8.xml><?xml version="1.0" encoding="utf-8"?>
<p:tagLst xmlns:p="http://schemas.openxmlformats.org/presentationml/2006/main">
  <p:tag name="KSO_WM_DIAGRAM_VIRTUALLY_FRAME" val="{&quot;height&quot;:192.95999999999998,&quot;left&quot;:44.64,&quot;top&quot;:128.16,&quot;width&quot;:635.04}"/>
</p:tagLst>
</file>

<file path=ppt/tags/tag9.xml><?xml version="1.0" encoding="utf-8"?>
<p:tagLst xmlns:p="http://schemas.openxmlformats.org/presentationml/2006/main">
  <p:tag name="KSO_WM_DIAGRAM_VIRTUALLY_FRAME" val="{&quot;height&quot;:192.95999999999998,&quot;left&quot;:44.64,&quot;top&quot;:128.16,&quot;width&quot;:635.04}"/>
</p:tagLst>
</file>

<file path=ppt/tags/tag10.xml><?xml version="1.0" encoding="utf-8"?>
<p:tagLst xmlns:p="http://schemas.openxmlformats.org/presentationml/2006/main">
  <p:tag name="KSO_WM_DIAGRAM_VIRTUALLY_FRAME" val="{&quot;height&quot;:207.65,&quot;left&quot;:14.75,&quot;top&quot;:64.3,&quot;width&quot;:631.2}"/>
</p:tagLst>
</file>

<file path=ppt/tags/tag11.xml><?xml version="1.0" encoding="utf-8"?>
<p:tagLst xmlns:p="http://schemas.openxmlformats.org/presentationml/2006/main">
  <p:tag name="KSO_WM_DIAGRAM_VIRTUALLY_FRAME" val="{&quot;height&quot;:207.65,&quot;left&quot;:14.75,&quot;top&quot;:64.3,&quot;width&quot;:631.2}"/>
</p:tagLst>
</file>

<file path=ppt/tags/tag12.xml><?xml version="1.0" encoding="utf-8"?>
<p:tagLst xmlns:p="http://schemas.openxmlformats.org/presentationml/2006/main">
  <p:tag name="KSO_WM_DIAGRAM_VIRTUALLY_FRAME" val="{&quot;height&quot;:207.65,&quot;left&quot;:14.75,&quot;top&quot;:64.3,&quot;width&quot;:631.2}"/>
</p:tagLst>
</file>

<file path=ppt/tags/tag13.xml><?xml version="1.0" encoding="utf-8"?>
<p:tagLst xmlns:p="http://schemas.openxmlformats.org/presentationml/2006/main">
  <p:tag name="KSO_WM_DIAGRAM_VIRTUALLY_FRAME" val="{&quot;height&quot;:207.65,&quot;left&quot;:14.75,&quot;top&quot;:64.3,&quot;width&quot;:631.2}"/>
</p:tagLst>
</file>

<file path=ppt/tags/tag14.xml><?xml version="1.0" encoding="utf-8"?>
<p:tagLst xmlns:p="http://schemas.openxmlformats.org/presentationml/2006/main">
  <p:tag name="KSO_WM_DIAGRAM_VIRTUALLY_FRAME" val="{&quot;height&quot;:207.65,&quot;left&quot;:14.75,&quot;top&quot;:64.3,&quot;width&quot;:631.2}"/>
</p:tagLst>
</file>

<file path=ppt/tags/tag15.xml><?xml version="1.0" encoding="utf-8"?>
<p:tagLst xmlns:p="http://schemas.openxmlformats.org/presentationml/2006/main">
  <p:tag name="KSO_WM_DIAGRAM_VIRTUALLY_FRAME" val="{&quot;height&quot;:207.65,&quot;left&quot;:14.75,&quot;top&quot;:64.3,&quot;width&quot;:631.2}"/>
</p:tagLst>
</file>

<file path=ppt/tags/tag16.xml><?xml version="1.0" encoding="utf-8"?>
<p:tagLst xmlns:p="http://schemas.openxmlformats.org/presentationml/2006/main">
  <p:tag name="KSO_WM_DIAGRAM_VIRTUALLY_FRAME" val="{&quot;height&quot;:207.65,&quot;left&quot;:14.75,&quot;top&quot;:64.3,&quot;width&quot;:631.2}"/>
</p:tagLst>
</file>

<file path=ppt/tags/tag17.xml><?xml version="1.0" encoding="utf-8"?>
<p:tagLst xmlns:p="http://schemas.openxmlformats.org/presentationml/2006/main">
  <p:tag name="KSO_WM_DIAGRAM_VIRTUALLY_FRAME" val="{&quot;height&quot;:207.65,&quot;left&quot;:14.75,&quot;top&quot;:64.3,&quot;width&quot;:631.2}"/>
</p:tagLst>
</file>

<file path=ppt/tags/tag18.xml><?xml version="1.0" encoding="utf-8"?>
<p:tagLst xmlns:p="http://schemas.openxmlformats.org/presentationml/2006/main">
  <p:tag name="KSO_WM_DIAGRAM_VIRTUALLY_FRAME" val="{&quot;height&quot;:207.65,&quot;left&quot;:14.75,&quot;top&quot;:64.3,&quot;width&quot;:631.2}"/>
</p:tagLst>
</file>

<file path=ppt/tags/tag19.xml><?xml version="1.0" encoding="utf-8"?>
<p:tagLst xmlns:p="http://schemas.openxmlformats.org/presentationml/2006/main">
  <p:tag name="KSO_WM_DIAGRAM_VIRTUALLY_FRAME" val="{&quot;height&quot;:207.65,&quot;left&quot;:14.75,&quot;top&quot;:64.3,&quot;width&quot;:631.2}"/>
</p:tagLst>
</file>

<file path=ppt/tags/tag20.xml><?xml version="1.0" encoding="utf-8"?>
<p:tagLst xmlns:p="http://schemas.openxmlformats.org/presentationml/2006/main">
  <p:tag name="KSO_WM_DIAGRAM_VIRTUALLY_FRAME" val="{&quot;height&quot;:207.65,&quot;left&quot;:14.75,&quot;top&quot;:64.3,&quot;width&quot;:631.2}"/>
</p:tagLst>
</file>

<file path=ppt/tags/tag21.xml><?xml version="1.0" encoding="utf-8"?>
<p:tagLst xmlns:p="http://schemas.openxmlformats.org/presentationml/2006/main">
  <p:tag name="KSO_WM_DIAGRAM_VIRTUALLY_FRAME" val="{&quot;height&quot;:207.65,&quot;left&quot;:14.75,&quot;top&quot;:64.3,&quot;width&quot;:631.2}"/>
</p:tagLst>
</file>

<file path=ppt/tags/tag22.xml><?xml version="1.0" encoding="utf-8"?>
<p:tagLst xmlns:p="http://schemas.openxmlformats.org/presentationml/2006/main">
  <p:tag name="KSO_WM_DIAGRAM_VIRTUALLY_FRAME" val="{&quot;height&quot;:300.36,&quot;left&quot;:44.64,&quot;top&quot;:91.95999999999995,&quot;width&quot;:635.04}"/>
</p:tagLst>
</file>

<file path=ppt/tags/tag23.xml><?xml version="1.0" encoding="utf-8"?>
<p:tagLst xmlns:p="http://schemas.openxmlformats.org/presentationml/2006/main">
  <p:tag name="KSO_WM_DIAGRAM_VIRTUALLY_FRAME" val="{&quot;height&quot;:300.36,&quot;left&quot;:44.64,&quot;top&quot;:91.95999999999995,&quot;width&quot;:635.04}"/>
</p:tagLst>
</file>

<file path=ppt/tags/tag24.xml><?xml version="1.0" encoding="utf-8"?>
<p:tagLst xmlns:p="http://schemas.openxmlformats.org/presentationml/2006/main">
  <p:tag name="KSO_WM_DIAGRAM_VIRTUALLY_FRAME" val="{&quot;height&quot;:300.36,&quot;left&quot;:44.64,&quot;top&quot;:91.95999999999995,&quot;width&quot;:635.04}"/>
</p:tagLst>
</file>

<file path=ppt/tags/tag25.xml><?xml version="1.0" encoding="utf-8"?>
<p:tagLst xmlns:p="http://schemas.openxmlformats.org/presentationml/2006/main">
  <p:tag name="KSO_WM_DIAGRAM_VIRTUALLY_FRAME" val="{&quot;height&quot;:300.36,&quot;left&quot;:44.64,&quot;top&quot;:91.95999999999995,&quot;width&quot;:635.04}"/>
</p:tagLst>
</file>

<file path=ppt/tags/tag26.xml><?xml version="1.0" encoding="utf-8"?>
<p:tagLst xmlns:p="http://schemas.openxmlformats.org/presentationml/2006/main">
  <p:tag name="KSO_WM_DIAGRAM_VIRTUALLY_FRAME" val="{&quot;height&quot;:300.36,&quot;left&quot;:44.64,&quot;top&quot;:91.95999999999995,&quot;width&quot;:635.04}"/>
</p:tagLst>
</file>

<file path=ppt/tags/tag27.xml><?xml version="1.0" encoding="utf-8"?>
<p:tagLst xmlns:p="http://schemas.openxmlformats.org/presentationml/2006/main">
  <p:tag name="KSO_WM_DIAGRAM_VIRTUALLY_FRAME" val="{&quot;height&quot;:300.36,&quot;left&quot;:44.64,&quot;top&quot;:91.95999999999995,&quot;width&quot;:635.04}"/>
</p:tagLst>
</file>

<file path=ppt/tags/tag28.xml><?xml version="1.0" encoding="utf-8"?>
<p:tagLst xmlns:p="http://schemas.openxmlformats.org/presentationml/2006/main">
  <p:tag name="KSO_WM_DIAGRAM_VIRTUALLY_FRAME" val="{&quot;height&quot;:300.36,&quot;left&quot;:44.64,&quot;top&quot;:91.95999999999995,&quot;width&quot;:635.04}"/>
</p:tagLst>
</file>

<file path=ppt/tags/tag29.xml><?xml version="1.0" encoding="utf-8"?>
<p:tagLst xmlns:p="http://schemas.openxmlformats.org/presentationml/2006/main">
  <p:tag name="KSO_WM_DIAGRAM_VIRTUALLY_FRAME" val="{&quot;height&quot;:300.36,&quot;left&quot;:44.64,&quot;top&quot;:91.95999999999995,&quot;width&quot;:635.04}"/>
</p:tagLst>
</file>

<file path=ppt/tags/tag30.xml><?xml version="1.0" encoding="utf-8"?>
<p:tagLst xmlns:p="http://schemas.openxmlformats.org/presentationml/2006/main">
  <p:tag name="KSO_WM_DIAGRAM_VIRTUALLY_FRAME" val="{&quot;height&quot;:300.36,&quot;left&quot;:44.64,&quot;top&quot;:91.95999999999995,&quot;width&quot;:635.04}"/>
</p:tagLst>
</file>

<file path=ppt/tags/tag31.xml><?xml version="1.0" encoding="utf-8"?>
<p:tagLst xmlns:p="http://schemas.openxmlformats.org/presentationml/2006/main">
  <p:tag name="KSO_WM_DIAGRAM_VIRTUALLY_FRAME" val="{&quot;height&quot;:300.36,&quot;left&quot;:44.64,&quot;top&quot;:91.95999999999995,&quot;width&quot;:635.04}"/>
</p:tagLst>
</file>

<file path=ppt/tags/tag32.xml><?xml version="1.0" encoding="utf-8"?>
<p:tagLst xmlns:p="http://schemas.openxmlformats.org/presentationml/2006/main">
  <p:tag name="KSO_WM_DIAGRAM_VIRTUALLY_FRAME" val="{&quot;height&quot;:300.36,&quot;left&quot;:44.64,&quot;top&quot;:91.95999999999995,&quot;width&quot;:635.04}"/>
</p:tagLst>
</file>

<file path=ppt/tags/tag33.xml><?xml version="1.0" encoding="utf-8"?>
<p:tagLst xmlns:p="http://schemas.openxmlformats.org/presentationml/2006/main">
  <p:tag name="TABLE_ENDDRAG_ORIGIN_RECT" val="638*324"/>
  <p:tag name="TABLE_ENDDRAG_RECT" val="47*55*638*32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1797</Words>
  <Application>WPS 演示</Application>
  <PresentationFormat>On-screen Show (16:9)</PresentationFormat>
  <Paragraphs>251</Paragraphs>
  <Slides>25</Slides>
  <Notes>10</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25</vt:i4>
      </vt:variant>
    </vt:vector>
  </HeadingPairs>
  <TitlesOfParts>
    <vt:vector size="43" baseType="lpstr">
      <vt:lpstr>Arial</vt:lpstr>
      <vt:lpstr>宋体</vt:lpstr>
      <vt:lpstr>Wingdings</vt:lpstr>
      <vt:lpstr>微软雅黑</vt:lpstr>
      <vt:lpstr>汉仪旗黑</vt:lpstr>
      <vt:lpstr>微软雅黑</vt:lpstr>
      <vt:lpstr>Aptos</vt:lpstr>
      <vt:lpstr>Helvetica Neue</vt:lpstr>
      <vt:lpstr>Aptos</vt:lpstr>
      <vt:lpstr>Aptos</vt:lpstr>
      <vt:lpstr>Calibri</vt:lpstr>
      <vt:lpstr>宋体</vt:lpstr>
      <vt:lpstr>Arial Unicode MS</vt:lpstr>
      <vt:lpstr>汉仪书宋二KW</vt:lpstr>
      <vt:lpstr>等线</vt:lpstr>
      <vt:lpstr>汉仪中等线KW</vt:lpstr>
      <vt:lpstr>微软雅黑</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local</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基于知识图谱的企业技术需求与高校教师智能匹配系统</dc:title>
  <dc:creator>ai-ppt-automation</dc:creator>
  <dc:subject>基于知识图谱的企业技术需求与高校教师智能匹配系统</dc:subject>
  <cp:lastModifiedBy>林宏宇</cp:lastModifiedBy>
  <cp:revision>50</cp:revision>
  <dcterms:created xsi:type="dcterms:W3CDTF">2026-06-08T13:00:57Z</dcterms:created>
  <dcterms:modified xsi:type="dcterms:W3CDTF">2026-06-08T13:00:57Z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A31ECD3C5AA844579BBD6634C725E39F_12</vt:lpwstr>
  </property>
  <property fmtid="{D5CDD505-2E9C-101B-9397-08002B2CF9AE}" pid="3" name="KSOProductBuildVer">
    <vt:lpwstr>2052-12.1.21861.21861</vt:lpwstr>
  </property>
</Properties>
</file>