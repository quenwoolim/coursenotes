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1.svg" ContentType="image/svg+xml"/>
  <Override PartName="/ppt/media/image23.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7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143"/>
  </p:handoutMasterIdLst>
  <p:sldIdLst>
    <p:sldId id="2121" r:id="rId3"/>
    <p:sldId id="1658" r:id="rId4"/>
    <p:sldId id="998" r:id="rId5"/>
    <p:sldId id="2072" r:id="rId6"/>
    <p:sldId id="2073" r:id="rId8"/>
    <p:sldId id="2074" r:id="rId9"/>
    <p:sldId id="2075" r:id="rId10"/>
    <p:sldId id="2076" r:id="rId11"/>
    <p:sldId id="2077" r:id="rId12"/>
    <p:sldId id="2078" r:id="rId13"/>
    <p:sldId id="2079" r:id="rId14"/>
    <p:sldId id="2080" r:id="rId15"/>
    <p:sldId id="2081" r:id="rId16"/>
    <p:sldId id="2082" r:id="rId17"/>
    <p:sldId id="2083" r:id="rId18"/>
    <p:sldId id="2084" r:id="rId19"/>
    <p:sldId id="2085" r:id="rId20"/>
    <p:sldId id="2086" r:id="rId21"/>
    <p:sldId id="2087" r:id="rId22"/>
    <p:sldId id="2088" r:id="rId23"/>
    <p:sldId id="2089" r:id="rId24"/>
    <p:sldId id="2090" r:id="rId25"/>
    <p:sldId id="2091" r:id="rId26"/>
    <p:sldId id="2092" r:id="rId27"/>
    <p:sldId id="2093" r:id="rId28"/>
    <p:sldId id="2094" r:id="rId29"/>
    <p:sldId id="2095" r:id="rId30"/>
    <p:sldId id="2096" r:id="rId31"/>
    <p:sldId id="2097" r:id="rId32"/>
    <p:sldId id="2098" r:id="rId33"/>
    <p:sldId id="2099" r:id="rId34"/>
    <p:sldId id="2100" r:id="rId35"/>
    <p:sldId id="2101" r:id="rId36"/>
    <p:sldId id="2102" r:id="rId37"/>
    <p:sldId id="2103" r:id="rId38"/>
    <p:sldId id="2104" r:id="rId39"/>
    <p:sldId id="2105" r:id="rId40"/>
    <p:sldId id="2106" r:id="rId41"/>
    <p:sldId id="2107" r:id="rId42"/>
    <p:sldId id="2108" r:id="rId43"/>
    <p:sldId id="2109" r:id="rId44"/>
    <p:sldId id="2110" r:id="rId45"/>
    <p:sldId id="2111" r:id="rId46"/>
    <p:sldId id="2112" r:id="rId47"/>
    <p:sldId id="2113" r:id="rId48"/>
    <p:sldId id="2114" r:id="rId49"/>
    <p:sldId id="2115" r:id="rId50"/>
    <p:sldId id="2116" r:id="rId51"/>
    <p:sldId id="2117" r:id="rId52"/>
    <p:sldId id="1985" r:id="rId53"/>
    <p:sldId id="1986" r:id="rId54"/>
    <p:sldId id="1987" r:id="rId55"/>
    <p:sldId id="1988" r:id="rId56"/>
    <p:sldId id="1989" r:id="rId57"/>
    <p:sldId id="1990" r:id="rId58"/>
    <p:sldId id="1991" r:id="rId59"/>
    <p:sldId id="1992" r:id="rId60"/>
    <p:sldId id="1993" r:id="rId61"/>
    <p:sldId id="1994" r:id="rId62"/>
    <p:sldId id="1995" r:id="rId63"/>
    <p:sldId id="1996" r:id="rId64"/>
    <p:sldId id="1997" r:id="rId65"/>
    <p:sldId id="1998" r:id="rId66"/>
    <p:sldId id="1999" r:id="rId67"/>
    <p:sldId id="2000" r:id="rId68"/>
    <p:sldId id="2001" r:id="rId69"/>
    <p:sldId id="2002" r:id="rId70"/>
    <p:sldId id="2003" r:id="rId71"/>
    <p:sldId id="2004" r:id="rId72"/>
    <p:sldId id="2005" r:id="rId73"/>
    <p:sldId id="2006" r:id="rId74"/>
    <p:sldId id="2007" r:id="rId75"/>
    <p:sldId id="2008" r:id="rId76"/>
    <p:sldId id="2118" r:id="rId77"/>
    <p:sldId id="2119" r:id="rId78"/>
    <p:sldId id="2009" r:id="rId79"/>
    <p:sldId id="2120" r:id="rId80"/>
    <p:sldId id="2010" r:id="rId81"/>
    <p:sldId id="2011" r:id="rId82"/>
    <p:sldId id="2012" r:id="rId83"/>
    <p:sldId id="2013" r:id="rId84"/>
    <p:sldId id="2014" r:id="rId85"/>
    <p:sldId id="2015" r:id="rId86"/>
    <p:sldId id="2016" r:id="rId87"/>
    <p:sldId id="2017" r:id="rId88"/>
    <p:sldId id="2018" r:id="rId89"/>
    <p:sldId id="2019" r:id="rId90"/>
    <p:sldId id="2020" r:id="rId91"/>
    <p:sldId id="2021" r:id="rId92"/>
    <p:sldId id="2022" r:id="rId93"/>
    <p:sldId id="1869" r:id="rId94"/>
    <p:sldId id="1870" r:id="rId95"/>
    <p:sldId id="1871" r:id="rId96"/>
    <p:sldId id="1873" r:id="rId97"/>
    <p:sldId id="1872" r:id="rId98"/>
    <p:sldId id="1874" r:id="rId99"/>
    <p:sldId id="1876" r:id="rId100"/>
    <p:sldId id="1878" r:id="rId101"/>
    <p:sldId id="1879" r:id="rId102"/>
    <p:sldId id="1881" r:id="rId103"/>
    <p:sldId id="1882" r:id="rId104"/>
    <p:sldId id="1883" r:id="rId105"/>
    <p:sldId id="1932" r:id="rId106"/>
    <p:sldId id="1887" r:id="rId107"/>
    <p:sldId id="1888" r:id="rId108"/>
    <p:sldId id="1933" r:id="rId109"/>
    <p:sldId id="1891" r:id="rId110"/>
    <p:sldId id="1893" r:id="rId111"/>
    <p:sldId id="1894" r:id="rId112"/>
    <p:sldId id="1895" r:id="rId113"/>
    <p:sldId id="1896" r:id="rId114"/>
    <p:sldId id="1977" r:id="rId115"/>
    <p:sldId id="1978" r:id="rId116"/>
    <p:sldId id="1897" r:id="rId117"/>
    <p:sldId id="1901" r:id="rId118"/>
    <p:sldId id="1902" r:id="rId119"/>
    <p:sldId id="1903" r:id="rId120"/>
    <p:sldId id="1979" r:id="rId121"/>
    <p:sldId id="1905" r:id="rId122"/>
    <p:sldId id="1981" r:id="rId123"/>
    <p:sldId id="1910" r:id="rId124"/>
    <p:sldId id="1911" r:id="rId125"/>
    <p:sldId id="1912" r:id="rId126"/>
    <p:sldId id="1913" r:id="rId127"/>
    <p:sldId id="1982" r:id="rId128"/>
    <p:sldId id="1917" r:id="rId129"/>
    <p:sldId id="1918" r:id="rId130"/>
    <p:sldId id="1919" r:id="rId131"/>
    <p:sldId id="1920" r:id="rId132"/>
    <p:sldId id="1983" r:id="rId133"/>
    <p:sldId id="1922" r:id="rId134"/>
    <p:sldId id="1923" r:id="rId135"/>
    <p:sldId id="1924" r:id="rId136"/>
    <p:sldId id="1984" r:id="rId137"/>
    <p:sldId id="1926" r:id="rId138"/>
    <p:sldId id="1927" r:id="rId139"/>
    <p:sldId id="1929" r:id="rId140"/>
    <p:sldId id="1930" r:id="rId141"/>
    <p:sldId id="1931" r:id="rId142"/>
  </p:sldIdLst>
  <p:sldSz cx="9144000" cy="6858000" type="screen4x3"/>
  <p:notesSz cx="6858000" cy="9144000"/>
  <p:custDataLst>
    <p:tags r:id="rId147"/>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lvl9pPr>
  </p:defaultTextStyle>
  <p:extLst>
    <p:ext uri="{EFAFB233-063F-42B5-8137-9DF3F51BA10A}">
      <p15:sldGuideLst xmlns:p15="http://schemas.microsoft.com/office/powerpoint/2012/main">
        <p15:guide id="1" orient="horz" pos="2093" userDrawn="1">
          <p15:clr>
            <a:srgbClr val="A4A3A4"/>
          </p15:clr>
        </p15:guide>
        <p15:guide id="2" pos="279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709AF1"/>
    <a:srgbClr val="6BA079"/>
    <a:srgbClr val="9416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64" autoAdjust="0"/>
    <p:restoredTop sz="93426"/>
  </p:normalViewPr>
  <p:slideViewPr>
    <p:cSldViewPr showGuides="1">
      <p:cViewPr varScale="1">
        <p:scale>
          <a:sx n="77" d="100"/>
          <a:sy n="77" d="100"/>
        </p:scale>
        <p:origin x="1123" y="43"/>
      </p:cViewPr>
      <p:guideLst>
        <p:guide orient="horz" pos="2093"/>
        <p:guide pos="27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1" d="100"/>
          <a:sy n="71" d="100"/>
        </p:scale>
        <p:origin x="3540" y="44"/>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7" Type="http://schemas.openxmlformats.org/officeDocument/2006/relationships/tags" Target="tags/tag2.xml"/><Relationship Id="rId146" Type="http://schemas.openxmlformats.org/officeDocument/2006/relationships/tableStyles" Target="tableStyles.xml"/><Relationship Id="rId145" Type="http://schemas.openxmlformats.org/officeDocument/2006/relationships/viewProps" Target="viewProps.xml"/><Relationship Id="rId144" Type="http://schemas.openxmlformats.org/officeDocument/2006/relationships/presProps" Target="presProps.xml"/><Relationship Id="rId143" Type="http://schemas.openxmlformats.org/officeDocument/2006/relationships/handoutMaster" Target="handoutMasters/handoutMaster1.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01" name="Shape 601"/>
          <p:cNvSpPr>
            <a:spLocks noGrp="1" noRot="1" noChangeAspect="1"/>
          </p:cNvSpPr>
          <p:nvPr>
            <p:ph type="sldImg"/>
          </p:nvPr>
        </p:nvSpPr>
        <p:spPr>
          <a:xfrm>
            <a:off x="1143000" y="685800"/>
            <a:ext cx="4572000" cy="3429000"/>
          </a:xfrm>
          <a:prstGeom prst="rect">
            <a:avLst/>
          </a:prstGeom>
        </p:spPr>
        <p:txBody>
          <a:bodyPr/>
          <a:lstStyle/>
          <a:p/>
        </p:txBody>
      </p:sp>
      <p:sp>
        <p:nvSpPr>
          <p:cNvPr id="602" name="Shape 602"/>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Calibri" panose="020F0502020204030204"/>
      </a:defRPr>
    </a:lvl1pPr>
    <a:lvl2pPr indent="228600" latinLnBrk="0">
      <a:spcBef>
        <a:spcPts val="400"/>
      </a:spcBef>
      <a:defRPr sz="1200">
        <a:latin typeface="+mn-lt"/>
        <a:ea typeface="+mn-ea"/>
        <a:cs typeface="+mn-cs"/>
        <a:sym typeface="Calibri" panose="020F0502020204030204"/>
      </a:defRPr>
    </a:lvl2pPr>
    <a:lvl3pPr indent="457200" latinLnBrk="0">
      <a:spcBef>
        <a:spcPts val="400"/>
      </a:spcBef>
      <a:defRPr sz="1200">
        <a:latin typeface="+mn-lt"/>
        <a:ea typeface="+mn-ea"/>
        <a:cs typeface="+mn-cs"/>
        <a:sym typeface="Calibri" panose="020F0502020204030204"/>
      </a:defRPr>
    </a:lvl3pPr>
    <a:lvl4pPr indent="685800" latinLnBrk="0">
      <a:spcBef>
        <a:spcPts val="400"/>
      </a:spcBef>
      <a:defRPr sz="1200">
        <a:latin typeface="+mn-lt"/>
        <a:ea typeface="+mn-ea"/>
        <a:cs typeface="+mn-cs"/>
        <a:sym typeface="Calibri" panose="020F0502020204030204"/>
      </a:defRPr>
    </a:lvl4pPr>
    <a:lvl5pPr indent="914400" latinLnBrk="0">
      <a:spcBef>
        <a:spcPts val="400"/>
      </a:spcBef>
      <a:defRPr sz="1200">
        <a:latin typeface="+mn-lt"/>
        <a:ea typeface="+mn-ea"/>
        <a:cs typeface="+mn-cs"/>
        <a:sym typeface="Calibri" panose="020F0502020204030204"/>
      </a:defRPr>
    </a:lvl5pPr>
    <a:lvl6pPr indent="1143000" latinLnBrk="0">
      <a:spcBef>
        <a:spcPts val="400"/>
      </a:spcBef>
      <a:defRPr sz="1200">
        <a:latin typeface="+mn-lt"/>
        <a:ea typeface="+mn-ea"/>
        <a:cs typeface="+mn-cs"/>
        <a:sym typeface="Calibri" panose="020F0502020204030204"/>
      </a:defRPr>
    </a:lvl6pPr>
    <a:lvl7pPr indent="1371600" latinLnBrk="0">
      <a:spcBef>
        <a:spcPts val="400"/>
      </a:spcBef>
      <a:defRPr sz="1200">
        <a:latin typeface="+mn-lt"/>
        <a:ea typeface="+mn-ea"/>
        <a:cs typeface="+mn-cs"/>
        <a:sym typeface="Calibri" panose="020F0502020204030204"/>
      </a:defRPr>
    </a:lvl7pPr>
    <a:lvl8pPr indent="1600200" latinLnBrk="0">
      <a:spcBef>
        <a:spcPts val="400"/>
      </a:spcBef>
      <a:defRPr sz="1200">
        <a:latin typeface="+mn-lt"/>
        <a:ea typeface="+mn-ea"/>
        <a:cs typeface="+mn-cs"/>
        <a:sym typeface="Calibri" panose="020F0502020204030204"/>
      </a:defRPr>
    </a:lvl8pPr>
    <a:lvl9pPr indent="1828800" latinLnBrk="0">
      <a:spcBef>
        <a:spcPts val="400"/>
      </a:spcBef>
      <a:defRPr sz="1200">
        <a:latin typeface="+mn-lt"/>
        <a:ea typeface="+mn-ea"/>
        <a:cs typeface="+mn-cs"/>
        <a:sym typeface="Calibri" panose="020F050202020403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7"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28" name="标题文本"/>
          <p:cNvSpPr>
            <a:spLocks noGrp="1"/>
          </p:cNvSpPr>
          <p:nvPr>
            <p:ph type="title" hasCustomPrompt="1"/>
          </p:nvPr>
        </p:nvSpPr>
        <p:spPr>
          <a:prstGeom prst="rect">
            <a:avLst/>
          </a:prstGeom>
        </p:spPr>
        <p:txBody>
          <a:bodyPr/>
          <a:lstStyle/>
          <a:p>
            <a:r>
              <a:t>标题文本</a:t>
            </a:r>
          </a:p>
        </p:txBody>
      </p:sp>
      <p:sp>
        <p:nvSpPr>
          <p:cNvPr id="29" name="正文级别 1…"/>
          <p:cNvSpPr>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0">
  <p:cSld name="节标题">
    <p:spTree>
      <p:nvGrpSpPr>
        <p:cNvPr id="1" name=""/>
        <p:cNvGrpSpPr/>
        <p:nvPr/>
      </p:nvGrpSpPr>
      <p:grpSpPr>
        <a:xfrm>
          <a:off x="0" y="0"/>
          <a:ext cx="0" cy="0"/>
          <a:chOff x="0" y="0"/>
          <a:chExt cx="0" cy="0"/>
        </a:xfrm>
      </p:grpSpPr>
      <p:sp>
        <p:nvSpPr>
          <p:cNvPr id="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37" name="五边形 8"/>
          <p:cNvSpPr/>
          <p:nvPr/>
        </p:nvSpPr>
        <p:spPr>
          <a:xfrm>
            <a:off x="8590978" y="6631384"/>
            <a:ext cx="144463" cy="1841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0800"/>
                </a:lnTo>
                <a:lnTo>
                  <a:pt x="10800" y="21600"/>
                </a:lnTo>
                <a:lnTo>
                  <a:pt x="0" y="21600"/>
                </a:lnTo>
                <a:close/>
              </a:path>
            </a:pathLst>
          </a:custGeom>
          <a:solidFill>
            <a:srgbClr val="3C8C93"/>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pic>
        <p:nvPicPr>
          <p:cNvPr id="38" name="Picture 1" descr="Picture 1"/>
          <p:cNvPicPr>
            <a:picLocks noChangeAspect="1"/>
          </p:cNvPicPr>
          <p:nvPr/>
        </p:nvPicPr>
        <p:blipFill>
          <a:blip r:embed="rId2" cstate="print"/>
          <a:stretch>
            <a:fillRect/>
          </a:stretch>
        </p:blipFill>
        <p:spPr>
          <a:xfrm>
            <a:off x="8316415" y="81061"/>
            <a:ext cx="755651" cy="755651"/>
          </a:xfrm>
          <a:prstGeom prst="rect">
            <a:avLst/>
          </a:prstGeom>
          <a:ln w="12700">
            <a:miter lim="400000"/>
            <a:headEnd/>
            <a:tailEnd/>
          </a:ln>
        </p:spPr>
      </p:pic>
      <p:sp>
        <p:nvSpPr>
          <p:cNvPr id="39" name="Rectangle 9"/>
          <p:cNvSpPr/>
          <p:nvPr/>
        </p:nvSpPr>
        <p:spPr>
          <a:xfrm>
            <a:off x="541337" y="893762"/>
            <a:ext cx="5938839" cy="46038"/>
          </a:xfrm>
          <a:prstGeom prst="rect">
            <a:avLst/>
          </a:prstGeom>
          <a:gradFill>
            <a:gsLst>
              <a:gs pos="0">
                <a:srgbClr val="00B050"/>
              </a:gs>
              <a:gs pos="60000">
                <a:srgbClr val="92D050"/>
              </a:gs>
              <a:gs pos="100000">
                <a:schemeClr val="accent3">
                  <a:lumOff val="44000"/>
                </a:schemeClr>
              </a:gs>
            </a:gsLst>
          </a:gradFill>
          <a:ln w="12700">
            <a:miter lim="400000"/>
          </a:ln>
        </p:spPr>
        <p:txBody>
          <a:bodyPr lIns="45719" rIns="45719" anchor="ctr"/>
          <a:lstStyle/>
          <a:p/>
        </p:txBody>
      </p:sp>
      <p:sp>
        <p:nvSpPr>
          <p:cNvPr id="40" name="标题文本"/>
          <p:cNvSpPr>
            <a:spLocks noGrp="1"/>
          </p:cNvSpPr>
          <p:nvPr>
            <p:ph type="title" hasCustomPrompt="1"/>
          </p:nvPr>
        </p:nvSpPr>
        <p:spPr>
          <a:xfrm>
            <a:off x="722312" y="2648892"/>
            <a:ext cx="7772401" cy="1362076"/>
          </a:xfrm>
          <a:prstGeom prst="rect">
            <a:avLst/>
          </a:prstGeom>
        </p:spPr>
        <p:txBody>
          <a:bodyPr/>
          <a:lstStyle>
            <a:lvl1pPr>
              <a:defRPr sz="4000" cap="all"/>
            </a:lvl1pPr>
          </a:lstStyle>
          <a:p>
            <a:r>
              <a:t>标题文本</a:t>
            </a:r>
          </a:p>
        </p:txBody>
      </p:sp>
      <p:sp>
        <p:nvSpPr>
          <p:cNvPr id="41" name="正文级别 1…"/>
          <p:cNvSpPr>
            <a:spLocks noGrp="1"/>
          </p:cNvSpPr>
          <p:nvPr>
            <p:ph type="body" sz="quarter" idx="1" hasCustomPrompt="1"/>
          </p:nvPr>
        </p:nvSpPr>
        <p:spPr>
          <a:xfrm>
            <a:off x="722312" y="4017045"/>
            <a:ext cx="7772401" cy="1500188"/>
          </a:xfrm>
          <a:prstGeom prst="rect">
            <a:avLst/>
          </a:prstGeom>
        </p:spPr>
        <p:txBody>
          <a:bodyPr anchor="ctr"/>
          <a:lstStyle>
            <a:lvl1pPr marL="0" indent="0" algn="ctr">
              <a:spcBef>
                <a:spcPts val="400"/>
              </a:spcBef>
              <a:buClrTx/>
              <a:buSzTx/>
              <a:buNone/>
              <a:defRPr sz="2000"/>
            </a:lvl1pPr>
            <a:lvl2pPr marL="0" indent="457200" algn="ctr">
              <a:spcBef>
                <a:spcPts val="400"/>
              </a:spcBef>
              <a:buClrTx/>
              <a:buSzTx/>
              <a:buNone/>
              <a:defRPr sz="2000"/>
            </a:lvl2pPr>
            <a:lvl3pPr marL="0" indent="914400" algn="ctr">
              <a:spcBef>
                <a:spcPts val="400"/>
              </a:spcBef>
              <a:buClrTx/>
              <a:buSzTx/>
              <a:buNone/>
              <a:defRPr sz="2000"/>
            </a:lvl3pPr>
            <a:lvl4pPr marL="0" indent="1371600" algn="ctr">
              <a:spcBef>
                <a:spcPts val="400"/>
              </a:spcBef>
              <a:buClrTx/>
              <a:buSzTx/>
              <a:buNone/>
              <a:defRPr sz="2000"/>
            </a:lvl4pPr>
            <a:lvl5pPr marL="0" indent="1828800" algn="ctr">
              <a:spcBef>
                <a:spcPts val="400"/>
              </a:spcBef>
              <a:buClrTx/>
              <a:buSzTx/>
              <a:buNone/>
              <a:defRPr sz="2000"/>
            </a:lvl5pPr>
          </a:lstStyle>
          <a:p>
            <a:r>
              <a:t>正文级别 1</a:t>
            </a:r>
          </a:p>
          <a:p>
            <a:pPr lvl="1"/>
            <a:r>
              <a:t>正文级别 2</a:t>
            </a:r>
          </a:p>
          <a:p>
            <a:pPr lvl="2"/>
            <a:r>
              <a:t>正文级别 3</a:t>
            </a:r>
          </a:p>
          <a:p>
            <a:pPr lvl="3"/>
            <a:r>
              <a:t>正文级别 4</a:t>
            </a:r>
          </a:p>
          <a:p>
            <a:pPr lvl="4"/>
            <a:r>
              <a:t>正文级别 5</a:t>
            </a:r>
          </a:p>
        </p:txBody>
      </p:sp>
      <p:sp>
        <p:nvSpPr>
          <p:cNvPr id="42" name="Rectangle 3"/>
          <p:cNvSpPr/>
          <p:nvPr/>
        </p:nvSpPr>
        <p:spPr>
          <a:xfrm>
            <a:off x="251520" y="620687"/>
            <a:ext cx="6696744" cy="576065"/>
          </a:xfrm>
          <a:prstGeom prst="rect">
            <a:avLst/>
          </a:prstGeom>
          <a:solidFill>
            <a:schemeClr val="accent3">
              <a:lumOff val="44000"/>
            </a:schemeClr>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85" name="幻灯片编号"/>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仅标题">
    <p:spTree>
      <p:nvGrpSpPr>
        <p:cNvPr id="1" name=""/>
        <p:cNvGrpSpPr/>
        <p:nvPr/>
      </p:nvGrpSpPr>
      <p:grpSpPr>
        <a:xfrm>
          <a:off x="0" y="0"/>
          <a:ext cx="0" cy="0"/>
          <a:chOff x="0" y="0"/>
          <a:chExt cx="0" cy="0"/>
        </a:xfrm>
      </p:grpSpPr>
      <p:pic>
        <p:nvPicPr>
          <p:cNvPr id="217" name="Picture 7" descr="Picture 7"/>
          <p:cNvPicPr>
            <a:picLocks noChangeAspect="1"/>
          </p:cNvPicPr>
          <p:nvPr/>
        </p:nvPicPr>
        <p:blipFill>
          <a:blip r:embed="rId2" cstate="print"/>
          <a:stretch>
            <a:fillRect/>
          </a:stretch>
        </p:blipFill>
        <p:spPr>
          <a:xfrm>
            <a:off x="7342188" y="6237287"/>
            <a:ext cx="1531938" cy="487363"/>
          </a:xfrm>
          <a:prstGeom prst="rect">
            <a:avLst/>
          </a:prstGeom>
          <a:ln w="12700">
            <a:miter lim="400000"/>
            <a:headEnd/>
            <a:tailEnd/>
          </a:ln>
        </p:spPr>
      </p:pic>
      <p:sp>
        <p:nvSpPr>
          <p:cNvPr id="218" name="幻灯片编号"/>
          <p:cNvSpPr>
            <a:spLocks noGrp="1"/>
          </p:cNvSpPr>
          <p:nvPr>
            <p:ph type="sldNum" sz="quarter" idx="2"/>
          </p:nvPr>
        </p:nvSpPr>
        <p:spPr>
          <a:xfrm>
            <a:off x="6804025" y="6318250"/>
            <a:ext cx="330161" cy="313393"/>
          </a:xfrm>
          <a:prstGeom prst="rect">
            <a:avLst/>
          </a:prstGeom>
        </p:spPr>
        <p:txBody>
          <a:bodyPr/>
          <a:lstStyle/>
          <a:p>
            <a:fld id="{86CB4B4D-7CA3-9044-876B-883B54F8677D}" type="slidenum">
              <a:rPr/>
            </a:fld>
            <a:endParaRPr/>
          </a:p>
        </p:txBody>
      </p:sp>
      <p:sp>
        <p:nvSpPr>
          <p:cNvPr id="219" name="五边形 8"/>
          <p:cNvSpPr/>
          <p:nvPr/>
        </p:nvSpPr>
        <p:spPr>
          <a:xfrm>
            <a:off x="6694488" y="6399212"/>
            <a:ext cx="144463" cy="1841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0800"/>
                </a:lnTo>
                <a:lnTo>
                  <a:pt x="10800" y="21600"/>
                </a:lnTo>
                <a:lnTo>
                  <a:pt x="0" y="21600"/>
                </a:lnTo>
                <a:close/>
              </a:path>
            </a:pathLst>
          </a:custGeom>
          <a:solidFill>
            <a:srgbClr val="3C8C93"/>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20" name="TextBox 9"/>
          <p:cNvSpPr/>
          <p:nvPr/>
        </p:nvSpPr>
        <p:spPr>
          <a:xfrm>
            <a:off x="468313" y="333375"/>
            <a:ext cx="8424862" cy="624840"/>
          </a:xfrm>
          <a:prstGeom prst="rect">
            <a:avLst/>
          </a:prstGeom>
          <a:ln w="12700">
            <a:miter lim="400000"/>
          </a:ln>
        </p:spPr>
        <p:txBody>
          <a:bodyPr lIns="45719" rIns="45719">
            <a:spAutoFit/>
          </a:bodyPr>
          <a:lstStyle>
            <a:lvl1pPr algn="r">
              <a:defRPr sz="3000">
                <a:solidFill>
                  <a:srgbClr val="CC6600"/>
                </a:solidFill>
              </a:defRPr>
            </a:lvl1pPr>
          </a:lstStyle>
          <a:p>
            <a:r>
              <a:t>同行学术评价及引用</a:t>
            </a:r>
          </a:p>
        </p:txBody>
      </p:sp>
      <p:sp>
        <p:nvSpPr>
          <p:cNvPr id="221" name="五角星 10"/>
          <p:cNvSpPr/>
          <p:nvPr/>
        </p:nvSpPr>
        <p:spPr>
          <a:xfrm>
            <a:off x="4857750" y="357188"/>
            <a:ext cx="431801" cy="431799"/>
          </a:xfrm>
          <a:custGeom>
            <a:avLst/>
            <a:gdLst/>
            <a:ahLst/>
            <a:cxnLst>
              <a:cxn ang="0">
                <a:pos x="wd2" y="hd2"/>
              </a:cxn>
              <a:cxn ang="5400000">
                <a:pos x="wd2" y="hd2"/>
              </a:cxn>
              <a:cxn ang="10800000">
                <a:pos x="wd2" y="hd2"/>
              </a:cxn>
              <a:cxn ang="16200000">
                <a:pos x="wd2" y="hd2"/>
              </a:cxn>
            </a:cxnLst>
            <a:rect l="0" t="0" r="r" b="b"/>
            <a:pathLst>
              <a:path w="21600" h="21600" extrusionOk="0">
                <a:moveTo>
                  <a:pt x="0" y="8250"/>
                </a:moveTo>
                <a:lnTo>
                  <a:pt x="8251" y="8251"/>
                </a:lnTo>
                <a:lnTo>
                  <a:pt x="10800" y="0"/>
                </a:lnTo>
                <a:lnTo>
                  <a:pt x="13349" y="8251"/>
                </a:lnTo>
                <a:lnTo>
                  <a:pt x="21600" y="8250"/>
                </a:lnTo>
                <a:lnTo>
                  <a:pt x="14925" y="13350"/>
                </a:lnTo>
                <a:lnTo>
                  <a:pt x="17475" y="21600"/>
                </a:lnTo>
                <a:lnTo>
                  <a:pt x="10800" y="16501"/>
                </a:lnTo>
                <a:lnTo>
                  <a:pt x="4125" y="21600"/>
                </a:lnTo>
                <a:lnTo>
                  <a:pt x="6675" y="13350"/>
                </a:lnTo>
                <a:lnTo>
                  <a:pt x="0" y="8250"/>
                </a:lnTo>
                <a:close/>
              </a:path>
            </a:pathLst>
          </a:custGeom>
          <a:solidFill>
            <a:srgbClr val="FF0000"/>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22" name="标题文本"/>
          <p:cNvSpPr>
            <a:spLocks noGrp="1"/>
          </p:cNvSpPr>
          <p:nvPr>
            <p:ph type="title" hasCustomPrompt="1"/>
          </p:nvPr>
        </p:nvSpPr>
        <p:spPr>
          <a:xfrm>
            <a:off x="468312" y="1289050"/>
            <a:ext cx="8207376" cy="711200"/>
          </a:xfrm>
          <a:prstGeom prst="rect">
            <a:avLst/>
          </a:prstGeom>
        </p:spPr>
        <p:txBody>
          <a:bodyPr/>
          <a:lstStyle>
            <a:lvl1pPr>
              <a:defRPr sz="3600"/>
            </a:lvl1pPr>
          </a:lstStyle>
          <a:p>
            <a:r>
              <a:t>标题文本</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pic>
        <p:nvPicPr>
          <p:cNvPr id="229" name="Picture 7" descr="Picture 7"/>
          <p:cNvPicPr>
            <a:picLocks noChangeAspect="1"/>
          </p:cNvPicPr>
          <p:nvPr/>
        </p:nvPicPr>
        <p:blipFill>
          <a:blip r:embed="rId2" cstate="print"/>
          <a:stretch>
            <a:fillRect/>
          </a:stretch>
        </p:blipFill>
        <p:spPr>
          <a:xfrm>
            <a:off x="7342188" y="6237287"/>
            <a:ext cx="1531938" cy="487363"/>
          </a:xfrm>
          <a:prstGeom prst="rect">
            <a:avLst/>
          </a:prstGeom>
          <a:ln w="12700">
            <a:miter lim="400000"/>
            <a:headEnd/>
            <a:tailEnd/>
          </a:ln>
        </p:spPr>
      </p:pic>
      <p:sp>
        <p:nvSpPr>
          <p:cNvPr id="230" name="幻灯片编号"/>
          <p:cNvSpPr>
            <a:spLocks noGrp="1"/>
          </p:cNvSpPr>
          <p:nvPr>
            <p:ph type="sldNum" sz="quarter" idx="2"/>
          </p:nvPr>
        </p:nvSpPr>
        <p:spPr>
          <a:xfrm>
            <a:off x="6804025" y="6318250"/>
            <a:ext cx="330161" cy="313393"/>
          </a:xfrm>
          <a:prstGeom prst="rect">
            <a:avLst/>
          </a:prstGeom>
        </p:spPr>
        <p:txBody>
          <a:bodyPr/>
          <a:lstStyle/>
          <a:p>
            <a:fld id="{86CB4B4D-7CA3-9044-876B-883B54F8677D}" type="slidenum">
              <a:rPr/>
            </a:fld>
            <a:endParaRPr/>
          </a:p>
        </p:txBody>
      </p:sp>
      <p:sp>
        <p:nvSpPr>
          <p:cNvPr id="231" name="五边形 8"/>
          <p:cNvSpPr/>
          <p:nvPr/>
        </p:nvSpPr>
        <p:spPr>
          <a:xfrm>
            <a:off x="6694488" y="6399212"/>
            <a:ext cx="144463" cy="1841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0800"/>
                </a:lnTo>
                <a:lnTo>
                  <a:pt x="10800" y="21600"/>
                </a:lnTo>
                <a:lnTo>
                  <a:pt x="0" y="21600"/>
                </a:lnTo>
                <a:close/>
              </a:path>
            </a:pathLst>
          </a:custGeom>
          <a:solidFill>
            <a:srgbClr val="3C8C93"/>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32" name="TextBox 9"/>
          <p:cNvSpPr/>
          <p:nvPr/>
        </p:nvSpPr>
        <p:spPr>
          <a:xfrm>
            <a:off x="468313" y="333375"/>
            <a:ext cx="8424862" cy="624840"/>
          </a:xfrm>
          <a:prstGeom prst="rect">
            <a:avLst/>
          </a:prstGeom>
          <a:ln w="12700">
            <a:miter lim="400000"/>
          </a:ln>
        </p:spPr>
        <p:txBody>
          <a:bodyPr lIns="45719" rIns="45719">
            <a:spAutoFit/>
          </a:bodyPr>
          <a:lstStyle>
            <a:lvl1pPr algn="r">
              <a:defRPr sz="3000">
                <a:solidFill>
                  <a:srgbClr val="CC6600"/>
                </a:solidFill>
              </a:defRPr>
            </a:lvl1pPr>
          </a:lstStyle>
          <a:p>
            <a:r>
              <a:t>同行学术评价及引用</a:t>
            </a:r>
          </a:p>
        </p:txBody>
      </p:sp>
      <p:sp>
        <p:nvSpPr>
          <p:cNvPr id="233" name="五角星 10"/>
          <p:cNvSpPr/>
          <p:nvPr/>
        </p:nvSpPr>
        <p:spPr>
          <a:xfrm>
            <a:off x="4857750" y="357188"/>
            <a:ext cx="431801" cy="431799"/>
          </a:xfrm>
          <a:custGeom>
            <a:avLst/>
            <a:gdLst/>
            <a:ahLst/>
            <a:cxnLst>
              <a:cxn ang="0">
                <a:pos x="wd2" y="hd2"/>
              </a:cxn>
              <a:cxn ang="5400000">
                <a:pos x="wd2" y="hd2"/>
              </a:cxn>
              <a:cxn ang="10800000">
                <a:pos x="wd2" y="hd2"/>
              </a:cxn>
              <a:cxn ang="16200000">
                <a:pos x="wd2" y="hd2"/>
              </a:cxn>
            </a:cxnLst>
            <a:rect l="0" t="0" r="r" b="b"/>
            <a:pathLst>
              <a:path w="21600" h="21600" extrusionOk="0">
                <a:moveTo>
                  <a:pt x="0" y="8250"/>
                </a:moveTo>
                <a:lnTo>
                  <a:pt x="8251" y="8251"/>
                </a:lnTo>
                <a:lnTo>
                  <a:pt x="10800" y="0"/>
                </a:lnTo>
                <a:lnTo>
                  <a:pt x="13349" y="8251"/>
                </a:lnTo>
                <a:lnTo>
                  <a:pt x="21600" y="8250"/>
                </a:lnTo>
                <a:lnTo>
                  <a:pt x="14925" y="13350"/>
                </a:lnTo>
                <a:lnTo>
                  <a:pt x="17475" y="21600"/>
                </a:lnTo>
                <a:lnTo>
                  <a:pt x="10800" y="16501"/>
                </a:lnTo>
                <a:lnTo>
                  <a:pt x="4125" y="21600"/>
                </a:lnTo>
                <a:lnTo>
                  <a:pt x="6675" y="13350"/>
                </a:lnTo>
                <a:lnTo>
                  <a:pt x="0" y="8250"/>
                </a:lnTo>
                <a:close/>
              </a:path>
            </a:pathLst>
          </a:custGeom>
          <a:solidFill>
            <a:srgbClr val="FF0000"/>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0">
  <p:cSld name="内容与标题">
    <p:spTree>
      <p:nvGrpSpPr>
        <p:cNvPr id="1" name=""/>
        <p:cNvGrpSpPr/>
        <p:nvPr/>
      </p:nvGrpSpPr>
      <p:grpSpPr>
        <a:xfrm>
          <a:off x="0" y="0"/>
          <a:ext cx="0" cy="0"/>
          <a:chOff x="0" y="0"/>
          <a:chExt cx="0" cy="0"/>
        </a:xfrm>
      </p:grpSpPr>
      <p:pic>
        <p:nvPicPr>
          <p:cNvPr id="240" name="Picture 7" descr="Picture 7"/>
          <p:cNvPicPr>
            <a:picLocks noChangeAspect="1"/>
          </p:cNvPicPr>
          <p:nvPr/>
        </p:nvPicPr>
        <p:blipFill>
          <a:blip r:embed="rId2" cstate="print"/>
          <a:stretch>
            <a:fillRect/>
          </a:stretch>
        </p:blipFill>
        <p:spPr>
          <a:xfrm>
            <a:off x="7342188" y="6237287"/>
            <a:ext cx="1531938" cy="487363"/>
          </a:xfrm>
          <a:prstGeom prst="rect">
            <a:avLst/>
          </a:prstGeom>
          <a:ln w="12700">
            <a:miter lim="400000"/>
            <a:headEnd/>
            <a:tailEnd/>
          </a:ln>
        </p:spPr>
      </p:pic>
      <p:sp>
        <p:nvSpPr>
          <p:cNvPr id="241" name="幻灯片编号"/>
          <p:cNvSpPr>
            <a:spLocks noGrp="1"/>
          </p:cNvSpPr>
          <p:nvPr>
            <p:ph type="sldNum" sz="quarter" idx="2"/>
          </p:nvPr>
        </p:nvSpPr>
        <p:spPr>
          <a:xfrm>
            <a:off x="6804025" y="6318250"/>
            <a:ext cx="330161" cy="313393"/>
          </a:xfrm>
          <a:prstGeom prst="rect">
            <a:avLst/>
          </a:prstGeom>
        </p:spPr>
        <p:txBody>
          <a:bodyPr/>
          <a:lstStyle/>
          <a:p>
            <a:fld id="{86CB4B4D-7CA3-9044-876B-883B54F8677D}" type="slidenum">
              <a:rPr/>
            </a:fld>
            <a:endParaRPr/>
          </a:p>
        </p:txBody>
      </p:sp>
      <p:sp>
        <p:nvSpPr>
          <p:cNvPr id="242" name="五边形 8"/>
          <p:cNvSpPr/>
          <p:nvPr/>
        </p:nvSpPr>
        <p:spPr>
          <a:xfrm>
            <a:off x="6694488" y="6399212"/>
            <a:ext cx="144463" cy="1841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0800"/>
                </a:lnTo>
                <a:lnTo>
                  <a:pt x="10800" y="21600"/>
                </a:lnTo>
                <a:lnTo>
                  <a:pt x="0" y="21600"/>
                </a:lnTo>
                <a:close/>
              </a:path>
            </a:pathLst>
          </a:custGeom>
          <a:solidFill>
            <a:srgbClr val="3C8C93"/>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43" name="TextBox 9"/>
          <p:cNvSpPr/>
          <p:nvPr/>
        </p:nvSpPr>
        <p:spPr>
          <a:xfrm>
            <a:off x="468313" y="333375"/>
            <a:ext cx="8424862" cy="624840"/>
          </a:xfrm>
          <a:prstGeom prst="rect">
            <a:avLst/>
          </a:prstGeom>
          <a:ln w="12700">
            <a:miter lim="400000"/>
          </a:ln>
        </p:spPr>
        <p:txBody>
          <a:bodyPr lIns="45719" rIns="45719">
            <a:spAutoFit/>
          </a:bodyPr>
          <a:lstStyle>
            <a:lvl1pPr algn="r">
              <a:defRPr sz="3000">
                <a:solidFill>
                  <a:srgbClr val="CC6600"/>
                </a:solidFill>
              </a:defRPr>
            </a:lvl1pPr>
          </a:lstStyle>
          <a:p>
            <a:r>
              <a:t>同行学术评价及引用</a:t>
            </a:r>
          </a:p>
        </p:txBody>
      </p:sp>
      <p:sp>
        <p:nvSpPr>
          <p:cNvPr id="244" name="五角星 10"/>
          <p:cNvSpPr/>
          <p:nvPr/>
        </p:nvSpPr>
        <p:spPr>
          <a:xfrm>
            <a:off x="4857750" y="357188"/>
            <a:ext cx="431801" cy="431799"/>
          </a:xfrm>
          <a:custGeom>
            <a:avLst/>
            <a:gdLst/>
            <a:ahLst/>
            <a:cxnLst>
              <a:cxn ang="0">
                <a:pos x="wd2" y="hd2"/>
              </a:cxn>
              <a:cxn ang="5400000">
                <a:pos x="wd2" y="hd2"/>
              </a:cxn>
              <a:cxn ang="10800000">
                <a:pos x="wd2" y="hd2"/>
              </a:cxn>
              <a:cxn ang="16200000">
                <a:pos x="wd2" y="hd2"/>
              </a:cxn>
            </a:cxnLst>
            <a:rect l="0" t="0" r="r" b="b"/>
            <a:pathLst>
              <a:path w="21600" h="21600" extrusionOk="0">
                <a:moveTo>
                  <a:pt x="0" y="8250"/>
                </a:moveTo>
                <a:lnTo>
                  <a:pt x="8251" y="8251"/>
                </a:lnTo>
                <a:lnTo>
                  <a:pt x="10800" y="0"/>
                </a:lnTo>
                <a:lnTo>
                  <a:pt x="13349" y="8251"/>
                </a:lnTo>
                <a:lnTo>
                  <a:pt x="21600" y="8250"/>
                </a:lnTo>
                <a:lnTo>
                  <a:pt x="14925" y="13350"/>
                </a:lnTo>
                <a:lnTo>
                  <a:pt x="17475" y="21600"/>
                </a:lnTo>
                <a:lnTo>
                  <a:pt x="10800" y="16501"/>
                </a:lnTo>
                <a:lnTo>
                  <a:pt x="4125" y="21600"/>
                </a:lnTo>
                <a:lnTo>
                  <a:pt x="6675" y="13350"/>
                </a:lnTo>
                <a:lnTo>
                  <a:pt x="0" y="8250"/>
                </a:lnTo>
                <a:close/>
              </a:path>
            </a:pathLst>
          </a:custGeom>
          <a:solidFill>
            <a:srgbClr val="FF0000"/>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45" name="标题文本"/>
          <p:cNvSpPr>
            <a:spLocks noGrp="1"/>
          </p:cNvSpPr>
          <p:nvPr>
            <p:ph type="title" hasCustomPrompt="1"/>
          </p:nvPr>
        </p:nvSpPr>
        <p:spPr>
          <a:xfrm>
            <a:off x="457200" y="273050"/>
            <a:ext cx="3008314" cy="1162050"/>
          </a:xfrm>
          <a:prstGeom prst="rect">
            <a:avLst/>
          </a:prstGeom>
        </p:spPr>
        <p:txBody>
          <a:bodyPr anchor="b"/>
          <a:lstStyle>
            <a:lvl1pPr>
              <a:defRPr sz="2000"/>
            </a:lvl1pPr>
          </a:lstStyle>
          <a:p>
            <a:r>
              <a:t>标题文本</a:t>
            </a:r>
          </a:p>
        </p:txBody>
      </p:sp>
      <p:sp>
        <p:nvSpPr>
          <p:cNvPr id="246" name="正文级别 1…"/>
          <p:cNvSpPr>
            <a:spLocks noGrp="1"/>
          </p:cNvSpPr>
          <p:nvPr>
            <p:ph type="body" idx="1" hasCustomPrompt="1"/>
          </p:nvPr>
        </p:nvSpPr>
        <p:spPr>
          <a:xfrm>
            <a:off x="3575050" y="273050"/>
            <a:ext cx="5111750" cy="5853113"/>
          </a:xfrm>
          <a:prstGeom prst="rect">
            <a:avLst/>
          </a:prstGeom>
        </p:spPr>
        <p:txBody>
          <a:bodyPr/>
          <a:lstStyle>
            <a:lvl1pPr>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vl2pPr marL="783590" indent="-326390">
              <a:buSzPct val="60000"/>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2pPr>
            <a:lvl3pPr marL="1219200" indent="-304800">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3pPr>
            <a:lvl4pPr marL="1737360" indent="-365760">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4pPr>
            <a:lvl5pPr marL="2194560" indent="-365760">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5pPr>
          </a:lstStyle>
          <a:p>
            <a:r>
              <a:t>正文级别 1</a:t>
            </a:r>
          </a:p>
          <a:p>
            <a:pPr lvl="1"/>
            <a:r>
              <a:t>正文级别 2</a:t>
            </a:r>
          </a:p>
          <a:p>
            <a:pPr lvl="2"/>
            <a:r>
              <a:t>正文级别 3</a:t>
            </a:r>
          </a:p>
          <a:p>
            <a:pPr lvl="3"/>
            <a:r>
              <a:t>正文级别 4</a:t>
            </a:r>
          </a:p>
          <a:p>
            <a:pPr lvl="4"/>
            <a:r>
              <a:t>正文级别 5</a:t>
            </a:r>
          </a:p>
        </p:txBody>
      </p:sp>
      <p:sp>
        <p:nvSpPr>
          <p:cNvPr id="247" name="文本占位符 3"/>
          <p:cNvSpPr>
            <a:spLocks noGrp="1"/>
          </p:cNvSpPr>
          <p:nvPr>
            <p:ph type="body" sz="half" idx="13"/>
          </p:nvPr>
        </p:nvSpPr>
        <p:spPr>
          <a:xfrm>
            <a:off x="457199" y="1435100"/>
            <a:ext cx="3008315" cy="4691063"/>
          </a:xfrm>
          <a:prstGeom prst="rect">
            <a:avLst/>
          </a:prstGeom>
        </p:spPr>
        <p:txBody>
          <a:bodyPr/>
          <a:lstStyle/>
          <a:p>
            <a:pPr marL="0" indent="0">
              <a:spcBef>
                <a:spcPts val="300"/>
              </a:spcBef>
              <a:buClrTx/>
              <a:buSzTx/>
              <a:buNone/>
              <a:defRPr sz="14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p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0">
  <p:cSld name="图片与标题">
    <p:spTree>
      <p:nvGrpSpPr>
        <p:cNvPr id="1" name=""/>
        <p:cNvGrpSpPr/>
        <p:nvPr/>
      </p:nvGrpSpPr>
      <p:grpSpPr>
        <a:xfrm>
          <a:off x="0" y="0"/>
          <a:ext cx="0" cy="0"/>
          <a:chOff x="0" y="0"/>
          <a:chExt cx="0" cy="0"/>
        </a:xfrm>
      </p:grpSpPr>
      <p:pic>
        <p:nvPicPr>
          <p:cNvPr id="254" name="Picture 7" descr="Picture 7"/>
          <p:cNvPicPr>
            <a:picLocks noChangeAspect="1"/>
          </p:cNvPicPr>
          <p:nvPr/>
        </p:nvPicPr>
        <p:blipFill>
          <a:blip r:embed="rId2" cstate="print"/>
          <a:stretch>
            <a:fillRect/>
          </a:stretch>
        </p:blipFill>
        <p:spPr>
          <a:xfrm>
            <a:off x="7342188" y="6237287"/>
            <a:ext cx="1531938" cy="487363"/>
          </a:xfrm>
          <a:prstGeom prst="rect">
            <a:avLst/>
          </a:prstGeom>
          <a:ln w="12700">
            <a:miter lim="400000"/>
            <a:headEnd/>
            <a:tailEnd/>
          </a:ln>
        </p:spPr>
      </p:pic>
      <p:sp>
        <p:nvSpPr>
          <p:cNvPr id="255" name="幻灯片编号"/>
          <p:cNvSpPr>
            <a:spLocks noGrp="1"/>
          </p:cNvSpPr>
          <p:nvPr>
            <p:ph type="sldNum" sz="quarter" idx="2"/>
          </p:nvPr>
        </p:nvSpPr>
        <p:spPr>
          <a:xfrm>
            <a:off x="6804025" y="6318250"/>
            <a:ext cx="330161" cy="313393"/>
          </a:xfrm>
          <a:prstGeom prst="rect">
            <a:avLst/>
          </a:prstGeom>
        </p:spPr>
        <p:txBody>
          <a:bodyPr/>
          <a:lstStyle/>
          <a:p>
            <a:fld id="{86CB4B4D-7CA3-9044-876B-883B54F8677D}" type="slidenum">
              <a:rPr/>
            </a:fld>
            <a:endParaRPr/>
          </a:p>
        </p:txBody>
      </p:sp>
      <p:sp>
        <p:nvSpPr>
          <p:cNvPr id="256" name="五边形 8"/>
          <p:cNvSpPr/>
          <p:nvPr/>
        </p:nvSpPr>
        <p:spPr>
          <a:xfrm>
            <a:off x="6694488" y="6399212"/>
            <a:ext cx="144463" cy="1841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0800"/>
                </a:lnTo>
                <a:lnTo>
                  <a:pt x="10800" y="21600"/>
                </a:lnTo>
                <a:lnTo>
                  <a:pt x="0" y="21600"/>
                </a:lnTo>
                <a:close/>
              </a:path>
            </a:pathLst>
          </a:custGeom>
          <a:solidFill>
            <a:srgbClr val="3C8C93"/>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57" name="TextBox 9"/>
          <p:cNvSpPr/>
          <p:nvPr/>
        </p:nvSpPr>
        <p:spPr>
          <a:xfrm>
            <a:off x="468313" y="333375"/>
            <a:ext cx="8424862" cy="624840"/>
          </a:xfrm>
          <a:prstGeom prst="rect">
            <a:avLst/>
          </a:prstGeom>
          <a:ln w="12700">
            <a:miter lim="400000"/>
          </a:ln>
        </p:spPr>
        <p:txBody>
          <a:bodyPr lIns="45719" rIns="45719">
            <a:spAutoFit/>
          </a:bodyPr>
          <a:lstStyle>
            <a:lvl1pPr algn="r">
              <a:defRPr sz="3000">
                <a:solidFill>
                  <a:srgbClr val="CC6600"/>
                </a:solidFill>
              </a:defRPr>
            </a:lvl1pPr>
          </a:lstStyle>
          <a:p>
            <a:r>
              <a:t>同行学术评价及引用</a:t>
            </a:r>
          </a:p>
        </p:txBody>
      </p:sp>
      <p:sp>
        <p:nvSpPr>
          <p:cNvPr id="258" name="五角星 10"/>
          <p:cNvSpPr/>
          <p:nvPr/>
        </p:nvSpPr>
        <p:spPr>
          <a:xfrm>
            <a:off x="4857750" y="357188"/>
            <a:ext cx="431801" cy="431799"/>
          </a:xfrm>
          <a:custGeom>
            <a:avLst/>
            <a:gdLst/>
            <a:ahLst/>
            <a:cxnLst>
              <a:cxn ang="0">
                <a:pos x="wd2" y="hd2"/>
              </a:cxn>
              <a:cxn ang="5400000">
                <a:pos x="wd2" y="hd2"/>
              </a:cxn>
              <a:cxn ang="10800000">
                <a:pos x="wd2" y="hd2"/>
              </a:cxn>
              <a:cxn ang="16200000">
                <a:pos x="wd2" y="hd2"/>
              </a:cxn>
            </a:cxnLst>
            <a:rect l="0" t="0" r="r" b="b"/>
            <a:pathLst>
              <a:path w="21600" h="21600" extrusionOk="0">
                <a:moveTo>
                  <a:pt x="0" y="8250"/>
                </a:moveTo>
                <a:lnTo>
                  <a:pt x="8251" y="8251"/>
                </a:lnTo>
                <a:lnTo>
                  <a:pt x="10800" y="0"/>
                </a:lnTo>
                <a:lnTo>
                  <a:pt x="13349" y="8251"/>
                </a:lnTo>
                <a:lnTo>
                  <a:pt x="21600" y="8250"/>
                </a:lnTo>
                <a:lnTo>
                  <a:pt x="14925" y="13350"/>
                </a:lnTo>
                <a:lnTo>
                  <a:pt x="17475" y="21600"/>
                </a:lnTo>
                <a:lnTo>
                  <a:pt x="10800" y="16501"/>
                </a:lnTo>
                <a:lnTo>
                  <a:pt x="4125" y="21600"/>
                </a:lnTo>
                <a:lnTo>
                  <a:pt x="6675" y="13350"/>
                </a:lnTo>
                <a:lnTo>
                  <a:pt x="0" y="8250"/>
                </a:lnTo>
                <a:close/>
              </a:path>
            </a:pathLst>
          </a:custGeom>
          <a:solidFill>
            <a:srgbClr val="FF0000"/>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59" name="标题文本"/>
          <p:cNvSpPr>
            <a:spLocks noGrp="1"/>
          </p:cNvSpPr>
          <p:nvPr>
            <p:ph type="title" hasCustomPrompt="1"/>
          </p:nvPr>
        </p:nvSpPr>
        <p:spPr>
          <a:xfrm>
            <a:off x="1792288" y="4800600"/>
            <a:ext cx="5486401" cy="566738"/>
          </a:xfrm>
          <a:prstGeom prst="rect">
            <a:avLst/>
          </a:prstGeom>
        </p:spPr>
        <p:txBody>
          <a:bodyPr anchor="b"/>
          <a:lstStyle>
            <a:lvl1pPr>
              <a:defRPr sz="2000"/>
            </a:lvl1pPr>
          </a:lstStyle>
          <a:p>
            <a:r>
              <a:t>标题文本</a:t>
            </a:r>
          </a:p>
        </p:txBody>
      </p:sp>
      <p:sp>
        <p:nvSpPr>
          <p:cNvPr id="260" name="图片占位符 2"/>
          <p:cNvSpPr>
            <a:spLocks noGrp="1"/>
          </p:cNvSpPr>
          <p:nvPr>
            <p:ph type="pic" sz="half" idx="13"/>
          </p:nvPr>
        </p:nvSpPr>
        <p:spPr>
          <a:xfrm>
            <a:off x="1792288" y="612775"/>
            <a:ext cx="5486401" cy="4114800"/>
          </a:xfrm>
          <a:prstGeom prst="rect">
            <a:avLst/>
          </a:prstGeom>
        </p:spPr>
        <p:txBody>
          <a:bodyPr lIns="91439" rIns="91439">
            <a:noAutofit/>
          </a:bodyPr>
          <a:lstStyle/>
          <a:p/>
        </p:txBody>
      </p:sp>
      <p:sp>
        <p:nvSpPr>
          <p:cNvPr id="261" name="正文级别 1…"/>
          <p:cNvSpPr>
            <a:spLocks noGrp="1"/>
          </p:cNvSpPr>
          <p:nvPr>
            <p:ph type="body" sz="quarter" idx="1" hasCustomPrompt="1"/>
          </p:nvPr>
        </p:nvSpPr>
        <p:spPr>
          <a:xfrm>
            <a:off x="1792288" y="5367337"/>
            <a:ext cx="5486401" cy="804863"/>
          </a:xfrm>
          <a:prstGeom prst="rect">
            <a:avLst/>
          </a:prstGeom>
        </p:spPr>
        <p:txBody>
          <a:bodyPr/>
          <a:lstStyle>
            <a:lvl1pPr marL="0" indent="0">
              <a:spcBef>
                <a:spcPts val="300"/>
              </a:spcBef>
              <a:buClrTx/>
              <a:buSzTx/>
              <a:buNone/>
              <a:defRPr sz="14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vl2pPr marL="0" indent="457200">
              <a:spcBef>
                <a:spcPts val="300"/>
              </a:spcBef>
              <a:buClrTx/>
              <a:buSzTx/>
              <a:buNone/>
              <a:defRPr sz="14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2pPr>
            <a:lvl3pPr marL="0" indent="914400">
              <a:spcBef>
                <a:spcPts val="300"/>
              </a:spcBef>
              <a:buClrTx/>
              <a:buSzTx/>
              <a:buNone/>
              <a:defRPr sz="14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3pPr>
            <a:lvl4pPr marL="0" indent="1371600">
              <a:spcBef>
                <a:spcPts val="300"/>
              </a:spcBef>
              <a:buClrTx/>
              <a:buSzTx/>
              <a:buNone/>
              <a:defRPr sz="14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4pPr>
            <a:lvl5pPr marL="0" indent="1828800">
              <a:spcBef>
                <a:spcPts val="300"/>
              </a:spcBef>
              <a:buClrTx/>
              <a:buSzTx/>
              <a:buNone/>
              <a:defRPr sz="14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5pPr>
          </a:lstStyle>
          <a:p>
            <a:r>
              <a:t>正文级别 1</a:t>
            </a:r>
          </a:p>
          <a:p>
            <a:pPr lvl="1"/>
            <a:r>
              <a:t>正文级别 2</a:t>
            </a:r>
          </a:p>
          <a:p>
            <a:pPr lvl="2"/>
            <a:r>
              <a:t>正文级别 3</a:t>
            </a:r>
          </a:p>
          <a:p>
            <a:pPr lvl="3"/>
            <a:r>
              <a:t>正文级别 4</a:t>
            </a:r>
          </a:p>
          <a:p>
            <a:pPr lvl="4"/>
            <a:r>
              <a:t>正文级别 5</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showMasterSp="0">
  <p:cSld name="标题和竖排文字">
    <p:spTree>
      <p:nvGrpSpPr>
        <p:cNvPr id="1" name=""/>
        <p:cNvGrpSpPr/>
        <p:nvPr/>
      </p:nvGrpSpPr>
      <p:grpSpPr>
        <a:xfrm>
          <a:off x="0" y="0"/>
          <a:ext cx="0" cy="0"/>
          <a:chOff x="0" y="0"/>
          <a:chExt cx="0" cy="0"/>
        </a:xfrm>
      </p:grpSpPr>
      <p:pic>
        <p:nvPicPr>
          <p:cNvPr id="268" name="Picture 7" descr="Picture 7"/>
          <p:cNvPicPr>
            <a:picLocks noChangeAspect="1"/>
          </p:cNvPicPr>
          <p:nvPr/>
        </p:nvPicPr>
        <p:blipFill>
          <a:blip r:embed="rId2" cstate="print"/>
          <a:stretch>
            <a:fillRect/>
          </a:stretch>
        </p:blipFill>
        <p:spPr>
          <a:xfrm>
            <a:off x="7342188" y="6237287"/>
            <a:ext cx="1531938" cy="487363"/>
          </a:xfrm>
          <a:prstGeom prst="rect">
            <a:avLst/>
          </a:prstGeom>
          <a:ln w="12700">
            <a:miter lim="400000"/>
            <a:headEnd/>
            <a:tailEnd/>
          </a:ln>
        </p:spPr>
      </p:pic>
      <p:sp>
        <p:nvSpPr>
          <p:cNvPr id="269" name="幻灯片编号"/>
          <p:cNvSpPr>
            <a:spLocks noGrp="1"/>
          </p:cNvSpPr>
          <p:nvPr>
            <p:ph type="sldNum" sz="quarter" idx="2"/>
          </p:nvPr>
        </p:nvSpPr>
        <p:spPr>
          <a:xfrm>
            <a:off x="6804025" y="6318250"/>
            <a:ext cx="330161" cy="313393"/>
          </a:xfrm>
          <a:prstGeom prst="rect">
            <a:avLst/>
          </a:prstGeom>
        </p:spPr>
        <p:txBody>
          <a:bodyPr/>
          <a:lstStyle/>
          <a:p>
            <a:fld id="{86CB4B4D-7CA3-9044-876B-883B54F8677D}" type="slidenum">
              <a:rPr/>
            </a:fld>
            <a:endParaRPr/>
          </a:p>
        </p:txBody>
      </p:sp>
      <p:sp>
        <p:nvSpPr>
          <p:cNvPr id="270" name="五边形 8"/>
          <p:cNvSpPr/>
          <p:nvPr/>
        </p:nvSpPr>
        <p:spPr>
          <a:xfrm>
            <a:off x="6694488" y="6399212"/>
            <a:ext cx="144463" cy="1841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0800"/>
                </a:lnTo>
                <a:lnTo>
                  <a:pt x="10800" y="21600"/>
                </a:lnTo>
                <a:lnTo>
                  <a:pt x="0" y="21600"/>
                </a:lnTo>
                <a:close/>
              </a:path>
            </a:pathLst>
          </a:custGeom>
          <a:solidFill>
            <a:srgbClr val="3C8C93"/>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71" name="TextBox 9"/>
          <p:cNvSpPr/>
          <p:nvPr/>
        </p:nvSpPr>
        <p:spPr>
          <a:xfrm>
            <a:off x="468313" y="333375"/>
            <a:ext cx="8424862" cy="624840"/>
          </a:xfrm>
          <a:prstGeom prst="rect">
            <a:avLst/>
          </a:prstGeom>
          <a:ln w="12700">
            <a:miter lim="400000"/>
          </a:ln>
        </p:spPr>
        <p:txBody>
          <a:bodyPr lIns="45719" rIns="45719">
            <a:spAutoFit/>
          </a:bodyPr>
          <a:lstStyle>
            <a:lvl1pPr algn="r">
              <a:defRPr sz="3000">
                <a:solidFill>
                  <a:srgbClr val="CC6600"/>
                </a:solidFill>
              </a:defRPr>
            </a:lvl1pPr>
          </a:lstStyle>
          <a:p>
            <a:r>
              <a:t>同行学术评价及引用</a:t>
            </a:r>
          </a:p>
        </p:txBody>
      </p:sp>
      <p:sp>
        <p:nvSpPr>
          <p:cNvPr id="272" name="五角星 10"/>
          <p:cNvSpPr/>
          <p:nvPr/>
        </p:nvSpPr>
        <p:spPr>
          <a:xfrm>
            <a:off x="4857750" y="357188"/>
            <a:ext cx="431801" cy="431799"/>
          </a:xfrm>
          <a:custGeom>
            <a:avLst/>
            <a:gdLst/>
            <a:ahLst/>
            <a:cxnLst>
              <a:cxn ang="0">
                <a:pos x="wd2" y="hd2"/>
              </a:cxn>
              <a:cxn ang="5400000">
                <a:pos x="wd2" y="hd2"/>
              </a:cxn>
              <a:cxn ang="10800000">
                <a:pos x="wd2" y="hd2"/>
              </a:cxn>
              <a:cxn ang="16200000">
                <a:pos x="wd2" y="hd2"/>
              </a:cxn>
            </a:cxnLst>
            <a:rect l="0" t="0" r="r" b="b"/>
            <a:pathLst>
              <a:path w="21600" h="21600" extrusionOk="0">
                <a:moveTo>
                  <a:pt x="0" y="8250"/>
                </a:moveTo>
                <a:lnTo>
                  <a:pt x="8251" y="8251"/>
                </a:lnTo>
                <a:lnTo>
                  <a:pt x="10800" y="0"/>
                </a:lnTo>
                <a:lnTo>
                  <a:pt x="13349" y="8251"/>
                </a:lnTo>
                <a:lnTo>
                  <a:pt x="21600" y="8250"/>
                </a:lnTo>
                <a:lnTo>
                  <a:pt x="14925" y="13350"/>
                </a:lnTo>
                <a:lnTo>
                  <a:pt x="17475" y="21600"/>
                </a:lnTo>
                <a:lnTo>
                  <a:pt x="10800" y="16501"/>
                </a:lnTo>
                <a:lnTo>
                  <a:pt x="4125" y="21600"/>
                </a:lnTo>
                <a:lnTo>
                  <a:pt x="6675" y="13350"/>
                </a:lnTo>
                <a:lnTo>
                  <a:pt x="0" y="8250"/>
                </a:lnTo>
                <a:close/>
              </a:path>
            </a:pathLst>
          </a:custGeom>
          <a:solidFill>
            <a:srgbClr val="FF0000"/>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73" name="标题文本"/>
          <p:cNvSpPr>
            <a:spLocks noGrp="1"/>
          </p:cNvSpPr>
          <p:nvPr>
            <p:ph type="title" hasCustomPrompt="1"/>
          </p:nvPr>
        </p:nvSpPr>
        <p:spPr>
          <a:xfrm>
            <a:off x="468312" y="1289050"/>
            <a:ext cx="8207376" cy="711200"/>
          </a:xfrm>
          <a:prstGeom prst="rect">
            <a:avLst/>
          </a:prstGeom>
        </p:spPr>
        <p:txBody>
          <a:bodyPr/>
          <a:lstStyle>
            <a:lvl1pPr>
              <a:defRPr sz="3600"/>
            </a:lvl1pPr>
          </a:lstStyle>
          <a:p>
            <a:r>
              <a:t>标题文本</a:t>
            </a:r>
          </a:p>
        </p:txBody>
      </p:sp>
      <p:sp>
        <p:nvSpPr>
          <p:cNvPr id="274" name="正文级别 1…"/>
          <p:cNvSpPr>
            <a:spLocks noGrp="1"/>
          </p:cNvSpPr>
          <p:nvPr>
            <p:ph type="body" idx="1" hasCustomPrompt="1"/>
          </p:nvPr>
        </p:nvSpPr>
        <p:spPr>
          <a:prstGeom prst="rect">
            <a:avLst/>
          </a:prstGeom>
        </p:spPr>
        <p:txBody>
          <a:bodyPr/>
          <a:lstStyle>
            <a:lvl1pPr>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vl2pPr marL="783590" indent="-326390">
              <a:buSzPct val="60000"/>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2pPr>
            <a:lvl3pPr marL="1219200" indent="-304800">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3pPr>
            <a:lvl4pPr marL="1737360" indent="-365760">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4pPr>
            <a:lvl5pPr marL="2194560" indent="-365760">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5pPr>
          </a:lstStyle>
          <a:p>
            <a:r>
              <a:t>正文级别 1</a:t>
            </a:r>
          </a:p>
          <a:p>
            <a:pPr lvl="1"/>
            <a:r>
              <a:t>正文级别 2</a:t>
            </a:r>
          </a:p>
          <a:p>
            <a:pPr lvl="2"/>
            <a:r>
              <a:t>正文级别 3</a:t>
            </a:r>
          </a:p>
          <a:p>
            <a:pPr lvl="3"/>
            <a:r>
              <a:t>正文级别 4</a:t>
            </a:r>
          </a:p>
          <a:p>
            <a:pPr lvl="4"/>
            <a:r>
              <a:t>正文级别 5</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showMasterSp="0">
  <p:cSld name="垂直排列标题与文本">
    <p:spTree>
      <p:nvGrpSpPr>
        <p:cNvPr id="1" name=""/>
        <p:cNvGrpSpPr/>
        <p:nvPr/>
      </p:nvGrpSpPr>
      <p:grpSpPr>
        <a:xfrm>
          <a:off x="0" y="0"/>
          <a:ext cx="0" cy="0"/>
          <a:chOff x="0" y="0"/>
          <a:chExt cx="0" cy="0"/>
        </a:xfrm>
      </p:grpSpPr>
      <p:pic>
        <p:nvPicPr>
          <p:cNvPr id="281" name="Picture 7" descr="Picture 7"/>
          <p:cNvPicPr>
            <a:picLocks noChangeAspect="1"/>
          </p:cNvPicPr>
          <p:nvPr/>
        </p:nvPicPr>
        <p:blipFill>
          <a:blip r:embed="rId2" cstate="print"/>
          <a:stretch>
            <a:fillRect/>
          </a:stretch>
        </p:blipFill>
        <p:spPr>
          <a:xfrm>
            <a:off x="7342188" y="6237287"/>
            <a:ext cx="1531938" cy="487363"/>
          </a:xfrm>
          <a:prstGeom prst="rect">
            <a:avLst/>
          </a:prstGeom>
          <a:ln w="12700">
            <a:miter lim="400000"/>
            <a:headEnd/>
            <a:tailEnd/>
          </a:ln>
        </p:spPr>
      </p:pic>
      <p:sp>
        <p:nvSpPr>
          <p:cNvPr id="282" name="幻灯片编号"/>
          <p:cNvSpPr>
            <a:spLocks noGrp="1"/>
          </p:cNvSpPr>
          <p:nvPr>
            <p:ph type="sldNum" sz="quarter" idx="2"/>
          </p:nvPr>
        </p:nvSpPr>
        <p:spPr>
          <a:xfrm>
            <a:off x="6804025" y="6318250"/>
            <a:ext cx="330161" cy="313393"/>
          </a:xfrm>
          <a:prstGeom prst="rect">
            <a:avLst/>
          </a:prstGeom>
        </p:spPr>
        <p:txBody>
          <a:bodyPr/>
          <a:lstStyle/>
          <a:p>
            <a:fld id="{86CB4B4D-7CA3-9044-876B-883B54F8677D}" type="slidenum">
              <a:rPr/>
            </a:fld>
            <a:endParaRPr dirty="0"/>
          </a:p>
        </p:txBody>
      </p:sp>
      <p:sp>
        <p:nvSpPr>
          <p:cNvPr id="283" name="五边形 8"/>
          <p:cNvSpPr/>
          <p:nvPr/>
        </p:nvSpPr>
        <p:spPr>
          <a:xfrm>
            <a:off x="6694488" y="6399212"/>
            <a:ext cx="144463" cy="1841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0800"/>
                </a:lnTo>
                <a:lnTo>
                  <a:pt x="10800" y="21600"/>
                </a:lnTo>
                <a:lnTo>
                  <a:pt x="0" y="21600"/>
                </a:lnTo>
                <a:close/>
              </a:path>
            </a:pathLst>
          </a:custGeom>
          <a:solidFill>
            <a:srgbClr val="3C8C93"/>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84" name="TextBox 9"/>
          <p:cNvSpPr/>
          <p:nvPr/>
        </p:nvSpPr>
        <p:spPr>
          <a:xfrm>
            <a:off x="468313" y="333375"/>
            <a:ext cx="8424862" cy="624840"/>
          </a:xfrm>
          <a:prstGeom prst="rect">
            <a:avLst/>
          </a:prstGeom>
          <a:ln w="12700">
            <a:miter lim="400000"/>
          </a:ln>
        </p:spPr>
        <p:txBody>
          <a:bodyPr lIns="45719" rIns="45719">
            <a:spAutoFit/>
          </a:bodyPr>
          <a:lstStyle>
            <a:lvl1pPr algn="r">
              <a:defRPr sz="3000">
                <a:solidFill>
                  <a:srgbClr val="CC6600"/>
                </a:solidFill>
              </a:defRPr>
            </a:lvl1pPr>
          </a:lstStyle>
          <a:p>
            <a:r>
              <a:t>同行学术评价及引用</a:t>
            </a:r>
          </a:p>
        </p:txBody>
      </p:sp>
      <p:sp>
        <p:nvSpPr>
          <p:cNvPr id="285" name="五角星 10"/>
          <p:cNvSpPr/>
          <p:nvPr/>
        </p:nvSpPr>
        <p:spPr>
          <a:xfrm>
            <a:off x="4857750" y="357188"/>
            <a:ext cx="431801" cy="431799"/>
          </a:xfrm>
          <a:custGeom>
            <a:avLst/>
            <a:gdLst/>
            <a:ahLst/>
            <a:cxnLst>
              <a:cxn ang="0">
                <a:pos x="wd2" y="hd2"/>
              </a:cxn>
              <a:cxn ang="5400000">
                <a:pos x="wd2" y="hd2"/>
              </a:cxn>
              <a:cxn ang="10800000">
                <a:pos x="wd2" y="hd2"/>
              </a:cxn>
              <a:cxn ang="16200000">
                <a:pos x="wd2" y="hd2"/>
              </a:cxn>
            </a:cxnLst>
            <a:rect l="0" t="0" r="r" b="b"/>
            <a:pathLst>
              <a:path w="21600" h="21600" extrusionOk="0">
                <a:moveTo>
                  <a:pt x="0" y="8250"/>
                </a:moveTo>
                <a:lnTo>
                  <a:pt x="8251" y="8251"/>
                </a:lnTo>
                <a:lnTo>
                  <a:pt x="10800" y="0"/>
                </a:lnTo>
                <a:lnTo>
                  <a:pt x="13349" y="8251"/>
                </a:lnTo>
                <a:lnTo>
                  <a:pt x="21600" y="8250"/>
                </a:lnTo>
                <a:lnTo>
                  <a:pt x="14925" y="13350"/>
                </a:lnTo>
                <a:lnTo>
                  <a:pt x="17475" y="21600"/>
                </a:lnTo>
                <a:lnTo>
                  <a:pt x="10800" y="16501"/>
                </a:lnTo>
                <a:lnTo>
                  <a:pt x="4125" y="21600"/>
                </a:lnTo>
                <a:lnTo>
                  <a:pt x="6675" y="13350"/>
                </a:lnTo>
                <a:lnTo>
                  <a:pt x="0" y="8250"/>
                </a:lnTo>
                <a:close/>
              </a:path>
            </a:pathLst>
          </a:custGeom>
          <a:solidFill>
            <a:srgbClr val="FF0000"/>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sp>
        <p:nvSpPr>
          <p:cNvPr id="286" name="标题文本"/>
          <p:cNvSpPr>
            <a:spLocks noGrp="1"/>
          </p:cNvSpPr>
          <p:nvPr>
            <p:ph type="title" hasCustomPrompt="1"/>
          </p:nvPr>
        </p:nvSpPr>
        <p:spPr>
          <a:xfrm>
            <a:off x="6629400" y="196850"/>
            <a:ext cx="2057400" cy="5753100"/>
          </a:xfrm>
          <a:prstGeom prst="rect">
            <a:avLst/>
          </a:prstGeom>
        </p:spPr>
        <p:txBody>
          <a:bodyPr/>
          <a:lstStyle>
            <a:lvl1pPr>
              <a:defRPr sz="3600"/>
            </a:lvl1pPr>
          </a:lstStyle>
          <a:p>
            <a:r>
              <a:t>标题文本</a:t>
            </a:r>
          </a:p>
        </p:txBody>
      </p:sp>
      <p:sp>
        <p:nvSpPr>
          <p:cNvPr id="287" name="正文级别 1…"/>
          <p:cNvSpPr>
            <a:spLocks noGrp="1"/>
          </p:cNvSpPr>
          <p:nvPr>
            <p:ph type="body" idx="1" hasCustomPrompt="1"/>
          </p:nvPr>
        </p:nvSpPr>
        <p:spPr>
          <a:xfrm>
            <a:off x="457200" y="196850"/>
            <a:ext cx="6019800" cy="5753100"/>
          </a:xfrm>
          <a:prstGeom prst="rect">
            <a:avLst/>
          </a:prstGeom>
        </p:spPr>
        <p:txBody>
          <a:bodyPr/>
          <a:lstStyle>
            <a:lvl1pPr>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vl2pPr marL="783590" indent="-326390">
              <a:buSzPct val="60000"/>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2pPr>
            <a:lvl3pPr marL="1219200" indent="-304800">
              <a:buChar char="➢"/>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3pPr>
            <a:lvl4pPr marL="1737360" indent="-365760">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4pPr>
            <a:lvl5pPr marL="2194560" indent="-365760">
              <a:defRPr sz="3200">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5pPr>
          </a:lstStyle>
          <a:p>
            <a:r>
              <a:t>正文级别 1</a:t>
            </a:r>
          </a:p>
          <a:p>
            <a:pPr lvl="1"/>
            <a:r>
              <a:t>正文级别 2</a:t>
            </a:r>
          </a:p>
          <a:p>
            <a:pPr lvl="2"/>
            <a:r>
              <a:t>正文级别 3</a:t>
            </a:r>
          </a:p>
          <a:p>
            <a:pPr lvl="3"/>
            <a:r>
              <a:t>正文级别 4</a:t>
            </a:r>
          </a:p>
          <a:p>
            <a:pPr lvl="4"/>
            <a:r>
              <a:t>正文级别 5</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a:xfrm rot="19140000">
            <a:off x="201168" y="5870448"/>
            <a:ext cx="2176272" cy="201168"/>
          </a:xfrm>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a:xfrm>
            <a:off x="3517514" y="6285122"/>
            <a:ext cx="4724400" cy="274320"/>
          </a:xfrm>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Title 7"/>
          <p:cNvSpPr>
            <a:spLocks noGrp="1"/>
          </p:cNvSpPr>
          <p:nvPr>
            <p:ph type="title"/>
          </p:nvPr>
        </p:nvSpPr>
        <p:spPr/>
        <p:txBody>
          <a:bodyPr/>
          <a:lstStyle/>
          <a:p>
            <a:r>
              <a:rPr lang="zh-CN" altLang="en-US"/>
              <a:t>单击此处编辑母版标题样式</a:t>
            </a:r>
            <a:endParaRPr lang="en-US"/>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3.png"/><Relationship Id="rId11" Type="http://schemas.openxmlformats.org/officeDocument/2006/relationships/image" Target="../media/image1.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Off val="44000"/>
          </a:schemeClr>
        </a:solidFill>
        <a:effectLst/>
      </p:bgPr>
    </p:bg>
    <p:spTree>
      <p:nvGrpSpPr>
        <p:cNvPr id="1" name=""/>
        <p:cNvGrpSpPr/>
        <p:nvPr/>
      </p:nvGrpSpPr>
      <p:grpSpPr>
        <a:xfrm>
          <a:off x="0" y="0"/>
          <a:ext cx="0" cy="0"/>
          <a:chOff x="0" y="0"/>
          <a:chExt cx="0" cy="0"/>
        </a:xfrm>
      </p:grpSpPr>
      <p:sp>
        <p:nvSpPr>
          <p:cNvPr id="2" name="幻灯片编号"/>
          <p:cNvSpPr>
            <a:spLocks noGrp="1"/>
          </p:cNvSpPr>
          <p:nvPr>
            <p:ph type="sldNum" sz="quarter" idx="2"/>
          </p:nvPr>
        </p:nvSpPr>
        <p:spPr>
          <a:xfrm>
            <a:off x="8700516" y="6550421"/>
            <a:ext cx="330161" cy="313393"/>
          </a:xfrm>
          <a:prstGeom prst="rect">
            <a:avLst/>
          </a:prstGeom>
          <a:ln w="12700">
            <a:miter lim="400000"/>
          </a:ln>
        </p:spPr>
        <p:txBody>
          <a:bodyPr wrap="none" lIns="45719" rIns="45719">
            <a:spAutoFit/>
          </a:bodyPr>
          <a:lstStyle>
            <a:lvl1pPr>
              <a:defRPr sz="1600" b="1">
                <a:solidFill>
                  <a:srgbClr val="3C8C93"/>
                </a:solidFill>
                <a:latin typeface="Arial" panose="020B0604020202020204"/>
                <a:ea typeface="Arial" panose="020B0604020202020204"/>
                <a:cs typeface="Arial" panose="020B0604020202020204"/>
                <a:sym typeface="Arial" panose="020B0604020202020204"/>
              </a:defRPr>
            </a:lvl1pPr>
          </a:lstStyle>
          <a:p>
            <a:fld id="{86CB4B4D-7CA3-9044-876B-883B54F8677D}" type="slidenum">
              <a:rPr/>
            </a:fld>
            <a:endParaRPr/>
          </a:p>
        </p:txBody>
      </p:sp>
      <p:sp>
        <p:nvSpPr>
          <p:cNvPr id="3" name="五边形 8"/>
          <p:cNvSpPr/>
          <p:nvPr/>
        </p:nvSpPr>
        <p:spPr>
          <a:xfrm>
            <a:off x="8590978" y="6631384"/>
            <a:ext cx="144463" cy="18415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0800"/>
                </a:lnTo>
                <a:lnTo>
                  <a:pt x="10800" y="21600"/>
                </a:lnTo>
                <a:lnTo>
                  <a:pt x="0" y="21600"/>
                </a:lnTo>
                <a:close/>
              </a:path>
            </a:pathLst>
          </a:custGeom>
          <a:solidFill>
            <a:srgbClr val="3C8C93"/>
          </a:solidFill>
          <a:ln w="12700">
            <a:miter lim="400000"/>
          </a:ln>
        </p:spPr>
        <p:txBody>
          <a:bodyPr lIns="45719" rIns="45719"/>
          <a:lstStyle/>
          <a:p>
            <a:pPr>
              <a:defRPr b="1">
                <a:latin typeface="Arial" panose="020B0604020202020204"/>
                <a:ea typeface="Arial" panose="020B0604020202020204"/>
                <a:cs typeface="Arial" panose="020B0604020202020204"/>
                <a:sym typeface="Arial" panose="020B0604020202020204"/>
              </a:defRPr>
            </a:pPr>
          </a:p>
        </p:txBody>
      </p:sp>
      <p:pic>
        <p:nvPicPr>
          <p:cNvPr id="4" name="Picture 1" descr="Picture 1"/>
          <p:cNvPicPr>
            <a:picLocks noChangeAspect="1"/>
          </p:cNvPicPr>
          <p:nvPr/>
        </p:nvPicPr>
        <p:blipFill>
          <a:blip r:embed="rId11" cstate="print"/>
          <a:stretch>
            <a:fillRect/>
          </a:stretch>
        </p:blipFill>
        <p:spPr>
          <a:xfrm>
            <a:off x="8316415" y="81061"/>
            <a:ext cx="755651" cy="755651"/>
          </a:xfrm>
          <a:prstGeom prst="rect">
            <a:avLst/>
          </a:prstGeom>
          <a:ln w="12700">
            <a:miter lim="400000"/>
            <a:headEnd/>
            <a:tailEnd/>
          </a:ln>
          <a:effectLst>
            <a:glow>
              <a:schemeClr val="accent1"/>
            </a:glow>
          </a:effectLst>
        </p:spPr>
      </p:pic>
      <p:sp>
        <p:nvSpPr>
          <p:cNvPr id="5" name="Rectangle 9"/>
          <p:cNvSpPr/>
          <p:nvPr/>
        </p:nvSpPr>
        <p:spPr>
          <a:xfrm>
            <a:off x="182064" y="759593"/>
            <a:ext cx="5938839" cy="46038"/>
          </a:xfrm>
          <a:prstGeom prst="rect">
            <a:avLst/>
          </a:prstGeom>
          <a:gradFill>
            <a:gsLst>
              <a:gs pos="0">
                <a:srgbClr val="941651"/>
              </a:gs>
              <a:gs pos="60000">
                <a:srgbClr val="FFC000"/>
              </a:gs>
              <a:gs pos="100000">
                <a:schemeClr val="accent3">
                  <a:lumOff val="44000"/>
                </a:schemeClr>
              </a:gs>
            </a:gsLst>
          </a:gradFill>
          <a:ln w="12700">
            <a:miter lim="400000"/>
          </a:ln>
        </p:spPr>
        <p:txBody>
          <a:bodyPr lIns="45719" rIns="45719" anchor="ctr"/>
          <a:lstStyle/>
          <a:p/>
        </p:txBody>
      </p:sp>
      <p:pic>
        <p:nvPicPr>
          <p:cNvPr id="6" name="Picture 9" descr="Picture 9"/>
          <p:cNvPicPr>
            <a:picLocks noChangeAspect="1"/>
          </p:cNvPicPr>
          <p:nvPr/>
        </p:nvPicPr>
        <p:blipFill>
          <a:blip r:embed="rId12" cstate="print"/>
          <a:stretch>
            <a:fillRect/>
          </a:stretch>
        </p:blipFill>
        <p:spPr>
          <a:xfrm>
            <a:off x="569414" y="894531"/>
            <a:ext cx="7048501" cy="5114925"/>
          </a:xfrm>
          <a:prstGeom prst="rect">
            <a:avLst/>
          </a:prstGeom>
          <a:ln w="12700">
            <a:miter lim="400000"/>
            <a:headEnd/>
            <a:tailEnd/>
          </a:ln>
        </p:spPr>
      </p:pic>
      <p:sp>
        <p:nvSpPr>
          <p:cNvPr id="7" name="标题文本"/>
          <p:cNvSpPr>
            <a:spLocks noGrp="1"/>
          </p:cNvSpPr>
          <p:nvPr>
            <p:ph type="title"/>
          </p:nvPr>
        </p:nvSpPr>
        <p:spPr>
          <a:xfrm>
            <a:off x="109039" y="62681"/>
            <a:ext cx="8207376" cy="711200"/>
          </a:xfrm>
          <a:prstGeom prst="rect">
            <a:avLst/>
          </a:prstGeom>
          <a:ln w="12700">
            <a:miter lim="400000"/>
          </a:ln>
        </p:spPr>
        <p:txBody>
          <a:bodyPr lIns="45719" rIns="45719" anchor="ctr">
            <a:normAutofit/>
          </a:bodyPr>
          <a:lstStyle/>
          <a:p>
            <a:r>
              <a:rPr dirty="0" err="1"/>
              <a:t>标题文本</a:t>
            </a:r>
            <a:endParaRPr dirty="0"/>
          </a:p>
        </p:txBody>
      </p:sp>
      <p:sp>
        <p:nvSpPr>
          <p:cNvPr id="8" name="正文级别 1…"/>
          <p:cNvSpPr>
            <a:spLocks noGrp="1"/>
          </p:cNvSpPr>
          <p:nvPr>
            <p:ph type="body" idx="1"/>
          </p:nvPr>
        </p:nvSpPr>
        <p:spPr>
          <a:xfrm>
            <a:off x="97927" y="886593"/>
            <a:ext cx="8229600" cy="4929189"/>
          </a:xfrm>
          <a:prstGeom prst="rect">
            <a:avLst/>
          </a:prstGeom>
          <a:ln w="12700">
            <a:miter lim="400000"/>
          </a:ln>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hf hdr="0" ftr="0" dt="0"/>
  <p:txStyles>
    <p:titleStyle>
      <a:lvl1pPr marL="0" marR="0" indent="0" algn="l" defTabSz="914400" rtl="0" latinLnBrk="0">
        <a:lnSpc>
          <a:spcPct val="100000"/>
        </a:lnSpc>
        <a:spcBef>
          <a:spcPts val="0"/>
        </a:spcBef>
        <a:spcAft>
          <a:spcPts val="0"/>
        </a:spcAft>
        <a:buClrTx/>
        <a:buSzTx/>
        <a:buFontTx/>
        <a:buNone/>
        <a:defRPr sz="3200" b="1" i="0" u="none" strike="noStrike" cap="none" spc="0" baseline="0">
          <a:ln>
            <a:noFill/>
          </a:ln>
          <a:solidFill>
            <a:srgbClr val="C00000"/>
          </a:solidFill>
          <a:uFillTx/>
          <a:latin typeface="黑体" panose="02010609060101010101" charset="-122"/>
          <a:ea typeface="黑体" panose="02010609060101010101" charset="-122"/>
          <a:cs typeface="黑体" panose="02010609060101010101" charset="-122"/>
          <a:sym typeface="黑体" panose="02010609060101010101" charset="-122"/>
        </a:defRPr>
      </a:lvl1pPr>
      <a:lvl2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2pPr>
      <a:lvl3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3pPr>
      <a:lvl4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4pPr>
      <a:lvl5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5pPr>
      <a:lvl6pPr marL="0" marR="0" indent="4572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6pPr>
      <a:lvl7pPr marL="0" marR="0" indent="9144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7pPr>
      <a:lvl8pPr marL="0" marR="0" indent="13716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8pPr>
      <a:lvl9pPr marL="0" marR="0" indent="18288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9pPr>
    </p:titleStyle>
    <p:bodyStyle>
      <a:lvl1pPr marL="457200" marR="0" indent="-457200" algn="l" defTabSz="914400" rtl="0" latinLnBrk="0">
        <a:lnSpc>
          <a:spcPct val="100000"/>
        </a:lnSpc>
        <a:spcBef>
          <a:spcPts val="700"/>
        </a:spcBef>
        <a:spcAft>
          <a:spcPts val="0"/>
        </a:spcAft>
        <a:buClr>
          <a:srgbClr val="3C8C93"/>
        </a:buClr>
        <a:buSzPct val="8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1pPr>
      <a:lvl2pPr marL="786765" marR="0" indent="-329565" algn="l" defTabSz="914400" rtl="0" latinLnBrk="0">
        <a:lnSpc>
          <a:spcPct val="100000"/>
        </a:lnSpc>
        <a:spcBef>
          <a:spcPts val="700"/>
        </a:spcBef>
        <a:spcAft>
          <a:spcPts val="0"/>
        </a:spcAft>
        <a:buClr>
          <a:srgbClr val="3C8C93"/>
        </a:buClr>
        <a:buSzPct val="100000"/>
        <a:buFontTx/>
        <a:buChar char="o"/>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2pPr>
      <a:lvl3pPr marL="1177925" marR="0" indent="-263525"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3pPr>
      <a:lvl4pPr marL="17145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4pPr>
      <a:lvl5pPr marL="21717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5pPr>
      <a:lvl6pPr marL="26289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6pPr>
      <a:lvl7pPr marL="30861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7pPr>
      <a:lvl8pPr marL="35433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8pPr>
      <a:lvl9pPr marL="40005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9pPr>
    </p:bodyStyle>
    <p:otherStyle>
      <a:lvl1pPr marL="0" marR="0" indent="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1pPr>
      <a:lvl2pPr marL="0" marR="0" indent="45720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2pPr>
      <a:lvl3pPr marL="0" marR="0" indent="91440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3pPr>
      <a:lvl4pPr marL="0" marR="0" indent="137160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4pPr>
      <a:lvl5pPr marL="0" marR="0" indent="182880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5pPr>
      <a:lvl6pPr marL="0" marR="0" indent="228600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6pPr>
      <a:lvl7pPr marL="0" marR="0" indent="274320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7pPr>
      <a:lvl8pPr marL="0" marR="0" indent="320040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8pPr>
      <a:lvl9pPr marL="0" marR="0" indent="3657600" algn="l" defTabSz="914400" rtl="0" latinLnBrk="0">
        <a:lnSpc>
          <a:spcPct val="100000"/>
        </a:lnSpc>
        <a:spcBef>
          <a:spcPts val="0"/>
        </a:spcBef>
        <a:spcAft>
          <a:spcPts val="0"/>
        </a:spcAft>
        <a:buClrTx/>
        <a:buSzTx/>
        <a:buFontTx/>
        <a:buNone/>
        <a:defRPr sz="1600" b="1" i="0" u="none" strike="noStrike" cap="none" spc="0" baseline="0">
          <a:ln>
            <a:noFill/>
          </a:ln>
          <a:solidFill>
            <a:schemeClr val="tx1"/>
          </a:solidFill>
          <a:uFillTx/>
          <a:latin typeface="+mn-lt"/>
          <a:ea typeface="+mn-ea"/>
          <a:cs typeface="+mn-cs"/>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75.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image" Target="../media/image21.svg"/><Relationship Id="rId16" Type="http://schemas.openxmlformats.org/officeDocument/2006/relationships/notesSlide" Target="../notesSlides/notesSlide70.xml"/><Relationship Id="rId15" Type="http://schemas.openxmlformats.org/officeDocument/2006/relationships/slideLayout" Target="../slideLayouts/slideLayout1.xml"/><Relationship Id="rId14" Type="http://schemas.openxmlformats.org/officeDocument/2006/relationships/image" Target="../media/image33.svg"/><Relationship Id="rId13" Type="http://schemas.openxmlformats.org/officeDocument/2006/relationships/image" Target="../media/image32.png"/><Relationship Id="rId12" Type="http://schemas.openxmlformats.org/officeDocument/2006/relationships/image" Target="../media/image31.svg"/><Relationship Id="rId11" Type="http://schemas.openxmlformats.org/officeDocument/2006/relationships/image" Target="../media/image30.png"/><Relationship Id="rId10" Type="http://schemas.openxmlformats.org/officeDocument/2006/relationships/image" Target="../media/image29.svg"/><Relationship Id="rId1" Type="http://schemas.openxmlformats.org/officeDocument/2006/relationships/image" Target="../media/image20.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xml"/><Relationship Id="rId1" Type="http://schemas.openxmlformats.org/officeDocument/2006/relationships/image" Target="../media/image40.png"/></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1.xml"/><Relationship Id="rId2" Type="http://schemas.openxmlformats.org/officeDocument/2006/relationships/image" Target="../media/image42.png"/><Relationship Id="rId1" Type="http://schemas.openxmlformats.org/officeDocument/2006/relationships/image" Target="../media/image41.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xml"/><Relationship Id="rId1" Type="http://schemas.openxmlformats.org/officeDocument/2006/relationships/image" Target="../media/image43.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5" Type="http://schemas.openxmlformats.org/officeDocument/2006/relationships/notesSlide" Target="../notesSlides/notesSlide84.xml"/><Relationship Id="rId4" Type="http://schemas.openxmlformats.org/officeDocument/2006/relationships/slideLayout" Target="../slideLayouts/slideLayout1.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xml"/><Relationship Id="rId1" Type="http://schemas.openxmlformats.org/officeDocument/2006/relationships/image" Target="../media/image47.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xml"/><Relationship Id="rId1" Type="http://schemas.openxmlformats.org/officeDocument/2006/relationships/image" Target="../media/image48.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xml"/><Relationship Id="rId1" Type="http://schemas.openxmlformats.org/officeDocument/2006/relationships/image" Target="../media/image49.jpeg"/></Relationships>
</file>

<file path=ppt/slides/_rels/slide96.xml.rels><?xml version="1.0" encoding="UTF-8" standalone="yes"?>
<Relationships xmlns="http://schemas.openxmlformats.org/package/2006/relationships"><Relationship Id="rId5" Type="http://schemas.openxmlformats.org/officeDocument/2006/relationships/notesSlide" Target="../notesSlides/notesSlide91.xml"/><Relationship Id="rId4" Type="http://schemas.openxmlformats.org/officeDocument/2006/relationships/slideLayout" Target="../slideLayouts/slideLayout1.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xml"/><Relationship Id="rId1" Type="http://schemas.openxmlformats.org/officeDocument/2006/relationships/image" Target="../media/image54.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1.xml"/><Relationship Id="rId2" Type="http://schemas.openxmlformats.org/officeDocument/2006/relationships/image" Target="../media/image56.png"/><Relationship Id="rId1" Type="http://schemas.openxmlformats.org/officeDocument/2006/relationships/image" Target="../media/image55.png"/></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1.xml"/><Relationship Id="rId2" Type="http://schemas.openxmlformats.org/officeDocument/2006/relationships/image" Target="../media/image58.png"/><Relationship Id="rId1" Type="http://schemas.openxmlformats.org/officeDocument/2006/relationships/image" Target="../media/image57.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1.xml"/><Relationship Id="rId2" Type="http://schemas.openxmlformats.org/officeDocument/2006/relationships/image" Target="../media/image60.png"/><Relationship Id="rId1" Type="http://schemas.openxmlformats.org/officeDocument/2006/relationships/image" Target="../media/image59.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xml"/><Relationship Id="rId1" Type="http://schemas.openxmlformats.org/officeDocument/2006/relationships/image" Target="../media/image61.pn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1.xml"/><Relationship Id="rId2" Type="http://schemas.openxmlformats.org/officeDocument/2006/relationships/image" Target="../media/image63.png"/><Relationship Id="rId1" Type="http://schemas.openxmlformats.org/officeDocument/2006/relationships/image" Target="../media/image62.png"/></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107.xml"/><Relationship Id="rId3" Type="http://schemas.openxmlformats.org/officeDocument/2006/relationships/slideLayout" Target="../slideLayouts/slideLayout1.xml"/><Relationship Id="rId2" Type="http://schemas.openxmlformats.org/officeDocument/2006/relationships/image" Target="../media/image63.png"/><Relationship Id="rId1" Type="http://schemas.openxmlformats.org/officeDocument/2006/relationships/image" Target="../media/image62.png"/></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108.xml"/><Relationship Id="rId3" Type="http://schemas.openxmlformats.org/officeDocument/2006/relationships/slideLayout" Target="../slideLayouts/slideLayout1.xml"/><Relationship Id="rId2" Type="http://schemas.openxmlformats.org/officeDocument/2006/relationships/image" Target="../media/image64.png"/><Relationship Id="rId1" Type="http://schemas.openxmlformats.org/officeDocument/2006/relationships/image" Target="../media/image63.png"/></Relationships>
</file>

<file path=ppt/slides/_rels/slide114.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1.xml"/><Relationship Id="rId2" Type="http://schemas.openxmlformats.org/officeDocument/2006/relationships/image" Target="../media/image66.png"/><Relationship Id="rId1" Type="http://schemas.openxmlformats.org/officeDocument/2006/relationships/image" Target="../media/image65.png"/></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5" Type="http://schemas.openxmlformats.org/officeDocument/2006/relationships/notesSlide" Target="../notesSlides/notesSlide113.xml"/><Relationship Id="rId4" Type="http://schemas.openxmlformats.org/officeDocument/2006/relationships/slideLayout" Target="../slideLayouts/slideLayout1.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1.xml"/><Relationship Id="rId1" Type="http://schemas.openxmlformats.org/officeDocument/2006/relationships/image" Target="../media/image70.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1.xml"/><Relationship Id="rId1" Type="http://schemas.openxmlformats.org/officeDocument/2006/relationships/image" Target="../media/image70.png"/></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16.xml"/><Relationship Id="rId3" Type="http://schemas.openxmlformats.org/officeDocument/2006/relationships/slideLayout" Target="../slideLayouts/slideLayout1.xml"/><Relationship Id="rId2" Type="http://schemas.openxmlformats.org/officeDocument/2006/relationships/image" Target="../media/image72.svg"/><Relationship Id="rId1" Type="http://schemas.openxmlformats.org/officeDocument/2006/relationships/image" Target="../media/image71.png"/></Relationships>
</file>

<file path=ppt/slides/_rels/slide122.xml.rels><?xml version="1.0" encoding="UTF-8" standalone="yes"?>
<Relationships xmlns="http://schemas.openxmlformats.org/package/2006/relationships"><Relationship Id="rId5" Type="http://schemas.openxmlformats.org/officeDocument/2006/relationships/notesSlide" Target="../notesSlides/notesSlide117.xml"/><Relationship Id="rId4" Type="http://schemas.openxmlformats.org/officeDocument/2006/relationships/slideLayout" Target="../slideLayouts/slideLayout1.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1.xml"/><Relationship Id="rId1" Type="http://schemas.openxmlformats.org/officeDocument/2006/relationships/image" Target="../media/image76.png"/></Relationships>
</file>

<file path=ppt/slides/_rels/slide124.xml.rels><?xml version="1.0" encoding="UTF-8" standalone="yes"?>
<Relationships xmlns="http://schemas.openxmlformats.org/package/2006/relationships"><Relationship Id="rId4" Type="http://schemas.openxmlformats.org/officeDocument/2006/relationships/notesSlide" Target="../notesSlides/notesSlide119.xml"/><Relationship Id="rId3" Type="http://schemas.openxmlformats.org/officeDocument/2006/relationships/slideLayout" Target="../slideLayouts/slideLayout1.xml"/><Relationship Id="rId2" Type="http://schemas.openxmlformats.org/officeDocument/2006/relationships/image" Target="../media/image78.png"/><Relationship Id="rId1" Type="http://schemas.openxmlformats.org/officeDocument/2006/relationships/image" Target="../media/image77.png"/></Relationships>
</file>

<file path=ppt/slides/_rels/slide125.xml.rels><?xml version="1.0" encoding="UTF-8" standalone="yes"?>
<Relationships xmlns="http://schemas.openxmlformats.org/package/2006/relationships"><Relationship Id="rId4" Type="http://schemas.openxmlformats.org/officeDocument/2006/relationships/notesSlide" Target="../notesSlides/notesSlide120.xml"/><Relationship Id="rId3" Type="http://schemas.openxmlformats.org/officeDocument/2006/relationships/slideLayout" Target="../slideLayouts/slideLayout1.xml"/><Relationship Id="rId2" Type="http://schemas.openxmlformats.org/officeDocument/2006/relationships/image" Target="../media/image80.png"/><Relationship Id="rId1" Type="http://schemas.openxmlformats.org/officeDocument/2006/relationships/image" Target="../media/image79.png"/></Relationships>
</file>

<file path=ppt/slides/_rels/slide126.xml.rels><?xml version="1.0" encoding="UTF-8" standalone="yes"?>
<Relationships xmlns="http://schemas.openxmlformats.org/package/2006/relationships"><Relationship Id="rId5" Type="http://schemas.openxmlformats.org/officeDocument/2006/relationships/notesSlide" Target="../notesSlides/notesSlide121.xml"/><Relationship Id="rId4" Type="http://schemas.openxmlformats.org/officeDocument/2006/relationships/slideLayout" Target="../slideLayouts/slideLayout1.xml"/><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image" Target="../media/image81.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6" Type="http://schemas.openxmlformats.org/officeDocument/2006/relationships/notesSlide" Target="../notesSlides/notesSlide124.xml"/><Relationship Id="rId5" Type="http://schemas.openxmlformats.org/officeDocument/2006/relationships/slideLayout" Target="../slideLayouts/slideLayout1.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130.xml.rels><?xml version="1.0" encoding="UTF-8" standalone="yes"?>
<Relationships xmlns="http://schemas.openxmlformats.org/package/2006/relationships"><Relationship Id="rId4" Type="http://schemas.openxmlformats.org/officeDocument/2006/relationships/notesSlide" Target="../notesSlides/notesSlide125.xml"/><Relationship Id="rId3" Type="http://schemas.openxmlformats.org/officeDocument/2006/relationships/slideLayout" Target="../slideLayouts/slideLayout1.xml"/><Relationship Id="rId2" Type="http://schemas.openxmlformats.org/officeDocument/2006/relationships/image" Target="../media/image89.png"/><Relationship Id="rId1" Type="http://schemas.openxmlformats.org/officeDocument/2006/relationships/image" Target="../media/image88.png"/></Relationships>
</file>

<file path=ppt/slides/_rels/slide131.xml.rels><?xml version="1.0" encoding="UTF-8" standalone="yes"?>
<Relationships xmlns="http://schemas.openxmlformats.org/package/2006/relationships"><Relationship Id="rId4" Type="http://schemas.openxmlformats.org/officeDocument/2006/relationships/notesSlide" Target="../notesSlides/notesSlide126.xml"/><Relationship Id="rId3" Type="http://schemas.openxmlformats.org/officeDocument/2006/relationships/slideLayout" Target="../slideLayouts/slideLayout1.xml"/><Relationship Id="rId2" Type="http://schemas.openxmlformats.org/officeDocument/2006/relationships/image" Target="../media/image91.png"/><Relationship Id="rId1" Type="http://schemas.openxmlformats.org/officeDocument/2006/relationships/image" Target="../media/image90.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135.xml.rels><?xml version="1.0" encoding="UTF-8" standalone="yes"?>
<Relationships xmlns="http://schemas.openxmlformats.org/package/2006/relationships"><Relationship Id="rId4" Type="http://schemas.openxmlformats.org/officeDocument/2006/relationships/notesSlide" Target="../notesSlides/notesSlide130.xml"/><Relationship Id="rId3" Type="http://schemas.openxmlformats.org/officeDocument/2006/relationships/slideLayout" Target="../slideLayouts/slideLayout1.xml"/><Relationship Id="rId2" Type="http://schemas.openxmlformats.org/officeDocument/2006/relationships/image" Target="../media/image93.png"/><Relationship Id="rId1" Type="http://schemas.openxmlformats.org/officeDocument/2006/relationships/image" Target="../media/image92.pn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TextBox 7"/>
          <p:cNvSpPr>
            <a:spLocks noGrp="1"/>
          </p:cNvSpPr>
          <p:nvPr>
            <p:ph type="sldNum" sz="quarter" idx="2"/>
          </p:nvPr>
        </p:nvSpPr>
        <p:spPr>
          <a:xfrm>
            <a:off x="8700516" y="6550421"/>
            <a:ext cx="217151" cy="313393"/>
          </a:xfrm>
          <a:prstGeom prst="rect">
            <a:avLst/>
          </a:prstGeom>
        </p:spPr>
        <p:txBody>
          <a:bodyPr/>
          <a:lstStyle/>
          <a:p>
            <a:fld id="{86CB4B4D-7CA3-9044-876B-883B54F8677D}" type="slidenum">
              <a:rPr/>
            </a:fld>
            <a:endParaRPr/>
          </a:p>
        </p:txBody>
      </p:sp>
      <p:pic>
        <p:nvPicPr>
          <p:cNvPr id="605" name="Picture 9" descr="Picture 9"/>
          <p:cNvPicPr>
            <a:picLocks noChangeAspect="1"/>
          </p:cNvPicPr>
          <p:nvPr/>
        </p:nvPicPr>
        <p:blipFill>
          <a:blip r:embed="rId1" cstate="print"/>
          <a:stretch>
            <a:fillRect/>
          </a:stretch>
        </p:blipFill>
        <p:spPr>
          <a:xfrm>
            <a:off x="928687" y="1028700"/>
            <a:ext cx="7048501" cy="5114925"/>
          </a:xfrm>
          <a:prstGeom prst="rect">
            <a:avLst/>
          </a:prstGeom>
          <a:ln w="12700">
            <a:miter lim="400000"/>
            <a:headEnd/>
            <a:tailEnd/>
          </a:ln>
        </p:spPr>
      </p:pic>
      <p:sp>
        <p:nvSpPr>
          <p:cNvPr id="606" name="标题 1"/>
          <p:cNvSpPr/>
          <p:nvPr/>
        </p:nvSpPr>
        <p:spPr>
          <a:xfrm>
            <a:off x="686245" y="1912620"/>
            <a:ext cx="8350251" cy="645160"/>
          </a:xfrm>
          <a:prstGeom prst="rect">
            <a:avLst/>
          </a:prstGeom>
          <a:ln w="12700">
            <a:miter lim="400000"/>
          </a:ln>
        </p:spPr>
        <p:txBody>
          <a:bodyPr lIns="45719" rIns="45719" anchor="ctr">
            <a:spAutoFit/>
          </a:bodyPr>
          <a:lstStyle>
            <a:lvl1pPr marL="457200" indent="-457200">
              <a:defRPr sz="3600" b="1">
                <a:solidFill>
                  <a:srgbClr val="C00000"/>
                </a:solidFill>
                <a:latin typeface="Arial" panose="020B0604020202020204"/>
                <a:ea typeface="Arial" panose="020B0604020202020204"/>
                <a:cs typeface="Arial" panose="020B0604020202020204"/>
                <a:sym typeface="Arial" panose="020B0604020202020204"/>
              </a:defRPr>
            </a:lvl1pPr>
          </a:lstStyle>
          <a:p>
            <a:r>
              <a:rPr lang="zh-CN" altLang="en-US" dirty="0">
                <a:latin typeface="黑体" panose="02010609060101010101" charset="-122"/>
                <a:ea typeface="黑体" panose="02010609060101010101" charset="-122"/>
                <a:cs typeface="黑体" panose="02010609060101010101" charset="-122"/>
                <a:sym typeface="+mn-ea"/>
              </a:rPr>
              <a:t>第五章 多模态数据分析实践</a:t>
            </a:r>
            <a:endParaRPr lang="zh-CN" altLang="en-US" dirty="0">
              <a:latin typeface="黑体" panose="02010609060101010101" charset="-122"/>
              <a:ea typeface="黑体" panose="02010609060101010101" charset="-122"/>
              <a:cs typeface="黑体" panose="02010609060101010101" charset="-122"/>
            </a:endParaRPr>
          </a:p>
        </p:txBody>
      </p:sp>
      <p:sp>
        <p:nvSpPr>
          <p:cNvPr id="607" name="副标题 2"/>
          <p:cNvSpPr/>
          <p:nvPr/>
        </p:nvSpPr>
        <p:spPr>
          <a:xfrm>
            <a:off x="647699" y="3741513"/>
            <a:ext cx="8281990" cy="1850390"/>
          </a:xfrm>
          <a:prstGeom prst="rect">
            <a:avLst/>
          </a:prstGeom>
          <a:ln w="12700">
            <a:miter lim="400000"/>
          </a:ln>
        </p:spPr>
        <p:txBody>
          <a:bodyPr lIns="45719" rIns="45719">
            <a:spAutoFit/>
          </a:bodyPr>
          <a:lstStyle/>
          <a:p>
            <a:pPr>
              <a:spcBef>
                <a:spcPts val="700"/>
              </a:spcBef>
              <a:defRPr sz="3000" b="1">
                <a:solidFill>
                  <a:srgbClr val="0000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dirty="0"/>
              <a:t>王昌栋</a:t>
            </a:r>
            <a:endParaRPr lang="zh-CN" altLang="en-US" dirty="0"/>
          </a:p>
          <a:p>
            <a:pPr>
              <a:spcBef>
                <a:spcPts val="600"/>
              </a:spcBef>
              <a:defRPr sz="600" b="1">
                <a:solidFill>
                  <a:srgbClr val="0000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lang="zh-CN" altLang="en-US" dirty="0"/>
          </a:p>
          <a:p>
            <a:pPr>
              <a:spcBef>
                <a:spcPts val="400"/>
              </a:spcBef>
              <a:defRPr sz="2000" b="1">
                <a:solidFill>
                  <a:srgbClr val="00206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en-US" altLang="zh-CN" sz="1800" b="0" dirty="0">
                <a:latin typeface="Arial Unicode MS" panose="020B0604020202020204" charset="-122"/>
                <a:ea typeface="Arial Unicode MS" panose="020B0604020202020204" charset="-122"/>
                <a:cs typeface="Arial Unicode MS" panose="020B0604020202020204" charset="-122"/>
                <a:sym typeface="Arial Unicode MS" panose="020B0604020202020204" charset="-122"/>
              </a:rPr>
              <a:t>https://cse.sysu.edu.cn/teacher/WangChangdong</a:t>
            </a:r>
            <a:endParaRPr lang="en-US" altLang="zh-CN" sz="2800" b="0" dirty="0">
              <a:latin typeface="Arial Unicode MS" panose="020B0604020202020204" charset="-122"/>
              <a:ea typeface="Arial Unicode MS" panose="020B0604020202020204" charset="-122"/>
              <a:cs typeface="Arial Unicode MS" panose="020B0604020202020204" charset="-122"/>
              <a:sym typeface="Arial Unicode MS" panose="020B0604020202020204" charset="-122"/>
            </a:endParaRPr>
          </a:p>
          <a:p>
            <a:pPr>
              <a:spcBef>
                <a:spcPts val="600"/>
              </a:spcBef>
              <a:defRPr sz="1600" b="1">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dirty="0"/>
          </a:p>
          <a:p>
            <a:pPr>
              <a:spcBef>
                <a:spcPts val="600"/>
              </a:spcBef>
              <a:defRPr sz="2600" b="1">
                <a:solidFill>
                  <a:srgbClr val="224B5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dirty="0"/>
              <a:t>SUN YAT-SEN University </a:t>
            </a:r>
            <a:endParaRPr sz="2800" b="0" dirty="0">
              <a:latin typeface="Arial Unicode MS" panose="020B0604020202020204" charset="-122"/>
              <a:ea typeface="Arial Unicode MS" panose="020B0604020202020204" charset="-122"/>
              <a:cs typeface="Arial Unicode MS" panose="020B0604020202020204" charset="-122"/>
              <a:sym typeface="Arial Unicode MS" panose="020B0604020202020204" charset="-122"/>
            </a:endParaRPr>
          </a:p>
        </p:txBody>
      </p:sp>
      <p:sp>
        <p:nvSpPr>
          <p:cNvPr id="610" name="Rectangle 6"/>
          <p:cNvSpPr/>
          <p:nvPr/>
        </p:nvSpPr>
        <p:spPr>
          <a:xfrm>
            <a:off x="5665899" y="4682796"/>
            <a:ext cx="2983259" cy="645160"/>
          </a:xfrm>
          <a:prstGeom prst="rect">
            <a:avLst/>
          </a:prstGeom>
          <a:ln w="12700">
            <a:miter lim="400000"/>
          </a:ln>
        </p:spPr>
        <p:txBody>
          <a:bodyPr wrap="square" lIns="45719" rIns="45719">
            <a:spAutoFit/>
          </a:bodyPr>
          <a:lstStyle>
            <a:lvl1pPr algn="ctr">
              <a:defRPr>
                <a:solidFill>
                  <a:srgbClr val="C00000"/>
                </a:solidFill>
                <a:latin typeface="黑体" panose="02010609060101010101" charset="-122"/>
                <a:ea typeface="黑体" panose="02010609060101010101" charset="-122"/>
                <a:cs typeface="黑体" panose="02010609060101010101" charset="-122"/>
                <a:sym typeface="黑体" panose="02010609060101010101" charset="-122"/>
              </a:defRPr>
            </a:lvl1pPr>
          </a:lstStyle>
          <a:p>
            <a:r>
              <a:rPr lang="zh-CN" altLang="en-US" b="1" dirty="0"/>
              <a:t>中山大学</a:t>
            </a:r>
            <a:endParaRPr lang="en-US" altLang="zh-CN" b="1" dirty="0"/>
          </a:p>
          <a:p>
            <a:r>
              <a:rPr lang="zh-CN" altLang="en-US" b="1" dirty="0"/>
              <a:t>计算机学院</a:t>
            </a:r>
            <a:endParaRPr b="1" dirty="0"/>
          </a:p>
        </p:txBody>
      </p:sp>
      <p:sp>
        <p:nvSpPr>
          <p:cNvPr id="3" name="人工神经网络"/>
          <p:cNvSpPr txBox="1"/>
          <p:nvPr/>
        </p:nvSpPr>
        <p:spPr>
          <a:xfrm>
            <a:off x="567088" y="1028700"/>
            <a:ext cx="7539953" cy="536539"/>
          </a:xfrm>
          <a:prstGeom prst="rect">
            <a:avLst/>
          </a:prstGeom>
        </p:spPr>
        <p:txBody>
          <a:bodyPr/>
          <a:lstStyle>
            <a:lvl1pPr marL="0" marR="0" indent="0" algn="l" defTabSz="914400" rtl="0" latinLnBrk="0">
              <a:lnSpc>
                <a:spcPct val="100000"/>
              </a:lnSpc>
              <a:spcBef>
                <a:spcPts val="0"/>
              </a:spcBef>
              <a:spcAft>
                <a:spcPts val="0"/>
              </a:spcAft>
              <a:buClrTx/>
              <a:buSzTx/>
              <a:buFontTx/>
              <a:buNone/>
              <a:defRPr sz="3200" b="1" i="0" u="none" strike="noStrike" cap="none" spc="0" baseline="0">
                <a:ln>
                  <a:noFill/>
                </a:ln>
                <a:solidFill>
                  <a:srgbClr val="C00000"/>
                </a:solidFill>
                <a:uFillTx/>
                <a:latin typeface="黑体" panose="02010609060101010101" charset="-122"/>
                <a:ea typeface="黑体" panose="02010609060101010101" charset="-122"/>
                <a:cs typeface="黑体" panose="02010609060101010101" charset="-122"/>
                <a:sym typeface="黑体" panose="02010609060101010101" charset="-122"/>
              </a:defRPr>
            </a:lvl1pPr>
            <a:lvl2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2pPr>
            <a:lvl3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3pPr>
            <a:lvl4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4pPr>
            <a:lvl5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5pPr>
            <a:lvl6pPr marL="0" marR="0" indent="4572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6pPr>
            <a:lvl7pPr marL="0" marR="0" indent="9144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7pPr>
            <a:lvl8pPr marL="0" marR="0" indent="13716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8pPr>
            <a:lvl9pPr marL="0" marR="0" indent="18288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9pPr>
          </a:lstStyle>
          <a:p>
            <a:pPr hangingPunct="1"/>
            <a:r>
              <a:rPr lang="zh-CN" altLang="en-US" sz="3600" dirty="0">
                <a:solidFill>
                  <a:srgbClr val="0070C0"/>
                </a:solidFill>
              </a:rPr>
              <a:t>数据科学与工程实战</a:t>
            </a:r>
            <a:endParaRPr lang="zh-CN" altLang="en-US" sz="3600" dirty="0">
              <a:solidFill>
                <a:srgbClr val="0070C0"/>
              </a:solidFill>
            </a:endParaRPr>
          </a:p>
        </p:txBody>
      </p:sp>
      <p:sp>
        <p:nvSpPr>
          <p:cNvPr id="2" name="人工神经网络"/>
          <p:cNvSpPr txBox="1"/>
          <p:nvPr/>
        </p:nvSpPr>
        <p:spPr>
          <a:xfrm>
            <a:off x="528501" y="6084187"/>
            <a:ext cx="7931931" cy="536539"/>
          </a:xfrm>
          <a:prstGeom prst="rect">
            <a:avLst/>
          </a:prstGeom>
          <a:solidFill>
            <a:schemeClr val="tx2">
              <a:lumMod val="20000"/>
              <a:lumOff val="80000"/>
            </a:schemeClr>
          </a:solidFill>
        </p:spPr>
        <p:txBody>
          <a:bodyPr/>
          <a:lstStyle>
            <a:lvl1pPr marL="0" marR="0" indent="0" algn="l" defTabSz="914400" rtl="0" latinLnBrk="0">
              <a:lnSpc>
                <a:spcPct val="100000"/>
              </a:lnSpc>
              <a:spcBef>
                <a:spcPts val="0"/>
              </a:spcBef>
              <a:spcAft>
                <a:spcPts val="0"/>
              </a:spcAft>
              <a:buClrTx/>
              <a:buSzTx/>
              <a:buFontTx/>
              <a:buNone/>
              <a:defRPr sz="3200" b="1" i="0" u="none" strike="noStrike" cap="none" spc="0" baseline="0">
                <a:ln>
                  <a:noFill/>
                </a:ln>
                <a:solidFill>
                  <a:srgbClr val="C00000"/>
                </a:solidFill>
                <a:uFillTx/>
                <a:latin typeface="黑体" panose="02010609060101010101" charset="-122"/>
                <a:ea typeface="黑体" panose="02010609060101010101" charset="-122"/>
                <a:cs typeface="黑体" panose="02010609060101010101" charset="-122"/>
                <a:sym typeface="黑体" panose="02010609060101010101" charset="-122"/>
              </a:defRPr>
            </a:lvl1pPr>
            <a:lvl2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2pPr>
            <a:lvl3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3pPr>
            <a:lvl4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4pPr>
            <a:lvl5pPr marL="0" marR="0" indent="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5pPr>
            <a:lvl6pPr marL="0" marR="0" indent="4572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6pPr>
            <a:lvl7pPr marL="0" marR="0" indent="9144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7pPr>
            <a:lvl8pPr marL="0" marR="0" indent="13716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8pPr>
            <a:lvl9pPr marL="0" marR="0" indent="1828800" algn="l" defTabSz="914400" rtl="0" latinLnBrk="0">
              <a:lnSpc>
                <a:spcPct val="100000"/>
              </a:lnSpc>
              <a:spcBef>
                <a:spcPts val="0"/>
              </a:spcBef>
              <a:spcAft>
                <a:spcPts val="0"/>
              </a:spcAft>
              <a:buClrTx/>
              <a:buSzTx/>
              <a:buFontTx/>
              <a:buNone/>
              <a:defRPr sz="3200" b="0" i="0" u="none" strike="noStrike" cap="none" spc="0" baseline="0">
                <a:ln>
                  <a:noFill/>
                </a:ln>
                <a:solidFill>
                  <a:srgbClr val="002060"/>
                </a:solidFill>
                <a:uFillTx/>
                <a:latin typeface="黑体" panose="02010609060101010101" charset="-122"/>
                <a:ea typeface="黑体" panose="02010609060101010101" charset="-122"/>
                <a:cs typeface="黑体" panose="02010609060101010101" charset="-122"/>
                <a:sym typeface="黑体" panose="02010609060101010101" charset="-122"/>
              </a:defRPr>
            </a:lvl9pPr>
          </a:lstStyle>
          <a:p>
            <a:pPr hangingPunct="1"/>
            <a:r>
              <a:rPr lang="zh-CN" altLang="en-US" sz="1600" dirty="0">
                <a:solidFill>
                  <a:schemeClr val="bg2"/>
                </a:solidFill>
              </a:rPr>
              <a:t>声明：该</a:t>
            </a:r>
            <a:r>
              <a:rPr lang="en-US" altLang="zh-CN" sz="1600" dirty="0">
                <a:solidFill>
                  <a:schemeClr val="bg2"/>
                </a:solidFill>
              </a:rPr>
              <a:t>PPT</a:t>
            </a:r>
            <a:r>
              <a:rPr lang="zh-CN" altLang="en-US" sz="1600" dirty="0">
                <a:solidFill>
                  <a:schemeClr val="bg2"/>
                </a:solidFill>
              </a:rPr>
              <a:t>只供非商业使用，也不可视为任何出版物。由于历史原因，许多图片尚没有标注出处，如果你知道图片的出处，欢迎告诉我们</a:t>
            </a:r>
            <a:r>
              <a:rPr lang="en-US" altLang="zh-CN" sz="1600" dirty="0">
                <a:solidFill>
                  <a:schemeClr val="bg2"/>
                </a:solidFill>
              </a:rPr>
              <a:t> </a:t>
            </a:r>
            <a:r>
              <a:rPr lang="en-US" altLang="zh-CN" sz="1600" dirty="0">
                <a:solidFill>
                  <a:schemeClr val="bg2"/>
                </a:solidFill>
              </a:rPr>
              <a:t>wangchd3@mail.sysu.edu.cn.</a:t>
            </a:r>
            <a:endParaRPr lang="zh-CN" altLang="en-US" sz="1600" dirty="0">
              <a:solidFill>
                <a:schemeClr val="bg2"/>
              </a:solidFill>
            </a:endParaRPr>
          </a:p>
        </p:txBody>
      </p:sp>
      <p:sp>
        <p:nvSpPr>
          <p:cNvPr id="5" name="AutoShape 4" descr="人工智能Log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7" name="图片 6"/>
          <p:cNvPicPr>
            <a:picLocks noChangeAspect="1"/>
          </p:cNvPicPr>
          <p:nvPr/>
        </p:nvPicPr>
        <p:blipFill>
          <a:blip r:embed="rId2"/>
          <a:stretch>
            <a:fillRect/>
          </a:stretch>
        </p:blipFill>
        <p:spPr>
          <a:xfrm>
            <a:off x="6228080" y="3100705"/>
            <a:ext cx="2028190" cy="977900"/>
          </a:xfrm>
          <a:prstGeom prst="rect">
            <a:avLst/>
          </a:prstGeom>
        </p:spPr>
      </p:pic>
      <p:sp>
        <p:nvSpPr>
          <p:cNvPr id="4" name="文本框 3"/>
          <p:cNvSpPr txBox="1"/>
          <p:nvPr/>
        </p:nvSpPr>
        <p:spPr>
          <a:xfrm>
            <a:off x="179705" y="260668"/>
            <a:ext cx="5080000" cy="337185"/>
          </a:xfrm>
          <a:prstGeom prst="rect">
            <a:avLst/>
          </a:prstGeom>
        </p:spPr>
        <p:txBody>
          <a:bodyPr>
            <a:spAutoFit/>
          </a:bodyPr>
          <a:p>
            <a:r>
              <a:rPr lang="zh-CN" altLang="en-US" sz="1600" b="1">
                <a:solidFill>
                  <a:srgbClr val="000000"/>
                </a:solidFill>
                <a:latin typeface="微软雅黑" panose="020B0503020204020204" charset="-122"/>
                <a:ea typeface="微软雅黑" panose="020B0503020204020204" charset="-122"/>
              </a:rPr>
              <a:t>普通高等教育数据科学与大数据技术系列教材</a:t>
            </a:r>
            <a:endParaRPr lang="zh-CN" altLang="en-US" sz="1600" b="1">
              <a:solidFill>
                <a:srgbClr val="000000"/>
              </a:solidFill>
              <a:latin typeface="微软雅黑" panose="020B0503020204020204" charset="-122"/>
              <a:ea typeface="微软雅黑" panose="020B0503020204020204" charset="-122"/>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750" y="1052830"/>
            <a:ext cx="8035925" cy="5380990"/>
          </a:xfrm>
        </p:spPr>
        <p:txBody>
          <a:bodyPr>
            <a:normAutofit/>
          </a:bodyPr>
          <a:lstStyle/>
          <a:p>
            <a:r>
              <a:rPr lang="zh-CN" altLang="en-US" sz="3200" dirty="0">
                <a:latin typeface="Arial" panose="020B0604020202020204" pitchFamily="34" charset="0"/>
              </a:rPr>
              <a:t>第一部分：多模态数据分析背景知识</a:t>
            </a:r>
            <a:br>
              <a:rPr lang="zh-CN" altLang="en-US" sz="3200" dirty="0">
                <a:latin typeface="Arial" panose="020B0604020202020204" pitchFamily="34" charset="0"/>
              </a:rPr>
            </a:br>
            <a:r>
              <a:rPr lang="zh-CN" altLang="en-US" sz="3200" dirty="0">
                <a:sym typeface="+mn-ea"/>
              </a:rPr>
              <a:t>第二部分：</a:t>
            </a:r>
            <a:r>
              <a:rPr lang="zh-CN" altLang="en-US" sz="3200" dirty="0">
                <a:latin typeface="Arial" panose="020B0604020202020204" pitchFamily="34" charset="0"/>
                <a:sym typeface="+mn-ea"/>
              </a:rPr>
              <a:t>医疗大数据分析背景知识</a:t>
            </a:r>
            <a:br>
              <a:rPr lang="zh-CN" altLang="en-US" sz="3200" dirty="0">
                <a:latin typeface="Arial" panose="020B0604020202020204" pitchFamily="34" charset="0"/>
                <a:sym typeface="+mn-ea"/>
              </a:rPr>
            </a:br>
            <a:r>
              <a:rPr lang="zh-CN" altLang="en-US" sz="3200" dirty="0">
                <a:latin typeface="Arial" panose="020B0604020202020204" pitchFamily="34" charset="0"/>
                <a:sym typeface="+mn-ea"/>
              </a:rPr>
              <a:t>第三部分：基于多模态数据融合的智慧医疗诊断模型开发</a:t>
            </a:r>
            <a:endParaRPr lang="zh-CN" altLang="en-US" sz="3200" dirty="0">
              <a:latin typeface="Arial" panose="020B0604020202020204" pitchFamily="34" charset="0"/>
              <a:sym typeface="+mn-ea"/>
            </a:endParaRPr>
          </a:p>
        </p:txBody>
      </p:sp>
      <p:sp>
        <p:nvSpPr>
          <p:cNvPr id="2" name="灯片编号占位符 1"/>
          <p:cNvSpPr>
            <a:spLocks noGrp="1"/>
          </p:cNvSpPr>
          <p:nvPr>
            <p:ph type="sldNum" sz="quarter" idx="2"/>
          </p:nvPr>
        </p:nvSpPr>
        <p:spPr/>
        <p:txBody>
          <a:bodyPr/>
          <a:lstStyle/>
          <a:p>
            <a:fld id="{86CB4B4D-7CA3-9044-876B-883B54F8677D}" type="slidenum">
              <a:rPr lang="en-US" altLang="zh-CN" smtClean="0"/>
            </a:fld>
            <a:endParaRPr lang="en-US" altLang="zh-CN"/>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sz="3700" dirty="0"/>
              <a:t>第一部分：</a:t>
            </a:r>
            <a:r>
              <a:rPr lang="zh-CN" altLang="en-US" sz="3700" dirty="0">
                <a:latin typeface="Arial" panose="020B0604020202020204" pitchFamily="34" charset="0"/>
                <a:sym typeface="+mn-ea"/>
              </a:rPr>
              <a:t>多模态数据分析背景知识</a:t>
            </a:r>
            <a:endParaRPr lang="zh-CN" altLang="en-US" sz="3700" dirty="0"/>
          </a:p>
        </p:txBody>
      </p:sp>
      <p:sp>
        <p:nvSpPr>
          <p:cNvPr id="6" name="Text Placeholder 5"/>
          <p:cNvSpPr>
            <a:spLocks noGrp="1"/>
          </p:cNvSpPr>
          <p:nvPr>
            <p:ph type="body" sz="quarter" idx="1"/>
          </p:nvPr>
        </p:nvSpPr>
        <p:spPr>
          <a:xfrm>
            <a:off x="1155065" y="3586480"/>
            <a:ext cx="7339330" cy="2799715"/>
          </a:xfrm>
        </p:spPr>
        <p:txBody>
          <a:bodyPr>
            <a:normAutofit/>
          </a:bodyPr>
          <a:lstStyle/>
          <a:p>
            <a:pPr algn="just"/>
            <a:r>
              <a:rPr lang="en-US" altLang="zh-CN" sz="3200" dirty="0"/>
              <a:t>1.1 </a:t>
            </a:r>
            <a:r>
              <a:rPr lang="zh-CN" altLang="en-US" sz="3200" dirty="0"/>
              <a:t>常见数据模态及其特征</a:t>
            </a:r>
            <a:endParaRPr lang="zh-CN" altLang="en-US" sz="3200" dirty="0">
              <a:highlight>
                <a:srgbClr val="FF0000"/>
              </a:highlight>
            </a:endParaRPr>
          </a:p>
          <a:p>
            <a:pPr algn="just"/>
            <a:endParaRPr lang="zh-CN" altLang="en-US" sz="3200" dirty="0"/>
          </a:p>
          <a:p>
            <a:pPr algn="just"/>
            <a:r>
              <a:rPr lang="en-US" altLang="zh-CN" sz="3200" dirty="0"/>
              <a:t>1.2 </a:t>
            </a:r>
            <a:r>
              <a:rPr lang="zh-CN" altLang="en-US" sz="3200" dirty="0"/>
              <a:t>不同模态数据分析方法异同</a:t>
            </a:r>
            <a:endParaRPr lang="zh-CN" altLang="en-US" sz="3200" dirty="0">
              <a:highlight>
                <a:srgbClr val="FF0000"/>
              </a:highlight>
            </a:endParaRPr>
          </a:p>
          <a:p>
            <a:pPr algn="just"/>
            <a:endParaRPr lang="zh-CN" altLang="en-US" sz="3200" dirty="0"/>
          </a:p>
        </p:txBody>
      </p:sp>
      <p:sp>
        <p:nvSpPr>
          <p:cNvPr id="2" name="灯片编号占位符 1"/>
          <p:cNvSpPr>
            <a:spLocks noGrp="1"/>
          </p:cNvSpPr>
          <p:nvPr>
            <p:ph type="sldNum" sz="quarter" idx="2"/>
          </p:nvPr>
        </p:nvSpPr>
        <p:spPr/>
        <p:txBody>
          <a:bodyPr/>
          <a:lstStyle/>
          <a:p>
            <a:fld id="{86CB4B4D-7CA3-9044-876B-883B54F8677D}" type="slidenum">
              <a:rPr lang="en-US" altLang="zh-CN" smtClean="0"/>
            </a:fld>
            <a:endParaRPr lang="en-US" altLang="zh-CN"/>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1.1 </a:t>
            </a:r>
            <a:r>
              <a:rPr lang="zh-CN" altLang="en-US" dirty="0">
                <a:sym typeface="+mn-ea"/>
              </a:rPr>
              <a:t>常见数据模态及其特征</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pPr>
              <a:lnSpc>
                <a:spcPct val="150000"/>
              </a:lnSpc>
            </a:pPr>
            <a:r>
              <a:rPr lang="zh-CN" altLang="en-US" sz="2400" dirty="0">
                <a:sym typeface="+mn-ea"/>
              </a:rPr>
              <a:t>（</a:t>
            </a:r>
            <a:r>
              <a:rPr lang="en-US" altLang="zh-CN" sz="2400" dirty="0">
                <a:sym typeface="+mn-ea"/>
              </a:rPr>
              <a:t>1</a:t>
            </a:r>
            <a:r>
              <a:rPr lang="zh-CN" altLang="en-US" sz="2400" dirty="0">
                <a:sym typeface="+mn-ea"/>
              </a:rPr>
              <a:t>）</a:t>
            </a:r>
            <a:r>
              <a:rPr lang="zh-CN" altLang="en-US" sz="2400" dirty="0"/>
              <a:t>文本</a:t>
            </a:r>
            <a:endParaRPr lang="zh-CN" altLang="en-US" sz="2400" dirty="0"/>
          </a:p>
          <a:p>
            <a:pPr>
              <a:lnSpc>
                <a:spcPct val="150000"/>
              </a:lnSpc>
            </a:pPr>
            <a:r>
              <a:rPr lang="zh-CN" altLang="en-US" sz="2400" dirty="0"/>
              <a:t>（</a:t>
            </a:r>
            <a:r>
              <a:rPr lang="en-US" altLang="zh-CN" sz="2400" dirty="0"/>
              <a:t>2</a:t>
            </a:r>
            <a:r>
              <a:rPr lang="zh-CN" altLang="en-US" sz="2400" dirty="0"/>
              <a:t>）图像</a:t>
            </a:r>
            <a:endParaRPr lang="zh-CN" altLang="en-US" sz="2400" dirty="0"/>
          </a:p>
          <a:p>
            <a:pPr>
              <a:lnSpc>
                <a:spcPct val="150000"/>
              </a:lnSpc>
            </a:pPr>
            <a:r>
              <a:rPr lang="zh-CN" altLang="en-US" sz="2400" dirty="0"/>
              <a:t>（</a:t>
            </a:r>
            <a:r>
              <a:rPr lang="en-US" altLang="zh-CN" sz="2400" dirty="0"/>
              <a:t>3</a:t>
            </a:r>
            <a:r>
              <a:rPr lang="zh-CN" altLang="en-US" sz="2400" dirty="0"/>
              <a:t>）音频</a:t>
            </a:r>
            <a:endParaRPr lang="zh-CN" altLang="en-US" sz="2400" dirty="0"/>
          </a:p>
          <a:p>
            <a:pPr>
              <a:lnSpc>
                <a:spcPct val="150000"/>
              </a:lnSpc>
            </a:pPr>
            <a:r>
              <a:rPr lang="zh-CN" altLang="en-US" sz="2400" dirty="0"/>
              <a:t>（</a:t>
            </a:r>
            <a:r>
              <a:rPr lang="en-US" altLang="zh-CN" sz="2400" dirty="0"/>
              <a:t>4</a:t>
            </a:r>
            <a:r>
              <a:rPr lang="zh-CN" altLang="en-US" sz="2400" dirty="0"/>
              <a:t>）视频</a:t>
            </a:r>
            <a:endParaRPr lang="zh-CN" altLang="en-US" sz="2400" dirty="0"/>
          </a:p>
          <a:p>
            <a:pPr>
              <a:lnSpc>
                <a:spcPct val="150000"/>
              </a:lnSpc>
            </a:pPr>
            <a:r>
              <a:rPr lang="zh-CN" altLang="en-US" sz="2400" dirty="0"/>
              <a:t>（</a:t>
            </a:r>
            <a:r>
              <a:rPr lang="en-US" altLang="zh-CN" sz="2400" dirty="0"/>
              <a:t>5</a:t>
            </a:r>
            <a:r>
              <a:rPr lang="zh-CN" altLang="en-US" sz="2400" dirty="0"/>
              <a:t>）传感器数据</a:t>
            </a:r>
            <a:endParaRPr lang="zh-CN" altLang="en-US" sz="2400"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a:t>
            </a:r>
            <a:r>
              <a:rPr lang="zh-CN" altLang="en-US" dirty="0">
                <a:sym typeface="+mn-ea"/>
              </a:rPr>
              <a:t>文本</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文本的基本定义和特征：</a:t>
            </a:r>
            <a:endParaRPr lang="zh-CN" altLang="en-US" sz="2400" dirty="0"/>
          </a:p>
          <a:p>
            <a:pPr marL="0" indent="0">
              <a:buNone/>
            </a:pPr>
            <a:endParaRPr lang="zh-CN" altLang="en-US" sz="2400" dirty="0"/>
          </a:p>
        </p:txBody>
      </p:sp>
      <p:sp>
        <p:nvSpPr>
          <p:cNvPr id="3" name="文本框 2"/>
          <p:cNvSpPr txBox="1"/>
          <p:nvPr/>
        </p:nvSpPr>
        <p:spPr>
          <a:xfrm>
            <a:off x="523240" y="1513840"/>
            <a:ext cx="8080375" cy="28600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结构：可以是结构化的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如数据库文本，</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结构化病历报告</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或非结构化的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如社交媒体帖子</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分析工具：自然语言处理</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(NLP)</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，涉及分词、情感分析、</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病历理解</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等技术。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特征：文本通常是非结构化的，需要通过分词、命名实体识别、情感分析、</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医学知识感知理解</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等技术来提取信息。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a:t>
            </a:r>
            <a:r>
              <a:rPr lang="zh-CN" altLang="en-US" dirty="0">
                <a:sym typeface="+mn-ea"/>
              </a:rPr>
              <a:t>图像</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图像的基本定义和特征</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513840"/>
            <a:ext cx="8080375" cy="28600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结构：由像素矩阵组成，可包含二维或三维数据、彩色或黑白图像，</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医学影像数据具有高清晰度等特点</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分析工具：计算机视觉，使用图像识别、物体检测、</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医学病灶分割</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等技术。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特征：图像通常需要进行特征提取以识别形状、颜色和纹理等视觉元素。</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3</a:t>
            </a:r>
            <a:r>
              <a:rPr lang="zh-CN" altLang="en-US" dirty="0">
                <a:sym typeface="+mn-ea"/>
              </a:rPr>
              <a:t>）</a:t>
            </a:r>
            <a:r>
              <a:rPr lang="zh-CN" altLang="en-US" dirty="0">
                <a:sym typeface="+mn-ea"/>
              </a:rPr>
              <a:t>音频</a:t>
            </a:r>
            <a:endParaRPr lang="zh-CN" altLang="en-US" dirty="0">
              <a:sym typeface="+mn-ea"/>
            </a:endParaRPr>
          </a:p>
        </p:txBody>
      </p:sp>
      <p:sp>
        <p:nvSpPr>
          <p:cNvPr id="5"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p>
            <a:r>
              <a:rPr lang="zh-CN" altLang="en-US" sz="2400" dirty="0">
                <a:sym typeface="+mn-ea"/>
              </a:rPr>
              <a:t>音频的基本定义和特征</a:t>
            </a:r>
            <a:r>
              <a:rPr lang="zh-CN" altLang="en-US" sz="2400" dirty="0">
                <a:sym typeface="+mn-ea"/>
              </a:rPr>
              <a:t>：</a:t>
            </a:r>
            <a:endParaRPr lang="zh-CN" altLang="en-US" sz="2400" dirty="0"/>
          </a:p>
          <a:p>
            <a:pPr marL="0" indent="0">
              <a:buNone/>
            </a:pPr>
            <a:endParaRPr lang="zh-CN" altLang="en-US" sz="2400" dirty="0"/>
          </a:p>
        </p:txBody>
      </p:sp>
      <p:sp>
        <p:nvSpPr>
          <p:cNvPr id="6" name="文本框 5"/>
          <p:cNvSpPr txBox="1"/>
          <p:nvPr/>
        </p:nvSpPr>
        <p:spPr>
          <a:xfrm>
            <a:off x="523240" y="1513840"/>
            <a:ext cx="8080375" cy="27057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结构：声波的时间序列，可转换为波形或频谱表示。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分析工具：信号处理方法，如语音识别、音频分类、</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医患对话识别</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特征：音频需要处理时间序列数据，常用的特征包括频率、节奏和音高。</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4</a:t>
            </a:r>
            <a:r>
              <a:rPr lang="zh-CN" altLang="en-US" dirty="0">
                <a:sym typeface="+mn-ea"/>
              </a:rPr>
              <a:t>）</a:t>
            </a:r>
            <a:r>
              <a:rPr lang="zh-CN" altLang="en-US" dirty="0">
                <a:sym typeface="+mn-ea"/>
              </a:rPr>
              <a:t>视频</a:t>
            </a:r>
            <a:endParaRPr lang="zh-CN" altLang="en-US" dirty="0">
              <a:sym typeface="+mn-ea"/>
            </a:endParaRPr>
          </a:p>
        </p:txBody>
      </p:sp>
      <p:sp>
        <p:nvSpPr>
          <p:cNvPr id="5"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p>
            <a:r>
              <a:rPr lang="zh-CN" altLang="en-US" sz="2400" dirty="0">
                <a:sym typeface="+mn-ea"/>
              </a:rPr>
              <a:t>视频的基本定义和特征</a:t>
            </a:r>
            <a:r>
              <a:rPr lang="zh-CN" altLang="en-US" sz="2400" dirty="0">
                <a:sym typeface="+mn-ea"/>
              </a:rPr>
              <a:t>：</a:t>
            </a:r>
            <a:endParaRPr lang="zh-CN" altLang="en-US" sz="2400" dirty="0"/>
          </a:p>
          <a:p>
            <a:pPr marL="0" indent="0">
              <a:buNone/>
            </a:pPr>
            <a:endParaRPr lang="zh-CN" altLang="en-US" sz="2400" dirty="0"/>
          </a:p>
        </p:txBody>
      </p:sp>
      <p:sp>
        <p:nvSpPr>
          <p:cNvPr id="6" name="文本框 5"/>
          <p:cNvSpPr txBox="1"/>
          <p:nvPr/>
        </p:nvSpPr>
        <p:spPr>
          <a:xfrm>
            <a:off x="523240" y="1513840"/>
            <a:ext cx="8080375" cy="27057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结构：图像帧的时间序列，结合视觉和动态信息，</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医学影像视频序列</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分析工具：视频处理技术，如动作识别、场景分析等。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特征：视频数据分析需要结合图像处理和时间序列分析，以识别动态场景和活动。</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5</a:t>
            </a:r>
            <a:r>
              <a:rPr lang="zh-CN" altLang="en-US" dirty="0">
                <a:sym typeface="+mn-ea"/>
              </a:rPr>
              <a:t>）传感器</a:t>
            </a:r>
            <a:r>
              <a:rPr lang="zh-CN" altLang="en-US" dirty="0">
                <a:sym typeface="+mn-ea"/>
              </a:rPr>
              <a:t>数据</a:t>
            </a:r>
            <a:endParaRPr lang="zh-CN" altLang="en-US" dirty="0">
              <a:sym typeface="+mn-ea"/>
            </a:endParaRPr>
          </a:p>
        </p:txBody>
      </p:sp>
      <p:sp>
        <p:nvSpPr>
          <p:cNvPr id="5"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p>
            <a:r>
              <a:rPr lang="zh-CN" altLang="en-US" sz="2400" dirty="0">
                <a:sym typeface="+mn-ea"/>
              </a:rPr>
              <a:t>传感器数据的基本定义和特征</a:t>
            </a:r>
            <a:r>
              <a:rPr lang="zh-CN" altLang="en-US" sz="2400" dirty="0">
                <a:sym typeface="+mn-ea"/>
              </a:rPr>
              <a:t>：</a:t>
            </a:r>
            <a:endParaRPr lang="zh-CN" altLang="en-US" sz="2400" dirty="0"/>
          </a:p>
          <a:p>
            <a:pPr marL="0" indent="0">
              <a:buNone/>
            </a:pPr>
            <a:endParaRPr lang="zh-CN" altLang="en-US" sz="2400" dirty="0"/>
          </a:p>
        </p:txBody>
      </p:sp>
      <p:sp>
        <p:nvSpPr>
          <p:cNvPr id="6" name="文本框 5"/>
          <p:cNvSpPr txBox="1"/>
          <p:nvPr/>
        </p:nvSpPr>
        <p:spPr>
          <a:xfrm>
            <a:off x="523240" y="1513840"/>
            <a:ext cx="8080375" cy="31680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结构：来自物理传感器的读数，如温度、湿度、压力等，</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医学中的患者体征</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如体温、血压等</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分析工具：数据挖掘技术，如时间序列分析、异常检测、</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医学体征表征学习</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特征：传感器数据通常是时间序列数据，可能需要滤波、正规化和特征提取。</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1.2 </a:t>
            </a:r>
            <a:r>
              <a:rPr lang="zh-CN" altLang="en-US" dirty="0">
                <a:sym typeface="+mn-ea"/>
              </a:rPr>
              <a:t>不同模态数据分析方法异同</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fontScale="90000" lnSpcReduction="10000"/>
          </a:bodyPr>
          <a:lstStyle/>
          <a:p>
            <a:pPr marL="0" indent="0">
              <a:buNone/>
            </a:pPr>
            <a:r>
              <a:rPr lang="zh-CN" altLang="en-US" sz="2400" dirty="0">
                <a:sym typeface="+mn-ea"/>
              </a:rPr>
              <a:t>不同模态数据在分析方法上也有</a:t>
            </a:r>
            <a:r>
              <a:rPr lang="zh-CN" altLang="en-US" sz="2400" dirty="0">
                <a:solidFill>
                  <a:srgbClr val="C00000"/>
                </a:solidFill>
                <a:sym typeface="+mn-ea"/>
              </a:rPr>
              <a:t>异同</a:t>
            </a:r>
            <a:r>
              <a:rPr lang="zh-CN" altLang="en-US" sz="2400" dirty="0">
                <a:sym typeface="+mn-ea"/>
              </a:rPr>
              <a:t>，主要体现在以下步骤：</a:t>
            </a:r>
            <a:endParaRPr lang="zh-CN" altLang="en-US" sz="2400" dirty="0">
              <a:sym typeface="+mn-ea"/>
            </a:endParaRPr>
          </a:p>
          <a:p>
            <a:pPr>
              <a:lnSpc>
                <a:spcPct val="150000"/>
              </a:lnSpc>
            </a:pPr>
            <a:r>
              <a:rPr lang="zh-CN" altLang="en-US" sz="2400" dirty="0">
                <a:sym typeface="+mn-ea"/>
              </a:rPr>
              <a:t>（</a:t>
            </a:r>
            <a:r>
              <a:rPr lang="en-US" altLang="zh-CN" sz="2400" dirty="0">
                <a:sym typeface="+mn-ea"/>
              </a:rPr>
              <a:t>1</a:t>
            </a:r>
            <a:r>
              <a:rPr lang="zh-CN" altLang="en-US" sz="2400" dirty="0">
                <a:sym typeface="+mn-ea"/>
              </a:rPr>
              <a:t>）</a:t>
            </a:r>
            <a:r>
              <a:rPr lang="zh-CN" altLang="en-US" sz="2400" dirty="0"/>
              <a:t>数据表达和预处理差异</a:t>
            </a:r>
            <a:endParaRPr lang="zh-CN" altLang="en-US" sz="2400" dirty="0"/>
          </a:p>
          <a:p>
            <a:pPr>
              <a:lnSpc>
                <a:spcPct val="150000"/>
              </a:lnSpc>
            </a:pPr>
            <a:r>
              <a:rPr lang="zh-CN" altLang="en-US" sz="2400" dirty="0"/>
              <a:t>（</a:t>
            </a:r>
            <a:r>
              <a:rPr lang="en-US" altLang="zh-CN" sz="2400" dirty="0"/>
              <a:t>2</a:t>
            </a:r>
            <a:r>
              <a:rPr lang="zh-CN" altLang="en-US" sz="2400" dirty="0"/>
              <a:t>）特征提取方法</a:t>
            </a:r>
            <a:endParaRPr lang="zh-CN" altLang="en-US" sz="2400" dirty="0"/>
          </a:p>
          <a:p>
            <a:pPr>
              <a:lnSpc>
                <a:spcPct val="150000"/>
              </a:lnSpc>
            </a:pPr>
            <a:r>
              <a:rPr lang="zh-CN" altLang="en-US" sz="2400" dirty="0"/>
              <a:t>（</a:t>
            </a:r>
            <a:r>
              <a:rPr lang="en-US" altLang="zh-CN" sz="2400" dirty="0"/>
              <a:t>3</a:t>
            </a:r>
            <a:r>
              <a:rPr lang="zh-CN" altLang="en-US" sz="2400" dirty="0"/>
              <a:t>）模型适配性</a:t>
            </a:r>
            <a:endParaRPr lang="zh-CN" altLang="en-US" sz="2400" dirty="0"/>
          </a:p>
          <a:p>
            <a:pPr>
              <a:lnSpc>
                <a:spcPct val="150000"/>
              </a:lnSpc>
            </a:pPr>
            <a:r>
              <a:rPr lang="zh-CN" altLang="en-US" sz="2400" dirty="0"/>
              <a:t>（</a:t>
            </a:r>
            <a:r>
              <a:rPr lang="en-US" altLang="zh-CN" sz="2400" dirty="0"/>
              <a:t>4</a:t>
            </a:r>
            <a:r>
              <a:rPr lang="zh-CN" altLang="en-US" sz="2400" dirty="0"/>
              <a:t>）融合技术</a:t>
            </a:r>
            <a:endParaRPr lang="zh-CN" altLang="en-US" sz="2400" dirty="0"/>
          </a:p>
          <a:p>
            <a:pPr>
              <a:lnSpc>
                <a:spcPct val="150000"/>
              </a:lnSpc>
            </a:pPr>
            <a:r>
              <a:rPr lang="zh-CN" altLang="en-US" sz="2400" dirty="0"/>
              <a:t>（</a:t>
            </a:r>
            <a:r>
              <a:rPr lang="en-US" altLang="zh-CN" sz="2400" dirty="0"/>
              <a:t>5</a:t>
            </a:r>
            <a:r>
              <a:rPr lang="zh-CN" altLang="en-US" sz="2400" dirty="0"/>
              <a:t>）语义理解</a:t>
            </a:r>
            <a:endParaRPr lang="zh-CN" altLang="en-US" sz="2400"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a:t>
            </a:r>
            <a:r>
              <a:rPr lang="zh-CN" altLang="en-US" dirty="0">
                <a:sym typeface="+mn-ea"/>
              </a:rPr>
              <a:t>数据表达和预处理差异</a:t>
            </a:r>
            <a:endParaRPr lang="zh-CN" altLang="en-US" dirty="0">
              <a:sym typeface="+mn-ea"/>
            </a:endParaRPr>
          </a:p>
        </p:txBody>
      </p:sp>
      <p:sp>
        <p:nvSpPr>
          <p:cNvPr id="3" name="文本框 2"/>
          <p:cNvSpPr txBox="1"/>
          <p:nvPr/>
        </p:nvSpPr>
        <p:spPr>
          <a:xfrm>
            <a:off x="523240" y="1513840"/>
            <a:ext cx="8080375" cy="1998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nSpc>
                <a:spcPct val="150000"/>
              </a:lnSpc>
              <a:buFont typeface="Arial" panose="020B0604020202020204" pitchFamily="34" charset="0"/>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每种模态数据需要</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不同的预处理技术</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来转换成适合分析的形式。</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a:lnSpc>
                <a:spcPct val="150000"/>
              </a:lnSpc>
              <a:buFont typeface="Arial" panose="020B0604020202020204" pitchFamily="34" charset="0"/>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例如：</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6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图像通常需要进行归一化、尺寸调整和增强；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6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文本需要分词、去停用词和向量化。</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a:t>
            </a:r>
            <a:r>
              <a:rPr lang="zh-CN" altLang="en-US" dirty="0">
                <a:sym typeface="+mn-ea"/>
              </a:rPr>
              <a:t>特征提取方法</a:t>
            </a:r>
            <a:endParaRPr lang="zh-CN" altLang="en-US" dirty="0">
              <a:sym typeface="+mn-ea"/>
            </a:endParaRPr>
          </a:p>
        </p:txBody>
      </p:sp>
      <p:sp>
        <p:nvSpPr>
          <p:cNvPr id="3" name="文本框 2"/>
          <p:cNvSpPr txBox="1"/>
          <p:nvPr/>
        </p:nvSpPr>
        <p:spPr>
          <a:xfrm>
            <a:off x="523240" y="1513840"/>
            <a:ext cx="8080375" cy="2398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nSpc>
                <a:spcPct val="150000"/>
              </a:lnSpc>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各模态数据有</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专门的特征提取技术</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a:lnSpc>
                <a:spcPct val="150000"/>
              </a:lnSpc>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例如：</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音频数据可能用梅尔频率倒谱系数</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(Mel-frequency cepstral coefficient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MFCC)</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图像数据可能用卷积神经网络</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3</a:t>
            </a:r>
            <a:r>
              <a:rPr lang="zh-CN" altLang="en-US" dirty="0">
                <a:sym typeface="+mn-ea"/>
              </a:rPr>
              <a:t>）</a:t>
            </a:r>
            <a:r>
              <a:rPr lang="zh-CN" altLang="en-US" dirty="0">
                <a:sym typeface="+mn-ea"/>
              </a:rPr>
              <a:t>模型适配性</a:t>
            </a:r>
            <a:endParaRPr lang="zh-CN" altLang="en-US" dirty="0">
              <a:sym typeface="+mn-ea"/>
            </a:endParaRPr>
          </a:p>
        </p:txBody>
      </p:sp>
      <p:sp>
        <p:nvSpPr>
          <p:cNvPr id="3" name="文本框 2"/>
          <p:cNvSpPr txBox="1"/>
          <p:nvPr/>
        </p:nvSpPr>
        <p:spPr>
          <a:xfrm>
            <a:off x="523240" y="1513840"/>
            <a:ext cx="8080375" cy="1936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nSpc>
                <a:spcPct val="150000"/>
              </a:lnSpc>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不同模态的数据可能更适合</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不同的机器学习模型</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a:lnSpc>
                <a:spcPct val="150000"/>
              </a:lnSpc>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例如：</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循环神经网络</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(RNN)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和其变体适合序列数据，如文本和音频</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而</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适合图像数据。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4</a:t>
            </a:r>
            <a:r>
              <a:rPr lang="zh-CN" altLang="en-US" dirty="0">
                <a:sym typeface="+mn-ea"/>
              </a:rPr>
              <a:t>）</a:t>
            </a:r>
            <a:r>
              <a:rPr lang="zh-CN" altLang="en-US" dirty="0">
                <a:sym typeface="+mn-ea"/>
              </a:rPr>
              <a:t>融合技术</a:t>
            </a:r>
            <a:endParaRPr lang="zh-CN" altLang="en-US" dirty="0">
              <a:sym typeface="+mn-ea"/>
            </a:endParaRPr>
          </a:p>
        </p:txBody>
      </p:sp>
      <p:sp>
        <p:nvSpPr>
          <p:cNvPr id="3" name="文本框 2"/>
          <p:cNvSpPr txBox="1"/>
          <p:nvPr/>
        </p:nvSpPr>
        <p:spPr>
          <a:xfrm>
            <a:off x="523240" y="1513840"/>
            <a:ext cx="8080375" cy="2398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nSpc>
                <a:spcPct val="150000"/>
              </a:lnSpc>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融合多模态数据的技术挑战在于</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如何整合不同模态的信息</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a:lnSpc>
                <a:spcPct val="150000"/>
              </a:lnSpc>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这可能涉及：</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早期融合，即将不同模态的特征在输入层合并；</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晚期融合，即在决策层合并不同模态的结果；</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中间融合，即在中间某些阶段融合特征。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5</a:t>
            </a:r>
            <a:r>
              <a:rPr lang="zh-CN" altLang="en-US" dirty="0">
                <a:sym typeface="+mn-ea"/>
              </a:rPr>
              <a:t>）</a:t>
            </a:r>
            <a:r>
              <a:rPr lang="zh-CN" altLang="en-US" dirty="0">
                <a:sym typeface="+mn-ea"/>
              </a:rPr>
              <a:t>语义理解</a:t>
            </a:r>
            <a:endParaRPr lang="zh-CN" altLang="en-US" dirty="0">
              <a:sym typeface="+mn-ea"/>
            </a:endParaRPr>
          </a:p>
        </p:txBody>
      </p:sp>
      <p:sp>
        <p:nvSpPr>
          <p:cNvPr id="3" name="文本框 2"/>
          <p:cNvSpPr txBox="1"/>
          <p:nvPr/>
        </p:nvSpPr>
        <p:spPr>
          <a:xfrm>
            <a:off x="523240" y="1513840"/>
            <a:ext cx="8080375" cy="28600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nSpc>
                <a:spcPct val="150000"/>
              </a:lnSpc>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在多模态分析中，理解</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不同模态数据之间的关系</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上下文</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至关重要。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a:lnSpc>
                <a:spcPct val="150000"/>
              </a:lnSpc>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例如：</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在自然语言和图像的结合使用</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如图像字幕生成</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中，模型需要理解</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图像内容</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相应的语言</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影像和</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报告的融合中，需要分别从影像和报告文本的角度理解病灶。</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sz="3700" dirty="0"/>
              <a:t>第二部分：</a:t>
            </a:r>
            <a:r>
              <a:rPr lang="zh-CN" altLang="en-US" sz="3700" dirty="0">
                <a:latin typeface="Arial" panose="020B0604020202020204" pitchFamily="34" charset="0"/>
                <a:sym typeface="+mn-ea"/>
              </a:rPr>
              <a:t>医疗大数据分析背景知识</a:t>
            </a:r>
            <a:endParaRPr lang="zh-CN" altLang="en-US" sz="3700" dirty="0"/>
          </a:p>
        </p:txBody>
      </p:sp>
      <p:sp>
        <p:nvSpPr>
          <p:cNvPr id="6" name="Text Placeholder 5"/>
          <p:cNvSpPr>
            <a:spLocks noGrp="1"/>
          </p:cNvSpPr>
          <p:nvPr>
            <p:ph type="body" sz="quarter" idx="1"/>
          </p:nvPr>
        </p:nvSpPr>
        <p:spPr>
          <a:xfrm>
            <a:off x="1155065" y="3586480"/>
            <a:ext cx="7339330" cy="2799715"/>
          </a:xfrm>
        </p:spPr>
        <p:txBody>
          <a:bodyPr>
            <a:normAutofit/>
          </a:bodyPr>
          <a:lstStyle/>
          <a:p>
            <a:pPr algn="just"/>
            <a:r>
              <a:rPr lang="en-US" altLang="zh-CN" sz="3200" dirty="0"/>
              <a:t>2.1 </a:t>
            </a:r>
            <a:r>
              <a:rPr lang="zh-CN" altLang="en-US" sz="3200" dirty="0"/>
              <a:t>医学场景介绍</a:t>
            </a:r>
            <a:endParaRPr lang="zh-CN" altLang="en-US" sz="3200" dirty="0"/>
          </a:p>
          <a:p>
            <a:pPr algn="just"/>
            <a:r>
              <a:rPr lang="en-US" altLang="zh-CN" sz="3200" dirty="0"/>
              <a:t>2.2 </a:t>
            </a:r>
            <a:r>
              <a:rPr lang="zh-CN" altLang="en-US" sz="3200" dirty="0"/>
              <a:t>医疗大数据特点及建模</a:t>
            </a:r>
            <a:endParaRPr lang="zh-CN" altLang="en-US" sz="3200" dirty="0"/>
          </a:p>
          <a:p>
            <a:pPr algn="just"/>
            <a:r>
              <a:rPr lang="en-US" altLang="zh-CN" sz="3200" dirty="0"/>
              <a:t>2.3 </a:t>
            </a:r>
            <a:r>
              <a:rPr lang="zh-CN" altLang="en-US" sz="3200" dirty="0"/>
              <a:t>医学数据分析算法</a:t>
            </a:r>
            <a:endParaRPr lang="zh-CN" altLang="en-US" sz="3200" dirty="0"/>
          </a:p>
          <a:p>
            <a:pPr algn="just"/>
            <a:r>
              <a:rPr lang="en-US" altLang="zh-CN" sz="3200" dirty="0"/>
              <a:t>2.4 </a:t>
            </a:r>
            <a:r>
              <a:rPr lang="zh-CN" altLang="en-US" sz="3200" dirty="0"/>
              <a:t>数据预处理工具介绍</a:t>
            </a:r>
            <a:endParaRPr lang="zh-CN" altLang="en-US" sz="3200" dirty="0"/>
          </a:p>
        </p:txBody>
      </p:sp>
      <p:sp>
        <p:nvSpPr>
          <p:cNvPr id="2" name="灯片编号占位符 1"/>
          <p:cNvSpPr>
            <a:spLocks noGrp="1"/>
          </p:cNvSpPr>
          <p:nvPr>
            <p:ph type="sldNum" sz="quarter" idx="2"/>
          </p:nvPr>
        </p:nvSpPr>
        <p:spPr/>
        <p:txBody>
          <a:bodyPr/>
          <a:lstStyle/>
          <a:p>
            <a:fld id="{86CB4B4D-7CA3-9044-876B-883B54F8677D}" type="slidenum">
              <a:rPr lang="en-US" altLang="zh-CN" smtClean="0"/>
            </a:fld>
            <a:endParaRPr lang="en-US" altLang="zh-CN"/>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2.1 </a:t>
            </a:r>
            <a:r>
              <a:rPr lang="zh-CN" altLang="en-US" dirty="0">
                <a:sym typeface="+mn-ea"/>
              </a:rPr>
              <a:t>医学场景介绍</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pPr>
              <a:lnSpc>
                <a:spcPct val="150000"/>
              </a:lnSpc>
            </a:pPr>
            <a:r>
              <a:rPr lang="zh-CN" altLang="en-US" sz="2400" dirty="0">
                <a:sym typeface="+mn-ea"/>
              </a:rPr>
              <a:t>（</a:t>
            </a:r>
            <a:r>
              <a:rPr lang="en-US" altLang="zh-CN" sz="2400" dirty="0">
                <a:sym typeface="+mn-ea"/>
              </a:rPr>
              <a:t>1</a:t>
            </a:r>
            <a:r>
              <a:rPr lang="zh-CN" altLang="en-US" sz="2400" dirty="0">
                <a:sym typeface="+mn-ea"/>
              </a:rPr>
              <a:t>）</a:t>
            </a:r>
            <a:r>
              <a:rPr lang="zh-CN" altLang="en-US" sz="2400" dirty="0"/>
              <a:t>智慧医疗的国家战略意义</a:t>
            </a:r>
            <a:endParaRPr lang="zh-CN" altLang="en-US" sz="2400" dirty="0"/>
          </a:p>
          <a:p>
            <a:pPr>
              <a:lnSpc>
                <a:spcPct val="150000"/>
              </a:lnSpc>
            </a:pPr>
            <a:r>
              <a:rPr lang="zh-CN" altLang="en-US" sz="2400" dirty="0"/>
              <a:t>（</a:t>
            </a:r>
            <a:r>
              <a:rPr lang="en-US" altLang="zh-CN" sz="2400" dirty="0"/>
              <a:t>2</a:t>
            </a:r>
            <a:r>
              <a:rPr lang="zh-CN" altLang="en-US" sz="2400" dirty="0"/>
              <a:t>）当前医疗卫生问题与挑战</a:t>
            </a:r>
            <a:endParaRPr lang="zh-CN" altLang="en-US" sz="2400" dirty="0"/>
          </a:p>
          <a:p>
            <a:pPr>
              <a:lnSpc>
                <a:spcPct val="150000"/>
              </a:lnSpc>
            </a:pPr>
            <a:r>
              <a:rPr lang="zh-CN" altLang="en-US" sz="2400" dirty="0"/>
              <a:t>（</a:t>
            </a:r>
            <a:r>
              <a:rPr lang="en-US" altLang="zh-CN" sz="2400" dirty="0"/>
              <a:t>3</a:t>
            </a:r>
            <a:r>
              <a:rPr lang="zh-CN" altLang="en-US" sz="2400" dirty="0"/>
              <a:t>）多模态数据在医学领域的应用概况</a:t>
            </a:r>
            <a:endParaRPr lang="zh-CN" altLang="en-US" sz="2400"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a:t>
            </a:r>
            <a:r>
              <a:rPr lang="zh-CN" altLang="en-US" dirty="0">
                <a:sym typeface="+mn-ea"/>
              </a:rPr>
              <a:t>智慧医疗的国家战略意义</a:t>
            </a:r>
            <a:endParaRPr lang="zh-CN" altLang="en-US" dirty="0">
              <a:sym typeface="+mn-ea"/>
            </a:endParaRPr>
          </a:p>
        </p:txBody>
      </p:sp>
      <p:sp>
        <p:nvSpPr>
          <p:cNvPr id="2" name="文本框 1"/>
          <p:cNvSpPr txBox="1"/>
          <p:nvPr/>
        </p:nvSpPr>
        <p:spPr>
          <a:xfrm>
            <a:off x="523240" y="1513840"/>
            <a:ext cx="8080375" cy="47066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智慧医疗通过整合人工智能、大数据、物联网等先进技术，可以显著</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提升医疗诊断的准确性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治疗的个性化水平</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，同时使</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预防性健康管理</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实时健康监测</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成为可能，从而提高整体的</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人民健康水平</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此外，智慧医疗通过远程医疗服务和优化资源配置，能够有效</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减少医疗资源在地域间的差异</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，使偏远地区也能享受到</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优质医疗服务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智慧医疗不仅可以</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降低医疗成本</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，促进医疗技术创新，还能增强对公共健康事件的</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应急响应能力</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，对于提升国民健康和实现医疗服务的可持续性发展具有深远的社会价值。</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a:t>
            </a:r>
            <a:r>
              <a:rPr lang="zh-CN" altLang="en-US" dirty="0">
                <a:sym typeface="+mn-ea"/>
              </a:rPr>
              <a:t>当前医疗卫生问题与挑战</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当前医疗卫生问题与</a:t>
            </a:r>
            <a:r>
              <a:rPr lang="zh-CN" altLang="en-US" sz="2400" dirty="0">
                <a:sym typeface="+mn-ea"/>
              </a:rPr>
              <a:t>挑战：</a:t>
            </a:r>
            <a:endParaRPr lang="zh-CN" altLang="en-US" sz="2400" dirty="0"/>
          </a:p>
          <a:p>
            <a:pPr marL="0" indent="0">
              <a:buNone/>
            </a:pPr>
            <a:endParaRPr lang="zh-CN" altLang="en-US" sz="2400" dirty="0"/>
          </a:p>
        </p:txBody>
      </p:sp>
      <p:sp>
        <p:nvSpPr>
          <p:cNvPr id="3" name="文本框 2"/>
          <p:cNvSpPr txBox="1"/>
          <p:nvPr/>
        </p:nvSpPr>
        <p:spPr>
          <a:xfrm>
            <a:off x="523240" y="1513840"/>
            <a:ext cx="80803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医疗资源差异</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精准医疗与预防性健康管理的技术限制</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智慧医疗解决方案</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医疗资源差异</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不均匀的医疗资源分配和城乡差异是全球性的问题，影响着医疗服务的可及性、质量和公平性。</a:t>
            </a:r>
            <a:r>
              <a:rPr lang="zh-CN" sz="2400" dirty="0">
                <a:sym typeface="+mn-ea"/>
              </a:rPr>
              <a:t>导致的后果</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729105"/>
            <a:ext cx="8080375" cy="51682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医疗服务的可及性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：城市地区通常拥有更多的医疗资源，包括医院、诊所、专业医生和高端医疗设备</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医疗人员的分布</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：优质医疗人才往往集中在城市医疗机构</a:t>
            </a:r>
            <a:endPar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医疗服务质量和范围</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：城市医院能够提供更广泛的医疗服务</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疾病预防和早期诊断</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：由于基础医疗设施的缺乏，乡村地区的疾病预防和早期诊断服务力度可能不足。</a:t>
            </a:r>
            <a:endPar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应急医疗响应</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：在急性事件或灾难情况下，医疗资源的不均匀分布会影响应急医疗响应的速度和效率。城市地区可能拥有更快的响应能力和更完善的救援设施，而乡村地区则可能因为资源不足而无法及时提供必要的医疗援助。</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患者预后</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：医疗资源的不均匀分配影响患者的预后。</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精准医疗与预防性健康管理的技术限制</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尽管医疗技术取得了长足的进步，但在处理一些复杂疾病时，仍面临着诸多挑战和限制：</a:t>
            </a:r>
            <a:endParaRPr lang="zh-CN" altLang="en-US" sz="2400" dirty="0"/>
          </a:p>
          <a:p>
            <a:pPr marL="0" indent="0">
              <a:buNone/>
            </a:pPr>
            <a:endParaRPr lang="zh-CN" altLang="en-US" sz="2400" dirty="0"/>
          </a:p>
        </p:txBody>
      </p:sp>
      <p:sp>
        <p:nvSpPr>
          <p:cNvPr id="3" name="文本框 2"/>
          <p:cNvSpPr txBox="1"/>
          <p:nvPr/>
        </p:nvSpPr>
        <p:spPr>
          <a:xfrm>
            <a:off x="523240" y="1872615"/>
            <a:ext cx="8080375" cy="34753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个体生物学差异性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：每个人的遗传背景和生活方式都不同</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复杂疾病的多因素性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：如癌症、心血管疾病和糖尿病等疾病涉及多种基因和环境因素。</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数据解读和集成</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：虽然临床数据的数量在增加，但医生和研究人员在整合和解释这些信息以做出诊断和治疗决策时，仍然面临困难。</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治疗方法的局限性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：现有的治疗方法可能在安全性、效率或可承受性方面有所不足，尤其是一些高度个性化的治疗方法，如基因疗法或细胞疗法。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智慧医疗解决方案</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智慧医疗通过利用人工智能</a:t>
            </a:r>
            <a:r>
              <a:rPr lang="en-US" altLang="zh-CN" sz="2400" dirty="0">
                <a:sym typeface="+mn-ea"/>
              </a:rPr>
              <a:t>(AI)</a:t>
            </a:r>
            <a:r>
              <a:rPr lang="zh-CN" altLang="en-US" sz="2400" dirty="0">
                <a:sym typeface="+mn-ea"/>
              </a:rPr>
              <a:t>、大数据分析和其他先进技术，有可能解决现有医疗技术的一些限制：</a:t>
            </a:r>
            <a:endParaRPr lang="zh-CN" altLang="en-US" sz="2400" dirty="0"/>
          </a:p>
          <a:p>
            <a:pPr marL="0" indent="0">
              <a:buNone/>
            </a:pPr>
            <a:endParaRPr lang="zh-CN" altLang="en-US" sz="2400" dirty="0"/>
          </a:p>
        </p:txBody>
      </p:sp>
      <p:sp>
        <p:nvSpPr>
          <p:cNvPr id="3" name="文本框 2"/>
          <p:cNvSpPr txBox="1"/>
          <p:nvPr/>
        </p:nvSpPr>
        <p:spPr>
          <a:xfrm>
            <a:off x="523240" y="2016125"/>
            <a:ext cx="8080375" cy="47066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精准诊断</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AI</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可以分析大量的病历数据、影像和实验室测试结果，帮助医生识别疾病模式，进行更精准的诊断。</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个性化治疗</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：机器学习方法可以预测患者对特定治疗的反应，从而为每个人提供量身定制的治疗方案。</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健康风险预测</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：利用大数据分析，</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AI</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可以在庞大的患者群体中识别健康风险和疾病早期信号，为高风险人群提供预防性健康建议。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持续健康监测</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：可穿戴设备和远程监测技术可以收集关于患者健康状况的实时数据，这些数据经</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AI</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分析后，可以及时调整治疗方案或预防性干预。</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促进医疗决策</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AI</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系统可以提供基于证据的治疗建议，辅助医生做出更好的临床决策，并减少医疗错误。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3</a:t>
            </a:r>
            <a:r>
              <a:rPr lang="zh-CN" altLang="en-US" dirty="0">
                <a:sym typeface="+mn-ea"/>
              </a:rPr>
              <a:t>）多模态数据在医学领域的应用概况</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4909185"/>
          </a:xfrm>
          <a:prstGeom prst="rect">
            <a:avLst/>
          </a:prstGeom>
        </p:spPr>
        <p:txBody>
          <a:bodyPr>
            <a:normAutofit lnSpcReduction="10000"/>
          </a:bodyPr>
          <a:lstStyle/>
          <a:p>
            <a:r>
              <a:rPr lang="zh-CN" altLang="en-US" sz="2400" dirty="0">
                <a:sym typeface="+mn-ea"/>
              </a:rPr>
              <a:t>医学领域中的多模态数据是指集合各种不同来源的医学信息，包括但不限于：</a:t>
            </a:r>
            <a:endParaRPr lang="zh-CN" altLang="en-US" sz="2400" dirty="0">
              <a:sym typeface="+mn-ea"/>
            </a:endParaRPr>
          </a:p>
          <a:p>
            <a:pPr marL="0" indent="0">
              <a:lnSpc>
                <a:spcPct val="150000"/>
              </a:lnSpc>
              <a:buNone/>
            </a:pPr>
            <a:r>
              <a:rPr lang="zh-CN" altLang="en-US" sz="2000" dirty="0">
                <a:sym typeface="+mn-ea"/>
              </a:rPr>
              <a:t>（</a:t>
            </a:r>
            <a:r>
              <a:rPr lang="en-US" altLang="zh-CN" sz="2000" dirty="0">
                <a:sym typeface="+mn-ea"/>
              </a:rPr>
              <a:t>1</a:t>
            </a:r>
            <a:r>
              <a:rPr lang="zh-CN" altLang="en-US" sz="2000" dirty="0">
                <a:sym typeface="+mn-ea"/>
              </a:rPr>
              <a:t>）医学影像</a:t>
            </a:r>
            <a:endParaRPr lang="zh-CN" altLang="en-US" sz="2000" dirty="0">
              <a:sym typeface="+mn-ea"/>
            </a:endParaRPr>
          </a:p>
          <a:p>
            <a:pPr marL="0" indent="0">
              <a:lnSpc>
                <a:spcPct val="150000"/>
              </a:lnSpc>
              <a:buNone/>
            </a:pPr>
            <a:r>
              <a:rPr lang="zh-CN" altLang="en-US" sz="2000" dirty="0">
                <a:sym typeface="+mn-ea"/>
              </a:rPr>
              <a:t>（</a:t>
            </a:r>
            <a:r>
              <a:rPr lang="en-US" altLang="zh-CN" sz="2000" dirty="0">
                <a:sym typeface="+mn-ea"/>
              </a:rPr>
              <a:t>2</a:t>
            </a:r>
            <a:r>
              <a:rPr lang="zh-CN" altLang="en-US" sz="2000" dirty="0">
                <a:sym typeface="+mn-ea"/>
              </a:rPr>
              <a:t>）基因组数据</a:t>
            </a:r>
            <a:endParaRPr lang="zh-CN" altLang="en-US" sz="2000" dirty="0">
              <a:sym typeface="+mn-ea"/>
            </a:endParaRPr>
          </a:p>
          <a:p>
            <a:pPr marL="0" indent="0">
              <a:lnSpc>
                <a:spcPct val="150000"/>
              </a:lnSpc>
              <a:buNone/>
            </a:pPr>
            <a:r>
              <a:rPr lang="zh-CN" altLang="en-US" sz="2000" dirty="0">
                <a:sym typeface="+mn-ea"/>
              </a:rPr>
              <a:t>（</a:t>
            </a:r>
            <a:r>
              <a:rPr lang="en-US" altLang="zh-CN" sz="2000" dirty="0">
                <a:sym typeface="+mn-ea"/>
              </a:rPr>
              <a:t>3</a:t>
            </a:r>
            <a:r>
              <a:rPr lang="zh-CN" altLang="en-US" sz="2000" dirty="0">
                <a:sym typeface="+mn-ea"/>
              </a:rPr>
              <a:t>）电子健康记录</a:t>
            </a:r>
            <a:endParaRPr lang="zh-CN" altLang="en-US" sz="2000" dirty="0">
              <a:sym typeface="+mn-ea"/>
            </a:endParaRPr>
          </a:p>
          <a:p>
            <a:pPr marL="0" indent="0">
              <a:lnSpc>
                <a:spcPct val="150000"/>
              </a:lnSpc>
              <a:buNone/>
            </a:pPr>
            <a:r>
              <a:rPr lang="zh-CN" altLang="en-US" sz="2000" dirty="0">
                <a:sym typeface="+mn-ea"/>
              </a:rPr>
              <a:t>（</a:t>
            </a:r>
            <a:r>
              <a:rPr lang="en-US" altLang="zh-CN" sz="2000" dirty="0">
                <a:sym typeface="+mn-ea"/>
              </a:rPr>
              <a:t>4</a:t>
            </a:r>
            <a:r>
              <a:rPr lang="zh-CN" altLang="en-US" sz="2000" dirty="0">
                <a:sym typeface="+mn-ea"/>
              </a:rPr>
              <a:t>）实验室检测结果</a:t>
            </a:r>
            <a:endParaRPr lang="zh-CN" altLang="en-US" sz="2000" dirty="0">
              <a:sym typeface="+mn-ea"/>
            </a:endParaRPr>
          </a:p>
          <a:p>
            <a:pPr marL="0" indent="0">
              <a:lnSpc>
                <a:spcPct val="150000"/>
              </a:lnSpc>
              <a:buNone/>
            </a:pPr>
            <a:r>
              <a:rPr lang="zh-CN" altLang="en-US" sz="2000" dirty="0">
                <a:sym typeface="+mn-ea"/>
              </a:rPr>
              <a:t>（</a:t>
            </a:r>
            <a:r>
              <a:rPr lang="en-US" altLang="zh-CN" sz="2000" dirty="0">
                <a:sym typeface="+mn-ea"/>
              </a:rPr>
              <a:t>5</a:t>
            </a:r>
            <a:r>
              <a:rPr lang="zh-CN" altLang="en-US" sz="2000" dirty="0">
                <a:sym typeface="+mn-ea"/>
              </a:rPr>
              <a:t>）患者自报的健康信息</a:t>
            </a:r>
            <a:endParaRPr lang="zh-CN" altLang="en-US" sz="2000" dirty="0">
              <a:sym typeface="+mn-ea"/>
            </a:endParaRPr>
          </a:p>
          <a:p>
            <a:r>
              <a:rPr lang="zh-CN" altLang="en-US" sz="2400" dirty="0">
                <a:sym typeface="+mn-ea"/>
              </a:rPr>
              <a:t>随着技术的进步，这些数据可以被整合和分析，以提高诊断的准确性、优化治疗规划，并对疾病进行有效预防。以下是多模态数据在提高诊疗能力和实现治疗个性化方面的应用概况：</a:t>
            </a:r>
            <a:endParaRPr lang="zh-CN" altLang="en-US" sz="2400" dirty="0"/>
          </a:p>
          <a:p>
            <a:pPr marL="0" indent="0">
              <a:buNone/>
            </a:pPr>
            <a:endParaRPr lang="zh-CN" altLang="en-US" sz="2400" dirty="0"/>
          </a:p>
        </p:txBody>
      </p:sp>
      <p:sp>
        <p:nvSpPr>
          <p:cNvPr id="3" name="文本框 2"/>
          <p:cNvSpPr txBox="1"/>
          <p:nvPr/>
        </p:nvSpPr>
        <p:spPr>
          <a:xfrm>
            <a:off x="523240" y="5747385"/>
            <a:ext cx="8080375" cy="10134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提高诊疗能力</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实现治疗个性化</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提高诊疗能力</a:t>
            </a:r>
            <a:endParaRPr lang="zh-CN" altLang="en-US" dirty="0">
              <a:sym typeface="+mn-ea"/>
            </a:endParaRPr>
          </a:p>
        </p:txBody>
      </p:sp>
      <p:sp>
        <p:nvSpPr>
          <p:cNvPr id="3" name="文本框 2"/>
          <p:cNvSpPr txBox="1"/>
          <p:nvPr/>
        </p:nvSpPr>
        <p:spPr>
          <a:xfrm>
            <a:off x="523240" y="1513840"/>
            <a:ext cx="8080375" cy="3783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诊断准确性的提升</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：多模态数据的综合分析能够提供更全面的疾病全貌。例如，结合病理学影像和患者的基因组数据可以提高肿瘤的诊断精度。</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治疗效果的优化</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多模态数据不仅能够精确诊断，还可以监测治疗过程中的生物标志物变化，从而评估治疗效果。例如，在化疗过程中，通过分析影像数据和血液检测结果，医生能够实时调整治疗方案，以应对肿瘤的变化和患者的反应。</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实现治疗个性化</a:t>
            </a:r>
            <a:endParaRPr lang="zh-CN" altLang="en-US" dirty="0">
              <a:sym typeface="+mn-ea"/>
            </a:endParaRPr>
          </a:p>
        </p:txBody>
      </p:sp>
      <p:sp>
        <p:nvSpPr>
          <p:cNvPr id="3" name="文本框 2"/>
          <p:cNvSpPr txBox="1"/>
          <p:nvPr/>
        </p:nvSpPr>
        <p:spPr>
          <a:xfrm>
            <a:off x="523240" y="1513840"/>
            <a:ext cx="8080375" cy="47066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精准医疗的实现</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多模态数据的分析为精准医疗的实现提供了科学基础。通过对患者的遗传信息、生活方式和环境因素的综合考量，医生能够为患者设计个性化的治疗方案。例如，基于患者特定的基因突变，可以选择最适合的靶向疗法，而不是传统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一刀切</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医疗服务的精准化</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利用多模态数据，医疗服务可以更精准地满足患者的个体化需求。例如，患者的电子健康记录中包含的历史医疗信息，结合实时的生理监测数据，可以帮助医生判断患者对特定药物的反应性，从而定制个人化的药物剂量和给药计划。</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2.2 </a:t>
            </a:r>
            <a:r>
              <a:rPr lang="zh-CN" altLang="en-US" dirty="0">
                <a:sym typeface="+mn-ea"/>
              </a:rPr>
              <a:t>医疗大数据特点及建模</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pPr>
              <a:lnSpc>
                <a:spcPct val="150000"/>
              </a:lnSpc>
            </a:pPr>
            <a:r>
              <a:rPr lang="zh-CN" altLang="en-US" sz="2400" dirty="0">
                <a:sym typeface="+mn-ea"/>
              </a:rPr>
              <a:t>（</a:t>
            </a:r>
            <a:r>
              <a:rPr lang="en-US" altLang="zh-CN" sz="2400" dirty="0">
                <a:sym typeface="+mn-ea"/>
              </a:rPr>
              <a:t>1</a:t>
            </a:r>
            <a:r>
              <a:rPr lang="zh-CN" altLang="en-US" sz="2400" dirty="0">
                <a:sym typeface="+mn-ea"/>
              </a:rPr>
              <a:t>）</a:t>
            </a:r>
            <a:r>
              <a:rPr lang="zh-CN" altLang="en-US" sz="2400" dirty="0"/>
              <a:t>医疗数据的特性</a:t>
            </a:r>
            <a:endParaRPr lang="zh-CN" altLang="en-US" sz="2400" dirty="0"/>
          </a:p>
          <a:p>
            <a:pPr>
              <a:lnSpc>
                <a:spcPct val="150000"/>
              </a:lnSpc>
            </a:pPr>
            <a:r>
              <a:rPr lang="zh-CN" altLang="en-US" sz="2400" dirty="0"/>
              <a:t>（</a:t>
            </a:r>
            <a:r>
              <a:rPr lang="en-US" altLang="zh-CN" sz="2400" dirty="0"/>
              <a:t>2</a:t>
            </a:r>
            <a:r>
              <a:rPr lang="zh-CN" altLang="en-US" sz="2400" dirty="0"/>
              <a:t>）数据异构性与融合需求</a:t>
            </a:r>
            <a:endParaRPr lang="zh-CN" altLang="en-US" sz="2400" dirty="0"/>
          </a:p>
          <a:p>
            <a:pPr>
              <a:lnSpc>
                <a:spcPct val="150000"/>
              </a:lnSpc>
            </a:pPr>
            <a:r>
              <a:rPr lang="zh-CN" altLang="en-US" sz="2400" dirty="0"/>
              <a:t>（</a:t>
            </a:r>
            <a:r>
              <a:rPr lang="en-US" altLang="zh-CN" sz="2400" dirty="0"/>
              <a:t>3</a:t>
            </a:r>
            <a:r>
              <a:rPr lang="zh-CN" altLang="en-US" sz="2400" dirty="0"/>
              <a:t>）医疗数据建模方法论</a:t>
            </a:r>
            <a:endParaRPr lang="zh-CN" altLang="en-US" sz="2400" dirty="0"/>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）医疗数据的特性</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医疗数据具有高维度、多样性和时效性等特点，这些特性为精准医疗提供了可能；同时也具有不完整性、冗余性、时间性等特点，对数据的处理和分析造成一定的难度。医疗数据的特点非常丰富，以下是主要的几个特点及其对精准医疗的影响和挑战。</a:t>
            </a:r>
            <a:endParaRPr lang="zh-CN" altLang="en-US" sz="2400" dirty="0"/>
          </a:p>
          <a:p>
            <a:pPr marL="0" indent="0">
              <a:buNone/>
            </a:pPr>
            <a:endParaRPr lang="zh-CN" altLang="en-US" sz="2400" dirty="0"/>
          </a:p>
        </p:txBody>
      </p:sp>
      <p:sp>
        <p:nvSpPr>
          <p:cNvPr id="3" name="文本框 2"/>
          <p:cNvSpPr txBox="1"/>
          <p:nvPr/>
        </p:nvSpPr>
        <p:spPr>
          <a:xfrm>
            <a:off x="523240" y="2805430"/>
            <a:ext cx="8080375" cy="3783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体量大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速度快</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种类多</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真实性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价值密度</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高维度和多样性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时效性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不完整性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冗余性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2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时间性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体量大</a:t>
            </a:r>
            <a:endParaRPr lang="zh-CN" altLang="en-US" dirty="0">
              <a:sym typeface="+mn-ea"/>
            </a:endParaRPr>
          </a:p>
        </p:txBody>
      </p:sp>
      <p:sp>
        <p:nvSpPr>
          <p:cNvPr id="3" name="文本框 2"/>
          <p:cNvSpPr txBox="1"/>
          <p:nvPr/>
        </p:nvSpPr>
        <p:spPr>
          <a:xfrm>
            <a:off x="523240" y="1513840"/>
            <a:ext cx="8080375" cy="3783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医疗数据的</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体量巨大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，因为它包含了从患者的电子健康记录</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(EHR)</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到影像数据，再到基因组数据等各种信息。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每个患者的数据都非常庞大，尤其是随着个体化治疗的兴起，数据量还在持续增加。</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好处：这为医疗研究提供了大量的原材料，有助于发现疾病模式和治疗效果；</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挑战：同时也需要强大的数据处理能力来存储、管理和分析这些数据。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速度快</a:t>
            </a:r>
            <a:endParaRPr lang="zh-CN" altLang="en-US" dirty="0">
              <a:sym typeface="+mn-ea"/>
            </a:endParaRPr>
          </a:p>
        </p:txBody>
      </p:sp>
      <p:sp>
        <p:nvSpPr>
          <p:cNvPr id="3" name="文本框 2"/>
          <p:cNvSpPr txBox="1"/>
          <p:nvPr/>
        </p:nvSpPr>
        <p:spPr>
          <a:xfrm>
            <a:off x="523240" y="1513840"/>
            <a:ext cx="8080375" cy="25520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随着医疗设备和监测技术的进步，数据</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生成的速度非常快</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实时监控患者的生命体征、实验室测试结果的即时生成和电子处方的即时传输等都需要即时处理和分析。</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挑战：这种快速的数据流动性要求医疗系统具备高效的数据处理能力，以便能够及时响应和利用这些信息。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种类多</a:t>
            </a:r>
            <a:endParaRPr lang="zh-CN" altLang="en-US" dirty="0">
              <a:sym typeface="+mn-ea"/>
            </a:endParaRPr>
          </a:p>
        </p:txBody>
      </p:sp>
      <p:sp>
        <p:nvSpPr>
          <p:cNvPr id="3" name="文本框 2"/>
          <p:cNvSpPr txBox="1"/>
          <p:nvPr/>
        </p:nvSpPr>
        <p:spPr>
          <a:xfrm>
            <a:off x="523240" y="1513840"/>
            <a:ext cx="8080375" cy="20904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医疗数据包含</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结构化数据</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，如患者的年龄、性别、体检结果，以及非结构化数据，如医生的笔记、病理报告和医学影像。</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挑战：这些数据的格式多样、来源广泛，处理起来相对复杂；</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优势：但这种多样性也为了解疾病的全貌提供了多维度的视角。</a:t>
            </a:r>
            <a:endPar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真实性</a:t>
            </a:r>
            <a:endParaRPr lang="zh-CN" altLang="en-US" dirty="0">
              <a:sym typeface="+mn-ea"/>
            </a:endParaRPr>
          </a:p>
        </p:txBody>
      </p:sp>
      <p:sp>
        <p:nvSpPr>
          <p:cNvPr id="3" name="文本框 2"/>
          <p:cNvSpPr txBox="1"/>
          <p:nvPr/>
        </p:nvSpPr>
        <p:spPr>
          <a:xfrm>
            <a:off x="523240" y="1513840"/>
            <a:ext cx="8080375" cy="2398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医疗数据必须具有高度的</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真实性和准确性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，因为任何错误的数据都可能导致错误的诊断和治疗。</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挑战：然而，在实际情况中，医疗数据可能受到各种因素的干扰，如设备故障、人为错误或数据传输中的失真，因此保证医疗数据的质量是一个重要的挑战。</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价值密度</a:t>
            </a:r>
            <a:endParaRPr lang="zh-CN" altLang="en-US" dirty="0">
              <a:sym typeface="+mn-ea"/>
            </a:endParaRPr>
          </a:p>
        </p:txBody>
      </p:sp>
      <p:sp>
        <p:nvSpPr>
          <p:cNvPr id="5" name="文本框 4"/>
          <p:cNvSpPr txBox="1"/>
          <p:nvPr/>
        </p:nvSpPr>
        <p:spPr>
          <a:xfrm>
            <a:off x="523240" y="1513840"/>
            <a:ext cx="8080375" cy="25520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尽管医疗数据量大，但其真正有用的信息却可能</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只占很小一部分</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这就需要通过数据挖掘和分析技术来提取有价值的信息，用于临床决策支持和医学研究。</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挑战：这种价值密度的低特性要求有高效的数据分析工具和算法来识别与利用这些数据中的价值。</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高维度和多样性</a:t>
            </a:r>
            <a:endParaRPr lang="zh-CN" altLang="en-US" dirty="0">
              <a:sym typeface="+mn-ea"/>
            </a:endParaRPr>
          </a:p>
        </p:txBody>
      </p:sp>
      <p:sp>
        <p:nvSpPr>
          <p:cNvPr id="3" name="文本框 2"/>
          <p:cNvSpPr txBox="1"/>
          <p:nvPr/>
        </p:nvSpPr>
        <p:spPr>
          <a:xfrm>
            <a:off x="523240" y="1513840"/>
            <a:ext cx="8080375" cy="1628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医疗数据的</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高维度和多样性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意味着它能够为病人的健康状况提供一个全面的视图。</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例如，基因数据、生化指标、生理参数、医学影像等多个维度的数据可以综合分析，以得到更全面的疾病洞察。</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时效性</a:t>
            </a:r>
            <a:endParaRPr lang="zh-CN" altLang="en-US" dirty="0">
              <a:sym typeface="+mn-ea"/>
            </a:endParaRPr>
          </a:p>
        </p:txBody>
      </p:sp>
      <p:sp>
        <p:nvSpPr>
          <p:cNvPr id="3" name="文本框 2"/>
          <p:cNvSpPr txBox="1"/>
          <p:nvPr/>
        </p:nvSpPr>
        <p:spPr>
          <a:xfrm>
            <a:off x="523240" y="1513840"/>
            <a:ext cx="8080375" cy="16287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医疗数据的</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时效性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对于临床决策至关重要。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挑战：即时获取和处理数据能够确保医疗服务提供者能够及时做出诊断和治疗决策，这对于紧急医疗情况尤为重要。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不完整性</a:t>
            </a:r>
            <a:endParaRPr lang="zh-CN" altLang="en-US" dirty="0">
              <a:sym typeface="+mn-ea"/>
            </a:endParaRPr>
          </a:p>
        </p:txBody>
      </p:sp>
      <p:sp>
        <p:nvSpPr>
          <p:cNvPr id="3" name="文本框 2"/>
          <p:cNvSpPr txBox="1"/>
          <p:nvPr/>
        </p:nvSpPr>
        <p:spPr>
          <a:xfrm>
            <a:off x="523240" y="1513840"/>
            <a:ext cx="8080375" cy="1936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医疗记录可能因为各种因素而</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不完整</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，例如，信息未能及时更新或者某些数据在收集过程中丢失。</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挑战：这种不完整性会对数据分析造成影响，因为它可能导致错误的推断或遗漏重要的健康信息。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冗余性</a:t>
            </a:r>
            <a:endParaRPr lang="zh-CN" altLang="en-US" dirty="0">
              <a:sym typeface="+mn-ea"/>
            </a:endParaRPr>
          </a:p>
        </p:txBody>
      </p:sp>
      <p:sp>
        <p:nvSpPr>
          <p:cNvPr id="3" name="文本框 2"/>
          <p:cNvSpPr txBox="1"/>
          <p:nvPr/>
        </p:nvSpPr>
        <p:spPr>
          <a:xfrm>
            <a:off x="523240" y="1513840"/>
            <a:ext cx="8080375" cy="1936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医疗数据中存在</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大量冗余信息</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，这可能是因为多个系统之间的数据未能有效整合，或者是多次收集同一类型的信息而没有标准化。</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挑战：处理这些冗余信息需要复杂的清洗和整合流程，以确保数据集的高效和精确。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时间性</a:t>
            </a:r>
            <a:endParaRPr lang="zh-CN" altLang="en-US" dirty="0">
              <a:sym typeface="+mn-ea"/>
            </a:endParaRPr>
          </a:p>
        </p:txBody>
      </p:sp>
      <p:sp>
        <p:nvSpPr>
          <p:cNvPr id="3" name="文本框 2"/>
          <p:cNvSpPr txBox="1"/>
          <p:nvPr/>
        </p:nvSpPr>
        <p:spPr>
          <a:xfrm>
            <a:off x="523240" y="1513840"/>
            <a:ext cx="8080375" cy="28600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医疗数据通常</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与时间轴紧密相关</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，病情的发展、治疗的反应等都是随时间变化的动态过程。</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优势：理解这种时间性对于追踪疾病进展、评估治疗效果等方面至关重要。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挑战：同时，这也要求数据分析方法能够处理时间序列数据，识别出时间相关的模式和趋势。</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）数据异构性与融合需求</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异构医疗数据的集成和分析对于提高预测效果至关重要，同时也需要匹配临床医生的决策方式。</a:t>
            </a:r>
            <a:endParaRPr lang="zh-CN" altLang="en-US" sz="2400" dirty="0"/>
          </a:p>
          <a:p>
            <a:pPr marL="0" indent="0">
              <a:buNone/>
            </a:pPr>
            <a:endParaRPr lang="zh-CN" altLang="en-US" sz="2400" dirty="0"/>
          </a:p>
        </p:txBody>
      </p:sp>
      <p:sp>
        <p:nvSpPr>
          <p:cNvPr id="3" name="文本框 2"/>
          <p:cNvSpPr txBox="1"/>
          <p:nvPr/>
        </p:nvSpPr>
        <p:spPr>
          <a:xfrm>
            <a:off x="523240" y="1800860"/>
            <a:ext cx="8080375" cy="10134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数据异构性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数据融合</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数据异构性</a:t>
            </a:r>
            <a:endParaRPr lang="zh-CN" altLang="en-US" dirty="0">
              <a:sym typeface="+mn-ea"/>
            </a:endParaRPr>
          </a:p>
        </p:txBody>
      </p:sp>
      <p:sp>
        <p:nvSpPr>
          <p:cNvPr id="3" name="文本框 2"/>
          <p:cNvSpPr txBox="1"/>
          <p:nvPr/>
        </p:nvSpPr>
        <p:spPr>
          <a:xfrm>
            <a:off x="523240" y="1513840"/>
            <a:ext cx="8080375" cy="409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l"/>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医疗数据的异构性指的是数据：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gn="l">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来源多样</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gn="l">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格式不一致</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gn="l">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尺度不同</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gn="l">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数据解释方式的差异</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342900" indent="-342900" algn="l">
              <a:buFont typeface="Arial" panose="020B0604020202020204" pitchFamily="34" charset="0"/>
              <a:buChar char="•"/>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algn="l">
              <a:buFont typeface="Arial" panose="020B0604020202020204" pitchFamily="34" charset="0"/>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这些数据可能包括结构化的电子病历、实验室结果、药物处方记录，以及非结构化的医生笔记、医学影像和基因测序数据等。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algn="l">
              <a:buFont typeface="Arial" panose="020B0604020202020204" pitchFamily="34" charset="0"/>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algn="l">
              <a:buFont typeface="Arial" panose="020B0604020202020204" pitchFamily="34" charset="0"/>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为了充分利用这些数据，在临床决策、疾病预防和治疗效果评估中，需要将这些异构数据融合，以便构建一个全面、综合的患者健康画像。</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数据</a:t>
            </a:r>
            <a:r>
              <a:rPr lang="zh-CN" altLang="en-US" dirty="0">
                <a:sym typeface="+mn-ea"/>
              </a:rPr>
              <a:t>融合</a:t>
            </a:r>
            <a:endParaRPr lang="zh-CN" altLang="en-US" dirty="0">
              <a:sym typeface="+mn-ea"/>
            </a:endParaRPr>
          </a:p>
        </p:txBody>
      </p:sp>
      <p:sp>
        <p:nvSpPr>
          <p:cNvPr id="3" name="文本框 2"/>
          <p:cNvSpPr txBox="1"/>
          <p:nvPr/>
        </p:nvSpPr>
        <p:spPr>
          <a:xfrm>
            <a:off x="523240" y="1513840"/>
            <a:ext cx="8080375" cy="34753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融合这些异构医疗数据</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对于提高疾病预测模型的准确性和效果至关重要。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通过结合不同来源的数据，可以更精确地识别疾病模式、预测患者风险和治疗反应。</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此外，医疗数据的融合还需考虑</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临床医生的决策方式</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，确保所提供的信息能够直观、易于理解，且能够无缝整合进医生的诊疗流程中。</a:t>
            </a:r>
            <a:b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b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这就要求数据集成解决方案不仅要技术先进，还要对用户友好，以便于医生们能够依据综合数据做出最佳的临床决策。</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3</a:t>
            </a:r>
            <a:r>
              <a:rPr lang="zh-CN" altLang="en-US" dirty="0">
                <a:sym typeface="+mn-ea"/>
              </a:rPr>
              <a:t>）医疗数据建模方法论</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针对医疗数据的特点，建模方法论需要考虑数据的整合、处理以及模型的可解释性。</a:t>
            </a:r>
            <a:endParaRPr lang="zh-CN" altLang="en-US" sz="2400" dirty="0"/>
          </a:p>
          <a:p>
            <a:pPr marL="0" indent="0">
              <a:buNone/>
            </a:pPr>
            <a:endParaRPr lang="zh-CN" altLang="en-US" sz="2400" dirty="0"/>
          </a:p>
        </p:txBody>
      </p:sp>
      <p:sp>
        <p:nvSpPr>
          <p:cNvPr id="3" name="文本框 2"/>
          <p:cNvSpPr txBox="1"/>
          <p:nvPr/>
        </p:nvSpPr>
        <p:spPr>
          <a:xfrm>
            <a:off x="523240" y="1800860"/>
            <a:ext cx="8080375" cy="1475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数据预处理</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常见建模方法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建模方法选择的相关因素</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数据</a:t>
            </a:r>
            <a:r>
              <a:rPr lang="zh-CN" altLang="en-US" dirty="0">
                <a:sym typeface="+mn-ea"/>
              </a:rPr>
              <a:t>预处理</a:t>
            </a:r>
            <a:endParaRPr lang="zh-CN" altLang="en-US" dirty="0">
              <a:sym typeface="+mn-ea"/>
            </a:endParaRPr>
          </a:p>
        </p:txBody>
      </p:sp>
      <p:sp>
        <p:nvSpPr>
          <p:cNvPr id="3" name="文本框 2"/>
          <p:cNvSpPr txBox="1"/>
          <p:nvPr/>
        </p:nvSpPr>
        <p:spPr>
          <a:xfrm>
            <a:off x="523240" y="1513840"/>
            <a:ext cx="8080375" cy="31680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数据预处理涉及</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数据清洗、归一化和转换方法</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，以及如何处理</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缺失值和异常值</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对于异常值，推荐采用临床医生指导下的异常值处理方法，因为有时不服从正态分布的异常值实际是真实的临床症状的反应。具体应该进行矫正还是保留，还是将整个病例剔除，应该</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由临床医生具体问题具体分析</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这可能会增加许多工作量，但从研究质量的角度出发，</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手动处理异常值</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的工作是必要的。</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常见建模方法</a:t>
            </a:r>
            <a:endParaRPr lang="zh-CN" altLang="en-US" dirty="0">
              <a:sym typeface="+mn-ea"/>
            </a:endParaRPr>
          </a:p>
        </p:txBody>
      </p:sp>
      <p:sp>
        <p:nvSpPr>
          <p:cNvPr id="3" name="文本框 2"/>
          <p:cNvSpPr txBox="1"/>
          <p:nvPr/>
        </p:nvSpPr>
        <p:spPr>
          <a:xfrm>
            <a:off x="523240" y="1513840"/>
            <a:ext cx="8080375" cy="47066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在医疗大数据分析中，不同的建模方法适用于解决不同的任务。下面是一些常见任务及适用的建模方法：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。诊断相关任务通常涉及对</a:t>
            </a: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医学影像、基因数据</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等进行分析，以识别疾病的存在与类型。</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浅层机器学习方法：传统机器学习方法，如随机森林、支持向量机</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(SVM)</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k</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最近邻</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(k-NN)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，可以在特征提取后用于分类任务及诊断疾病。</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深度学习方法：卷积神经网络</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特别适合处理医学影像数据，如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MRI</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或</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X</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光图像，无须手动特征提取，可以直接从原始数据中学习识别疾病的模式。</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常见建模方法</a:t>
            </a:r>
            <a:endParaRPr lang="zh-CN" altLang="en-US" dirty="0">
              <a:sym typeface="+mn-ea"/>
            </a:endParaRPr>
          </a:p>
        </p:txBody>
      </p:sp>
      <p:sp>
        <p:nvSpPr>
          <p:cNvPr id="3" name="文本框 2"/>
          <p:cNvSpPr txBox="1"/>
          <p:nvPr/>
        </p:nvSpPr>
        <p:spPr>
          <a:xfrm>
            <a:off x="523240" y="1513840"/>
            <a:ext cx="8080375" cy="45529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在医疗大数据分析中，不同的建模方法适用于解决不同的任务。下面是一些常见任务及适用的建模方法：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诊断任务</a:t>
            </a:r>
            <a:r>
              <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预测任务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。预测任务旨在评估疾病的发展、患者的预后或药物的反应。</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回归方法：如逻辑回归、决策树和集成方法</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如梯度提升树、随机森林</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，可以用于风险评分和预后预测。</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循环神经网络方法：循环神经网络</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(RNN)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及其变体，适合处理时间序列数据，如患者的生理信号或随时间变化的实验室检测结果。</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常见建模方法</a:t>
            </a:r>
            <a:endParaRPr lang="zh-CN" altLang="en-US" dirty="0">
              <a:sym typeface="+mn-ea"/>
            </a:endParaRPr>
          </a:p>
        </p:txBody>
      </p:sp>
      <p:sp>
        <p:nvSpPr>
          <p:cNvPr id="3" name="文本框 2"/>
          <p:cNvSpPr txBox="1"/>
          <p:nvPr/>
        </p:nvSpPr>
        <p:spPr>
          <a:xfrm>
            <a:off x="523240" y="1513840"/>
            <a:ext cx="8080375" cy="409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在医疗大数据分析中，不同的建模方法适用于解决不同的任务。下面是一些常见任务及适用的建模方法：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诊断任务</a:t>
            </a:r>
            <a:r>
              <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预测任务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治疗建议任务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。治疗建议任务旨在为患者提供个性化的治疗方案。</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强化学习方法：可以模拟临床决策过程，在虚拟环境中学习最优治疗策略。</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机器学习方法：基于特定患者特征的治疗效果数据，可以使用监督学习算法来推荐治疗方案。</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常见建模方法</a:t>
            </a:r>
            <a:endParaRPr lang="zh-CN" altLang="en-US" dirty="0">
              <a:sym typeface="+mn-ea"/>
            </a:endParaRPr>
          </a:p>
        </p:txBody>
      </p:sp>
      <p:sp>
        <p:nvSpPr>
          <p:cNvPr id="3" name="文本框 2"/>
          <p:cNvSpPr txBox="1"/>
          <p:nvPr/>
        </p:nvSpPr>
        <p:spPr>
          <a:xfrm>
            <a:off x="523240" y="1513840"/>
            <a:ext cx="8080375" cy="50145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在医疗大数据分析中，不同的建模方法适用于解决不同的任务。下面是一些常见任务及适用的建模方法：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诊断任务</a:t>
            </a:r>
            <a:r>
              <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预测任务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治疗建议任务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患者管理任务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。患者分群旨在将患者根据某些特征或行为模式进行分组，以便于提供更个性化的服务。</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无监督学习方法：如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k-means</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聚类、层次聚类或谱聚类，可以用来识别患者子群体，便于进行针对性的患者管理和跟踪。</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半监督学习方法：在有限的标签数据情况下，可以用来提高患者分群的准确性。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常见建模方法</a:t>
            </a:r>
            <a:endParaRPr lang="zh-CN" altLang="en-US" dirty="0">
              <a:sym typeface="+mn-ea"/>
            </a:endParaRPr>
          </a:p>
        </p:txBody>
      </p:sp>
      <p:sp>
        <p:nvSpPr>
          <p:cNvPr id="3" name="文本框 2"/>
          <p:cNvSpPr txBox="1"/>
          <p:nvPr/>
        </p:nvSpPr>
        <p:spPr>
          <a:xfrm>
            <a:off x="523240" y="1513840"/>
            <a:ext cx="8080375" cy="5321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在医疗大数据分析中，不同的建模方法适用于解决不同的任务。下面是一些常见任务及适用的建模方法：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诊断任务</a:t>
            </a:r>
            <a:r>
              <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预测任务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治疗建议任务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患者管理任务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组学分析任务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。基因组学和转录组学分析，涉及了解遗传因素如何影响疾病的风险和药物反应。</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统计学习方法：如广义线性模型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(GLM)</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和多变量分析，常用于基因关联研究。</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深度学习方法：如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和图神经网络</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(GNN)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，可以用于从复杂的基因组数据中学习模式，识别疾病相关的基因变异。</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常见建模方法</a:t>
            </a:r>
            <a:endParaRPr lang="zh-CN" altLang="en-US" dirty="0">
              <a:sym typeface="+mn-ea"/>
            </a:endParaRPr>
          </a:p>
        </p:txBody>
      </p:sp>
      <p:sp>
        <p:nvSpPr>
          <p:cNvPr id="3" name="文本框 2"/>
          <p:cNvSpPr txBox="1"/>
          <p:nvPr/>
        </p:nvSpPr>
        <p:spPr>
          <a:xfrm>
            <a:off x="523240" y="1513840"/>
            <a:ext cx="8080375" cy="47066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在医疗大数据分析中，不同的建模方法适用于解决不同的任务。下面是一些常见任务及适用的建模方法：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诊断任务</a:t>
            </a:r>
            <a:r>
              <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预测任务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治疗建议任务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患者管理任务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组学分析任务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自然语言处理任务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。自然语言处理任务是从非结构化的医疗文本中提取有用信息，如临床笔记、医学文献或电子健康记录等。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传统机器学习模型：如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BOW</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TF-IDF</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914400" lvl="1" indent="-457200">
              <a:lnSpc>
                <a:spcPct val="150000"/>
              </a:lnSpc>
              <a:buFont typeface="Arial" panose="020B0604020202020204" pitchFamily="34" charset="0"/>
              <a:buChar char="•"/>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深度学习模型：如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BERT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Transformer</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建模方法选择的相关因素</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t>在选择适合的建模方法时，需要考虑以下因素：</a:t>
            </a:r>
            <a:endParaRPr lang="zh-CN" altLang="en-US" sz="2400" dirty="0"/>
          </a:p>
        </p:txBody>
      </p:sp>
      <p:sp>
        <p:nvSpPr>
          <p:cNvPr id="3" name="文本框 2"/>
          <p:cNvSpPr txBox="1"/>
          <p:nvPr/>
        </p:nvSpPr>
        <p:spPr>
          <a:xfrm>
            <a:off x="523240" y="1513840"/>
            <a:ext cx="8080375" cy="59378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数据类型和质量</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。结构化数据</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如表格数据</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可能更适合传统机器学习方法，而非结构化数据</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如文本或图像</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可能需要深度学习方法。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任务的复杂性</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。简单任务可能只需要简单的算法，而复杂任务</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如图像分割或自然语言理解</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可能需要复杂的深度学习模型。</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数据量</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。深度学习通常需要大量数据来训练，而在数据量较少的情况下，传统机器学习方法可能表现更好。</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计算资源</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。深度学习模型通常需要较多的计算资源进行训练和推理。</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1"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解释性要求</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。在某些临床应用中，模型的可解释性是非常重要的，传统机器学习模型在这方面可能比深度学习模型更有优势。</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2.3 </a:t>
            </a:r>
            <a:r>
              <a:rPr lang="zh-CN" altLang="en-US" dirty="0">
                <a:sym typeface="+mn-ea"/>
              </a:rPr>
              <a:t>医学数据分析算法</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pPr>
              <a:lnSpc>
                <a:spcPct val="150000"/>
              </a:lnSpc>
            </a:pPr>
            <a:r>
              <a:rPr lang="zh-CN" altLang="en-US" sz="2400" dirty="0">
                <a:sym typeface="+mn-ea"/>
              </a:rPr>
              <a:t>（</a:t>
            </a:r>
            <a:r>
              <a:rPr lang="en-US" altLang="zh-CN" sz="2400" dirty="0">
                <a:sym typeface="+mn-ea"/>
              </a:rPr>
              <a:t>1</a:t>
            </a:r>
            <a:r>
              <a:rPr lang="zh-CN" altLang="en-US" sz="2400" dirty="0">
                <a:sym typeface="+mn-ea"/>
              </a:rPr>
              <a:t>）</a:t>
            </a:r>
            <a:r>
              <a:rPr lang="zh-CN" altLang="en-US" sz="2400" dirty="0"/>
              <a:t>常见的医学数据分析算法</a:t>
            </a:r>
            <a:endParaRPr lang="zh-CN" altLang="en-US" sz="2400" dirty="0"/>
          </a:p>
          <a:p>
            <a:pPr>
              <a:lnSpc>
                <a:spcPct val="150000"/>
              </a:lnSpc>
            </a:pPr>
            <a:r>
              <a:rPr lang="zh-CN" altLang="en-US" sz="2400" dirty="0"/>
              <a:t>（</a:t>
            </a:r>
            <a:r>
              <a:rPr lang="en-US" altLang="zh-CN" sz="2400" dirty="0"/>
              <a:t>2</a:t>
            </a:r>
            <a:r>
              <a:rPr lang="zh-CN" altLang="en-US" sz="2400" dirty="0"/>
              <a:t>）算法的选择标准与局限性</a:t>
            </a:r>
            <a:endParaRPr lang="zh-CN" altLang="en-US" sz="2400" dirty="0"/>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）常见的医学数据分析算法</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常见的医学数据分析算法，包括医学统计学方法、传统机器学习方法、深度学习方法等。</a:t>
            </a:r>
            <a:endParaRPr lang="zh-CN" altLang="en-US" sz="2400" dirty="0"/>
          </a:p>
          <a:p>
            <a:pPr marL="0" indent="0">
              <a:buNone/>
            </a:pPr>
            <a:endParaRPr lang="zh-CN" altLang="en-US" sz="2400" dirty="0"/>
          </a:p>
        </p:txBody>
      </p:sp>
      <p:sp>
        <p:nvSpPr>
          <p:cNvPr id="3" name="文本框 2"/>
          <p:cNvSpPr txBox="1"/>
          <p:nvPr/>
        </p:nvSpPr>
        <p:spPr>
          <a:xfrm>
            <a:off x="523240" y="1800860"/>
            <a:ext cx="8080375" cy="1475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医学统计学方法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传统机器学习方法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深度学习方法</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医学统计学方法</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线性回归、逻辑回归和</a:t>
            </a:r>
            <a:r>
              <a:rPr lang="zh-CN" altLang="en-US" sz="2400" dirty="0">
                <a:sym typeface="+mn-ea"/>
              </a:rPr>
              <a:t>生存分析：</a:t>
            </a:r>
            <a:endParaRPr lang="zh-CN" altLang="en-US" sz="2400" dirty="0"/>
          </a:p>
          <a:p>
            <a:pPr marL="0" indent="0">
              <a:buNone/>
            </a:pPr>
            <a:endParaRPr lang="zh-CN" altLang="en-US" sz="2400" dirty="0"/>
          </a:p>
        </p:txBody>
      </p:sp>
      <p:sp>
        <p:nvSpPr>
          <p:cNvPr id="3" name="文本框 2"/>
          <p:cNvSpPr txBox="1"/>
          <p:nvPr/>
        </p:nvSpPr>
        <p:spPr>
          <a:xfrm>
            <a:off x="523240" y="1513840"/>
            <a:ext cx="8080375" cy="25520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线性回归：一种预测连续变量的方法，它通过拟合一条最佳直线</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或一个超平面，取决于变量的数量</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来描述自变量和因变量之间的线性关系。</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逻辑回归：用于处理二分类问题，即预测某个事件发生与否的概率。</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生存分析：一种统计方法，用来预测和分析事件</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如死亡或疾病复发</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发生的时间。它通常涉及危险函数和生存函数，其中著名的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Cox</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比例风险模型可以评估不同因素对生存时间的影响。</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p:nvPr/>
        </p:nvPicPr>
        <p:blipFill>
          <a:blip r:embed="rId1"/>
          <a:srcRect t="10053" b="4181"/>
          <a:stretch>
            <a:fillRect/>
          </a:stretch>
        </p:blipFill>
        <p:spPr>
          <a:xfrm>
            <a:off x="1259840" y="4220845"/>
            <a:ext cx="6259830" cy="2448560"/>
          </a:xfrm>
          <a:prstGeom prst="rect">
            <a:avLst/>
          </a:prstGeom>
        </p:spPr>
      </p:pic>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传统机器学习方法</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pPr marL="0" indent="0">
              <a:buNone/>
            </a:pPr>
            <a:endParaRPr lang="zh-CN" altLang="en-US" sz="2400" dirty="0"/>
          </a:p>
          <a:p>
            <a:pPr marL="0" indent="0">
              <a:buNone/>
            </a:pPr>
            <a:endParaRPr lang="zh-CN" altLang="en-US" sz="2400" dirty="0"/>
          </a:p>
        </p:txBody>
      </p:sp>
      <p:sp>
        <p:nvSpPr>
          <p:cNvPr id="3" name="文本框 2"/>
          <p:cNvSpPr txBox="1"/>
          <p:nvPr/>
        </p:nvSpPr>
        <p:spPr>
          <a:xfrm>
            <a:off x="307975" y="939800"/>
            <a:ext cx="8444230" cy="34753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决策树：一种分类和回归算法，它通过学习简单的决策规则从数据特征中推断出目标变量的值。在医学领域，决策树可以帮助医生根据病人的临床变量做出诊断决策。</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随机森林：一种集成学习方法，通过构建多个决策树并结合它们的预测结果来提高整体的预测准确性。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支持向量机：一种强大的分类方法，通过找到最优的超平面来区分不同的类别。它在医学图像分析和生物标记物的识别上有广泛的应用。</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K</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最近邻算法：通过查找测试数据点在特征空间中的最近邻居来进行分类或回归。在医学领域，它可以用于基于相似病例的诊断和治疗建议。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主成分分析：一种降维技术，它可以通过提取数据中的主要成分来简化数据集，同时保留最多的变异信息。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5" name="图片 4"/>
          <p:cNvPicPr>
            <a:picLocks noChangeAspect="1"/>
          </p:cNvPicPr>
          <p:nvPr/>
        </p:nvPicPr>
        <p:blipFill>
          <a:blip r:embed="rId1"/>
          <a:stretch>
            <a:fillRect/>
          </a:stretch>
        </p:blipFill>
        <p:spPr>
          <a:xfrm>
            <a:off x="1525905" y="4436745"/>
            <a:ext cx="6007735" cy="2374265"/>
          </a:xfrm>
          <a:prstGeom prst="rect">
            <a:avLst/>
          </a:prstGeom>
        </p:spPr>
      </p:pic>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深度学习方法</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深度学习已经在医疗诊断与预后的多个领域中得到应用</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513840"/>
            <a:ext cx="8080375" cy="47066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图像模态：乳腺癌检测。在乳腺癌检测中，深度学习，尤其是卷积神经网络被用来分析乳腺组织的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X</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光成像</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哺乳动物摄影术，或称为乳房</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X</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线摄影</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图像。这些模型通过从成千上万的带标签的图像中学习，可以识别图像中的微钙化、肿块和其他异常结构，这些往往是乳腺癌的早期迹象。</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序列数值：心脏疾病预测。利用深度学习分析心脏疾病患者的电子健康记录数据。循环神经网络，特别是长短期记忆网络，对于处理时间序列数据，如心脏监测数据或患者的临床访问记录，非常有效。这些网络能够从患者的历史医疗记录中学习并预测未来的心脏疾病风险。</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电信号模态：脑电波分析与癫痫预测。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深度学习，特别是卷积神经网络和循环神经网络的结合，被用于处理和分析脑电图</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(EEG)</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信号以识别癫痫发作。这些模型可以训练识别与癫痫发作相关的脑电波模式。通过实时监测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EEG</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信号，深度学习模型可以在癫痫发作前预警，从而允许患者采取预防措施，如寻找安全的地方或及时服药。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）算法的选择标准与局限性</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本小节讨论每种算法最适用的场合以及必须考虑的局限性或注意事项。</a:t>
            </a:r>
            <a:endParaRPr lang="zh-CN" altLang="en-US" sz="2400" dirty="0"/>
          </a:p>
          <a:p>
            <a:pPr marL="0" indent="0">
              <a:buNone/>
            </a:pPr>
            <a:endParaRPr lang="zh-CN" altLang="en-US" sz="2400" dirty="0"/>
          </a:p>
        </p:txBody>
      </p:sp>
      <p:sp>
        <p:nvSpPr>
          <p:cNvPr id="3" name="文本框 2"/>
          <p:cNvSpPr txBox="1"/>
          <p:nvPr/>
        </p:nvSpPr>
        <p:spPr>
          <a:xfrm>
            <a:off x="523240" y="1800860"/>
            <a:ext cx="8080375" cy="10134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算法选择标准</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算法局限性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算法选择标准</a:t>
            </a:r>
            <a:endParaRPr lang="zh-CN" altLang="en-US" dirty="0">
              <a:sym typeface="+mn-ea"/>
            </a:endParaRPr>
          </a:p>
        </p:txBody>
      </p:sp>
      <p:sp>
        <p:nvSpPr>
          <p:cNvPr id="3" name="文本框 2"/>
          <p:cNvSpPr txBox="1"/>
          <p:nvPr/>
        </p:nvSpPr>
        <p:spPr>
          <a:xfrm>
            <a:off x="523240" y="1442085"/>
            <a:ext cx="8080375" cy="409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数据的性质。算法的选择首先取决于数据类型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结构化数据、非结构化文本、影像等</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和数据的质量</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完整性、准确性、一致性</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问题的复杂性。算法需要能够处理问题的复杂性，如简单的分类问题可能适合应用逻辑回归，而复杂的模式识别或时间序列预测可能需要更高级的算法，如随机森林或深度学习。</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解释性需求。在医疗领域，模型的解释性至关重要。例如，决策树和线性回归模型可提供较好的可解释性，而深度学习模型则可能难以解释。</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算力和资源。算法的选择也受限于可用的计算资源。深度学习模型可能需要高性能的硬件支持，而其他模型，如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SVM</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或</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KNN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，可能对资源的要求较低。</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实时性需求。如果应用场景需要实时分析，算法的选择应考虑到推理速度。轻量级模型或已经经过优化的模型可能更适合。</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算法局限性</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在使用算法时，必须意识到以下局限性，并采取相应的措施</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800860"/>
            <a:ext cx="8221345" cy="50145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偏差。算法可能会继承训练数据中的偏见，导致结果对某些群体不公平。这要求在数据收集和预处理阶段就要进行偏差识别和缓解措施。</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过拟合。算法可能对训练数据过度拟合，而不能泛化到新的、未见过的数据上。为了避免过拟合，需要使用适当的正则化技术，以及在不同的数据集上进行交叉验证。</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t>
            </a:r>
            <a:endPar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可解释性。特别是在深度学习中，模型的黑箱特性可能导致医生和患者难以信任其决策。开发可解释的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AI</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模型或使用模型解释工具可以帮助缓解这个问题。</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数据隐私。在医疗领域，数据隐私尤为重要。算法在处理患者数据时必须遵守严格的数据保护法律和规则，如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GDPR</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数据质量和代表性。算法的性能很大程度上取决于训练数据的质量和代表性。数据的不足或偏差都会影响算法的准确性和可靠性。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临床验证。在算法应用于实际医疗决策之前，必须经过严格的临床验证，以确保其安全性和有效性。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更新和维护。随着时间的推移，算法可能需要更新以适应新的数据或医疗实践，这要求定期的模型维护和更新。</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2.4 </a:t>
            </a:r>
            <a:r>
              <a:rPr lang="zh-CN" altLang="en-US" dirty="0">
                <a:sym typeface="+mn-ea"/>
              </a:rPr>
              <a:t>数据预处理工具介绍</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pPr>
              <a:lnSpc>
                <a:spcPct val="150000"/>
              </a:lnSpc>
            </a:pPr>
            <a:r>
              <a:rPr lang="zh-CN" altLang="en-US" sz="2400" dirty="0">
                <a:sym typeface="+mn-ea"/>
              </a:rPr>
              <a:t>（</a:t>
            </a:r>
            <a:r>
              <a:rPr lang="en-US" altLang="zh-CN" sz="2400" dirty="0">
                <a:sym typeface="+mn-ea"/>
              </a:rPr>
              <a:t>1</a:t>
            </a:r>
            <a:r>
              <a:rPr lang="zh-CN" altLang="en-US" sz="2400" dirty="0">
                <a:sym typeface="+mn-ea"/>
              </a:rPr>
              <a:t>）</a:t>
            </a:r>
            <a:r>
              <a:rPr lang="en-US" altLang="zh-CN" sz="2400" dirty="0"/>
              <a:t>DICOM </a:t>
            </a:r>
            <a:r>
              <a:rPr lang="zh-CN" altLang="en-US" sz="2400" dirty="0"/>
              <a:t>图像预处理</a:t>
            </a:r>
            <a:endParaRPr lang="zh-CN" altLang="en-US" sz="2400" dirty="0"/>
          </a:p>
          <a:p>
            <a:pPr>
              <a:lnSpc>
                <a:spcPct val="150000"/>
              </a:lnSpc>
            </a:pPr>
            <a:r>
              <a:rPr lang="zh-CN" altLang="en-US" sz="2400" dirty="0"/>
              <a:t>（</a:t>
            </a:r>
            <a:r>
              <a:rPr lang="en-US" altLang="zh-CN" sz="2400" dirty="0"/>
              <a:t>2</a:t>
            </a:r>
            <a:r>
              <a:rPr lang="zh-CN" altLang="en-US" sz="2400" dirty="0"/>
              <a:t>）</a:t>
            </a:r>
            <a:r>
              <a:rPr lang="en-US" altLang="zh-CN" sz="2400" dirty="0"/>
              <a:t>EEG </a:t>
            </a:r>
            <a:r>
              <a:rPr lang="zh-CN" altLang="en-US" sz="2400" dirty="0"/>
              <a:t>脑电数据预处理</a:t>
            </a:r>
            <a:endParaRPr lang="zh-CN" altLang="en-US" sz="2400" dirty="0"/>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a:t>
            </a:r>
            <a:r>
              <a:rPr lang="en-US" altLang="zh-CN" dirty="0">
                <a:sym typeface="+mn-ea"/>
              </a:rPr>
              <a:t>DICOM</a:t>
            </a:r>
            <a:r>
              <a:rPr lang="zh-CN" altLang="en-US" dirty="0">
                <a:sym typeface="+mn-ea"/>
              </a:rPr>
              <a:t>图像预处理</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5212715"/>
          </a:xfrm>
          <a:prstGeom prst="rect">
            <a:avLst/>
          </a:prstGeom>
        </p:spPr>
        <p:txBody>
          <a:bodyPr>
            <a:normAutofit lnSpcReduction="10000"/>
          </a:bodyPr>
          <a:lstStyle/>
          <a:p>
            <a:r>
              <a:rPr lang="en-US" altLang="zh-CN" sz="2400" dirty="0"/>
              <a:t>DICOM</a:t>
            </a:r>
            <a:r>
              <a:rPr lang="zh-CN" altLang="en-US" sz="2400" dirty="0"/>
              <a:t>（</a:t>
            </a:r>
            <a:r>
              <a:rPr lang="en-US" altLang="zh-CN" sz="2400" dirty="0"/>
              <a:t>Digital Imaging and Communications in Medicine</a:t>
            </a:r>
            <a:r>
              <a:rPr lang="zh-CN" altLang="en-US" sz="2400" dirty="0"/>
              <a:t>）即医学数字成像和通信，是医学图像和相关信息的国际标准（</a:t>
            </a:r>
            <a:r>
              <a:rPr lang="en-US" altLang="zh-CN" sz="2400" dirty="0"/>
              <a:t>ISO 12052</a:t>
            </a:r>
            <a:r>
              <a:rPr lang="zh-CN" altLang="en-US" sz="2400" dirty="0"/>
              <a:t>）。它定义了质量能满足临床需要的可用于数据交换的</a:t>
            </a:r>
            <a:r>
              <a:rPr lang="zh-CN" altLang="en-US" sz="2400" dirty="0">
                <a:solidFill>
                  <a:srgbClr val="C00000"/>
                </a:solidFill>
              </a:rPr>
              <a:t>医学图像格式</a:t>
            </a:r>
            <a:r>
              <a:rPr lang="zh-CN" altLang="en-US" sz="2400" dirty="0"/>
              <a:t>。</a:t>
            </a:r>
            <a:r>
              <a:rPr lang="en-US" altLang="zh-CN" sz="2400" dirty="0"/>
              <a:t> </a:t>
            </a:r>
            <a:endParaRPr lang="en-US" altLang="zh-CN" sz="2400" dirty="0"/>
          </a:p>
          <a:p>
            <a:r>
              <a:rPr lang="en-US" altLang="zh-CN" sz="2400" dirty="0"/>
              <a:t>DICOM</a:t>
            </a:r>
            <a:r>
              <a:rPr lang="zh-CN" altLang="en-US" sz="2400" dirty="0"/>
              <a:t>被广泛应用于放射医疗，心血管成像以及放射诊疗诊断设备（</a:t>
            </a:r>
            <a:r>
              <a:rPr lang="en-US" altLang="zh-CN" sz="2400" dirty="0"/>
              <a:t>X</a:t>
            </a:r>
            <a:r>
              <a:rPr lang="zh-CN" altLang="en-US" sz="2400" dirty="0"/>
              <a:t>射线，</a:t>
            </a:r>
            <a:r>
              <a:rPr lang="en-US" altLang="zh-CN" sz="2400" dirty="0"/>
              <a:t>CT</a:t>
            </a:r>
            <a:r>
              <a:rPr lang="zh-CN" altLang="en-US" sz="2400" dirty="0"/>
              <a:t>，</a:t>
            </a:r>
            <a:r>
              <a:rPr lang="en-US" altLang="zh-CN" sz="2400" dirty="0"/>
              <a:t>MRI</a:t>
            </a:r>
            <a:r>
              <a:rPr lang="zh-CN" altLang="en-US" sz="2400" dirty="0"/>
              <a:t>，超声等），并且在眼科和牙科等其它医学领域得到越来越深入广泛的应用。在数以万计的在用医学成像设备中，</a:t>
            </a:r>
            <a:r>
              <a:rPr lang="en-US" altLang="zh-CN" sz="2400" dirty="0">
                <a:solidFill>
                  <a:srgbClr val="C00000"/>
                </a:solidFill>
              </a:rPr>
              <a:t>DICOM</a:t>
            </a:r>
            <a:r>
              <a:rPr lang="zh-CN" altLang="en-US" sz="2400" dirty="0">
                <a:solidFill>
                  <a:srgbClr val="C00000"/>
                </a:solidFill>
              </a:rPr>
              <a:t>是部署最为广泛的医疗信息标准之一</a:t>
            </a:r>
            <a:r>
              <a:rPr lang="zh-CN" altLang="en-US" sz="2400" dirty="0"/>
              <a:t>。当前大约有百亿级符合</a:t>
            </a:r>
            <a:r>
              <a:rPr lang="en-US" altLang="zh-CN" sz="2400" dirty="0"/>
              <a:t>DICOM</a:t>
            </a:r>
            <a:r>
              <a:rPr lang="zh-CN" altLang="en-US" sz="2400" dirty="0"/>
              <a:t>标准的医学图像用于临床使用。</a:t>
            </a:r>
            <a:endParaRPr lang="zh-CN" altLang="en-US" sz="2400" dirty="0"/>
          </a:p>
          <a:p>
            <a:r>
              <a:rPr lang="en-US" altLang="zh-CN" sz="2400" dirty="0"/>
              <a:t>RadiAnt</a:t>
            </a:r>
            <a:r>
              <a:rPr lang="zh-CN" altLang="en-US" sz="2400" dirty="0"/>
              <a:t>是一款医学图像查看器，支持包括</a:t>
            </a:r>
            <a:r>
              <a:rPr lang="en-US" altLang="zh-CN" sz="2400" dirty="0"/>
              <a:t>DICOM</a:t>
            </a:r>
            <a:r>
              <a:rPr lang="zh-CN" altLang="en-US" sz="2400" dirty="0"/>
              <a:t>在内的多种格式，用于浏览和处理</a:t>
            </a:r>
            <a:r>
              <a:rPr lang="en-US" altLang="zh-CN" sz="2400" b="1" dirty="0">
                <a:solidFill>
                  <a:srgbClr val="C00000"/>
                </a:solidFill>
              </a:rPr>
              <a:t>CT</a:t>
            </a:r>
            <a:r>
              <a:rPr lang="zh-CN" altLang="en-US" sz="2400" dirty="0"/>
              <a:t>和</a:t>
            </a:r>
            <a:r>
              <a:rPr lang="en-US" altLang="zh-CN" sz="2400" b="1" dirty="0">
                <a:solidFill>
                  <a:srgbClr val="C00000"/>
                </a:solidFill>
              </a:rPr>
              <a:t>MRI</a:t>
            </a:r>
            <a:r>
              <a:rPr lang="zh-CN" altLang="en-US" sz="2400" dirty="0"/>
              <a:t>等医学成像数据，通常包括序列选择、图像导出等操作</a:t>
            </a:r>
            <a:r>
              <a:rPr lang="zh-CN" altLang="en-US" sz="2400" dirty="0"/>
              <a:t>。</a:t>
            </a:r>
            <a:endParaRPr lang="zh-CN" altLang="en-US" sz="2400" dirty="0"/>
          </a:p>
          <a:p>
            <a:pPr marL="0" indent="0">
              <a:buNone/>
            </a:pPr>
            <a:endParaRPr lang="zh-CN" altLang="en-US" sz="2400" dirty="0"/>
          </a:p>
        </p:txBody>
      </p:sp>
      <p:sp>
        <p:nvSpPr>
          <p:cNvPr id="3" name="文本框 2"/>
          <p:cNvSpPr txBox="1"/>
          <p:nvPr/>
        </p:nvSpPr>
        <p:spPr>
          <a:xfrm>
            <a:off x="523240" y="5532120"/>
            <a:ext cx="8080375" cy="13208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序列选择</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图像导出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序列选择</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在</a:t>
            </a:r>
            <a:r>
              <a:rPr lang="en-US" altLang="zh-CN" sz="2400"/>
              <a:t>RadiAnt </a:t>
            </a:r>
            <a:r>
              <a:rPr lang="zh-CN" altLang="en-US" sz="2400"/>
              <a:t>中查看</a:t>
            </a:r>
            <a:r>
              <a:rPr lang="en-US" altLang="zh-CN" sz="2400"/>
              <a:t>CT</a:t>
            </a:r>
            <a:r>
              <a:rPr lang="zh-CN" altLang="en-US" sz="2400"/>
              <a:t>或</a:t>
            </a:r>
            <a:r>
              <a:rPr lang="en-US" altLang="zh-CN" sz="2400"/>
              <a:t>MRI</a:t>
            </a:r>
            <a:r>
              <a:rPr lang="zh-CN" altLang="en-US" sz="2400"/>
              <a:t>图像时，序列选择是选择感兴趣的特定图像组或扫描序列的过程</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955040" y="1845310"/>
            <a:ext cx="7665085" cy="10134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just"/>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打开图像。首先，打开包含所需图像序列的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DICOM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文件夹。如</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下图所示，通常可以通过单击软件中的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打开文件</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”(Open DICOM file)</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或</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打开文件夹</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”(Open DICOM folder)</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按钮完成。</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stretch>
            <a:fillRect/>
          </a:stretch>
        </p:blipFill>
        <p:spPr>
          <a:xfrm>
            <a:off x="1547495" y="2853055"/>
            <a:ext cx="6142990" cy="3883660"/>
          </a:xfrm>
          <a:prstGeom prst="rect">
            <a:avLst/>
          </a:prstGeom>
        </p:spPr>
      </p:pic>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序列选择</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浏览序列：</a:t>
            </a:r>
            <a:endParaRPr lang="zh-CN" altLang="en-US" sz="2400" dirty="0"/>
          </a:p>
          <a:p>
            <a:pPr marL="0" indent="0">
              <a:buNone/>
            </a:pPr>
            <a:endParaRPr lang="zh-CN" altLang="en-US" sz="2400" dirty="0"/>
          </a:p>
        </p:txBody>
      </p:sp>
      <p:sp>
        <p:nvSpPr>
          <p:cNvPr id="3" name="文本框 2"/>
          <p:cNvSpPr txBox="1"/>
          <p:nvPr/>
        </p:nvSpPr>
        <p:spPr>
          <a:xfrm>
            <a:off x="902970" y="1513840"/>
            <a:ext cx="7700645" cy="10134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just"/>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加载完</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DICOM</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文件夹后，</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RadiAnt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会</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显示所有可用的序列</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。每个序列将显示一张</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代表性的缩略图</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和一些</a:t>
            </a:r>
            <a:r>
              <a:rPr kumimoji="0" lang="zh-CN" altLang="en-US" sz="2000" b="0" i="0" u="none" strike="noStrike" cap="none" spc="0" normalizeH="0" baseline="0" dirty="0">
                <a:ln>
                  <a:noFill/>
                </a:ln>
                <a:solidFill>
                  <a:srgbClr val="C00000"/>
                </a:solidFill>
                <a:effectLst/>
                <a:uFillTx/>
                <a:latin typeface="黑体" panose="02010609060101010101" charset="-122"/>
                <a:ea typeface="黑体" panose="02010609060101010101" charset="-122"/>
                <a:cs typeface="黑体" panose="02010609060101010101" charset="-122"/>
                <a:sym typeface="+mn-ea"/>
              </a:rPr>
              <a:t>基本信息</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。通过单击这些缩略图，可以选择一个特定的序列来查看。</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srcRect b="24256"/>
          <a:stretch>
            <a:fillRect/>
          </a:stretch>
        </p:blipFill>
        <p:spPr>
          <a:xfrm>
            <a:off x="179705" y="2708275"/>
            <a:ext cx="8757285" cy="3660775"/>
          </a:xfrm>
          <a:prstGeom prst="rect">
            <a:avLst/>
          </a:prstGeom>
        </p:spPr>
      </p:pic>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序列选择</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查看细节：</a:t>
            </a:r>
            <a:endParaRPr lang="zh-CN" altLang="en-US" sz="2400" dirty="0"/>
          </a:p>
          <a:p>
            <a:pPr marL="0" indent="0">
              <a:buNone/>
            </a:pPr>
            <a:endParaRPr lang="zh-CN" altLang="en-US" sz="2400" dirty="0"/>
          </a:p>
        </p:txBody>
      </p:sp>
      <p:sp>
        <p:nvSpPr>
          <p:cNvPr id="3" name="文本框 2"/>
          <p:cNvSpPr txBox="1"/>
          <p:nvPr/>
        </p:nvSpPr>
        <p:spPr>
          <a:xfrm>
            <a:off x="777240" y="1513840"/>
            <a:ext cx="7826375" cy="10134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just"/>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选择一个序列后，可以使用软件的工具来放大、缩小、平移和调整图像的亮度与对比度。通常，还可以进行窗宽</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窗位的调整，这在查看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MRI</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图像时特别重要，如</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下图所示。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stretch>
            <a:fillRect/>
          </a:stretch>
        </p:blipFill>
        <p:spPr>
          <a:xfrm>
            <a:off x="611505" y="2565400"/>
            <a:ext cx="8164830" cy="3808730"/>
          </a:xfrm>
          <a:prstGeom prst="rect">
            <a:avLst/>
          </a:prstGeom>
        </p:spPr>
      </p:pic>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图像导出</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将图像从</a:t>
            </a:r>
            <a:r>
              <a:rPr lang="en-US" altLang="zh-CN" sz="2400"/>
              <a:t>RadiAnt</a:t>
            </a:r>
            <a:r>
              <a:rPr lang="zh-CN" altLang="en-US" sz="2400"/>
              <a:t>导出以用于报告、演示或进一步分析，通常涉及以下步骤</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872615"/>
            <a:ext cx="8080375" cy="409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选择图像。在浏览并找到想要导出的图像或序列后，可能需要使用软件提供的选择工具来指定特定的图像或整个序列。</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导出选项。通过访问软件的导出菜单，可以选择不同的导出选项。这些通常包括图像的文件格式</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DICOM</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JPEG</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BMP</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、当前图像序列或当前单张图像等，如下图</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所示。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保存图像。选择了所有导出选项后，可以选择保存位置并导出图像。导出的图像将被保存在指定的文件夹中。</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p:nvPr/>
        </p:nvPicPr>
        <p:blipFill>
          <a:blip r:embed="rId1"/>
          <a:stretch>
            <a:fillRect/>
          </a:stretch>
        </p:blipFill>
        <p:spPr>
          <a:xfrm>
            <a:off x="1403985" y="3500755"/>
            <a:ext cx="6201410" cy="1650365"/>
          </a:xfrm>
          <a:prstGeom prst="rect">
            <a:avLst/>
          </a:prstGeom>
        </p:spPr>
      </p:pic>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a:t>
            </a:r>
            <a:r>
              <a:rPr lang="en-US" altLang="zh-CN" dirty="0">
                <a:sym typeface="+mn-ea"/>
              </a:rPr>
              <a:t>EEG </a:t>
            </a:r>
            <a:r>
              <a:rPr lang="zh-CN" altLang="en-US" dirty="0">
                <a:sym typeface="+mn-ea"/>
              </a:rPr>
              <a:t>脑电数据预处理</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en-US" altLang="zh-CN" sz="2400" dirty="0"/>
              <a:t>EEG </a:t>
            </a:r>
            <a:r>
              <a:rPr lang="zh-CN" altLang="en-US" sz="2400" dirty="0"/>
              <a:t>脑电数据预处理包括导入文件、定位通道位置、删除无用通道、滤波、插值坏导、独立成分分析及剔除坏段等。</a:t>
            </a:r>
            <a:endParaRPr lang="zh-CN" altLang="en-US" sz="2400" dirty="0"/>
          </a:p>
          <a:p>
            <a:pPr marL="0" indent="0">
              <a:buNone/>
            </a:pPr>
            <a:endParaRPr lang="zh-CN" altLang="en-US" sz="2400" dirty="0"/>
          </a:p>
        </p:txBody>
      </p:sp>
      <p:sp>
        <p:nvSpPr>
          <p:cNvPr id="3" name="文本框 2"/>
          <p:cNvSpPr txBox="1"/>
          <p:nvPr/>
        </p:nvSpPr>
        <p:spPr>
          <a:xfrm>
            <a:off x="523240" y="2087880"/>
            <a:ext cx="8080375" cy="35369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导入文件</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定位通道位置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删除无用通道</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滤波</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插值坏导</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6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独立成分分析及剔除坏段</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60000"/>
              </a:lnSpc>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导入文件</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打开</a:t>
            </a:r>
            <a:r>
              <a:rPr lang="en-US" altLang="zh-CN" sz="2400"/>
              <a:t>MATLAB</a:t>
            </a:r>
            <a:r>
              <a:rPr lang="zh-CN" altLang="en-US" sz="2400"/>
              <a:t>，输入</a:t>
            </a:r>
            <a:r>
              <a:rPr lang="en-US" altLang="zh-CN" sz="2400"/>
              <a:t>EEGLAB</a:t>
            </a:r>
            <a:r>
              <a:rPr lang="zh-CN" altLang="en-US" sz="2400"/>
              <a:t>，按下回车键启动</a:t>
            </a:r>
            <a:r>
              <a:rPr lang="en-US" altLang="zh-CN" sz="2400"/>
              <a:t>EEGLAB</a:t>
            </a:r>
            <a:r>
              <a:rPr lang="zh-CN" altLang="en-US" sz="2400"/>
              <a:t>，如</a:t>
            </a:r>
            <a:r>
              <a:rPr lang="zh-CN" altLang="en-US" sz="2400"/>
              <a:t>下图所示</a:t>
            </a:r>
            <a:r>
              <a:rPr lang="zh-CN" altLang="en-US" sz="2400" dirty="0">
                <a:sym typeface="+mn-ea"/>
              </a:rPr>
              <a:t>：</a:t>
            </a:r>
            <a:endParaRPr lang="zh-CN" altLang="en-US" sz="2400" dirty="0"/>
          </a:p>
          <a:p>
            <a:pPr marL="0" indent="0">
              <a:buNone/>
            </a:pPr>
            <a:endParaRPr lang="zh-CN" altLang="en-US" sz="2400" dirty="0"/>
          </a:p>
        </p:txBody>
      </p:sp>
      <p:pic>
        <p:nvPicPr>
          <p:cNvPr id="5" name="图片 4"/>
          <p:cNvPicPr/>
          <p:nvPr/>
        </p:nvPicPr>
        <p:blipFill>
          <a:blip r:embed="rId1"/>
          <a:stretch>
            <a:fillRect/>
          </a:stretch>
        </p:blipFill>
        <p:spPr>
          <a:xfrm>
            <a:off x="1403350" y="1845310"/>
            <a:ext cx="6269355" cy="4907280"/>
          </a:xfrm>
          <a:prstGeom prst="rect">
            <a:avLst/>
          </a:prstGeom>
        </p:spPr>
      </p:pic>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导入文件</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得到初始</a:t>
            </a:r>
            <a:r>
              <a:rPr lang="en-US" altLang="zh-CN" sz="2400"/>
              <a:t>EEGLAB</a:t>
            </a:r>
            <a:r>
              <a:rPr lang="zh-CN" altLang="en-US" sz="2400"/>
              <a:t>界面，选择</a:t>
            </a:r>
            <a:r>
              <a:rPr lang="en-US" altLang="zh-CN" sz="2400"/>
              <a:t>File</a:t>
            </a:r>
            <a:r>
              <a:rPr lang="zh-CN" altLang="en-US" sz="2400"/>
              <a:t>、</a:t>
            </a:r>
            <a:r>
              <a:rPr lang="en-US" altLang="zh-CN" sz="2400"/>
              <a:t>import data</a:t>
            </a:r>
            <a:r>
              <a:rPr lang="zh-CN" altLang="en-US" sz="2400"/>
              <a:t>，根据具体脑电数据格式导入数据</a:t>
            </a:r>
            <a:r>
              <a:rPr lang="zh-CN" altLang="en-US" sz="2400" dirty="0">
                <a:sym typeface="+mn-ea"/>
              </a:rPr>
              <a:t>：</a:t>
            </a:r>
            <a:endParaRPr lang="zh-CN" altLang="en-US" sz="2400" dirty="0"/>
          </a:p>
          <a:p>
            <a:pPr marL="0" indent="0">
              <a:buNone/>
            </a:pPr>
            <a:endParaRPr lang="zh-CN" altLang="en-US" sz="2400" dirty="0"/>
          </a:p>
        </p:txBody>
      </p:sp>
      <p:pic>
        <p:nvPicPr>
          <p:cNvPr id="2" name="图片 1"/>
          <p:cNvPicPr/>
          <p:nvPr/>
        </p:nvPicPr>
        <p:blipFill>
          <a:blip r:embed="rId1"/>
          <a:stretch>
            <a:fillRect/>
          </a:stretch>
        </p:blipFill>
        <p:spPr>
          <a:xfrm>
            <a:off x="1259840" y="1845310"/>
            <a:ext cx="6626225" cy="4890770"/>
          </a:xfrm>
          <a:prstGeom prst="rect">
            <a:avLst/>
          </a:prstGeom>
        </p:spPr>
      </p:pic>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定位通道位置</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选择</a:t>
            </a:r>
            <a:r>
              <a:rPr lang="en-US" altLang="zh-CN" sz="2400"/>
              <a:t>Edit</a:t>
            </a:r>
            <a:r>
              <a:rPr lang="zh-CN" altLang="en-US" sz="2400"/>
              <a:t>，打开</a:t>
            </a:r>
            <a:r>
              <a:rPr lang="en-US" altLang="zh-CN" sz="2400"/>
              <a:t>Channel locations</a:t>
            </a:r>
            <a:r>
              <a:rPr lang="zh-CN" altLang="en-US" sz="2400"/>
              <a:t>，出现提示框选择单击模板，默认文件是</a:t>
            </a:r>
            <a:r>
              <a:rPr lang="en-US" altLang="zh-CN" sz="2400"/>
              <a:t>standard-10-5-cap385.elp</a:t>
            </a:r>
            <a:r>
              <a:rPr lang="zh-CN" altLang="en-US" sz="2400"/>
              <a:t>，单击确定，可以查看数据电极位置，如</a:t>
            </a:r>
            <a:r>
              <a:rPr lang="zh-CN" altLang="en-US" sz="2400"/>
              <a:t>下图所示</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755650" y="2205355"/>
            <a:ext cx="7634605" cy="4545965"/>
          </a:xfrm>
          <a:prstGeom prst="rect">
            <a:avLst/>
          </a:prstGeom>
        </p:spPr>
      </p:pic>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删除无用通道</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选择</a:t>
            </a:r>
            <a:r>
              <a:rPr lang="en-US" altLang="zh-CN" sz="2400"/>
              <a:t>Edit</a:t>
            </a:r>
            <a:r>
              <a:rPr lang="zh-CN" altLang="en-US" sz="2400"/>
              <a:t>，打开</a:t>
            </a:r>
            <a:r>
              <a:rPr lang="en-US" altLang="zh-CN" sz="2400"/>
              <a:t>Select data</a:t>
            </a:r>
            <a:r>
              <a:rPr lang="zh-CN" altLang="en-US" sz="2400"/>
              <a:t>，根据电极定位以及具体需要，删除无用数据，如</a:t>
            </a:r>
            <a:r>
              <a:rPr lang="zh-CN" altLang="en-US" sz="2400"/>
              <a:t>下图所示</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683260" y="2277110"/>
            <a:ext cx="7825740" cy="3369945"/>
          </a:xfrm>
          <a:prstGeom prst="rect">
            <a:avLst/>
          </a:prstGeom>
        </p:spPr>
      </p:pic>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滤波</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选择默认的滤波器进行</a:t>
            </a:r>
            <a:r>
              <a:rPr lang="en-US" altLang="zh-CN" sz="2400"/>
              <a:t>0</a:t>
            </a:r>
            <a:r>
              <a:rPr lang="zh-CN" altLang="en-US" sz="2400"/>
              <a:t>～</a:t>
            </a:r>
            <a:r>
              <a:rPr lang="en-US" altLang="zh-CN" sz="2400"/>
              <a:t>29Hz</a:t>
            </a:r>
            <a:r>
              <a:rPr lang="zh-CN" altLang="en-US" sz="2400"/>
              <a:t>的滤波</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827405" y="1557020"/>
            <a:ext cx="7207885" cy="5146675"/>
          </a:xfrm>
          <a:prstGeom prst="rect">
            <a:avLst/>
          </a:prstGeom>
        </p:spPr>
      </p:pic>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插值坏导</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对数据进行检查，如果发现某个通道的数据已损坏，可以用插值的方式来进行校正</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1547495" y="1845310"/>
            <a:ext cx="5963285" cy="4940935"/>
          </a:xfrm>
          <a:prstGeom prst="rect">
            <a:avLst/>
          </a:prstGeom>
        </p:spPr>
      </p:pic>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独立成分分析及剔除坏段</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使用</a:t>
            </a:r>
            <a:r>
              <a:rPr lang="en-US" altLang="zh-CN" sz="2400"/>
              <a:t>ICA</a:t>
            </a:r>
            <a:r>
              <a:rPr lang="zh-CN" altLang="en-US" sz="2400"/>
              <a:t>算法剔除伪迹，此步操作需要对每一个成分进行判断，耗时较长。</a:t>
            </a:r>
            <a:r>
              <a:rPr lang="en-US" altLang="zh-CN" sz="2400"/>
              <a:t>EEGLAB</a:t>
            </a:r>
            <a:r>
              <a:rPr lang="zh-CN" altLang="en-US" sz="2400"/>
              <a:t>提示一张画布只能画下</a:t>
            </a:r>
            <a:r>
              <a:rPr lang="en-US" altLang="zh-CN" sz="2400"/>
              <a:t>35</a:t>
            </a:r>
            <a:r>
              <a:rPr lang="zh-CN" altLang="en-US" sz="2400"/>
              <a:t>个图，剩下的会在第二张画布中画出</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2221865" y="2174240"/>
            <a:ext cx="4994910" cy="4650740"/>
          </a:xfrm>
          <a:prstGeom prst="rect">
            <a:avLst/>
          </a:prstGeom>
        </p:spPr>
      </p:pic>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独立成分分析及剔除坏段</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en-US" altLang="zh-CN" sz="2400"/>
              <a:t>ICA</a:t>
            </a:r>
            <a:r>
              <a:rPr lang="zh-CN" altLang="en-US" sz="2400"/>
              <a:t>还可以辨识和剔除眼电伪迹、肌电伪迹、坏导伪迹以及心电伪迹等</a:t>
            </a:r>
            <a:r>
              <a:rPr lang="zh-CN" altLang="en-US" sz="2400" dirty="0">
                <a:sym typeface="+mn-ea"/>
              </a:rPr>
              <a:t>：</a:t>
            </a:r>
            <a:endParaRPr lang="zh-CN" altLang="en-US" sz="2400" dirty="0"/>
          </a:p>
          <a:p>
            <a:pPr marL="0" indent="0">
              <a:buNone/>
            </a:pPr>
            <a:endParaRPr lang="zh-CN" altLang="en-US" sz="2400" dirty="0"/>
          </a:p>
        </p:txBody>
      </p:sp>
      <p:pic>
        <p:nvPicPr>
          <p:cNvPr id="3" name="图片 2"/>
          <p:cNvPicPr>
            <a:picLocks noChangeAspect="1"/>
          </p:cNvPicPr>
          <p:nvPr/>
        </p:nvPicPr>
        <p:blipFill>
          <a:blip r:embed="rId1"/>
          <a:stretch>
            <a:fillRect/>
          </a:stretch>
        </p:blipFill>
        <p:spPr>
          <a:xfrm>
            <a:off x="683260" y="1917065"/>
            <a:ext cx="7905115" cy="4632325"/>
          </a:xfrm>
          <a:prstGeom prst="rect">
            <a:avLst/>
          </a:prstGeom>
        </p:spPr>
      </p:pic>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sz="3700" dirty="0"/>
              <a:t>第</a:t>
            </a:r>
            <a:r>
              <a:rPr lang="zh-CN" altLang="en-US" sz="3700" dirty="0"/>
              <a:t>三部分：基于多模态数据融合的智慧医疗诊断模型开发</a:t>
            </a:r>
            <a:endParaRPr lang="zh-CN" altLang="en-US" sz="3700" dirty="0"/>
          </a:p>
        </p:txBody>
      </p:sp>
      <p:sp>
        <p:nvSpPr>
          <p:cNvPr id="6" name="Text Placeholder 5"/>
          <p:cNvSpPr>
            <a:spLocks noGrp="1"/>
          </p:cNvSpPr>
          <p:nvPr>
            <p:ph type="body" sz="quarter" idx="1"/>
          </p:nvPr>
        </p:nvSpPr>
        <p:spPr>
          <a:xfrm>
            <a:off x="1155065" y="3586480"/>
            <a:ext cx="7339330" cy="2799715"/>
          </a:xfrm>
        </p:spPr>
        <p:txBody>
          <a:bodyPr>
            <a:normAutofit/>
          </a:bodyPr>
          <a:lstStyle/>
          <a:p>
            <a:pPr algn="just"/>
            <a:r>
              <a:rPr lang="en-US" altLang="zh-CN" sz="3200" dirty="0"/>
              <a:t>3.1 </a:t>
            </a:r>
            <a:r>
              <a:rPr lang="zh-CN" altLang="en-US" sz="3200" dirty="0"/>
              <a:t>多模态数据预处理</a:t>
            </a:r>
            <a:endParaRPr lang="zh-CN" altLang="en-US" sz="3200" dirty="0"/>
          </a:p>
          <a:p>
            <a:pPr algn="just"/>
            <a:r>
              <a:rPr lang="en-US" altLang="zh-CN" sz="3200" dirty="0"/>
              <a:t>3.2 </a:t>
            </a:r>
            <a:r>
              <a:rPr lang="zh-CN" altLang="en-US" sz="3200" dirty="0"/>
              <a:t>多模态数据融合模型设计与开发</a:t>
            </a:r>
            <a:endParaRPr lang="zh-CN" altLang="en-US" sz="3200" dirty="0"/>
          </a:p>
          <a:p>
            <a:pPr algn="just"/>
            <a:r>
              <a:rPr lang="en-US" altLang="zh-CN" sz="3200" dirty="0"/>
              <a:t>3.3 </a:t>
            </a:r>
            <a:r>
              <a:rPr lang="zh-CN" altLang="en-US" sz="3200" dirty="0"/>
              <a:t>系统评测与分析</a:t>
            </a:r>
            <a:endParaRPr lang="zh-CN" altLang="en-US" sz="3200" dirty="0"/>
          </a:p>
        </p:txBody>
      </p:sp>
      <p:sp>
        <p:nvSpPr>
          <p:cNvPr id="2" name="灯片编号占位符 1"/>
          <p:cNvSpPr>
            <a:spLocks noGrp="1"/>
          </p:cNvSpPr>
          <p:nvPr>
            <p:ph type="sldNum" sz="quarter" idx="2"/>
          </p:nvPr>
        </p:nvSpPr>
        <p:spPr/>
        <p:txBody>
          <a:bodyPr/>
          <a:lstStyle/>
          <a:p>
            <a:fld id="{86CB4B4D-7CA3-9044-876B-883B54F8677D}" type="slidenum">
              <a:rPr lang="en-US" altLang="zh-CN" smtClean="0"/>
            </a:fld>
            <a:endParaRPr lang="en-US" altLang="zh-CN"/>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脓毒症</a:t>
            </a:r>
            <a:endParaRPr lang="zh-CN" altLang="en-US" dirty="0">
              <a:sym typeface="+mn-ea"/>
            </a:endParaRPr>
          </a:p>
        </p:txBody>
      </p:sp>
      <p:pic>
        <p:nvPicPr>
          <p:cNvPr id="20" name="图片 19"/>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95669" y="1269034"/>
            <a:ext cx="8078597" cy="4911419"/>
          </a:xfrm>
          <a:prstGeom prst="rect">
            <a:avLst/>
          </a:prstGeom>
        </p:spPr>
      </p:pic>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脓毒症引发的急性呼吸窘迫综合征</a:t>
            </a:r>
            <a:endParaRPr lang="zh-CN" altLang="en-US" dirty="0">
              <a:sym typeface="+mn-ea"/>
            </a:endParaRPr>
          </a:p>
        </p:txBody>
      </p:sp>
      <p:grpSp>
        <p:nvGrpSpPr>
          <p:cNvPr id="5" name="组合 4"/>
          <p:cNvGrpSpPr/>
          <p:nvPr/>
        </p:nvGrpSpPr>
        <p:grpSpPr>
          <a:xfrm>
            <a:off x="149225" y="1496695"/>
            <a:ext cx="8850630" cy="4985385"/>
            <a:chOff x="461" y="2357"/>
            <a:chExt cx="13938" cy="7851"/>
          </a:xfrm>
        </p:grpSpPr>
        <p:pic>
          <p:nvPicPr>
            <p:cNvPr id="2" name="图形 1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31" y="4311"/>
              <a:ext cx="2900" cy="2900"/>
            </a:xfrm>
            <a:prstGeom prst="rect">
              <a:avLst/>
            </a:prstGeom>
          </p:spPr>
        </p:pic>
        <p:pic>
          <p:nvPicPr>
            <p:cNvPr id="25" name="图形 2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31" y="2357"/>
              <a:ext cx="2213" cy="2213"/>
            </a:xfrm>
            <a:prstGeom prst="rect">
              <a:avLst/>
            </a:prstGeom>
          </p:spPr>
        </p:pic>
        <p:sp>
          <p:nvSpPr>
            <p:cNvPr id="26" name="文本框 25"/>
            <p:cNvSpPr txBox="1"/>
            <p:nvPr/>
          </p:nvSpPr>
          <p:spPr>
            <a:xfrm>
              <a:off x="4566" y="3186"/>
              <a:ext cx="2485" cy="485"/>
            </a:xfrm>
            <a:prstGeom prst="rect">
              <a:avLst/>
            </a:prstGeom>
            <a:noFill/>
          </p:spPr>
          <p:txBody>
            <a:bodyPr wrap="square" rtlCol="0">
              <a:spAutoFit/>
            </a:bodyPr>
            <a:p>
              <a:r>
                <a:rPr lang="zh-CN" altLang="en-US" sz="1400" dirty="0"/>
                <a:t>急性低氧血症</a:t>
              </a:r>
              <a:endParaRPr lang="zh-CN" altLang="en-US" sz="1400" dirty="0"/>
            </a:p>
          </p:txBody>
        </p:sp>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0" y="6438"/>
              <a:ext cx="1679" cy="1749"/>
            </a:xfrm>
            <a:prstGeom prst="rect">
              <a:avLst/>
            </a:prstGeom>
          </p:spPr>
        </p:pic>
        <p:pic>
          <p:nvPicPr>
            <p:cNvPr id="30" name="图片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05" y="6551"/>
              <a:ext cx="1722" cy="1736"/>
            </a:xfrm>
            <a:prstGeom prst="rect">
              <a:avLst/>
            </a:prstGeom>
          </p:spPr>
        </p:pic>
        <p:sp>
          <p:nvSpPr>
            <p:cNvPr id="31" name="文本框 30"/>
            <p:cNvSpPr txBox="1"/>
            <p:nvPr/>
          </p:nvSpPr>
          <p:spPr>
            <a:xfrm>
              <a:off x="461" y="8278"/>
              <a:ext cx="2889" cy="485"/>
            </a:xfrm>
            <a:prstGeom prst="rect">
              <a:avLst/>
            </a:prstGeom>
            <a:noFill/>
          </p:spPr>
          <p:txBody>
            <a:bodyPr wrap="square" rtlCol="0">
              <a:spAutoFit/>
            </a:bodyPr>
            <a:p>
              <a:r>
                <a:rPr lang="zh-CN" altLang="en-US" sz="1400" dirty="0"/>
                <a:t>弥漫性肺泡损伤</a:t>
              </a:r>
              <a:endParaRPr lang="zh-CN" altLang="en-US" sz="1400" dirty="0"/>
            </a:p>
          </p:txBody>
        </p:sp>
        <p:sp>
          <p:nvSpPr>
            <p:cNvPr id="32" name="文本框 31"/>
            <p:cNvSpPr txBox="1"/>
            <p:nvPr/>
          </p:nvSpPr>
          <p:spPr>
            <a:xfrm>
              <a:off x="5260" y="8339"/>
              <a:ext cx="1927" cy="485"/>
            </a:xfrm>
            <a:prstGeom prst="rect">
              <a:avLst/>
            </a:prstGeom>
            <a:noFill/>
          </p:spPr>
          <p:txBody>
            <a:bodyPr wrap="square" rtlCol="0">
              <a:spAutoFit/>
            </a:bodyPr>
            <a:p>
              <a:r>
                <a:rPr lang="zh-CN" altLang="en-US" sz="1400" dirty="0"/>
                <a:t>肺水肿</a:t>
              </a:r>
              <a:endParaRPr lang="zh-CN" altLang="en-US" sz="1400" dirty="0"/>
            </a:p>
          </p:txBody>
        </p:sp>
        <p:sp>
          <p:nvSpPr>
            <p:cNvPr id="35" name="文本框 34"/>
            <p:cNvSpPr txBox="1"/>
            <p:nvPr/>
          </p:nvSpPr>
          <p:spPr>
            <a:xfrm>
              <a:off x="3349" y="6378"/>
              <a:ext cx="1141" cy="485"/>
            </a:xfrm>
            <a:prstGeom prst="rect">
              <a:avLst/>
            </a:prstGeom>
            <a:noFill/>
          </p:spPr>
          <p:txBody>
            <a:bodyPr wrap="square" rtlCol="0">
              <a:spAutoFit/>
            </a:bodyPr>
            <a:p>
              <a:r>
                <a:rPr lang="en-US" altLang="zh-CN" sz="1400" dirty="0">
                  <a:latin typeface="+mn-ea"/>
                </a:rPr>
                <a:t>ARDS</a:t>
              </a:r>
              <a:endParaRPr lang="zh-CN" altLang="en-US" sz="1400" dirty="0">
                <a:latin typeface="+mn-ea"/>
              </a:endParaRPr>
            </a:p>
          </p:txBody>
        </p:sp>
        <p:pic>
          <p:nvPicPr>
            <p:cNvPr id="41" name="图形 4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11418" y="3299"/>
              <a:ext cx="1064" cy="958"/>
            </a:xfrm>
            <a:prstGeom prst="rect">
              <a:avLst/>
            </a:prstGeom>
          </p:spPr>
        </p:pic>
        <p:pic>
          <p:nvPicPr>
            <p:cNvPr id="43" name="图形 4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367" y="7529"/>
              <a:ext cx="954" cy="994"/>
            </a:xfrm>
            <a:prstGeom prst="rect">
              <a:avLst/>
            </a:prstGeom>
          </p:spPr>
        </p:pic>
        <p:pic>
          <p:nvPicPr>
            <p:cNvPr id="45" name="图形 44"/>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392" y="5400"/>
              <a:ext cx="886" cy="1134"/>
            </a:xfrm>
            <a:prstGeom prst="rect">
              <a:avLst/>
            </a:prstGeom>
          </p:spPr>
        </p:pic>
        <p:sp>
          <p:nvSpPr>
            <p:cNvPr id="46" name="文本框 45"/>
            <p:cNvSpPr txBox="1"/>
            <p:nvPr/>
          </p:nvSpPr>
          <p:spPr>
            <a:xfrm>
              <a:off x="12503" y="7865"/>
              <a:ext cx="1506" cy="485"/>
            </a:xfrm>
            <a:prstGeom prst="rect">
              <a:avLst/>
            </a:prstGeom>
            <a:noFill/>
          </p:spPr>
          <p:txBody>
            <a:bodyPr wrap="square" rtlCol="0">
              <a:spAutoFit/>
            </a:bodyPr>
            <a:p>
              <a:r>
                <a:rPr lang="en-US" altLang="zh-CN" sz="1400" dirty="0">
                  <a:latin typeface="+mn-ea"/>
                </a:rPr>
                <a:t>CT </a:t>
              </a:r>
              <a:r>
                <a:rPr lang="zh-CN" altLang="en-US" sz="1400" dirty="0">
                  <a:latin typeface="+mn-ea"/>
                </a:rPr>
                <a:t>扫描</a:t>
              </a:r>
              <a:endParaRPr lang="zh-CN" altLang="en-US" sz="1400" dirty="0">
                <a:latin typeface="+mn-ea"/>
              </a:endParaRPr>
            </a:p>
          </p:txBody>
        </p:sp>
        <p:cxnSp>
          <p:nvCxnSpPr>
            <p:cNvPr id="1034" name="直接箭头连接符 1033"/>
            <p:cNvCxnSpPr/>
            <p:nvPr/>
          </p:nvCxnSpPr>
          <p:spPr>
            <a:xfrm flipV="1">
              <a:off x="3781" y="4311"/>
              <a:ext cx="0" cy="545"/>
            </a:xfrm>
            <a:prstGeom prst="straightConnector1">
              <a:avLst/>
            </a:prstGeom>
            <a:ln w="1270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36" name="直接箭头连接符 1035"/>
            <p:cNvCxnSpPr/>
            <p:nvPr/>
          </p:nvCxnSpPr>
          <p:spPr>
            <a:xfrm flipH="1">
              <a:off x="2293" y="6605"/>
              <a:ext cx="424" cy="429"/>
            </a:xfrm>
            <a:prstGeom prst="straightConnector1">
              <a:avLst/>
            </a:prstGeom>
            <a:ln w="1270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38" name="直接箭头连接符 1037"/>
            <p:cNvCxnSpPr/>
            <p:nvPr/>
          </p:nvCxnSpPr>
          <p:spPr>
            <a:xfrm>
              <a:off x="4801" y="6593"/>
              <a:ext cx="417" cy="401"/>
            </a:xfrm>
            <a:prstGeom prst="straightConnector1">
              <a:avLst/>
            </a:prstGeom>
            <a:ln w="1270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46" name="直接箭头连接符 1045"/>
            <p:cNvCxnSpPr/>
            <p:nvPr/>
          </p:nvCxnSpPr>
          <p:spPr>
            <a:xfrm>
              <a:off x="10124" y="3667"/>
              <a:ext cx="0" cy="4511"/>
            </a:xfrm>
            <a:prstGeom prst="straightConnector1">
              <a:avLst/>
            </a:prstGeom>
            <a:ln w="12700">
              <a:solidFill>
                <a:schemeClr val="tx1"/>
              </a:solidFill>
              <a:headEnd w="sm" len="med"/>
              <a:tailEnd type="none" w="sm" len="med"/>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0124" y="3667"/>
              <a:ext cx="812" cy="0"/>
            </a:xfrm>
            <a:prstGeom prst="line">
              <a:avLst/>
            </a:prstGeom>
            <a:ln w="1270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0124" y="6037"/>
              <a:ext cx="812" cy="0"/>
            </a:xfrm>
            <a:prstGeom prst="line">
              <a:avLst/>
            </a:prstGeom>
            <a:ln w="12700">
              <a:solidFill>
                <a:schemeClr val="tx1"/>
              </a:solidFill>
              <a:headEnd w="med" len="sm"/>
              <a:tailEnd type="triangle" w="sm" len="med"/>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0124" y="8178"/>
              <a:ext cx="812" cy="0"/>
            </a:xfrm>
            <a:prstGeom prst="line">
              <a:avLst/>
            </a:prstGeom>
            <a:ln w="1270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1074" name="左大括号 1073"/>
            <p:cNvSpPr/>
            <p:nvPr/>
          </p:nvSpPr>
          <p:spPr>
            <a:xfrm rot="16200000">
              <a:off x="3564" y="6741"/>
              <a:ext cx="513" cy="5173"/>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75" name="文本框 1074"/>
            <p:cNvSpPr txBox="1"/>
            <p:nvPr/>
          </p:nvSpPr>
          <p:spPr>
            <a:xfrm>
              <a:off x="2912" y="9626"/>
              <a:ext cx="1931" cy="582"/>
            </a:xfrm>
            <a:prstGeom prst="rect">
              <a:avLst/>
            </a:prstGeom>
            <a:noFill/>
          </p:spPr>
          <p:txBody>
            <a:bodyPr wrap="square" rtlCol="0">
              <a:spAutoFit/>
            </a:bodyPr>
            <a:p>
              <a:r>
                <a:rPr lang="zh-CN" altLang="en-US" b="1" dirty="0">
                  <a:latin typeface="+mn-ea"/>
                </a:rPr>
                <a:t>主要表现</a:t>
              </a:r>
              <a:endParaRPr lang="zh-CN" altLang="en-US" b="1" dirty="0">
                <a:latin typeface="+mn-ea"/>
              </a:endParaRPr>
            </a:p>
          </p:txBody>
        </p:sp>
        <p:sp>
          <p:nvSpPr>
            <p:cNvPr id="1076" name="左大括号 1075"/>
            <p:cNvSpPr/>
            <p:nvPr/>
          </p:nvSpPr>
          <p:spPr>
            <a:xfrm rot="16200000">
              <a:off x="11510" y="7568"/>
              <a:ext cx="652" cy="3424"/>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078" name="文本框 1077"/>
            <p:cNvSpPr txBox="1"/>
            <p:nvPr/>
          </p:nvSpPr>
          <p:spPr>
            <a:xfrm>
              <a:off x="10870" y="9626"/>
              <a:ext cx="1931" cy="582"/>
            </a:xfrm>
            <a:prstGeom prst="rect">
              <a:avLst/>
            </a:prstGeom>
            <a:noFill/>
          </p:spPr>
          <p:txBody>
            <a:bodyPr wrap="square" rtlCol="0">
              <a:spAutoFit/>
            </a:bodyPr>
            <a:p>
              <a:r>
                <a:rPr lang="zh-CN" altLang="en-US" b="1" dirty="0">
                  <a:latin typeface="+mn-ea"/>
                </a:rPr>
                <a:t>诊断依据</a:t>
              </a:r>
              <a:endParaRPr lang="zh-CN" altLang="en-US" b="1" dirty="0">
                <a:latin typeface="+mn-ea"/>
              </a:endParaRPr>
            </a:p>
          </p:txBody>
        </p:sp>
        <p:cxnSp>
          <p:nvCxnSpPr>
            <p:cNvPr id="1084" name="直接箭头连接符 1083"/>
            <p:cNvCxnSpPr/>
            <p:nvPr/>
          </p:nvCxnSpPr>
          <p:spPr>
            <a:xfrm>
              <a:off x="8357" y="4034"/>
              <a:ext cx="0" cy="1294"/>
            </a:xfrm>
            <a:prstGeom prst="straightConnector1">
              <a:avLst/>
            </a:prstGeom>
            <a:ln w="1270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1085" name="文本框 1084"/>
            <p:cNvSpPr txBox="1"/>
            <p:nvPr/>
          </p:nvSpPr>
          <p:spPr>
            <a:xfrm>
              <a:off x="7491" y="2647"/>
              <a:ext cx="1789" cy="1454"/>
            </a:xfrm>
            <a:prstGeom prst="rect">
              <a:avLst/>
            </a:prstGeom>
            <a:noFill/>
          </p:spPr>
          <p:txBody>
            <a:bodyPr wrap="square">
              <a:spAutoFit/>
            </a:bodyPr>
            <a:p>
              <a:pPr defTabSz="685800" fontAlgn="auto">
                <a:spcBef>
                  <a:spcPts val="0"/>
                </a:spcBef>
                <a:spcAft>
                  <a:spcPts val="0"/>
                </a:spcAft>
              </a:pPr>
              <a:r>
                <a:rPr lang="zh-CN" altLang="en-US" sz="5400" b="0" dirty="0">
                  <a:solidFill>
                    <a:prstClr val="black"/>
                  </a:solidFill>
                  <a:latin typeface="等线" panose="02010600030101010101" charset="-122"/>
                  <a:ea typeface="等线" panose="02010600030101010101" charset="-122"/>
                  <a:cs typeface="+mn-cs"/>
                </a:rPr>
                <a:t>🌟</a:t>
              </a:r>
              <a:endParaRPr lang="zh-CN" altLang="en-US" sz="5400" b="0" dirty="0">
                <a:solidFill>
                  <a:prstClr val="black"/>
                </a:solidFill>
                <a:latin typeface="等线" panose="02010600030101010101" charset="-122"/>
                <a:ea typeface="等线" panose="02010600030101010101" charset="-122"/>
                <a:cs typeface="+mn-cs"/>
              </a:endParaRPr>
            </a:p>
          </p:txBody>
        </p:sp>
        <p:pic>
          <p:nvPicPr>
            <p:cNvPr id="1096" name="图形 1095"/>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847" y="7879"/>
              <a:ext cx="1033" cy="1033"/>
            </a:xfrm>
            <a:prstGeom prst="rect">
              <a:avLst/>
            </a:prstGeom>
          </p:spPr>
        </p:pic>
        <p:sp>
          <p:nvSpPr>
            <p:cNvPr id="1099" name="文本框 1098"/>
            <p:cNvSpPr txBox="1"/>
            <p:nvPr/>
          </p:nvSpPr>
          <p:spPr>
            <a:xfrm>
              <a:off x="8835" y="3045"/>
              <a:ext cx="1215" cy="485"/>
            </a:xfrm>
            <a:prstGeom prst="rect">
              <a:avLst/>
            </a:prstGeom>
            <a:noFill/>
          </p:spPr>
          <p:txBody>
            <a:bodyPr wrap="square" rtlCol="0">
              <a:spAutoFit/>
            </a:bodyPr>
            <a:p>
              <a:r>
                <a:rPr lang="zh-CN" altLang="en-US" sz="1400" dirty="0"/>
                <a:t>脓毒症</a:t>
              </a:r>
              <a:endParaRPr lang="zh-CN" altLang="en-US" sz="1400" dirty="0"/>
            </a:p>
          </p:txBody>
        </p:sp>
        <p:sp>
          <p:nvSpPr>
            <p:cNvPr id="1106" name="文本框 1105"/>
            <p:cNvSpPr txBox="1"/>
            <p:nvPr/>
          </p:nvSpPr>
          <p:spPr>
            <a:xfrm>
              <a:off x="8417" y="4415"/>
              <a:ext cx="715" cy="485"/>
            </a:xfrm>
            <a:prstGeom prst="rect">
              <a:avLst/>
            </a:prstGeom>
            <a:noFill/>
          </p:spPr>
          <p:txBody>
            <a:bodyPr wrap="none" rtlCol="0">
              <a:spAutoFit/>
            </a:bodyPr>
            <a:p>
              <a:r>
                <a:rPr lang="en-US" altLang="zh-CN" sz="1400" dirty="0">
                  <a:latin typeface="+mn-ea"/>
                </a:rPr>
                <a:t>40%</a:t>
              </a:r>
              <a:endParaRPr lang="zh-CN" altLang="en-US" sz="1400" dirty="0">
                <a:latin typeface="+mn-ea"/>
              </a:endParaRPr>
            </a:p>
          </p:txBody>
        </p:sp>
        <p:pic>
          <p:nvPicPr>
            <p:cNvPr id="1107" name="图形 110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85" y="5074"/>
              <a:ext cx="1927" cy="1927"/>
            </a:xfrm>
            <a:prstGeom prst="rect">
              <a:avLst/>
            </a:prstGeom>
          </p:spPr>
        </p:pic>
        <p:sp>
          <p:nvSpPr>
            <p:cNvPr id="1108" name="对话气泡: 椭圆形 1107"/>
            <p:cNvSpPr/>
            <p:nvPr/>
          </p:nvSpPr>
          <p:spPr>
            <a:xfrm>
              <a:off x="2337" y="4882"/>
              <a:ext cx="2881" cy="2010"/>
            </a:xfrm>
            <a:prstGeom prst="wedgeEllipseCallout">
              <a:avLst>
                <a:gd name="adj1" fmla="val 132607"/>
                <a:gd name="adj2" fmla="val 16373"/>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110" name="直接连接符 1109"/>
            <p:cNvCxnSpPr/>
            <p:nvPr/>
          </p:nvCxnSpPr>
          <p:spPr>
            <a:xfrm>
              <a:off x="9075" y="6037"/>
              <a:ext cx="1049" cy="0"/>
            </a:xfrm>
            <a:prstGeom prst="line">
              <a:avLst/>
            </a:prstGeom>
            <a:ln w="12700">
              <a:solidFill>
                <a:schemeClr val="tx1"/>
              </a:solidFill>
              <a:headEnd w="sm" len="med"/>
              <a:tailEnd w="sm" len="med"/>
            </a:ln>
          </p:spPr>
          <p:style>
            <a:lnRef idx="1">
              <a:schemeClr val="accent1"/>
            </a:lnRef>
            <a:fillRef idx="0">
              <a:schemeClr val="accent1"/>
            </a:fillRef>
            <a:effectRef idx="0">
              <a:schemeClr val="accent1"/>
            </a:effectRef>
            <a:fontRef idx="minor">
              <a:schemeClr val="tx1"/>
            </a:fontRef>
          </p:style>
        </p:cxnSp>
        <p:cxnSp>
          <p:nvCxnSpPr>
            <p:cNvPr id="1111" name="直接箭头连接符 1110"/>
            <p:cNvCxnSpPr/>
            <p:nvPr/>
          </p:nvCxnSpPr>
          <p:spPr>
            <a:xfrm>
              <a:off x="8342" y="6469"/>
              <a:ext cx="0" cy="1294"/>
            </a:xfrm>
            <a:prstGeom prst="straightConnector1">
              <a:avLst/>
            </a:prstGeom>
            <a:ln w="1270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1112" name="文本框 1111"/>
            <p:cNvSpPr txBox="1"/>
            <p:nvPr/>
          </p:nvSpPr>
          <p:spPr>
            <a:xfrm>
              <a:off x="8704" y="8488"/>
              <a:ext cx="1215" cy="485"/>
            </a:xfrm>
            <a:prstGeom prst="rect">
              <a:avLst/>
            </a:prstGeom>
            <a:noFill/>
          </p:spPr>
          <p:txBody>
            <a:bodyPr wrap="square" rtlCol="0">
              <a:spAutoFit/>
            </a:bodyPr>
            <a:p>
              <a:r>
                <a:rPr lang="zh-CN" altLang="en-US" sz="1400" dirty="0"/>
                <a:t>死亡</a:t>
              </a:r>
              <a:endParaRPr lang="zh-CN" altLang="en-US" sz="1400" dirty="0"/>
            </a:p>
          </p:txBody>
        </p:sp>
        <p:sp>
          <p:nvSpPr>
            <p:cNvPr id="1113" name="文本框 1112"/>
            <p:cNvSpPr txBox="1"/>
            <p:nvPr/>
          </p:nvSpPr>
          <p:spPr>
            <a:xfrm>
              <a:off x="8413" y="6984"/>
              <a:ext cx="715" cy="485"/>
            </a:xfrm>
            <a:prstGeom prst="rect">
              <a:avLst/>
            </a:prstGeom>
            <a:noFill/>
          </p:spPr>
          <p:txBody>
            <a:bodyPr wrap="none" rtlCol="0">
              <a:spAutoFit/>
            </a:bodyPr>
            <a:p>
              <a:r>
                <a:rPr lang="en-US" altLang="zh-CN" sz="1400" dirty="0">
                  <a:latin typeface="+mn-ea"/>
                </a:rPr>
                <a:t>40%</a:t>
              </a:r>
              <a:endParaRPr lang="zh-CN" altLang="en-US" sz="1400" dirty="0">
                <a:latin typeface="+mn-ea"/>
              </a:endParaRPr>
            </a:p>
          </p:txBody>
        </p:sp>
        <p:sp>
          <p:nvSpPr>
            <p:cNvPr id="1114" name="文本框 1113"/>
            <p:cNvSpPr txBox="1"/>
            <p:nvPr/>
          </p:nvSpPr>
          <p:spPr>
            <a:xfrm>
              <a:off x="12503" y="3620"/>
              <a:ext cx="1781" cy="485"/>
            </a:xfrm>
            <a:prstGeom prst="rect">
              <a:avLst/>
            </a:prstGeom>
            <a:noFill/>
          </p:spPr>
          <p:txBody>
            <a:bodyPr wrap="square" rtlCol="0">
              <a:spAutoFit/>
            </a:bodyPr>
            <a:p>
              <a:r>
                <a:rPr lang="zh-CN" altLang="en-US" sz="1400" dirty="0">
                  <a:latin typeface="+mn-ea"/>
                </a:rPr>
                <a:t>临床症状</a:t>
              </a:r>
              <a:endParaRPr lang="zh-CN" altLang="en-US" sz="1400" dirty="0">
                <a:latin typeface="+mn-ea"/>
              </a:endParaRPr>
            </a:p>
          </p:txBody>
        </p:sp>
        <p:sp>
          <p:nvSpPr>
            <p:cNvPr id="1115" name="文本框 1114"/>
            <p:cNvSpPr txBox="1"/>
            <p:nvPr/>
          </p:nvSpPr>
          <p:spPr>
            <a:xfrm>
              <a:off x="12503" y="5742"/>
              <a:ext cx="1897" cy="485"/>
            </a:xfrm>
            <a:prstGeom prst="rect">
              <a:avLst/>
            </a:prstGeom>
            <a:noFill/>
          </p:spPr>
          <p:txBody>
            <a:bodyPr wrap="square" rtlCol="0">
              <a:spAutoFit/>
            </a:bodyPr>
            <a:p>
              <a:r>
                <a:rPr lang="zh-CN" altLang="en-US" sz="1400" dirty="0">
                  <a:latin typeface="+mn-ea"/>
                </a:rPr>
                <a:t>实验室检测</a:t>
              </a:r>
              <a:endParaRPr lang="zh-CN" altLang="en-US" sz="1400" dirty="0">
                <a:latin typeface="+mn-ea"/>
              </a:endParaRPr>
            </a:p>
          </p:txBody>
        </p:sp>
        <p:sp>
          <p:nvSpPr>
            <p:cNvPr id="1116" name="文本框 1115"/>
            <p:cNvSpPr txBox="1"/>
            <p:nvPr/>
          </p:nvSpPr>
          <p:spPr>
            <a:xfrm>
              <a:off x="8968" y="6176"/>
              <a:ext cx="1141" cy="485"/>
            </a:xfrm>
            <a:prstGeom prst="rect">
              <a:avLst/>
            </a:prstGeom>
            <a:noFill/>
          </p:spPr>
          <p:txBody>
            <a:bodyPr wrap="square" rtlCol="0">
              <a:spAutoFit/>
            </a:bodyPr>
            <a:p>
              <a:r>
                <a:rPr lang="en-US" altLang="zh-CN" sz="1400" dirty="0">
                  <a:latin typeface="+mn-ea"/>
                </a:rPr>
                <a:t>ARDS</a:t>
              </a:r>
              <a:endParaRPr lang="zh-CN" altLang="en-US" sz="1400" dirty="0">
                <a:latin typeface="+mn-ea"/>
              </a:endParaRPr>
            </a:p>
          </p:txBody>
        </p:sp>
      </p:gr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模型开发流程图</a:t>
            </a:r>
            <a:endParaRPr lang="zh-CN" altLang="en-US" dirty="0">
              <a:sym typeface="+mn-ea"/>
            </a:endParaRPr>
          </a:p>
        </p:txBody>
      </p:sp>
      <p:sp>
        <p:nvSpPr>
          <p:cNvPr id="6" name="文本框 5"/>
          <p:cNvSpPr txBox="1"/>
          <p:nvPr/>
        </p:nvSpPr>
        <p:spPr>
          <a:xfrm>
            <a:off x="394970" y="1340485"/>
            <a:ext cx="5186045" cy="4399915"/>
          </a:xfrm>
          <a:prstGeom prst="rect">
            <a:avLst/>
          </a:prstGeom>
        </p:spPr>
        <p:txBody>
          <a:bodyPr wrap="square">
            <a:spAutoFit/>
          </a:bodyPr>
          <a:p>
            <a:r>
              <a:rPr lang="zh-CN" altLang="en-US" sz="2000">
                <a:solidFill>
                  <a:srgbClr val="000000"/>
                </a:solidFill>
              </a:rPr>
              <a:t>本节将以脓毒症引发的急性呼吸窘迫综合征</a:t>
            </a:r>
            <a:r>
              <a:rPr lang="en-US" altLang="zh-CN" sz="2000">
                <a:solidFill>
                  <a:srgbClr val="000000"/>
                </a:solidFill>
              </a:rPr>
              <a:t>(sepsis-induced ARDS</a:t>
            </a:r>
            <a:r>
              <a:rPr lang="zh-CN" altLang="en-US" sz="2000">
                <a:solidFill>
                  <a:srgbClr val="000000"/>
                </a:solidFill>
              </a:rPr>
              <a:t>，</a:t>
            </a:r>
            <a:r>
              <a:rPr lang="en-US" altLang="zh-CN" sz="2000">
                <a:solidFill>
                  <a:srgbClr val="000000"/>
                </a:solidFill>
              </a:rPr>
              <a:t>SI-ARDS)</a:t>
            </a:r>
            <a:r>
              <a:rPr lang="zh-CN" altLang="en-US" sz="2000">
                <a:solidFill>
                  <a:srgbClr val="000000"/>
                </a:solidFill>
              </a:rPr>
              <a:t>为例，介绍基于多模态数据融合的智慧医疗诊断模型开发。</a:t>
            </a:r>
            <a:endParaRPr lang="zh-CN" altLang="en-US" sz="2000">
              <a:solidFill>
                <a:srgbClr val="000000"/>
              </a:solidFill>
            </a:endParaRPr>
          </a:p>
          <a:p>
            <a:endParaRPr lang="zh-CN" altLang="en-US" sz="2000">
              <a:solidFill>
                <a:srgbClr val="000000"/>
              </a:solidFill>
            </a:endParaRPr>
          </a:p>
          <a:p>
            <a:r>
              <a:rPr lang="en-US" altLang="zh-CN" sz="2000">
                <a:solidFill>
                  <a:srgbClr val="000000"/>
                </a:solidFill>
              </a:rPr>
              <a:t>SI-ARDS</a:t>
            </a:r>
            <a:r>
              <a:rPr lang="zh-CN" altLang="en-US" sz="2000">
                <a:solidFill>
                  <a:srgbClr val="000000"/>
                </a:solidFill>
              </a:rPr>
              <a:t>是一种由严重感染引起的急性呼吸窘迫综合征，表现为患者的急性呼吸困难、低氧血症和双侧肺部渗透性改变。</a:t>
            </a:r>
            <a:r>
              <a:rPr lang="en-US" altLang="zh-CN" sz="2000">
                <a:solidFill>
                  <a:srgbClr val="000000"/>
                </a:solidFill>
              </a:rPr>
              <a:t>SI-ARDS</a:t>
            </a:r>
            <a:r>
              <a:rPr lang="zh-CN" altLang="en-US" sz="2000">
                <a:solidFill>
                  <a:srgbClr val="000000"/>
                </a:solidFill>
              </a:rPr>
              <a:t>的快速诊断和有效治疗至关重要，因为其具有较高的死亡率。</a:t>
            </a:r>
            <a:endParaRPr lang="zh-CN" altLang="en-US" sz="2000">
              <a:solidFill>
                <a:srgbClr val="000000"/>
              </a:solidFill>
            </a:endParaRPr>
          </a:p>
          <a:p>
            <a:endParaRPr lang="zh-CN" altLang="en-US" sz="2000">
              <a:solidFill>
                <a:srgbClr val="000000"/>
              </a:solidFill>
            </a:endParaRPr>
          </a:p>
          <a:p>
            <a:r>
              <a:rPr lang="zh-CN" altLang="en-US" sz="2000">
                <a:solidFill>
                  <a:srgbClr val="000000"/>
                </a:solidFill>
              </a:rPr>
              <a:t>本研究中采用了</a:t>
            </a:r>
            <a:r>
              <a:rPr lang="en-US" altLang="zh-CN" sz="2000">
                <a:solidFill>
                  <a:srgbClr val="000000"/>
                </a:solidFill>
              </a:rPr>
              <a:t>KM3T</a:t>
            </a:r>
            <a:r>
              <a:rPr lang="zh-CN" altLang="en-US" sz="2000">
                <a:solidFill>
                  <a:srgbClr val="000000"/>
                </a:solidFill>
              </a:rPr>
              <a:t>模型，这是一种结合了知识图谱和深度学习技术的多模态数据融合模型，专门用于处理复杂的医疗诊断问题。</a:t>
            </a:r>
            <a:endParaRPr lang="zh-CN" altLang="en-US" sz="2000">
              <a:solidFill>
                <a:srgbClr val="000000"/>
              </a:solidFill>
            </a:endParaRPr>
          </a:p>
        </p:txBody>
      </p:sp>
      <p:sp>
        <p:nvSpPr>
          <p:cNvPr id="3" name="矩形: 圆角 2"/>
          <p:cNvSpPr/>
          <p:nvPr/>
        </p:nvSpPr>
        <p:spPr>
          <a:xfrm>
            <a:off x="6476349" y="1667083"/>
            <a:ext cx="1844056" cy="588102"/>
          </a:xfrm>
          <a:prstGeom prst="roundRect">
            <a:avLst/>
          </a:prstGeom>
          <a:solidFill>
            <a:srgbClr val="EDF2FD"/>
          </a:solidFill>
          <a:ln>
            <a:solidFill>
              <a:srgbClr val="709A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a:solidFill>
                  <a:schemeClr val="tx1">
                    <a:lumMod val="85000"/>
                    <a:lumOff val="15000"/>
                  </a:schemeClr>
                </a:solidFill>
                <a:latin typeface="黑体" panose="02010609060101010101" charset="-122"/>
                <a:ea typeface="黑体" panose="02010609060101010101" charset="-122"/>
              </a:rPr>
              <a:t>数据收集</a:t>
            </a:r>
            <a:endParaRPr lang="zh-CN" altLang="en-US" dirty="0">
              <a:solidFill>
                <a:schemeClr val="tx1">
                  <a:lumMod val="85000"/>
                  <a:lumOff val="15000"/>
                </a:schemeClr>
              </a:solidFill>
              <a:latin typeface="黑体" panose="02010609060101010101" charset="-122"/>
              <a:ea typeface="黑体" panose="02010609060101010101" charset="-122"/>
            </a:endParaRPr>
          </a:p>
        </p:txBody>
      </p:sp>
      <p:cxnSp>
        <p:nvCxnSpPr>
          <p:cNvPr id="4" name="直接箭头连接符 3"/>
          <p:cNvCxnSpPr>
            <a:stCxn id="3" idx="2"/>
            <a:endCxn id="2" idx="0"/>
          </p:cNvCxnSpPr>
          <p:nvPr/>
        </p:nvCxnSpPr>
        <p:spPr>
          <a:xfrm>
            <a:off x="7398377" y="2255185"/>
            <a:ext cx="0" cy="38844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矩形: 圆角 5"/>
          <p:cNvSpPr/>
          <p:nvPr/>
        </p:nvSpPr>
        <p:spPr>
          <a:xfrm>
            <a:off x="6476348" y="2643627"/>
            <a:ext cx="1844057" cy="588102"/>
          </a:xfrm>
          <a:prstGeom prst="roundRect">
            <a:avLst/>
          </a:prstGeom>
          <a:solidFill>
            <a:srgbClr val="EDF2FD"/>
          </a:solidFill>
          <a:ln>
            <a:solidFill>
              <a:srgbClr val="709A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a:solidFill>
                  <a:schemeClr val="tx1">
                    <a:lumMod val="85000"/>
                    <a:lumOff val="15000"/>
                  </a:schemeClr>
                </a:solidFill>
                <a:latin typeface="黑体" panose="02010609060101010101" charset="-122"/>
                <a:ea typeface="黑体" panose="02010609060101010101" charset="-122"/>
              </a:rPr>
              <a:t>多模态数据预处理</a:t>
            </a:r>
            <a:endParaRPr lang="zh-CN" altLang="en-US" dirty="0">
              <a:solidFill>
                <a:schemeClr val="tx1">
                  <a:lumMod val="85000"/>
                  <a:lumOff val="15000"/>
                </a:schemeClr>
              </a:solidFill>
              <a:latin typeface="黑体" panose="02010609060101010101" charset="-122"/>
              <a:ea typeface="黑体" panose="02010609060101010101" charset="-122"/>
            </a:endParaRPr>
          </a:p>
        </p:txBody>
      </p:sp>
      <p:cxnSp>
        <p:nvCxnSpPr>
          <p:cNvPr id="7" name="直接箭头连接符 6"/>
          <p:cNvCxnSpPr/>
          <p:nvPr/>
        </p:nvCxnSpPr>
        <p:spPr>
          <a:xfrm flipH="1">
            <a:off x="7398374" y="3248759"/>
            <a:ext cx="1" cy="37141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矩形: 圆角 7"/>
          <p:cNvSpPr/>
          <p:nvPr/>
        </p:nvSpPr>
        <p:spPr>
          <a:xfrm>
            <a:off x="6476348" y="3603141"/>
            <a:ext cx="1844056" cy="588102"/>
          </a:xfrm>
          <a:prstGeom prst="roundRect">
            <a:avLst/>
          </a:prstGeom>
          <a:solidFill>
            <a:srgbClr val="EDF2FD"/>
          </a:solidFill>
          <a:ln>
            <a:solidFill>
              <a:srgbClr val="709A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a:solidFill>
                  <a:schemeClr val="tx1">
                    <a:lumMod val="85000"/>
                    <a:lumOff val="15000"/>
                  </a:schemeClr>
                </a:solidFill>
                <a:latin typeface="黑体" panose="02010609060101010101" charset="-122"/>
                <a:ea typeface="黑体" panose="02010609060101010101" charset="-122"/>
              </a:rPr>
              <a:t>多模态数据融合模型设计与开发</a:t>
            </a:r>
            <a:endParaRPr lang="zh-CN" altLang="en-US" dirty="0">
              <a:solidFill>
                <a:schemeClr val="tx1">
                  <a:lumMod val="85000"/>
                  <a:lumOff val="15000"/>
                </a:schemeClr>
              </a:solidFill>
              <a:latin typeface="黑体" panose="02010609060101010101" charset="-122"/>
              <a:ea typeface="黑体" panose="02010609060101010101" charset="-122"/>
            </a:endParaRPr>
          </a:p>
        </p:txBody>
      </p:sp>
      <p:cxnSp>
        <p:nvCxnSpPr>
          <p:cNvPr id="9" name="直接箭头连接符 8"/>
          <p:cNvCxnSpPr/>
          <p:nvPr/>
        </p:nvCxnSpPr>
        <p:spPr>
          <a:xfrm flipH="1">
            <a:off x="7398373" y="4191243"/>
            <a:ext cx="1" cy="37141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圆角 9"/>
          <p:cNvSpPr/>
          <p:nvPr/>
        </p:nvSpPr>
        <p:spPr>
          <a:xfrm>
            <a:off x="6476345" y="4532228"/>
            <a:ext cx="1844056" cy="588103"/>
          </a:xfrm>
          <a:prstGeom prst="roundRect">
            <a:avLst/>
          </a:prstGeom>
          <a:solidFill>
            <a:srgbClr val="EDF2FD"/>
          </a:solidFill>
          <a:ln>
            <a:solidFill>
              <a:srgbClr val="709A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a:solidFill>
                  <a:schemeClr val="tx1">
                    <a:lumMod val="85000"/>
                    <a:lumOff val="15000"/>
                  </a:schemeClr>
                </a:solidFill>
                <a:latin typeface="黑体" panose="02010609060101010101" charset="-122"/>
                <a:ea typeface="黑体" panose="02010609060101010101" charset="-122"/>
              </a:rPr>
              <a:t>系统评测与分析</a:t>
            </a:r>
            <a:endParaRPr lang="zh-CN" altLang="en-US" dirty="0">
              <a:solidFill>
                <a:schemeClr val="tx1">
                  <a:lumMod val="85000"/>
                  <a:lumOff val="15000"/>
                </a:schemeClr>
              </a:solidFill>
              <a:latin typeface="黑体" panose="02010609060101010101" charset="-122"/>
              <a:ea typeface="黑体" panose="02010609060101010101" charset="-122"/>
            </a:endParaRPr>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模型</a:t>
            </a:r>
            <a:r>
              <a:rPr lang="zh-CN" altLang="en-US" dirty="0">
                <a:sym typeface="+mn-ea"/>
              </a:rPr>
              <a:t>框架图</a:t>
            </a:r>
            <a:endParaRPr lang="zh-CN" altLang="en-US" dirty="0">
              <a:sym typeface="+mn-ea"/>
            </a:endParaRPr>
          </a:p>
        </p:txBody>
      </p:sp>
      <p:pic>
        <p:nvPicPr>
          <p:cNvPr id="5" name="图片 4"/>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95605" y="1125220"/>
            <a:ext cx="8673465" cy="4808855"/>
          </a:xfrm>
          <a:prstGeom prst="rect">
            <a:avLst/>
          </a:prstGeom>
        </p:spPr>
      </p:pic>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3.1 </a:t>
            </a:r>
            <a:r>
              <a:rPr lang="zh-CN" altLang="en-US" dirty="0">
                <a:sym typeface="+mn-ea"/>
              </a:rPr>
              <a:t>多模态数据预处理</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a:t>
            </a:r>
            <a:r>
              <a:rPr lang="en-US" altLang="zh-CN" sz="2400" dirty="0">
                <a:sym typeface="+mn-ea"/>
              </a:rPr>
              <a:t>1</a:t>
            </a:r>
            <a:r>
              <a:rPr lang="zh-CN" altLang="en-US" sz="2400" dirty="0">
                <a:sym typeface="+mn-ea"/>
              </a:rPr>
              <a:t>）</a:t>
            </a:r>
            <a:r>
              <a:rPr lang="en-US" altLang="zh-CN" sz="2400" dirty="0"/>
              <a:t>CT</a:t>
            </a:r>
            <a:r>
              <a:rPr lang="zh-CN" altLang="en-US" sz="2400" dirty="0"/>
              <a:t>影像数据</a:t>
            </a:r>
            <a:endParaRPr lang="zh-CN" altLang="en-US" sz="2400" dirty="0"/>
          </a:p>
          <a:p>
            <a:r>
              <a:rPr lang="zh-CN" altLang="en-US" sz="2400" dirty="0"/>
              <a:t>（</a:t>
            </a:r>
            <a:r>
              <a:rPr lang="en-US" altLang="zh-CN" sz="2400" dirty="0"/>
              <a:t>2</a:t>
            </a:r>
            <a:r>
              <a:rPr lang="zh-CN" altLang="en-US" sz="2400" dirty="0"/>
              <a:t>）文本报告数据</a:t>
            </a:r>
            <a:endParaRPr lang="zh-CN" altLang="en-US" sz="2400" dirty="0"/>
          </a:p>
          <a:p>
            <a:r>
              <a:rPr lang="zh-CN" altLang="en-US" sz="2400" dirty="0"/>
              <a:t>（</a:t>
            </a:r>
            <a:r>
              <a:rPr lang="en-US" altLang="zh-CN" sz="2400" dirty="0"/>
              <a:t>3</a:t>
            </a:r>
            <a:r>
              <a:rPr lang="zh-CN" altLang="en-US" sz="2400" dirty="0"/>
              <a:t>）化验指标数据</a:t>
            </a:r>
            <a:endParaRPr lang="zh-CN" altLang="en-US" sz="2400" dirty="0"/>
          </a:p>
        </p:txBody>
      </p:sp>
      <p:pic>
        <p:nvPicPr>
          <p:cNvPr id="2" name="图片 1"/>
          <p:cNvPicPr>
            <a:picLocks noChangeAspect="1"/>
          </p:cNvPicPr>
          <p:nvPr/>
        </p:nvPicPr>
        <p:blipFill>
          <a:blip r:embed="rId1"/>
          <a:srcRect l="2230" r="9489"/>
          <a:stretch>
            <a:fillRect/>
          </a:stretch>
        </p:blipFill>
        <p:spPr>
          <a:xfrm>
            <a:off x="107315" y="2708910"/>
            <a:ext cx="8844915" cy="3268345"/>
          </a:xfrm>
          <a:prstGeom prst="rect">
            <a:avLst/>
          </a:prstGeom>
        </p:spPr>
      </p:pic>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a:t>
            </a:r>
            <a:r>
              <a:rPr lang="en-US" altLang="zh-CN" dirty="0">
                <a:sym typeface="+mn-ea"/>
              </a:rPr>
              <a:t>CT </a:t>
            </a:r>
            <a:r>
              <a:rPr lang="zh-CN" altLang="en-US" dirty="0">
                <a:sym typeface="+mn-ea"/>
              </a:rPr>
              <a:t>影像数据</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本小节介绍</a:t>
            </a:r>
            <a:r>
              <a:rPr lang="en-US" altLang="zh-CN" sz="2400" dirty="0"/>
              <a:t>CT</a:t>
            </a:r>
            <a:r>
              <a:rPr lang="zh-CN" altLang="en-US" sz="2400" dirty="0"/>
              <a:t>影像数据预处理，包括读取文件、数据脱敏、标准化、尺寸调整、归一化。</a:t>
            </a:r>
            <a:endParaRPr lang="zh-CN" altLang="en-US" sz="2400" dirty="0"/>
          </a:p>
          <a:p>
            <a:pPr marL="0" indent="0">
              <a:buNone/>
            </a:pPr>
            <a:endParaRPr lang="zh-CN" altLang="en-US" sz="2400" dirty="0"/>
          </a:p>
        </p:txBody>
      </p:sp>
      <p:sp>
        <p:nvSpPr>
          <p:cNvPr id="3" name="文本框 2"/>
          <p:cNvSpPr txBox="1"/>
          <p:nvPr/>
        </p:nvSpPr>
        <p:spPr>
          <a:xfrm>
            <a:off x="523240" y="2087880"/>
            <a:ext cx="8080375" cy="34137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读取文件</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数据脱敏</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标准化</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尺寸调整</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归一化</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读取文件</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en-US" altLang="zh-CN" sz="2400"/>
              <a:t>DICOM</a:t>
            </a:r>
            <a:r>
              <a:rPr lang="zh-CN" altLang="en-US" sz="2400"/>
              <a:t>是一种用于存储、传输、处理和显示医学成像信息的标准</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872615"/>
            <a:ext cx="8080375" cy="2398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DICOM</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标准不仅定义了医学图像数据的文件格式，还包括一套用于确保这些文件能在不同制造商的设备和系统之间互操作的通信协议。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DICOM</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格式是医疗行业广泛使用的图像格式，特别是在放射学领域。它支持多种类型的医学成像，包括</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MRI</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X</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光、超声和放射治疗数据等。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读取文件</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示例代码</a:t>
            </a:r>
            <a:r>
              <a:rPr lang="zh-CN" altLang="en-US" sz="2400" dirty="0">
                <a:sym typeface="+mn-ea"/>
              </a:rPr>
              <a:t>：</a:t>
            </a:r>
            <a:endParaRPr lang="zh-CN" altLang="en-US" sz="2400" dirty="0"/>
          </a:p>
          <a:p>
            <a:pPr marL="0" indent="457200">
              <a:buNone/>
            </a:pPr>
            <a:r>
              <a:rPr lang="zh-CN" altLang="en-US" sz="2000" dirty="0"/>
              <a:t>选用</a:t>
            </a:r>
            <a:r>
              <a:rPr lang="en-US" altLang="zh-CN" sz="2000"/>
              <a:t>DICOM</a:t>
            </a:r>
            <a:r>
              <a:rPr lang="zh-CN" altLang="en-US" sz="2000"/>
              <a:t>格式的</a:t>
            </a:r>
            <a:r>
              <a:rPr lang="en-US" altLang="zh-CN" sz="2000"/>
              <a:t>CT</a:t>
            </a:r>
            <a:r>
              <a:rPr lang="zh-CN" altLang="en-US" sz="2000"/>
              <a:t>影像数据作为输入。</a:t>
            </a:r>
            <a:endParaRPr lang="zh-CN" altLang="en-US" sz="2000"/>
          </a:p>
        </p:txBody>
      </p:sp>
      <p:pic>
        <p:nvPicPr>
          <p:cNvPr id="2" name="图片 1"/>
          <p:cNvPicPr>
            <a:picLocks noChangeAspect="1"/>
          </p:cNvPicPr>
          <p:nvPr/>
        </p:nvPicPr>
        <p:blipFill>
          <a:blip r:embed="rId1"/>
          <a:stretch>
            <a:fillRect/>
          </a:stretch>
        </p:blipFill>
        <p:spPr>
          <a:xfrm>
            <a:off x="611505" y="2421255"/>
            <a:ext cx="8008620" cy="2796540"/>
          </a:xfrm>
          <a:prstGeom prst="rect">
            <a:avLst/>
          </a:prstGeom>
        </p:spPr>
      </p:pic>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数据脱敏</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en-US" altLang="zh-CN" sz="2400" dirty="0">
                <a:sym typeface="+mn-ea"/>
              </a:rPr>
              <a:t>DICOM</a:t>
            </a:r>
            <a:r>
              <a:rPr lang="zh-CN" altLang="en-US" sz="2400" dirty="0">
                <a:sym typeface="+mn-ea"/>
              </a:rPr>
              <a:t>文件包含众多患者</a:t>
            </a:r>
            <a:r>
              <a:rPr lang="zh-CN" altLang="en-US" sz="2400" dirty="0">
                <a:sym typeface="+mn-ea"/>
              </a:rPr>
              <a:t>信息：</a:t>
            </a:r>
            <a:endParaRPr lang="zh-CN" altLang="en-US" sz="2400" dirty="0"/>
          </a:p>
          <a:p>
            <a:pPr marL="0" indent="0">
              <a:buNone/>
            </a:pPr>
            <a:endParaRPr lang="zh-CN" altLang="en-US" sz="2400" dirty="0"/>
          </a:p>
        </p:txBody>
      </p:sp>
      <p:sp>
        <p:nvSpPr>
          <p:cNvPr id="3" name="文本框 2"/>
          <p:cNvSpPr txBox="1"/>
          <p:nvPr/>
        </p:nvSpPr>
        <p:spPr>
          <a:xfrm>
            <a:off x="523240" y="1513840"/>
            <a:ext cx="8080375" cy="1475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DICOM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文件包含了成像数据以及与之相关的患者信息、成像参数和报告信息等元数据。</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在正式使用这些数据之前，需要清洗这些信息以保护患者隐私。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stretch>
            <a:fillRect/>
          </a:stretch>
        </p:blipFill>
        <p:spPr>
          <a:xfrm>
            <a:off x="611505" y="3212465"/>
            <a:ext cx="7873365" cy="2667000"/>
          </a:xfrm>
          <a:prstGeom prst="rect">
            <a:avLst/>
          </a:prstGeom>
        </p:spPr>
      </p:pic>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标准化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en-US" altLang="zh-CN" sz="2400"/>
              <a:t>CT</a:t>
            </a:r>
            <a:r>
              <a:rPr lang="zh-CN" altLang="en-US" sz="2400"/>
              <a:t>影像的窗位</a:t>
            </a:r>
            <a:r>
              <a:rPr lang="en-US" altLang="zh-CN" sz="2400"/>
              <a:t>(window level)</a:t>
            </a:r>
            <a:r>
              <a:rPr lang="zh-CN" altLang="en-US" sz="2400"/>
              <a:t>和窗宽</a:t>
            </a:r>
            <a:r>
              <a:rPr lang="en-US" altLang="zh-CN" sz="2400"/>
              <a:t>(window width)</a:t>
            </a:r>
            <a:r>
              <a:rPr lang="zh-CN" altLang="en-US" sz="2400"/>
              <a:t>是调整图像显示的重要参数</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872615"/>
            <a:ext cx="8381365" cy="1936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窗位定义了</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图像中人们感兴趣的解剖区域所在的灰度或像素强度的中心值。</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窗宽是指在图像中显示的灰度级别的范围，它决定了图像的对比度。</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下表提供了几种常用部位的典型窗位和窗宽值。</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stretch>
            <a:fillRect/>
          </a:stretch>
        </p:blipFill>
        <p:spPr>
          <a:xfrm>
            <a:off x="611505" y="3861435"/>
            <a:ext cx="7943850" cy="2714625"/>
          </a:xfrm>
          <a:prstGeom prst="rect">
            <a:avLst/>
          </a:prstGeom>
        </p:spPr>
      </p:pic>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标准化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示例代码</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968375" y="1513840"/>
            <a:ext cx="7635240" cy="7054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just"/>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影像的像素值可以通过窗口化处理来标准化，从而使得人们感兴趣的区域更加突出。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4" name="图片 3"/>
          <p:cNvPicPr>
            <a:picLocks noChangeAspect="1"/>
          </p:cNvPicPr>
          <p:nvPr/>
        </p:nvPicPr>
        <p:blipFill>
          <a:blip r:embed="rId1"/>
          <a:stretch>
            <a:fillRect/>
          </a:stretch>
        </p:blipFill>
        <p:spPr>
          <a:xfrm>
            <a:off x="683260" y="2925445"/>
            <a:ext cx="7835265" cy="2489835"/>
          </a:xfrm>
          <a:prstGeom prst="rect">
            <a:avLst/>
          </a:prstGeom>
        </p:spPr>
      </p:pic>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尺寸调整</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利用</a:t>
            </a:r>
            <a:r>
              <a:rPr lang="en-US" altLang="zh-CN" sz="2400"/>
              <a:t>Python</a:t>
            </a:r>
            <a:r>
              <a:rPr lang="zh-CN" altLang="en-US" sz="2400"/>
              <a:t>的</a:t>
            </a:r>
            <a:r>
              <a:rPr lang="en-US" altLang="zh-CN" sz="2400"/>
              <a:t>sciPy</a:t>
            </a:r>
            <a:r>
              <a:rPr lang="zh-CN" altLang="en-US" sz="2400"/>
              <a:t>库中的</a:t>
            </a:r>
            <a:r>
              <a:rPr lang="en-US" altLang="zh-CN" sz="2400"/>
              <a:t>ndimage</a:t>
            </a:r>
            <a:r>
              <a:rPr lang="zh-CN" altLang="en-US" sz="2400"/>
              <a:t>模块方法</a:t>
            </a:r>
            <a:r>
              <a:rPr lang="en-US" altLang="zh-CN" sz="2400"/>
              <a:t>ndimage.zoom</a:t>
            </a:r>
            <a:r>
              <a:rPr lang="zh-CN" altLang="en-US" sz="2400"/>
              <a:t>函数对</a:t>
            </a:r>
            <a:r>
              <a:rPr lang="en-US" altLang="zh-CN" sz="2400"/>
              <a:t>CT</a:t>
            </a:r>
            <a:r>
              <a:rPr lang="zh-CN" altLang="en-US" sz="2400"/>
              <a:t>图像数据进行缩放，以实现图像尺寸的统一</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1475105" y="1917065"/>
            <a:ext cx="6044565" cy="4848860"/>
          </a:xfrm>
          <a:prstGeom prst="rect">
            <a:avLst/>
          </a:prstGeom>
        </p:spPr>
      </p:pic>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归一化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将像素值转换到标准范围内，使模型训练更为稳定</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826770" y="1631950"/>
            <a:ext cx="7356475" cy="1597025"/>
          </a:xfrm>
          <a:prstGeom prst="rect">
            <a:avLst/>
          </a:prstGeom>
        </p:spPr>
      </p:pic>
      <p:pic>
        <p:nvPicPr>
          <p:cNvPr id="5" name="图片 4"/>
          <p:cNvPicPr/>
          <p:nvPr/>
        </p:nvPicPr>
        <p:blipFill>
          <a:blip r:embed="rId2"/>
          <a:stretch>
            <a:fillRect/>
          </a:stretch>
        </p:blipFill>
        <p:spPr>
          <a:xfrm>
            <a:off x="827405" y="3285490"/>
            <a:ext cx="7317105" cy="3295650"/>
          </a:xfrm>
          <a:prstGeom prst="rect">
            <a:avLst/>
          </a:prstGeom>
        </p:spPr>
      </p:pic>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）文本报告数据</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a:bodyPr>
          <a:lstStyle/>
          <a:p>
            <a:r>
              <a:rPr lang="zh-CN" altLang="en-US" sz="2400"/>
              <a:t>从</a:t>
            </a:r>
            <a:r>
              <a:rPr lang="en-US" altLang="zh-CN" sz="2400"/>
              <a:t>pdf</a:t>
            </a:r>
            <a:r>
              <a:rPr lang="zh-CN" altLang="en-US" sz="2400"/>
              <a:t>文件中提取影像所见部分的文本</a:t>
            </a:r>
            <a:endParaRPr lang="zh-CN" altLang="en-US" sz="2400"/>
          </a:p>
        </p:txBody>
      </p:sp>
      <p:pic>
        <p:nvPicPr>
          <p:cNvPr id="2" name="图片 1"/>
          <p:cNvPicPr>
            <a:picLocks noChangeAspect="1"/>
          </p:cNvPicPr>
          <p:nvPr/>
        </p:nvPicPr>
        <p:blipFill>
          <a:blip r:embed="rId1"/>
          <a:stretch>
            <a:fillRect/>
          </a:stretch>
        </p:blipFill>
        <p:spPr>
          <a:xfrm>
            <a:off x="1259205" y="1772285"/>
            <a:ext cx="6471285" cy="5031740"/>
          </a:xfrm>
          <a:prstGeom prst="rect">
            <a:avLst/>
          </a:prstGeom>
        </p:spPr>
      </p:pic>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3</a:t>
            </a:r>
            <a:r>
              <a:rPr lang="zh-CN" altLang="en-US" dirty="0">
                <a:sym typeface="+mn-ea"/>
              </a:rPr>
              <a:t>）化验指标数据</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本小节介绍化验指标数据预处理，包括缺失值处理、归一化。</a:t>
            </a:r>
            <a:endParaRPr lang="zh-CN" altLang="en-US" sz="2400" dirty="0"/>
          </a:p>
        </p:txBody>
      </p:sp>
      <p:sp>
        <p:nvSpPr>
          <p:cNvPr id="3" name="文本框 2"/>
          <p:cNvSpPr txBox="1"/>
          <p:nvPr/>
        </p:nvSpPr>
        <p:spPr>
          <a:xfrm>
            <a:off x="523240" y="2087880"/>
            <a:ext cx="8080375" cy="17519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缺失值处理</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归一化</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缺失值处理</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对缺失的数值型数据以均值填充</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683895" y="1706880"/>
            <a:ext cx="7680960" cy="257175"/>
          </a:xfrm>
          <a:prstGeom prst="rect">
            <a:avLst/>
          </a:prstGeom>
        </p:spPr>
      </p:pic>
      <p:pic>
        <p:nvPicPr>
          <p:cNvPr id="5" name="图片 4"/>
          <p:cNvPicPr>
            <a:picLocks noChangeAspect="1"/>
          </p:cNvPicPr>
          <p:nvPr/>
        </p:nvPicPr>
        <p:blipFill>
          <a:blip r:embed="rId2"/>
          <a:stretch>
            <a:fillRect/>
          </a:stretch>
        </p:blipFill>
        <p:spPr>
          <a:xfrm>
            <a:off x="683895" y="1923415"/>
            <a:ext cx="7677150" cy="514350"/>
          </a:xfrm>
          <a:prstGeom prst="rect">
            <a:avLst/>
          </a:prstGeom>
        </p:spPr>
      </p:pic>
      <p:pic>
        <p:nvPicPr>
          <p:cNvPr id="8" name="图片 7"/>
          <p:cNvPicPr>
            <a:picLocks noChangeAspect="1"/>
          </p:cNvPicPr>
          <p:nvPr/>
        </p:nvPicPr>
        <p:blipFill>
          <a:blip r:embed="rId3"/>
          <a:stretch>
            <a:fillRect/>
          </a:stretch>
        </p:blipFill>
        <p:spPr>
          <a:xfrm>
            <a:off x="2123440" y="2564765"/>
            <a:ext cx="4467225" cy="4276725"/>
          </a:xfrm>
          <a:prstGeom prst="rect">
            <a:avLst/>
          </a:prstGeom>
        </p:spPr>
      </p:pic>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归一化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将指标值转换到一个共同的规模，以便模型使用</a:t>
            </a:r>
            <a:r>
              <a:rPr lang="zh-CN" altLang="en-US" sz="2400" dirty="0">
                <a:sym typeface="+mn-ea"/>
              </a:rPr>
              <a:t>：</a:t>
            </a:r>
            <a:endParaRPr lang="zh-CN" altLang="en-US" sz="2400" dirty="0"/>
          </a:p>
          <a:p>
            <a:pPr marL="0" indent="0">
              <a:buNone/>
            </a:pPr>
            <a:endParaRPr lang="zh-CN" altLang="en-US" sz="2400" dirty="0"/>
          </a:p>
        </p:txBody>
      </p:sp>
      <p:pic>
        <p:nvPicPr>
          <p:cNvPr id="2" name="图片 1"/>
          <p:cNvPicPr>
            <a:picLocks noChangeAspect="1"/>
          </p:cNvPicPr>
          <p:nvPr/>
        </p:nvPicPr>
        <p:blipFill>
          <a:blip r:embed="rId1"/>
          <a:stretch>
            <a:fillRect/>
          </a:stretch>
        </p:blipFill>
        <p:spPr>
          <a:xfrm>
            <a:off x="827405" y="1557020"/>
            <a:ext cx="7157085" cy="1589405"/>
          </a:xfrm>
          <a:prstGeom prst="rect">
            <a:avLst/>
          </a:prstGeom>
        </p:spPr>
      </p:pic>
      <p:sp>
        <p:nvSpPr>
          <p:cNvPr id="5" name="文本框 4"/>
          <p:cNvSpPr txBox="1"/>
          <p:nvPr/>
        </p:nvSpPr>
        <p:spPr>
          <a:xfrm>
            <a:off x="827405" y="3213735"/>
            <a:ext cx="7202170" cy="34753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rPr>
              <a:t>示例中定义了一个名为norm的函数，接收输入是类型为DataFrame的数据data。</a:t>
            </a:r>
            <a:endParaRPr kumimoji="0" lang="zh-CN" altLang="en-US" sz="2000" b="0" i="0" u="none" strike="noStrike" cap="none" spc="0" normalizeH="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endParaRPr>
          </a:p>
          <a:p>
            <a:pPr marL="457200" marR="0" indent="-457200" algn="l" defTabSz="914400" rtl="0" fontAlgn="auto" latinLnBrk="0" hangingPunct="0">
              <a:lnSpc>
                <a:spcPct val="150000"/>
              </a:lnSpc>
              <a:spcBef>
                <a:spcPts val="0"/>
              </a:spcBef>
              <a:spcAft>
                <a:spcPts val="0"/>
              </a:spcAft>
              <a:buClrTx/>
              <a:buSzTx/>
              <a:buFont typeface="Arial" panose="020B0604020202020204" pitchFamily="34" charset="0"/>
              <a:buAutoNum type="arabicPeriod"/>
            </a:pPr>
            <a:r>
              <a:rPr kumimoji="0" lang="zh-CN" altLang="en-US" sz="2000" b="0" i="0" u="none" strike="noStrike" cap="none" spc="0" normalizeH="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rPr>
              <a:t>首先，通过列表column_names指定需要进行归一化的列名。</a:t>
            </a:r>
            <a:endParaRPr kumimoji="0" lang="zh-CN" altLang="en-US" sz="2000" b="0" i="0" u="none" strike="noStrike" cap="none" spc="0" normalizeH="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endParaRPr>
          </a:p>
          <a:p>
            <a:pPr marL="457200" marR="0" indent="-457200" algn="l" defTabSz="914400" rtl="0" fontAlgn="auto" latinLnBrk="0" hangingPunct="0">
              <a:lnSpc>
                <a:spcPct val="150000"/>
              </a:lnSpc>
              <a:spcBef>
                <a:spcPts val="0"/>
              </a:spcBef>
              <a:spcAft>
                <a:spcPts val="0"/>
              </a:spcAft>
              <a:buClrTx/>
              <a:buSzTx/>
              <a:buFont typeface="Arial" panose="020B0604020202020204" pitchFamily="34" charset="0"/>
              <a:buAutoNum type="arabicPeriod"/>
            </a:pPr>
            <a:r>
              <a:rPr kumimoji="0" lang="zh-CN" altLang="en-US" sz="2000" b="0" i="0" u="none" strike="noStrike" cap="none" spc="0" normalizeH="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rPr>
              <a:t>随后，使用sklearn库中的StandardScaler类创建一个标准化器对象，并通过fit方法计算这些列的均值和标准差。</a:t>
            </a:r>
            <a:endParaRPr kumimoji="0" lang="zh-CN" altLang="en-US" sz="2000" b="0" i="0" u="none" strike="noStrike" cap="none" spc="0" normalizeH="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endParaRPr>
          </a:p>
          <a:p>
            <a:pPr marL="457200" marR="0" indent="-457200" algn="l" defTabSz="914400" rtl="0" fontAlgn="auto" latinLnBrk="0" hangingPunct="0">
              <a:lnSpc>
                <a:spcPct val="150000"/>
              </a:lnSpc>
              <a:spcBef>
                <a:spcPts val="0"/>
              </a:spcBef>
              <a:spcAft>
                <a:spcPts val="0"/>
              </a:spcAft>
              <a:buClrTx/>
              <a:buSzTx/>
              <a:buFont typeface="Arial" panose="020B0604020202020204" pitchFamily="34" charset="0"/>
              <a:buAutoNum type="arabicPeriod"/>
            </a:pPr>
            <a:r>
              <a:rPr kumimoji="0" lang="zh-CN" altLang="en-US" sz="2000" b="0" i="0" u="none" strike="noStrike" cap="none" spc="0" normalizeH="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rPr>
              <a:t>接着，利用Transform方法将这些统计值应用于相同的列，以实现数据的标准化，即将数据转换为均值为 0、标准差为1的分布。</a:t>
            </a:r>
            <a:endParaRPr kumimoji="0" lang="zh-CN" altLang="en-US" sz="2000" b="0" i="0" u="none" strike="noStrike" cap="none" spc="0" normalizeH="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3.2 </a:t>
            </a:r>
            <a:r>
              <a:rPr lang="zh-CN" altLang="en-US" dirty="0">
                <a:sym typeface="+mn-ea"/>
              </a:rPr>
              <a:t>多模态数据融合模型设计与开发</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908368"/>
            <a:ext cx="8229600" cy="3272333"/>
          </a:xfrm>
          <a:prstGeom prst="rect">
            <a:avLst/>
          </a:prstGeom>
        </p:spPr>
        <p:txBody>
          <a:bodyPr/>
          <a:lstStyle/>
          <a:p>
            <a:r>
              <a:rPr lang="zh-CN" altLang="en-US" sz="2400" dirty="0">
                <a:sym typeface="+mn-ea"/>
              </a:rPr>
              <a:t>（</a:t>
            </a:r>
            <a:r>
              <a:rPr lang="en-US" altLang="zh-CN" sz="2400" dirty="0">
                <a:sym typeface="+mn-ea"/>
              </a:rPr>
              <a:t>1</a:t>
            </a:r>
            <a:r>
              <a:rPr lang="zh-CN" altLang="en-US" sz="2400" dirty="0">
                <a:sym typeface="+mn-ea"/>
              </a:rPr>
              <a:t>）</a:t>
            </a:r>
            <a:r>
              <a:rPr lang="en-US" altLang="zh-CN" sz="2400" dirty="0"/>
              <a:t>CT</a:t>
            </a:r>
            <a:r>
              <a:rPr lang="zh-CN" altLang="en-US" sz="2400" dirty="0"/>
              <a:t>影像特征提取</a:t>
            </a:r>
            <a:endParaRPr lang="zh-CN" altLang="en-US" sz="2400" dirty="0"/>
          </a:p>
          <a:p>
            <a:r>
              <a:rPr lang="zh-CN" altLang="en-US" sz="2400" dirty="0"/>
              <a:t>（</a:t>
            </a:r>
            <a:r>
              <a:rPr lang="en-US" altLang="zh-CN" sz="2400" dirty="0"/>
              <a:t>2</a:t>
            </a:r>
            <a:r>
              <a:rPr lang="zh-CN" altLang="en-US" sz="2400" dirty="0"/>
              <a:t>）文本报告特征提取</a:t>
            </a:r>
            <a:endParaRPr lang="zh-CN" altLang="en-US" sz="2400" dirty="0"/>
          </a:p>
          <a:p>
            <a:r>
              <a:rPr lang="zh-CN" altLang="en-US" sz="2400" dirty="0"/>
              <a:t>（</a:t>
            </a:r>
            <a:r>
              <a:rPr lang="en-US" altLang="zh-CN" sz="2400" dirty="0"/>
              <a:t>3</a:t>
            </a:r>
            <a:r>
              <a:rPr lang="zh-CN" altLang="en-US" sz="2400" dirty="0"/>
              <a:t>）基于知识图谱的化验指标特征提取</a:t>
            </a:r>
            <a:endParaRPr lang="zh-CN" altLang="en-US" sz="2400" dirty="0"/>
          </a:p>
          <a:p>
            <a:r>
              <a:rPr lang="zh-CN" altLang="en-US" sz="2400" dirty="0"/>
              <a:t>（</a:t>
            </a:r>
            <a:r>
              <a:rPr lang="en-US" altLang="zh-CN" sz="2400" dirty="0"/>
              <a:t>4</a:t>
            </a:r>
            <a:r>
              <a:rPr lang="zh-CN" altLang="en-US" sz="2400" dirty="0"/>
              <a:t>）自适应特征融合</a:t>
            </a:r>
            <a:endParaRPr lang="zh-CN" altLang="en-US" sz="2400" dirty="0"/>
          </a:p>
          <a:p>
            <a:r>
              <a:rPr lang="zh-CN" altLang="en-US" sz="2400" dirty="0"/>
              <a:t>（</a:t>
            </a:r>
            <a:r>
              <a:rPr lang="en-US" altLang="zh-CN" sz="2400" dirty="0"/>
              <a:t>5</a:t>
            </a:r>
            <a:r>
              <a:rPr lang="zh-CN" altLang="en-US" sz="2400" dirty="0"/>
              <a:t>）医疗诊断与预测算法及优化</a:t>
            </a:r>
            <a:endParaRPr lang="zh-CN" altLang="en-US" sz="2400" dirty="0"/>
          </a:p>
        </p:txBody>
      </p:sp>
      <p:sp>
        <p:nvSpPr>
          <p:cNvPr id="2" name="文本框 1"/>
          <p:cNvSpPr txBox="1"/>
          <p:nvPr/>
        </p:nvSpPr>
        <p:spPr>
          <a:xfrm>
            <a:off x="212725" y="3357245"/>
            <a:ext cx="8703945" cy="2242820"/>
          </a:xfrm>
          <a:prstGeom prst="rect">
            <a:avLst/>
          </a:prstGeom>
        </p:spPr>
        <p:txBody>
          <a:bodyPr>
            <a:noAutofit/>
          </a:bodyPr>
          <a:p>
            <a:r>
              <a:rPr lang="zh-CN" altLang="en-US" sz="2000">
                <a:solidFill>
                  <a:srgbClr val="000000"/>
                </a:solidFill>
              </a:rPr>
              <a:t>多模态数据融合的流程始于多渠道</a:t>
            </a:r>
            <a:r>
              <a:rPr lang="en-US" altLang="zh-CN" sz="2000">
                <a:solidFill>
                  <a:srgbClr val="000000"/>
                </a:solidFill>
              </a:rPr>
              <a:t>(</a:t>
            </a:r>
            <a:r>
              <a:rPr lang="zh-CN" altLang="en-US" sz="2000">
                <a:solidFill>
                  <a:srgbClr val="000000"/>
                </a:solidFill>
              </a:rPr>
              <a:t>如图像、文本和化验指标</a:t>
            </a:r>
            <a:r>
              <a:rPr lang="en-US" altLang="zh-CN" sz="2000">
                <a:solidFill>
                  <a:srgbClr val="000000"/>
                </a:solidFill>
              </a:rPr>
              <a:t>)</a:t>
            </a:r>
            <a:r>
              <a:rPr lang="zh-CN" altLang="en-US" sz="2000">
                <a:solidFill>
                  <a:srgbClr val="000000"/>
                </a:solidFill>
              </a:rPr>
              <a:t>的数据收集。</a:t>
            </a:r>
            <a:endParaRPr lang="zh-CN" altLang="en-US" sz="2000">
              <a:solidFill>
                <a:srgbClr val="000000"/>
              </a:solidFill>
            </a:endParaRPr>
          </a:p>
          <a:p>
            <a:endParaRPr lang="zh-CN" altLang="en-US" sz="2000">
              <a:solidFill>
                <a:srgbClr val="000000"/>
              </a:solidFill>
            </a:endParaRPr>
          </a:p>
          <a:p>
            <a:r>
              <a:rPr lang="zh-CN" altLang="en-US" sz="2000">
                <a:solidFill>
                  <a:srgbClr val="000000"/>
                </a:solidFill>
              </a:rPr>
              <a:t>接着，这些数据经过预处理，以确保它们达到一致的质量和格式标准。</a:t>
            </a:r>
            <a:endParaRPr lang="zh-CN" altLang="en-US" sz="2000">
              <a:solidFill>
                <a:srgbClr val="000000"/>
              </a:solidFill>
            </a:endParaRPr>
          </a:p>
          <a:p>
            <a:endParaRPr lang="zh-CN" altLang="en-US" sz="2000">
              <a:solidFill>
                <a:srgbClr val="000000"/>
              </a:solidFill>
            </a:endParaRPr>
          </a:p>
          <a:p>
            <a:r>
              <a:rPr lang="zh-CN" altLang="en-US" sz="2000">
                <a:solidFill>
                  <a:srgbClr val="000000"/>
                </a:solidFill>
              </a:rPr>
              <a:t>随后，从每种模态中提取关键特征，并对它们进行规范化。这些特征通过早期、中期或晚期的融合策略综合在一起，形成一个统一的数据表示，以供深度学习模型进行训练。</a:t>
            </a:r>
            <a:endParaRPr lang="zh-CN" altLang="en-US" sz="2000">
              <a:solidFill>
                <a:srgbClr val="000000"/>
              </a:solidFill>
            </a:endParaRPr>
          </a:p>
          <a:p>
            <a:endParaRPr lang="zh-CN" altLang="en-US" sz="2000">
              <a:solidFill>
                <a:srgbClr val="000000"/>
              </a:solidFill>
            </a:endParaRPr>
          </a:p>
          <a:p>
            <a:r>
              <a:rPr lang="zh-CN" altLang="en-US" sz="2000">
                <a:solidFill>
                  <a:srgbClr val="000000"/>
                </a:solidFill>
              </a:rPr>
              <a:t>最后，这一训练过程旨在提高模型的预测精度和决策能力，以适应实际应用中的复杂需求。</a:t>
            </a:r>
            <a:endParaRPr lang="zh-CN" altLang="en-US" sz="2000">
              <a:solidFill>
                <a:srgbClr val="000000"/>
              </a:solidFill>
            </a:endParaRPr>
          </a:p>
        </p:txBody>
      </p:sp>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a:t>
            </a:r>
            <a:r>
              <a:rPr lang="en-US" altLang="zh-CN" dirty="0">
                <a:sym typeface="+mn-ea"/>
              </a:rPr>
              <a:t>CT</a:t>
            </a:r>
            <a:r>
              <a:rPr lang="zh-CN" altLang="en-US" dirty="0">
                <a:sym typeface="+mn-ea"/>
              </a:rPr>
              <a:t>影像特征提取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en-US" altLang="zh-CN" sz="2400" dirty="0"/>
              <a:t>CT</a:t>
            </a:r>
            <a:r>
              <a:rPr lang="zh-CN" altLang="en-US" sz="2400" dirty="0"/>
              <a:t>影像特征提取的目的是将原始图像数据转换为深度学习模型能够理解的特征表示，利用深度学习的自动化能力来识别和学习图像中的复杂模式，从而提高疾病诊断的准确性和</a:t>
            </a:r>
            <a:r>
              <a:rPr lang="en-US" altLang="zh-CN" sz="2400" dirty="0"/>
              <a:t> </a:t>
            </a:r>
            <a:r>
              <a:rPr lang="zh-CN" altLang="en-US" sz="2400" dirty="0"/>
              <a:t>效率，辅助医生在治疗决策中做出更精确的判断。进行</a:t>
            </a:r>
            <a:r>
              <a:rPr lang="en-US" altLang="zh-CN" sz="2400" dirty="0"/>
              <a:t>CT</a:t>
            </a:r>
            <a:r>
              <a:rPr lang="zh-CN" altLang="en-US" sz="2400" dirty="0"/>
              <a:t>影像特征提取的常用方法为使用</a:t>
            </a:r>
            <a:r>
              <a:rPr lang="zh-CN" altLang="en-US" sz="2400" b="1" dirty="0"/>
              <a:t>卷积神经网络</a:t>
            </a:r>
            <a:r>
              <a:rPr lang="en-US" altLang="zh-CN" sz="2400" b="1" dirty="0"/>
              <a:t>(CNN)</a:t>
            </a:r>
            <a:r>
              <a:rPr lang="zh-CN" altLang="en-US" sz="2400" dirty="0"/>
              <a:t>。</a:t>
            </a:r>
            <a:endParaRPr lang="zh-CN" altLang="en-US" sz="2400" dirty="0"/>
          </a:p>
          <a:p>
            <a:pPr marL="0" indent="0">
              <a:buNone/>
            </a:pPr>
            <a:endParaRPr lang="zh-CN" altLang="en-US" sz="2400" dirty="0"/>
          </a:p>
        </p:txBody>
      </p:sp>
      <p:sp>
        <p:nvSpPr>
          <p:cNvPr id="3" name="文本框 2"/>
          <p:cNvSpPr txBox="1"/>
          <p:nvPr/>
        </p:nvSpPr>
        <p:spPr>
          <a:xfrm>
            <a:off x="523240" y="3717290"/>
            <a:ext cx="80803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en-US" altLang="zh-CN"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a:t>
            </a: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简介</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设计</a:t>
            </a:r>
            <a:r>
              <a:rPr kumimoji="0" lang="en-US" altLang="zh-CN"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a:t>
            </a: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架构</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p:nvPr/>
        </p:nvPicPr>
        <p:blipFill>
          <a:blip r:embed="rId1"/>
          <a:stretch>
            <a:fillRect/>
          </a:stretch>
        </p:blipFill>
        <p:spPr>
          <a:xfrm>
            <a:off x="4646930" y="3285490"/>
            <a:ext cx="3956685" cy="1859280"/>
          </a:xfrm>
          <a:prstGeom prst="rect">
            <a:avLst/>
          </a:prstGeom>
        </p:spPr>
      </p:pic>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CNN</a:t>
            </a:r>
            <a:r>
              <a:rPr lang="zh-CN" altLang="en-US" dirty="0">
                <a:sym typeface="+mn-ea"/>
              </a:rPr>
              <a:t>简介</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b="1" dirty="0">
                <a:sym typeface="+mn-ea"/>
              </a:rPr>
              <a:t>卷积神经网络</a:t>
            </a:r>
            <a:r>
              <a:rPr lang="en-US" altLang="zh-CN" sz="2400" b="1" dirty="0">
                <a:sym typeface="+mn-ea"/>
              </a:rPr>
              <a:t>(</a:t>
            </a:r>
            <a:r>
              <a:rPr lang="en-US" altLang="zh-CN">
                <a:latin typeface="Times New Roman" panose="02020603050405020304" charset="0"/>
                <a:cs typeface="Times New Roman" panose="02020603050405020304" charset="0"/>
              </a:rPr>
              <a:t>Convolutional Neural Networks</a:t>
            </a:r>
            <a:r>
              <a:rPr lang="en-US" altLang="zh-CN" sz="2400" b="1" dirty="0">
                <a:sym typeface="+mn-ea"/>
              </a:rPr>
              <a:t>)</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2132965"/>
            <a:ext cx="8080375" cy="3928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lstStyle/>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是一种深度学习算法，主要应用于图像处理、分类、识别等计算机视觉领域。</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lang="en-US" altLang="zh-CN" sz="2000" dirty="0">
                <a:sym typeface="+mn-ea"/>
              </a:rPr>
              <a:t>CNN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通过模拟人类视觉系统处理信息的方式，能够自动并有效地学习图像的层次特征。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基本原理是利用卷积层来提取图像中的局部特征。每个卷积层包含多个卷积核，这些卷积核在图像上滑动并进行点乘操作，提取出图像的特征图</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(feature map)</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。通过堆叠多个卷积层，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能够学习到从低级到高级的特征。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CNN</a:t>
            </a:r>
            <a:r>
              <a:rPr lang="zh-CN" altLang="en-US" dirty="0">
                <a:sym typeface="+mn-ea"/>
              </a:rPr>
              <a:t>简介</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908685"/>
            <a:ext cx="8229600" cy="697230"/>
          </a:xfrm>
          <a:prstGeom prst="rect">
            <a:avLst/>
          </a:prstGeom>
        </p:spPr>
        <p:txBody>
          <a:bodyPr/>
          <a:lstStyle/>
          <a:p>
            <a:r>
              <a:rPr lang="zh-CN" altLang="en-US" sz="2400"/>
              <a:t>一个典型的</a:t>
            </a:r>
            <a:r>
              <a:rPr lang="en-US" altLang="zh-CN" sz="2400"/>
              <a:t> CNN </a:t>
            </a:r>
            <a:r>
              <a:rPr lang="zh-CN" altLang="en-US" sz="2400"/>
              <a:t>架构包含以下几种类型的层</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395605" y="1701165"/>
            <a:ext cx="8080375" cy="409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卷积层：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CNN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的核心，通过卷积操作提取输入数据的特征。它通过滤波器在输入图像上滑动并计算滤波器与图像的点乘，生成特征图。</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激活函数：通常位于卷积层后面，引入非线性因素，使得网络可以学习更复杂的特征。</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ReLU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是常用的激活函数。</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池化层：也称为下采样层，用于减少特征图的维度，提高计算效率，减少过拟合。最常用的池化操作是最大池化。</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全连接层：在网络的末端，将学习到的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分布式特征表示</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映射到样本标记空间。</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归一化层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(normalization layer)</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：如批归一化</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(batch normalization)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，用于加速训练过程，提高模型的稳定性。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丢弃层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(dropout layer)</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：用于正则化，随机丢弃网络中的一些神经元，以防止过拟合。</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设计</a:t>
            </a:r>
            <a:r>
              <a:rPr lang="en-US" altLang="zh-CN" dirty="0">
                <a:sym typeface="+mn-ea"/>
              </a:rPr>
              <a:t>CNN</a:t>
            </a:r>
            <a:r>
              <a:rPr lang="zh-CN" altLang="en-US" dirty="0">
                <a:sym typeface="+mn-ea"/>
              </a:rPr>
              <a:t>架构</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047990" cy="548005"/>
          </a:xfrm>
          <a:prstGeom prst="rect">
            <a:avLst/>
          </a:prstGeom>
        </p:spPr>
        <p:txBody>
          <a:bodyPr>
            <a:noAutofit/>
          </a:bodyPr>
          <a:lstStyle/>
          <a:p>
            <a:r>
              <a:rPr lang="zh-CN" altLang="en-US" sz="2000" dirty="0">
                <a:effectLst/>
                <a:sym typeface="+mn-ea"/>
              </a:rPr>
              <a:t>考虑到本项目中使用的</a:t>
            </a:r>
            <a:r>
              <a:rPr lang="en-US" altLang="zh-CN" sz="2000" dirty="0">
                <a:effectLst/>
                <a:sym typeface="+mn-ea"/>
              </a:rPr>
              <a:t> CT </a:t>
            </a:r>
            <a:r>
              <a:rPr lang="zh-CN" altLang="en-US" sz="2000" dirty="0">
                <a:effectLst/>
                <a:sym typeface="+mn-ea"/>
              </a:rPr>
              <a:t>影像数据以大小为</a:t>
            </a:r>
            <a:r>
              <a:rPr lang="en-US" altLang="zh-CN" sz="2000" dirty="0">
                <a:effectLst/>
                <a:sym typeface="+mn-ea"/>
              </a:rPr>
              <a:t>[512, 512, 256]</a:t>
            </a:r>
            <a:r>
              <a:rPr lang="zh-CN" altLang="en-US" sz="2000" dirty="0">
                <a:effectLst/>
                <a:sym typeface="+mn-ea"/>
              </a:rPr>
              <a:t>的三维形式存在，因此应将</a:t>
            </a:r>
            <a:r>
              <a:rPr lang="en-US" altLang="zh-CN" sz="2000" dirty="0">
                <a:effectLst/>
                <a:sym typeface="+mn-ea"/>
              </a:rPr>
              <a:t>CNN </a:t>
            </a:r>
            <a:r>
              <a:rPr lang="zh-CN" altLang="en-US" sz="2000" dirty="0">
                <a:effectLst/>
                <a:sym typeface="+mn-ea"/>
              </a:rPr>
              <a:t>由二维扩展至三维：</a:t>
            </a:r>
            <a:endParaRPr lang="zh-CN" altLang="en-US" sz="2000" dirty="0">
              <a:effectLst/>
              <a:sym typeface="+mn-ea"/>
            </a:endParaRPr>
          </a:p>
        </p:txBody>
      </p:sp>
      <p:sp>
        <p:nvSpPr>
          <p:cNvPr id="5" name="文本框 4"/>
          <p:cNvSpPr txBox="1"/>
          <p:nvPr/>
        </p:nvSpPr>
        <p:spPr>
          <a:xfrm>
            <a:off x="611505" y="1988820"/>
            <a:ext cx="5703570" cy="409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与二维</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CNN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中的滤波器在图像上滑动只有两个维度</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宽和高</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不同，三维</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CNN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中的滤波器会有三个维度</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宽、高和深度</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，能够捕捉到数据的深度信息。在三维</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CNN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中有以下特点：</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每个三维卷积核都会在三个维度上滑动</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宽、高、时间</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深度</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特征图也是三维的，能够表示随时间变化的特征或体积数据的特征。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池化层同样会在三个维度上执行，以减小特征图的尺寸。</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6" name="图片 5"/>
          <p:cNvPicPr/>
          <p:nvPr/>
        </p:nvPicPr>
        <p:blipFill>
          <a:blip r:embed="rId1"/>
          <a:stretch>
            <a:fillRect/>
          </a:stretch>
        </p:blipFill>
        <p:spPr>
          <a:xfrm>
            <a:off x="6516370" y="1917065"/>
            <a:ext cx="2387600" cy="1207135"/>
          </a:xfrm>
          <a:prstGeom prst="rect">
            <a:avLst/>
          </a:prstGeom>
        </p:spPr>
      </p:pic>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设计</a:t>
            </a:r>
            <a:r>
              <a:rPr lang="en-US" altLang="zh-CN" dirty="0">
                <a:sym typeface="+mn-ea"/>
              </a:rPr>
              <a:t>CNN</a:t>
            </a:r>
            <a:r>
              <a:rPr lang="zh-CN" altLang="en-US" dirty="0">
                <a:sym typeface="+mn-ea"/>
              </a:rPr>
              <a:t>架构</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323850" y="908685"/>
            <a:ext cx="8229600" cy="1441450"/>
          </a:xfrm>
          <a:prstGeom prst="rect">
            <a:avLst/>
          </a:prstGeom>
        </p:spPr>
        <p:txBody>
          <a:bodyPr/>
          <a:lstStyle/>
          <a:p>
            <a:r>
              <a:rPr lang="zh-CN" altLang="en-US" sz="2000"/>
              <a:t>在</a:t>
            </a:r>
            <a:r>
              <a:rPr lang="en-US" altLang="zh-CN" sz="2000"/>
              <a:t> Python </a:t>
            </a:r>
            <a:r>
              <a:rPr lang="zh-CN" altLang="en-US" sz="2000"/>
              <a:t>中，可以使用深度学习框架，如</a:t>
            </a:r>
            <a:r>
              <a:rPr lang="en-US" altLang="zh-CN" sz="2000"/>
              <a:t> TensorFlow </a:t>
            </a:r>
            <a:r>
              <a:rPr lang="zh-CN" altLang="en-US" sz="2000"/>
              <a:t>或</a:t>
            </a:r>
            <a:r>
              <a:rPr lang="en-US" altLang="zh-CN" sz="2000"/>
              <a:t> PyTorch</a:t>
            </a:r>
            <a:r>
              <a:rPr lang="zh-CN" altLang="en-US" sz="2000"/>
              <a:t>，以构建三维</a:t>
            </a:r>
            <a:r>
              <a:rPr lang="en-US" altLang="zh-CN" sz="2000"/>
              <a:t> CNN</a:t>
            </a:r>
            <a:r>
              <a:rPr lang="zh-CN" altLang="en-US" sz="2000"/>
              <a:t>。</a:t>
            </a:r>
            <a:endParaRPr lang="zh-CN" altLang="en-US" sz="2000"/>
          </a:p>
          <a:p>
            <a:r>
              <a:rPr lang="zh-CN" altLang="en-US" sz="2000"/>
              <a:t>以下是使用</a:t>
            </a:r>
            <a:r>
              <a:rPr lang="en-US" altLang="zh-CN" sz="2000"/>
              <a:t> PyTorch </a:t>
            </a:r>
            <a:r>
              <a:rPr lang="zh-CN" altLang="en-US" sz="2000"/>
              <a:t>构建一个三维</a:t>
            </a:r>
            <a:r>
              <a:rPr lang="en-US" altLang="zh-CN" sz="2000"/>
              <a:t> CNN </a:t>
            </a:r>
            <a:r>
              <a:rPr lang="zh-CN" altLang="en-US" sz="2000"/>
              <a:t>的示例代码：</a:t>
            </a:r>
            <a:endParaRPr lang="zh-CN" altLang="en-US" sz="2000"/>
          </a:p>
        </p:txBody>
      </p:sp>
      <p:pic>
        <p:nvPicPr>
          <p:cNvPr id="2" name="图片 1"/>
          <p:cNvPicPr>
            <a:picLocks noChangeAspect="1"/>
          </p:cNvPicPr>
          <p:nvPr/>
        </p:nvPicPr>
        <p:blipFill>
          <a:blip r:embed="rId1"/>
          <a:stretch>
            <a:fillRect/>
          </a:stretch>
        </p:blipFill>
        <p:spPr>
          <a:xfrm>
            <a:off x="467360" y="2061210"/>
            <a:ext cx="3980180" cy="2871470"/>
          </a:xfrm>
          <a:prstGeom prst="rect">
            <a:avLst/>
          </a:prstGeom>
        </p:spPr>
      </p:pic>
      <p:pic>
        <p:nvPicPr>
          <p:cNvPr id="5" name="图片 4"/>
          <p:cNvPicPr>
            <a:picLocks noChangeAspect="1"/>
          </p:cNvPicPr>
          <p:nvPr/>
        </p:nvPicPr>
        <p:blipFill>
          <a:blip r:embed="rId2"/>
          <a:srcRect l="4688" t="-585" r="4692" b="1169"/>
          <a:stretch>
            <a:fillRect/>
          </a:stretch>
        </p:blipFill>
        <p:spPr>
          <a:xfrm>
            <a:off x="467360" y="4932680"/>
            <a:ext cx="3980180" cy="1511935"/>
          </a:xfrm>
          <a:prstGeom prst="rect">
            <a:avLst/>
          </a:prstGeom>
        </p:spPr>
      </p:pic>
      <p:pic>
        <p:nvPicPr>
          <p:cNvPr id="6" name="图片 5"/>
          <p:cNvPicPr>
            <a:picLocks noChangeAspect="1"/>
          </p:cNvPicPr>
          <p:nvPr/>
        </p:nvPicPr>
        <p:blipFill>
          <a:blip r:embed="rId3"/>
          <a:srcRect r="52967"/>
          <a:stretch>
            <a:fillRect/>
          </a:stretch>
        </p:blipFill>
        <p:spPr>
          <a:xfrm>
            <a:off x="6228080" y="3068955"/>
            <a:ext cx="2174240" cy="3646170"/>
          </a:xfrm>
          <a:prstGeom prst="rect">
            <a:avLst/>
          </a:prstGeom>
        </p:spPr>
      </p:pic>
      <p:sp>
        <p:nvSpPr>
          <p:cNvPr id="7" name="文本框 6"/>
          <p:cNvSpPr txBox="1"/>
          <p:nvPr/>
        </p:nvSpPr>
        <p:spPr>
          <a:xfrm>
            <a:off x="4427855" y="3347720"/>
            <a:ext cx="1502410" cy="30968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2</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、在这个类中，定义了五个卷积层，每层后面都跟着一个</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ReLU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激活函数、一个最大池化层和一个归一化层。</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8" name="矩形 7"/>
          <p:cNvSpPr/>
          <p:nvPr/>
        </p:nvSpPr>
        <p:spPr>
          <a:xfrm>
            <a:off x="611505" y="2205355"/>
            <a:ext cx="2209800" cy="650875"/>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9" name="矩形 8"/>
          <p:cNvSpPr/>
          <p:nvPr/>
        </p:nvSpPr>
        <p:spPr>
          <a:xfrm>
            <a:off x="611505" y="2925445"/>
            <a:ext cx="3608705" cy="3406775"/>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10" name="文本框 9"/>
          <p:cNvSpPr txBox="1"/>
          <p:nvPr/>
        </p:nvSpPr>
        <p:spPr>
          <a:xfrm>
            <a:off x="3048000" y="2061210"/>
            <a:ext cx="2961640" cy="11976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lang="en-US" altLang="zh-CN">
                <a:sym typeface="黑体" panose="02010609060101010101" charset="-122"/>
              </a:rPr>
              <a:t>1</a:t>
            </a:r>
            <a:r>
              <a:rPr lang="zh-CN" altLang="en-US">
                <a:sym typeface="黑体" panose="02010609060101010101" charset="-122"/>
              </a:rPr>
              <a:t>、定义了一个名为</a:t>
            </a:r>
            <a:r>
              <a:rPr lang="en-US" altLang="zh-CN">
                <a:sym typeface="黑体" panose="02010609060101010101" charset="-122"/>
              </a:rPr>
              <a:t> CNN_3d </a:t>
            </a:r>
            <a:r>
              <a:rPr lang="zh-CN" altLang="en-US">
                <a:sym typeface="黑体" panose="02010609060101010101" charset="-122"/>
              </a:rPr>
              <a:t>的类，该类继承自</a:t>
            </a:r>
            <a:r>
              <a:rPr lang="en-US" altLang="zh-CN">
                <a:sym typeface="黑体" panose="02010609060101010101" charset="-122"/>
              </a:rPr>
              <a:t>nn.Module</a:t>
            </a:r>
            <a:r>
              <a:rPr lang="zh-CN" altLang="en-US">
                <a:sym typeface="黑体" panose="02010609060101010101" charset="-122"/>
              </a:rPr>
              <a:t>。</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12" name="文本框 11"/>
          <p:cNvSpPr txBox="1"/>
          <p:nvPr/>
        </p:nvSpPr>
        <p:spPr>
          <a:xfrm>
            <a:off x="6236335" y="2061210"/>
            <a:ext cx="1935480" cy="920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3</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forward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方法中，定义了数据通过网络的路径：</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3" name="矩形 2"/>
          <p:cNvSpPr/>
          <p:nvPr/>
        </p:nvSpPr>
        <p:spPr>
          <a:xfrm>
            <a:off x="6199505" y="3068955"/>
            <a:ext cx="1909445" cy="3646170"/>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）文本报告特征提取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7935595" cy="2323465"/>
          </a:xfrm>
          <a:prstGeom prst="rect">
            <a:avLst/>
          </a:prstGeom>
        </p:spPr>
        <p:txBody>
          <a:bodyPr>
            <a:noAutofit/>
          </a:bodyPr>
          <a:lstStyle/>
          <a:p>
            <a:r>
              <a:rPr lang="zh-CN" altLang="en-US" sz="2400" dirty="0"/>
              <a:t>文本报告特征提取的目的是将原始文本数据转换为深度学习模型能够理解的特征表示，以便进行分类、聚类或其他任务。</a:t>
            </a:r>
            <a:endParaRPr lang="zh-CN" altLang="en-US" sz="2400" dirty="0"/>
          </a:p>
          <a:p>
            <a:r>
              <a:rPr lang="zh-CN" altLang="en-US" sz="2400" dirty="0"/>
              <a:t>有效的特征提取有助于捕捉文本中的关键信息，提高模型性能。本小节采用的文本报告特征提取的方法为</a:t>
            </a:r>
            <a:r>
              <a:rPr lang="en-US" altLang="zh-CN" sz="2400" dirty="0"/>
              <a:t> BERT(bidirectional encoder representations from Transformers)</a:t>
            </a:r>
            <a:r>
              <a:rPr lang="zh-CN" altLang="en-US" sz="2400" dirty="0"/>
              <a:t>，它是一种常见的用于文本报告特征提取的方法。</a:t>
            </a:r>
            <a:endParaRPr lang="zh-CN" altLang="en-US" sz="2400" dirty="0"/>
          </a:p>
          <a:p>
            <a:pPr marL="0" indent="0">
              <a:buNone/>
            </a:pPr>
            <a:endParaRPr lang="zh-CN" altLang="en-US" sz="2400" dirty="0"/>
          </a:p>
        </p:txBody>
      </p:sp>
      <p:sp>
        <p:nvSpPr>
          <p:cNvPr id="3" name="文本框 2"/>
          <p:cNvSpPr txBox="1"/>
          <p:nvPr/>
        </p:nvSpPr>
        <p:spPr>
          <a:xfrm>
            <a:off x="467995" y="4749800"/>
            <a:ext cx="80803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en-US" altLang="zh-CN"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BERT </a:t>
            </a: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简介</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模型选择与加载</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p:nvPr/>
        </p:nvPicPr>
        <p:blipFill>
          <a:blip r:embed="rId1"/>
          <a:stretch>
            <a:fillRect/>
          </a:stretch>
        </p:blipFill>
        <p:spPr>
          <a:xfrm>
            <a:off x="5580380" y="3861435"/>
            <a:ext cx="2308225" cy="2944495"/>
          </a:xfrm>
          <a:prstGeom prst="rect">
            <a:avLst/>
          </a:prstGeom>
        </p:spPr>
      </p:pic>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BERT</a:t>
            </a:r>
            <a:r>
              <a:rPr lang="zh-CN" altLang="en-US" dirty="0">
                <a:sym typeface="+mn-ea"/>
              </a:rPr>
              <a:t>简介</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007350" cy="836295"/>
          </a:xfrm>
          <a:prstGeom prst="rect">
            <a:avLst/>
          </a:prstGeom>
        </p:spPr>
        <p:txBody>
          <a:bodyPr>
            <a:noAutofit/>
          </a:bodyPr>
          <a:lstStyle/>
          <a:p>
            <a:r>
              <a:rPr lang="en-US" altLang="zh-CN" sz="2400"/>
              <a:t>BERT </a:t>
            </a:r>
            <a:r>
              <a:rPr lang="zh-CN" altLang="en-US" sz="2400"/>
              <a:t>是由谷歌在</a:t>
            </a:r>
            <a:r>
              <a:rPr lang="en-US" altLang="zh-CN" sz="2400"/>
              <a:t> 2018 </a:t>
            </a:r>
            <a:r>
              <a:rPr lang="zh-CN" altLang="en-US" sz="2400"/>
              <a:t>年提出的一种预训练语言表示模型。它的创新之处在于使用了</a:t>
            </a:r>
            <a:r>
              <a:rPr lang="en-US" altLang="zh-CN" sz="2400"/>
              <a:t>Transformer </a:t>
            </a:r>
            <a:r>
              <a:rPr lang="zh-CN" altLang="en-US" sz="2400"/>
              <a:t>的编码器架构，并通过双向训练的方式来学习语言的深层次表示。</a:t>
            </a:r>
            <a:r>
              <a:rPr lang="en-US" altLang="zh-CN" sz="2400"/>
              <a:t>BERT </a:t>
            </a:r>
            <a:r>
              <a:rPr lang="zh-CN" altLang="en-US" sz="2400"/>
              <a:t>模型在多项自然语言处理</a:t>
            </a:r>
            <a:r>
              <a:rPr lang="en-US" altLang="zh-CN" sz="2400"/>
              <a:t>(NLP)</a:t>
            </a:r>
            <a:r>
              <a:rPr lang="zh-CN" altLang="en-US" sz="2400"/>
              <a:t>任务中取得了显著的效果，如文本分类、问答系统、命名实体识别等。</a:t>
            </a:r>
            <a:endParaRPr lang="zh-CN" altLang="en-US" sz="2400" dirty="0"/>
          </a:p>
          <a:p>
            <a:pPr marL="0" indent="0">
              <a:buNone/>
            </a:pPr>
            <a:endParaRPr lang="zh-CN" altLang="en-US" sz="2400" dirty="0"/>
          </a:p>
        </p:txBody>
      </p:sp>
      <p:pic>
        <p:nvPicPr>
          <p:cNvPr id="2" name="图片 1"/>
          <p:cNvPicPr/>
          <p:nvPr/>
        </p:nvPicPr>
        <p:blipFill>
          <a:blip r:embed="rId1"/>
          <a:stretch>
            <a:fillRect/>
          </a:stretch>
        </p:blipFill>
        <p:spPr>
          <a:xfrm>
            <a:off x="1565275" y="3141345"/>
            <a:ext cx="5790565" cy="2794635"/>
          </a:xfrm>
          <a:prstGeom prst="rect">
            <a:avLst/>
          </a:prstGeom>
        </p:spPr>
      </p:pic>
    </p:spTree>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BERT</a:t>
            </a:r>
            <a:r>
              <a:rPr lang="zh-CN" altLang="en-US" dirty="0">
                <a:sym typeface="+mn-ea"/>
              </a:rPr>
              <a:t>简介</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179705" y="981075"/>
            <a:ext cx="8229600" cy="473075"/>
          </a:xfrm>
          <a:prstGeom prst="rect">
            <a:avLst/>
          </a:prstGeom>
        </p:spPr>
        <p:txBody>
          <a:bodyPr/>
          <a:lstStyle/>
          <a:p>
            <a:r>
              <a:rPr lang="en-US" altLang="zh-CN" sz="2400" dirty="0">
                <a:sym typeface="+mn-ea"/>
              </a:rPr>
              <a:t>BERT</a:t>
            </a:r>
            <a:r>
              <a:rPr lang="zh-CN" altLang="en-US" sz="2400" dirty="0">
                <a:sym typeface="+mn-ea"/>
              </a:rPr>
              <a:t>关键组件包括：</a:t>
            </a:r>
            <a:endParaRPr lang="zh-CN" altLang="en-US" sz="2400" dirty="0"/>
          </a:p>
          <a:p>
            <a:pPr marL="0" indent="0">
              <a:buNone/>
            </a:pPr>
            <a:endParaRPr lang="zh-CN" altLang="en-US" sz="2400" dirty="0"/>
          </a:p>
        </p:txBody>
      </p:sp>
      <p:sp>
        <p:nvSpPr>
          <p:cNvPr id="3" name="文本框 2"/>
          <p:cNvSpPr txBox="1"/>
          <p:nvPr/>
        </p:nvSpPr>
        <p:spPr>
          <a:xfrm>
            <a:off x="251460" y="1513840"/>
            <a:ext cx="6493510" cy="49904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1</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Transformer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编码器：</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模型基于</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Transformer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模型的编码器部分，使用自注意力机制来捕获输入数据的全局依赖关系。</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2</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）预训练任务：</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模型在预训练阶段使用了两个任务。</a:t>
            </a:r>
            <a:endParaRPr kumimoji="0" lang="en-US"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indent="457200"/>
            <a:r>
              <a:rPr kumimoji="0" lang="en-US"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①</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掩码语言模型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(masked language model</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MLM)</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，即随机遮蔽</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(mask)</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输入句子中的一些单词，然后尝试预测这些遮蔽单词。这允许模型更好地理解双向上下文。</a:t>
            </a:r>
            <a:endParaRPr kumimoji="0" lang="en-US"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indent="457200"/>
            <a:r>
              <a:rPr kumimoji="0" lang="en-US"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②</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下一句预测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(next sentence prediction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NSP)</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，即给定两个句子</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，模型预测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是否是</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的下一个句子。这帮助模型学习句子间的关系。</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indent="457200"/>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3</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）双向上下文：传统的语言模型通常是单向的，而</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模型能够整合左右两侧的上下文信息，从而获得更丰富的语言表示。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p:nvPr/>
        </p:nvPicPr>
        <p:blipFill>
          <a:blip r:embed="rId1"/>
          <a:stretch>
            <a:fillRect/>
          </a:stretch>
        </p:blipFill>
        <p:spPr>
          <a:xfrm>
            <a:off x="6744970" y="1988820"/>
            <a:ext cx="2342515" cy="3973830"/>
          </a:xfrm>
          <a:prstGeom prst="rect">
            <a:avLst/>
          </a:prstGeom>
        </p:spPr>
      </p:pic>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模型选择与加载</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492760"/>
          </a:xfrm>
          <a:prstGeom prst="rect">
            <a:avLst/>
          </a:prstGeom>
        </p:spPr>
        <p:txBody>
          <a:bodyPr/>
          <a:lstStyle/>
          <a:p>
            <a:r>
              <a:rPr lang="en-US" altLang="zh-CN" sz="2400" dirty="0">
                <a:effectLst/>
                <a:sym typeface="+mn-ea"/>
              </a:rPr>
              <a:t>BERT </a:t>
            </a:r>
            <a:r>
              <a:rPr lang="zh-CN" altLang="en-US" sz="2400" dirty="0">
                <a:effectLst/>
                <a:sym typeface="+mn-ea"/>
              </a:rPr>
              <a:t>模型变体</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701165"/>
            <a:ext cx="8080375" cy="3783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常用的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模型变体有如下三种。</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RoBERTa (robustly optimized BERT approach)</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：一个改进的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版本，通过移除</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NSP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任务、训练更大的数据集、使用更长的序列和更彻底的超参数调整来提高性能。</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ALBERT(a lite BERT)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：为了减小模型尺寸而设计，它使用了参数共享和因子分解技术，提供了与</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相似的性能，但参数量却大大减少。</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DistilBERT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：一个更小、更快、更轻量的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模型，通过知识蒸馏技术从</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中蒸馏出最重要的信息，保持了大部分性能。</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模型选择与加载</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535305"/>
          </a:xfrm>
          <a:prstGeom prst="rect">
            <a:avLst/>
          </a:prstGeom>
        </p:spPr>
        <p:txBody>
          <a:bodyPr>
            <a:normAutofit/>
          </a:bodyPr>
          <a:lstStyle/>
          <a:p>
            <a:r>
              <a:rPr lang="en-US" altLang="zh-CN" sz="2400"/>
              <a:t>BERT </a:t>
            </a:r>
            <a:r>
              <a:rPr lang="zh-CN" altLang="en-US" sz="2400"/>
              <a:t>模型选择因素</a:t>
            </a:r>
            <a:r>
              <a:rPr lang="zh-CN" altLang="en-US" sz="2400" dirty="0">
                <a:sym typeface="+mn-ea"/>
              </a:rPr>
              <a:t>：</a:t>
            </a:r>
            <a:endParaRPr lang="zh-CN" altLang="en-US" sz="2400" dirty="0"/>
          </a:p>
          <a:p>
            <a:pPr marL="0" indent="0">
              <a:buNone/>
            </a:pPr>
            <a:endParaRPr lang="zh-CN" altLang="en-US" sz="2400" dirty="0"/>
          </a:p>
        </p:txBody>
      </p:sp>
      <p:sp>
        <p:nvSpPr>
          <p:cNvPr id="3" name="文本框 2"/>
          <p:cNvSpPr txBox="1"/>
          <p:nvPr/>
        </p:nvSpPr>
        <p:spPr>
          <a:xfrm>
            <a:off x="523240" y="1628775"/>
            <a:ext cx="8080375" cy="3783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选择合适的</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模型变体通常取决于以下因素。</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任务复杂性：一些复杂任务可能需要更大的模型来捕获更细微的语言特征。</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资源可用性：较大的模型需要更多的计算资源和内存。如果资源有限，可以选择</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ALBERT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DistilBERT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这样的轻量级模型。</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推理速度：如果对推理时间有严格要求，应选择推理时间更短的模型。</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数据量大小：有时较小模型在数据量有限的情况下更易于训练</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模型选择与加载</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1376045"/>
          </a:xfrm>
          <a:prstGeom prst="rect">
            <a:avLst/>
          </a:prstGeom>
        </p:spPr>
        <p:txBody>
          <a:bodyPr>
            <a:noAutofit/>
          </a:bodyPr>
          <a:lstStyle/>
          <a:p>
            <a:r>
              <a:rPr lang="zh-CN" altLang="en-US" sz="2000"/>
              <a:t>要加载和使用</a:t>
            </a:r>
            <a:r>
              <a:rPr lang="en-US" altLang="zh-CN" sz="2000"/>
              <a:t>BERT</a:t>
            </a:r>
            <a:r>
              <a:rPr lang="zh-CN" altLang="en-US" sz="2000"/>
              <a:t>模型，可以使用</a:t>
            </a:r>
            <a:r>
              <a:rPr lang="en-US" altLang="zh-CN" sz="2000" b="1"/>
              <a:t>Hugging Face</a:t>
            </a:r>
            <a:r>
              <a:rPr lang="zh-CN" altLang="en-US" sz="2000"/>
              <a:t>的</a:t>
            </a:r>
            <a:r>
              <a:rPr lang="en-US" altLang="zh-CN" sz="2000"/>
              <a:t>transformers</a:t>
            </a:r>
            <a:r>
              <a:rPr lang="zh-CN" altLang="en-US" sz="2000"/>
              <a:t>库，它提供了预训练的</a:t>
            </a:r>
            <a:r>
              <a:rPr lang="en-US" altLang="zh-CN" sz="2000"/>
              <a:t> BERT </a:t>
            </a:r>
            <a:r>
              <a:rPr lang="zh-CN" altLang="en-US" sz="2000"/>
              <a:t>模型及其变体，并且能够很方便地用于不同的</a:t>
            </a:r>
            <a:r>
              <a:rPr lang="en-US" altLang="zh-CN" sz="2000"/>
              <a:t> NLP </a:t>
            </a:r>
            <a:r>
              <a:rPr lang="zh-CN" altLang="en-US" sz="2000"/>
              <a:t>任务。本项目选择了更适用于中文文本解析的</a:t>
            </a:r>
            <a:r>
              <a:rPr lang="en-US" altLang="zh-CN" sz="2000"/>
              <a:t> bert-base-chinese </a:t>
            </a:r>
            <a:r>
              <a:rPr lang="zh-CN" altLang="en-US" sz="2000"/>
              <a:t>版本。以下是使用</a:t>
            </a:r>
            <a:r>
              <a:rPr lang="en-US" altLang="zh-CN" sz="2000"/>
              <a:t> BERT </a:t>
            </a:r>
            <a:r>
              <a:rPr lang="zh-CN" altLang="en-US" sz="2000"/>
              <a:t>模型的基本步骤。</a:t>
            </a:r>
            <a:endParaRPr lang="zh-CN" altLang="en-US" sz="2000"/>
          </a:p>
        </p:txBody>
      </p:sp>
      <p:sp>
        <p:nvSpPr>
          <p:cNvPr id="2" name="文本框 1"/>
          <p:cNvSpPr txBox="1"/>
          <p:nvPr/>
        </p:nvSpPr>
        <p:spPr>
          <a:xfrm>
            <a:off x="958850" y="2997200"/>
            <a:ext cx="6980555"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r>
              <a:rPr kumimoji="0" 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1</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、安装</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transformers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库：</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5" name="图片 4"/>
          <p:cNvPicPr>
            <a:picLocks noChangeAspect="1"/>
          </p:cNvPicPr>
          <p:nvPr/>
        </p:nvPicPr>
        <p:blipFill>
          <a:blip r:embed="rId1"/>
          <a:stretch>
            <a:fillRect/>
          </a:stretch>
        </p:blipFill>
        <p:spPr>
          <a:xfrm>
            <a:off x="4427855" y="3068955"/>
            <a:ext cx="2244725" cy="267335"/>
          </a:xfrm>
          <a:prstGeom prst="rect">
            <a:avLst/>
          </a:prstGeom>
        </p:spPr>
      </p:pic>
      <p:sp>
        <p:nvSpPr>
          <p:cNvPr id="6" name="文本框 5"/>
          <p:cNvSpPr txBox="1"/>
          <p:nvPr/>
        </p:nvSpPr>
        <p:spPr>
          <a:xfrm>
            <a:off x="971550" y="3761740"/>
            <a:ext cx="7047865" cy="7054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2</a:t>
            </a:r>
            <a:r>
              <a:rPr kumimoji="0" lang="zh-CN" altLang="en-US"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、使用</a:t>
            </a:r>
            <a:r>
              <a:rPr kumimoji="0" lang="en-US" altLang="zh-CN"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transformers </a:t>
            </a:r>
            <a:r>
              <a:rPr kumimoji="0" lang="zh-CN" altLang="en-US"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库中的</a:t>
            </a:r>
            <a:r>
              <a:rPr kumimoji="0" lang="en-US" altLang="zh-CN"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BertModel </a:t>
            </a:r>
            <a:r>
              <a:rPr kumimoji="0" lang="zh-CN" altLang="en-US"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和</a:t>
            </a:r>
            <a:r>
              <a:rPr kumimoji="0" lang="en-US" altLang="zh-CN"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BertTokenizer </a:t>
            </a:r>
            <a:r>
              <a:rPr kumimoji="0" lang="zh-CN" altLang="en-US"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来加载预训练的</a:t>
            </a:r>
            <a:r>
              <a:rPr kumimoji="0" lang="en-US" altLang="zh-CN"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BERT </a:t>
            </a:r>
            <a:r>
              <a:rPr kumimoji="0" lang="zh-CN" altLang="en-US"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模型和相应的分词器</a:t>
            </a:r>
            <a:r>
              <a:rPr kumimoji="0" lang="en-US" altLang="zh-CN"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(tokenizer)</a:t>
            </a:r>
            <a:r>
              <a:rPr kumimoji="0" lang="zh-CN" altLang="en-US"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endParaRPr kumimoji="0" lang="zh-CN" altLang="en-US" sz="20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pic>
        <p:nvPicPr>
          <p:cNvPr id="7" name="图片 6"/>
          <p:cNvPicPr>
            <a:picLocks noChangeAspect="1"/>
          </p:cNvPicPr>
          <p:nvPr/>
        </p:nvPicPr>
        <p:blipFill>
          <a:blip r:embed="rId2"/>
          <a:stretch>
            <a:fillRect/>
          </a:stretch>
        </p:blipFill>
        <p:spPr>
          <a:xfrm>
            <a:off x="2051685" y="5013325"/>
            <a:ext cx="4377055" cy="1146810"/>
          </a:xfrm>
          <a:prstGeom prst="rect">
            <a:avLst/>
          </a:prstGeom>
        </p:spPr>
      </p:pic>
    </p:spTree>
  </p:cSld>
  <p:clrMapOvr>
    <a:masterClrMapping/>
  </p:clrMapOvr>
  <p:transition spd="me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xfrm>
            <a:off x="8699881" y="6394846"/>
            <a:ext cx="330161" cy="313393"/>
          </a:xfrm>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模型选择与加载</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1376045"/>
          </a:xfrm>
          <a:prstGeom prst="rect">
            <a:avLst/>
          </a:prstGeom>
        </p:spPr>
        <p:txBody>
          <a:bodyPr>
            <a:normAutofit/>
          </a:bodyPr>
          <a:lstStyle/>
          <a:p>
            <a:r>
              <a:rPr lang="zh-CN" altLang="en-US" sz="2000"/>
              <a:t>使用</a:t>
            </a:r>
            <a:r>
              <a:rPr lang="en-US" altLang="zh-CN" sz="2000"/>
              <a:t> BERT </a:t>
            </a:r>
            <a:r>
              <a:rPr lang="zh-CN" altLang="en-US" sz="2000"/>
              <a:t>模型的基本步骤：</a:t>
            </a:r>
            <a:endParaRPr lang="zh-CN" altLang="en-US" sz="2000"/>
          </a:p>
        </p:txBody>
      </p:sp>
      <p:sp>
        <p:nvSpPr>
          <p:cNvPr id="2" name="文本框 1"/>
          <p:cNvSpPr txBox="1"/>
          <p:nvPr/>
        </p:nvSpPr>
        <p:spPr>
          <a:xfrm>
            <a:off x="970915" y="1412875"/>
            <a:ext cx="6980555" cy="920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3</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、使用分词器将文本转换为模型能够理解的格式，包括将单词转换为</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ID</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、添加必要的特殊标记</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如</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[CLS]</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[SEP])</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以及对输入进行填充或截断，以匹配模型的输入长度要求：</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3" name="图片 2"/>
          <p:cNvPicPr>
            <a:picLocks noChangeAspect="1"/>
          </p:cNvPicPr>
          <p:nvPr/>
        </p:nvPicPr>
        <p:blipFill>
          <a:blip r:embed="rId1"/>
          <a:stretch>
            <a:fillRect/>
          </a:stretch>
        </p:blipFill>
        <p:spPr>
          <a:xfrm>
            <a:off x="1691005" y="2277110"/>
            <a:ext cx="5316855" cy="1082040"/>
          </a:xfrm>
          <a:prstGeom prst="rect">
            <a:avLst/>
          </a:prstGeom>
        </p:spPr>
      </p:pic>
      <p:sp>
        <p:nvSpPr>
          <p:cNvPr id="4" name="文本框 3"/>
          <p:cNvSpPr txBox="1"/>
          <p:nvPr/>
        </p:nvSpPr>
        <p:spPr>
          <a:xfrm>
            <a:off x="970915" y="3323590"/>
            <a:ext cx="6701790" cy="920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其中，</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return_tensors='pt'</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表示返回的是</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PyTorch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张量形式的数据。</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padding='max_length'</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确保所有序列都会填充到所设定的最大长度，</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truncation=True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则确保序列不会超过该长度。</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8" name="文本框 7"/>
          <p:cNvSpPr txBox="1"/>
          <p:nvPr/>
        </p:nvSpPr>
        <p:spPr>
          <a:xfrm>
            <a:off x="970280" y="4287520"/>
            <a:ext cx="6702425" cy="7658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4</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、最后使用模型进行推理，将处理好的输入数据传递给模型，获取输出：</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9" name="矩形 8"/>
          <p:cNvSpPr/>
          <p:nvPr/>
        </p:nvSpPr>
        <p:spPr>
          <a:xfrm>
            <a:off x="3275330" y="2438400"/>
            <a:ext cx="1296035" cy="367030"/>
          </a:xfrm>
          <a:prstGeom prst="rect">
            <a:avLst/>
          </a:prstGeom>
          <a:noFill/>
          <a:ln w="12700" cap="flat">
            <a:solidFill>
              <a:srgbClr val="C00000"/>
            </a:solidFill>
            <a:prstDash val="solid"/>
            <a:round/>
          </a:ln>
          <a:extLst>
            <a:ext uri="{909E8E84-426E-40DD-AFC4-6F175D3DCCD1}">
              <a14:hiddenFill xmlns:a14="http://schemas.microsoft.com/office/drawing/2010/main">
                <a:solidFill>
                  <a:srgbClr val="C00000"/>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10" name="矩形 9"/>
          <p:cNvSpPr/>
          <p:nvPr/>
        </p:nvSpPr>
        <p:spPr>
          <a:xfrm>
            <a:off x="3275330" y="3021330"/>
            <a:ext cx="1296035" cy="156845"/>
          </a:xfrm>
          <a:prstGeom prst="rect">
            <a:avLst/>
          </a:prstGeom>
          <a:noFill/>
          <a:ln w="12700" cap="flat">
            <a:solidFill>
              <a:srgbClr val="C00000"/>
            </a:solidFill>
            <a:prstDash val="solid"/>
            <a:round/>
          </a:ln>
          <a:extLst>
            <a:ext uri="{909E8E84-426E-40DD-AFC4-6F175D3DCCD1}">
              <a14:hiddenFill xmlns:a14="http://schemas.microsoft.com/office/drawing/2010/main">
                <a:solidFill>
                  <a:srgbClr val="C00000"/>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pic>
        <p:nvPicPr>
          <p:cNvPr id="11" name="图片 10"/>
          <p:cNvPicPr>
            <a:picLocks noChangeAspect="1"/>
          </p:cNvPicPr>
          <p:nvPr/>
        </p:nvPicPr>
        <p:blipFill>
          <a:blip r:embed="rId2"/>
          <a:stretch>
            <a:fillRect/>
          </a:stretch>
        </p:blipFill>
        <p:spPr>
          <a:xfrm>
            <a:off x="2195830" y="4941570"/>
            <a:ext cx="3824605" cy="881380"/>
          </a:xfrm>
          <a:prstGeom prst="rect">
            <a:avLst/>
          </a:prstGeom>
        </p:spPr>
      </p:pic>
      <p:sp>
        <p:nvSpPr>
          <p:cNvPr id="12" name="文本框 11"/>
          <p:cNvSpPr txBox="1"/>
          <p:nvPr/>
        </p:nvSpPr>
        <p:spPr>
          <a:xfrm>
            <a:off x="970280" y="5877560"/>
            <a:ext cx="6914515" cy="64389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last_hidden_state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是模型的主要输出，它是每个令牌的最后一层隐藏状态的表示。根据实际任务，可以使用</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它进行各种后续处理。</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3</a:t>
            </a:r>
            <a:r>
              <a:rPr lang="zh-CN" altLang="en-US" dirty="0">
                <a:sym typeface="+mn-ea"/>
              </a:rPr>
              <a:t>）基于知识图谱的化验指标特征提取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概述</a:t>
            </a:r>
            <a:r>
              <a:rPr lang="zh-CN" altLang="en-US" sz="2400" dirty="0"/>
              <a:t>思路</a:t>
            </a:r>
            <a:endParaRPr lang="zh-CN" altLang="en-US" sz="2400" dirty="0"/>
          </a:p>
          <a:p>
            <a:pPr marL="0" indent="0">
              <a:buNone/>
            </a:pPr>
            <a:endParaRPr lang="zh-CN" altLang="en-US" sz="2400" dirty="0"/>
          </a:p>
        </p:txBody>
      </p:sp>
      <p:sp>
        <p:nvSpPr>
          <p:cNvPr id="3" name="文本框 2"/>
          <p:cNvSpPr txBox="1"/>
          <p:nvPr/>
        </p:nvSpPr>
        <p:spPr>
          <a:xfrm>
            <a:off x="523240" y="1513840"/>
            <a:ext cx="8080375" cy="1475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知识图谱构建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知识图谱可视化</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图嵌入技术</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知识图谱构建</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493395"/>
          </a:xfrm>
          <a:prstGeom prst="rect">
            <a:avLst/>
          </a:prstGeom>
        </p:spPr>
        <p:txBody>
          <a:bodyPr/>
          <a:lstStyle/>
          <a:p>
            <a:r>
              <a:rPr lang="zh-CN" altLang="en-US" sz="2400"/>
              <a:t>医疗知识图谱实体</a:t>
            </a:r>
            <a:r>
              <a:rPr lang="zh-CN" altLang="en-US" sz="2400" dirty="0">
                <a:sym typeface="+mn-ea"/>
              </a:rPr>
              <a:t>：</a:t>
            </a:r>
            <a:endParaRPr lang="zh-CN" altLang="en-US" sz="2400" dirty="0"/>
          </a:p>
        </p:txBody>
      </p:sp>
      <p:sp>
        <p:nvSpPr>
          <p:cNvPr id="3" name="文本框 2"/>
          <p:cNvSpPr txBox="1"/>
          <p:nvPr/>
        </p:nvSpPr>
        <p:spPr>
          <a:xfrm>
            <a:off x="523240" y="1513840"/>
            <a:ext cx="8080375" cy="50145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在医疗知识图谱中，实体通常指可以明确识别的、构成医疗领域知识体系的基本元素。包括但不限于以下几种：</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疾病和症状：如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糖尿病</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头痛</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等，这些是医疗知识图谱中最核心的实体。</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药物：包括各种药品名称、药物类别等，如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阿司匹林</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抗生素</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医疗设备：如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“CT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扫描仪</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心电监护仪</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医疗程序：如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血液透析</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开颅手术</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生物标志物：如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血糖</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血压</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等生理指标。</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医疗机构和专业人员：如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医院</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医生</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等。</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知识图谱构建</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493395"/>
          </a:xfrm>
          <a:prstGeom prst="rect">
            <a:avLst/>
          </a:prstGeom>
        </p:spPr>
        <p:txBody>
          <a:bodyPr/>
          <a:lstStyle/>
          <a:p>
            <a:r>
              <a:rPr lang="zh-CN" altLang="en-US" sz="2400"/>
              <a:t>医疗知识图谱实体</a:t>
            </a:r>
            <a:r>
              <a:rPr lang="zh-CN" altLang="en-US" sz="2400" dirty="0">
                <a:sym typeface="+mn-ea"/>
              </a:rPr>
              <a:t>：</a:t>
            </a:r>
            <a:endParaRPr lang="zh-CN" altLang="en-US" sz="2400" dirty="0"/>
          </a:p>
        </p:txBody>
      </p:sp>
      <p:sp>
        <p:nvSpPr>
          <p:cNvPr id="3" name="文本框 2"/>
          <p:cNvSpPr txBox="1"/>
          <p:nvPr/>
        </p:nvSpPr>
        <p:spPr>
          <a:xfrm>
            <a:off x="523240" y="1513840"/>
            <a:ext cx="8080375" cy="36296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在医疗知识图谱中，关系表达实体间的相关性或互动，对于理解实体间的相互作用及其在医疗领域的功能至关重要。医疗知识图谱中的关系可以包括以下几点：</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治疗关系：例如，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阿司匹林</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治疗</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头痛</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症状关联：例如，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糖尿病</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可能导致</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视力模糊</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替代关系：例如，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药物</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可以替代</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药物</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B”</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隶属关系：例如，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心脏病科</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是</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某医院</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的部门。</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诊断过程：例如，</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血糖测试</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用于诊断</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糖尿病</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
        <p:nvSpPr>
          <p:cNvPr id="2" name="文本框 1"/>
          <p:cNvSpPr txBox="1"/>
          <p:nvPr/>
        </p:nvSpPr>
        <p:spPr>
          <a:xfrm>
            <a:off x="457200" y="5299710"/>
            <a:ext cx="7716520" cy="706755"/>
          </a:xfrm>
          <a:prstGeom prst="rect">
            <a:avLst/>
          </a:prstGeom>
        </p:spPr>
        <p:txBody>
          <a:bodyPr wrap="square">
            <a:spAutoFit/>
          </a:bodyPr>
          <a:p>
            <a:r>
              <a:rPr lang="zh-CN" altLang="en-US" sz="2000">
                <a:solidFill>
                  <a:srgbClr val="000000"/>
                </a:solidFill>
              </a:rPr>
              <a:t>在知识图谱中，关系通常以边的形式表示，连接两个或多个实体节点，每种类型的边代 表一种特定的语义关系。</a:t>
            </a:r>
            <a:endParaRPr lang="zh-CN" altLang="en-US" sz="2000">
              <a:solidFill>
                <a:srgbClr val="000000"/>
              </a:solidFill>
            </a:endParaRPr>
          </a:p>
        </p:txBody>
      </p:sp>
    </p:spTree>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知识图谱可视化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179705" y="836930"/>
            <a:ext cx="8229600" cy="1167130"/>
          </a:xfrm>
          <a:prstGeom prst="rect">
            <a:avLst/>
          </a:prstGeom>
        </p:spPr>
        <p:txBody>
          <a:bodyPr>
            <a:noAutofit/>
          </a:bodyPr>
          <a:lstStyle/>
          <a:p>
            <a:r>
              <a:rPr lang="zh-CN" altLang="en-US" sz="1800"/>
              <a:t>本章中将使用</a:t>
            </a:r>
            <a:r>
              <a:rPr lang="en-US" altLang="zh-CN" sz="1800"/>
              <a:t> gephi </a:t>
            </a:r>
            <a:r>
              <a:rPr lang="zh-CN" altLang="en-US" sz="1800"/>
              <a:t>进行知识图谱可视化。首先，需要将知识图谱数据整理成实体和关系的</a:t>
            </a:r>
            <a:r>
              <a:rPr lang="en-US" altLang="zh-CN" sz="1800"/>
              <a:t> csv </a:t>
            </a:r>
            <a:r>
              <a:rPr lang="zh-CN" altLang="en-US" sz="1800"/>
              <a:t>文件。实体文件中列出每个实体的编号和名称，关系文件中列出每个关系的编号、起始实体编号和目标实体编号。实体和关系</a:t>
            </a:r>
            <a:r>
              <a:rPr lang="en-US" altLang="zh-CN" sz="1800"/>
              <a:t>csv </a:t>
            </a:r>
            <a:r>
              <a:rPr lang="zh-CN" altLang="en-US" sz="1800"/>
              <a:t>文件示例数据如图所示：</a:t>
            </a:r>
            <a:endParaRPr lang="zh-CN" altLang="en-US" sz="1800"/>
          </a:p>
          <a:p>
            <a:pPr marL="0" indent="0">
              <a:buNone/>
            </a:pPr>
            <a:endParaRPr lang="zh-CN" altLang="en-US" sz="1800" dirty="0"/>
          </a:p>
        </p:txBody>
      </p:sp>
      <p:pic>
        <p:nvPicPr>
          <p:cNvPr id="2" name="图片 1"/>
          <p:cNvPicPr>
            <a:picLocks noChangeAspect="1"/>
          </p:cNvPicPr>
          <p:nvPr/>
        </p:nvPicPr>
        <p:blipFill>
          <a:blip r:embed="rId1"/>
          <a:stretch>
            <a:fillRect/>
          </a:stretch>
        </p:blipFill>
        <p:spPr>
          <a:xfrm>
            <a:off x="4427855" y="1844675"/>
            <a:ext cx="3168015" cy="1132205"/>
          </a:xfrm>
          <a:prstGeom prst="rect">
            <a:avLst/>
          </a:prstGeom>
        </p:spPr>
      </p:pic>
      <p:sp>
        <p:nvSpPr>
          <p:cNvPr id="5" name="文本框 4"/>
          <p:cNvSpPr txBox="1"/>
          <p:nvPr/>
        </p:nvSpPr>
        <p:spPr>
          <a:xfrm>
            <a:off x="683895" y="2905760"/>
            <a:ext cx="7301230" cy="7035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上述两个文件导入到</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gephi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中进行可视化，得到结果如图所示：</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pic>
        <p:nvPicPr>
          <p:cNvPr id="7" name="图片 6"/>
          <p:cNvPicPr>
            <a:picLocks noChangeAspect="1"/>
          </p:cNvPicPr>
          <p:nvPr/>
        </p:nvPicPr>
        <p:blipFill>
          <a:blip r:embed="rId2"/>
          <a:srcRect t="1925"/>
          <a:stretch>
            <a:fillRect/>
          </a:stretch>
        </p:blipFill>
        <p:spPr>
          <a:xfrm>
            <a:off x="2280285" y="3282315"/>
            <a:ext cx="3766820" cy="3527425"/>
          </a:xfrm>
          <a:prstGeom prst="rect">
            <a:avLst/>
          </a:prstGeom>
          <a:ln w="6350">
            <a:noFill/>
          </a:ln>
        </p:spPr>
      </p:pic>
    </p:spTree>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图嵌入技术</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2117090"/>
          </a:xfrm>
          <a:prstGeom prst="rect">
            <a:avLst/>
          </a:prstGeom>
        </p:spPr>
        <p:txBody>
          <a:bodyPr>
            <a:normAutofit fontScale="25000"/>
          </a:bodyPr>
          <a:lstStyle/>
          <a:p>
            <a:r>
              <a:rPr lang="zh-CN" altLang="en-US" sz="7200"/>
              <a:t>知识图谱的图嵌入技术是指将知识图谱中的实体和关系映射到一个连续的低维空间中，同时保留其原有的拓扑结构、语义信息和属性特征。通过这种映射，可以将复杂的图结构转换成稠密向量形式，这些向量可以作为机器学习模型的输入，用于各种下游任务，如链接预测、实体分类、关系分类和知识图谱补全等。图嵌入技术主要解决知识图谱中的信息处理和表示学习问题。它使得计算机可以更高效地处理和分析图谱中的知识，尤其是在大规模数据集上。</a:t>
            </a:r>
            <a:endParaRPr lang="zh-CN" altLang="en-US" sz="7200" dirty="0"/>
          </a:p>
          <a:p>
            <a:pPr marL="0" indent="0">
              <a:buNone/>
            </a:pPr>
            <a:endParaRPr lang="zh-CN" altLang="en-US" sz="7200" dirty="0"/>
          </a:p>
        </p:txBody>
      </p:sp>
      <p:pic>
        <p:nvPicPr>
          <p:cNvPr id="2" name="图片 1"/>
          <p:cNvPicPr/>
          <p:nvPr/>
        </p:nvPicPr>
        <p:blipFill>
          <a:blip r:embed="rId1">
            <a:clrChange>
              <a:clrFrom>
                <a:srgbClr val="FFFFFF">
                  <a:alpha val="100000"/>
                </a:srgbClr>
              </a:clrFrom>
              <a:clrTo>
                <a:srgbClr val="FFFFFF">
                  <a:alpha val="100000"/>
                  <a:alpha val="0"/>
                </a:srgbClr>
              </a:clrTo>
            </a:clrChange>
          </a:blip>
          <a:stretch>
            <a:fillRect/>
          </a:stretch>
        </p:blipFill>
        <p:spPr>
          <a:xfrm>
            <a:off x="1259840" y="3385185"/>
            <a:ext cx="6518910" cy="2584450"/>
          </a:xfrm>
          <a:prstGeom prst="rect">
            <a:avLst/>
          </a:prstGeom>
        </p:spPr>
      </p:pic>
    </p:spTree>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图嵌入技术</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493395"/>
          </a:xfrm>
          <a:prstGeom prst="rect">
            <a:avLst/>
          </a:prstGeom>
        </p:spPr>
        <p:txBody>
          <a:bodyPr/>
          <a:lstStyle/>
          <a:p>
            <a:r>
              <a:rPr lang="zh-CN" altLang="en-US" sz="2400"/>
              <a:t>常见的图嵌入技术</a:t>
            </a:r>
            <a:r>
              <a:rPr lang="zh-CN" altLang="en-US" sz="2400" dirty="0">
                <a:sym typeface="+mn-ea"/>
              </a:rPr>
              <a:t>：</a:t>
            </a:r>
            <a:endParaRPr lang="zh-CN" altLang="en-US" sz="2400" dirty="0"/>
          </a:p>
        </p:txBody>
      </p:sp>
      <p:sp>
        <p:nvSpPr>
          <p:cNvPr id="3" name="文本框 2"/>
          <p:cNvSpPr txBox="1"/>
          <p:nvPr/>
        </p:nvSpPr>
        <p:spPr>
          <a:xfrm>
            <a:off x="358140" y="1513840"/>
            <a:ext cx="8342630" cy="46361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lstStyle/>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TransE</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：将关系视作实体间的平移操作。如果</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&lt;h, r, t&gt;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是图谱中的一个事实</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头实体、关系、尾实体</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，那么</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TransE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嵌入的目标是使得</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h + r ≈ 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RESCAL</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：一种基于张量分解的方法，它将每个关系视为一个矩阵，能够捕捉实体间复杂的交互效应。</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DistMult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：简化了</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RESCAL </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的张量分解，将关系表示为对角矩阵，有效地捕捉对称关系。</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ComplEx</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：扩展了</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DistMult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，引入复数嵌入，以更好地处理对称和反对称关系。</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Node2Vec</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：一种基于随机游走的算法，它探索了网络的邻域结构，并将节点嵌入低维空间中。</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GCN</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：使用图卷积操作来学习节点的嵌入表示，可以有效地捕捉节点的局部图结构。</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GAT</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：引入注意力机制的图神经网络，它允许模型为每个节点的邻居分配不同的重要性。</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图嵌入技术</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447675"/>
          </a:xfrm>
          <a:prstGeom prst="rect">
            <a:avLst/>
          </a:prstGeom>
        </p:spPr>
        <p:txBody>
          <a:bodyPr>
            <a:normAutofit lnSpcReduction="10000"/>
          </a:bodyPr>
          <a:lstStyle/>
          <a:p>
            <a:r>
              <a:rPr lang="zh-CN" altLang="en-US" sz="2400"/>
              <a:t>图嵌入的实现步骤</a:t>
            </a:r>
            <a:r>
              <a:rPr lang="zh-CN" altLang="en-US" sz="2400" dirty="0">
                <a:sym typeface="+mn-ea"/>
              </a:rPr>
              <a:t>：</a:t>
            </a:r>
            <a:endParaRPr lang="zh-CN" altLang="en-US" sz="2400" dirty="0"/>
          </a:p>
        </p:txBody>
      </p:sp>
      <p:sp>
        <p:nvSpPr>
          <p:cNvPr id="3" name="文本框 2"/>
          <p:cNvSpPr txBox="1"/>
          <p:nvPr/>
        </p:nvSpPr>
        <p:spPr>
          <a:xfrm>
            <a:off x="523240" y="1513840"/>
            <a:ext cx="8080375" cy="41529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随机初始化：实体和关系的嵌入向量通常是随机初始化的。</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损失函数定义：定义一个损失函数来量化嵌入向量与真实图结构之间的差异。</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优化：使用梯度下降或其他优化算法调整嵌入向量，以最小化损失函数。</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评估：通过链接预测、实体分类或其他下游任务来评估嵌入的质量。</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图嵌入技术</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323850" y="850900"/>
            <a:ext cx="8229600" cy="628650"/>
          </a:xfrm>
          <a:prstGeom prst="rect">
            <a:avLst/>
          </a:prstGeom>
        </p:spPr>
        <p:txBody>
          <a:bodyPr>
            <a:noAutofit/>
          </a:bodyPr>
          <a:lstStyle/>
          <a:p>
            <a:r>
              <a:rPr lang="zh-CN" altLang="en-US" sz="1800"/>
              <a:t>本项目中采用</a:t>
            </a:r>
            <a:r>
              <a:rPr lang="en-US" altLang="zh-CN" sz="1800"/>
              <a:t> GAT </a:t>
            </a:r>
            <a:r>
              <a:rPr lang="zh-CN" altLang="en-US" sz="1800"/>
              <a:t>方法来进行知识图谱信息处理。在构建</a:t>
            </a:r>
            <a:r>
              <a:rPr lang="en-US" altLang="zh-CN" sz="1800"/>
              <a:t> GAT </a:t>
            </a:r>
            <a:r>
              <a:rPr lang="zh-CN" altLang="en-US" sz="1800"/>
              <a:t>网络之前，首先定义一个用作</a:t>
            </a:r>
            <a:r>
              <a:rPr lang="en-US" altLang="zh-CN" sz="1800"/>
              <a:t> GAT </a:t>
            </a:r>
            <a:r>
              <a:rPr lang="zh-CN" altLang="en-US" sz="1800"/>
              <a:t>网络层的类</a:t>
            </a:r>
            <a:r>
              <a:rPr lang="en-US" altLang="zh-CN" sz="1800"/>
              <a:t>(GATLayer)</a:t>
            </a:r>
            <a:r>
              <a:rPr lang="zh-CN" altLang="en-US" sz="1800" dirty="0">
                <a:sym typeface="+mn-ea"/>
              </a:rPr>
              <a:t>：</a:t>
            </a:r>
            <a:endParaRPr lang="zh-CN" altLang="en-US" sz="1800" dirty="0">
              <a:sym typeface="+mn-ea"/>
            </a:endParaRPr>
          </a:p>
        </p:txBody>
      </p:sp>
      <p:pic>
        <p:nvPicPr>
          <p:cNvPr id="2" name="图片 1"/>
          <p:cNvPicPr>
            <a:picLocks noChangeAspect="1"/>
          </p:cNvPicPr>
          <p:nvPr/>
        </p:nvPicPr>
        <p:blipFill>
          <a:blip r:embed="rId1"/>
          <a:srcRect l="240"/>
          <a:stretch>
            <a:fillRect/>
          </a:stretch>
        </p:blipFill>
        <p:spPr>
          <a:xfrm>
            <a:off x="467995" y="1557020"/>
            <a:ext cx="4092575" cy="2465705"/>
          </a:xfrm>
          <a:prstGeom prst="rect">
            <a:avLst/>
          </a:prstGeom>
        </p:spPr>
      </p:pic>
      <p:pic>
        <p:nvPicPr>
          <p:cNvPr id="5" name="图片 4"/>
          <p:cNvPicPr>
            <a:picLocks noChangeAspect="1"/>
          </p:cNvPicPr>
          <p:nvPr/>
        </p:nvPicPr>
        <p:blipFill>
          <a:blip r:embed="rId2"/>
          <a:srcRect l="3170" r="478"/>
          <a:stretch>
            <a:fillRect/>
          </a:stretch>
        </p:blipFill>
        <p:spPr>
          <a:xfrm>
            <a:off x="467995" y="4005580"/>
            <a:ext cx="4092575" cy="2680970"/>
          </a:xfrm>
          <a:prstGeom prst="rect">
            <a:avLst/>
          </a:prstGeom>
        </p:spPr>
      </p:pic>
      <p:sp>
        <p:nvSpPr>
          <p:cNvPr id="6" name="文本框 5"/>
          <p:cNvSpPr txBox="1"/>
          <p:nvPr/>
        </p:nvSpPr>
        <p:spPr>
          <a:xfrm>
            <a:off x="4787900" y="1479550"/>
            <a:ext cx="3761105" cy="64389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主要功能：通过注意力机制来更新图中节点的特征表示。</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8" name="文本框 7"/>
          <p:cNvSpPr txBox="1"/>
          <p:nvPr/>
        </p:nvSpPr>
        <p:spPr>
          <a:xfrm>
            <a:off x="4787900" y="2277110"/>
            <a:ext cx="3965575" cy="3475990"/>
          </a:xfrm>
          <a:prstGeom prst="rect">
            <a:avLst/>
          </a:prstGeom>
        </p:spPr>
        <p:txBody>
          <a:bodyPr>
            <a:noAutofit/>
          </a:bodyPr>
          <a:p>
            <a:r>
              <a:rPr lang="en-US" altLang="zh-CN">
                <a:solidFill>
                  <a:srgbClr val="000000"/>
                </a:solidFill>
              </a:rPr>
              <a:t>(1)</a:t>
            </a:r>
            <a:r>
              <a:rPr lang="zh-CN" altLang="en-US">
                <a:solidFill>
                  <a:srgbClr val="000000"/>
                </a:solidFill>
              </a:rPr>
              <a:t>初始化</a:t>
            </a:r>
            <a:r>
              <a:rPr lang="en-US" altLang="zh-CN">
                <a:solidFill>
                  <a:srgbClr val="000000"/>
                </a:solidFill>
              </a:rPr>
              <a:t>(__init__</a:t>
            </a:r>
            <a:r>
              <a:rPr lang="zh-CN" altLang="en-US">
                <a:solidFill>
                  <a:srgbClr val="000000"/>
                </a:solidFill>
              </a:rPr>
              <a:t>方法</a:t>
            </a:r>
            <a:r>
              <a:rPr lang="en-US" altLang="zh-CN">
                <a:solidFill>
                  <a:srgbClr val="000000"/>
                </a:solidFill>
              </a:rPr>
              <a:t>)</a:t>
            </a:r>
            <a:r>
              <a:rPr lang="zh-CN" altLang="en-US">
                <a:solidFill>
                  <a:srgbClr val="000000"/>
                </a:solidFill>
              </a:rPr>
              <a:t>：接收输入特征维度 </a:t>
            </a:r>
            <a:r>
              <a:rPr lang="en-US" altLang="zh-CN">
                <a:solidFill>
                  <a:srgbClr val="000000"/>
                </a:solidFill>
              </a:rPr>
              <a:t>in_features</a:t>
            </a:r>
            <a:r>
              <a:rPr lang="zh-CN" altLang="en-US">
                <a:solidFill>
                  <a:srgbClr val="000000"/>
                </a:solidFill>
              </a:rPr>
              <a:t>、输出特征维度 </a:t>
            </a:r>
            <a:r>
              <a:rPr lang="en-US" altLang="zh-CN">
                <a:solidFill>
                  <a:srgbClr val="000000"/>
                </a:solidFill>
              </a:rPr>
              <a:t>out_features</a:t>
            </a:r>
            <a:r>
              <a:rPr lang="zh-CN" altLang="en-US">
                <a:solidFill>
                  <a:srgbClr val="000000"/>
                </a:solidFill>
              </a:rPr>
              <a:t>、</a:t>
            </a:r>
            <a:r>
              <a:rPr lang="en-US" altLang="zh-CN">
                <a:solidFill>
                  <a:srgbClr val="000000"/>
                </a:solidFill>
              </a:rPr>
              <a:t>dropout </a:t>
            </a:r>
            <a:r>
              <a:rPr lang="zh-CN" altLang="en-US">
                <a:solidFill>
                  <a:srgbClr val="000000"/>
                </a:solidFill>
              </a:rPr>
              <a:t>概率 </a:t>
            </a:r>
            <a:r>
              <a:rPr lang="en-US" altLang="zh-CN">
                <a:solidFill>
                  <a:srgbClr val="000000"/>
                </a:solidFill>
              </a:rPr>
              <a:t>dropout</a:t>
            </a:r>
            <a:r>
              <a:rPr lang="zh-CN" altLang="en-US">
                <a:solidFill>
                  <a:srgbClr val="000000"/>
                </a:solidFill>
              </a:rPr>
              <a:t>、激活函数 </a:t>
            </a:r>
            <a:r>
              <a:rPr lang="en-US" altLang="zh-CN">
                <a:solidFill>
                  <a:srgbClr val="000000"/>
                </a:solidFill>
              </a:rPr>
              <a:t>LeakyReLU </a:t>
            </a:r>
            <a:r>
              <a:rPr lang="zh-CN" altLang="en-US">
                <a:solidFill>
                  <a:srgbClr val="000000"/>
                </a:solidFill>
              </a:rPr>
              <a:t>的负斜率参数</a:t>
            </a:r>
            <a:r>
              <a:rPr lang="en-US" altLang="zh-CN">
                <a:solidFill>
                  <a:srgbClr val="000000"/>
                </a:solidFill>
              </a:rPr>
              <a:t>alpha</a:t>
            </a:r>
            <a:r>
              <a:rPr lang="zh-CN" altLang="en-US">
                <a:solidFill>
                  <a:srgbClr val="000000"/>
                </a:solidFill>
              </a:rPr>
              <a:t>，以及一个布尔值 </a:t>
            </a:r>
            <a:r>
              <a:rPr lang="en-US" altLang="zh-CN">
                <a:solidFill>
                  <a:srgbClr val="000000"/>
                </a:solidFill>
              </a:rPr>
              <a:t>concat</a:t>
            </a:r>
            <a:r>
              <a:rPr lang="zh-CN" altLang="en-US">
                <a:solidFill>
                  <a:srgbClr val="000000"/>
                </a:solidFill>
              </a:rPr>
              <a:t>，决定进行连接操作或者替换特征。</a:t>
            </a:r>
            <a:endParaRPr lang="zh-CN" altLang="en-US">
              <a:solidFill>
                <a:srgbClr val="000000"/>
              </a:solidFill>
            </a:endParaRPr>
          </a:p>
          <a:p>
            <a:endParaRPr lang="zh-CN" altLang="en-US">
              <a:solidFill>
                <a:srgbClr val="000000"/>
              </a:solidFill>
            </a:endParaRPr>
          </a:p>
          <a:p>
            <a:r>
              <a:rPr lang="zh-CN" altLang="en-US">
                <a:solidFill>
                  <a:srgbClr val="000000"/>
                </a:solidFill>
              </a:rPr>
              <a:t>初始化过程中，定义了权重矩阵</a:t>
            </a:r>
            <a:r>
              <a:rPr lang="en-US" altLang="zh-CN" i="1">
                <a:solidFill>
                  <a:srgbClr val="000000"/>
                </a:solidFill>
              </a:rPr>
              <a:t>W</a:t>
            </a:r>
            <a:r>
              <a:rPr lang="zh-CN" altLang="en-US">
                <a:solidFill>
                  <a:srgbClr val="000000"/>
                </a:solidFill>
              </a:rPr>
              <a:t>和注意力系数向量</a:t>
            </a:r>
            <a:r>
              <a:rPr lang="en-US" altLang="zh-CN" i="1">
                <a:solidFill>
                  <a:srgbClr val="000000"/>
                </a:solidFill>
              </a:rPr>
              <a:t>a</a:t>
            </a:r>
            <a:r>
              <a:rPr lang="zh-CN" altLang="en-US">
                <a:solidFill>
                  <a:srgbClr val="000000"/>
                </a:solidFill>
              </a:rPr>
              <a:t>，并使用</a:t>
            </a:r>
            <a:r>
              <a:rPr lang="en-US" altLang="zh-CN">
                <a:solidFill>
                  <a:srgbClr val="000000"/>
                </a:solidFill>
              </a:rPr>
              <a:t>xavier</a:t>
            </a:r>
            <a:r>
              <a:rPr lang="zh-CN" altLang="en-US">
                <a:solidFill>
                  <a:srgbClr val="000000"/>
                </a:solidFill>
              </a:rPr>
              <a:t>初始化方法进行初始化。</a:t>
            </a:r>
            <a:endParaRPr lang="zh-CN" altLang="en-US">
              <a:solidFill>
                <a:srgbClr val="000000"/>
              </a:solidFill>
            </a:endParaRPr>
          </a:p>
          <a:p>
            <a:endParaRPr lang="zh-CN" altLang="en-US">
              <a:solidFill>
                <a:srgbClr val="000000"/>
              </a:solidFill>
            </a:endParaRPr>
          </a:p>
          <a:p>
            <a:r>
              <a:rPr lang="zh-CN" altLang="en-US">
                <a:solidFill>
                  <a:srgbClr val="000000"/>
                </a:solidFill>
              </a:rPr>
              <a:t>此外，定义了一个 </a:t>
            </a:r>
            <a:r>
              <a:rPr lang="en-US" altLang="zh-CN">
                <a:solidFill>
                  <a:srgbClr val="000000"/>
                </a:solidFill>
              </a:rPr>
              <a:t>LeakyReLU </a:t>
            </a:r>
            <a:r>
              <a:rPr lang="zh-CN" altLang="en-US">
                <a:solidFill>
                  <a:srgbClr val="000000"/>
                </a:solidFill>
              </a:rPr>
              <a:t>激活函数。 </a:t>
            </a:r>
            <a:endParaRPr lang="zh-CN" altLang="en-US">
              <a:solidFill>
                <a:srgbClr val="000000"/>
              </a:solidFill>
            </a:endParaRPr>
          </a:p>
          <a:p>
            <a:endParaRPr lang="zh-CN" altLang="en-US">
              <a:solidFill>
                <a:srgbClr val="000000"/>
              </a:solidFill>
            </a:endParaRPr>
          </a:p>
        </p:txBody>
      </p:sp>
      <p:sp>
        <p:nvSpPr>
          <p:cNvPr id="9" name="矩形 8"/>
          <p:cNvSpPr/>
          <p:nvPr/>
        </p:nvSpPr>
        <p:spPr>
          <a:xfrm>
            <a:off x="755650" y="1701165"/>
            <a:ext cx="3600450" cy="2232025"/>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图嵌入技术</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323850" y="850900"/>
            <a:ext cx="8229600" cy="628650"/>
          </a:xfrm>
          <a:prstGeom prst="rect">
            <a:avLst/>
          </a:prstGeom>
        </p:spPr>
        <p:txBody>
          <a:bodyPr>
            <a:noAutofit/>
          </a:bodyPr>
          <a:lstStyle/>
          <a:p>
            <a:r>
              <a:rPr lang="zh-CN" altLang="en-US" sz="1800"/>
              <a:t>本项目中采用</a:t>
            </a:r>
            <a:r>
              <a:rPr lang="en-US" altLang="zh-CN" sz="1800"/>
              <a:t> GAT </a:t>
            </a:r>
            <a:r>
              <a:rPr lang="zh-CN" altLang="en-US" sz="1800"/>
              <a:t>方法来进行知识图谱信息处理。在构建</a:t>
            </a:r>
            <a:r>
              <a:rPr lang="en-US" altLang="zh-CN" sz="1800"/>
              <a:t> GAT </a:t>
            </a:r>
            <a:r>
              <a:rPr lang="zh-CN" altLang="en-US" sz="1800"/>
              <a:t>网络之前，首先定义一个用作</a:t>
            </a:r>
            <a:r>
              <a:rPr lang="en-US" altLang="zh-CN" sz="1800"/>
              <a:t> GAT </a:t>
            </a:r>
            <a:r>
              <a:rPr lang="zh-CN" altLang="en-US" sz="1800"/>
              <a:t>网络层的类</a:t>
            </a:r>
            <a:r>
              <a:rPr lang="en-US" altLang="zh-CN" sz="1800"/>
              <a:t>(GATLayer)</a:t>
            </a:r>
            <a:r>
              <a:rPr lang="zh-CN" altLang="en-US" sz="1800"/>
              <a:t>，代码如下</a:t>
            </a:r>
            <a:r>
              <a:rPr lang="zh-CN" altLang="en-US" sz="1800" dirty="0">
                <a:sym typeface="+mn-ea"/>
              </a:rPr>
              <a:t>：</a:t>
            </a:r>
            <a:endParaRPr lang="zh-CN" altLang="en-US" sz="1800" dirty="0">
              <a:sym typeface="+mn-ea"/>
            </a:endParaRPr>
          </a:p>
        </p:txBody>
      </p:sp>
      <p:pic>
        <p:nvPicPr>
          <p:cNvPr id="2" name="图片 1"/>
          <p:cNvPicPr>
            <a:picLocks noChangeAspect="1"/>
          </p:cNvPicPr>
          <p:nvPr/>
        </p:nvPicPr>
        <p:blipFill>
          <a:blip r:embed="rId1"/>
          <a:srcRect l="240"/>
          <a:stretch>
            <a:fillRect/>
          </a:stretch>
        </p:blipFill>
        <p:spPr>
          <a:xfrm>
            <a:off x="467995" y="1412875"/>
            <a:ext cx="4092575" cy="2465705"/>
          </a:xfrm>
          <a:prstGeom prst="rect">
            <a:avLst/>
          </a:prstGeom>
        </p:spPr>
      </p:pic>
      <p:pic>
        <p:nvPicPr>
          <p:cNvPr id="5" name="图片 4"/>
          <p:cNvPicPr>
            <a:picLocks noChangeAspect="1"/>
          </p:cNvPicPr>
          <p:nvPr/>
        </p:nvPicPr>
        <p:blipFill>
          <a:blip r:embed="rId2"/>
          <a:srcRect l="3170" r="478"/>
          <a:stretch>
            <a:fillRect/>
          </a:stretch>
        </p:blipFill>
        <p:spPr>
          <a:xfrm>
            <a:off x="467995" y="3878580"/>
            <a:ext cx="4092575" cy="2680970"/>
          </a:xfrm>
          <a:prstGeom prst="rect">
            <a:avLst/>
          </a:prstGeom>
        </p:spPr>
      </p:pic>
      <p:sp>
        <p:nvSpPr>
          <p:cNvPr id="8" name="文本框 7"/>
          <p:cNvSpPr txBox="1"/>
          <p:nvPr/>
        </p:nvSpPr>
        <p:spPr>
          <a:xfrm>
            <a:off x="4787900" y="1557020"/>
            <a:ext cx="3965575" cy="4636770"/>
          </a:xfrm>
          <a:prstGeom prst="rect">
            <a:avLst/>
          </a:prstGeom>
        </p:spPr>
        <p:txBody>
          <a:bodyPr>
            <a:noAutofit/>
          </a:bodyPr>
          <a:p>
            <a:r>
              <a:rPr lang="en-US" altLang="zh-CN" sz="1600">
                <a:solidFill>
                  <a:srgbClr val="000000"/>
                </a:solidFill>
              </a:rPr>
              <a:t>(2)</a:t>
            </a:r>
            <a:r>
              <a:rPr lang="zh-CN" altLang="en-US" sz="1600">
                <a:solidFill>
                  <a:srgbClr val="000000"/>
                </a:solidFill>
              </a:rPr>
              <a:t>前向传播</a:t>
            </a:r>
            <a:r>
              <a:rPr lang="en-US" altLang="zh-CN" sz="1600">
                <a:solidFill>
                  <a:srgbClr val="000000"/>
                </a:solidFill>
              </a:rPr>
              <a:t>(forward </a:t>
            </a:r>
            <a:r>
              <a:rPr lang="zh-CN" altLang="en-US" sz="1600">
                <a:solidFill>
                  <a:srgbClr val="000000"/>
                </a:solidFill>
              </a:rPr>
              <a:t>方法</a:t>
            </a:r>
            <a:r>
              <a:rPr lang="en-US" altLang="zh-CN" sz="1600">
                <a:solidFill>
                  <a:srgbClr val="000000"/>
                </a:solidFill>
              </a:rPr>
              <a:t>)</a:t>
            </a:r>
            <a:r>
              <a:rPr lang="zh-CN" altLang="en-US" sz="1600">
                <a:solidFill>
                  <a:srgbClr val="000000"/>
                </a:solidFill>
              </a:rPr>
              <a:t>：</a:t>
            </a:r>
            <a:endParaRPr lang="zh-CN" altLang="en-US" sz="1600">
              <a:solidFill>
                <a:srgbClr val="000000"/>
              </a:solidFill>
            </a:endParaRPr>
          </a:p>
          <a:p>
            <a:endParaRPr lang="zh-CN" altLang="en-US" sz="1600">
              <a:solidFill>
                <a:srgbClr val="000000"/>
              </a:solidFill>
            </a:endParaRPr>
          </a:p>
          <a:p>
            <a:r>
              <a:rPr lang="zh-CN" altLang="en-US" sz="1600">
                <a:solidFill>
                  <a:srgbClr val="000000"/>
                </a:solidFill>
              </a:rPr>
              <a:t>输入包含节点特征矩阵</a:t>
            </a:r>
            <a:r>
              <a:rPr lang="en-US" altLang="zh-CN" sz="1600">
                <a:solidFill>
                  <a:srgbClr val="000000"/>
                </a:solidFill>
              </a:rPr>
              <a:t> input_h </a:t>
            </a:r>
            <a:r>
              <a:rPr lang="zh-CN" altLang="en-US" sz="1600">
                <a:solidFill>
                  <a:srgbClr val="000000"/>
                </a:solidFill>
              </a:rPr>
              <a:t>和邻接矩阵</a:t>
            </a:r>
            <a:r>
              <a:rPr lang="en-US" altLang="zh-CN" sz="1600">
                <a:solidFill>
                  <a:srgbClr val="000000"/>
                </a:solidFill>
              </a:rPr>
              <a:t> adj</a:t>
            </a:r>
            <a:r>
              <a:rPr lang="zh-CN" altLang="en-US" sz="1600">
                <a:solidFill>
                  <a:srgbClr val="000000"/>
                </a:solidFill>
              </a:rPr>
              <a:t>。</a:t>
            </a:r>
            <a:endParaRPr lang="zh-CN" altLang="en-US" sz="1600">
              <a:solidFill>
                <a:srgbClr val="000000"/>
              </a:solidFill>
            </a:endParaRPr>
          </a:p>
          <a:p>
            <a:endParaRPr lang="zh-CN" altLang="en-US" sz="1600">
              <a:solidFill>
                <a:srgbClr val="000000"/>
              </a:solidFill>
            </a:endParaRPr>
          </a:p>
          <a:p>
            <a:r>
              <a:rPr lang="zh-CN" altLang="en-US" sz="1600">
                <a:solidFill>
                  <a:srgbClr val="000000"/>
                </a:solidFill>
              </a:rPr>
              <a:t>使用权重矩阵</a:t>
            </a:r>
            <a:r>
              <a:rPr lang="en-US" altLang="zh-CN" sz="1600">
                <a:solidFill>
                  <a:srgbClr val="000000"/>
                </a:solidFill>
              </a:rPr>
              <a:t> W </a:t>
            </a:r>
            <a:r>
              <a:rPr lang="zh-CN" altLang="en-US" sz="1600">
                <a:solidFill>
                  <a:srgbClr val="000000"/>
                </a:solidFill>
              </a:rPr>
              <a:t>对节点特征进行线性变换。然后，通过重复和拼接操作生成每对节点的特征组合，并计算未归一化的注意力系数</a:t>
            </a:r>
            <a:r>
              <a:rPr lang="en-US" altLang="zh-CN" sz="1600">
                <a:solidFill>
                  <a:srgbClr val="000000"/>
                </a:solidFill>
              </a:rPr>
              <a:t> e</a:t>
            </a:r>
            <a:r>
              <a:rPr lang="zh-CN" altLang="en-US" sz="1600">
                <a:solidFill>
                  <a:srgbClr val="000000"/>
                </a:solidFill>
              </a:rPr>
              <a:t>。使用</a:t>
            </a:r>
            <a:r>
              <a:rPr lang="en-US" altLang="zh-CN" sz="1600">
                <a:solidFill>
                  <a:srgbClr val="000000"/>
                </a:solidFill>
              </a:rPr>
              <a:t> LeakyReLU </a:t>
            </a:r>
            <a:r>
              <a:rPr lang="zh-CN" altLang="en-US" sz="1600">
                <a:solidFill>
                  <a:srgbClr val="000000"/>
                </a:solidFill>
              </a:rPr>
              <a:t>激活函数处理这些系数。</a:t>
            </a:r>
            <a:endParaRPr lang="zh-CN" altLang="en-US" sz="1600">
              <a:solidFill>
                <a:srgbClr val="000000"/>
              </a:solidFill>
            </a:endParaRPr>
          </a:p>
          <a:p>
            <a:endParaRPr lang="zh-CN" altLang="en-US" sz="1600">
              <a:solidFill>
                <a:srgbClr val="000000"/>
              </a:solidFill>
            </a:endParaRPr>
          </a:p>
          <a:p>
            <a:r>
              <a:rPr lang="zh-CN" altLang="en-US" sz="1600">
                <a:solidFill>
                  <a:srgbClr val="000000"/>
                </a:solidFill>
              </a:rPr>
              <a:t>对于邻接矩阵中不相连的节点，将相关的注意力系数设置为非常小的值</a:t>
            </a:r>
            <a:r>
              <a:rPr lang="en-US" altLang="zh-CN" sz="1600">
                <a:solidFill>
                  <a:srgbClr val="000000"/>
                </a:solidFill>
              </a:rPr>
              <a:t>(</a:t>
            </a:r>
            <a:r>
              <a:rPr lang="zh-CN" altLang="en-US" sz="1600">
                <a:solidFill>
                  <a:srgbClr val="000000"/>
                </a:solidFill>
              </a:rPr>
              <a:t>负无穷大</a:t>
            </a:r>
            <a:r>
              <a:rPr lang="en-US" altLang="zh-CN" sz="1600">
                <a:solidFill>
                  <a:srgbClr val="000000"/>
                </a:solidFill>
              </a:rPr>
              <a:t>)</a:t>
            </a:r>
            <a:r>
              <a:rPr lang="zh-CN" altLang="en-US" sz="1600">
                <a:solidFill>
                  <a:srgbClr val="000000"/>
                </a:solidFill>
              </a:rPr>
              <a:t>，以确保在</a:t>
            </a:r>
            <a:r>
              <a:rPr lang="en-US" altLang="zh-CN" sz="1600">
                <a:solidFill>
                  <a:srgbClr val="000000"/>
                </a:solidFill>
              </a:rPr>
              <a:t> softmax </a:t>
            </a:r>
            <a:r>
              <a:rPr lang="zh-CN" altLang="en-US" sz="1600">
                <a:solidFill>
                  <a:srgbClr val="000000"/>
                </a:solidFill>
              </a:rPr>
              <a:t>操作中这些值接近于零。</a:t>
            </a:r>
            <a:endParaRPr lang="zh-CN" altLang="en-US" sz="1600">
              <a:solidFill>
                <a:srgbClr val="000000"/>
              </a:solidFill>
            </a:endParaRPr>
          </a:p>
          <a:p>
            <a:endParaRPr lang="zh-CN" altLang="en-US" sz="1600">
              <a:solidFill>
                <a:srgbClr val="000000"/>
              </a:solidFill>
            </a:endParaRPr>
          </a:p>
          <a:p>
            <a:r>
              <a:rPr lang="zh-CN" altLang="en-US" sz="1600">
                <a:solidFill>
                  <a:srgbClr val="000000"/>
                </a:solidFill>
              </a:rPr>
              <a:t>接着，对注意力系数应用</a:t>
            </a:r>
            <a:r>
              <a:rPr lang="en-US" altLang="zh-CN" sz="1600">
                <a:solidFill>
                  <a:srgbClr val="000000"/>
                </a:solidFill>
              </a:rPr>
              <a:t> softmax </a:t>
            </a:r>
            <a:r>
              <a:rPr lang="zh-CN" altLang="en-US" sz="1600">
                <a:solidFill>
                  <a:srgbClr val="000000"/>
                </a:solidFill>
              </a:rPr>
              <a:t>函数进行归一化，得到归一化的注意力权重。</a:t>
            </a:r>
            <a:endParaRPr lang="zh-CN" altLang="en-US" sz="1600">
              <a:solidFill>
                <a:srgbClr val="000000"/>
              </a:solidFill>
            </a:endParaRPr>
          </a:p>
          <a:p>
            <a:r>
              <a:rPr lang="zh-CN" altLang="en-US" sz="1600">
                <a:solidFill>
                  <a:srgbClr val="000000"/>
                </a:solidFill>
              </a:rPr>
              <a:t>在此基础上，应用</a:t>
            </a:r>
            <a:r>
              <a:rPr lang="en-US" altLang="zh-CN" sz="1600">
                <a:solidFill>
                  <a:srgbClr val="000000"/>
                </a:solidFill>
              </a:rPr>
              <a:t> dropout </a:t>
            </a:r>
            <a:r>
              <a:rPr lang="zh-CN" altLang="en-US" sz="1600">
                <a:solidFill>
                  <a:srgbClr val="000000"/>
                </a:solidFill>
              </a:rPr>
              <a:t>防止过拟合，并使用归一化的注意力权重通过加权求和的方式更新节点特征。</a:t>
            </a:r>
            <a:endParaRPr lang="zh-CN" altLang="en-US" sz="1600">
              <a:solidFill>
                <a:srgbClr val="000000"/>
              </a:solidFill>
            </a:endParaRPr>
          </a:p>
          <a:p>
            <a:endParaRPr lang="zh-CN" altLang="en-US" sz="1600">
              <a:solidFill>
                <a:srgbClr val="000000"/>
              </a:solidFill>
            </a:endParaRPr>
          </a:p>
        </p:txBody>
      </p:sp>
      <p:sp>
        <p:nvSpPr>
          <p:cNvPr id="9" name="矩形 8"/>
          <p:cNvSpPr/>
          <p:nvPr/>
        </p:nvSpPr>
        <p:spPr>
          <a:xfrm>
            <a:off x="755650" y="3878580"/>
            <a:ext cx="3467100" cy="1363980"/>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cxnSp>
        <p:nvCxnSpPr>
          <p:cNvPr id="3" name="直接连接符 2"/>
          <p:cNvCxnSpPr/>
          <p:nvPr/>
        </p:nvCxnSpPr>
        <p:spPr>
          <a:xfrm flipH="1">
            <a:off x="3347720" y="3140710"/>
            <a:ext cx="1440180" cy="72072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flipH="1">
            <a:off x="4211955" y="4580890"/>
            <a:ext cx="648335" cy="792480"/>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sp>
        <p:nvSpPr>
          <p:cNvPr id="10" name="矩形 9"/>
          <p:cNvSpPr/>
          <p:nvPr/>
        </p:nvSpPr>
        <p:spPr>
          <a:xfrm flipV="1">
            <a:off x="738505" y="5369560"/>
            <a:ext cx="3775710" cy="677545"/>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11" name="矩形 10"/>
          <p:cNvSpPr/>
          <p:nvPr/>
        </p:nvSpPr>
        <p:spPr>
          <a:xfrm flipV="1">
            <a:off x="738505" y="6201410"/>
            <a:ext cx="3703955" cy="360680"/>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cxnSp>
        <p:nvCxnSpPr>
          <p:cNvPr id="12" name="直接连接符 11"/>
          <p:cNvCxnSpPr>
            <a:endCxn id="11" idx="3"/>
          </p:cNvCxnSpPr>
          <p:nvPr/>
        </p:nvCxnSpPr>
        <p:spPr>
          <a:xfrm flipH="1">
            <a:off x="4442460" y="5949315"/>
            <a:ext cx="345440" cy="43243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spTree>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图嵌入技术</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323850" y="850900"/>
            <a:ext cx="8229600" cy="628650"/>
          </a:xfrm>
          <a:prstGeom prst="rect">
            <a:avLst/>
          </a:prstGeom>
        </p:spPr>
        <p:txBody>
          <a:bodyPr>
            <a:noAutofit/>
          </a:bodyPr>
          <a:lstStyle/>
          <a:p>
            <a:r>
              <a:rPr lang="zh-CN" altLang="en-US" sz="2000"/>
              <a:t>本项目中采用</a:t>
            </a:r>
            <a:r>
              <a:rPr lang="en-US" altLang="zh-CN" sz="2000"/>
              <a:t> GAT </a:t>
            </a:r>
            <a:r>
              <a:rPr lang="zh-CN" altLang="en-US" sz="2000"/>
              <a:t>方法来进行知识图谱信息处理。在构建</a:t>
            </a:r>
            <a:r>
              <a:rPr lang="en-US" altLang="zh-CN" sz="2000"/>
              <a:t> GAT </a:t>
            </a:r>
            <a:r>
              <a:rPr lang="zh-CN" altLang="en-US" sz="2000"/>
              <a:t>网络之前，首先定义一个用作</a:t>
            </a:r>
            <a:r>
              <a:rPr lang="en-US" altLang="zh-CN" sz="2000"/>
              <a:t> GAT </a:t>
            </a:r>
            <a:r>
              <a:rPr lang="zh-CN" altLang="en-US" sz="2000"/>
              <a:t>网络层的类</a:t>
            </a:r>
            <a:r>
              <a:rPr lang="en-US" altLang="zh-CN" sz="2000"/>
              <a:t>(GATLayer)</a:t>
            </a:r>
            <a:r>
              <a:rPr lang="zh-CN" altLang="en-US" sz="2000"/>
              <a:t>，代码如下</a:t>
            </a:r>
            <a:r>
              <a:rPr lang="zh-CN" altLang="en-US" sz="2000" dirty="0">
                <a:sym typeface="+mn-ea"/>
              </a:rPr>
              <a:t>：</a:t>
            </a:r>
            <a:endParaRPr lang="zh-CN" altLang="en-US" sz="2000" dirty="0">
              <a:sym typeface="+mn-ea"/>
            </a:endParaRPr>
          </a:p>
        </p:txBody>
      </p:sp>
      <p:sp>
        <p:nvSpPr>
          <p:cNvPr id="8" name="文本框 7"/>
          <p:cNvSpPr txBox="1"/>
          <p:nvPr/>
        </p:nvSpPr>
        <p:spPr>
          <a:xfrm>
            <a:off x="4787900" y="1845310"/>
            <a:ext cx="3965575" cy="4636770"/>
          </a:xfrm>
          <a:prstGeom prst="rect">
            <a:avLst/>
          </a:prstGeom>
        </p:spPr>
        <p:txBody>
          <a:bodyPr>
            <a:noAutofit/>
          </a:bodyPr>
          <a:p>
            <a:r>
              <a:rPr lang="en-US" altLang="zh-CN" sz="2000">
                <a:solidFill>
                  <a:srgbClr val="000000"/>
                </a:solidFill>
              </a:rPr>
              <a:t>(3)</a:t>
            </a:r>
            <a:r>
              <a:rPr lang="zh-CN" altLang="en-US" sz="2000">
                <a:solidFill>
                  <a:srgbClr val="000000"/>
                </a:solidFill>
              </a:rPr>
              <a:t>输出：</a:t>
            </a:r>
            <a:endParaRPr lang="zh-CN" altLang="en-US" sz="2000">
              <a:solidFill>
                <a:srgbClr val="000000"/>
              </a:solidFill>
            </a:endParaRPr>
          </a:p>
          <a:p>
            <a:endParaRPr lang="zh-CN" altLang="en-US" sz="2000">
              <a:solidFill>
                <a:srgbClr val="000000"/>
              </a:solidFill>
            </a:endParaRPr>
          </a:p>
          <a:p>
            <a:r>
              <a:rPr lang="zh-CN" altLang="en-US" sz="2000">
                <a:solidFill>
                  <a:srgbClr val="000000"/>
                </a:solidFill>
              </a:rPr>
              <a:t>根据</a:t>
            </a:r>
            <a:r>
              <a:rPr lang="en-US" altLang="zh-CN" sz="2000">
                <a:solidFill>
                  <a:srgbClr val="000000"/>
                </a:solidFill>
              </a:rPr>
              <a:t> concat </a:t>
            </a:r>
            <a:r>
              <a:rPr lang="zh-CN" altLang="en-US" sz="2000">
                <a:solidFill>
                  <a:srgbClr val="000000"/>
                </a:solidFill>
              </a:rPr>
              <a:t>参数的值，输出通过指数线性单元</a:t>
            </a:r>
            <a:r>
              <a:rPr lang="en-US" altLang="zh-CN" sz="2000">
                <a:solidFill>
                  <a:srgbClr val="000000"/>
                </a:solidFill>
              </a:rPr>
              <a:t>(ELU)</a:t>
            </a:r>
            <a:r>
              <a:rPr lang="zh-CN" altLang="en-US" sz="2000">
                <a:solidFill>
                  <a:srgbClr val="000000"/>
                </a:solidFill>
              </a:rPr>
              <a:t>激活函数处理后的节点特征或者直接输出更新后的节点特征。</a:t>
            </a:r>
            <a:endParaRPr lang="zh-CN" altLang="en-US" sz="2000">
              <a:solidFill>
                <a:srgbClr val="000000"/>
              </a:solidFill>
            </a:endParaRPr>
          </a:p>
          <a:p>
            <a:endParaRPr lang="zh-CN" altLang="en-US" sz="2000">
              <a:solidFill>
                <a:srgbClr val="000000"/>
              </a:solidFill>
            </a:endParaRPr>
          </a:p>
          <a:p>
            <a:endParaRPr lang="zh-CN" altLang="en-US" sz="2000">
              <a:solidFill>
                <a:srgbClr val="000000"/>
              </a:solidFill>
            </a:endParaRPr>
          </a:p>
          <a:p>
            <a:r>
              <a:rPr lang="zh-CN" altLang="en-US" sz="2000">
                <a:solidFill>
                  <a:srgbClr val="000000"/>
                </a:solidFill>
              </a:rPr>
              <a:t>整体而言，</a:t>
            </a:r>
            <a:r>
              <a:rPr lang="en-US" altLang="zh-CN" sz="2000">
                <a:solidFill>
                  <a:srgbClr val="000000"/>
                </a:solidFill>
              </a:rPr>
              <a:t>GATLayer </a:t>
            </a:r>
            <a:r>
              <a:rPr lang="zh-CN" altLang="en-US" sz="2000">
                <a:solidFill>
                  <a:srgbClr val="000000"/>
                </a:solidFill>
              </a:rPr>
              <a:t>类通过注意力机制有效地集成了节点及其邻居的信息，增强了模</a:t>
            </a:r>
            <a:endParaRPr lang="zh-CN" altLang="en-US" sz="2000">
              <a:solidFill>
                <a:srgbClr val="000000"/>
              </a:solidFill>
            </a:endParaRPr>
          </a:p>
          <a:p>
            <a:r>
              <a:rPr lang="zh-CN" altLang="en-US" sz="2000">
                <a:solidFill>
                  <a:srgbClr val="000000"/>
                </a:solidFill>
              </a:rPr>
              <a:t>型对图结构的捕捉能力。</a:t>
            </a:r>
            <a:endParaRPr lang="zh-CN" altLang="en-US" sz="2000">
              <a:solidFill>
                <a:srgbClr val="000000"/>
              </a:solidFill>
            </a:endParaRPr>
          </a:p>
        </p:txBody>
      </p:sp>
      <p:pic>
        <p:nvPicPr>
          <p:cNvPr id="7" name="图片 6"/>
          <p:cNvPicPr>
            <a:picLocks noChangeAspect="1"/>
          </p:cNvPicPr>
          <p:nvPr/>
        </p:nvPicPr>
        <p:blipFill>
          <a:blip r:embed="rId1"/>
          <a:srcRect l="3170" r="568"/>
          <a:stretch>
            <a:fillRect/>
          </a:stretch>
        </p:blipFill>
        <p:spPr>
          <a:xfrm>
            <a:off x="539750" y="1988820"/>
            <a:ext cx="4088765" cy="2680970"/>
          </a:xfrm>
          <a:prstGeom prst="rect">
            <a:avLst/>
          </a:prstGeom>
        </p:spPr>
      </p:pic>
      <p:pic>
        <p:nvPicPr>
          <p:cNvPr id="13" name="图片 12"/>
          <p:cNvPicPr>
            <a:picLocks noChangeAspect="1"/>
          </p:cNvPicPr>
          <p:nvPr/>
        </p:nvPicPr>
        <p:blipFill>
          <a:blip r:embed="rId2"/>
          <a:srcRect l="1740"/>
          <a:stretch>
            <a:fillRect/>
          </a:stretch>
        </p:blipFill>
        <p:spPr>
          <a:xfrm>
            <a:off x="539750" y="4669790"/>
            <a:ext cx="4088765" cy="918210"/>
          </a:xfrm>
          <a:prstGeom prst="rect">
            <a:avLst/>
          </a:prstGeom>
        </p:spPr>
      </p:pic>
      <p:sp>
        <p:nvSpPr>
          <p:cNvPr id="9" name="矩形 8"/>
          <p:cNvSpPr/>
          <p:nvPr/>
        </p:nvSpPr>
        <p:spPr>
          <a:xfrm>
            <a:off x="596900" y="4669790"/>
            <a:ext cx="3629025" cy="949960"/>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图嵌入技术</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323850" y="836930"/>
            <a:ext cx="8229600" cy="563245"/>
          </a:xfrm>
          <a:prstGeom prst="rect">
            <a:avLst/>
          </a:prstGeom>
        </p:spPr>
        <p:txBody>
          <a:bodyPr/>
          <a:lstStyle/>
          <a:p>
            <a:r>
              <a:rPr lang="zh-CN" altLang="en-US" sz="2000"/>
              <a:t>以下是构建一个</a:t>
            </a:r>
            <a:r>
              <a:rPr lang="en-US" altLang="zh-CN" sz="2000"/>
              <a:t> GAT </a:t>
            </a:r>
            <a:r>
              <a:rPr lang="zh-CN" altLang="en-US" sz="2000"/>
              <a:t>网络的示例代码。</a:t>
            </a:r>
            <a:r>
              <a:rPr lang="zh-CN" altLang="en-US" sz="2000" dirty="0">
                <a:sym typeface="+mn-ea"/>
              </a:rPr>
              <a:t>：</a:t>
            </a:r>
            <a:endParaRPr lang="zh-CN" altLang="en-US" sz="2000" dirty="0">
              <a:sym typeface="+mn-ea"/>
            </a:endParaRPr>
          </a:p>
        </p:txBody>
      </p:sp>
      <p:pic>
        <p:nvPicPr>
          <p:cNvPr id="2" name="图片 1"/>
          <p:cNvPicPr>
            <a:picLocks noChangeAspect="1"/>
          </p:cNvPicPr>
          <p:nvPr/>
        </p:nvPicPr>
        <p:blipFill>
          <a:blip r:embed="rId1"/>
          <a:srcRect l="4149"/>
          <a:stretch>
            <a:fillRect/>
          </a:stretch>
        </p:blipFill>
        <p:spPr>
          <a:xfrm>
            <a:off x="109220" y="1845310"/>
            <a:ext cx="5002530" cy="2761615"/>
          </a:xfrm>
          <a:prstGeom prst="rect">
            <a:avLst/>
          </a:prstGeom>
        </p:spPr>
      </p:pic>
      <p:pic>
        <p:nvPicPr>
          <p:cNvPr id="7" name="图片 6"/>
          <p:cNvPicPr>
            <a:picLocks noChangeAspect="1"/>
          </p:cNvPicPr>
          <p:nvPr/>
        </p:nvPicPr>
        <p:blipFill>
          <a:blip r:embed="rId2"/>
          <a:srcRect l="3950" r="4785"/>
          <a:stretch>
            <a:fillRect/>
          </a:stretch>
        </p:blipFill>
        <p:spPr>
          <a:xfrm>
            <a:off x="109220" y="4606925"/>
            <a:ext cx="5002530" cy="1019810"/>
          </a:xfrm>
          <a:prstGeom prst="rect">
            <a:avLst/>
          </a:prstGeom>
        </p:spPr>
      </p:pic>
      <p:sp>
        <p:nvSpPr>
          <p:cNvPr id="8" name="文本框 7"/>
          <p:cNvSpPr txBox="1"/>
          <p:nvPr/>
        </p:nvSpPr>
        <p:spPr>
          <a:xfrm>
            <a:off x="5219700" y="1400175"/>
            <a:ext cx="3811270" cy="4705350"/>
          </a:xfrm>
          <a:prstGeom prst="rect">
            <a:avLst/>
          </a:prstGeom>
        </p:spPr>
        <p:txBody>
          <a:bodyPr>
            <a:noAutofit/>
          </a:bodyPr>
          <a:p>
            <a:r>
              <a:rPr lang="zh-CN" altLang="en-US" sz="1600">
                <a:sym typeface="+mn-ea"/>
              </a:rPr>
              <a:t>在前向传播中，模型进行如下工作：</a:t>
            </a:r>
            <a:endParaRPr lang="en-US" altLang="zh-CN" sz="1600">
              <a:solidFill>
                <a:srgbClr val="000000"/>
              </a:solidFill>
            </a:endParaRPr>
          </a:p>
          <a:p>
            <a:r>
              <a:rPr lang="en-US" altLang="zh-CN" sz="1600">
                <a:solidFill>
                  <a:srgbClr val="000000"/>
                </a:solidFill>
              </a:rPr>
              <a:t>(1)</a:t>
            </a:r>
            <a:r>
              <a:rPr lang="zh-CN" altLang="en-US" sz="1600">
                <a:solidFill>
                  <a:srgbClr val="000000"/>
                </a:solidFill>
              </a:rPr>
              <a:t>应用 </a:t>
            </a:r>
            <a:r>
              <a:rPr lang="en-US" altLang="zh-CN" sz="1600">
                <a:solidFill>
                  <a:srgbClr val="000000"/>
                </a:solidFill>
              </a:rPr>
              <a:t>dropout </a:t>
            </a:r>
            <a:r>
              <a:rPr lang="zh-CN" altLang="en-US" sz="1600">
                <a:solidFill>
                  <a:srgbClr val="000000"/>
                </a:solidFill>
              </a:rPr>
              <a:t>到输入特征 </a:t>
            </a:r>
            <a:r>
              <a:rPr lang="en-US" altLang="zh-CN" sz="1600">
                <a:solidFill>
                  <a:srgbClr val="000000"/>
                </a:solidFill>
              </a:rPr>
              <a:t>x</a:t>
            </a:r>
            <a:r>
              <a:rPr lang="zh-CN" altLang="en-US" sz="1600">
                <a:solidFill>
                  <a:srgbClr val="000000"/>
                </a:solidFill>
              </a:rPr>
              <a:t>。 </a:t>
            </a:r>
            <a:endParaRPr lang="zh-CN" altLang="en-US" sz="1600">
              <a:solidFill>
                <a:srgbClr val="000000"/>
              </a:solidFill>
            </a:endParaRPr>
          </a:p>
          <a:p>
            <a:endParaRPr lang="zh-CN" altLang="en-US" sz="1600">
              <a:solidFill>
                <a:srgbClr val="000000"/>
              </a:solidFill>
            </a:endParaRPr>
          </a:p>
          <a:p>
            <a:r>
              <a:rPr lang="en-US" altLang="zh-CN" sz="1600">
                <a:solidFill>
                  <a:srgbClr val="000000"/>
                </a:solidFill>
              </a:rPr>
              <a:t>(2)</a:t>
            </a:r>
            <a:r>
              <a:rPr lang="zh-CN" altLang="en-US" sz="1600">
                <a:solidFill>
                  <a:srgbClr val="000000"/>
                </a:solidFill>
              </a:rPr>
              <a:t>通过所有的 </a:t>
            </a:r>
            <a:r>
              <a:rPr lang="en-US" altLang="zh-CN" sz="1600">
                <a:solidFill>
                  <a:srgbClr val="000000"/>
                </a:solidFill>
              </a:rPr>
              <a:t>GATLayer(</a:t>
            </a:r>
            <a:r>
              <a:rPr lang="zh-CN" altLang="en-US" sz="1600">
                <a:solidFill>
                  <a:srgbClr val="000000"/>
                </a:solidFill>
              </a:rPr>
              <a:t>在</a:t>
            </a:r>
            <a:r>
              <a:rPr lang="en-US" altLang="zh-CN" sz="1600">
                <a:solidFill>
                  <a:srgbClr val="000000"/>
                </a:solidFill>
              </a:rPr>
              <a:t> self.attentions1 </a:t>
            </a:r>
            <a:r>
              <a:rPr lang="zh-CN" altLang="en-US" sz="1600">
                <a:solidFill>
                  <a:srgbClr val="000000"/>
                </a:solidFill>
              </a:rPr>
              <a:t>列表中</a:t>
            </a:r>
            <a:r>
              <a:rPr lang="en-US" altLang="zh-CN" sz="1600">
                <a:solidFill>
                  <a:srgbClr val="000000"/>
                </a:solidFill>
              </a:rPr>
              <a:t>)</a:t>
            </a:r>
            <a:r>
              <a:rPr lang="zh-CN" altLang="en-US" sz="1600">
                <a:solidFill>
                  <a:srgbClr val="000000"/>
                </a:solidFill>
              </a:rPr>
              <a:t>传递输入特征 </a:t>
            </a:r>
            <a:r>
              <a:rPr lang="en-US" altLang="zh-CN" sz="1600">
                <a:solidFill>
                  <a:srgbClr val="000000"/>
                </a:solidFill>
              </a:rPr>
              <a:t>x </a:t>
            </a:r>
            <a:r>
              <a:rPr lang="zh-CN" altLang="en-US" sz="1600">
                <a:solidFill>
                  <a:srgbClr val="000000"/>
                </a:solidFill>
              </a:rPr>
              <a:t>和邻接矩阵 </a:t>
            </a:r>
            <a:r>
              <a:rPr lang="en-US" altLang="zh-CN" sz="1600">
                <a:solidFill>
                  <a:srgbClr val="000000"/>
                </a:solidFill>
              </a:rPr>
              <a:t>adj</a:t>
            </a:r>
            <a:r>
              <a:rPr lang="zh-CN" altLang="en-US" sz="1600">
                <a:solidFill>
                  <a:srgbClr val="000000"/>
                </a:solidFill>
              </a:rPr>
              <a:t>，然 后将结果在特征维度上拼接。</a:t>
            </a:r>
            <a:endParaRPr lang="zh-CN" altLang="en-US" sz="1600">
              <a:solidFill>
                <a:srgbClr val="000000"/>
              </a:solidFill>
            </a:endParaRPr>
          </a:p>
          <a:p>
            <a:r>
              <a:rPr lang="zh-CN" altLang="en-US" sz="1600">
                <a:solidFill>
                  <a:srgbClr val="000000"/>
                </a:solidFill>
              </a:rPr>
              <a:t> </a:t>
            </a:r>
            <a:endParaRPr lang="zh-CN" altLang="en-US" sz="1600">
              <a:solidFill>
                <a:srgbClr val="000000"/>
              </a:solidFill>
            </a:endParaRPr>
          </a:p>
          <a:p>
            <a:r>
              <a:rPr lang="en-US" altLang="zh-CN" sz="1600">
                <a:solidFill>
                  <a:srgbClr val="000000"/>
                </a:solidFill>
              </a:rPr>
              <a:t>(3)</a:t>
            </a:r>
            <a:r>
              <a:rPr lang="zh-CN" altLang="en-US" sz="1600">
                <a:solidFill>
                  <a:srgbClr val="000000"/>
                </a:solidFill>
              </a:rPr>
              <a:t>再次应用 </a:t>
            </a:r>
            <a:r>
              <a:rPr lang="en-US" altLang="zh-CN" sz="1600">
                <a:solidFill>
                  <a:srgbClr val="000000"/>
                </a:solidFill>
              </a:rPr>
              <a:t>dropout(</a:t>
            </a:r>
            <a:r>
              <a:rPr lang="zh-CN" altLang="en-US" sz="1600">
                <a:solidFill>
                  <a:srgbClr val="000000"/>
                </a:solidFill>
              </a:rPr>
              <a:t>注意，注释掉的代码部分表示可能有多个注意力层堆叠，但在这里未使用</a:t>
            </a:r>
            <a:r>
              <a:rPr lang="en-US" altLang="zh-CN" sz="1600">
                <a:solidFill>
                  <a:srgbClr val="000000"/>
                </a:solidFill>
              </a:rPr>
              <a:t>)</a:t>
            </a:r>
            <a:r>
              <a:rPr lang="zh-CN" altLang="en-US" sz="1600">
                <a:solidFill>
                  <a:srgbClr val="000000"/>
                </a:solidFill>
              </a:rPr>
              <a:t>。 </a:t>
            </a:r>
            <a:endParaRPr lang="zh-CN" altLang="en-US" sz="1600">
              <a:solidFill>
                <a:srgbClr val="000000"/>
              </a:solidFill>
            </a:endParaRPr>
          </a:p>
          <a:p>
            <a:endParaRPr lang="zh-CN" altLang="en-US" sz="1600">
              <a:solidFill>
                <a:srgbClr val="000000"/>
              </a:solidFill>
            </a:endParaRPr>
          </a:p>
          <a:p>
            <a:r>
              <a:rPr lang="en-US" altLang="zh-CN" sz="1600">
                <a:solidFill>
                  <a:srgbClr val="000000"/>
                </a:solidFill>
              </a:rPr>
              <a:t>(4)</a:t>
            </a:r>
            <a:r>
              <a:rPr lang="zh-CN" altLang="en-US" sz="1600">
                <a:solidFill>
                  <a:srgbClr val="000000"/>
                </a:solidFill>
              </a:rPr>
              <a:t>应用最终的注意力层 </a:t>
            </a:r>
            <a:r>
              <a:rPr lang="en-US" altLang="zh-CN" sz="1600">
                <a:solidFill>
                  <a:srgbClr val="000000"/>
                </a:solidFill>
              </a:rPr>
              <a:t>self.out_att </a:t>
            </a:r>
            <a:r>
              <a:rPr lang="zh-CN" altLang="en-US" sz="1600">
                <a:solidFill>
                  <a:srgbClr val="000000"/>
                </a:solidFill>
              </a:rPr>
              <a:t>并使用 </a:t>
            </a:r>
            <a:r>
              <a:rPr lang="en-US" altLang="zh-CN" sz="1600">
                <a:solidFill>
                  <a:srgbClr val="000000"/>
                </a:solidFill>
              </a:rPr>
              <a:t>ELU </a:t>
            </a:r>
            <a:r>
              <a:rPr lang="zh-CN" altLang="en-US" sz="1600">
                <a:solidFill>
                  <a:srgbClr val="000000"/>
                </a:solidFill>
              </a:rPr>
              <a:t>激活函数。</a:t>
            </a:r>
            <a:endParaRPr lang="zh-CN" altLang="en-US" sz="1600">
              <a:solidFill>
                <a:srgbClr val="000000"/>
              </a:solidFill>
            </a:endParaRPr>
          </a:p>
          <a:p>
            <a:r>
              <a:rPr lang="zh-CN" altLang="en-US" sz="1600">
                <a:solidFill>
                  <a:srgbClr val="000000"/>
                </a:solidFill>
              </a:rPr>
              <a:t> </a:t>
            </a:r>
            <a:endParaRPr lang="zh-CN" altLang="en-US" sz="1600">
              <a:solidFill>
                <a:srgbClr val="000000"/>
              </a:solidFill>
            </a:endParaRPr>
          </a:p>
          <a:p>
            <a:r>
              <a:rPr lang="en-US" altLang="zh-CN" sz="1600">
                <a:solidFill>
                  <a:srgbClr val="000000"/>
                </a:solidFill>
              </a:rPr>
              <a:t>(5)</a:t>
            </a:r>
            <a:r>
              <a:rPr lang="zh-CN" altLang="en-US" sz="1600">
                <a:solidFill>
                  <a:srgbClr val="000000"/>
                </a:solidFill>
              </a:rPr>
              <a:t>将结果张量压平，然后复制以匹配 </a:t>
            </a:r>
            <a:r>
              <a:rPr lang="en-US" altLang="zh-CN" sz="1600">
                <a:solidFill>
                  <a:srgbClr val="000000"/>
                </a:solidFill>
              </a:rPr>
              <a:t>batchpLabs </a:t>
            </a:r>
            <a:r>
              <a:rPr lang="zh-CN" altLang="en-US" sz="1600">
                <a:solidFill>
                  <a:srgbClr val="000000"/>
                </a:solidFill>
              </a:rPr>
              <a:t>的大小，并与 </a:t>
            </a:r>
            <a:r>
              <a:rPr lang="en-US" altLang="zh-CN" sz="1600">
                <a:solidFill>
                  <a:srgbClr val="000000"/>
                </a:solidFill>
              </a:rPr>
              <a:t>batchpLabs </a:t>
            </a:r>
            <a:r>
              <a:rPr lang="zh-CN" altLang="en-US" sz="1600">
                <a:solidFill>
                  <a:srgbClr val="000000"/>
                </a:solidFill>
              </a:rPr>
              <a:t>拼接。</a:t>
            </a:r>
            <a:endParaRPr lang="zh-CN" altLang="en-US" sz="1600">
              <a:solidFill>
                <a:srgbClr val="000000"/>
              </a:solidFill>
            </a:endParaRPr>
          </a:p>
          <a:p>
            <a:r>
              <a:rPr lang="zh-CN" altLang="en-US" sz="1600">
                <a:solidFill>
                  <a:srgbClr val="000000"/>
                </a:solidFill>
              </a:rPr>
              <a:t> </a:t>
            </a:r>
            <a:endParaRPr lang="zh-CN" altLang="en-US" sz="1600">
              <a:solidFill>
                <a:srgbClr val="000000"/>
              </a:solidFill>
            </a:endParaRPr>
          </a:p>
          <a:p>
            <a:r>
              <a:rPr lang="en-US" altLang="zh-CN" sz="1600">
                <a:solidFill>
                  <a:srgbClr val="000000"/>
                </a:solidFill>
              </a:rPr>
              <a:t>(6)</a:t>
            </a:r>
            <a:r>
              <a:rPr lang="zh-CN" altLang="en-US" sz="1600">
                <a:solidFill>
                  <a:srgbClr val="000000"/>
                </a:solidFill>
              </a:rPr>
              <a:t>通过 </a:t>
            </a:r>
            <a:r>
              <a:rPr lang="en-US" altLang="zh-CN" sz="1600">
                <a:solidFill>
                  <a:srgbClr val="000000"/>
                </a:solidFill>
              </a:rPr>
              <a:t>self.dim_change </a:t>
            </a:r>
            <a:r>
              <a:rPr lang="zh-CN" altLang="en-US" sz="1600">
                <a:solidFill>
                  <a:srgbClr val="000000"/>
                </a:solidFill>
              </a:rPr>
              <a:t>线性层进行维度变换以获取最终输出。</a:t>
            </a:r>
            <a:endParaRPr lang="zh-CN" altLang="en-US" sz="1600">
              <a:solidFill>
                <a:srgbClr val="000000"/>
              </a:solidFill>
            </a:endParaRPr>
          </a:p>
        </p:txBody>
      </p:sp>
      <p:sp>
        <p:nvSpPr>
          <p:cNvPr id="15" name="矩形 14"/>
          <p:cNvSpPr/>
          <p:nvPr/>
        </p:nvSpPr>
        <p:spPr>
          <a:xfrm>
            <a:off x="467360" y="3933190"/>
            <a:ext cx="2952115" cy="1367790"/>
          </a:xfrm>
          <a:prstGeom prst="rect">
            <a:avLst/>
          </a:prstGeom>
          <a:noFill/>
          <a:ln w="9525"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4</a:t>
            </a:r>
            <a:r>
              <a:rPr lang="zh-CN" altLang="en-US" dirty="0">
                <a:sym typeface="+mn-ea"/>
              </a:rPr>
              <a:t>）自适应特征融合</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多模态数据融合的主要目的是整合不同来源的数据，利用它们之间的互补信息，提供一个更为全面和准确的数据表示，以增强模型在执行各种任务时的性能</a:t>
            </a:r>
            <a:r>
              <a:rPr lang="en-US" altLang="zh-CN" sz="2400" dirty="0"/>
              <a:t>(</a:t>
            </a:r>
            <a:r>
              <a:rPr lang="zh-CN" altLang="en-US" sz="2400" dirty="0"/>
              <a:t>如识别、分类、预测</a:t>
            </a:r>
            <a:r>
              <a:rPr lang="en-US" altLang="zh-CN" sz="2400" dirty="0"/>
              <a:t>)</a:t>
            </a:r>
            <a:r>
              <a:rPr lang="zh-CN" altLang="en-US" sz="2400" dirty="0"/>
              <a:t>。通过融合，模型能够捕捉到单一模态数据中难以表达的细微特征和复杂关系，从而提高决策、分析和理解的质量。</a:t>
            </a:r>
            <a:endParaRPr lang="zh-CN" altLang="en-US" sz="2400" dirty="0"/>
          </a:p>
          <a:p>
            <a:pPr marL="0" indent="0">
              <a:buNone/>
            </a:pPr>
            <a:endParaRPr lang="zh-CN" altLang="en-US" sz="2400" dirty="0"/>
          </a:p>
        </p:txBody>
      </p:sp>
      <p:sp>
        <p:nvSpPr>
          <p:cNvPr id="3" name="文本框 2"/>
          <p:cNvSpPr txBox="1"/>
          <p:nvPr/>
        </p:nvSpPr>
        <p:spPr>
          <a:xfrm>
            <a:off x="523240" y="3501390"/>
            <a:ext cx="80803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常用的多模态数据融合方法</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基于注意力机制的自适应特征融合</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常用的多模态数据融合方法</a:t>
            </a:r>
            <a:endParaRPr lang="zh-CN" altLang="en-US" dirty="0">
              <a:sym typeface="+mn-ea"/>
            </a:endParaRPr>
          </a:p>
        </p:txBody>
      </p:sp>
      <p:graphicFrame>
        <p:nvGraphicFramePr>
          <p:cNvPr id="2" name="表格 1"/>
          <p:cNvGraphicFramePr/>
          <p:nvPr>
            <p:custDataLst>
              <p:tags r:id="rId1"/>
            </p:custDataLst>
          </p:nvPr>
        </p:nvGraphicFramePr>
        <p:xfrm>
          <a:off x="244475" y="1061720"/>
          <a:ext cx="8505825" cy="4746625"/>
        </p:xfrm>
        <a:graphic>
          <a:graphicData uri="http://schemas.openxmlformats.org/drawingml/2006/table">
            <a:tbl>
              <a:tblPr firstRow="1" bandRow="1">
                <a:tableStyleId>{72833802-FEF1-4C79-8D5D-14CF1EAF98D9}</a:tableStyleId>
              </a:tblPr>
              <a:tblGrid>
                <a:gridCol w="2469515"/>
                <a:gridCol w="3201035"/>
                <a:gridCol w="2835275"/>
              </a:tblGrid>
              <a:tr h="387350">
                <a:tc>
                  <a:txBody>
                    <a:bodyPr/>
                    <a:p>
                      <a:pPr algn="ctr"/>
                      <a:r>
                        <a:rPr lang="zh-CN" altLang="en-US" sz="1600" b="0">
                          <a:latin typeface="黑体" panose="02010609060101010101" charset="-122"/>
                          <a:ea typeface="黑体" panose="02010609060101010101" charset="-122"/>
                        </a:rPr>
                        <a:t>方法名称</a:t>
                      </a:r>
                      <a:endParaRPr lang="zh-CN" altLang="en-US" sz="1600" b="0">
                        <a:latin typeface="黑体" panose="02010609060101010101" charset="-122"/>
                        <a:ea typeface="黑体" panose="02010609060101010101" charset="-122"/>
                      </a:endParaRPr>
                    </a:p>
                  </a:txBody>
                  <a:tcPr marL="0" marR="0" marT="0" marB="0" anchor="ctr" anchorCtr="0">
                    <a:lnL w="12700" cap="flat" cmpd="sng" algn="ctr">
                      <a:solidFill>
                        <a:schemeClr val="tx1"/>
                      </a:solidFill>
                      <a:prstDash val="solid"/>
                    </a:lnL>
                    <a:lnR w="12700">
                      <a:solidFill>
                        <a:schemeClr val="tx1"/>
                      </a:solidFill>
                      <a:prstDash val="solid"/>
                    </a:lnR>
                    <a:lnT w="12700" cap="flat" cmpd="sng" algn="ctr">
                      <a:solidFill>
                        <a:schemeClr val="tx1"/>
                      </a:solidFill>
                      <a:prstDash val="solid"/>
                    </a:lnT>
                    <a:lnB w="12700" cap="flat" cmpd="sng" algn="ctr">
                      <a:solidFill>
                        <a:schemeClr val="tx1"/>
                      </a:solidFill>
                      <a:prstDash val="solid"/>
                    </a:lnB>
                  </a:tcPr>
                </a:tc>
                <a:tc>
                  <a:txBody>
                    <a:bodyPr/>
                    <a:p>
                      <a:pPr algn="ctr"/>
                      <a:r>
                        <a:rPr lang="zh-CN" altLang="en-US" sz="1600" b="0">
                          <a:latin typeface="黑体" panose="02010609060101010101" charset="-122"/>
                          <a:ea typeface="黑体" panose="02010609060101010101" charset="-122"/>
                        </a:rPr>
                        <a:t>描述</a:t>
                      </a:r>
                      <a:endParaRPr lang="zh-CN" altLang="en-US" sz="1600" b="0">
                        <a:latin typeface="黑体" panose="02010609060101010101" charset="-122"/>
                        <a:ea typeface="黑体" panose="02010609060101010101" charset="-122"/>
                      </a:endParaRPr>
                    </a:p>
                  </a:txBody>
                  <a:tcPr marL="0" marR="0" marT="0" marB="0" anchor="ctr" anchorCtr="0">
                    <a:lnL w="12700">
                      <a:solidFill>
                        <a:schemeClr val="tx1"/>
                      </a:solidFill>
                      <a:prstDash val="solid"/>
                    </a:lnL>
                    <a:lnR w="12700">
                      <a:solidFill>
                        <a:schemeClr val="tx1"/>
                      </a:solidFill>
                      <a:prstDash val="solid"/>
                    </a:lnR>
                    <a:lnT w="12700" cap="flat" cmpd="sng" algn="ctr">
                      <a:solidFill>
                        <a:schemeClr val="tx1"/>
                      </a:solidFill>
                      <a:prstDash val="solid"/>
                    </a:lnT>
                    <a:lnB w="12700" cap="flat" cmpd="sng" algn="ctr">
                      <a:solidFill>
                        <a:schemeClr val="tx1"/>
                      </a:solidFill>
                      <a:prstDash val="solid"/>
                    </a:lnB>
                  </a:tcPr>
                </a:tc>
                <a:tc>
                  <a:txBody>
                    <a:bodyPr/>
                    <a:p>
                      <a:pPr algn="ctr"/>
                      <a:r>
                        <a:rPr lang="zh-CN" altLang="en-US" sz="1600" b="0">
                          <a:latin typeface="黑体" panose="02010609060101010101" charset="-122"/>
                          <a:ea typeface="黑体" panose="02010609060101010101" charset="-122"/>
                        </a:rPr>
                        <a:t>举例</a:t>
                      </a:r>
                      <a:endParaRPr lang="zh-CN" altLang="en-US" sz="1600" b="0">
                        <a:latin typeface="黑体" panose="02010609060101010101" charset="-122"/>
                        <a:ea typeface="黑体" panose="02010609060101010101" charset="-122"/>
                      </a:endParaRPr>
                    </a:p>
                  </a:txBody>
                  <a:tcPr marL="0" marR="0" marT="0" marB="0" anchor="ctr" anchorCtr="0">
                    <a:lnL w="12700">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tcPr>
                </a:tc>
              </a:tr>
              <a:tr h="1376680">
                <a:tc>
                  <a:txBody>
                    <a:bodyPr/>
                    <a:p>
                      <a:pPr algn="ctr"/>
                      <a:r>
                        <a:rPr lang="zh-CN" altLang="en-US" sz="1600" b="0">
                          <a:latin typeface="黑体" panose="02010609060101010101" charset="-122"/>
                          <a:ea typeface="黑体" panose="02010609060101010101" charset="-122"/>
                          <a:cs typeface="黑体" panose="02010609060101010101" charset="-122"/>
                        </a:rPr>
                        <a:t>早期融合 </a:t>
                      </a:r>
                      <a:r>
                        <a:rPr lang="en-US" altLang="zh-CN" sz="1600" b="0">
                          <a:latin typeface="黑体" panose="02010609060101010101" charset="-122"/>
                          <a:ea typeface="黑体" panose="02010609060101010101" charset="-122"/>
                          <a:cs typeface="黑体" panose="02010609060101010101" charset="-122"/>
                        </a:rPr>
                        <a:t>/ </a:t>
                      </a:r>
                      <a:r>
                        <a:rPr lang="zh-CN" altLang="en-US" sz="1600" b="0">
                          <a:latin typeface="黑体" panose="02010609060101010101" charset="-122"/>
                          <a:ea typeface="黑体" panose="02010609060101010101" charset="-122"/>
                          <a:cs typeface="黑体" panose="02010609060101010101" charset="-122"/>
                        </a:rPr>
                        <a:t>特征级融合</a:t>
                      </a:r>
                      <a:endParaRPr lang="zh-CN" altLang="en-US" sz="1600" b="0">
                        <a:latin typeface="黑体" panose="02010609060101010101" charset="-122"/>
                        <a:ea typeface="黑体" panose="02010609060101010101" charset="-122"/>
                        <a:cs typeface="黑体" panose="02010609060101010101" charset="-122"/>
                      </a:endParaRPr>
                    </a:p>
                  </a:txBody>
                  <a:tcPr marL="0" marR="0" marT="0" marB="0" anchor="ctr" anchorCtr="0">
                    <a:lnL w="12700" cap="flat" cmpd="sng" algn="ctr">
                      <a:solidFill>
                        <a:schemeClr val="tx1"/>
                      </a:solidFill>
                      <a:prstDash val="solid"/>
                    </a:lnL>
                    <a:lnR w="12700">
                      <a:solidFill>
                        <a:schemeClr val="tx1"/>
                      </a:solidFill>
                      <a:prstDash val="solid"/>
                    </a:lnR>
                    <a:lnT w="12700" cap="flat" cmpd="sng" algn="ctr">
                      <a:solidFill>
                        <a:schemeClr val="tx1"/>
                      </a:solidFill>
                      <a:prstDash val="solid"/>
                    </a:lnT>
                    <a:lnB w="12700" cap="flat" cmpd="sng" algn="ctr">
                      <a:solidFill>
                        <a:schemeClr val="tx1"/>
                      </a:solidFill>
                      <a:prstDash val="solid"/>
                    </a:lnB>
                  </a:tcPr>
                </a:tc>
                <a:tc>
                  <a:txBody>
                    <a:bodyPr/>
                    <a:p>
                      <a:pPr algn="ctr"/>
                      <a:r>
                        <a:rPr lang="zh-CN" altLang="en-US" sz="1600" b="0">
                          <a:latin typeface="黑体" panose="02010609060101010101" charset="-122"/>
                          <a:ea typeface="黑体" panose="02010609060101010101" charset="-122"/>
                        </a:rPr>
                        <a:t>不同模态的特征在输入模型之前就结合，通常通过特征向量拼接，使模型能在统一框架内从所有数据中学习。</a:t>
                      </a:r>
                      <a:endParaRPr lang="zh-CN" altLang="en-US" sz="1600" b="0">
                        <a:latin typeface="黑体" panose="02010609060101010101" charset="-122"/>
                        <a:ea typeface="黑体" panose="02010609060101010101" charset="-122"/>
                      </a:endParaRPr>
                    </a:p>
                  </a:txBody>
                  <a:tcPr marL="0" marR="0" marT="0" marB="0" anchor="ctr" anchorCtr="0">
                    <a:lnL w="12700">
                      <a:solidFill>
                        <a:schemeClr val="tx1"/>
                      </a:solidFill>
                      <a:prstDash val="solid"/>
                    </a:lnL>
                    <a:lnR w="12700">
                      <a:solidFill>
                        <a:schemeClr val="tx1"/>
                      </a:solidFill>
                      <a:prstDash val="solid"/>
                    </a:lnR>
                    <a:lnT w="12700" cap="flat" cmpd="sng" algn="ctr">
                      <a:solidFill>
                        <a:schemeClr val="tx1"/>
                      </a:solidFill>
                      <a:prstDash val="solid"/>
                    </a:lnT>
                    <a:lnB w="12700" cap="flat" cmpd="sng" algn="ctr">
                      <a:solidFill>
                        <a:schemeClr val="tx1"/>
                      </a:solidFill>
                      <a:prstDash val="solid"/>
                    </a:lnB>
                  </a:tcPr>
                </a:tc>
                <a:tc>
                  <a:txBody>
                    <a:bodyPr/>
                    <a:p>
                      <a:pPr algn="ctr"/>
                      <a:r>
                        <a:rPr lang="zh-CN" altLang="en-US" sz="1600" b="0">
                          <a:latin typeface="黑体" panose="02010609060101010101" charset="-122"/>
                          <a:ea typeface="黑体" panose="02010609060101010101" charset="-122"/>
                          <a:cs typeface="黑体" panose="02010609060101010101" charset="-122"/>
                        </a:rPr>
                        <a:t>图像的卷积特征与文本的词向量拼接后输入到一个多层感知机（</a:t>
                      </a:r>
                      <a:r>
                        <a:rPr lang="en-US" altLang="zh-CN" sz="1600" b="0">
                          <a:latin typeface="黑体" panose="02010609060101010101" charset="-122"/>
                          <a:ea typeface="黑体" panose="02010609060101010101" charset="-122"/>
                          <a:cs typeface="黑体" panose="02010609060101010101" charset="-122"/>
                        </a:rPr>
                        <a:t>MLP</a:t>
                      </a:r>
                      <a:r>
                        <a:rPr lang="zh-CN" altLang="en-US" sz="1600" b="0">
                          <a:latin typeface="黑体" panose="02010609060101010101" charset="-122"/>
                          <a:ea typeface="黑体" panose="02010609060101010101" charset="-122"/>
                          <a:cs typeface="黑体" panose="02010609060101010101" charset="-122"/>
                        </a:rPr>
                        <a:t>）中</a:t>
                      </a:r>
                      <a:endParaRPr lang="zh-CN" altLang="en-US" sz="1600" b="0">
                        <a:latin typeface="黑体" panose="02010609060101010101" charset="-122"/>
                        <a:ea typeface="黑体" panose="02010609060101010101" charset="-122"/>
                        <a:cs typeface="黑体" panose="02010609060101010101" charset="-122"/>
                      </a:endParaRPr>
                    </a:p>
                  </a:txBody>
                  <a:tcPr marL="0" marR="0" marT="0" marB="0" anchor="ctr" anchorCtr="0">
                    <a:lnL w="12700">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tcPr>
                </a:tc>
              </a:tr>
              <a:tr h="1605915">
                <a:tc>
                  <a:txBody>
                    <a:bodyPr/>
                    <a:p>
                      <a:pPr algn="ctr"/>
                      <a:r>
                        <a:rPr lang="zh-CN" altLang="en-US" sz="1600" b="0">
                          <a:latin typeface="黑体" panose="02010609060101010101" charset="-122"/>
                          <a:ea typeface="黑体" panose="02010609060101010101" charset="-122"/>
                          <a:cs typeface="黑体" panose="02010609060101010101" charset="-122"/>
                        </a:rPr>
                        <a:t>晚期融合 </a:t>
                      </a:r>
                      <a:r>
                        <a:rPr lang="en-US" altLang="zh-CN" sz="1600" b="0">
                          <a:latin typeface="黑体" panose="02010609060101010101" charset="-122"/>
                          <a:ea typeface="黑体" panose="02010609060101010101" charset="-122"/>
                          <a:cs typeface="黑体" panose="02010609060101010101" charset="-122"/>
                        </a:rPr>
                        <a:t>/ </a:t>
                      </a:r>
                      <a:r>
                        <a:rPr lang="zh-CN" altLang="en-US" sz="1600" b="0">
                          <a:latin typeface="黑体" panose="02010609060101010101" charset="-122"/>
                          <a:ea typeface="黑体" panose="02010609060101010101" charset="-122"/>
                          <a:cs typeface="黑体" panose="02010609060101010101" charset="-122"/>
                        </a:rPr>
                        <a:t>决策级融合</a:t>
                      </a:r>
                      <a:endParaRPr lang="zh-CN" altLang="en-US" sz="1600" b="0">
                        <a:latin typeface="黑体" panose="02010609060101010101" charset="-122"/>
                        <a:ea typeface="黑体" panose="02010609060101010101" charset="-122"/>
                        <a:cs typeface="黑体" panose="02010609060101010101" charset="-122"/>
                      </a:endParaRPr>
                    </a:p>
                  </a:txBody>
                  <a:tcPr marL="0" marR="0" marT="0" marB="0" anchor="ctr" anchorCtr="0">
                    <a:lnL w="12700" cap="flat" cmpd="sng" algn="ctr">
                      <a:solidFill>
                        <a:schemeClr val="tx1"/>
                      </a:solidFill>
                      <a:prstDash val="solid"/>
                    </a:lnL>
                    <a:lnR w="12700">
                      <a:solidFill>
                        <a:schemeClr val="tx1"/>
                      </a:solidFill>
                      <a:prstDash val="solid"/>
                    </a:lnR>
                    <a:lnT w="12700" cap="flat" cmpd="sng" algn="ctr">
                      <a:solidFill>
                        <a:schemeClr val="tx1"/>
                      </a:solidFill>
                      <a:prstDash val="solid"/>
                    </a:lnT>
                    <a:lnB w="12700" cap="flat" cmpd="sng" algn="ctr">
                      <a:solidFill>
                        <a:schemeClr val="tx1"/>
                      </a:solidFill>
                      <a:prstDash val="solid"/>
                    </a:lnB>
                  </a:tcPr>
                </a:tc>
                <a:tc>
                  <a:txBody>
                    <a:bodyPr/>
                    <a:p>
                      <a:pPr algn="ctr"/>
                      <a:r>
                        <a:rPr lang="zh-CN" altLang="en-US" sz="1600" b="0">
                          <a:latin typeface="黑体" panose="02010609060101010101" charset="-122"/>
                          <a:ea typeface="黑体" panose="02010609060101010101" charset="-122"/>
                        </a:rPr>
                        <a:t>每种模态独立处理并形成预测或决策，最后这些预测被组合形成最终输出。组合方式包括投票机制、平均预测、加权平均等。</a:t>
                      </a:r>
                      <a:endParaRPr lang="zh-CN" altLang="en-US" sz="1600" b="0">
                        <a:latin typeface="黑体" panose="02010609060101010101" charset="-122"/>
                        <a:ea typeface="黑体" panose="02010609060101010101" charset="-122"/>
                      </a:endParaRPr>
                    </a:p>
                  </a:txBody>
                  <a:tcPr marL="0" marR="0" marT="0" marB="0" anchor="ctr" anchorCtr="0">
                    <a:lnL w="12700">
                      <a:solidFill>
                        <a:schemeClr val="tx1"/>
                      </a:solidFill>
                      <a:prstDash val="solid"/>
                    </a:lnL>
                    <a:lnR w="12700">
                      <a:solidFill>
                        <a:schemeClr val="tx1"/>
                      </a:solidFill>
                      <a:prstDash val="solid"/>
                    </a:lnR>
                    <a:lnT w="12700" cap="flat" cmpd="sng" algn="ctr">
                      <a:solidFill>
                        <a:schemeClr val="tx1"/>
                      </a:solidFill>
                      <a:prstDash val="solid"/>
                    </a:lnT>
                    <a:lnB w="12700" cap="flat" cmpd="sng" algn="ctr">
                      <a:solidFill>
                        <a:schemeClr val="tx1"/>
                      </a:solidFill>
                      <a:prstDash val="solid"/>
                    </a:lnB>
                  </a:tcPr>
                </a:tc>
                <a:tc>
                  <a:txBody>
                    <a:bodyPr/>
                    <a:p>
                      <a:pPr algn="ctr"/>
                      <a:r>
                        <a:rPr lang="zh-CN" altLang="en-US" sz="1600" b="0">
                          <a:latin typeface="黑体" panose="02010609060101010101" charset="-122"/>
                          <a:ea typeface="黑体" panose="02010609060101010101" charset="-122"/>
                        </a:rPr>
                        <a:t>图像模型和文本模型分别独立分类，最后用加权平均法整合它们的预测概率</a:t>
                      </a:r>
                      <a:endParaRPr lang="zh-CN" altLang="en-US" sz="1600" b="0">
                        <a:latin typeface="黑体" panose="02010609060101010101" charset="-122"/>
                        <a:ea typeface="黑体" panose="02010609060101010101" charset="-122"/>
                      </a:endParaRPr>
                    </a:p>
                  </a:txBody>
                  <a:tcPr marL="0" marR="0" marT="0" marB="0" anchor="ctr" anchorCtr="0">
                    <a:lnL w="12700">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tcPr>
                </a:tc>
              </a:tr>
              <a:tr h="1376680">
                <a:tc>
                  <a:txBody>
                    <a:bodyPr/>
                    <a:p>
                      <a:pPr algn="ctr"/>
                      <a:r>
                        <a:rPr lang="zh-CN" altLang="en-US" sz="1600" b="0">
                          <a:latin typeface="黑体" panose="02010609060101010101" charset="-122"/>
                          <a:ea typeface="黑体" panose="02010609060101010101" charset="-122"/>
                          <a:cs typeface="黑体" panose="02010609060101010101" charset="-122"/>
                        </a:rPr>
                        <a:t>中间融合 </a:t>
                      </a:r>
                      <a:r>
                        <a:rPr lang="en-US" altLang="zh-CN" sz="1600" b="0">
                          <a:latin typeface="黑体" panose="02010609060101010101" charset="-122"/>
                          <a:ea typeface="黑体" panose="02010609060101010101" charset="-122"/>
                          <a:cs typeface="黑体" panose="02010609060101010101" charset="-122"/>
                        </a:rPr>
                        <a:t>/ </a:t>
                      </a:r>
                      <a:r>
                        <a:rPr lang="zh-CN" altLang="en-US" sz="1600" b="0">
                          <a:latin typeface="黑体" panose="02010609060101010101" charset="-122"/>
                          <a:ea typeface="黑体" panose="02010609060101010101" charset="-122"/>
                          <a:cs typeface="黑体" panose="02010609060101010101" charset="-122"/>
                        </a:rPr>
                        <a:t>联合特征融合</a:t>
                      </a:r>
                      <a:endParaRPr lang="zh-CN" altLang="en-US" sz="1600" b="0">
                        <a:latin typeface="黑体" panose="02010609060101010101" charset="-122"/>
                        <a:ea typeface="黑体" panose="02010609060101010101" charset="-122"/>
                        <a:cs typeface="黑体" panose="02010609060101010101" charset="-122"/>
                      </a:endParaRPr>
                    </a:p>
                  </a:txBody>
                  <a:tcPr marL="0" marR="0" marT="0" marB="0" anchor="ctr" anchorCtr="0">
                    <a:lnL w="12700" cap="flat" cmpd="sng" algn="ctr">
                      <a:solidFill>
                        <a:schemeClr val="tx1"/>
                      </a:solidFill>
                      <a:prstDash val="solid"/>
                    </a:lnL>
                    <a:lnR w="12700">
                      <a:solidFill>
                        <a:schemeClr val="tx1"/>
                      </a:solidFill>
                      <a:prstDash val="solid"/>
                    </a:lnR>
                    <a:lnT w="12700" cap="flat" cmpd="sng" algn="ctr">
                      <a:solidFill>
                        <a:schemeClr val="tx1"/>
                      </a:solidFill>
                      <a:prstDash val="solid"/>
                    </a:lnT>
                    <a:lnB w="12700" cap="flat" cmpd="sng" algn="ctr">
                      <a:solidFill>
                        <a:schemeClr val="tx1"/>
                      </a:solidFill>
                      <a:prstDash val="solid"/>
                    </a:lnB>
                  </a:tcPr>
                </a:tc>
                <a:tc>
                  <a:txBody>
                    <a:bodyPr/>
                    <a:p>
                      <a:pPr algn="ctr"/>
                      <a:r>
                        <a:rPr lang="zh-CN" altLang="en-US" sz="1600" b="0">
                          <a:latin typeface="黑体" panose="02010609060101010101" charset="-122"/>
                          <a:ea typeface="黑体" panose="02010609060101010101" charset="-122"/>
                        </a:rPr>
                        <a:t>模型在处理过程中的某个点结合不同模态信息，例如在深层网络中，两个模态的特征在经过几层之后进行融合。</a:t>
                      </a:r>
                      <a:endParaRPr lang="zh-CN" altLang="en-US" sz="1600" b="0">
                        <a:latin typeface="黑体" panose="02010609060101010101" charset="-122"/>
                        <a:ea typeface="黑体" panose="02010609060101010101" charset="-122"/>
                      </a:endParaRPr>
                    </a:p>
                  </a:txBody>
                  <a:tcPr marL="0" marR="0" marT="0" marB="0" anchor="ctr" anchorCtr="0">
                    <a:lnL w="12700">
                      <a:solidFill>
                        <a:schemeClr val="tx1"/>
                      </a:solidFill>
                      <a:prstDash val="solid"/>
                    </a:lnL>
                    <a:lnR w="12700">
                      <a:solidFill>
                        <a:schemeClr val="tx1"/>
                      </a:solidFill>
                      <a:prstDash val="solid"/>
                    </a:lnR>
                    <a:lnT w="12700" cap="flat" cmpd="sng" algn="ctr">
                      <a:solidFill>
                        <a:schemeClr val="tx1"/>
                      </a:solidFill>
                      <a:prstDash val="solid"/>
                    </a:lnT>
                    <a:lnB w="12700" cap="flat" cmpd="sng" algn="ctr">
                      <a:solidFill>
                        <a:schemeClr val="tx1"/>
                      </a:solidFill>
                      <a:prstDash val="solid"/>
                    </a:lnB>
                  </a:tcPr>
                </a:tc>
                <a:tc>
                  <a:txBody>
                    <a:bodyPr/>
                    <a:p>
                      <a:pPr algn="ctr"/>
                      <a:r>
                        <a:rPr lang="zh-CN" altLang="en-US" sz="1600" b="0">
                          <a:latin typeface="黑体" panose="02010609060101010101" charset="-122"/>
                          <a:ea typeface="黑体" panose="02010609060101010101" charset="-122"/>
                          <a:cs typeface="黑体" panose="02010609060101010101" charset="-122"/>
                        </a:rPr>
                        <a:t>图像和文本输入分别经过独立编码器，编码后的特征在</a:t>
                      </a:r>
                      <a:r>
                        <a:rPr lang="en-US" altLang="zh-CN" sz="1600" b="0">
                          <a:latin typeface="黑体" panose="02010609060101010101" charset="-122"/>
                          <a:ea typeface="黑体" panose="02010609060101010101" charset="-122"/>
                          <a:cs typeface="黑体" panose="02010609060101010101" charset="-122"/>
                        </a:rPr>
                        <a:t>Transformer</a:t>
                      </a:r>
                      <a:r>
                        <a:rPr lang="zh-CN" altLang="en-US" sz="1600" b="0">
                          <a:latin typeface="黑体" panose="02010609060101010101" charset="-122"/>
                          <a:ea typeface="黑体" panose="02010609060101010101" charset="-122"/>
                          <a:cs typeface="黑体" panose="02010609060101010101" charset="-122"/>
                        </a:rPr>
                        <a:t>的中间层进行交互融合</a:t>
                      </a:r>
                      <a:endParaRPr lang="zh-CN" altLang="en-US" sz="1600" b="0">
                        <a:latin typeface="黑体" panose="02010609060101010101" charset="-122"/>
                        <a:ea typeface="黑体" panose="02010609060101010101" charset="-122"/>
                        <a:cs typeface="黑体" panose="02010609060101010101" charset="-122"/>
                      </a:endParaRPr>
                    </a:p>
                  </a:txBody>
                  <a:tcPr marL="0" marR="0" marT="0" marB="0" anchor="ctr" anchorCtr="0">
                    <a:lnL w="12700">
                      <a:solidFill>
                        <a:schemeClr val="tx1"/>
                      </a:solidFill>
                      <a:prstDash val="solid"/>
                    </a:lnL>
                    <a:lnR w="12700" cap="flat" cmpd="sng" algn="ctr">
                      <a:solidFill>
                        <a:schemeClr val="tx1"/>
                      </a:solidFill>
                      <a:prstDash val="solid"/>
                    </a:lnR>
                    <a:lnT w="12700" cap="flat" cmpd="sng" algn="ctr">
                      <a:solidFill>
                        <a:schemeClr val="tx1"/>
                      </a:solidFill>
                      <a:prstDash val="solid"/>
                    </a:lnT>
                    <a:lnB w="12700" cap="flat" cmpd="sng" algn="ctr">
                      <a:solidFill>
                        <a:schemeClr val="tx1"/>
                      </a:solidFill>
                      <a:prstDash val="solid"/>
                    </a:lnB>
                  </a:tcPr>
                </a:tc>
              </a:tr>
            </a:tbl>
          </a:graphicData>
        </a:graphic>
      </p:graphicFrame>
    </p:spTree>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基于注意力机制的自适应特征融合</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1051560"/>
          </a:xfrm>
          <a:prstGeom prst="rect">
            <a:avLst/>
          </a:prstGeom>
        </p:spPr>
        <p:txBody>
          <a:bodyPr/>
          <a:lstStyle/>
          <a:p>
            <a:r>
              <a:rPr lang="zh-CN" altLang="en-US" sz="2000"/>
              <a:t>本项目所采用的融合方法为基于注意力机制的自适应特征融合。该方法利用了先进的注意力机制，通过对不同模态的特征进行智能加权和集成，实现了信息的有效融合。</a:t>
            </a:r>
            <a:endParaRPr lang="zh-CN" altLang="en-US" sz="2000" dirty="0"/>
          </a:p>
        </p:txBody>
      </p:sp>
      <p:sp>
        <p:nvSpPr>
          <p:cNvPr id="6" name="文本框 5"/>
          <p:cNvSpPr txBox="1"/>
          <p:nvPr/>
        </p:nvSpPr>
        <p:spPr>
          <a:xfrm>
            <a:off x="457200" y="2277110"/>
            <a:ext cx="8080375" cy="36296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注意力机制：一种让模型动态地聚焦于最重要部分的信息处理策略，从而提高模型的性能。在多模态学习中，注意力机制可以使模型在不同模态之间分配不同的重要性权重。</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自注意力：也被称为内部注意力，使模型能够对同一序列中不同位置的数据点分配不同的注意力权重。</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lnSpc>
                <a:spcPct val="150000"/>
              </a:lnSpc>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交叉注意力：使模型能够在处理一种模态时，考虑到另一种模态的上下文信息，进而在两种模态之间建立联系。</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基于注意力机制的自适应特征融合</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251460" y="908685"/>
            <a:ext cx="8229600" cy="466090"/>
          </a:xfrm>
          <a:prstGeom prst="rect">
            <a:avLst/>
          </a:prstGeom>
        </p:spPr>
        <p:txBody>
          <a:bodyPr/>
          <a:lstStyle/>
          <a:p>
            <a:r>
              <a:rPr lang="zh-CN" altLang="en-US" sz="2400"/>
              <a:t>基于注意力机制的融合步骤</a:t>
            </a:r>
            <a:endParaRPr lang="zh-CN" altLang="en-US" sz="2400"/>
          </a:p>
        </p:txBody>
      </p:sp>
      <p:sp>
        <p:nvSpPr>
          <p:cNvPr id="6" name="文本框 5"/>
          <p:cNvSpPr txBox="1"/>
          <p:nvPr/>
        </p:nvSpPr>
        <p:spPr>
          <a:xfrm>
            <a:off x="251460" y="1125220"/>
            <a:ext cx="5313680" cy="52355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endPar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特征提取：从每种模态中提取特征，得到各模态的特征向量表示</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u</a:t>
            </a:r>
            <a:r>
              <a:rPr kumimoji="0" lang="en-US" altLang="zh-CN" sz="1600" b="0" i="0" u="none" strike="noStrike" cap="none" spc="0" normalizeH="0" baseline="-2500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1</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,u</a:t>
            </a:r>
            <a:r>
              <a:rPr kumimoji="0" lang="en-US" altLang="zh-CN" sz="1600" b="0" i="0" u="none" strike="noStrike" cap="none" spc="0" normalizeH="0" baseline="-2500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2</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,u</a:t>
            </a:r>
            <a:r>
              <a:rPr kumimoji="0" lang="en-US" altLang="zh-CN" sz="1600" b="0" i="0" u="none" strike="noStrike" cap="none" spc="0" normalizeH="0" baseline="-2500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3</a:t>
            </a: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注意力权重学习：对于每种模态提取的特征，通过一个注意力机制模块计算其权重。具体来说，模块首先对每个特征向量执行一个线性变换，生成查询</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(q)</a:t>
            </a: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、键</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(k)</a:t>
            </a: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和值</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(v)</a:t>
            </a: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向量。然后，通过计算查询向量和键向量之间的内积，应用</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softmax </a:t>
            </a: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函数来获得每个特征的注意力权重，这个过程可以公式化表示为</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a:t>
            </a:r>
            <a:r>
              <a:rPr kumimoji="0" lang="en-US" altLang="zh-CN" sz="1600" b="0" i="0" u="none" strike="noStrike" cap="none" spc="0" normalizeH="0" baseline="-2500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k</a:t>
            </a: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是键向量的维度。</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特征加权与融合：使用上述计算得到的注意力权重对值向量进行加权，以此强调更重要的特征。每个加权后的特征向量</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z</a:t>
            </a:r>
            <a:r>
              <a:rPr kumimoji="0" lang="en-US" altLang="zh-CN" sz="1600" b="0" i="0" u="none" strike="noStrike" cap="none" spc="0" normalizeH="0" baseline="-2500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i</a:t>
            </a:r>
            <a:r>
              <a:rPr kumimoji="0" lang="en-US" altLang="zh-CN"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t>
            </a:r>
            <a:r>
              <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是其对应值向量的线性组合：</a:t>
            </a:r>
            <a:endPar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907540" y="3861435"/>
            <a:ext cx="2147570" cy="560070"/>
          </a:xfrm>
          <a:prstGeom prst="rect">
            <a:avLst/>
          </a:prstGeom>
        </p:spPr>
      </p:pic>
      <p:pic>
        <p:nvPicPr>
          <p:cNvPr id="3" name="图片 2"/>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123440" y="5301615"/>
            <a:ext cx="1927225" cy="535305"/>
          </a:xfrm>
          <a:prstGeom prst="rect">
            <a:avLst/>
          </a:prstGeom>
        </p:spPr>
      </p:pic>
      <p:sp>
        <p:nvSpPr>
          <p:cNvPr id="4" name="文本框 3"/>
          <p:cNvSpPr txBox="1"/>
          <p:nvPr/>
        </p:nvSpPr>
        <p:spPr>
          <a:xfrm>
            <a:off x="323215" y="6021705"/>
            <a:ext cx="7042785" cy="3359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最后，将这些加权后的特征向量串联起来，形成一个综合的特征表示</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z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pic>
        <p:nvPicPr>
          <p:cNvPr id="5" name="图片 4"/>
          <p:cNvPicPr>
            <a:picLocks noChangeAspect="1"/>
          </p:cNvPicPr>
          <p:nvPr/>
        </p:nvPicPr>
        <p:blipFill>
          <a:blip r:embed="rId3">
            <a:clrChange>
              <a:clrFrom>
                <a:srgbClr val="FEFEFE">
                  <a:alpha val="100000"/>
                </a:srgbClr>
              </a:clrFrom>
              <a:clrTo>
                <a:srgbClr val="FEFEFE">
                  <a:alpha val="100000"/>
                  <a:alpha val="0"/>
                </a:srgbClr>
              </a:clrTo>
            </a:clrChange>
          </a:blip>
          <a:stretch>
            <a:fillRect/>
          </a:stretch>
        </p:blipFill>
        <p:spPr>
          <a:xfrm>
            <a:off x="5507990" y="1917065"/>
            <a:ext cx="3531870" cy="2890520"/>
          </a:xfrm>
          <a:prstGeom prst="rect">
            <a:avLst/>
          </a:prstGeom>
        </p:spPr>
      </p:pic>
    </p:spTree>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基于注意力机制的自适应特征融合</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179705" y="908685"/>
            <a:ext cx="8229600" cy="463550"/>
          </a:xfrm>
          <a:prstGeom prst="rect">
            <a:avLst/>
          </a:prstGeom>
        </p:spPr>
        <p:txBody>
          <a:bodyPr/>
          <a:lstStyle/>
          <a:p>
            <a:r>
              <a:rPr lang="zh-CN" altLang="en-US" sz="2000"/>
              <a:t>构建注意力权重学习网络的示例代码</a:t>
            </a:r>
            <a:r>
              <a:rPr lang="zh-CN" altLang="en-US" sz="2000" dirty="0">
                <a:sym typeface="+mn-ea"/>
              </a:rPr>
              <a:t>：</a:t>
            </a:r>
            <a:endParaRPr lang="zh-CN" altLang="en-US" sz="2000" dirty="0"/>
          </a:p>
        </p:txBody>
      </p:sp>
      <p:pic>
        <p:nvPicPr>
          <p:cNvPr id="2" name="图片 1"/>
          <p:cNvPicPr>
            <a:picLocks noChangeAspect="1"/>
          </p:cNvPicPr>
          <p:nvPr/>
        </p:nvPicPr>
        <p:blipFill>
          <a:blip r:embed="rId1"/>
          <a:srcRect l="3764"/>
          <a:stretch>
            <a:fillRect/>
          </a:stretch>
        </p:blipFill>
        <p:spPr>
          <a:xfrm>
            <a:off x="251460" y="1268730"/>
            <a:ext cx="4905375" cy="4923155"/>
          </a:xfrm>
          <a:prstGeom prst="rect">
            <a:avLst/>
          </a:prstGeom>
        </p:spPr>
      </p:pic>
      <p:sp>
        <p:nvSpPr>
          <p:cNvPr id="5" name="文本框 4"/>
          <p:cNvSpPr txBox="1"/>
          <p:nvPr/>
        </p:nvSpPr>
        <p:spPr>
          <a:xfrm>
            <a:off x="5292090" y="1268730"/>
            <a:ext cx="3632200"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Attention</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类用于实现多头注意力机制，该类的主要组成部分和工作流程：</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6" name="文本框 5"/>
          <p:cNvSpPr txBox="1"/>
          <p:nvPr/>
        </p:nvSpPr>
        <p:spPr>
          <a:xfrm>
            <a:off x="5361305" y="2061210"/>
            <a:ext cx="3048000" cy="3783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(1)</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初始化</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(__init__</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方法</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dim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表示输入特征的维度，</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num_heads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表示注意力机制的头数。</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qkv_bias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控制是否为查询</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(q)</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、键</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(k)</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和值</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(v)</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向量添加偏置。</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qk_scale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提供查询和键的缩放因子。</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(2)attn_drop_ratio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和</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proj_drop_ratio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分别为注意力权重和最终投影的</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dropout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比率。类中还包括用于生成查询、键、值的全连接层</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(qkv)</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，以及输出前的投影层</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(proj)</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7" name="矩形 6"/>
          <p:cNvSpPr/>
          <p:nvPr/>
        </p:nvSpPr>
        <p:spPr>
          <a:xfrm>
            <a:off x="539750" y="1412875"/>
            <a:ext cx="2600960" cy="2593975"/>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基于注意力机制的自适应特征融合</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179705" y="908685"/>
            <a:ext cx="8229600" cy="463550"/>
          </a:xfrm>
          <a:prstGeom prst="rect">
            <a:avLst/>
          </a:prstGeom>
        </p:spPr>
        <p:txBody>
          <a:bodyPr/>
          <a:lstStyle/>
          <a:p>
            <a:r>
              <a:rPr lang="zh-CN" altLang="en-US" sz="2000"/>
              <a:t>构建注意力权重学习网络的示例代码</a:t>
            </a:r>
            <a:r>
              <a:rPr lang="zh-CN" altLang="en-US" sz="2000" dirty="0">
                <a:sym typeface="+mn-ea"/>
              </a:rPr>
              <a:t>：</a:t>
            </a:r>
            <a:endParaRPr lang="zh-CN" altLang="en-US" sz="2000" dirty="0"/>
          </a:p>
        </p:txBody>
      </p:sp>
      <p:pic>
        <p:nvPicPr>
          <p:cNvPr id="2" name="图片 1"/>
          <p:cNvPicPr>
            <a:picLocks noChangeAspect="1"/>
          </p:cNvPicPr>
          <p:nvPr/>
        </p:nvPicPr>
        <p:blipFill>
          <a:blip r:embed="rId1"/>
          <a:srcRect l="3764"/>
          <a:stretch>
            <a:fillRect/>
          </a:stretch>
        </p:blipFill>
        <p:spPr>
          <a:xfrm>
            <a:off x="251460" y="1268730"/>
            <a:ext cx="4905375" cy="4923155"/>
          </a:xfrm>
          <a:prstGeom prst="rect">
            <a:avLst/>
          </a:prstGeom>
        </p:spPr>
      </p:pic>
      <p:sp>
        <p:nvSpPr>
          <p:cNvPr id="6" name="文本框 5"/>
          <p:cNvSpPr txBox="1"/>
          <p:nvPr/>
        </p:nvSpPr>
        <p:spPr>
          <a:xfrm>
            <a:off x="5580380" y="836930"/>
            <a:ext cx="3390265" cy="5570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(3)</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前向传播</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(forward)</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1</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、输入</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x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是形状为</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(B, N, C)</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的张量，其中</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B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是批大小，</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是序列长度，</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C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是特征维度。</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2</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、通过</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qkv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层生成查询、键和值的表示，</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3</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、调整维度并进行重排以适应多头处理。</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4</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、使用查询和键的矩阵乘法得到原始的注意力分数，乘以缩放因子</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self.scale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进行调节，再通过</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softmax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函数进行归一化，得到归一化的注意力权重。</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5</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、应用</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dropout </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减少过拟合。</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(4)</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计算输出：注意力权重和值向量相乘求加权和，然后重排回原始维度。通过一个额外的全连接层</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proj</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进行输出转换，最后再次应用</a:t>
            </a:r>
            <a:r>
              <a:rPr kumimoji="0" lang="en-US" altLang="zh-CN"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dropout</a:t>
            </a: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多头注意力机制使模型能并行从不同子空间聚合序列信息，提高对复杂序列任务的建模能力。</a:t>
            </a:r>
            <a:endParaRPr kumimoji="0" lang="zh-CN" altLang="en-US" sz="16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7" name="矩形 6"/>
          <p:cNvSpPr/>
          <p:nvPr/>
        </p:nvSpPr>
        <p:spPr>
          <a:xfrm>
            <a:off x="539750" y="4047490"/>
            <a:ext cx="4606925" cy="1409700"/>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3" name="矩形 2"/>
          <p:cNvSpPr/>
          <p:nvPr/>
        </p:nvSpPr>
        <p:spPr>
          <a:xfrm flipV="1">
            <a:off x="539750" y="5517515"/>
            <a:ext cx="4615180" cy="645160"/>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cxnSp>
        <p:nvCxnSpPr>
          <p:cNvPr id="9" name="直接连接符 8"/>
          <p:cNvCxnSpPr/>
          <p:nvPr/>
        </p:nvCxnSpPr>
        <p:spPr>
          <a:xfrm flipH="1">
            <a:off x="5147945" y="5157470"/>
            <a:ext cx="504190" cy="36004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flipH="1">
            <a:off x="5147945" y="2637155"/>
            <a:ext cx="432435" cy="1440180"/>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spTree>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5</a:t>
            </a:r>
            <a:r>
              <a:rPr lang="zh-CN" altLang="en-US" dirty="0">
                <a:sym typeface="+mn-ea"/>
              </a:rPr>
              <a:t>）医疗诊断与预测算法及优化</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1201420"/>
          </a:xfrm>
          <a:prstGeom prst="rect">
            <a:avLst/>
          </a:prstGeom>
        </p:spPr>
        <p:txBody>
          <a:bodyPr>
            <a:normAutofit/>
          </a:bodyPr>
          <a:lstStyle/>
          <a:p>
            <a:r>
              <a:rPr lang="zh-CN" altLang="en-US" sz="2400"/>
              <a:t>医疗数据通常具有多模态、多维度、高噪声特性。建模目标是利用机器学习算法从历史样本中学习预测规则，用于疾病诊断和进程预测。</a:t>
            </a:r>
            <a:endParaRPr lang="zh-CN" altLang="en-US" sz="2400" dirty="0"/>
          </a:p>
          <a:p>
            <a:pPr marL="0" indent="0">
              <a:buNone/>
            </a:pPr>
            <a:endParaRPr lang="zh-CN" altLang="en-US" sz="2400" dirty="0"/>
          </a:p>
        </p:txBody>
      </p:sp>
      <p:sp>
        <p:nvSpPr>
          <p:cNvPr id="3" name="文本框 2"/>
          <p:cNvSpPr txBox="1"/>
          <p:nvPr/>
        </p:nvSpPr>
        <p:spPr>
          <a:xfrm>
            <a:off x="467360" y="3141345"/>
            <a:ext cx="80803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分类与回归模型</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整体损失函数设计</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p:nvPr/>
        </p:nvPicPr>
        <p:blipFill>
          <a:blip r:embed="rId1">
            <a:extLst>
              <a:ext uri="{96DAC541-7B7A-43D3-8B79-37D633B846F1}">
                <asvg:svgBlip xmlns:asvg="http://schemas.microsoft.com/office/drawing/2016/SVG/main" r:embed="rId2"/>
              </a:ext>
            </a:extLst>
          </a:blip>
          <a:stretch>
            <a:fillRect/>
          </a:stretch>
        </p:blipFill>
        <p:spPr>
          <a:xfrm>
            <a:off x="3707765" y="2348865"/>
            <a:ext cx="5372735" cy="2686050"/>
          </a:xfrm>
          <a:prstGeom prst="rect">
            <a:avLst/>
          </a:prstGeom>
        </p:spPr>
      </p:pic>
    </p:spTree>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分类与回归模型</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949960"/>
          </a:xfrm>
          <a:prstGeom prst="rect">
            <a:avLst/>
          </a:prstGeom>
        </p:spPr>
        <p:txBody>
          <a:bodyPr/>
          <a:lstStyle/>
          <a:p>
            <a:r>
              <a:rPr lang="zh-CN" altLang="en-US" sz="2400"/>
              <a:t>深度学习中的分类与回归是两种常见的监督学习任务，它们在网络架构和损失函数设计上各有特点</a:t>
            </a:r>
            <a:r>
              <a:rPr lang="zh-CN" altLang="en-US" sz="2400" dirty="0">
                <a:sym typeface="+mn-ea"/>
              </a:rPr>
              <a:t>：</a:t>
            </a:r>
            <a:endParaRPr lang="zh-CN" altLang="en-US" sz="2400" dirty="0"/>
          </a:p>
          <a:p>
            <a:pPr marL="0" indent="0">
              <a:buNone/>
            </a:pPr>
            <a:endParaRPr lang="zh-CN" altLang="en-US" sz="2400" dirty="0"/>
          </a:p>
        </p:txBody>
      </p:sp>
      <p:sp>
        <p:nvSpPr>
          <p:cNvPr id="2" name="文本框 1"/>
          <p:cNvSpPr txBox="1"/>
          <p:nvPr/>
        </p:nvSpPr>
        <p:spPr>
          <a:xfrm>
            <a:off x="539750" y="1971040"/>
            <a:ext cx="8080375" cy="31680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分类目标：将输入数据分配到预定义的类别，支持二分类或多分类。</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分类网络结构：由若干堆叠层（如卷积层、全连接层等）构成，末端输出层神经元数等于类别数；多分类场景下输出层接</a:t>
            </a:r>
            <a:r>
              <a:rPr kumimoji="0" lang="en-US" altLang="zh-CN"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Softmax</a:t>
            </a: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分类损失函数：常用交叉熵损失；二分类用二元交叉熵，公式为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indent="457200"/>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indent="457200"/>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indent="457200"/>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indent="457200"/>
            <a:r>
              <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多分类用多类别交叉熵，公式为</a:t>
            </a:r>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indent="457200"/>
            <a:endParaRPr kumimoji="0" lang="zh-CN" altLang="en-US" sz="20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6" name="图片 5"/>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583815" y="3573145"/>
            <a:ext cx="4258310" cy="883920"/>
          </a:xfrm>
          <a:prstGeom prst="rect">
            <a:avLst/>
          </a:prstGeom>
        </p:spPr>
      </p:pic>
      <p:pic>
        <p:nvPicPr>
          <p:cNvPr id="7" name="图片 6"/>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2771775" y="4797425"/>
            <a:ext cx="3295650" cy="1012825"/>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971550" y="5810250"/>
                <a:ext cx="7141845" cy="706755"/>
              </a:xfrm>
              <a:prstGeom prst="rect">
                <a:avLst/>
              </a:prstGeom>
            </p:spPr>
            <p:txBody>
              <a:bodyPr wrap="square">
                <a:spAutoFit/>
              </a:bodyPr>
              <a:p>
                <a:r>
                  <a:rPr lang="zh-CN" altLang="en-US" sz="2000">
                    <a:solidFill>
                      <a:srgbClr val="000000"/>
                    </a:solidFill>
                  </a:rPr>
                  <a:t>其中，</a:t>
                </a:r>
                <a14:m>
                  <m:oMath xmlns:m="http://schemas.openxmlformats.org/officeDocument/2006/math">
                    <m:r>
                      <a:rPr lang="en-US" altLang="zh-CN" sz="2000" i="1">
                        <a:solidFill>
                          <a:srgbClr val="000000"/>
                        </a:solidFill>
                        <a:latin typeface="Cambria Math" panose="02040503050406030204" charset="0"/>
                        <a:cs typeface="Cambria Math" panose="02040503050406030204" charset="0"/>
                      </a:rPr>
                      <m:t>𝑁</m:t>
                    </m:r>
                  </m:oMath>
                </a14:m>
                <a:r>
                  <a:rPr lang="zh-CN" altLang="en-US" sz="2000">
                    <a:solidFill>
                      <a:srgbClr val="000000"/>
                    </a:solidFill>
                  </a:rPr>
                  <a:t>是样本数量；</a:t>
                </a:r>
                <a14:m>
                  <m:oMath xmlns:m="http://schemas.openxmlformats.org/officeDocument/2006/math">
                    <m:r>
                      <a:rPr lang="en-US" altLang="zh-CN" sz="2000" i="1">
                        <a:solidFill>
                          <a:srgbClr val="000000"/>
                        </a:solidFill>
                        <a:latin typeface="Cambria Math" panose="02040503050406030204" charset="0"/>
                        <a:cs typeface="Cambria Math" panose="02040503050406030204" charset="0"/>
                      </a:rPr>
                      <m:t>𝑀</m:t>
                    </m:r>
                  </m:oMath>
                </a14:m>
                <a:r>
                  <a:rPr lang="zh-CN" altLang="en-US" sz="2000">
                    <a:solidFill>
                      <a:srgbClr val="000000"/>
                    </a:solidFill>
                  </a:rPr>
                  <a:t>是类别数量；</a:t>
                </a:r>
                <a14:m>
                  <m:oMath xmlns:m="http://schemas.openxmlformats.org/officeDocument/2006/math">
                    <m:sSub>
                      <m:sSubPr>
                        <m:ctrlPr>
                          <a:rPr lang="en-US" altLang="zh-CN" sz="2000" i="1">
                            <a:solidFill>
                              <a:srgbClr val="000000"/>
                            </a:solidFill>
                            <a:latin typeface="Cambria Math" panose="02040503050406030204" charset="0"/>
                            <a:cs typeface="Cambria Math" panose="02040503050406030204" charset="0"/>
                          </a:rPr>
                        </m:ctrlPr>
                      </m:sSubPr>
                      <m:e>
                        <m:r>
                          <a:rPr lang="en-US" altLang="zh-CN" sz="2000" i="1">
                            <a:solidFill>
                              <a:srgbClr val="000000"/>
                            </a:solidFill>
                            <a:latin typeface="Cambria Math" panose="02040503050406030204" charset="0"/>
                            <a:cs typeface="Cambria Math" panose="02040503050406030204" charset="0"/>
                          </a:rPr>
                          <m:t>𝑦</m:t>
                        </m:r>
                      </m:e>
                      <m:sub>
                        <m:r>
                          <a:rPr lang="en-US" altLang="zh-CN" sz="2000" i="1">
                            <a:solidFill>
                              <a:srgbClr val="000000"/>
                            </a:solidFill>
                            <a:latin typeface="Cambria Math" panose="02040503050406030204" charset="0"/>
                            <a:cs typeface="Cambria Math" panose="02040503050406030204" charset="0"/>
                          </a:rPr>
                          <m:t>𝑖</m:t>
                        </m:r>
                      </m:sub>
                    </m:sSub>
                  </m:oMath>
                </a14:m>
                <a:r>
                  <a:rPr lang="zh-CN" altLang="en-US" sz="2000">
                    <a:solidFill>
                      <a:srgbClr val="000000"/>
                    </a:solidFill>
                  </a:rPr>
                  <a:t>是真实标签； </a:t>
                </a:r>
                <a14:m>
                  <m:oMath xmlns:m="http://schemas.openxmlformats.org/officeDocument/2006/math">
                    <m:sSub>
                      <m:sSubPr>
                        <m:ctrlPr>
                          <a:rPr lang="en-US" altLang="zh-CN" sz="2000" i="1">
                            <a:solidFill>
                              <a:srgbClr val="000000"/>
                            </a:solidFill>
                            <a:latin typeface="Cambria Math" panose="02040503050406030204" charset="0"/>
                            <a:cs typeface="Cambria Math" panose="02040503050406030204" charset="0"/>
                          </a:rPr>
                        </m:ctrlPr>
                      </m:sSubPr>
                      <m:e>
                        <m:acc>
                          <m:accPr>
                            <m:ctrlPr>
                              <a:rPr lang="en-US" altLang="zh-CN" sz="2000" i="1">
                                <a:solidFill>
                                  <a:srgbClr val="000000"/>
                                </a:solidFill>
                                <a:latin typeface="Cambria Math" panose="02040503050406030204" charset="0"/>
                                <a:cs typeface="Cambria Math" panose="02040503050406030204" charset="0"/>
                              </a:rPr>
                            </m:ctrlPr>
                          </m:accPr>
                          <m:e>
                            <m:r>
                              <a:rPr lang="en-US" altLang="zh-CN" sz="2000" i="1">
                                <a:solidFill>
                                  <a:srgbClr val="000000"/>
                                </a:solidFill>
                                <a:latin typeface="Cambria Math" panose="02040503050406030204" charset="0"/>
                                <a:cs typeface="Cambria Math" panose="02040503050406030204" charset="0"/>
                              </a:rPr>
                              <m:t>𝑦</m:t>
                            </m:r>
                          </m:e>
                        </m:acc>
                      </m:e>
                      <m:sub>
                        <m:r>
                          <a:rPr lang="en-US" altLang="zh-CN" sz="2000" i="1">
                            <a:solidFill>
                              <a:srgbClr val="000000"/>
                            </a:solidFill>
                            <a:latin typeface="Cambria Math" panose="02040503050406030204" charset="0"/>
                            <a:cs typeface="Cambria Math" panose="02040503050406030204" charset="0"/>
                          </a:rPr>
                          <m:t>𝑖</m:t>
                        </m:r>
                      </m:sub>
                    </m:sSub>
                  </m:oMath>
                </a14:m>
                <a:r>
                  <a:rPr lang="en-US" altLang="zh-CN" sz="2000" i="1">
                    <a:solidFill>
                      <a:srgbClr val="000000"/>
                    </a:solidFill>
                  </a:rPr>
                  <a:t> </a:t>
                </a:r>
                <a:r>
                  <a:rPr lang="zh-CN" altLang="en-US" sz="2000">
                    <a:solidFill>
                      <a:srgbClr val="000000"/>
                    </a:solidFill>
                  </a:rPr>
                  <a:t>是预测概率。</a:t>
                </a:r>
                <a:endParaRPr lang="zh-CN" altLang="en-US" sz="2000">
                  <a:solidFill>
                    <a:srgbClr val="000000"/>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971550" y="5810250"/>
                <a:ext cx="7141845" cy="70675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分类与回归模型</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179705" y="836930"/>
            <a:ext cx="8229600" cy="624840"/>
          </a:xfrm>
          <a:prstGeom prst="rect">
            <a:avLst/>
          </a:prstGeom>
        </p:spPr>
        <p:txBody>
          <a:bodyPr/>
          <a:lstStyle/>
          <a:p>
            <a:r>
              <a:rPr lang="zh-CN" altLang="en-US" sz="2400"/>
              <a:t>一个简单的分类网络示例代码</a:t>
            </a:r>
            <a:r>
              <a:rPr lang="zh-CN" altLang="en-US" sz="2400" dirty="0">
                <a:sym typeface="+mn-ea"/>
              </a:rPr>
              <a:t>：</a:t>
            </a:r>
            <a:endParaRPr lang="zh-CN" altLang="en-US" sz="2400" dirty="0"/>
          </a:p>
        </p:txBody>
      </p:sp>
      <p:pic>
        <p:nvPicPr>
          <p:cNvPr id="2" name="图片 1"/>
          <p:cNvPicPr>
            <a:picLocks noChangeAspect="1"/>
          </p:cNvPicPr>
          <p:nvPr/>
        </p:nvPicPr>
        <p:blipFill>
          <a:blip r:embed="rId1"/>
          <a:srcRect r="7822"/>
          <a:stretch>
            <a:fillRect/>
          </a:stretch>
        </p:blipFill>
        <p:spPr>
          <a:xfrm>
            <a:off x="179705" y="1268730"/>
            <a:ext cx="4881880" cy="2825115"/>
          </a:xfrm>
          <a:prstGeom prst="rect">
            <a:avLst/>
          </a:prstGeom>
        </p:spPr>
      </p:pic>
      <p:sp>
        <p:nvSpPr>
          <p:cNvPr id="5" name="文本框 4"/>
          <p:cNvSpPr txBox="1"/>
          <p:nvPr/>
        </p:nvSpPr>
        <p:spPr>
          <a:xfrm>
            <a:off x="5292090" y="909320"/>
            <a:ext cx="3708400" cy="2583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Classification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类，用于执行分类任务。</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初始化参数：</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num_inputs</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：输入特征数</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num_hiddens</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：隐藏层神经元数</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num_outputs</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：输出层神经元数</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6" name="矩形 5"/>
          <p:cNvSpPr/>
          <p:nvPr/>
        </p:nvSpPr>
        <p:spPr>
          <a:xfrm>
            <a:off x="611505" y="2853055"/>
            <a:ext cx="3528060" cy="1224280"/>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7" name="矩形 6"/>
          <p:cNvSpPr/>
          <p:nvPr/>
        </p:nvSpPr>
        <p:spPr>
          <a:xfrm>
            <a:off x="611505" y="1485265"/>
            <a:ext cx="4471035" cy="1240155"/>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cxnSp>
        <p:nvCxnSpPr>
          <p:cNvPr id="9" name="直接连接符 8"/>
          <p:cNvCxnSpPr>
            <a:stCxn id="7" idx="3"/>
          </p:cNvCxnSpPr>
          <p:nvPr/>
        </p:nvCxnSpPr>
        <p:spPr>
          <a:xfrm>
            <a:off x="5082540" y="2105660"/>
            <a:ext cx="137795" cy="31559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539750" y="4204970"/>
            <a:ext cx="7721600" cy="29406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lang="zh-CN" altLang="en-US">
                <a:sym typeface="黑体" panose="02010609060101010101" charset="-122"/>
              </a:rPr>
              <a:t>网络结构：</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lang="en-US" altLang="zh-CN">
                <a:sym typeface="黑体" panose="02010609060101010101" charset="-122"/>
              </a:rPr>
              <a:t>1</a:t>
            </a:r>
            <a:r>
              <a:rPr lang="zh-CN" altLang="en-US">
                <a:sym typeface="黑体" panose="02010609060101010101" charset="-122"/>
              </a:rPr>
              <a:t>、全连接层</a:t>
            </a:r>
            <a:r>
              <a:rPr lang="en-US" altLang="zh-CN">
                <a:sym typeface="黑体" panose="02010609060101010101" charset="-122"/>
              </a:rPr>
              <a:t> hidden</a:t>
            </a:r>
            <a:r>
              <a:rPr lang="zh-CN" altLang="en-US">
                <a:sym typeface="黑体" panose="02010609060101010101" charset="-122"/>
              </a:rPr>
              <a:t>（输入</a:t>
            </a:r>
            <a:r>
              <a:rPr lang="en-US" altLang="en-US">
                <a:sym typeface="黑体" panose="02010609060101010101" charset="-122"/>
              </a:rPr>
              <a:t>→</a:t>
            </a:r>
            <a:r>
              <a:rPr lang="zh-CN" altLang="en-US">
                <a:sym typeface="黑体" panose="02010609060101010101" charset="-122"/>
              </a:rPr>
              <a:t>隐藏）</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lang="en-US" altLang="zh-CN">
                <a:sym typeface="黑体" panose="02010609060101010101" charset="-122"/>
              </a:rPr>
              <a:t>2</a:t>
            </a:r>
            <a:r>
              <a:rPr lang="zh-CN" altLang="en-US">
                <a:sym typeface="黑体" panose="02010609060101010101" charset="-122"/>
              </a:rPr>
              <a:t>、批量归一化层</a:t>
            </a:r>
            <a:r>
              <a:rPr lang="en-US" altLang="zh-CN">
                <a:sym typeface="黑体" panose="02010609060101010101" charset="-122"/>
              </a:rPr>
              <a:t> bn</a:t>
            </a:r>
            <a:r>
              <a:rPr lang="zh-CN" altLang="en-US">
                <a:sym typeface="黑体" panose="02010609060101010101" charset="-122"/>
              </a:rPr>
              <a:t>（标准化隐藏激活）</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lang="en-US" altLang="zh-CN">
                <a:sym typeface="黑体" panose="02010609060101010101" charset="-122"/>
              </a:rPr>
              <a:t>3</a:t>
            </a:r>
            <a:r>
              <a:rPr lang="zh-CN" altLang="en-US">
                <a:sym typeface="黑体" panose="02010609060101010101" charset="-122"/>
              </a:rPr>
              <a:t>、激活函数</a:t>
            </a:r>
            <a:r>
              <a:rPr lang="en-US" altLang="zh-CN">
                <a:sym typeface="黑体" panose="02010609060101010101" charset="-122"/>
              </a:rPr>
              <a:t> Tanh</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lang="en-US" altLang="zh-CN">
                <a:sym typeface="黑体" panose="02010609060101010101" charset="-122"/>
              </a:rPr>
              <a:t>4</a:t>
            </a:r>
            <a:r>
              <a:rPr lang="zh-CN" altLang="en-US">
                <a:sym typeface="黑体" panose="02010609060101010101" charset="-122"/>
              </a:rPr>
              <a:t>、全连接层</a:t>
            </a:r>
            <a:r>
              <a:rPr lang="en-US" altLang="zh-CN">
                <a:sym typeface="黑体" panose="02010609060101010101" charset="-122"/>
              </a:rPr>
              <a:t> output</a:t>
            </a:r>
            <a:r>
              <a:rPr lang="zh-CN" altLang="en-US">
                <a:sym typeface="黑体" panose="02010609060101010101" charset="-122"/>
              </a:rPr>
              <a:t>（隐藏</a:t>
            </a:r>
            <a:r>
              <a:rPr lang="en-US" altLang="en-US">
                <a:sym typeface="黑体" panose="02010609060101010101" charset="-122"/>
              </a:rPr>
              <a:t>→</a:t>
            </a:r>
            <a:r>
              <a:rPr lang="zh-CN" altLang="en-US">
                <a:sym typeface="黑体" panose="02010609060101010101" charset="-122"/>
              </a:rPr>
              <a:t>输出）</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lang="zh-CN" altLang="en-US">
                <a:sym typeface="黑体" panose="02010609060101010101" charset="-122"/>
              </a:rPr>
              <a:t>前向传播：输入</a:t>
            </a:r>
            <a:r>
              <a:rPr lang="en-US" altLang="zh-CN">
                <a:sym typeface="黑体" panose="02010609060101010101" charset="-122"/>
              </a:rPr>
              <a:t> x </a:t>
            </a:r>
            <a:r>
              <a:rPr lang="zh-CN" altLang="en-US">
                <a:sym typeface="黑体" panose="02010609060101010101" charset="-122"/>
              </a:rPr>
              <a:t>经</a:t>
            </a:r>
            <a:r>
              <a:rPr lang="en-US" altLang="zh-CN">
                <a:sym typeface="黑体" panose="02010609060101010101" charset="-122"/>
              </a:rPr>
              <a:t> hidden </a:t>
            </a:r>
            <a:r>
              <a:rPr lang="en-US" altLang="en-US">
                <a:sym typeface="黑体" panose="02010609060101010101" charset="-122"/>
              </a:rPr>
              <a:t>→</a:t>
            </a:r>
            <a:r>
              <a:rPr lang="en-US" altLang="zh-CN">
                <a:sym typeface="黑体" panose="02010609060101010101" charset="-122"/>
              </a:rPr>
              <a:t> bn </a:t>
            </a:r>
            <a:r>
              <a:rPr lang="en-US" altLang="en-US">
                <a:sym typeface="黑体" panose="02010609060101010101" charset="-122"/>
              </a:rPr>
              <a:t>→</a:t>
            </a:r>
            <a:r>
              <a:rPr lang="en-US" altLang="zh-CN">
                <a:sym typeface="黑体" panose="02010609060101010101" charset="-122"/>
              </a:rPr>
              <a:t> Tanh </a:t>
            </a:r>
            <a:r>
              <a:rPr lang="en-US" altLang="en-US">
                <a:sym typeface="黑体" panose="02010609060101010101" charset="-122"/>
              </a:rPr>
              <a:t>→</a:t>
            </a:r>
            <a:r>
              <a:rPr lang="en-US" altLang="zh-CN">
                <a:sym typeface="黑体" panose="02010609060101010101" charset="-122"/>
              </a:rPr>
              <a:t> output</a:t>
            </a:r>
            <a:r>
              <a:rPr lang="zh-CN" altLang="en-US">
                <a:sym typeface="黑体" panose="02010609060101010101" charset="-122"/>
              </a:rPr>
              <a:t>，输出分类分数</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lang="zh-CN" altLang="en-US">
                <a:sym typeface="黑体" panose="02010609060101010101" charset="-122"/>
              </a:rPr>
              <a:t>适用场景：处理多输入特征的简单分类问题。</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Tree>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分类与回归模型</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回归任务</a:t>
            </a:r>
            <a:endParaRPr lang="zh-CN" altLang="en-US" sz="2400" dirty="0"/>
          </a:p>
          <a:p>
            <a:pPr marL="0" indent="0">
              <a:buNone/>
            </a:pPr>
            <a:endParaRPr lang="zh-CN" altLang="en-US" sz="2400" dirty="0"/>
          </a:p>
        </p:txBody>
      </p:sp>
      <p:sp>
        <p:nvSpPr>
          <p:cNvPr id="3" name="文本框 2"/>
          <p:cNvSpPr txBox="1"/>
          <p:nvPr/>
        </p:nvSpPr>
        <p:spPr>
          <a:xfrm>
            <a:off x="523240" y="1513840"/>
            <a:ext cx="8080375" cy="2583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在回归任务中，模型的目标是预测一个连续值，而不是选择类别。</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回归网络：回归的架构与分类网络相似，但最终输出层不同。输出层通常只有一个神经元</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对于单目标回归</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，并且不使用激活函数或者线性激活函数。</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回归损失函数：回归问题常用的损失函数是均方误差</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(mean squared error</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MSE)</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或均方根误差</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(root mean squared error</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RMSE)</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，以及平均绝对误差</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(mean absolute error</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MAE)</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915920" y="4097020"/>
            <a:ext cx="2491740" cy="1771015"/>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971550" y="6182360"/>
                <a:ext cx="7141845" cy="368300"/>
              </a:xfrm>
              <a:prstGeom prst="rect">
                <a:avLst/>
              </a:prstGeom>
            </p:spPr>
            <p:txBody>
              <a:bodyPr wrap="square">
                <a:spAutoFit/>
              </a:bodyPr>
              <a:p>
                <a:r>
                  <a:rPr lang="zh-CN" altLang="en-US">
                    <a:solidFill>
                      <a:srgbClr val="000000"/>
                    </a:solidFill>
                  </a:rPr>
                  <a:t>其中，</a:t>
                </a:r>
                <a14:m>
                  <m:oMath xmlns:m="http://schemas.openxmlformats.org/officeDocument/2006/math">
                    <m:r>
                      <a:rPr lang="en-US" altLang="zh-CN" i="1">
                        <a:solidFill>
                          <a:srgbClr val="000000"/>
                        </a:solidFill>
                        <a:latin typeface="Cambria Math" panose="02040503050406030204" charset="0"/>
                        <a:cs typeface="Cambria Math" panose="02040503050406030204" charset="0"/>
                      </a:rPr>
                      <m:t>𝑁</m:t>
                    </m:r>
                  </m:oMath>
                </a14:m>
                <a:r>
                  <a:rPr lang="zh-CN" altLang="en-US">
                    <a:solidFill>
                      <a:srgbClr val="000000"/>
                    </a:solidFill>
                  </a:rPr>
                  <a:t>是样本数量；</a:t>
                </a:r>
                <a14:m>
                  <m:oMath xmlns:m="http://schemas.openxmlformats.org/officeDocument/2006/math">
                    <m:sSub>
                      <m:sSubPr>
                        <m:ctrlPr>
                          <a:rPr lang="en-US" altLang="zh-CN" i="1">
                            <a:solidFill>
                              <a:srgbClr val="000000"/>
                            </a:solidFill>
                            <a:latin typeface="Cambria Math" panose="02040503050406030204" charset="0"/>
                            <a:cs typeface="Cambria Math" panose="02040503050406030204" charset="0"/>
                          </a:rPr>
                        </m:ctrlPr>
                      </m:sSubPr>
                      <m:e>
                        <m:r>
                          <a:rPr lang="en-US" altLang="zh-CN" i="1">
                            <a:solidFill>
                              <a:srgbClr val="000000"/>
                            </a:solidFill>
                            <a:latin typeface="Cambria Math" panose="02040503050406030204" charset="0"/>
                            <a:cs typeface="Cambria Math" panose="02040503050406030204" charset="0"/>
                          </a:rPr>
                          <m:t>𝑦</m:t>
                        </m:r>
                      </m:e>
                      <m:sub>
                        <m:r>
                          <a:rPr lang="en-US" altLang="zh-CN" i="1">
                            <a:solidFill>
                              <a:srgbClr val="000000"/>
                            </a:solidFill>
                            <a:latin typeface="Cambria Math" panose="02040503050406030204" charset="0"/>
                            <a:cs typeface="Cambria Math" panose="02040503050406030204" charset="0"/>
                          </a:rPr>
                          <m:t>𝑖</m:t>
                        </m:r>
                      </m:sub>
                    </m:sSub>
                  </m:oMath>
                </a14:m>
                <a:r>
                  <a:rPr lang="zh-CN" altLang="en-US">
                    <a:solidFill>
                      <a:srgbClr val="000000"/>
                    </a:solidFill>
                  </a:rPr>
                  <a:t>是真实值； </a:t>
                </a:r>
                <a14:m>
                  <m:oMath xmlns:m="http://schemas.openxmlformats.org/officeDocument/2006/math">
                    <m:sSub>
                      <m:sSubPr>
                        <m:ctrlPr>
                          <a:rPr lang="en-US" altLang="zh-CN" i="1">
                            <a:solidFill>
                              <a:srgbClr val="000000"/>
                            </a:solidFill>
                            <a:latin typeface="Cambria Math" panose="02040503050406030204" charset="0"/>
                            <a:cs typeface="Cambria Math" panose="02040503050406030204" charset="0"/>
                          </a:rPr>
                        </m:ctrlPr>
                      </m:sSubPr>
                      <m:e>
                        <m:acc>
                          <m:accPr>
                            <m:ctrlPr>
                              <a:rPr lang="en-US" altLang="zh-CN" i="1">
                                <a:solidFill>
                                  <a:srgbClr val="000000"/>
                                </a:solidFill>
                                <a:latin typeface="Cambria Math" panose="02040503050406030204" charset="0"/>
                                <a:cs typeface="Cambria Math" panose="02040503050406030204" charset="0"/>
                              </a:rPr>
                            </m:ctrlPr>
                          </m:accPr>
                          <m:e>
                            <m:r>
                              <a:rPr lang="en-US" altLang="zh-CN" i="1">
                                <a:solidFill>
                                  <a:srgbClr val="000000"/>
                                </a:solidFill>
                                <a:latin typeface="Cambria Math" panose="02040503050406030204" charset="0"/>
                                <a:cs typeface="Cambria Math" panose="02040503050406030204" charset="0"/>
                              </a:rPr>
                              <m:t>𝑦</m:t>
                            </m:r>
                          </m:e>
                        </m:acc>
                      </m:e>
                      <m:sub>
                        <m:r>
                          <a:rPr lang="en-US" altLang="zh-CN" i="1">
                            <a:solidFill>
                              <a:srgbClr val="000000"/>
                            </a:solidFill>
                            <a:latin typeface="Cambria Math" panose="02040503050406030204" charset="0"/>
                            <a:cs typeface="Cambria Math" panose="02040503050406030204" charset="0"/>
                          </a:rPr>
                          <m:t>𝑖</m:t>
                        </m:r>
                      </m:sub>
                    </m:sSub>
                  </m:oMath>
                </a14:m>
                <a:r>
                  <a:rPr lang="zh-CN" altLang="en-US">
                    <a:solidFill>
                      <a:srgbClr val="000000"/>
                    </a:solidFill>
                  </a:rPr>
                  <a:t>是预测值。</a:t>
                </a:r>
                <a:endParaRPr lang="zh-CN" altLang="en-US">
                  <a:solidFill>
                    <a:srgbClr val="000000"/>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971550" y="6182360"/>
                <a:ext cx="7141845" cy="36830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ransition spd="me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分类与回归模型</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179705" y="836930"/>
            <a:ext cx="8229600" cy="624840"/>
          </a:xfrm>
          <a:prstGeom prst="rect">
            <a:avLst/>
          </a:prstGeom>
        </p:spPr>
        <p:txBody>
          <a:bodyPr/>
          <a:lstStyle/>
          <a:p>
            <a:r>
              <a:rPr lang="zh-CN" altLang="en-US" sz="2400"/>
              <a:t>一个简单的回归网络示例代码</a:t>
            </a:r>
            <a:r>
              <a:rPr lang="zh-CN" altLang="en-US" sz="2400" dirty="0">
                <a:sym typeface="+mn-ea"/>
              </a:rPr>
              <a:t>：</a:t>
            </a:r>
            <a:endParaRPr lang="zh-CN" altLang="en-US" sz="2400" dirty="0"/>
          </a:p>
        </p:txBody>
      </p:sp>
      <p:sp>
        <p:nvSpPr>
          <p:cNvPr id="5" name="文本框 4"/>
          <p:cNvSpPr txBox="1"/>
          <p:nvPr/>
        </p:nvSpPr>
        <p:spPr>
          <a:xfrm>
            <a:off x="4859655" y="836930"/>
            <a:ext cx="4096385" cy="56851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Regression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类：专为回归任务设计。</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初始化参数：</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n_feature</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：输入特征数</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n_output</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：输出维度</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n_neuron1</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：第一隐藏层神经元数</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n_neuron2</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：后续隐藏层神经元数</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n_layer</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：第二类隐藏层重复次数</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网络结构：</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输入层：</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Linear </a:t>
            </a:r>
            <a:r>
              <a:rPr kumimoji="0" lang="en-US"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BatchNorm </a:t>
            </a:r>
            <a:r>
              <a:rPr kumimoji="0" lang="en-US"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ReLU</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第一类隐藏层：</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Linear </a:t>
            </a:r>
            <a:r>
              <a:rPr kumimoji="0" lang="en-US"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BatchNorm </a:t>
            </a:r>
            <a:r>
              <a:rPr kumimoji="0" lang="en-US"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ReLU</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第二类隐藏层：按</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n_layer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次数重复</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Linear </a:t>
            </a:r>
            <a:r>
              <a:rPr kumimoji="0" lang="en-US"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BatchNorm </a:t>
            </a:r>
            <a:r>
              <a:rPr kumimoji="0" lang="en-US"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ReLU</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a:t>
            </a:r>
            <a:endPar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输出层：</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Linear</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（无激活）</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前向传播：数据经层层线性变换、归一化与</a:t>
            </a:r>
            <a:r>
              <a:rPr kumimoji="0" lang="en-US" altLang="zh-CN"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 ReLU </a:t>
            </a:r>
            <a:r>
              <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rPr>
              <a:t>激活，最终输出连续值，能捕捉复杂非线性关系。</a:t>
            </a:r>
            <a:endParaRPr kumimoji="0" lang="zh-CN" altLang="en-US"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pic>
        <p:nvPicPr>
          <p:cNvPr id="10" name="图片 9"/>
          <p:cNvPicPr>
            <a:picLocks noChangeAspect="1"/>
          </p:cNvPicPr>
          <p:nvPr/>
        </p:nvPicPr>
        <p:blipFill>
          <a:blip r:embed="rId1"/>
          <a:stretch>
            <a:fillRect/>
          </a:stretch>
        </p:blipFill>
        <p:spPr>
          <a:xfrm>
            <a:off x="251460" y="1341120"/>
            <a:ext cx="4435475" cy="2470150"/>
          </a:xfrm>
          <a:prstGeom prst="rect">
            <a:avLst/>
          </a:prstGeom>
        </p:spPr>
      </p:pic>
      <p:pic>
        <p:nvPicPr>
          <p:cNvPr id="11" name="图片 10"/>
          <p:cNvPicPr>
            <a:picLocks noChangeAspect="1"/>
          </p:cNvPicPr>
          <p:nvPr/>
        </p:nvPicPr>
        <p:blipFill>
          <a:blip r:embed="rId2"/>
          <a:stretch>
            <a:fillRect/>
          </a:stretch>
        </p:blipFill>
        <p:spPr>
          <a:xfrm>
            <a:off x="251460" y="3789045"/>
            <a:ext cx="4436110" cy="2870835"/>
          </a:xfrm>
          <a:prstGeom prst="rect">
            <a:avLst/>
          </a:prstGeom>
        </p:spPr>
      </p:pic>
      <p:sp>
        <p:nvSpPr>
          <p:cNvPr id="12" name="矩形 11"/>
          <p:cNvSpPr/>
          <p:nvPr/>
        </p:nvSpPr>
        <p:spPr>
          <a:xfrm>
            <a:off x="251460" y="4221480"/>
            <a:ext cx="4435475" cy="2459355"/>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13" name="矩形 12"/>
          <p:cNvSpPr/>
          <p:nvPr/>
        </p:nvSpPr>
        <p:spPr>
          <a:xfrm>
            <a:off x="828040" y="2565400"/>
            <a:ext cx="3303905" cy="1535430"/>
          </a:xfrm>
          <a:prstGeom prst="rect">
            <a:avLst/>
          </a:prstGeom>
          <a:noFill/>
          <a:ln w="12700" cap="flat">
            <a:solidFill>
              <a:srgbClr val="C00000"/>
            </a:solidFill>
            <a:prstDash val="solid"/>
            <a:round/>
          </a:ln>
          <a:extLst>
            <a:ext uri="{909E8E84-426E-40DD-AFC4-6F175D3DCCD1}">
              <a14:hiddenFill xmlns:a14="http://schemas.microsoft.com/office/drawing/2010/main">
                <a:solidFill>
                  <a:schemeClr val="accent3">
                    <a:lumOff val="44000"/>
                  </a:schemeClr>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endParaRPr>
          </a:p>
        </p:txBody>
      </p:sp>
      <p:cxnSp>
        <p:nvCxnSpPr>
          <p:cNvPr id="14" name="直接连接符 13"/>
          <p:cNvCxnSpPr/>
          <p:nvPr/>
        </p:nvCxnSpPr>
        <p:spPr>
          <a:xfrm>
            <a:off x="4139565" y="3465195"/>
            <a:ext cx="720725" cy="612140"/>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a:off x="3491865" y="5301615"/>
            <a:ext cx="1440180" cy="575945"/>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cxnSp>
        <p:nvCxnSpPr>
          <p:cNvPr id="16" name="直接连接符 15"/>
          <p:cNvCxnSpPr/>
          <p:nvPr/>
        </p:nvCxnSpPr>
        <p:spPr>
          <a:xfrm flipV="1">
            <a:off x="2195830" y="1988820"/>
            <a:ext cx="2592070" cy="72390"/>
          </a:xfrm>
          <a:prstGeom prst="line">
            <a:avLst/>
          </a:prstGeom>
          <a:ln w="12700">
            <a:solidFill>
              <a:srgbClr val="C00000"/>
            </a:solidFill>
          </a:ln>
        </p:spPr>
        <p:style>
          <a:lnRef idx="2">
            <a:schemeClr val="accent1"/>
          </a:lnRef>
          <a:fillRef idx="0">
            <a:srgbClr val="FFFFFF"/>
          </a:fillRef>
          <a:effectRef idx="0">
            <a:srgbClr val="FFFFFF"/>
          </a:effectRef>
          <a:fontRef idx="minor">
            <a:schemeClr val="tx1"/>
          </a:fontRef>
        </p:style>
      </p:cxnSp>
    </p:spTree>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整体损失函数设计</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179705" y="909320"/>
            <a:ext cx="8102600" cy="817245"/>
          </a:xfrm>
          <a:prstGeom prst="rect">
            <a:avLst/>
          </a:prstGeom>
        </p:spPr>
        <p:txBody>
          <a:bodyPr/>
          <a:lstStyle/>
          <a:p>
            <a:r>
              <a:rPr lang="zh-CN" altLang="en-US" sz="2000"/>
              <a:t>为了训练同时进行分类和回归预测任务的模型，需要一个能同时考虑分类损失和回归损失的整体损失函数。</a:t>
            </a:r>
            <a:endParaRPr lang="zh-CN" altLang="en-US" sz="2000"/>
          </a:p>
        </p:txBody>
      </p:sp>
      <p:sp>
        <p:nvSpPr>
          <p:cNvPr id="3" name="文本框 2"/>
          <p:cNvSpPr txBox="1"/>
          <p:nvPr/>
        </p:nvSpPr>
        <p:spPr>
          <a:xfrm>
            <a:off x="395605" y="1726565"/>
            <a:ext cx="8014335"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r>
              <a:rPr lang="zh-CN" altLang="en-US" sz="1600">
                <a:sym typeface="+mn-ea"/>
              </a:rPr>
              <a:t>对于分类任务，常用的损失函数是交叉熵损失，适用于二分类或多分类问题。这种损失函数衡量的是模型预测的概率分布和真实标签的概率分布之间的差异，其公式表示为：</a:t>
            </a:r>
            <a:endParaRPr kumimoji="0" lang="zh-CN" altLang="en-US" sz="16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2" name="图片 1"/>
          <p:cNvPicPr>
            <a:picLocks noChangeAspect="1"/>
          </p:cNvPicPr>
          <p:nvPr/>
        </p:nvPicPr>
        <p:blipFill>
          <a:blip r:embed="rId1"/>
          <a:stretch>
            <a:fillRect/>
          </a:stretch>
        </p:blipFill>
        <p:spPr>
          <a:xfrm>
            <a:off x="2627630" y="2348865"/>
            <a:ext cx="3284220" cy="604520"/>
          </a:xfrm>
          <a:prstGeom prst="rect">
            <a:avLst/>
          </a:prstGeom>
        </p:spPr>
      </p:pic>
      <p:sp>
        <p:nvSpPr>
          <p:cNvPr id="5" name="文本框 4"/>
          <p:cNvSpPr txBox="1"/>
          <p:nvPr/>
        </p:nvSpPr>
        <p:spPr>
          <a:xfrm>
            <a:off x="396240" y="2997200"/>
            <a:ext cx="8013065" cy="896620"/>
          </a:xfrm>
          <a:prstGeom prst="rect">
            <a:avLst/>
          </a:prstGeom>
        </p:spPr>
        <p:txBody>
          <a:bodyPr>
            <a:noAutofit/>
          </a:bodyPr>
          <a:p>
            <a:r>
              <a:rPr lang="zh-CN" altLang="en-US" sz="1600">
                <a:solidFill>
                  <a:srgbClr val="000000"/>
                </a:solidFill>
              </a:rPr>
              <a:t>对于回归任务，常见的损失函数是均方误差，它衡量的是预测值与真实值之差的平方的平均值。这种损失函数对于异常值非常敏感，适用于那些预测精度要求较高的任务，其公式表示为：</a:t>
            </a:r>
            <a:endParaRPr lang="zh-CN" altLang="en-US" sz="1600">
              <a:solidFill>
                <a:srgbClr val="000000"/>
              </a:solidFill>
            </a:endParaRPr>
          </a:p>
        </p:txBody>
      </p:sp>
      <p:pic>
        <p:nvPicPr>
          <p:cNvPr id="6" name="图片 5"/>
          <p:cNvPicPr>
            <a:picLocks noChangeAspect="1"/>
          </p:cNvPicPr>
          <p:nvPr/>
        </p:nvPicPr>
        <p:blipFill>
          <a:blip r:embed="rId2"/>
          <a:stretch>
            <a:fillRect/>
          </a:stretch>
        </p:blipFill>
        <p:spPr>
          <a:xfrm>
            <a:off x="3087370" y="3645535"/>
            <a:ext cx="2037080" cy="598805"/>
          </a:xfrm>
          <a:prstGeom prst="rect">
            <a:avLst/>
          </a:prstGeom>
        </p:spPr>
      </p:pic>
      <p:sp>
        <p:nvSpPr>
          <p:cNvPr id="7" name="文本框 6"/>
          <p:cNvSpPr txBox="1"/>
          <p:nvPr/>
        </p:nvSpPr>
        <p:spPr>
          <a:xfrm>
            <a:off x="396240" y="4293235"/>
            <a:ext cx="7920355" cy="583565"/>
          </a:xfrm>
          <a:prstGeom prst="rect">
            <a:avLst/>
          </a:prstGeom>
        </p:spPr>
        <p:txBody>
          <a:bodyPr wrap="square">
            <a:spAutoFit/>
          </a:bodyPr>
          <a:p>
            <a:r>
              <a:rPr lang="zh-CN" altLang="en-US" sz="1600">
                <a:solidFill>
                  <a:srgbClr val="000000"/>
                </a:solidFill>
              </a:rPr>
              <a:t>为了同时优化分类和回归任务，可以将上述两种损失函数结合起来，形成一个综合的损失函数，可能还需要对每个损失项加上一个权重因子来平衡它们的贡献：</a:t>
            </a:r>
            <a:endParaRPr lang="zh-CN" altLang="en-US" sz="1600">
              <a:solidFill>
                <a:srgbClr val="000000"/>
              </a:solidFill>
            </a:endParaRPr>
          </a:p>
        </p:txBody>
      </p:sp>
      <p:pic>
        <p:nvPicPr>
          <p:cNvPr id="8" name="图片 7"/>
          <p:cNvPicPr>
            <a:picLocks noChangeAspect="1"/>
          </p:cNvPicPr>
          <p:nvPr/>
        </p:nvPicPr>
        <p:blipFill>
          <a:blip r:embed="rId3"/>
          <a:stretch>
            <a:fillRect/>
          </a:stretch>
        </p:blipFill>
        <p:spPr>
          <a:xfrm>
            <a:off x="3136265" y="4876800"/>
            <a:ext cx="1938655" cy="579120"/>
          </a:xfrm>
          <a:prstGeom prst="rect">
            <a:avLst/>
          </a:prstGeom>
        </p:spPr>
      </p:pic>
      <p:sp>
        <p:nvSpPr>
          <p:cNvPr id="9" name="文本框 8"/>
          <p:cNvSpPr txBox="1"/>
          <p:nvPr/>
        </p:nvSpPr>
        <p:spPr>
          <a:xfrm>
            <a:off x="396240" y="5661660"/>
            <a:ext cx="7886065" cy="337185"/>
          </a:xfrm>
          <a:prstGeom prst="rect">
            <a:avLst/>
          </a:prstGeom>
        </p:spPr>
        <p:txBody>
          <a:bodyPr wrap="square">
            <a:spAutoFit/>
          </a:bodyPr>
          <a:p>
            <a:r>
              <a:rPr lang="zh-CN" altLang="en-US" sz="1600">
                <a:solidFill>
                  <a:srgbClr val="000000"/>
                </a:solidFill>
              </a:rPr>
              <a:t>其中，</a:t>
            </a:r>
            <a:r>
              <a:rPr lang="en-US" altLang="zh-CN" sz="1600" i="1">
                <a:solidFill>
                  <a:srgbClr val="000000"/>
                </a:solidFill>
              </a:rPr>
              <a:t>α </a:t>
            </a:r>
            <a:r>
              <a:rPr lang="zh-CN" altLang="en-US" sz="1600">
                <a:solidFill>
                  <a:srgbClr val="000000"/>
                </a:solidFill>
              </a:rPr>
              <a:t>和 </a:t>
            </a:r>
            <a:r>
              <a:rPr lang="en-US" altLang="zh-CN" sz="1600" i="1">
                <a:solidFill>
                  <a:srgbClr val="000000"/>
                </a:solidFill>
              </a:rPr>
              <a:t>β </a:t>
            </a:r>
            <a:r>
              <a:rPr lang="zh-CN" altLang="en-US" sz="1600">
                <a:solidFill>
                  <a:srgbClr val="000000"/>
                </a:solidFill>
              </a:rPr>
              <a:t>是权重因子，用于控制分类损失和回归损失对整体损失的贡献比重。</a:t>
            </a:r>
            <a:endParaRPr lang="zh-CN" altLang="en-US" sz="1600">
              <a:solidFill>
                <a:srgbClr val="000000"/>
              </a:solidFill>
            </a:endParaRPr>
          </a:p>
        </p:txBody>
      </p:sp>
    </p:spTree>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en-US" altLang="zh-CN" dirty="0">
                <a:sym typeface="+mn-ea"/>
              </a:rPr>
              <a:t>3.3 </a:t>
            </a:r>
            <a:r>
              <a:rPr lang="zh-CN" altLang="en-US" dirty="0">
                <a:sym typeface="+mn-ea"/>
              </a:rPr>
              <a:t>系统评测与分析</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dirty="0">
                <a:sym typeface="+mn-ea"/>
              </a:rPr>
              <a:t>（</a:t>
            </a:r>
            <a:r>
              <a:rPr lang="en-US" altLang="zh-CN" sz="2400" dirty="0">
                <a:sym typeface="+mn-ea"/>
              </a:rPr>
              <a:t>1</a:t>
            </a:r>
            <a:r>
              <a:rPr lang="zh-CN" altLang="en-US" sz="2400" dirty="0">
                <a:sym typeface="+mn-ea"/>
              </a:rPr>
              <a:t>）</a:t>
            </a:r>
            <a:r>
              <a:rPr lang="zh-CN" altLang="en-US" sz="2400" dirty="0"/>
              <a:t>评价准则</a:t>
            </a:r>
            <a:endParaRPr lang="zh-CN" altLang="en-US" sz="2400" dirty="0"/>
          </a:p>
          <a:p>
            <a:r>
              <a:rPr lang="zh-CN" altLang="en-US" sz="2400" dirty="0"/>
              <a:t>（</a:t>
            </a:r>
            <a:r>
              <a:rPr lang="en-US" altLang="zh-CN" sz="2400" dirty="0"/>
              <a:t>2</a:t>
            </a:r>
            <a:r>
              <a:rPr lang="zh-CN" altLang="en-US" sz="2400" dirty="0"/>
              <a:t>）模型对比分析</a:t>
            </a:r>
            <a:endParaRPr lang="zh-CN" altLang="en-US" sz="2400" dirty="0"/>
          </a:p>
          <a:p>
            <a:r>
              <a:rPr lang="zh-CN" altLang="en-US" sz="2400" dirty="0"/>
              <a:t>（</a:t>
            </a:r>
            <a:r>
              <a:rPr lang="en-US" altLang="zh-CN" sz="2400" dirty="0"/>
              <a:t>3</a:t>
            </a:r>
            <a:r>
              <a:rPr lang="zh-CN" altLang="en-US" sz="2400" dirty="0"/>
              <a:t>）超参分析</a:t>
            </a:r>
            <a:endParaRPr lang="zh-CN" altLang="en-US" sz="2400" dirty="0"/>
          </a:p>
          <a:p>
            <a:r>
              <a:rPr lang="zh-CN" altLang="en-US" sz="2400" dirty="0"/>
              <a:t>（</a:t>
            </a:r>
            <a:r>
              <a:rPr lang="en-US" altLang="zh-CN" sz="2400" dirty="0"/>
              <a:t>4</a:t>
            </a:r>
            <a:r>
              <a:rPr lang="zh-CN" altLang="en-US" sz="2400" dirty="0"/>
              <a:t>）医学发现与讨论</a:t>
            </a:r>
            <a:endParaRPr lang="zh-CN" altLang="en-US" sz="2400" dirty="0"/>
          </a:p>
        </p:txBody>
      </p:sp>
    </p:spTree>
  </p:cSld>
  <p:clrMapOvr>
    <a:masterClrMapping/>
  </p:clrMapOvr>
  <p:transition spd="me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1</a:t>
            </a:r>
            <a:r>
              <a:rPr lang="zh-CN" altLang="en-US" dirty="0">
                <a:sym typeface="+mn-ea"/>
              </a:rPr>
              <a:t>）评价准则</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本小节介绍常用的医学数据分析模型的评价准则。</a:t>
            </a:r>
            <a:endParaRPr lang="zh-CN" altLang="en-US" sz="2400" dirty="0"/>
          </a:p>
          <a:p>
            <a:pPr marL="0" indent="0">
              <a:buNone/>
            </a:pPr>
            <a:endParaRPr lang="zh-CN" altLang="en-US" sz="2400" dirty="0"/>
          </a:p>
        </p:txBody>
      </p:sp>
      <p:sp>
        <p:nvSpPr>
          <p:cNvPr id="3" name="文本框 2"/>
          <p:cNvSpPr txBox="1"/>
          <p:nvPr/>
        </p:nvSpPr>
        <p:spPr>
          <a:xfrm>
            <a:off x="467995" y="2565400"/>
            <a:ext cx="80803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数值类的评价准则</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曲线类的评价准则</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数值类的评价准则</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数值类的评价准则</a:t>
            </a:r>
            <a:endParaRPr lang="zh-CN" altLang="en-US" sz="2400"/>
          </a:p>
        </p:txBody>
      </p:sp>
      <p:sp>
        <p:nvSpPr>
          <p:cNvPr id="2" name="文本框 1"/>
          <p:cNvSpPr txBox="1"/>
          <p:nvPr/>
        </p:nvSpPr>
        <p:spPr>
          <a:xfrm>
            <a:off x="455930" y="1485265"/>
            <a:ext cx="8230870" cy="4892675"/>
          </a:xfrm>
          <a:prstGeom prst="rect">
            <a:avLst/>
          </a:prstGeom>
        </p:spPr>
        <p:txBody>
          <a:bodyPr wrap="square">
            <a:noAutofit/>
          </a:bodyPr>
          <a:p>
            <a:r>
              <a:rPr lang="en-US" altLang="zh-CN" sz="1600">
                <a:solidFill>
                  <a:srgbClr val="000000"/>
                </a:solidFill>
              </a:rPr>
              <a:t>(1)</a:t>
            </a:r>
            <a:r>
              <a:rPr lang="zh-CN" altLang="en-US" sz="1600">
                <a:solidFill>
                  <a:srgbClr val="000000"/>
                </a:solidFill>
              </a:rPr>
              <a:t>准确度</a:t>
            </a:r>
            <a:r>
              <a:rPr lang="en-US" altLang="zh-CN" sz="1600">
                <a:solidFill>
                  <a:srgbClr val="000000"/>
                </a:solidFill>
              </a:rPr>
              <a:t>(accuracy)</a:t>
            </a:r>
            <a:r>
              <a:rPr lang="zh-CN" altLang="en-US" sz="1600">
                <a:solidFill>
                  <a:srgbClr val="000000"/>
                </a:solidFill>
              </a:rPr>
              <a:t>：最直观的性能指标，它是正确预测的数量与总预测数量的比例，公式：</a:t>
            </a:r>
            <a:endParaRPr lang="zh-CN" altLang="en-US" sz="1600">
              <a:solidFill>
                <a:srgbClr val="000000"/>
              </a:solidFill>
            </a:endParaRPr>
          </a:p>
          <a:p>
            <a:endParaRPr lang="en-US" altLang="zh-CN" sz="1600">
              <a:solidFill>
                <a:srgbClr val="000000"/>
              </a:solidFill>
            </a:endParaRPr>
          </a:p>
          <a:p>
            <a:endParaRPr lang="en-US" altLang="zh-CN" sz="1600">
              <a:solidFill>
                <a:srgbClr val="000000"/>
              </a:solidFill>
            </a:endParaRPr>
          </a:p>
          <a:p>
            <a:r>
              <a:rPr lang="en-US" altLang="zh-CN" sz="1600">
                <a:solidFill>
                  <a:srgbClr val="000000"/>
                </a:solidFill>
              </a:rPr>
              <a:t>(2)</a:t>
            </a:r>
            <a:r>
              <a:rPr lang="zh-CN" altLang="en-US" sz="1600">
                <a:solidFill>
                  <a:srgbClr val="000000"/>
                </a:solidFill>
              </a:rPr>
              <a:t>召回率</a:t>
            </a:r>
            <a:r>
              <a:rPr lang="en-US" altLang="zh-CN" sz="1600">
                <a:solidFill>
                  <a:srgbClr val="000000"/>
                </a:solidFill>
              </a:rPr>
              <a:t>(recall)</a:t>
            </a:r>
            <a:r>
              <a:rPr lang="zh-CN" altLang="en-US" sz="1600">
                <a:solidFill>
                  <a:srgbClr val="000000"/>
                </a:solidFill>
              </a:rPr>
              <a:t>：模型识别出的正类实例占所有实际正类实例的比例。在医学领域，召回率也常被称为灵敏度</a:t>
            </a:r>
            <a:r>
              <a:rPr lang="en-US" altLang="zh-CN" sz="1600">
                <a:solidFill>
                  <a:srgbClr val="000000"/>
                </a:solidFill>
              </a:rPr>
              <a:t>(sensitivity)</a:t>
            </a:r>
            <a:r>
              <a:rPr lang="zh-CN" altLang="en-US" sz="1600">
                <a:solidFill>
                  <a:srgbClr val="000000"/>
                </a:solidFill>
              </a:rPr>
              <a:t>，是检测疾病</a:t>
            </a:r>
            <a:r>
              <a:rPr lang="en-US" altLang="zh-CN" sz="1600">
                <a:solidFill>
                  <a:srgbClr val="000000"/>
                </a:solidFill>
              </a:rPr>
              <a:t>(</a:t>
            </a:r>
            <a:r>
              <a:rPr lang="zh-CN" altLang="en-US" sz="1600">
                <a:solidFill>
                  <a:srgbClr val="000000"/>
                </a:solidFill>
              </a:rPr>
              <a:t>如癌症筛查</a:t>
            </a:r>
            <a:r>
              <a:rPr lang="en-US" altLang="zh-CN" sz="1600">
                <a:solidFill>
                  <a:srgbClr val="000000"/>
                </a:solidFill>
              </a:rPr>
              <a:t>)</a:t>
            </a:r>
            <a:r>
              <a:rPr lang="zh-CN" altLang="en-US" sz="1600">
                <a:solidFill>
                  <a:srgbClr val="000000"/>
                </a:solidFill>
              </a:rPr>
              <a:t>时的一个重要指标。高召回率表明模型能够识别出大部分实际患病的病例，公式：</a:t>
            </a:r>
            <a:endParaRPr lang="zh-CN" altLang="en-US" sz="1600">
              <a:solidFill>
                <a:srgbClr val="000000"/>
              </a:solidFill>
            </a:endParaRPr>
          </a:p>
          <a:p>
            <a:endParaRPr lang="zh-CN" altLang="en-US" sz="1600">
              <a:solidFill>
                <a:srgbClr val="000000"/>
              </a:solidFill>
            </a:endParaRPr>
          </a:p>
          <a:p>
            <a:endParaRPr lang="zh-CN" altLang="en-US" sz="1600">
              <a:solidFill>
                <a:srgbClr val="000000"/>
              </a:solidFill>
            </a:endParaRPr>
          </a:p>
          <a:p>
            <a:endParaRPr lang="zh-CN" altLang="en-US" sz="1600">
              <a:solidFill>
                <a:srgbClr val="000000"/>
              </a:solidFill>
            </a:endParaRPr>
          </a:p>
          <a:p>
            <a:r>
              <a:rPr lang="en-US" altLang="zh-CN" sz="1600">
                <a:solidFill>
                  <a:srgbClr val="000000"/>
                </a:solidFill>
              </a:rPr>
              <a:t>(3)</a:t>
            </a:r>
            <a:r>
              <a:rPr lang="zh-CN" altLang="en-US" sz="1600">
                <a:solidFill>
                  <a:srgbClr val="000000"/>
                </a:solidFill>
              </a:rPr>
              <a:t>特异性</a:t>
            </a:r>
            <a:r>
              <a:rPr lang="en-US" altLang="zh-CN" sz="1600">
                <a:solidFill>
                  <a:srgbClr val="000000"/>
                </a:solidFill>
              </a:rPr>
              <a:t>(specificity)</a:t>
            </a:r>
            <a:r>
              <a:rPr lang="zh-CN" altLang="en-US" sz="1600">
                <a:solidFill>
                  <a:srgbClr val="000000"/>
                </a:solidFill>
              </a:rPr>
              <a:t>：在所有实际为负的样本中，被正确预测为负的比例，公式：</a:t>
            </a:r>
            <a:endParaRPr lang="zh-CN" altLang="en-US" sz="1600">
              <a:solidFill>
                <a:srgbClr val="000000"/>
              </a:solidFill>
            </a:endParaRPr>
          </a:p>
          <a:p>
            <a:r>
              <a:rPr lang="zh-CN" altLang="en-US" sz="1600">
                <a:solidFill>
                  <a:srgbClr val="000000"/>
                </a:solidFill>
              </a:rPr>
              <a:t> </a:t>
            </a:r>
            <a:endParaRPr lang="zh-CN" altLang="en-US" sz="1600">
              <a:solidFill>
                <a:srgbClr val="000000"/>
              </a:solidFill>
            </a:endParaRPr>
          </a:p>
          <a:p>
            <a:endParaRPr lang="zh-CN" altLang="en-US" sz="1600">
              <a:solidFill>
                <a:srgbClr val="000000"/>
              </a:solidFill>
            </a:endParaRPr>
          </a:p>
          <a:p>
            <a:endParaRPr lang="zh-CN" altLang="en-US" sz="1600">
              <a:solidFill>
                <a:srgbClr val="000000"/>
              </a:solidFill>
            </a:endParaRPr>
          </a:p>
          <a:p>
            <a:r>
              <a:rPr lang="en-US" altLang="zh-CN" sz="1600">
                <a:solidFill>
                  <a:srgbClr val="000000"/>
                </a:solidFill>
              </a:rPr>
              <a:t>(4)</a:t>
            </a:r>
            <a:r>
              <a:rPr lang="zh-CN" altLang="en-US" sz="1600">
                <a:solidFill>
                  <a:srgbClr val="000000"/>
                </a:solidFill>
              </a:rPr>
              <a:t>阳性预测值</a:t>
            </a:r>
            <a:r>
              <a:rPr lang="en-US" altLang="zh-CN" sz="1600">
                <a:solidFill>
                  <a:srgbClr val="000000"/>
                </a:solidFill>
              </a:rPr>
              <a:t>(PPV)</a:t>
            </a:r>
            <a:r>
              <a:rPr lang="zh-CN" altLang="en-US" sz="1600">
                <a:solidFill>
                  <a:srgbClr val="000000"/>
                </a:solidFill>
              </a:rPr>
              <a:t>：也被称为精准度</a:t>
            </a:r>
            <a:r>
              <a:rPr lang="en-US" altLang="zh-CN" sz="1600">
                <a:solidFill>
                  <a:srgbClr val="000000"/>
                </a:solidFill>
              </a:rPr>
              <a:t>(precision)</a:t>
            </a:r>
            <a:r>
              <a:rPr lang="zh-CN" altLang="en-US" sz="1600">
                <a:solidFill>
                  <a:srgbClr val="000000"/>
                </a:solidFill>
              </a:rPr>
              <a:t>，衡量的是模型预测为阳性的结果中实际为阳性的比例。</a:t>
            </a:r>
            <a:r>
              <a:rPr lang="en-US" altLang="zh-CN" sz="1600">
                <a:solidFill>
                  <a:srgbClr val="000000"/>
                </a:solidFill>
              </a:rPr>
              <a:t>PPV </a:t>
            </a:r>
            <a:r>
              <a:rPr lang="zh-CN" altLang="en-US" sz="1600">
                <a:solidFill>
                  <a:srgbClr val="000000"/>
                </a:solidFill>
              </a:rPr>
              <a:t>可以帮助了解在所有被标记为阳性的案例中，有多少是真正的阳性。例如，在癌症筛查中，高 </a:t>
            </a:r>
            <a:r>
              <a:rPr lang="en-US" altLang="zh-CN" sz="1600">
                <a:solidFill>
                  <a:srgbClr val="000000"/>
                </a:solidFill>
              </a:rPr>
              <a:t>PPV </a:t>
            </a:r>
            <a:r>
              <a:rPr lang="zh-CN" altLang="en-US" sz="1600">
                <a:solidFill>
                  <a:srgbClr val="000000"/>
                </a:solidFill>
              </a:rPr>
              <a:t>意味着较少的假阳性结果，公式：</a:t>
            </a:r>
            <a:endParaRPr lang="zh-CN" altLang="en-US" sz="1600">
              <a:solidFill>
                <a:srgbClr val="000000"/>
              </a:solidFill>
            </a:endParaRPr>
          </a:p>
        </p:txBody>
      </p:sp>
      <p:pic>
        <p:nvPicPr>
          <p:cNvPr id="5" name="图片 4"/>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3131820" y="1845310"/>
            <a:ext cx="2316480" cy="579755"/>
          </a:xfrm>
          <a:prstGeom prst="rect">
            <a:avLst/>
          </a:prstGeom>
        </p:spPr>
      </p:pic>
      <p:pic>
        <p:nvPicPr>
          <p:cNvPr id="6" name="图片 5"/>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3427730" y="3285490"/>
            <a:ext cx="1386205" cy="564515"/>
          </a:xfrm>
          <a:prstGeom prst="rect">
            <a:avLst/>
          </a:prstGeom>
        </p:spPr>
      </p:pic>
      <p:pic>
        <p:nvPicPr>
          <p:cNvPr id="7" name="图片 6"/>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3275330" y="4293235"/>
            <a:ext cx="1873885" cy="654685"/>
          </a:xfrm>
          <a:prstGeom prst="rect">
            <a:avLst/>
          </a:prstGeom>
        </p:spPr>
      </p:pic>
      <p:pic>
        <p:nvPicPr>
          <p:cNvPr id="8" name="图片 7"/>
          <p:cNvPicPr>
            <a:picLocks noChangeAspect="1"/>
          </p:cNvPicPr>
          <p:nvPr/>
        </p:nvPicPr>
        <p:blipFill>
          <a:blip r:embed="rId4">
            <a:clrChange>
              <a:clrFrom>
                <a:srgbClr val="FFFFFF">
                  <a:alpha val="100000"/>
                </a:srgbClr>
              </a:clrFrom>
              <a:clrTo>
                <a:srgbClr val="FFFFFF">
                  <a:alpha val="100000"/>
                  <a:alpha val="0"/>
                </a:srgbClr>
              </a:clrTo>
            </a:clrChange>
          </a:blip>
          <a:stretch>
            <a:fillRect/>
          </a:stretch>
        </p:blipFill>
        <p:spPr>
          <a:xfrm>
            <a:off x="3326130" y="5805170"/>
            <a:ext cx="1560830" cy="932180"/>
          </a:xfrm>
          <a:prstGeom prst="rect">
            <a:avLst/>
          </a:prstGeom>
        </p:spPr>
      </p:pic>
    </p:spTree>
  </p:cSld>
  <p:clrMapOvr>
    <a:masterClrMapping/>
  </p:clrMapOvr>
  <p:transition spd="me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数值类的评价准则</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数值类的评价准则</a:t>
            </a:r>
            <a:endParaRPr lang="zh-CN" altLang="en-US" sz="2400"/>
          </a:p>
        </p:txBody>
      </p:sp>
      <p:sp>
        <p:nvSpPr>
          <p:cNvPr id="2" name="文本框 1"/>
          <p:cNvSpPr txBox="1"/>
          <p:nvPr/>
        </p:nvSpPr>
        <p:spPr>
          <a:xfrm>
            <a:off x="455930" y="1628775"/>
            <a:ext cx="8230870" cy="4892675"/>
          </a:xfrm>
          <a:prstGeom prst="rect">
            <a:avLst/>
          </a:prstGeom>
        </p:spPr>
        <p:txBody>
          <a:bodyPr wrap="square">
            <a:noAutofit/>
          </a:bodyPr>
          <a:p>
            <a:r>
              <a:rPr lang="en-US" altLang="zh-CN" sz="2000">
                <a:solidFill>
                  <a:srgbClr val="000000"/>
                </a:solidFill>
              </a:rPr>
              <a:t>(5)</a:t>
            </a:r>
            <a:r>
              <a:rPr lang="zh-CN" altLang="en-US" sz="2000">
                <a:solidFill>
                  <a:srgbClr val="000000"/>
                </a:solidFill>
              </a:rPr>
              <a:t>阴性预测值</a:t>
            </a:r>
            <a:r>
              <a:rPr lang="en-US" altLang="zh-CN" sz="2000">
                <a:solidFill>
                  <a:srgbClr val="000000"/>
                </a:solidFill>
              </a:rPr>
              <a:t> (NPV)</a:t>
            </a:r>
            <a:r>
              <a:rPr lang="zh-CN" altLang="en-US" sz="2000">
                <a:solidFill>
                  <a:srgbClr val="000000"/>
                </a:solidFill>
              </a:rPr>
              <a:t>：预测为阴性样本中实际阴性的比例，常用于疾病筛查以降低假阴性风险。公式：</a:t>
            </a:r>
            <a:endParaRPr lang="zh-CN" altLang="en-US" sz="2000">
              <a:solidFill>
                <a:srgbClr val="000000"/>
              </a:solidFill>
            </a:endParaRPr>
          </a:p>
          <a:p>
            <a:endParaRPr lang="zh-CN" altLang="en-US" sz="2000">
              <a:solidFill>
                <a:srgbClr val="000000"/>
              </a:solidFill>
            </a:endParaRPr>
          </a:p>
          <a:p>
            <a:endParaRPr lang="zh-CN" altLang="en-US" sz="2000">
              <a:solidFill>
                <a:srgbClr val="000000"/>
              </a:solidFill>
            </a:endParaRPr>
          </a:p>
          <a:p>
            <a:endParaRPr lang="zh-CN" altLang="en-US" sz="2000">
              <a:solidFill>
                <a:srgbClr val="000000"/>
              </a:solidFill>
            </a:endParaRPr>
          </a:p>
          <a:p>
            <a:endParaRPr lang="zh-CN" altLang="en-US" sz="2000">
              <a:solidFill>
                <a:srgbClr val="000000"/>
              </a:solidFill>
            </a:endParaRPr>
          </a:p>
          <a:p>
            <a:endParaRPr lang="zh-CN" altLang="en-US" sz="2000">
              <a:solidFill>
                <a:srgbClr val="000000"/>
              </a:solidFill>
            </a:endParaRPr>
          </a:p>
          <a:p>
            <a:r>
              <a:rPr lang="en-US" altLang="zh-CN" sz="2000">
                <a:solidFill>
                  <a:srgbClr val="000000"/>
                </a:solidFill>
              </a:rPr>
              <a:t>(6)F2 </a:t>
            </a:r>
            <a:r>
              <a:rPr lang="zh-CN" altLang="en-US" sz="2000">
                <a:solidFill>
                  <a:srgbClr val="000000"/>
                </a:solidFill>
              </a:rPr>
              <a:t>分数</a:t>
            </a:r>
            <a:r>
              <a:rPr lang="en-US" altLang="zh-CN" sz="2000">
                <a:solidFill>
                  <a:srgbClr val="000000"/>
                </a:solidFill>
              </a:rPr>
              <a:t>(F2-score)</a:t>
            </a:r>
            <a:r>
              <a:rPr lang="zh-CN" altLang="en-US" sz="2000">
                <a:solidFill>
                  <a:srgbClr val="000000"/>
                </a:solidFill>
              </a:rPr>
              <a:t>：</a:t>
            </a:r>
            <a:r>
              <a:rPr lang="en-US" altLang="zh-CN" sz="2000">
                <a:solidFill>
                  <a:srgbClr val="000000"/>
                </a:solidFill>
              </a:rPr>
              <a:t>F-score</a:t>
            </a:r>
            <a:r>
              <a:rPr lang="zh-CN" altLang="en-US" sz="2000">
                <a:solidFill>
                  <a:srgbClr val="000000"/>
                </a:solidFill>
              </a:rPr>
              <a:t>的变体，</a:t>
            </a:r>
            <a:r>
              <a:rPr lang="en-US" altLang="zh-CN" sz="2000">
                <a:sym typeface="+mn-ea"/>
              </a:rPr>
              <a:t>F-score </a:t>
            </a:r>
            <a:r>
              <a:rPr lang="zh-CN" altLang="en-US" sz="2000">
                <a:sym typeface="+mn-ea"/>
              </a:rPr>
              <a:t>是一种综合考虑精准度和召回率的度量，它是这两个值的调和平均。</a:t>
            </a:r>
            <a:r>
              <a:rPr lang="en-US" altLang="zh-CN" sz="2000">
                <a:sym typeface="+mn-ea"/>
              </a:rPr>
              <a:t>F2 </a:t>
            </a:r>
            <a:r>
              <a:rPr lang="zh-CN" altLang="en-US" sz="2000">
                <a:solidFill>
                  <a:srgbClr val="000000"/>
                </a:solidFill>
              </a:rPr>
              <a:t>较</a:t>
            </a:r>
            <a:r>
              <a:rPr lang="en-US" altLang="zh-CN" sz="2000">
                <a:solidFill>
                  <a:srgbClr val="000000"/>
                </a:solidFill>
              </a:rPr>
              <a:t> F1</a:t>
            </a:r>
            <a:r>
              <a:rPr lang="zh-CN" altLang="en-US" sz="2000">
                <a:solidFill>
                  <a:srgbClr val="000000"/>
                </a:solidFill>
              </a:rPr>
              <a:t>更侧重召回率，适用于须优先降低漏检的场景。公式：</a:t>
            </a:r>
            <a:endParaRPr lang="zh-CN" altLang="en-US" sz="2000">
              <a:solidFill>
                <a:srgbClr val="000000"/>
              </a:solidFill>
            </a:endParaRPr>
          </a:p>
          <a:p>
            <a:endParaRPr lang="en-US" altLang="zh-CN" sz="2000">
              <a:solidFill>
                <a:srgbClr val="000000"/>
              </a:solidFill>
            </a:endParaRPr>
          </a:p>
          <a:p>
            <a:endParaRPr lang="zh-CN" altLang="en-US" sz="2000">
              <a:solidFill>
                <a:srgbClr val="000000"/>
              </a:solidFill>
            </a:endParaRPr>
          </a:p>
        </p:txBody>
      </p:sp>
      <p:pic>
        <p:nvPicPr>
          <p:cNvPr id="3" name="图片 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378710" y="4869180"/>
            <a:ext cx="3938905" cy="857250"/>
          </a:xfrm>
          <a:prstGeom prst="rect">
            <a:avLst/>
          </a:prstGeom>
        </p:spPr>
      </p:pic>
      <p:pic>
        <p:nvPicPr>
          <p:cNvPr id="4" name="图片 3"/>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3491865" y="2708910"/>
            <a:ext cx="1713230" cy="614045"/>
          </a:xfrm>
          <a:prstGeom prst="rect">
            <a:avLst/>
          </a:prstGeom>
        </p:spPr>
      </p:pic>
    </p:spTree>
  </p:cSld>
  <p:clrMapOvr>
    <a:masterClrMapping/>
  </p:clrMapOvr>
  <p:transition spd="me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曲线类的评价准则</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lstStyle/>
          <a:p>
            <a:r>
              <a:rPr lang="zh-CN" altLang="en-US" sz="2400"/>
              <a:t>曲线类的评价准则</a:t>
            </a:r>
            <a:endParaRPr lang="zh-CN" altLang="en-US" sz="2400" dirty="0"/>
          </a:p>
        </p:txBody>
      </p:sp>
      <p:sp>
        <p:nvSpPr>
          <p:cNvPr id="2" name="文本框 1"/>
          <p:cNvSpPr txBox="1"/>
          <p:nvPr/>
        </p:nvSpPr>
        <p:spPr>
          <a:xfrm>
            <a:off x="539750" y="1628775"/>
            <a:ext cx="7935595" cy="3138170"/>
          </a:xfrm>
          <a:prstGeom prst="rect">
            <a:avLst/>
          </a:prstGeom>
        </p:spPr>
        <p:txBody>
          <a:bodyPr wrap="square">
            <a:spAutoFit/>
          </a:bodyPr>
          <a:p>
            <a:r>
              <a:rPr lang="en-US" altLang="zh-CN">
                <a:solidFill>
                  <a:srgbClr val="000000"/>
                </a:solidFill>
              </a:rPr>
              <a:t>(1)ROC </a:t>
            </a:r>
            <a:r>
              <a:rPr lang="zh-CN" altLang="en-US">
                <a:solidFill>
                  <a:srgbClr val="000000"/>
                </a:solidFill>
              </a:rPr>
              <a:t>曲线：</a:t>
            </a:r>
            <a:r>
              <a:rPr lang="en-US" altLang="zh-CN">
                <a:solidFill>
                  <a:srgbClr val="000000"/>
                </a:solidFill>
              </a:rPr>
              <a:t>ROC </a:t>
            </a:r>
            <a:r>
              <a:rPr lang="zh-CN" altLang="en-US">
                <a:solidFill>
                  <a:srgbClr val="000000"/>
                </a:solidFill>
              </a:rPr>
              <a:t>曲线是一种图形化工具，用于展示在不同阈值设置下模型性能的变化。</a:t>
            </a:r>
            <a:r>
              <a:rPr lang="en-US" altLang="zh-CN">
                <a:solidFill>
                  <a:srgbClr val="000000"/>
                </a:solidFill>
              </a:rPr>
              <a:t>ROC </a:t>
            </a:r>
            <a:r>
              <a:rPr lang="zh-CN" altLang="en-US">
                <a:solidFill>
                  <a:srgbClr val="000000"/>
                </a:solidFill>
              </a:rPr>
              <a:t>曲线横轴为“特异性</a:t>
            </a:r>
            <a:r>
              <a:rPr lang="en-US" altLang="zh-CN">
                <a:solidFill>
                  <a:srgbClr val="000000"/>
                </a:solidFill>
              </a:rPr>
              <a:t>(</a:t>
            </a:r>
            <a:r>
              <a:rPr lang="zh-CN" altLang="en-US">
                <a:solidFill>
                  <a:srgbClr val="000000"/>
                </a:solidFill>
              </a:rPr>
              <a:t>假正率 </a:t>
            </a:r>
            <a:r>
              <a:rPr lang="en-US" altLang="zh-CN">
                <a:solidFill>
                  <a:srgbClr val="000000"/>
                </a:solidFill>
              </a:rPr>
              <a:t>FPR)”</a:t>
            </a:r>
            <a:r>
              <a:rPr lang="zh-CN" altLang="en-US">
                <a:solidFill>
                  <a:srgbClr val="000000"/>
                </a:solidFill>
              </a:rPr>
              <a:t>，纵轴为“灵敏度</a:t>
            </a:r>
            <a:r>
              <a:rPr lang="en-US" altLang="zh-CN">
                <a:solidFill>
                  <a:srgbClr val="000000"/>
                </a:solidFill>
              </a:rPr>
              <a:t>(</a:t>
            </a:r>
            <a:r>
              <a:rPr lang="zh-CN" altLang="en-US">
                <a:solidFill>
                  <a:srgbClr val="000000"/>
                </a:solidFill>
              </a:rPr>
              <a:t>真正率 </a:t>
            </a:r>
            <a:r>
              <a:rPr lang="en-US" altLang="zh-CN">
                <a:solidFill>
                  <a:srgbClr val="000000"/>
                </a:solidFill>
              </a:rPr>
              <a:t>TPR)”</a:t>
            </a:r>
            <a:r>
              <a:rPr lang="zh-CN" altLang="en-US">
                <a:solidFill>
                  <a:srgbClr val="000000"/>
                </a:solidFill>
              </a:rPr>
              <a:t>，其计算公式为：</a:t>
            </a:r>
            <a:endParaRPr lang="zh-CN" altLang="en-US">
              <a:solidFill>
                <a:srgbClr val="000000"/>
              </a:solidFill>
            </a:endParaRPr>
          </a:p>
          <a:p>
            <a:endParaRPr lang="zh-CN" altLang="en-US">
              <a:solidFill>
                <a:srgbClr val="000000"/>
              </a:solidFill>
            </a:endParaRPr>
          </a:p>
          <a:p>
            <a:endParaRPr lang="zh-CN" altLang="en-US">
              <a:solidFill>
                <a:srgbClr val="000000"/>
              </a:solidFill>
            </a:endParaRPr>
          </a:p>
          <a:p>
            <a:r>
              <a:rPr lang="en-US" altLang="zh-CN">
                <a:solidFill>
                  <a:srgbClr val="000000"/>
                </a:solidFill>
              </a:rPr>
              <a:t> </a:t>
            </a:r>
            <a:endParaRPr lang="en-US" altLang="zh-CN">
              <a:solidFill>
                <a:srgbClr val="000000"/>
              </a:solidFill>
            </a:endParaRPr>
          </a:p>
          <a:p>
            <a:endParaRPr lang="en-US" altLang="zh-CN">
              <a:solidFill>
                <a:srgbClr val="000000"/>
              </a:solidFill>
            </a:endParaRPr>
          </a:p>
          <a:p>
            <a:r>
              <a:rPr lang="en-US" altLang="zh-CN">
                <a:solidFill>
                  <a:srgbClr val="000000"/>
                </a:solidFill>
              </a:rPr>
              <a:t>(2)AUC </a:t>
            </a:r>
            <a:r>
              <a:rPr lang="zh-CN" altLang="en-US">
                <a:solidFill>
                  <a:srgbClr val="000000"/>
                </a:solidFill>
              </a:rPr>
              <a:t>值：</a:t>
            </a:r>
            <a:r>
              <a:rPr lang="en-US" altLang="zh-CN">
                <a:solidFill>
                  <a:srgbClr val="000000"/>
                </a:solidFill>
              </a:rPr>
              <a:t>AUC </a:t>
            </a:r>
            <a:r>
              <a:rPr lang="zh-CN" altLang="en-US">
                <a:solidFill>
                  <a:srgbClr val="000000"/>
                </a:solidFill>
              </a:rPr>
              <a:t>值衡量的是 </a:t>
            </a:r>
            <a:r>
              <a:rPr lang="en-US" altLang="zh-CN">
                <a:solidFill>
                  <a:srgbClr val="000000"/>
                </a:solidFill>
              </a:rPr>
              <a:t>ROC </a:t>
            </a:r>
            <a:r>
              <a:rPr lang="zh-CN" altLang="en-US">
                <a:solidFill>
                  <a:srgbClr val="000000"/>
                </a:solidFill>
              </a:rPr>
              <a:t>曲线下的面积，范围为 </a:t>
            </a:r>
            <a:r>
              <a:rPr lang="en-US" altLang="zh-CN">
                <a:solidFill>
                  <a:srgbClr val="000000"/>
                </a:solidFill>
              </a:rPr>
              <a:t>0</a:t>
            </a:r>
            <a:r>
              <a:rPr lang="zh-CN" altLang="en-US">
                <a:solidFill>
                  <a:srgbClr val="000000"/>
                </a:solidFill>
              </a:rPr>
              <a:t>～</a:t>
            </a:r>
            <a:r>
              <a:rPr lang="en-US" altLang="zh-CN">
                <a:solidFill>
                  <a:srgbClr val="000000"/>
                </a:solidFill>
              </a:rPr>
              <a:t>1</a:t>
            </a:r>
            <a:r>
              <a:rPr lang="zh-CN" altLang="en-US">
                <a:solidFill>
                  <a:srgbClr val="000000"/>
                </a:solidFill>
              </a:rPr>
              <a:t>。</a:t>
            </a:r>
            <a:r>
              <a:rPr lang="en-US" altLang="zh-CN">
                <a:solidFill>
                  <a:srgbClr val="000000"/>
                </a:solidFill>
              </a:rPr>
              <a:t>AUC </a:t>
            </a:r>
            <a:r>
              <a:rPr lang="zh-CN" altLang="en-US">
                <a:solidFill>
                  <a:srgbClr val="000000"/>
                </a:solidFill>
              </a:rPr>
              <a:t>值越高，模型的分类性能越好。</a:t>
            </a:r>
            <a:r>
              <a:rPr lang="en-US" altLang="zh-CN">
                <a:solidFill>
                  <a:srgbClr val="000000"/>
                </a:solidFill>
              </a:rPr>
              <a:t>AUC </a:t>
            </a:r>
            <a:r>
              <a:rPr lang="zh-CN" altLang="en-US">
                <a:solidFill>
                  <a:srgbClr val="000000"/>
                </a:solidFill>
              </a:rPr>
              <a:t>值为 </a:t>
            </a:r>
            <a:r>
              <a:rPr lang="en-US" altLang="zh-CN">
                <a:solidFill>
                  <a:srgbClr val="000000"/>
                </a:solidFill>
              </a:rPr>
              <a:t>0.5 </a:t>
            </a:r>
            <a:r>
              <a:rPr lang="zh-CN" altLang="en-US">
                <a:solidFill>
                  <a:srgbClr val="000000"/>
                </a:solidFill>
              </a:rPr>
              <a:t>意味着模型没有区分能力，等同于随机猜测；而 </a:t>
            </a:r>
            <a:r>
              <a:rPr lang="en-US" altLang="zh-CN">
                <a:solidFill>
                  <a:srgbClr val="000000"/>
                </a:solidFill>
              </a:rPr>
              <a:t>AUC </a:t>
            </a:r>
            <a:r>
              <a:rPr lang="zh-CN" altLang="en-US">
                <a:solidFill>
                  <a:srgbClr val="000000"/>
                </a:solidFill>
              </a:rPr>
              <a:t>值为 </a:t>
            </a:r>
            <a:r>
              <a:rPr lang="en-US" altLang="zh-CN">
                <a:solidFill>
                  <a:srgbClr val="000000"/>
                </a:solidFill>
              </a:rPr>
              <a:t>1 </a:t>
            </a:r>
            <a:r>
              <a:rPr lang="zh-CN" altLang="en-US">
                <a:solidFill>
                  <a:srgbClr val="000000"/>
                </a:solidFill>
              </a:rPr>
              <a:t>则意味着模型在所有阈值下都能完美区分正类和负类。</a:t>
            </a:r>
            <a:endParaRPr lang="zh-CN" altLang="en-US">
              <a:solidFill>
                <a:srgbClr val="000000"/>
              </a:solidFill>
            </a:endParaRPr>
          </a:p>
        </p:txBody>
      </p:sp>
      <p:pic>
        <p:nvPicPr>
          <p:cNvPr id="5" name="图片 4"/>
          <p:cNvPicPr>
            <a:picLocks noChangeAspect="1"/>
          </p:cNvPicPr>
          <p:nvPr/>
        </p:nvPicPr>
        <p:blipFill>
          <a:blip r:embed="rId1">
            <a:clrChange>
              <a:clrFrom>
                <a:srgbClr val="FFFFFF">
                  <a:alpha val="100000"/>
                </a:srgbClr>
              </a:clrFrom>
              <a:clrTo>
                <a:srgbClr val="FFFFFF">
                  <a:alpha val="100000"/>
                  <a:alpha val="0"/>
                </a:srgbClr>
              </a:clrTo>
            </a:clrChange>
          </a:blip>
          <a:srcRect t="16841" b="5946"/>
          <a:stretch>
            <a:fillRect/>
          </a:stretch>
        </p:blipFill>
        <p:spPr>
          <a:xfrm>
            <a:off x="3695065" y="2348865"/>
            <a:ext cx="1864995" cy="1080135"/>
          </a:xfrm>
          <a:prstGeom prst="rect">
            <a:avLst/>
          </a:prstGeom>
        </p:spPr>
      </p:pic>
      <p:pic>
        <p:nvPicPr>
          <p:cNvPr id="8" name="图片 7"/>
          <p:cNvPicPr>
            <a:picLocks noChangeAspect="1"/>
          </p:cNvPicPr>
          <p:nvPr/>
        </p:nvPicPr>
        <p:blipFill>
          <a:blip r:embed="rId2">
            <a:clrChange>
              <a:clrFrom>
                <a:srgbClr val="FFFFFF">
                  <a:alpha val="100000"/>
                </a:srgbClr>
              </a:clrFrom>
              <a:clrTo>
                <a:srgbClr val="FFFFFF">
                  <a:alpha val="100000"/>
                  <a:alpha val="0"/>
                </a:srgbClr>
              </a:clrTo>
            </a:clrChange>
          </a:blip>
          <a:srcRect l="1613" r="1613"/>
          <a:stretch>
            <a:fillRect/>
          </a:stretch>
        </p:blipFill>
        <p:spPr>
          <a:xfrm>
            <a:off x="3420110" y="4509135"/>
            <a:ext cx="2175510" cy="2207895"/>
          </a:xfrm>
          <a:prstGeom prst="rect">
            <a:avLst/>
          </a:prstGeom>
        </p:spPr>
      </p:pic>
    </p:spTree>
  </p:cSld>
  <p:clrMapOvr>
    <a:masterClrMapping/>
  </p:clrMapOvr>
  <p:transition spd="me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2</a:t>
            </a:r>
            <a:r>
              <a:rPr lang="zh-CN" altLang="en-US" dirty="0">
                <a:sym typeface="+mn-ea"/>
              </a:rPr>
              <a:t>）模型对比分析</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lnSpcReduction="10000"/>
          </a:bodyPr>
          <a:lstStyle/>
          <a:p>
            <a:r>
              <a:rPr lang="zh-CN" altLang="en-US" sz="2400" dirty="0"/>
              <a:t>为了阐明多模态模型的基本机制并理解不同模态对于模型预测能力的贡献，以下是以</a:t>
            </a:r>
            <a:r>
              <a:rPr lang="en-US" altLang="zh-CN" sz="2400" dirty="0"/>
              <a:t> KM3T </a:t>
            </a:r>
            <a:r>
              <a:rPr lang="zh-CN" altLang="en-US" sz="2400" dirty="0"/>
              <a:t>作为基线模型而设计的模型对比实验过程。</a:t>
            </a:r>
            <a:endParaRPr lang="zh-CN" altLang="en-US" sz="2400" dirty="0"/>
          </a:p>
        </p:txBody>
      </p:sp>
      <p:sp>
        <p:nvSpPr>
          <p:cNvPr id="3" name="文本框 2"/>
          <p:cNvSpPr txBox="1"/>
          <p:nvPr/>
        </p:nvSpPr>
        <p:spPr>
          <a:xfrm>
            <a:off x="523240" y="3092450"/>
            <a:ext cx="80803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模态组合实验设置</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实验结果分析</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模态组合实验设置</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909003"/>
            <a:ext cx="8229600" cy="3272333"/>
          </a:xfrm>
          <a:prstGeom prst="rect">
            <a:avLst/>
          </a:prstGeom>
        </p:spPr>
        <p:txBody>
          <a:bodyPr>
            <a:normAutofit/>
          </a:bodyPr>
          <a:lstStyle/>
          <a:p>
            <a:r>
              <a:rPr lang="en-US" altLang="zh-CN" sz="2000"/>
              <a:t>(1)</a:t>
            </a:r>
            <a:r>
              <a:rPr lang="zh-CN" altLang="en-US" sz="2000"/>
              <a:t>完整模型性能评估：三模态输入，</a:t>
            </a:r>
            <a:r>
              <a:rPr lang="en-US" altLang="zh-CN" sz="2000"/>
              <a:t>10 </a:t>
            </a:r>
            <a:r>
              <a:rPr lang="zh-CN" altLang="en-US" sz="2000"/>
              <a:t>次迭代计算</a:t>
            </a:r>
            <a:r>
              <a:rPr lang="en-US" altLang="zh-CN" sz="2000"/>
              <a:t> AUC</a:t>
            </a:r>
            <a:r>
              <a:rPr lang="zh-CN" altLang="en-US" sz="2000"/>
              <a:t>、敏感性、特异性</a:t>
            </a:r>
            <a:r>
              <a:rPr lang="en-US" altLang="zh-CN" sz="2000"/>
              <a:t> </a:t>
            </a:r>
            <a:r>
              <a:rPr lang="zh-CN" altLang="en-US" sz="2000"/>
              <a:t>等指标，报告均值及</a:t>
            </a:r>
            <a:r>
              <a:rPr lang="en-US" altLang="zh-CN" sz="2000"/>
              <a:t> 95% </a:t>
            </a:r>
            <a:r>
              <a:rPr lang="zh-CN" altLang="en-US" sz="2000"/>
              <a:t>置信区间，以评估性能稳定性与不确定性。</a:t>
            </a:r>
            <a:endParaRPr lang="zh-CN" altLang="en-US" sz="2000"/>
          </a:p>
          <a:p>
            <a:endParaRPr lang="en-US" altLang="zh-CN" sz="2000"/>
          </a:p>
          <a:p>
            <a:r>
              <a:rPr lang="en-US" altLang="zh-CN" sz="2000"/>
              <a:t>(2)</a:t>
            </a:r>
            <a:r>
              <a:rPr lang="zh-CN" altLang="en-US" sz="2000"/>
              <a:t>单模态消融：逐一仅保留单一模态（如文本报告），关闭融合模块并调整网络接口，使用该模态特征训练评估（化验指标不含知识图谱），其他模态同理。</a:t>
            </a:r>
            <a:endParaRPr lang="zh-CN" altLang="en-US" sz="2000"/>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835785" y="3645535"/>
            <a:ext cx="5405120" cy="2996565"/>
          </a:xfrm>
          <a:prstGeom prst="rect">
            <a:avLst/>
          </a:prstGeom>
        </p:spPr>
      </p:pic>
    </p:spTree>
  </p:cSld>
  <p:clrMapOvr>
    <a:masterClrMapping/>
  </p:clrMapOvr>
  <p:transition spd="me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模态组合实验设置</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909003"/>
            <a:ext cx="8229600" cy="3272333"/>
          </a:xfrm>
          <a:prstGeom prst="rect">
            <a:avLst/>
          </a:prstGeom>
        </p:spPr>
        <p:txBody>
          <a:bodyPr>
            <a:noAutofit/>
          </a:bodyPr>
          <a:lstStyle/>
          <a:p>
            <a:r>
              <a:rPr lang="en-US" altLang="zh-CN" sz="2000"/>
              <a:t>(3)</a:t>
            </a:r>
            <a:r>
              <a:rPr lang="zh-CN" altLang="en-US" sz="2000"/>
              <a:t>双模态组合实验：选取两种模态（如</a:t>
            </a:r>
            <a:r>
              <a:rPr lang="en-US" altLang="zh-CN" sz="2000"/>
              <a:t> CT </a:t>
            </a:r>
            <a:r>
              <a:rPr lang="zh-CN" altLang="en-US" sz="2000"/>
              <a:t>影像</a:t>
            </a:r>
            <a:r>
              <a:rPr lang="en-US" altLang="zh-CN" sz="2000"/>
              <a:t> + </a:t>
            </a:r>
            <a:r>
              <a:rPr lang="zh-CN" altLang="en-US" sz="2000"/>
              <a:t>文本报告</a:t>
            </a:r>
            <a:r>
              <a:rPr lang="en-US" altLang="zh-CN" sz="2000"/>
              <a:t> </a:t>
            </a:r>
            <a:r>
              <a:rPr lang="zh-CN" altLang="en-US" sz="2000"/>
              <a:t>或</a:t>
            </a:r>
            <a:r>
              <a:rPr lang="en-US" altLang="zh-CN" sz="2000"/>
              <a:t> </a:t>
            </a:r>
            <a:r>
              <a:rPr lang="zh-CN" altLang="en-US" sz="2000"/>
              <a:t>报告</a:t>
            </a:r>
            <a:r>
              <a:rPr lang="en-US" altLang="zh-CN" sz="2000"/>
              <a:t> + </a:t>
            </a:r>
            <a:r>
              <a:rPr lang="zh-CN" altLang="en-US" sz="2000"/>
              <a:t>化验指标），将多模态融合模块简化为双输入，调整分类</a:t>
            </a:r>
            <a:r>
              <a:rPr lang="en-US" altLang="zh-CN" sz="2000"/>
              <a:t>/</a:t>
            </a:r>
            <a:r>
              <a:rPr lang="zh-CN" altLang="en-US" sz="2000"/>
              <a:t>回归网络接口，使其以两个模态的融合特征向量为输入，分别评估</a:t>
            </a:r>
            <a:r>
              <a:rPr lang="en-US" altLang="zh-CN" sz="2000"/>
              <a:t> AUC </a:t>
            </a:r>
            <a:r>
              <a:rPr lang="zh-CN" altLang="en-US" sz="2000"/>
              <a:t>和</a:t>
            </a:r>
            <a:r>
              <a:rPr lang="en-US" altLang="zh-CN" sz="2000"/>
              <a:t> c-index</a:t>
            </a:r>
            <a:r>
              <a:rPr lang="zh-CN" altLang="en-US" sz="2000"/>
              <a:t>。</a:t>
            </a:r>
            <a:endParaRPr lang="zh-CN" altLang="en-US" sz="2000"/>
          </a:p>
          <a:p>
            <a:r>
              <a:rPr lang="en-US" altLang="zh-CN" sz="2000"/>
              <a:t>(4)</a:t>
            </a:r>
            <a:r>
              <a:rPr lang="zh-CN" altLang="en-US" sz="2000"/>
              <a:t>无知识图谱多模态实验：在三模态（影像</a:t>
            </a:r>
            <a:r>
              <a:rPr lang="en-US" altLang="zh-CN" sz="2000"/>
              <a:t> + </a:t>
            </a:r>
            <a:r>
              <a:rPr lang="zh-CN" altLang="en-US" sz="2000"/>
              <a:t>报告</a:t>
            </a:r>
            <a:r>
              <a:rPr lang="en-US" altLang="zh-CN" sz="2000"/>
              <a:t> + </a:t>
            </a:r>
            <a:r>
              <a:rPr lang="zh-CN" altLang="en-US" sz="2000"/>
              <a:t>指标）组合下训练，但去除知识图谱信息；需修改化验指标特征提取网络及相应接口参数，然后评估模型的</a:t>
            </a:r>
            <a:r>
              <a:rPr lang="en-US" altLang="zh-CN" sz="2000"/>
              <a:t> AUC </a:t>
            </a:r>
            <a:r>
              <a:rPr lang="zh-CN" altLang="en-US" sz="2000"/>
              <a:t>和</a:t>
            </a:r>
            <a:r>
              <a:rPr lang="en-US" altLang="zh-CN" sz="2000"/>
              <a:t> c-index</a:t>
            </a:r>
            <a:r>
              <a:rPr lang="zh-CN" altLang="en-US" sz="2000"/>
              <a:t>。后，再进行模型性能的评估。</a:t>
            </a:r>
            <a:endParaRPr lang="zh-CN" altLang="en-US" sz="2000"/>
          </a:p>
        </p:txBody>
      </p:sp>
      <p:pic>
        <p:nvPicPr>
          <p:cNvPr id="2" name="图片 1"/>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051685" y="3645535"/>
            <a:ext cx="5405120" cy="2996565"/>
          </a:xfrm>
          <a:prstGeom prst="rect">
            <a:avLst/>
          </a:prstGeom>
        </p:spPr>
      </p:pic>
    </p:spTree>
  </p:cSld>
  <p:clrMapOvr>
    <a:masterClrMapping/>
  </p:clrMapOvr>
  <p:transition spd="me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实验结果分析</a:t>
            </a:r>
            <a:endParaRPr lang="zh-CN" altLang="en-US" dirty="0">
              <a:sym typeface="+mn-ea"/>
            </a:endParaRPr>
          </a:p>
        </p:txBody>
      </p:sp>
      <p:sp>
        <p:nvSpPr>
          <p:cNvPr id="3" name="文本框 2"/>
          <p:cNvSpPr txBox="1"/>
          <p:nvPr/>
        </p:nvSpPr>
        <p:spPr>
          <a:xfrm>
            <a:off x="109220" y="908685"/>
            <a:ext cx="3816985" cy="58051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noAutofit/>
          </a:bodyPr>
          <a:lstStyle/>
          <a:p>
            <a:r>
              <a:rPr lang="en-US" altLang="zh-CN">
                <a:sym typeface="+mn-ea"/>
              </a:rPr>
              <a:t>1</a:t>
            </a:r>
            <a:r>
              <a:rPr lang="zh-CN" altLang="en-US">
                <a:sym typeface="+mn-ea"/>
              </a:rPr>
              <a:t>、性能对比和统计分析</a:t>
            </a:r>
            <a:r>
              <a:rPr lang="zh-CN" altLang="en-US" dirty="0">
                <a:sym typeface="+mn-ea"/>
              </a:rPr>
              <a:t>：</a:t>
            </a:r>
            <a:endParaRPr lang="zh-CN" altLang="en-US" dirty="0">
              <a:sym typeface="+mn-ea"/>
            </a:endParaRPr>
          </a:p>
          <a:p>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将消融实验结果与完整三模态模型性能进行对比（示例见表），以量化各模态及其组合对模型效果的贡献。</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2</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、结果分析和结论。</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单模态：图像数据对</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SI-ARDS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分类效果影响最大；报告与指标数据对生存天数回归效果影响更大。</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双模态：虽能提升预测性能，但均未达到三模态融合水平，表明三者互补信息更丰富。</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endPar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KM3T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模型：性能超过纯三模态模型，验证了引入知识图谱信息的有效性。</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pic>
        <p:nvPicPr>
          <p:cNvPr id="5" name="图片 4"/>
          <p:cNvPicPr>
            <a:picLocks noChangeAspect="1"/>
          </p:cNvPicPr>
          <p:nvPr/>
        </p:nvPicPr>
        <p:blipFill>
          <a:blip r:embed="rId1"/>
          <a:srcRect l="-91" r="2576"/>
          <a:stretch>
            <a:fillRect/>
          </a:stretch>
        </p:blipFill>
        <p:spPr>
          <a:xfrm>
            <a:off x="4067810" y="980440"/>
            <a:ext cx="4783455" cy="1572895"/>
          </a:xfrm>
          <a:prstGeom prst="rect">
            <a:avLst/>
          </a:prstGeom>
        </p:spPr>
      </p:pic>
      <p:pic>
        <p:nvPicPr>
          <p:cNvPr id="6" name="图片 5"/>
          <p:cNvPicPr>
            <a:picLocks noChangeAspect="1"/>
          </p:cNvPicPr>
          <p:nvPr/>
        </p:nvPicPr>
        <p:blipFill>
          <a:blip r:embed="rId2"/>
          <a:srcRect l="1479" t="7092"/>
          <a:stretch>
            <a:fillRect/>
          </a:stretch>
        </p:blipFill>
        <p:spPr>
          <a:xfrm>
            <a:off x="4072255" y="2492375"/>
            <a:ext cx="4779010" cy="3776980"/>
          </a:xfrm>
          <a:prstGeom prst="rect">
            <a:avLst/>
          </a:prstGeom>
        </p:spPr>
      </p:pic>
    </p:spTree>
  </p:cSld>
  <p:clrMapOvr>
    <a:masterClrMapping/>
  </p:clrMapOvr>
  <p:transition spd="me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超参</a:t>
            </a:r>
            <a:r>
              <a:rPr lang="zh-CN" altLang="en-US" dirty="0">
                <a:sym typeface="+mn-ea"/>
              </a:rPr>
              <a:t>分析</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179705" y="909320"/>
            <a:ext cx="8229600" cy="657225"/>
          </a:xfrm>
          <a:prstGeom prst="rect">
            <a:avLst/>
          </a:prstGeom>
        </p:spPr>
        <p:txBody>
          <a:bodyPr>
            <a:noAutofit/>
          </a:bodyPr>
          <a:lstStyle/>
          <a:p>
            <a:r>
              <a:rPr lang="zh-CN" altLang="en-US" sz="1800"/>
              <a:t>超参分析是指评估和调整机器学习模型的超参数</a:t>
            </a:r>
            <a:r>
              <a:rPr lang="en-US" altLang="zh-CN" sz="1800"/>
              <a:t>(</a:t>
            </a:r>
            <a:r>
              <a:rPr lang="zh-CN" altLang="en-US" sz="1800"/>
              <a:t>即模型训练之前设定的参数</a:t>
            </a:r>
            <a:r>
              <a:rPr lang="en-US" altLang="zh-CN" sz="1800"/>
              <a:t>)</a:t>
            </a:r>
            <a:r>
              <a:rPr lang="zh-CN" altLang="en-US" sz="1800"/>
              <a:t>以优化模型性能的过程。进行超参数分析可以帮助我们了解哪些超参数对模型性能有显著影响，以及如何调整它们来提高模型的准确性和泛化能力。</a:t>
            </a:r>
            <a:endParaRPr lang="zh-CN" altLang="en-US" sz="1800" dirty="0"/>
          </a:p>
        </p:txBody>
      </p:sp>
      <p:sp>
        <p:nvSpPr>
          <p:cNvPr id="3" name="文本框 2"/>
          <p:cNvSpPr txBox="1"/>
          <p:nvPr/>
        </p:nvSpPr>
        <p:spPr>
          <a:xfrm>
            <a:off x="395605" y="2132965"/>
            <a:ext cx="8080375" cy="42449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学习率：控制权重更新步幅，过大易发散，过小收敛慢。可从小值开始，结合学习率衰减或自适应算法（如</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Adam</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）动态调整，并通过交叉验证选取最佳值。</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迭代次数：决定数据集遍历轮数，过少易欠拟合，过多易过拟合。可配合早停策略，当验证集性能不再提升时自动停止，并借助交叉验证确定合适轮数。</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隐藏层数量与规模：影响模型容量与复杂度。宜从小网络起步，逐步增加层数和神经元，实时监控验证集表现；同时可使用</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L1/L2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或</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dropout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正则化抑制过拟合。</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正则化强度：通过在损失函数加罚项限制模型复杂度。需在防过拟合和防欠拟合间权衡，通常以交叉验证测试不同系数，并可结合多种正则化手段（</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L1</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L2</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dropout</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）选用最佳组合</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a:t>
            </a:r>
            <a:r>
              <a:rPr lang="en-US" altLang="zh-CN" dirty="0">
                <a:sym typeface="+mn-ea"/>
              </a:rPr>
              <a:t>4</a:t>
            </a:r>
            <a:r>
              <a:rPr lang="zh-CN" altLang="en-US" dirty="0">
                <a:sym typeface="+mn-ea"/>
              </a:rPr>
              <a:t>）医学发现与讨论</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0763"/>
            <a:ext cx="8229600" cy="3272333"/>
          </a:xfrm>
          <a:prstGeom prst="rect">
            <a:avLst/>
          </a:prstGeom>
        </p:spPr>
        <p:txBody>
          <a:bodyPr>
            <a:normAutofit/>
          </a:bodyPr>
          <a:lstStyle/>
          <a:p>
            <a:r>
              <a:rPr lang="zh-CN" altLang="en-US" sz="2400"/>
              <a:t>医学发现与讨论对于推动临床实践进步、优化诊断与治疗方案具有关键作用，同时也是实现科学探索与实际应用之间桥梁的重要环节。</a:t>
            </a:r>
            <a:endParaRPr lang="zh-CN" altLang="en-US" sz="2400"/>
          </a:p>
        </p:txBody>
      </p:sp>
      <p:sp>
        <p:nvSpPr>
          <p:cNvPr id="3" name="文本框 2"/>
          <p:cNvSpPr txBox="1"/>
          <p:nvPr/>
        </p:nvSpPr>
        <p:spPr>
          <a:xfrm>
            <a:off x="539750" y="2565400"/>
            <a:ext cx="80803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模型发现的医学新知</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潜在的临床应用与前景讨论</a:t>
            </a: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sz="2400"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模型发现的医学新知</a:t>
            </a:r>
            <a:endParaRPr lang="zh-CN" altLang="en-US" dirty="0">
              <a:sym typeface="+mn-ea"/>
            </a:endParaRPr>
          </a:p>
        </p:txBody>
      </p:sp>
      <p:sp>
        <p:nvSpPr>
          <p:cNvPr id="3" name="文本框 2"/>
          <p:cNvSpPr txBox="1"/>
          <p:nvPr/>
        </p:nvSpPr>
        <p:spPr>
          <a:xfrm>
            <a:off x="395605" y="2277110"/>
            <a:ext cx="8080375" cy="28600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新生物标志物的发现：本章介绍的</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KM3T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模型不仅能够诊断</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SI-ARDS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患者，还能进一步对诊断相关的数据模态及不同实验室检查指标的权重进行展示。例如，通过分析</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SI-ARDS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患者的实验室检查指标与基础信息，模型可以解释与</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发病相关的由多个指标组合成的生物标志物。</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对疾病的新理解：深度学习模型可能会识别出</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CT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图像中的特定病变特征，这些特征与</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的严重程度、类型或患者的预后密切相关。这可能包括肺部的渗出特征、肺组织的纤维化程度或其他尚未充分理解的图像特征。同时，通过深入分析模型识别的图像特征和它们与临床数据的关联，可能会揭示</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发展的病理生理机制。</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
        <p:nvSpPr>
          <p:cNvPr id="2" name="人工神经网络是一种模拟人脑的神经网络以期能够实现类人工智能的机器学习技术。…"/>
          <p:cNvSpPr>
            <a:spLocks noGrp="1"/>
          </p:cNvSpPr>
          <p:nvPr/>
        </p:nvSpPr>
        <p:spPr>
          <a:xfrm>
            <a:off x="179705" y="836930"/>
            <a:ext cx="8229600" cy="1341755"/>
          </a:xfrm>
          <a:prstGeom prst="rect">
            <a:avLst/>
          </a:prstGeom>
          <a:ln w="12700">
            <a:miter lim="400000"/>
          </a:ln>
        </p:spPr>
        <p:txBody>
          <a:bodyPr lIns="45719" rIns="45719">
            <a:normAutofit/>
          </a:bodyPr>
          <a:lstStyle>
            <a:lvl1pPr marL="457200" marR="0" indent="-457200" algn="l" defTabSz="914400" rtl="0" latinLnBrk="0">
              <a:lnSpc>
                <a:spcPct val="100000"/>
              </a:lnSpc>
              <a:spcBef>
                <a:spcPts val="700"/>
              </a:spcBef>
              <a:spcAft>
                <a:spcPts val="0"/>
              </a:spcAft>
              <a:buClr>
                <a:srgbClr val="3C8C93"/>
              </a:buClr>
              <a:buSzPct val="8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1pPr>
            <a:lvl2pPr marL="786765" marR="0" indent="-329565" algn="l" defTabSz="914400" rtl="0" latinLnBrk="0">
              <a:lnSpc>
                <a:spcPct val="100000"/>
              </a:lnSpc>
              <a:spcBef>
                <a:spcPts val="700"/>
              </a:spcBef>
              <a:spcAft>
                <a:spcPts val="0"/>
              </a:spcAft>
              <a:buClr>
                <a:srgbClr val="3C8C93"/>
              </a:buClr>
              <a:buSzPct val="100000"/>
              <a:buFontTx/>
              <a:buChar char="o"/>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2pPr>
            <a:lvl3pPr marL="1177925" marR="0" indent="-263525"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3pPr>
            <a:lvl4pPr marL="17145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4pPr>
            <a:lvl5pPr marL="21717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5pPr>
            <a:lvl6pPr marL="26289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6pPr>
            <a:lvl7pPr marL="30861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7pPr>
            <a:lvl8pPr marL="35433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8pPr>
            <a:lvl9pPr marL="4000500" marR="0" indent="-342900" algn="l" defTabSz="914400" rtl="0" latinLnBrk="0">
              <a:lnSpc>
                <a:spcPct val="100000"/>
              </a:lnSpc>
              <a:spcBef>
                <a:spcPts val="700"/>
              </a:spcBef>
              <a:spcAft>
                <a:spcPts val="0"/>
              </a:spcAft>
              <a:buClr>
                <a:srgbClr val="3C8C93"/>
              </a:buClr>
              <a:buSzPct val="100000"/>
              <a:buFontTx/>
              <a:buChar char="»"/>
              <a:defRPr sz="3000" b="0" i="0" u="none" strike="noStrike" cap="none" spc="0" baseline="0">
                <a:ln>
                  <a:noFill/>
                </a:ln>
                <a:solidFill>
                  <a:srgbClr val="000000"/>
                </a:solidFill>
                <a:uFillTx/>
                <a:latin typeface="黑体" panose="02010609060101010101" charset="-122"/>
                <a:ea typeface="黑体" panose="02010609060101010101" charset="-122"/>
                <a:cs typeface="黑体" panose="02010609060101010101" charset="-122"/>
                <a:sym typeface="黑体" panose="02010609060101010101" charset="-122"/>
              </a:defRPr>
            </a:lvl9pPr>
          </a:lstStyle>
          <a:p>
            <a:r>
              <a:rPr lang="zh-CN" altLang="en-US" sz="1800" dirty="0">
                <a:sym typeface="+mn-ea"/>
              </a:rPr>
              <a:t>人工智能模型不仅可以帮助医生给出更加准确的诊断和预后预测，还可以揭示医学上的一些潜在发现。</a:t>
            </a:r>
            <a:r>
              <a:rPr lang="zh-CN" altLang="en-US" sz="1800" dirty="0">
                <a:sym typeface="+mn-ea"/>
              </a:rPr>
              <a:t>因为深度学习模型特别擅长识别复杂数据中的模式，有些模式可能超出了人类专家的认知能力。</a:t>
            </a:r>
            <a:endParaRPr lang="zh-CN" altLang="en-US" sz="1800" dirty="0"/>
          </a:p>
        </p:txBody>
      </p:sp>
    </p:spTree>
  </p:cSld>
  <p:clrMapOvr>
    <a:masterClrMapping/>
  </p:clrMapOvr>
  <p:transition spd="me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 name="幻灯片编号"/>
          <p:cNvSpPr>
            <a:spLocks noGrp="1"/>
          </p:cNvSpPr>
          <p:nvPr>
            <p:ph type="sldNum" sz="quarter" idx="2"/>
          </p:nvPr>
        </p:nvSpPr>
        <p:spPr>
          <a:prstGeom prst="rect">
            <a:avLst/>
          </a:prstGeom>
        </p:spPr>
        <p:txBody>
          <a:bodyPr/>
          <a:lstStyle/>
          <a:p>
            <a:fld id="{86CB4B4D-7CA3-9044-876B-883B54F8677D}" type="slidenum">
              <a:rPr/>
            </a:fld>
            <a:endParaRPr/>
          </a:p>
        </p:txBody>
      </p:sp>
      <p:sp>
        <p:nvSpPr>
          <p:cNvPr id="737" name="人工神经网络"/>
          <p:cNvSpPr>
            <a:spLocks noGrp="1"/>
          </p:cNvSpPr>
          <p:nvPr>
            <p:ph type="title"/>
          </p:nvPr>
        </p:nvSpPr>
        <p:spPr>
          <a:prstGeom prst="rect">
            <a:avLst/>
          </a:prstGeom>
        </p:spPr>
        <p:txBody>
          <a:bodyPr>
            <a:normAutofit/>
          </a:bodyPr>
          <a:lstStyle/>
          <a:p>
            <a:r>
              <a:rPr lang="zh-CN" altLang="en-US" dirty="0">
                <a:sym typeface="+mn-ea"/>
              </a:rPr>
              <a:t>潜在的临床应用与前景讨论</a:t>
            </a:r>
            <a:endParaRPr lang="zh-CN" altLang="en-US" dirty="0">
              <a:sym typeface="+mn-ea"/>
            </a:endParaRPr>
          </a:p>
        </p:txBody>
      </p:sp>
      <p:sp>
        <p:nvSpPr>
          <p:cNvPr id="738" name="人工神经网络是一种模拟人脑的神经网络以期能够实现类人工智能的机器学习技术。…"/>
          <p:cNvSpPr>
            <a:spLocks noGrp="1"/>
          </p:cNvSpPr>
          <p:nvPr>
            <p:ph type="body" idx="1"/>
          </p:nvPr>
        </p:nvSpPr>
        <p:spPr>
          <a:xfrm>
            <a:off x="457200" y="1021080"/>
            <a:ext cx="8229600" cy="633095"/>
          </a:xfrm>
          <a:prstGeom prst="rect">
            <a:avLst/>
          </a:prstGeom>
        </p:spPr>
        <p:txBody>
          <a:bodyPr/>
          <a:lstStyle/>
          <a:p>
            <a:r>
              <a:rPr lang="zh-CN" altLang="en-US" sz="2400"/>
              <a:t>潜在的临床应用与前景讨论</a:t>
            </a:r>
            <a:r>
              <a:rPr lang="zh-CN" altLang="en-US" sz="2400" dirty="0">
                <a:sym typeface="+mn-ea"/>
              </a:rPr>
              <a:t>：</a:t>
            </a:r>
            <a:endParaRPr lang="zh-CN" altLang="en-US" sz="2400" dirty="0">
              <a:sym typeface="+mn-ea"/>
            </a:endParaRPr>
          </a:p>
        </p:txBody>
      </p:sp>
      <p:sp>
        <p:nvSpPr>
          <p:cNvPr id="3" name="文本框 2"/>
          <p:cNvSpPr txBox="1"/>
          <p:nvPr/>
        </p:nvSpPr>
        <p:spPr>
          <a:xfrm>
            <a:off x="457200" y="1701165"/>
            <a:ext cx="8080375" cy="286004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早期识别和预警：多模态深度学习模型在</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的早期识别和预警方面表现出巨大潜力，通过整合和分析来自不同渠道的数据，如</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CT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图像、临床报告和实验室指标，模型可以识别出复杂的疾病模式和高风险指标。这使得模型可以在疾病的早期阶段，甚至在临床症状显著之前预警医生，从而使医疗团队能够快速做出反应。</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a:p>
            <a:pPr marL="457200" indent="-457200">
              <a:buAutoNum type="arabicPeriod"/>
            </a:pP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个性化治疗：多模态深度学习模型运用其对大量患者数据的分析能力来识别个体间的差异，并预测不同患者对各种治疗方法的反应。这样的模型可以为每个</a:t>
            </a:r>
            <a:r>
              <a:rPr kumimoji="0" lang="en-US" altLang="zh-CN"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 ARDS </a:t>
            </a:r>
            <a:r>
              <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rPr>
              <a:t>患者量身定制治疗方案。个性化治疗的推进有望显著提高治疗效率，减少不必要的医疗干预，同时优化医疗资源的使用。</a:t>
            </a:r>
            <a:endParaRPr kumimoji="0" lang="zh-CN" altLang="en-US" b="0" i="0" u="none" strike="noStrike" cap="none" spc="0" normalizeH="0" baseline="0" dirty="0">
              <a:ln>
                <a:noFill/>
              </a:ln>
              <a:solidFill>
                <a:srgbClr val="000000"/>
              </a:solidFill>
              <a:effectLst/>
              <a:uFillTx/>
              <a:latin typeface="黑体" panose="02010609060101010101" charset="-122"/>
              <a:ea typeface="黑体" panose="02010609060101010101" charset="-122"/>
              <a:cs typeface="黑体" panose="02010609060101010101" charset="-122"/>
              <a:sym typeface="+mn-ea"/>
            </a:endParaRPr>
          </a:p>
        </p:txBody>
      </p:sp>
    </p:spTree>
  </p:cSld>
  <p:clrMapOvr>
    <a:masterClrMapping/>
  </p:clrMapOvr>
  <p:transition spd="med"/>
</p:sld>
</file>

<file path=ppt/tags/tag1.xml><?xml version="1.0" encoding="utf-8"?>
<p:tagLst xmlns:p="http://schemas.openxmlformats.org/presentationml/2006/main">
  <p:tag name="TABLE_ENDDRAG_ORIGIN_RECT" val="669*373"/>
  <p:tag name="TABLE_ENDDRAG_RECT" val="19*83*669*373"/>
</p:tagLst>
</file>

<file path=ppt/tags/tag2.xml><?xml version="1.0" encoding="utf-8"?>
<p:tagLst xmlns:p="http://schemas.openxmlformats.org/presentationml/2006/main">
  <p:tag name="COMMONDATA" val="eyJoZGlkIjoiNjRlNmU1YmFmMjE3YWQ4YWFhNmI1NmExMWY2MDljOTEifQ=="/>
</p:tagLst>
</file>

<file path=ppt/theme/theme1.xml><?xml version="1.0" encoding="utf-8"?>
<a:theme xmlns:a="http://schemas.openxmlformats.org/drawingml/2006/main" name="默认设计模板_2">
  <a:themeElements>
    <a:clrScheme name="默认设计模板_2">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默认设计模板_2">
      <a:majorFont>
        <a:latin typeface="Helvetica"/>
        <a:ea typeface="Helvetica"/>
        <a:cs typeface="Helvetica"/>
      </a:majorFont>
      <a:minorFont>
        <a:latin typeface="Calibri"/>
        <a:ea typeface="Calibri"/>
        <a:cs typeface="Calibri"/>
      </a:minorFont>
    </a:fontScheme>
    <a:fmtScheme name="默认设计模板_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_2">
  <a:themeElements>
    <a:clrScheme name="默认设计模板_2">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默认设计模板_2">
      <a:majorFont>
        <a:latin typeface="Helvetica"/>
        <a:ea typeface="Helvetica"/>
        <a:cs typeface="Helvetica"/>
      </a:majorFont>
      <a:minorFont>
        <a:latin typeface="Calibri"/>
        <a:ea typeface="Calibri"/>
        <a:cs typeface="Calibri"/>
      </a:minorFont>
    </a:fontScheme>
    <a:fmtScheme name="默认设计模板_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黑体" panose="02010609060101010101" charset="-122"/>
            <a:ea typeface="黑体" panose="02010609060101010101" charset="-122"/>
            <a:cs typeface="黑体" panose="02010609060101010101" charset="-122"/>
            <a:sym typeface="黑体" panose="02010609060101010101"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23293</Words>
  <Application>WPS 演示</Application>
  <PresentationFormat>全屏显示(4:3)</PresentationFormat>
  <Paragraphs>1656</Paragraphs>
  <Slides>139</Slides>
  <Notes>128</Notes>
  <HiddenSlides>3</HiddenSlides>
  <MMClips>1</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139</vt:i4>
      </vt:variant>
    </vt:vector>
  </HeadingPairs>
  <TitlesOfParts>
    <vt:vector size="152" baseType="lpstr">
      <vt:lpstr>Arial</vt:lpstr>
      <vt:lpstr>宋体</vt:lpstr>
      <vt:lpstr>Wingdings</vt:lpstr>
      <vt:lpstr>黑体</vt:lpstr>
      <vt:lpstr>Arial</vt:lpstr>
      <vt:lpstr>Arial Unicode MS</vt:lpstr>
      <vt:lpstr>Calibri</vt:lpstr>
      <vt:lpstr>微软雅黑</vt:lpstr>
      <vt:lpstr>等线</vt:lpstr>
      <vt:lpstr>Times New Roman</vt:lpstr>
      <vt:lpstr>Cambria Math</vt:lpstr>
      <vt:lpstr>Calibri</vt:lpstr>
      <vt:lpstr>默认设计模板_2</vt:lpstr>
      <vt:lpstr>PowerPoint 演示文稿</vt:lpstr>
      <vt:lpstr>第一部分：多模态数据分析背景知识 第二部分：医疗大数据分析背景知识 第三部分：基于多模态数据融合的智慧医疗诊断模型开发</vt:lpstr>
      <vt:lpstr>第一部分：多模态数据分析背景知识</vt:lpstr>
      <vt:lpstr>1.1 常见数据模态及其特征</vt:lpstr>
      <vt:lpstr>（1）文本</vt:lpstr>
      <vt:lpstr>（2）图像</vt:lpstr>
      <vt:lpstr>（3）音频</vt:lpstr>
      <vt:lpstr>（4）视频</vt:lpstr>
      <vt:lpstr>（5）传感器数据</vt:lpstr>
      <vt:lpstr>1.2 不同模态数据分析方法异同</vt:lpstr>
      <vt:lpstr>（1）数据表达和预处理差异</vt:lpstr>
      <vt:lpstr>（2）特征提取方法</vt:lpstr>
      <vt:lpstr>（3）模型适配性</vt:lpstr>
      <vt:lpstr>（4）融合技术</vt:lpstr>
      <vt:lpstr>（5）语义理解</vt:lpstr>
      <vt:lpstr>第二部分：医疗大数据分析背景知识</vt:lpstr>
      <vt:lpstr>2.1 医学场景介绍</vt:lpstr>
      <vt:lpstr>（1）智慧医疗的国家战略意义</vt:lpstr>
      <vt:lpstr>（2）当前医疗卫生问题与挑战</vt:lpstr>
      <vt:lpstr>医疗资源差异</vt:lpstr>
      <vt:lpstr>精准医疗与预防性健康管理的技术限制</vt:lpstr>
      <vt:lpstr>智慧医疗解决方案</vt:lpstr>
      <vt:lpstr>（3）多模态数据在医学领域的应用概况</vt:lpstr>
      <vt:lpstr>提高诊疗能力</vt:lpstr>
      <vt:lpstr>实现治疗个性化</vt:lpstr>
      <vt:lpstr>2.2 医疗大数据特点及建模</vt:lpstr>
      <vt:lpstr>（1）医疗数据的特性</vt:lpstr>
      <vt:lpstr>体量大</vt:lpstr>
      <vt:lpstr>速度快</vt:lpstr>
      <vt:lpstr>种类多</vt:lpstr>
      <vt:lpstr>真实性</vt:lpstr>
      <vt:lpstr>价值密度</vt:lpstr>
      <vt:lpstr>高维度和多样性</vt:lpstr>
      <vt:lpstr>时效性</vt:lpstr>
      <vt:lpstr>不完整性</vt:lpstr>
      <vt:lpstr>冗余性</vt:lpstr>
      <vt:lpstr>时间性</vt:lpstr>
      <vt:lpstr>（2）数据异构性与融合需求</vt:lpstr>
      <vt:lpstr>数据异构性</vt:lpstr>
      <vt:lpstr>数据融合</vt:lpstr>
      <vt:lpstr>（3）医疗数据建模方法论</vt:lpstr>
      <vt:lpstr>数据预处理</vt:lpstr>
      <vt:lpstr>常见建模方法</vt:lpstr>
      <vt:lpstr>常见建模方法</vt:lpstr>
      <vt:lpstr>常见建模方法</vt:lpstr>
      <vt:lpstr>常见建模方法</vt:lpstr>
      <vt:lpstr>常见建模方法</vt:lpstr>
      <vt:lpstr>常见建模方法</vt:lpstr>
      <vt:lpstr>建模方法选择的相关因素</vt:lpstr>
      <vt:lpstr>2.3 医学数据分析算法</vt:lpstr>
      <vt:lpstr>（1）常见的医学数据分析算法</vt:lpstr>
      <vt:lpstr>医学统计学方法</vt:lpstr>
      <vt:lpstr>传统机器学习方法</vt:lpstr>
      <vt:lpstr>深度学习方法</vt:lpstr>
      <vt:lpstr>（2）算法的选择标准与局限性</vt:lpstr>
      <vt:lpstr>算法选择标准</vt:lpstr>
      <vt:lpstr>算法局限性</vt:lpstr>
      <vt:lpstr>2.4 数据预处理工具介绍</vt:lpstr>
      <vt:lpstr>（1）DICOM图像预处理</vt:lpstr>
      <vt:lpstr>序列选择</vt:lpstr>
      <vt:lpstr>序列选择</vt:lpstr>
      <vt:lpstr>序列选择</vt:lpstr>
      <vt:lpstr>图像导出</vt:lpstr>
      <vt:lpstr>（2）EEG 脑电数据预处理</vt:lpstr>
      <vt:lpstr>导入文件</vt:lpstr>
      <vt:lpstr>导入文件</vt:lpstr>
      <vt:lpstr>定位通道位置</vt:lpstr>
      <vt:lpstr>删除无用通道</vt:lpstr>
      <vt:lpstr>滤波</vt:lpstr>
      <vt:lpstr>插值坏导</vt:lpstr>
      <vt:lpstr>独立成分分析及剔除坏段</vt:lpstr>
      <vt:lpstr>独立成分分析及剔除坏段</vt:lpstr>
      <vt:lpstr>第三部分：基于多模态数据融合的智慧医疗诊断模型开发</vt:lpstr>
      <vt:lpstr>脓毒症</vt:lpstr>
      <vt:lpstr>脓毒症引发的急性呼吸窘迫综合征</vt:lpstr>
      <vt:lpstr>模型开发流程图</vt:lpstr>
      <vt:lpstr>模型框架图</vt:lpstr>
      <vt:lpstr>3.1 多模态数据预处理</vt:lpstr>
      <vt:lpstr>（1）CT 影像数据</vt:lpstr>
      <vt:lpstr>读取文件</vt:lpstr>
      <vt:lpstr>读取文件</vt:lpstr>
      <vt:lpstr>数据脱敏</vt:lpstr>
      <vt:lpstr>标准化</vt:lpstr>
      <vt:lpstr>标准化</vt:lpstr>
      <vt:lpstr>尺寸调整</vt:lpstr>
      <vt:lpstr>归一化</vt:lpstr>
      <vt:lpstr>（2）文本报告数据</vt:lpstr>
      <vt:lpstr>（3）化验指标数据</vt:lpstr>
      <vt:lpstr>缺失值处理</vt:lpstr>
      <vt:lpstr>归一化</vt:lpstr>
      <vt:lpstr>3.2 多模态数据融合模型设计与开发</vt:lpstr>
      <vt:lpstr>（1）CT影像特征提取</vt:lpstr>
      <vt:lpstr>CNN简介</vt:lpstr>
      <vt:lpstr>CNN简介</vt:lpstr>
      <vt:lpstr>设计CNN架构</vt:lpstr>
      <vt:lpstr>设计CNN架构</vt:lpstr>
      <vt:lpstr>（2）文本报告特征提取</vt:lpstr>
      <vt:lpstr>BERT简介</vt:lpstr>
      <vt:lpstr>BERT简介</vt:lpstr>
      <vt:lpstr>模型选择与加载</vt:lpstr>
      <vt:lpstr>模型选择与加载</vt:lpstr>
      <vt:lpstr>模型选择与加载</vt:lpstr>
      <vt:lpstr>模型选择与加载</vt:lpstr>
      <vt:lpstr>（3）基于知识图谱的化验指标特征提取</vt:lpstr>
      <vt:lpstr>知识图谱构建</vt:lpstr>
      <vt:lpstr>知识图谱构建</vt:lpstr>
      <vt:lpstr>知识图谱可视化</vt:lpstr>
      <vt:lpstr>图嵌入技术</vt:lpstr>
      <vt:lpstr>图嵌入技术</vt:lpstr>
      <vt:lpstr>图嵌入技术</vt:lpstr>
      <vt:lpstr>图嵌入技术</vt:lpstr>
      <vt:lpstr>图嵌入技术</vt:lpstr>
      <vt:lpstr>图嵌入技术</vt:lpstr>
      <vt:lpstr>图嵌入技术</vt:lpstr>
      <vt:lpstr>（4）自适应特征融合</vt:lpstr>
      <vt:lpstr>常用的多模态数据融合方法</vt:lpstr>
      <vt:lpstr>基于注意力机制的自适应特征融合</vt:lpstr>
      <vt:lpstr>基于注意力机制的自适应特征融合</vt:lpstr>
      <vt:lpstr>基于注意力机制的自适应特征融合</vt:lpstr>
      <vt:lpstr>基于注意力机制的自适应特征融合</vt:lpstr>
      <vt:lpstr>（5）医疗诊断与预测算法及优化</vt:lpstr>
      <vt:lpstr>分类与回归模型</vt:lpstr>
      <vt:lpstr>分类与回归模型</vt:lpstr>
      <vt:lpstr>分类与回归模型</vt:lpstr>
      <vt:lpstr>分类与回归模型</vt:lpstr>
      <vt:lpstr>整体损失函数设计</vt:lpstr>
      <vt:lpstr>3.3 系统评测与分析</vt:lpstr>
      <vt:lpstr>（1）评价准则</vt:lpstr>
      <vt:lpstr>数值类的评价准则</vt:lpstr>
      <vt:lpstr>数值类的评价准则</vt:lpstr>
      <vt:lpstr>曲线类的评价准则</vt:lpstr>
      <vt:lpstr>（2）模型对比分析</vt:lpstr>
      <vt:lpstr>模态组合实验设置</vt:lpstr>
      <vt:lpstr>模态组合实验设置</vt:lpstr>
      <vt:lpstr>实验结果分析</vt:lpstr>
      <vt:lpstr>超参分析</vt:lpstr>
      <vt:lpstr>（4）医学发现与讨论</vt:lpstr>
      <vt:lpstr>模型发现的医学新知</vt:lpstr>
      <vt:lpstr>潜在的临床应用与前景讨论</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Zhijianist Chan</dc:creator>
  <cp:lastModifiedBy>Ling</cp:lastModifiedBy>
  <cp:revision>404</cp:revision>
  <dcterms:created xsi:type="dcterms:W3CDTF">2024-09-20T13:29:00Z</dcterms:created>
  <dcterms:modified xsi:type="dcterms:W3CDTF">2026-03-04T04:43:24Z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30F4B2450FD14AC4A86A467B8132D19C_12</vt:lpwstr>
  </property>
  <property fmtid="{D5CDD505-2E9C-101B-9397-08002B2CF9AE}" pid="3" name="KSOProductBuildVer">
    <vt:lpwstr>2052-12.1.0.25225</vt:lpwstr>
  </property>
</Properties>
</file>