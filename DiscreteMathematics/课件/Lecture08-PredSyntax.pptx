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312" r:id="rId4"/>
    <p:sldId id="259" r:id="rId5"/>
    <p:sldId id="281" r:id="rId6"/>
    <p:sldId id="257" r:id="rId8"/>
    <p:sldId id="282" r:id="rId9"/>
    <p:sldId id="305" r:id="rId10"/>
    <p:sldId id="283" r:id="rId11"/>
    <p:sldId id="286" r:id="rId12"/>
    <p:sldId id="284" r:id="rId13"/>
    <p:sldId id="306" r:id="rId14"/>
    <p:sldId id="287" r:id="rId15"/>
    <p:sldId id="288" r:id="rId16"/>
    <p:sldId id="289" r:id="rId17"/>
    <p:sldId id="285" r:id="rId18"/>
    <p:sldId id="290" r:id="rId19"/>
    <p:sldId id="307" r:id="rId20"/>
    <p:sldId id="291" r:id="rId21"/>
    <p:sldId id="308" r:id="rId22"/>
    <p:sldId id="292" r:id="rId23"/>
    <p:sldId id="261" r:id="rId24"/>
    <p:sldId id="296" r:id="rId25"/>
    <p:sldId id="297" r:id="rId26"/>
    <p:sldId id="294" r:id="rId27"/>
    <p:sldId id="293" r:id="rId28"/>
    <p:sldId id="310" r:id="rId29"/>
    <p:sldId id="295" r:id="rId30"/>
    <p:sldId id="299" r:id="rId31"/>
    <p:sldId id="298" r:id="rId32"/>
    <p:sldId id="311" r:id="rId33"/>
    <p:sldId id="300" r:id="rId34"/>
    <p:sldId id="302" r:id="rId35"/>
    <p:sldId id="301" r:id="rId36"/>
    <p:sldId id="309" r:id="rId37"/>
    <p:sldId id="303" r:id="rId38"/>
    <p:sldId id="304" r:id="rId39"/>
    <p:sldId id="272" r:id="rId40"/>
    <p:sldId id="280" r:id="rId41"/>
    <p:sldId id="262" r:id="rId42"/>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7EC"/>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46" autoAdjust="0"/>
    <p:restoredTop sz="94660"/>
  </p:normalViewPr>
  <p:slideViewPr>
    <p:cSldViewPr snapToGrid="0">
      <p:cViewPr varScale="1">
        <p:scale>
          <a:sx n="152" d="100"/>
          <a:sy n="152" d="100"/>
        </p:scale>
        <p:origin x="774" y="10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gs" Target="tags/tag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88369-4624-4F55-AA38-12B21998122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5A091-1528-44AC-BECA-676115D61D5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不管是命题逻辑还是一阶逻辑，其内容都由基本概念、公式语法、公式语义、等值演算、推理理论和应用这六部分组成。</a:t>
            </a:r>
            <a:endParaRPr lang="zh-CN" altLang="en-US"/>
          </a:p>
        </p:txBody>
      </p:sp>
      <p:sp>
        <p:nvSpPr>
          <p:cNvPr id="4" name="灯片编号占位符 3"/>
          <p:cNvSpPr>
            <a:spLocks noGrp="1"/>
          </p:cNvSpPr>
          <p:nvPr>
            <p:ph type="sldNum" sz="quarter" idx="5"/>
          </p:nvPr>
        </p:nvSpPr>
        <p:spPr/>
        <p:txBody>
          <a:bodyPr/>
          <a:lstStyle/>
          <a:p>
            <a:fld id="{488CCB30-AF9B-4A37-9966-876C3485C39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65A091-1528-44AC-BECA-676115D61D5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65A091-1528-44AC-BECA-676115D61D5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hyperlink" Target="https://mooc1-1.chaoxing.com/course/21627373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3" Type="http://schemas.openxmlformats.org/officeDocument/2006/relationships/slideLayout" Target="../slideLayouts/slideLayout1.xml"/><Relationship Id="rId12" Type="http://schemas.openxmlformats.org/officeDocument/2006/relationships/image" Target="../media/image33.png"/><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38.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40.png"/><Relationship Id="rId1" Type="http://schemas.openxmlformats.org/officeDocument/2006/relationships/image" Target="../media/image39.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6" Type="http://schemas.openxmlformats.org/officeDocument/2006/relationships/slideLayout" Target="../slideLayouts/slideLayout1.xml"/><Relationship Id="rId15" Type="http://schemas.openxmlformats.org/officeDocument/2006/relationships/image" Target="../media/image57.png"/><Relationship Id="rId14" Type="http://schemas.openxmlformats.org/officeDocument/2006/relationships/image" Target="../media/image56.png"/><Relationship Id="rId13" Type="http://schemas.openxmlformats.org/officeDocument/2006/relationships/image" Target="../media/image55.png"/><Relationship Id="rId12" Type="http://schemas.openxmlformats.org/officeDocument/2006/relationships/image" Target="../media/image54.png"/><Relationship Id="rId11" Type="http://schemas.openxmlformats.org/officeDocument/2006/relationships/image" Target="../media/image53.png"/><Relationship Id="rId10" Type="http://schemas.openxmlformats.org/officeDocument/2006/relationships/image" Target="../media/image52.png"/><Relationship Id="rId1" Type="http://schemas.openxmlformats.org/officeDocument/2006/relationships/image" Target="../media/image43.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4.png"/><Relationship Id="rId1"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6.png"/><Relationship Id="rId1" Type="http://schemas.openxmlformats.org/officeDocument/2006/relationships/image" Target="../media/image65.png"/></Relationships>
</file>

<file path=ppt/slides/_rels/slide27.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9" Type="http://schemas.openxmlformats.org/officeDocument/2006/relationships/slideLayout" Target="../slideLayouts/slideLayout1.xml"/><Relationship Id="rId18" Type="http://schemas.openxmlformats.org/officeDocument/2006/relationships/image" Target="../media/image73.png"/><Relationship Id="rId17" Type="http://schemas.openxmlformats.org/officeDocument/2006/relationships/image" Target="../media/image72.png"/><Relationship Id="rId16" Type="http://schemas.openxmlformats.org/officeDocument/2006/relationships/image" Target="../media/image71.png"/><Relationship Id="rId15" Type="http://schemas.openxmlformats.org/officeDocument/2006/relationships/image" Target="../media/image70.png"/><Relationship Id="rId14" Type="http://schemas.openxmlformats.org/officeDocument/2006/relationships/image" Target="../media/image69.png"/><Relationship Id="rId13" Type="http://schemas.openxmlformats.org/officeDocument/2006/relationships/image" Target="../media/image56.png"/><Relationship Id="rId12" Type="http://schemas.openxmlformats.org/officeDocument/2006/relationships/image" Target="../media/image55.png"/><Relationship Id="rId11" Type="http://schemas.openxmlformats.org/officeDocument/2006/relationships/image" Target="../media/image68.png"/><Relationship Id="rId10" Type="http://schemas.openxmlformats.org/officeDocument/2006/relationships/image" Target="../media/image53.png"/><Relationship Id="rId1" Type="http://schemas.openxmlformats.org/officeDocument/2006/relationships/image" Target="../media/image67.png"/></Relationships>
</file>

<file path=ppt/slides/_rels/slide28.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74.png"/><Relationship Id="rId19" Type="http://schemas.openxmlformats.org/officeDocument/2006/relationships/slideLayout" Target="../slideLayouts/slideLayout1.xml"/><Relationship Id="rId18" Type="http://schemas.openxmlformats.org/officeDocument/2006/relationships/image" Target="../media/image72.png"/><Relationship Id="rId17" Type="http://schemas.openxmlformats.org/officeDocument/2006/relationships/image" Target="../media/image71.png"/><Relationship Id="rId16" Type="http://schemas.openxmlformats.org/officeDocument/2006/relationships/image" Target="../media/image70.png"/><Relationship Id="rId15" Type="http://schemas.openxmlformats.org/officeDocument/2006/relationships/image" Target="../media/image69.png"/><Relationship Id="rId14" Type="http://schemas.openxmlformats.org/officeDocument/2006/relationships/image" Target="../media/image56.png"/><Relationship Id="rId13" Type="http://schemas.openxmlformats.org/officeDocument/2006/relationships/image" Target="../media/image55.png"/><Relationship Id="rId12" Type="http://schemas.openxmlformats.org/officeDocument/2006/relationships/image" Target="../media/image68.png"/><Relationship Id="rId11" Type="http://schemas.openxmlformats.org/officeDocument/2006/relationships/image" Target="../media/image53.png"/><Relationship Id="rId10" Type="http://schemas.openxmlformats.org/officeDocument/2006/relationships/image" Target="../media/image52.png"/><Relationship Id="rId1"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6.png"/><Relationship Id="rId1" Type="http://schemas.openxmlformats.org/officeDocument/2006/relationships/image" Target="../media/image7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8.png"/></Relationships>
</file>

<file path=ppt/slides/_rels/slide33.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86.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8" Type="http://schemas.openxmlformats.org/officeDocument/2006/relationships/slideLayout" Target="../slideLayouts/slideLayout1.xml"/><Relationship Id="rId17" Type="http://schemas.openxmlformats.org/officeDocument/2006/relationships/image" Target="../media/image95.png"/><Relationship Id="rId16" Type="http://schemas.openxmlformats.org/officeDocument/2006/relationships/image" Target="../media/image94.png"/><Relationship Id="rId15" Type="http://schemas.openxmlformats.org/officeDocument/2006/relationships/image" Target="../media/image93.png"/><Relationship Id="rId14" Type="http://schemas.openxmlformats.org/officeDocument/2006/relationships/image" Target="../media/image92.png"/><Relationship Id="rId13" Type="http://schemas.openxmlformats.org/officeDocument/2006/relationships/image" Target="../media/image91.png"/><Relationship Id="rId12" Type="http://schemas.openxmlformats.org/officeDocument/2006/relationships/image" Target="../media/image90.png"/><Relationship Id="rId11" Type="http://schemas.openxmlformats.org/officeDocument/2006/relationships/image" Target="../media/image89.png"/><Relationship Id="rId10" Type="http://schemas.openxmlformats.org/officeDocument/2006/relationships/image" Target="../media/image88.png"/><Relationship Id="rId1" Type="http://schemas.openxmlformats.org/officeDocument/2006/relationships/image" Target="../media/image79.png"/></Relationships>
</file>

<file path=ppt/slides/_rels/slide34.xml.rels><?xml version="1.0" encoding="UTF-8" standalone="yes"?>
<Relationships xmlns="http://schemas.openxmlformats.org/package/2006/relationships"><Relationship Id="rId9" Type="http://schemas.openxmlformats.org/officeDocument/2006/relationships/image" Target="../media/image92.png"/><Relationship Id="rId8" Type="http://schemas.openxmlformats.org/officeDocument/2006/relationships/image" Target="../media/image91.png"/><Relationship Id="rId7" Type="http://schemas.openxmlformats.org/officeDocument/2006/relationships/image" Target="../media/image90.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2.png"/><Relationship Id="rId2" Type="http://schemas.openxmlformats.org/officeDocument/2006/relationships/image" Target="../media/image81.png"/><Relationship Id="rId11" Type="http://schemas.openxmlformats.org/officeDocument/2006/relationships/slideLayout" Target="../slideLayouts/slideLayout1.xml"/><Relationship Id="rId10" Type="http://schemas.openxmlformats.org/officeDocument/2006/relationships/image" Target="../media/image79.png"/><Relationship Id="rId1" Type="http://schemas.openxmlformats.org/officeDocument/2006/relationships/image" Target="../media/image8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6.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image" Target="../media/image9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2" name="矩形: 圆角 11"/>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第八讲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一阶逻辑公式的语法</a:t>
            </a:r>
            <a:endParaRPr lang="zh-CN" altLang="en-US" sz="4800" b="1">
              <a:latin typeface="仿宋" panose="02010609060101010101" pitchFamily="49" charset="-122"/>
              <a:ea typeface="仿宋" panose="02010609060101010101" pitchFamily="49" charset="-122"/>
            </a:endParaRPr>
          </a:p>
        </p:txBody>
      </p:sp>
      <p:sp>
        <p:nvSpPr>
          <p:cNvPr id="13" name="文本框 12"/>
          <p:cNvSpPr txBox="1"/>
          <p:nvPr/>
        </p:nvSpPr>
        <p:spPr>
          <a:xfrm>
            <a:off x="4450971" y="2722153"/>
            <a:ext cx="3447535" cy="706755"/>
          </a:xfrm>
          <a:prstGeom prst="rect">
            <a:avLst/>
          </a:prstGeom>
          <a:noFill/>
        </p:spPr>
        <p:txBody>
          <a:bodyPr wrap="square" rtlCol="0">
            <a:spAutoFit/>
          </a:bodyPr>
          <a:lstStyle/>
          <a:p>
            <a:pPr algn="ctr"/>
            <a:r>
              <a:rPr lang="zh-CN" altLang="en-US" sz="4000">
                <a:solidFill>
                  <a:srgbClr val="210694"/>
                </a:solidFill>
                <a:latin typeface="楷体" panose="02010609060101010101" pitchFamily="49" charset="-122"/>
                <a:ea typeface="楷体" panose="02010609060101010101" pitchFamily="49" charset="-122"/>
              </a:rPr>
              <a:t>李</a:t>
            </a:r>
            <a:r>
              <a:rPr lang="zh-CN" altLang="en-US" sz="4000">
                <a:solidFill>
                  <a:srgbClr val="210694"/>
                </a:solidFill>
                <a:latin typeface="楷体" panose="02010609060101010101" pitchFamily="49" charset="-122"/>
                <a:ea typeface="楷体" panose="02010609060101010101" pitchFamily="49" charset="-122"/>
              </a:rPr>
              <a:t>绿周</a:t>
            </a:r>
            <a:endParaRPr lang="zh-CN" altLang="en-US" sz="4000">
              <a:solidFill>
                <a:srgbClr val="210694"/>
              </a:solidFill>
              <a:latin typeface="楷体" panose="02010609060101010101" pitchFamily="49" charset="-122"/>
              <a:ea typeface="楷体" panose="02010609060101010101" pitchFamily="49" charset="-122"/>
            </a:endParaRP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endParaRPr lang="zh-CN" altLang="en-US" sz="3200" b="1">
              <a:solidFill>
                <a:schemeClr val="accent6">
                  <a:lumMod val="50000"/>
                </a:schemeClr>
              </a:solidFill>
              <a:latin typeface="仿宋" panose="02010609060101010101" pitchFamily="49" charset="-122"/>
              <a:ea typeface="仿宋" panose="02010609060101010101" pitchFamily="49" charset="-122"/>
            </a:endParaRPr>
          </a:p>
        </p:txBody>
      </p:sp>
      <p:sp>
        <p:nvSpPr>
          <p:cNvPr id="15" name="文本框 14"/>
          <p:cNvSpPr txBox="1"/>
          <p:nvPr/>
        </p:nvSpPr>
        <p:spPr>
          <a:xfrm>
            <a:off x="4843849" y="4559643"/>
            <a:ext cx="2866767" cy="46037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10</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endPar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p:txBody>
      </p:sp>
      <p:sp>
        <p:nvSpPr>
          <p:cNvPr id="16" name="文本框 15"/>
          <p:cNvSpPr txBox="1"/>
          <p:nvPr/>
        </p:nvSpPr>
        <p:spPr>
          <a:xfrm>
            <a:off x="1705232" y="5288692"/>
            <a:ext cx="9094573" cy="829945"/>
          </a:xfrm>
          <a:prstGeom prst="rect">
            <a:avLst/>
          </a:prstGeom>
          <a:noFill/>
        </p:spPr>
        <p:txBody>
          <a:bodyPr wrap="square" rtlCol="0">
            <a:spAutoFit/>
          </a:bodyPr>
          <a:lstStyle/>
          <a:p>
            <a:pPr algn="ctr"/>
            <a:r>
              <a:rPr lang="en-US" altLang="zh-CN" sz="2400">
                <a:solidFill>
                  <a:srgbClr val="FF0000"/>
                </a:solidFill>
                <a:hlinkClick r:id="rId1"/>
              </a:rPr>
              <a:t>https://mooc1-1.chaoxing.com/course/216273730.html</a:t>
            </a:r>
            <a:endParaRPr lang="en-US" altLang="zh-CN" sz="2400">
              <a:solidFill>
                <a:srgbClr val="FF0000"/>
              </a:solidFill>
            </a:endParaRPr>
          </a:p>
          <a:p>
            <a:pPr algn="ctr"/>
            <a:r>
              <a:rPr lang="en-US" altLang="zh-CN" sz="2400">
                <a:solidFill>
                  <a:srgbClr val="FF0000"/>
                </a:solidFill>
              </a:rPr>
              <a:t>lilvzh@mail.sysu.edu.cn</a:t>
            </a:r>
            <a:endParaRPr lang="zh-CN" altLang="en-US" sz="2400">
              <a:solidFill>
                <a:srgbClr val="FF0000"/>
              </a:solidFill>
            </a:endParaRPr>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endParaRPr lang="zh-CN" altLang="en-US"/>
          </a:p>
        </p:txBody>
      </p:sp>
      <p:sp>
        <p:nvSpPr>
          <p:cNvPr id="16" name="文本框 15"/>
          <p:cNvSpPr txBox="1"/>
          <p:nvPr/>
        </p:nvSpPr>
        <p:spPr>
          <a:xfrm>
            <a:off x="988729" y="1528271"/>
            <a:ext cx="10214538" cy="2739340"/>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endParaRPr lang="zh-CN" altLang="en-US" sz="2800" b="1">
              <a:solidFill>
                <a:srgbClr val="C00000"/>
              </a:solidFill>
              <a:latin typeface="楷体" panose="02010609060101010101" pitchFamily="49" charset="-122"/>
              <a:ea typeface="楷体" panose="02010609060101010101" pitchFamily="49" charset="-122"/>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能理解个体、个体类、谓词、特征谓词、量词和论域等基本概念</a:t>
            </a:r>
            <a:endParaRPr lang="zh-CN" altLang="en-US" sz="2400" b="1">
              <a:solidFill>
                <a:srgbClr val="002060"/>
              </a:solidFill>
              <a:latin typeface="+mn-ea"/>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能给出一阶逻辑公式的抽象语法树，说明每个量词的辖域</a:t>
            </a:r>
            <a:endParaRPr lang="zh-CN" altLang="en-US" sz="2400" b="1">
              <a:solidFill>
                <a:srgbClr val="002060"/>
              </a:solidFill>
              <a:latin typeface="+mn-ea"/>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能说明一阶逻辑公式中个体变量的出现是自由出现还是约束出现</a:t>
            </a:r>
            <a:endParaRPr lang="zh-CN" altLang="en-US" sz="2400" b="1">
              <a:solidFill>
                <a:srgbClr val="002060"/>
              </a:solidFill>
              <a:latin typeface="+mn-ea"/>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能说明一阶逻辑公式的个体变量是自由变量还是约束变量</a:t>
            </a:r>
            <a:endParaRPr lang="zh-CN" altLang="en-US" sz="2400" b="1">
              <a:solidFill>
                <a:srgbClr val="002060"/>
              </a:solidFill>
              <a:latin typeface="+mn-ea"/>
            </a:endParaRPr>
          </a:p>
        </p:txBody>
      </p:sp>
      <p:sp>
        <p:nvSpPr>
          <p:cNvPr id="18" name="文本框 17"/>
          <p:cNvSpPr txBox="1"/>
          <p:nvPr/>
        </p:nvSpPr>
        <p:spPr>
          <a:xfrm>
            <a:off x="988728" y="4694962"/>
            <a:ext cx="10214539"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endParaRPr lang="zh-CN" altLang="en-US" sz="3200" b="1">
              <a:solidFill>
                <a:srgbClr val="C00000"/>
              </a:solidFill>
              <a:latin typeface="楷体" panose="02010609060101010101" pitchFamily="49" charset="-122"/>
              <a:ea typeface="楷体" panose="02010609060101010101" pitchFamily="49" charset="-122"/>
            </a:endParaRP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如何确定一个逻辑公式中的个体变量是自由出现还是约束出现？</a:t>
            </a:r>
            <a:endParaRPr lang="en-US" altLang="zh-CN" sz="2800" b="1">
              <a:solidFill>
                <a:schemeClr val="accent6">
                  <a:lumMod val="50000"/>
                </a:schemeClr>
              </a:solidFill>
              <a:latin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1011" y="1883439"/>
            <a:ext cx="4733732" cy="2870016"/>
          </a:xfrm>
          <a:prstGeom prst="rect">
            <a:avLst/>
          </a:prstGeom>
          <a:noFill/>
        </p:spPr>
        <p:txBody>
          <a:bodyPr wrap="square" rtlCol="0">
            <a:spAutoFit/>
          </a:bodyPr>
          <a:lstStyle/>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一阶逻辑的基本概念</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一阶逻辑公式的语法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自由变量和约束变量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逻辑部分的内容概览</a:t>
            </a:r>
            <a:endParaRPr lang="zh-CN" altLang="en-US"/>
          </a:p>
        </p:txBody>
      </p:sp>
      <p:grpSp>
        <p:nvGrpSpPr>
          <p:cNvPr id="6" name="组合 5"/>
          <p:cNvGrpSpPr/>
          <p:nvPr/>
        </p:nvGrpSpPr>
        <p:grpSpPr>
          <a:xfrm>
            <a:off x="849711" y="1380931"/>
            <a:ext cx="10492576" cy="2048069"/>
            <a:chOff x="855194" y="1380931"/>
            <a:chExt cx="10492576" cy="2048069"/>
          </a:xfrm>
        </p:grpSpPr>
        <p:sp>
          <p:nvSpPr>
            <p:cNvPr id="4" name="矩形 3"/>
            <p:cNvSpPr/>
            <p:nvPr/>
          </p:nvSpPr>
          <p:spPr>
            <a:xfrm>
              <a:off x="855194" y="1380931"/>
              <a:ext cx="10492576" cy="2048069"/>
            </a:xfrm>
            <a:prstGeom prst="rect">
              <a:avLst/>
            </a:prstGeom>
            <a:solidFill>
              <a:schemeClr val="accent4">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318601" y="1494243"/>
              <a:ext cx="7669868" cy="1046440"/>
            </a:xfrm>
            <a:prstGeom prst="rect">
              <a:avLst/>
            </a:prstGeom>
            <a:noFill/>
          </p:spPr>
          <p:txBody>
            <a:bodyPr wrap="square" rtlCol="0">
              <a:spAutoFit/>
            </a:bodyPr>
            <a:lstStyle/>
            <a:p>
              <a:pPr algn="ctr">
                <a:spcBef>
                  <a:spcPts val="600"/>
                </a:spcBef>
                <a:spcAft>
                  <a:spcPts val="600"/>
                </a:spcAft>
              </a:pPr>
              <a:r>
                <a:rPr lang="zh-CN" altLang="en-US" sz="2800" b="1" dirty="0">
                  <a:solidFill>
                    <a:srgbClr val="210694"/>
                  </a:solidFill>
                </a:rPr>
                <a:t>命题逻辑（第二章）</a:t>
              </a:r>
              <a:endParaRPr lang="en-US" altLang="zh-CN" sz="2800" b="1" dirty="0">
                <a:solidFill>
                  <a:srgbClr val="210694"/>
                </a:solidFill>
              </a:endParaRPr>
            </a:p>
            <a:p>
              <a:pPr algn="ctr">
                <a:spcBef>
                  <a:spcPts val="600"/>
                </a:spcBef>
                <a:spcAft>
                  <a:spcPts val="600"/>
                </a:spcAft>
              </a:pPr>
              <a:r>
                <a:rPr lang="zh-CN" altLang="en-US" sz="2400" b="1" dirty="0">
                  <a:solidFill>
                    <a:srgbClr val="C00000"/>
                  </a:solidFill>
                  <a:latin typeface="楷体" panose="02010609060101010101" pitchFamily="49" charset="-122"/>
                  <a:ea typeface="楷体" panose="02010609060101010101" pitchFamily="49" charset="-122"/>
                </a:rPr>
                <a:t>重点考察复合命题与基本命题（原子命题）之间的联系</a:t>
              </a:r>
              <a:endParaRPr lang="zh-CN" altLang="en-US" sz="2400" b="1" dirty="0">
                <a:solidFill>
                  <a:srgbClr val="C00000"/>
                </a:solidFill>
                <a:latin typeface="楷体" panose="02010609060101010101" pitchFamily="49" charset="-122"/>
                <a:ea typeface="楷体" panose="02010609060101010101" pitchFamily="49" charset="-122"/>
              </a:endParaRPr>
            </a:p>
          </p:txBody>
        </p:sp>
        <p:sp>
          <p:nvSpPr>
            <p:cNvPr id="3" name="文本框 2"/>
            <p:cNvSpPr txBox="1"/>
            <p:nvPr/>
          </p:nvSpPr>
          <p:spPr>
            <a:xfrm>
              <a:off x="925228" y="2704894"/>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基本概念</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（第三讲）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11" name="文本框 10"/>
            <p:cNvSpPr txBox="1"/>
            <p:nvPr/>
          </p:nvSpPr>
          <p:spPr>
            <a:xfrm>
              <a:off x="2686293"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公式语法</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（第三讲）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12" name="文本框 11"/>
            <p:cNvSpPr txBox="1"/>
            <p:nvPr/>
          </p:nvSpPr>
          <p:spPr>
            <a:xfrm>
              <a:off x="4464094"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公式语义</a:t>
              </a:r>
              <a:r>
                <a:rPr lang="zh-CN" altLang="en-US" dirty="0">
                  <a:solidFill>
                    <a:schemeClr val="accent6">
                      <a:lumMod val="50000"/>
                    </a:schemeClr>
                  </a:solidFill>
                  <a:latin typeface="楷体" panose="02010609060101010101" pitchFamily="49" charset="-122"/>
                  <a:ea typeface="楷体" panose="02010609060101010101" pitchFamily="49" charset="-122"/>
                </a:rPr>
                <a:t>（第三讲）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13" name="文本框 12"/>
            <p:cNvSpPr txBox="1"/>
            <p:nvPr/>
          </p:nvSpPr>
          <p:spPr>
            <a:xfrm>
              <a:off x="6177135" y="2704893"/>
              <a:ext cx="1559084"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等值演算</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（第四、五讲）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14" name="文本框 13"/>
            <p:cNvSpPr txBox="1"/>
            <p:nvPr/>
          </p:nvSpPr>
          <p:spPr>
            <a:xfrm>
              <a:off x="8038686"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推理理论</a:t>
              </a:r>
              <a:r>
                <a:rPr lang="zh-CN" altLang="en-US" dirty="0">
                  <a:solidFill>
                    <a:schemeClr val="accent6">
                      <a:lumMod val="50000"/>
                    </a:schemeClr>
                  </a:solidFill>
                  <a:latin typeface="楷体" panose="02010609060101010101" pitchFamily="49" charset="-122"/>
                  <a:ea typeface="楷体" panose="02010609060101010101" pitchFamily="49" charset="-122"/>
                </a:rPr>
                <a:t>（第六讲）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15" name="文本框 14"/>
            <p:cNvSpPr txBox="1"/>
            <p:nvPr/>
          </p:nvSpPr>
          <p:spPr>
            <a:xfrm>
              <a:off x="9846959" y="2704893"/>
              <a:ext cx="1393373" cy="646331"/>
            </a:xfrm>
            <a:prstGeom prst="rect">
              <a:avLst/>
            </a:prstGeom>
            <a:solidFill>
              <a:schemeClr val="accent4">
                <a:lumMod val="20000"/>
                <a:lumOff val="80000"/>
              </a:schemeClr>
            </a:solidFill>
            <a:ln>
              <a:solidFill>
                <a:schemeClr val="accent4">
                  <a:lumMod val="60000"/>
                  <a:lumOff val="40000"/>
                </a:schemeClr>
              </a:solidFill>
            </a:ln>
          </p:spPr>
          <p:txBody>
            <a:bodyPr wrap="square" rtlCol="0">
              <a:spAutoFit/>
            </a:bodyPr>
            <a:lstStyle/>
            <a:p>
              <a:pPr algn="ctr"/>
              <a:r>
                <a:rPr lang="zh-CN" altLang="en-US" b="1" dirty="0">
                  <a:solidFill>
                    <a:schemeClr val="accent2">
                      <a:lumMod val="50000"/>
                    </a:schemeClr>
                  </a:solidFill>
                </a:rPr>
                <a:t>应用</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（第七讲）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grpSp>
      <p:sp>
        <p:nvSpPr>
          <p:cNvPr id="19" name="矩形 18"/>
          <p:cNvSpPr/>
          <p:nvPr/>
        </p:nvSpPr>
        <p:spPr>
          <a:xfrm>
            <a:off x="855194" y="3780676"/>
            <a:ext cx="10492576" cy="2167637"/>
          </a:xfrm>
          <a:prstGeom prst="rect">
            <a:avLst/>
          </a:prstGeom>
          <a:solidFill>
            <a:schemeClr val="accent2">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2516855" y="4823839"/>
            <a:ext cx="7588581" cy="1046440"/>
          </a:xfrm>
          <a:prstGeom prst="rect">
            <a:avLst/>
          </a:prstGeom>
          <a:noFill/>
        </p:spPr>
        <p:txBody>
          <a:bodyPr wrap="square" rtlCol="0">
            <a:spAutoFit/>
          </a:bodyPr>
          <a:lstStyle/>
          <a:p>
            <a:pPr algn="ctr">
              <a:spcBef>
                <a:spcPts val="600"/>
              </a:spcBef>
              <a:spcAft>
                <a:spcPts val="600"/>
              </a:spcAft>
            </a:pPr>
            <a:r>
              <a:rPr lang="zh-CN" altLang="en-US" sz="2400" b="1" dirty="0">
                <a:solidFill>
                  <a:srgbClr val="C00000"/>
                </a:solidFill>
                <a:latin typeface="楷体" panose="02010609060101010101" pitchFamily="49" charset="-122"/>
                <a:ea typeface="楷体" panose="02010609060101010101" pitchFamily="49" charset="-122"/>
              </a:rPr>
              <a:t>对原子命题进行细化，更精细描述量化命题之间的联系</a:t>
            </a:r>
            <a:endParaRPr lang="en-US" altLang="zh-CN" sz="2400" b="1" dirty="0">
              <a:solidFill>
                <a:srgbClr val="C0000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800" b="1" dirty="0">
                <a:solidFill>
                  <a:srgbClr val="210694"/>
                </a:solidFill>
              </a:rPr>
              <a:t>一阶逻辑（第三章）</a:t>
            </a:r>
            <a:endParaRPr lang="en-US" altLang="zh-CN" sz="2800" b="1" dirty="0">
              <a:solidFill>
                <a:srgbClr val="210694"/>
              </a:solidFill>
            </a:endParaRPr>
          </a:p>
        </p:txBody>
      </p:sp>
      <p:sp>
        <p:nvSpPr>
          <p:cNvPr id="21" name="文本框 20"/>
          <p:cNvSpPr txBox="1"/>
          <p:nvPr/>
        </p:nvSpPr>
        <p:spPr>
          <a:xfrm>
            <a:off x="940872" y="4025610"/>
            <a:ext cx="1393373"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基本概念</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（第八讲）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22" name="文本框 21"/>
          <p:cNvSpPr txBox="1"/>
          <p:nvPr/>
        </p:nvSpPr>
        <p:spPr>
          <a:xfrm>
            <a:off x="2686293" y="4025611"/>
            <a:ext cx="1393373"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公式语法</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（第八讲）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23" name="文本框 22"/>
          <p:cNvSpPr txBox="1"/>
          <p:nvPr/>
        </p:nvSpPr>
        <p:spPr>
          <a:xfrm>
            <a:off x="4464094" y="4025611"/>
            <a:ext cx="1393373"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公式语义</a:t>
            </a:r>
            <a:r>
              <a:rPr lang="zh-CN" altLang="en-US" dirty="0">
                <a:solidFill>
                  <a:schemeClr val="accent6">
                    <a:lumMod val="50000"/>
                  </a:schemeClr>
                </a:solidFill>
                <a:latin typeface="楷体" panose="02010609060101010101" pitchFamily="49" charset="-122"/>
                <a:ea typeface="楷体" panose="02010609060101010101" pitchFamily="49" charset="-122"/>
              </a:rPr>
              <a:t>（第九讲）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24" name="文本框 23"/>
          <p:cNvSpPr txBox="1"/>
          <p:nvPr/>
        </p:nvSpPr>
        <p:spPr>
          <a:xfrm>
            <a:off x="6291147" y="4025610"/>
            <a:ext cx="1306925"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等值演算</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（第十讲）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25" name="文本框 24"/>
          <p:cNvSpPr txBox="1"/>
          <p:nvPr/>
        </p:nvSpPr>
        <p:spPr>
          <a:xfrm>
            <a:off x="7953307" y="4025609"/>
            <a:ext cx="1509016"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推理理论</a:t>
            </a:r>
            <a:r>
              <a:rPr lang="zh-CN" altLang="en-US" dirty="0">
                <a:solidFill>
                  <a:schemeClr val="accent6">
                    <a:lumMod val="50000"/>
                  </a:schemeClr>
                </a:solidFill>
                <a:latin typeface="楷体" panose="02010609060101010101" pitchFamily="49" charset="-122"/>
                <a:ea typeface="楷体" panose="02010609060101010101" pitchFamily="49" charset="-122"/>
              </a:rPr>
              <a:t>（第十一讲）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26" name="文本框 25"/>
          <p:cNvSpPr txBox="1"/>
          <p:nvPr/>
        </p:nvSpPr>
        <p:spPr>
          <a:xfrm>
            <a:off x="9809554" y="4026091"/>
            <a:ext cx="1457218" cy="646331"/>
          </a:xfrm>
          <a:prstGeom prst="rect">
            <a:avLst/>
          </a:prstGeom>
          <a:solidFill>
            <a:schemeClr val="accent2">
              <a:lumMod val="20000"/>
              <a:lumOff val="80000"/>
            </a:schemeClr>
          </a:solidFill>
          <a:ln>
            <a:solidFill>
              <a:schemeClr val="accent2">
                <a:lumMod val="60000"/>
                <a:lumOff val="40000"/>
              </a:schemeClr>
            </a:solidFill>
          </a:ln>
        </p:spPr>
        <p:txBody>
          <a:bodyPr wrap="square" rtlCol="0">
            <a:spAutoFit/>
          </a:bodyPr>
          <a:lstStyle/>
          <a:p>
            <a:pPr algn="ctr"/>
            <a:r>
              <a:rPr lang="zh-CN" altLang="en-US" b="1" dirty="0">
                <a:solidFill>
                  <a:schemeClr val="accent2">
                    <a:lumMod val="50000"/>
                  </a:schemeClr>
                </a:solidFill>
              </a:rPr>
              <a:t>应用</a:t>
            </a:r>
            <a:endParaRPr lang="en-US" altLang="zh-CN" b="1" dirty="0">
              <a:solidFill>
                <a:schemeClr val="accent2">
                  <a:lumMod val="50000"/>
                </a:schemeClr>
              </a:solidFill>
            </a:endParaRPr>
          </a:p>
          <a:p>
            <a:pPr algn="ctr"/>
            <a:r>
              <a:rPr lang="zh-CN" altLang="en-US" dirty="0">
                <a:solidFill>
                  <a:schemeClr val="accent6">
                    <a:lumMod val="50000"/>
                  </a:schemeClr>
                </a:solidFill>
                <a:latin typeface="楷体" panose="02010609060101010101" pitchFamily="49" charset="-122"/>
                <a:ea typeface="楷体" panose="02010609060101010101" pitchFamily="49" charset="-122"/>
              </a:rPr>
              <a:t>（第十二讲）</a:t>
            </a:r>
            <a:endParaRPr lang="zh-CN" altLang="en-US" dirty="0">
              <a:solidFill>
                <a:schemeClr val="accent6">
                  <a:lumMod val="50000"/>
                </a:schemeClr>
              </a:solidFill>
              <a:latin typeface="楷体" panose="02010609060101010101" pitchFamily="49" charset="-122"/>
              <a:ea typeface="楷体" panose="02010609060101010101" pitchFamily="49" charset="-122"/>
            </a:endParaRPr>
          </a:p>
        </p:txBody>
      </p:sp>
      <p:sp>
        <p:nvSpPr>
          <p:cNvPr id="16" name="箭头: 下 15"/>
          <p:cNvSpPr/>
          <p:nvPr/>
        </p:nvSpPr>
        <p:spPr>
          <a:xfrm>
            <a:off x="1570712" y="3345390"/>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p:cNvSpPr/>
          <p:nvPr/>
        </p:nvSpPr>
        <p:spPr>
          <a:xfrm>
            <a:off x="3332876" y="3365560"/>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27"/>
          <p:cNvSpPr/>
          <p:nvPr/>
        </p:nvSpPr>
        <p:spPr>
          <a:xfrm>
            <a:off x="5105194" y="3358391"/>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p:cNvSpPr/>
          <p:nvPr/>
        </p:nvSpPr>
        <p:spPr>
          <a:xfrm>
            <a:off x="6901091" y="3358391"/>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下 29"/>
          <p:cNvSpPr/>
          <p:nvPr/>
        </p:nvSpPr>
        <p:spPr>
          <a:xfrm>
            <a:off x="8683819" y="3365560"/>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下 30"/>
          <p:cNvSpPr/>
          <p:nvPr/>
        </p:nvSpPr>
        <p:spPr>
          <a:xfrm>
            <a:off x="10538162" y="3334305"/>
            <a:ext cx="100206" cy="680219"/>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右 31"/>
          <p:cNvSpPr/>
          <p:nvPr/>
        </p:nvSpPr>
        <p:spPr>
          <a:xfrm>
            <a:off x="2334245" y="2990490"/>
            <a:ext cx="346565" cy="8820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 name="箭头: 右 32"/>
          <p:cNvSpPr/>
          <p:nvPr/>
        </p:nvSpPr>
        <p:spPr>
          <a:xfrm>
            <a:off x="4085668" y="2983953"/>
            <a:ext cx="346565" cy="8820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 name="箭头: 右 33"/>
          <p:cNvSpPr/>
          <p:nvPr/>
        </p:nvSpPr>
        <p:spPr>
          <a:xfrm>
            <a:off x="9460743" y="2990490"/>
            <a:ext cx="346565" cy="88209"/>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 name="箭头: 右 34"/>
          <p:cNvSpPr/>
          <p:nvPr/>
        </p:nvSpPr>
        <p:spPr>
          <a:xfrm>
            <a:off x="5878363" y="2983971"/>
            <a:ext cx="293290" cy="88191"/>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 name="箭头: 右 35"/>
          <p:cNvSpPr/>
          <p:nvPr/>
        </p:nvSpPr>
        <p:spPr>
          <a:xfrm>
            <a:off x="7748343" y="2983971"/>
            <a:ext cx="293290" cy="88191"/>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7" name="箭头: 右 36"/>
          <p:cNvSpPr/>
          <p:nvPr/>
        </p:nvSpPr>
        <p:spPr>
          <a:xfrm>
            <a:off x="2352902" y="4260584"/>
            <a:ext cx="327907"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右 37"/>
          <p:cNvSpPr/>
          <p:nvPr/>
        </p:nvSpPr>
        <p:spPr>
          <a:xfrm>
            <a:off x="7616987" y="4260585"/>
            <a:ext cx="328315"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p:cNvSpPr/>
          <p:nvPr/>
        </p:nvSpPr>
        <p:spPr>
          <a:xfrm>
            <a:off x="4098990" y="4257424"/>
            <a:ext cx="357099"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p:cNvSpPr/>
          <p:nvPr/>
        </p:nvSpPr>
        <p:spPr>
          <a:xfrm>
            <a:off x="9479401" y="4257424"/>
            <a:ext cx="327907" cy="74594"/>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p:cNvSpPr/>
          <p:nvPr/>
        </p:nvSpPr>
        <p:spPr>
          <a:xfrm>
            <a:off x="5860458" y="4263652"/>
            <a:ext cx="422684" cy="68366"/>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一阶逻辑的引入</a:t>
            </a:r>
            <a:endParaRPr lang="zh-CN" altLang="en-US"/>
          </a:p>
        </p:txBody>
      </p:sp>
      <p:sp>
        <p:nvSpPr>
          <p:cNvPr id="11" name="矩形: 圆角 10"/>
          <p:cNvSpPr/>
          <p:nvPr/>
        </p:nvSpPr>
        <p:spPr>
          <a:xfrm>
            <a:off x="507832" y="1133935"/>
            <a:ext cx="329905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为什么需要一阶逻辑？</a:t>
            </a:r>
            <a:endParaRPr lang="zh-CN" altLang="en-US" sz="2400" b="1" dirty="0">
              <a:solidFill>
                <a:schemeClr val="accent2">
                  <a:lumMod val="50000"/>
                </a:schemeClr>
              </a:solidFill>
            </a:endParaRPr>
          </a:p>
        </p:txBody>
      </p:sp>
      <p:sp>
        <p:nvSpPr>
          <p:cNvPr id="2" name="文本框 1"/>
          <p:cNvSpPr txBox="1"/>
          <p:nvPr/>
        </p:nvSpPr>
        <p:spPr>
          <a:xfrm>
            <a:off x="5069096" y="3352109"/>
            <a:ext cx="3534663" cy="2003562"/>
          </a:xfrm>
          <a:prstGeom prst="rect">
            <a:avLst/>
          </a:prstGeom>
          <a:solidFill>
            <a:schemeClr val="accent5">
              <a:lumMod val="20000"/>
              <a:lumOff val="80000"/>
              <a:alpha val="50000"/>
            </a:schemeClr>
          </a:solidFill>
        </p:spPr>
        <p:txBody>
          <a:bodyPr wrap="square" rtlCol="0">
            <a:spAutoFit/>
          </a:bodyPr>
          <a:lstStyle/>
          <a:p>
            <a:pPr>
              <a:lnSpc>
                <a:spcPts val="3000"/>
              </a:lnSpc>
              <a:spcBef>
                <a:spcPts val="600"/>
              </a:spcBef>
              <a:spcAft>
                <a:spcPts val="300"/>
              </a:spcAft>
            </a:pPr>
            <a:r>
              <a:rPr lang="zh-CN" altLang="en-US" sz="2000" b="1">
                <a:solidFill>
                  <a:schemeClr val="accent2">
                    <a:lumMod val="50000"/>
                  </a:schemeClr>
                </a:solidFill>
              </a:rPr>
              <a:t>命题逻辑不能表达</a:t>
            </a:r>
            <a:r>
              <a:rPr lang="zh-CN" altLang="en-US" sz="2000" b="1">
                <a:solidFill>
                  <a:srgbClr val="C00000"/>
                </a:solidFill>
              </a:rPr>
              <a:t>对事物类判断</a:t>
            </a:r>
            <a:r>
              <a:rPr lang="zh-CN" altLang="en-US" sz="2000" b="1">
                <a:solidFill>
                  <a:schemeClr val="accent2">
                    <a:lumMod val="50000"/>
                  </a:schemeClr>
                </a:solidFill>
              </a:rPr>
              <a:t>和</a:t>
            </a:r>
            <a:r>
              <a:rPr lang="zh-CN" altLang="en-US" sz="2000" b="1">
                <a:solidFill>
                  <a:srgbClr val="C00000"/>
                </a:solidFill>
              </a:rPr>
              <a:t>对具体事物判断</a:t>
            </a:r>
            <a:r>
              <a:rPr lang="zh-CN" altLang="en-US" sz="2000" b="1">
                <a:solidFill>
                  <a:schemeClr val="accent2">
                    <a:lumMod val="50000"/>
                  </a:schemeClr>
                </a:solidFill>
              </a:rPr>
              <a:t>间的联系</a:t>
            </a:r>
            <a:endParaRPr lang="en-US" altLang="zh-CN" sz="2000" b="1">
              <a:solidFill>
                <a:schemeClr val="accent2">
                  <a:lumMod val="50000"/>
                </a:schemeClr>
              </a:solidFill>
            </a:endParaRPr>
          </a:p>
          <a:p>
            <a:pPr marL="285750" indent="-285750">
              <a:lnSpc>
                <a:spcPts val="2800"/>
              </a:lnSpc>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从而无法验证一些常见推理的有效性，不能深入研究逻辑推理的规律</a:t>
            </a:r>
            <a:endParaRPr lang="zh-CN" altLang="en-US" b="1">
              <a:solidFill>
                <a:srgbClr val="002060"/>
              </a:solidFill>
              <a:latin typeface="楷体" panose="02010609060101010101" pitchFamily="49" charset="-122"/>
              <a:ea typeface="楷体" panose="02010609060101010101" pitchFamily="49" charset="-122"/>
            </a:endParaRPr>
          </a:p>
        </p:txBody>
      </p:sp>
      <p:grpSp>
        <p:nvGrpSpPr>
          <p:cNvPr id="12" name="组合 11"/>
          <p:cNvGrpSpPr/>
          <p:nvPr/>
        </p:nvGrpSpPr>
        <p:grpSpPr>
          <a:xfrm>
            <a:off x="1385657" y="1879080"/>
            <a:ext cx="9420684" cy="1255042"/>
            <a:chOff x="1179212" y="2606428"/>
            <a:chExt cx="9420684" cy="1255042"/>
          </a:xfrm>
        </p:grpSpPr>
        <p:grpSp>
          <p:nvGrpSpPr>
            <p:cNvPr id="13" name="组合 12"/>
            <p:cNvGrpSpPr/>
            <p:nvPr/>
          </p:nvGrpSpPr>
          <p:grpSpPr>
            <a:xfrm>
              <a:off x="1760654" y="2788066"/>
              <a:ext cx="8249132" cy="861774"/>
              <a:chOff x="1948897" y="2025505"/>
              <a:chExt cx="8249132" cy="861774"/>
            </a:xfrm>
          </p:grpSpPr>
          <p:sp>
            <p:nvSpPr>
              <p:cNvPr id="19" name="文本框 18"/>
              <p:cNvSpPr txBox="1"/>
              <p:nvPr/>
            </p:nvSpPr>
            <p:spPr>
              <a:xfrm>
                <a:off x="1948897" y="2025505"/>
                <a:ext cx="4201517" cy="861774"/>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所有计算机专业学生学习离散数学</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张三是计算机专业学生</a:t>
                </a:r>
                <a:endParaRPr lang="zh-CN" altLang="en-US" sz="2000" b="1">
                  <a:solidFill>
                    <a:srgbClr val="002060"/>
                  </a:solidFill>
                  <a:latin typeface="楷体" panose="02010609060101010101" pitchFamily="49" charset="-122"/>
                  <a:ea typeface="楷体" panose="02010609060101010101" pitchFamily="49" charset="-122"/>
                </a:endParaRPr>
              </a:p>
            </p:txBody>
          </p:sp>
          <p:sp>
            <p:nvSpPr>
              <p:cNvPr id="20" name="文本框 19"/>
              <p:cNvSpPr txBox="1"/>
              <p:nvPr/>
            </p:nvSpPr>
            <p:spPr>
              <a:xfrm>
                <a:off x="7924165" y="2309602"/>
                <a:ext cx="2273864" cy="400110"/>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张三学习离散数学</a:t>
                </a:r>
                <a:endParaRPr lang="en-US" altLang="zh-CN" sz="2000" b="1">
                  <a:solidFill>
                    <a:srgbClr val="002060"/>
                  </a:solidFill>
                  <a:latin typeface="楷体" panose="02010609060101010101" pitchFamily="49" charset="-122"/>
                  <a:ea typeface="楷体" panose="02010609060101010101" pitchFamily="49" charset="-122"/>
                </a:endParaRPr>
              </a:p>
            </p:txBody>
          </p:sp>
          <p:sp>
            <p:nvSpPr>
              <p:cNvPr id="21" name="箭头: 右 20"/>
              <p:cNvSpPr/>
              <p:nvPr/>
            </p:nvSpPr>
            <p:spPr>
              <a:xfrm>
                <a:off x="6165230" y="2441205"/>
                <a:ext cx="1744119" cy="83672"/>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6371884" y="2110154"/>
                <a:ext cx="1330810" cy="313350"/>
              </a:xfrm>
              <a:prstGeom prst="rect">
                <a:avLst/>
              </a:prstGeom>
              <a:solidFill>
                <a:schemeClr val="accent2">
                  <a:lumMod val="20000"/>
                  <a:lumOff val="80000"/>
                </a:schemeClr>
              </a:solidFill>
            </p:spPr>
            <p:txBody>
              <a:bodyPr wrap="square" tIns="0" bIns="36000" rtlCol="0">
                <a:spAutoFit/>
              </a:bodyPr>
              <a:lstStyle/>
              <a:p>
                <a:pPr algn="ctr"/>
                <a:r>
                  <a:rPr lang="zh-CN" altLang="en-US">
                    <a:solidFill>
                      <a:srgbClr val="C00000"/>
                    </a:solidFill>
                    <a:latin typeface="黑体" panose="02010609060101010101" pitchFamily="49" charset="-122"/>
                    <a:ea typeface="黑体" panose="02010609060101010101" pitchFamily="49" charset="-122"/>
                  </a:rPr>
                  <a:t>能推出吗？</a:t>
                </a:r>
                <a:endParaRPr lang="zh-CN" altLang="en-US">
                  <a:solidFill>
                    <a:srgbClr val="C00000"/>
                  </a:solidFill>
                  <a:latin typeface="黑体" panose="02010609060101010101" pitchFamily="49" charset="-122"/>
                  <a:ea typeface="黑体" panose="02010609060101010101" pitchFamily="49" charset="-122"/>
                </a:endParaRPr>
              </a:p>
            </p:txBody>
          </p:sp>
        </p:grpSp>
        <p:sp>
          <p:nvSpPr>
            <p:cNvPr id="14" name="矩形: 圆角 13"/>
            <p:cNvSpPr/>
            <p:nvPr/>
          </p:nvSpPr>
          <p:spPr>
            <a:xfrm>
              <a:off x="1179212" y="2606428"/>
              <a:ext cx="9420684" cy="125504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179212" y="3071906"/>
              <a:ext cx="712345" cy="369332"/>
            </a:xfrm>
            <a:prstGeom prst="rect">
              <a:avLst/>
            </a:prstGeom>
            <a:noFill/>
          </p:spPr>
          <p:txBody>
            <a:bodyPr wrap="square" rtlCol="0">
              <a:spAutoFit/>
            </a:bodyPr>
            <a:lstStyle/>
            <a:p>
              <a:pPr algn="ctr"/>
              <a:r>
                <a:rPr lang="zh-CN" altLang="en-US">
                  <a:solidFill>
                    <a:schemeClr val="accent2">
                      <a:lumMod val="50000"/>
                    </a:schemeClr>
                  </a:solidFill>
                </a:rPr>
                <a:t>前提</a:t>
              </a:r>
              <a:endParaRPr lang="zh-CN" altLang="en-US">
                <a:solidFill>
                  <a:schemeClr val="accent2">
                    <a:lumMod val="50000"/>
                  </a:schemeClr>
                </a:solidFill>
              </a:endParaRPr>
            </a:p>
          </p:txBody>
        </p:sp>
        <p:sp>
          <p:nvSpPr>
            <p:cNvPr id="16" name="文本框 15"/>
            <p:cNvSpPr txBox="1"/>
            <p:nvPr/>
          </p:nvSpPr>
          <p:spPr>
            <a:xfrm>
              <a:off x="9887551" y="3075241"/>
              <a:ext cx="712345" cy="369332"/>
            </a:xfrm>
            <a:prstGeom prst="rect">
              <a:avLst/>
            </a:prstGeom>
            <a:noFill/>
          </p:spPr>
          <p:txBody>
            <a:bodyPr wrap="square" rtlCol="0">
              <a:spAutoFit/>
            </a:bodyPr>
            <a:lstStyle/>
            <a:p>
              <a:pPr algn="ctr"/>
              <a:r>
                <a:rPr lang="zh-CN" altLang="en-US">
                  <a:solidFill>
                    <a:schemeClr val="accent2">
                      <a:lumMod val="50000"/>
                    </a:schemeClr>
                  </a:solidFill>
                </a:rPr>
                <a:t>结论</a:t>
              </a:r>
              <a:endParaRPr lang="zh-CN" altLang="en-US">
                <a:solidFill>
                  <a:schemeClr val="accent2">
                    <a:lumMod val="50000"/>
                  </a:schemeClr>
                </a:solidFill>
              </a:endParaRPr>
            </a:p>
          </p:txBody>
        </p:sp>
        <mc:AlternateContent xmlns:mc="http://schemas.openxmlformats.org/markup-compatibility/2006">
          <mc:Choice xmlns:a14="http://schemas.microsoft.com/office/drawing/2010/main" Requires="a14">
            <p:sp>
              <p:nvSpPr>
                <p:cNvPr id="18" name="文本框 17"/>
                <p:cNvSpPr txBox="1"/>
                <p:nvPr/>
              </p:nvSpPr>
              <p:spPr>
                <a:xfrm>
                  <a:off x="6146377" y="3348931"/>
                  <a:ext cx="1405339" cy="307777"/>
                </a:xfrm>
                <a:prstGeom prst="rect">
                  <a:avLst/>
                </a:prstGeom>
                <a:solidFill>
                  <a:schemeClr val="accent1">
                    <a:lumMod val="20000"/>
                    <a:lumOff val="80000"/>
                    <a:alpha val="50000"/>
                  </a:schemeClr>
                </a:solidFill>
              </p:spPr>
              <p:txBody>
                <a:bodyPr wrap="square" lIns="0" tIns="0" rIns="0" bIns="0" rtlCol="0">
                  <a:spAutoFit/>
                </a:bodyPr>
                <a:lstStyle/>
                <a:p>
                  <a:pPr algn="ct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𝒑</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𝒓</m:t>
                      </m:r>
                    </m:oMath>
                  </a14:m>
                  <a:r>
                    <a:rPr lang="en-US" altLang="zh-CN" sz="2000" b="1">
                      <a:solidFill>
                        <a:schemeClr val="accent2">
                          <a:lumMod val="50000"/>
                        </a:schemeClr>
                      </a:solidFill>
                    </a:rPr>
                    <a:t> ?</a:t>
                  </a:r>
                  <a:endParaRPr lang="zh-CN" altLang="en-US" sz="2000" b="1">
                    <a:solidFill>
                      <a:schemeClr val="accent2">
                        <a:lumMod val="50000"/>
                      </a:schemeClr>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6146377" y="3348931"/>
                  <a:ext cx="1405339" cy="307777"/>
                </a:xfrm>
                <a:prstGeom prst="rect">
                  <a:avLst/>
                </a:prstGeom>
                <a:blipFill rotWithShape="1">
                  <a:blip r:embed="rId1"/>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4" name="文本框 3"/>
              <p:cNvSpPr txBox="1"/>
              <p:nvPr/>
            </p:nvSpPr>
            <p:spPr>
              <a:xfrm>
                <a:off x="554780" y="3367874"/>
                <a:ext cx="4053017" cy="1969770"/>
              </a:xfrm>
              <a:prstGeom prst="rect">
                <a:avLst/>
              </a:prstGeom>
              <a:solidFill>
                <a:schemeClr val="accent2">
                  <a:lumMod val="20000"/>
                  <a:lumOff val="80000"/>
                  <a:alpha val="50000"/>
                </a:schemeClr>
              </a:solidFill>
            </p:spPr>
            <p:txBody>
              <a:bodyPr wrap="square" rtlCol="0">
                <a:spAutoFit/>
              </a:bodyPr>
              <a:lstStyle/>
              <a:p>
                <a:pPr algn="ctr">
                  <a:spcBef>
                    <a:spcPts val="300"/>
                  </a:spcBef>
                  <a:spcAft>
                    <a:spcPts val="600"/>
                  </a:spcAft>
                </a:pPr>
                <a:r>
                  <a:rPr lang="zh-CN" altLang="en-US" sz="2000" b="1">
                    <a:solidFill>
                      <a:schemeClr val="accent2">
                        <a:lumMod val="50000"/>
                      </a:schemeClr>
                    </a:solidFill>
                    <a:latin typeface="楷体" panose="02010609060101010101" pitchFamily="49" charset="-122"/>
                    <a:ea typeface="楷体" panose="02010609060101010101" pitchFamily="49" charset="-122"/>
                  </a:rPr>
                  <a:t>命题逻辑</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a:spcBef>
                    <a:spcPts val="300"/>
                  </a:spcBef>
                  <a:spcAft>
                    <a:spcPts val="600"/>
                  </a:spcAft>
                </a:pPr>
                <a:r>
                  <a:rPr lang="zh-CN" altLang="en-US" b="1">
                    <a:solidFill>
                      <a:srgbClr val="C00000"/>
                    </a:solidFill>
                  </a:rPr>
                  <a:t>三个命题都只能符号化为原子命题</a:t>
                </a:r>
                <a:endParaRPr lang="en-US" altLang="zh-CN" b="1">
                  <a:solidFill>
                    <a:srgbClr val="C00000"/>
                  </a:solidFill>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𝒑</m:t>
                    </m:r>
                  </m:oMath>
                </a14:m>
                <a:r>
                  <a:rPr lang="en-US" altLang="zh-CN" b="1">
                    <a:solidFill>
                      <a:srgbClr val="002060"/>
                    </a:solidFill>
                    <a:latin typeface="楷体" panose="02010609060101010101" pitchFamily="49" charset="-122"/>
                    <a:ea typeface="楷体" panose="02010609060101010101" pitchFamily="49" charset="-122"/>
                  </a:rPr>
                  <a:t>: </a:t>
                </a:r>
                <a:r>
                  <a:rPr lang="zh-CN" altLang="en-US" b="1">
                    <a:solidFill>
                      <a:srgbClr val="002060"/>
                    </a:solidFill>
                    <a:latin typeface="楷体" panose="02010609060101010101" pitchFamily="49" charset="-122"/>
                    <a:ea typeface="楷体" panose="02010609060101010101" pitchFamily="49" charset="-122"/>
                  </a:rPr>
                  <a:t>所有计算机专业学生学习离散数学</a:t>
                </a:r>
                <a:endParaRPr lang="en-US" altLang="zh-CN" b="1">
                  <a:solidFill>
                    <a:srgbClr val="002060"/>
                  </a:solidFill>
                  <a:latin typeface="楷体" panose="02010609060101010101" pitchFamily="49" charset="-122"/>
                  <a:ea typeface="楷体" panose="02010609060101010101" pitchFamily="49" charset="-122"/>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𝒒</m:t>
                    </m:r>
                  </m:oMath>
                </a14:m>
                <a:r>
                  <a:rPr lang="en-US" altLang="zh-CN" b="1">
                    <a:solidFill>
                      <a:srgbClr val="002060"/>
                    </a:solidFill>
                    <a:latin typeface="楷体" panose="02010609060101010101" pitchFamily="49" charset="-122"/>
                    <a:ea typeface="楷体" panose="02010609060101010101" pitchFamily="49" charset="-122"/>
                  </a:rPr>
                  <a:t>: </a:t>
                </a:r>
                <a:r>
                  <a:rPr lang="zh-CN" altLang="en-US" b="1">
                    <a:solidFill>
                      <a:srgbClr val="002060"/>
                    </a:solidFill>
                    <a:latin typeface="楷体" panose="02010609060101010101" pitchFamily="49" charset="-122"/>
                    <a:ea typeface="楷体" panose="02010609060101010101" pitchFamily="49" charset="-122"/>
                  </a:rPr>
                  <a:t>张三是计算机专业学生</a:t>
                </a:r>
                <a:endParaRPr lang="en-US" altLang="zh-CN" b="1">
                  <a:solidFill>
                    <a:srgbClr val="002060"/>
                  </a:solidFill>
                  <a:latin typeface="楷体" panose="02010609060101010101" pitchFamily="49" charset="-122"/>
                  <a:ea typeface="楷体" panose="02010609060101010101" pitchFamily="49" charset="-122"/>
                </a:endParaRPr>
              </a:p>
              <a:p>
                <a:pPr>
                  <a:spcBef>
                    <a:spcPts val="300"/>
                  </a:spcBef>
                  <a:spcAft>
                    <a:spcPts val="600"/>
                  </a:spcAft>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𝒓</m:t>
                    </m:r>
                  </m:oMath>
                </a14:m>
                <a:r>
                  <a:rPr lang="en-US" altLang="zh-CN" b="1">
                    <a:solidFill>
                      <a:srgbClr val="002060"/>
                    </a:solidFill>
                    <a:latin typeface="楷体" panose="02010609060101010101" pitchFamily="49" charset="-122"/>
                    <a:ea typeface="楷体" panose="02010609060101010101" pitchFamily="49" charset="-122"/>
                  </a:rPr>
                  <a:t>: </a:t>
                </a:r>
                <a:r>
                  <a:rPr lang="zh-CN" altLang="en-US" b="1">
                    <a:solidFill>
                      <a:srgbClr val="002060"/>
                    </a:solidFill>
                    <a:latin typeface="楷体" panose="02010609060101010101" pitchFamily="49" charset="-122"/>
                    <a:ea typeface="楷体" panose="02010609060101010101" pitchFamily="49" charset="-122"/>
                  </a:rPr>
                  <a:t>张三学习离散数学</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554780" y="3367874"/>
                <a:ext cx="4053017" cy="1969770"/>
              </a:xfrm>
              <a:prstGeom prst="rect">
                <a:avLst/>
              </a:prstGeom>
              <a:blipFill rotWithShape="1">
                <a:blip r:embed="rId2"/>
                <a:stretch>
                  <a:fillRect l="-10" t="-24" r="6" b="24"/>
                </a:stretch>
              </a:blipFill>
            </p:spPr>
            <p:txBody>
              <a:bodyPr/>
              <a:lstStyle/>
              <a:p>
                <a:r>
                  <a:rPr lang="zh-CN" altLang="en-US">
                    <a:noFill/>
                  </a:rPr>
                  <a:t> </a:t>
                </a:r>
              </a:p>
            </p:txBody>
          </p:sp>
        </mc:Fallback>
      </mc:AlternateContent>
      <p:sp>
        <p:nvSpPr>
          <p:cNvPr id="6" name="文本框 5"/>
          <p:cNvSpPr txBox="1"/>
          <p:nvPr/>
        </p:nvSpPr>
        <p:spPr>
          <a:xfrm>
            <a:off x="967028" y="5571421"/>
            <a:ext cx="3190532" cy="692626"/>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rgbClr val="C00000"/>
                </a:solidFill>
              </a:rPr>
              <a:t>直观上有效的推理却不是命题逻辑推理理论中的有效推理！</a:t>
            </a:r>
            <a:endParaRPr lang="zh-CN" altLang="en-US" b="1">
              <a:solidFill>
                <a:srgbClr val="C00000"/>
              </a:solidFill>
            </a:endParaRPr>
          </a:p>
        </p:txBody>
      </p:sp>
      <p:sp>
        <p:nvSpPr>
          <p:cNvPr id="23" name="箭头: 下 22"/>
          <p:cNvSpPr/>
          <p:nvPr/>
        </p:nvSpPr>
        <p:spPr>
          <a:xfrm>
            <a:off x="2525371" y="5347462"/>
            <a:ext cx="111833" cy="2239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032916" y="5550966"/>
            <a:ext cx="6093666" cy="723275"/>
          </a:xfrm>
          <a:prstGeom prst="rect">
            <a:avLst/>
          </a:prstGeom>
          <a:solidFill>
            <a:schemeClr val="accent6">
              <a:lumMod val="20000"/>
              <a:lumOff val="80000"/>
              <a:alpha val="50000"/>
            </a:schemeClr>
          </a:solidFill>
        </p:spPr>
        <p:txBody>
          <a:bodyPr wrap="square" rtlCol="0">
            <a:spAutoFit/>
          </a:bodyPr>
          <a:lstStyle/>
          <a:p>
            <a:pPr marL="285750" indent="-285750">
              <a:spcAft>
                <a:spcPts val="600"/>
              </a:spcAft>
              <a:buFont typeface="Arial" panose="020B0604020202020204" pitchFamily="34" charset="0"/>
              <a:buChar char="•"/>
            </a:pPr>
            <a:r>
              <a:rPr lang="zh-CN" altLang="en-US" b="1">
                <a:solidFill>
                  <a:schemeClr val="accent6">
                    <a:lumMod val="50000"/>
                  </a:schemeClr>
                </a:solidFill>
                <a:latin typeface="+mn-ea"/>
              </a:rPr>
              <a:t>“</a:t>
            </a:r>
            <a:r>
              <a:rPr lang="zh-CN" altLang="en-US" b="1">
                <a:solidFill>
                  <a:srgbClr val="002060"/>
                </a:solidFill>
                <a:latin typeface="楷体" panose="02010609060101010101" pitchFamily="49" charset="-122"/>
                <a:ea typeface="楷体" panose="02010609060101010101" pitchFamily="49" charset="-122"/>
              </a:rPr>
              <a:t>所有计算机专业学生学习离散数学</a:t>
            </a:r>
            <a:r>
              <a:rPr lang="zh-CN" altLang="en-US" b="1">
                <a:solidFill>
                  <a:schemeClr val="accent6">
                    <a:lumMod val="50000"/>
                  </a:schemeClr>
                </a:solidFill>
                <a:latin typeface="+mn-ea"/>
              </a:rPr>
              <a:t>”是</a:t>
            </a:r>
            <a:r>
              <a:rPr lang="zh-CN" altLang="en-US" b="1">
                <a:solidFill>
                  <a:srgbClr val="C00000"/>
                </a:solidFill>
                <a:latin typeface="+mn-ea"/>
              </a:rPr>
              <a:t>对事物类判断</a:t>
            </a:r>
            <a:endParaRPr lang="en-US" altLang="zh-CN" b="1">
              <a:solidFill>
                <a:srgbClr val="C00000"/>
              </a:solidFill>
              <a:latin typeface="+mn-ea"/>
            </a:endParaRPr>
          </a:p>
          <a:p>
            <a:pPr marL="285750" indent="-285750">
              <a:spcAft>
                <a:spcPts val="600"/>
              </a:spcAft>
              <a:buFont typeface="Arial" panose="020B0604020202020204" pitchFamily="34" charset="0"/>
              <a:buChar char="•"/>
            </a:pPr>
            <a:r>
              <a:rPr lang="zh-CN" altLang="en-US" b="1">
                <a:solidFill>
                  <a:schemeClr val="accent6">
                    <a:lumMod val="50000"/>
                  </a:schemeClr>
                </a:solidFill>
                <a:latin typeface="+mn-ea"/>
              </a:rPr>
              <a:t>“</a:t>
            </a:r>
            <a:r>
              <a:rPr lang="zh-CN" altLang="en-US" b="1">
                <a:solidFill>
                  <a:srgbClr val="002060"/>
                </a:solidFill>
                <a:latin typeface="楷体" panose="02010609060101010101" pitchFamily="49" charset="-122"/>
                <a:ea typeface="楷体" panose="02010609060101010101" pitchFamily="49" charset="-122"/>
              </a:rPr>
              <a:t>张三是计算机专业学生</a:t>
            </a:r>
            <a:r>
              <a:rPr lang="zh-CN" altLang="en-US" b="1">
                <a:solidFill>
                  <a:schemeClr val="accent6">
                    <a:lumMod val="50000"/>
                  </a:schemeClr>
                </a:solidFill>
                <a:latin typeface="+mn-ea"/>
              </a:rPr>
              <a:t>”是</a:t>
            </a:r>
            <a:r>
              <a:rPr lang="zh-CN" altLang="en-US" b="1">
                <a:solidFill>
                  <a:srgbClr val="C00000"/>
                </a:solidFill>
                <a:latin typeface="+mn-ea"/>
              </a:rPr>
              <a:t>对具体事物判断</a:t>
            </a:r>
            <a:endParaRPr lang="zh-CN" altLang="en-US" b="1">
              <a:solidFill>
                <a:srgbClr val="C00000"/>
              </a:solidFill>
              <a:latin typeface="+mn-ea"/>
            </a:endParaRPr>
          </a:p>
        </p:txBody>
      </p:sp>
      <p:sp>
        <p:nvSpPr>
          <p:cNvPr id="25" name="文本框 24"/>
          <p:cNvSpPr txBox="1"/>
          <p:nvPr/>
        </p:nvSpPr>
        <p:spPr>
          <a:xfrm>
            <a:off x="9065058" y="3390581"/>
            <a:ext cx="2572162" cy="1965090"/>
          </a:xfrm>
          <a:prstGeom prst="rect">
            <a:avLst/>
          </a:prstGeom>
          <a:solidFill>
            <a:schemeClr val="accent5">
              <a:lumMod val="20000"/>
              <a:lumOff val="80000"/>
            </a:schemeClr>
          </a:solidFill>
        </p:spPr>
        <p:txBody>
          <a:bodyPr wrap="square" rtlCol="0">
            <a:spAutoFit/>
          </a:bodyPr>
          <a:lstStyle/>
          <a:p>
            <a:pPr>
              <a:lnSpc>
                <a:spcPts val="3000"/>
              </a:lnSpc>
            </a:pPr>
            <a:r>
              <a:rPr lang="zh-CN" altLang="en-US" sz="2000" b="1">
                <a:solidFill>
                  <a:schemeClr val="accent2">
                    <a:lumMod val="50000"/>
                  </a:schemeClr>
                </a:solidFill>
              </a:rPr>
              <a:t>一阶逻辑将原子命题细分为</a:t>
            </a:r>
            <a:r>
              <a:rPr lang="zh-CN" altLang="en-US" sz="2000" b="1">
                <a:solidFill>
                  <a:srgbClr val="C00000"/>
                </a:solidFill>
              </a:rPr>
              <a:t>谓词</a:t>
            </a:r>
            <a:r>
              <a:rPr lang="zh-CN" altLang="en-US" sz="2000" b="1">
                <a:solidFill>
                  <a:schemeClr val="accent2">
                    <a:lumMod val="50000"/>
                  </a:schemeClr>
                </a:solidFill>
              </a:rPr>
              <a:t>和</a:t>
            </a:r>
            <a:r>
              <a:rPr lang="zh-CN" altLang="en-US" sz="2000" b="1">
                <a:solidFill>
                  <a:srgbClr val="C00000"/>
                </a:solidFill>
              </a:rPr>
              <a:t>个体</a:t>
            </a:r>
            <a:endParaRPr lang="en-US" altLang="zh-CN" sz="2000" b="1">
              <a:solidFill>
                <a:srgbClr val="C00000"/>
              </a:solidFill>
            </a:endParaRPr>
          </a:p>
          <a:p>
            <a:pPr marL="285750" indent="-285750">
              <a:lnSpc>
                <a:spcPts val="2800"/>
              </a:lnSpc>
              <a:spcBef>
                <a:spcPts val="600"/>
              </a:spcBef>
              <a:spcAft>
                <a:spcPts val="3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从而能表达对事物类判断和对具体事物判断间的联系</a:t>
            </a:r>
            <a:endParaRPr lang="zh-CN" altLang="en-US" b="1">
              <a:solidFill>
                <a:srgbClr val="002060"/>
              </a:solidFill>
              <a:latin typeface="楷体" panose="02010609060101010101" pitchFamily="49" charset="-122"/>
              <a:ea typeface="楷体" panose="02010609060101010101" pitchFamily="49" charset="-122"/>
            </a:endParaRPr>
          </a:p>
        </p:txBody>
      </p:sp>
      <p:sp>
        <p:nvSpPr>
          <p:cNvPr id="26" name="箭头: 右 25"/>
          <p:cNvSpPr/>
          <p:nvPr/>
        </p:nvSpPr>
        <p:spPr>
          <a:xfrm>
            <a:off x="8603759" y="4239864"/>
            <a:ext cx="458303" cy="1283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个体、个体类与谓词</a:t>
            </a:r>
            <a:endParaRPr lang="zh-CN" altLang="en-US"/>
          </a:p>
        </p:txBody>
      </p:sp>
      <p:sp>
        <p:nvSpPr>
          <p:cNvPr id="11" name="矩形: 圆角 10"/>
          <p:cNvSpPr/>
          <p:nvPr/>
        </p:nvSpPr>
        <p:spPr>
          <a:xfrm>
            <a:off x="817210" y="1258520"/>
            <a:ext cx="6355651"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一阶逻辑将原子命题的结构细分为个体和谓词</a:t>
            </a:r>
            <a:endParaRPr lang="zh-CN" altLang="en-US" sz="2400" b="1" dirty="0">
              <a:solidFill>
                <a:schemeClr val="accent2">
                  <a:lumMod val="50000"/>
                </a:schemeClr>
              </a:solidFill>
            </a:endParaRPr>
          </a:p>
        </p:txBody>
      </p:sp>
      <p:sp>
        <p:nvSpPr>
          <p:cNvPr id="3" name="文本框 2"/>
          <p:cNvSpPr txBox="1"/>
          <p:nvPr/>
        </p:nvSpPr>
        <p:spPr>
          <a:xfrm>
            <a:off x="812759" y="2008053"/>
            <a:ext cx="4479902" cy="1215717"/>
          </a:xfrm>
          <a:prstGeom prst="rect">
            <a:avLst/>
          </a:prstGeom>
          <a:solidFill>
            <a:schemeClr val="accent5">
              <a:lumMod val="20000"/>
              <a:lumOff val="80000"/>
            </a:schemeClr>
          </a:solidFill>
        </p:spPr>
        <p:txBody>
          <a:bodyPr wrap="square" rtlCol="0">
            <a:spAutoFit/>
          </a:bodyPr>
          <a:lstStyle/>
          <a:p>
            <a:pPr marL="285750" indent="-285750">
              <a:spcBef>
                <a:spcPts val="600"/>
              </a:spcBef>
              <a:spcAft>
                <a:spcPts val="300"/>
              </a:spcAft>
              <a:buFont typeface="Arial" panose="020B0604020202020204" pitchFamily="34" charset="0"/>
              <a:buChar char="•"/>
            </a:pPr>
            <a:r>
              <a:rPr lang="zh-CN" altLang="en-US" sz="2000" b="1">
                <a:solidFill>
                  <a:srgbClr val="C00000"/>
                </a:solidFill>
              </a:rPr>
              <a:t>个体</a:t>
            </a:r>
            <a:r>
              <a:rPr lang="zh-CN" altLang="en-US" sz="2000" b="1">
                <a:solidFill>
                  <a:srgbClr val="002060"/>
                </a:solidFill>
                <a:latin typeface="楷体" panose="02010609060101010101" pitchFamily="49" charset="-122"/>
                <a:ea typeface="楷体" panose="02010609060101010101" pitchFamily="49" charset="-122"/>
              </a:rPr>
              <a:t>：原子命题要判断的事物</a:t>
            </a:r>
            <a:endParaRPr lang="en-US" altLang="zh-CN" sz="2000" b="1">
              <a:solidFill>
                <a:srgbClr val="002060"/>
              </a:solidFill>
              <a:latin typeface="楷体" panose="02010609060101010101" pitchFamily="49" charset="-122"/>
              <a:ea typeface="楷体" panose="02010609060101010101" pitchFamily="49" charset="-122"/>
            </a:endParaRPr>
          </a:p>
          <a:p>
            <a:pPr marL="742950" lvl="1"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mn-ea"/>
              </a:rPr>
              <a:t>多个个体作为一个整体称为</a:t>
            </a:r>
            <a:r>
              <a:rPr lang="zh-CN" altLang="en-US" b="1">
                <a:solidFill>
                  <a:srgbClr val="C00000"/>
                </a:solidFill>
                <a:latin typeface="+mn-ea"/>
              </a:rPr>
              <a:t>个体类</a:t>
            </a:r>
            <a:endParaRPr lang="en-US" altLang="zh-CN" b="1">
              <a:solidFill>
                <a:srgbClr val="C00000"/>
              </a:solidFill>
              <a:latin typeface="+mn-ea"/>
            </a:endParaRPr>
          </a:p>
          <a:p>
            <a:pPr marL="285750" indent="-285750">
              <a:spcBef>
                <a:spcPts val="600"/>
              </a:spcBef>
              <a:spcAft>
                <a:spcPts val="300"/>
              </a:spcAft>
              <a:buFont typeface="Arial" panose="020B0604020202020204" pitchFamily="34" charset="0"/>
              <a:buChar char="•"/>
            </a:pPr>
            <a:r>
              <a:rPr lang="zh-CN" altLang="en-US" sz="2000" b="1">
                <a:solidFill>
                  <a:srgbClr val="C00000"/>
                </a:solidFill>
              </a:rPr>
              <a:t>谓词</a:t>
            </a:r>
            <a:r>
              <a:rPr lang="zh-CN" altLang="en-US" sz="2000" b="1">
                <a:solidFill>
                  <a:srgbClr val="002060"/>
                </a:solidFill>
                <a:latin typeface="楷体" panose="02010609060101010101" pitchFamily="49" charset="-122"/>
                <a:ea typeface="楷体" panose="02010609060101010101" pitchFamily="49" charset="-122"/>
              </a:rPr>
              <a:t>：原子命题给出的性质或关系</a:t>
            </a:r>
            <a:endParaRPr lang="zh-CN" altLang="en-US" sz="2000" b="1">
              <a:solidFill>
                <a:srgbClr val="002060"/>
              </a:solidFill>
              <a:latin typeface="楷体" panose="02010609060101010101" pitchFamily="49" charset="-122"/>
              <a:ea typeface="楷体" panose="02010609060101010101" pitchFamily="49" charset="-122"/>
            </a:endParaRPr>
          </a:p>
        </p:txBody>
      </p:sp>
      <p:sp>
        <p:nvSpPr>
          <p:cNvPr id="32" name="文本框 31"/>
          <p:cNvSpPr txBox="1"/>
          <p:nvPr/>
        </p:nvSpPr>
        <p:spPr>
          <a:xfrm>
            <a:off x="812759" y="5725503"/>
            <a:ext cx="4110714" cy="400110"/>
          </a:xfrm>
          <a:prstGeom prst="rect">
            <a:avLst/>
          </a:prstGeom>
          <a:solidFill>
            <a:schemeClr val="accent5">
              <a:lumMod val="20000"/>
              <a:lumOff val="80000"/>
              <a:alpha val="50000"/>
            </a:schemeClr>
          </a:solidFill>
        </p:spPr>
        <p:txBody>
          <a:bodyPr wrap="square" rtlCol="0">
            <a:spAutoFit/>
          </a:bodyPr>
          <a:lstStyle/>
          <a:p>
            <a:pPr marL="285750" indent="-285750">
              <a:spcBef>
                <a:spcPts val="600"/>
              </a:spcBef>
              <a:spcAft>
                <a:spcPts val="300"/>
              </a:spcAft>
              <a:buFont typeface="Arial" panose="020B0604020202020204" pitchFamily="34" charset="0"/>
              <a:buChar char="•"/>
            </a:pPr>
            <a:r>
              <a:rPr lang="zh-CN" altLang="en-US" sz="2000" b="1">
                <a:solidFill>
                  <a:srgbClr val="C00000"/>
                </a:solidFill>
              </a:rPr>
              <a:t>具体命题</a:t>
            </a:r>
            <a:r>
              <a:rPr lang="zh-CN" altLang="en-US" sz="2000" b="1">
                <a:solidFill>
                  <a:srgbClr val="002060"/>
                </a:solidFill>
                <a:latin typeface="楷体" panose="02010609060101010101" pitchFamily="49" charset="-122"/>
                <a:ea typeface="楷体" panose="02010609060101010101" pitchFamily="49" charset="-122"/>
              </a:rPr>
              <a:t>：对具体个体进行判断</a:t>
            </a:r>
            <a:endParaRPr lang="en-US" altLang="zh-CN" sz="2000" b="1">
              <a:solidFill>
                <a:srgbClr val="002060"/>
              </a:solidFill>
              <a:latin typeface="楷体" panose="02010609060101010101" pitchFamily="49" charset="-122"/>
              <a:ea typeface="楷体" panose="02010609060101010101" pitchFamily="49" charset="-122"/>
            </a:endParaRPr>
          </a:p>
        </p:txBody>
      </p:sp>
      <p:grpSp>
        <p:nvGrpSpPr>
          <p:cNvPr id="6" name="组合 5"/>
          <p:cNvGrpSpPr/>
          <p:nvPr/>
        </p:nvGrpSpPr>
        <p:grpSpPr>
          <a:xfrm>
            <a:off x="1503137" y="3740751"/>
            <a:ext cx="2887926" cy="1722171"/>
            <a:chOff x="5004201" y="1838882"/>
            <a:chExt cx="2887926" cy="1722171"/>
          </a:xfrm>
        </p:grpSpPr>
        <p:grpSp>
          <p:nvGrpSpPr>
            <p:cNvPr id="30" name="组合 29"/>
            <p:cNvGrpSpPr/>
            <p:nvPr/>
          </p:nvGrpSpPr>
          <p:grpSpPr>
            <a:xfrm>
              <a:off x="5004201" y="1838882"/>
              <a:ext cx="2887926" cy="1374889"/>
              <a:chOff x="5052224" y="1838882"/>
              <a:chExt cx="2887926" cy="1374889"/>
            </a:xfrm>
          </p:grpSpPr>
          <p:sp>
            <p:nvSpPr>
              <p:cNvPr id="4" name="文本框 3"/>
              <p:cNvSpPr txBox="1"/>
              <p:nvPr/>
            </p:nvSpPr>
            <p:spPr>
              <a:xfrm>
                <a:off x="5193983" y="2055677"/>
                <a:ext cx="2746167"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张三是计算机专业学生</a:t>
                </a:r>
                <a:endParaRPr lang="zh-CN" altLang="en-US" sz="2000" b="1">
                  <a:solidFill>
                    <a:srgbClr val="002060"/>
                  </a:solidFill>
                  <a:latin typeface="楷体" panose="02010609060101010101" pitchFamily="49" charset="-122"/>
                  <a:ea typeface="楷体" panose="02010609060101010101" pitchFamily="49" charset="-122"/>
                </a:endParaRPr>
              </a:p>
            </p:txBody>
          </p:sp>
          <p:cxnSp>
            <p:nvCxnSpPr>
              <p:cNvPr id="13" name="直接连接符 12"/>
              <p:cNvCxnSpPr/>
              <p:nvPr/>
            </p:nvCxnSpPr>
            <p:spPr>
              <a:xfrm>
                <a:off x="5815286" y="1838882"/>
                <a:ext cx="0" cy="13748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118009" y="2710308"/>
                <a:ext cx="631526" cy="338554"/>
              </a:xfrm>
              <a:prstGeom prst="rect">
                <a:avLst/>
              </a:prstGeom>
              <a:solidFill>
                <a:schemeClr val="accent2">
                  <a:lumMod val="20000"/>
                  <a:lumOff val="80000"/>
                </a:schemeClr>
              </a:solidFill>
            </p:spPr>
            <p:txBody>
              <a:bodyPr wrap="square" rtlCol="0">
                <a:spAutoFit/>
              </a:bodyPr>
              <a:lstStyle/>
              <a:p>
                <a:pPr algn="ctr"/>
                <a:r>
                  <a:rPr lang="zh-CN" altLang="en-US" sz="1600" b="1">
                    <a:solidFill>
                      <a:schemeClr val="accent2">
                        <a:lumMod val="50000"/>
                      </a:schemeClr>
                    </a:solidFill>
                  </a:rPr>
                  <a:t>个体</a:t>
                </a:r>
                <a:endParaRPr lang="zh-CN" altLang="en-US" sz="1600" b="1">
                  <a:solidFill>
                    <a:schemeClr val="accent2">
                      <a:lumMod val="50000"/>
                    </a:schemeClr>
                  </a:solidFill>
                </a:endParaRPr>
              </a:p>
            </p:txBody>
          </p:sp>
          <p:sp>
            <p:nvSpPr>
              <p:cNvPr id="18" name="箭头: 上 17"/>
              <p:cNvSpPr/>
              <p:nvPr/>
            </p:nvSpPr>
            <p:spPr>
              <a:xfrm>
                <a:off x="5455186" y="2455787"/>
                <a:ext cx="45719" cy="254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5052224" y="1998054"/>
                <a:ext cx="763062" cy="112669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6561937" y="2703730"/>
                <a:ext cx="631526" cy="338554"/>
              </a:xfrm>
              <a:prstGeom prst="rect">
                <a:avLst/>
              </a:prstGeom>
              <a:solidFill>
                <a:schemeClr val="accent2">
                  <a:lumMod val="20000"/>
                  <a:lumOff val="80000"/>
                </a:schemeClr>
              </a:solidFill>
            </p:spPr>
            <p:txBody>
              <a:bodyPr wrap="square" rtlCol="0">
                <a:spAutoFit/>
              </a:bodyPr>
              <a:lstStyle/>
              <a:p>
                <a:pPr algn="ctr"/>
                <a:r>
                  <a:rPr lang="zh-CN" altLang="en-US" sz="1600" b="1">
                    <a:solidFill>
                      <a:schemeClr val="accent2">
                        <a:lumMod val="50000"/>
                      </a:schemeClr>
                    </a:solidFill>
                  </a:rPr>
                  <a:t>谓词</a:t>
                </a:r>
                <a:endParaRPr lang="zh-CN" altLang="en-US" sz="1600" b="1">
                  <a:solidFill>
                    <a:schemeClr val="accent2">
                      <a:lumMod val="50000"/>
                    </a:schemeClr>
                  </a:solidFill>
                </a:endParaRPr>
              </a:p>
            </p:txBody>
          </p:sp>
          <p:sp>
            <p:nvSpPr>
              <p:cNvPr id="21" name="箭头: 上 20"/>
              <p:cNvSpPr/>
              <p:nvPr/>
            </p:nvSpPr>
            <p:spPr>
              <a:xfrm>
                <a:off x="6839232" y="2448189"/>
                <a:ext cx="45719" cy="254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5815286" y="1998054"/>
                <a:ext cx="2052501" cy="112669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5879096" y="3185677"/>
              <a:ext cx="1166386" cy="375376"/>
            </a:xfrm>
            <a:prstGeom prst="rect">
              <a:avLst/>
            </a:prstGeom>
            <a:solidFill>
              <a:schemeClr val="accent4">
                <a:lumMod val="20000"/>
                <a:lumOff val="80000"/>
              </a:schemeClr>
            </a:solidFill>
          </p:spPr>
          <p:txBody>
            <a:bodyPr wrap="square" rtlCol="0">
              <a:spAutoFit/>
            </a:bodyPr>
            <a:lstStyle/>
            <a:p>
              <a:pPr algn="ctr"/>
              <a:r>
                <a:rPr lang="zh-CN" altLang="en-US" b="1">
                  <a:solidFill>
                    <a:srgbClr val="002060"/>
                  </a:solidFill>
                </a:rPr>
                <a:t>具体命题</a:t>
              </a:r>
              <a:endParaRPr lang="zh-CN" altLang="en-US" b="1">
                <a:solidFill>
                  <a:srgbClr val="002060"/>
                </a:solidFill>
              </a:endParaRPr>
            </a:p>
          </p:txBody>
        </p:sp>
      </p:grpSp>
      <p:grpSp>
        <p:nvGrpSpPr>
          <p:cNvPr id="2" name="组合 1"/>
          <p:cNvGrpSpPr/>
          <p:nvPr/>
        </p:nvGrpSpPr>
        <p:grpSpPr>
          <a:xfrm>
            <a:off x="6295914" y="1887673"/>
            <a:ext cx="4100820" cy="1717221"/>
            <a:chOff x="7910073" y="1838882"/>
            <a:chExt cx="4100820" cy="1717221"/>
          </a:xfrm>
        </p:grpSpPr>
        <p:grpSp>
          <p:nvGrpSpPr>
            <p:cNvPr id="31" name="组合 30"/>
            <p:cNvGrpSpPr/>
            <p:nvPr/>
          </p:nvGrpSpPr>
          <p:grpSpPr>
            <a:xfrm>
              <a:off x="7957878" y="1838882"/>
              <a:ext cx="4053015" cy="1374889"/>
              <a:chOff x="8074746" y="1838882"/>
              <a:chExt cx="4053015" cy="1374889"/>
            </a:xfrm>
          </p:grpSpPr>
          <p:sp>
            <p:nvSpPr>
              <p:cNvPr id="12" name="文本框 11"/>
              <p:cNvSpPr txBox="1"/>
              <p:nvPr/>
            </p:nvSpPr>
            <p:spPr>
              <a:xfrm>
                <a:off x="8074746" y="2055677"/>
                <a:ext cx="4053015"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所有计算机专业学生学习离散数学</a:t>
                </a:r>
                <a:endParaRPr lang="zh-CN" altLang="en-US" sz="2000" b="1">
                  <a:solidFill>
                    <a:srgbClr val="002060"/>
                  </a:solidFill>
                  <a:latin typeface="楷体" panose="02010609060101010101" pitchFamily="49" charset="-122"/>
                  <a:ea typeface="楷体" panose="02010609060101010101" pitchFamily="49" charset="-122"/>
                </a:endParaRPr>
              </a:p>
            </p:txBody>
          </p:sp>
          <p:sp>
            <p:nvSpPr>
              <p:cNvPr id="23" name="矩形: 圆角 22"/>
              <p:cNvSpPr/>
              <p:nvPr/>
            </p:nvSpPr>
            <p:spPr>
              <a:xfrm>
                <a:off x="8686766" y="1998054"/>
                <a:ext cx="1759762" cy="112669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0446528" y="1838882"/>
                <a:ext cx="0" cy="13748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10446527" y="1993526"/>
                <a:ext cx="1578816" cy="112669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9176902" y="2685349"/>
                <a:ext cx="835441" cy="338554"/>
              </a:xfrm>
              <a:prstGeom prst="rect">
                <a:avLst/>
              </a:prstGeom>
              <a:solidFill>
                <a:schemeClr val="accent2">
                  <a:lumMod val="20000"/>
                  <a:lumOff val="80000"/>
                </a:schemeClr>
              </a:solidFill>
            </p:spPr>
            <p:txBody>
              <a:bodyPr wrap="square" rtlCol="0">
                <a:spAutoFit/>
              </a:bodyPr>
              <a:lstStyle/>
              <a:p>
                <a:pPr algn="ctr"/>
                <a:r>
                  <a:rPr lang="zh-CN" altLang="en-US" sz="1600" b="1">
                    <a:solidFill>
                      <a:schemeClr val="accent2">
                        <a:lumMod val="50000"/>
                      </a:schemeClr>
                    </a:solidFill>
                  </a:rPr>
                  <a:t>个体类</a:t>
                </a:r>
                <a:endParaRPr lang="zh-CN" altLang="en-US" sz="1600" b="1">
                  <a:solidFill>
                    <a:schemeClr val="accent2">
                      <a:lumMod val="50000"/>
                    </a:schemeClr>
                  </a:solidFill>
                </a:endParaRPr>
              </a:p>
            </p:txBody>
          </p:sp>
          <p:sp>
            <p:nvSpPr>
              <p:cNvPr id="27" name="文本框 26"/>
              <p:cNvSpPr txBox="1"/>
              <p:nvPr/>
            </p:nvSpPr>
            <p:spPr>
              <a:xfrm>
                <a:off x="10920172" y="2686446"/>
                <a:ext cx="631526" cy="338554"/>
              </a:xfrm>
              <a:prstGeom prst="rect">
                <a:avLst/>
              </a:prstGeom>
              <a:solidFill>
                <a:schemeClr val="accent2">
                  <a:lumMod val="20000"/>
                  <a:lumOff val="80000"/>
                </a:schemeClr>
              </a:solidFill>
            </p:spPr>
            <p:txBody>
              <a:bodyPr wrap="square" rtlCol="0">
                <a:spAutoFit/>
              </a:bodyPr>
              <a:lstStyle/>
              <a:p>
                <a:pPr algn="ctr"/>
                <a:r>
                  <a:rPr lang="zh-CN" altLang="en-US" sz="1600" b="1">
                    <a:solidFill>
                      <a:schemeClr val="accent2">
                        <a:lumMod val="50000"/>
                      </a:schemeClr>
                    </a:solidFill>
                  </a:rPr>
                  <a:t>谓词</a:t>
                </a:r>
                <a:endParaRPr lang="zh-CN" altLang="en-US" sz="1600" b="1">
                  <a:solidFill>
                    <a:schemeClr val="accent2">
                      <a:lumMod val="50000"/>
                    </a:schemeClr>
                  </a:solidFill>
                </a:endParaRPr>
              </a:p>
            </p:txBody>
          </p:sp>
          <p:sp>
            <p:nvSpPr>
              <p:cNvPr id="28" name="箭头: 上 27"/>
              <p:cNvSpPr/>
              <p:nvPr/>
            </p:nvSpPr>
            <p:spPr>
              <a:xfrm>
                <a:off x="9571762" y="2455787"/>
                <a:ext cx="45719" cy="254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上 28"/>
              <p:cNvSpPr/>
              <p:nvPr/>
            </p:nvSpPr>
            <p:spPr>
              <a:xfrm>
                <a:off x="11235935" y="2448189"/>
                <a:ext cx="45719" cy="254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框 32"/>
            <p:cNvSpPr txBox="1"/>
            <p:nvPr/>
          </p:nvSpPr>
          <p:spPr>
            <a:xfrm>
              <a:off x="7910073" y="2702710"/>
              <a:ext cx="631526" cy="338554"/>
            </a:xfrm>
            <a:prstGeom prst="rect">
              <a:avLst/>
            </a:prstGeom>
            <a:solidFill>
              <a:schemeClr val="accent2">
                <a:lumMod val="20000"/>
                <a:lumOff val="80000"/>
              </a:schemeClr>
            </a:solidFill>
          </p:spPr>
          <p:txBody>
            <a:bodyPr wrap="square" rtlCol="0">
              <a:spAutoFit/>
            </a:bodyPr>
            <a:lstStyle/>
            <a:p>
              <a:pPr algn="ctr"/>
              <a:r>
                <a:rPr lang="zh-CN" altLang="en-US" sz="1600" b="1">
                  <a:solidFill>
                    <a:schemeClr val="accent2">
                      <a:lumMod val="50000"/>
                    </a:schemeClr>
                  </a:solidFill>
                </a:rPr>
                <a:t>量词</a:t>
              </a:r>
              <a:endParaRPr lang="zh-CN" altLang="en-US" sz="1600" b="1">
                <a:solidFill>
                  <a:schemeClr val="accent2">
                    <a:lumMod val="50000"/>
                  </a:schemeClr>
                </a:solidFill>
              </a:endParaRPr>
            </a:p>
          </p:txBody>
        </p:sp>
        <p:sp>
          <p:nvSpPr>
            <p:cNvPr id="34" name="箭头: 上 33"/>
            <p:cNvSpPr/>
            <p:nvPr/>
          </p:nvSpPr>
          <p:spPr>
            <a:xfrm>
              <a:off x="8255842" y="2456122"/>
              <a:ext cx="45719" cy="254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9477753" y="3180727"/>
              <a:ext cx="1166386" cy="375376"/>
            </a:xfrm>
            <a:prstGeom prst="rect">
              <a:avLst/>
            </a:prstGeom>
            <a:solidFill>
              <a:schemeClr val="accent4">
                <a:lumMod val="20000"/>
                <a:lumOff val="80000"/>
              </a:schemeClr>
            </a:solidFill>
          </p:spPr>
          <p:txBody>
            <a:bodyPr wrap="square" rtlCol="0">
              <a:spAutoFit/>
            </a:bodyPr>
            <a:lstStyle/>
            <a:p>
              <a:pPr algn="ctr"/>
              <a:r>
                <a:rPr lang="zh-CN" altLang="en-US" b="1">
                  <a:solidFill>
                    <a:srgbClr val="002060"/>
                  </a:solidFill>
                </a:rPr>
                <a:t>量化命题</a:t>
              </a:r>
              <a:endParaRPr lang="zh-CN" altLang="en-US" b="1">
                <a:solidFill>
                  <a:srgbClr val="002060"/>
                </a:solidFill>
              </a:endParaRPr>
            </a:p>
          </p:txBody>
        </p:sp>
      </p:grpSp>
      <p:sp>
        <p:nvSpPr>
          <p:cNvPr id="38" name="文本框 37"/>
          <p:cNvSpPr txBox="1"/>
          <p:nvPr/>
        </p:nvSpPr>
        <p:spPr>
          <a:xfrm>
            <a:off x="5313408" y="3774768"/>
            <a:ext cx="6065833" cy="2351926"/>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300"/>
              </a:spcAft>
            </a:pPr>
            <a:r>
              <a:rPr lang="zh-CN" altLang="en-US" sz="2000" b="1">
                <a:solidFill>
                  <a:srgbClr val="C00000"/>
                </a:solidFill>
              </a:rPr>
              <a:t>量化命题</a:t>
            </a:r>
            <a:r>
              <a:rPr lang="zh-CN" altLang="en-US" sz="2000" b="1">
                <a:solidFill>
                  <a:srgbClr val="002060"/>
                </a:solidFill>
                <a:latin typeface="楷体" panose="02010609060101010101" pitchFamily="49" charset="-122"/>
                <a:ea typeface="楷体" panose="02010609060101010101" pitchFamily="49" charset="-122"/>
              </a:rPr>
              <a:t>：对个体类进行判断</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200"/>
              </a:lnSpc>
              <a:spcBef>
                <a:spcPts val="600"/>
              </a:spcBef>
              <a:spcAft>
                <a:spcPts val="300"/>
              </a:spcAft>
              <a:buFont typeface="Arial" panose="020B0604020202020204" pitchFamily="34" charset="0"/>
              <a:buChar char="•"/>
            </a:pPr>
            <a:r>
              <a:rPr lang="zh-CN" altLang="en-US" b="1">
                <a:solidFill>
                  <a:schemeClr val="accent6">
                    <a:lumMod val="50000"/>
                  </a:schemeClr>
                </a:solidFill>
                <a:latin typeface="+mn-ea"/>
              </a:rPr>
              <a:t>对个体类判断的命题总需要量词</a:t>
            </a:r>
            <a:endParaRPr lang="en-US" altLang="zh-CN" b="1">
              <a:solidFill>
                <a:schemeClr val="accent6">
                  <a:lumMod val="50000"/>
                </a:schemeClr>
              </a:solidFill>
              <a:latin typeface="+mn-ea"/>
            </a:endParaRPr>
          </a:p>
          <a:p>
            <a:pPr marL="285750" indent="-285750">
              <a:lnSpc>
                <a:spcPts val="2200"/>
              </a:lnSpc>
              <a:spcBef>
                <a:spcPts val="600"/>
              </a:spcBef>
              <a:spcAft>
                <a:spcPts val="300"/>
              </a:spcAft>
              <a:buFont typeface="Arial" panose="020B0604020202020204" pitchFamily="34" charset="0"/>
              <a:buChar char="•"/>
            </a:pPr>
            <a:r>
              <a:rPr lang="zh-CN" altLang="en-US" b="1">
                <a:solidFill>
                  <a:schemeClr val="accent6">
                    <a:lumMod val="50000"/>
                  </a:schemeClr>
                </a:solidFill>
                <a:latin typeface="+mn-ea"/>
              </a:rPr>
              <a:t>全称量化命题</a:t>
            </a:r>
            <a:endParaRPr lang="en-US" altLang="zh-CN" b="1">
              <a:solidFill>
                <a:schemeClr val="accent6">
                  <a:lumMod val="50000"/>
                </a:schemeClr>
              </a:solidFill>
              <a:latin typeface="+mn-ea"/>
            </a:endParaRPr>
          </a:p>
          <a:p>
            <a:pPr marL="742950" lvl="1" indent="-285750">
              <a:lnSpc>
                <a:spcPts val="22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用</a:t>
            </a:r>
            <a:r>
              <a:rPr lang="zh-CN" altLang="en-US" b="1">
                <a:solidFill>
                  <a:srgbClr val="C00000"/>
                </a:solidFill>
                <a:latin typeface="楷体" panose="02010609060101010101" pitchFamily="49" charset="-122"/>
                <a:ea typeface="楷体" panose="02010609060101010101" pitchFamily="49" charset="-122"/>
              </a:rPr>
              <a:t>全称量词</a:t>
            </a:r>
            <a:r>
              <a:rPr lang="zh-CN" altLang="en-US" b="1">
                <a:solidFill>
                  <a:schemeClr val="accent2">
                    <a:lumMod val="50000"/>
                  </a:schemeClr>
                </a:solidFill>
                <a:latin typeface="楷体" panose="02010609060101010101" pitchFamily="49" charset="-122"/>
                <a:ea typeface="楷体" panose="02010609060101010101" pitchFamily="49" charset="-122"/>
              </a:rPr>
              <a:t>断定个体类所有个体具有某性质或关系</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285750" indent="-285750">
              <a:lnSpc>
                <a:spcPts val="2200"/>
              </a:lnSpc>
              <a:spcBef>
                <a:spcPts val="600"/>
              </a:spcBef>
              <a:spcAft>
                <a:spcPts val="300"/>
              </a:spcAft>
              <a:buFont typeface="Arial" panose="020B0604020202020204" pitchFamily="34" charset="0"/>
              <a:buChar char="•"/>
            </a:pPr>
            <a:r>
              <a:rPr lang="zh-CN" altLang="en-US" b="1">
                <a:solidFill>
                  <a:schemeClr val="accent6">
                    <a:lumMod val="50000"/>
                  </a:schemeClr>
                </a:solidFill>
                <a:latin typeface="+mn-ea"/>
              </a:rPr>
              <a:t>存在量化命题</a:t>
            </a:r>
            <a:endParaRPr lang="en-US" altLang="zh-CN" b="1">
              <a:solidFill>
                <a:schemeClr val="accent6">
                  <a:lumMod val="50000"/>
                </a:schemeClr>
              </a:solidFill>
              <a:latin typeface="+mn-ea"/>
            </a:endParaRPr>
          </a:p>
          <a:p>
            <a:pPr marL="742950" lvl="1" indent="-285750">
              <a:lnSpc>
                <a:spcPts val="22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用</a:t>
            </a:r>
            <a:r>
              <a:rPr lang="zh-CN" altLang="en-US" b="1">
                <a:solidFill>
                  <a:srgbClr val="C00000"/>
                </a:solidFill>
                <a:latin typeface="楷体" panose="02010609060101010101" pitchFamily="49" charset="-122"/>
                <a:ea typeface="楷体" panose="02010609060101010101" pitchFamily="49" charset="-122"/>
              </a:rPr>
              <a:t>存在量词</a:t>
            </a:r>
            <a:r>
              <a:rPr lang="zh-CN" altLang="en-US" b="1">
                <a:solidFill>
                  <a:schemeClr val="accent2">
                    <a:lumMod val="50000"/>
                  </a:schemeClr>
                </a:solidFill>
                <a:latin typeface="楷体" panose="02010609060101010101" pitchFamily="49" charset="-122"/>
                <a:ea typeface="楷体" panose="02010609060101010101" pitchFamily="49" charset="-122"/>
              </a:rPr>
              <a:t>断定个体类存在个体具有某性质或关系</a:t>
            </a:r>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个体与谓词的符号化与具体命题的符号化</a:t>
            </a:r>
            <a:endParaRPr lang="zh-CN" altLang="en-US"/>
          </a:p>
        </p:txBody>
      </p:sp>
      <mc:AlternateContent xmlns:mc="http://schemas.openxmlformats.org/markup-compatibility/2006">
        <mc:Choice xmlns:a14="http://schemas.microsoft.com/office/drawing/2010/main" Requires="a14">
          <p:sp>
            <p:nvSpPr>
              <p:cNvPr id="37" name="文本框 36"/>
              <p:cNvSpPr txBox="1"/>
              <p:nvPr/>
            </p:nvSpPr>
            <p:spPr>
              <a:xfrm>
                <a:off x="2283257" y="1325720"/>
                <a:ext cx="7625482" cy="2944909"/>
              </a:xfrm>
              <a:prstGeom prst="rect">
                <a:avLst/>
              </a:prstGeom>
              <a:solidFill>
                <a:schemeClr val="accent5">
                  <a:lumMod val="20000"/>
                  <a:lumOff val="80000"/>
                  <a:alpha val="49000"/>
                </a:schemeClr>
              </a:solidFill>
            </p:spPr>
            <p:txBody>
              <a:bodyPr wrap="square" rtlCol="0">
                <a:spAutoFit/>
              </a:bodyPr>
              <a:lstStyle/>
              <a:p>
                <a:pPr algn="ctr">
                  <a:lnSpc>
                    <a:spcPts val="3000"/>
                  </a:lnSpc>
                  <a:spcBef>
                    <a:spcPts val="600"/>
                  </a:spcBef>
                  <a:spcAft>
                    <a:spcPts val="300"/>
                  </a:spcAft>
                </a:pPr>
                <a:r>
                  <a:rPr lang="zh-CN" altLang="en-US" sz="2400" b="1">
                    <a:solidFill>
                      <a:srgbClr val="C00000"/>
                    </a:solidFill>
                  </a:rPr>
                  <a:t>个体与谓词的符号化表示</a:t>
                </a:r>
                <a:endParaRPr lang="en-US" altLang="zh-CN" sz="2400" b="1">
                  <a:solidFill>
                    <a:srgbClr val="C00000"/>
                  </a:solidFill>
                </a:endParaRPr>
              </a:p>
              <a:p>
                <a:pPr marL="285750" indent="-285750">
                  <a:lnSpc>
                    <a:spcPts val="30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具体个体使用字母表前端的小写字母</a:t>
                </a:r>
                <a14:m>
                  <m:oMath xmlns:m="http://schemas.openxmlformats.org/officeDocument/2006/math">
                    <m:r>
                      <a:rPr lang="en-US" altLang="zh-CN" sz="2000" b="1" i="1" smtClean="0">
                        <a:solidFill>
                          <a:srgbClr val="002060"/>
                        </a:solidFill>
                        <a:latin typeface="Cambria Math" panose="02040503050406030204" pitchFamily="18" charset="0"/>
                        <a:cs typeface="Arial" panose="020B0604020202020204" pitchFamily="34" charset="0"/>
                      </a:rPr>
                      <m:t>𝒂</m:t>
                    </m:r>
                    <m:r>
                      <a:rPr lang="en-US" altLang="zh-CN" sz="2000" b="1" i="1" smtClean="0">
                        <a:solidFill>
                          <a:srgbClr val="002060"/>
                        </a:solidFill>
                        <a:latin typeface="Cambria Math" panose="02040503050406030204" pitchFamily="18" charset="0"/>
                        <a:cs typeface="Arial" panose="020B0604020202020204" pitchFamily="34" charset="0"/>
                      </a:rPr>
                      <m:t>, </m:t>
                    </m:r>
                    <m:r>
                      <a:rPr lang="en-US" altLang="zh-CN" sz="2000" b="1" i="1" smtClean="0">
                        <a:solidFill>
                          <a:srgbClr val="002060"/>
                        </a:solidFill>
                        <a:latin typeface="Cambria Math" panose="02040503050406030204" pitchFamily="18" charset="0"/>
                        <a:cs typeface="Arial" panose="020B0604020202020204" pitchFamily="34" charset="0"/>
                      </a:rPr>
                      <m:t>𝒃</m:t>
                    </m:r>
                    <m:r>
                      <a:rPr lang="en-US" altLang="zh-CN" sz="2000" b="1" i="1" smtClean="0">
                        <a:solidFill>
                          <a:srgbClr val="002060"/>
                        </a:solidFill>
                        <a:latin typeface="Cambria Math" panose="02040503050406030204" pitchFamily="18" charset="0"/>
                        <a:cs typeface="Arial" panose="020B0604020202020204" pitchFamily="34" charset="0"/>
                      </a:rPr>
                      <m:t>, </m:t>
                    </m:r>
                    <m:r>
                      <a:rPr lang="en-US" altLang="zh-CN" sz="2000" b="1" i="1" smtClean="0">
                        <a:solidFill>
                          <a:srgbClr val="002060"/>
                        </a:solidFill>
                        <a:latin typeface="Cambria Math" panose="02040503050406030204" pitchFamily="18" charset="0"/>
                        <a:cs typeface="Arial" panose="020B0604020202020204" pitchFamily="34" charset="0"/>
                      </a:rPr>
                      <m:t>𝒄</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表示，称为</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个体常量</a:t>
                </a:r>
                <a:endParaRPr lang="en-US" altLang="zh-CN" sz="2000" b="1">
                  <a:solidFill>
                    <a:srgbClr val="C00000"/>
                  </a:solidFill>
                  <a:latin typeface="黑体" panose="02010609060101010101" pitchFamily="49" charset="-122"/>
                  <a:ea typeface="黑体" panose="02010609060101010101" pitchFamily="49" charset="-122"/>
                  <a:cs typeface="Arial" panose="020B0604020202020204" pitchFamily="34" charset="0"/>
                </a:endParaRPr>
              </a:p>
              <a:p>
                <a:pPr marL="285750" indent="-285750">
                  <a:lnSpc>
                    <a:spcPts val="30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谓词使用字母表中部的大写字母</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cs typeface="Arial" panose="020B0604020202020204" pitchFamily="34" charset="0"/>
                      </a:rPr>
                      <m:t>𝑭</m:t>
                    </m:r>
                    <m:r>
                      <a:rPr lang="en-US" altLang="zh-CN" sz="2000" b="1">
                        <a:solidFill>
                          <a:srgbClr val="002060"/>
                        </a:solidFill>
                        <a:latin typeface="Cambria Math" panose="02040503050406030204" pitchFamily="18" charset="0"/>
                        <a:ea typeface="楷体" panose="02010609060101010101" pitchFamily="49" charset="-122"/>
                        <a:cs typeface="Arial" panose="020B0604020202020204" pitchFamily="34" charset="0"/>
                      </a:rPr>
                      <m:t>, </m:t>
                    </m:r>
                    <m:r>
                      <a:rPr lang="en-US" altLang="zh-CN" sz="2000" b="1">
                        <a:solidFill>
                          <a:srgbClr val="002060"/>
                        </a:solidFill>
                        <a:latin typeface="Cambria Math" panose="02040503050406030204" pitchFamily="18" charset="0"/>
                        <a:ea typeface="楷体" panose="02010609060101010101" pitchFamily="49" charset="-122"/>
                        <a:cs typeface="Arial" panose="020B0604020202020204" pitchFamily="34" charset="0"/>
                      </a:rPr>
                      <m:t>𝑮</m:t>
                    </m:r>
                    <m:r>
                      <a:rPr lang="en-US" altLang="zh-CN" sz="2000" b="1">
                        <a:solidFill>
                          <a:srgbClr val="002060"/>
                        </a:solidFill>
                        <a:latin typeface="Cambria Math" panose="02040503050406030204" pitchFamily="18" charset="0"/>
                        <a:ea typeface="楷体" panose="02010609060101010101" pitchFamily="49" charset="-122"/>
                        <a:cs typeface="Arial" panose="020B0604020202020204" pitchFamily="34" charset="0"/>
                      </a:rPr>
                      <m:t>, </m:t>
                    </m:r>
                    <m:r>
                      <a:rPr lang="en-US" altLang="zh-CN" sz="2000" b="1">
                        <a:solidFill>
                          <a:srgbClr val="002060"/>
                        </a:solidFill>
                        <a:latin typeface="Cambria Math" panose="02040503050406030204" pitchFamily="18" charset="0"/>
                        <a:ea typeface="楷体" panose="02010609060101010101" pitchFamily="49" charset="-122"/>
                        <a:cs typeface="Arial" panose="020B0604020202020204" pitchFamily="34" charset="0"/>
                      </a:rPr>
                      <m:t>𝑯</m:t>
                    </m:r>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表示</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742950" lvl="1" indent="-28575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mn-ea"/>
                    <a:cs typeface="Arial" panose="020B0604020202020204" pitchFamily="34" charset="0"/>
                  </a:rPr>
                  <a:t>谓词总作用于个体，用</a:t>
                </a:r>
                <a:r>
                  <a:rPr lang="zh-CN" altLang="en-US" sz="2000" b="1">
                    <a:solidFill>
                      <a:srgbClr val="C00000"/>
                    </a:solidFill>
                    <a:latin typeface="+mn-ea"/>
                    <a:cs typeface="Arial" panose="020B0604020202020204" pitchFamily="34" charset="0"/>
                  </a:rPr>
                  <a:t>个体变量</a:t>
                </a:r>
                <a:r>
                  <a:rPr lang="zh-CN" altLang="en-US" sz="2000" b="1">
                    <a:solidFill>
                      <a:schemeClr val="accent6">
                        <a:lumMod val="50000"/>
                      </a:schemeClr>
                    </a:solidFill>
                    <a:latin typeface="+mn-ea"/>
                    <a:cs typeface="Arial" panose="020B0604020202020204" pitchFamily="34" charset="0"/>
                  </a:rPr>
                  <a:t>表示谓词可能作用的个体</a:t>
                </a:r>
                <a:endParaRPr lang="en-US" altLang="zh-CN" sz="2000" b="1">
                  <a:solidFill>
                    <a:schemeClr val="accent6">
                      <a:lumMod val="50000"/>
                    </a:schemeClr>
                  </a:solidFill>
                  <a:latin typeface="+mn-ea"/>
                  <a:cs typeface="Arial" panose="020B0604020202020204" pitchFamily="34" charset="0"/>
                </a:endParaRPr>
              </a:p>
              <a:p>
                <a:pPr marL="1200150" lvl="2" indent="-285750">
                  <a:lnSpc>
                    <a:spcPts val="30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个体变量使用字母表后端的小写字母</a:t>
                </a:r>
                <a14:m>
                  <m:oMath xmlns:m="http://schemas.openxmlformats.org/officeDocument/2006/math">
                    <m:r>
                      <a:rPr lang="en-US" altLang="zh-CN" b="1" i="1" smtClean="0">
                        <a:solidFill>
                          <a:schemeClr val="accent2">
                            <a:lumMod val="50000"/>
                          </a:schemeClr>
                        </a:solidFill>
                        <a:latin typeface="Cambria Math" panose="02040503050406030204" pitchFamily="18" charset="0"/>
                        <a:cs typeface="Arial" panose="020B0604020202020204" pitchFamily="34" charset="0"/>
                      </a:rPr>
                      <m:t>𝒙</m:t>
                    </m:r>
                    <m:r>
                      <a:rPr lang="en-US" altLang="zh-CN" b="1" i="1" smtClean="0">
                        <a:solidFill>
                          <a:schemeClr val="accent2">
                            <a:lumMod val="50000"/>
                          </a:schemeClr>
                        </a:solidFill>
                        <a:latin typeface="Cambria Math" panose="02040503050406030204" pitchFamily="18" charset="0"/>
                        <a:cs typeface="Arial" panose="020B0604020202020204" pitchFamily="34" charset="0"/>
                      </a:rPr>
                      <m:t>, </m:t>
                    </m:r>
                    <m:r>
                      <a:rPr lang="en-US" altLang="zh-CN" b="1" i="1" smtClean="0">
                        <a:solidFill>
                          <a:schemeClr val="accent2">
                            <a:lumMod val="50000"/>
                          </a:schemeClr>
                        </a:solidFill>
                        <a:latin typeface="Cambria Math" panose="02040503050406030204" pitchFamily="18" charset="0"/>
                        <a:cs typeface="Arial" panose="020B0604020202020204" pitchFamily="34" charset="0"/>
                      </a:rPr>
                      <m:t>𝒚</m:t>
                    </m:r>
                    <m:r>
                      <a:rPr lang="en-US" altLang="zh-CN" b="1" i="1" smtClean="0">
                        <a:solidFill>
                          <a:schemeClr val="accent2">
                            <a:lumMod val="50000"/>
                          </a:schemeClr>
                        </a:solidFill>
                        <a:latin typeface="Cambria Math" panose="02040503050406030204" pitchFamily="18" charset="0"/>
                        <a:cs typeface="Arial" panose="020B0604020202020204" pitchFamily="34" charset="0"/>
                      </a:rPr>
                      <m:t>, </m:t>
                    </m:r>
                    <m:r>
                      <a:rPr lang="en-US" altLang="zh-CN" b="1" i="1" smtClean="0">
                        <a:solidFill>
                          <a:schemeClr val="accent2">
                            <a:lumMod val="50000"/>
                          </a:schemeClr>
                        </a:solidFill>
                        <a:latin typeface="Cambria Math" panose="02040503050406030204" pitchFamily="18" charset="0"/>
                        <a:cs typeface="Arial" panose="020B0604020202020204" pitchFamily="34" charset="0"/>
                      </a:rPr>
                      <m:t>𝒛</m:t>
                    </m:r>
                  </m:oMath>
                </a14:m>
                <a:r>
                  <a:rPr lang="zh-CN" altLang="en-US"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表示</a:t>
                </a:r>
                <a:endParaRPr lang="en-US" altLang="zh-CN"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endParaRPr>
              </a:p>
              <a:p>
                <a:pPr marL="742950" lvl="1" indent="-285750">
                  <a:lnSpc>
                    <a:spcPts val="30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cs typeface="Arial" panose="020B0604020202020204" pitchFamily="34" charset="0"/>
                  </a:rPr>
                  <a:t>谓词可能作用的个体个数称为谓词的</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元数</a:t>
                </a:r>
                <a:r>
                  <a:rPr lang="en-US" altLang="zh-CN" sz="2000" b="1">
                    <a:solidFill>
                      <a:schemeClr val="accent6">
                        <a:lumMod val="50000"/>
                      </a:schemeClr>
                    </a:solidFill>
                    <a:latin typeface="Arial" panose="020B0604020202020204" pitchFamily="34" charset="0"/>
                    <a:cs typeface="Arial" panose="020B0604020202020204" pitchFamily="34" charset="0"/>
                  </a:rPr>
                  <a:t>(</a:t>
                </a:r>
                <a:r>
                  <a:rPr lang="en-US" altLang="zh-CN" sz="2000">
                    <a:solidFill>
                      <a:schemeClr val="accent6">
                        <a:lumMod val="50000"/>
                      </a:schemeClr>
                    </a:solidFill>
                    <a:latin typeface="Arial" panose="020B0604020202020204" pitchFamily="34" charset="0"/>
                    <a:cs typeface="Arial" panose="020B0604020202020204" pitchFamily="34" charset="0"/>
                  </a:rPr>
                  <a:t>arity</a:t>
                </a:r>
                <a:r>
                  <a:rPr lang="en-US" altLang="zh-CN" sz="2000" b="1">
                    <a:solidFill>
                      <a:schemeClr val="accent6">
                        <a:lumMod val="50000"/>
                      </a:schemeClr>
                    </a:solidFill>
                    <a:latin typeface="Arial" panose="020B0604020202020204" pitchFamily="34" charset="0"/>
                    <a:cs typeface="Arial" panose="020B0604020202020204" pitchFamily="34" charset="0"/>
                  </a:rPr>
                  <a:t>)</a:t>
                </a:r>
                <a:endParaRPr lang="zh-CN" altLang="en-US" sz="2000" b="1">
                  <a:solidFill>
                    <a:schemeClr val="accent6">
                      <a:lumMod val="50000"/>
                    </a:schemeClr>
                  </a:solidFill>
                  <a:latin typeface="Arial" panose="020B0604020202020204" pitchFamily="34" charset="0"/>
                  <a:cs typeface="Arial" panose="020B0604020202020204" pitchFamily="34" charset="0"/>
                </a:endParaRPr>
              </a:p>
            </p:txBody>
          </p:sp>
        </mc:Choice>
        <mc:Fallback>
          <p:sp>
            <p:nvSpPr>
              <p:cNvPr id="37" name="文本框 36"/>
              <p:cNvSpPr txBox="1">
                <a:spLocks noRot="1" noChangeAspect="1" noMove="1" noResize="1" noEditPoints="1" noAdjustHandles="1" noChangeArrowheads="1" noChangeShapeType="1" noTextEdit="1"/>
              </p:cNvSpPr>
              <p:nvPr/>
            </p:nvSpPr>
            <p:spPr>
              <a:xfrm>
                <a:off x="2283257" y="1325720"/>
                <a:ext cx="7625482" cy="2944909"/>
              </a:xfrm>
              <a:prstGeom prst="rect">
                <a:avLst/>
              </a:prstGeom>
              <a:blipFill rotWithShape="1">
                <a:blip r:embed="rId1"/>
                <a:stretch>
                  <a:fillRect l="-6" t="-16" r="3" b="9"/>
                </a:stretch>
              </a:blipFill>
            </p:spPr>
            <p:txBody>
              <a:bodyPr/>
              <a:lstStyle/>
              <a:p>
                <a:r>
                  <a:rPr lang="zh-CN" altLang="en-US">
                    <a:noFill/>
                  </a:rPr>
                  <a:t> </a:t>
                </a:r>
              </a:p>
            </p:txBody>
          </p:sp>
        </mc:Fallback>
      </mc:AlternateContent>
      <p:grpSp>
        <p:nvGrpSpPr>
          <p:cNvPr id="38" name="组合 37"/>
          <p:cNvGrpSpPr/>
          <p:nvPr/>
        </p:nvGrpSpPr>
        <p:grpSpPr>
          <a:xfrm>
            <a:off x="721430" y="4644590"/>
            <a:ext cx="10749135" cy="1210430"/>
            <a:chOff x="690733" y="1269634"/>
            <a:chExt cx="10749135" cy="1210430"/>
          </a:xfrm>
        </p:grpSpPr>
        <p:sp>
          <p:nvSpPr>
            <p:cNvPr id="39" name="箭头: 右 38"/>
            <p:cNvSpPr/>
            <p:nvPr/>
          </p:nvSpPr>
          <p:spPr>
            <a:xfrm>
              <a:off x="5820948" y="1802135"/>
              <a:ext cx="4688018" cy="52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3074781" y="1603607"/>
              <a:ext cx="2746167" cy="400110"/>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张三是计算机专业学生</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41" name="文本框 40"/>
                <p:cNvSpPr txBox="1"/>
                <p:nvPr/>
              </p:nvSpPr>
              <p:spPr>
                <a:xfrm>
                  <a:off x="6309656" y="1341997"/>
                  <a:ext cx="3678573" cy="1091565"/>
                </a:xfrm>
                <a:prstGeom prst="rect">
                  <a:avLst/>
                </a:prstGeom>
                <a:solidFill>
                  <a:schemeClr val="accent5">
                    <a:lumMod val="20000"/>
                    <a:lumOff val="80000"/>
                  </a:schemeClr>
                </a:solidFill>
              </p:spPr>
              <p:txBody>
                <a:bodyPr wrap="square" rtlCol="0">
                  <a:spAutoFit/>
                </a:bodyPr>
                <a:lstStyle/>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“张三”是</a:t>
                  </a:r>
                  <a:r>
                    <a:rPr lang="zh-CN" altLang="en-US" b="1">
                      <a:solidFill>
                        <a:srgbClr val="C00000"/>
                      </a:solidFill>
                      <a:latin typeface="黑体" panose="02010609060101010101" pitchFamily="49" charset="-122"/>
                      <a:ea typeface="黑体" panose="02010609060101010101" pitchFamily="49" charset="-122"/>
                    </a:rPr>
                    <a:t>具体个体</a:t>
                  </a:r>
                  <a:r>
                    <a:rPr lang="zh-CN" altLang="en-US" b="1">
                      <a:solidFill>
                        <a:schemeClr val="accent6">
                          <a:lumMod val="50000"/>
                        </a:schemeClr>
                      </a:solidFill>
                      <a:latin typeface="宋体" panose="02010600030101010101" pitchFamily="2" charset="-122"/>
                      <a:ea typeface="宋体" panose="02010600030101010101" pitchFamily="2" charset="-122"/>
                    </a:rPr>
                    <a:t>，用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𝒂</m:t>
                      </m:r>
                    </m:oMath>
                  </a14:m>
                  <a:r>
                    <a:rPr lang="zh-CN" altLang="en-US" b="1">
                      <a:solidFill>
                        <a:schemeClr val="accent6">
                          <a:lumMod val="50000"/>
                        </a:schemeClr>
                      </a:solidFill>
                      <a:latin typeface="宋体" panose="02010600030101010101" pitchFamily="2" charset="-122"/>
                      <a:ea typeface="宋体" panose="02010600030101010101" pitchFamily="2" charset="-122"/>
                    </a:rPr>
                    <a:t>表示</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a:t>
                  </a:r>
                  <a:r>
                    <a:rPr lang="en-US" altLang="zh-CN" b="1">
                      <a:solidFill>
                        <a:schemeClr val="accent6">
                          <a:lumMod val="50000"/>
                        </a:schemeClr>
                      </a:solidFill>
                      <a:latin typeface="宋体" panose="02010600030101010101" pitchFamily="2" charset="-122"/>
                      <a:ea typeface="宋体" panose="02010600030101010101" pitchFamily="2" charset="-122"/>
                    </a:rPr>
                    <a:t>……</a:t>
                  </a:r>
                  <a:r>
                    <a:rPr lang="zh-CN" altLang="en-US" b="1">
                      <a:solidFill>
                        <a:schemeClr val="accent6">
                          <a:lumMod val="50000"/>
                        </a:schemeClr>
                      </a:solidFill>
                      <a:latin typeface="宋体" panose="02010600030101010101" pitchFamily="2" charset="-122"/>
                      <a:ea typeface="宋体" panose="02010600030101010101" pitchFamily="2" charset="-122"/>
                    </a:rPr>
                    <a:t>是计算</a:t>
                  </a:r>
                  <a:r>
                    <a:rPr lang="zh-CN" altLang="en-US" b="1">
                      <a:solidFill>
                        <a:schemeClr val="accent6">
                          <a:lumMod val="50000"/>
                        </a:schemeClr>
                      </a:solidFill>
                      <a:latin typeface="宋体" panose="02010600030101010101" pitchFamily="2" charset="-122"/>
                      <a:ea typeface="宋体" panose="02010600030101010101" pitchFamily="2" charset="-122"/>
                    </a:rPr>
                    <a:t>机专业学生”是</a:t>
                  </a:r>
                  <a:r>
                    <a:rPr lang="zh-CN" altLang="en-US" b="1">
                      <a:solidFill>
                        <a:srgbClr val="C00000"/>
                      </a:solidFill>
                      <a:latin typeface="黑体" panose="02010609060101010101" pitchFamily="49" charset="-122"/>
                      <a:ea typeface="黑体" panose="02010609060101010101" pitchFamily="49" charset="-122"/>
                    </a:rPr>
                    <a:t>一元谓词</a:t>
                  </a:r>
                  <a:r>
                    <a:rPr lang="zh-CN" altLang="en-US" b="1">
                      <a:solidFill>
                        <a:schemeClr val="accent6">
                          <a:lumMod val="50000"/>
                        </a:schemeClr>
                      </a:solidFill>
                      <a:latin typeface="宋体" panose="02010600030101010101" pitchFamily="2" charset="-122"/>
                      <a:ea typeface="宋体" panose="02010600030101010101" pitchFamily="2" charset="-122"/>
                    </a:rPr>
                    <a:t>，用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𝑷</m:t>
                      </m:r>
                      <m:r>
                        <a:rPr lang="en-US" altLang="zh-CN" b="1" i="1" smtClean="0">
                          <a:solidFill>
                            <a:srgbClr val="C00000"/>
                          </a:solidFill>
                          <a:latin typeface="Cambria Math" panose="02040503050406030204" pitchFamily="18" charset="0"/>
                          <a:ea typeface="宋体" panose="02010600030101010101" pitchFamily="2" charset="-122"/>
                        </a:rPr>
                        <m:t>(</m:t>
                      </m:r>
                      <m:r>
                        <a:rPr lang="en-US" altLang="zh-CN" b="1" i="1" smtClean="0">
                          <a:solidFill>
                            <a:srgbClr val="C00000"/>
                          </a:solidFill>
                          <a:latin typeface="Cambria Math" panose="02040503050406030204" pitchFamily="18" charset="0"/>
                          <a:ea typeface="宋体" panose="02010600030101010101" pitchFamily="2" charset="-122"/>
                        </a:rPr>
                        <m:t>𝒙</m:t>
                      </m:r>
                      <m:r>
                        <a:rPr lang="en-US" altLang="zh-CN" b="1" i="1" smtClean="0">
                          <a:solidFill>
                            <a:srgbClr val="C00000"/>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表示</a:t>
                  </a:r>
                  <a:endParaRPr lang="zh-CN" altLang="en-US"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41" name="文本框 40"/>
                <p:cNvSpPr txBox="1">
                  <a:spLocks noRot="1" noChangeAspect="1" noMove="1" noResize="1" noEditPoints="1" noAdjustHandles="1" noChangeArrowheads="1" noChangeShapeType="1" noTextEdit="1"/>
                </p:cNvSpPr>
                <p:nvPr/>
              </p:nvSpPr>
              <p:spPr>
                <a:xfrm>
                  <a:off x="6309656" y="1341997"/>
                  <a:ext cx="3678573" cy="1091565"/>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10508966" y="1602080"/>
                  <a:ext cx="845881" cy="400110"/>
                </a:xfrm>
                <a:prstGeom prst="rect">
                  <a:avLst/>
                </a:prstGeom>
                <a:solidFill>
                  <a:schemeClr val="accent6">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𝑷</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𝒂</m:t>
                        </m:r>
                        <m:r>
                          <a:rPr lang="en-US" altLang="zh-CN" sz="2000" b="1" i="1" smtClean="0">
                            <a:solidFill>
                              <a:srgbClr val="002060"/>
                            </a:solidFill>
                            <a:latin typeface="Cambria Math" panose="02040503050406030204" pitchFamily="18" charset="0"/>
                            <a:ea typeface="楷体" panose="02010609060101010101" pitchFamily="49" charset="-122"/>
                          </a:rPr>
                          <m:t>)</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42" name="文本框 41"/>
                <p:cNvSpPr txBox="1">
                  <a:spLocks noRot="1" noChangeAspect="1" noMove="1" noResize="1" noEditPoints="1" noAdjustHandles="1" noChangeArrowheads="1" noChangeShapeType="1" noTextEdit="1"/>
                </p:cNvSpPr>
                <p:nvPr/>
              </p:nvSpPr>
              <p:spPr>
                <a:xfrm>
                  <a:off x="10508966" y="1602080"/>
                  <a:ext cx="845881" cy="400110"/>
                </a:xfrm>
                <a:prstGeom prst="rect">
                  <a:avLst/>
                </a:prstGeom>
                <a:blipFill rotWithShape="1">
                  <a:blip r:embed="rId3"/>
                </a:blipFill>
              </p:spPr>
              <p:txBody>
                <a:bodyPr/>
                <a:lstStyle/>
                <a:p>
                  <a:r>
                    <a:rPr lang="zh-CN" altLang="en-US">
                      <a:noFill/>
                    </a:rPr>
                    <a:t> </a:t>
                  </a:r>
                </a:p>
              </p:txBody>
            </p:sp>
          </mc:Fallback>
        </mc:AlternateContent>
        <p:sp>
          <p:nvSpPr>
            <p:cNvPr id="43" name="文本框 42"/>
            <p:cNvSpPr txBox="1"/>
            <p:nvPr/>
          </p:nvSpPr>
          <p:spPr>
            <a:xfrm>
              <a:off x="690733" y="1602080"/>
              <a:ext cx="2249819" cy="400110"/>
            </a:xfrm>
            <a:prstGeom prst="rect">
              <a:avLst/>
            </a:prstGeom>
            <a:noFill/>
          </p:spPr>
          <p:txBody>
            <a:bodyPr wrap="square" rtlCol="0">
              <a:spAutoFit/>
            </a:bodyPr>
            <a:lstStyle/>
            <a:p>
              <a:r>
                <a:rPr lang="zh-CN" altLang="en-US" sz="2000" b="1">
                  <a:solidFill>
                    <a:srgbClr val="C00000"/>
                  </a:solidFill>
                </a:rPr>
                <a:t>具体命题的符号化</a:t>
              </a:r>
              <a:endParaRPr lang="zh-CN" altLang="en-US" sz="2000" b="1">
                <a:solidFill>
                  <a:srgbClr val="C00000"/>
                </a:solidFill>
              </a:endParaRPr>
            </a:p>
          </p:txBody>
        </p:sp>
        <p:sp>
          <p:nvSpPr>
            <p:cNvPr id="44" name="矩形: 圆角 43"/>
            <p:cNvSpPr/>
            <p:nvPr/>
          </p:nvSpPr>
          <p:spPr>
            <a:xfrm>
              <a:off x="690733" y="1269634"/>
              <a:ext cx="10749135" cy="121043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量化命题的符号化</a:t>
            </a:r>
            <a:endParaRPr lang="zh-CN" altLang="en-US"/>
          </a:p>
        </p:txBody>
      </p:sp>
      <p:sp>
        <p:nvSpPr>
          <p:cNvPr id="29" name="箭头: 下 28"/>
          <p:cNvSpPr/>
          <p:nvPr/>
        </p:nvSpPr>
        <p:spPr>
          <a:xfrm>
            <a:off x="6392720" y="3594117"/>
            <a:ext cx="74357" cy="11645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p:cNvSpPr/>
          <p:nvPr/>
        </p:nvSpPr>
        <p:spPr>
          <a:xfrm>
            <a:off x="3838474" y="5335135"/>
            <a:ext cx="5221874" cy="620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a:off x="3708881" y="2502642"/>
            <a:ext cx="5572183" cy="5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6" name="文本框 15"/>
              <p:cNvSpPr txBox="1"/>
              <p:nvPr/>
            </p:nvSpPr>
            <p:spPr>
              <a:xfrm>
                <a:off x="1696508" y="1994810"/>
                <a:ext cx="2010318" cy="1015663"/>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对所有计算机专业学生</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学习离散数学</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1696508" y="1994810"/>
                <a:ext cx="2010318" cy="1015663"/>
              </a:xfrm>
              <a:prstGeom prst="rect">
                <a:avLst/>
              </a:prstGeom>
              <a:blipFill rotWithShape="1">
                <a:blip r:embed="rId1"/>
                <a:stretch>
                  <a:fillRect l="-21" t="-27" r="16"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053017" y="1457445"/>
                <a:ext cx="4679407" cy="2131802"/>
              </a:xfrm>
              <a:prstGeom prst="rect">
                <a:avLst/>
              </a:prstGeom>
              <a:solidFill>
                <a:schemeClr val="accent5">
                  <a:lumMod val="20000"/>
                  <a:lumOff val="80000"/>
                </a:schemeClr>
              </a:solidFill>
            </p:spPr>
            <p:txBody>
              <a:bodyPr wrap="square" rtlCol="0">
                <a:spAutoFit/>
              </a:bodyPr>
              <a:lstStyle/>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a:t>
                </a:r>
                <a:r>
                  <a:rPr lang="en-US" altLang="zh-CN" b="1">
                    <a:solidFill>
                      <a:schemeClr val="accent6">
                        <a:lumMod val="50000"/>
                      </a:schemeClr>
                    </a:solidFill>
                    <a:latin typeface="宋体" panose="02010600030101010101" pitchFamily="2" charset="-122"/>
                    <a:ea typeface="宋体" panose="02010600030101010101" pitchFamily="2" charset="-122"/>
                  </a:rPr>
                  <a:t>……</a:t>
                </a:r>
                <a:r>
                  <a:rPr lang="zh-CN" altLang="en-US" b="1">
                    <a:solidFill>
                      <a:schemeClr val="accent6">
                        <a:lumMod val="50000"/>
                      </a:schemeClr>
                    </a:solidFill>
                    <a:latin typeface="宋体" panose="02010600030101010101" pitchFamily="2" charset="-122"/>
                    <a:ea typeface="宋体" panose="02010600030101010101" pitchFamily="2" charset="-122"/>
                  </a:rPr>
                  <a:t>学习离散数学”是</a:t>
                </a:r>
                <a:r>
                  <a:rPr lang="zh-CN" altLang="en-US" b="1">
                    <a:solidFill>
                      <a:srgbClr val="C00000"/>
                    </a:solidFill>
                    <a:latin typeface="黑体" panose="02010609060101010101" pitchFamily="49" charset="-122"/>
                    <a:ea typeface="黑体" panose="02010609060101010101" pitchFamily="49" charset="-122"/>
                  </a:rPr>
                  <a:t>一元谓词</a:t>
                </a:r>
                <a:r>
                  <a:rPr lang="zh-CN" altLang="en-US" b="1">
                    <a:solidFill>
                      <a:schemeClr val="accent6">
                        <a:lumMod val="50000"/>
                      </a:schemeClr>
                    </a:solidFill>
                    <a:latin typeface="宋体" panose="02010600030101010101" pitchFamily="2" charset="-122"/>
                    <a:ea typeface="宋体" panose="02010600030101010101" pitchFamily="2" charset="-122"/>
                  </a:rPr>
                  <a:t>，用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𝑯</m:t>
                    </m:r>
                    <m:r>
                      <a:rPr lang="en-US" altLang="zh-CN" b="1" i="1">
                        <a:solidFill>
                          <a:srgbClr val="C00000"/>
                        </a:solidFill>
                        <a:latin typeface="Cambria Math" panose="02040503050406030204" pitchFamily="18" charset="0"/>
                        <a:ea typeface="宋体" panose="02010600030101010101" pitchFamily="2" charset="-122"/>
                      </a:rPr>
                      <m:t>(</m:t>
                    </m:r>
                    <m:r>
                      <a:rPr lang="en-US" altLang="zh-CN" b="1" i="1" smtClean="0">
                        <a:solidFill>
                          <a:srgbClr val="C00000"/>
                        </a:solidFill>
                        <a:latin typeface="Cambria Math" panose="02040503050406030204" pitchFamily="18" charset="0"/>
                        <a:ea typeface="宋体" panose="02010600030101010101" pitchFamily="2" charset="-122"/>
                      </a:rPr>
                      <m:t>𝒙</m:t>
                    </m:r>
                    <m:r>
                      <a:rPr lang="en-US" altLang="zh-CN" b="1" i="1">
                        <a:solidFill>
                          <a:srgbClr val="C00000"/>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表示</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“计算机专业学生”是</a:t>
                </a:r>
                <a:r>
                  <a:rPr lang="zh-CN" altLang="en-US" b="1">
                    <a:solidFill>
                      <a:srgbClr val="C00000"/>
                    </a:solidFill>
                    <a:latin typeface="黑体" panose="02010609060101010101" pitchFamily="49" charset="-122"/>
                    <a:ea typeface="黑体" panose="02010609060101010101" pitchFamily="49" charset="-122"/>
                  </a:rPr>
                  <a:t>个体类</a:t>
                </a:r>
                <a:r>
                  <a:rPr lang="zh-CN" altLang="en-US" b="1">
                    <a:solidFill>
                      <a:schemeClr val="accent6">
                        <a:lumMod val="50000"/>
                      </a:schemeClr>
                    </a:solidFill>
                    <a:latin typeface="宋体" panose="02010600030101010101" pitchFamily="2" charset="-122"/>
                    <a:ea typeface="宋体" panose="02010600030101010101" pitchFamily="2" charset="-122"/>
                  </a:rPr>
                  <a:t>，作为</a:t>
                </a:r>
                <a:r>
                  <a:rPr lang="zh-CN" altLang="en-US" b="1">
                    <a:solidFill>
                      <a:srgbClr val="C00000"/>
                    </a:solidFill>
                    <a:latin typeface="黑体" panose="02010609060101010101" pitchFamily="49" charset="-122"/>
                    <a:ea typeface="黑体" panose="02010609060101010101" pitchFamily="49" charset="-122"/>
                  </a:rPr>
                  <a:t>论域</a:t>
                </a:r>
                <a:endParaRPr lang="en-US" altLang="zh-CN" b="1">
                  <a:solidFill>
                    <a:srgbClr val="C00000"/>
                  </a:solidFill>
                  <a:latin typeface="黑体" panose="02010609060101010101" pitchFamily="49" charset="-122"/>
                  <a:ea typeface="黑体" panose="02010609060101010101" pitchFamily="49" charset="-122"/>
                </a:endParaRPr>
              </a:p>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“所有”是</a:t>
                </a:r>
                <a:r>
                  <a:rPr lang="zh-CN" altLang="en-US" b="1">
                    <a:solidFill>
                      <a:srgbClr val="C00000"/>
                    </a:solidFill>
                    <a:latin typeface="黑体" panose="02010609060101010101" pitchFamily="49" charset="-122"/>
                    <a:ea typeface="黑体" panose="02010609060101010101" pitchFamily="49" charset="-122"/>
                  </a:rPr>
                  <a:t>全称量词</a:t>
                </a:r>
                <a:r>
                  <a:rPr lang="zh-CN" altLang="en-US" b="1">
                    <a:solidFill>
                      <a:schemeClr val="accent6">
                        <a:lumMod val="50000"/>
                      </a:schemeClr>
                    </a:solidFill>
                    <a:latin typeface="宋体" panose="02010600030101010101" pitchFamily="2" charset="-122"/>
                    <a:ea typeface="宋体" panose="02010600030101010101" pitchFamily="2" charset="-122"/>
                  </a:rPr>
                  <a:t>，用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m:t>
                    </m:r>
                    <m:r>
                      <a:rPr lang="en-US" altLang="zh-CN" b="1" i="1">
                        <a:solidFill>
                          <a:srgbClr val="C00000"/>
                        </a:solidFill>
                        <a:latin typeface="Cambria Math" panose="02040503050406030204" pitchFamily="18" charset="0"/>
                        <a:ea typeface="宋体" panose="02010600030101010101" pitchFamily="2" charset="-122"/>
                      </a:rPr>
                      <m:t>𝒙</m:t>
                    </m:r>
                  </m:oMath>
                </a14:m>
                <a:r>
                  <a:rPr lang="zh-CN" altLang="en-US" b="1">
                    <a:solidFill>
                      <a:schemeClr val="accent6">
                        <a:lumMod val="50000"/>
                      </a:schemeClr>
                    </a:solidFill>
                    <a:latin typeface="宋体" panose="02010600030101010101" pitchFamily="2" charset="-122"/>
                    <a:ea typeface="宋体" panose="02010600030101010101" pitchFamily="2" charset="-122"/>
                  </a:rPr>
                  <a:t>表示</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这里</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oMath>
                </a14:m>
                <a:r>
                  <a:rPr lang="zh-CN" altLang="en-US" b="1">
                    <a:solidFill>
                      <a:srgbClr val="002060"/>
                    </a:solidFill>
                    <a:latin typeface="楷体" panose="02010609060101010101" pitchFamily="49" charset="-122"/>
                    <a:ea typeface="楷体" panose="02010609060101010101" pitchFamily="49" charset="-122"/>
                  </a:rPr>
                  <a:t>作为量词的</a:t>
                </a:r>
                <a:r>
                  <a:rPr lang="zh-CN" altLang="en-US" b="1">
                    <a:solidFill>
                      <a:srgbClr val="C00000"/>
                    </a:solidFill>
                    <a:latin typeface="黑体" panose="02010609060101010101" pitchFamily="49" charset="-122"/>
                    <a:ea typeface="黑体" panose="02010609060101010101" pitchFamily="49" charset="-122"/>
                  </a:rPr>
                  <a:t>指示变量</a:t>
                </a:r>
                <a:r>
                  <a:rPr lang="zh-CN" altLang="en-US" b="1">
                    <a:solidFill>
                      <a:srgbClr val="002060"/>
                    </a:solidFill>
                    <a:latin typeface="楷体" panose="02010609060101010101" pitchFamily="49" charset="-122"/>
                    <a:ea typeface="楷体" panose="02010609060101010101" pitchFamily="49" charset="-122"/>
                  </a:rPr>
                  <a:t>，建立量词与谓词作用的个体之间的联系</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4053017" y="1457445"/>
                <a:ext cx="4679407" cy="2131802"/>
              </a:xfrm>
              <a:prstGeom prst="rect">
                <a:avLst/>
              </a:prstGeom>
              <a:blipFill rotWithShape="1">
                <a:blip r:embed="rId2"/>
                <a:stretch>
                  <a:fillRect l="-10" t="-6" r="12"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9281064" y="2331930"/>
                <a:ext cx="1221891" cy="400110"/>
              </a:xfrm>
              <a:prstGeom prst="rect">
                <a:avLst/>
              </a:prstGeom>
              <a:solidFill>
                <a:schemeClr val="accent6">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𝒙𝑯</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9281064" y="2331930"/>
                <a:ext cx="1221891" cy="400110"/>
              </a:xfrm>
              <a:prstGeom prst="rect">
                <a:avLst/>
              </a:prstGeom>
              <a:blipFill rotWithShape="1">
                <a:blip r:embed="rId3"/>
                <a:stretch>
                  <a:fillRect l="-44" t="-52" r="5" b="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4122138" y="4770256"/>
                <a:ext cx="4541164" cy="1077218"/>
              </a:xfrm>
              <a:prstGeom prst="rect">
                <a:avLst/>
              </a:prstGeom>
              <a:solidFill>
                <a:schemeClr val="accent5">
                  <a:lumMod val="20000"/>
                  <a:lumOff val="80000"/>
                </a:schemeClr>
              </a:solidFill>
            </p:spPr>
            <p:txBody>
              <a:bodyPr wrap="square" rtlCol="0">
                <a:spAutoFit/>
              </a:bodyPr>
              <a:lstStyle/>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为个体类“计算机专业学生”引入谓词</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用</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𝑷</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𝒙</m:t>
                    </m:r>
                    <m:r>
                      <a:rPr lang="en-US" altLang="zh-CN" b="1" i="1" smtClean="0">
                        <a:solidFill>
                          <a:srgbClr val="002060"/>
                        </a:solidFill>
                        <a:latin typeface="Cambria Math" panose="02040503050406030204" pitchFamily="18" charset="0"/>
                        <a:ea typeface="楷体" panose="02010609060101010101" pitchFamily="49" charset="-122"/>
                      </a:rPr>
                      <m:t>)</m:t>
                    </m:r>
                  </m:oMath>
                </a14:m>
                <a:r>
                  <a:rPr lang="zh-CN" altLang="en-US" b="1">
                    <a:solidFill>
                      <a:srgbClr val="002060"/>
                    </a:solidFill>
                    <a:latin typeface="楷体" panose="02010609060101010101" pitchFamily="49" charset="-122"/>
                    <a:ea typeface="楷体" panose="02010609060101010101" pitchFamily="49" charset="-122"/>
                  </a:rPr>
                  <a:t>表示“</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oMath>
                </a14:m>
                <a:r>
                  <a:rPr lang="zh-CN" altLang="en-US" b="1">
                    <a:solidFill>
                      <a:srgbClr val="002060"/>
                    </a:solidFill>
                    <a:latin typeface="楷体" panose="02010609060101010101" pitchFamily="49" charset="-122"/>
                    <a:ea typeface="楷体" panose="02010609060101010101" pitchFamily="49" charset="-122"/>
                  </a:rPr>
                  <a:t>是计算机专业学生”</a:t>
                </a:r>
                <a:endParaRPr lang="en-US" altLang="zh-CN" b="1">
                  <a:solidFill>
                    <a:srgbClr val="002060"/>
                  </a:solidFill>
                  <a:latin typeface="楷体" panose="02010609060101010101" pitchFamily="49" charset="-122"/>
                  <a:ea typeface="楷体" panose="02010609060101010101" pitchFamily="49" charset="-122"/>
                </a:endParaRPr>
              </a:p>
              <a:p>
                <a:pPr marL="742950" lvl="1" indent="-285750">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这种谓词称为</a:t>
                </a:r>
                <a:r>
                  <a:rPr lang="zh-CN" altLang="en-US" b="1">
                    <a:solidFill>
                      <a:srgbClr val="C00000"/>
                    </a:solidFill>
                    <a:latin typeface="黑体" panose="02010609060101010101" pitchFamily="49" charset="-122"/>
                    <a:ea typeface="黑体" panose="02010609060101010101" pitchFamily="49" charset="-122"/>
                  </a:rPr>
                  <a:t>特征谓词</a:t>
                </a:r>
                <a:endParaRPr lang="zh-CN" altLang="en-US" b="1">
                  <a:solidFill>
                    <a:srgbClr val="C00000"/>
                  </a:solidFill>
                  <a:latin typeface="黑体" panose="02010609060101010101" pitchFamily="49" charset="-122"/>
                  <a:ea typeface="黑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4122138" y="4770256"/>
                <a:ext cx="4541164" cy="1077218"/>
              </a:xfrm>
              <a:prstGeom prst="rect">
                <a:avLst/>
              </a:prstGeom>
              <a:blipFill rotWithShape="1">
                <a:blip r:embed="rId4"/>
                <a:stretch>
                  <a:fillRect l="-8" t="-13" r="14"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9060348" y="5202319"/>
                <a:ext cx="2177456" cy="400110"/>
              </a:xfrm>
              <a:prstGeom prst="rect">
                <a:avLst/>
              </a:prstGeom>
              <a:solidFill>
                <a:schemeClr val="accent6">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𝑷</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𝒙</m:t>
                          </m:r>
                        </m:e>
                      </m:d>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𝑯</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𝒙</m:t>
                          </m:r>
                        </m:e>
                      </m:d>
                      <m:r>
                        <a:rPr lang="en-US" altLang="zh-CN" sz="2000" b="1" i="1" smtClean="0">
                          <a:solidFill>
                            <a:srgbClr val="002060"/>
                          </a:solidFill>
                          <a:latin typeface="Cambria Math" panose="02040503050406030204" pitchFamily="18" charset="0"/>
                          <a:ea typeface="楷体" panose="02010609060101010101" pitchFamily="49" charset="-122"/>
                        </a:rPr>
                        <m:t>)</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9060348" y="5202319"/>
                <a:ext cx="2177456" cy="400110"/>
              </a:xfrm>
              <a:prstGeom prst="rect">
                <a:avLst/>
              </a:prstGeom>
              <a:blipFill rotWithShape="1">
                <a:blip r:embed="rId5"/>
                <a:stretch>
                  <a:fillRect l="-8" t="-100" r="10" b="115"/>
                </a:stretch>
              </a:blipFill>
            </p:spPr>
            <p:txBody>
              <a:bodyPr/>
              <a:lstStyle/>
              <a:p>
                <a:r>
                  <a:rPr lang="zh-CN" altLang="en-US">
                    <a:noFill/>
                  </a:rPr>
                  <a:t> </a:t>
                </a:r>
              </a:p>
            </p:txBody>
          </p:sp>
        </mc:Fallback>
      </mc:AlternateContent>
      <p:sp>
        <p:nvSpPr>
          <p:cNvPr id="23" name="文本框 22"/>
          <p:cNvSpPr txBox="1"/>
          <p:nvPr/>
        </p:nvSpPr>
        <p:spPr>
          <a:xfrm>
            <a:off x="1544710" y="3583492"/>
            <a:ext cx="2313915" cy="707886"/>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所有计算机专业学生学习离散数学</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4" name="文本框 23"/>
              <p:cNvSpPr txBox="1"/>
              <p:nvPr/>
            </p:nvSpPr>
            <p:spPr>
              <a:xfrm>
                <a:off x="1524556" y="4831811"/>
                <a:ext cx="2313916" cy="1015663"/>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对所有</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，如果</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是计算机专业学生，则</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学习离散数学</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4" name="文本框 23"/>
              <p:cNvSpPr txBox="1">
                <a:spLocks noRot="1" noChangeAspect="1" noMove="1" noResize="1" noEditPoints="1" noAdjustHandles="1" noChangeArrowheads="1" noChangeShapeType="1" noTextEdit="1"/>
              </p:cNvSpPr>
              <p:nvPr/>
            </p:nvSpPr>
            <p:spPr>
              <a:xfrm>
                <a:off x="1524556" y="4831811"/>
                <a:ext cx="2313916" cy="1015663"/>
              </a:xfrm>
              <a:prstGeom prst="rect">
                <a:avLst/>
              </a:prstGeom>
              <a:blipFill rotWithShape="1">
                <a:blip r:embed="rId6"/>
                <a:stretch>
                  <a:fillRect l="-24" t="-9" r="23" b="39"/>
                </a:stretch>
              </a:blipFill>
            </p:spPr>
            <p:txBody>
              <a:bodyPr/>
              <a:lstStyle/>
              <a:p>
                <a:r>
                  <a:rPr lang="zh-CN" altLang="en-US">
                    <a:noFill/>
                  </a:rPr>
                  <a:t> </a:t>
                </a:r>
              </a:p>
            </p:txBody>
          </p:sp>
        </mc:Fallback>
      </mc:AlternateContent>
      <p:sp>
        <p:nvSpPr>
          <p:cNvPr id="25" name="箭头: 上 24"/>
          <p:cNvSpPr/>
          <p:nvPr/>
        </p:nvSpPr>
        <p:spPr>
          <a:xfrm>
            <a:off x="2646725" y="3010472"/>
            <a:ext cx="69578" cy="54058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p:cNvSpPr/>
          <p:nvPr/>
        </p:nvSpPr>
        <p:spPr>
          <a:xfrm flipH="1">
            <a:off x="2641946" y="4291377"/>
            <a:ext cx="74357" cy="5404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8943061" y="1532218"/>
            <a:ext cx="2249819"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谓词作用的个体变量的取值范围称为</a:t>
            </a:r>
            <a:r>
              <a:rPr lang="zh-CN" altLang="en-US" b="1">
                <a:solidFill>
                  <a:srgbClr val="C00000"/>
                </a:solidFill>
              </a:rPr>
              <a:t>论域</a:t>
            </a:r>
            <a:endParaRPr lang="zh-CN" altLang="en-US" b="1">
              <a:solidFill>
                <a:srgbClr val="C00000"/>
              </a:solidFill>
            </a:endParaRPr>
          </a:p>
        </p:txBody>
      </p:sp>
      <p:sp>
        <p:nvSpPr>
          <p:cNvPr id="28" name="文本框 27"/>
          <p:cNvSpPr txBox="1"/>
          <p:nvPr/>
        </p:nvSpPr>
        <p:spPr>
          <a:xfrm>
            <a:off x="4944527" y="3899938"/>
            <a:ext cx="2896386" cy="553998"/>
          </a:xfrm>
          <a:prstGeom prst="rect">
            <a:avLst/>
          </a:prstGeom>
          <a:solidFill>
            <a:schemeClr val="accent2">
              <a:lumMod val="20000"/>
              <a:lumOff val="80000"/>
            </a:schemeClr>
          </a:solidFill>
        </p:spPr>
        <p:txBody>
          <a:bodyPr wrap="square" tIns="0" bIns="0" rtlCol="0">
            <a:spAutoFit/>
          </a:bodyPr>
          <a:lstStyle/>
          <a:p>
            <a:pPr algn="ctr">
              <a:spcBef>
                <a:spcPts val="600"/>
              </a:spcBef>
            </a:pPr>
            <a:r>
              <a:rPr lang="zh-CN" altLang="en-US" b="1">
                <a:solidFill>
                  <a:srgbClr val="002060"/>
                </a:solidFill>
              </a:rPr>
              <a:t>为个体变量选择更大的取值范围，例如</a:t>
            </a:r>
            <a:r>
              <a:rPr lang="zh-CN" altLang="en-US" b="1">
                <a:solidFill>
                  <a:srgbClr val="C00000"/>
                </a:solidFill>
                <a:latin typeface="黑体" panose="02010609060101010101" pitchFamily="49" charset="-122"/>
                <a:ea typeface="黑体" panose="02010609060101010101" pitchFamily="49" charset="-122"/>
              </a:rPr>
              <a:t>全总域</a:t>
            </a:r>
            <a:endParaRPr lang="en-US" altLang="zh-CN" b="1">
              <a:solidFill>
                <a:srgbClr val="C00000"/>
              </a:solidFill>
              <a:latin typeface="黑体" panose="02010609060101010101" pitchFamily="49" charset="-122"/>
              <a:ea typeface="黑体" panose="02010609060101010101" pitchFamily="49" charset="-122"/>
            </a:endParaRPr>
          </a:p>
        </p:txBody>
      </p:sp>
      <p:sp>
        <p:nvSpPr>
          <p:cNvPr id="30" name="文本框 29"/>
          <p:cNvSpPr txBox="1"/>
          <p:nvPr/>
        </p:nvSpPr>
        <p:spPr>
          <a:xfrm>
            <a:off x="8919139" y="3880164"/>
            <a:ext cx="2249819" cy="646331"/>
          </a:xfrm>
          <a:prstGeom prst="rect">
            <a:avLst/>
          </a:prstGeom>
          <a:solidFill>
            <a:schemeClr val="accent4">
              <a:lumMod val="20000"/>
              <a:lumOff val="80000"/>
            </a:schemeClr>
          </a:solidFill>
        </p:spPr>
        <p:txBody>
          <a:bodyPr wrap="square" rtlCol="0">
            <a:spAutoFit/>
          </a:bodyPr>
          <a:lstStyle/>
          <a:p>
            <a:r>
              <a:rPr lang="zh-CN" altLang="en-US" b="1">
                <a:solidFill>
                  <a:srgbClr val="C00000"/>
                </a:solidFill>
              </a:rPr>
              <a:t>全总域</a:t>
            </a:r>
            <a:r>
              <a:rPr lang="zh-CN" altLang="en-US" b="1">
                <a:solidFill>
                  <a:schemeClr val="accent2">
                    <a:lumMod val="50000"/>
                  </a:schemeClr>
                </a:solidFill>
              </a:rPr>
              <a:t>是研究范围内所有个体构成的集合</a:t>
            </a:r>
            <a:endParaRPr lang="zh-CN" altLang="en-US" b="1">
              <a:solidFill>
                <a:srgbClr val="C00000"/>
              </a:solidFill>
            </a:endParaRPr>
          </a:p>
        </p:txBody>
      </p:sp>
      <p:sp>
        <p:nvSpPr>
          <p:cNvPr id="31" name="文本框 30"/>
          <p:cNvSpPr txBox="1"/>
          <p:nvPr/>
        </p:nvSpPr>
        <p:spPr>
          <a:xfrm>
            <a:off x="744211" y="3095334"/>
            <a:ext cx="627403" cy="1569660"/>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选择不同论域做不同的细化</a:t>
            </a:r>
            <a:endParaRPr lang="zh-CN" altLang="en-US" sz="1600" b="1">
              <a:solidFill>
                <a:schemeClr val="accent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1" grpId="0" animBg="1"/>
      <p:bldP spid="19" grpId="0" animBg="1"/>
      <p:bldP spid="16" grpId="0" animBg="1"/>
      <p:bldP spid="14" grpId="0" animBg="1"/>
      <p:bldP spid="18" grpId="0" animBg="1"/>
      <p:bldP spid="20" grpId="0" animBg="1"/>
      <p:bldP spid="22" grpId="0" animBg="1"/>
      <p:bldP spid="24" grpId="0" animBg="1"/>
      <p:bldP spid="25" grpId="0" animBg="1"/>
      <p:bldP spid="26" grpId="0" animBg="1"/>
      <p:bldP spid="27" grpId="0" animBg="1"/>
      <p:bldP spid="28" grpId="0" animBg="1"/>
      <p:bldP spid="30"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存在量化命题的符号化</a:t>
            </a:r>
            <a:endParaRPr lang="zh-CN" altLang="en-US"/>
          </a:p>
        </p:txBody>
      </p:sp>
      <p:grpSp>
        <p:nvGrpSpPr>
          <p:cNvPr id="33" name="组合 32"/>
          <p:cNvGrpSpPr/>
          <p:nvPr/>
        </p:nvGrpSpPr>
        <p:grpSpPr>
          <a:xfrm>
            <a:off x="853357" y="1250045"/>
            <a:ext cx="10485283" cy="3840054"/>
            <a:chOff x="721431" y="2494962"/>
            <a:chExt cx="10485283" cy="3840054"/>
          </a:xfrm>
        </p:grpSpPr>
        <p:sp>
          <p:nvSpPr>
            <p:cNvPr id="29" name="箭头: 下 28"/>
            <p:cNvSpPr/>
            <p:nvPr/>
          </p:nvSpPr>
          <p:spPr>
            <a:xfrm>
              <a:off x="6453677" y="4090615"/>
              <a:ext cx="45719" cy="11917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p:cNvSpPr/>
            <p:nvPr/>
          </p:nvSpPr>
          <p:spPr>
            <a:xfrm>
              <a:off x="3626405" y="5641210"/>
              <a:ext cx="5328850" cy="64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a:off x="3578663" y="3491299"/>
              <a:ext cx="5912718" cy="64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21431" y="2596759"/>
              <a:ext cx="2790349" cy="400110"/>
            </a:xfrm>
            <a:prstGeom prst="rect">
              <a:avLst/>
            </a:prstGeom>
            <a:noFill/>
          </p:spPr>
          <p:txBody>
            <a:bodyPr wrap="square" rtlCol="0">
              <a:spAutoFit/>
            </a:bodyPr>
            <a:lstStyle/>
            <a:p>
              <a:r>
                <a:rPr lang="zh-CN" altLang="en-US" sz="2000" b="1">
                  <a:solidFill>
                    <a:srgbClr val="C00000"/>
                  </a:solidFill>
                </a:rPr>
                <a:t>存在量化命题的符号化</a:t>
              </a:r>
              <a:endParaRPr lang="zh-CN" altLang="en-US" sz="2000" b="1">
                <a:solidFill>
                  <a:srgbClr val="C00000"/>
                </a:solidFill>
              </a:endParaRPr>
            </a:p>
          </p:txBody>
        </p:sp>
        <mc:AlternateContent xmlns:mc="http://schemas.openxmlformats.org/markup-compatibility/2006">
          <mc:Choice xmlns:a14="http://schemas.microsoft.com/office/drawing/2010/main" Requires="a14">
            <p:sp>
              <p:nvSpPr>
                <p:cNvPr id="16" name="文本框 15"/>
                <p:cNvSpPr txBox="1"/>
                <p:nvPr/>
              </p:nvSpPr>
              <p:spPr>
                <a:xfrm>
                  <a:off x="1043130" y="3158751"/>
                  <a:ext cx="2548355" cy="707886"/>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存在计算机专业学生</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学习数论课程</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1043130" y="3158751"/>
                  <a:ext cx="2548355" cy="707886"/>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789252" y="2947116"/>
                  <a:ext cx="5374568" cy="1141723"/>
                </a:xfrm>
                <a:prstGeom prst="rect">
                  <a:avLst/>
                </a:prstGeom>
                <a:solidFill>
                  <a:schemeClr val="accent5">
                    <a:lumMod val="20000"/>
                    <a:lumOff val="80000"/>
                  </a:schemeClr>
                </a:solidFill>
              </p:spPr>
              <p:txBody>
                <a:bodyPr wrap="square" rtlCol="0">
                  <a:spAutoFit/>
                </a:bodyPr>
                <a:lstStyle/>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a:t>
                  </a:r>
                  <a:r>
                    <a:rPr lang="en-US" altLang="zh-CN" b="1">
                      <a:solidFill>
                        <a:schemeClr val="accent6">
                          <a:lumMod val="50000"/>
                        </a:schemeClr>
                      </a:solidFill>
                      <a:latin typeface="宋体" panose="02010600030101010101" pitchFamily="2" charset="-122"/>
                      <a:ea typeface="宋体" panose="02010600030101010101" pitchFamily="2" charset="-122"/>
                    </a:rPr>
                    <a:t>……</a:t>
                  </a:r>
                  <a:r>
                    <a:rPr lang="zh-CN" altLang="en-US" b="1">
                      <a:solidFill>
                        <a:schemeClr val="accent6">
                          <a:lumMod val="50000"/>
                        </a:schemeClr>
                      </a:solidFill>
                      <a:latin typeface="宋体" panose="02010600030101010101" pitchFamily="2" charset="-122"/>
                      <a:ea typeface="宋体" panose="02010600030101010101" pitchFamily="2" charset="-122"/>
                    </a:rPr>
                    <a:t>学习数论课程”是</a:t>
                  </a:r>
                  <a:r>
                    <a:rPr lang="zh-CN" altLang="en-US" b="1">
                      <a:solidFill>
                        <a:srgbClr val="C00000"/>
                      </a:solidFill>
                      <a:latin typeface="黑体" panose="02010609060101010101" pitchFamily="49" charset="-122"/>
                      <a:ea typeface="黑体" panose="02010609060101010101" pitchFamily="49" charset="-122"/>
                    </a:rPr>
                    <a:t>一元谓词</a:t>
                  </a:r>
                  <a:r>
                    <a:rPr lang="zh-CN" altLang="en-US" b="1">
                      <a:solidFill>
                        <a:schemeClr val="accent6">
                          <a:lumMod val="50000"/>
                        </a:schemeClr>
                      </a:solidFill>
                      <a:latin typeface="宋体" panose="02010600030101010101" pitchFamily="2" charset="-122"/>
                      <a:ea typeface="宋体" panose="02010600030101010101" pitchFamily="2" charset="-122"/>
                    </a:rPr>
                    <a:t>，用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𝑮</m:t>
                      </m:r>
                      <m:r>
                        <a:rPr lang="en-US" altLang="zh-CN" b="1" i="1">
                          <a:solidFill>
                            <a:srgbClr val="C00000"/>
                          </a:solidFill>
                          <a:latin typeface="Cambria Math" panose="02040503050406030204" pitchFamily="18" charset="0"/>
                          <a:ea typeface="宋体" panose="02010600030101010101" pitchFamily="2" charset="-122"/>
                        </a:rPr>
                        <m:t>(</m:t>
                      </m:r>
                      <m:r>
                        <a:rPr lang="en-US" altLang="zh-CN" b="1" i="1" smtClean="0">
                          <a:solidFill>
                            <a:srgbClr val="C00000"/>
                          </a:solidFill>
                          <a:latin typeface="Cambria Math" panose="02040503050406030204" pitchFamily="18" charset="0"/>
                          <a:ea typeface="宋体" panose="02010600030101010101" pitchFamily="2" charset="-122"/>
                        </a:rPr>
                        <m:t>𝒙</m:t>
                      </m:r>
                      <m:r>
                        <a:rPr lang="en-US" altLang="zh-CN" b="1" i="1">
                          <a:solidFill>
                            <a:srgbClr val="C00000"/>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表示</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“计算机专业学生”是</a:t>
                  </a:r>
                  <a:r>
                    <a:rPr lang="zh-CN" altLang="en-US" b="1">
                      <a:solidFill>
                        <a:srgbClr val="C00000"/>
                      </a:solidFill>
                      <a:latin typeface="黑体" panose="02010609060101010101" pitchFamily="49" charset="-122"/>
                      <a:ea typeface="黑体" panose="02010609060101010101" pitchFamily="49" charset="-122"/>
                    </a:rPr>
                    <a:t>个体类</a:t>
                  </a:r>
                  <a:r>
                    <a:rPr lang="zh-CN" altLang="en-US" b="1">
                      <a:solidFill>
                        <a:schemeClr val="accent6">
                          <a:lumMod val="50000"/>
                        </a:schemeClr>
                      </a:solidFill>
                      <a:latin typeface="宋体" panose="02010600030101010101" pitchFamily="2" charset="-122"/>
                      <a:ea typeface="宋体" panose="02010600030101010101" pitchFamily="2" charset="-122"/>
                    </a:rPr>
                    <a:t>，作为</a:t>
                  </a:r>
                  <a:r>
                    <a:rPr lang="zh-CN" altLang="en-US" b="1">
                      <a:solidFill>
                        <a:srgbClr val="C00000"/>
                      </a:solidFill>
                      <a:latin typeface="黑体" panose="02010609060101010101" pitchFamily="49" charset="-122"/>
                      <a:ea typeface="黑体" panose="02010609060101010101" pitchFamily="49" charset="-122"/>
                    </a:rPr>
                    <a:t>论域</a:t>
                  </a:r>
                  <a:endParaRPr lang="en-US" altLang="zh-CN" b="1">
                    <a:solidFill>
                      <a:srgbClr val="C00000"/>
                    </a:solidFill>
                    <a:latin typeface="黑体" panose="02010609060101010101" pitchFamily="49" charset="-122"/>
                    <a:ea typeface="黑体" panose="02010609060101010101" pitchFamily="49" charset="-122"/>
                  </a:endParaRPr>
                </a:p>
                <a:p>
                  <a:pPr marL="285750"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“存在”是</a:t>
                  </a:r>
                  <a:r>
                    <a:rPr lang="zh-CN" altLang="en-US" b="1">
                      <a:solidFill>
                        <a:srgbClr val="C00000"/>
                      </a:solidFill>
                      <a:latin typeface="黑体" panose="02010609060101010101" pitchFamily="49" charset="-122"/>
                      <a:ea typeface="黑体" panose="02010609060101010101" pitchFamily="49" charset="-122"/>
                    </a:rPr>
                    <a:t>存在量词</a:t>
                  </a:r>
                  <a:r>
                    <a:rPr lang="zh-CN" altLang="en-US" b="1">
                      <a:solidFill>
                        <a:schemeClr val="accent6">
                          <a:lumMod val="50000"/>
                        </a:schemeClr>
                      </a:solidFill>
                      <a:latin typeface="宋体" panose="02010600030101010101" pitchFamily="2" charset="-122"/>
                      <a:ea typeface="宋体" panose="02010600030101010101" pitchFamily="2" charset="-122"/>
                    </a:rPr>
                    <a:t>，用</a:t>
                  </a:r>
                  <a14:m>
                    <m:oMath xmlns:m="http://schemas.openxmlformats.org/officeDocument/2006/math">
                      <m:r>
                        <a:rPr lang="en-US" altLang="zh-CN" b="1" i="1" smtClean="0">
                          <a:solidFill>
                            <a:srgbClr val="C00000"/>
                          </a:solidFill>
                          <a:latin typeface="Cambria Math" panose="02040503050406030204" pitchFamily="18" charset="0"/>
                          <a:ea typeface="宋体" panose="02010600030101010101" pitchFamily="2" charset="-122"/>
                        </a:rPr>
                        <m:t>∃</m:t>
                      </m:r>
                      <m:r>
                        <a:rPr lang="en-US" altLang="zh-CN" b="1" i="1">
                          <a:solidFill>
                            <a:srgbClr val="C00000"/>
                          </a:solidFill>
                          <a:latin typeface="Cambria Math" panose="02040503050406030204" pitchFamily="18" charset="0"/>
                          <a:ea typeface="宋体" panose="02010600030101010101" pitchFamily="2" charset="-122"/>
                        </a:rPr>
                        <m:t>𝒙</m:t>
                      </m:r>
                    </m:oMath>
                  </a14:m>
                  <a:r>
                    <a:rPr lang="zh-CN" altLang="en-US" b="1">
                      <a:solidFill>
                        <a:schemeClr val="accent6">
                          <a:lumMod val="50000"/>
                        </a:schemeClr>
                      </a:solidFill>
                      <a:latin typeface="宋体" panose="02010600030101010101" pitchFamily="2" charset="-122"/>
                      <a:ea typeface="宋体" panose="02010600030101010101" pitchFamily="2" charset="-122"/>
                    </a:rPr>
                    <a:t>表示</a:t>
                  </a:r>
                  <a:endParaRPr lang="en-US" altLang="zh-CN"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3789252" y="2947116"/>
                  <a:ext cx="5374568" cy="1141723"/>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9491381" y="3312639"/>
                  <a:ext cx="1221891" cy="400110"/>
                </a:xfrm>
                <a:prstGeom prst="rect">
                  <a:avLst/>
                </a:prstGeom>
                <a:solidFill>
                  <a:schemeClr val="accent6">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𝒙𝑮</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9491381" y="3312639"/>
                  <a:ext cx="1221891" cy="40011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4386370" y="5279572"/>
                  <a:ext cx="4087709" cy="723275"/>
                </a:xfrm>
                <a:prstGeom prst="rect">
                  <a:avLst/>
                </a:prstGeom>
                <a:solidFill>
                  <a:schemeClr val="accent5">
                    <a:lumMod val="20000"/>
                    <a:lumOff val="80000"/>
                  </a:schemeClr>
                </a:solidFill>
              </p:spPr>
              <p:txBody>
                <a:bodyPr wrap="square" rtlCol="0">
                  <a:spAutoFit/>
                </a:bodyPr>
                <a:lstStyle/>
                <a:p>
                  <a:pPr>
                    <a:spcBef>
                      <a:spcPts val="600"/>
                    </a:spcBef>
                  </a:pPr>
                  <a:r>
                    <a:rPr lang="zh-CN" altLang="en-US" b="1">
                      <a:solidFill>
                        <a:schemeClr val="accent6">
                          <a:lumMod val="50000"/>
                        </a:schemeClr>
                      </a:solidFill>
                      <a:latin typeface="宋体" panose="02010600030101010101" pitchFamily="2" charset="-122"/>
                      <a:ea typeface="宋体" panose="02010600030101010101" pitchFamily="2" charset="-122"/>
                    </a:rPr>
                    <a:t>引入</a:t>
                  </a:r>
                  <a:r>
                    <a:rPr lang="zh-CN" altLang="en-US" b="1">
                      <a:solidFill>
                        <a:srgbClr val="C00000"/>
                      </a:solidFill>
                      <a:latin typeface="黑体" panose="02010609060101010101" pitchFamily="49" charset="-122"/>
                      <a:ea typeface="黑体" panose="02010609060101010101" pitchFamily="49" charset="-122"/>
                    </a:rPr>
                    <a:t>特征谓词</a:t>
                  </a:r>
                  <a:endParaRPr lang="en-US" altLang="zh-CN" b="1">
                    <a:solidFill>
                      <a:srgbClr val="C00000"/>
                    </a:solidFill>
                    <a:latin typeface="黑体" panose="02010609060101010101" pitchFamily="49" charset="-122"/>
                    <a:ea typeface="黑体" panose="02010609060101010101" pitchFamily="49" charset="-122"/>
                  </a:endParaRPr>
                </a:p>
                <a:p>
                  <a:pPr marL="285750" indent="-285750">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用</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𝑷</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𝒙</m:t>
                      </m:r>
                      <m:r>
                        <a:rPr lang="en-US" altLang="zh-CN" b="1" i="1" smtClean="0">
                          <a:solidFill>
                            <a:srgbClr val="002060"/>
                          </a:solidFill>
                          <a:latin typeface="Cambria Math" panose="02040503050406030204" pitchFamily="18" charset="0"/>
                          <a:ea typeface="楷体" panose="02010609060101010101" pitchFamily="49" charset="-122"/>
                        </a:rPr>
                        <m:t>)</m:t>
                      </m:r>
                    </m:oMath>
                  </a14:m>
                  <a:r>
                    <a:rPr lang="zh-CN" altLang="en-US" b="1">
                      <a:solidFill>
                        <a:srgbClr val="002060"/>
                      </a:solidFill>
                      <a:latin typeface="楷体" panose="02010609060101010101" pitchFamily="49" charset="-122"/>
                      <a:ea typeface="楷体" panose="02010609060101010101" pitchFamily="49" charset="-122"/>
                    </a:rPr>
                    <a:t>表示“</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oMath>
                  </a14:m>
                  <a:r>
                    <a:rPr lang="zh-CN" altLang="en-US" b="1">
                      <a:solidFill>
                        <a:srgbClr val="002060"/>
                      </a:solidFill>
                      <a:latin typeface="楷体" panose="02010609060101010101" pitchFamily="49" charset="-122"/>
                      <a:ea typeface="楷体" panose="02010609060101010101" pitchFamily="49" charset="-122"/>
                    </a:rPr>
                    <a:t>是计算机专业学生”</a:t>
                  </a:r>
                  <a:endParaRPr lang="en-US" altLang="zh-CN" b="1">
                    <a:solidFill>
                      <a:srgbClr val="002060"/>
                    </a:solidFill>
                    <a:latin typeface="楷体" panose="02010609060101010101" pitchFamily="49" charset="-122"/>
                    <a:ea typeface="楷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4386370" y="5279572"/>
                  <a:ext cx="4087709" cy="723275"/>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8955255" y="5473407"/>
                  <a:ext cx="2177456" cy="400110"/>
                </a:xfrm>
                <a:prstGeom prst="rect">
                  <a:avLst/>
                </a:prstGeom>
                <a:solidFill>
                  <a:schemeClr val="accent6">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𝑷</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𝒙</m:t>
                            </m:r>
                          </m:e>
                        </m:d>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𝑮</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𝒙</m:t>
                            </m:r>
                          </m:e>
                        </m:d>
                        <m:r>
                          <a:rPr lang="en-US" altLang="zh-CN" sz="2000" b="1" i="1" smtClean="0">
                            <a:solidFill>
                              <a:srgbClr val="002060"/>
                            </a:solidFill>
                            <a:latin typeface="Cambria Math" panose="02040503050406030204" pitchFamily="18" charset="0"/>
                            <a:ea typeface="楷体" panose="02010609060101010101" pitchFamily="49" charset="-122"/>
                          </a:rPr>
                          <m:t>)</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8955255" y="5473407"/>
                  <a:ext cx="2177456" cy="400110"/>
                </a:xfrm>
                <a:prstGeom prst="rect">
                  <a:avLst/>
                </a:prstGeom>
                <a:blipFill rotWithShape="1">
                  <a:blip r:embed="rId5"/>
                </a:blipFill>
              </p:spPr>
              <p:txBody>
                <a:bodyPr/>
                <a:lstStyle/>
                <a:p>
                  <a:r>
                    <a:rPr lang="zh-CN" altLang="en-US">
                      <a:noFill/>
                    </a:rPr>
                    <a:t> </a:t>
                  </a:r>
                </a:p>
              </p:txBody>
            </p:sp>
          </mc:Fallback>
        </mc:AlternateContent>
        <p:sp>
          <p:nvSpPr>
            <p:cNvPr id="23" name="文本框 22"/>
            <p:cNvSpPr txBox="1"/>
            <p:nvPr/>
          </p:nvSpPr>
          <p:spPr>
            <a:xfrm>
              <a:off x="1079257" y="4151848"/>
              <a:ext cx="2491657" cy="707886"/>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有的计算机专业学生学习数论课程</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4" name="文本框 23"/>
                <p:cNvSpPr txBox="1"/>
                <p:nvPr/>
              </p:nvSpPr>
              <p:spPr>
                <a:xfrm>
                  <a:off x="1063733" y="5183685"/>
                  <a:ext cx="2548355" cy="1015663"/>
                </a:xfrm>
                <a:prstGeom prst="rect">
                  <a:avLst/>
                </a:prstGeom>
                <a:solidFill>
                  <a:schemeClr val="accent6">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存在</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是计算机专业学生，且</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学习数论课程</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4" name="文本框 23"/>
                <p:cNvSpPr txBox="1">
                  <a:spLocks noRot="1" noChangeAspect="1" noMove="1" noResize="1" noEditPoints="1" noAdjustHandles="1" noChangeArrowheads="1" noChangeShapeType="1" noTextEdit="1"/>
                </p:cNvSpPr>
                <p:nvPr/>
              </p:nvSpPr>
              <p:spPr>
                <a:xfrm>
                  <a:off x="1063733" y="5183685"/>
                  <a:ext cx="2548355" cy="1015663"/>
                </a:xfrm>
                <a:prstGeom prst="rect">
                  <a:avLst/>
                </a:prstGeom>
                <a:blipFill rotWithShape="1">
                  <a:blip r:embed="rId6"/>
                </a:blipFill>
              </p:spPr>
              <p:txBody>
                <a:bodyPr/>
                <a:lstStyle/>
                <a:p>
                  <a:r>
                    <a:rPr lang="zh-CN" altLang="en-US">
                      <a:noFill/>
                    </a:rPr>
                    <a:t> </a:t>
                  </a:r>
                </a:p>
              </p:txBody>
            </p:sp>
          </mc:Fallback>
        </mc:AlternateContent>
        <p:sp>
          <p:nvSpPr>
            <p:cNvPr id="25" name="箭头: 上 24"/>
            <p:cNvSpPr/>
            <p:nvPr/>
          </p:nvSpPr>
          <p:spPr>
            <a:xfrm>
              <a:off x="2297753" y="3870331"/>
              <a:ext cx="54664" cy="2622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p:cNvSpPr/>
            <p:nvPr/>
          </p:nvSpPr>
          <p:spPr>
            <a:xfrm>
              <a:off x="2292192" y="4859734"/>
              <a:ext cx="45719" cy="2815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5250496" y="4520666"/>
              <a:ext cx="2497800" cy="276999"/>
            </a:xfrm>
            <a:prstGeom prst="rect">
              <a:avLst/>
            </a:prstGeom>
            <a:solidFill>
              <a:schemeClr val="accent2">
                <a:lumMod val="20000"/>
                <a:lumOff val="80000"/>
              </a:schemeClr>
            </a:solidFill>
          </p:spPr>
          <p:txBody>
            <a:bodyPr wrap="none" tIns="0" bIns="0" rtlCol="0">
              <a:spAutoFit/>
            </a:bodyPr>
            <a:lstStyle/>
            <a:p>
              <a:pPr algn="ctr">
                <a:spcBef>
                  <a:spcPts val="600"/>
                </a:spcBef>
              </a:pPr>
              <a:r>
                <a:rPr lang="zh-CN" altLang="en-US" b="1">
                  <a:solidFill>
                    <a:srgbClr val="002060"/>
                  </a:solidFill>
                </a:rPr>
                <a:t>为个体变量选择</a:t>
              </a:r>
              <a:r>
                <a:rPr lang="zh-CN" altLang="en-US" b="1">
                  <a:solidFill>
                    <a:srgbClr val="C00000"/>
                  </a:solidFill>
                  <a:latin typeface="黑体" panose="02010609060101010101" pitchFamily="49" charset="-122"/>
                  <a:ea typeface="黑体" panose="02010609060101010101" pitchFamily="49" charset="-122"/>
                </a:rPr>
                <a:t>全总域</a:t>
              </a:r>
              <a:endParaRPr lang="en-US" altLang="zh-CN" b="1">
                <a:solidFill>
                  <a:srgbClr val="C00000"/>
                </a:solidFill>
                <a:latin typeface="黑体" panose="02010609060101010101" pitchFamily="49" charset="-122"/>
                <a:ea typeface="黑体" panose="02010609060101010101" pitchFamily="49" charset="-122"/>
              </a:endParaRPr>
            </a:p>
          </p:txBody>
        </p:sp>
        <p:sp>
          <p:nvSpPr>
            <p:cNvPr id="31" name="文本框 30"/>
            <p:cNvSpPr txBox="1"/>
            <p:nvPr/>
          </p:nvSpPr>
          <p:spPr>
            <a:xfrm>
              <a:off x="8115804" y="4391818"/>
              <a:ext cx="1464685" cy="584775"/>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选择不同论域做不同的细化</a:t>
              </a:r>
              <a:endParaRPr lang="zh-CN" altLang="en-US" sz="1600" b="1">
                <a:solidFill>
                  <a:schemeClr val="accent2">
                    <a:lumMod val="50000"/>
                  </a:schemeClr>
                </a:solidFill>
              </a:endParaRPr>
            </a:p>
          </p:txBody>
        </p:sp>
        <p:sp>
          <p:nvSpPr>
            <p:cNvPr id="32" name="矩形: 圆角 31"/>
            <p:cNvSpPr/>
            <p:nvPr/>
          </p:nvSpPr>
          <p:spPr>
            <a:xfrm>
              <a:off x="721431" y="2494962"/>
              <a:ext cx="10485283" cy="3840054"/>
            </a:xfrm>
            <a:prstGeom prst="roundRect">
              <a:avLst>
                <a:gd name="adj" fmla="val 7910"/>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文本框 33"/>
          <p:cNvSpPr txBox="1"/>
          <p:nvPr/>
        </p:nvSpPr>
        <p:spPr>
          <a:xfrm>
            <a:off x="866395" y="5257085"/>
            <a:ext cx="7603266" cy="861774"/>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sz="2000" b="1">
                <a:solidFill>
                  <a:schemeClr val="accent2">
                    <a:lumMod val="50000"/>
                  </a:schemeClr>
                </a:solidFill>
              </a:rPr>
              <a:t>全称量化命题：特征谓词与进一步判断的谓词之间是</a:t>
            </a:r>
            <a:r>
              <a:rPr lang="zh-CN" altLang="en-US" sz="2000" b="1">
                <a:solidFill>
                  <a:srgbClr val="C00000"/>
                </a:solidFill>
              </a:rPr>
              <a:t>逻辑蕴含</a:t>
            </a:r>
            <a:r>
              <a:rPr lang="zh-CN" altLang="en-US" sz="2000" b="1">
                <a:solidFill>
                  <a:schemeClr val="accent2">
                    <a:lumMod val="50000"/>
                  </a:schemeClr>
                </a:solidFill>
              </a:rPr>
              <a:t>关系</a:t>
            </a:r>
            <a:endParaRPr lang="en-US" altLang="zh-CN" sz="2000" b="1">
              <a:solidFill>
                <a:schemeClr val="accent2">
                  <a:lumMod val="50000"/>
                </a:schemeClr>
              </a:solidFill>
            </a:endParaRPr>
          </a:p>
          <a:p>
            <a:pPr>
              <a:spcBef>
                <a:spcPts val="600"/>
              </a:spcBef>
              <a:spcAft>
                <a:spcPts val="600"/>
              </a:spcAft>
            </a:pPr>
            <a:r>
              <a:rPr lang="zh-CN" altLang="en-US" sz="2000" b="1">
                <a:solidFill>
                  <a:schemeClr val="accent2">
                    <a:lumMod val="50000"/>
                  </a:schemeClr>
                </a:solidFill>
              </a:rPr>
              <a:t>存在量化命题：特征谓词与进一步判断的谓词之间是</a:t>
            </a:r>
            <a:r>
              <a:rPr lang="zh-CN" altLang="en-US" sz="2000" b="1">
                <a:solidFill>
                  <a:srgbClr val="C00000"/>
                </a:solidFill>
              </a:rPr>
              <a:t>逻辑合取</a:t>
            </a:r>
            <a:r>
              <a:rPr lang="zh-CN" altLang="en-US" sz="2000" b="1">
                <a:solidFill>
                  <a:schemeClr val="accent2">
                    <a:lumMod val="50000"/>
                  </a:schemeClr>
                </a:solidFill>
              </a:rPr>
              <a:t>关系</a:t>
            </a:r>
            <a:endParaRPr lang="zh-CN" altLang="en-US" sz="2000" b="1">
              <a:solidFill>
                <a:schemeClr val="accent2">
                  <a:lumMod val="50000"/>
                </a:schemeClr>
              </a:solidFill>
            </a:endParaRPr>
          </a:p>
        </p:txBody>
      </p:sp>
      <p:sp>
        <p:nvSpPr>
          <p:cNvPr id="35" name="文本框 34"/>
          <p:cNvSpPr txBox="1"/>
          <p:nvPr/>
        </p:nvSpPr>
        <p:spPr>
          <a:xfrm>
            <a:off x="8980072" y="5321415"/>
            <a:ext cx="2345533" cy="830997"/>
          </a:xfrm>
          <a:prstGeom prst="rect">
            <a:avLst/>
          </a:prstGeom>
          <a:solidFill>
            <a:schemeClr val="accent4">
              <a:lumMod val="20000"/>
              <a:lumOff val="8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一阶逻辑应用一讲将对自然语言命题在一阶逻辑的符号化做更多讨论</a:t>
            </a:r>
            <a:endParaRPr lang="zh-CN" altLang="en-US" sz="1600" b="1">
              <a:solidFill>
                <a:srgbClr val="002060"/>
              </a:solidFill>
              <a:latin typeface="楷体" panose="02010609060101010101" pitchFamily="49" charset="-122"/>
              <a:ea typeface="楷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一阶逻辑基本概念汇总</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1174251" y="1285145"/>
                <a:ext cx="9843496" cy="4734629"/>
              </a:xfrm>
              <a:prstGeom prst="rect">
                <a:avLst/>
              </a:prstGeom>
              <a:solidFill>
                <a:schemeClr val="accent5">
                  <a:lumMod val="20000"/>
                  <a:lumOff val="80000"/>
                  <a:alpha val="50000"/>
                </a:schemeClr>
              </a:solidFill>
            </p:spPr>
            <p:txBody>
              <a:bodyPr wrap="square" rtlCol="0">
                <a:spAutoFit/>
              </a:bodyPr>
              <a:lstStyle/>
              <a:p>
                <a:pPr algn="ctr">
                  <a:spcAft>
                    <a:spcPts val="1200"/>
                  </a:spcAft>
                </a:pPr>
                <a:r>
                  <a:rPr lang="zh-CN" altLang="en-US" sz="2400" b="1">
                    <a:solidFill>
                      <a:srgbClr val="C00000"/>
                    </a:solidFill>
                    <a:latin typeface="黑体" panose="02010609060101010101" pitchFamily="49" charset="-122"/>
                    <a:ea typeface="黑体" panose="02010609060101010101" pitchFamily="49" charset="-122"/>
                  </a:rPr>
                  <a:t>个体</a:t>
                </a:r>
                <a:r>
                  <a:rPr lang="zh-CN" altLang="en-US" sz="2400" b="1">
                    <a:solidFill>
                      <a:schemeClr val="accent2">
                        <a:lumMod val="50000"/>
                      </a:schemeClr>
                    </a:solidFill>
                    <a:latin typeface="黑体" panose="02010609060101010101" pitchFamily="49" charset="-122"/>
                    <a:ea typeface="黑体" panose="02010609060101010101" pitchFamily="49" charset="-122"/>
                  </a:rPr>
                  <a:t>：原子命题要判断的事物</a:t>
                </a:r>
                <a:endParaRPr lang="en-US" altLang="zh-CN" sz="2400" b="1">
                  <a:solidFill>
                    <a:schemeClr val="accent2">
                      <a:lumMod val="50000"/>
                    </a:schemeClr>
                  </a:solidFill>
                  <a:latin typeface="黑体" panose="02010609060101010101" pitchFamily="49" charset="-122"/>
                  <a:ea typeface="黑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具体个体称为</a:t>
                </a:r>
                <a:r>
                  <a:rPr lang="zh-CN" altLang="en-US" sz="2000" b="1">
                    <a:solidFill>
                      <a:srgbClr val="C00000"/>
                    </a:solidFill>
                    <a:latin typeface="黑体" panose="02010609060101010101" pitchFamily="49" charset="-122"/>
                    <a:ea typeface="黑体" panose="02010609060101010101" pitchFamily="49" charset="-122"/>
                  </a:rPr>
                  <a:t>个体常量</a:t>
                </a:r>
                <a:r>
                  <a:rPr lang="zh-CN" altLang="en-US" sz="2000" b="1">
                    <a:solidFill>
                      <a:srgbClr val="002060"/>
                    </a:solidFill>
                    <a:latin typeface="楷体" panose="02010609060101010101" pitchFamily="49" charset="-122"/>
                    <a:ea typeface="楷体" panose="02010609060101010101" pitchFamily="49" charset="-122"/>
                  </a:rPr>
                  <a:t>，用小写字母</a:t>
                </a:r>
                <a14:m>
                  <m:oMath xmlns:m="http://schemas.openxmlformats.org/officeDocument/2006/math">
                    <m:r>
                      <a:rPr lang="en-US" altLang="zh-CN" sz="2000" b="1" i="1" smtClean="0">
                        <a:solidFill>
                          <a:srgbClr val="002060"/>
                        </a:solidFill>
                        <a:latin typeface="Cambria Math" panose="02040503050406030204" pitchFamily="18" charset="0"/>
                        <a:ea typeface="宋体" panose="02010600030101010101" pitchFamily="2" charset="-122"/>
                      </a:rPr>
                      <m:t>𝒂</m:t>
                    </m:r>
                    <m:r>
                      <a:rPr lang="en-US" altLang="zh-CN" sz="2000" b="1" i="1" smtClean="0">
                        <a:solidFill>
                          <a:srgbClr val="002060"/>
                        </a:solidFill>
                        <a:latin typeface="Cambria Math" panose="02040503050406030204" pitchFamily="18" charset="0"/>
                        <a:ea typeface="宋体" panose="02010600030101010101" pitchFamily="2" charset="-122"/>
                      </a:rPr>
                      <m:t>, </m:t>
                    </m:r>
                    <m:r>
                      <a:rPr lang="en-US" altLang="zh-CN" sz="2000" b="1" i="1" smtClean="0">
                        <a:solidFill>
                          <a:srgbClr val="002060"/>
                        </a:solidFill>
                        <a:latin typeface="Cambria Math" panose="02040503050406030204" pitchFamily="18" charset="0"/>
                        <a:ea typeface="宋体" panose="02010600030101010101" pitchFamily="2" charset="-122"/>
                      </a:rPr>
                      <m:t>𝒃</m:t>
                    </m:r>
                    <m:r>
                      <a:rPr lang="en-US" altLang="zh-CN" sz="2000" b="1" i="1" smtClean="0">
                        <a:solidFill>
                          <a:srgbClr val="002060"/>
                        </a:solidFill>
                        <a:latin typeface="Cambria Math" panose="02040503050406030204" pitchFamily="18" charset="0"/>
                        <a:ea typeface="宋体" panose="02010600030101010101" pitchFamily="2" charset="-122"/>
                      </a:rPr>
                      <m:t>, </m:t>
                    </m:r>
                    <m:r>
                      <a:rPr lang="en-US" altLang="zh-CN" sz="2000" b="1" i="1" smtClean="0">
                        <a:solidFill>
                          <a:srgbClr val="002060"/>
                        </a:solidFill>
                        <a:latin typeface="Cambria Math" panose="02040503050406030204" pitchFamily="18" charset="0"/>
                        <a:ea typeface="宋体" panose="02010600030101010101" pitchFamily="2" charset="-122"/>
                      </a:rPr>
                      <m:t>𝒄</m:t>
                    </m:r>
                  </m:oMath>
                </a14:m>
                <a:r>
                  <a:rPr lang="zh-CN" altLang="en-US" sz="2000" b="1">
                    <a:solidFill>
                      <a:srgbClr val="002060"/>
                    </a:solidFill>
                    <a:latin typeface="楷体" panose="02010609060101010101" pitchFamily="49" charset="-122"/>
                    <a:ea typeface="楷体" panose="02010609060101010101" pitchFamily="49" charset="-122"/>
                  </a:rPr>
                  <a:t>等表示</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为谓词作用的可能个体引入</a:t>
                </a:r>
                <a:r>
                  <a:rPr lang="zh-CN" altLang="en-US" sz="2000" b="1">
                    <a:solidFill>
                      <a:srgbClr val="C00000"/>
                    </a:solidFill>
                    <a:latin typeface="黑体" panose="02010609060101010101" pitchFamily="49" charset="-122"/>
                    <a:ea typeface="黑体" panose="02010609060101010101" pitchFamily="49" charset="-122"/>
                  </a:rPr>
                  <a:t>个体变量</a:t>
                </a:r>
                <a:endParaRPr lang="en-US" altLang="zh-CN" sz="2000" b="1">
                  <a:solidFill>
                    <a:srgbClr val="C00000"/>
                  </a:solidFill>
                  <a:latin typeface="黑体" panose="02010609060101010101" pitchFamily="49" charset="-122"/>
                  <a:ea typeface="黑体" panose="02010609060101010101" pitchFamily="49" charset="-122"/>
                </a:endParaRPr>
              </a:p>
              <a:p>
                <a:pPr marL="742950" lvl="1" indent="-28575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用小写字母</a:t>
                </a:r>
                <a14:m>
                  <m:oMath xmlns:m="http://schemas.openxmlformats.org/officeDocument/2006/math">
                    <m:r>
                      <a:rPr lang="en-US" altLang="zh-CN" sz="2000" b="1">
                        <a:solidFill>
                          <a:schemeClr val="accent6">
                            <a:lumMod val="50000"/>
                          </a:schemeClr>
                        </a:solidFill>
                        <a:latin typeface="Cambria Math" panose="02040503050406030204" pitchFamily="18" charset="0"/>
                        <a:ea typeface="等线" panose="02010600030101010101" pitchFamily="2" charset="-122"/>
                      </a:rPr>
                      <m:t>𝒙</m:t>
                    </m:r>
                    <m:r>
                      <a:rPr lang="en-US" altLang="zh-CN" sz="2000" b="1">
                        <a:solidFill>
                          <a:schemeClr val="accent6">
                            <a:lumMod val="50000"/>
                          </a:schemeClr>
                        </a:solidFill>
                        <a:latin typeface="Cambria Math" panose="02040503050406030204" pitchFamily="18" charset="0"/>
                        <a:ea typeface="等线" panose="02010600030101010101" pitchFamily="2" charset="-122"/>
                      </a:rPr>
                      <m:t>,</m:t>
                    </m:r>
                    <m:r>
                      <a:rPr lang="en-US" altLang="zh-CN" sz="2000" b="1">
                        <a:solidFill>
                          <a:schemeClr val="accent6">
                            <a:lumMod val="50000"/>
                          </a:schemeClr>
                        </a:solidFill>
                        <a:latin typeface="Cambria Math" panose="02040503050406030204" pitchFamily="18" charset="0"/>
                        <a:ea typeface="等线" panose="02010600030101010101" pitchFamily="2" charset="-122"/>
                      </a:rPr>
                      <m:t>𝒚</m:t>
                    </m:r>
                    <m:r>
                      <a:rPr lang="en-US" altLang="zh-CN" sz="2000" b="1">
                        <a:solidFill>
                          <a:schemeClr val="accent6">
                            <a:lumMod val="50000"/>
                          </a:schemeClr>
                        </a:solidFill>
                        <a:latin typeface="Cambria Math" panose="02040503050406030204" pitchFamily="18" charset="0"/>
                        <a:ea typeface="等线" panose="02010600030101010101" pitchFamily="2" charset="-122"/>
                      </a:rPr>
                      <m:t>,</m:t>
                    </m:r>
                    <m:r>
                      <a:rPr lang="en-US" altLang="zh-CN" sz="2000" b="1">
                        <a:solidFill>
                          <a:schemeClr val="accent6">
                            <a:lumMod val="50000"/>
                          </a:schemeClr>
                        </a:solidFill>
                        <a:latin typeface="Cambria Math" panose="02040503050406030204" pitchFamily="18" charset="0"/>
                        <a:ea typeface="等线" panose="02010600030101010101" pitchFamily="2" charset="-122"/>
                      </a:rPr>
                      <m:t>𝒛</m:t>
                    </m:r>
                  </m:oMath>
                </a14:m>
                <a:r>
                  <a:rPr lang="zh-CN" altLang="en-US" sz="2000" b="1">
                    <a:solidFill>
                      <a:schemeClr val="accent6">
                        <a:lumMod val="50000"/>
                      </a:schemeClr>
                    </a:solidFill>
                    <a:latin typeface="等线" panose="02010600030101010101" pitchFamily="2" charset="-122"/>
                    <a:ea typeface="等线" panose="02010600030101010101" pitchFamily="2" charset="-122"/>
                  </a:rPr>
                  <a:t>等表示，个体变量表示不确定的个体</a:t>
                </a:r>
                <a:endParaRPr lang="en-US" altLang="zh-CN" sz="2000" b="1">
                  <a:solidFill>
                    <a:schemeClr val="accent6">
                      <a:lumMod val="50000"/>
                    </a:schemeClr>
                  </a:solidFill>
                  <a:latin typeface="等线" panose="02010600030101010101" pitchFamily="2" charset="-122"/>
                  <a:ea typeface="等线" panose="02010600030101010101" pitchFamily="2" charset="-122"/>
                </a:endParaRP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多个个体作为一个整体称为</a:t>
                </a:r>
                <a:r>
                  <a:rPr lang="zh-CN" altLang="en-US" sz="2000" b="1">
                    <a:solidFill>
                      <a:srgbClr val="C00000"/>
                    </a:solidFill>
                    <a:latin typeface="黑体" panose="02010609060101010101" pitchFamily="49" charset="-122"/>
                    <a:ea typeface="黑体" panose="02010609060101010101" pitchFamily="49" charset="-122"/>
                  </a:rPr>
                  <a:t>个体类</a:t>
                </a:r>
                <a:endParaRPr lang="en-US" altLang="zh-CN" sz="2000" b="1">
                  <a:solidFill>
                    <a:srgbClr val="C00000"/>
                  </a:solidFill>
                  <a:latin typeface="黑体" panose="02010609060101010101" pitchFamily="49" charset="-122"/>
                  <a:ea typeface="黑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谓词作用的个体变量的取值范围称为</a:t>
                </a:r>
                <a:r>
                  <a:rPr lang="zh-CN" altLang="en-US" sz="2000" b="1">
                    <a:solidFill>
                      <a:srgbClr val="C00000"/>
                    </a:solidFill>
                    <a:latin typeface="黑体" panose="02010609060101010101" pitchFamily="49" charset="-122"/>
                    <a:ea typeface="黑体" panose="02010609060101010101" pitchFamily="49" charset="-122"/>
                  </a:rPr>
                  <a:t>论域</a:t>
                </a:r>
                <a:endParaRPr lang="en-US" altLang="zh-CN" sz="2000" b="1">
                  <a:solidFill>
                    <a:srgbClr val="C00000"/>
                  </a:solidFill>
                  <a:latin typeface="黑体" panose="02010609060101010101" pitchFamily="49" charset="-122"/>
                  <a:ea typeface="黑体" panose="02010609060101010101" pitchFamily="49" charset="-122"/>
                </a:endParaRPr>
              </a:p>
              <a:p>
                <a:pPr marL="742950" lvl="1" indent="-28575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所有谓词作用的个体来自同一个个体类，则这个个体类可作为论域</a:t>
                </a:r>
                <a:endParaRPr lang="en-US" altLang="zh-CN" sz="2000" b="1">
                  <a:solidFill>
                    <a:schemeClr val="accent6">
                      <a:lumMod val="50000"/>
                    </a:schemeClr>
                  </a:solidFill>
                  <a:latin typeface="等线" panose="02010600030101010101" pitchFamily="2" charset="-122"/>
                  <a:ea typeface="等线" panose="02010600030101010101" pitchFamily="2" charset="-122"/>
                </a:endParaRPr>
              </a:p>
              <a:p>
                <a:pPr marL="742950" lvl="1" indent="-28575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谓词可能作用于多个个体类的个体时，论域必须包含所有可能个体构成的集合</a:t>
                </a:r>
                <a:endParaRPr lang="en-US" altLang="zh-CN" sz="2000" b="1">
                  <a:solidFill>
                    <a:schemeClr val="accent6">
                      <a:lumMod val="50000"/>
                    </a:schemeClr>
                  </a:solidFill>
                  <a:latin typeface="等线" panose="02010600030101010101" pitchFamily="2" charset="-122"/>
                  <a:ea typeface="等线" panose="02010600030101010101" pitchFamily="2" charset="-122"/>
                </a:endParaRPr>
              </a:p>
              <a:p>
                <a:pPr marL="1200150" lvl="2"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全总域</a:t>
                </a:r>
                <a:r>
                  <a:rPr lang="zh-CN" altLang="en-US" b="1">
                    <a:solidFill>
                      <a:schemeClr val="accent4">
                        <a:lumMod val="50000"/>
                      </a:schemeClr>
                    </a:solidFill>
                    <a:latin typeface="楷体" panose="02010609060101010101" pitchFamily="49" charset="-122"/>
                    <a:ea typeface="楷体" panose="02010609060101010101" pitchFamily="49" charset="-122"/>
                  </a:rPr>
                  <a:t>是研究范围内所有可能个体构成的集合</a:t>
                </a:r>
                <a:endParaRPr lang="en-US" altLang="zh-CN" b="1">
                  <a:solidFill>
                    <a:schemeClr val="accent4">
                      <a:lumMod val="50000"/>
                    </a:schemeClr>
                  </a:solidFill>
                  <a:latin typeface="楷体" panose="02010609060101010101" pitchFamily="49" charset="-122"/>
                  <a:ea typeface="楷体" panose="02010609060101010101" pitchFamily="49" charset="-122"/>
                </a:endParaRPr>
              </a:p>
              <a:p>
                <a:pPr marL="1200150" lvl="2" indent="-285750">
                  <a:spcBef>
                    <a:spcPts val="600"/>
                  </a:spcBef>
                  <a:spcAft>
                    <a:spcPts val="600"/>
                  </a:spcAft>
                  <a:buFont typeface="Arial" panose="020B0604020202020204" pitchFamily="34" charset="0"/>
                  <a:buChar char="•"/>
                </a:pPr>
                <a:r>
                  <a:rPr lang="zh-CN" altLang="en-US" b="1">
                    <a:solidFill>
                      <a:schemeClr val="accent4">
                        <a:lumMod val="50000"/>
                      </a:schemeClr>
                    </a:solidFill>
                    <a:latin typeface="楷体" panose="02010609060101010101" pitchFamily="49" charset="-122"/>
                    <a:ea typeface="楷体" panose="02010609060101010101" pitchFamily="49" charset="-122"/>
                  </a:rPr>
                  <a:t>这时需要为命题中的每个个体类引入一个</a:t>
                </a:r>
                <a:r>
                  <a:rPr lang="zh-CN" altLang="en-US" b="1">
                    <a:solidFill>
                      <a:srgbClr val="C00000"/>
                    </a:solidFill>
                    <a:latin typeface="黑体" panose="02010609060101010101" pitchFamily="49" charset="-122"/>
                    <a:ea typeface="黑体" panose="02010609060101010101" pitchFamily="49" charset="-122"/>
                  </a:rPr>
                  <a:t>特征谓词</a:t>
                </a:r>
                <a:endParaRPr lang="en-US" altLang="zh-CN" b="1">
                  <a:solidFill>
                    <a:srgbClr val="C00000"/>
                  </a:solidFill>
                  <a:latin typeface="黑体" panose="02010609060101010101" pitchFamily="49" charset="-122"/>
                  <a:ea typeface="黑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1174251" y="1285145"/>
                <a:ext cx="9843496" cy="4734629"/>
              </a:xfrm>
              <a:prstGeom prst="rect">
                <a:avLst/>
              </a:prstGeom>
              <a:blipFill rotWithShape="1">
                <a:blip r:embed="rId1"/>
                <a:stretch>
                  <a:fillRect l="-1" t="-11" r="5" b="13"/>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一阶逻辑基本概念汇总</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1414807" y="1398156"/>
                <a:ext cx="8933680" cy="1856534"/>
              </a:xfrm>
              <a:prstGeom prst="rect">
                <a:avLst/>
              </a:prstGeom>
              <a:solidFill>
                <a:schemeClr val="accent4">
                  <a:lumMod val="20000"/>
                  <a:lumOff val="80000"/>
                  <a:alpha val="25000"/>
                </a:schemeClr>
              </a:solidFill>
            </p:spPr>
            <p:txBody>
              <a:bodyPr wrap="square" rtlCol="0">
                <a:spAutoFit/>
              </a:bodyPr>
              <a:lstStyle/>
              <a:p>
                <a:pPr algn="ctr">
                  <a:spcBef>
                    <a:spcPts val="600"/>
                  </a:spcBef>
                  <a:spcAft>
                    <a:spcPts val="600"/>
                  </a:spcAft>
                </a:pPr>
                <a:r>
                  <a:rPr lang="zh-CN" altLang="en-US" sz="2400" b="1">
                    <a:solidFill>
                      <a:srgbClr val="C00000"/>
                    </a:solidFill>
                    <a:latin typeface="黑体" panose="02010609060101010101" pitchFamily="49" charset="-122"/>
                    <a:ea typeface="黑体" panose="02010609060101010101" pitchFamily="49" charset="-122"/>
                  </a:rPr>
                  <a:t>谓词</a:t>
                </a:r>
                <a:r>
                  <a:rPr lang="zh-CN" altLang="en-US" sz="2400" b="1">
                    <a:solidFill>
                      <a:schemeClr val="accent2">
                        <a:lumMod val="50000"/>
                      </a:schemeClr>
                    </a:solidFill>
                    <a:latin typeface="黑体" panose="02010609060101010101" pitchFamily="49" charset="-122"/>
                    <a:ea typeface="黑体" panose="02010609060101010101" pitchFamily="49" charset="-122"/>
                  </a:rPr>
                  <a:t>：原子命题给出的性质或关系</a:t>
                </a:r>
                <a:endParaRPr lang="en-US" altLang="zh-CN" sz="2400" b="1">
                  <a:solidFill>
                    <a:schemeClr val="accent2">
                      <a:lumMod val="50000"/>
                    </a:schemeClr>
                  </a:solidFill>
                  <a:latin typeface="黑体" panose="02010609060101010101" pitchFamily="49" charset="-122"/>
                  <a:ea typeface="黑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谓词作用的个体个数称为谓词的</a:t>
                </a:r>
                <a:r>
                  <a:rPr lang="zh-CN" altLang="en-US" sz="2000" b="1">
                    <a:solidFill>
                      <a:srgbClr val="C00000"/>
                    </a:solidFill>
                    <a:latin typeface="黑体" panose="02010609060101010101" pitchFamily="49" charset="-122"/>
                    <a:ea typeface="黑体" panose="02010609060101010101" pitchFamily="49" charset="-122"/>
                  </a:rPr>
                  <a:t>元数</a:t>
                </a:r>
                <a:endParaRPr lang="en-US" altLang="zh-CN" sz="2000" b="1">
                  <a:solidFill>
                    <a:srgbClr val="C00000"/>
                  </a:solidFill>
                  <a:latin typeface="黑体" panose="02010609060101010101" pitchFamily="49" charset="-122"/>
                  <a:ea typeface="黑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谓词使用大写字母</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𝑭</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𝑮</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𝑯</m:t>
                    </m:r>
                  </m:oMath>
                </a14:m>
                <a:r>
                  <a:rPr lang="zh-CN" altLang="en-US" sz="2000" b="1">
                    <a:solidFill>
                      <a:srgbClr val="002060"/>
                    </a:solidFill>
                    <a:latin typeface="楷体" panose="02010609060101010101" pitchFamily="49" charset="-122"/>
                    <a:ea typeface="楷体" panose="02010609060101010101" pitchFamily="49" charset="-122"/>
                  </a:rPr>
                  <a:t>表示</a:t>
                </a:r>
                <a:endParaRPr lang="en-US" altLang="zh-CN" sz="2000" b="1">
                  <a:solidFill>
                    <a:srgbClr val="002060"/>
                  </a:solidFill>
                  <a:latin typeface="楷体" panose="02010609060101010101" pitchFamily="49" charset="-122"/>
                  <a:ea typeface="楷体" panose="02010609060101010101" pitchFamily="49" charset="-122"/>
                </a:endParaRPr>
              </a:p>
              <a:p>
                <a:pPr marL="742950" lvl="1" indent="-285750">
                  <a:lnSpc>
                    <a:spcPts val="26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一元谓词用</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𝑭</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𝑮</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2000" b="1">
                    <a:solidFill>
                      <a:schemeClr val="accent6">
                        <a:lumMod val="50000"/>
                      </a:schemeClr>
                    </a:solidFill>
                    <a:latin typeface="等线" panose="02010600030101010101" pitchFamily="2" charset="-122"/>
                    <a:ea typeface="等线" panose="02010600030101010101" pitchFamily="2" charset="-122"/>
                  </a:rPr>
                  <a:t>等表示，二元谓词用</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𝑯</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𝒚</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𝑷</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𝒚</m:t>
                    </m:r>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2000" b="1">
                    <a:solidFill>
                      <a:schemeClr val="accent6">
                        <a:lumMod val="50000"/>
                      </a:schemeClr>
                    </a:solidFill>
                    <a:latin typeface="等线" panose="02010600030101010101" pitchFamily="2" charset="-122"/>
                    <a:ea typeface="等线" panose="02010600030101010101" pitchFamily="2" charset="-122"/>
                  </a:rPr>
                  <a:t>等表示，等等</a:t>
                </a:r>
                <a:endParaRPr lang="en-US" altLang="zh-CN" sz="2000" b="1">
                  <a:solidFill>
                    <a:srgbClr val="002060"/>
                  </a:solidFill>
                  <a:latin typeface="等线" panose="02010600030101010101" pitchFamily="2" charset="-122"/>
                  <a:ea typeface="等线" panose="02010600030101010101" pitchFamily="2"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1414807" y="1398156"/>
                <a:ext cx="8933680" cy="1856534"/>
              </a:xfrm>
              <a:prstGeom prst="rect">
                <a:avLst/>
              </a:prstGeom>
              <a:blipFill rotWithShape="1">
                <a:blip r:embed="rId1"/>
                <a:stretch>
                  <a:fillRect t="-28" r="6" b="-151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414807" y="3529878"/>
                <a:ext cx="8813862" cy="2369110"/>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rgbClr val="C00000"/>
                    </a:solidFill>
                    <a:latin typeface="黑体" panose="02010609060101010101" pitchFamily="49" charset="-122"/>
                    <a:ea typeface="黑体" panose="02010609060101010101" pitchFamily="49" charset="-122"/>
                  </a:rPr>
                  <a:t>量词</a:t>
                </a:r>
                <a:r>
                  <a:rPr lang="zh-CN" altLang="en-US" sz="2400" b="1">
                    <a:solidFill>
                      <a:schemeClr val="accent2">
                        <a:lumMod val="50000"/>
                      </a:schemeClr>
                    </a:solidFill>
                    <a:latin typeface="黑体" panose="02010609060101010101" pitchFamily="49" charset="-122"/>
                    <a:ea typeface="黑体" panose="02010609060101010101" pitchFamily="49" charset="-122"/>
                  </a:rPr>
                  <a:t>：修饰个体类</a:t>
                </a:r>
                <a:endParaRPr lang="en-US" altLang="zh-CN" sz="2400" b="1">
                  <a:solidFill>
                    <a:schemeClr val="accent2">
                      <a:lumMod val="50000"/>
                    </a:schemeClr>
                  </a:solidFill>
                  <a:latin typeface="黑体" panose="02010609060101010101" pitchFamily="49" charset="-122"/>
                  <a:ea typeface="黑体" panose="02010609060101010101" pitchFamily="49" charset="-122"/>
                </a:endParaRPr>
              </a:p>
              <a:p>
                <a:pPr marL="285750" indent="-285750">
                  <a:lnSpc>
                    <a:spcPts val="26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全称量化命题：用</a:t>
                </a:r>
                <a:r>
                  <a:rPr lang="zh-CN" altLang="en-US" sz="2000" b="1">
                    <a:solidFill>
                      <a:srgbClr val="C00000"/>
                    </a:solidFill>
                    <a:latin typeface="黑体" panose="02010609060101010101" pitchFamily="49" charset="-122"/>
                    <a:ea typeface="黑体" panose="02010609060101010101" pitchFamily="49" charset="-122"/>
                  </a:rPr>
                  <a:t>全称量词</a:t>
                </a:r>
                <a14:m>
                  <m:oMath xmlns:m="http://schemas.openxmlformats.org/officeDocument/2006/math">
                    <m:r>
                      <a:rPr lang="en-US" altLang="zh-CN" sz="2000" b="1" i="1" smtClean="0">
                        <a:solidFill>
                          <a:srgbClr val="C00000"/>
                        </a:solidFill>
                        <a:latin typeface="Cambria Math" panose="02040503050406030204" pitchFamily="18" charset="0"/>
                        <a:ea typeface="黑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断定个体类的所有个体具有某性质或关系</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存在量化命题：用</a:t>
                </a:r>
                <a:r>
                  <a:rPr lang="zh-CN" altLang="en-US" sz="2000" b="1">
                    <a:solidFill>
                      <a:srgbClr val="C00000"/>
                    </a:solidFill>
                    <a:latin typeface="黑体" panose="02010609060101010101" pitchFamily="49" charset="-122"/>
                    <a:ea typeface="黑体" panose="02010609060101010101" pitchFamily="49" charset="-122"/>
                  </a:rPr>
                  <a:t>存在量词</a:t>
                </a:r>
                <a14:m>
                  <m:oMath xmlns:m="http://schemas.openxmlformats.org/officeDocument/2006/math">
                    <m:r>
                      <a:rPr lang="en-US" altLang="zh-CN" sz="2000" b="1">
                        <a:solidFill>
                          <a:srgbClr val="C00000"/>
                        </a:solidFill>
                        <a:latin typeface="Cambria Math" panose="02040503050406030204" pitchFamily="18" charset="0"/>
                        <a:ea typeface="黑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断定个体类存在个体具有某性质或关系</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对个体类判断的命题需要量词修饰个体类</a:t>
                </a:r>
                <a:endParaRPr lang="en-US" altLang="zh-CN" sz="2000" b="1">
                  <a:solidFill>
                    <a:srgbClr val="002060"/>
                  </a:solidFill>
                  <a:latin typeface="楷体" panose="02010609060101010101" pitchFamily="49" charset="-122"/>
                  <a:ea typeface="楷体" panose="02010609060101010101" pitchFamily="49" charset="-122"/>
                </a:endParaRPr>
              </a:p>
              <a:p>
                <a:pPr marL="742950" lvl="1" indent="-285750">
                  <a:lnSpc>
                    <a:spcPts val="24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mn-ea"/>
                  </a:rPr>
                  <a:t>量词符号</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mn-ea"/>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mn-ea"/>
                  </a:rPr>
                  <a:t>总与</a:t>
                </a:r>
                <a:r>
                  <a:rPr lang="zh-CN" altLang="en-US" b="1">
                    <a:solidFill>
                      <a:srgbClr val="C00000"/>
                    </a:solidFill>
                    <a:latin typeface="+mn-ea"/>
                  </a:rPr>
                  <a:t>指示变量</a:t>
                </a:r>
                <a:r>
                  <a:rPr lang="zh-CN" altLang="en-US" b="1">
                    <a:solidFill>
                      <a:schemeClr val="accent6">
                        <a:lumMod val="50000"/>
                      </a:schemeClr>
                    </a:solidFill>
                    <a:latin typeface="+mn-ea"/>
                  </a:rPr>
                  <a:t>一起使用，建立与谓词作用的个体变量之间的联系</a:t>
                </a:r>
                <a:endParaRPr lang="en-US" altLang="zh-CN" b="1">
                  <a:solidFill>
                    <a:schemeClr val="accent6">
                      <a:lumMod val="50000"/>
                    </a:schemeClr>
                  </a:solidFill>
                  <a:latin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1414807" y="3529878"/>
                <a:ext cx="8813862" cy="2369110"/>
              </a:xfrm>
              <a:prstGeom prst="rect">
                <a:avLst/>
              </a:prstGeom>
              <a:blipFill rotWithShape="1">
                <a:blip r:embed="rId2"/>
                <a:stretch>
                  <a:fillRect t="-23" r="1" b="20"/>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个体、谓词、量词和论域判断练习</a:t>
            </a:r>
            <a:endParaRPr lang="zh-CN" altLang="en-US"/>
          </a:p>
        </p:txBody>
      </p:sp>
      <p:sp>
        <p:nvSpPr>
          <p:cNvPr id="2" name="文本框 1"/>
          <p:cNvSpPr txBox="1"/>
          <p:nvPr/>
        </p:nvSpPr>
        <p:spPr>
          <a:xfrm>
            <a:off x="2773542" y="1414361"/>
            <a:ext cx="5521842" cy="2734082"/>
          </a:xfrm>
          <a:prstGeom prst="rect">
            <a:avLst/>
          </a:prstGeom>
          <a:solidFill>
            <a:schemeClr val="accent6">
              <a:lumMod val="20000"/>
              <a:lumOff val="80000"/>
              <a:alpha val="50000"/>
            </a:schemeClr>
          </a:solidFill>
        </p:spPr>
        <p:txBody>
          <a:bodyPr wrap="square" rtlCol="0">
            <a:spAutoFit/>
          </a:bodyPr>
          <a:lstStyle/>
          <a:p>
            <a:pPr>
              <a:lnSpc>
                <a:spcPts val="2800"/>
              </a:lnSpc>
              <a:spcBef>
                <a:spcPts val="600"/>
              </a:spcBef>
              <a:spcAft>
                <a:spcPts val="1200"/>
              </a:spcAft>
            </a:pPr>
            <a:r>
              <a:rPr lang="zh-CN" altLang="en-US" sz="2400" b="1">
                <a:solidFill>
                  <a:srgbClr val="C00000"/>
                </a:solidFill>
                <a:latin typeface="+mn-ea"/>
              </a:rPr>
              <a:t>指出下面句子中的个体、谓词、量词、个体类，确定论域并将句子符号化</a:t>
            </a:r>
            <a:endParaRPr lang="en-US" altLang="zh-CN" sz="2400" b="1">
              <a:solidFill>
                <a:srgbClr val="C00000"/>
              </a:solidFill>
              <a:latin typeface="+mn-ea"/>
            </a:endParaRPr>
          </a:p>
          <a:p>
            <a:pPr marL="342900" indent="-342900">
              <a:spcBef>
                <a:spcPts val="600"/>
              </a:spcBef>
              <a:spcAft>
                <a:spcPts val="600"/>
              </a:spcAft>
              <a:buFont typeface="Arial" panose="020B0604020202020204" pitchFamily="34" charset="0"/>
              <a:buChar char="•"/>
            </a:pPr>
            <a:r>
              <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rPr>
              <a:t>2000</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年是闰年</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任意年份或者是闰年或者不被</a:t>
            </a:r>
            <a:r>
              <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rPr>
              <a:t>4</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整除</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有的年份被</a:t>
            </a:r>
            <a:r>
              <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rPr>
              <a:t>4</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整除但不是闰年</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一个年份被</a:t>
            </a:r>
            <a:r>
              <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rPr>
              <a:t>400</a:t>
            </a: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整除则是闰年</a:t>
            </a:r>
            <a:endPar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一阶逻辑的基本概念</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个体、谓词、量词和论域判断练习</a:t>
            </a:r>
            <a:endParaRPr lang="zh-CN" altLang="en-US"/>
          </a:p>
        </p:txBody>
      </p:sp>
      <p:sp>
        <p:nvSpPr>
          <p:cNvPr id="2" name="文本框 1"/>
          <p:cNvSpPr txBox="1"/>
          <p:nvPr/>
        </p:nvSpPr>
        <p:spPr>
          <a:xfrm>
            <a:off x="632533" y="1117729"/>
            <a:ext cx="8425948" cy="430182"/>
          </a:xfrm>
          <a:prstGeom prst="rect">
            <a:avLst/>
          </a:prstGeom>
          <a:solidFill>
            <a:schemeClr val="accent6">
              <a:lumMod val="20000"/>
              <a:lumOff val="80000"/>
              <a:alpha val="50000"/>
            </a:schemeClr>
          </a:solidFill>
        </p:spPr>
        <p:txBody>
          <a:bodyPr wrap="square" rtlCol="0">
            <a:spAutoFit/>
          </a:bodyPr>
          <a:lstStyle/>
          <a:p>
            <a:pPr>
              <a:lnSpc>
                <a:spcPts val="2800"/>
              </a:lnSpc>
              <a:spcBef>
                <a:spcPts val="600"/>
              </a:spcBef>
              <a:spcAft>
                <a:spcPts val="1200"/>
              </a:spcAft>
            </a:pPr>
            <a:r>
              <a:rPr lang="zh-CN" altLang="en-US" sz="2000" b="1">
                <a:solidFill>
                  <a:schemeClr val="accent2">
                    <a:lumMod val="50000"/>
                  </a:schemeClr>
                </a:solidFill>
                <a:latin typeface="+mn-ea"/>
              </a:rPr>
              <a:t>指出下面句子中的个体、谓词、量词、个体类，确定论域并将句子符号化</a:t>
            </a:r>
            <a:endParaRPr lang="en-US" altLang="zh-CN" sz="2000" b="1">
              <a:solidFill>
                <a:schemeClr val="accent2">
                  <a:lumMod val="50000"/>
                </a:schemeClr>
              </a:solidFill>
              <a:latin typeface="+mn-ea"/>
            </a:endParaRPr>
          </a:p>
        </p:txBody>
      </p:sp>
      <p:grpSp>
        <p:nvGrpSpPr>
          <p:cNvPr id="31" name="组合 30"/>
          <p:cNvGrpSpPr/>
          <p:nvPr/>
        </p:nvGrpSpPr>
        <p:grpSpPr>
          <a:xfrm>
            <a:off x="2000389" y="1721400"/>
            <a:ext cx="7359520" cy="584775"/>
            <a:chOff x="2000389" y="1721400"/>
            <a:chExt cx="7359520" cy="584775"/>
          </a:xfrm>
        </p:grpSpPr>
        <p:sp>
          <p:nvSpPr>
            <p:cNvPr id="11" name="箭头: 右 10"/>
            <p:cNvSpPr/>
            <p:nvPr/>
          </p:nvSpPr>
          <p:spPr>
            <a:xfrm>
              <a:off x="3616952" y="2008576"/>
              <a:ext cx="494697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000389" y="1854883"/>
              <a:ext cx="1611712" cy="369332"/>
            </a:xfrm>
            <a:prstGeom prst="rect">
              <a:avLst/>
            </a:prstGeom>
            <a:solidFill>
              <a:srgbClr val="F0F7EC">
                <a:alpha val="50000"/>
              </a:srgbClr>
            </a:solidFill>
          </p:spPr>
          <p:txBody>
            <a:bodyPr wrap="square" rtlCol="0">
              <a:spAutoFit/>
            </a:bodyPr>
            <a:lstStyle/>
            <a:p>
              <a:pPr>
                <a:spcBef>
                  <a:spcPts val="600"/>
                </a:spcBef>
                <a:spcAft>
                  <a:spcPts val="600"/>
                </a:spcAft>
              </a:pPr>
              <a:r>
                <a:rPr lang="en-US" altLang="zh-CN">
                  <a:solidFill>
                    <a:srgbClr val="002060"/>
                  </a:solidFill>
                  <a:latin typeface="Arial" panose="020B0604020202020204" pitchFamily="34" charset="0"/>
                  <a:ea typeface="楷体" panose="02010609060101010101" pitchFamily="49" charset="-122"/>
                  <a:cs typeface="Arial" panose="020B0604020202020204" pitchFamily="34" charset="0"/>
                </a:rPr>
                <a:t>2000</a:t>
              </a:r>
              <a:r>
                <a:rPr lang="zh-CN" altLang="en-US">
                  <a:solidFill>
                    <a:srgbClr val="002060"/>
                  </a:solidFill>
                  <a:latin typeface="Arial" panose="020B0604020202020204" pitchFamily="34" charset="0"/>
                  <a:ea typeface="楷体" panose="02010609060101010101" pitchFamily="49" charset="-122"/>
                  <a:cs typeface="Arial" panose="020B0604020202020204" pitchFamily="34" charset="0"/>
                </a:rPr>
                <a:t>年</a:t>
              </a: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是闰年</a:t>
              </a:r>
              <a:endPar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4" name="文本框 3"/>
                <p:cNvSpPr txBox="1"/>
                <p:nvPr/>
              </p:nvSpPr>
              <p:spPr>
                <a:xfrm>
                  <a:off x="4020508" y="1721400"/>
                  <a:ext cx="4150982" cy="584775"/>
                </a:xfrm>
                <a:prstGeom prst="rect">
                  <a:avLst/>
                </a:prstGeom>
                <a:solidFill>
                  <a:schemeClr val="accent5">
                    <a:lumMod val="20000"/>
                    <a:lumOff val="80000"/>
                  </a:schemeClr>
                </a:solidFill>
              </p:spPr>
              <p:txBody>
                <a:bodyPr wrap="square" rtlCol="0">
                  <a:spAutoFit/>
                </a:bodyPr>
                <a:lstStyle/>
                <a:p>
                  <a:r>
                    <a:rPr lang="zh-CN" altLang="en-US" sz="1600" b="1">
                      <a:solidFill>
                        <a:schemeClr val="accent6">
                          <a:lumMod val="50000"/>
                        </a:schemeClr>
                      </a:solidFill>
                      <a:latin typeface="宋体" panose="02010600030101010101" pitchFamily="2" charset="-122"/>
                      <a:ea typeface="宋体" panose="02010600030101010101" pitchFamily="2" charset="-122"/>
                    </a:rPr>
                    <a:t>“</a:t>
                  </a:r>
                  <a:r>
                    <a:rPr lang="en-US" altLang="zh-CN" sz="16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2000</a:t>
                  </a:r>
                  <a:r>
                    <a:rPr lang="zh-CN" altLang="en-US" sz="1600" b="1">
                      <a:solidFill>
                        <a:schemeClr val="accent6">
                          <a:lumMod val="50000"/>
                        </a:schemeClr>
                      </a:solidFill>
                      <a:latin typeface="宋体" panose="02010600030101010101" pitchFamily="2" charset="-122"/>
                      <a:ea typeface="宋体" panose="02010600030101010101" pitchFamily="2" charset="-122"/>
                    </a:rPr>
                    <a:t>年”是具体个体，用个体常量</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𝒂</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是闰年”是谓词，用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𝑹</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zh-CN" altLang="en-US" sz="1600"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020508" y="1721400"/>
                  <a:ext cx="4150982" cy="584775"/>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563922" y="1834926"/>
                  <a:ext cx="795987" cy="369332"/>
                </a:xfrm>
                <a:prstGeom prst="rect">
                  <a:avLst/>
                </a:prstGeom>
                <a:solidFill>
                  <a:schemeClr val="accent6">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𝑹</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563922" y="1834926"/>
                  <a:ext cx="795987" cy="369332"/>
                </a:xfrm>
                <a:prstGeom prst="rect">
                  <a:avLst/>
                </a:prstGeom>
                <a:blipFill rotWithShape="1">
                  <a:blip r:embed="rId2"/>
                </a:blipFill>
              </p:spPr>
              <p:txBody>
                <a:bodyPr/>
                <a:lstStyle/>
                <a:p>
                  <a:r>
                    <a:rPr lang="zh-CN" altLang="en-US">
                      <a:noFill/>
                    </a:rPr>
                    <a:t> </a:t>
                  </a:r>
                </a:p>
              </p:txBody>
            </p:sp>
          </mc:Fallback>
        </mc:AlternateContent>
      </p:grpSp>
      <p:sp>
        <p:nvSpPr>
          <p:cNvPr id="35" name="文本框 34"/>
          <p:cNvSpPr txBox="1"/>
          <p:nvPr/>
        </p:nvSpPr>
        <p:spPr>
          <a:xfrm>
            <a:off x="220712" y="2540520"/>
            <a:ext cx="1848535" cy="1205138"/>
          </a:xfrm>
          <a:prstGeom prst="rect">
            <a:avLst/>
          </a:prstGeom>
          <a:solidFill>
            <a:schemeClr val="accent4">
              <a:lumMod val="20000"/>
              <a:lumOff val="80000"/>
            </a:schemeClr>
          </a:solidFill>
        </p:spPr>
        <p:txBody>
          <a:bodyPr wrap="square" rtlCol="0">
            <a:spAutoFit/>
          </a:bodyPr>
          <a:lstStyle/>
          <a:p>
            <a:pPr>
              <a:lnSpc>
                <a:spcPts val="2200"/>
              </a:lnSpc>
            </a:pPr>
            <a:r>
              <a:rPr lang="zh-CN" altLang="en-US" sz="1600" b="1">
                <a:solidFill>
                  <a:schemeClr val="accent2">
                    <a:lumMod val="50000"/>
                  </a:schemeClr>
                </a:solidFill>
              </a:rPr>
              <a:t>这些句子都只涉及年份这个个体类，因此，论域可选所有年份构成的集合</a:t>
            </a:r>
            <a:endParaRPr lang="zh-CN" altLang="en-US" sz="1600" b="1">
              <a:solidFill>
                <a:schemeClr val="accent2">
                  <a:lumMod val="50000"/>
                </a:schemeClr>
              </a:solidFill>
            </a:endParaRPr>
          </a:p>
        </p:txBody>
      </p:sp>
      <p:sp>
        <p:nvSpPr>
          <p:cNvPr id="36" name="文本框 35"/>
          <p:cNvSpPr txBox="1"/>
          <p:nvPr/>
        </p:nvSpPr>
        <p:spPr>
          <a:xfrm>
            <a:off x="356037" y="5174399"/>
            <a:ext cx="1620317" cy="830997"/>
          </a:xfrm>
          <a:prstGeom prst="rect">
            <a:avLst/>
          </a:prstGeom>
          <a:solidFill>
            <a:schemeClr val="accent4">
              <a:lumMod val="20000"/>
              <a:lumOff val="80000"/>
            </a:schemeClr>
          </a:solidFill>
        </p:spPr>
        <p:txBody>
          <a:bodyPr wrap="square" rtlCol="0">
            <a:spAutoFit/>
          </a:bodyPr>
          <a:lstStyle/>
          <a:p>
            <a:r>
              <a:rPr lang="zh-CN" altLang="en-US" sz="1600" b="1">
                <a:solidFill>
                  <a:srgbClr val="C00000"/>
                </a:solidFill>
              </a:rPr>
              <a:t>自然语言命题可能会省略表示全称量词的词汇</a:t>
            </a:r>
            <a:endParaRPr lang="zh-CN" altLang="en-US" sz="1600" b="1">
              <a:solidFill>
                <a:srgbClr val="C00000"/>
              </a:solidFill>
            </a:endParaRPr>
          </a:p>
        </p:txBody>
      </p:sp>
      <p:sp>
        <p:nvSpPr>
          <p:cNvPr id="37" name="文本框 36"/>
          <p:cNvSpPr txBox="1"/>
          <p:nvPr/>
        </p:nvSpPr>
        <p:spPr>
          <a:xfrm>
            <a:off x="631896" y="1879960"/>
            <a:ext cx="1145012" cy="369332"/>
          </a:xfrm>
          <a:prstGeom prst="rect">
            <a:avLst/>
          </a:prstGeom>
          <a:solidFill>
            <a:schemeClr val="accent3">
              <a:lumMod val="20000"/>
              <a:lumOff val="80000"/>
            </a:schemeClr>
          </a:solidFill>
        </p:spPr>
        <p:txBody>
          <a:bodyPr wrap="square" rtlCol="0">
            <a:spAutoFit/>
          </a:bodyPr>
          <a:lstStyle/>
          <a:p>
            <a:r>
              <a:rPr lang="zh-CN" altLang="en-US" b="1">
                <a:solidFill>
                  <a:srgbClr val="002060"/>
                </a:solidFill>
              </a:rPr>
              <a:t>具体命题</a:t>
            </a:r>
            <a:endParaRPr lang="zh-CN" altLang="en-US" b="1">
              <a:solidFill>
                <a:srgbClr val="002060"/>
              </a:solidFill>
            </a:endParaRPr>
          </a:p>
        </p:txBody>
      </p:sp>
      <p:sp>
        <p:nvSpPr>
          <p:cNvPr id="38" name="箭头: 右 37"/>
          <p:cNvSpPr/>
          <p:nvPr/>
        </p:nvSpPr>
        <p:spPr>
          <a:xfrm>
            <a:off x="1785029" y="2039549"/>
            <a:ext cx="21050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819633" y="2488636"/>
            <a:ext cx="9407722" cy="3660723"/>
            <a:chOff x="819633" y="2488636"/>
            <a:chExt cx="9407722" cy="3660723"/>
          </a:xfrm>
        </p:grpSpPr>
        <p:sp>
          <p:nvSpPr>
            <p:cNvPr id="39" name="左大括号 38"/>
            <p:cNvSpPr/>
            <p:nvPr/>
          </p:nvSpPr>
          <p:spPr>
            <a:xfrm>
              <a:off x="2027535" y="2553602"/>
              <a:ext cx="210509" cy="3359462"/>
            </a:xfrm>
            <a:prstGeom prst="leftBrace">
              <a:avLst>
                <a:gd name="adj1" fmla="val 67708"/>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0" name="组合 19"/>
            <p:cNvGrpSpPr/>
            <p:nvPr/>
          </p:nvGrpSpPr>
          <p:grpSpPr>
            <a:xfrm>
              <a:off x="2236662" y="2488636"/>
              <a:ext cx="7977449" cy="1077218"/>
              <a:chOff x="1744458" y="3863004"/>
              <a:chExt cx="7977449" cy="1077218"/>
            </a:xfrm>
          </p:grpSpPr>
          <p:sp>
            <p:nvSpPr>
              <p:cNvPr id="15" name="箭头: 右 14"/>
              <p:cNvSpPr/>
              <p:nvPr/>
            </p:nvSpPr>
            <p:spPr>
              <a:xfrm>
                <a:off x="3448268" y="4332253"/>
                <a:ext cx="4231017" cy="80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744458" y="3927970"/>
                <a:ext cx="1703809" cy="923330"/>
              </a:xfrm>
              <a:prstGeom prst="rect">
                <a:avLst/>
              </a:prstGeom>
              <a:solidFill>
                <a:srgbClr val="F0F7EC">
                  <a:alpha val="50000"/>
                </a:srgbClr>
              </a:solidFill>
            </p:spPr>
            <p:txBody>
              <a:bodyPr wrap="square" rtlCol="0">
                <a:spAutoFit/>
              </a:bodyPr>
              <a:lstStyle/>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任意年份或者是闰年或者不被</a:t>
                </a:r>
                <a:r>
                  <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rPr>
                  <a:t>4</a:t>
                </a: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整除</a:t>
                </a:r>
                <a:endPar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18" name="文本框 17"/>
                  <p:cNvSpPr txBox="1"/>
                  <p:nvPr/>
                </p:nvSpPr>
                <p:spPr>
                  <a:xfrm>
                    <a:off x="3943395" y="3863004"/>
                    <a:ext cx="3288517" cy="1077218"/>
                  </a:xfrm>
                  <a:prstGeom prst="rect">
                    <a:avLst/>
                  </a:prstGeom>
                  <a:solidFill>
                    <a:schemeClr val="accent5">
                      <a:lumMod val="20000"/>
                      <a:lumOff val="80000"/>
                    </a:schemeClr>
                  </a:solidFill>
                </p:spPr>
                <p:txBody>
                  <a:bodyPr wrap="square" rtlCol="0">
                    <a:spAutoFit/>
                  </a:bodyPr>
                  <a:lstStyle/>
                  <a:p>
                    <a:r>
                      <a:rPr lang="zh-CN" altLang="en-US" sz="1600" b="1">
                        <a:solidFill>
                          <a:schemeClr val="accent6">
                            <a:lumMod val="50000"/>
                          </a:schemeClr>
                        </a:solidFill>
                        <a:latin typeface="宋体" panose="02010600030101010101" pitchFamily="2" charset="-122"/>
                        <a:ea typeface="宋体" panose="02010600030101010101" pitchFamily="2" charset="-122"/>
                      </a:rPr>
                      <a:t>“年份”是个体类，作为论域</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“任意”是全称量词</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是闰年”是谓词，用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𝑹</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被</a:t>
                    </a:r>
                    <a:r>
                      <a:rPr lang="en-US" altLang="zh-CN" sz="16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4</a:t>
                    </a:r>
                    <a:r>
                      <a:rPr lang="zh-CN" altLang="en-US" sz="1600" b="1">
                        <a:solidFill>
                          <a:schemeClr val="accent6">
                            <a:lumMod val="50000"/>
                          </a:schemeClr>
                        </a:solidFill>
                        <a:latin typeface="宋体" panose="02010600030101010101" pitchFamily="2" charset="-122"/>
                        <a:ea typeface="宋体" panose="02010600030101010101" pitchFamily="2" charset="-122"/>
                      </a:rPr>
                      <a:t>整除”是谓词，用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𝑭</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zh-CN" altLang="en-US" sz="1600"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3943395" y="3863004"/>
                    <a:ext cx="3288517" cy="1077218"/>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7679286" y="4203386"/>
                    <a:ext cx="2042621" cy="369332"/>
                  </a:xfrm>
                  <a:prstGeom prst="rect">
                    <a:avLst/>
                  </a:prstGeom>
                  <a:solidFill>
                    <a:schemeClr val="accent6">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𝑹</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7679286" y="4203386"/>
                    <a:ext cx="2042621" cy="369332"/>
                  </a:xfrm>
                  <a:prstGeom prst="rect">
                    <a:avLst/>
                  </a:prstGeom>
                  <a:blipFill rotWithShape="1">
                    <a:blip r:embed="rId4"/>
                  </a:blipFill>
                </p:spPr>
                <p:txBody>
                  <a:bodyPr/>
                  <a:lstStyle/>
                  <a:p>
                    <a:r>
                      <a:rPr lang="zh-CN" altLang="en-US">
                        <a:noFill/>
                      </a:rPr>
                      <a:t> </a:t>
                    </a:r>
                  </a:p>
                </p:txBody>
              </p:sp>
            </mc:Fallback>
          </mc:AlternateContent>
        </p:grpSp>
        <p:grpSp>
          <p:nvGrpSpPr>
            <p:cNvPr id="32" name="组合 31"/>
            <p:cNvGrpSpPr/>
            <p:nvPr/>
          </p:nvGrpSpPr>
          <p:grpSpPr>
            <a:xfrm>
              <a:off x="2249657" y="3773092"/>
              <a:ext cx="7977698" cy="1077218"/>
              <a:chOff x="2256014" y="3851879"/>
              <a:chExt cx="7977698" cy="1077218"/>
            </a:xfrm>
          </p:grpSpPr>
          <p:sp>
            <p:nvSpPr>
              <p:cNvPr id="22" name="箭头: 右 21"/>
              <p:cNvSpPr/>
              <p:nvPr/>
            </p:nvSpPr>
            <p:spPr>
              <a:xfrm>
                <a:off x="3946829" y="4296351"/>
                <a:ext cx="4231018" cy="828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2256014" y="4028807"/>
                <a:ext cx="1690814" cy="646331"/>
              </a:xfrm>
              <a:prstGeom prst="rect">
                <a:avLst/>
              </a:prstGeom>
              <a:solidFill>
                <a:srgbClr val="F0F7EC">
                  <a:alpha val="50000"/>
                </a:srgbClr>
              </a:solidFill>
            </p:spPr>
            <p:txBody>
              <a:bodyPr wrap="square" rtlCol="0">
                <a:spAutoFit/>
              </a:bodyPr>
              <a:lstStyle/>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有的年份被</a:t>
                </a:r>
                <a:r>
                  <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rPr>
                  <a:t>4</a:t>
                </a: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整除但不是闰年</a:t>
                </a:r>
                <a:endPar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24" name="文本框 23"/>
                  <p:cNvSpPr txBox="1"/>
                  <p:nvPr/>
                </p:nvSpPr>
                <p:spPr>
                  <a:xfrm>
                    <a:off x="4446178" y="3851879"/>
                    <a:ext cx="3288517" cy="1077218"/>
                  </a:xfrm>
                  <a:prstGeom prst="rect">
                    <a:avLst/>
                  </a:prstGeom>
                  <a:solidFill>
                    <a:schemeClr val="accent5">
                      <a:lumMod val="20000"/>
                      <a:lumOff val="80000"/>
                    </a:schemeClr>
                  </a:solidFill>
                </p:spPr>
                <p:txBody>
                  <a:bodyPr wrap="square" rtlCol="0">
                    <a:spAutoFit/>
                  </a:bodyPr>
                  <a:lstStyle/>
                  <a:p>
                    <a:r>
                      <a:rPr lang="zh-CN" altLang="en-US" sz="1600" b="1">
                        <a:solidFill>
                          <a:schemeClr val="accent6">
                            <a:lumMod val="50000"/>
                          </a:schemeClr>
                        </a:solidFill>
                        <a:latin typeface="宋体" panose="02010600030101010101" pitchFamily="2" charset="-122"/>
                        <a:ea typeface="宋体" panose="02010600030101010101" pitchFamily="2" charset="-122"/>
                      </a:rPr>
                      <a:t>“年份”是个体类，作为论域</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“有的”是存在量词</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是闰年”是谓词，用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𝑹</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被</a:t>
                    </a:r>
                    <a:r>
                      <a:rPr lang="en-US" altLang="zh-CN" sz="16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4</a:t>
                    </a:r>
                    <a:r>
                      <a:rPr lang="zh-CN" altLang="en-US" sz="1600" b="1">
                        <a:solidFill>
                          <a:schemeClr val="accent6">
                            <a:lumMod val="50000"/>
                          </a:schemeClr>
                        </a:solidFill>
                        <a:latin typeface="宋体" panose="02010600030101010101" pitchFamily="2" charset="-122"/>
                        <a:ea typeface="宋体" panose="02010600030101010101" pitchFamily="2" charset="-122"/>
                      </a:rPr>
                      <a:t>整除”是谓词，用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𝑭</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zh-CN" altLang="en-US" sz="1600"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24" name="文本框 23"/>
                  <p:cNvSpPr txBox="1">
                    <a:spLocks noRot="1" noChangeAspect="1" noMove="1" noResize="1" noEditPoints="1" noAdjustHandles="1" noChangeArrowheads="1" noChangeShapeType="1" noTextEdit="1"/>
                  </p:cNvSpPr>
                  <p:nvPr/>
                </p:nvSpPr>
                <p:spPr>
                  <a:xfrm>
                    <a:off x="4446178" y="3851879"/>
                    <a:ext cx="3288517" cy="1077218"/>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8191091" y="4173059"/>
                    <a:ext cx="2042621" cy="369332"/>
                  </a:xfrm>
                  <a:prstGeom prst="rect">
                    <a:avLst/>
                  </a:prstGeom>
                  <a:solidFill>
                    <a:schemeClr val="accent6">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𝑹</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8191091" y="4173059"/>
                    <a:ext cx="2042621" cy="369332"/>
                  </a:xfrm>
                  <a:prstGeom prst="rect">
                    <a:avLst/>
                  </a:prstGeom>
                  <a:blipFill rotWithShape="1">
                    <a:blip r:embed="rId6"/>
                  </a:blipFill>
                </p:spPr>
                <p:txBody>
                  <a:bodyPr/>
                  <a:lstStyle/>
                  <a:p>
                    <a:r>
                      <a:rPr lang="zh-CN" altLang="en-US">
                        <a:noFill/>
                      </a:rPr>
                      <a:t> </a:t>
                    </a:r>
                  </a:p>
                </p:txBody>
              </p:sp>
            </mc:Fallback>
          </mc:AlternateContent>
        </p:grpSp>
        <p:grpSp>
          <p:nvGrpSpPr>
            <p:cNvPr id="33" name="组合 32"/>
            <p:cNvGrpSpPr/>
            <p:nvPr/>
          </p:nvGrpSpPr>
          <p:grpSpPr>
            <a:xfrm>
              <a:off x="2249657" y="5072141"/>
              <a:ext cx="7977698" cy="1077218"/>
              <a:chOff x="2256014" y="5177451"/>
              <a:chExt cx="7977698" cy="1077218"/>
            </a:xfrm>
          </p:grpSpPr>
          <p:sp>
            <p:nvSpPr>
              <p:cNvPr id="27" name="箭头: 右 26"/>
              <p:cNvSpPr/>
              <p:nvPr/>
            </p:nvSpPr>
            <p:spPr>
              <a:xfrm>
                <a:off x="3946828" y="5665398"/>
                <a:ext cx="4244263" cy="80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2256014" y="5372043"/>
                <a:ext cx="1690814" cy="646331"/>
              </a:xfrm>
              <a:prstGeom prst="rect">
                <a:avLst/>
              </a:prstGeom>
              <a:solidFill>
                <a:srgbClr val="F0F7EC">
                  <a:alpha val="50000"/>
                </a:srgbClr>
              </a:solidFill>
            </p:spPr>
            <p:txBody>
              <a:bodyPr wrap="square" rtlCol="0">
                <a:spAutoFit/>
              </a:bodyPr>
              <a:lstStyle/>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一个年份被</a:t>
                </a:r>
                <a:r>
                  <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rPr>
                  <a:t>400</a:t>
                </a:r>
                <a:r>
                  <a:rPr lang="zh-CN" altLang="en-US" b="1">
                    <a:solidFill>
                      <a:srgbClr val="002060"/>
                    </a:solidFill>
                    <a:latin typeface="楷体" panose="02010609060101010101" pitchFamily="49" charset="-122"/>
                    <a:ea typeface="楷体" panose="02010609060101010101" pitchFamily="49" charset="-122"/>
                    <a:cs typeface="Arial" panose="020B0604020202020204" pitchFamily="34" charset="0"/>
                  </a:rPr>
                  <a:t>整除则是闰年</a:t>
                </a:r>
                <a:endParaRPr lang="en-US" altLang="zh-CN" b="1">
                  <a:solidFill>
                    <a:srgbClr val="002060"/>
                  </a:solidFill>
                  <a:latin typeface="楷体" panose="02010609060101010101" pitchFamily="49" charset="-122"/>
                  <a:ea typeface="楷体" panose="02010609060101010101" pitchFamily="49"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29" name="文本框 28"/>
                  <p:cNvSpPr txBox="1"/>
                  <p:nvPr/>
                </p:nvSpPr>
                <p:spPr>
                  <a:xfrm>
                    <a:off x="4328377" y="5177451"/>
                    <a:ext cx="3532610" cy="1077218"/>
                  </a:xfrm>
                  <a:prstGeom prst="rect">
                    <a:avLst/>
                  </a:prstGeom>
                  <a:solidFill>
                    <a:schemeClr val="accent5">
                      <a:lumMod val="20000"/>
                      <a:lumOff val="80000"/>
                    </a:schemeClr>
                  </a:solidFill>
                </p:spPr>
                <p:txBody>
                  <a:bodyPr wrap="square" rtlCol="0">
                    <a:spAutoFit/>
                  </a:bodyPr>
                  <a:lstStyle/>
                  <a:p>
                    <a:r>
                      <a:rPr lang="zh-CN" altLang="en-US" sz="1600" b="1">
                        <a:solidFill>
                          <a:schemeClr val="accent6">
                            <a:lumMod val="50000"/>
                          </a:schemeClr>
                        </a:solidFill>
                        <a:latin typeface="宋体" panose="02010600030101010101" pitchFamily="2" charset="-122"/>
                        <a:ea typeface="宋体" panose="02010600030101010101" pitchFamily="2" charset="-122"/>
                      </a:rPr>
                      <a:t>“年份”是个体类，作为论域</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句子省略了全称量词“任意”</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是闰年”是谓词，用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𝑹</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r>
                      <a:rPr lang="zh-CN" altLang="en-US" sz="1600"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sz="1600" b="1" i="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被</a:t>
                    </a:r>
                    <a:r>
                      <a:rPr lang="en-US" altLang="zh-CN" sz="16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400</a:t>
                    </a:r>
                    <a:r>
                      <a:rPr lang="zh-CN" altLang="en-US" sz="1600" b="1">
                        <a:solidFill>
                          <a:schemeClr val="accent6">
                            <a:lumMod val="50000"/>
                          </a:schemeClr>
                        </a:solidFill>
                        <a:latin typeface="宋体" panose="02010600030101010101" pitchFamily="2" charset="-122"/>
                        <a:ea typeface="宋体" panose="02010600030101010101" pitchFamily="2" charset="-122"/>
                      </a:rPr>
                      <a:t>整除”是谓词，用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𝑮</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𝒙</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表示</a:t>
                    </a:r>
                    <a:endParaRPr lang="zh-CN" altLang="en-US" sz="1600"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29" name="文本框 28"/>
                  <p:cNvSpPr txBox="1">
                    <a:spLocks noRot="1" noChangeAspect="1" noMove="1" noResize="1" noEditPoints="1" noAdjustHandles="1" noChangeArrowheads="1" noChangeShapeType="1" noTextEdit="1"/>
                  </p:cNvSpPr>
                  <p:nvPr/>
                </p:nvSpPr>
                <p:spPr>
                  <a:xfrm>
                    <a:off x="4328377" y="5177451"/>
                    <a:ext cx="3532610" cy="1077218"/>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8191091" y="5510542"/>
                    <a:ext cx="2042621" cy="369332"/>
                  </a:xfrm>
                  <a:prstGeom prst="rect">
                    <a:avLst/>
                  </a:prstGeom>
                  <a:solidFill>
                    <a:schemeClr val="accent6">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𝑮</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𝑹</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endParaRPr>
                  </a:p>
                </p:txBody>
              </p:sp>
            </mc:Choice>
            <mc:Fallback>
              <p:sp>
                <p:nvSpPr>
                  <p:cNvPr id="30" name="文本框 29"/>
                  <p:cNvSpPr txBox="1">
                    <a:spLocks noRot="1" noChangeAspect="1" noMove="1" noResize="1" noEditPoints="1" noAdjustHandles="1" noChangeArrowheads="1" noChangeShapeType="1" noTextEdit="1"/>
                  </p:cNvSpPr>
                  <p:nvPr/>
                </p:nvSpPr>
                <p:spPr>
                  <a:xfrm>
                    <a:off x="8191091" y="5510542"/>
                    <a:ext cx="2042621" cy="369332"/>
                  </a:xfrm>
                  <a:prstGeom prst="rect">
                    <a:avLst/>
                  </a:prstGeom>
                  <a:blipFill rotWithShape="1">
                    <a:blip r:embed="rId8"/>
                  </a:blipFill>
                </p:spPr>
                <p:txBody>
                  <a:bodyPr/>
                  <a:lstStyle/>
                  <a:p>
                    <a:r>
                      <a:rPr lang="zh-CN" altLang="en-US">
                        <a:noFill/>
                      </a:rPr>
                      <a:t> </a:t>
                    </a:r>
                  </a:p>
                </p:txBody>
              </p:sp>
            </mc:Fallback>
          </mc:AlternateContent>
        </p:grpSp>
        <p:sp>
          <p:nvSpPr>
            <p:cNvPr id="40" name="文本框 39"/>
            <p:cNvSpPr txBox="1"/>
            <p:nvPr/>
          </p:nvSpPr>
          <p:spPr>
            <a:xfrm>
              <a:off x="819633" y="4032898"/>
              <a:ext cx="1145012" cy="369332"/>
            </a:xfrm>
            <a:prstGeom prst="rect">
              <a:avLst/>
            </a:prstGeom>
            <a:solidFill>
              <a:schemeClr val="accent3">
                <a:lumMod val="20000"/>
                <a:lumOff val="80000"/>
              </a:schemeClr>
            </a:solidFill>
          </p:spPr>
          <p:txBody>
            <a:bodyPr wrap="square" rtlCol="0">
              <a:spAutoFit/>
            </a:bodyPr>
            <a:lstStyle/>
            <a:p>
              <a:r>
                <a:rPr lang="zh-CN" altLang="en-US" b="1">
                  <a:solidFill>
                    <a:srgbClr val="002060"/>
                  </a:solidFill>
                </a:rPr>
                <a:t>量化命题</a:t>
              </a:r>
              <a:endParaRPr lang="zh-CN" altLang="en-US" b="1">
                <a:solidFill>
                  <a:srgbClr val="002060"/>
                </a:solidFill>
              </a:endParaRPr>
            </a:p>
          </p:txBody>
        </p:sp>
      </p:grpSp>
      <mc:AlternateContent xmlns:mc="http://schemas.openxmlformats.org/markup-compatibility/2006">
        <mc:Choice xmlns:a14="http://schemas.microsoft.com/office/drawing/2010/main" Requires="a14">
          <p:sp>
            <p:nvSpPr>
              <p:cNvPr id="41" name="文本框 40"/>
              <p:cNvSpPr txBox="1"/>
              <p:nvPr/>
            </p:nvSpPr>
            <p:spPr>
              <a:xfrm>
                <a:off x="9752341" y="1657810"/>
                <a:ext cx="2045098" cy="993542"/>
              </a:xfrm>
              <a:prstGeom prst="rect">
                <a:avLst/>
              </a:prstGeom>
              <a:solidFill>
                <a:schemeClr val="accent4">
                  <a:lumMod val="20000"/>
                  <a:lumOff val="80000"/>
                </a:schemeClr>
              </a:solidFill>
            </p:spPr>
            <p:txBody>
              <a:bodyPr wrap="square" rtlCol="0">
                <a:spAutoFit/>
              </a:bodyPr>
              <a:lstStyle/>
              <a:p>
                <a:pPr>
                  <a:lnSpc>
                    <a:spcPts val="2400"/>
                  </a:lnSpc>
                </a:pPr>
                <a:r>
                  <a:rPr lang="zh-CN" altLang="en-US" sz="1600" b="1">
                    <a:solidFill>
                      <a:schemeClr val="accent2">
                        <a:lumMod val="50000"/>
                      </a:schemeClr>
                    </a:solidFill>
                  </a:rPr>
                  <a:t>若选用全总域，则需引入特征谓词</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𝑵</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表示“</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𝒙</m:t>
                    </m:r>
                  </m:oMath>
                </a14:m>
                <a:r>
                  <a:rPr lang="zh-CN" altLang="en-US" sz="1600" b="1">
                    <a:solidFill>
                      <a:schemeClr val="accent2">
                        <a:lumMod val="50000"/>
                      </a:schemeClr>
                    </a:solidFill>
                  </a:rPr>
                  <a:t>是年份”</a:t>
                </a:r>
                <a:endParaRPr lang="zh-CN" altLang="en-US" sz="1600" b="1">
                  <a:solidFill>
                    <a:schemeClr val="accent2">
                      <a:lumMod val="50000"/>
                    </a:schemeClr>
                  </a:solidFill>
                </a:endParaRPr>
              </a:p>
            </p:txBody>
          </p:sp>
        </mc:Choice>
        <mc:Fallback>
          <p:sp>
            <p:nvSpPr>
              <p:cNvPr id="41" name="文本框 40"/>
              <p:cNvSpPr txBox="1">
                <a:spLocks noRot="1" noChangeAspect="1" noMove="1" noResize="1" noEditPoints="1" noAdjustHandles="1" noChangeArrowheads="1" noChangeShapeType="1" noTextEdit="1"/>
              </p:cNvSpPr>
              <p:nvPr/>
            </p:nvSpPr>
            <p:spPr>
              <a:xfrm>
                <a:off x="9752341" y="1657810"/>
                <a:ext cx="2045098" cy="993542"/>
              </a:xfrm>
              <a:prstGeom prst="rect">
                <a:avLst/>
              </a:prstGeom>
              <a:blipFill rotWithShape="1">
                <a:blip r:embed="rId9"/>
                <a:stretch>
                  <a:fillRect l="-1" t="-46" r="20"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8138984" y="3230809"/>
                <a:ext cx="3735059" cy="338554"/>
              </a:xfrm>
              <a:prstGeom prst="rect">
                <a:avLst/>
              </a:prstGeom>
              <a:solidFill>
                <a:schemeClr val="accent2">
                  <a:lumMod val="20000"/>
                  <a:lumOff val="80000"/>
                </a:schemeClr>
              </a:solidFill>
            </p:spPr>
            <p:txBody>
              <a:bodyPr wrap="square" rtlCol="0">
                <a:spAutoFit/>
              </a:bodyPr>
              <a:lstStyle/>
              <a:p>
                <a:r>
                  <a:rPr lang="zh-CN" altLang="en-US" sz="1600" b="1">
                    <a:solidFill>
                      <a:schemeClr val="accent2">
                        <a:lumMod val="50000"/>
                      </a:schemeClr>
                    </a:solidFill>
                  </a:rPr>
                  <a:t>用全总域</a:t>
                </a:r>
                <a:r>
                  <a:rPr lang="zh-CN" altLang="en-US" sz="1600">
                    <a:solidFill>
                      <a:schemeClr val="accent2">
                        <a:lumMod val="50000"/>
                      </a:schemeClr>
                    </a:solidFill>
                  </a:rPr>
                  <a:t>：</a:t>
                </a:r>
                <a14:m>
                  <m:oMath xmlns:m="http://schemas.openxmlformats.org/officeDocument/2006/math">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𝒙</m:t>
                    </m:r>
                    <m:r>
                      <a:rPr lang="en-US" altLang="zh-CN" sz="1600" b="1" i="1">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𝑵</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𝑹</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𝒙</m:t>
                        </m:r>
                      </m:e>
                    </m:d>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𝑭</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m:t>
                    </m:r>
                  </m:oMath>
                </a14:m>
                <a:endParaRPr lang="zh-CN" altLang="en-US" sz="1600" b="1">
                  <a:solidFill>
                    <a:schemeClr val="accent6">
                      <a:lumMod val="50000"/>
                    </a:schemeClr>
                  </a:solidFill>
                </a:endParaRPr>
              </a:p>
            </p:txBody>
          </p:sp>
        </mc:Choice>
        <mc:Fallback>
          <p:sp>
            <p:nvSpPr>
              <p:cNvPr id="42" name="文本框 41"/>
              <p:cNvSpPr txBox="1">
                <a:spLocks noRot="1" noChangeAspect="1" noMove="1" noResize="1" noEditPoints="1" noAdjustHandles="1" noChangeArrowheads="1" noChangeShapeType="1" noTextEdit="1"/>
              </p:cNvSpPr>
              <p:nvPr/>
            </p:nvSpPr>
            <p:spPr>
              <a:xfrm>
                <a:off x="8138984" y="3230809"/>
                <a:ext cx="3735059" cy="338554"/>
              </a:xfrm>
              <a:prstGeom prst="rect">
                <a:avLst/>
              </a:prstGeom>
              <a:blipFill rotWithShape="1">
                <a:blip r:embed="rId10"/>
                <a:stretch>
                  <a:fillRect l="-5" t="-167" r="5"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8171489" y="4496570"/>
                <a:ext cx="3478888" cy="338554"/>
              </a:xfrm>
              <a:prstGeom prst="rect">
                <a:avLst/>
              </a:prstGeom>
              <a:solidFill>
                <a:schemeClr val="accent2">
                  <a:lumMod val="20000"/>
                  <a:lumOff val="80000"/>
                </a:schemeClr>
              </a:solidFill>
            </p:spPr>
            <p:txBody>
              <a:bodyPr wrap="square" rtlCol="0">
                <a:spAutoFit/>
              </a:bodyPr>
              <a:lstStyle/>
              <a:p>
                <a:r>
                  <a:rPr lang="zh-CN" altLang="en-US" sz="1600" b="1">
                    <a:solidFill>
                      <a:schemeClr val="accent2">
                        <a:lumMod val="50000"/>
                      </a:schemeClr>
                    </a:solidFill>
                  </a:rPr>
                  <a:t>用全总域</a:t>
                </a:r>
                <a:r>
                  <a:rPr lang="zh-CN" altLang="en-US" sz="1600">
                    <a:solidFill>
                      <a:schemeClr val="accent2">
                        <a:lumMod val="50000"/>
                      </a:schemeClr>
                    </a:solidFill>
                  </a:rPr>
                  <a:t>：</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𝒙</m:t>
                    </m:r>
                    <m:r>
                      <a:rPr lang="en-US" altLang="zh-CN" sz="1600" b="1" i="1">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𝑵</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𝑭</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𝑹</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𝒙</m:t>
                        </m:r>
                      </m:e>
                    </m:d>
                    <m:r>
                      <a:rPr lang="en-US" altLang="zh-CN" sz="1600" b="1" i="1">
                        <a:solidFill>
                          <a:schemeClr val="accent6">
                            <a:lumMod val="50000"/>
                          </a:schemeClr>
                        </a:solidFill>
                        <a:latin typeface="Cambria Math" panose="02040503050406030204" pitchFamily="18" charset="0"/>
                      </a:rPr>
                      <m:t>)</m:t>
                    </m:r>
                  </m:oMath>
                </a14:m>
                <a:endParaRPr lang="zh-CN" altLang="en-US" sz="1600" b="1">
                  <a:solidFill>
                    <a:schemeClr val="accent6">
                      <a:lumMod val="50000"/>
                    </a:schemeClr>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8171489" y="4496570"/>
                <a:ext cx="3478888" cy="338554"/>
              </a:xfrm>
              <a:prstGeom prst="rect">
                <a:avLst/>
              </a:prstGeom>
              <a:blipFill rotWithShape="1">
                <a:blip r:embed="rId11"/>
                <a:stretch>
                  <a:fillRect l="-9" t="-40" r="1"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8199161" y="5803977"/>
                <a:ext cx="3674881" cy="584775"/>
              </a:xfrm>
              <a:prstGeom prst="rect">
                <a:avLst/>
              </a:prstGeom>
              <a:solidFill>
                <a:schemeClr val="accent2">
                  <a:lumMod val="20000"/>
                  <a:lumOff val="80000"/>
                </a:schemeClr>
              </a:solidFill>
            </p:spPr>
            <p:txBody>
              <a:bodyPr wrap="square" rtlCol="0">
                <a:spAutoFit/>
              </a:bodyPr>
              <a:lstStyle/>
              <a:p>
                <a:r>
                  <a:rPr lang="zh-CN" altLang="en-US" sz="1600" b="1">
                    <a:solidFill>
                      <a:schemeClr val="accent2">
                        <a:lumMod val="50000"/>
                      </a:schemeClr>
                    </a:solidFill>
                  </a:rPr>
                  <a:t>用全总域</a:t>
                </a:r>
                <a:r>
                  <a:rPr lang="zh-CN" altLang="en-US" sz="1600">
                    <a:solidFill>
                      <a:schemeClr val="accent2">
                        <a:lumMod val="50000"/>
                      </a:schemeClr>
                    </a:solidFill>
                  </a:rPr>
                  <a:t>：</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𝒙</m:t>
                    </m:r>
                    <m:r>
                      <a:rPr lang="en-US" altLang="zh-CN" sz="1600" b="1" i="1">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𝑵</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𝑮</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𝑹</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e>
                    </m:d>
                  </m:oMath>
                </a14:m>
                <a:endParaRPr lang="en-US" altLang="zh-CN" sz="1600" b="1">
                  <a:solidFill>
                    <a:schemeClr val="accent6">
                      <a:lumMod val="50000"/>
                    </a:schemeClr>
                  </a:solidFill>
                </a:endParaRPr>
              </a:p>
              <a:p>
                <a:r>
                  <a:rPr lang="zh-CN" altLang="en-US" sz="1600" b="1">
                    <a:solidFill>
                      <a:schemeClr val="accent6">
                        <a:lumMod val="50000"/>
                      </a:schemeClr>
                    </a:solidFill>
                  </a:rPr>
                  <a:t>        </a:t>
                </a:r>
                <a:r>
                  <a:rPr lang="zh-CN" altLang="en-US" sz="1600" b="1">
                    <a:solidFill>
                      <a:schemeClr val="accent2">
                        <a:lumMod val="50000"/>
                      </a:schemeClr>
                    </a:solidFill>
                  </a:rPr>
                  <a:t>或者</a:t>
                </a:r>
                <a:r>
                  <a:rPr lang="zh-CN" altLang="en-US" sz="1600">
                    <a:solidFill>
                      <a:schemeClr val="accent2">
                        <a:lumMod val="50000"/>
                      </a:schemeClr>
                    </a:solidFill>
                  </a:rPr>
                  <a:t>：</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𝒙</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𝑵</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𝑮</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𝑹</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𝒙</m:t>
                        </m:r>
                        <m:r>
                          <a:rPr lang="en-US" altLang="zh-CN" sz="1600" b="1" i="1" smtClean="0">
                            <a:solidFill>
                              <a:schemeClr val="accent6">
                                <a:lumMod val="50000"/>
                              </a:schemeClr>
                            </a:solidFill>
                            <a:latin typeface="Cambria Math" panose="02040503050406030204" pitchFamily="18" charset="0"/>
                          </a:rPr>
                          <m:t>)</m:t>
                        </m:r>
                      </m:e>
                    </m:d>
                  </m:oMath>
                </a14:m>
                <a:endParaRPr lang="zh-CN" altLang="en-US" sz="1600" b="1">
                  <a:solidFill>
                    <a:schemeClr val="accent2">
                      <a:lumMod val="50000"/>
                    </a:schemeClr>
                  </a:solidFill>
                </a:endParaRPr>
              </a:p>
            </p:txBody>
          </p:sp>
        </mc:Choice>
        <mc:Fallback>
          <p:sp>
            <p:nvSpPr>
              <p:cNvPr id="44" name="文本框 43"/>
              <p:cNvSpPr txBox="1">
                <a:spLocks noRot="1" noChangeAspect="1" noMove="1" noResize="1" noEditPoints="1" noAdjustHandles="1" noChangeArrowheads="1" noChangeShapeType="1" noTextEdit="1"/>
              </p:cNvSpPr>
              <p:nvPr/>
            </p:nvSpPr>
            <p:spPr>
              <a:xfrm>
                <a:off x="8199161" y="5803977"/>
                <a:ext cx="3674881" cy="584775"/>
              </a:xfrm>
              <a:prstGeom prst="rect">
                <a:avLst/>
              </a:prstGeom>
              <a:blipFill rotWithShape="1">
                <a:blip r:embed="rId12"/>
                <a:stretch>
                  <a:fillRect l="-1" t="-13" r="5" b="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41"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1011" y="1883439"/>
            <a:ext cx="4733732"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一阶逻辑的基本概念</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一阶逻辑公式的语法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自由变量和约束变量</a:t>
            </a:r>
            <a:endParaRPr lang="en-US" altLang="zh-CN" sz="3200" b="1">
              <a:solidFill>
                <a:schemeClr val="bg2"/>
              </a:solidFill>
              <a:latin typeface="仿宋" panose="02010609060101010101" pitchFamily="49" charset="-122"/>
              <a:ea typeface="仿宋"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一阶逻辑公式的符号集</a:t>
            </a:r>
            <a:endParaRPr lang="zh-CN" altLang="en-US"/>
          </a:p>
        </p:txBody>
      </p:sp>
      <p:sp>
        <p:nvSpPr>
          <p:cNvPr id="11" name="文本框 10"/>
          <p:cNvSpPr txBox="1"/>
          <p:nvPr/>
        </p:nvSpPr>
        <p:spPr>
          <a:xfrm>
            <a:off x="572344" y="1350428"/>
            <a:ext cx="9956107" cy="784830"/>
          </a:xfrm>
          <a:prstGeom prst="rect">
            <a:avLst/>
          </a:prstGeom>
          <a:solidFill>
            <a:schemeClr val="accent4">
              <a:lumMod val="20000"/>
              <a:lumOff val="80000"/>
            </a:schemeClr>
          </a:solidFill>
        </p:spPr>
        <p:txBody>
          <a:bodyPr wrap="square" rtlCol="0">
            <a:spAutoFit/>
          </a:bodyPr>
          <a:lstStyle/>
          <a:p>
            <a:pPr>
              <a:spcAft>
                <a:spcPts val="600"/>
              </a:spcAft>
            </a:pPr>
            <a:r>
              <a:rPr lang="zh-CN" altLang="en-US" sz="2000" b="1" dirty="0">
                <a:solidFill>
                  <a:srgbClr val="002060"/>
                </a:solidFill>
              </a:rPr>
              <a:t>逻辑语言是逻辑公式的集合，逻辑公式是给定符号集的符号按照一定规则构成的符号串</a:t>
            </a:r>
            <a:endParaRPr lang="en-US" altLang="zh-CN" sz="2000" b="1" dirty="0">
              <a:solidFill>
                <a:srgbClr val="002060"/>
              </a:solidFill>
            </a:endParaRPr>
          </a:p>
          <a:p>
            <a:pPr marL="285750" indent="-285750">
              <a:spcAft>
                <a:spcPts val="600"/>
              </a:spcAft>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逻辑公式的语法</a:t>
            </a:r>
            <a:r>
              <a:rPr lang="en-US" altLang="zh-CN" sz="2000" b="1" dirty="0">
                <a:solidFill>
                  <a:srgbClr val="C00000"/>
                </a:solidFill>
                <a:latin typeface="Arial" panose="020B0604020202020204" pitchFamily="34" charset="0"/>
                <a:ea typeface="楷体" panose="02010609060101010101" pitchFamily="49" charset="-122"/>
                <a:cs typeface="Arial" panose="020B0604020202020204" pitchFamily="34" charset="0"/>
              </a:rPr>
              <a:t>(syntax)</a:t>
            </a:r>
            <a:r>
              <a:rPr lang="zh-CN" altLang="en-US" sz="2000" b="1" dirty="0">
                <a:solidFill>
                  <a:srgbClr val="C00000"/>
                </a:solidFill>
                <a:latin typeface="楷体" panose="02010609060101010101" pitchFamily="49" charset="-122"/>
                <a:ea typeface="楷体" panose="02010609060101010101" pitchFamily="49" charset="-122"/>
              </a:rPr>
              <a:t>就是构成公式的规则，体现为逻辑公式的归纳定义</a:t>
            </a:r>
            <a:endParaRPr lang="zh-CN" altLang="en-US" sz="2000" b="1" dirty="0">
              <a:solidFill>
                <a:srgbClr val="C00000"/>
              </a:solidFill>
              <a:latin typeface="楷体" panose="02010609060101010101" pitchFamily="49" charset="-122"/>
              <a:ea typeface="楷体" panose="02010609060101010101" pitchFamily="49" charset="-122"/>
            </a:endParaRPr>
          </a:p>
        </p:txBody>
      </p:sp>
      <p:sp>
        <p:nvSpPr>
          <p:cNvPr id="2" name="文本框 1"/>
          <p:cNvSpPr txBox="1"/>
          <p:nvPr/>
        </p:nvSpPr>
        <p:spPr>
          <a:xfrm>
            <a:off x="572344" y="2518833"/>
            <a:ext cx="6828375" cy="400110"/>
          </a:xfrm>
          <a:prstGeom prst="rect">
            <a:avLst/>
          </a:prstGeom>
          <a:solidFill>
            <a:schemeClr val="accent5">
              <a:lumMod val="20000"/>
              <a:lumOff val="80000"/>
            </a:schemeClr>
          </a:solidFill>
        </p:spPr>
        <p:txBody>
          <a:bodyPr wrap="square" rtlCol="0">
            <a:spAutoFit/>
          </a:bodyPr>
          <a:lstStyle/>
          <a:p>
            <a:r>
              <a:rPr lang="zh-CN" altLang="en-US" sz="2000" b="1">
                <a:solidFill>
                  <a:srgbClr val="002060"/>
                </a:solidFill>
              </a:rPr>
              <a:t>一阶逻辑公式中允许出现的符号分为</a:t>
            </a:r>
            <a:r>
              <a:rPr lang="zh-CN" altLang="en-US" sz="2000" b="1">
                <a:solidFill>
                  <a:srgbClr val="C00000"/>
                </a:solidFill>
              </a:rPr>
              <a:t>非逻辑符号</a:t>
            </a:r>
            <a:r>
              <a:rPr lang="zh-CN" altLang="en-US" sz="2000" b="1">
                <a:solidFill>
                  <a:srgbClr val="002060"/>
                </a:solidFill>
              </a:rPr>
              <a:t>和</a:t>
            </a:r>
            <a:r>
              <a:rPr lang="zh-CN" altLang="en-US" sz="2000" b="1">
                <a:solidFill>
                  <a:srgbClr val="C00000"/>
                </a:solidFill>
              </a:rPr>
              <a:t>逻辑符号</a:t>
            </a:r>
            <a:endParaRPr lang="zh-CN" altLang="en-US" sz="2000" b="1">
              <a:solidFill>
                <a:srgbClr val="C00000"/>
              </a:solidFill>
            </a:endParaRPr>
          </a:p>
        </p:txBody>
      </p:sp>
      <mc:AlternateContent xmlns:mc="http://schemas.openxmlformats.org/markup-compatibility/2006">
        <mc:Choice xmlns:a14="http://schemas.microsoft.com/office/drawing/2010/main" Requires="a14">
          <p:sp>
            <p:nvSpPr>
              <p:cNvPr id="3" name="文本框 2"/>
              <p:cNvSpPr txBox="1"/>
              <p:nvPr/>
            </p:nvSpPr>
            <p:spPr>
              <a:xfrm>
                <a:off x="572344" y="3156585"/>
                <a:ext cx="5104853" cy="2666820"/>
              </a:xfrm>
              <a:prstGeom prst="rect">
                <a:avLst/>
              </a:prstGeom>
              <a:solidFill>
                <a:schemeClr val="accent2">
                  <a:lumMod val="20000"/>
                  <a:lumOff val="80000"/>
                  <a:alpha val="50000"/>
                </a:schemeClr>
              </a:solidFill>
            </p:spPr>
            <p:txBody>
              <a:bodyPr wrap="square" rtlCol="0">
                <a:spAutoFit/>
              </a:bodyPr>
              <a:lstStyle/>
              <a:p>
                <a:pPr algn="ctr">
                  <a:lnSpc>
                    <a:spcPts val="3000"/>
                  </a:lnSpc>
                  <a:spcBef>
                    <a:spcPts val="600"/>
                  </a:spcBef>
                </a:pPr>
                <a:r>
                  <a:rPr lang="zh-CN" altLang="en-US" sz="2400" b="1">
                    <a:solidFill>
                      <a:srgbClr val="C00000"/>
                    </a:solidFill>
                  </a:rPr>
                  <a:t>逻辑符号</a:t>
                </a:r>
                <a:endParaRPr lang="en-US" altLang="zh-CN" sz="2400" b="1">
                  <a:solidFill>
                    <a:srgbClr val="C00000"/>
                  </a:solidFill>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个体变量</a:t>
                </a:r>
                <a:r>
                  <a:rPr lang="zh-CN" altLang="en-US" sz="2000" b="1">
                    <a:solidFill>
                      <a:srgbClr val="002060"/>
                    </a:solidFill>
                    <a:latin typeface="楷体" panose="02010609060101010101" pitchFamily="49" charset="-122"/>
                    <a:ea typeface="楷体" panose="02010609060101010101" pitchFamily="49" charset="-122"/>
                  </a:rPr>
                  <a:t>符号：用小写字母</a:t>
                </a:r>
                <a14:m>
                  <m:oMath xmlns:m="http://schemas.openxmlformats.org/officeDocument/2006/math">
                    <m:r>
                      <a:rPr lang="en-US" altLang="zh-CN" sz="2000" b="1" i="1" smtClean="0">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𝒚</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𝒛</m:t>
                    </m:r>
                    <m:r>
                      <a:rPr lang="en-US" altLang="zh-CN" sz="2000" b="1" i="1">
                        <a:solidFill>
                          <a:srgbClr val="002060"/>
                        </a:solidFill>
                        <a:latin typeface="Cambria Math" panose="02040503050406030204" pitchFamily="18" charset="0"/>
                      </a:rPr>
                      <m:t>, ⋯</m:t>
                    </m:r>
                  </m:oMath>
                </a14:m>
                <a:r>
                  <a:rPr lang="zh-CN" altLang="en-US" sz="2000" b="1">
                    <a:solidFill>
                      <a:srgbClr val="002060"/>
                    </a:solidFill>
                    <a:latin typeface="楷体" panose="02010609060101010101" pitchFamily="49" charset="-122"/>
                    <a:ea typeface="楷体" panose="02010609060101010101" pitchFamily="49" charset="-122"/>
                  </a:rPr>
                  <a:t>等表示，记所有个体变量符号构成的集合为</a:t>
                </a:r>
                <a14:m>
                  <m:oMath xmlns:m="http://schemas.openxmlformats.org/officeDocument/2006/math">
                    <m:r>
                      <a:rPr lang="en-US" altLang="zh-CN" sz="2000" b="1" i="1" smtClean="0">
                        <a:solidFill>
                          <a:srgbClr val="002060"/>
                        </a:solidFill>
                        <a:latin typeface="Cambria Math" panose="02040503050406030204" pitchFamily="18" charset="0"/>
                      </a:rPr>
                      <m:t>𝑽</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逻辑运算</a:t>
                </a:r>
                <a:r>
                  <a:rPr lang="zh-CN" altLang="en-US" sz="2000" b="1">
                    <a:solidFill>
                      <a:srgbClr val="002060"/>
                    </a:solidFill>
                    <a:latin typeface="楷体" panose="02010609060101010101" pitchFamily="49" charset="-122"/>
                    <a:ea typeface="楷体" panose="02010609060101010101" pitchFamily="49" charset="-122"/>
                  </a:rPr>
                  <a:t>符：</a:t>
                </a:r>
                <a14:m>
                  <m:oMath xmlns:m="http://schemas.openxmlformats.org/officeDocument/2006/math">
                    <m:r>
                      <a:rPr lang="en-US" altLang="zh-CN" sz="2000" b="1" i="1" smtClean="0">
                        <a:solidFill>
                          <a:srgbClr val="002060"/>
                        </a:solidFill>
                        <a:latin typeface="Cambria Math" panose="02040503050406030204" pitchFamily="18" charset="0"/>
                      </a:rPr>
                      <m:t>¬, ∧, ∨, →, </m:t>
                    </m:r>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量词</a:t>
                </a:r>
                <a:r>
                  <a:rPr lang="zh-CN" altLang="en-US" sz="2000" b="1">
                    <a:solidFill>
                      <a:srgbClr val="002060"/>
                    </a:solidFill>
                    <a:latin typeface="楷体" panose="02010609060101010101" pitchFamily="49" charset="-122"/>
                    <a:ea typeface="楷体" panose="02010609060101010101" pitchFamily="49" charset="-122"/>
                  </a:rPr>
                  <a:t>符号：全称量词</a:t>
                </a:r>
                <a14:m>
                  <m:oMath xmlns:m="http://schemas.openxmlformats.org/officeDocument/2006/math">
                    <m:r>
                      <a:rPr lang="en-US" altLang="zh-CN" sz="2000" b="1" i="1" smtClean="0">
                        <a:solidFill>
                          <a:srgbClr val="002060"/>
                        </a:solidFill>
                        <a:latin typeface="Cambria Math" panose="02040503050406030204" pitchFamily="18" charset="0"/>
                      </a:rPr>
                      <m:t>∀</m:t>
                    </m:r>
                  </m:oMath>
                </a14:m>
                <a:r>
                  <a:rPr lang="en-US" altLang="zh-CN" sz="2000" b="1">
                    <a:solidFill>
                      <a:srgbClr val="002060"/>
                    </a:solidFill>
                    <a:latin typeface="楷体" panose="02010609060101010101" pitchFamily="49" charset="-122"/>
                    <a:ea typeface="楷体" panose="02010609060101010101" pitchFamily="49" charset="-122"/>
                  </a:rPr>
                  <a:t>, </a:t>
                </a:r>
                <a:r>
                  <a:rPr lang="zh-CN" altLang="en-US" sz="2000" b="1">
                    <a:solidFill>
                      <a:srgbClr val="002060"/>
                    </a:solidFill>
                    <a:latin typeface="楷体" panose="02010609060101010101" pitchFamily="49" charset="-122"/>
                    <a:ea typeface="楷体" panose="02010609060101010101" pitchFamily="49" charset="-122"/>
                  </a:rPr>
                  <a:t>存在量词</a:t>
                </a:r>
                <a14:m>
                  <m:oMath xmlns:m="http://schemas.openxmlformats.org/officeDocument/2006/math">
                    <m:r>
                      <a:rPr lang="en-US" altLang="zh-CN" sz="2000" b="1" i="1" smtClean="0">
                        <a:solidFill>
                          <a:srgbClr val="002060"/>
                        </a:solidFill>
                        <a:latin typeface="Cambria Math" panose="02040503050406030204" pitchFamily="18" charset="0"/>
                      </a:rPr>
                      <m:t>∃</m:t>
                    </m:r>
                  </m:oMath>
                </a14:m>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辅助符号</a:t>
                </a:r>
                <a:r>
                  <a:rPr lang="zh-CN" altLang="en-US" sz="2000" b="1">
                    <a:solidFill>
                      <a:srgbClr val="002060"/>
                    </a:solidFill>
                    <a:latin typeface="楷体" panose="02010609060101010101" pitchFamily="49" charset="-122"/>
                    <a:ea typeface="楷体" panose="02010609060101010101" pitchFamily="49" charset="-122"/>
                  </a:rPr>
                  <a:t>：左右圆括号</a:t>
                </a:r>
                <a14:m>
                  <m:oMath xmlns:m="http://schemas.openxmlformats.org/officeDocument/2006/math">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，以及逗号</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572344" y="3156585"/>
                <a:ext cx="5104853" cy="2666820"/>
              </a:xfrm>
              <a:prstGeom prst="rect">
                <a:avLst/>
              </a:prstGeom>
              <a:blipFill rotWithShape="1">
                <a:blip r:embed="rId1"/>
                <a:stretch>
                  <a:fillRect l="-4" r="6" b="-131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6233028" y="3156585"/>
                <a:ext cx="5386628" cy="1820435"/>
              </a:xfrm>
              <a:prstGeom prst="rect">
                <a:avLst/>
              </a:prstGeom>
              <a:solidFill>
                <a:schemeClr val="accent2">
                  <a:lumMod val="20000"/>
                  <a:lumOff val="80000"/>
                  <a:alpha val="50000"/>
                </a:schemeClr>
              </a:solidFill>
            </p:spPr>
            <p:txBody>
              <a:bodyPr wrap="square" rtlCol="0">
                <a:spAutoFit/>
              </a:bodyPr>
              <a:lstStyle/>
              <a:p>
                <a:pPr algn="ctr">
                  <a:lnSpc>
                    <a:spcPts val="3000"/>
                  </a:lnSpc>
                  <a:spcBef>
                    <a:spcPts val="600"/>
                  </a:spcBef>
                </a:pPr>
                <a:r>
                  <a:rPr lang="zh-CN" altLang="en-US" sz="2400" b="1">
                    <a:solidFill>
                      <a:srgbClr val="C00000"/>
                    </a:solidFill>
                  </a:rPr>
                  <a:t>非逻辑符号</a:t>
                </a:r>
                <a:endParaRPr lang="en-US" altLang="zh-CN" sz="2400" b="1">
                  <a:solidFill>
                    <a:srgbClr val="C00000"/>
                  </a:solidFill>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个体常量</a:t>
                </a:r>
                <a:r>
                  <a:rPr lang="zh-CN" altLang="en-US" sz="2000" b="1">
                    <a:solidFill>
                      <a:srgbClr val="002060"/>
                    </a:solidFill>
                    <a:latin typeface="楷体" panose="02010609060101010101" pitchFamily="49" charset="-122"/>
                    <a:ea typeface="楷体" panose="02010609060101010101" pitchFamily="49" charset="-122"/>
                  </a:rPr>
                  <a:t>符号：用小写字母</a:t>
                </a:r>
                <a14:m>
                  <m:oMath xmlns:m="http://schemas.openxmlformats.org/officeDocument/2006/math">
                    <m:r>
                      <a:rPr lang="en-US" altLang="zh-CN" sz="2000" b="1" i="1" smtClean="0">
                        <a:solidFill>
                          <a:srgbClr val="002060"/>
                        </a:solidFill>
                        <a:latin typeface="Cambria Math" panose="02040503050406030204" pitchFamily="18" charset="0"/>
                      </a:rPr>
                      <m:t>𝒂</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𝒃</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𝒄</m:t>
                    </m:r>
                    <m:r>
                      <a:rPr lang="en-US" altLang="zh-CN" sz="2000" b="1" i="1">
                        <a:solidFill>
                          <a:srgbClr val="002060"/>
                        </a:solidFill>
                        <a:latin typeface="Cambria Math" panose="02040503050406030204" pitchFamily="18" charset="0"/>
                      </a:rPr>
                      <m:t>, ⋯</m:t>
                    </m:r>
                  </m:oMath>
                </a14:m>
                <a:r>
                  <a:rPr lang="zh-CN" altLang="en-US" sz="2000" b="1">
                    <a:solidFill>
                      <a:srgbClr val="002060"/>
                    </a:solidFill>
                    <a:latin typeface="楷体" panose="02010609060101010101" pitchFamily="49" charset="-122"/>
                    <a:ea typeface="楷体" panose="02010609060101010101" pitchFamily="49" charset="-122"/>
                  </a:rPr>
                  <a:t>等表示</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谓词</a:t>
                </a:r>
                <a:r>
                  <a:rPr lang="zh-CN" altLang="en-US" sz="2000" b="1">
                    <a:solidFill>
                      <a:srgbClr val="002060"/>
                    </a:solidFill>
                    <a:latin typeface="楷体" panose="02010609060101010101" pitchFamily="49" charset="-122"/>
                    <a:ea typeface="楷体" panose="02010609060101010101" pitchFamily="49" charset="-122"/>
                  </a:rPr>
                  <a:t>符号：用大写字母</a:t>
                </a:r>
                <a14:m>
                  <m:oMath xmlns:m="http://schemas.openxmlformats.org/officeDocument/2006/math">
                    <m:r>
                      <a:rPr lang="en-US" altLang="zh-CN" sz="2000" b="1" i="1" smtClean="0">
                        <a:solidFill>
                          <a:srgbClr val="002060"/>
                        </a:solidFill>
                        <a:latin typeface="Cambria Math" panose="02040503050406030204" pitchFamily="18" charset="0"/>
                      </a:rPr>
                      <m:t>𝑭</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𝑮</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𝑯</m:t>
                    </m:r>
                    <m:r>
                      <a:rPr lang="en-US" altLang="zh-CN" sz="2000" b="1" i="1" smtClean="0">
                        <a:solidFill>
                          <a:srgbClr val="002060"/>
                        </a:solidFill>
                        <a:latin typeface="Cambria Math" panose="02040503050406030204" pitchFamily="18" charset="0"/>
                      </a:rPr>
                      <m:t>, ⋯</m:t>
                    </m:r>
                  </m:oMath>
                </a14:m>
                <a:r>
                  <a:rPr lang="zh-CN" altLang="en-US" sz="2000" b="1">
                    <a:solidFill>
                      <a:srgbClr val="002060"/>
                    </a:solidFill>
                    <a:latin typeface="楷体" panose="02010609060101010101" pitchFamily="49" charset="-122"/>
                    <a:ea typeface="楷体" panose="02010609060101010101" pitchFamily="49" charset="-122"/>
                  </a:rPr>
                  <a:t>等表示</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函数</a:t>
                </a:r>
                <a:r>
                  <a:rPr lang="zh-CN" altLang="en-US" sz="2000" b="1">
                    <a:solidFill>
                      <a:srgbClr val="002060"/>
                    </a:solidFill>
                    <a:latin typeface="楷体" panose="02010609060101010101" pitchFamily="49" charset="-122"/>
                    <a:ea typeface="楷体" panose="02010609060101010101" pitchFamily="49" charset="-122"/>
                  </a:rPr>
                  <a:t>符号：用小写字母</a:t>
                </a:r>
                <a14:m>
                  <m:oMath xmlns:m="http://schemas.openxmlformats.org/officeDocument/2006/math">
                    <m:r>
                      <a:rPr lang="en-US" altLang="zh-CN" sz="2000" b="1" i="1" smtClean="0">
                        <a:solidFill>
                          <a:srgbClr val="002060"/>
                        </a:solidFill>
                        <a:latin typeface="Cambria Math" panose="02040503050406030204" pitchFamily="18" charset="0"/>
                      </a:rPr>
                      <m:t>𝒇</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𝒈</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𝒉</m:t>
                    </m:r>
                    <m:r>
                      <a:rPr lang="en-US" altLang="zh-CN" sz="2000" b="1" i="1">
                        <a:solidFill>
                          <a:srgbClr val="002060"/>
                        </a:solidFill>
                        <a:latin typeface="Cambria Math" panose="02040503050406030204" pitchFamily="18" charset="0"/>
                      </a:rPr>
                      <m:t>, ⋯</m:t>
                    </m:r>
                  </m:oMath>
                </a14:m>
                <a:r>
                  <a:rPr lang="zh-CN" altLang="en-US" sz="2000" b="1">
                    <a:solidFill>
                      <a:srgbClr val="002060"/>
                    </a:solidFill>
                    <a:latin typeface="楷体" panose="02010609060101010101" pitchFamily="49" charset="-122"/>
                    <a:ea typeface="楷体" panose="02010609060101010101" pitchFamily="49" charset="-122"/>
                  </a:rPr>
                  <a:t>等表示</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6233028" y="3156585"/>
                <a:ext cx="5386628" cy="1820435"/>
              </a:xfrm>
              <a:prstGeom prst="rect">
                <a:avLst/>
              </a:prstGeom>
              <a:blipFill rotWithShape="1">
                <a:blip r:embed="rId2"/>
                <a:stretch>
                  <a:fillRect l="-9" r="8" b="-19714"/>
                </a:stretch>
              </a:blipFill>
            </p:spPr>
            <p:txBody>
              <a:bodyPr/>
              <a:lstStyle/>
              <a:p>
                <a:r>
                  <a:rPr lang="zh-CN" altLang="en-US">
                    <a:noFill/>
                  </a:rPr>
                  <a:t> </a:t>
                </a:r>
              </a:p>
            </p:txBody>
          </p:sp>
        </mc:Fallback>
      </mc:AlternateContent>
      <p:sp>
        <p:nvSpPr>
          <p:cNvPr id="4" name="文本框 3"/>
          <p:cNvSpPr txBox="1"/>
          <p:nvPr/>
        </p:nvSpPr>
        <p:spPr>
          <a:xfrm>
            <a:off x="6233028" y="5423295"/>
            <a:ext cx="5468881" cy="400110"/>
          </a:xfrm>
          <a:prstGeom prst="rect">
            <a:avLst/>
          </a:prstGeom>
          <a:solidFill>
            <a:schemeClr val="accent5">
              <a:lumMod val="20000"/>
              <a:lumOff val="80000"/>
            </a:schemeClr>
          </a:solidFill>
        </p:spPr>
        <p:txBody>
          <a:bodyPr wrap="square" rtlCol="0">
            <a:spAutoFit/>
          </a:bodyPr>
          <a:lstStyle/>
          <a:p>
            <a:r>
              <a:rPr lang="zh-CN" altLang="en-US" sz="2000" b="1">
                <a:solidFill>
                  <a:schemeClr val="accent2">
                    <a:lumMod val="50000"/>
                  </a:schemeClr>
                </a:solidFill>
              </a:rPr>
              <a:t>一阶逻辑公式的构造需要至少有一个谓词符号！</a:t>
            </a:r>
            <a:endParaRPr lang="zh-CN" altLang="en-US" sz="2000" b="1">
              <a:solidFill>
                <a:schemeClr val="accent2">
                  <a:lumMod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一阶逻辑公式语法概述</a:t>
            </a:r>
            <a:endParaRPr lang="zh-CN" altLang="en-US"/>
          </a:p>
        </p:txBody>
      </p:sp>
      <mc:AlternateContent xmlns:mc="http://schemas.openxmlformats.org/markup-compatibility/2006">
        <mc:Choice xmlns:a14="http://schemas.microsoft.com/office/drawing/2010/main" Requires="a14">
          <p:sp>
            <p:nvSpPr>
              <p:cNvPr id="13" name="矩形: 圆角 12"/>
              <p:cNvSpPr/>
              <p:nvPr/>
            </p:nvSpPr>
            <p:spPr>
              <a:xfrm>
                <a:off x="956372" y="1374697"/>
                <a:ext cx="984221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在给定非逻辑符号集</a:t>
                </a:r>
                <a14:m>
                  <m:oMath xmlns:m="http://schemas.openxmlformats.org/officeDocument/2006/math">
                    <m:r>
                      <a:rPr lang="zh-CN" altLang="en-US" sz="2400" b="1" i="1" smtClean="0">
                        <a:solidFill>
                          <a:schemeClr val="accent2">
                            <a:lumMod val="50000"/>
                          </a:schemeClr>
                        </a:solidFill>
                        <a:latin typeface="Cambria Math" panose="02040503050406030204" pitchFamily="18" charset="0"/>
                      </a:rPr>
                      <m:t>𝓛</m:t>
                    </m:r>
                  </m:oMath>
                </a14:m>
                <a:r>
                  <a:rPr lang="zh-CN" altLang="en-US" sz="2400" b="1">
                    <a:solidFill>
                      <a:schemeClr val="accent2">
                        <a:lumMod val="50000"/>
                      </a:schemeClr>
                    </a:solidFill>
                  </a:rPr>
                  <a:t>和个体变量集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𝑽</m:t>
                    </m:r>
                  </m:oMath>
                </a14:m>
                <a:r>
                  <a:rPr lang="zh-CN" altLang="en-US" sz="2400" b="1">
                    <a:solidFill>
                      <a:schemeClr val="accent2">
                        <a:lumMod val="50000"/>
                      </a:schemeClr>
                    </a:solidFill>
                  </a:rPr>
                  <a:t>的基础上归纳定义一阶逻辑公式集</a:t>
                </a:r>
                <a:endParaRPr lang="zh-CN" altLang="en-US" sz="2400" b="1" dirty="0">
                  <a:solidFill>
                    <a:schemeClr val="accent2">
                      <a:lumMod val="50000"/>
                    </a:schemeClr>
                  </a:solidFill>
                </a:endParaRPr>
              </a:p>
            </p:txBody>
          </p:sp>
        </mc:Choice>
        <mc:Fallback>
          <p:sp>
            <p:nvSpPr>
              <p:cNvPr id="13" name="矩形: 圆角 12"/>
              <p:cNvSpPr>
                <a:spLocks noRot="1" noChangeAspect="1" noMove="1" noResize="1" noEditPoints="1" noAdjustHandles="1" noChangeArrowheads="1" noChangeShapeType="1" noTextEdit="1"/>
              </p:cNvSpPr>
              <p:nvPr/>
            </p:nvSpPr>
            <p:spPr>
              <a:xfrm>
                <a:off x="956372" y="1374697"/>
                <a:ext cx="9842213" cy="459280"/>
              </a:xfrm>
              <a:prstGeom prst="roundRect">
                <a:avLst/>
              </a:prstGeom>
              <a:blipFill rotWithShape="1">
                <a:blip r:embed="rId1"/>
                <a:stretch>
                  <a:fillRect l="-65" t="-1504" r="-60" b="-136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956372" y="2063618"/>
                <a:ext cx="10186696" cy="3806170"/>
              </a:xfrm>
              <a:prstGeom prst="rect">
                <a:avLst/>
              </a:prstGeom>
              <a:solidFill>
                <a:schemeClr val="accent5">
                  <a:lumMod val="20000"/>
                  <a:lumOff val="80000"/>
                  <a:alpha val="50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一阶逻辑的原子公式是谓词作用于</a:t>
                </a:r>
                <a:r>
                  <a:rPr lang="zh-CN" altLang="en-US" sz="2400" b="1">
                    <a:solidFill>
                      <a:srgbClr val="C00000"/>
                    </a:solidFill>
                    <a:latin typeface="黑体" panose="02010609060101010101" pitchFamily="49" charset="-122"/>
                    <a:ea typeface="黑体" panose="02010609060101010101" pitchFamily="49" charset="-122"/>
                  </a:rPr>
                  <a:t>项</a:t>
                </a:r>
                <a:r>
                  <a:rPr lang="en-US" altLang="zh-CN" sz="2400">
                    <a:solidFill>
                      <a:srgbClr val="002060"/>
                    </a:solidFill>
                    <a:latin typeface="Arial" panose="020B0604020202020204" pitchFamily="34" charset="0"/>
                    <a:ea typeface="楷体" panose="02010609060101010101" pitchFamily="49" charset="-122"/>
                    <a:cs typeface="Arial" panose="020B0604020202020204" pitchFamily="34" charset="0"/>
                  </a:rPr>
                  <a:t>(term)</a:t>
                </a:r>
                <a:endParaRPr lang="zh-CN" altLang="en-US" sz="2400">
                  <a:solidFill>
                    <a:srgbClr val="002060"/>
                  </a:solidFill>
                  <a:latin typeface="Arial" panose="020B0604020202020204" pitchFamily="34" charset="0"/>
                  <a:ea typeface="楷体" panose="02010609060101010101" pitchFamily="49" charset="-122"/>
                  <a:cs typeface="Arial" panose="020B0604020202020204" pitchFamily="34" charset="0"/>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项是个体变量或个体常量，或函数符号作用于（更简单的）项</a:t>
                </a:r>
                <a:endParaRPr lang="zh-CN" altLang="en-US" sz="2000" b="1">
                  <a:solidFill>
                    <a:schemeClr val="accent6">
                      <a:lumMod val="50000"/>
                    </a:schemeClr>
                  </a:solidFill>
                  <a:latin typeface="等线" panose="02010600030101010101" pitchFamily="2" charset="-122"/>
                  <a:ea typeface="等线" panose="02010600030101010101" pitchFamily="2"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原子公式要使用谓词构造，因此</a:t>
                </a:r>
                <a14:m>
                  <m:oMath xmlns:m="http://schemas.openxmlformats.org/officeDocument/2006/math">
                    <m:r>
                      <a:rPr lang="zh-CN" altLang="en-US" sz="2000" b="1" i="1" smtClean="0">
                        <a:solidFill>
                          <a:schemeClr val="accent6">
                            <a:lumMod val="50000"/>
                          </a:schemeClr>
                        </a:solidFill>
                        <a:latin typeface="Cambria Math" panose="02040503050406030204" pitchFamily="18" charset="0"/>
                        <a:ea typeface="宋体" panose="02010600030101010101" pitchFamily="2" charset="-122"/>
                      </a:rPr>
                      <m:t>𝓛</m:t>
                    </m:r>
                  </m:oMath>
                </a14:m>
                <a:r>
                  <a:rPr lang="zh-CN" altLang="en-US" sz="2000" b="1">
                    <a:solidFill>
                      <a:schemeClr val="accent6">
                        <a:lumMod val="50000"/>
                      </a:schemeClr>
                    </a:solidFill>
                    <a:latin typeface="等线" panose="02010600030101010101" pitchFamily="2" charset="-122"/>
                    <a:ea typeface="等线" panose="02010600030101010101" pitchFamily="2" charset="-122"/>
                  </a:rPr>
                  <a:t>必须至少有一个谓词符号</a:t>
                </a:r>
                <a:endParaRPr lang="zh-CN" altLang="en-US" sz="2000" b="1">
                  <a:solidFill>
                    <a:schemeClr val="accent6">
                      <a:lumMod val="50000"/>
                    </a:schemeClr>
                  </a:solidFill>
                  <a:latin typeface="等线" panose="02010600030101010101" pitchFamily="2" charset="-122"/>
                  <a:ea typeface="等线" panose="02010600030101010101" pitchFamily="2" charset="-122"/>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逻辑运算符否定、合取、析取、蕴涵和双蕴涵分别用于构造一阶逻辑的</a:t>
                </a:r>
                <a:r>
                  <a:rPr lang="zh-CN" altLang="en-US" sz="2400" b="1">
                    <a:solidFill>
                      <a:srgbClr val="C00000"/>
                    </a:solidFill>
                    <a:latin typeface="黑体" panose="02010609060101010101" pitchFamily="49" charset="-122"/>
                    <a:ea typeface="黑体" panose="02010609060101010101" pitchFamily="49" charset="-122"/>
                  </a:rPr>
                  <a:t>否定式</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黑体" panose="02010609060101010101" pitchFamily="49" charset="-122"/>
                    <a:ea typeface="黑体" panose="02010609060101010101" pitchFamily="49" charset="-122"/>
                  </a:rPr>
                  <a:t>合取式</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黑体" panose="02010609060101010101" pitchFamily="49" charset="-122"/>
                    <a:ea typeface="黑体" panose="02010609060101010101" pitchFamily="49" charset="-122"/>
                  </a:rPr>
                  <a:t>析取式</a:t>
                </a:r>
                <a:r>
                  <a:rPr lang="zh-CN" altLang="en-US" sz="2400" b="1">
                    <a:solidFill>
                      <a:srgbClr val="002060"/>
                    </a:solidFill>
                    <a:latin typeface="楷体" panose="02010609060101010101" pitchFamily="49" charset="-122"/>
                    <a:ea typeface="楷体" panose="02010609060101010101" pitchFamily="49" charset="-122"/>
                  </a:rPr>
                  <a:t>、</a:t>
                </a:r>
                <a:r>
                  <a:rPr lang="zh-CN" altLang="en-US" sz="2400" b="1">
                    <a:solidFill>
                      <a:srgbClr val="C00000"/>
                    </a:solidFill>
                    <a:latin typeface="黑体" panose="02010609060101010101" pitchFamily="49" charset="-122"/>
                    <a:ea typeface="黑体" panose="02010609060101010101" pitchFamily="49" charset="-122"/>
                  </a:rPr>
                  <a:t>蕴涵式</a:t>
                </a:r>
                <a:r>
                  <a:rPr lang="zh-CN" altLang="en-US" sz="2400" b="1">
                    <a:solidFill>
                      <a:srgbClr val="002060"/>
                    </a:solidFill>
                    <a:latin typeface="楷体" panose="02010609060101010101" pitchFamily="49" charset="-122"/>
                    <a:ea typeface="楷体" panose="02010609060101010101" pitchFamily="49" charset="-122"/>
                  </a:rPr>
                  <a:t>和</a:t>
                </a:r>
                <a:r>
                  <a:rPr lang="zh-CN" altLang="en-US" sz="2400" b="1">
                    <a:solidFill>
                      <a:srgbClr val="C00000"/>
                    </a:solidFill>
                    <a:latin typeface="黑体" panose="02010609060101010101" pitchFamily="49" charset="-122"/>
                    <a:ea typeface="黑体" panose="02010609060101010101" pitchFamily="49" charset="-122"/>
                  </a:rPr>
                  <a:t>双蕴涵式</a:t>
                </a:r>
                <a:endParaRPr lang="zh-CN" altLang="en-US" sz="2400" b="1">
                  <a:solidFill>
                    <a:srgbClr val="C00000"/>
                  </a:solidFill>
                  <a:latin typeface="黑体" panose="02010609060101010101" pitchFamily="49" charset="-122"/>
                  <a:ea typeface="黑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量词符号用于构造一阶逻辑的</a:t>
                </a:r>
                <a:r>
                  <a:rPr lang="zh-CN" altLang="en-US" sz="2400" b="1">
                    <a:solidFill>
                      <a:srgbClr val="C00000"/>
                    </a:solidFill>
                    <a:latin typeface="黑体" panose="02010609060101010101" pitchFamily="49" charset="-122"/>
                    <a:ea typeface="黑体" panose="02010609060101010101" pitchFamily="49" charset="-122"/>
                  </a:rPr>
                  <a:t>量词公式</a:t>
                </a:r>
                <a:endParaRPr lang="zh-CN" altLang="en-US" sz="2400" b="1">
                  <a:solidFill>
                    <a:srgbClr val="C00000"/>
                  </a:solidFill>
                  <a:latin typeface="黑体" panose="02010609060101010101" pitchFamily="49" charset="-122"/>
                  <a:ea typeface="黑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𝑨</m:t>
                    </m:r>
                  </m:oMath>
                </a14:m>
                <a:r>
                  <a:rPr lang="zh-CN" altLang="en-US" sz="2000" b="1">
                    <a:solidFill>
                      <a:schemeClr val="accent6">
                        <a:lumMod val="50000"/>
                      </a:schemeClr>
                    </a:solidFill>
                    <a:latin typeface="等线" panose="02010600030101010101" pitchFamily="2" charset="-122"/>
                    <a:ea typeface="等线" panose="02010600030101010101" pitchFamily="2" charset="-122"/>
                  </a:rPr>
                  <a:t>是一阶公式，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2000" b="1">
                    <a:solidFill>
                      <a:schemeClr val="accent6">
                        <a:lumMod val="50000"/>
                      </a:schemeClr>
                    </a:solidFill>
                    <a:latin typeface="等线" panose="02010600030101010101" pitchFamily="2" charset="-122"/>
                    <a:ea typeface="等线" panose="02010600030101010101" pitchFamily="2" charset="-122"/>
                  </a:rPr>
                  <a:t>是一个个体变量时，则</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000" b="1" i="1">
                        <a:solidFill>
                          <a:schemeClr val="accent6">
                            <a:lumMod val="50000"/>
                          </a:schemeClr>
                        </a:solidFill>
                        <a:latin typeface="Cambria Math" panose="02040503050406030204" pitchFamily="18" charset="0"/>
                        <a:ea typeface="宋体" panose="02010600030101010101" pitchFamily="2" charset="-122"/>
                      </a:rPr>
                      <m:t>𝒙𝑨</m:t>
                    </m:r>
                  </m:oMath>
                </a14:m>
                <a:r>
                  <a:rPr lang="zh-CN" altLang="en-US" sz="2000" b="1">
                    <a:solidFill>
                      <a:schemeClr val="accent6">
                        <a:lumMod val="50000"/>
                      </a:schemeClr>
                    </a:solidFill>
                    <a:latin typeface="等线" panose="02010600030101010101" pitchFamily="2" charset="-122"/>
                    <a:ea typeface="等线" panose="02010600030101010101" pitchFamily="2" charset="-122"/>
                  </a:rPr>
                  <a:t>是全称量词公式</a:t>
                </a:r>
                <a:endParaRPr lang="zh-CN" altLang="en-US" sz="2000" b="1">
                  <a:solidFill>
                    <a:schemeClr val="accent6">
                      <a:lumMod val="50000"/>
                    </a:schemeClr>
                  </a:solidFill>
                  <a:latin typeface="等线" panose="02010600030101010101" pitchFamily="2" charset="-122"/>
                  <a:ea typeface="等线" panose="02010600030101010101" pitchFamily="2"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当</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𝑨</m:t>
                    </m:r>
                  </m:oMath>
                </a14:m>
                <a:r>
                  <a:rPr lang="zh-CN" altLang="en-US" sz="2000" b="1">
                    <a:solidFill>
                      <a:schemeClr val="accent6">
                        <a:lumMod val="50000"/>
                      </a:schemeClr>
                    </a:solidFill>
                    <a:latin typeface="等线" panose="02010600030101010101" pitchFamily="2" charset="-122"/>
                    <a:ea typeface="等线" panose="02010600030101010101" pitchFamily="2" charset="-122"/>
                  </a:rPr>
                  <a:t>是一阶公式，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2000" b="1">
                    <a:solidFill>
                      <a:schemeClr val="accent6">
                        <a:lumMod val="50000"/>
                      </a:schemeClr>
                    </a:solidFill>
                    <a:latin typeface="等线" panose="02010600030101010101" pitchFamily="2" charset="-122"/>
                    <a:ea typeface="等线" panose="02010600030101010101" pitchFamily="2" charset="-122"/>
                  </a:rPr>
                  <a:t>是一个个体变量时，则</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000" b="1" i="1">
                        <a:solidFill>
                          <a:schemeClr val="accent6">
                            <a:lumMod val="50000"/>
                          </a:schemeClr>
                        </a:solidFill>
                        <a:latin typeface="Cambria Math" panose="02040503050406030204" pitchFamily="18" charset="0"/>
                        <a:ea typeface="宋体" panose="02010600030101010101" pitchFamily="2" charset="-122"/>
                      </a:rPr>
                      <m:t>𝒙𝑨</m:t>
                    </m:r>
                  </m:oMath>
                </a14:m>
                <a:r>
                  <a:rPr lang="zh-CN" altLang="en-US" sz="2000" b="1">
                    <a:solidFill>
                      <a:schemeClr val="accent6">
                        <a:lumMod val="50000"/>
                      </a:schemeClr>
                    </a:solidFill>
                    <a:latin typeface="等线" panose="02010600030101010101" pitchFamily="2" charset="-122"/>
                    <a:ea typeface="等线" panose="02010600030101010101" pitchFamily="2" charset="-122"/>
                  </a:rPr>
                  <a:t>是存在量词公式</a:t>
                </a:r>
                <a:endParaRPr lang="zh-CN" altLang="en-US" sz="2000" b="1">
                  <a:solidFill>
                    <a:schemeClr val="accent6">
                      <a:lumMod val="50000"/>
                    </a:schemeClr>
                  </a:solidFill>
                  <a:latin typeface="等线" panose="02010600030101010101" pitchFamily="2" charset="-122"/>
                  <a:ea typeface="等线" panose="02010600030101010101" pitchFamily="2"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956372" y="2063618"/>
                <a:ext cx="10186696" cy="3806170"/>
              </a:xfrm>
              <a:prstGeom prst="rect">
                <a:avLst/>
              </a:prstGeom>
              <a:blipFill rotWithShape="1">
                <a:blip r:embed="rId2"/>
                <a:stretch>
                  <a:fillRect l="-1" t="-13" r="1" b="13"/>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一阶逻辑公式语法概述</a:t>
            </a:r>
            <a:endParaRPr lang="zh-CN" altLang="en-US"/>
          </a:p>
        </p:txBody>
      </p:sp>
      <mc:AlternateContent xmlns:mc="http://schemas.openxmlformats.org/markup-compatibility/2006">
        <mc:Choice xmlns:a14="http://schemas.microsoft.com/office/drawing/2010/main" Requires="a14">
          <p:sp>
            <p:nvSpPr>
              <p:cNvPr id="16" name="文本框 15"/>
              <p:cNvSpPr txBox="1"/>
              <p:nvPr/>
            </p:nvSpPr>
            <p:spPr>
              <a:xfrm>
                <a:off x="967110" y="2076231"/>
                <a:ext cx="9766054" cy="3909853"/>
              </a:xfrm>
              <a:prstGeom prst="rect">
                <a:avLst/>
              </a:prstGeom>
              <a:solidFill>
                <a:schemeClr val="accent5">
                  <a:lumMod val="20000"/>
                  <a:lumOff val="80000"/>
                  <a:alpha val="50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一阶逻辑的原子公式是谓词作用于</a:t>
                </a:r>
                <a:r>
                  <a:rPr lang="zh-CN" altLang="en-US" sz="2000" b="1">
                    <a:solidFill>
                      <a:srgbClr val="C00000"/>
                    </a:solidFill>
                    <a:latin typeface="黑体" panose="02010609060101010101" pitchFamily="49" charset="-122"/>
                    <a:ea typeface="黑体" panose="02010609060101010101" pitchFamily="49" charset="-122"/>
                  </a:rPr>
                  <a:t>项</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(term)</a:t>
                </a:r>
                <a:r>
                  <a:rPr lang="zh-CN" altLang="en-US" sz="2000">
                    <a:solidFill>
                      <a:srgbClr val="002060"/>
                    </a:solidFill>
                    <a:latin typeface="Arial" panose="020B0604020202020204" pitchFamily="34" charset="0"/>
                    <a:ea typeface="楷体" panose="02010609060101010101" pitchFamily="49" charset="-122"/>
                    <a:cs typeface="Arial" panose="020B0604020202020204" pitchFamily="34" charset="0"/>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𝑭</m:t>
                    </m:r>
                    <m:d>
                      <m:dPr>
                        <m:ctrlP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ctrlPr>
                      </m:dPr>
                      <m:e>
                        <m:sSub>
                          <m:sSubPr>
                            <m:ctrlP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ctrlPr>
                          </m:sSubPr>
                          <m:e>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𝒕</m:t>
                            </m:r>
                          </m:e>
                          <m:sub>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𝟏</m:t>
                            </m:r>
                          </m:sub>
                        </m:sSub>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 ⋯, </m:t>
                        </m:r>
                        <m:sSub>
                          <m:sSubPr>
                            <m:ctrlP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ctrlPr>
                          </m:sSubPr>
                          <m:e>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𝒕</m:t>
                            </m:r>
                          </m:e>
                          <m:sub>
                            <m:r>
                              <a:rPr lang="en-US" altLang="zh-CN" sz="2000" b="1" i="1" smtClean="0">
                                <a:solidFill>
                                  <a:srgbClr val="002060"/>
                                </a:solidFill>
                                <a:latin typeface="Cambria Math" panose="02040503050406030204" pitchFamily="18" charset="0"/>
                                <a:ea typeface="楷体" panose="02010609060101010101" pitchFamily="49" charset="-122"/>
                                <a:cs typeface="Arial" panose="020B0604020202020204" pitchFamily="34" charset="0"/>
                              </a:rPr>
                              <m:t>𝒏</m:t>
                            </m:r>
                          </m:sub>
                        </m:sSub>
                      </m:e>
                    </m:d>
                  </m:oMath>
                </a14:m>
                <a:endPar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endParaRPr>
              </a:p>
              <a:p>
                <a:pPr marL="800100" lvl="1" indent="-342900">
                  <a:spcBef>
                    <a:spcPts val="600"/>
                  </a:spcBef>
                  <a:spcAft>
                    <a:spcPts val="600"/>
                  </a:spcAft>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项就是俗称的“</a:t>
                </a:r>
                <a:r>
                  <a:rPr lang="zh-CN" altLang="en-US" b="1">
                    <a:solidFill>
                      <a:srgbClr val="C00000"/>
                    </a:solidFill>
                    <a:latin typeface="等线" panose="02010600030101010101" pitchFamily="2" charset="-122"/>
                    <a:ea typeface="等线" panose="02010600030101010101" pitchFamily="2" charset="-122"/>
                  </a:rPr>
                  <a:t>表达式</a:t>
                </a:r>
                <a:r>
                  <a:rPr lang="zh-CN" altLang="en-US" b="1">
                    <a:solidFill>
                      <a:schemeClr val="accent6">
                        <a:lumMod val="50000"/>
                      </a:schemeClr>
                    </a:solidFill>
                    <a:latin typeface="等线" panose="02010600030101010101" pitchFamily="2" charset="-122"/>
                    <a:ea typeface="等线" panose="02010600030101010101" pitchFamily="2" charset="-122"/>
                  </a:rPr>
                  <a:t>”：</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等线" panose="02010600030101010101" pitchFamily="2" charset="-122"/>
                      </a:rPr>
                      <m:t>𝒄</m:t>
                    </m:r>
                    <m:r>
                      <a:rPr lang="en-US" altLang="zh-CN" b="1" i="1" smtClean="0">
                        <a:solidFill>
                          <a:schemeClr val="accent6">
                            <a:lumMod val="50000"/>
                          </a:schemeClr>
                        </a:solidFill>
                        <a:latin typeface="Cambria Math" panose="02040503050406030204" pitchFamily="18" charset="0"/>
                        <a:ea typeface="等线" panose="02010600030101010101" pitchFamily="2" charset="-122"/>
                      </a:rPr>
                      <m:t>, </m:t>
                    </m:r>
                    <m:r>
                      <a:rPr lang="en-US" altLang="zh-CN" b="1" i="1" smtClean="0">
                        <a:solidFill>
                          <a:schemeClr val="accent6">
                            <a:lumMod val="50000"/>
                          </a:schemeClr>
                        </a:solidFill>
                        <a:latin typeface="Cambria Math" panose="02040503050406030204" pitchFamily="18" charset="0"/>
                        <a:ea typeface="等线" panose="02010600030101010101" pitchFamily="2" charset="-122"/>
                      </a:rPr>
                      <m:t>𝒙</m:t>
                    </m:r>
                    <m:r>
                      <a:rPr lang="en-US" altLang="zh-CN" b="1" i="1" smtClean="0">
                        <a:solidFill>
                          <a:schemeClr val="accent6">
                            <a:lumMod val="50000"/>
                          </a:schemeClr>
                        </a:solidFill>
                        <a:latin typeface="Cambria Math" panose="02040503050406030204" pitchFamily="18" charset="0"/>
                        <a:ea typeface="等线" panose="02010600030101010101" pitchFamily="2" charset="-122"/>
                      </a:rPr>
                      <m:t>, </m:t>
                    </m:r>
                    <m:r>
                      <a:rPr lang="en-US" altLang="zh-CN" b="1" i="1" smtClean="0">
                        <a:solidFill>
                          <a:schemeClr val="accent6">
                            <a:lumMod val="50000"/>
                          </a:schemeClr>
                        </a:solidFill>
                        <a:latin typeface="Cambria Math" panose="02040503050406030204" pitchFamily="18" charset="0"/>
                        <a:ea typeface="等线" panose="02010600030101010101" pitchFamily="2" charset="-122"/>
                      </a:rPr>
                      <m:t>𝒇</m:t>
                    </m:r>
                    <m:d>
                      <m:dPr>
                        <m:ctrlPr>
                          <a:rPr lang="en-US" altLang="zh-CN" b="1" i="1" smtClean="0">
                            <a:solidFill>
                              <a:schemeClr val="accent6">
                                <a:lumMod val="50000"/>
                              </a:schemeClr>
                            </a:solidFill>
                            <a:latin typeface="Cambria Math" panose="02040503050406030204" pitchFamily="18" charset="0"/>
                            <a:ea typeface="等线" panose="02010600030101010101" pitchFamily="2" charset="-122"/>
                          </a:rPr>
                        </m:ctrlPr>
                      </m:dPr>
                      <m:e>
                        <m:sSub>
                          <m:sSubPr>
                            <m:ctrlPr>
                              <a:rPr lang="en-US" altLang="zh-CN" b="1" i="1" smtClean="0">
                                <a:solidFill>
                                  <a:schemeClr val="accent6">
                                    <a:lumMod val="50000"/>
                                  </a:schemeClr>
                                </a:solidFill>
                                <a:latin typeface="Cambria Math" panose="02040503050406030204" pitchFamily="18" charset="0"/>
                                <a:ea typeface="等线" panose="02010600030101010101" pitchFamily="2" charset="-122"/>
                              </a:rPr>
                            </m:ctrlPr>
                          </m:sSubPr>
                          <m:e>
                            <m:r>
                              <a:rPr lang="en-US" altLang="zh-CN" b="1" i="1" smtClean="0">
                                <a:solidFill>
                                  <a:schemeClr val="accent6">
                                    <a:lumMod val="50000"/>
                                  </a:schemeClr>
                                </a:solidFill>
                                <a:latin typeface="Cambria Math" panose="02040503050406030204" pitchFamily="18" charset="0"/>
                                <a:ea typeface="等线" panose="02010600030101010101" pitchFamily="2" charset="-122"/>
                              </a:rPr>
                              <m:t>𝒕</m:t>
                            </m:r>
                          </m:e>
                          <m:sub>
                            <m:r>
                              <a:rPr lang="en-US" altLang="zh-CN" b="1" i="1" smtClean="0">
                                <a:solidFill>
                                  <a:schemeClr val="accent6">
                                    <a:lumMod val="50000"/>
                                  </a:schemeClr>
                                </a:solidFill>
                                <a:latin typeface="Cambria Math" panose="02040503050406030204" pitchFamily="18" charset="0"/>
                                <a:ea typeface="等线" panose="02010600030101010101" pitchFamily="2" charset="-122"/>
                              </a:rPr>
                              <m:t>𝟏</m:t>
                            </m:r>
                          </m:sub>
                        </m:sSub>
                        <m:r>
                          <a:rPr lang="en-US" altLang="zh-CN" b="1" i="1" smtClean="0">
                            <a:solidFill>
                              <a:schemeClr val="accent6">
                                <a:lumMod val="50000"/>
                              </a:schemeClr>
                            </a:solidFill>
                            <a:latin typeface="Cambria Math" panose="02040503050406030204" pitchFamily="18" charset="0"/>
                            <a:ea typeface="等线" panose="02010600030101010101" pitchFamily="2" charset="-122"/>
                          </a:rPr>
                          <m:t>, ⋯, </m:t>
                        </m:r>
                        <m:sSub>
                          <m:sSubPr>
                            <m:ctrlPr>
                              <a:rPr lang="en-US" altLang="zh-CN" b="1" i="1" smtClean="0">
                                <a:solidFill>
                                  <a:schemeClr val="accent6">
                                    <a:lumMod val="50000"/>
                                  </a:schemeClr>
                                </a:solidFill>
                                <a:latin typeface="Cambria Math" panose="02040503050406030204" pitchFamily="18" charset="0"/>
                                <a:ea typeface="等线" panose="02010600030101010101" pitchFamily="2" charset="-122"/>
                              </a:rPr>
                            </m:ctrlPr>
                          </m:sSubPr>
                          <m:e>
                            <m:r>
                              <a:rPr lang="en-US" altLang="zh-CN" b="1" i="1" smtClean="0">
                                <a:solidFill>
                                  <a:schemeClr val="accent6">
                                    <a:lumMod val="50000"/>
                                  </a:schemeClr>
                                </a:solidFill>
                                <a:latin typeface="Cambria Math" panose="02040503050406030204" pitchFamily="18" charset="0"/>
                                <a:ea typeface="等线" panose="02010600030101010101" pitchFamily="2" charset="-122"/>
                              </a:rPr>
                              <m:t>𝒕</m:t>
                            </m:r>
                          </m:e>
                          <m:sub>
                            <m:r>
                              <a:rPr lang="en-US" altLang="zh-CN" b="1" i="1" smtClean="0">
                                <a:solidFill>
                                  <a:schemeClr val="accent6">
                                    <a:lumMod val="50000"/>
                                  </a:schemeClr>
                                </a:solidFill>
                                <a:latin typeface="Cambria Math" panose="02040503050406030204" pitchFamily="18" charset="0"/>
                                <a:ea typeface="等线" panose="02010600030101010101" pitchFamily="2" charset="-122"/>
                              </a:rPr>
                              <m:t>𝒎</m:t>
                            </m:r>
                          </m:sub>
                        </m:sSub>
                      </m:e>
                    </m:d>
                  </m:oMath>
                </a14:m>
                <a:endParaRPr lang="zh-CN" altLang="en-US" b="1">
                  <a:solidFill>
                    <a:schemeClr val="accent6">
                      <a:lumMod val="50000"/>
                    </a:schemeClr>
                  </a:solidFill>
                  <a:latin typeface="等线" panose="02010600030101010101" pitchFamily="2" charset="-122"/>
                  <a:ea typeface="等线" panose="02010600030101010101" pitchFamily="2"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逻辑运算符的用法与命题逻辑基本相同：</a:t>
                </a:r>
                <a14:m>
                  <m:oMath xmlns:m="http://schemas.openxmlformats.org/officeDocument/2006/math">
                    <m:r>
                      <a:rPr lang="en-US" altLang="zh-CN" sz="2000" b="1" i="0"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r>
                      <a:rPr lang="en-US" altLang="zh-CN" sz="2000" b="1" i="1" smtClean="0">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r>
                      <a:rPr lang="en-US" altLang="zh-CN" sz="2000" b="1" i="1" smtClean="0">
                        <a:solidFill>
                          <a:srgbClr val="002060"/>
                        </a:solidFill>
                        <a:latin typeface="Cambria Math" panose="02040503050406030204" pitchFamily="18" charset="0"/>
                        <a:ea typeface="楷体" panose="02010609060101010101" pitchFamily="49" charset="-122"/>
                      </a:rPr>
                      <m:t>)</m:t>
                    </m:r>
                  </m:oMath>
                </a14:m>
                <a:endParaRPr lang="zh-CN" altLang="en-US"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量词符号用于构造一阶逻辑的</a:t>
                </a:r>
                <a:r>
                  <a:rPr lang="zh-CN" altLang="en-US" sz="2000" b="1">
                    <a:solidFill>
                      <a:srgbClr val="C00000"/>
                    </a:solidFill>
                    <a:latin typeface="黑体" panose="02010609060101010101" pitchFamily="49" charset="-122"/>
                    <a:ea typeface="黑体" panose="02010609060101010101" pitchFamily="49" charset="-122"/>
                  </a:rPr>
                  <a:t>量词公式</a:t>
                </a:r>
                <a:r>
                  <a:rPr lang="zh-CN" altLang="en-US" sz="2000" b="1">
                    <a:solidFill>
                      <a:srgbClr val="002060"/>
                    </a:solidFill>
                    <a:latin typeface="黑体" panose="02010609060101010101" pitchFamily="49" charset="-122"/>
                    <a:ea typeface="黑体" panose="02010609060101010101" pitchFamily="49" charset="-122"/>
                  </a:rPr>
                  <a:t>：</a:t>
                </a:r>
                <a14:m>
                  <m:oMath xmlns:m="http://schemas.openxmlformats.org/officeDocument/2006/math">
                    <m:r>
                      <a:rPr lang="en-US" altLang="zh-CN" sz="2000" b="1" i="1" smtClean="0">
                        <a:solidFill>
                          <a:srgbClr val="C00000"/>
                        </a:solidFill>
                        <a:latin typeface="Cambria Math" panose="02040503050406030204" pitchFamily="18" charset="0"/>
                        <a:ea typeface="黑体" panose="02010609060101010101" pitchFamily="49" charset="-122"/>
                      </a:rPr>
                      <m:t>∀</m:t>
                    </m:r>
                    <m:r>
                      <a:rPr lang="en-US" altLang="zh-CN" sz="2000" b="1" i="1" smtClean="0">
                        <a:solidFill>
                          <a:srgbClr val="C00000"/>
                        </a:solidFill>
                        <a:latin typeface="Cambria Math" panose="02040503050406030204" pitchFamily="18" charset="0"/>
                        <a:ea typeface="黑体" panose="02010609060101010101" pitchFamily="49" charset="-122"/>
                      </a:rPr>
                      <m:t>𝒙𝑨</m:t>
                    </m:r>
                    <m:r>
                      <a:rPr lang="en-US" altLang="zh-CN" sz="2000" b="1" i="1" smtClean="0">
                        <a:solidFill>
                          <a:srgbClr val="C00000"/>
                        </a:solidFill>
                        <a:latin typeface="Cambria Math" panose="02040503050406030204" pitchFamily="18" charset="0"/>
                        <a:ea typeface="黑体" panose="02010609060101010101" pitchFamily="49" charset="-122"/>
                      </a:rPr>
                      <m:t>, ∃</m:t>
                    </m:r>
                    <m:r>
                      <a:rPr lang="en-US" altLang="zh-CN" sz="2000" b="1" i="1" smtClean="0">
                        <a:solidFill>
                          <a:srgbClr val="C00000"/>
                        </a:solidFill>
                        <a:latin typeface="Cambria Math" panose="02040503050406030204" pitchFamily="18" charset="0"/>
                        <a:ea typeface="黑体" panose="02010609060101010101" pitchFamily="49" charset="-122"/>
                      </a:rPr>
                      <m:t>𝒙𝑨</m:t>
                    </m:r>
                  </m:oMath>
                </a14:m>
                <a:endParaRPr lang="zh-CN" altLang="en-US" sz="2000" b="1">
                  <a:solidFill>
                    <a:srgbClr val="C00000"/>
                  </a:solidFill>
                  <a:latin typeface="黑体" panose="02010609060101010101" pitchFamily="49" charset="-122"/>
                  <a:ea typeface="黑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b="1">
                    <a:solidFill>
                      <a:srgbClr val="C00000"/>
                    </a:solidFill>
                  </a:rPr>
                  <a:t>一阶逻辑主要研究全称量词和存在量词的性质</a:t>
                </a:r>
                <a:endParaRPr lang="zh-CN" altLang="en-US" b="1">
                  <a:solidFill>
                    <a:schemeClr val="accent6">
                      <a:lumMod val="50000"/>
                    </a:schemeClr>
                  </a:solidFill>
                  <a:latin typeface="等线" panose="02010600030101010101" pitchFamily="2" charset="-122"/>
                  <a:ea typeface="等线" panose="02010600030101010101" pitchFamily="2" charset="-122"/>
                </a:endParaRPr>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每个一阶逻辑公式对应一棵抽象语法树</a:t>
                </a:r>
                <a:endParaRPr lang="zh-CN" altLang="en-US" sz="2000" b="1">
                  <a:solidFill>
                    <a:srgbClr val="002060"/>
                  </a:solidFill>
                  <a:latin typeface="楷体" panose="02010609060101010101" pitchFamily="49" charset="-122"/>
                  <a:ea typeface="楷体" panose="02010609060101010101" pitchFamily="49" charset="-122"/>
                </a:endParaRPr>
              </a:p>
              <a:p>
                <a:pPr marL="800100" lvl="1" indent="-342900">
                  <a:lnSpc>
                    <a:spcPts val="25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叶子节点是谓词作用于项的原子公式，内部节点对应构造公式的逻辑运算符和作用于个体变量的量词符号</a:t>
                </a:r>
                <a:endParaRPr lang="en-US" altLang="zh-CN" b="1">
                  <a:solidFill>
                    <a:schemeClr val="accent6">
                      <a:lumMod val="50000"/>
                    </a:schemeClr>
                  </a:solidFill>
                  <a:latin typeface="等线" panose="02010600030101010101" pitchFamily="2" charset="-122"/>
                  <a:ea typeface="等线" panose="02010600030101010101" pitchFamily="2" charset="-122"/>
                </a:endParaRPr>
              </a:p>
              <a:p>
                <a:pPr marL="1257300" lvl="2" indent="-342900">
                  <a:lnSpc>
                    <a:spcPts val="25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为简便起见，一阶逻辑公式的抽象语法树不给出其中项的构造</a:t>
                </a:r>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967110" y="2076231"/>
                <a:ext cx="9766054" cy="3909853"/>
              </a:xfrm>
              <a:prstGeom prst="rect">
                <a:avLst/>
              </a:prstGeom>
              <a:blipFill rotWithShape="1">
                <a:blip r:embed="rId1"/>
                <a:stretch>
                  <a:fillRect t="-11" r="4" b="-58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圆角 13"/>
              <p:cNvSpPr/>
              <p:nvPr/>
            </p:nvSpPr>
            <p:spPr>
              <a:xfrm>
                <a:off x="956372" y="1374697"/>
                <a:ext cx="984221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在给定非逻辑符号集</a:t>
                </a:r>
                <a14:m>
                  <m:oMath xmlns:m="http://schemas.openxmlformats.org/officeDocument/2006/math">
                    <m:r>
                      <a:rPr lang="zh-CN" altLang="en-US" sz="2400" b="1" i="1" smtClean="0">
                        <a:solidFill>
                          <a:schemeClr val="accent2">
                            <a:lumMod val="50000"/>
                          </a:schemeClr>
                        </a:solidFill>
                        <a:latin typeface="Cambria Math" panose="02040503050406030204" pitchFamily="18" charset="0"/>
                      </a:rPr>
                      <m:t>𝓛</m:t>
                    </m:r>
                  </m:oMath>
                </a14:m>
                <a:r>
                  <a:rPr lang="zh-CN" altLang="en-US" sz="2400" b="1">
                    <a:solidFill>
                      <a:schemeClr val="accent2">
                        <a:lumMod val="50000"/>
                      </a:schemeClr>
                    </a:solidFill>
                  </a:rPr>
                  <a:t>和个体变量集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𝑽</m:t>
                    </m:r>
                  </m:oMath>
                </a14:m>
                <a:r>
                  <a:rPr lang="zh-CN" altLang="en-US" sz="2400" b="1">
                    <a:solidFill>
                      <a:schemeClr val="accent2">
                        <a:lumMod val="50000"/>
                      </a:schemeClr>
                    </a:solidFill>
                  </a:rPr>
                  <a:t>的基础上归纳定义一阶逻辑公式集</a:t>
                </a:r>
                <a:endParaRPr lang="zh-CN" altLang="en-US" sz="2400" b="1" dirty="0">
                  <a:solidFill>
                    <a:schemeClr val="accent2">
                      <a:lumMod val="50000"/>
                    </a:schemeClr>
                  </a:solidFill>
                </a:endParaRPr>
              </a:p>
            </p:txBody>
          </p:sp>
        </mc:Choice>
        <mc:Fallback>
          <p:sp>
            <p:nvSpPr>
              <p:cNvPr id="14" name="矩形: 圆角 13"/>
              <p:cNvSpPr>
                <a:spLocks noRot="1" noChangeAspect="1" noMove="1" noResize="1" noEditPoints="1" noAdjustHandles="1" noChangeArrowheads="1" noChangeShapeType="1" noTextEdit="1"/>
              </p:cNvSpPr>
              <p:nvPr/>
            </p:nvSpPr>
            <p:spPr>
              <a:xfrm>
                <a:off x="956372" y="1374697"/>
                <a:ext cx="9842213" cy="459280"/>
              </a:xfrm>
              <a:prstGeom prst="roundRect">
                <a:avLst/>
              </a:prstGeom>
              <a:blipFill rotWithShape="1">
                <a:blip r:embed="rId2"/>
                <a:stretch>
                  <a:fillRect l="-65" t="-1504" r="-60" b="-136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一阶逻辑公式的归纳定义*</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956372" y="2396202"/>
                <a:ext cx="9379758" cy="1450910"/>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spcAft>
                    <a:spcPts val="600"/>
                  </a:spcAft>
                </a:pPr>
                <a:r>
                  <a:rPr lang="zh-CN" altLang="en-US" sz="2400" b="1">
                    <a:solidFill>
                      <a:schemeClr val="accent2">
                        <a:lumMod val="50000"/>
                      </a:schemeClr>
                    </a:solidFill>
                  </a:rPr>
                  <a:t>一阶逻辑公式中</a:t>
                </a:r>
                <a:r>
                  <a:rPr lang="zh-CN" altLang="en-US" sz="2400" b="1">
                    <a:solidFill>
                      <a:srgbClr val="C00000"/>
                    </a:solidFill>
                  </a:rPr>
                  <a:t>项</a:t>
                </a:r>
                <a:r>
                  <a:rPr lang="zh-CN" altLang="en-US" sz="2400" b="1">
                    <a:solidFill>
                      <a:schemeClr val="accent2">
                        <a:lumMod val="50000"/>
                      </a:schemeClr>
                    </a:solidFill>
                  </a:rPr>
                  <a:t>的归纳定义</a:t>
                </a:r>
                <a:endParaRPr lang="en-US" altLang="zh-CN" sz="2400" b="1">
                  <a:solidFill>
                    <a:schemeClr val="accent2">
                      <a:lumMod val="50000"/>
                    </a:schemeClr>
                  </a:solidFill>
                </a:endParaRPr>
              </a:p>
              <a:p>
                <a:pPr marL="285750" indent="-285750">
                  <a:lnSpc>
                    <a:spcPts val="2800"/>
                  </a:lnSpc>
                  <a:spcBef>
                    <a:spcPts val="600"/>
                  </a:spcBef>
                  <a:spcAft>
                    <a:spcPts val="600"/>
                  </a:spcAft>
                  <a:buFont typeface="Arial" panose="020B0604020202020204" pitchFamily="34" charset="0"/>
                  <a:buChar char="•"/>
                </a:pPr>
                <a:r>
                  <a:rPr lang="zh-CN" altLang="en-US" sz="2000" b="1">
                    <a:solidFill>
                      <a:srgbClr val="C00000"/>
                    </a:solidFill>
                  </a:rPr>
                  <a:t>归纳基</a:t>
                </a:r>
                <a:r>
                  <a:rPr lang="zh-CN" altLang="en-US" sz="2000" b="1"/>
                  <a:t>：</a:t>
                </a:r>
                <a14:m>
                  <m:oMath xmlns:m="http://schemas.openxmlformats.org/officeDocument/2006/math">
                    <m:r>
                      <a:rPr lang="en-US" altLang="zh-CN" sz="2000" b="1" i="1" smtClean="0">
                        <a:solidFill>
                          <a:srgbClr val="002060"/>
                        </a:solidFill>
                        <a:latin typeface="Cambria Math" panose="02040503050406030204" pitchFamily="18" charset="0"/>
                        <a:ea typeface="Cambria Math" panose="02040503050406030204" pitchFamily="18" charset="0"/>
                      </a:rPr>
                      <m:t>𝓛</m:t>
                    </m:r>
                  </m:oMath>
                </a14:m>
                <a:r>
                  <a:rPr lang="zh-CN" altLang="en-US" sz="2000" b="1">
                    <a:solidFill>
                      <a:srgbClr val="002060"/>
                    </a:solidFill>
                    <a:latin typeface="楷体" panose="02010609060101010101" pitchFamily="49" charset="-122"/>
                    <a:ea typeface="楷体" panose="02010609060101010101" pitchFamily="49" charset="-122"/>
                  </a:rPr>
                  <a:t>的任意个体常量</a:t>
                </a:r>
                <a14:m>
                  <m:oMath xmlns:m="http://schemas.openxmlformats.org/officeDocument/2006/math">
                    <m:r>
                      <a:rPr lang="en-US" altLang="zh-CN" sz="2000" b="1" i="1" smtClean="0">
                        <a:solidFill>
                          <a:srgbClr val="002060"/>
                        </a:solidFill>
                        <a:latin typeface="Cambria Math" panose="02040503050406030204" pitchFamily="18" charset="0"/>
                      </a:rPr>
                      <m:t>𝒄</m:t>
                    </m:r>
                  </m:oMath>
                </a14:m>
                <a:r>
                  <a:rPr lang="zh-CN" altLang="en-US" sz="2000" b="1">
                    <a:solidFill>
                      <a:srgbClr val="002060"/>
                    </a:solidFill>
                    <a:latin typeface="楷体" panose="02010609060101010101" pitchFamily="49" charset="-122"/>
                    <a:ea typeface="楷体" panose="02010609060101010101" pitchFamily="49" charset="-122"/>
                  </a:rPr>
                  <a:t>都是项；</a:t>
                </a:r>
                <a14:m>
                  <m:oMath xmlns:m="http://schemas.openxmlformats.org/officeDocument/2006/math">
                    <m:r>
                      <a:rPr lang="en-US" altLang="zh-CN" sz="2000" b="1" i="1" smtClean="0">
                        <a:solidFill>
                          <a:srgbClr val="002060"/>
                        </a:solidFill>
                        <a:latin typeface="Cambria Math" panose="02040503050406030204" pitchFamily="18" charset="0"/>
                      </a:rPr>
                      <m:t>𝑽</m:t>
                    </m:r>
                  </m:oMath>
                </a14:m>
                <a:r>
                  <a:rPr lang="zh-CN" altLang="en-US" sz="2000" b="1">
                    <a:solidFill>
                      <a:srgbClr val="002060"/>
                    </a:solidFill>
                    <a:latin typeface="楷体" panose="02010609060101010101" pitchFamily="49" charset="-122"/>
                    <a:ea typeface="楷体" panose="02010609060101010101" pitchFamily="49" charset="-122"/>
                  </a:rPr>
                  <a:t>的任意个体变量</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也是项</a:t>
                </a:r>
                <a:endParaRPr lang="zh-CN" altLang="en-US" sz="2000" b="1">
                  <a:solidFill>
                    <a:srgbClr val="002060"/>
                  </a:solidFill>
                  <a:latin typeface="楷体" panose="02010609060101010101" pitchFamily="49" charset="-122"/>
                  <a:ea typeface="楷体" panose="02010609060101010101" pitchFamily="49" charset="-122"/>
                </a:endParaRPr>
              </a:p>
              <a:p>
                <a:pPr marL="285750" indent="-285750">
                  <a:lnSpc>
                    <a:spcPts val="2800"/>
                  </a:lnSpc>
                  <a:spcBef>
                    <a:spcPts val="600"/>
                  </a:spcBef>
                  <a:spcAft>
                    <a:spcPts val="600"/>
                  </a:spcAft>
                  <a:buFont typeface="Arial" panose="020B0604020202020204" pitchFamily="34" charset="0"/>
                  <a:buChar char="•"/>
                </a:pPr>
                <a:r>
                  <a:rPr lang="zh-CN" altLang="en-US" sz="2000" b="1">
                    <a:solidFill>
                      <a:srgbClr val="C00000"/>
                    </a:solidFill>
                  </a:rPr>
                  <a:t>归纳步</a:t>
                </a:r>
                <a:r>
                  <a:rPr lang="zh-CN" altLang="en-US" sz="2000" b="1"/>
                  <a:t>：</a:t>
                </a:r>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𝓛</m:t>
                    </m:r>
                  </m:oMath>
                </a14:m>
                <a:r>
                  <a:rPr lang="zh-CN" altLang="en-US" sz="2000" b="1">
                    <a:solidFill>
                      <a:srgbClr val="002060"/>
                    </a:solidFill>
                    <a:latin typeface="楷体" panose="02010609060101010101" pitchFamily="49" charset="-122"/>
                    <a:ea typeface="楷体" panose="02010609060101010101" pitchFamily="49" charset="-122"/>
                  </a:rPr>
                  <a:t>的任意</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元函数</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𝒇</m:t>
                    </m:r>
                  </m:oMath>
                </a14:m>
                <a:r>
                  <a:rPr lang="zh-CN" altLang="en-US" sz="2000" b="1">
                    <a:solidFill>
                      <a:srgbClr val="002060"/>
                    </a:solidFill>
                    <a:latin typeface="楷体" panose="02010609060101010101" pitchFamily="49" charset="-122"/>
                    <a:ea typeface="楷体" panose="02010609060101010101" pitchFamily="49" charset="-122"/>
                  </a:rPr>
                  <a:t>，如果</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𝒕</m:t>
                        </m:r>
                      </m:e>
                      <m:sub>
                        <m:r>
                          <a:rPr lang="en-US" altLang="zh-CN" sz="2000" b="1">
                            <a:solidFill>
                              <a:srgbClr val="002060"/>
                            </a:solidFill>
                            <a:latin typeface="Cambria Math" panose="02040503050406030204" pitchFamily="18" charset="0"/>
                            <a:ea typeface="楷体" panose="02010609060101010101" pitchFamily="49" charset="-122"/>
                          </a:rPr>
                          <m:t>𝟏</m:t>
                        </m:r>
                      </m:sub>
                    </m:sSub>
                    <m:r>
                      <a:rPr lang="en-US" altLang="zh-CN" sz="2000" b="1">
                        <a:solidFill>
                          <a:srgbClr val="002060"/>
                        </a:solidFill>
                        <a:latin typeface="Cambria Math" panose="02040503050406030204" pitchFamily="18" charset="0"/>
                        <a:ea typeface="楷体" panose="02010609060101010101" pitchFamily="49" charset="-122"/>
                      </a:rPr>
                      <m:t>,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𝒕</m:t>
                        </m:r>
                      </m:e>
                      <m:sub>
                        <m:r>
                          <a:rPr lang="en-US" altLang="zh-CN" sz="2000" b="1">
                            <a:solidFill>
                              <a:srgbClr val="002060"/>
                            </a:solidFill>
                            <a:latin typeface="Cambria Math" panose="02040503050406030204" pitchFamily="18" charset="0"/>
                            <a:ea typeface="楷体" panose="02010609060101010101" pitchFamily="49" charset="-122"/>
                          </a:rPr>
                          <m:t>𝟐</m:t>
                        </m:r>
                      </m:sub>
                    </m:sSub>
                    <m:r>
                      <a:rPr lang="en-US" altLang="zh-CN" sz="2000" b="1">
                        <a:solidFill>
                          <a:srgbClr val="002060"/>
                        </a:solidFill>
                        <a:latin typeface="Cambria Math" panose="02040503050406030204" pitchFamily="18" charset="0"/>
                        <a:ea typeface="楷体" panose="02010609060101010101" pitchFamily="49" charset="-122"/>
                      </a:rPr>
                      <m:t>, ⋯,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𝒕</m:t>
                        </m:r>
                      </m:e>
                      <m:sub>
                        <m:r>
                          <a:rPr lang="en-US" altLang="zh-CN" sz="2000" b="1">
                            <a:solidFill>
                              <a:srgbClr val="002060"/>
                            </a:solidFill>
                            <a:latin typeface="Cambria Math" panose="02040503050406030204" pitchFamily="18" charset="0"/>
                            <a:ea typeface="楷体" panose="02010609060101010101" pitchFamily="49" charset="-122"/>
                          </a:rPr>
                          <m:t>𝒏</m:t>
                        </m:r>
                      </m:sub>
                    </m:sSub>
                  </m:oMath>
                </a14:m>
                <a:r>
                  <a:rPr lang="zh-CN" altLang="en-US" sz="2000" b="1">
                    <a:solidFill>
                      <a:srgbClr val="002060"/>
                    </a:solidFill>
                    <a:latin typeface="楷体" panose="02010609060101010101" pitchFamily="49" charset="-122"/>
                    <a:ea typeface="楷体" panose="02010609060101010101" pitchFamily="49" charset="-122"/>
                  </a:rPr>
                  <a:t>是项，则</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𝒇</m:t>
                    </m:r>
                    <m:d>
                      <m:dPr>
                        <m:ctrlPr>
                          <a:rPr lang="en-US" altLang="zh-CN" sz="2000" b="1" i="1">
                            <a:solidFill>
                              <a:srgbClr val="002060"/>
                            </a:solidFill>
                            <a:latin typeface="Cambria Math" panose="02040503050406030204" pitchFamily="18" charset="0"/>
                            <a:ea typeface="楷体" panose="02010609060101010101" pitchFamily="49" charset="-122"/>
                          </a:rPr>
                        </m:ctrlPr>
                      </m:dPr>
                      <m:e>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𝒕</m:t>
                            </m:r>
                          </m:e>
                          <m:sub>
                            <m:r>
                              <a:rPr lang="en-US" altLang="zh-CN" sz="2000" b="1">
                                <a:solidFill>
                                  <a:srgbClr val="002060"/>
                                </a:solidFill>
                                <a:latin typeface="Cambria Math" panose="02040503050406030204" pitchFamily="18" charset="0"/>
                                <a:ea typeface="楷体" panose="02010609060101010101" pitchFamily="49" charset="-122"/>
                              </a:rPr>
                              <m:t>𝟏</m:t>
                            </m:r>
                          </m:sub>
                        </m:sSub>
                        <m:r>
                          <a:rPr lang="en-US" altLang="zh-CN" sz="2000" b="1">
                            <a:solidFill>
                              <a:srgbClr val="002060"/>
                            </a:solidFill>
                            <a:latin typeface="Cambria Math" panose="02040503050406030204" pitchFamily="18" charset="0"/>
                            <a:ea typeface="楷体" panose="02010609060101010101" pitchFamily="49" charset="-122"/>
                          </a:rPr>
                          <m:t>,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𝒕</m:t>
                            </m:r>
                          </m:e>
                          <m:sub>
                            <m:r>
                              <a:rPr lang="en-US" altLang="zh-CN" sz="2000" b="1">
                                <a:solidFill>
                                  <a:srgbClr val="002060"/>
                                </a:solidFill>
                                <a:latin typeface="Cambria Math" panose="02040503050406030204" pitchFamily="18" charset="0"/>
                                <a:ea typeface="楷体" panose="02010609060101010101" pitchFamily="49" charset="-122"/>
                              </a:rPr>
                              <m:t>𝟐</m:t>
                            </m:r>
                          </m:sub>
                        </m:sSub>
                        <m:r>
                          <a:rPr lang="en-US" altLang="zh-CN" sz="2000" b="1">
                            <a:solidFill>
                              <a:srgbClr val="002060"/>
                            </a:solidFill>
                            <a:latin typeface="Cambria Math" panose="02040503050406030204" pitchFamily="18" charset="0"/>
                            <a:ea typeface="楷体" panose="02010609060101010101" pitchFamily="49" charset="-122"/>
                          </a:rPr>
                          <m:t>, ⋯,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a:solidFill>
                                  <a:srgbClr val="002060"/>
                                </a:solidFill>
                                <a:latin typeface="Cambria Math" panose="02040503050406030204" pitchFamily="18" charset="0"/>
                                <a:ea typeface="楷体" panose="02010609060101010101" pitchFamily="49" charset="-122"/>
                              </a:rPr>
                              <m:t>𝒕</m:t>
                            </m:r>
                          </m:e>
                          <m:sub>
                            <m:r>
                              <a:rPr lang="en-US" altLang="zh-CN" sz="2000" b="1">
                                <a:solidFill>
                                  <a:srgbClr val="002060"/>
                                </a:solidFill>
                                <a:latin typeface="Cambria Math" panose="02040503050406030204" pitchFamily="18" charset="0"/>
                                <a:ea typeface="楷体" panose="02010609060101010101" pitchFamily="49" charset="-122"/>
                              </a:rPr>
                              <m:t>𝒏</m:t>
                            </m:r>
                          </m:sub>
                        </m:sSub>
                      </m:e>
                    </m:d>
                  </m:oMath>
                </a14:m>
                <a:r>
                  <a:rPr lang="zh-CN" altLang="en-US" sz="2000" b="1">
                    <a:solidFill>
                      <a:srgbClr val="002060"/>
                    </a:solidFill>
                    <a:latin typeface="楷体" panose="02010609060101010101" pitchFamily="49" charset="-122"/>
                    <a:ea typeface="楷体" panose="02010609060101010101" pitchFamily="49" charset="-122"/>
                  </a:rPr>
                  <a:t>也是项</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956372" y="2396202"/>
                <a:ext cx="9379758" cy="1450910"/>
              </a:xfrm>
              <a:prstGeom prst="rect">
                <a:avLst/>
              </a:prstGeom>
              <a:blipFill rotWithShape="1">
                <a:blip r:embed="rId1"/>
                <a:stretch>
                  <a:fillRect l="-1" t="-24" r="3"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956372" y="4263416"/>
                <a:ext cx="10008307" cy="1288238"/>
              </a:xfrm>
              <a:prstGeom prst="rect">
                <a:avLst/>
              </a:prstGeom>
              <a:solidFill>
                <a:schemeClr val="accent6">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chemeClr val="accent6">
                        <a:lumMod val="50000"/>
                      </a:schemeClr>
                    </a:solidFill>
                  </a:rPr>
                  <a:t>假定</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𝑽</m:t>
                    </m:r>
                    <m:r>
                      <a:rPr lang="en-US" altLang="zh-CN" sz="2000" b="1" i="1" smtClean="0">
                        <a:solidFill>
                          <a:schemeClr val="accent6">
                            <a:lumMod val="50000"/>
                          </a:schemeClr>
                        </a:solidFill>
                        <a:latin typeface="Cambria Math" panose="02040503050406030204" pitchFamily="18" charset="0"/>
                      </a:rPr>
                      <m:t> = </m:t>
                    </m:r>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𝒛</m:t>
                        </m:r>
                      </m:e>
                    </m:d>
                  </m:oMath>
                </a14:m>
                <a:r>
                  <a:rPr lang="zh-CN" altLang="en-US" sz="2000" b="1">
                    <a:solidFill>
                      <a:schemeClr val="accent6">
                        <a:lumMod val="50000"/>
                      </a:schemeClr>
                    </a:solidFill>
                  </a:rPr>
                  <a:t>，</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Cambria Math" panose="02040503050406030204" pitchFamily="18" charset="0"/>
                      </a:rPr>
                      <m:t>𝓛</m:t>
                    </m:r>
                  </m:oMath>
                </a14:m>
                <a:r>
                  <a:rPr lang="zh-CN" altLang="en-US" sz="2000" b="1">
                    <a:solidFill>
                      <a:schemeClr val="accent6">
                        <a:lumMod val="50000"/>
                      </a:schemeClr>
                    </a:solidFill>
                  </a:rPr>
                  <a:t>有个体常量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𝒂</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𝒃</m:t>
                    </m:r>
                  </m:oMath>
                </a14:m>
                <a:r>
                  <a:rPr lang="zh-CN" altLang="en-US" sz="2000" b="1">
                    <a:solidFill>
                      <a:schemeClr val="accent6">
                        <a:lumMod val="50000"/>
                      </a:schemeClr>
                    </a:solidFill>
                  </a:rPr>
                  <a:t>，一元</a:t>
                </a:r>
                <a:r>
                  <a:rPr lang="zh-CN" altLang="en-US" sz="2000" b="1" i="0">
                    <a:solidFill>
                      <a:schemeClr val="accent6">
                        <a:lumMod val="50000"/>
                      </a:schemeClr>
                    </a:solidFill>
                    <a:latin typeface="+mj-lt"/>
                  </a:rPr>
                  <a:t>谓词符号</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𝑭</m:t>
                    </m:r>
                    <m:r>
                      <a:rPr lang="en-US" altLang="zh-CN" sz="2000" b="1" i="1" smtClean="0">
                        <a:solidFill>
                          <a:schemeClr val="accent6">
                            <a:lumMod val="50000"/>
                          </a:schemeClr>
                        </a:solidFill>
                        <a:latin typeface="Cambria Math" panose="02040503050406030204" pitchFamily="18" charset="0"/>
                      </a:rPr>
                      <m:t>, </m:t>
                    </m:r>
                  </m:oMath>
                </a14:m>
                <a:r>
                  <a:rPr lang="zh-CN" altLang="en-US" sz="2000" b="1" i="0">
                    <a:solidFill>
                      <a:schemeClr val="accent6">
                        <a:lumMod val="50000"/>
                      </a:schemeClr>
                    </a:solidFill>
                    <a:latin typeface="+mj-lt"/>
                  </a:rPr>
                  <a:t>二元谓词符号</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oMath>
                </a14:m>
                <a:r>
                  <a:rPr lang="zh-CN" altLang="en-US" sz="2000" b="1">
                    <a:solidFill>
                      <a:schemeClr val="accent6">
                        <a:lumMod val="50000"/>
                      </a:schemeClr>
                    </a:solidFill>
                  </a:rPr>
                  <a:t>，一元函数符号</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𝒇</m:t>
                    </m:r>
                    <m:r>
                      <a:rPr lang="en-US" altLang="zh-CN" sz="2000" b="1" i="1" smtClean="0">
                        <a:solidFill>
                          <a:schemeClr val="accent6">
                            <a:lumMod val="50000"/>
                          </a:schemeClr>
                        </a:solidFill>
                        <a:latin typeface="Cambria Math" panose="02040503050406030204" pitchFamily="18" charset="0"/>
                      </a:rPr>
                      <m:t>, </m:t>
                    </m:r>
                  </m:oMath>
                </a14:m>
                <a:r>
                  <a:rPr lang="zh-CN" altLang="en-US" sz="2000" b="1" i="0">
                    <a:solidFill>
                      <a:schemeClr val="accent6">
                        <a:lumMod val="50000"/>
                      </a:schemeClr>
                    </a:solidFill>
                    <a:latin typeface="+mj-lt"/>
                  </a:rPr>
                  <a:t>二元函数符号</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𝒈</m:t>
                    </m:r>
                  </m:oMath>
                </a14:m>
                <a:endParaRPr lang="en-US" altLang="zh-CN" sz="2000" b="1">
                  <a:solidFill>
                    <a:schemeClr val="accent6">
                      <a:lumMod val="50000"/>
                    </a:schemeClr>
                  </a:solidFill>
                </a:endParaRPr>
              </a:p>
              <a:p>
                <a:pPr marL="285750" indent="-285750">
                  <a:lnSpc>
                    <a:spcPts val="2800"/>
                  </a:lnSpc>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𝒇</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𝒛</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𝒈</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m:t>
                    </m:r>
                  </m:oMath>
                </a14:m>
                <a:r>
                  <a:rPr lang="zh-CN" altLang="en-US" sz="2000" b="1" i="0">
                    <a:solidFill>
                      <a:srgbClr val="002060"/>
                    </a:solidFill>
                    <a:latin typeface="楷体" panose="02010609060101010101" pitchFamily="49" charset="-122"/>
                    <a:ea typeface="楷体" panose="02010609060101010101" pitchFamily="49" charset="-122"/>
                  </a:rPr>
                  <a:t>等是</a:t>
                </a:r>
                <a:r>
                  <a:rPr lang="zh-CN" altLang="en-US" sz="2000" b="1" i="0">
                    <a:solidFill>
                      <a:srgbClr val="C00000"/>
                    </a:solidFill>
                    <a:latin typeface="楷体" panose="02010609060101010101" pitchFamily="49" charset="-122"/>
                    <a:ea typeface="楷体" panose="02010609060101010101" pitchFamily="49" charset="-122"/>
                  </a:rPr>
                  <a:t>项</a:t>
                </a:r>
                <a:endParaRPr lang="zh-CN" altLang="en-US" sz="2000" b="1">
                  <a:solidFill>
                    <a:srgbClr val="C00000"/>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956372" y="4263416"/>
                <a:ext cx="10008307" cy="1288238"/>
              </a:xfrm>
              <a:prstGeom prst="rect">
                <a:avLst/>
              </a:prstGeom>
              <a:blipFill rotWithShape="1">
                <a:blip r:embed="rId2"/>
                <a:stretch>
                  <a:fillRect l="-1" t="-2" r="1"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圆角 19"/>
              <p:cNvSpPr/>
              <p:nvPr/>
            </p:nvSpPr>
            <p:spPr>
              <a:xfrm>
                <a:off x="956372" y="1374697"/>
                <a:ext cx="984221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在给定非逻辑符号集</a:t>
                </a:r>
                <a14:m>
                  <m:oMath xmlns:m="http://schemas.openxmlformats.org/officeDocument/2006/math">
                    <m:r>
                      <a:rPr lang="zh-CN" altLang="en-US" sz="2400" b="1" i="1" smtClean="0">
                        <a:solidFill>
                          <a:schemeClr val="accent2">
                            <a:lumMod val="50000"/>
                          </a:schemeClr>
                        </a:solidFill>
                        <a:latin typeface="Cambria Math" panose="02040503050406030204" pitchFamily="18" charset="0"/>
                      </a:rPr>
                      <m:t>𝓛</m:t>
                    </m:r>
                  </m:oMath>
                </a14:m>
                <a:r>
                  <a:rPr lang="zh-CN" altLang="en-US" sz="2400" b="1">
                    <a:solidFill>
                      <a:schemeClr val="accent2">
                        <a:lumMod val="50000"/>
                      </a:schemeClr>
                    </a:solidFill>
                  </a:rPr>
                  <a:t>和个体变量集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𝑽</m:t>
                    </m:r>
                  </m:oMath>
                </a14:m>
                <a:r>
                  <a:rPr lang="zh-CN" altLang="en-US" sz="2400" b="1">
                    <a:solidFill>
                      <a:schemeClr val="accent2">
                        <a:lumMod val="50000"/>
                      </a:schemeClr>
                    </a:solidFill>
                  </a:rPr>
                  <a:t>的基础上归纳定义一阶逻辑公式集</a:t>
                </a:r>
                <a:endParaRPr lang="zh-CN" altLang="en-US" sz="2400" b="1" dirty="0">
                  <a:solidFill>
                    <a:schemeClr val="accent2">
                      <a:lumMod val="50000"/>
                    </a:schemeClr>
                  </a:solidFill>
                </a:endParaRPr>
              </a:p>
            </p:txBody>
          </p:sp>
        </mc:Choice>
        <mc:Fallback>
          <p:sp>
            <p:nvSpPr>
              <p:cNvPr id="20" name="矩形: 圆角 19"/>
              <p:cNvSpPr>
                <a:spLocks noRot="1" noChangeAspect="1" noMove="1" noResize="1" noEditPoints="1" noAdjustHandles="1" noChangeArrowheads="1" noChangeShapeType="1" noTextEdit="1"/>
              </p:cNvSpPr>
              <p:nvPr/>
            </p:nvSpPr>
            <p:spPr>
              <a:xfrm>
                <a:off x="956372" y="1374697"/>
                <a:ext cx="9842213" cy="459280"/>
              </a:xfrm>
              <a:prstGeom prst="roundRect">
                <a:avLst/>
              </a:prstGeom>
              <a:blipFill rotWithShape="1">
                <a:blip r:embed="rId3"/>
                <a:stretch>
                  <a:fillRect l="-65" t="-1504" r="-60" b="-1361"/>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一阶逻辑公式的归纳定义*</a:t>
            </a:r>
            <a:endParaRPr lang="zh-CN" altLang="en-US"/>
          </a:p>
        </p:txBody>
      </p:sp>
      <mc:AlternateContent xmlns:mc="http://schemas.openxmlformats.org/markup-compatibility/2006">
        <mc:Choice xmlns:a14="http://schemas.microsoft.com/office/drawing/2010/main" Requires="a14">
          <p:sp>
            <p:nvSpPr>
              <p:cNvPr id="11" name="矩形: 圆角 10"/>
              <p:cNvSpPr/>
              <p:nvPr/>
            </p:nvSpPr>
            <p:spPr>
              <a:xfrm>
                <a:off x="955937" y="1228093"/>
                <a:ext cx="984221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在给定非逻辑符号集</a:t>
                </a:r>
                <a14:m>
                  <m:oMath xmlns:m="http://schemas.openxmlformats.org/officeDocument/2006/math">
                    <m:r>
                      <a:rPr lang="zh-CN" altLang="en-US" sz="2400" b="1" i="1" smtClean="0">
                        <a:solidFill>
                          <a:schemeClr val="accent2">
                            <a:lumMod val="50000"/>
                          </a:schemeClr>
                        </a:solidFill>
                        <a:latin typeface="Cambria Math" panose="02040503050406030204" pitchFamily="18" charset="0"/>
                      </a:rPr>
                      <m:t>𝓛</m:t>
                    </m:r>
                  </m:oMath>
                </a14:m>
                <a:r>
                  <a:rPr lang="zh-CN" altLang="en-US" sz="2400" b="1">
                    <a:solidFill>
                      <a:schemeClr val="accent2">
                        <a:lumMod val="50000"/>
                      </a:schemeClr>
                    </a:solidFill>
                  </a:rPr>
                  <a:t>和个体变量集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𝑽</m:t>
                    </m:r>
                  </m:oMath>
                </a14:m>
                <a:r>
                  <a:rPr lang="zh-CN" altLang="en-US" sz="2400" b="1">
                    <a:solidFill>
                      <a:schemeClr val="accent2">
                        <a:lumMod val="50000"/>
                      </a:schemeClr>
                    </a:solidFill>
                  </a:rPr>
                  <a:t>的基础上归纳定义一阶逻辑公式集</a:t>
                </a:r>
                <a:endParaRPr lang="zh-CN" altLang="en-US" sz="2400" b="1" dirty="0">
                  <a:solidFill>
                    <a:schemeClr val="accent2">
                      <a:lumMod val="50000"/>
                    </a:schemeClr>
                  </a:solidFill>
                </a:endParaRPr>
              </a:p>
            </p:txBody>
          </p:sp>
        </mc:Choice>
        <mc:Fallback>
          <p:sp>
            <p:nvSpPr>
              <p:cNvPr id="11" name="矩形: 圆角 10"/>
              <p:cNvSpPr>
                <a:spLocks noRot="1" noChangeAspect="1" noMove="1" noResize="1" noEditPoints="1" noAdjustHandles="1" noChangeArrowheads="1" noChangeShapeType="1" noTextEdit="1"/>
              </p:cNvSpPr>
              <p:nvPr/>
            </p:nvSpPr>
            <p:spPr>
              <a:xfrm>
                <a:off x="955937" y="1228093"/>
                <a:ext cx="9842213" cy="459280"/>
              </a:xfrm>
              <a:prstGeom prst="roundRect">
                <a:avLst/>
              </a:prstGeom>
              <a:blipFill rotWithShape="1">
                <a:blip r:embed="rId1"/>
                <a:stretch>
                  <a:fillRect l="-67" t="-1383" r="-58" b="-134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955937" y="1844501"/>
                <a:ext cx="9900197" cy="341119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一阶逻辑公式</a:t>
                </a:r>
                <a:r>
                  <a:rPr lang="zh-CN" altLang="en-US" sz="2400" b="1">
                    <a:solidFill>
                      <a:schemeClr val="accent2">
                        <a:lumMod val="50000"/>
                      </a:schemeClr>
                    </a:solidFill>
                  </a:rPr>
                  <a:t>的归纳定义</a:t>
                </a:r>
                <a:endParaRPr lang="en-US" altLang="zh-CN" sz="2400" b="1">
                  <a:solidFill>
                    <a:schemeClr val="accent2">
                      <a:lumMod val="50000"/>
                    </a:schemeClr>
                  </a:solidFill>
                </a:endParaRPr>
              </a:p>
              <a:p>
                <a:pPr marL="285750" indent="-285750">
                  <a:lnSpc>
                    <a:spcPts val="2400"/>
                  </a:lnSpc>
                  <a:spcBef>
                    <a:spcPts val="600"/>
                  </a:spcBef>
                  <a:spcAft>
                    <a:spcPts val="300"/>
                  </a:spcAft>
                  <a:buFont typeface="Arial" panose="020B0604020202020204" pitchFamily="34" charset="0"/>
                  <a:buChar char="•"/>
                </a:pPr>
                <a:r>
                  <a:rPr lang="zh-CN" altLang="en-US" sz="2000" b="1">
                    <a:solidFill>
                      <a:srgbClr val="C00000"/>
                    </a:solidFill>
                  </a:rPr>
                  <a:t>归纳基：</a:t>
                </a:r>
                <a:endParaRPr lang="en-US" altLang="zh-CN" sz="2000" b="1">
                  <a:solidFill>
                    <a:srgbClr val="C00000"/>
                  </a:solidFill>
                </a:endParaRPr>
              </a:p>
              <a:p>
                <a:pPr marL="742950" lvl="1" indent="-285750">
                  <a:lnSpc>
                    <a:spcPts val="28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𝓛</m:t>
                    </m:r>
                  </m:oMath>
                </a14:m>
                <a:r>
                  <a:rPr lang="zh-CN" altLang="en-US" sz="2000" b="1">
                    <a:solidFill>
                      <a:srgbClr val="002060"/>
                    </a:solidFill>
                    <a:latin typeface="楷体" panose="02010609060101010101" pitchFamily="49" charset="-122"/>
                    <a:ea typeface="楷体" panose="02010609060101010101" pitchFamily="49" charset="-122"/>
                  </a:rPr>
                  <a:t>的任意</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𝒏</m:t>
                    </m:r>
                  </m:oMath>
                </a14:m>
                <a:r>
                  <a:rPr lang="zh-CN" altLang="en-US" sz="2000" b="1">
                    <a:solidFill>
                      <a:srgbClr val="002060"/>
                    </a:solidFill>
                    <a:latin typeface="楷体" panose="02010609060101010101" pitchFamily="49" charset="-122"/>
                    <a:ea typeface="楷体" panose="02010609060101010101" pitchFamily="49" charset="-122"/>
                  </a:rPr>
                  <a:t>元谓词</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𝑭</m:t>
                    </m:r>
                  </m:oMath>
                </a14:m>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𝒕</m:t>
                        </m:r>
                      </m:e>
                      <m:sub>
                        <m:r>
                          <a:rPr lang="en-US" altLang="zh-CN" sz="2000" b="1" i="1">
                            <a:solidFill>
                              <a:srgbClr val="002060"/>
                            </a:solidFill>
                            <a:latin typeface="Cambria Math" panose="02040503050406030204" pitchFamily="18" charset="0"/>
                            <a:ea typeface="楷体" panose="02010609060101010101" pitchFamily="49" charset="-122"/>
                          </a:rPr>
                          <m:t>𝟏</m:t>
                        </m:r>
                      </m:sub>
                    </m:sSub>
                    <m:r>
                      <a:rPr lang="en-US" altLang="zh-CN" sz="2000" b="1">
                        <a:solidFill>
                          <a:srgbClr val="002060"/>
                        </a:solidFill>
                        <a:latin typeface="Cambria Math" panose="02040503050406030204" pitchFamily="18" charset="0"/>
                        <a:ea typeface="楷体" panose="02010609060101010101" pitchFamily="49" charset="-122"/>
                      </a:rPr>
                      <m:t>,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𝒕</m:t>
                        </m:r>
                      </m:e>
                      <m:sub>
                        <m:r>
                          <a:rPr lang="en-US" altLang="zh-CN" sz="2000" b="1" i="1">
                            <a:solidFill>
                              <a:srgbClr val="002060"/>
                            </a:solidFill>
                            <a:latin typeface="Cambria Math" panose="02040503050406030204" pitchFamily="18" charset="0"/>
                            <a:ea typeface="楷体" panose="02010609060101010101" pitchFamily="49" charset="-122"/>
                          </a:rPr>
                          <m:t>𝟐</m:t>
                        </m:r>
                      </m:sub>
                    </m:sSub>
                    <m:r>
                      <a:rPr lang="en-US" altLang="zh-CN" sz="2000" b="1">
                        <a:solidFill>
                          <a:srgbClr val="002060"/>
                        </a:solidFill>
                        <a:latin typeface="Cambria Math" panose="02040503050406030204" pitchFamily="18" charset="0"/>
                        <a:ea typeface="楷体" panose="02010609060101010101" pitchFamily="49" charset="-122"/>
                      </a:rPr>
                      <m:t>, ⋯,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𝒕</m:t>
                        </m:r>
                      </m:e>
                      <m:sub>
                        <m:r>
                          <a:rPr lang="en-US" altLang="zh-CN" sz="2000" b="1" i="1">
                            <a:solidFill>
                              <a:srgbClr val="002060"/>
                            </a:solidFill>
                            <a:latin typeface="Cambria Math" panose="02040503050406030204" pitchFamily="18" charset="0"/>
                            <a:ea typeface="楷体" panose="02010609060101010101" pitchFamily="49" charset="-122"/>
                          </a:rPr>
                          <m:t>𝒏</m:t>
                        </m:r>
                      </m:sub>
                    </m:sSub>
                  </m:oMath>
                </a14:m>
                <a:r>
                  <a:rPr lang="zh-CN" altLang="en-US" sz="2000" b="1">
                    <a:solidFill>
                      <a:srgbClr val="002060"/>
                    </a:solidFill>
                    <a:latin typeface="楷体" panose="02010609060101010101" pitchFamily="49" charset="-122"/>
                    <a:ea typeface="楷体" panose="02010609060101010101" pitchFamily="49" charset="-122"/>
                  </a:rPr>
                  <a:t>是项，则</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𝑭</m:t>
                    </m:r>
                    <m:d>
                      <m:dPr>
                        <m:ctrlPr>
                          <a:rPr lang="en-US" altLang="zh-CN" sz="2000" b="1" i="1">
                            <a:solidFill>
                              <a:srgbClr val="002060"/>
                            </a:solidFill>
                            <a:latin typeface="Cambria Math" panose="02040503050406030204" pitchFamily="18" charset="0"/>
                            <a:ea typeface="楷体" panose="02010609060101010101" pitchFamily="49" charset="-122"/>
                          </a:rPr>
                        </m:ctrlPr>
                      </m:dPr>
                      <m:e>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𝒕</m:t>
                            </m:r>
                          </m:e>
                          <m:sub>
                            <m:r>
                              <a:rPr lang="en-US" altLang="zh-CN" sz="2000" b="1" i="1">
                                <a:solidFill>
                                  <a:srgbClr val="002060"/>
                                </a:solidFill>
                                <a:latin typeface="Cambria Math" panose="02040503050406030204" pitchFamily="18" charset="0"/>
                                <a:ea typeface="楷体" panose="02010609060101010101" pitchFamily="49" charset="-122"/>
                              </a:rPr>
                              <m:t>𝟏</m:t>
                            </m:r>
                          </m:sub>
                        </m:sSub>
                        <m:r>
                          <a:rPr lang="en-US" altLang="zh-CN" sz="2000" b="1">
                            <a:solidFill>
                              <a:srgbClr val="002060"/>
                            </a:solidFill>
                            <a:latin typeface="Cambria Math" panose="02040503050406030204" pitchFamily="18" charset="0"/>
                            <a:ea typeface="楷体" panose="02010609060101010101" pitchFamily="49" charset="-122"/>
                          </a:rPr>
                          <m:t>,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𝒕</m:t>
                            </m:r>
                          </m:e>
                          <m:sub>
                            <m:r>
                              <a:rPr lang="en-US" altLang="zh-CN" sz="2000" b="1" i="1">
                                <a:solidFill>
                                  <a:srgbClr val="002060"/>
                                </a:solidFill>
                                <a:latin typeface="Cambria Math" panose="02040503050406030204" pitchFamily="18" charset="0"/>
                                <a:ea typeface="楷体" panose="02010609060101010101" pitchFamily="49" charset="-122"/>
                              </a:rPr>
                              <m:t>𝟐</m:t>
                            </m:r>
                          </m:sub>
                        </m:sSub>
                        <m:r>
                          <a:rPr lang="en-US" altLang="zh-CN" sz="2000" b="1">
                            <a:solidFill>
                              <a:srgbClr val="002060"/>
                            </a:solidFill>
                            <a:latin typeface="Cambria Math" panose="02040503050406030204" pitchFamily="18" charset="0"/>
                            <a:ea typeface="楷体" panose="02010609060101010101" pitchFamily="49" charset="-122"/>
                          </a:rPr>
                          <m:t>,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𝒕</m:t>
                            </m:r>
                          </m:e>
                          <m:sub>
                            <m:r>
                              <a:rPr lang="en-US" altLang="zh-CN" sz="2000" b="1" i="1">
                                <a:solidFill>
                                  <a:srgbClr val="002060"/>
                                </a:solidFill>
                                <a:latin typeface="Cambria Math" panose="02040503050406030204" pitchFamily="18" charset="0"/>
                                <a:ea typeface="楷体" panose="02010609060101010101" pitchFamily="49" charset="-122"/>
                              </a:rPr>
                              <m:t>𝒏</m:t>
                            </m:r>
                          </m:sub>
                        </m:sSub>
                      </m:e>
                    </m:d>
                  </m:oMath>
                </a14:m>
                <a:r>
                  <a:rPr lang="zh-CN" altLang="en-US" sz="2000" b="1">
                    <a:solidFill>
                      <a:srgbClr val="002060"/>
                    </a:solidFill>
                    <a:latin typeface="楷体" panose="02010609060101010101" pitchFamily="49" charset="-122"/>
                    <a:ea typeface="楷体" panose="02010609060101010101" pitchFamily="49" charset="-122"/>
                  </a:rPr>
                  <a:t>是公式，称为一阶逻辑的</a:t>
                </a:r>
                <a:r>
                  <a:rPr lang="zh-CN" altLang="en-US" sz="2000" b="1">
                    <a:solidFill>
                      <a:srgbClr val="C00000"/>
                    </a:solidFill>
                    <a:latin typeface="黑体" panose="02010609060101010101" pitchFamily="49" charset="-122"/>
                    <a:ea typeface="黑体" panose="02010609060101010101" pitchFamily="49" charset="-122"/>
                  </a:rPr>
                  <a:t>原子公式</a:t>
                </a:r>
                <a:endParaRPr lang="en-US" altLang="zh-CN" sz="2000" b="1">
                  <a:solidFill>
                    <a:srgbClr val="C00000"/>
                  </a:solidFill>
                  <a:latin typeface="黑体" panose="02010609060101010101" pitchFamily="49" charset="-122"/>
                  <a:ea typeface="黑体" panose="02010609060101010101" pitchFamily="49" charset="-122"/>
                </a:endParaRPr>
              </a:p>
              <a:p>
                <a:pPr marL="285750" indent="-285750">
                  <a:lnSpc>
                    <a:spcPts val="2400"/>
                  </a:lnSpc>
                  <a:spcBef>
                    <a:spcPts val="600"/>
                  </a:spcBef>
                  <a:spcAft>
                    <a:spcPts val="300"/>
                  </a:spcAft>
                  <a:buFont typeface="Arial" panose="020B0604020202020204" pitchFamily="34" charset="0"/>
                  <a:buChar char="•"/>
                </a:pPr>
                <a:r>
                  <a:rPr lang="zh-CN" altLang="en-US" sz="2000" b="1">
                    <a:solidFill>
                      <a:srgbClr val="C00000"/>
                    </a:solidFill>
                  </a:rPr>
                  <a:t>归纳步：</a:t>
                </a:r>
                <a:endParaRPr lang="zh-CN" altLang="en-US" sz="2000" b="1">
                  <a:solidFill>
                    <a:srgbClr val="C00000"/>
                  </a:solidFill>
                </a:endParaRPr>
              </a:p>
              <a:p>
                <a:pPr marL="742950" lvl="1" indent="-285750">
                  <a:lnSpc>
                    <a:spcPts val="24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是一阶逻辑公式，则</a:t>
                </a:r>
                <a14:m>
                  <m:oMath xmlns:m="http://schemas.openxmlformats.org/officeDocument/2006/math">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𝑨</m:t>
                        </m:r>
                      </m:e>
                    </m:d>
                  </m:oMath>
                </a14:m>
                <a:r>
                  <a:rPr lang="zh-CN" altLang="en-US" sz="2000" b="1">
                    <a:solidFill>
                      <a:srgbClr val="002060"/>
                    </a:solidFill>
                    <a:latin typeface="楷体" panose="02010609060101010101" pitchFamily="49" charset="-122"/>
                    <a:ea typeface="楷体" panose="02010609060101010101" pitchFamily="49" charset="-122"/>
                  </a:rPr>
                  <a:t>是一阶逻辑公式</a:t>
                </a:r>
                <a:endParaRPr lang="zh-CN" altLang="en-US" sz="2000" b="1">
                  <a:solidFill>
                    <a:srgbClr val="002060"/>
                  </a:solidFill>
                  <a:latin typeface="楷体" panose="02010609060101010101" pitchFamily="49" charset="-122"/>
                  <a:ea typeface="楷体" panose="02010609060101010101" pitchFamily="49" charset="-122"/>
                </a:endParaRPr>
              </a:p>
              <a:p>
                <a:pPr marL="742950" lvl="1" indent="-285750">
                  <a:lnSpc>
                    <a:spcPts val="24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 </m:t>
                    </m:r>
                    <m:r>
                      <a:rPr lang="en-US" altLang="zh-CN" sz="2000" b="1" i="1">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是一阶逻辑公式，则</a:t>
                </a:r>
                <a14:m>
                  <m:oMath xmlns:m="http://schemas.openxmlformats.org/officeDocument/2006/math">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i="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𝑩</m:t>
                        </m:r>
                      </m:e>
                    </m:d>
                    <m:r>
                      <a:rPr lang="en-US" altLang="zh-CN" sz="2000" b="1">
                        <a:solidFill>
                          <a:srgbClr val="002060"/>
                        </a:solidFill>
                        <a:latin typeface="Cambria Math" panose="02040503050406030204" pitchFamily="18" charset="0"/>
                        <a:ea typeface="楷体" panose="02010609060101010101" pitchFamily="49" charset="-122"/>
                      </a:rPr>
                      <m:t>, </m:t>
                    </m:r>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i="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𝑩</m:t>
                        </m:r>
                      </m:e>
                    </m:d>
                    <m:r>
                      <a:rPr lang="en-US" altLang="zh-CN" sz="2000" b="1">
                        <a:solidFill>
                          <a:srgbClr val="002060"/>
                        </a:solidFill>
                        <a:latin typeface="Cambria Math" panose="02040503050406030204" pitchFamily="18" charset="0"/>
                        <a:ea typeface="楷体" panose="02010609060101010101" pitchFamily="49" charset="-122"/>
                      </a:rPr>
                      <m:t>, </m:t>
                    </m:r>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i="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𝑩</m:t>
                        </m:r>
                      </m:e>
                    </m:d>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i="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𝑩</m:t>
                        </m:r>
                      </m:e>
                    </m:d>
                  </m:oMath>
                </a14:m>
                <a:r>
                  <a:rPr lang="zh-CN" altLang="en-US" sz="2000" b="1">
                    <a:solidFill>
                      <a:srgbClr val="002060"/>
                    </a:solidFill>
                    <a:latin typeface="楷体" panose="02010609060101010101" pitchFamily="49" charset="-122"/>
                    <a:ea typeface="楷体" panose="02010609060101010101" pitchFamily="49" charset="-122"/>
                  </a:rPr>
                  <a:t>是一阶逻辑公式</a:t>
                </a:r>
                <a:endParaRPr lang="zh-CN" altLang="en-US" sz="2000" b="1">
                  <a:solidFill>
                    <a:srgbClr val="002060"/>
                  </a:solidFill>
                  <a:latin typeface="楷体" panose="02010609060101010101" pitchFamily="49" charset="-122"/>
                  <a:ea typeface="楷体" panose="02010609060101010101" pitchFamily="49" charset="-122"/>
                </a:endParaRPr>
              </a:p>
              <a:p>
                <a:pPr marL="742950" lvl="1" indent="-285750">
                  <a:lnSpc>
                    <a:spcPts val="2400"/>
                  </a:lnSpc>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是一阶逻辑公式，</a:t>
                </a: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是个体变量，则</a:t>
                </a:r>
                <a14:m>
                  <m:oMath xmlns:m="http://schemas.openxmlformats.org/officeDocument/2006/math">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i="1">
                        <a:solidFill>
                          <a:srgbClr val="C00000"/>
                        </a:solidFill>
                        <a:latin typeface="Cambria Math" panose="02040503050406030204" pitchFamily="18" charset="0"/>
                        <a:ea typeface="楷体" panose="02010609060101010101" pitchFamily="49" charset="-122"/>
                      </a:rPr>
                      <m:t>𝒙</m:t>
                    </m:r>
                    <m:r>
                      <a:rPr lang="en-US" altLang="zh-CN" sz="2000" b="1">
                        <a:solidFill>
                          <a:srgbClr val="C00000"/>
                        </a:solidFill>
                        <a:latin typeface="Cambria Math" panose="02040503050406030204" pitchFamily="18" charset="0"/>
                        <a:ea typeface="楷体" panose="02010609060101010101" pitchFamily="49" charset="-122"/>
                      </a:rPr>
                      <m:t> </m:t>
                    </m:r>
                    <m:r>
                      <a:rPr lang="en-US" altLang="zh-CN" sz="2000" b="1" i="1">
                        <a:solidFill>
                          <a:srgbClr val="C0000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smtClean="0">
                        <a:solidFill>
                          <a:srgbClr val="C00000"/>
                        </a:solidFill>
                        <a:latin typeface="Cambria Math" panose="02040503050406030204" pitchFamily="18" charset="0"/>
                        <a:ea typeface="楷体" panose="02010609060101010101" pitchFamily="49" charset="-122"/>
                      </a:rPr>
                      <m:t>∃</m:t>
                    </m:r>
                    <m:r>
                      <a:rPr lang="en-US" altLang="zh-CN" sz="2000" b="1" i="1">
                        <a:solidFill>
                          <a:srgbClr val="C00000"/>
                        </a:solidFill>
                        <a:latin typeface="Cambria Math" panose="02040503050406030204" pitchFamily="18" charset="0"/>
                        <a:ea typeface="楷体" panose="02010609060101010101" pitchFamily="49" charset="-122"/>
                      </a:rPr>
                      <m:t>𝒙</m:t>
                    </m:r>
                    <m:r>
                      <a:rPr lang="en-US" altLang="zh-CN" sz="2000" b="1">
                        <a:solidFill>
                          <a:srgbClr val="C00000"/>
                        </a:solidFill>
                        <a:latin typeface="Cambria Math" panose="02040503050406030204" pitchFamily="18" charset="0"/>
                        <a:ea typeface="楷体" panose="02010609060101010101" pitchFamily="49" charset="-122"/>
                      </a:rPr>
                      <m:t> </m:t>
                    </m:r>
                    <m:r>
                      <a:rPr lang="en-US" altLang="zh-CN" sz="2000" b="1" i="1">
                        <a:solidFill>
                          <a:srgbClr val="C0000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是一阶逻辑公式</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955937" y="1844501"/>
                <a:ext cx="9900197" cy="3411190"/>
              </a:xfrm>
              <a:prstGeom prst="rect">
                <a:avLst/>
              </a:prstGeom>
              <a:blipFill rotWithShape="1">
                <a:blip r:embed="rId2"/>
                <a:stretch>
                  <a:fillRect l="-3" t="-14" r="2"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955938" y="5349706"/>
                <a:ext cx="8585354" cy="859338"/>
              </a:xfrm>
              <a:prstGeom prst="rect">
                <a:avLst/>
              </a:prstGeom>
              <a:solidFill>
                <a:schemeClr val="accent6">
                  <a:lumMod val="20000"/>
                  <a:lumOff val="80000"/>
                  <a:alpha val="40000"/>
                </a:schemeClr>
              </a:solidFill>
            </p:spPr>
            <p:txBody>
              <a:bodyPr wrap="square" rtlCol="0">
                <a:spAutoFit/>
              </a:bodyPr>
              <a:lstStyle/>
              <a:p>
                <a:pPr>
                  <a:lnSpc>
                    <a:spcPts val="2800"/>
                  </a:lnSpc>
                  <a:spcBef>
                    <a:spcPts val="600"/>
                  </a:spcBef>
                </a:pPr>
                <a14:m>
                  <m:oMath xmlns:m="http://schemas.openxmlformats.org/officeDocument/2006/math">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𝒇</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𝒂</m:t>
                            </m:r>
                          </m:e>
                        </m:d>
                      </m:e>
                    </m:d>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𝒈</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e>
                    </m:d>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𝒙</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e>
                        </m:d>
                      </m:e>
                    </m:d>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𝒃</m:t>
                            </m:r>
                          </m:e>
                        </m:d>
                      </m:e>
                    </m:d>
                  </m:oMath>
                </a14:m>
                <a:r>
                  <a:rPr lang="zh-CN" altLang="en-US" b="1">
                    <a:solidFill>
                      <a:srgbClr val="002060"/>
                    </a:solidFill>
                    <a:latin typeface="楷体" panose="02010609060101010101" pitchFamily="49" charset="-122"/>
                    <a:ea typeface="楷体" panose="02010609060101010101" pitchFamily="49" charset="-122"/>
                  </a:rPr>
                  <a:t>等是</a:t>
                </a:r>
                <a:r>
                  <a:rPr lang="zh-CN" altLang="en-US" b="1">
                    <a:solidFill>
                      <a:srgbClr val="C00000"/>
                    </a:solidFill>
                    <a:latin typeface="楷体" panose="02010609060101010101" pitchFamily="49" charset="-122"/>
                    <a:ea typeface="楷体" panose="02010609060101010101" pitchFamily="49" charset="-122"/>
                  </a:rPr>
                  <a:t>一阶逻辑公式</a:t>
                </a:r>
                <a:endParaRPr lang="en-US" altLang="zh-CN" b="1">
                  <a:solidFill>
                    <a:srgbClr val="C00000"/>
                  </a:solidFill>
                  <a:latin typeface="楷体" panose="02010609060101010101" pitchFamily="49" charset="-122"/>
                  <a:ea typeface="楷体" panose="02010609060101010101" pitchFamily="49" charset="-122"/>
                </a:endParaRPr>
              </a:p>
              <a:p>
                <a:pPr marL="285750" indent="-285750">
                  <a:lnSpc>
                    <a:spcPts val="2800"/>
                  </a:lnSpc>
                  <a:spcBef>
                    <a:spcPts val="600"/>
                  </a:spcBef>
                  <a:buFont typeface="Arial" panose="020B0604020202020204" pitchFamily="34" charset="0"/>
                  <a:buChar char="•"/>
                </a:pPr>
                <a:r>
                  <a:rPr lang="zh-CN" altLang="en-US" b="1">
                    <a:solidFill>
                      <a:srgbClr val="002060"/>
                    </a:solidFill>
                    <a:latin typeface="+mn-ea"/>
                  </a:rPr>
                  <a:t>前两者是</a:t>
                </a:r>
                <a:r>
                  <a:rPr lang="zh-CN" altLang="en-US" b="1">
                    <a:solidFill>
                      <a:srgbClr val="C00000"/>
                    </a:solidFill>
                    <a:latin typeface="+mn-ea"/>
                  </a:rPr>
                  <a:t>原子公式，</a:t>
                </a:r>
                <a:r>
                  <a:rPr lang="zh-CN" altLang="en-US" b="1">
                    <a:solidFill>
                      <a:srgbClr val="002060"/>
                    </a:solidFill>
                    <a:latin typeface="+mn-ea"/>
                  </a:rPr>
                  <a:t>后两者是</a:t>
                </a:r>
                <a:r>
                  <a:rPr lang="zh-CN" altLang="en-US" b="1">
                    <a:solidFill>
                      <a:srgbClr val="C00000"/>
                    </a:solidFill>
                    <a:latin typeface="+mn-ea"/>
                  </a:rPr>
                  <a:t>量词公式</a:t>
                </a:r>
                <a:endParaRPr lang="zh-CN" altLang="en-US" b="1">
                  <a:solidFill>
                    <a:srgbClr val="C00000"/>
                  </a:solidFill>
                  <a:latin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955938" y="5349706"/>
                <a:ext cx="8585354" cy="859338"/>
              </a:xfrm>
              <a:prstGeom prst="rect">
                <a:avLst/>
              </a:prstGeom>
              <a:blipFill rotWithShape="1">
                <a:blip r:embed="rId3"/>
                <a:stretch>
                  <a:fillRect l="-3" t="-54" r="5" b="-38276"/>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一阶逻辑公式及其抽象语法树举例</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532851" y="1023334"/>
                <a:ext cx="6669420" cy="400110"/>
              </a:xfrm>
              <a:prstGeom prst="rect">
                <a:avLst/>
              </a:prstGeom>
              <a:solidFill>
                <a:schemeClr val="accent6">
                  <a:lumMod val="20000"/>
                  <a:lumOff val="80000"/>
                  <a:alpha val="50000"/>
                </a:schemeClr>
              </a:solidFill>
            </p:spPr>
            <p:txBody>
              <a:bodyPr wrap="square" rtlCol="0">
                <a:spAutoFit/>
              </a:bodyPr>
              <a:lstStyle/>
              <a:p>
                <a:pPr>
                  <a:lnSpc>
                    <a:spcPts val="2400"/>
                  </a:lnSpc>
                </a:pPr>
                <a:r>
                  <a:rPr lang="zh-CN" altLang="en-US" sz="2000" b="1">
                    <a:solidFill>
                      <a:srgbClr val="002060"/>
                    </a:solidFill>
                  </a:rPr>
                  <a:t>假定</a:t>
                </a:r>
                <a14:m>
                  <m:oMath xmlns:m="http://schemas.openxmlformats.org/officeDocument/2006/math">
                    <m:r>
                      <a:rPr lang="en-US" altLang="zh-CN" sz="2000" b="1" i="1" smtClean="0">
                        <a:solidFill>
                          <a:srgbClr val="002060"/>
                        </a:solidFill>
                        <a:latin typeface="Cambria Math" panose="02040503050406030204" pitchFamily="18" charset="0"/>
                      </a:rPr>
                      <m:t>𝑽</m:t>
                    </m:r>
                    <m:r>
                      <a:rPr lang="en-US" altLang="zh-CN" sz="2000" b="1" i="1" smtClean="0">
                        <a:solidFill>
                          <a:srgbClr val="002060"/>
                        </a:solidFill>
                        <a:latin typeface="Cambria Math" panose="02040503050406030204" pitchFamily="18" charset="0"/>
                      </a:rPr>
                      <m:t> = </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𝒛</m:t>
                        </m:r>
                      </m:e>
                    </m:d>
                  </m:oMath>
                </a14:m>
                <a:r>
                  <a:rPr lang="zh-CN" altLang="en-US" sz="2000" b="1">
                    <a:solidFill>
                      <a:srgbClr val="002060"/>
                    </a:solidFill>
                  </a:rPr>
                  <a:t>，</a:t>
                </a:r>
                <a14:m>
                  <m:oMath xmlns:m="http://schemas.openxmlformats.org/officeDocument/2006/math">
                    <m:r>
                      <a:rPr lang="en-US" altLang="zh-CN" sz="2000" b="1" i="1" smtClean="0">
                        <a:solidFill>
                          <a:srgbClr val="002060"/>
                        </a:solidFill>
                        <a:latin typeface="Cambria Math" panose="02040503050406030204" pitchFamily="18" charset="0"/>
                        <a:ea typeface="Cambria Math" panose="02040503050406030204" pitchFamily="18" charset="0"/>
                      </a:rPr>
                      <m:t>𝓛</m:t>
                    </m:r>
                  </m:oMath>
                </a14:m>
                <a:r>
                  <a:rPr lang="zh-CN" altLang="en-US" sz="2000" b="1">
                    <a:solidFill>
                      <a:srgbClr val="002060"/>
                    </a:solidFill>
                  </a:rPr>
                  <a:t>有一元</a:t>
                </a:r>
                <a:r>
                  <a:rPr lang="zh-CN" altLang="en-US" sz="2000" b="1" i="0">
                    <a:solidFill>
                      <a:srgbClr val="002060"/>
                    </a:solidFill>
                    <a:latin typeface="+mj-lt"/>
                  </a:rPr>
                  <a:t>谓词符号</a:t>
                </a:r>
                <a14:m>
                  <m:oMath xmlns:m="http://schemas.openxmlformats.org/officeDocument/2006/math">
                    <m:r>
                      <a:rPr lang="en-US" altLang="zh-CN" sz="2000" b="1" i="1" smtClean="0">
                        <a:solidFill>
                          <a:srgbClr val="002060"/>
                        </a:solidFill>
                        <a:latin typeface="Cambria Math" panose="02040503050406030204" pitchFamily="18" charset="0"/>
                      </a:rPr>
                      <m:t>𝑭</m:t>
                    </m:r>
                    <m:r>
                      <a:rPr lang="en-US" altLang="zh-CN" sz="2000" b="1" i="1" smtClean="0">
                        <a:solidFill>
                          <a:srgbClr val="002060"/>
                        </a:solidFill>
                        <a:latin typeface="Cambria Math" panose="02040503050406030204" pitchFamily="18" charset="0"/>
                      </a:rPr>
                      <m:t>, </m:t>
                    </m:r>
                  </m:oMath>
                </a14:m>
                <a:r>
                  <a:rPr lang="zh-CN" altLang="en-US" sz="2000" b="1" i="0">
                    <a:solidFill>
                      <a:srgbClr val="002060"/>
                    </a:solidFill>
                    <a:latin typeface="+mj-lt"/>
                  </a:rPr>
                  <a:t>二元谓词符号</a:t>
                </a:r>
                <a14:m>
                  <m:oMath xmlns:m="http://schemas.openxmlformats.org/officeDocument/2006/math">
                    <m:r>
                      <a:rPr lang="en-US" altLang="zh-CN" sz="2000" b="1" i="1" smtClean="0">
                        <a:solidFill>
                          <a:srgbClr val="002060"/>
                        </a:solidFill>
                        <a:latin typeface="Cambria Math" panose="02040503050406030204" pitchFamily="18" charset="0"/>
                      </a:rPr>
                      <m:t>𝑮</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𝑯</m:t>
                    </m:r>
                  </m:oMath>
                </a14:m>
                <a:endParaRPr lang="zh-CN" altLang="en-US" sz="2000" b="1">
                  <a:solidFill>
                    <a:srgbClr val="00206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532851" y="1023334"/>
                <a:ext cx="6669420" cy="400110"/>
              </a:xfrm>
              <a:prstGeom prst="rect">
                <a:avLst/>
              </a:prstGeom>
              <a:blipFill rotWithShape="1">
                <a:blip r:embed="rId1"/>
                <a:stretch>
                  <a:fillRect l="-1" t="-87" r="2" b="-63698"/>
                </a:stretch>
              </a:blipFill>
            </p:spPr>
            <p:txBody>
              <a:bodyPr/>
              <a:lstStyle/>
              <a:p>
                <a:r>
                  <a:rPr lang="zh-CN" altLang="en-US">
                    <a:noFill/>
                  </a:rPr>
                  <a:t> </a:t>
                </a:r>
              </a:p>
            </p:txBody>
          </p:sp>
        </mc:Fallback>
      </mc:AlternateContent>
      <p:grpSp>
        <p:nvGrpSpPr>
          <p:cNvPr id="63" name="组合 62"/>
          <p:cNvGrpSpPr/>
          <p:nvPr/>
        </p:nvGrpSpPr>
        <p:grpSpPr>
          <a:xfrm>
            <a:off x="820701" y="1621585"/>
            <a:ext cx="8456104" cy="4703570"/>
            <a:chOff x="419417" y="1608087"/>
            <a:chExt cx="8456104" cy="4703570"/>
          </a:xfrm>
        </p:grpSpPr>
        <mc:AlternateContent xmlns:mc="http://schemas.openxmlformats.org/markup-compatibility/2006">
          <mc:Choice xmlns:a14="http://schemas.microsoft.com/office/drawing/2010/main" Requires="a14">
            <p:sp>
              <p:nvSpPr>
                <p:cNvPr id="2" name="文本框 1"/>
                <p:cNvSpPr txBox="1"/>
                <p:nvPr/>
              </p:nvSpPr>
              <p:spPr>
                <a:xfrm>
                  <a:off x="419417" y="5870526"/>
                  <a:ext cx="8456104" cy="369332"/>
                </a:xfrm>
                <a:prstGeom prst="rect">
                  <a:avLst/>
                </a:prstGeom>
                <a:no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的抽象语法树</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419417" y="5870526"/>
                  <a:ext cx="8456104" cy="369332"/>
                </a:xfrm>
                <a:prstGeom prst="rect">
                  <a:avLst/>
                </a:prstGeom>
                <a:blipFill rotWithShape="1">
                  <a:blip r:embed="rId2"/>
                </a:blipFill>
              </p:spPr>
              <p:txBody>
                <a:bodyPr/>
                <a:lstStyle/>
                <a:p>
                  <a:r>
                    <a:rPr lang="zh-CN" altLang="en-US">
                      <a:noFill/>
                    </a:rPr>
                    <a:t> </a:t>
                  </a:r>
                </a:p>
              </p:txBody>
            </p:sp>
          </mc:Fallback>
        </mc:AlternateContent>
        <p:grpSp>
          <p:nvGrpSpPr>
            <p:cNvPr id="55" name="组合 54"/>
            <p:cNvGrpSpPr/>
            <p:nvPr/>
          </p:nvGrpSpPr>
          <p:grpSpPr>
            <a:xfrm>
              <a:off x="1591469" y="1671698"/>
              <a:ext cx="6112000" cy="4165199"/>
              <a:chOff x="725403" y="2171270"/>
              <a:chExt cx="6112000" cy="4165199"/>
            </a:xfrm>
          </p:grpSpPr>
          <mc:AlternateContent xmlns:mc="http://schemas.openxmlformats.org/markup-compatibility/2006">
            <mc:Choice xmlns:a14="http://schemas.microsoft.com/office/drawing/2010/main" Requires="a14">
              <p:sp>
                <p:nvSpPr>
                  <p:cNvPr id="3" name="椭圆 2"/>
                  <p:cNvSpPr/>
                  <p:nvPr/>
                </p:nvSpPr>
                <p:spPr>
                  <a:xfrm>
                    <a:off x="3463179" y="2171270"/>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𝑥</m:t>
                          </m:r>
                        </m:oMath>
                      </m:oMathPara>
                    </a14:m>
                    <a:endParaRPr lang="zh-CN" altLang="en-US"/>
                  </a:p>
                </p:txBody>
              </p:sp>
            </mc:Choice>
            <mc:Fallback>
              <p:sp>
                <p:nvSpPr>
                  <p:cNvPr id="3" name="椭圆 2"/>
                  <p:cNvSpPr>
                    <a:spLocks noRot="1" noChangeAspect="1" noMove="1" noResize="1" noEditPoints="1" noAdjustHandles="1" noChangeArrowheads="1" noChangeShapeType="1" noTextEdit="1"/>
                  </p:cNvSpPr>
                  <p:nvPr/>
                </p:nvSpPr>
                <p:spPr>
                  <a:xfrm>
                    <a:off x="3463179" y="2171270"/>
                    <a:ext cx="526273" cy="493382"/>
                  </a:xfrm>
                  <a:prstGeom prst="ellipse">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椭圆 11"/>
                  <p:cNvSpPr/>
                  <p:nvPr/>
                </p:nvSpPr>
                <p:spPr>
                  <a:xfrm>
                    <a:off x="3463179" y="283681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12" name="椭圆 11"/>
                  <p:cNvSpPr>
                    <a:spLocks noRot="1" noChangeAspect="1" noMove="1" noResize="1" noEditPoints="1" noAdjustHandles="1" noChangeArrowheads="1" noChangeShapeType="1" noTextEdit="1"/>
                  </p:cNvSpPr>
                  <p:nvPr/>
                </p:nvSpPr>
                <p:spPr>
                  <a:xfrm>
                    <a:off x="3463179" y="2836811"/>
                    <a:ext cx="526273" cy="493382"/>
                  </a:xfrm>
                  <a:prstGeom prst="ellipse">
                    <a:avLst/>
                  </a:prstGeom>
                  <a:blipFill rotWithShape="1">
                    <a:blip r:embed="rId4"/>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椭圆 12"/>
                  <p:cNvSpPr/>
                  <p:nvPr/>
                </p:nvSpPr>
                <p:spPr>
                  <a:xfrm>
                    <a:off x="1853513" y="339806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13" name="椭圆 12"/>
                  <p:cNvSpPr>
                    <a:spLocks noRot="1" noChangeAspect="1" noMove="1" noResize="1" noEditPoints="1" noAdjustHandles="1" noChangeArrowheads="1" noChangeShapeType="1" noTextEdit="1"/>
                  </p:cNvSpPr>
                  <p:nvPr/>
                </p:nvSpPr>
                <p:spPr>
                  <a:xfrm>
                    <a:off x="1853513" y="3398061"/>
                    <a:ext cx="526273" cy="493382"/>
                  </a:xfrm>
                  <a:prstGeom prst="ellipse">
                    <a:avLst/>
                  </a:prstGeom>
                  <a:blipFill rotWithShape="1">
                    <a:blip r:embed="rId5"/>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椭圆 13"/>
                  <p:cNvSpPr/>
                  <p:nvPr/>
                </p:nvSpPr>
                <p:spPr>
                  <a:xfrm>
                    <a:off x="5152591" y="339806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𝑧</m:t>
                          </m:r>
                        </m:oMath>
                      </m:oMathPara>
                    </a14:m>
                    <a:endParaRPr lang="zh-CN" altLang="en-US"/>
                  </a:p>
                </p:txBody>
              </p:sp>
            </mc:Choice>
            <mc:Fallback>
              <p:sp>
                <p:nvSpPr>
                  <p:cNvPr id="14" name="椭圆 13"/>
                  <p:cNvSpPr>
                    <a:spLocks noRot="1" noChangeAspect="1" noMove="1" noResize="1" noEditPoints="1" noAdjustHandles="1" noChangeArrowheads="1" noChangeShapeType="1" noTextEdit="1"/>
                  </p:cNvSpPr>
                  <p:nvPr/>
                </p:nvSpPr>
                <p:spPr>
                  <a:xfrm>
                    <a:off x="5152591" y="3398061"/>
                    <a:ext cx="526273" cy="493382"/>
                  </a:xfrm>
                  <a:prstGeom prst="ellipse">
                    <a:avLst/>
                  </a:prstGeom>
                  <a:blipFill rotWithShape="1">
                    <a:blip r:embed="rId6"/>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椭圆 14"/>
                  <p:cNvSpPr/>
                  <p:nvPr/>
                </p:nvSpPr>
                <p:spPr>
                  <a:xfrm>
                    <a:off x="2569489" y="4050060"/>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15" name="椭圆 14"/>
                  <p:cNvSpPr>
                    <a:spLocks noRot="1" noChangeAspect="1" noMove="1" noResize="1" noEditPoints="1" noAdjustHandles="1" noChangeArrowheads="1" noChangeShapeType="1" noTextEdit="1"/>
                  </p:cNvSpPr>
                  <p:nvPr/>
                </p:nvSpPr>
                <p:spPr>
                  <a:xfrm>
                    <a:off x="2569489" y="4050060"/>
                    <a:ext cx="526273" cy="493382"/>
                  </a:xfrm>
                  <a:prstGeom prst="ellipse">
                    <a:avLst/>
                  </a:prstGeom>
                  <a:blipFill rotWithShape="1">
                    <a:blip r:embed="rId7"/>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椭圆 15"/>
                  <p:cNvSpPr/>
                  <p:nvPr/>
                </p:nvSpPr>
                <p:spPr>
                  <a:xfrm>
                    <a:off x="2569489" y="4804029"/>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16" name="椭圆 15"/>
                  <p:cNvSpPr>
                    <a:spLocks noRot="1" noChangeAspect="1" noMove="1" noResize="1" noEditPoints="1" noAdjustHandles="1" noChangeArrowheads="1" noChangeShapeType="1" noTextEdit="1"/>
                  </p:cNvSpPr>
                  <p:nvPr/>
                </p:nvSpPr>
                <p:spPr>
                  <a:xfrm>
                    <a:off x="2569489" y="4804029"/>
                    <a:ext cx="526273" cy="493382"/>
                  </a:xfrm>
                  <a:prstGeom prst="ellipse">
                    <a:avLst/>
                  </a:prstGeom>
                  <a:blipFill rotWithShape="1">
                    <a:blip r:embed="rId4"/>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椭圆 17"/>
                  <p:cNvSpPr/>
                  <p:nvPr/>
                </p:nvSpPr>
                <p:spPr>
                  <a:xfrm>
                    <a:off x="1639803" y="5256103"/>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𝑦</m:t>
                          </m:r>
                        </m:oMath>
                      </m:oMathPara>
                    </a14:m>
                    <a:endParaRPr lang="zh-CN" altLang="en-US"/>
                  </a:p>
                </p:txBody>
              </p:sp>
            </mc:Choice>
            <mc:Fallback>
              <p:sp>
                <p:nvSpPr>
                  <p:cNvPr id="18" name="椭圆 17"/>
                  <p:cNvSpPr>
                    <a:spLocks noRot="1" noChangeAspect="1" noMove="1" noResize="1" noEditPoints="1" noAdjustHandles="1" noChangeArrowheads="1" noChangeShapeType="1" noTextEdit="1"/>
                  </p:cNvSpPr>
                  <p:nvPr/>
                </p:nvSpPr>
                <p:spPr>
                  <a:xfrm>
                    <a:off x="1639803" y="5256103"/>
                    <a:ext cx="526273" cy="493382"/>
                  </a:xfrm>
                  <a:prstGeom prst="ellipse">
                    <a:avLst/>
                  </a:prstGeom>
                  <a:blipFill rotWithShape="1">
                    <a:blip r:embed="rId8"/>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椭圆 18"/>
                  <p:cNvSpPr/>
                  <p:nvPr/>
                </p:nvSpPr>
                <p:spPr>
                  <a:xfrm>
                    <a:off x="5152591" y="4055762"/>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𝑦</m:t>
                          </m:r>
                        </m:oMath>
                      </m:oMathPara>
                    </a14:m>
                    <a:endParaRPr lang="zh-CN" altLang="en-US"/>
                  </a:p>
                </p:txBody>
              </p:sp>
            </mc:Choice>
            <mc:Fallback>
              <p:sp>
                <p:nvSpPr>
                  <p:cNvPr id="19" name="椭圆 18"/>
                  <p:cNvSpPr>
                    <a:spLocks noRot="1" noChangeAspect="1" noMove="1" noResize="1" noEditPoints="1" noAdjustHandles="1" noChangeArrowheads="1" noChangeShapeType="1" noTextEdit="1"/>
                  </p:cNvSpPr>
                  <p:nvPr/>
                </p:nvSpPr>
                <p:spPr>
                  <a:xfrm>
                    <a:off x="5152591" y="4055762"/>
                    <a:ext cx="526273" cy="493382"/>
                  </a:xfrm>
                  <a:prstGeom prst="ellipse">
                    <a:avLst/>
                  </a:prstGeom>
                  <a:blipFill rotWithShape="1">
                    <a:blip r:embed="rId8"/>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椭圆 19"/>
                  <p:cNvSpPr/>
                  <p:nvPr/>
                </p:nvSpPr>
                <p:spPr>
                  <a:xfrm>
                    <a:off x="5152591" y="4812702"/>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0" name="椭圆 19"/>
                  <p:cNvSpPr>
                    <a:spLocks noRot="1" noChangeAspect="1" noMove="1" noResize="1" noEditPoints="1" noAdjustHandles="1" noChangeArrowheads="1" noChangeShapeType="1" noTextEdit="1"/>
                  </p:cNvSpPr>
                  <p:nvPr/>
                </p:nvSpPr>
                <p:spPr>
                  <a:xfrm>
                    <a:off x="5152591" y="4812702"/>
                    <a:ext cx="526273" cy="493382"/>
                  </a:xfrm>
                  <a:prstGeom prst="ellipse">
                    <a:avLst/>
                  </a:prstGeom>
                  <a:blipFill rotWithShape="1">
                    <a:blip r:embed="rId9"/>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544594" y="6059470"/>
                    <a:ext cx="71669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𝒚</m:t>
                              </m:r>
                            </m:e>
                          </m:d>
                        </m:oMath>
                      </m:oMathPara>
                    </a14:m>
                    <a:endParaRPr lang="zh-CN" altLang="en-US" b="1"/>
                  </a:p>
                </p:txBody>
              </p:sp>
            </mc:Choice>
            <mc:Fallback>
              <p:sp>
                <p:nvSpPr>
                  <p:cNvPr id="4" name="文本框 3"/>
                  <p:cNvSpPr txBox="1">
                    <a:spLocks noRot="1" noChangeAspect="1" noMove="1" noResize="1" noEditPoints="1" noAdjustHandles="1" noChangeArrowheads="1" noChangeShapeType="1" noTextEdit="1"/>
                  </p:cNvSpPr>
                  <p:nvPr/>
                </p:nvSpPr>
                <p:spPr>
                  <a:xfrm>
                    <a:off x="1544594" y="6059470"/>
                    <a:ext cx="716690" cy="276999"/>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3095762" y="5411522"/>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1" name="文本框 20"/>
                  <p:cNvSpPr txBox="1">
                    <a:spLocks noRot="1" noChangeAspect="1" noMove="1" noResize="1" noEditPoints="1" noAdjustHandles="1" noChangeArrowheads="1" noChangeShapeType="1" noTextEdit="1"/>
                  </p:cNvSpPr>
                  <p:nvPr/>
                </p:nvSpPr>
                <p:spPr>
                  <a:xfrm>
                    <a:off x="3095762" y="5411522"/>
                    <a:ext cx="914400" cy="276999"/>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725403" y="4161827"/>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𝑮</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2" name="文本框 21"/>
                  <p:cNvSpPr txBox="1">
                    <a:spLocks noRot="1" noChangeAspect="1" noMove="1" noResize="1" noEditPoints="1" noAdjustHandles="1" noChangeArrowheads="1" noChangeShapeType="1" noTextEdit="1"/>
                  </p:cNvSpPr>
                  <p:nvPr/>
                </p:nvSpPr>
                <p:spPr>
                  <a:xfrm>
                    <a:off x="725403" y="4161827"/>
                    <a:ext cx="914400" cy="276999"/>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5923003" y="5424049"/>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𝒛</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3" name="文本框 22"/>
                  <p:cNvSpPr txBox="1">
                    <a:spLocks noRot="1" noChangeAspect="1" noMove="1" noResize="1" noEditPoints="1" noAdjustHandles="1" noChangeArrowheads="1" noChangeShapeType="1" noTextEdit="1"/>
                  </p:cNvSpPr>
                  <p:nvPr/>
                </p:nvSpPr>
                <p:spPr>
                  <a:xfrm>
                    <a:off x="5923003" y="5424049"/>
                    <a:ext cx="914400" cy="276999"/>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p:cNvSpPr txBox="1"/>
                  <p:nvPr/>
                </p:nvSpPr>
                <p:spPr>
                  <a:xfrm>
                    <a:off x="4107625" y="5419498"/>
                    <a:ext cx="71669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𝒛</m:t>
                              </m:r>
                            </m:e>
                          </m:d>
                        </m:oMath>
                      </m:oMathPara>
                    </a14:m>
                    <a:endParaRPr lang="zh-CN" altLang="en-US" b="1"/>
                  </a:p>
                </p:txBody>
              </p:sp>
            </mc:Choice>
            <mc:Fallback>
              <p:sp>
                <p:nvSpPr>
                  <p:cNvPr id="24" name="文本框 23"/>
                  <p:cNvSpPr txBox="1">
                    <a:spLocks noRot="1" noChangeAspect="1" noMove="1" noResize="1" noEditPoints="1" noAdjustHandles="1" noChangeArrowheads="1" noChangeShapeType="1" noTextEdit="1"/>
                  </p:cNvSpPr>
                  <p:nvPr/>
                </p:nvSpPr>
                <p:spPr>
                  <a:xfrm>
                    <a:off x="4107625" y="5419498"/>
                    <a:ext cx="716690" cy="276999"/>
                  </a:xfrm>
                  <a:prstGeom prst="rect">
                    <a:avLst/>
                  </a:prstGeom>
                  <a:blipFill rotWithShape="1">
                    <a:blip r:embed="rId14"/>
                  </a:blipFill>
                </p:spPr>
                <p:txBody>
                  <a:bodyPr/>
                  <a:lstStyle/>
                  <a:p>
                    <a:r>
                      <a:rPr lang="zh-CN" altLang="en-US">
                        <a:noFill/>
                      </a:rPr>
                      <a:t> </a:t>
                    </a:r>
                  </a:p>
                </p:txBody>
              </p:sp>
            </mc:Fallback>
          </mc:AlternateContent>
          <p:cxnSp>
            <p:nvCxnSpPr>
              <p:cNvPr id="25" name="直接连接符 24"/>
              <p:cNvCxnSpPr>
                <a:stCxn id="3" idx="4"/>
                <a:endCxn id="12" idx="0"/>
              </p:cNvCxnSpPr>
              <p:nvPr/>
            </p:nvCxnSpPr>
            <p:spPr>
              <a:xfrm>
                <a:off x="3726316" y="2664652"/>
                <a:ext cx="0" cy="1721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2" idx="2"/>
                <a:endCxn id="13" idx="7"/>
              </p:cNvCxnSpPr>
              <p:nvPr/>
            </p:nvCxnSpPr>
            <p:spPr>
              <a:xfrm flipH="1">
                <a:off x="2302715" y="3083502"/>
                <a:ext cx="1160464" cy="3868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2" idx="6"/>
                <a:endCxn id="14" idx="1"/>
              </p:cNvCxnSpPr>
              <p:nvPr/>
            </p:nvCxnSpPr>
            <p:spPr>
              <a:xfrm>
                <a:off x="3989452" y="3083502"/>
                <a:ext cx="1240210" cy="3868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3" idx="3"/>
                <a:endCxn id="22" idx="0"/>
              </p:cNvCxnSpPr>
              <p:nvPr/>
            </p:nvCxnSpPr>
            <p:spPr>
              <a:xfrm flipH="1">
                <a:off x="1182603" y="3819189"/>
                <a:ext cx="747981" cy="3426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3" idx="5"/>
                <a:endCxn id="15" idx="0"/>
              </p:cNvCxnSpPr>
              <p:nvPr/>
            </p:nvCxnSpPr>
            <p:spPr>
              <a:xfrm>
                <a:off x="2302715" y="3819189"/>
                <a:ext cx="529911" cy="23087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5" idx="4"/>
                <a:endCxn id="16" idx="0"/>
              </p:cNvCxnSpPr>
              <p:nvPr/>
            </p:nvCxnSpPr>
            <p:spPr>
              <a:xfrm>
                <a:off x="2832626" y="4543442"/>
                <a:ext cx="0" cy="260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6" idx="2"/>
                <a:endCxn id="18" idx="7"/>
              </p:cNvCxnSpPr>
              <p:nvPr/>
            </p:nvCxnSpPr>
            <p:spPr>
              <a:xfrm flipH="1">
                <a:off x="2089005" y="5050720"/>
                <a:ext cx="480484" cy="27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6" idx="6"/>
                <a:endCxn id="21" idx="0"/>
              </p:cNvCxnSpPr>
              <p:nvPr/>
            </p:nvCxnSpPr>
            <p:spPr>
              <a:xfrm>
                <a:off x="3095762" y="5050720"/>
                <a:ext cx="457200" cy="36080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8" idx="4"/>
                <a:endCxn id="4" idx="0"/>
              </p:cNvCxnSpPr>
              <p:nvPr/>
            </p:nvCxnSpPr>
            <p:spPr>
              <a:xfrm flipH="1">
                <a:off x="1902939" y="5749485"/>
                <a:ext cx="1" cy="30998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14" idx="4"/>
                <a:endCxn id="19" idx="0"/>
              </p:cNvCxnSpPr>
              <p:nvPr/>
            </p:nvCxnSpPr>
            <p:spPr>
              <a:xfrm>
                <a:off x="5415728" y="3891443"/>
                <a:ext cx="0" cy="16431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19" idx="4"/>
                <a:endCxn id="20" idx="0"/>
              </p:cNvCxnSpPr>
              <p:nvPr/>
            </p:nvCxnSpPr>
            <p:spPr>
              <a:xfrm>
                <a:off x="5415728" y="4549144"/>
                <a:ext cx="0" cy="26355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20" idx="2"/>
                <a:endCxn id="24" idx="0"/>
              </p:cNvCxnSpPr>
              <p:nvPr/>
            </p:nvCxnSpPr>
            <p:spPr>
              <a:xfrm flipH="1">
                <a:off x="4465970" y="5059393"/>
                <a:ext cx="686621" cy="36010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0" idx="6"/>
                <a:endCxn id="23" idx="0"/>
              </p:cNvCxnSpPr>
              <p:nvPr/>
            </p:nvCxnSpPr>
            <p:spPr>
              <a:xfrm>
                <a:off x="5678864" y="5059393"/>
                <a:ext cx="701339" cy="364656"/>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6" name="矩形: 圆角 55"/>
            <p:cNvSpPr/>
            <p:nvPr/>
          </p:nvSpPr>
          <p:spPr>
            <a:xfrm>
              <a:off x="419417" y="1608087"/>
              <a:ext cx="8329244" cy="4703570"/>
            </a:xfrm>
            <a:prstGeom prst="roundRect">
              <a:avLst>
                <a:gd name="adj" fmla="val 617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807362" y="2237792"/>
              <a:ext cx="2822140"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这是一个存在量词公式</a:t>
              </a:r>
              <a:endParaRPr lang="zh-CN" altLang="en-US" sz="2000" b="1">
                <a:solidFill>
                  <a:schemeClr val="accent2">
                    <a:lumMod val="50000"/>
                  </a:schemeClr>
                </a:solidFill>
              </a:endParaRPr>
            </a:p>
          </p:txBody>
        </p:sp>
        <p:sp>
          <p:nvSpPr>
            <p:cNvPr id="61" name="矩形: 圆角 60"/>
            <p:cNvSpPr/>
            <p:nvPr/>
          </p:nvSpPr>
          <p:spPr>
            <a:xfrm>
              <a:off x="4942578" y="2830621"/>
              <a:ext cx="2819954" cy="2419292"/>
            </a:xfrm>
            <a:prstGeom prst="roundRect">
              <a:avLst>
                <a:gd name="adj" fmla="val 4081"/>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62" name="对话气泡: 圆角矩形 61"/>
              <p:cNvSpPr/>
              <p:nvPr/>
            </p:nvSpPr>
            <p:spPr>
              <a:xfrm>
                <a:off x="8383171" y="4699400"/>
                <a:ext cx="3242645" cy="688561"/>
              </a:xfrm>
              <a:prstGeom prst="wedgeRoundRectCallout">
                <a:avLst>
                  <a:gd name="adj1" fmla="val -63288"/>
                  <a:gd name="adj2" fmla="val -55530"/>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rgbClr val="002060"/>
                    </a:solidFill>
                  </a:rPr>
                  <a:t>子公式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𝒛</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e>
                    </m:d>
                  </m:oMath>
                </a14:m>
                <a:r>
                  <a:rPr lang="zh-CN" altLang="en-US" b="1">
                    <a:solidFill>
                      <a:srgbClr val="002060"/>
                    </a:solidFill>
                  </a:rPr>
                  <a:t>的抽象语法树</a:t>
                </a:r>
                <a:endParaRPr lang="zh-CN" altLang="en-US" b="1">
                  <a:solidFill>
                    <a:srgbClr val="002060"/>
                  </a:solidFill>
                </a:endParaRPr>
              </a:p>
            </p:txBody>
          </p:sp>
        </mc:Choice>
        <mc:Fallback>
          <p:sp>
            <p:nvSpPr>
              <p:cNvPr id="62" name="对话气泡: 圆角矩形 61"/>
              <p:cNvSpPr>
                <a:spLocks noRot="1" noChangeAspect="1" noMove="1" noResize="1" noEditPoints="1" noAdjustHandles="1" noChangeArrowheads="1" noChangeShapeType="1" noTextEdit="1"/>
              </p:cNvSpPr>
              <p:nvPr/>
            </p:nvSpPr>
            <p:spPr>
              <a:xfrm>
                <a:off x="8383171" y="4699400"/>
                <a:ext cx="3242645" cy="688561"/>
              </a:xfrm>
              <a:prstGeom prst="wedgeRoundRectCallout">
                <a:avLst>
                  <a:gd name="adj1" fmla="val -63288"/>
                  <a:gd name="adj2" fmla="val -55530"/>
                  <a:gd name="adj3" fmla="val 16667"/>
                </a:avLst>
              </a:prstGeom>
              <a:blipFill rotWithShape="1">
                <a:blip r:embed="rId15"/>
                <a:stretch>
                  <a:fillRect l="-14429" t="-8450" r="-189" b="-832"/>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8" name="文本框 57"/>
          <p:cNvSpPr txBox="1"/>
          <p:nvPr/>
        </p:nvSpPr>
        <p:spPr>
          <a:xfrm>
            <a:off x="8650805" y="1204297"/>
            <a:ext cx="2846894" cy="2951642"/>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b="1" dirty="0">
                <a:solidFill>
                  <a:srgbClr val="C00000"/>
                </a:solidFill>
                <a:latin typeface="楷体" panose="02010609060101010101" pitchFamily="49" charset="-122"/>
                <a:ea typeface="楷体" panose="02010609060101010101" pitchFamily="49" charset="-122"/>
              </a:rPr>
              <a:t>归纳定义的最小化原则</a:t>
            </a:r>
            <a:endParaRPr lang="en-US" altLang="zh-CN" b="1" dirty="0">
              <a:solidFill>
                <a:srgbClr val="C00000"/>
              </a:solidFill>
              <a:latin typeface="楷体" panose="02010609060101010101" pitchFamily="49" charset="-122"/>
              <a:ea typeface="楷体" panose="02010609060101010101" pitchFamily="49" charset="-122"/>
            </a:endParaRPr>
          </a:p>
          <a:p>
            <a:pPr marL="171450" indent="-171450">
              <a:lnSpc>
                <a:spcPts val="2000"/>
              </a:lnSpc>
              <a:spcBef>
                <a:spcPts val="600"/>
              </a:spcBef>
              <a:buFont typeface="Arial" panose="020B0604020202020204" pitchFamily="34" charset="0"/>
              <a:buChar char="•"/>
            </a:pPr>
            <a:r>
              <a:rPr lang="zh-CN" altLang="en-US" sz="1400" b="1" dirty="0">
                <a:solidFill>
                  <a:schemeClr val="accent6">
                    <a:lumMod val="50000"/>
                  </a:schemeClr>
                </a:solidFill>
                <a:latin typeface="宋体" panose="02010600030101010101" pitchFamily="2" charset="-122"/>
                <a:ea typeface="宋体" panose="02010600030101010101" pitchFamily="2" charset="-122"/>
              </a:rPr>
              <a:t>每个公式都是原子公式、否定式、合取式、析取式、</a:t>
            </a:r>
            <a:r>
              <a:rPr lang="zh-CN" altLang="en-US" sz="1400" b="1">
                <a:solidFill>
                  <a:schemeClr val="accent6">
                    <a:lumMod val="50000"/>
                  </a:schemeClr>
                </a:solidFill>
                <a:latin typeface="宋体" panose="02010600030101010101" pitchFamily="2" charset="-122"/>
                <a:ea typeface="宋体" panose="02010600030101010101" pitchFamily="2" charset="-122"/>
              </a:rPr>
              <a:t>蕴涵式、双蕴涵式、全称量词公式和存在量词公式之一</a:t>
            </a:r>
            <a:endParaRPr lang="en-US" altLang="zh-CN" sz="1400" b="1" dirty="0">
              <a:solidFill>
                <a:schemeClr val="accent6">
                  <a:lumMod val="50000"/>
                </a:schemeClr>
              </a:solidFill>
              <a:latin typeface="宋体" panose="02010600030101010101" pitchFamily="2" charset="-122"/>
              <a:ea typeface="宋体" panose="02010600030101010101" pitchFamily="2" charset="-122"/>
            </a:endParaRPr>
          </a:p>
          <a:p>
            <a:pPr marL="171450" indent="-171450">
              <a:lnSpc>
                <a:spcPts val="2000"/>
              </a:lnSpc>
              <a:spcBef>
                <a:spcPts val="600"/>
              </a:spcBef>
              <a:buFont typeface="Arial" panose="020B0604020202020204" pitchFamily="34" charset="0"/>
              <a:buChar char="•"/>
            </a:pPr>
            <a:r>
              <a:rPr lang="zh-CN" altLang="en-US" sz="1400" b="1" dirty="0">
                <a:solidFill>
                  <a:schemeClr val="accent6">
                    <a:lumMod val="50000"/>
                  </a:schemeClr>
                </a:solidFill>
                <a:latin typeface="宋体" panose="02010600030101010101" pitchFamily="2" charset="-122"/>
                <a:ea typeface="宋体" panose="02010600030101010101" pitchFamily="2" charset="-122"/>
              </a:rPr>
              <a:t>每一步使用归纳步规则构造一个公式的已有公式是构造得到公式的</a:t>
            </a:r>
            <a:r>
              <a:rPr lang="zh-CN" altLang="en-US" sz="1400" b="1" dirty="0">
                <a:solidFill>
                  <a:srgbClr val="C00000"/>
                </a:solidFill>
                <a:latin typeface="黑体" panose="02010609060101010101" pitchFamily="49" charset="-122"/>
                <a:ea typeface="黑体" panose="02010609060101010101" pitchFamily="49" charset="-122"/>
              </a:rPr>
              <a:t>子公式</a:t>
            </a:r>
            <a:endParaRPr lang="en-US" altLang="zh-CN" sz="1400" b="1" dirty="0">
              <a:solidFill>
                <a:srgbClr val="C00000"/>
              </a:solidFill>
              <a:latin typeface="黑体" panose="02010609060101010101" pitchFamily="49" charset="-122"/>
              <a:ea typeface="黑体" panose="02010609060101010101" pitchFamily="49" charset="-122"/>
            </a:endParaRPr>
          </a:p>
          <a:p>
            <a:pPr marL="171450" indent="-171450">
              <a:lnSpc>
                <a:spcPts val="2000"/>
              </a:lnSpc>
              <a:spcBef>
                <a:spcPts val="600"/>
              </a:spcBef>
              <a:buFont typeface="Arial" panose="020B0604020202020204" pitchFamily="34" charset="0"/>
              <a:buChar char="•"/>
            </a:pPr>
            <a:r>
              <a:rPr lang="zh-CN" altLang="en-US" sz="1400" b="1">
                <a:solidFill>
                  <a:schemeClr val="accent6">
                    <a:lumMod val="50000"/>
                  </a:schemeClr>
                </a:solidFill>
                <a:latin typeface="宋体" panose="02010600030101010101" pitchFamily="2" charset="-122"/>
                <a:ea typeface="宋体" panose="02010600030101010101" pitchFamily="2" charset="-122"/>
              </a:rPr>
              <a:t>子</a:t>
            </a:r>
            <a:r>
              <a:rPr lang="zh-CN" altLang="en-US" sz="1400" b="1" dirty="0">
                <a:solidFill>
                  <a:schemeClr val="accent6">
                    <a:lumMod val="50000"/>
                  </a:schemeClr>
                </a:solidFill>
                <a:latin typeface="宋体" panose="02010600030101010101" pitchFamily="2" charset="-122"/>
                <a:ea typeface="宋体" panose="02010600030101010101" pitchFamily="2" charset="-122"/>
              </a:rPr>
              <a:t>公式的语法结构由抽象语法树的子树描述</a:t>
            </a:r>
            <a:endParaRPr lang="zh-CN" altLang="en-US" sz="1400" b="1" dirty="0">
              <a:solidFill>
                <a:schemeClr val="accent6">
                  <a:lumMod val="50000"/>
                </a:schemeClr>
              </a:solidFill>
              <a:latin typeface="宋体" panose="02010600030101010101" pitchFamily="2" charset="-122"/>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一阶逻辑公式的简写</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622377" y="1222706"/>
                <a:ext cx="7582392" cy="1261884"/>
              </a:xfrm>
              <a:prstGeom prst="rect">
                <a:avLst/>
              </a:prstGeom>
              <a:solidFill>
                <a:srgbClr val="F8F8F8"/>
              </a:solidFill>
            </p:spPr>
            <p:txBody>
              <a:bodyPr wrap="square" rtlCol="0">
                <a:spAutoFit/>
              </a:bodyPr>
              <a:lstStyle/>
              <a:p>
                <a:pPr>
                  <a:spcBef>
                    <a:spcPts val="600"/>
                  </a:spcBef>
                  <a:spcAft>
                    <a:spcPts val="600"/>
                  </a:spcAft>
                </a:pPr>
                <a:r>
                  <a:rPr lang="zh-CN" altLang="en-US" sz="2000" b="1">
                    <a:solidFill>
                      <a:srgbClr val="002060"/>
                    </a:solidFill>
                  </a:rPr>
                  <a:t>规定量词和逻辑运算</a:t>
                </a:r>
                <a:r>
                  <a:rPr lang="zh-CN" altLang="en-US" sz="2000" b="1" dirty="0">
                    <a:solidFill>
                      <a:srgbClr val="002060"/>
                    </a:solidFill>
                  </a:rPr>
                  <a:t>符</a:t>
                </a:r>
                <a:r>
                  <a:rPr lang="zh-CN" altLang="en-US" sz="2000" b="1">
                    <a:solidFill>
                      <a:srgbClr val="002060"/>
                    </a:solidFill>
                  </a:rPr>
                  <a:t>的优先级与结合性，减少</a:t>
                </a:r>
                <a:r>
                  <a:rPr lang="zh-CN" altLang="en-US" sz="2000" b="1" dirty="0">
                    <a:solidFill>
                      <a:srgbClr val="002060"/>
                    </a:solidFill>
                  </a:rPr>
                  <a:t>圆括号的使用</a:t>
                </a:r>
                <a:endParaRPr lang="zh-CN" altLang="en-US" sz="2000" b="1" dirty="0">
                  <a:solidFill>
                    <a:srgbClr val="00206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量词的优先级最高</a:t>
                </a:r>
                <a:r>
                  <a:rPr lang="zh-CN" altLang="en-US" b="1">
                    <a:solidFill>
                      <a:schemeClr val="accent6">
                        <a:lumMod val="50000"/>
                      </a:schemeClr>
                    </a:solidFill>
                    <a:latin typeface="宋体" panose="02010600030101010101" pitchFamily="2" charset="-122"/>
                    <a:ea typeface="宋体" panose="02010600030101010101" pitchFamily="2" charset="-122"/>
                  </a:rPr>
                  <a:t>，逻辑运算</a:t>
                </a:r>
                <a:r>
                  <a:rPr lang="zh-CN" altLang="en-US" b="1" dirty="0">
                    <a:solidFill>
                      <a:schemeClr val="accent6">
                        <a:lumMod val="50000"/>
                      </a:schemeClr>
                    </a:solidFill>
                    <a:latin typeface="宋体" panose="02010600030101010101" pitchFamily="2" charset="-122"/>
                    <a:ea typeface="宋体" panose="02010600030101010101" pitchFamily="2" charset="-122"/>
                  </a:rPr>
                  <a:t>符的优先级从高到低的顺序是</a:t>
                </a:r>
                <a14:m>
                  <m:oMath xmlns:m="http://schemas.openxmlformats.org/officeDocument/2006/math">
                    <m:r>
                      <a:rPr lang="en-US" altLang="zh-CN" b="1">
                        <a:solidFill>
                          <a:schemeClr val="accent6">
                            <a:lumMod val="50000"/>
                          </a:schemeClr>
                        </a:solidFill>
                        <a:latin typeface="Cambria Math" panose="02040503050406030204" pitchFamily="18" charset="0"/>
                        <a:ea typeface="宋体" panose="02010600030101010101" pitchFamily="2" charset="-122"/>
                      </a:rPr>
                      <m:t>¬, ∧, ∨, →, </m:t>
                    </m:r>
                    <m:r>
                      <a:rPr lang="en-US" altLang="zh-CN" b="1">
                        <a:solidFill>
                          <a:schemeClr val="accent6">
                            <a:lumMod val="50000"/>
                          </a:schemeClr>
                        </a:solidFill>
                        <a:latin typeface="Cambria Math" panose="02040503050406030204" pitchFamily="18" charset="0"/>
                        <a:ea typeface="宋体" panose="02010600030101010101" pitchFamily="2" charset="-122"/>
                      </a:rPr>
                      <m:t>↔</m:t>
                    </m:r>
                  </m:oMath>
                </a14:m>
                <a:endParaRPr lang="en-US" altLang="zh-CN" b="1" dirty="0">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a:solidFill>
                          <a:schemeClr val="accent6">
                            <a:lumMod val="50000"/>
                          </a:schemeClr>
                        </a:solidFill>
                        <a:latin typeface="Cambria Math" panose="02040503050406030204" pitchFamily="18" charset="0"/>
                        <a:ea typeface="宋体" panose="02010600030101010101" pitchFamily="2" charset="-122"/>
                      </a:rPr>
                      <m:t>∧,</m:t>
                    </m:r>
                    <m:r>
                      <a:rPr lang="zh-CN" altLang="en-US" b="1">
                        <a:solidFill>
                          <a:schemeClr val="accent6">
                            <a:lumMod val="50000"/>
                          </a:schemeClr>
                        </a:solidFill>
                        <a:latin typeface="Cambria Math" panose="02040503050406030204" pitchFamily="18" charset="0"/>
                        <a:ea typeface="宋体" panose="02010600030101010101" pitchFamily="2" charset="-122"/>
                      </a:rPr>
                      <m:t> </m:t>
                    </m:r>
                    <m:r>
                      <a:rPr lang="en-US" altLang="zh-CN" b="1">
                        <a:solidFill>
                          <a:schemeClr val="accent6">
                            <a:lumMod val="50000"/>
                          </a:schemeClr>
                        </a:solidFill>
                        <a:latin typeface="Cambria Math" panose="02040503050406030204" pitchFamily="18" charset="0"/>
                        <a:ea typeface="宋体" panose="02010600030101010101" pitchFamily="2" charset="-122"/>
                      </a:rPr>
                      <m:t>∨</m:t>
                    </m:r>
                  </m:oMath>
                </a14:m>
                <a:r>
                  <a:rPr lang="zh-CN" altLang="en-US" b="1" dirty="0">
                    <a:solidFill>
                      <a:schemeClr val="accent6">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b="1">
                        <a:solidFill>
                          <a:schemeClr val="accent6">
                            <a:lumMod val="50000"/>
                          </a:schemeClr>
                        </a:solidFill>
                        <a:latin typeface="Cambria Math" panose="02040503050406030204" pitchFamily="18" charset="0"/>
                        <a:ea typeface="宋体" panose="02010600030101010101" pitchFamily="2" charset="-122"/>
                      </a:rPr>
                      <m:t>↔</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是从左至右结合，而</a:t>
                </a:r>
                <a14:m>
                  <m:oMath xmlns:m="http://schemas.openxmlformats.org/officeDocument/2006/math">
                    <m:r>
                      <a:rPr lang="en-US" altLang="zh-CN" b="1">
                        <a:solidFill>
                          <a:schemeClr val="accent6">
                            <a:lumMod val="50000"/>
                          </a:schemeClr>
                        </a:solidFill>
                        <a:latin typeface="Cambria Math" panose="02040503050406030204" pitchFamily="18" charset="0"/>
                        <a:ea typeface="宋体" panose="02010600030101010101" pitchFamily="2" charset="-122"/>
                      </a:rPr>
                      <m:t>→</m:t>
                    </m:r>
                  </m:oMath>
                </a14:m>
                <a:r>
                  <a:rPr lang="zh-CN" altLang="en-US" b="1" dirty="0">
                    <a:solidFill>
                      <a:schemeClr val="accent6">
                        <a:lumMod val="50000"/>
                      </a:schemeClr>
                    </a:solidFill>
                    <a:latin typeface="宋体" panose="02010600030101010101" pitchFamily="2" charset="-122"/>
                    <a:ea typeface="宋体" panose="02010600030101010101" pitchFamily="2" charset="-122"/>
                  </a:rPr>
                  <a:t>是从右至左结合</a:t>
                </a:r>
                <a:endParaRPr lang="zh-CN" altLang="en-US" b="1" dirty="0">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622377" y="1222706"/>
                <a:ext cx="7582392" cy="1261884"/>
              </a:xfrm>
              <a:prstGeom prst="rect">
                <a:avLst/>
              </a:prstGeom>
              <a:blipFill rotWithShape="1">
                <a:blip r:embed="rId1"/>
                <a:stretch>
                  <a:fillRect l="-1" t="-26" r="8" b="-171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8413796" y="1479892"/>
                <a:ext cx="3078699" cy="747512"/>
              </a:xfrm>
              <a:prstGeom prst="rect">
                <a:avLst/>
              </a:prstGeom>
              <a:solidFill>
                <a:schemeClr val="accent2">
                  <a:lumMod val="20000"/>
                  <a:lumOff val="80000"/>
                </a:schemeClr>
              </a:solidFill>
            </p:spPr>
            <p:txBody>
              <a:bodyPr wrap="square" rtlCol="0">
                <a:spAutoFit/>
              </a:bodyPr>
              <a:lstStyle/>
              <a:p>
                <a:r>
                  <a:rPr lang="zh-CN" altLang="en-US" sz="2000" b="1">
                    <a:solidFill>
                      <a:srgbClr val="002060"/>
                    </a:solidFill>
                  </a:rPr>
                  <a:t>公式</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𝒙𝑭</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𝒙</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𝑮</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𝒚</m:t>
                        </m:r>
                      </m:e>
                    </m:d>
                  </m:oMath>
                </a14:m>
                <a:r>
                  <a:rPr lang="zh-CN" altLang="en-US" sz="2000" b="1">
                    <a:solidFill>
                      <a:srgbClr val="C00000"/>
                    </a:solidFill>
                  </a:rPr>
                  <a:t>不是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𝒚</m:t>
                            </m:r>
                          </m:e>
                        </m:d>
                      </m:e>
                    </m:d>
                  </m:oMath>
                </a14:m>
                <a:endParaRPr lang="zh-CN" altLang="en-US" b="1"/>
              </a:p>
            </p:txBody>
          </p:sp>
        </mc:Choice>
        <mc:Fallback>
          <p:sp>
            <p:nvSpPr>
              <p:cNvPr id="2" name="文本框 1"/>
              <p:cNvSpPr txBox="1">
                <a:spLocks noRot="1" noChangeAspect="1" noMove="1" noResize="1" noEditPoints="1" noAdjustHandles="1" noChangeArrowheads="1" noChangeShapeType="1" noTextEdit="1"/>
              </p:cNvSpPr>
              <p:nvPr/>
            </p:nvSpPr>
            <p:spPr>
              <a:xfrm>
                <a:off x="8413796" y="1479892"/>
                <a:ext cx="3078699" cy="747512"/>
              </a:xfrm>
              <a:prstGeom prst="rect">
                <a:avLst/>
              </a:prstGeom>
              <a:blipFill rotWithShape="1">
                <a:blip r:embed="rId2"/>
                <a:stretch>
                  <a:fillRect l="-1" t="-46" r="9" b="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244779" y="2974278"/>
                <a:ext cx="6337588" cy="2640979"/>
              </a:xfrm>
              <a:prstGeom prst="rect">
                <a:avLst/>
              </a:prstGeom>
              <a:solidFill>
                <a:schemeClr val="accent6">
                  <a:lumMod val="20000"/>
                  <a:lumOff val="80000"/>
                  <a:alpha val="50000"/>
                </a:schemeClr>
              </a:solidFill>
            </p:spPr>
            <p:txBody>
              <a:bodyPr wrap="square" rtlCol="0">
                <a:spAutoFit/>
              </a:bodyPr>
              <a:lstStyle/>
              <a:p>
                <a:pPr>
                  <a:lnSpc>
                    <a:spcPts val="2800"/>
                  </a:lnSpc>
                  <a:spcAft>
                    <a:spcPts val="600"/>
                  </a:spcAft>
                </a:pPr>
                <a:r>
                  <a:rPr lang="zh-CN" altLang="en-US" b="1">
                    <a:solidFill>
                      <a:srgbClr val="002060"/>
                    </a:solidFill>
                    <a:latin typeface="楷体" panose="02010609060101010101" pitchFamily="49" charset="-122"/>
                    <a:ea typeface="楷体" panose="02010609060101010101" pitchFamily="49" charset="-122"/>
                  </a:rPr>
                  <a:t>假定</a:t>
                </a:r>
                <a14:m>
                  <m:oMath xmlns:m="http://schemas.openxmlformats.org/officeDocument/2006/math">
                    <m:r>
                      <a:rPr lang="en-US" altLang="zh-CN" b="1" i="1" smtClean="0">
                        <a:solidFill>
                          <a:srgbClr val="002060"/>
                        </a:solidFill>
                        <a:latin typeface="Cambria Math" panose="02040503050406030204" pitchFamily="18" charset="0"/>
                      </a:rPr>
                      <m:t>𝑽</m:t>
                    </m:r>
                    <m:r>
                      <a:rPr lang="en-US" altLang="zh-CN" b="1" i="1" smtClean="0">
                        <a:solidFill>
                          <a:srgbClr val="002060"/>
                        </a:solidFill>
                        <a:latin typeface="Cambria Math" panose="02040503050406030204" pitchFamily="18" charset="0"/>
                      </a:rPr>
                      <m:t> = </m:t>
                    </m:r>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e>
                    </m:d>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smtClean="0">
                        <a:solidFill>
                          <a:srgbClr val="002060"/>
                        </a:solidFill>
                        <a:latin typeface="Cambria Math" panose="02040503050406030204" pitchFamily="18" charset="0"/>
                        <a:ea typeface="Cambria Math" panose="02040503050406030204" pitchFamily="18" charset="0"/>
                      </a:rPr>
                      <m:t>𝓛</m:t>
                    </m:r>
                  </m:oMath>
                </a14:m>
                <a:r>
                  <a:rPr lang="zh-CN" altLang="en-US" b="1">
                    <a:solidFill>
                      <a:srgbClr val="002060"/>
                    </a:solidFill>
                    <a:latin typeface="楷体" panose="02010609060101010101" pitchFamily="49" charset="-122"/>
                    <a:ea typeface="楷体" panose="02010609060101010101" pitchFamily="49" charset="-122"/>
                  </a:rPr>
                  <a:t>有个体常量</a:t>
                </a:r>
                <a14:m>
                  <m:oMath xmlns:m="http://schemas.openxmlformats.org/officeDocument/2006/math">
                    <m:r>
                      <a:rPr lang="en-US" altLang="zh-CN" b="1" i="1" smtClean="0">
                        <a:solidFill>
                          <a:srgbClr val="002060"/>
                        </a:solidFill>
                        <a:latin typeface="Cambria Math" panose="02040503050406030204" pitchFamily="18" charset="0"/>
                      </a:rPr>
                      <m:t>𝟎</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𝟏</m:t>
                    </m:r>
                  </m:oMath>
                </a14:m>
                <a:r>
                  <a:rPr lang="zh-CN" altLang="en-US" b="1">
                    <a:solidFill>
                      <a:srgbClr val="002060"/>
                    </a:solidFill>
                    <a:latin typeface="楷体" panose="02010609060101010101" pitchFamily="49" charset="-122"/>
                    <a:ea typeface="楷体" panose="02010609060101010101" pitchFamily="49" charset="-122"/>
                  </a:rPr>
                  <a:t>，</a:t>
                </a:r>
                <a:r>
                  <a:rPr lang="zh-CN" altLang="en-US" b="1" i="0">
                    <a:solidFill>
                      <a:srgbClr val="002060"/>
                    </a:solidFill>
                    <a:latin typeface="楷体" panose="02010609060101010101" pitchFamily="49" charset="-122"/>
                    <a:ea typeface="楷体" panose="02010609060101010101" pitchFamily="49" charset="-122"/>
                  </a:rPr>
                  <a:t>二元谓词符号</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，二元函数符号</a:t>
                </a:r>
                <a14:m>
                  <m:oMath xmlns:m="http://schemas.openxmlformats.org/officeDocument/2006/math">
                    <m:r>
                      <a:rPr lang="en-US" altLang="zh-CN" b="1" i="1">
                        <a:solidFill>
                          <a:srgbClr val="002060"/>
                        </a:solidFill>
                        <a:latin typeface="Cambria Math" panose="02040503050406030204" pitchFamily="18" charset="0"/>
                      </a:rPr>
                      <m:t>+</m:t>
                    </m:r>
                  </m:oMath>
                </a14:m>
                <a:r>
                  <a:rPr lang="zh-CN" altLang="en-US" b="1" i="0">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，下面是基于</a:t>
                </a:r>
                <a14:m>
                  <m:oMath xmlns:m="http://schemas.openxmlformats.org/officeDocument/2006/math">
                    <m:r>
                      <a:rPr lang="en-US" altLang="zh-CN" b="1" i="1">
                        <a:solidFill>
                          <a:srgbClr val="002060"/>
                        </a:solidFill>
                        <a:latin typeface="Cambria Math" panose="02040503050406030204" pitchFamily="18" charset="0"/>
                      </a:rPr>
                      <m:t>𝑽</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a:solidFill>
                          <a:srgbClr val="002060"/>
                        </a:solidFill>
                        <a:latin typeface="Cambria Math" panose="02040503050406030204" pitchFamily="18" charset="0"/>
                        <a:ea typeface="Cambria Math" panose="02040503050406030204" pitchFamily="18" charset="0"/>
                      </a:rPr>
                      <m:t>𝓛</m:t>
                    </m:r>
                  </m:oMath>
                </a14:m>
                <a:r>
                  <a:rPr lang="zh-CN" altLang="en-US" b="1">
                    <a:solidFill>
                      <a:srgbClr val="002060"/>
                    </a:solidFill>
                    <a:latin typeface="楷体" panose="02010609060101010101" pitchFamily="49" charset="-122"/>
                    <a:ea typeface="楷体" panose="02010609060101010101" pitchFamily="49" charset="-122"/>
                  </a:rPr>
                  <a:t>构造的一阶逻辑公式：</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400"/>
                  </a:lnSpc>
                  <a:spcBef>
                    <a:spcPts val="600"/>
                  </a:spcBef>
                  <a:spcAft>
                    <a:spcPts val="600"/>
                  </a:spcAft>
                  <a:buFont typeface="Arial" panose="020B0604020202020204" pitchFamily="34" charset="0"/>
                  <a:buChar char="•"/>
                </a:pPr>
                <a14:m>
                  <m:oMath xmlns:m="http://schemas.openxmlformats.org/officeDocument/2006/math">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d>
                      <m:dPr>
                        <m:ctrlPr>
                          <a:rPr lang="es-ES" altLang="zh-CN" b="1" i="1" smtClean="0">
                            <a:solidFill>
                              <a:schemeClr val="accent2">
                                <a:lumMod val="50000"/>
                              </a:schemeClr>
                            </a:solidFill>
                            <a:latin typeface="Cambria Math" panose="02040503050406030204" pitchFamily="18" charset="0"/>
                          </a:rPr>
                        </m:ctrlPr>
                      </m:dPr>
                      <m:e>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𝟎</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e>
                        </m:d>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a:solidFill>
                                  <a:schemeClr val="accent2">
                                    <a:lumMod val="50000"/>
                                  </a:schemeClr>
                                </a:solidFill>
                                <a:latin typeface="Cambria Math" panose="02040503050406030204" pitchFamily="18" charset="0"/>
                              </a:rPr>
                              <m:t>𝒚</m:t>
                            </m:r>
                          </m:e>
                        </m:d>
                      </m:e>
                    </m:d>
                  </m:oMath>
                </a14:m>
                <a:endParaRPr lang="es-ES" altLang="zh-CN" b="1">
                  <a:solidFill>
                    <a:schemeClr val="accent2">
                      <a:lumMod val="50000"/>
                    </a:schemeClr>
                  </a:solidFill>
                </a:endParaRPr>
              </a:p>
              <a:p>
                <a:pPr marL="285750" indent="-285750">
                  <a:lnSpc>
                    <a:spcPts val="2400"/>
                  </a:lnSpc>
                  <a:spcBef>
                    <a:spcPts val="600"/>
                  </a:spcBef>
                  <a:spcAft>
                    <a:spcPts val="600"/>
                  </a:spcAft>
                  <a:buFont typeface="Arial" panose="020B0604020202020204" pitchFamily="34" charset="0"/>
                  <a:buChar char="•"/>
                </a:pPr>
                <a14:m>
                  <m:oMath xmlns:m="http://schemas.openxmlformats.org/officeDocument/2006/math">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e>
                    </m:d>
                  </m:oMath>
                </a14:m>
                <a:endParaRPr lang="es-ES" altLang="zh-CN" b="1">
                  <a:solidFill>
                    <a:schemeClr val="accent2">
                      <a:lumMod val="50000"/>
                    </a:schemeClr>
                  </a:solidFill>
                </a:endParaRPr>
              </a:p>
              <a:p>
                <a:pPr marL="285750" indent="-285750">
                  <a:lnSpc>
                    <a:spcPts val="2400"/>
                  </a:lnSpc>
                  <a:spcBef>
                    <a:spcPts val="600"/>
                  </a:spcBef>
                  <a:spcAft>
                    <a:spcPts val="600"/>
                  </a:spcAft>
                  <a:buFont typeface="Arial" panose="020B0604020202020204" pitchFamily="34" charset="0"/>
                  <a:buChar char="•"/>
                </a:pPr>
                <a14:m>
                  <m:oMath xmlns:m="http://schemas.openxmlformats.org/officeDocument/2006/math">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e>
                        </m:d>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a:solidFill>
                                  <a:schemeClr val="accent2">
                                    <a:lumMod val="50000"/>
                                  </a:schemeClr>
                                </a:solidFill>
                                <a:latin typeface="Cambria Math" panose="02040503050406030204" pitchFamily="18" charset="0"/>
                              </a:rPr>
                              <m:t>𝟏</m:t>
                            </m:r>
                          </m:e>
                        </m:d>
                      </m:e>
                    </m:d>
                  </m:oMath>
                </a14:m>
                <a:endParaRPr lang="es-ES" altLang="zh-CN" b="1">
                  <a:solidFill>
                    <a:schemeClr val="accent2">
                      <a:lumMod val="50000"/>
                    </a:schemeClr>
                  </a:solidFill>
                </a:endParaRPr>
              </a:p>
              <a:p>
                <a:pPr marL="285750" indent="-285750">
                  <a:lnSpc>
                    <a:spcPts val="2400"/>
                  </a:lnSpc>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a14:m>
                <a:endParaRPr lang="zh-CN" altLang="en-US"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1244779" y="2974278"/>
                <a:ext cx="6337588" cy="2640979"/>
              </a:xfrm>
              <a:prstGeom prst="rect">
                <a:avLst/>
              </a:prstGeom>
              <a:blipFill rotWithShape="1">
                <a:blip r:embed="rId3"/>
                <a:stretch>
                  <a:fillRect l="-3" t="-22" r="7" b="22"/>
                </a:stretch>
              </a:blipFill>
            </p:spPr>
            <p:txBody>
              <a:bodyPr/>
              <a:lstStyle/>
              <a:p>
                <a:r>
                  <a:rPr lang="zh-CN" altLang="en-US">
                    <a:noFill/>
                  </a:rPr>
                  <a:t> </a:t>
                </a:r>
              </a:p>
            </p:txBody>
          </p:sp>
        </mc:Fallback>
      </mc:AlternateContent>
      <p:sp>
        <p:nvSpPr>
          <p:cNvPr id="3" name="文本框 2"/>
          <p:cNvSpPr txBox="1"/>
          <p:nvPr/>
        </p:nvSpPr>
        <p:spPr>
          <a:xfrm>
            <a:off x="8100577" y="3190795"/>
            <a:ext cx="3203689" cy="923330"/>
          </a:xfrm>
          <a:prstGeom prst="rect">
            <a:avLst/>
          </a:prstGeom>
          <a:solidFill>
            <a:schemeClr val="accent4">
              <a:lumMod val="20000"/>
              <a:lumOff val="80000"/>
            </a:schemeClr>
          </a:solidFill>
        </p:spPr>
        <p:txBody>
          <a:bodyPr wrap="square" rtlCol="0">
            <a:spAutoFit/>
          </a:bodyPr>
          <a:lstStyle/>
          <a:p>
            <a:r>
              <a:rPr lang="zh-CN" altLang="en-US" b="1">
                <a:solidFill>
                  <a:schemeClr val="accent4">
                    <a:lumMod val="50000"/>
                  </a:schemeClr>
                </a:solidFill>
              </a:rPr>
              <a:t>为简便起见，有时用符号表示谓词符号和二元符号，这时将项与原子公式都写成中缀形式</a:t>
            </a:r>
            <a:endParaRPr lang="zh-CN" altLang="en-US" b="1">
              <a:solidFill>
                <a:schemeClr val="accent4">
                  <a:lumMod val="50000"/>
                </a:schemeClr>
              </a:solidFill>
            </a:endParaRPr>
          </a:p>
        </p:txBody>
      </p:sp>
      <mc:AlternateContent xmlns:mc="http://schemas.openxmlformats.org/markup-compatibility/2006">
        <mc:Choice xmlns:a14="http://schemas.microsoft.com/office/drawing/2010/main" Requires="a14">
          <p:sp>
            <p:nvSpPr>
              <p:cNvPr id="4" name="文本框 3"/>
              <p:cNvSpPr txBox="1"/>
              <p:nvPr/>
            </p:nvSpPr>
            <p:spPr>
              <a:xfrm>
                <a:off x="8413796" y="4428395"/>
                <a:ext cx="2762935" cy="783869"/>
              </a:xfrm>
              <a:prstGeom prst="rect">
                <a:avLst/>
              </a:prstGeom>
              <a:solidFill>
                <a:schemeClr val="accent2">
                  <a:lumMod val="20000"/>
                  <a:lumOff val="80000"/>
                  <a:alpha val="49000"/>
                </a:schemeClr>
              </a:solidFill>
            </p:spPr>
            <p:txBody>
              <a:bodyPr wrap="square" rtlCol="0">
                <a:spAutoFit/>
              </a:bodyPr>
              <a:lstStyle/>
              <a:p>
                <a:r>
                  <a:rPr lang="zh-CN" altLang="en-US" b="1">
                    <a:solidFill>
                      <a:schemeClr val="accent6">
                        <a:lumMod val="50000"/>
                      </a:schemeClr>
                    </a:solidFill>
                  </a:rPr>
                  <a:t>例如，公式</a:t>
                </a:r>
                <a14:m>
                  <m:oMath xmlns:m="http://schemas.openxmlformats.org/officeDocument/2006/math">
                    <m:d>
                      <m:dPr>
                        <m:ctrlPr>
                          <a:rPr lang="es-ES" altLang="zh-CN" b="1" i="1">
                            <a:solidFill>
                              <a:schemeClr val="accent6">
                                <a:lumMod val="50000"/>
                              </a:schemeClr>
                            </a:solidFill>
                            <a:latin typeface="Cambria Math" panose="02040503050406030204" pitchFamily="18" charset="0"/>
                          </a:rPr>
                        </m:ctrlPr>
                      </m:dPr>
                      <m:e>
                        <m:r>
                          <a:rPr lang="es-ES" altLang="zh-CN" b="1" i="1">
                            <a:solidFill>
                              <a:schemeClr val="accent6">
                                <a:lumMod val="50000"/>
                              </a:schemeClr>
                            </a:solidFill>
                            <a:latin typeface="Cambria Math" panose="02040503050406030204" pitchFamily="18" charset="0"/>
                          </a:rPr>
                          <m:t>𝒙</m:t>
                        </m:r>
                        <m:r>
                          <a:rPr lang="es-ES" altLang="zh-CN" b="1" i="1">
                            <a:solidFill>
                              <a:schemeClr val="accent6">
                                <a:lumMod val="50000"/>
                              </a:schemeClr>
                            </a:solidFill>
                            <a:latin typeface="Cambria Math" panose="02040503050406030204" pitchFamily="18" charset="0"/>
                          </a:rPr>
                          <m:t> = </m:t>
                        </m:r>
                        <m:r>
                          <a:rPr lang="es-ES" altLang="zh-CN" b="1" i="1">
                            <a:solidFill>
                              <a:schemeClr val="accent6">
                                <a:lumMod val="50000"/>
                              </a:schemeClr>
                            </a:solidFill>
                            <a:latin typeface="Cambria Math" panose="02040503050406030204" pitchFamily="18" charset="0"/>
                          </a:rPr>
                          <m:t>𝒚</m:t>
                        </m:r>
                        <m:r>
                          <a:rPr lang="es-ES" altLang="zh-CN" b="1" i="1">
                            <a:solidFill>
                              <a:schemeClr val="accent6">
                                <a:lumMod val="50000"/>
                              </a:schemeClr>
                            </a:solidFill>
                            <a:latin typeface="Cambria Math" panose="02040503050406030204" pitchFamily="18" charset="0"/>
                          </a:rPr>
                          <m:t> ∗ </m:t>
                        </m:r>
                        <m:r>
                          <a:rPr lang="es-ES" altLang="zh-CN" b="1" i="1">
                            <a:solidFill>
                              <a:schemeClr val="accent6">
                                <a:lumMod val="50000"/>
                              </a:schemeClr>
                            </a:solidFill>
                            <a:latin typeface="Cambria Math" panose="02040503050406030204" pitchFamily="18" charset="0"/>
                          </a:rPr>
                          <m:t>𝒚</m:t>
                        </m:r>
                      </m:e>
                    </m:d>
                  </m:oMath>
                </a14:m>
                <a:r>
                  <a:rPr lang="zh-CN" altLang="en-US" b="1">
                    <a:solidFill>
                      <a:schemeClr val="accent6">
                        <a:lumMod val="50000"/>
                      </a:schemeClr>
                    </a:solidFill>
                  </a:rPr>
                  <a:t>实际上是</a:t>
                </a:r>
                <a14:m>
                  <m:oMath xmlns:m="http://schemas.openxmlformats.org/officeDocument/2006/math">
                    <m:d>
                      <m:dPr>
                        <m:ctrlPr>
                          <a:rPr lang="en-US" altLang="zh-CN" b="1" i="1">
                            <a:solidFill>
                              <a:schemeClr val="accent6">
                                <a:lumMod val="50000"/>
                              </a:schemeClr>
                            </a:solidFill>
                            <a:latin typeface="Cambria Math" panose="02040503050406030204" pitchFamily="18" charset="0"/>
                          </a:rPr>
                        </m:ctrlPr>
                      </m:dPr>
                      <m:e>
                        <m:r>
                          <a:rPr lang="en-US" altLang="zh-CN" b="1">
                            <a:solidFill>
                              <a:schemeClr val="accent6">
                                <a:lumMod val="50000"/>
                              </a:schemeClr>
                            </a:solidFill>
                            <a:latin typeface="Cambria Math" panose="02040503050406030204" pitchFamily="18" charset="0"/>
                          </a:rPr>
                          <m:t>=</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r>
                              <a:rPr lang="en-US" altLang="zh-CN" b="1">
                                <a:solidFill>
                                  <a:schemeClr val="accent6">
                                    <a:lumMod val="50000"/>
                                  </a:schemeClr>
                                </a:solidFill>
                                <a:latin typeface="Cambria Math" panose="02040503050406030204" pitchFamily="18" charset="0"/>
                              </a:rPr>
                              <m:t>, ∗</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𝒚</m:t>
                                </m:r>
                                <m:r>
                                  <a:rPr lang="en-US" altLang="zh-CN" b="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𝒚</m:t>
                                </m:r>
                              </m:e>
                            </m:d>
                          </m:e>
                        </m:d>
                      </m:e>
                    </m:d>
                  </m:oMath>
                </a14:m>
                <a:endParaRPr lang="zh-CN" altLang="en-US" b="1">
                  <a:solidFill>
                    <a:schemeClr val="accent6">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8413796" y="4428395"/>
                <a:ext cx="2762935" cy="783869"/>
              </a:xfrm>
              <a:prstGeom prst="rect">
                <a:avLst/>
              </a:prstGeom>
              <a:blipFill rotWithShape="1">
                <a:blip r:embed="rId4"/>
                <a:stretch>
                  <a:fillRect l="-2" t="-69" r="3" b="-31651"/>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一阶逻辑公式的子公式判断练习</a:t>
            </a:r>
            <a:endParaRPr lang="zh-CN" altLang="en-US"/>
          </a:p>
        </p:txBody>
      </p:sp>
      <p:pic>
        <p:nvPicPr>
          <p:cNvPr id="6" name="图片 5"/>
          <p:cNvPicPr>
            <a:picLocks noChangeAspect="1"/>
          </p:cNvPicPr>
          <p:nvPr/>
        </p:nvPicPr>
        <p:blipFill>
          <a:blip r:embed="rId1"/>
          <a:stretch>
            <a:fillRect/>
          </a:stretch>
        </p:blipFill>
        <p:spPr>
          <a:xfrm>
            <a:off x="433093" y="2295869"/>
            <a:ext cx="11345856" cy="244889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一阶逻辑公式的语法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一阶逻辑公式的子公式判断练习</a:t>
            </a:r>
            <a:endParaRPr lang="zh-CN" altLang="en-US"/>
          </a:p>
        </p:txBody>
      </p:sp>
      <p:pic>
        <p:nvPicPr>
          <p:cNvPr id="6" name="图片 5"/>
          <p:cNvPicPr>
            <a:picLocks noChangeAspect="1"/>
          </p:cNvPicPr>
          <p:nvPr/>
        </p:nvPicPr>
        <p:blipFill>
          <a:blip r:embed="rId1"/>
          <a:stretch>
            <a:fillRect/>
          </a:stretch>
        </p:blipFill>
        <p:spPr>
          <a:xfrm>
            <a:off x="433093" y="2295869"/>
            <a:ext cx="11345856" cy="2448894"/>
          </a:xfrm>
          <a:prstGeom prst="rect">
            <a:avLst/>
          </a:prstGeom>
        </p:spPr>
      </p:pic>
      <p:sp>
        <p:nvSpPr>
          <p:cNvPr id="11" name="文本框 10"/>
          <p:cNvSpPr txBox="1"/>
          <p:nvPr/>
        </p:nvSpPr>
        <p:spPr>
          <a:xfrm>
            <a:off x="1786396" y="3597860"/>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2" name="文本框 11"/>
          <p:cNvSpPr txBox="1"/>
          <p:nvPr/>
        </p:nvSpPr>
        <p:spPr>
          <a:xfrm>
            <a:off x="8475935" y="3597859"/>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3" name="文本框 12"/>
          <p:cNvSpPr txBox="1"/>
          <p:nvPr/>
        </p:nvSpPr>
        <p:spPr>
          <a:xfrm>
            <a:off x="4423630" y="4124133"/>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1011" y="1883439"/>
            <a:ext cx="4733732"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一阶逻辑的基本概念</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一阶逻辑公式的语法</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自由变量和约束变量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量词的辖域</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233452" y="1359652"/>
                <a:ext cx="8300607" cy="2292807"/>
              </a:xfrm>
              <a:prstGeom prst="rect">
                <a:avLst/>
              </a:prstGeom>
              <a:solidFill>
                <a:schemeClr val="accent2">
                  <a:lumMod val="20000"/>
                  <a:lumOff val="80000"/>
                  <a:alpha val="50000"/>
                </a:schemeClr>
              </a:solidFill>
            </p:spPr>
            <p:txBody>
              <a:bodyPr wrap="square" rtlCol="0">
                <a:spAutoFit/>
              </a:bodyPr>
              <a:lstStyle/>
              <a:p>
                <a:pPr algn="ctr">
                  <a:lnSpc>
                    <a:spcPts val="3500"/>
                  </a:lnSpc>
                  <a:spcBef>
                    <a:spcPts val="600"/>
                  </a:spcBef>
                  <a:spcAft>
                    <a:spcPts val="600"/>
                  </a:spcAft>
                </a:pPr>
                <a:r>
                  <a:rPr lang="zh-CN" altLang="en-US" sz="2800" b="1">
                    <a:solidFill>
                      <a:srgbClr val="C00000"/>
                    </a:solidFill>
                  </a:rPr>
                  <a:t>量词辖域</a:t>
                </a:r>
                <a:endParaRPr lang="en-US" altLang="zh-CN" sz="2800" b="1">
                  <a:solidFill>
                    <a:srgbClr val="C00000"/>
                  </a:solidFill>
                </a:endParaRPr>
              </a:p>
              <a:p>
                <a:pPr>
                  <a:lnSpc>
                    <a:spcPts val="3500"/>
                  </a:lnSpc>
                  <a:spcBef>
                    <a:spcPts val="600"/>
                  </a:spcBef>
                  <a:spcAft>
                    <a:spcPts val="600"/>
                  </a:spcAft>
                </a:pPr>
                <a:r>
                  <a:rPr lang="zh-CN" altLang="en-US" sz="2400" b="1">
                    <a:solidFill>
                      <a:schemeClr val="accent6">
                        <a:lumMod val="50000"/>
                      </a:schemeClr>
                    </a:solidFill>
                    <a:latin typeface="宋体" panose="02010600030101010101" pitchFamily="2" charset="-122"/>
                    <a:ea typeface="宋体" panose="02010600030101010101" pitchFamily="2" charset="-122"/>
                  </a:rPr>
                  <a:t>设公式</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𝑨</m:t>
                    </m:r>
                  </m:oMath>
                </a14:m>
                <a:r>
                  <a:rPr lang="zh-CN" altLang="en-US" sz="2400" b="1">
                    <a:solidFill>
                      <a:schemeClr val="accent6">
                        <a:lumMod val="50000"/>
                      </a:schemeClr>
                    </a:solidFill>
                    <a:latin typeface="宋体" panose="02010600030101010101" pitchFamily="2" charset="-122"/>
                    <a:ea typeface="宋体" panose="02010600030101010101" pitchFamily="2" charset="-122"/>
                  </a:rPr>
                  <a:t>是公式</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𝒙𝑩</m:t>
                    </m:r>
                  </m:oMath>
                </a14:m>
                <a:r>
                  <a:rPr lang="zh-CN" altLang="en-US" sz="2400" b="1">
                    <a:solidFill>
                      <a:schemeClr val="accent6">
                        <a:lumMod val="50000"/>
                      </a:schemeClr>
                    </a:solidFill>
                    <a:latin typeface="宋体" panose="02010600030101010101" pitchFamily="2" charset="-122"/>
                    <a:ea typeface="宋体" panose="02010600030101010101" pitchFamily="2" charset="-122"/>
                  </a:rPr>
                  <a:t>或</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𝒙𝑩</m:t>
                    </m:r>
                  </m:oMath>
                </a14:m>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35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的量词</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中的个体变量</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称为这个量词的</a:t>
                </a:r>
                <a:r>
                  <a:rPr lang="zh-CN" altLang="en-US" sz="2000" b="1">
                    <a:solidFill>
                      <a:srgbClr val="C00000"/>
                    </a:solidFill>
                    <a:latin typeface="黑体" panose="02010609060101010101" pitchFamily="49" charset="-122"/>
                    <a:ea typeface="黑体" panose="02010609060101010101" pitchFamily="49" charset="-122"/>
                  </a:rPr>
                  <a:t>指示变量</a:t>
                </a:r>
                <a:endParaRPr lang="en-US" altLang="zh-CN" sz="2000" b="1">
                  <a:solidFill>
                    <a:srgbClr val="C00000"/>
                  </a:solidFill>
                  <a:latin typeface="黑体" panose="02010609060101010101" pitchFamily="49" charset="-122"/>
                  <a:ea typeface="黑体" panose="02010609060101010101" pitchFamily="49" charset="-122"/>
                </a:endParaRPr>
              </a:p>
              <a:p>
                <a:pPr marL="285750" indent="-285750">
                  <a:lnSpc>
                    <a:spcPts val="35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称子公式</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楷体" panose="02010609060101010101" pitchFamily="49" charset="-122"/>
                    <a:ea typeface="楷体" panose="02010609060101010101" pitchFamily="49" charset="-122"/>
                  </a:rPr>
                  <a:t>为这个量词（即</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）的</a:t>
                </a:r>
                <a:r>
                  <a:rPr lang="zh-CN" altLang="en-US" sz="2000" b="1">
                    <a:solidFill>
                      <a:srgbClr val="C00000"/>
                    </a:solidFill>
                    <a:latin typeface="黑体" panose="02010609060101010101" pitchFamily="49" charset="-122"/>
                    <a:ea typeface="黑体" panose="02010609060101010101" pitchFamily="49" charset="-122"/>
                  </a:rPr>
                  <a:t>辖域</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(scope)</a:t>
                </a:r>
                <a:r>
                  <a:rPr lang="zh-CN" altLang="en-US" sz="2000" b="1">
                    <a:solidFill>
                      <a:srgbClr val="002060"/>
                    </a:solidFill>
                    <a:latin typeface="楷体" panose="02010609060101010101" pitchFamily="49" charset="-122"/>
                    <a:ea typeface="楷体" panose="02010609060101010101" pitchFamily="49" charset="-122"/>
                  </a:rPr>
                  <a:t>，或</a:t>
                </a:r>
                <a:r>
                  <a:rPr lang="zh-CN" altLang="en-US" sz="2000" b="1">
                    <a:solidFill>
                      <a:srgbClr val="C00000"/>
                    </a:solidFill>
                    <a:latin typeface="黑体" panose="02010609060101010101" pitchFamily="49" charset="-122"/>
                    <a:ea typeface="黑体" panose="02010609060101010101" pitchFamily="49" charset="-122"/>
                  </a:rPr>
                  <a:t>作用域</a:t>
                </a:r>
                <a:endParaRPr lang="zh-CN" altLang="en-US" sz="2000" b="1">
                  <a:solidFill>
                    <a:srgbClr val="C00000"/>
                  </a:solidFill>
                  <a:latin typeface="黑体" panose="02010609060101010101" pitchFamily="49" charset="-122"/>
                  <a:ea typeface="黑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233452" y="1359652"/>
                <a:ext cx="8300607" cy="2292807"/>
              </a:xfrm>
              <a:prstGeom prst="rect">
                <a:avLst/>
              </a:prstGeom>
              <a:blipFill rotWithShape="1">
                <a:blip r:embed="rId1"/>
                <a:stretch>
                  <a:fillRect l="-3" t="-5" r="2"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233452" y="3927156"/>
                <a:ext cx="5794001" cy="1751826"/>
              </a:xfrm>
              <a:prstGeom prst="rect">
                <a:avLst/>
              </a:prstGeom>
              <a:solidFill>
                <a:schemeClr val="accent6">
                  <a:lumMod val="20000"/>
                  <a:lumOff val="80000"/>
                  <a:alpha val="10000"/>
                </a:schemeClr>
              </a:solidFill>
              <a:ln w="12700">
                <a:solidFill>
                  <a:schemeClr val="accent6">
                    <a:lumMod val="50000"/>
                  </a:schemeClr>
                </a:solidFill>
                <a:prstDash val="sysDash"/>
              </a:ln>
            </p:spPr>
            <p:txBody>
              <a:bodyPr wrap="square" rtlCol="0">
                <a:spAutoFit/>
              </a:bodyPr>
              <a:lstStyle/>
              <a:p>
                <a:pPr algn="ctr">
                  <a:lnSpc>
                    <a:spcPts val="2400"/>
                  </a:lnSpc>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e>
                        </m:d>
                      </m:e>
                    </m:d>
                  </m:oMath>
                </a14:m>
                <a:r>
                  <a:rPr lang="zh-CN" altLang="en-US" b="1">
                    <a:solidFill>
                      <a:srgbClr val="002060"/>
                    </a:solidFill>
                    <a:latin typeface="楷体" panose="02010609060101010101" pitchFamily="49" charset="-122"/>
                    <a:ea typeface="楷体" panose="02010609060101010101" pitchFamily="49" charset="-122"/>
                  </a:rPr>
                  <a:t>中</a:t>
                </a:r>
                <a:endParaRPr lang="en-US" altLang="zh-CN" sz="1600">
                  <a:solidFill>
                    <a:srgbClr val="002060"/>
                  </a:solidFill>
                </a:endParaRPr>
              </a:p>
              <a:p>
                <a:pPr marL="285750" indent="-285750">
                  <a:lnSpc>
                    <a:spcPts val="2400"/>
                  </a:lnSpc>
                  <a:spcBef>
                    <a:spcPts val="600"/>
                  </a:spcBef>
                  <a:spcAft>
                    <a:spcPts val="600"/>
                  </a:spcAft>
                  <a:buFont typeface="Arial" panose="020B0604020202020204" pitchFamily="34" charset="0"/>
                  <a:buChar char="•"/>
                </a:pPr>
                <a:r>
                  <a:rPr lang="zh-CN" altLang="en-US" sz="1600" b="1">
                    <a:solidFill>
                      <a:schemeClr val="accent2">
                        <a:lumMod val="50000"/>
                      </a:schemeClr>
                    </a:solidFill>
                    <a:latin typeface="宋体" panose="02010600030101010101" pitchFamily="2" charset="-122"/>
                    <a:ea typeface="宋体" panose="02010600030101010101" pitchFamily="2" charset="-122"/>
                  </a:rPr>
                  <a:t>量词</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oMath>
                </a14:m>
                <a:r>
                  <a:rPr lang="zh-CN" altLang="en-US" sz="1600" b="1">
                    <a:solidFill>
                      <a:schemeClr val="accent6">
                        <a:lumMod val="50000"/>
                      </a:schemeClr>
                    </a:solidFill>
                    <a:latin typeface="宋体" panose="02010600030101010101" pitchFamily="2" charset="-122"/>
                    <a:ea typeface="宋体" panose="02010600030101010101" pitchFamily="2" charset="-122"/>
                  </a:rPr>
                  <a:t>的辖域是</a:t>
                </a:r>
                <a:r>
                  <a:rPr lang="zh-CN" altLang="en-US" sz="1600" b="1" i="0">
                    <a:solidFill>
                      <a:schemeClr val="accent6">
                        <a:lumMod val="50000"/>
                      </a:schemeClr>
                    </a:solidFill>
                    <a:latin typeface="宋体" panose="02010600030101010101" pitchFamily="2" charset="-122"/>
                    <a:ea typeface="宋体" panose="02010600030101010101" pitchFamily="2" charset="-122"/>
                  </a:rPr>
                  <a:t>公式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𝒚</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𝑭</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𝒙</m:t>
                            </m:r>
                          </m:e>
                        </m:d>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𝒛𝑯</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𝒚</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𝒛</m:t>
                            </m:r>
                          </m:e>
                        </m:d>
                      </m:e>
                    </m:d>
                  </m:oMath>
                </a14:m>
                <a:endParaRPr lang="en-US" altLang="zh-CN" sz="1600" b="1">
                  <a:solidFill>
                    <a:srgbClr val="002060"/>
                  </a:solidFill>
                  <a:latin typeface="宋体" panose="02010600030101010101" pitchFamily="2" charset="-122"/>
                  <a:ea typeface="宋体" panose="02010600030101010101" pitchFamily="2" charset="-122"/>
                </a:endParaRPr>
              </a:p>
              <a:p>
                <a:pPr marL="285750" indent="-285750">
                  <a:lnSpc>
                    <a:spcPts val="2400"/>
                  </a:lnSpc>
                  <a:spcBef>
                    <a:spcPts val="600"/>
                  </a:spcBef>
                  <a:spcAft>
                    <a:spcPts val="600"/>
                  </a:spcAft>
                  <a:buFont typeface="Arial" panose="020B0604020202020204" pitchFamily="34" charset="0"/>
                  <a:buChar char="•"/>
                </a:pPr>
                <a:r>
                  <a:rPr lang="zh-CN" altLang="en-US" sz="1600" b="1">
                    <a:solidFill>
                      <a:schemeClr val="accent2">
                        <a:lumMod val="50000"/>
                      </a:schemeClr>
                    </a:solidFill>
                    <a:latin typeface="宋体" panose="02010600030101010101" pitchFamily="2" charset="-122"/>
                    <a:ea typeface="宋体" panose="02010600030101010101" pitchFamily="2" charset="-122"/>
                  </a:rPr>
                  <a:t>量词</a:t>
                </a:r>
                <a14:m>
                  <m:oMath xmlns:m="http://schemas.openxmlformats.org/officeDocument/2006/math">
                    <m:r>
                      <a:rPr lang="en-US" altLang="zh-CN" sz="1600" b="1">
                        <a:solidFill>
                          <a:schemeClr val="accent2">
                            <a:lumMod val="50000"/>
                          </a:schemeClr>
                        </a:solidFill>
                        <a:latin typeface="Cambria Math" panose="02040503050406030204" pitchFamily="18" charset="0"/>
                        <a:ea typeface="宋体" panose="02010600030101010101" pitchFamily="2" charset="-122"/>
                      </a:rPr>
                      <m:t>∃</m:t>
                    </m:r>
                    <m:r>
                      <a:rPr lang="en-US" altLang="zh-CN" sz="1600" b="1">
                        <a:solidFill>
                          <a:schemeClr val="accent2">
                            <a:lumMod val="50000"/>
                          </a:schemeClr>
                        </a:solidFill>
                        <a:latin typeface="Cambria Math" panose="02040503050406030204" pitchFamily="18" charset="0"/>
                        <a:ea typeface="宋体" panose="02010600030101010101" pitchFamily="2" charset="-122"/>
                      </a:rPr>
                      <m:t>𝒚</m:t>
                    </m:r>
                  </m:oMath>
                </a14:m>
                <a:r>
                  <a:rPr lang="zh-CN" altLang="en-US" sz="1600" b="1">
                    <a:solidFill>
                      <a:schemeClr val="accent6">
                        <a:lumMod val="50000"/>
                      </a:schemeClr>
                    </a:solidFill>
                    <a:latin typeface="宋体" panose="02010600030101010101" pitchFamily="2" charset="-122"/>
                    <a:ea typeface="宋体" panose="02010600030101010101" pitchFamily="2" charset="-122"/>
                  </a:rPr>
                  <a:t>的辖域是公式</a:t>
                </a:r>
                <a14:m>
                  <m:oMath xmlns:m="http://schemas.openxmlformats.org/officeDocument/2006/math">
                    <m:d>
                      <m:dPr>
                        <m:ctrlPr>
                          <a:rPr lang="en-US" altLang="zh-CN" sz="1600" b="1" i="1" smtClean="0">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𝑭</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𝒙</m:t>
                            </m:r>
                          </m:e>
                        </m:d>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𝒛𝑯</m:t>
                        </m:r>
                        <m:d>
                          <m:dPr>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𝒚</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𝒛</m:t>
                            </m:r>
                          </m:e>
                        </m:d>
                      </m:e>
                    </m:d>
                  </m:oMath>
                </a14:m>
                <a:endParaRPr lang="en-US" altLang="zh-CN" sz="1600"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400"/>
                  </a:lnSpc>
                  <a:spcBef>
                    <a:spcPts val="600"/>
                  </a:spcBef>
                  <a:spcAft>
                    <a:spcPts val="600"/>
                  </a:spcAft>
                  <a:buFont typeface="Arial" panose="020B0604020202020204" pitchFamily="34" charset="0"/>
                  <a:buChar char="•"/>
                </a:pPr>
                <a:r>
                  <a:rPr lang="zh-CN" altLang="en-US" sz="1600" b="1">
                    <a:solidFill>
                      <a:schemeClr val="accent2">
                        <a:lumMod val="50000"/>
                      </a:schemeClr>
                    </a:solidFill>
                    <a:latin typeface="宋体" panose="02010600030101010101" pitchFamily="2" charset="-122"/>
                    <a:ea typeface="宋体" panose="02010600030101010101" pitchFamily="2" charset="-122"/>
                  </a:rPr>
                  <a:t>量词</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2">
                            <a:lumMod val="50000"/>
                          </a:schemeClr>
                        </a:solidFill>
                        <a:latin typeface="Cambria Math" panose="02040503050406030204" pitchFamily="18" charset="0"/>
                        <a:ea typeface="宋体" panose="02010600030101010101" pitchFamily="2" charset="-122"/>
                      </a:rPr>
                      <m:t>𝒛</m:t>
                    </m:r>
                  </m:oMath>
                </a14:m>
                <a:r>
                  <a:rPr lang="zh-CN" altLang="en-US" sz="1600" b="1">
                    <a:solidFill>
                      <a:schemeClr val="accent6">
                        <a:lumMod val="50000"/>
                      </a:schemeClr>
                    </a:solidFill>
                    <a:latin typeface="宋体" panose="02010600030101010101" pitchFamily="2" charset="-122"/>
                    <a:ea typeface="宋体" panose="02010600030101010101" pitchFamily="2" charset="-122"/>
                  </a:rPr>
                  <a:t>的辖域是公式</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宋体" panose="02010600030101010101" pitchFamily="2" charset="-122"/>
                      </a:rPr>
                      <m:t>𝑯</m:t>
                    </m:r>
                    <m:d>
                      <m:dPr>
                        <m:ctrlPr>
                          <a:rPr lang="en-US" altLang="zh-CN" sz="1600" b="1" i="1" smtClean="0">
                            <a:solidFill>
                              <a:schemeClr val="accent2">
                                <a:lumMod val="50000"/>
                              </a:schemeClr>
                            </a:solidFill>
                            <a:latin typeface="Cambria Math" panose="02040503050406030204" pitchFamily="18" charset="0"/>
                            <a:ea typeface="宋体" panose="02010600030101010101" pitchFamily="2" charset="-122"/>
                          </a:rPr>
                        </m:ctrlPr>
                      </m:dPr>
                      <m:e>
                        <m:r>
                          <a:rPr lang="en-US" altLang="zh-CN" sz="1600" b="1" i="1" smtClean="0">
                            <a:solidFill>
                              <a:schemeClr val="accent2">
                                <a:lumMod val="50000"/>
                              </a:schemeClr>
                            </a:solidFill>
                            <a:latin typeface="Cambria Math" panose="02040503050406030204" pitchFamily="18" charset="0"/>
                            <a:ea typeface="宋体" panose="02010600030101010101" pitchFamily="2" charset="-122"/>
                          </a:rPr>
                          <m:t>𝒚</m:t>
                        </m:r>
                        <m:r>
                          <a:rPr lang="en-US" altLang="zh-CN" sz="1600" b="1" i="1" smtClean="0">
                            <a:solidFill>
                              <a:schemeClr val="accent2">
                                <a:lumMod val="50000"/>
                              </a:schemeClr>
                            </a:solidFill>
                            <a:latin typeface="Cambria Math" panose="02040503050406030204" pitchFamily="18" charset="0"/>
                            <a:ea typeface="宋体" panose="02010600030101010101" pitchFamily="2" charset="-122"/>
                          </a:rPr>
                          <m:t>, </m:t>
                        </m:r>
                        <m:r>
                          <a:rPr lang="en-US" altLang="zh-CN" sz="1600" b="1" i="1" smtClean="0">
                            <a:solidFill>
                              <a:schemeClr val="accent2">
                                <a:lumMod val="50000"/>
                              </a:schemeClr>
                            </a:solidFill>
                            <a:latin typeface="Cambria Math" panose="02040503050406030204" pitchFamily="18" charset="0"/>
                            <a:ea typeface="宋体" panose="02010600030101010101" pitchFamily="2" charset="-122"/>
                          </a:rPr>
                          <m:t>𝒛</m:t>
                        </m:r>
                      </m:e>
                    </m:d>
                  </m:oMath>
                </a14:m>
                <a:endParaRPr lang="zh-CN" altLang="en-US" sz="1600"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1233452" y="3927156"/>
                <a:ext cx="5794001" cy="1751826"/>
              </a:xfrm>
              <a:prstGeom prst="rect">
                <a:avLst/>
              </a:prstGeom>
              <a:blipFill rotWithShape="1">
                <a:blip r:embed="rId2"/>
                <a:stretch>
                  <a:fillRect l="-114" t="-381" r="-100" b="-352"/>
                </a:stretch>
              </a:blipFill>
              <a:ln w="12700">
                <a:solidFill>
                  <a:schemeClr val="accent6">
                    <a:lumMod val="50000"/>
                  </a:schemeClr>
                </a:solidFill>
                <a:prstDash val="sysDash"/>
              </a:ln>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个体变量的约束出现与自由出现</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1082258" y="1523467"/>
                <a:ext cx="9417356" cy="2230804"/>
              </a:xfrm>
              <a:prstGeom prst="rect">
                <a:avLst/>
              </a:prstGeom>
              <a:solidFill>
                <a:schemeClr val="accent2">
                  <a:lumMod val="20000"/>
                  <a:lumOff val="80000"/>
                  <a:alpha val="50000"/>
                </a:schemeClr>
              </a:solidFill>
            </p:spPr>
            <p:txBody>
              <a:bodyPr wrap="square" rtlCol="0">
                <a:spAutoFit/>
              </a:bodyPr>
              <a:lstStyle/>
              <a:p>
                <a:pPr algn="ctr">
                  <a:lnSpc>
                    <a:spcPts val="2600"/>
                  </a:lnSpc>
                  <a:spcBef>
                    <a:spcPts val="600"/>
                  </a:spcBef>
                  <a:spcAft>
                    <a:spcPts val="600"/>
                  </a:spcAft>
                </a:pPr>
                <a:r>
                  <a:rPr lang="zh-CN" altLang="en-US" sz="2400" b="1">
                    <a:solidFill>
                      <a:srgbClr val="C00000"/>
                    </a:solidFill>
                  </a:rPr>
                  <a:t>个体变量</a:t>
                </a:r>
                <a14:m>
                  <m:oMath xmlns:m="http://schemas.openxmlformats.org/officeDocument/2006/math">
                    <m:r>
                      <a:rPr lang="en-US" altLang="zh-CN" sz="2400" b="1" i="1" smtClean="0">
                        <a:solidFill>
                          <a:srgbClr val="C00000"/>
                        </a:solidFill>
                        <a:latin typeface="Cambria Math" panose="02040503050406030204" pitchFamily="18" charset="0"/>
                      </a:rPr>
                      <m:t>𝒙</m:t>
                    </m:r>
                  </m:oMath>
                </a14:m>
                <a:r>
                  <a:rPr lang="zh-CN" altLang="en-US" sz="2400" b="1">
                    <a:solidFill>
                      <a:srgbClr val="C00000"/>
                    </a:solidFill>
                  </a:rPr>
                  <a:t>在</a:t>
                </a:r>
                <a14:m>
                  <m:oMath xmlns:m="http://schemas.openxmlformats.org/officeDocument/2006/math">
                    <m:r>
                      <a:rPr lang="en-US" altLang="zh-CN" sz="2400" b="1" i="1" smtClean="0">
                        <a:solidFill>
                          <a:srgbClr val="C00000"/>
                        </a:solidFill>
                        <a:latin typeface="Cambria Math" panose="02040503050406030204" pitchFamily="18" charset="0"/>
                      </a:rPr>
                      <m:t>𝑨</m:t>
                    </m:r>
                  </m:oMath>
                </a14:m>
                <a:r>
                  <a:rPr lang="zh-CN" altLang="en-US" sz="2400" b="1">
                    <a:solidFill>
                      <a:srgbClr val="C00000"/>
                    </a:solidFill>
                  </a:rPr>
                  <a:t>的约束出现与自由出现</a:t>
                </a:r>
                <a:endParaRPr lang="en-US" altLang="zh-CN" sz="2400" b="1">
                  <a:solidFill>
                    <a:srgbClr val="C00000"/>
                  </a:solidFill>
                </a:endParaRPr>
              </a:p>
              <a:p>
                <a:pPr marL="285750" indent="-28575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在公式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的一处出现是在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的一个以</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为指示变量的量词子公式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的辖域</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中，则</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在公式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的这处出现是</a:t>
                </a:r>
                <a:r>
                  <a:rPr lang="zh-CN" altLang="en-US" sz="2000" b="1">
                    <a:solidFill>
                      <a:srgbClr val="C00000"/>
                    </a:solidFill>
                    <a:latin typeface="黑体" panose="02010609060101010101" pitchFamily="49" charset="-122"/>
                    <a:ea typeface="黑体" panose="02010609060101010101" pitchFamily="49" charset="-122"/>
                  </a:rPr>
                  <a:t>约束出现</a:t>
                </a:r>
                <a:endParaRPr lang="zh-CN" altLang="en-US" sz="2000" b="1">
                  <a:solidFill>
                    <a:srgbClr val="C00000"/>
                  </a:solidFill>
                  <a:latin typeface="黑体" panose="02010609060101010101" pitchFamily="49" charset="-122"/>
                  <a:ea typeface="黑体" panose="02010609060101010101" pitchFamily="49" charset="-122"/>
                </a:endParaRPr>
              </a:p>
              <a:p>
                <a:pPr marL="285750" indent="-285750">
                  <a:lnSpc>
                    <a:spcPts val="30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在公式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的一处出现不在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的任意以</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为指示变量的量词子公式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𝒙𝑩</m:t>
                    </m:r>
                  </m:oMath>
                </a14:m>
                <a:r>
                  <a:rPr lang="zh-CN" altLang="en-US" sz="2000" b="1">
                    <a:solidFill>
                      <a:srgbClr val="00206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𝒙𝑩</m:t>
                    </m:r>
                  </m:oMath>
                </a14:m>
                <a:r>
                  <a:rPr lang="zh-CN" altLang="en-US" sz="2000" b="1">
                    <a:solidFill>
                      <a:srgbClr val="002060"/>
                    </a:solidFill>
                    <a:latin typeface="楷体" panose="02010609060101010101" pitchFamily="49" charset="-122"/>
                    <a:ea typeface="楷体" panose="02010609060101010101" pitchFamily="49" charset="-122"/>
                  </a:rPr>
                  <a:t>的辖域</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latin typeface="楷体" panose="02010609060101010101" pitchFamily="49" charset="-122"/>
                    <a:ea typeface="楷体" panose="02010609060101010101" pitchFamily="49" charset="-122"/>
                  </a:rPr>
                  <a:t>中，则</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在公式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的这处出现是</a:t>
                </a:r>
                <a:r>
                  <a:rPr lang="zh-CN" altLang="en-US" sz="2000" b="1">
                    <a:solidFill>
                      <a:srgbClr val="C00000"/>
                    </a:solidFill>
                    <a:latin typeface="黑体" panose="02010609060101010101" pitchFamily="49" charset="-122"/>
                    <a:ea typeface="黑体" panose="02010609060101010101" pitchFamily="49" charset="-122"/>
                  </a:rPr>
                  <a:t>自由出现</a:t>
                </a:r>
                <a:endParaRPr lang="zh-CN" altLang="en-US" sz="2000" b="1">
                  <a:solidFill>
                    <a:srgbClr val="C00000"/>
                  </a:solidFill>
                  <a:latin typeface="黑体" panose="02010609060101010101" pitchFamily="49" charset="-122"/>
                  <a:ea typeface="黑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082258" y="1523467"/>
                <a:ext cx="9417356" cy="2230804"/>
              </a:xfrm>
              <a:prstGeom prst="rect">
                <a:avLst/>
              </a:prstGeom>
              <a:blipFill rotWithShape="1">
                <a:blip r:embed="rId1"/>
                <a:stretch>
                  <a:fillRect l="-2" t="-5" r="6"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082258" y="4011832"/>
                <a:ext cx="7818755" cy="1853456"/>
              </a:xfrm>
              <a:prstGeom prst="rect">
                <a:avLst/>
              </a:prstGeom>
              <a:solidFill>
                <a:schemeClr val="accent6">
                  <a:lumMod val="20000"/>
                  <a:lumOff val="80000"/>
                  <a:alpha val="10000"/>
                </a:schemeClr>
              </a:solidFill>
              <a:ln w="12700">
                <a:solidFill>
                  <a:schemeClr val="accent6">
                    <a:lumMod val="50000"/>
                  </a:schemeClr>
                </a:solidFill>
                <a:prstDash val="sysDash"/>
              </a:ln>
            </p:spPr>
            <p:txBody>
              <a:bodyPr wrap="square" rtlCol="0">
                <a:spAutoFit/>
              </a:bodyPr>
              <a:lstStyle/>
              <a:p>
                <a:pPr algn="ctr">
                  <a:lnSpc>
                    <a:spcPts val="26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𝒛𝑯</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𝒛</m:t>
                            </m:r>
                          </m:e>
                        </m:d>
                      </m:e>
                    </m:d>
                  </m:oMath>
                </a14:m>
                <a:r>
                  <a:rPr lang="zh-CN" altLang="en-US" sz="2000" b="1">
                    <a:solidFill>
                      <a:srgbClr val="002060"/>
                    </a:solidFill>
                    <a:latin typeface="楷体" panose="02010609060101010101" pitchFamily="49" charset="-122"/>
                    <a:ea typeface="楷体" panose="02010609060101010101" pitchFamily="49" charset="-122"/>
                  </a:rPr>
                  <a:t>中</a:t>
                </a:r>
                <a:endParaRPr lang="en-US" altLang="zh-CN">
                  <a:solidFill>
                    <a:srgbClr val="002060"/>
                  </a:solidFill>
                </a:endParaRPr>
              </a:p>
              <a:p>
                <a:pPr marL="285750" indent="-285750">
                  <a:lnSpc>
                    <a:spcPts val="26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公式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中的</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oMath>
                </a14:m>
                <a:r>
                  <a:rPr lang="zh-CN" altLang="en-US" b="1">
                    <a:solidFill>
                      <a:schemeClr val="accent6">
                        <a:lumMod val="50000"/>
                      </a:schemeClr>
                    </a:solidFill>
                    <a:latin typeface="宋体" panose="02010600030101010101" pitchFamily="2" charset="-122"/>
                    <a:ea typeface="宋体" panose="02010600030101010101" pitchFamily="2" charset="-122"/>
                  </a:rPr>
                  <a:t>是</a:t>
                </a:r>
                <a:r>
                  <a:rPr lang="zh-CN" altLang="en-US" b="1">
                    <a:solidFill>
                      <a:srgbClr val="C00000"/>
                    </a:solidFill>
                    <a:latin typeface="黑体" panose="02010609060101010101" pitchFamily="49" charset="-122"/>
                    <a:ea typeface="黑体" panose="02010609060101010101" pitchFamily="49" charset="-122"/>
                  </a:rPr>
                  <a:t>约束出现</a:t>
                </a:r>
                <a:r>
                  <a:rPr lang="zh-CN" altLang="en-US" b="1">
                    <a:solidFill>
                      <a:schemeClr val="accent6">
                        <a:lumMod val="50000"/>
                      </a:schemeClr>
                    </a:solidFill>
                    <a:latin typeface="宋体" panose="02010600030101010101" pitchFamily="2" charset="-122"/>
                    <a:ea typeface="宋体" panose="02010600030101010101" pitchFamily="2" charset="-122"/>
                  </a:rPr>
                  <a:t>，它在量词</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𝒙</m:t>
                    </m:r>
                  </m:oMath>
                </a14:m>
                <a:r>
                  <a:rPr lang="zh-CN" altLang="en-US" b="1">
                    <a:solidFill>
                      <a:schemeClr val="accent6">
                        <a:lumMod val="50000"/>
                      </a:schemeClr>
                    </a:solidFill>
                    <a:latin typeface="宋体" panose="02010600030101010101" pitchFamily="2" charset="-122"/>
                    <a:ea typeface="宋体" panose="02010600030101010101" pitchFamily="2" charset="-122"/>
                  </a:rPr>
                  <a:t>的辖域中</a:t>
                </a:r>
                <a:endParaRPr lang="en-US" altLang="zh-CN" b="1" i="0">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6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公式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𝑯</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𝒚</m:t>
                    </m:r>
                    <m:r>
                      <a:rPr lang="en-US" altLang="zh-CN"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𝒛</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中的</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𝒚</m:t>
                    </m:r>
                  </m:oMath>
                </a14:m>
                <a:r>
                  <a:rPr lang="zh-CN" altLang="en-US" b="1">
                    <a:solidFill>
                      <a:schemeClr val="accent6">
                        <a:lumMod val="50000"/>
                      </a:schemeClr>
                    </a:solidFill>
                    <a:latin typeface="宋体" panose="02010600030101010101" pitchFamily="2" charset="-122"/>
                    <a:ea typeface="宋体" panose="02010600030101010101" pitchFamily="2" charset="-122"/>
                  </a:rPr>
                  <a:t>是</a:t>
                </a:r>
                <a:r>
                  <a:rPr lang="zh-CN" altLang="en-US" b="1">
                    <a:solidFill>
                      <a:srgbClr val="C00000"/>
                    </a:solidFill>
                    <a:latin typeface="黑体" panose="02010609060101010101" pitchFamily="49" charset="-122"/>
                    <a:ea typeface="黑体" panose="02010609060101010101" pitchFamily="49" charset="-122"/>
                  </a:rPr>
                  <a:t>自由出现</a:t>
                </a:r>
                <a:r>
                  <a:rPr lang="zh-CN" altLang="en-US" b="1">
                    <a:solidFill>
                      <a:schemeClr val="accent6">
                        <a:lumMod val="50000"/>
                      </a:schemeClr>
                    </a:solidFill>
                    <a:latin typeface="宋体" panose="02010600030101010101" pitchFamily="2" charset="-122"/>
                    <a:ea typeface="宋体" panose="02010600030101010101" pitchFamily="2" charset="-122"/>
                  </a:rPr>
                  <a:t>，它没在任何以</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𝒚</m:t>
                    </m:r>
                  </m:oMath>
                </a14:m>
                <a:r>
                  <a:rPr lang="zh-CN" altLang="en-US" b="1">
                    <a:solidFill>
                      <a:schemeClr val="accent6">
                        <a:lumMod val="50000"/>
                      </a:schemeClr>
                    </a:solidFill>
                    <a:latin typeface="宋体" panose="02010600030101010101" pitchFamily="2" charset="-122"/>
                    <a:ea typeface="宋体" panose="02010600030101010101" pitchFamily="2" charset="-122"/>
                  </a:rPr>
                  <a:t>为指示变量的量词辖域中</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6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公式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𝑯</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𝒚</m:t>
                        </m:r>
                        <m:r>
                          <a:rPr lang="en-US" altLang="zh-CN"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𝒛</m:t>
                        </m:r>
                      </m:e>
                    </m:d>
                  </m:oMath>
                </a14:m>
                <a:r>
                  <a:rPr lang="zh-CN" altLang="en-US" b="1">
                    <a:solidFill>
                      <a:schemeClr val="accent6">
                        <a:lumMod val="50000"/>
                      </a:schemeClr>
                    </a:solidFill>
                    <a:latin typeface="宋体" panose="02010600030101010101" pitchFamily="2" charset="-122"/>
                    <a:ea typeface="宋体" panose="02010600030101010101" pitchFamily="2" charset="-122"/>
                  </a:rPr>
                  <a:t>中的</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𝒛</m:t>
                    </m:r>
                  </m:oMath>
                </a14:m>
                <a:r>
                  <a:rPr lang="zh-CN" altLang="en-US" b="1">
                    <a:solidFill>
                      <a:schemeClr val="accent6">
                        <a:lumMod val="50000"/>
                      </a:schemeClr>
                    </a:solidFill>
                    <a:latin typeface="宋体" panose="02010600030101010101" pitchFamily="2" charset="-122"/>
                    <a:ea typeface="宋体" panose="02010600030101010101" pitchFamily="2" charset="-122"/>
                  </a:rPr>
                  <a:t>是</a:t>
                </a:r>
                <a:r>
                  <a:rPr lang="zh-CN" altLang="en-US" b="1">
                    <a:solidFill>
                      <a:srgbClr val="C00000"/>
                    </a:solidFill>
                    <a:latin typeface="黑体" panose="02010609060101010101" pitchFamily="49" charset="-122"/>
                    <a:ea typeface="黑体" panose="02010609060101010101" pitchFamily="49" charset="-122"/>
                  </a:rPr>
                  <a:t>约束出现</a:t>
                </a:r>
                <a:r>
                  <a:rPr lang="zh-CN" altLang="en-US" b="1">
                    <a:solidFill>
                      <a:schemeClr val="accent6">
                        <a:lumMod val="50000"/>
                      </a:schemeClr>
                    </a:solidFill>
                    <a:latin typeface="宋体" panose="02010600030101010101" pitchFamily="2" charset="-122"/>
                    <a:ea typeface="宋体" panose="02010600030101010101" pitchFamily="2" charset="-122"/>
                  </a:rPr>
                  <a:t>，它在量词</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𝒛</m:t>
                    </m:r>
                  </m:oMath>
                </a14:m>
                <a:r>
                  <a:rPr lang="zh-CN" altLang="en-US" b="1">
                    <a:solidFill>
                      <a:schemeClr val="accent6">
                        <a:lumMod val="50000"/>
                      </a:schemeClr>
                    </a:solidFill>
                    <a:latin typeface="宋体" panose="02010600030101010101" pitchFamily="2" charset="-122"/>
                    <a:ea typeface="宋体" panose="02010600030101010101" pitchFamily="2" charset="-122"/>
                  </a:rPr>
                  <a:t>的辖域中</a:t>
                </a:r>
                <a:endParaRPr lang="zh-CN" altLang="en-US" b="1">
                  <a:solidFill>
                    <a:schemeClr val="accent6">
                      <a:lumMod val="50000"/>
                    </a:schemeClr>
                  </a:solidFill>
                  <a:latin typeface="宋体" panose="02010600030101010101" pitchFamily="2" charset="-122"/>
                  <a:ea typeface="宋体" panose="02010600030101010101" pitchFamily="2"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1082258" y="4011832"/>
                <a:ext cx="7818755" cy="1853456"/>
              </a:xfrm>
              <a:prstGeom prst="rect">
                <a:avLst/>
              </a:prstGeom>
              <a:blipFill rotWithShape="1">
                <a:blip r:embed="rId2"/>
                <a:stretch>
                  <a:fillRect l="-84" t="-372" r="-78" b="-320"/>
                </a:stretch>
              </a:blipFill>
              <a:ln w="12700">
                <a:solidFill>
                  <a:schemeClr val="accent6">
                    <a:lumMod val="50000"/>
                  </a:schemeClr>
                </a:solidFill>
                <a:prstDash val="sysDash"/>
              </a:ln>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量词辖域与抽象语法树</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509055" y="861348"/>
                <a:ext cx="8456104" cy="369332"/>
              </a:xfrm>
              <a:prstGeom prst="rect">
                <a:avLst/>
              </a:prstGeom>
              <a:solidFill>
                <a:schemeClr val="accent6">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的抽象语法树</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509055" y="861348"/>
                <a:ext cx="8456104" cy="369332"/>
              </a:xfrm>
              <a:prstGeom prst="rect">
                <a:avLst/>
              </a:prstGeom>
              <a:blipFill rotWithShape="1">
                <a:blip r:embed="rId1"/>
                <a:stretch>
                  <a:fillRect l="-5" t="-78" r="3" b="-60850"/>
                </a:stretch>
              </a:blipFill>
            </p:spPr>
            <p:txBody>
              <a:bodyPr/>
              <a:lstStyle/>
              <a:p>
                <a:r>
                  <a:rPr lang="zh-CN" altLang="en-US">
                    <a:noFill/>
                  </a:rPr>
                  <a:t> </a:t>
                </a:r>
              </a:p>
            </p:txBody>
          </p:sp>
        </mc:Fallback>
      </mc:AlternateContent>
      <p:grpSp>
        <p:nvGrpSpPr>
          <p:cNvPr id="51" name="组合 50"/>
          <p:cNvGrpSpPr/>
          <p:nvPr/>
        </p:nvGrpSpPr>
        <p:grpSpPr>
          <a:xfrm>
            <a:off x="561361" y="1667461"/>
            <a:ext cx="6841550" cy="4329191"/>
            <a:chOff x="802569" y="1667461"/>
            <a:chExt cx="6841550" cy="4329191"/>
          </a:xfrm>
        </p:grpSpPr>
        <p:grpSp>
          <p:nvGrpSpPr>
            <p:cNvPr id="13" name="组合 12"/>
            <p:cNvGrpSpPr/>
            <p:nvPr/>
          </p:nvGrpSpPr>
          <p:grpSpPr>
            <a:xfrm>
              <a:off x="1315177" y="1667461"/>
              <a:ext cx="6112000" cy="4165199"/>
              <a:chOff x="725403" y="2171270"/>
              <a:chExt cx="6112000" cy="4165199"/>
            </a:xfrm>
          </p:grpSpPr>
          <mc:AlternateContent xmlns:mc="http://schemas.openxmlformats.org/markup-compatibility/2006">
            <mc:Choice xmlns:a14="http://schemas.microsoft.com/office/drawing/2010/main" Requires="a14">
              <p:sp>
                <p:nvSpPr>
                  <p:cNvPr id="18" name="椭圆 17"/>
                  <p:cNvSpPr/>
                  <p:nvPr/>
                </p:nvSpPr>
                <p:spPr>
                  <a:xfrm>
                    <a:off x="3463179" y="2171270"/>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𝑥</m:t>
                          </m:r>
                        </m:oMath>
                      </m:oMathPara>
                    </a14:m>
                    <a:endParaRPr lang="zh-CN" altLang="en-US"/>
                  </a:p>
                </p:txBody>
              </p:sp>
            </mc:Choice>
            <mc:Fallback>
              <p:sp>
                <p:nvSpPr>
                  <p:cNvPr id="18" name="椭圆 17"/>
                  <p:cNvSpPr>
                    <a:spLocks noRot="1" noChangeAspect="1" noMove="1" noResize="1" noEditPoints="1" noAdjustHandles="1" noChangeArrowheads="1" noChangeShapeType="1" noTextEdit="1"/>
                  </p:cNvSpPr>
                  <p:nvPr/>
                </p:nvSpPr>
                <p:spPr>
                  <a:xfrm>
                    <a:off x="3463179" y="2171270"/>
                    <a:ext cx="526273" cy="493382"/>
                  </a:xfrm>
                  <a:prstGeom prst="ellipse">
                    <a:avLst/>
                  </a:prstGeom>
                  <a:blipFill rotWithShape="1">
                    <a:blip r:embed="rId2"/>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椭圆 18"/>
                  <p:cNvSpPr/>
                  <p:nvPr/>
                </p:nvSpPr>
                <p:spPr>
                  <a:xfrm>
                    <a:off x="3463179" y="283681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19" name="椭圆 18"/>
                  <p:cNvSpPr>
                    <a:spLocks noRot="1" noChangeAspect="1" noMove="1" noResize="1" noEditPoints="1" noAdjustHandles="1" noChangeArrowheads="1" noChangeShapeType="1" noTextEdit="1"/>
                  </p:cNvSpPr>
                  <p:nvPr/>
                </p:nvSpPr>
                <p:spPr>
                  <a:xfrm>
                    <a:off x="3463179" y="2836811"/>
                    <a:ext cx="526273" cy="493382"/>
                  </a:xfrm>
                  <a:prstGeom prst="ellipse">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椭圆 19"/>
                  <p:cNvSpPr/>
                  <p:nvPr/>
                </p:nvSpPr>
                <p:spPr>
                  <a:xfrm>
                    <a:off x="1853513" y="339806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0" name="椭圆 19"/>
                  <p:cNvSpPr>
                    <a:spLocks noRot="1" noChangeAspect="1" noMove="1" noResize="1" noEditPoints="1" noAdjustHandles="1" noChangeArrowheads="1" noChangeShapeType="1" noTextEdit="1"/>
                  </p:cNvSpPr>
                  <p:nvPr/>
                </p:nvSpPr>
                <p:spPr>
                  <a:xfrm>
                    <a:off x="1853513" y="3398061"/>
                    <a:ext cx="526273" cy="493382"/>
                  </a:xfrm>
                  <a:prstGeom prst="ellipse">
                    <a:avLst/>
                  </a:prstGeom>
                  <a:blipFill rotWithShape="1">
                    <a:blip r:embed="rId4"/>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椭圆 20"/>
                  <p:cNvSpPr/>
                  <p:nvPr/>
                </p:nvSpPr>
                <p:spPr>
                  <a:xfrm>
                    <a:off x="5152591" y="339806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𝑧</m:t>
                          </m:r>
                        </m:oMath>
                      </m:oMathPara>
                    </a14:m>
                    <a:endParaRPr lang="zh-CN" altLang="en-US"/>
                  </a:p>
                </p:txBody>
              </p:sp>
            </mc:Choice>
            <mc:Fallback>
              <p:sp>
                <p:nvSpPr>
                  <p:cNvPr id="21" name="椭圆 20"/>
                  <p:cNvSpPr>
                    <a:spLocks noRot="1" noChangeAspect="1" noMove="1" noResize="1" noEditPoints="1" noAdjustHandles="1" noChangeArrowheads="1" noChangeShapeType="1" noTextEdit="1"/>
                  </p:cNvSpPr>
                  <p:nvPr/>
                </p:nvSpPr>
                <p:spPr>
                  <a:xfrm>
                    <a:off x="5152591" y="3398061"/>
                    <a:ext cx="526273" cy="493382"/>
                  </a:xfrm>
                  <a:prstGeom prst="ellipse">
                    <a:avLst/>
                  </a:prstGeom>
                  <a:blipFill rotWithShape="1">
                    <a:blip r:embed="rId5"/>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椭圆 21"/>
                  <p:cNvSpPr/>
                  <p:nvPr/>
                </p:nvSpPr>
                <p:spPr>
                  <a:xfrm>
                    <a:off x="2569489" y="4050060"/>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2" name="椭圆 21"/>
                  <p:cNvSpPr>
                    <a:spLocks noRot="1" noChangeAspect="1" noMove="1" noResize="1" noEditPoints="1" noAdjustHandles="1" noChangeArrowheads="1" noChangeShapeType="1" noTextEdit="1"/>
                  </p:cNvSpPr>
                  <p:nvPr/>
                </p:nvSpPr>
                <p:spPr>
                  <a:xfrm>
                    <a:off x="2569489" y="4050060"/>
                    <a:ext cx="526273" cy="493382"/>
                  </a:xfrm>
                  <a:prstGeom prst="ellipse">
                    <a:avLst/>
                  </a:prstGeom>
                  <a:blipFill rotWithShape="1">
                    <a:blip r:embed="rId6"/>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椭圆 22"/>
                  <p:cNvSpPr/>
                  <p:nvPr/>
                </p:nvSpPr>
                <p:spPr>
                  <a:xfrm>
                    <a:off x="2569489" y="4804029"/>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3" name="椭圆 22"/>
                  <p:cNvSpPr>
                    <a:spLocks noRot="1" noChangeAspect="1" noMove="1" noResize="1" noEditPoints="1" noAdjustHandles="1" noChangeArrowheads="1" noChangeShapeType="1" noTextEdit="1"/>
                  </p:cNvSpPr>
                  <p:nvPr/>
                </p:nvSpPr>
                <p:spPr>
                  <a:xfrm>
                    <a:off x="2569489" y="4804029"/>
                    <a:ext cx="526273" cy="493382"/>
                  </a:xfrm>
                  <a:prstGeom prst="ellipse">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椭圆 23"/>
                  <p:cNvSpPr/>
                  <p:nvPr/>
                </p:nvSpPr>
                <p:spPr>
                  <a:xfrm>
                    <a:off x="1639803" y="5256103"/>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𝑦</m:t>
                          </m:r>
                        </m:oMath>
                      </m:oMathPara>
                    </a14:m>
                    <a:endParaRPr lang="zh-CN" altLang="en-US"/>
                  </a:p>
                </p:txBody>
              </p:sp>
            </mc:Choice>
            <mc:Fallback>
              <p:sp>
                <p:nvSpPr>
                  <p:cNvPr id="24" name="椭圆 23"/>
                  <p:cNvSpPr>
                    <a:spLocks noRot="1" noChangeAspect="1" noMove="1" noResize="1" noEditPoints="1" noAdjustHandles="1" noChangeArrowheads="1" noChangeShapeType="1" noTextEdit="1"/>
                  </p:cNvSpPr>
                  <p:nvPr/>
                </p:nvSpPr>
                <p:spPr>
                  <a:xfrm>
                    <a:off x="1639803" y="5256103"/>
                    <a:ext cx="526273" cy="493382"/>
                  </a:xfrm>
                  <a:prstGeom prst="ellipse">
                    <a:avLst/>
                  </a:prstGeom>
                  <a:blipFill rotWithShape="1">
                    <a:blip r:embed="rId7"/>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椭圆 24"/>
                  <p:cNvSpPr/>
                  <p:nvPr/>
                </p:nvSpPr>
                <p:spPr>
                  <a:xfrm>
                    <a:off x="5152591" y="4055762"/>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𝑦</m:t>
                          </m:r>
                        </m:oMath>
                      </m:oMathPara>
                    </a14:m>
                    <a:endParaRPr lang="zh-CN" altLang="en-US"/>
                  </a:p>
                </p:txBody>
              </p:sp>
            </mc:Choice>
            <mc:Fallback>
              <p:sp>
                <p:nvSpPr>
                  <p:cNvPr id="25" name="椭圆 24"/>
                  <p:cNvSpPr>
                    <a:spLocks noRot="1" noChangeAspect="1" noMove="1" noResize="1" noEditPoints="1" noAdjustHandles="1" noChangeArrowheads="1" noChangeShapeType="1" noTextEdit="1"/>
                  </p:cNvSpPr>
                  <p:nvPr/>
                </p:nvSpPr>
                <p:spPr>
                  <a:xfrm>
                    <a:off x="5152591" y="4055762"/>
                    <a:ext cx="526273" cy="493382"/>
                  </a:xfrm>
                  <a:prstGeom prst="ellipse">
                    <a:avLst/>
                  </a:prstGeom>
                  <a:blipFill rotWithShape="1">
                    <a:blip r:embed="rId7"/>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椭圆 25"/>
                  <p:cNvSpPr/>
                  <p:nvPr/>
                </p:nvSpPr>
                <p:spPr>
                  <a:xfrm>
                    <a:off x="5152591" y="4812702"/>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6" name="椭圆 25"/>
                  <p:cNvSpPr>
                    <a:spLocks noRot="1" noChangeAspect="1" noMove="1" noResize="1" noEditPoints="1" noAdjustHandles="1" noChangeArrowheads="1" noChangeShapeType="1" noTextEdit="1"/>
                  </p:cNvSpPr>
                  <p:nvPr/>
                </p:nvSpPr>
                <p:spPr>
                  <a:xfrm>
                    <a:off x="5152591" y="4812702"/>
                    <a:ext cx="526273" cy="493382"/>
                  </a:xfrm>
                  <a:prstGeom prst="ellipse">
                    <a:avLst/>
                  </a:prstGeom>
                  <a:blipFill rotWithShape="1">
                    <a:blip r:embed="rId8"/>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1544594" y="6059470"/>
                    <a:ext cx="71669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𝒚</m:t>
                              </m:r>
                            </m:e>
                          </m:d>
                        </m:oMath>
                      </m:oMathPara>
                    </a14:m>
                    <a:endParaRPr lang="zh-CN" altLang="en-US" b="1"/>
                  </a:p>
                </p:txBody>
              </p:sp>
            </mc:Choice>
            <mc:Fallback>
              <p:sp>
                <p:nvSpPr>
                  <p:cNvPr id="27" name="文本框 26"/>
                  <p:cNvSpPr txBox="1">
                    <a:spLocks noRot="1" noChangeAspect="1" noMove="1" noResize="1" noEditPoints="1" noAdjustHandles="1" noChangeArrowheads="1" noChangeShapeType="1" noTextEdit="1"/>
                  </p:cNvSpPr>
                  <p:nvPr/>
                </p:nvSpPr>
                <p:spPr>
                  <a:xfrm>
                    <a:off x="1544594" y="6059470"/>
                    <a:ext cx="716690" cy="276999"/>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3095762" y="5411522"/>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8" name="文本框 27"/>
                  <p:cNvSpPr txBox="1">
                    <a:spLocks noRot="1" noChangeAspect="1" noMove="1" noResize="1" noEditPoints="1" noAdjustHandles="1" noChangeArrowheads="1" noChangeShapeType="1" noTextEdit="1"/>
                  </p:cNvSpPr>
                  <p:nvPr/>
                </p:nvSpPr>
                <p:spPr>
                  <a:xfrm>
                    <a:off x="3095762" y="5411522"/>
                    <a:ext cx="914400" cy="276999"/>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25403" y="4161827"/>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𝑮</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9" name="文本框 28"/>
                  <p:cNvSpPr txBox="1">
                    <a:spLocks noRot="1" noChangeAspect="1" noMove="1" noResize="1" noEditPoints="1" noAdjustHandles="1" noChangeArrowheads="1" noChangeShapeType="1" noTextEdit="1"/>
                  </p:cNvSpPr>
                  <p:nvPr/>
                </p:nvSpPr>
                <p:spPr>
                  <a:xfrm>
                    <a:off x="725403" y="4161827"/>
                    <a:ext cx="914400" cy="276999"/>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5923003" y="5424049"/>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𝒛</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30" name="文本框 29"/>
                  <p:cNvSpPr txBox="1">
                    <a:spLocks noRot="1" noChangeAspect="1" noMove="1" noResize="1" noEditPoints="1" noAdjustHandles="1" noChangeArrowheads="1" noChangeShapeType="1" noTextEdit="1"/>
                  </p:cNvSpPr>
                  <p:nvPr/>
                </p:nvSpPr>
                <p:spPr>
                  <a:xfrm>
                    <a:off x="5923003" y="5424049"/>
                    <a:ext cx="914400" cy="276999"/>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4107625" y="5419498"/>
                    <a:ext cx="71669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𝒛</m:t>
                              </m:r>
                            </m:e>
                          </m:d>
                        </m:oMath>
                      </m:oMathPara>
                    </a14:m>
                    <a:endParaRPr lang="zh-CN" altLang="en-US" b="1"/>
                  </a:p>
                </p:txBody>
              </p:sp>
            </mc:Choice>
            <mc:Fallback>
              <p:sp>
                <p:nvSpPr>
                  <p:cNvPr id="31" name="文本框 30"/>
                  <p:cNvSpPr txBox="1">
                    <a:spLocks noRot="1" noChangeAspect="1" noMove="1" noResize="1" noEditPoints="1" noAdjustHandles="1" noChangeArrowheads="1" noChangeShapeType="1" noTextEdit="1"/>
                  </p:cNvSpPr>
                  <p:nvPr/>
                </p:nvSpPr>
                <p:spPr>
                  <a:xfrm>
                    <a:off x="4107625" y="5419498"/>
                    <a:ext cx="716690" cy="276999"/>
                  </a:xfrm>
                  <a:prstGeom prst="rect">
                    <a:avLst/>
                  </a:prstGeom>
                  <a:blipFill rotWithShape="1">
                    <a:blip r:embed="rId13"/>
                  </a:blipFill>
                </p:spPr>
                <p:txBody>
                  <a:bodyPr/>
                  <a:lstStyle/>
                  <a:p>
                    <a:r>
                      <a:rPr lang="zh-CN" altLang="en-US">
                        <a:noFill/>
                      </a:rPr>
                      <a:t> </a:t>
                    </a:r>
                  </a:p>
                </p:txBody>
              </p:sp>
            </mc:Fallback>
          </mc:AlternateContent>
          <p:cxnSp>
            <p:nvCxnSpPr>
              <p:cNvPr id="32" name="直接连接符 31"/>
              <p:cNvCxnSpPr>
                <a:stCxn id="18" idx="4"/>
                <a:endCxn id="19" idx="0"/>
              </p:cNvCxnSpPr>
              <p:nvPr/>
            </p:nvCxnSpPr>
            <p:spPr>
              <a:xfrm>
                <a:off x="3726316" y="2664652"/>
                <a:ext cx="0" cy="1721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9" idx="2"/>
                <a:endCxn id="20" idx="7"/>
              </p:cNvCxnSpPr>
              <p:nvPr/>
            </p:nvCxnSpPr>
            <p:spPr>
              <a:xfrm flipH="1">
                <a:off x="2302715" y="3083502"/>
                <a:ext cx="1160464" cy="3868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19" idx="6"/>
                <a:endCxn id="21" idx="1"/>
              </p:cNvCxnSpPr>
              <p:nvPr/>
            </p:nvCxnSpPr>
            <p:spPr>
              <a:xfrm>
                <a:off x="3989452" y="3083502"/>
                <a:ext cx="1240210" cy="3868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0" idx="3"/>
                <a:endCxn id="29" idx="0"/>
              </p:cNvCxnSpPr>
              <p:nvPr/>
            </p:nvCxnSpPr>
            <p:spPr>
              <a:xfrm flipH="1">
                <a:off x="1182603" y="3819189"/>
                <a:ext cx="747981" cy="3426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0" idx="5"/>
                <a:endCxn id="22" idx="0"/>
              </p:cNvCxnSpPr>
              <p:nvPr/>
            </p:nvCxnSpPr>
            <p:spPr>
              <a:xfrm>
                <a:off x="2302715" y="3819189"/>
                <a:ext cx="529911" cy="23087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2" idx="4"/>
                <a:endCxn id="23" idx="0"/>
              </p:cNvCxnSpPr>
              <p:nvPr/>
            </p:nvCxnSpPr>
            <p:spPr>
              <a:xfrm>
                <a:off x="2832626" y="4543442"/>
                <a:ext cx="0" cy="260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3" idx="2"/>
                <a:endCxn id="24" idx="7"/>
              </p:cNvCxnSpPr>
              <p:nvPr/>
            </p:nvCxnSpPr>
            <p:spPr>
              <a:xfrm flipH="1">
                <a:off x="2089005" y="5050720"/>
                <a:ext cx="480484" cy="27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3" idx="6"/>
                <a:endCxn id="28" idx="0"/>
              </p:cNvCxnSpPr>
              <p:nvPr/>
            </p:nvCxnSpPr>
            <p:spPr>
              <a:xfrm>
                <a:off x="3095762" y="5050720"/>
                <a:ext cx="457200" cy="36080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24" idx="4"/>
                <a:endCxn id="27" idx="0"/>
              </p:cNvCxnSpPr>
              <p:nvPr/>
            </p:nvCxnSpPr>
            <p:spPr>
              <a:xfrm flipH="1">
                <a:off x="1902939" y="5749485"/>
                <a:ext cx="1" cy="30998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21" idx="4"/>
                <a:endCxn id="25" idx="0"/>
              </p:cNvCxnSpPr>
              <p:nvPr/>
            </p:nvCxnSpPr>
            <p:spPr>
              <a:xfrm>
                <a:off x="5415728" y="3891443"/>
                <a:ext cx="0" cy="16431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5" idx="4"/>
                <a:endCxn id="26" idx="0"/>
              </p:cNvCxnSpPr>
              <p:nvPr/>
            </p:nvCxnSpPr>
            <p:spPr>
              <a:xfrm>
                <a:off x="5415728" y="4549144"/>
                <a:ext cx="0" cy="26355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26" idx="2"/>
                <a:endCxn id="31" idx="0"/>
              </p:cNvCxnSpPr>
              <p:nvPr/>
            </p:nvCxnSpPr>
            <p:spPr>
              <a:xfrm flipH="1">
                <a:off x="4465970" y="5059393"/>
                <a:ext cx="686621" cy="36010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6" idx="6"/>
                <a:endCxn id="30" idx="0"/>
              </p:cNvCxnSpPr>
              <p:nvPr/>
            </p:nvCxnSpPr>
            <p:spPr>
              <a:xfrm>
                <a:off x="5678864" y="5059393"/>
                <a:ext cx="701339" cy="364656"/>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4" name="矩形: 圆角 13"/>
            <p:cNvSpPr/>
            <p:nvPr/>
          </p:nvSpPr>
          <p:spPr>
            <a:xfrm>
              <a:off x="1197273" y="2256398"/>
              <a:ext cx="6446846" cy="3609889"/>
            </a:xfrm>
            <a:prstGeom prst="roundRect">
              <a:avLst>
                <a:gd name="adj" fmla="val 617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315176" y="2401122"/>
                  <a:ext cx="1177537" cy="369332"/>
                </a:xfrm>
                <a:prstGeom prst="rect">
                  <a:avLst/>
                </a:prstGeom>
                <a:solidFill>
                  <a:schemeClr val="accent5">
                    <a:lumMod val="20000"/>
                    <a:lumOff val="8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i="1" smtClean="0">
                          <a:latin typeface="Cambria Math" panose="02040503050406030204" pitchFamily="18" charset="0"/>
                        </a:rPr>
                        <m:t>∃</m:t>
                      </m:r>
                      <m:r>
                        <a:rPr lang="en-US" altLang="zh-CN" i="1" smtClean="0">
                          <a:latin typeface="Cambria Math" panose="02040503050406030204" pitchFamily="18" charset="0"/>
                        </a:rPr>
                        <m:t>𝑥</m:t>
                      </m:r>
                    </m:oMath>
                  </a14:m>
                  <a:r>
                    <a:rPr lang="zh-CN" altLang="en-US"/>
                    <a:t>的辖域</a:t>
                  </a:r>
                  <a:endParaRPr lang="zh-CN" altLang="en-US"/>
                </a:p>
              </p:txBody>
            </p:sp>
          </mc:Choice>
          <mc:Fallback>
            <p:sp>
              <p:nvSpPr>
                <p:cNvPr id="2" name="文本框 1"/>
                <p:cNvSpPr txBox="1">
                  <a:spLocks noRot="1" noChangeAspect="1" noMove="1" noResize="1" noEditPoints="1" noAdjustHandles="1" noChangeArrowheads="1" noChangeShapeType="1" noTextEdit="1"/>
                </p:cNvSpPr>
                <p:nvPr/>
              </p:nvSpPr>
              <p:spPr>
                <a:xfrm>
                  <a:off x="1315176" y="2401122"/>
                  <a:ext cx="1177537" cy="369332"/>
                </a:xfrm>
                <a:prstGeom prst="rect">
                  <a:avLst/>
                </a:prstGeom>
                <a:blipFill rotWithShape="1">
                  <a:blip r:embed="rId14"/>
                </a:blipFill>
                <a:ln w="12700">
                  <a:solidFill>
                    <a:schemeClr val="accent1">
                      <a:shade val="50000"/>
                    </a:schemeClr>
                  </a:solidFill>
                  <a:prstDash val="sysDash"/>
                </a:ln>
              </p:spPr>
              <p:txBody>
                <a:bodyPr/>
                <a:lstStyle/>
                <a:p>
                  <a:r>
                    <a:rPr lang="zh-CN" altLang="en-US">
                      <a:noFill/>
                    </a:rPr>
                    <a:t> </a:t>
                  </a:r>
                </a:p>
              </p:txBody>
            </p:sp>
          </mc:Fallback>
        </mc:AlternateContent>
        <p:sp>
          <p:nvSpPr>
            <p:cNvPr id="4" name="矩形: 圆角 3"/>
            <p:cNvSpPr/>
            <p:nvPr/>
          </p:nvSpPr>
          <p:spPr>
            <a:xfrm>
              <a:off x="802569" y="5354832"/>
              <a:ext cx="2166988" cy="641820"/>
            </a:xfrm>
            <a:prstGeom prst="roundRect">
              <a:avLst/>
            </a:prstGeom>
            <a:noFill/>
            <a:ln w="19050">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898237" y="5509494"/>
                  <a:ext cx="1150697" cy="369332"/>
                </a:xfrm>
                <a:prstGeom prst="rect">
                  <a:avLst/>
                </a:prstGeom>
                <a:solidFill>
                  <a:schemeClr val="accent6">
                    <a:lumMod val="20000"/>
                    <a:lumOff val="80000"/>
                  </a:schemeClr>
                </a:solidFill>
                <a:ln w="19050">
                  <a:solidFill>
                    <a:schemeClr val="accent6">
                      <a:lumMod val="50000"/>
                    </a:schemeClr>
                  </a:solidFill>
                  <a:prstDash val="dash"/>
                </a:ln>
              </p:spPr>
              <p:txBody>
                <a:bodyPr wrap="square" rtlCol="0">
                  <a:spAutoFit/>
                </a:bodyPr>
                <a:lstStyle/>
                <a:p>
                  <a14:m>
                    <m:oMath xmlns:m="http://schemas.openxmlformats.org/officeDocument/2006/math">
                      <m:r>
                        <a:rPr lang="en-US" altLang="zh-CN" i="1" smtClean="0">
                          <a:latin typeface="Cambria Math" panose="02040503050406030204" pitchFamily="18" charset="0"/>
                        </a:rPr>
                        <m:t>∃</m:t>
                      </m:r>
                      <m:r>
                        <a:rPr lang="en-US" altLang="zh-CN" i="1" smtClean="0">
                          <a:latin typeface="Cambria Math" panose="02040503050406030204" pitchFamily="18" charset="0"/>
                        </a:rPr>
                        <m:t>𝑦</m:t>
                      </m:r>
                    </m:oMath>
                  </a14:m>
                  <a:r>
                    <a:rPr lang="zh-CN" altLang="en-US"/>
                    <a:t>的辖域</a:t>
                  </a:r>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898237" y="5509494"/>
                  <a:ext cx="1150697" cy="369332"/>
                </a:xfrm>
                <a:prstGeom prst="rect">
                  <a:avLst/>
                </a:prstGeom>
                <a:blipFill rotWithShape="1">
                  <a:blip r:embed="rId15"/>
                </a:blipFill>
                <a:ln w="19050">
                  <a:solidFill>
                    <a:schemeClr val="accent6">
                      <a:lumMod val="50000"/>
                    </a:schemeClr>
                  </a:solidFill>
                  <a:prstDash val="dash"/>
                </a:ln>
              </p:spPr>
              <p:txBody>
                <a:bodyPr/>
                <a:lstStyle/>
                <a:p>
                  <a:r>
                    <a:rPr lang="zh-CN" altLang="en-US">
                      <a:noFill/>
                    </a:rPr>
                    <a:t> </a:t>
                  </a:r>
                </a:p>
              </p:txBody>
            </p:sp>
          </mc:Fallback>
        </mc:AlternateContent>
        <p:sp>
          <p:nvSpPr>
            <p:cNvPr id="45" name="矩形: 圆角 44"/>
            <p:cNvSpPr/>
            <p:nvPr/>
          </p:nvSpPr>
          <p:spPr>
            <a:xfrm>
              <a:off x="4640769" y="3429000"/>
              <a:ext cx="2898097" cy="1925832"/>
            </a:xfrm>
            <a:prstGeom prst="roundRect">
              <a:avLst>
                <a:gd name="adj" fmla="val 11543"/>
              </a:avLst>
            </a:prstGeom>
            <a:noFill/>
            <a:ln w="19050">
              <a:solidFill>
                <a:schemeClr val="accent4">
                  <a:lumMod val="5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6" name="文本框 45"/>
                <p:cNvSpPr txBox="1"/>
                <p:nvPr/>
              </p:nvSpPr>
              <p:spPr>
                <a:xfrm>
                  <a:off x="6268638" y="3486699"/>
                  <a:ext cx="1167151" cy="369332"/>
                </a:xfrm>
                <a:prstGeom prst="rect">
                  <a:avLst/>
                </a:prstGeom>
                <a:solidFill>
                  <a:schemeClr val="accent4">
                    <a:lumMod val="20000"/>
                    <a:lumOff val="80000"/>
                  </a:schemeClr>
                </a:solidFill>
                <a:ln w="19050">
                  <a:solidFill>
                    <a:schemeClr val="accent4">
                      <a:lumMod val="50000"/>
                    </a:schemeClr>
                  </a:solidFill>
                  <a:prstDash val="dashDot"/>
                </a:ln>
              </p:spPr>
              <p:txBody>
                <a:bodyPr wrap="square" rtlCol="0">
                  <a:spAutoFit/>
                </a:bodyPr>
                <a:lstStyle/>
                <a:p>
                  <a14:m>
                    <m:oMath xmlns:m="http://schemas.openxmlformats.org/officeDocument/2006/math">
                      <m:r>
                        <a:rPr lang="en-US" altLang="zh-CN" i="1" smtClean="0">
                          <a:latin typeface="Cambria Math" panose="02040503050406030204" pitchFamily="18" charset="0"/>
                        </a:rPr>
                        <m:t>∀</m:t>
                      </m:r>
                      <m:r>
                        <a:rPr lang="en-US" altLang="zh-CN" i="1" smtClean="0">
                          <a:latin typeface="Cambria Math" panose="02040503050406030204" pitchFamily="18" charset="0"/>
                        </a:rPr>
                        <m:t>𝑧</m:t>
                      </m:r>
                    </m:oMath>
                  </a14:m>
                  <a:r>
                    <a:rPr lang="zh-CN" altLang="en-US"/>
                    <a:t>的辖域</a:t>
                  </a:r>
                  <a:endParaRPr lang="zh-CN" altLang="en-US"/>
                </a:p>
              </p:txBody>
            </p:sp>
          </mc:Choice>
          <mc:Fallback>
            <p:sp>
              <p:nvSpPr>
                <p:cNvPr id="46" name="文本框 45"/>
                <p:cNvSpPr txBox="1">
                  <a:spLocks noRot="1" noChangeAspect="1" noMove="1" noResize="1" noEditPoints="1" noAdjustHandles="1" noChangeArrowheads="1" noChangeShapeType="1" noTextEdit="1"/>
                </p:cNvSpPr>
                <p:nvPr/>
              </p:nvSpPr>
              <p:spPr>
                <a:xfrm>
                  <a:off x="6268638" y="3486699"/>
                  <a:ext cx="1167151" cy="369332"/>
                </a:xfrm>
                <a:prstGeom prst="rect">
                  <a:avLst/>
                </a:prstGeom>
                <a:blipFill rotWithShape="1">
                  <a:blip r:embed="rId16"/>
                </a:blipFill>
                <a:ln w="19050">
                  <a:solidFill>
                    <a:schemeClr val="accent4">
                      <a:lumMod val="50000"/>
                    </a:schemeClr>
                  </a:solidFill>
                  <a:prstDash val="dashDot"/>
                </a:ln>
              </p:spPr>
              <p:txBody>
                <a:bodyPr/>
                <a:lstStyle/>
                <a:p>
                  <a:r>
                    <a:rPr lang="zh-CN" altLang="en-US">
                      <a:noFill/>
                    </a:rPr>
                    <a:t> </a:t>
                  </a:r>
                </a:p>
              </p:txBody>
            </p:sp>
          </mc:Fallback>
        </mc:AlternateContent>
        <p:sp>
          <p:nvSpPr>
            <p:cNvPr id="47" name="矩形: 圆角 46"/>
            <p:cNvSpPr/>
            <p:nvPr/>
          </p:nvSpPr>
          <p:spPr>
            <a:xfrm>
              <a:off x="4697399" y="4223344"/>
              <a:ext cx="2788836" cy="1111267"/>
            </a:xfrm>
            <a:prstGeom prst="roundRect">
              <a:avLst>
                <a:gd name="adj" fmla="val 6603"/>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8" name="文本框 47"/>
                <p:cNvSpPr txBox="1"/>
                <p:nvPr/>
              </p:nvSpPr>
              <p:spPr>
                <a:xfrm>
                  <a:off x="6290791" y="4297342"/>
                  <a:ext cx="1167151" cy="369332"/>
                </a:xfrm>
                <a:prstGeom prst="rect">
                  <a:avLst/>
                </a:prstGeom>
                <a:solidFill>
                  <a:schemeClr val="tx1">
                    <a:lumMod val="50000"/>
                    <a:lumOff val="50000"/>
                    <a:alpha val="50000"/>
                  </a:schemeClr>
                </a:solidFill>
                <a:ln w="12700">
                  <a:solidFill>
                    <a:schemeClr val="accent5">
                      <a:lumMod val="50000"/>
                    </a:schemeClr>
                  </a:solidFill>
                  <a:prstDash val="solid"/>
                </a:ln>
              </p:spPr>
              <p:txBody>
                <a:bodyPr wrap="square" rtlCol="0">
                  <a:spAutoFit/>
                </a:bodyPr>
                <a:lstStyle/>
                <a:p>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𝑦</m:t>
                      </m:r>
                    </m:oMath>
                  </a14:m>
                  <a:r>
                    <a:rPr lang="zh-CN" altLang="en-US"/>
                    <a:t>的辖域</a:t>
                  </a:r>
                  <a:endParaRPr lang="zh-CN" altLang="en-US"/>
                </a:p>
              </p:txBody>
            </p:sp>
          </mc:Choice>
          <mc:Fallback>
            <p:sp>
              <p:nvSpPr>
                <p:cNvPr id="48" name="文本框 47"/>
                <p:cNvSpPr txBox="1">
                  <a:spLocks noRot="1" noChangeAspect="1" noMove="1" noResize="1" noEditPoints="1" noAdjustHandles="1" noChangeArrowheads="1" noChangeShapeType="1" noTextEdit="1"/>
                </p:cNvSpPr>
                <p:nvPr/>
              </p:nvSpPr>
              <p:spPr>
                <a:xfrm>
                  <a:off x="6290791" y="4297342"/>
                  <a:ext cx="1167151" cy="369332"/>
                </a:xfrm>
                <a:prstGeom prst="rect">
                  <a:avLst/>
                </a:prstGeom>
                <a:blipFill rotWithShape="1">
                  <a:blip r:embed="rId17"/>
                </a:blipFill>
                <a:ln w="12700">
                  <a:solidFill>
                    <a:schemeClr val="accent5">
                      <a:lumMod val="50000"/>
                    </a:schemeClr>
                  </a:solidFill>
                  <a:prstDash val="solid"/>
                </a:ln>
              </p:spPr>
              <p:txBody>
                <a:bodyPr/>
                <a:lstStyle/>
                <a:p>
                  <a:r>
                    <a:rPr lang="zh-CN" altLang="en-US">
                      <a:noFill/>
                    </a:rPr>
                    <a:t> </a:t>
                  </a:r>
                </a:p>
              </p:txBody>
            </p:sp>
          </mc:Fallback>
        </mc:AlternateContent>
      </p:grpSp>
      <p:sp>
        <p:nvSpPr>
          <p:cNvPr id="49" name="文本框 48"/>
          <p:cNvSpPr txBox="1"/>
          <p:nvPr/>
        </p:nvSpPr>
        <p:spPr>
          <a:xfrm>
            <a:off x="8117119" y="1593174"/>
            <a:ext cx="2982215" cy="923330"/>
          </a:xfrm>
          <a:prstGeom prst="rect">
            <a:avLst/>
          </a:prstGeom>
          <a:solidFill>
            <a:schemeClr val="accent2">
              <a:lumMod val="20000"/>
              <a:lumOff val="80000"/>
            </a:schemeClr>
          </a:solidFill>
        </p:spPr>
        <p:txBody>
          <a:bodyPr wrap="square" rtlCol="0">
            <a:spAutoFit/>
          </a:bodyPr>
          <a:lstStyle/>
          <a:p>
            <a:r>
              <a:rPr lang="zh-CN" altLang="en-US" b="1">
                <a:solidFill>
                  <a:srgbClr val="002060"/>
                </a:solidFill>
              </a:rPr>
              <a:t>从抽象语法树角度看，一个量词的辖域是以它的儿子节点为根的子树对应的子公式</a:t>
            </a:r>
            <a:endParaRPr lang="zh-CN" altLang="en-US" b="1">
              <a:solidFill>
                <a:srgbClr val="002060"/>
              </a:solidFill>
            </a:endParaRPr>
          </a:p>
        </p:txBody>
      </p:sp>
      <mc:AlternateContent xmlns:mc="http://schemas.openxmlformats.org/markup-compatibility/2006">
        <mc:Choice xmlns:a14="http://schemas.microsoft.com/office/drawing/2010/main" Requires="a14">
          <p:sp>
            <p:nvSpPr>
              <p:cNvPr id="50" name="文本框 49"/>
              <p:cNvSpPr txBox="1"/>
              <p:nvPr/>
            </p:nvSpPr>
            <p:spPr>
              <a:xfrm>
                <a:off x="7630961" y="2840481"/>
                <a:ext cx="3999678" cy="3117585"/>
              </a:xfrm>
              <a:prstGeom prst="rect">
                <a:avLst/>
              </a:prstGeom>
              <a:solidFill>
                <a:schemeClr val="accent6">
                  <a:lumMod val="20000"/>
                  <a:lumOff val="80000"/>
                  <a:alpha val="49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量词</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的辖域是：</a:t>
                </a:r>
                <a:endParaRPr lang="en-US" altLang="zh-CN" b="1">
                  <a:solidFill>
                    <a:srgbClr val="002060"/>
                  </a:solidFill>
                  <a:latin typeface="楷体" panose="02010609060101010101" pitchFamily="49" charset="-122"/>
                  <a:ea typeface="楷体" panose="02010609060101010101" pitchFamily="49" charset="-122"/>
                </a:endParaRPr>
              </a:p>
              <a:p>
                <a14:m>
                  <m:oMathPara xmlns:m="http://schemas.openxmlformats.org/officeDocument/2006/math">
                    <m:oMathParaPr>
                      <m:jc m:val="center"/>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m:oMathPara>
                </a14:m>
                <a:endParaRPr lang="en-US" altLang="zh-CN">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前一个量词</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m:t>
                    </m:r>
                    <m:r>
                      <a:rPr lang="en-US" altLang="zh-CN" b="1" i="1">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的辖域是：</a:t>
                </a:r>
                <a:endParaRPr lang="en-US" altLang="zh-CN" b="1">
                  <a:solidFill>
                    <a:srgbClr val="002060"/>
                  </a:solidFill>
                  <a:latin typeface="楷体" panose="02010609060101010101" pitchFamily="49" charset="-122"/>
                  <a:ea typeface="楷体" panose="02010609060101010101" pitchFamily="49" charset="-122"/>
                </a:endParaRPr>
              </a:p>
              <a:p>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𝑭</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m:t>
                      </m:r>
                    </m:oMath>
                  </m:oMathPara>
                </a14:m>
                <a:endParaRPr lang="en-US" altLang="zh-CN" b="1" i="1">
                  <a:solidFill>
                    <a:schemeClr val="accent2">
                      <a:lumMod val="50000"/>
                    </a:schemeClr>
                  </a:solidFill>
                  <a:latin typeface="Cambria Math" panose="02040503050406030204" pitchFamily="18" charset="0"/>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量词</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m:t>
                    </m:r>
                    <m:r>
                      <a:rPr lang="en-US" altLang="zh-CN" b="1" i="1">
                        <a:solidFill>
                          <a:srgbClr val="002060"/>
                        </a:solidFill>
                        <a:latin typeface="Cambria Math" panose="02040503050406030204" pitchFamily="18" charset="0"/>
                        <a:ea typeface="楷体" panose="02010609060101010101" pitchFamily="49" charset="-122"/>
                      </a:rPr>
                      <m:t>𝒛</m:t>
                    </m:r>
                  </m:oMath>
                </a14:m>
                <a:r>
                  <a:rPr lang="zh-CN" altLang="en-US" b="1">
                    <a:solidFill>
                      <a:srgbClr val="002060"/>
                    </a:solidFill>
                    <a:latin typeface="楷体" panose="02010609060101010101" pitchFamily="49" charset="-122"/>
                    <a:ea typeface="楷体" panose="02010609060101010101" pitchFamily="49" charset="-122"/>
                  </a:rPr>
                  <a:t>的辖域是：</a:t>
                </a:r>
                <a:endParaRPr lang="en-US" altLang="zh-CN" b="1">
                  <a:solidFill>
                    <a:srgbClr val="002060"/>
                  </a:solidFill>
                  <a:latin typeface="楷体" panose="02010609060101010101" pitchFamily="49" charset="-122"/>
                  <a:ea typeface="楷体" panose="02010609060101010101" pitchFamily="49" charset="-122"/>
                </a:endParaRPr>
              </a:p>
              <a:p>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m:oMathPara>
                </a14:m>
                <a:endParaRPr lang="en-US" altLang="zh-CN">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后一个量词</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m:t>
                    </m:r>
                    <m:r>
                      <a:rPr lang="en-US" altLang="zh-CN" b="1" i="1">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的辖域是：</a:t>
                </a:r>
                <a:endParaRPr lang="en-US" altLang="zh-CN" b="1">
                  <a:solidFill>
                    <a:srgbClr val="002060"/>
                  </a:solidFill>
                  <a:latin typeface="楷体" panose="02010609060101010101" pitchFamily="49" charset="-122"/>
                  <a:ea typeface="楷体" panose="02010609060101010101" pitchFamily="49" charset="-122"/>
                </a:endParaRPr>
              </a:p>
              <a:p>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𝒛</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m:oMathPara>
                </a14:m>
                <a:endParaRPr lang="zh-CN" altLang="en-US">
                  <a:solidFill>
                    <a:schemeClr val="accent2">
                      <a:lumMod val="50000"/>
                    </a:schemeClr>
                  </a:solidFill>
                </a:endParaRPr>
              </a:p>
            </p:txBody>
          </p:sp>
        </mc:Choice>
        <mc:Fallback>
          <p:sp>
            <p:nvSpPr>
              <p:cNvPr id="50" name="文本框 49"/>
              <p:cNvSpPr txBox="1">
                <a:spLocks noRot="1" noChangeAspect="1" noMove="1" noResize="1" noEditPoints="1" noAdjustHandles="1" noChangeArrowheads="1" noChangeShapeType="1" noTextEdit="1"/>
              </p:cNvSpPr>
              <p:nvPr/>
            </p:nvSpPr>
            <p:spPr>
              <a:xfrm>
                <a:off x="7630961" y="2840481"/>
                <a:ext cx="3999678" cy="3117585"/>
              </a:xfrm>
              <a:prstGeom prst="rect">
                <a:avLst/>
              </a:prstGeom>
              <a:blipFill rotWithShape="1">
                <a:blip r:embed="rId18"/>
                <a:stretch>
                  <a:fillRect l="-4" t="-4" r="15" b="16"/>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个体变量的出现与抽象语法树</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509055" y="861348"/>
                <a:ext cx="8456104" cy="369332"/>
              </a:xfrm>
              <a:prstGeom prst="rect">
                <a:avLst/>
              </a:prstGeom>
              <a:solidFill>
                <a:schemeClr val="accent6">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的抽象语法树</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509055" y="861348"/>
                <a:ext cx="8456104" cy="369332"/>
              </a:xfrm>
              <a:prstGeom prst="rect">
                <a:avLst/>
              </a:prstGeom>
              <a:blipFill rotWithShape="1">
                <a:blip r:embed="rId1"/>
                <a:stretch>
                  <a:fillRect l="-5" t="-78" r="3" b="-60850"/>
                </a:stretch>
              </a:blipFill>
            </p:spPr>
            <p:txBody>
              <a:bodyPr/>
              <a:lstStyle/>
              <a:p>
                <a:r>
                  <a:rPr lang="zh-CN" altLang="en-US">
                    <a:noFill/>
                  </a:rPr>
                  <a:t> </a:t>
                </a:r>
              </a:p>
            </p:txBody>
          </p:sp>
        </mc:Fallback>
      </mc:AlternateContent>
      <p:sp>
        <p:nvSpPr>
          <p:cNvPr id="49" name="文本框 48"/>
          <p:cNvSpPr txBox="1"/>
          <p:nvPr/>
        </p:nvSpPr>
        <p:spPr>
          <a:xfrm>
            <a:off x="7508487" y="1508646"/>
            <a:ext cx="4258204" cy="2131802"/>
          </a:xfrm>
          <a:prstGeom prst="rect">
            <a:avLst/>
          </a:prstGeom>
          <a:solidFill>
            <a:schemeClr val="accent2">
              <a:lumMod val="20000"/>
              <a:lumOff val="80000"/>
            </a:schemeClr>
          </a:solidFill>
        </p:spPr>
        <p:txBody>
          <a:bodyPr wrap="square" rtlCol="0">
            <a:spAutoFit/>
          </a:bodyPr>
          <a:lstStyle/>
          <a:p>
            <a:pPr algn="ctr">
              <a:lnSpc>
                <a:spcPts val="2400"/>
              </a:lnSpc>
              <a:spcBef>
                <a:spcPts val="600"/>
              </a:spcBef>
            </a:pPr>
            <a:r>
              <a:rPr lang="zh-CN" altLang="en-US" b="1">
                <a:solidFill>
                  <a:srgbClr val="002060"/>
                </a:solidFill>
              </a:rPr>
              <a:t>从抽象语法树角度看</a:t>
            </a:r>
            <a:endParaRPr lang="en-US" altLang="zh-CN" b="1">
              <a:solidFill>
                <a:srgbClr val="002060"/>
              </a:solidFill>
            </a:endParaRP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一个个体变量的一处出现是约束出现</a:t>
            </a:r>
            <a:endParaRPr lang="en-US" altLang="zh-CN" b="1">
              <a:solidFill>
                <a:srgbClr val="002060"/>
              </a:solidFill>
              <a:latin typeface="楷体" panose="02010609060101010101" pitchFamily="49" charset="-122"/>
              <a:ea typeface="楷体" panose="02010609060101010101" pitchFamily="49" charset="-122"/>
            </a:endParaRPr>
          </a:p>
          <a:p>
            <a:pPr marL="742950" lvl="1" indent="-285750">
              <a:lnSpc>
                <a:spcPts val="2400"/>
              </a:lnSpc>
              <a:spcBef>
                <a:spcPts val="600"/>
              </a:spcBef>
              <a:buFont typeface="Arial" panose="020B0604020202020204" pitchFamily="34" charset="0"/>
              <a:buChar char="•"/>
            </a:pPr>
            <a:r>
              <a:rPr lang="zh-CN" altLang="en-US" sz="1600" b="1">
                <a:solidFill>
                  <a:schemeClr val="accent6">
                    <a:lumMod val="50000"/>
                  </a:schemeClr>
                </a:solidFill>
                <a:latin typeface="宋体" panose="02010600030101010101" pitchFamily="2" charset="-122"/>
                <a:ea typeface="宋体" panose="02010600030101010101" pitchFamily="2" charset="-122"/>
              </a:rPr>
              <a:t>如果从根节点到该处的唯一路径存在以该变量为指示变量的量词节点</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个体变量在一处的出现不是约束出现就是自由出现</a:t>
            </a:r>
            <a:endParaRPr lang="zh-CN" altLang="en-US"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50" name="文本框 49"/>
              <p:cNvSpPr txBox="1"/>
              <p:nvPr/>
            </p:nvSpPr>
            <p:spPr>
              <a:xfrm>
                <a:off x="7527367" y="3903771"/>
                <a:ext cx="4258203" cy="2092881"/>
              </a:xfrm>
              <a:prstGeom prst="rect">
                <a:avLst/>
              </a:prstGeom>
              <a:solidFill>
                <a:schemeClr val="accent6">
                  <a:lumMod val="20000"/>
                  <a:lumOff val="80000"/>
                  <a:alpha val="49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中</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oMath>
                </a14:m>
                <a:r>
                  <a:rPr lang="zh-CN" altLang="en-US" b="1">
                    <a:solidFill>
                      <a:srgbClr val="002060"/>
                    </a:solidFill>
                    <a:latin typeface="楷体" panose="02010609060101010101" pitchFamily="49" charset="-122"/>
                    <a:ea typeface="楷体" panose="02010609060101010101" pitchFamily="49" charset="-122"/>
                  </a:rPr>
                  <a:t>是约束出现，</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是自由出现</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𝑭</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𝒚</m:t>
                    </m:r>
                    <m:r>
                      <a:rPr lang="en-US" altLang="zh-CN" b="1" i="1" smtClean="0">
                        <a:solidFill>
                          <a:srgbClr val="002060"/>
                        </a:solidFill>
                        <a:latin typeface="Cambria Math" panose="02040503050406030204" pitchFamily="18" charset="0"/>
                        <a:ea typeface="楷体" panose="02010609060101010101" pitchFamily="49" charset="-122"/>
                      </a:rPr>
                      <m:t>)</m:t>
                    </m:r>
                  </m:oMath>
                </a14:m>
                <a:r>
                  <a:rPr lang="zh-CN" altLang="en-US" b="1">
                    <a:solidFill>
                      <a:srgbClr val="002060"/>
                    </a:solidFill>
                    <a:latin typeface="楷体" panose="02010609060101010101" pitchFamily="49" charset="-122"/>
                    <a:ea typeface="楷体" panose="02010609060101010101" pitchFamily="49" charset="-122"/>
                  </a:rPr>
                  <a:t>中</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是约束出现</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𝑯</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𝒙</m:t>
                    </m:r>
                    <m:r>
                      <a:rPr lang="en-US" altLang="zh-CN" b="1" i="1" smtClean="0">
                        <a:solidFill>
                          <a:srgbClr val="002060"/>
                        </a:solidFill>
                        <a:latin typeface="Cambria Math" panose="02040503050406030204" pitchFamily="18" charset="0"/>
                        <a:ea typeface="楷体" panose="02010609060101010101" pitchFamily="49" charset="-122"/>
                      </a:rPr>
                      <m:t>, </m:t>
                    </m:r>
                    <m:r>
                      <a:rPr lang="en-US" altLang="zh-CN" b="1" i="1" smtClean="0">
                        <a:solidFill>
                          <a:srgbClr val="002060"/>
                        </a:solidFill>
                        <a:latin typeface="Cambria Math" panose="02040503050406030204" pitchFamily="18" charset="0"/>
                        <a:ea typeface="楷体" panose="02010609060101010101" pitchFamily="49" charset="-122"/>
                      </a:rPr>
                      <m:t>𝒚</m:t>
                    </m:r>
                    <m:r>
                      <a:rPr lang="en-US" altLang="zh-CN" b="1" i="1" smtClean="0">
                        <a:solidFill>
                          <a:srgbClr val="002060"/>
                        </a:solidFill>
                        <a:latin typeface="Cambria Math" panose="02040503050406030204" pitchFamily="18" charset="0"/>
                        <a:ea typeface="楷体" panose="02010609060101010101" pitchFamily="49" charset="-122"/>
                      </a:rPr>
                      <m:t>)</m:t>
                    </m:r>
                  </m:oMath>
                </a14:m>
                <a:r>
                  <a:rPr lang="zh-CN" altLang="en-US" b="1">
                    <a:solidFill>
                      <a:srgbClr val="002060"/>
                    </a:solidFill>
                    <a:latin typeface="楷体" panose="02010609060101010101" pitchFamily="49" charset="-122"/>
                    <a:ea typeface="楷体" panose="02010609060101010101" pitchFamily="49" charset="-122"/>
                  </a:rPr>
                  <a:t>中</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oMath>
                </a14:m>
                <a:r>
                  <a:rPr lang="zh-CN" altLang="en-US" b="1">
                    <a:solidFill>
                      <a:srgbClr val="002060"/>
                    </a:solidFill>
                    <a:latin typeface="楷体" panose="02010609060101010101" pitchFamily="49" charset="-122"/>
                    <a:ea typeface="楷体" panose="02010609060101010101" pitchFamily="49" charset="-122"/>
                  </a:rPr>
                  <a:t>是约束出现，</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是自由出现</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𝑭</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𝒛</m:t>
                    </m:r>
                    <m:r>
                      <a:rPr lang="en-US" altLang="zh-CN" b="1" i="1" smtClean="0">
                        <a:solidFill>
                          <a:srgbClr val="002060"/>
                        </a:solidFill>
                        <a:latin typeface="Cambria Math" panose="02040503050406030204" pitchFamily="18" charset="0"/>
                        <a:ea typeface="楷体" panose="02010609060101010101" pitchFamily="49" charset="-122"/>
                      </a:rPr>
                      <m:t>)</m:t>
                    </m:r>
                  </m:oMath>
                </a14:m>
                <a:r>
                  <a:rPr lang="zh-CN" altLang="en-US" b="1">
                    <a:solidFill>
                      <a:srgbClr val="002060"/>
                    </a:solidFill>
                    <a:latin typeface="楷体" panose="02010609060101010101" pitchFamily="49" charset="-122"/>
                    <a:ea typeface="楷体" panose="02010609060101010101" pitchFamily="49" charset="-122"/>
                  </a:rPr>
                  <a:t>中</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𝒛</m:t>
                    </m:r>
                  </m:oMath>
                </a14:m>
                <a:r>
                  <a:rPr lang="zh-CN" altLang="en-US" b="1">
                    <a:solidFill>
                      <a:srgbClr val="002060"/>
                    </a:solidFill>
                    <a:latin typeface="楷体" panose="02010609060101010101" pitchFamily="49" charset="-122"/>
                    <a:ea typeface="楷体" panose="02010609060101010101" pitchFamily="49" charset="-122"/>
                  </a:rPr>
                  <a:t>是约束出现</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𝑯</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𝒛</m:t>
                    </m:r>
                    <m:r>
                      <a:rPr lang="en-US" altLang="zh-CN" b="1" i="1" smtClean="0">
                        <a:solidFill>
                          <a:srgbClr val="002060"/>
                        </a:solidFill>
                        <a:latin typeface="Cambria Math" panose="02040503050406030204" pitchFamily="18" charset="0"/>
                        <a:ea typeface="楷体" panose="02010609060101010101" pitchFamily="49" charset="-122"/>
                      </a:rPr>
                      <m:t>, </m:t>
                    </m:r>
                    <m:r>
                      <a:rPr lang="en-US" altLang="zh-CN" b="1" i="1" smtClean="0">
                        <a:solidFill>
                          <a:srgbClr val="002060"/>
                        </a:solidFill>
                        <a:latin typeface="Cambria Math" panose="02040503050406030204" pitchFamily="18" charset="0"/>
                        <a:ea typeface="楷体" panose="02010609060101010101" pitchFamily="49" charset="-122"/>
                      </a:rPr>
                      <m:t>𝒚</m:t>
                    </m:r>
                    <m:r>
                      <a:rPr lang="en-US" altLang="zh-CN" b="1" i="1" smtClean="0">
                        <a:solidFill>
                          <a:srgbClr val="002060"/>
                        </a:solidFill>
                        <a:latin typeface="Cambria Math" panose="02040503050406030204" pitchFamily="18" charset="0"/>
                        <a:ea typeface="楷体" panose="02010609060101010101" pitchFamily="49" charset="-122"/>
                      </a:rPr>
                      <m:t>)</m:t>
                    </m:r>
                  </m:oMath>
                </a14:m>
                <a:r>
                  <a:rPr lang="zh-CN" altLang="en-US" b="1">
                    <a:solidFill>
                      <a:srgbClr val="002060"/>
                    </a:solidFill>
                    <a:latin typeface="楷体" panose="02010609060101010101" pitchFamily="49" charset="-122"/>
                    <a:ea typeface="楷体" panose="02010609060101010101" pitchFamily="49" charset="-122"/>
                  </a:rPr>
                  <a:t>中</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𝒛</m:t>
                    </m:r>
                  </m:oMath>
                </a14:m>
                <a:r>
                  <a:rPr lang="zh-CN" altLang="en-US" b="1">
                    <a:solidFill>
                      <a:srgbClr val="002060"/>
                    </a:solidFill>
                    <a:latin typeface="楷体" panose="02010609060101010101" pitchFamily="49" charset="-122"/>
                    <a:ea typeface="楷体" panose="02010609060101010101" pitchFamily="49" charset="-122"/>
                  </a:rPr>
                  <a:t>是约束出现，</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是约束出现</a:t>
                </a:r>
                <a:endParaRPr lang="zh-CN" altLang="en-US">
                  <a:solidFill>
                    <a:schemeClr val="accent2">
                      <a:lumMod val="50000"/>
                    </a:schemeClr>
                  </a:solidFill>
                </a:endParaRPr>
              </a:p>
            </p:txBody>
          </p:sp>
        </mc:Choice>
        <mc:Fallback>
          <p:sp>
            <p:nvSpPr>
              <p:cNvPr id="50" name="文本框 49"/>
              <p:cNvSpPr txBox="1">
                <a:spLocks noRot="1" noChangeAspect="1" noMove="1" noResize="1" noEditPoints="1" noAdjustHandles="1" noChangeArrowheads="1" noChangeShapeType="1" noTextEdit="1"/>
              </p:cNvSpPr>
              <p:nvPr/>
            </p:nvSpPr>
            <p:spPr>
              <a:xfrm>
                <a:off x="7527367" y="3903771"/>
                <a:ext cx="4258203" cy="2092881"/>
              </a:xfrm>
              <a:prstGeom prst="rect">
                <a:avLst/>
              </a:prstGeom>
              <a:blipFill rotWithShape="1">
                <a:blip r:embed="rId2"/>
                <a:stretch>
                  <a:fillRect l="-2" t="-20" r="14" b="-9935"/>
                </a:stretch>
              </a:blipFill>
            </p:spPr>
            <p:txBody>
              <a:bodyPr/>
              <a:lstStyle/>
              <a:p>
                <a:r>
                  <a:rPr lang="zh-CN" altLang="en-US">
                    <a:noFill/>
                  </a:rPr>
                  <a:t> </a:t>
                </a:r>
              </a:p>
            </p:txBody>
          </p:sp>
        </mc:Fallback>
      </mc:AlternateContent>
      <p:grpSp>
        <p:nvGrpSpPr>
          <p:cNvPr id="51" name="组合 50"/>
          <p:cNvGrpSpPr/>
          <p:nvPr/>
        </p:nvGrpSpPr>
        <p:grpSpPr>
          <a:xfrm>
            <a:off x="509055" y="1508646"/>
            <a:ext cx="6841550" cy="4329191"/>
            <a:chOff x="802569" y="1667461"/>
            <a:chExt cx="6841550" cy="4329191"/>
          </a:xfrm>
        </p:grpSpPr>
        <p:grpSp>
          <p:nvGrpSpPr>
            <p:cNvPr id="13" name="组合 12"/>
            <p:cNvGrpSpPr/>
            <p:nvPr/>
          </p:nvGrpSpPr>
          <p:grpSpPr>
            <a:xfrm>
              <a:off x="1315177" y="1667461"/>
              <a:ext cx="6112000" cy="4165199"/>
              <a:chOff x="725403" y="2171270"/>
              <a:chExt cx="6112000" cy="4165199"/>
            </a:xfrm>
          </p:grpSpPr>
          <mc:AlternateContent xmlns:mc="http://schemas.openxmlformats.org/markup-compatibility/2006">
            <mc:Choice xmlns:a14="http://schemas.microsoft.com/office/drawing/2010/main" Requires="a14">
              <p:sp>
                <p:nvSpPr>
                  <p:cNvPr id="18" name="椭圆 17"/>
                  <p:cNvSpPr/>
                  <p:nvPr/>
                </p:nvSpPr>
                <p:spPr>
                  <a:xfrm>
                    <a:off x="3463179" y="2171270"/>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i="1" smtClean="0">
                              <a:solidFill>
                                <a:srgbClr val="002060"/>
                              </a:solidFill>
                              <a:latin typeface="Cambria Math" panose="02040503050406030204" pitchFamily="18" charset="0"/>
                            </a:rPr>
                            <m:t>𝑥</m:t>
                          </m:r>
                        </m:oMath>
                      </m:oMathPara>
                    </a14:m>
                    <a:endParaRPr lang="zh-CN" altLang="en-US"/>
                  </a:p>
                </p:txBody>
              </p:sp>
            </mc:Choice>
            <mc:Fallback>
              <p:sp>
                <p:nvSpPr>
                  <p:cNvPr id="18" name="椭圆 17"/>
                  <p:cNvSpPr>
                    <a:spLocks noRot="1" noChangeAspect="1" noMove="1" noResize="1" noEditPoints="1" noAdjustHandles="1" noChangeArrowheads="1" noChangeShapeType="1" noTextEdit="1"/>
                  </p:cNvSpPr>
                  <p:nvPr/>
                </p:nvSpPr>
                <p:spPr>
                  <a:xfrm>
                    <a:off x="3463179" y="2171270"/>
                    <a:ext cx="526273" cy="493382"/>
                  </a:xfrm>
                  <a:prstGeom prst="ellipse">
                    <a:avLst/>
                  </a:prstGeom>
                  <a:blipFill rotWithShape="1">
                    <a:blip r:embed="rId3"/>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椭圆 18"/>
                  <p:cNvSpPr/>
                  <p:nvPr/>
                </p:nvSpPr>
                <p:spPr>
                  <a:xfrm>
                    <a:off x="3463179" y="283681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19" name="椭圆 18"/>
                  <p:cNvSpPr>
                    <a:spLocks noRot="1" noChangeAspect="1" noMove="1" noResize="1" noEditPoints="1" noAdjustHandles="1" noChangeArrowheads="1" noChangeShapeType="1" noTextEdit="1"/>
                  </p:cNvSpPr>
                  <p:nvPr/>
                </p:nvSpPr>
                <p:spPr>
                  <a:xfrm>
                    <a:off x="3463179" y="2836811"/>
                    <a:ext cx="526273" cy="493382"/>
                  </a:xfrm>
                  <a:prstGeom prst="ellipse">
                    <a:avLst/>
                  </a:prstGeom>
                  <a:blipFill rotWithShape="1">
                    <a:blip r:embed="rId4"/>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椭圆 19"/>
                  <p:cNvSpPr/>
                  <p:nvPr/>
                </p:nvSpPr>
                <p:spPr>
                  <a:xfrm>
                    <a:off x="1853513" y="339806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0" name="椭圆 19"/>
                  <p:cNvSpPr>
                    <a:spLocks noRot="1" noChangeAspect="1" noMove="1" noResize="1" noEditPoints="1" noAdjustHandles="1" noChangeArrowheads="1" noChangeShapeType="1" noTextEdit="1"/>
                  </p:cNvSpPr>
                  <p:nvPr/>
                </p:nvSpPr>
                <p:spPr>
                  <a:xfrm>
                    <a:off x="1853513" y="3398061"/>
                    <a:ext cx="526273" cy="493382"/>
                  </a:xfrm>
                  <a:prstGeom prst="ellipse">
                    <a:avLst/>
                  </a:prstGeom>
                  <a:blipFill rotWithShape="1">
                    <a:blip r:embed="rId5"/>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椭圆 20"/>
                  <p:cNvSpPr/>
                  <p:nvPr/>
                </p:nvSpPr>
                <p:spPr>
                  <a:xfrm>
                    <a:off x="5152591" y="3398061"/>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𝑧</m:t>
                          </m:r>
                        </m:oMath>
                      </m:oMathPara>
                    </a14:m>
                    <a:endParaRPr lang="zh-CN" altLang="en-US"/>
                  </a:p>
                </p:txBody>
              </p:sp>
            </mc:Choice>
            <mc:Fallback>
              <p:sp>
                <p:nvSpPr>
                  <p:cNvPr id="21" name="椭圆 20"/>
                  <p:cNvSpPr>
                    <a:spLocks noRot="1" noChangeAspect="1" noMove="1" noResize="1" noEditPoints="1" noAdjustHandles="1" noChangeArrowheads="1" noChangeShapeType="1" noTextEdit="1"/>
                  </p:cNvSpPr>
                  <p:nvPr/>
                </p:nvSpPr>
                <p:spPr>
                  <a:xfrm>
                    <a:off x="5152591" y="3398061"/>
                    <a:ext cx="526273" cy="493382"/>
                  </a:xfrm>
                  <a:prstGeom prst="ellipse">
                    <a:avLst/>
                  </a:prstGeom>
                  <a:blipFill rotWithShape="1">
                    <a:blip r:embed="rId6"/>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椭圆 21"/>
                  <p:cNvSpPr/>
                  <p:nvPr/>
                </p:nvSpPr>
                <p:spPr>
                  <a:xfrm>
                    <a:off x="2569489" y="4050060"/>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2" name="椭圆 21"/>
                  <p:cNvSpPr>
                    <a:spLocks noRot="1" noChangeAspect="1" noMove="1" noResize="1" noEditPoints="1" noAdjustHandles="1" noChangeArrowheads="1" noChangeShapeType="1" noTextEdit="1"/>
                  </p:cNvSpPr>
                  <p:nvPr/>
                </p:nvSpPr>
                <p:spPr>
                  <a:xfrm>
                    <a:off x="2569489" y="4050060"/>
                    <a:ext cx="526273" cy="493382"/>
                  </a:xfrm>
                  <a:prstGeom prst="ellipse">
                    <a:avLst/>
                  </a:prstGeom>
                  <a:blipFill rotWithShape="1">
                    <a:blip r:embed="rId7"/>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椭圆 22"/>
                  <p:cNvSpPr/>
                  <p:nvPr/>
                </p:nvSpPr>
                <p:spPr>
                  <a:xfrm>
                    <a:off x="2569489" y="4804029"/>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3" name="椭圆 22"/>
                  <p:cNvSpPr>
                    <a:spLocks noRot="1" noChangeAspect="1" noMove="1" noResize="1" noEditPoints="1" noAdjustHandles="1" noChangeArrowheads="1" noChangeShapeType="1" noTextEdit="1"/>
                  </p:cNvSpPr>
                  <p:nvPr/>
                </p:nvSpPr>
                <p:spPr>
                  <a:xfrm>
                    <a:off x="2569489" y="4804029"/>
                    <a:ext cx="526273" cy="493382"/>
                  </a:xfrm>
                  <a:prstGeom prst="ellipse">
                    <a:avLst/>
                  </a:prstGeom>
                  <a:blipFill rotWithShape="1">
                    <a:blip r:embed="rId4"/>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椭圆 23"/>
                  <p:cNvSpPr/>
                  <p:nvPr/>
                </p:nvSpPr>
                <p:spPr>
                  <a:xfrm>
                    <a:off x="1639803" y="5256103"/>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𝑦</m:t>
                          </m:r>
                        </m:oMath>
                      </m:oMathPara>
                    </a14:m>
                    <a:endParaRPr lang="zh-CN" altLang="en-US"/>
                  </a:p>
                </p:txBody>
              </p:sp>
            </mc:Choice>
            <mc:Fallback>
              <p:sp>
                <p:nvSpPr>
                  <p:cNvPr id="24" name="椭圆 23"/>
                  <p:cNvSpPr>
                    <a:spLocks noRot="1" noChangeAspect="1" noMove="1" noResize="1" noEditPoints="1" noAdjustHandles="1" noChangeArrowheads="1" noChangeShapeType="1" noTextEdit="1"/>
                  </p:cNvSpPr>
                  <p:nvPr/>
                </p:nvSpPr>
                <p:spPr>
                  <a:xfrm>
                    <a:off x="1639803" y="5256103"/>
                    <a:ext cx="526273" cy="493382"/>
                  </a:xfrm>
                  <a:prstGeom prst="ellipse">
                    <a:avLst/>
                  </a:prstGeom>
                  <a:blipFill rotWithShape="1">
                    <a:blip r:embed="rId8"/>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椭圆 24"/>
                  <p:cNvSpPr/>
                  <p:nvPr/>
                </p:nvSpPr>
                <p:spPr>
                  <a:xfrm>
                    <a:off x="5152591" y="4055762"/>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𝑦</m:t>
                          </m:r>
                        </m:oMath>
                      </m:oMathPara>
                    </a14:m>
                    <a:endParaRPr lang="zh-CN" altLang="en-US"/>
                  </a:p>
                </p:txBody>
              </p:sp>
            </mc:Choice>
            <mc:Fallback>
              <p:sp>
                <p:nvSpPr>
                  <p:cNvPr id="25" name="椭圆 24"/>
                  <p:cNvSpPr>
                    <a:spLocks noRot="1" noChangeAspect="1" noMove="1" noResize="1" noEditPoints="1" noAdjustHandles="1" noChangeArrowheads="1" noChangeShapeType="1" noTextEdit="1"/>
                  </p:cNvSpPr>
                  <p:nvPr/>
                </p:nvSpPr>
                <p:spPr>
                  <a:xfrm>
                    <a:off x="5152591" y="4055762"/>
                    <a:ext cx="526273" cy="493382"/>
                  </a:xfrm>
                  <a:prstGeom prst="ellipse">
                    <a:avLst/>
                  </a:prstGeom>
                  <a:blipFill rotWithShape="1">
                    <a:blip r:embed="rId8"/>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椭圆 25"/>
                  <p:cNvSpPr/>
                  <p:nvPr/>
                </p:nvSpPr>
                <p:spPr>
                  <a:xfrm>
                    <a:off x="5152591" y="4812702"/>
                    <a:ext cx="526273" cy="49338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algn="ctr"/>
                    <a14:m>
                      <m:oMathPara xmlns:m="http://schemas.openxmlformats.org/officeDocument/2006/math">
                        <m:oMathParaPr>
                          <m:jc m:val="center"/>
                        </m:oMathParaPr>
                        <m:oMath xmlns:m="http://schemas.openxmlformats.org/officeDocument/2006/math">
                          <m:r>
                            <a:rPr lang="en-US" altLang="zh-CN" b="0" i="1" smtClean="0">
                              <a:solidFill>
                                <a:srgbClr val="002060"/>
                              </a:solidFill>
                              <a:latin typeface="Cambria Math" panose="02040503050406030204" pitchFamily="18" charset="0"/>
                            </a:rPr>
                            <m:t>↔</m:t>
                          </m:r>
                        </m:oMath>
                      </m:oMathPara>
                    </a14:m>
                    <a:endParaRPr lang="zh-CN" altLang="en-US"/>
                  </a:p>
                </p:txBody>
              </p:sp>
            </mc:Choice>
            <mc:Fallback>
              <p:sp>
                <p:nvSpPr>
                  <p:cNvPr id="26" name="椭圆 25"/>
                  <p:cNvSpPr>
                    <a:spLocks noRot="1" noChangeAspect="1" noMove="1" noResize="1" noEditPoints="1" noAdjustHandles="1" noChangeArrowheads="1" noChangeShapeType="1" noTextEdit="1"/>
                  </p:cNvSpPr>
                  <p:nvPr/>
                </p:nvSpPr>
                <p:spPr>
                  <a:xfrm>
                    <a:off x="5152591" y="4812702"/>
                    <a:ext cx="526273" cy="493382"/>
                  </a:xfrm>
                  <a:prstGeom prst="ellipse">
                    <a:avLst/>
                  </a:prstGeom>
                  <a:blipFill rotWithShape="1">
                    <a:blip r:embed="rId9"/>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1544594" y="6059470"/>
                    <a:ext cx="71669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𝒚</m:t>
                              </m:r>
                            </m:e>
                          </m:d>
                        </m:oMath>
                      </m:oMathPara>
                    </a14:m>
                    <a:endParaRPr lang="zh-CN" altLang="en-US" b="1"/>
                  </a:p>
                </p:txBody>
              </p:sp>
            </mc:Choice>
            <mc:Fallback>
              <p:sp>
                <p:nvSpPr>
                  <p:cNvPr id="27" name="文本框 26"/>
                  <p:cNvSpPr txBox="1">
                    <a:spLocks noRot="1" noChangeAspect="1" noMove="1" noResize="1" noEditPoints="1" noAdjustHandles="1" noChangeArrowheads="1" noChangeShapeType="1" noTextEdit="1"/>
                  </p:cNvSpPr>
                  <p:nvPr/>
                </p:nvSpPr>
                <p:spPr>
                  <a:xfrm>
                    <a:off x="1544594" y="6059470"/>
                    <a:ext cx="716690" cy="276999"/>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3095762" y="5411522"/>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8" name="文本框 27"/>
                  <p:cNvSpPr txBox="1">
                    <a:spLocks noRot="1" noChangeAspect="1" noMove="1" noResize="1" noEditPoints="1" noAdjustHandles="1" noChangeArrowheads="1" noChangeShapeType="1" noTextEdit="1"/>
                  </p:cNvSpPr>
                  <p:nvPr/>
                </p:nvSpPr>
                <p:spPr>
                  <a:xfrm>
                    <a:off x="3095762" y="5411522"/>
                    <a:ext cx="914400" cy="276999"/>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25403" y="4161827"/>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𝑮</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29" name="文本框 28"/>
                  <p:cNvSpPr txBox="1">
                    <a:spLocks noRot="1" noChangeAspect="1" noMove="1" noResize="1" noEditPoints="1" noAdjustHandles="1" noChangeArrowheads="1" noChangeShapeType="1" noTextEdit="1"/>
                  </p:cNvSpPr>
                  <p:nvPr/>
                </p:nvSpPr>
                <p:spPr>
                  <a:xfrm>
                    <a:off x="725403" y="4161827"/>
                    <a:ext cx="914400" cy="276999"/>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5923003" y="5424049"/>
                    <a:ext cx="91440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𝑯</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𝒛</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m:oMathPara>
                    </a14:m>
                    <a:endParaRPr lang="zh-CN" altLang="en-US" b="1"/>
                  </a:p>
                </p:txBody>
              </p:sp>
            </mc:Choice>
            <mc:Fallback>
              <p:sp>
                <p:nvSpPr>
                  <p:cNvPr id="30" name="文本框 29"/>
                  <p:cNvSpPr txBox="1">
                    <a:spLocks noRot="1" noChangeAspect="1" noMove="1" noResize="1" noEditPoints="1" noAdjustHandles="1" noChangeArrowheads="1" noChangeShapeType="1" noTextEdit="1"/>
                  </p:cNvSpPr>
                  <p:nvPr/>
                </p:nvSpPr>
                <p:spPr>
                  <a:xfrm>
                    <a:off x="5923003" y="5424049"/>
                    <a:ext cx="914400" cy="276999"/>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4107625" y="5419498"/>
                    <a:ext cx="716690" cy="276999"/>
                  </a:xfrm>
                  <a:prstGeom prst="rect">
                    <a:avLst/>
                  </a:prstGeom>
                  <a:solidFill>
                    <a:schemeClr val="accent6">
                      <a:lumMod val="20000"/>
                      <a:lumOff val="80000"/>
                    </a:schemeClr>
                  </a:solidFill>
                </p:spPr>
                <p:txBody>
                  <a:bodyPr wrap="square" tIns="0" bIns="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𝑭</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𝒛</m:t>
                              </m:r>
                            </m:e>
                          </m:d>
                        </m:oMath>
                      </m:oMathPara>
                    </a14:m>
                    <a:endParaRPr lang="zh-CN" altLang="en-US" b="1"/>
                  </a:p>
                </p:txBody>
              </p:sp>
            </mc:Choice>
            <mc:Fallback>
              <p:sp>
                <p:nvSpPr>
                  <p:cNvPr id="31" name="文本框 30"/>
                  <p:cNvSpPr txBox="1">
                    <a:spLocks noRot="1" noChangeAspect="1" noMove="1" noResize="1" noEditPoints="1" noAdjustHandles="1" noChangeArrowheads="1" noChangeShapeType="1" noTextEdit="1"/>
                  </p:cNvSpPr>
                  <p:nvPr/>
                </p:nvSpPr>
                <p:spPr>
                  <a:xfrm>
                    <a:off x="4107625" y="5419498"/>
                    <a:ext cx="716690" cy="276999"/>
                  </a:xfrm>
                  <a:prstGeom prst="rect">
                    <a:avLst/>
                  </a:prstGeom>
                  <a:blipFill rotWithShape="1">
                    <a:blip r:embed="rId14"/>
                  </a:blipFill>
                </p:spPr>
                <p:txBody>
                  <a:bodyPr/>
                  <a:lstStyle/>
                  <a:p>
                    <a:r>
                      <a:rPr lang="zh-CN" altLang="en-US">
                        <a:noFill/>
                      </a:rPr>
                      <a:t> </a:t>
                    </a:r>
                  </a:p>
                </p:txBody>
              </p:sp>
            </mc:Fallback>
          </mc:AlternateContent>
          <p:cxnSp>
            <p:nvCxnSpPr>
              <p:cNvPr id="32" name="直接连接符 31"/>
              <p:cNvCxnSpPr>
                <a:stCxn id="18" idx="4"/>
                <a:endCxn id="19" idx="0"/>
              </p:cNvCxnSpPr>
              <p:nvPr/>
            </p:nvCxnSpPr>
            <p:spPr>
              <a:xfrm>
                <a:off x="3726316" y="2664652"/>
                <a:ext cx="0" cy="1721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9" idx="2"/>
                <a:endCxn id="20" idx="7"/>
              </p:cNvCxnSpPr>
              <p:nvPr/>
            </p:nvCxnSpPr>
            <p:spPr>
              <a:xfrm flipH="1">
                <a:off x="2302715" y="3083502"/>
                <a:ext cx="1160464" cy="3868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19" idx="6"/>
                <a:endCxn id="21" idx="1"/>
              </p:cNvCxnSpPr>
              <p:nvPr/>
            </p:nvCxnSpPr>
            <p:spPr>
              <a:xfrm>
                <a:off x="3989452" y="3083502"/>
                <a:ext cx="1240210" cy="3868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0" idx="3"/>
                <a:endCxn id="29" idx="0"/>
              </p:cNvCxnSpPr>
              <p:nvPr/>
            </p:nvCxnSpPr>
            <p:spPr>
              <a:xfrm flipH="1">
                <a:off x="1182603" y="3819189"/>
                <a:ext cx="747981" cy="3426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0" idx="5"/>
                <a:endCxn id="22" idx="0"/>
              </p:cNvCxnSpPr>
              <p:nvPr/>
            </p:nvCxnSpPr>
            <p:spPr>
              <a:xfrm>
                <a:off x="2302715" y="3819189"/>
                <a:ext cx="529911" cy="23087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2" idx="4"/>
                <a:endCxn id="23" idx="0"/>
              </p:cNvCxnSpPr>
              <p:nvPr/>
            </p:nvCxnSpPr>
            <p:spPr>
              <a:xfrm>
                <a:off x="2832626" y="4543442"/>
                <a:ext cx="0" cy="26058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3" idx="2"/>
                <a:endCxn id="24" idx="7"/>
              </p:cNvCxnSpPr>
              <p:nvPr/>
            </p:nvCxnSpPr>
            <p:spPr>
              <a:xfrm flipH="1">
                <a:off x="2089005" y="5050720"/>
                <a:ext cx="480484" cy="2776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3" idx="6"/>
                <a:endCxn id="28" idx="0"/>
              </p:cNvCxnSpPr>
              <p:nvPr/>
            </p:nvCxnSpPr>
            <p:spPr>
              <a:xfrm>
                <a:off x="3095762" y="5050720"/>
                <a:ext cx="457200" cy="36080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24" idx="4"/>
                <a:endCxn id="27" idx="0"/>
              </p:cNvCxnSpPr>
              <p:nvPr/>
            </p:nvCxnSpPr>
            <p:spPr>
              <a:xfrm flipH="1">
                <a:off x="1902939" y="5749485"/>
                <a:ext cx="1" cy="30998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21" idx="4"/>
                <a:endCxn id="25" idx="0"/>
              </p:cNvCxnSpPr>
              <p:nvPr/>
            </p:nvCxnSpPr>
            <p:spPr>
              <a:xfrm>
                <a:off x="5415728" y="3891443"/>
                <a:ext cx="0" cy="16431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5" idx="4"/>
                <a:endCxn id="26" idx="0"/>
              </p:cNvCxnSpPr>
              <p:nvPr/>
            </p:nvCxnSpPr>
            <p:spPr>
              <a:xfrm>
                <a:off x="5415728" y="4549144"/>
                <a:ext cx="0" cy="26355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26" idx="2"/>
                <a:endCxn id="31" idx="0"/>
              </p:cNvCxnSpPr>
              <p:nvPr/>
            </p:nvCxnSpPr>
            <p:spPr>
              <a:xfrm flipH="1">
                <a:off x="4465970" y="5059393"/>
                <a:ext cx="686621" cy="36010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6" idx="6"/>
                <a:endCxn id="30" idx="0"/>
              </p:cNvCxnSpPr>
              <p:nvPr/>
            </p:nvCxnSpPr>
            <p:spPr>
              <a:xfrm>
                <a:off x="5678864" y="5059393"/>
                <a:ext cx="701339" cy="364656"/>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4" name="矩形: 圆角 13"/>
            <p:cNvSpPr/>
            <p:nvPr/>
          </p:nvSpPr>
          <p:spPr>
            <a:xfrm>
              <a:off x="1197273" y="2256398"/>
              <a:ext cx="6446846" cy="3609889"/>
            </a:xfrm>
            <a:prstGeom prst="roundRect">
              <a:avLst>
                <a:gd name="adj" fmla="val 617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315176" y="2401122"/>
                  <a:ext cx="1177537" cy="369332"/>
                </a:xfrm>
                <a:prstGeom prst="rect">
                  <a:avLst/>
                </a:prstGeom>
                <a:solidFill>
                  <a:schemeClr val="accent5">
                    <a:lumMod val="20000"/>
                    <a:lumOff val="8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i="1" smtClean="0">
                          <a:latin typeface="Cambria Math" panose="02040503050406030204" pitchFamily="18" charset="0"/>
                        </a:rPr>
                        <m:t>∃</m:t>
                      </m:r>
                      <m:r>
                        <a:rPr lang="en-US" altLang="zh-CN" i="1" smtClean="0">
                          <a:latin typeface="Cambria Math" panose="02040503050406030204" pitchFamily="18" charset="0"/>
                        </a:rPr>
                        <m:t>𝑥</m:t>
                      </m:r>
                    </m:oMath>
                  </a14:m>
                  <a:r>
                    <a:rPr lang="zh-CN" altLang="en-US"/>
                    <a:t>的辖域</a:t>
                  </a:r>
                  <a:endParaRPr lang="zh-CN" altLang="en-US"/>
                </a:p>
              </p:txBody>
            </p:sp>
          </mc:Choice>
          <mc:Fallback>
            <p:sp>
              <p:nvSpPr>
                <p:cNvPr id="2" name="文本框 1"/>
                <p:cNvSpPr txBox="1">
                  <a:spLocks noRot="1" noChangeAspect="1" noMove="1" noResize="1" noEditPoints="1" noAdjustHandles="1" noChangeArrowheads="1" noChangeShapeType="1" noTextEdit="1"/>
                </p:cNvSpPr>
                <p:nvPr/>
              </p:nvSpPr>
              <p:spPr>
                <a:xfrm>
                  <a:off x="1315176" y="2401122"/>
                  <a:ext cx="1177537" cy="369332"/>
                </a:xfrm>
                <a:prstGeom prst="rect">
                  <a:avLst/>
                </a:prstGeom>
                <a:blipFill rotWithShape="1">
                  <a:blip r:embed="rId15"/>
                </a:blipFill>
                <a:ln w="12700">
                  <a:solidFill>
                    <a:schemeClr val="accent1">
                      <a:shade val="50000"/>
                    </a:schemeClr>
                  </a:solidFill>
                  <a:prstDash val="sysDash"/>
                </a:ln>
              </p:spPr>
              <p:txBody>
                <a:bodyPr/>
                <a:lstStyle/>
                <a:p>
                  <a:r>
                    <a:rPr lang="zh-CN" altLang="en-US">
                      <a:noFill/>
                    </a:rPr>
                    <a:t> </a:t>
                  </a:r>
                </a:p>
              </p:txBody>
            </p:sp>
          </mc:Fallback>
        </mc:AlternateContent>
        <p:sp>
          <p:nvSpPr>
            <p:cNvPr id="4" name="矩形: 圆角 3"/>
            <p:cNvSpPr/>
            <p:nvPr/>
          </p:nvSpPr>
          <p:spPr>
            <a:xfrm>
              <a:off x="802569" y="5354832"/>
              <a:ext cx="2166988" cy="641820"/>
            </a:xfrm>
            <a:prstGeom prst="roundRect">
              <a:avLst/>
            </a:prstGeom>
            <a:noFill/>
            <a:ln w="19050">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898237" y="5509494"/>
                  <a:ext cx="1150697" cy="369332"/>
                </a:xfrm>
                <a:prstGeom prst="rect">
                  <a:avLst/>
                </a:prstGeom>
                <a:solidFill>
                  <a:schemeClr val="accent6">
                    <a:lumMod val="20000"/>
                    <a:lumOff val="80000"/>
                  </a:schemeClr>
                </a:solidFill>
                <a:ln w="19050">
                  <a:solidFill>
                    <a:schemeClr val="accent6">
                      <a:lumMod val="50000"/>
                    </a:schemeClr>
                  </a:solidFill>
                  <a:prstDash val="dash"/>
                </a:ln>
              </p:spPr>
              <p:txBody>
                <a:bodyPr wrap="square" rtlCol="0">
                  <a:spAutoFit/>
                </a:bodyPr>
                <a:lstStyle/>
                <a:p>
                  <a14:m>
                    <m:oMath xmlns:m="http://schemas.openxmlformats.org/officeDocument/2006/math">
                      <m:r>
                        <a:rPr lang="en-US" altLang="zh-CN" i="1" smtClean="0">
                          <a:latin typeface="Cambria Math" panose="02040503050406030204" pitchFamily="18" charset="0"/>
                        </a:rPr>
                        <m:t>∃</m:t>
                      </m:r>
                      <m:r>
                        <a:rPr lang="en-US" altLang="zh-CN" i="1" smtClean="0">
                          <a:latin typeface="Cambria Math" panose="02040503050406030204" pitchFamily="18" charset="0"/>
                        </a:rPr>
                        <m:t>𝑦</m:t>
                      </m:r>
                    </m:oMath>
                  </a14:m>
                  <a:r>
                    <a:rPr lang="zh-CN" altLang="en-US"/>
                    <a:t>的辖域</a:t>
                  </a:r>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898237" y="5509494"/>
                  <a:ext cx="1150697" cy="369332"/>
                </a:xfrm>
                <a:prstGeom prst="rect">
                  <a:avLst/>
                </a:prstGeom>
                <a:blipFill rotWithShape="1">
                  <a:blip r:embed="rId16"/>
                </a:blipFill>
                <a:ln w="19050">
                  <a:solidFill>
                    <a:schemeClr val="accent6">
                      <a:lumMod val="50000"/>
                    </a:schemeClr>
                  </a:solidFill>
                  <a:prstDash val="dash"/>
                </a:ln>
              </p:spPr>
              <p:txBody>
                <a:bodyPr/>
                <a:lstStyle/>
                <a:p>
                  <a:r>
                    <a:rPr lang="zh-CN" altLang="en-US">
                      <a:noFill/>
                    </a:rPr>
                    <a:t> </a:t>
                  </a:r>
                </a:p>
              </p:txBody>
            </p:sp>
          </mc:Fallback>
        </mc:AlternateContent>
        <p:sp>
          <p:nvSpPr>
            <p:cNvPr id="45" name="矩形: 圆角 44"/>
            <p:cNvSpPr/>
            <p:nvPr/>
          </p:nvSpPr>
          <p:spPr>
            <a:xfrm>
              <a:off x="4640769" y="3429000"/>
              <a:ext cx="2898097" cy="1925832"/>
            </a:xfrm>
            <a:prstGeom prst="roundRect">
              <a:avLst>
                <a:gd name="adj" fmla="val 11543"/>
              </a:avLst>
            </a:prstGeom>
            <a:noFill/>
            <a:ln w="19050">
              <a:solidFill>
                <a:schemeClr val="accent4">
                  <a:lumMod val="5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6" name="文本框 45"/>
                <p:cNvSpPr txBox="1"/>
                <p:nvPr/>
              </p:nvSpPr>
              <p:spPr>
                <a:xfrm>
                  <a:off x="6268638" y="3486699"/>
                  <a:ext cx="1167151" cy="369332"/>
                </a:xfrm>
                <a:prstGeom prst="rect">
                  <a:avLst/>
                </a:prstGeom>
                <a:solidFill>
                  <a:schemeClr val="accent4">
                    <a:lumMod val="20000"/>
                    <a:lumOff val="80000"/>
                  </a:schemeClr>
                </a:solidFill>
                <a:ln w="19050">
                  <a:solidFill>
                    <a:schemeClr val="accent4">
                      <a:lumMod val="50000"/>
                    </a:schemeClr>
                  </a:solidFill>
                  <a:prstDash val="dashDot"/>
                </a:ln>
              </p:spPr>
              <p:txBody>
                <a:bodyPr wrap="square" rtlCol="0">
                  <a:spAutoFit/>
                </a:bodyPr>
                <a:lstStyle/>
                <a:p>
                  <a14:m>
                    <m:oMath xmlns:m="http://schemas.openxmlformats.org/officeDocument/2006/math">
                      <m:r>
                        <a:rPr lang="en-US" altLang="zh-CN" i="1" smtClean="0">
                          <a:latin typeface="Cambria Math" panose="02040503050406030204" pitchFamily="18" charset="0"/>
                        </a:rPr>
                        <m:t>∀</m:t>
                      </m:r>
                      <m:r>
                        <a:rPr lang="en-US" altLang="zh-CN" i="1" smtClean="0">
                          <a:latin typeface="Cambria Math" panose="02040503050406030204" pitchFamily="18" charset="0"/>
                        </a:rPr>
                        <m:t>𝑧</m:t>
                      </m:r>
                    </m:oMath>
                  </a14:m>
                  <a:r>
                    <a:rPr lang="zh-CN" altLang="en-US"/>
                    <a:t>的辖域</a:t>
                  </a:r>
                  <a:endParaRPr lang="zh-CN" altLang="en-US"/>
                </a:p>
              </p:txBody>
            </p:sp>
          </mc:Choice>
          <mc:Fallback>
            <p:sp>
              <p:nvSpPr>
                <p:cNvPr id="46" name="文本框 45"/>
                <p:cNvSpPr txBox="1">
                  <a:spLocks noRot="1" noChangeAspect="1" noMove="1" noResize="1" noEditPoints="1" noAdjustHandles="1" noChangeArrowheads="1" noChangeShapeType="1" noTextEdit="1"/>
                </p:cNvSpPr>
                <p:nvPr/>
              </p:nvSpPr>
              <p:spPr>
                <a:xfrm>
                  <a:off x="6268638" y="3486699"/>
                  <a:ext cx="1167151" cy="369332"/>
                </a:xfrm>
                <a:prstGeom prst="rect">
                  <a:avLst/>
                </a:prstGeom>
                <a:blipFill rotWithShape="1">
                  <a:blip r:embed="rId17"/>
                </a:blipFill>
                <a:ln w="19050">
                  <a:solidFill>
                    <a:schemeClr val="accent4">
                      <a:lumMod val="50000"/>
                    </a:schemeClr>
                  </a:solidFill>
                  <a:prstDash val="dashDot"/>
                </a:ln>
              </p:spPr>
              <p:txBody>
                <a:bodyPr/>
                <a:lstStyle/>
                <a:p>
                  <a:r>
                    <a:rPr lang="zh-CN" altLang="en-US">
                      <a:noFill/>
                    </a:rPr>
                    <a:t> </a:t>
                  </a:r>
                </a:p>
              </p:txBody>
            </p:sp>
          </mc:Fallback>
        </mc:AlternateContent>
        <p:sp>
          <p:nvSpPr>
            <p:cNvPr id="47" name="矩形: 圆角 46"/>
            <p:cNvSpPr/>
            <p:nvPr/>
          </p:nvSpPr>
          <p:spPr>
            <a:xfrm>
              <a:off x="4697399" y="4223344"/>
              <a:ext cx="2788836" cy="1111267"/>
            </a:xfrm>
            <a:prstGeom prst="roundRect">
              <a:avLst>
                <a:gd name="adj" fmla="val 6603"/>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8" name="文本框 47"/>
                <p:cNvSpPr txBox="1"/>
                <p:nvPr/>
              </p:nvSpPr>
              <p:spPr>
                <a:xfrm>
                  <a:off x="6290791" y="4297342"/>
                  <a:ext cx="1167151" cy="369332"/>
                </a:xfrm>
                <a:prstGeom prst="rect">
                  <a:avLst/>
                </a:prstGeom>
                <a:solidFill>
                  <a:schemeClr val="tx1">
                    <a:lumMod val="50000"/>
                    <a:lumOff val="50000"/>
                    <a:alpha val="50000"/>
                  </a:schemeClr>
                </a:solidFill>
                <a:ln w="12700">
                  <a:solidFill>
                    <a:schemeClr val="accent5">
                      <a:lumMod val="50000"/>
                    </a:schemeClr>
                  </a:solidFill>
                  <a:prstDash val="solid"/>
                </a:ln>
              </p:spPr>
              <p:txBody>
                <a:bodyPr wrap="square" rtlCol="0">
                  <a:spAutoFit/>
                </a:bodyPr>
                <a:lstStyle/>
                <a:p>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𝑦</m:t>
                      </m:r>
                    </m:oMath>
                  </a14:m>
                  <a:r>
                    <a:rPr lang="zh-CN" altLang="en-US"/>
                    <a:t>的辖域</a:t>
                  </a:r>
                  <a:endParaRPr lang="zh-CN" altLang="en-US"/>
                </a:p>
              </p:txBody>
            </p:sp>
          </mc:Choice>
          <mc:Fallback>
            <p:sp>
              <p:nvSpPr>
                <p:cNvPr id="48" name="文本框 47"/>
                <p:cNvSpPr txBox="1">
                  <a:spLocks noRot="1" noChangeAspect="1" noMove="1" noResize="1" noEditPoints="1" noAdjustHandles="1" noChangeArrowheads="1" noChangeShapeType="1" noTextEdit="1"/>
                </p:cNvSpPr>
                <p:nvPr/>
              </p:nvSpPr>
              <p:spPr>
                <a:xfrm>
                  <a:off x="6290791" y="4297342"/>
                  <a:ext cx="1167151" cy="369332"/>
                </a:xfrm>
                <a:prstGeom prst="rect">
                  <a:avLst/>
                </a:prstGeom>
                <a:blipFill rotWithShape="1">
                  <a:blip r:embed="rId18"/>
                </a:blipFill>
                <a:ln w="12700">
                  <a:solidFill>
                    <a:schemeClr val="accent5">
                      <a:lumMod val="50000"/>
                    </a:schemeClr>
                  </a:solidFill>
                  <a:prstDash val="solid"/>
                </a:ln>
              </p:spPr>
              <p:txBody>
                <a:bodyPr/>
                <a:lstStyle/>
                <a:p>
                  <a:r>
                    <a:rPr lang="zh-CN" altLang="en-US">
                      <a:noFill/>
                    </a:rPr>
                    <a:t> </a:t>
                  </a:r>
                </a:p>
              </p:txBody>
            </p:sp>
          </mc:Fallback>
        </mc:AlternateContent>
      </p:grpSp>
      <p:sp>
        <p:nvSpPr>
          <p:cNvPr id="3" name="对话气泡: 圆角矩形 2"/>
          <p:cNvSpPr/>
          <p:nvPr/>
        </p:nvSpPr>
        <p:spPr>
          <a:xfrm>
            <a:off x="207482" y="3969059"/>
            <a:ext cx="1177535" cy="322342"/>
          </a:xfrm>
          <a:prstGeom prst="wedgeRoundRectCallout">
            <a:avLst>
              <a:gd name="adj1" fmla="val 49559"/>
              <a:gd name="adj2" fmla="val -1232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约束出现</a:t>
            </a:r>
            <a:endParaRPr lang="zh-CN" altLang="en-US"/>
          </a:p>
        </p:txBody>
      </p:sp>
      <p:sp>
        <p:nvSpPr>
          <p:cNvPr id="11" name="对话气泡: 圆角矩形 10"/>
          <p:cNvSpPr/>
          <p:nvPr/>
        </p:nvSpPr>
        <p:spPr>
          <a:xfrm>
            <a:off x="1647381" y="3969059"/>
            <a:ext cx="1141867" cy="354036"/>
          </a:xfrm>
          <a:prstGeom prst="wedgeRoundRectCallout">
            <a:avLst>
              <a:gd name="adj1" fmla="val -48817"/>
              <a:gd name="adj2" fmla="val -115879"/>
              <a:gd name="adj3" fmla="val 16667"/>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自由出现</a:t>
            </a:r>
            <a:endParaRPr lang="zh-CN" altLang="en-US"/>
          </a:p>
        </p:txBody>
      </p:sp>
      <p:sp>
        <p:nvSpPr>
          <p:cNvPr id="52" name="对话气泡: 圆角矩形 51"/>
          <p:cNvSpPr/>
          <p:nvPr/>
        </p:nvSpPr>
        <p:spPr>
          <a:xfrm>
            <a:off x="1003781" y="5834972"/>
            <a:ext cx="1177535" cy="322342"/>
          </a:xfrm>
          <a:prstGeom prst="wedgeRoundRectCallout">
            <a:avLst>
              <a:gd name="adj1" fmla="val 51794"/>
              <a:gd name="adj2" fmla="val -1028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约束出现</a:t>
            </a:r>
            <a:endParaRPr lang="zh-CN" altLang="en-US"/>
          </a:p>
        </p:txBody>
      </p:sp>
      <p:sp>
        <p:nvSpPr>
          <p:cNvPr id="53" name="对话气泡: 圆角矩形 52"/>
          <p:cNvSpPr/>
          <p:nvPr/>
        </p:nvSpPr>
        <p:spPr>
          <a:xfrm>
            <a:off x="2607604" y="5213003"/>
            <a:ext cx="1177535" cy="322342"/>
          </a:xfrm>
          <a:prstGeom prst="wedgeRoundRectCallout">
            <a:avLst>
              <a:gd name="adj1" fmla="val 49559"/>
              <a:gd name="adj2" fmla="val -1232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约束出现</a:t>
            </a:r>
            <a:endParaRPr lang="zh-CN" altLang="en-US"/>
          </a:p>
        </p:txBody>
      </p:sp>
      <p:sp>
        <p:nvSpPr>
          <p:cNvPr id="54" name="对话气泡: 圆角矩形 53"/>
          <p:cNvSpPr/>
          <p:nvPr/>
        </p:nvSpPr>
        <p:spPr>
          <a:xfrm>
            <a:off x="4022575" y="5245469"/>
            <a:ext cx="1141867" cy="354036"/>
          </a:xfrm>
          <a:prstGeom prst="wedgeRoundRectCallout">
            <a:avLst>
              <a:gd name="adj1" fmla="val -48817"/>
              <a:gd name="adj2" fmla="val -115879"/>
              <a:gd name="adj3" fmla="val 16667"/>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自由出现</a:t>
            </a:r>
            <a:endParaRPr lang="zh-CN" altLang="en-US"/>
          </a:p>
        </p:txBody>
      </p:sp>
      <p:sp>
        <p:nvSpPr>
          <p:cNvPr id="55" name="对话气泡: 圆角矩形 54"/>
          <p:cNvSpPr/>
          <p:nvPr/>
        </p:nvSpPr>
        <p:spPr>
          <a:xfrm>
            <a:off x="3701508" y="4224642"/>
            <a:ext cx="1177535" cy="322342"/>
          </a:xfrm>
          <a:prstGeom prst="wedgeRoundRectCallout">
            <a:avLst>
              <a:gd name="adj1" fmla="val 43973"/>
              <a:gd name="adj2" fmla="val 1339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约束出现</a:t>
            </a:r>
            <a:endParaRPr lang="zh-CN" altLang="en-US"/>
          </a:p>
        </p:txBody>
      </p:sp>
      <p:sp>
        <p:nvSpPr>
          <p:cNvPr id="56" name="对话气泡: 圆角矩形 55"/>
          <p:cNvSpPr/>
          <p:nvPr/>
        </p:nvSpPr>
        <p:spPr>
          <a:xfrm>
            <a:off x="5409439" y="5248106"/>
            <a:ext cx="1177535" cy="322342"/>
          </a:xfrm>
          <a:prstGeom prst="wedgeRoundRectCallout">
            <a:avLst>
              <a:gd name="adj1" fmla="val 49559"/>
              <a:gd name="adj2" fmla="val -1232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约束出现</a:t>
            </a:r>
            <a:endParaRPr lang="zh-CN" altLang="en-US"/>
          </a:p>
        </p:txBody>
      </p:sp>
      <p:sp>
        <p:nvSpPr>
          <p:cNvPr id="57" name="对话气泡: 圆角矩形 56"/>
          <p:cNvSpPr/>
          <p:nvPr/>
        </p:nvSpPr>
        <p:spPr>
          <a:xfrm>
            <a:off x="6132825" y="5640857"/>
            <a:ext cx="1177535" cy="322342"/>
          </a:xfrm>
          <a:prstGeom prst="wedgeRoundRectCallout">
            <a:avLst>
              <a:gd name="adj1" fmla="val 11012"/>
              <a:gd name="adj2" fmla="val -2497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约束出现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52" grpId="0" animBg="1"/>
      <p:bldP spid="53" grpId="0" animBg="1"/>
      <p:bldP spid="54" grpId="0" animBg="1"/>
      <p:bldP spid="55" grpId="0" animBg="1"/>
      <p:bldP spid="56" grpId="0" animBg="1"/>
      <p:bldP spid="5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自由变量和约束变量</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957556" y="1345670"/>
                <a:ext cx="10276886" cy="1584280"/>
              </a:xfrm>
              <a:prstGeom prst="rect">
                <a:avLst/>
              </a:prstGeom>
              <a:solidFill>
                <a:schemeClr val="accent2">
                  <a:lumMod val="20000"/>
                  <a:lumOff val="8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公式的自由变量和约束变量</a:t>
                </a:r>
                <a:endParaRPr lang="en-US" altLang="zh-CN" sz="2400" b="1">
                  <a:solidFill>
                    <a:srgbClr val="C00000"/>
                  </a:solidFill>
                </a:endParaRPr>
              </a:p>
              <a:p>
                <a:pPr marL="342900" indent="-342900">
                  <a:lnSpc>
                    <a:spcPts val="32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个体变量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是公式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的自由变量</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(free variable)</a:t>
                </a:r>
                <a:r>
                  <a:rPr lang="zh-CN" altLang="en-US" sz="2000">
                    <a:solidFill>
                      <a:srgbClr val="002060"/>
                    </a:solidFill>
                    <a:latin typeface="Arial" panose="020B0604020202020204" pitchFamily="34" charset="0"/>
                    <a:ea typeface="楷体" panose="02010609060101010101" pitchFamily="49" charset="-122"/>
                    <a:cs typeface="Arial" panose="020B0604020202020204" pitchFamily="34" charset="0"/>
                  </a:rPr>
                  <a:t>：</a:t>
                </a:r>
                <a:r>
                  <a:rPr lang="zh-CN" altLang="en-US" sz="2000" b="1">
                    <a:solidFill>
                      <a:schemeClr val="accent6">
                        <a:lumMod val="50000"/>
                      </a:schemeClr>
                    </a:solidFill>
                    <a:latin typeface="宋体" panose="02010600030101010101" pitchFamily="2" charset="-122"/>
                    <a:ea typeface="宋体" panose="02010600030101010101" pitchFamily="2" charset="-122"/>
                  </a:rPr>
                  <a:t>若</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latin typeface="宋体" panose="02010600030101010101" pitchFamily="2" charset="-122"/>
                    <a:ea typeface="宋体" panose="02010600030101010101" pitchFamily="2" charset="-122"/>
                  </a:rPr>
                  <a:t>在公式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中</a:t>
                </a:r>
                <a:r>
                  <a:rPr lang="zh-CN" altLang="en-US" sz="2000" b="1">
                    <a:solidFill>
                      <a:schemeClr val="accent2">
                        <a:lumMod val="50000"/>
                      </a:schemeClr>
                    </a:solidFill>
                    <a:latin typeface="黑体" panose="02010609060101010101" pitchFamily="49" charset="-122"/>
                    <a:ea typeface="黑体" panose="02010609060101010101" pitchFamily="49" charset="-122"/>
                  </a:rPr>
                  <a:t>有一处出现是自由出现</a:t>
                </a:r>
                <a:endParaRPr lang="en-US" altLang="zh-CN" sz="2000" b="1">
                  <a:solidFill>
                    <a:schemeClr val="accent2">
                      <a:lumMod val="50000"/>
                    </a:schemeClr>
                  </a:solidFill>
                  <a:latin typeface="黑体" panose="02010609060101010101" pitchFamily="49" charset="-122"/>
                  <a:ea typeface="黑体" panose="02010609060101010101" pitchFamily="49" charset="-122"/>
                </a:endParaRPr>
              </a:p>
              <a:p>
                <a:pPr marL="342900" indent="-342900">
                  <a:lnSpc>
                    <a:spcPts val="3200"/>
                  </a:lnSpc>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个体变量</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是公式</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的约束变量</a:t>
                </a:r>
                <a:r>
                  <a:rPr lang="en-US" altLang="zh-CN" sz="2000">
                    <a:solidFill>
                      <a:srgbClr val="002060"/>
                    </a:solidFill>
                    <a:latin typeface="Arial" panose="020B0604020202020204" pitchFamily="34" charset="0"/>
                    <a:ea typeface="楷体" panose="02010609060101010101" pitchFamily="49" charset="-122"/>
                    <a:cs typeface="Arial" panose="020B0604020202020204" pitchFamily="34" charset="0"/>
                  </a:rPr>
                  <a:t>(bound variable)</a:t>
                </a:r>
                <a:r>
                  <a:rPr lang="zh-CN" altLang="en-US" sz="2000">
                    <a:solidFill>
                      <a:srgbClr val="002060"/>
                    </a:solidFill>
                    <a:latin typeface="Arial" panose="020B0604020202020204" pitchFamily="34" charset="0"/>
                    <a:ea typeface="楷体" panose="02010609060101010101" pitchFamily="49" charset="-122"/>
                    <a:cs typeface="Arial" panose="020B0604020202020204" pitchFamily="34" charset="0"/>
                  </a:rPr>
                  <a:t>：</a:t>
                </a:r>
                <a:r>
                  <a:rPr lang="zh-CN" altLang="en-US" sz="2000" b="1">
                    <a:solidFill>
                      <a:schemeClr val="accent6">
                        <a:lumMod val="50000"/>
                      </a:schemeClr>
                    </a:solidFill>
                    <a:latin typeface="宋体" panose="02010600030101010101" pitchFamily="2" charset="-122"/>
                    <a:ea typeface="宋体" panose="02010600030101010101" pitchFamily="2" charset="-122"/>
                  </a:rPr>
                  <a:t>若</a:t>
                </a:r>
                <a14:m>
                  <m:oMath xmlns:m="http://schemas.openxmlformats.org/officeDocument/2006/math">
                    <m:r>
                      <a:rPr lang="en-US" altLang="zh-CN" sz="2000" b="1">
                        <a:solidFill>
                          <a:schemeClr val="accent6">
                            <a:lumMod val="50000"/>
                          </a:schemeClr>
                        </a:solidFill>
                        <a:latin typeface="Cambria Math" panose="02040503050406030204" pitchFamily="18" charset="0"/>
                        <a:ea typeface="宋体" panose="02010600030101010101" pitchFamily="2" charset="-122"/>
                      </a:rPr>
                      <m:t>𝒙</m:t>
                    </m:r>
                  </m:oMath>
                </a14:m>
                <a:r>
                  <a:rPr lang="zh-CN" altLang="en-US" sz="2000" b="1">
                    <a:solidFill>
                      <a:schemeClr val="accent6">
                        <a:lumMod val="50000"/>
                      </a:schemeClr>
                    </a:solidFill>
                    <a:latin typeface="宋体" panose="02010600030101010101" pitchFamily="2" charset="-122"/>
                    <a:ea typeface="宋体" panose="02010600030101010101" pitchFamily="2" charset="-122"/>
                  </a:rPr>
                  <a:t>在公式</a:t>
                </a:r>
                <a14:m>
                  <m:oMath xmlns:m="http://schemas.openxmlformats.org/officeDocument/2006/math">
                    <m:r>
                      <a:rPr lang="en-US" altLang="zh-CN" sz="2000" b="1">
                        <a:solidFill>
                          <a:schemeClr val="accent6">
                            <a:lumMod val="50000"/>
                          </a:schemeClr>
                        </a:solidFill>
                        <a:latin typeface="Cambria Math" panose="02040503050406030204" pitchFamily="18" charset="0"/>
                        <a:ea typeface="宋体" panose="02010600030101010101" pitchFamily="2" charset="-122"/>
                      </a:rPr>
                      <m:t>𝑨</m:t>
                    </m:r>
                  </m:oMath>
                </a14:m>
                <a:r>
                  <a:rPr lang="zh-CN" altLang="en-US" sz="2000" b="1">
                    <a:solidFill>
                      <a:schemeClr val="accent6">
                        <a:lumMod val="50000"/>
                      </a:schemeClr>
                    </a:solidFill>
                    <a:latin typeface="宋体" panose="02010600030101010101" pitchFamily="2" charset="-122"/>
                    <a:ea typeface="宋体" panose="02010600030101010101" pitchFamily="2" charset="-122"/>
                  </a:rPr>
                  <a:t>的</a:t>
                </a:r>
                <a:r>
                  <a:rPr lang="zh-CN" altLang="en-US" sz="2000" b="1">
                    <a:solidFill>
                      <a:schemeClr val="accent2">
                        <a:lumMod val="50000"/>
                      </a:schemeClr>
                    </a:solidFill>
                    <a:latin typeface="黑体" panose="02010609060101010101" pitchFamily="49" charset="-122"/>
                    <a:ea typeface="黑体" panose="02010609060101010101" pitchFamily="49" charset="-122"/>
                  </a:rPr>
                  <a:t>所有出现都是约束出现</a:t>
                </a:r>
                <a:endParaRPr lang="en-US" altLang="zh-CN" sz="2000" b="1">
                  <a:solidFill>
                    <a:schemeClr val="accent2">
                      <a:lumMod val="50000"/>
                    </a:schemeClr>
                  </a:solidFill>
                  <a:latin typeface="黑体" panose="02010609060101010101" pitchFamily="49" charset="-122"/>
                  <a:ea typeface="黑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957556" y="1345670"/>
                <a:ext cx="10276886" cy="1584280"/>
              </a:xfrm>
              <a:prstGeom prst="rect">
                <a:avLst/>
              </a:prstGeom>
              <a:blipFill rotWithShape="1">
                <a:blip r:embed="rId1"/>
                <a:stretch>
                  <a:fillRect l="-6" t="-7"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957556" y="4549819"/>
                <a:ext cx="10276886" cy="1294457"/>
              </a:xfrm>
              <a:prstGeom prst="rect">
                <a:avLst/>
              </a:prstGeom>
              <a:solidFill>
                <a:schemeClr val="accent6">
                  <a:lumMod val="20000"/>
                  <a:lumOff val="80000"/>
                  <a:alpha val="10000"/>
                </a:schemeClr>
              </a:solidFill>
              <a:ln w="12700">
                <a:solidFill>
                  <a:schemeClr val="accent1">
                    <a:shade val="50000"/>
                  </a:schemeClr>
                </a:solidFill>
                <a:prstDash val="sysDash"/>
              </a:ln>
            </p:spPr>
            <p:txBody>
              <a:bodyPr wrap="square" rtlCol="0">
                <a:spAutoFit/>
              </a:bodyPr>
              <a:lstStyle/>
              <a:p>
                <a:pPr>
                  <a:lnSpc>
                    <a:spcPts val="2800"/>
                  </a:lnSpc>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个体变量</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𝒛</m:t>
                    </m:r>
                  </m:oMath>
                </a14:m>
                <a:r>
                  <a:rPr lang="zh-CN" altLang="en-US" b="1">
                    <a:solidFill>
                      <a:srgbClr val="002060"/>
                    </a:solidFill>
                    <a:latin typeface="楷体" panose="02010609060101010101" pitchFamily="49" charset="-122"/>
                    <a:ea typeface="楷体" panose="02010609060101010101" pitchFamily="49" charset="-122"/>
                  </a:rPr>
                  <a:t>是公式</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的约束变量，</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是这个公式的自由变量</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8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个体变量</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等线" panose="02010600030101010101" pitchFamily="2" charset="-122"/>
                      </a:rPr>
                      <m:t>𝒙</m:t>
                    </m:r>
                  </m:oMath>
                </a14:m>
                <a:r>
                  <a:rPr lang="zh-CN" altLang="en-US" b="1">
                    <a:solidFill>
                      <a:schemeClr val="accent6">
                        <a:lumMod val="50000"/>
                      </a:schemeClr>
                    </a:solidFill>
                    <a:latin typeface="等线" panose="02010600030101010101" pitchFamily="2" charset="-122"/>
                    <a:ea typeface="等线" panose="02010600030101010101" pitchFamily="2" charset="-122"/>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等线" panose="02010600030101010101" pitchFamily="2" charset="-122"/>
                      </a:rPr>
                      <m:t>𝒛</m:t>
                    </m:r>
                  </m:oMath>
                </a14:m>
                <a:r>
                  <a:rPr lang="zh-CN" altLang="en-US" b="1">
                    <a:solidFill>
                      <a:schemeClr val="accent6">
                        <a:lumMod val="50000"/>
                      </a:schemeClr>
                    </a:solidFill>
                    <a:latin typeface="等线" panose="02010600030101010101" pitchFamily="2" charset="-122"/>
                    <a:ea typeface="等线" panose="02010600030101010101" pitchFamily="2" charset="-122"/>
                  </a:rPr>
                  <a:t>在公式中都是约束出现，但</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𝒚</m:t>
                    </m:r>
                  </m:oMath>
                </a14:m>
                <a:r>
                  <a:rPr lang="zh-CN" altLang="en-US" b="1">
                    <a:solidFill>
                      <a:schemeClr val="accent6">
                        <a:lumMod val="50000"/>
                      </a:schemeClr>
                    </a:solidFill>
                    <a:latin typeface="等线" panose="02010600030101010101" pitchFamily="2" charset="-122"/>
                    <a:ea typeface="等线" panose="02010600030101010101" pitchFamily="2" charset="-122"/>
                  </a:rPr>
                  <a:t>有自由出现</a:t>
                </a:r>
                <a:endParaRPr lang="zh-CN" altLang="en-US" b="1">
                  <a:solidFill>
                    <a:schemeClr val="accent6">
                      <a:lumMod val="50000"/>
                    </a:schemeClr>
                  </a:solidFill>
                  <a:latin typeface="等线" panose="02010600030101010101" pitchFamily="2" charset="-122"/>
                  <a:ea typeface="等线" panose="02010600030101010101" pitchFamily="2"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957556" y="4549819"/>
                <a:ext cx="10276886" cy="1294457"/>
              </a:xfrm>
              <a:prstGeom prst="rect">
                <a:avLst/>
              </a:prstGeom>
              <a:blipFill rotWithShape="1">
                <a:blip r:embed="rId2"/>
                <a:stretch>
                  <a:fillRect l="-68" t="-494" r="-62" b="-462"/>
                </a:stretch>
              </a:blipFill>
              <a:ln w="12700">
                <a:solidFill>
                  <a:schemeClr val="accent1">
                    <a:shade val="50000"/>
                  </a:schemeClr>
                </a:solidFill>
                <a:prstDash val="sysDash"/>
              </a:ln>
            </p:spPr>
            <p:txBody>
              <a:bodyPr/>
              <a:lstStyle/>
              <a:p>
                <a:r>
                  <a:rPr lang="zh-CN" altLang="en-US">
                    <a:noFill/>
                  </a:rPr>
                  <a:t> </a:t>
                </a:r>
              </a:p>
            </p:txBody>
          </p:sp>
        </mc:Fallback>
      </mc:AlternateContent>
      <p:sp>
        <p:nvSpPr>
          <p:cNvPr id="12" name="文本框 11"/>
          <p:cNvSpPr txBox="1"/>
          <p:nvPr/>
        </p:nvSpPr>
        <p:spPr>
          <a:xfrm>
            <a:off x="957556" y="3318909"/>
            <a:ext cx="9088055" cy="891398"/>
          </a:xfrm>
          <a:prstGeom prst="rect">
            <a:avLst/>
          </a:prstGeom>
          <a:solidFill>
            <a:schemeClr val="accent4">
              <a:lumMod val="20000"/>
              <a:lumOff val="80000"/>
              <a:alpha val="25000"/>
            </a:schemeClr>
          </a:solidFill>
          <a:ln w="12700">
            <a:solidFill>
              <a:schemeClr val="accent1"/>
            </a:solidFill>
            <a:prstDash val="dash"/>
          </a:ln>
        </p:spPr>
        <p:txBody>
          <a:bodyPr wrap="square" rtlCol="0">
            <a:spAutoFit/>
          </a:bodyPr>
          <a:lstStyle/>
          <a:p>
            <a:pPr>
              <a:lnSpc>
                <a:spcPts val="26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同一个个体变量可在公式中既自由出现，又约束出现</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spcAft>
                <a:spcPts val="600"/>
              </a:spcAft>
              <a:buFont typeface="Arial" panose="020B0604020202020204" pitchFamily="34" charset="0"/>
              <a:buChar char="•"/>
            </a:pPr>
            <a:r>
              <a:rPr lang="zh-CN" altLang="en-US" b="1">
                <a:solidFill>
                  <a:schemeClr val="accent6">
                    <a:lumMod val="50000"/>
                  </a:schemeClr>
                </a:solidFill>
                <a:latin typeface="等线" panose="02010600030101010101" pitchFamily="2" charset="-122"/>
                <a:ea typeface="等线" panose="02010600030101010101" pitchFamily="2" charset="-122"/>
              </a:rPr>
              <a:t>但一个个体变量要么是该公式的自由变量，要么是该公式的约束变量，二者必居其一</a:t>
            </a:r>
            <a:endParaRPr lang="zh-CN" altLang="en-US" b="1">
              <a:solidFill>
                <a:schemeClr val="accent6">
                  <a:lumMod val="50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闭公式（也称为句子）</a:t>
            </a:r>
            <a:endParaRPr lang="zh-CN" altLang="en-US"/>
          </a:p>
        </p:txBody>
      </p:sp>
      <p:sp>
        <p:nvSpPr>
          <p:cNvPr id="3" name="矩形 2"/>
          <p:cNvSpPr/>
          <p:nvPr/>
        </p:nvSpPr>
        <p:spPr>
          <a:xfrm>
            <a:off x="1106769" y="5043995"/>
            <a:ext cx="9271351" cy="461665"/>
          </a:xfrm>
          <a:prstGeom prst="rect">
            <a:avLst/>
          </a:prstGeom>
          <a:solidFill>
            <a:schemeClr val="accent2">
              <a:lumMod val="20000"/>
              <a:lumOff val="80000"/>
            </a:schemeClr>
          </a:solidFill>
        </p:spPr>
        <p:txBody>
          <a:bodyPr wrap="square">
            <a:spAutoFit/>
          </a:bodyPr>
          <a:lstStyle/>
          <a:p>
            <a:r>
              <a:rPr lang="zh-CN" altLang="en-US" sz="2400" b="1">
                <a:solidFill>
                  <a:srgbClr val="002060"/>
                </a:solidFill>
              </a:rPr>
              <a:t>没有自由变量的公式称为</a:t>
            </a:r>
            <a:r>
              <a:rPr lang="zh-CN" altLang="en-US" sz="2400" b="1">
                <a:solidFill>
                  <a:srgbClr val="C00000"/>
                </a:solidFill>
              </a:rPr>
              <a:t>闭公式</a:t>
            </a:r>
            <a:r>
              <a:rPr lang="en-US" altLang="zh-CN" sz="2400">
                <a:solidFill>
                  <a:srgbClr val="002060"/>
                </a:solidFill>
              </a:rPr>
              <a:t>(closed formula)</a:t>
            </a:r>
            <a:r>
              <a:rPr lang="zh-CN" altLang="en-US" sz="2400" b="1">
                <a:solidFill>
                  <a:srgbClr val="002060"/>
                </a:solidFill>
              </a:rPr>
              <a:t>，或</a:t>
            </a:r>
            <a:r>
              <a:rPr lang="zh-CN" altLang="en-US" sz="2400" b="1">
                <a:solidFill>
                  <a:srgbClr val="C00000"/>
                </a:solidFill>
              </a:rPr>
              <a:t>句子</a:t>
            </a:r>
            <a:r>
              <a:rPr lang="en-US" altLang="zh-CN" sz="2400">
                <a:solidFill>
                  <a:srgbClr val="002060"/>
                </a:solidFill>
              </a:rPr>
              <a:t>(sentence)</a:t>
            </a:r>
            <a:endParaRPr lang="zh-CN" altLang="en-US" sz="2400">
              <a:solidFill>
                <a:srgbClr val="002060"/>
              </a:solidFill>
            </a:endParaRPr>
          </a:p>
        </p:txBody>
      </p:sp>
      <p:sp>
        <p:nvSpPr>
          <p:cNvPr id="4" name="文本框 3"/>
          <p:cNvSpPr txBox="1"/>
          <p:nvPr/>
        </p:nvSpPr>
        <p:spPr>
          <a:xfrm>
            <a:off x="1106769" y="1729757"/>
            <a:ext cx="8612728" cy="1757469"/>
          </a:xfrm>
          <a:prstGeom prst="rect">
            <a:avLst/>
          </a:prstGeom>
          <a:solidFill>
            <a:schemeClr val="accent5">
              <a:lumMod val="20000"/>
              <a:lumOff val="80000"/>
              <a:alpha val="10000"/>
            </a:schemeClr>
          </a:solidFill>
          <a:ln w="12700">
            <a:solidFill>
              <a:schemeClr val="accent1">
                <a:shade val="50000"/>
              </a:schemeClr>
            </a:solidFill>
            <a:prstDash val="sysDash"/>
          </a:ln>
        </p:spPr>
        <p:txBody>
          <a:bodyPr wrap="square" rtlCol="0">
            <a:spAutoFit/>
          </a:bodyPr>
          <a:lstStyle/>
          <a:p>
            <a:pPr>
              <a:lnSpc>
                <a:spcPts val="2600"/>
              </a:lnSpc>
              <a:spcBef>
                <a:spcPts val="600"/>
              </a:spcBef>
              <a:spcAft>
                <a:spcPts val="300"/>
              </a:spcAft>
            </a:pPr>
            <a:r>
              <a:rPr lang="zh-CN" altLang="en-US" sz="2400" b="1">
                <a:solidFill>
                  <a:srgbClr val="002060"/>
                </a:solidFill>
                <a:latin typeface="楷体" panose="02010609060101010101" pitchFamily="49" charset="-122"/>
                <a:ea typeface="楷体" panose="02010609060101010101" pitchFamily="49" charset="-122"/>
              </a:rPr>
              <a:t>量词的辖域或作用域与计算机程序中变量的作用域类似</a:t>
            </a:r>
            <a:endParaRPr lang="en-US" altLang="zh-CN" sz="24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一个一阶公式中的量词</a:t>
            </a:r>
            <a:r>
              <a:rPr lang="zh-CN" altLang="en-US" sz="2000" b="1">
                <a:solidFill>
                  <a:srgbClr val="C00000"/>
                </a:solidFill>
                <a:latin typeface="等线" panose="02010600030101010101" pitchFamily="2" charset="-122"/>
                <a:ea typeface="等线" panose="02010600030101010101" pitchFamily="2" charset="-122"/>
              </a:rPr>
              <a:t>子公式</a:t>
            </a:r>
            <a:r>
              <a:rPr lang="zh-CN" altLang="en-US" sz="2000" b="1">
                <a:solidFill>
                  <a:schemeClr val="accent6">
                    <a:lumMod val="50000"/>
                  </a:schemeClr>
                </a:solidFill>
                <a:latin typeface="等线" panose="02010600030101010101" pitchFamily="2" charset="-122"/>
                <a:ea typeface="等线" panose="02010600030101010101" pitchFamily="2" charset="-122"/>
              </a:rPr>
              <a:t>相当于一个</a:t>
            </a:r>
            <a:r>
              <a:rPr lang="zh-CN" altLang="en-US" sz="2000" b="1">
                <a:solidFill>
                  <a:srgbClr val="C00000"/>
                </a:solidFill>
                <a:latin typeface="等线" panose="02010600030101010101" pitchFamily="2" charset="-122"/>
                <a:ea typeface="等线" panose="02010600030101010101" pitchFamily="2" charset="-122"/>
              </a:rPr>
              <a:t>子模块</a:t>
            </a:r>
            <a:endParaRPr lang="zh-CN" altLang="en-US" sz="2000" b="1">
              <a:solidFill>
                <a:srgbClr val="C00000"/>
              </a:solidFill>
              <a:latin typeface="等线" panose="02010600030101010101" pitchFamily="2" charset="-122"/>
              <a:ea typeface="等线" panose="02010600030101010101" pitchFamily="2" charset="-122"/>
            </a:endParaRPr>
          </a:p>
          <a:p>
            <a:pPr marL="285750" indent="-285750">
              <a:lnSpc>
                <a:spcPts val="26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量词的</a:t>
            </a:r>
            <a:r>
              <a:rPr lang="zh-CN" altLang="en-US" sz="2000" b="1">
                <a:solidFill>
                  <a:srgbClr val="C00000"/>
                </a:solidFill>
                <a:latin typeface="等线" panose="02010600030101010101" pitchFamily="2" charset="-122"/>
                <a:ea typeface="等线" panose="02010600030101010101" pitchFamily="2" charset="-122"/>
              </a:rPr>
              <a:t>指示变量</a:t>
            </a:r>
            <a:r>
              <a:rPr lang="zh-CN" altLang="en-US" sz="2000" b="1">
                <a:solidFill>
                  <a:schemeClr val="accent6">
                    <a:lumMod val="50000"/>
                  </a:schemeClr>
                </a:solidFill>
                <a:latin typeface="等线" panose="02010600030101010101" pitchFamily="2" charset="-122"/>
                <a:ea typeface="等线" panose="02010600030101010101" pitchFamily="2" charset="-122"/>
              </a:rPr>
              <a:t>相当于声明一个</a:t>
            </a:r>
            <a:r>
              <a:rPr lang="zh-CN" altLang="en-US" sz="2000" b="1">
                <a:solidFill>
                  <a:srgbClr val="C00000"/>
                </a:solidFill>
                <a:latin typeface="等线" panose="02010600030101010101" pitchFamily="2" charset="-122"/>
                <a:ea typeface="等线" panose="02010600030101010101" pitchFamily="2" charset="-122"/>
              </a:rPr>
              <a:t>局部变量</a:t>
            </a:r>
            <a:r>
              <a:rPr lang="zh-CN" altLang="en-US" sz="2000" b="1">
                <a:solidFill>
                  <a:schemeClr val="accent6">
                    <a:lumMod val="50000"/>
                  </a:schemeClr>
                </a:solidFill>
                <a:latin typeface="等线" panose="02010600030101010101" pitchFamily="2" charset="-122"/>
                <a:ea typeface="等线" panose="02010600030101010101" pitchFamily="2" charset="-122"/>
              </a:rPr>
              <a:t>，它只是在其辖域内起作用</a:t>
            </a:r>
            <a:endParaRPr lang="zh-CN" altLang="en-US" sz="2000" b="1">
              <a:solidFill>
                <a:schemeClr val="accent6">
                  <a:lumMod val="50000"/>
                </a:schemeClr>
              </a:solidFill>
              <a:latin typeface="等线" panose="02010600030101010101" pitchFamily="2" charset="-122"/>
              <a:ea typeface="等线" panose="02010600030101010101" pitchFamily="2" charset="-122"/>
            </a:endParaRPr>
          </a:p>
          <a:p>
            <a:pPr marL="285750" indent="-285750">
              <a:lnSpc>
                <a:spcPts val="26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等线" panose="02010600030101010101" pitchFamily="2" charset="-122"/>
                <a:ea typeface="等线" panose="02010600030101010101" pitchFamily="2" charset="-122"/>
              </a:rPr>
              <a:t>辖域外同名的个体变量与辖域内的个体变量本质上是两个不同的个体变量</a:t>
            </a:r>
            <a:endParaRPr lang="zh-CN" altLang="en-US" sz="2000" b="1">
              <a:solidFill>
                <a:schemeClr val="accent6">
                  <a:lumMod val="50000"/>
                </a:schemeClr>
              </a:solidFill>
              <a:latin typeface="等线" panose="02010600030101010101" pitchFamily="2" charset="-122"/>
              <a:ea typeface="等线" panose="02010600030101010101" pitchFamily="2" charset="-122"/>
            </a:endParaRPr>
          </a:p>
        </p:txBody>
      </p:sp>
      <p:sp>
        <p:nvSpPr>
          <p:cNvPr id="6" name="文本框 5"/>
          <p:cNvSpPr txBox="1"/>
          <p:nvPr/>
        </p:nvSpPr>
        <p:spPr>
          <a:xfrm>
            <a:off x="1106769" y="4026360"/>
            <a:ext cx="8868504" cy="461665"/>
          </a:xfrm>
          <a:prstGeom prst="rect">
            <a:avLst/>
          </a:prstGeom>
          <a:solidFill>
            <a:schemeClr val="accent4">
              <a:lumMod val="20000"/>
              <a:lumOff val="80000"/>
              <a:alpha val="25000"/>
            </a:schemeClr>
          </a:solidFill>
          <a:ln w="12700">
            <a:solidFill>
              <a:schemeClr val="accent1"/>
            </a:solidFill>
            <a:prstDash val="dash"/>
          </a:ln>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自由出现的个体变量在整个公式起作用，相当于程序的全局变量</a:t>
            </a:r>
            <a:endParaRPr lang="zh-CN" altLang="en-US" sz="2400" b="1">
              <a:solidFill>
                <a:srgbClr val="002060"/>
              </a:solidFill>
              <a:latin typeface="楷体" panose="02010609060101010101" pitchFamily="49" charset="-122"/>
              <a:ea typeface="楷体" panose="020106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量词辖域、自由变量和约束变量练习</a:t>
            </a:r>
            <a:endParaRPr lang="zh-CN" altLang="en-US"/>
          </a:p>
        </p:txBody>
      </p:sp>
      <p:pic>
        <p:nvPicPr>
          <p:cNvPr id="2" name="图片 1"/>
          <p:cNvPicPr>
            <a:picLocks noChangeAspect="1"/>
          </p:cNvPicPr>
          <p:nvPr/>
        </p:nvPicPr>
        <p:blipFill>
          <a:blip r:embed="rId1"/>
          <a:stretch>
            <a:fillRect/>
          </a:stretch>
        </p:blipFill>
        <p:spPr>
          <a:xfrm>
            <a:off x="980185" y="1038179"/>
            <a:ext cx="10461876" cy="532259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量词辖域、自由变量和约束变量练习</a:t>
            </a:r>
            <a:endParaRPr lang="zh-CN" altLang="en-US"/>
          </a:p>
        </p:txBody>
      </p:sp>
      <p:grpSp>
        <p:nvGrpSpPr>
          <p:cNvPr id="6" name="组合 5"/>
          <p:cNvGrpSpPr/>
          <p:nvPr/>
        </p:nvGrpSpPr>
        <p:grpSpPr>
          <a:xfrm>
            <a:off x="980184" y="1038179"/>
            <a:ext cx="10461876" cy="5328801"/>
            <a:chOff x="980184" y="1038179"/>
            <a:chExt cx="10461876" cy="5328801"/>
          </a:xfrm>
        </p:grpSpPr>
        <p:pic>
          <p:nvPicPr>
            <p:cNvPr id="3" name="图片 2"/>
            <p:cNvPicPr>
              <a:picLocks noChangeAspect="1"/>
            </p:cNvPicPr>
            <p:nvPr/>
          </p:nvPicPr>
          <p:blipFill>
            <a:blip r:embed="rId1"/>
            <a:stretch>
              <a:fillRect/>
            </a:stretch>
          </p:blipFill>
          <p:spPr>
            <a:xfrm>
              <a:off x="980184" y="1038179"/>
              <a:ext cx="10461876" cy="5328801"/>
            </a:xfrm>
            <a:prstGeom prst="rect">
              <a:avLst/>
            </a:prstGeom>
          </p:spPr>
        </p:pic>
        <p:sp>
          <p:nvSpPr>
            <p:cNvPr id="4" name="文本框 3"/>
            <p:cNvSpPr txBox="1"/>
            <p:nvPr/>
          </p:nvSpPr>
          <p:spPr>
            <a:xfrm>
              <a:off x="5783526" y="1894585"/>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B</a:t>
              </a:r>
              <a:endParaRPr lang="zh-CN" altLang="en-US" b="1">
                <a:solidFill>
                  <a:schemeClr val="accent2">
                    <a:lumMod val="50000"/>
                  </a:schemeClr>
                </a:solidFill>
              </a:endParaRPr>
            </a:p>
          </p:txBody>
        </p:sp>
        <p:sp>
          <p:nvSpPr>
            <p:cNvPr id="11" name="文本框 10"/>
            <p:cNvSpPr txBox="1"/>
            <p:nvPr/>
          </p:nvSpPr>
          <p:spPr>
            <a:xfrm>
              <a:off x="10231633" y="1888360"/>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E</a:t>
              </a:r>
              <a:endParaRPr lang="zh-CN" altLang="en-US" b="1">
                <a:solidFill>
                  <a:schemeClr val="accent2">
                    <a:lumMod val="50000"/>
                  </a:schemeClr>
                </a:solidFill>
              </a:endParaRPr>
            </a:p>
          </p:txBody>
        </p:sp>
        <p:sp>
          <p:nvSpPr>
            <p:cNvPr id="12" name="文本框 11"/>
            <p:cNvSpPr txBox="1"/>
            <p:nvPr/>
          </p:nvSpPr>
          <p:spPr>
            <a:xfrm>
              <a:off x="4120282" y="2461425"/>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A</a:t>
              </a:r>
              <a:endParaRPr lang="zh-CN" altLang="en-US" b="1">
                <a:solidFill>
                  <a:schemeClr val="accent2">
                    <a:lumMod val="50000"/>
                  </a:schemeClr>
                </a:solidFill>
              </a:endParaRPr>
            </a:p>
          </p:txBody>
        </p:sp>
        <p:sp>
          <p:nvSpPr>
            <p:cNvPr id="13" name="文本框 12"/>
            <p:cNvSpPr txBox="1"/>
            <p:nvPr/>
          </p:nvSpPr>
          <p:spPr>
            <a:xfrm>
              <a:off x="5905773" y="2652199"/>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G</a:t>
              </a:r>
              <a:endParaRPr lang="zh-CN" altLang="en-US" b="1">
                <a:solidFill>
                  <a:schemeClr val="accent2">
                    <a:lumMod val="50000"/>
                  </a:schemeClr>
                </a:solidFill>
              </a:endParaRPr>
            </a:p>
          </p:txBody>
        </p:sp>
        <p:sp>
          <p:nvSpPr>
            <p:cNvPr id="14" name="文本框 13"/>
            <p:cNvSpPr txBox="1"/>
            <p:nvPr/>
          </p:nvSpPr>
          <p:spPr>
            <a:xfrm>
              <a:off x="7758533" y="2652198"/>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H</a:t>
              </a:r>
              <a:endParaRPr lang="zh-CN" altLang="en-US" b="1">
                <a:solidFill>
                  <a:schemeClr val="accent2">
                    <a:lumMod val="50000"/>
                  </a:schemeClr>
                </a:solidFill>
              </a:endParaRPr>
            </a:p>
          </p:txBody>
        </p:sp>
        <p:sp>
          <p:nvSpPr>
            <p:cNvPr id="15" name="文本框 14"/>
            <p:cNvSpPr txBox="1"/>
            <p:nvPr/>
          </p:nvSpPr>
          <p:spPr>
            <a:xfrm>
              <a:off x="7082052" y="3146871"/>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H</a:t>
              </a:r>
              <a:endParaRPr lang="zh-CN" altLang="en-US" b="1">
                <a:solidFill>
                  <a:schemeClr val="accent2">
                    <a:lumMod val="50000"/>
                  </a:schemeClr>
                </a:solidFill>
              </a:endParaRPr>
            </a:p>
          </p:txBody>
        </p:sp>
        <p:sp>
          <p:nvSpPr>
            <p:cNvPr id="16" name="文本框 15"/>
            <p:cNvSpPr txBox="1"/>
            <p:nvPr/>
          </p:nvSpPr>
          <p:spPr>
            <a:xfrm>
              <a:off x="8877961" y="3929507"/>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H</a:t>
              </a:r>
              <a:endParaRPr lang="zh-CN" altLang="en-US" b="1">
                <a:solidFill>
                  <a:schemeClr val="accent2">
                    <a:lumMod val="50000"/>
                  </a:schemeClr>
                </a:solidFill>
              </a:endParaRPr>
            </a:p>
          </p:txBody>
        </p:sp>
        <p:sp>
          <p:nvSpPr>
            <p:cNvPr id="18" name="文本框 17"/>
            <p:cNvSpPr txBox="1"/>
            <p:nvPr/>
          </p:nvSpPr>
          <p:spPr>
            <a:xfrm>
              <a:off x="5183244" y="3128584"/>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G</a:t>
              </a:r>
              <a:endParaRPr lang="zh-CN" altLang="en-US" b="1">
                <a:solidFill>
                  <a:schemeClr val="accent2">
                    <a:lumMod val="50000"/>
                  </a:schemeClr>
                </a:solidFill>
              </a:endParaRPr>
            </a:p>
          </p:txBody>
        </p:sp>
        <p:sp>
          <p:nvSpPr>
            <p:cNvPr id="19" name="文本框 18"/>
            <p:cNvSpPr txBox="1"/>
            <p:nvPr/>
          </p:nvSpPr>
          <p:spPr>
            <a:xfrm>
              <a:off x="5525322" y="3564079"/>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G</a:t>
              </a:r>
              <a:endParaRPr lang="zh-CN" altLang="en-US" b="1">
                <a:solidFill>
                  <a:schemeClr val="accent2">
                    <a:lumMod val="50000"/>
                  </a:schemeClr>
                </a:solidFill>
              </a:endParaRPr>
            </a:p>
          </p:txBody>
        </p:sp>
        <p:sp>
          <p:nvSpPr>
            <p:cNvPr id="20" name="文本框 19"/>
            <p:cNvSpPr txBox="1"/>
            <p:nvPr/>
          </p:nvSpPr>
          <p:spPr>
            <a:xfrm>
              <a:off x="5783525" y="3959135"/>
              <a:ext cx="38045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chemeClr val="accent2">
                      <a:lumMod val="50000"/>
                    </a:schemeClr>
                  </a:solidFill>
                </a:rPr>
                <a:t>G</a:t>
              </a:r>
              <a:endParaRPr lang="zh-CN" altLang="en-US" b="1">
                <a:solidFill>
                  <a:schemeClr val="accent2">
                    <a:lumMod val="50000"/>
                  </a:schemeClr>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约束变量改名</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661837" y="1338558"/>
                <a:ext cx="10458034" cy="920188"/>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约束变量改名</a:t>
                </a:r>
                <a:endParaRPr lang="en-US" altLang="zh-CN" sz="2400" b="1">
                  <a:solidFill>
                    <a:srgbClr val="C00000"/>
                  </a:solidFill>
                </a:endParaRPr>
              </a:p>
              <a:p>
                <a:pPr>
                  <a:lnSpc>
                    <a:spcPts val="26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将</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𝒙𝑨</m:t>
                    </m:r>
                  </m:oMath>
                </a14:m>
                <a:r>
                  <a:rPr lang="zh-CN" altLang="en-US" sz="2000" b="1">
                    <a:solidFill>
                      <a:srgbClr val="00206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𝒙𝑨</m:t>
                    </m:r>
                  </m:oMath>
                </a14:m>
                <a:r>
                  <a:rPr lang="zh-CN" altLang="en-US" sz="2000" b="1">
                    <a:solidFill>
                      <a:srgbClr val="002060"/>
                    </a:solidFill>
                    <a:latin typeface="楷体" panose="02010609060101010101" pitchFamily="49" charset="-122"/>
                    <a:ea typeface="楷体" panose="02010609060101010101" pitchFamily="49" charset="-122"/>
                  </a:rPr>
                  <a:t>的指示变量</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及它的辖域</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中所有自由出现的</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都改为一个不在</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中出现的变量</a:t>
                </a:r>
                <a14:m>
                  <m:oMath xmlns:m="http://schemas.openxmlformats.org/officeDocument/2006/math">
                    <m:r>
                      <a:rPr lang="en-US" altLang="zh-CN" sz="2000" b="1" i="1" smtClean="0">
                        <a:solidFill>
                          <a:srgbClr val="002060"/>
                        </a:solidFill>
                        <a:latin typeface="Cambria Math" panose="02040503050406030204" pitchFamily="18" charset="0"/>
                      </a:rPr>
                      <m:t>𝒚</m:t>
                    </m:r>
                  </m:oMath>
                </a14:m>
                <a:endParaRPr lang="en-US" altLang="zh-CN"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661837" y="1338558"/>
                <a:ext cx="10458034" cy="920188"/>
              </a:xfrm>
              <a:prstGeom prst="rect">
                <a:avLst/>
              </a:prstGeom>
              <a:blipFill rotWithShape="1">
                <a:blip r:embed="rId1"/>
                <a:stretch>
                  <a:fillRect l="-2" t="-67" r="4" b="6"/>
                </a:stretch>
              </a:blipFill>
            </p:spPr>
            <p:txBody>
              <a:bodyPr/>
              <a:lstStyle/>
              <a:p>
                <a:r>
                  <a:rPr lang="zh-CN" altLang="en-US">
                    <a:noFill/>
                  </a:rPr>
                  <a:t> </a:t>
                </a:r>
              </a:p>
            </p:txBody>
          </p:sp>
        </mc:Fallback>
      </mc:AlternateContent>
      <p:grpSp>
        <p:nvGrpSpPr>
          <p:cNvPr id="31" name="组合 30"/>
          <p:cNvGrpSpPr/>
          <p:nvPr/>
        </p:nvGrpSpPr>
        <p:grpSpPr>
          <a:xfrm>
            <a:off x="661837" y="2603634"/>
            <a:ext cx="3269475" cy="2418248"/>
            <a:chOff x="1509427" y="2215984"/>
            <a:chExt cx="3269475" cy="2418248"/>
          </a:xfrm>
        </p:grpSpPr>
        <mc:AlternateContent xmlns:mc="http://schemas.openxmlformats.org/markup-compatibility/2006">
          <mc:Choice xmlns:a14="http://schemas.microsoft.com/office/drawing/2010/main" Requires="a14">
            <p:sp>
              <p:nvSpPr>
                <p:cNvPr id="11" name="文本框 10"/>
                <p:cNvSpPr txBox="1"/>
                <p:nvPr/>
              </p:nvSpPr>
              <p:spPr>
                <a:xfrm>
                  <a:off x="1509427" y="3218484"/>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1509427" y="3218484"/>
                  <a:ext cx="3269475" cy="276999"/>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509427" y="2215984"/>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1509427" y="2215984"/>
                  <a:ext cx="3269475" cy="276999"/>
                </a:xfrm>
                <a:prstGeom prst="rect">
                  <a:avLst/>
                </a:prstGeom>
                <a:blipFill rotWithShape="1">
                  <a:blip r:embed="rId3"/>
                </a:blipFill>
              </p:spPr>
              <p:txBody>
                <a:bodyPr/>
                <a:lstStyle/>
                <a:p>
                  <a:r>
                    <a:rPr lang="zh-CN" altLang="en-US">
                      <a:noFill/>
                    </a:rPr>
                    <a:t> </a:t>
                  </a:r>
                </a:p>
              </p:txBody>
            </p:sp>
          </mc:Fallback>
        </mc:AlternateContent>
        <p:sp>
          <p:nvSpPr>
            <p:cNvPr id="12" name="箭头: 上 11"/>
            <p:cNvSpPr/>
            <p:nvPr/>
          </p:nvSpPr>
          <p:spPr>
            <a:xfrm>
              <a:off x="3098447" y="2492983"/>
              <a:ext cx="98664" cy="7255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620968" y="2750236"/>
              <a:ext cx="140778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约束变量改名</a:t>
              </a:r>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3259581" y="2758057"/>
                  <a:ext cx="98062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将</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𝒚</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改为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𝒛</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3259581" y="2758057"/>
                  <a:ext cx="980621" cy="246221"/>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1509427" y="4357233"/>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1509427" y="4357233"/>
                  <a:ext cx="3269475" cy="276999"/>
                </a:xfrm>
                <a:prstGeom prst="rect">
                  <a:avLst/>
                </a:prstGeom>
                <a:blipFill rotWithShape="1">
                  <a:blip r:embed="rId5"/>
                </a:blipFill>
              </p:spPr>
              <p:txBody>
                <a:bodyPr/>
                <a:lstStyle/>
                <a:p>
                  <a:r>
                    <a:rPr lang="zh-CN" altLang="en-US">
                      <a:noFill/>
                    </a:rPr>
                    <a:t> </a:t>
                  </a:r>
                </a:p>
              </p:txBody>
            </p:sp>
          </mc:Fallback>
        </mc:AlternateContent>
        <p:cxnSp>
          <p:nvCxnSpPr>
            <p:cNvPr id="19" name="直接箭头连接符 18"/>
            <p:cNvCxnSpPr>
              <a:stCxn id="11" idx="2"/>
              <a:endCxn id="18" idx="0"/>
            </p:cNvCxnSpPr>
            <p:nvPr/>
          </p:nvCxnSpPr>
          <p:spPr>
            <a:xfrm>
              <a:off x="3144165" y="3495483"/>
              <a:ext cx="0" cy="861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028749" y="3747493"/>
              <a:ext cx="230832" cy="276999"/>
            </a:xfrm>
            <a:prstGeom prst="rect">
              <a:avLst/>
            </a:prstGeom>
            <a:solidFill>
              <a:schemeClr val="bg1"/>
            </a:solidFill>
          </p:spPr>
          <p:txBody>
            <a:bodyPr wrap="none" lIns="0" tIns="0" rIns="0" bIns="0" rtlCol="0">
              <a:spAutoFit/>
            </a:bodyPr>
            <a:lstStyle/>
            <a:p>
              <a:pPr algn="ctr"/>
              <a:r>
                <a:rPr lang="zh-CN" altLang="en-US">
                  <a:solidFill>
                    <a:srgbClr val="C00000"/>
                  </a:solidFill>
                </a:rPr>
                <a:t>✘</a:t>
              </a:r>
              <a:endParaRPr lang="zh-CN" altLang="en-US">
                <a:solidFill>
                  <a:srgbClr val="C00000"/>
                </a:solidFill>
              </a:endParaRPr>
            </a:p>
          </p:txBody>
        </p:sp>
        <mc:AlternateContent xmlns:mc="http://schemas.openxmlformats.org/markup-compatibility/2006">
          <mc:Choice xmlns:a14="http://schemas.microsoft.com/office/drawing/2010/main" Requires="a14">
            <p:sp>
              <p:nvSpPr>
                <p:cNvPr id="22" name="文本框 21"/>
                <p:cNvSpPr txBox="1"/>
                <p:nvPr/>
              </p:nvSpPr>
              <p:spPr>
                <a:xfrm>
                  <a:off x="1509427" y="3680136"/>
                  <a:ext cx="1538573"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不能选择</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𝒚</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的辖域中出现的</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1509427" y="3680136"/>
                  <a:ext cx="1538573" cy="492443"/>
                </a:xfrm>
                <a:prstGeom prst="rect">
                  <a:avLst/>
                </a:prstGeom>
                <a:blipFill rotWithShape="1">
                  <a:blip r:embed="rId6"/>
                </a:blipFill>
              </p:spPr>
              <p:txBody>
                <a:bodyPr/>
                <a:lstStyle/>
                <a:p>
                  <a:r>
                    <a:rPr lang="zh-CN" altLang="en-US">
                      <a:noFill/>
                    </a:rPr>
                    <a:t> </a:t>
                  </a:r>
                </a:p>
              </p:txBody>
            </p:sp>
          </mc:Fallback>
        </mc:AlternateContent>
      </p:grpSp>
      <p:sp>
        <p:nvSpPr>
          <p:cNvPr id="29" name="文本框 28"/>
          <p:cNvSpPr txBox="1"/>
          <p:nvPr/>
        </p:nvSpPr>
        <p:spPr>
          <a:xfrm>
            <a:off x="661837" y="5429908"/>
            <a:ext cx="6129022"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约束变量改名前后的公式被认为是实质上相同的公式</a:t>
            </a:r>
            <a:endParaRPr lang="zh-CN" altLang="en-US" sz="2000" b="1">
              <a:solidFill>
                <a:schemeClr val="accent2">
                  <a:lumMod val="50000"/>
                </a:schemeClr>
              </a:solidFill>
            </a:endParaRPr>
          </a:p>
        </p:txBody>
      </p:sp>
      <p:grpSp>
        <p:nvGrpSpPr>
          <p:cNvPr id="32" name="组合 31"/>
          <p:cNvGrpSpPr/>
          <p:nvPr/>
        </p:nvGrpSpPr>
        <p:grpSpPr>
          <a:xfrm>
            <a:off x="4411929" y="2594698"/>
            <a:ext cx="3269475" cy="2453899"/>
            <a:chOff x="1509427" y="2215984"/>
            <a:chExt cx="3269475" cy="2453899"/>
          </a:xfrm>
        </p:grpSpPr>
        <mc:AlternateContent xmlns:mc="http://schemas.openxmlformats.org/markup-compatibility/2006">
          <mc:Choice xmlns:a14="http://schemas.microsoft.com/office/drawing/2010/main" Requires="a14">
            <p:sp>
              <p:nvSpPr>
                <p:cNvPr id="33" name="文本框 32"/>
                <p:cNvSpPr txBox="1"/>
                <p:nvPr/>
              </p:nvSpPr>
              <p:spPr>
                <a:xfrm>
                  <a:off x="1509427" y="3218484"/>
                  <a:ext cx="3269475" cy="312650"/>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33" name="文本框 32"/>
                <p:cNvSpPr txBox="1">
                  <a:spLocks noRot="1" noChangeAspect="1" noMove="1" noResize="1" noEditPoints="1" noAdjustHandles="1" noChangeArrowheads="1" noChangeShapeType="1" noTextEdit="1"/>
                </p:cNvSpPr>
                <p:nvPr/>
              </p:nvSpPr>
              <p:spPr>
                <a:xfrm>
                  <a:off x="1509427" y="3218484"/>
                  <a:ext cx="3269475" cy="31265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1509427" y="2215984"/>
                  <a:ext cx="3269475" cy="312650"/>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𝑮</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𝒛𝑯</m:t>
                        </m:r>
                        <m:r>
                          <a:rPr lang="en-US" altLang="zh-CN" b="1" i="1">
                            <a:solidFill>
                              <a:srgbClr val="00206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𝒛</m:t>
                        </m:r>
                        <m:r>
                          <a:rPr lang="en-US" altLang="zh-CN" b="1" i="1">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34" name="文本框 33"/>
                <p:cNvSpPr txBox="1">
                  <a:spLocks noRot="1" noChangeAspect="1" noMove="1" noResize="1" noEditPoints="1" noAdjustHandles="1" noChangeArrowheads="1" noChangeShapeType="1" noTextEdit="1"/>
                </p:cNvSpPr>
                <p:nvPr/>
              </p:nvSpPr>
              <p:spPr>
                <a:xfrm>
                  <a:off x="1509427" y="2215984"/>
                  <a:ext cx="3269475" cy="312650"/>
                </a:xfrm>
                <a:prstGeom prst="rect">
                  <a:avLst/>
                </a:prstGeom>
                <a:blipFill rotWithShape="1">
                  <a:blip r:embed="rId8"/>
                </a:blipFill>
              </p:spPr>
              <p:txBody>
                <a:bodyPr/>
                <a:lstStyle/>
                <a:p>
                  <a:r>
                    <a:rPr lang="zh-CN" altLang="en-US">
                      <a:noFill/>
                    </a:rPr>
                    <a:t> </a:t>
                  </a:r>
                </a:p>
              </p:txBody>
            </p:sp>
          </mc:Fallback>
        </mc:AlternateContent>
        <p:sp>
          <p:nvSpPr>
            <p:cNvPr id="35" name="箭头: 上 34"/>
            <p:cNvSpPr/>
            <p:nvPr/>
          </p:nvSpPr>
          <p:spPr>
            <a:xfrm>
              <a:off x="3098447" y="2492983"/>
              <a:ext cx="98664" cy="7255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1620968" y="2750236"/>
              <a:ext cx="140778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约束变量改名</a:t>
              </a:r>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7" name="文本框 36"/>
                <p:cNvSpPr txBox="1"/>
                <p:nvPr/>
              </p:nvSpPr>
              <p:spPr>
                <a:xfrm>
                  <a:off x="3239942" y="2633714"/>
                  <a:ext cx="1407781"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可选在</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辖域外出现的变量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𝒛</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37" name="文本框 36"/>
                <p:cNvSpPr txBox="1">
                  <a:spLocks noRot="1" noChangeAspect="1" noMove="1" noResize="1" noEditPoints="1" noAdjustHandles="1" noChangeArrowheads="1" noChangeShapeType="1" noTextEdit="1"/>
                </p:cNvSpPr>
                <p:nvPr/>
              </p:nvSpPr>
              <p:spPr>
                <a:xfrm>
                  <a:off x="3239942" y="2633714"/>
                  <a:ext cx="1407781" cy="492443"/>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p:cNvSpPr txBox="1"/>
                <p:nvPr/>
              </p:nvSpPr>
              <p:spPr>
                <a:xfrm>
                  <a:off x="1509427" y="4357233"/>
                  <a:ext cx="3269475" cy="312650"/>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𝒚</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𝑮</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r>
                                  <a:rPr lang="en-US" altLang="zh-CN" b="1" i="1">
                                    <a:solidFill>
                                      <a:srgbClr val="002060"/>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𝒛𝑯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𝒛</m:t>
                        </m:r>
                        <m:r>
                          <a:rPr lang="en-US" altLang="zh-CN" b="1" i="1">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38" name="文本框 37"/>
                <p:cNvSpPr txBox="1">
                  <a:spLocks noRot="1" noChangeAspect="1" noMove="1" noResize="1" noEditPoints="1" noAdjustHandles="1" noChangeArrowheads="1" noChangeShapeType="1" noTextEdit="1"/>
                </p:cNvSpPr>
                <p:nvPr/>
              </p:nvSpPr>
              <p:spPr>
                <a:xfrm>
                  <a:off x="1509427" y="4357233"/>
                  <a:ext cx="3269475" cy="312650"/>
                </a:xfrm>
                <a:prstGeom prst="rect">
                  <a:avLst/>
                </a:prstGeom>
                <a:blipFill rotWithShape="1">
                  <a:blip r:embed="rId10"/>
                </a:blipFill>
              </p:spPr>
              <p:txBody>
                <a:bodyPr/>
                <a:lstStyle/>
                <a:p>
                  <a:r>
                    <a:rPr lang="zh-CN" altLang="en-US">
                      <a:noFill/>
                    </a:rPr>
                    <a:t> </a:t>
                  </a:r>
                </a:p>
              </p:txBody>
            </p:sp>
          </mc:Fallback>
        </mc:AlternateContent>
        <p:cxnSp>
          <p:nvCxnSpPr>
            <p:cNvPr id="39" name="直接箭头连接符 38"/>
            <p:cNvCxnSpPr>
              <a:stCxn id="33" idx="2"/>
              <a:endCxn id="38" idx="0"/>
            </p:cNvCxnSpPr>
            <p:nvPr/>
          </p:nvCxnSpPr>
          <p:spPr>
            <a:xfrm>
              <a:off x="3144165" y="3531134"/>
              <a:ext cx="0" cy="82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3028749" y="3747493"/>
              <a:ext cx="230832" cy="276999"/>
            </a:xfrm>
            <a:prstGeom prst="rect">
              <a:avLst/>
            </a:prstGeom>
            <a:solidFill>
              <a:schemeClr val="bg1"/>
            </a:solidFill>
          </p:spPr>
          <p:txBody>
            <a:bodyPr wrap="none" lIns="0" tIns="0" rIns="0" bIns="0" rtlCol="0">
              <a:spAutoFit/>
            </a:bodyPr>
            <a:lstStyle/>
            <a:p>
              <a:pPr algn="ctr"/>
              <a:r>
                <a:rPr lang="zh-CN" altLang="en-US">
                  <a:solidFill>
                    <a:srgbClr val="C00000"/>
                  </a:solidFill>
                </a:rPr>
                <a:t>✘</a:t>
              </a:r>
              <a:endParaRPr lang="zh-CN" altLang="en-US">
                <a:solidFill>
                  <a:srgbClr val="C00000"/>
                </a:solidFill>
              </a:endParaRPr>
            </a:p>
          </p:txBody>
        </p:sp>
        <mc:AlternateContent xmlns:mc="http://schemas.openxmlformats.org/markup-compatibility/2006">
          <mc:Choice xmlns:a14="http://schemas.microsoft.com/office/drawing/2010/main" Requires="a14">
            <p:sp>
              <p:nvSpPr>
                <p:cNvPr id="41" name="文本框 40"/>
                <p:cNvSpPr txBox="1"/>
                <p:nvPr/>
              </p:nvSpPr>
              <p:spPr>
                <a:xfrm>
                  <a:off x="1509427" y="3680136"/>
                  <a:ext cx="1538573"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不能选择</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的辖域中出现的</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𝒚</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41" name="文本框 40"/>
                <p:cNvSpPr txBox="1">
                  <a:spLocks noRot="1" noChangeAspect="1" noMove="1" noResize="1" noEditPoints="1" noAdjustHandles="1" noChangeArrowheads="1" noChangeShapeType="1" noTextEdit="1"/>
                </p:cNvSpPr>
                <p:nvPr/>
              </p:nvSpPr>
              <p:spPr>
                <a:xfrm>
                  <a:off x="1509427" y="3680136"/>
                  <a:ext cx="1538573" cy="492443"/>
                </a:xfrm>
                <a:prstGeom prst="rect">
                  <a:avLst/>
                </a:prstGeom>
                <a:blipFill rotWithShape="1">
                  <a:blip r:embed="rId11"/>
                </a:blipFill>
              </p:spPr>
              <p:txBody>
                <a:bodyPr/>
                <a:lstStyle/>
                <a:p>
                  <a:r>
                    <a:rPr lang="zh-CN" altLang="en-US">
                      <a:noFill/>
                    </a:rPr>
                    <a:t> </a:t>
                  </a:r>
                </a:p>
              </p:txBody>
            </p:sp>
          </mc:Fallback>
        </mc:AlternateContent>
      </p:grpSp>
      <p:grpSp>
        <p:nvGrpSpPr>
          <p:cNvPr id="42" name="组合 41"/>
          <p:cNvGrpSpPr/>
          <p:nvPr/>
        </p:nvGrpSpPr>
        <p:grpSpPr>
          <a:xfrm>
            <a:off x="8162019" y="2603634"/>
            <a:ext cx="3269475" cy="2418248"/>
            <a:chOff x="1509427" y="2215984"/>
            <a:chExt cx="3269475" cy="2418248"/>
          </a:xfrm>
        </p:grpSpPr>
        <mc:AlternateContent xmlns:mc="http://schemas.openxmlformats.org/markup-compatibility/2006">
          <mc:Choice xmlns:a14="http://schemas.microsoft.com/office/drawing/2010/main" Requires="a14">
            <p:sp>
              <p:nvSpPr>
                <p:cNvPr id="43" name="文本框 42"/>
                <p:cNvSpPr txBox="1"/>
                <p:nvPr/>
              </p:nvSpPr>
              <p:spPr>
                <a:xfrm>
                  <a:off x="1509427" y="3218484"/>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e>
                        </m:d>
                      </m:oMath>
                    </m:oMathPara>
                  </a14:m>
                  <a:endParaRPr lang="zh-CN" altLang="en-US" b="1">
                    <a:solidFill>
                      <a:srgbClr val="002060"/>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1509427" y="3218484"/>
                  <a:ext cx="3269475" cy="276999"/>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1509427" y="2215984"/>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𝑮</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e>
                        </m:d>
                      </m:oMath>
                    </m:oMathPara>
                  </a14:m>
                  <a:endParaRPr lang="zh-CN" altLang="en-US" b="1">
                    <a:solidFill>
                      <a:srgbClr val="002060"/>
                    </a:solidFill>
                  </a:endParaRPr>
                </a:p>
              </p:txBody>
            </p:sp>
          </mc:Choice>
          <mc:Fallback>
            <p:sp>
              <p:nvSpPr>
                <p:cNvPr id="44" name="文本框 43"/>
                <p:cNvSpPr txBox="1">
                  <a:spLocks noRot="1" noChangeAspect="1" noMove="1" noResize="1" noEditPoints="1" noAdjustHandles="1" noChangeArrowheads="1" noChangeShapeType="1" noTextEdit="1"/>
                </p:cNvSpPr>
                <p:nvPr/>
              </p:nvSpPr>
              <p:spPr>
                <a:xfrm>
                  <a:off x="1509427" y="2215984"/>
                  <a:ext cx="3269475" cy="276999"/>
                </a:xfrm>
                <a:prstGeom prst="rect">
                  <a:avLst/>
                </a:prstGeom>
                <a:blipFill rotWithShape="1">
                  <a:blip r:embed="rId13"/>
                </a:blipFill>
              </p:spPr>
              <p:txBody>
                <a:bodyPr/>
                <a:lstStyle/>
                <a:p>
                  <a:r>
                    <a:rPr lang="zh-CN" altLang="en-US">
                      <a:noFill/>
                    </a:rPr>
                    <a:t> </a:t>
                  </a:r>
                </a:p>
              </p:txBody>
            </p:sp>
          </mc:Fallback>
        </mc:AlternateContent>
        <p:sp>
          <p:nvSpPr>
            <p:cNvPr id="45" name="箭头: 上 44"/>
            <p:cNvSpPr/>
            <p:nvPr/>
          </p:nvSpPr>
          <p:spPr>
            <a:xfrm>
              <a:off x="3098447" y="2492983"/>
              <a:ext cx="98664" cy="7255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1620968" y="2750236"/>
              <a:ext cx="140778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约束变量改名</a:t>
              </a:r>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47" name="文本框 46"/>
                <p:cNvSpPr txBox="1"/>
                <p:nvPr/>
              </p:nvSpPr>
              <p:spPr>
                <a:xfrm>
                  <a:off x="3259581" y="2758057"/>
                  <a:ext cx="98062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将</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改为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𝒛</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47" name="文本框 46"/>
                <p:cNvSpPr txBox="1">
                  <a:spLocks noRot="1" noChangeAspect="1" noMove="1" noResize="1" noEditPoints="1" noAdjustHandles="1" noChangeArrowheads="1" noChangeShapeType="1" noTextEdit="1"/>
                </p:cNvSpPr>
                <p:nvPr/>
              </p:nvSpPr>
              <p:spPr>
                <a:xfrm>
                  <a:off x="3259581" y="2758057"/>
                  <a:ext cx="980621" cy="246221"/>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文本框 47"/>
                <p:cNvSpPr txBox="1"/>
                <p:nvPr/>
              </p:nvSpPr>
              <p:spPr>
                <a:xfrm>
                  <a:off x="1509427" y="4357233"/>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𝑮</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e>
                        </m:d>
                      </m:oMath>
                    </m:oMathPara>
                  </a14:m>
                  <a:endParaRPr lang="zh-CN" altLang="en-US" b="1">
                    <a:solidFill>
                      <a:srgbClr val="002060"/>
                    </a:solidFill>
                  </a:endParaRPr>
                </a:p>
              </p:txBody>
            </p:sp>
          </mc:Choice>
          <mc:Fallback>
            <p:sp>
              <p:nvSpPr>
                <p:cNvPr id="48" name="文本框 47"/>
                <p:cNvSpPr txBox="1">
                  <a:spLocks noRot="1" noChangeAspect="1" noMove="1" noResize="1" noEditPoints="1" noAdjustHandles="1" noChangeArrowheads="1" noChangeShapeType="1" noTextEdit="1"/>
                </p:cNvSpPr>
                <p:nvPr/>
              </p:nvSpPr>
              <p:spPr>
                <a:xfrm>
                  <a:off x="1509427" y="4357233"/>
                  <a:ext cx="3269475" cy="276999"/>
                </a:xfrm>
                <a:prstGeom prst="rect">
                  <a:avLst/>
                </a:prstGeom>
                <a:blipFill rotWithShape="1">
                  <a:blip r:embed="rId15"/>
                </a:blipFill>
              </p:spPr>
              <p:txBody>
                <a:bodyPr/>
                <a:lstStyle/>
                <a:p>
                  <a:r>
                    <a:rPr lang="zh-CN" altLang="en-US">
                      <a:noFill/>
                    </a:rPr>
                    <a:t> </a:t>
                  </a:r>
                </a:p>
              </p:txBody>
            </p:sp>
          </mc:Fallback>
        </mc:AlternateContent>
        <p:cxnSp>
          <p:nvCxnSpPr>
            <p:cNvPr id="49" name="直接箭头连接符 48"/>
            <p:cNvCxnSpPr>
              <a:stCxn id="43" idx="2"/>
              <a:endCxn id="48" idx="0"/>
            </p:cNvCxnSpPr>
            <p:nvPr/>
          </p:nvCxnSpPr>
          <p:spPr>
            <a:xfrm>
              <a:off x="3144165" y="3495483"/>
              <a:ext cx="0" cy="861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3028749" y="3747493"/>
              <a:ext cx="230832" cy="276999"/>
            </a:xfrm>
            <a:prstGeom prst="rect">
              <a:avLst/>
            </a:prstGeom>
            <a:solidFill>
              <a:schemeClr val="bg1"/>
            </a:solidFill>
          </p:spPr>
          <p:txBody>
            <a:bodyPr wrap="none" lIns="0" tIns="0" rIns="0" bIns="0" rtlCol="0">
              <a:spAutoFit/>
            </a:bodyPr>
            <a:lstStyle/>
            <a:p>
              <a:pPr algn="ctr"/>
              <a:r>
                <a:rPr lang="zh-CN" altLang="en-US">
                  <a:solidFill>
                    <a:srgbClr val="C00000"/>
                  </a:solidFill>
                </a:rPr>
                <a:t>✘</a:t>
              </a:r>
              <a:endParaRPr lang="zh-CN" altLang="en-US">
                <a:solidFill>
                  <a:srgbClr val="C00000"/>
                </a:solidFill>
              </a:endParaRPr>
            </a:p>
          </p:txBody>
        </p:sp>
        <mc:AlternateContent xmlns:mc="http://schemas.openxmlformats.org/markup-compatibility/2006">
          <mc:Choice xmlns:a14="http://schemas.microsoft.com/office/drawing/2010/main" Requires="a14">
            <p:sp>
              <p:nvSpPr>
                <p:cNvPr id="51" name="文本框 50"/>
                <p:cNvSpPr txBox="1"/>
                <p:nvPr/>
              </p:nvSpPr>
              <p:spPr>
                <a:xfrm>
                  <a:off x="1509427" y="3680136"/>
                  <a:ext cx="1538573"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不要改</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辖域中约束出现的</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1509427" y="3680136"/>
                  <a:ext cx="1538573" cy="492443"/>
                </a:xfrm>
                <a:prstGeom prst="rect">
                  <a:avLst/>
                </a:prstGeom>
                <a:blipFill rotWithShape="1">
                  <a:blip r:embed="rId16"/>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52" name="对话气泡: 圆角矩形 51"/>
              <p:cNvSpPr/>
              <p:nvPr/>
            </p:nvSpPr>
            <p:spPr>
              <a:xfrm>
                <a:off x="9960169" y="4035926"/>
                <a:ext cx="1752451" cy="533980"/>
              </a:xfrm>
              <a:prstGeom prst="wedgeRoundRectCallout">
                <a:avLst>
                  <a:gd name="adj1" fmla="val 1591"/>
                  <a:gd name="adj2" fmla="val -788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r>
                  <a:rPr lang="zh-CN" altLang="en-US" sz="1600" b="1">
                    <a:solidFill>
                      <a:schemeClr val="bg1"/>
                    </a:solidFill>
                    <a:latin typeface="楷体" panose="02010609060101010101" pitchFamily="49" charset="-122"/>
                    <a:ea typeface="楷体" panose="02010609060101010101" pitchFamily="49" charset="-122"/>
                  </a:rPr>
                  <a:t>这个公式量词</a:t>
                </a:r>
                <a14:m>
                  <m:oMath xmlns:m="http://schemas.openxmlformats.org/officeDocument/2006/math">
                    <m:r>
                      <a:rPr lang="en-US" altLang="zh-CN" sz="1600" b="1" i="1">
                        <a:solidFill>
                          <a:schemeClr val="bg1"/>
                        </a:solidFill>
                        <a:latin typeface="Cambria Math" panose="02040503050406030204" pitchFamily="18" charset="0"/>
                        <a:ea typeface="楷体" panose="02010609060101010101" pitchFamily="49" charset="-122"/>
                      </a:rPr>
                      <m:t>∃</m:t>
                    </m:r>
                    <m:r>
                      <a:rPr lang="en-US" altLang="zh-CN" sz="1600" b="1" i="1">
                        <a:solidFill>
                          <a:schemeClr val="bg1"/>
                        </a:solidFill>
                        <a:latin typeface="Cambria Math" panose="02040503050406030204" pitchFamily="18" charset="0"/>
                        <a:ea typeface="楷体" panose="02010609060101010101" pitchFamily="49" charset="-122"/>
                      </a:rPr>
                      <m:t>𝒙</m:t>
                    </m:r>
                  </m:oMath>
                </a14:m>
                <a:r>
                  <a:rPr lang="zh-CN" altLang="en-US" sz="1600" b="1">
                    <a:solidFill>
                      <a:schemeClr val="bg1"/>
                    </a:solidFill>
                    <a:latin typeface="楷体" panose="02010609060101010101" pitchFamily="49" charset="-122"/>
                    <a:ea typeface="楷体" panose="02010609060101010101" pitchFamily="49" charset="-122"/>
                  </a:rPr>
                  <a:t>和</a:t>
                </a:r>
                <a14:m>
                  <m:oMath xmlns:m="http://schemas.openxmlformats.org/officeDocument/2006/math">
                    <m:r>
                      <a:rPr lang="en-US" altLang="zh-CN" sz="1600" b="1" i="1">
                        <a:solidFill>
                          <a:schemeClr val="bg1"/>
                        </a:solidFill>
                        <a:latin typeface="Cambria Math" panose="02040503050406030204" pitchFamily="18" charset="0"/>
                        <a:ea typeface="楷体" panose="02010609060101010101" pitchFamily="49" charset="-122"/>
                      </a:rPr>
                      <m:t>∀</m:t>
                    </m:r>
                    <m:r>
                      <a:rPr lang="en-US" altLang="zh-CN" sz="1600" b="1" i="1">
                        <a:solidFill>
                          <a:schemeClr val="bg1"/>
                        </a:solidFill>
                        <a:latin typeface="Cambria Math" panose="02040503050406030204" pitchFamily="18" charset="0"/>
                        <a:ea typeface="楷体" panose="02010609060101010101" pitchFamily="49" charset="-122"/>
                      </a:rPr>
                      <m:t>𝒙</m:t>
                    </m:r>
                  </m:oMath>
                </a14:m>
                <a:r>
                  <a:rPr lang="zh-CN" altLang="en-US" sz="1600" b="1">
                    <a:solidFill>
                      <a:schemeClr val="bg1"/>
                    </a:solidFill>
                    <a:latin typeface="楷体" panose="02010609060101010101" pitchFamily="49" charset="-122"/>
                    <a:ea typeface="楷体" panose="02010609060101010101" pitchFamily="49" charset="-122"/>
                  </a:rPr>
                  <a:t>的</a:t>
                </a:r>
                <a:r>
                  <a:rPr lang="zh-CN" altLang="en-US" sz="1600" b="1">
                    <a:solidFill>
                      <a:schemeClr val="accent2">
                        <a:lumMod val="20000"/>
                        <a:lumOff val="80000"/>
                      </a:schemeClr>
                    </a:solidFill>
                    <a:latin typeface="黑体" panose="02010609060101010101" pitchFamily="49" charset="-122"/>
                    <a:ea typeface="黑体" panose="02010609060101010101" pitchFamily="49" charset="-122"/>
                  </a:rPr>
                  <a:t>辖域嵌套</a:t>
                </a:r>
                <a:endParaRPr lang="zh-CN" altLang="en-US" sz="1600" b="1">
                  <a:solidFill>
                    <a:schemeClr val="accent2">
                      <a:lumMod val="20000"/>
                      <a:lumOff val="80000"/>
                    </a:schemeClr>
                  </a:solidFill>
                  <a:latin typeface="黑体" panose="02010609060101010101" pitchFamily="49" charset="-122"/>
                  <a:ea typeface="黑体" panose="02010609060101010101" pitchFamily="49" charset="-122"/>
                </a:endParaRPr>
              </a:p>
              <a:p>
                <a:pPr algn="ctr"/>
                <a:endParaRPr lang="zh-CN" altLang="en-US">
                  <a:solidFill>
                    <a:schemeClr val="bg1"/>
                  </a:solidFill>
                </a:endParaRPr>
              </a:p>
            </p:txBody>
          </p:sp>
        </mc:Choice>
        <mc:Fallback>
          <p:sp>
            <p:nvSpPr>
              <p:cNvPr id="52" name="对话气泡: 圆角矩形 51"/>
              <p:cNvSpPr>
                <a:spLocks noRot="1" noChangeAspect="1" noMove="1" noResize="1" noEditPoints="1" noAdjustHandles="1" noChangeArrowheads="1" noChangeShapeType="1" noTextEdit="1"/>
              </p:cNvSpPr>
              <p:nvPr/>
            </p:nvSpPr>
            <p:spPr>
              <a:xfrm>
                <a:off x="9960169" y="4035926"/>
                <a:ext cx="1752451" cy="533980"/>
              </a:xfrm>
              <a:prstGeom prst="wedgeRoundRectCallout">
                <a:avLst>
                  <a:gd name="adj1" fmla="val 1591"/>
                  <a:gd name="adj2" fmla="val -78819"/>
                  <a:gd name="adj3" fmla="val 16667"/>
                </a:avLst>
              </a:prstGeom>
              <a:blipFill rotWithShape="1">
                <a:blip r:embed="rId17"/>
                <a:stretch>
                  <a:fillRect l="-373" t="-31013" r="-360" b="-47484"/>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约束变量改名</a:t>
            </a:r>
            <a:endParaRPr lang="zh-CN" altLang="en-US"/>
          </a:p>
        </p:txBody>
      </p:sp>
      <p:sp>
        <p:nvSpPr>
          <p:cNvPr id="4" name="文本框 3"/>
          <p:cNvSpPr txBox="1"/>
          <p:nvPr/>
        </p:nvSpPr>
        <p:spPr>
          <a:xfrm>
            <a:off x="653440" y="4599255"/>
            <a:ext cx="10466431" cy="1241365"/>
          </a:xfrm>
          <a:prstGeom prst="rect">
            <a:avLst/>
          </a:prstGeom>
          <a:solidFill>
            <a:schemeClr val="accent4">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chemeClr val="accent2">
                    <a:lumMod val="50000"/>
                  </a:schemeClr>
                </a:solidFill>
              </a:rPr>
              <a:t>通过约束变量改名总可使一个一阶逻辑公式</a:t>
            </a:r>
            <a:r>
              <a:rPr lang="zh-CN" altLang="en-US" sz="2000" b="1">
                <a:solidFill>
                  <a:srgbClr val="C00000"/>
                </a:solidFill>
              </a:rPr>
              <a:t>没有个体变量既自由又约束出现</a:t>
            </a:r>
            <a:r>
              <a:rPr lang="zh-CN" altLang="en-US" sz="2000" b="1">
                <a:solidFill>
                  <a:schemeClr val="accent2">
                    <a:lumMod val="50000"/>
                  </a:schemeClr>
                </a:solidFill>
              </a:rPr>
              <a:t>，也可完全</a:t>
            </a:r>
            <a:r>
              <a:rPr lang="zh-CN" altLang="en-US" sz="2000" b="1">
                <a:solidFill>
                  <a:srgbClr val="C00000"/>
                </a:solidFill>
              </a:rPr>
              <a:t>避免辖域嵌套</a:t>
            </a:r>
            <a:r>
              <a:rPr lang="zh-CN" altLang="en-US" sz="2000" b="1">
                <a:solidFill>
                  <a:schemeClr val="accent2">
                    <a:lumMod val="50000"/>
                  </a:schemeClr>
                </a:solidFill>
              </a:rPr>
              <a:t>，甚至可使得每个量词都有不同的指示变量</a:t>
            </a:r>
            <a:endParaRPr lang="en-US" altLang="zh-CN" sz="2000" b="1">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应完全避免辖域嵌套和既自由又约束出现的变量，但在容易理解情况下不同量词可有相同指示变量</a:t>
            </a:r>
            <a:endParaRPr lang="zh-CN" altLang="en-US"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1" name="文本框 10"/>
              <p:cNvSpPr txBox="1"/>
              <p:nvPr/>
            </p:nvSpPr>
            <p:spPr>
              <a:xfrm>
                <a:off x="711169" y="3849995"/>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711169" y="3849995"/>
                <a:ext cx="3269475" cy="276999"/>
              </a:xfrm>
              <a:prstGeom prst="rect">
                <a:avLst/>
              </a:prstGeom>
              <a:blipFill rotWithShape="1">
                <a:blip r:embed="rId1"/>
                <a:stretch>
                  <a:fillRect l="-18" t="-226" r="14"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11169" y="2847495"/>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711169" y="2847495"/>
                <a:ext cx="3269475" cy="276999"/>
              </a:xfrm>
              <a:prstGeom prst="rect">
                <a:avLst/>
              </a:prstGeom>
              <a:blipFill rotWithShape="1">
                <a:blip r:embed="rId2"/>
                <a:stretch>
                  <a:fillRect l="-18" t="-56" r="14" b="106"/>
                </a:stretch>
              </a:blipFill>
            </p:spPr>
            <p:txBody>
              <a:bodyPr/>
              <a:lstStyle/>
              <a:p>
                <a:r>
                  <a:rPr lang="zh-CN" altLang="en-US">
                    <a:noFill/>
                  </a:rPr>
                  <a:t> </a:t>
                </a:r>
              </a:p>
            </p:txBody>
          </p:sp>
        </mc:Fallback>
      </mc:AlternateContent>
      <p:sp>
        <p:nvSpPr>
          <p:cNvPr id="12" name="箭头: 上 11"/>
          <p:cNvSpPr/>
          <p:nvPr/>
        </p:nvSpPr>
        <p:spPr>
          <a:xfrm>
            <a:off x="2300189" y="3124494"/>
            <a:ext cx="98664" cy="7255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22710" y="3381747"/>
            <a:ext cx="140778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约束变量改名</a:t>
            </a:r>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2461323" y="3389568"/>
                <a:ext cx="98062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将</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𝒚</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改为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𝒛</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2461323" y="3389568"/>
                <a:ext cx="980621" cy="246221"/>
              </a:xfrm>
              <a:prstGeom prst="rect">
                <a:avLst/>
              </a:prstGeom>
              <a:blipFill rotWithShape="1">
                <a:blip r:embed="rId3"/>
                <a:stretch>
                  <a:fillRect l="-6" t="-233" r="25" b="1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4461261" y="3841059"/>
                <a:ext cx="3269475" cy="312650"/>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33" name="文本框 32"/>
              <p:cNvSpPr txBox="1">
                <a:spLocks noRot="1" noChangeAspect="1" noMove="1" noResize="1" noEditPoints="1" noAdjustHandles="1" noChangeArrowheads="1" noChangeShapeType="1" noTextEdit="1"/>
              </p:cNvSpPr>
              <p:nvPr/>
            </p:nvSpPr>
            <p:spPr>
              <a:xfrm>
                <a:off x="4461261" y="3841059"/>
                <a:ext cx="3269475" cy="312650"/>
              </a:xfrm>
              <a:prstGeom prst="rect">
                <a:avLst/>
              </a:prstGeom>
              <a:blipFill rotWithShape="1">
                <a:blip r:embed="rId4"/>
                <a:stretch>
                  <a:fillRect l="-12" t="-185" r="8"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4461261" y="2838559"/>
                <a:ext cx="3269475" cy="312650"/>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𝑮</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𝒛𝑯</m:t>
                      </m:r>
                      <m:r>
                        <a:rPr lang="en-US" altLang="zh-CN" b="1" i="1">
                          <a:solidFill>
                            <a:srgbClr val="00206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𝒛</m:t>
                      </m:r>
                      <m:r>
                        <a:rPr lang="en-US" altLang="zh-CN" b="1" i="1">
                          <a:solidFill>
                            <a:srgbClr val="002060"/>
                          </a:solidFill>
                          <a:latin typeface="Cambria Math" panose="02040503050406030204" pitchFamily="18" charset="0"/>
                        </a:rPr>
                        <m:t>)</m:t>
                      </m:r>
                    </m:oMath>
                  </m:oMathPara>
                </a14:m>
                <a:endParaRPr lang="zh-CN" altLang="en-US" b="1">
                  <a:solidFill>
                    <a:srgbClr val="002060"/>
                  </a:solidFill>
                </a:endParaRPr>
              </a:p>
            </p:txBody>
          </p:sp>
        </mc:Choice>
        <mc:Fallback>
          <p:sp>
            <p:nvSpPr>
              <p:cNvPr id="34" name="文本框 33"/>
              <p:cNvSpPr txBox="1">
                <a:spLocks noRot="1" noChangeAspect="1" noMove="1" noResize="1" noEditPoints="1" noAdjustHandles="1" noChangeArrowheads="1" noChangeShapeType="1" noTextEdit="1"/>
              </p:cNvSpPr>
              <p:nvPr/>
            </p:nvSpPr>
            <p:spPr>
              <a:xfrm>
                <a:off x="4461261" y="2838559"/>
                <a:ext cx="3269475" cy="312650"/>
              </a:xfrm>
              <a:prstGeom prst="rect">
                <a:avLst/>
              </a:prstGeom>
              <a:blipFill rotWithShape="1">
                <a:blip r:embed="rId5"/>
                <a:stretch>
                  <a:fillRect l="-12" t="-35" r="8" b="108"/>
                </a:stretch>
              </a:blipFill>
            </p:spPr>
            <p:txBody>
              <a:bodyPr/>
              <a:lstStyle/>
              <a:p>
                <a:r>
                  <a:rPr lang="zh-CN" altLang="en-US">
                    <a:noFill/>
                  </a:rPr>
                  <a:t> </a:t>
                </a:r>
              </a:p>
            </p:txBody>
          </p:sp>
        </mc:Fallback>
      </mc:AlternateContent>
      <p:sp>
        <p:nvSpPr>
          <p:cNvPr id="35" name="箭头: 上 34"/>
          <p:cNvSpPr/>
          <p:nvPr/>
        </p:nvSpPr>
        <p:spPr>
          <a:xfrm>
            <a:off x="6050281" y="3115558"/>
            <a:ext cx="98664" cy="7255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572802" y="3372811"/>
            <a:ext cx="140778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约束变量改名</a:t>
            </a:r>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7" name="文本框 36"/>
              <p:cNvSpPr txBox="1"/>
              <p:nvPr/>
            </p:nvSpPr>
            <p:spPr>
              <a:xfrm>
                <a:off x="6191776" y="3256289"/>
                <a:ext cx="1407781"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可选在</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辖域外出现的变量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𝒛</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37" name="文本框 36"/>
              <p:cNvSpPr txBox="1">
                <a:spLocks noRot="1" noChangeAspect="1" noMove="1" noResize="1" noEditPoints="1" noAdjustHandles="1" noChangeArrowheads="1" noChangeShapeType="1" noTextEdit="1"/>
              </p:cNvSpPr>
              <p:nvPr/>
            </p:nvSpPr>
            <p:spPr>
              <a:xfrm>
                <a:off x="6191776" y="3256289"/>
                <a:ext cx="1407781" cy="492443"/>
              </a:xfrm>
              <a:prstGeom prst="rect">
                <a:avLst/>
              </a:prstGeom>
              <a:blipFill rotWithShape="1">
                <a:blip r:embed="rId6"/>
                <a:stretch>
                  <a:fillRect l="-37" t="-2" r="36"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8211351" y="3849995"/>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e>
                      </m:d>
                    </m:oMath>
                  </m:oMathPara>
                </a14:m>
                <a:endParaRPr lang="zh-CN" altLang="en-US" b="1">
                  <a:solidFill>
                    <a:srgbClr val="002060"/>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8211351" y="3849995"/>
                <a:ext cx="3269475" cy="276999"/>
              </a:xfrm>
              <a:prstGeom prst="rect">
                <a:avLst/>
              </a:prstGeom>
              <a:blipFill rotWithShape="1">
                <a:blip r:embed="rId7"/>
                <a:stretch>
                  <a:fillRect l="-5" t="-226" r="1"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8211351" y="2847495"/>
                <a:ext cx="3269475" cy="276999"/>
              </a:xfrm>
              <a:prstGeom prst="rect">
                <a:avLst/>
              </a:prstGeom>
              <a:solidFill>
                <a:schemeClr val="accent6">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C00000"/>
                          </a:solidFill>
                          <a:latin typeface="Cambria Math" panose="02040503050406030204" pitchFamily="18" charset="0"/>
                        </a:rPr>
                        <m:t>𝒛</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𝑮</m:t>
                          </m:r>
                          <m:d>
                            <m:dPr>
                              <m:ctrlPr>
                                <a:rPr lang="en-US" altLang="zh-CN" b="1" i="1">
                                  <a:solidFill>
                                    <a:srgbClr val="00206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𝒛</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e>
                      </m:d>
                    </m:oMath>
                  </m:oMathPara>
                </a14:m>
                <a:endParaRPr lang="zh-CN" altLang="en-US" b="1">
                  <a:solidFill>
                    <a:srgbClr val="002060"/>
                  </a:solidFill>
                </a:endParaRPr>
              </a:p>
            </p:txBody>
          </p:sp>
        </mc:Choice>
        <mc:Fallback>
          <p:sp>
            <p:nvSpPr>
              <p:cNvPr id="44" name="文本框 43"/>
              <p:cNvSpPr txBox="1">
                <a:spLocks noRot="1" noChangeAspect="1" noMove="1" noResize="1" noEditPoints="1" noAdjustHandles="1" noChangeArrowheads="1" noChangeShapeType="1" noTextEdit="1"/>
              </p:cNvSpPr>
              <p:nvPr/>
            </p:nvSpPr>
            <p:spPr>
              <a:xfrm>
                <a:off x="8211351" y="2847495"/>
                <a:ext cx="3269475" cy="276999"/>
              </a:xfrm>
              <a:prstGeom prst="rect">
                <a:avLst/>
              </a:prstGeom>
              <a:blipFill rotWithShape="1">
                <a:blip r:embed="rId8"/>
                <a:stretch>
                  <a:fillRect l="-5" t="-56" r="1" b="106"/>
                </a:stretch>
              </a:blipFill>
            </p:spPr>
            <p:txBody>
              <a:bodyPr/>
              <a:lstStyle/>
              <a:p>
                <a:r>
                  <a:rPr lang="zh-CN" altLang="en-US">
                    <a:noFill/>
                  </a:rPr>
                  <a:t> </a:t>
                </a:r>
              </a:p>
            </p:txBody>
          </p:sp>
        </mc:Fallback>
      </mc:AlternateContent>
      <p:sp>
        <p:nvSpPr>
          <p:cNvPr id="45" name="箭头: 上 44"/>
          <p:cNvSpPr/>
          <p:nvPr/>
        </p:nvSpPr>
        <p:spPr>
          <a:xfrm>
            <a:off x="9800371" y="3124494"/>
            <a:ext cx="98664" cy="7255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8322892" y="3381747"/>
            <a:ext cx="140778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约束变量改名</a:t>
            </a:r>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47" name="文本框 46"/>
              <p:cNvSpPr txBox="1"/>
              <p:nvPr/>
            </p:nvSpPr>
            <p:spPr>
              <a:xfrm>
                <a:off x="9961505" y="3389568"/>
                <a:ext cx="980621"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chemeClr val="accent2">
                        <a:lumMod val="50000"/>
                      </a:schemeClr>
                    </a:solidFill>
                    <a:latin typeface="楷体" panose="02010609060101010101" pitchFamily="49" charset="-122"/>
                    <a:ea typeface="楷体" panose="02010609060101010101" pitchFamily="49" charset="-122"/>
                  </a:rPr>
                  <a:t>将</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𝒙</m:t>
                    </m:r>
                  </m:oMath>
                </a14:m>
                <a:r>
                  <a:rPr lang="zh-CN" altLang="en-US" sz="1600" b="1">
                    <a:solidFill>
                      <a:schemeClr val="accent2">
                        <a:lumMod val="50000"/>
                      </a:schemeClr>
                    </a:solidFill>
                    <a:latin typeface="楷体" panose="02010609060101010101" pitchFamily="49" charset="-122"/>
                    <a:ea typeface="楷体" panose="02010609060101010101" pitchFamily="49" charset="-122"/>
                  </a:rPr>
                  <a:t>改为</a:t>
                </a:r>
                <a14:m>
                  <m:oMath xmlns:m="http://schemas.openxmlformats.org/officeDocument/2006/math">
                    <m:r>
                      <a:rPr lang="en-US" altLang="zh-CN" sz="1600" b="1" i="1" smtClean="0">
                        <a:solidFill>
                          <a:schemeClr val="accent2">
                            <a:lumMod val="50000"/>
                          </a:schemeClr>
                        </a:solidFill>
                        <a:latin typeface="Cambria Math" panose="02040503050406030204" pitchFamily="18" charset="0"/>
                        <a:ea typeface="楷体" panose="02010609060101010101" pitchFamily="49" charset="-122"/>
                      </a:rPr>
                      <m:t>𝒛</m:t>
                    </m:r>
                  </m:oMath>
                </a14:m>
                <a:endParaRPr lang="zh-CN" altLang="en-US" sz="16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47" name="文本框 46"/>
              <p:cNvSpPr txBox="1">
                <a:spLocks noRot="1" noChangeAspect="1" noMove="1" noResize="1" noEditPoints="1" noAdjustHandles="1" noChangeArrowheads="1" noChangeShapeType="1" noTextEdit="1"/>
              </p:cNvSpPr>
              <p:nvPr/>
            </p:nvSpPr>
            <p:spPr>
              <a:xfrm>
                <a:off x="9961505" y="3389568"/>
                <a:ext cx="980621" cy="246221"/>
              </a:xfrm>
              <a:prstGeom prst="rect">
                <a:avLst/>
              </a:prstGeom>
              <a:blipFill rotWithShape="1">
                <a:blip r:embed="rId9"/>
                <a:stretch>
                  <a:fillRect l="-27" t="-233" r="45" b="1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3" name="文本框 52"/>
              <p:cNvSpPr txBox="1"/>
              <p:nvPr/>
            </p:nvSpPr>
            <p:spPr>
              <a:xfrm>
                <a:off x="661837" y="1338558"/>
                <a:ext cx="10458034" cy="920188"/>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约束变量改名</a:t>
                </a:r>
                <a:endParaRPr lang="en-US" altLang="zh-CN" sz="2400" b="1">
                  <a:solidFill>
                    <a:srgbClr val="C00000"/>
                  </a:solidFill>
                </a:endParaRPr>
              </a:p>
              <a:p>
                <a:pPr>
                  <a:lnSpc>
                    <a:spcPts val="26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将</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𝒙𝑨</m:t>
                    </m:r>
                  </m:oMath>
                </a14:m>
                <a:r>
                  <a:rPr lang="zh-CN" altLang="en-US" sz="2000" b="1">
                    <a:solidFill>
                      <a:srgbClr val="002060"/>
                    </a:solidFill>
                    <a:latin typeface="楷体" panose="02010609060101010101" pitchFamily="49" charset="-122"/>
                    <a:ea typeface="楷体" panose="02010609060101010101" pitchFamily="49" charset="-122"/>
                  </a:rPr>
                  <a:t>或</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𝒙𝑨</m:t>
                    </m:r>
                  </m:oMath>
                </a14:m>
                <a:r>
                  <a:rPr lang="zh-CN" altLang="en-US" sz="2000" b="1">
                    <a:solidFill>
                      <a:srgbClr val="002060"/>
                    </a:solidFill>
                    <a:latin typeface="楷体" panose="02010609060101010101" pitchFamily="49" charset="-122"/>
                    <a:ea typeface="楷体" panose="02010609060101010101" pitchFamily="49" charset="-122"/>
                  </a:rPr>
                  <a:t>的指示变量</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及它的辖域</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中所有自由出现的</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都改为一个不在</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中出现的变量</a:t>
                </a:r>
                <a14:m>
                  <m:oMath xmlns:m="http://schemas.openxmlformats.org/officeDocument/2006/math">
                    <m:r>
                      <a:rPr lang="en-US" altLang="zh-CN" sz="2000" b="1" i="1" smtClean="0">
                        <a:solidFill>
                          <a:srgbClr val="002060"/>
                        </a:solidFill>
                        <a:latin typeface="Cambria Math" panose="02040503050406030204" pitchFamily="18" charset="0"/>
                      </a:rPr>
                      <m:t>𝒚</m:t>
                    </m:r>
                  </m:oMath>
                </a14:m>
                <a:endParaRPr lang="en-US" altLang="zh-CN" sz="2000" b="1">
                  <a:solidFill>
                    <a:srgbClr val="002060"/>
                  </a:solidFill>
                  <a:latin typeface="楷体" panose="02010609060101010101" pitchFamily="49" charset="-122"/>
                  <a:ea typeface="楷体" panose="02010609060101010101" pitchFamily="49" charset="-122"/>
                </a:endParaRPr>
              </a:p>
            </p:txBody>
          </p:sp>
        </mc:Choice>
        <mc:Fallback>
          <p:sp>
            <p:nvSpPr>
              <p:cNvPr id="53" name="文本框 52"/>
              <p:cNvSpPr txBox="1">
                <a:spLocks noRot="1" noChangeAspect="1" noMove="1" noResize="1" noEditPoints="1" noAdjustHandles="1" noChangeArrowheads="1" noChangeShapeType="1" noTextEdit="1"/>
              </p:cNvSpPr>
              <p:nvPr/>
            </p:nvSpPr>
            <p:spPr>
              <a:xfrm>
                <a:off x="661837" y="1338558"/>
                <a:ext cx="10458034" cy="920188"/>
              </a:xfrm>
              <a:prstGeom prst="rect">
                <a:avLst/>
              </a:prstGeom>
              <a:blipFill rotWithShape="1">
                <a:blip r:embed="rId10"/>
                <a:stretch>
                  <a:fillRect l="-2" t="-67" r="4" b="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约束变量改名练习</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217005" y="1717058"/>
                <a:ext cx="7271346" cy="3870803"/>
              </a:xfrm>
              <a:prstGeom prst="rect">
                <a:avLst/>
              </a:prstGeom>
              <a:solidFill>
                <a:schemeClr val="accent6">
                  <a:lumMod val="20000"/>
                  <a:lumOff val="80000"/>
                  <a:alpha val="50000"/>
                </a:schemeClr>
              </a:solidFill>
            </p:spPr>
            <p:txBody>
              <a:bodyPr wrap="square" rtlCol="0">
                <a:spAutoFit/>
              </a:bodyPr>
              <a:lstStyle/>
              <a:p>
                <a:pPr>
                  <a:lnSpc>
                    <a:spcPts val="32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对于公式</a:t>
                </a:r>
                <a14:m>
                  <m:oMath xmlns:m="http://schemas.openxmlformats.org/officeDocument/2006/math">
                    <m:r>
                      <a:rPr lang="en-US" altLang="zh-CN" sz="2400" b="1" i="0" smtClean="0">
                        <a:solidFill>
                          <a:srgbClr val="00206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𝒙</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𝑨</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𝒚𝑩</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𝒛</m:t>
                            </m:r>
                          </m:e>
                        </m:d>
                      </m:e>
                    </m:d>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𝒚𝑪</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𝒛</m:t>
                        </m:r>
                      </m:e>
                    </m:d>
                  </m:oMath>
                </a14:m>
                <a:r>
                  <a:rPr lang="zh-CN" altLang="en-US" sz="2400" b="1">
                    <a:solidFill>
                      <a:srgbClr val="002060"/>
                    </a:solidFill>
                    <a:latin typeface="楷体" panose="02010609060101010101" pitchFamily="49" charset="-122"/>
                    <a:ea typeface="楷体" panose="02010609060101010101" pitchFamily="49" charset="-122"/>
                  </a:rPr>
                  <a:t>，正确使用约束变量改名规则能得到的公式有</a:t>
                </a:r>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多选</a:t>
                </a:r>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a:t>
                </a:r>
                <a:endParaRPr lang="zh-CN" altLang="en-US" sz="2400" b="1">
                  <a:solidFill>
                    <a:srgbClr val="002060"/>
                  </a:solidFill>
                  <a:latin typeface="楷体" panose="02010609060101010101" pitchFamily="49" charset="-122"/>
                  <a:ea typeface="楷体" panose="02010609060101010101" pitchFamily="49" charset="-122"/>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𝒛</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𝒛</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𝒘𝑪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𝒘</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𝒖</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𝒖</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𝒘𝑪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𝒘</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𝒖</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𝒖</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𝒖</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𝒖</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𝒗𝑩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𝒗</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𝒘𝑪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𝒘</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b="1">
                  <a:solidFill>
                    <a:srgbClr val="C00000"/>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217005" y="1717058"/>
                <a:ext cx="7271346" cy="3870803"/>
              </a:xfrm>
              <a:prstGeom prst="rect">
                <a:avLst/>
              </a:prstGeom>
              <a:blipFill rotWithShape="1">
                <a:blip r:embed="rId1"/>
                <a:stretch>
                  <a:fillRect l="-5" r="4" b="13"/>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自由变量和约束变量</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约束变量改名练习</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217005" y="1717058"/>
                <a:ext cx="7271346" cy="3870803"/>
              </a:xfrm>
              <a:prstGeom prst="rect">
                <a:avLst/>
              </a:prstGeom>
              <a:solidFill>
                <a:schemeClr val="accent6">
                  <a:lumMod val="20000"/>
                  <a:lumOff val="80000"/>
                  <a:alpha val="50000"/>
                </a:schemeClr>
              </a:solidFill>
            </p:spPr>
            <p:txBody>
              <a:bodyPr wrap="square" rtlCol="0">
                <a:spAutoFit/>
              </a:bodyPr>
              <a:lstStyle/>
              <a:p>
                <a:pPr>
                  <a:lnSpc>
                    <a:spcPts val="3200"/>
                  </a:lnSpc>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对于公式</a:t>
                </a:r>
                <a14:m>
                  <m:oMath xmlns:m="http://schemas.openxmlformats.org/officeDocument/2006/math">
                    <m:r>
                      <a:rPr lang="en-US" altLang="zh-CN" sz="2400" b="1" i="0" smtClean="0">
                        <a:solidFill>
                          <a:srgbClr val="00206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𝒙</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𝑨</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𝒚</m:t>
                            </m:r>
                          </m:e>
                        </m:d>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𝒚𝑩</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𝒛</m:t>
                            </m:r>
                          </m:e>
                        </m:d>
                      </m:e>
                    </m:d>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𝒚𝑪</m:t>
                    </m:r>
                    <m:d>
                      <m:dPr>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𝒚</m:t>
                        </m:r>
                        <m:r>
                          <a:rPr lang="en-US" altLang="zh-CN" sz="2400" b="1" i="1">
                            <a:solidFill>
                              <a:srgbClr val="C00000"/>
                            </a:solidFill>
                            <a:latin typeface="Cambria Math" panose="02040503050406030204" pitchFamily="18" charset="0"/>
                          </a:rPr>
                          <m:t>, </m:t>
                        </m:r>
                        <m:r>
                          <a:rPr lang="en-US" altLang="zh-CN" sz="2400" b="1" i="1">
                            <a:solidFill>
                              <a:srgbClr val="C00000"/>
                            </a:solidFill>
                            <a:latin typeface="Cambria Math" panose="02040503050406030204" pitchFamily="18" charset="0"/>
                          </a:rPr>
                          <m:t>𝒛</m:t>
                        </m:r>
                      </m:e>
                    </m:d>
                  </m:oMath>
                </a14:m>
                <a:r>
                  <a:rPr lang="zh-CN" altLang="en-US" sz="2400" b="1">
                    <a:solidFill>
                      <a:srgbClr val="002060"/>
                    </a:solidFill>
                    <a:latin typeface="楷体" panose="02010609060101010101" pitchFamily="49" charset="-122"/>
                    <a:ea typeface="楷体" panose="02010609060101010101" pitchFamily="49" charset="-122"/>
                  </a:rPr>
                  <a:t>，正确使用约束变量改名规则能得到的公式有</a:t>
                </a:r>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多选</a:t>
                </a:r>
                <a:r>
                  <a:rPr lang="en-US" altLang="zh-CN" sz="2400" b="1">
                    <a:solidFill>
                      <a:srgbClr val="002060"/>
                    </a:solidFill>
                    <a:latin typeface="楷体" panose="02010609060101010101" pitchFamily="49" charset="-122"/>
                    <a:ea typeface="楷体" panose="02010609060101010101" pitchFamily="49" charset="-122"/>
                  </a:rPr>
                  <a:t>)</a:t>
                </a:r>
                <a:r>
                  <a:rPr lang="zh-CN" altLang="en-US" sz="2400" b="1">
                    <a:solidFill>
                      <a:srgbClr val="002060"/>
                    </a:solidFill>
                    <a:latin typeface="楷体" panose="02010609060101010101" pitchFamily="49" charset="-122"/>
                    <a:ea typeface="楷体" panose="02010609060101010101" pitchFamily="49" charset="-122"/>
                  </a:rPr>
                  <a:t>：</a:t>
                </a:r>
                <a:endParaRPr lang="zh-CN" altLang="en-US" sz="2400" b="1">
                  <a:solidFill>
                    <a:srgbClr val="002060"/>
                  </a:solidFill>
                  <a:latin typeface="楷体" panose="02010609060101010101" pitchFamily="49" charset="-122"/>
                  <a:ea typeface="楷体" panose="02010609060101010101" pitchFamily="49" charset="-122"/>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𝒛</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𝒛</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𝒘𝑪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𝒘</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𝒖</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𝒖</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𝒘𝑪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𝒘</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𝒖</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𝒖</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sz="2400" b="1">
                  <a:solidFill>
                    <a:schemeClr val="accent2">
                      <a:lumMod val="50000"/>
                    </a:schemeClr>
                  </a:solidFill>
                </a:endParaRPr>
              </a:p>
              <a:p>
                <a:pPr marL="457200" indent="-457200">
                  <a:lnSpc>
                    <a:spcPts val="2800"/>
                  </a:lnSpc>
                  <a:spcBef>
                    <a:spcPts val="1200"/>
                  </a:spcBef>
                  <a:spcAft>
                    <a:spcPts val="600"/>
                  </a:spcAft>
                  <a:buFont typeface="+mj-lt"/>
                  <a:buAutoNum type="alphaU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𝒖</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𝒖</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𝒗𝑩</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𝒗</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𝒘𝑪</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𝒘</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endParaRPr lang="en-US" altLang="zh-CN" b="1">
                  <a:solidFill>
                    <a:srgbClr val="C00000"/>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217005" y="1717058"/>
                <a:ext cx="7271346" cy="3870803"/>
              </a:xfrm>
              <a:prstGeom prst="rect">
                <a:avLst/>
              </a:prstGeom>
              <a:blipFill rotWithShape="1">
                <a:blip r:embed="rId1"/>
                <a:stretch>
                  <a:fillRect l="-5" r="4" b="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8624304" y="2131668"/>
                <a:ext cx="2651101" cy="923330"/>
              </a:xfrm>
              <a:prstGeom prst="rect">
                <a:avLst/>
              </a:prstGeom>
              <a:solidFill>
                <a:schemeClr val="accent2">
                  <a:lumMod val="20000"/>
                  <a:lumOff val="80000"/>
                </a:schemeClr>
              </a:solidFill>
            </p:spPr>
            <p:txBody>
              <a:bodyPr wrap="square" rtlCol="0">
                <a:spAutoFit/>
              </a:bodyPr>
              <a:lstStyle/>
              <a:p>
                <a:r>
                  <a:rPr lang="en-US" altLang="zh-CN" b="1">
                    <a:solidFill>
                      <a:schemeClr val="accent2">
                        <a:lumMod val="50000"/>
                      </a:schemeClr>
                    </a:solidFill>
                  </a:rPr>
                  <a:t>(A) </a:t>
                </a:r>
                <a:r>
                  <a:rPr lang="zh-CN" altLang="en-US" b="1">
                    <a:solidFill>
                      <a:schemeClr val="accent2">
                        <a:lumMod val="50000"/>
                      </a:schemeClr>
                    </a:solidFill>
                  </a:rPr>
                  <a:t>不能将</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中的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约束变量改名为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在其辖域中出现</a:t>
                </a:r>
                <a:endParaRPr lang="zh-CN" altLang="en-US" b="1">
                  <a:solidFill>
                    <a:schemeClr val="accent2">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8624304" y="2131668"/>
                <a:ext cx="2651101" cy="923330"/>
              </a:xfrm>
              <a:prstGeom prst="rect">
                <a:avLst/>
              </a:prstGeom>
              <a:blipFill rotWithShape="1">
                <a:blip r:embed="rId2"/>
                <a:stretch>
                  <a:fillRect l="-14" t="-66" r="13"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8624304" y="3268356"/>
                <a:ext cx="2651102" cy="923330"/>
              </a:xfrm>
              <a:prstGeom prst="rect">
                <a:avLst/>
              </a:prstGeom>
              <a:solidFill>
                <a:schemeClr val="accent2">
                  <a:lumMod val="20000"/>
                  <a:lumOff val="80000"/>
                </a:schemeClr>
              </a:solidFill>
            </p:spPr>
            <p:txBody>
              <a:bodyPr wrap="square" rtlCol="0">
                <a:spAutoFit/>
              </a:bodyPr>
              <a:lstStyle/>
              <a:p>
                <a:r>
                  <a:rPr lang="en-US" altLang="zh-CN" b="1">
                    <a:solidFill>
                      <a:schemeClr val="accent2">
                        <a:lumMod val="50000"/>
                      </a:schemeClr>
                    </a:solidFill>
                  </a:rPr>
                  <a:t>(B) </a:t>
                </a:r>
                <a:r>
                  <a:rPr lang="zh-CN" altLang="en-US" b="1">
                    <a:solidFill>
                      <a:schemeClr val="accent2">
                        <a:lumMod val="50000"/>
                      </a:schemeClr>
                    </a:solidFill>
                  </a:rPr>
                  <a:t>不能将</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𝒚𝑩</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中的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改名为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𝒛</m:t>
                    </m:r>
                  </m:oMath>
                </a14:m>
                <a:r>
                  <a:rPr lang="zh-CN" altLang="en-US" b="1">
                    <a:solidFill>
                      <a:schemeClr val="accent2">
                        <a:lumMod val="50000"/>
                      </a:schemeClr>
                    </a:solidFill>
                  </a:rPr>
                  <a:t>，</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𝒛</m:t>
                    </m:r>
                  </m:oMath>
                </a14:m>
                <a:r>
                  <a:rPr lang="zh-CN" altLang="en-US" b="1">
                    <a:solidFill>
                      <a:schemeClr val="accent2">
                        <a:lumMod val="50000"/>
                      </a:schemeClr>
                    </a:solidFill>
                  </a:rPr>
                  <a:t>在其辖域中出现</a:t>
                </a:r>
                <a:endParaRPr lang="zh-CN" altLang="en-US" b="1">
                  <a:solidFill>
                    <a:schemeClr val="accent2">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8624304" y="3268356"/>
                <a:ext cx="2651102" cy="923330"/>
              </a:xfrm>
              <a:prstGeom prst="rect">
                <a:avLst/>
              </a:prstGeom>
              <a:blipFill rotWithShape="1">
                <a:blip r:embed="rId3"/>
                <a:stretch>
                  <a:fillRect l="-14" t="-1" r="13"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624306" y="4405044"/>
                <a:ext cx="2651100" cy="923330"/>
              </a:xfrm>
              <a:prstGeom prst="rect">
                <a:avLst/>
              </a:prstGeom>
              <a:solidFill>
                <a:schemeClr val="accent2">
                  <a:lumMod val="20000"/>
                  <a:lumOff val="80000"/>
                </a:schemeClr>
              </a:solidFill>
            </p:spPr>
            <p:txBody>
              <a:bodyPr wrap="square" rtlCol="0">
                <a:spAutoFit/>
              </a:bodyPr>
              <a:lstStyle/>
              <a:p>
                <a:r>
                  <a:rPr lang="en-US" altLang="zh-CN" b="1">
                    <a:solidFill>
                      <a:schemeClr val="accent2">
                        <a:lumMod val="50000"/>
                      </a:schemeClr>
                    </a:solidFill>
                  </a:rPr>
                  <a:t>(D) </a:t>
                </a:r>
                <a:r>
                  <a:rPr lang="zh-CN" altLang="en-US" b="1">
                    <a:solidFill>
                      <a:schemeClr val="accent2">
                        <a:lumMod val="50000"/>
                      </a:schemeClr>
                    </a:solidFill>
                  </a:rPr>
                  <a:t>不能从</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𝒚𝑪</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𝒛</m:t>
                        </m:r>
                      </m:e>
                    </m:d>
                  </m:oMath>
                </a14:m>
                <a:r>
                  <a:rPr lang="zh-CN" altLang="en-US" b="1">
                    <a:solidFill>
                      <a:schemeClr val="accent2">
                        <a:lumMod val="50000"/>
                      </a:schemeClr>
                    </a:solidFill>
                  </a:rPr>
                  <a:t>通过约束变量改名为得到</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𝒙𝑪</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𝒛</m:t>
                        </m:r>
                      </m:e>
                    </m:d>
                  </m:oMath>
                </a14:m>
                <a:endParaRPr lang="zh-CN" altLang="en-US"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624306" y="4405044"/>
                <a:ext cx="2651100" cy="923330"/>
              </a:xfrm>
              <a:prstGeom prst="rect">
                <a:avLst/>
              </a:prstGeom>
              <a:blipFill rotWithShape="1">
                <a:blip r:embed="rId4"/>
                <a:stretch>
                  <a:fillRect l="-14" t="-5" r="13" b="-23786"/>
                </a:stretch>
              </a:blipFill>
            </p:spPr>
            <p:txBody>
              <a:bodyPr/>
              <a:lstStyle/>
              <a:p>
                <a:r>
                  <a:rPr lang="zh-CN" altLang="en-US">
                    <a:noFill/>
                  </a:rPr>
                  <a:t> </a:t>
                </a:r>
              </a:p>
            </p:txBody>
          </p:sp>
        </mc:Fallback>
      </mc:AlternateContent>
      <p:sp>
        <p:nvSpPr>
          <p:cNvPr id="12" name="文本框 11"/>
          <p:cNvSpPr txBox="1"/>
          <p:nvPr/>
        </p:nvSpPr>
        <p:spPr>
          <a:xfrm>
            <a:off x="1217005" y="4035712"/>
            <a:ext cx="415499" cy="369332"/>
          </a:xfrm>
          <a:prstGeom prst="rect">
            <a:avLst/>
          </a:prstGeom>
          <a:noFill/>
        </p:spPr>
        <p:txBody>
          <a:bodyPr wrap="square" rtlCol="0">
            <a:spAutoFit/>
          </a:bodyPr>
          <a:lstStyle/>
          <a:p>
            <a:pPr algn="ctr"/>
            <a:r>
              <a:rPr lang="zh-CN" altLang="en-US">
                <a:solidFill>
                  <a:srgbClr val="C00000"/>
                </a:solidFill>
              </a:rPr>
              <a:t>✔</a:t>
            </a:r>
            <a:endParaRPr lang="zh-CN" altLang="en-US">
              <a:solidFill>
                <a:srgbClr val="C00000"/>
              </a:solidFill>
            </a:endParaRPr>
          </a:p>
        </p:txBody>
      </p:sp>
      <p:sp>
        <p:nvSpPr>
          <p:cNvPr id="13" name="文本框 12"/>
          <p:cNvSpPr txBox="1"/>
          <p:nvPr/>
        </p:nvSpPr>
        <p:spPr>
          <a:xfrm>
            <a:off x="1217005" y="5218529"/>
            <a:ext cx="415499" cy="369332"/>
          </a:xfrm>
          <a:prstGeom prst="rect">
            <a:avLst/>
          </a:prstGeom>
          <a:noFill/>
        </p:spPr>
        <p:txBody>
          <a:bodyPr wrap="square" rtlCol="0">
            <a:spAutoFit/>
          </a:bodyPr>
          <a:lstStyle/>
          <a:p>
            <a:pPr algn="ctr"/>
            <a:r>
              <a:rPr lang="zh-CN" altLang="en-US">
                <a:solidFill>
                  <a:srgbClr val="C00000"/>
                </a:solidFill>
              </a:rPr>
              <a:t>✔</a:t>
            </a:r>
            <a:endParaRPr lang="zh-CN" altLang="en-US">
              <a:solidFill>
                <a:srgbClr val="C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endParaRPr lang="zh-CN" altLang="en-US"/>
          </a:p>
        </p:txBody>
      </p:sp>
      <p:sp>
        <p:nvSpPr>
          <p:cNvPr id="2" name="文本框 1"/>
          <p:cNvSpPr txBox="1"/>
          <p:nvPr/>
        </p:nvSpPr>
        <p:spPr>
          <a:xfrm>
            <a:off x="1809883" y="1047783"/>
            <a:ext cx="8572231" cy="1554272"/>
          </a:xfrm>
          <a:prstGeom prst="rect">
            <a:avLst/>
          </a:prstGeom>
          <a:solidFill>
            <a:schemeClr val="accent5">
              <a:lumMod val="20000"/>
              <a:lumOff val="80000"/>
              <a:alpha val="50000"/>
            </a:schemeClr>
          </a:solidFill>
        </p:spPr>
        <p:txBody>
          <a:bodyPr wrap="square" rtlCol="0">
            <a:spAutoFit/>
          </a:bodyPr>
          <a:lstStyle/>
          <a:p>
            <a:pPr algn="ctr">
              <a:spcBef>
                <a:spcPts val="600"/>
              </a:spcBef>
            </a:pPr>
            <a:r>
              <a:rPr lang="zh-CN" altLang="en-US" sz="2000" b="1">
                <a:solidFill>
                  <a:srgbClr val="002060"/>
                </a:solidFill>
              </a:rPr>
              <a:t>一阶逻辑通过对原子命题细分从而更精细地表达量化命题</a:t>
            </a:r>
            <a:endParaRPr lang="zh-CN" altLang="en-US" sz="2000" b="1">
              <a:solidFill>
                <a:srgbClr val="002060"/>
              </a:solidFill>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命题可分为具体命题和量化命题</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命题逻辑不能精确分析量化命题中事物类与具体事物之间的关系</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一阶逻辑的基本概念包括个体、个体类、谓词、特征谓词、量词和论域</a:t>
            </a:r>
            <a:endParaRPr lang="zh-CN" altLang="en-US" sz="20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p:nvPr/>
        </p:nvSpPr>
        <p:spPr>
          <a:xfrm>
            <a:off x="2308469" y="2747531"/>
            <a:ext cx="6835531" cy="1492716"/>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sz="2000" b="1">
                <a:solidFill>
                  <a:srgbClr val="002060"/>
                </a:solidFill>
              </a:rPr>
              <a:t>一阶逻辑公式基于非逻辑符号集和个体变量集归纳定义</a:t>
            </a:r>
            <a:endParaRPr lang="zh-CN" altLang="en-US" sz="2000" b="1">
              <a:solidFill>
                <a:srgbClr val="002060"/>
              </a:solidFill>
            </a:endParaRPr>
          </a:p>
          <a:p>
            <a:pPr>
              <a:spcAft>
                <a:spcPts val="600"/>
              </a:spcAft>
            </a:pPr>
            <a:r>
              <a:rPr lang="zh-CN" altLang="en-US" sz="2000" b="1">
                <a:solidFill>
                  <a:schemeClr val="accent6">
                    <a:lumMod val="50000"/>
                  </a:schemeClr>
                </a:solidFill>
                <a:latin typeface="楷体" panose="02010609060101010101" pitchFamily="49" charset="-122"/>
                <a:ea typeface="楷体" panose="02010609060101010101" pitchFamily="49" charset="-122"/>
              </a:rPr>
              <a:t>一阶逻辑公式中的符号分为逻辑符号和非逻辑符号</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4">
                    <a:lumMod val="50000"/>
                  </a:schemeClr>
                </a:solidFill>
                <a:latin typeface="黑体" panose="02010609060101010101" pitchFamily="49" charset="-122"/>
                <a:ea typeface="黑体" panose="02010609060101010101" pitchFamily="49" charset="-122"/>
              </a:rPr>
              <a:t>逻辑符号包括个体变量、逻辑运算符、量词符号和辅助符号</a:t>
            </a:r>
            <a:endParaRPr lang="en-US" altLang="zh-CN" b="1">
              <a:solidFill>
                <a:schemeClr val="accent4">
                  <a:lumMod val="50000"/>
                </a:schemeClr>
              </a:solidFill>
              <a:latin typeface="黑体" panose="02010609060101010101" pitchFamily="49" charset="-122"/>
              <a:ea typeface="黑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4">
                    <a:lumMod val="50000"/>
                  </a:schemeClr>
                </a:solidFill>
                <a:latin typeface="黑体" panose="02010609060101010101" pitchFamily="49" charset="-122"/>
                <a:ea typeface="黑体" panose="02010609060101010101" pitchFamily="49" charset="-122"/>
              </a:rPr>
              <a:t>非逻辑符号包括个体常量、函数符号和谓词符号</a:t>
            </a:r>
            <a:endParaRPr lang="zh-CN" altLang="en-US" b="1">
              <a:solidFill>
                <a:schemeClr val="accent4">
                  <a:lumMod val="50000"/>
                </a:schemeClr>
              </a:solidFill>
              <a:latin typeface="黑体" panose="02010609060101010101" pitchFamily="49" charset="-122"/>
              <a:ea typeface="黑体" panose="02010609060101010101" pitchFamily="49" charset="-122"/>
            </a:endParaRPr>
          </a:p>
        </p:txBody>
      </p:sp>
      <p:sp>
        <p:nvSpPr>
          <p:cNvPr id="4" name="文本框 3"/>
          <p:cNvSpPr txBox="1"/>
          <p:nvPr/>
        </p:nvSpPr>
        <p:spPr>
          <a:xfrm>
            <a:off x="1165606" y="4385723"/>
            <a:ext cx="9121256" cy="1938992"/>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000" b="1">
                <a:solidFill>
                  <a:srgbClr val="C00000"/>
                </a:solidFill>
              </a:rPr>
              <a:t>学习这一部分的目标</a:t>
            </a:r>
            <a:endParaRPr lang="zh-CN" altLang="en-US" sz="2000" b="1">
              <a:solidFill>
                <a:srgbClr val="C00000"/>
              </a:solidFill>
            </a:endParaRPr>
          </a:p>
          <a:p>
            <a:pPr marL="342900" indent="-342900">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能理解一阶逻辑的基本概念：个体、个体类、谓词、特征谓词、量词和论域</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能给出一个一阶逻辑公式的抽象语法树，能说明每个量词的辖域</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能说明一个一阶逻辑公式中每个个体变量的出现是自由出现还是约束出现</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能说明一个一阶逻辑公式的每个个体变量是自由变量还是约束变量</a:t>
            </a:r>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dirty="0">
                <a:latin typeface="Arial" panose="020B0604020202020204" pitchFamily="34" charset="0"/>
                <a:ea typeface="楷体" panose="02010609060101010101" pitchFamily="49" charset="-122"/>
                <a:cs typeface="Arial" panose="020B0604020202020204" pitchFamily="34" charset="0"/>
              </a:rPr>
              <a:t>/38</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endParaRPr lang="zh-CN" altLang="en-US"/>
          </a:p>
        </p:txBody>
      </p:sp>
      <p:sp>
        <p:nvSpPr>
          <p:cNvPr id="11" name="文本框 10"/>
          <p:cNvSpPr txBox="1"/>
          <p:nvPr/>
        </p:nvSpPr>
        <p:spPr>
          <a:xfrm>
            <a:off x="950409" y="2635602"/>
            <a:ext cx="4788239" cy="58477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与下一讲一起布置作业！</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第八讲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一阶逻辑公式的语法</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endParaRPr lang="zh-CN" altLang="en-US" sz="4000">
              <a:solidFill>
                <a:srgbClr val="C00000"/>
              </a:solidFill>
              <a:latin typeface="华文新魏" panose="02010800040101010101" pitchFamily="2" charset="-122"/>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commondata" val="eyJoZGlkIjoiYWQ1M2NkMzQ3MmRmNGQyOTRlYWE3NmYyMDAyZmQ0Y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10880</Words>
  <Application>WPS 演示</Application>
  <PresentationFormat>宽屏</PresentationFormat>
  <Paragraphs>1084</Paragraphs>
  <Slides>39</Slides>
  <Notes>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39</vt:i4>
      </vt:variant>
    </vt:vector>
  </HeadingPairs>
  <TitlesOfParts>
    <vt:vector size="54" baseType="lpstr">
      <vt:lpstr>Arial</vt:lpstr>
      <vt:lpstr>宋体</vt:lpstr>
      <vt:lpstr>Wingdings</vt:lpstr>
      <vt:lpstr>楷体</vt:lpstr>
      <vt:lpstr>仿宋</vt:lpstr>
      <vt:lpstr>黑体</vt:lpstr>
      <vt:lpstr>Cambria Math</vt:lpstr>
      <vt:lpstr>等线</vt:lpstr>
      <vt:lpstr>微软雅黑</vt:lpstr>
      <vt:lpstr>Arial Unicode MS</vt:lpstr>
      <vt:lpstr>等线 Light</vt:lpstr>
      <vt:lpstr>Consolas</vt:lpstr>
      <vt:lpstr>华文新魏</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李绿周</cp:lastModifiedBy>
  <cp:revision>134</cp:revision>
  <dcterms:created xsi:type="dcterms:W3CDTF">2022-01-01T06:39:00Z</dcterms:created>
  <dcterms:modified xsi:type="dcterms:W3CDTF">2024-10-07T12:48:10Z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AC15822DD8E545E7B5FFD705145398D2_12</vt:lpwstr>
  </property>
  <property fmtid="{D5CDD505-2E9C-101B-9397-08002B2CF9AE}" pid="3" name="KSOProductBuildVer">
    <vt:lpwstr>2052-12.1.0.16120</vt:lpwstr>
  </property>
</Properties>
</file>