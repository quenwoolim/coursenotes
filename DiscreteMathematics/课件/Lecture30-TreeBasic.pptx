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2" r:id="rId3"/>
    <p:sldId id="259" r:id="rId4"/>
    <p:sldId id="257" r:id="rId5"/>
    <p:sldId id="283" r:id="rId6"/>
    <p:sldId id="286" r:id="rId7"/>
    <p:sldId id="287" r:id="rId8"/>
    <p:sldId id="288" r:id="rId9"/>
    <p:sldId id="320" r:id="rId10"/>
    <p:sldId id="284" r:id="rId11"/>
    <p:sldId id="281" r:id="rId12"/>
    <p:sldId id="261" r:id="rId13"/>
    <p:sldId id="321" r:id="rId14"/>
    <p:sldId id="289" r:id="rId15"/>
    <p:sldId id="290" r:id="rId16"/>
    <p:sldId id="319" r:id="rId17"/>
    <p:sldId id="323" r:id="rId18"/>
    <p:sldId id="292" r:id="rId19"/>
    <p:sldId id="282" r:id="rId20"/>
    <p:sldId id="260" r:id="rId21"/>
    <p:sldId id="293" r:id="rId22"/>
    <p:sldId id="298" r:id="rId23"/>
    <p:sldId id="294" r:id="rId24"/>
    <p:sldId id="297" r:id="rId25"/>
    <p:sldId id="299" r:id="rId26"/>
    <p:sldId id="295" r:id="rId27"/>
    <p:sldId id="296" r:id="rId28"/>
    <p:sldId id="302" r:id="rId29"/>
    <p:sldId id="301" r:id="rId30"/>
    <p:sldId id="300" r:id="rId31"/>
    <p:sldId id="272" r:id="rId32"/>
    <p:sldId id="280" r:id="rId33"/>
    <p:sldId id="26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2024/12/23</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0.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30.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 Type="http://schemas.openxmlformats.org/officeDocument/2006/relationships/image" Target="../media/image46.png"/><Relationship Id="rId21" Type="http://schemas.openxmlformats.org/officeDocument/2006/relationships/image" Target="../media/image64.png"/><Relationship Id="rId34" Type="http://schemas.openxmlformats.org/officeDocument/2006/relationships/image" Target="../media/image77.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8.png"/><Relationship Id="rId33" Type="http://schemas.openxmlformats.org/officeDocument/2006/relationships/image" Target="../media/image76.pn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63.png"/><Relationship Id="rId29"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7.png"/><Relationship Id="rId32" Type="http://schemas.openxmlformats.org/officeDocument/2006/relationships/image" Target="../media/image75.png"/><Relationship Id="rId37" Type="http://schemas.openxmlformats.org/officeDocument/2006/relationships/image" Target="../media/image80.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36"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s>
</file>

<file path=ppt/slides/_rels/slide2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83.png"/><Relationship Id="rId26" Type="http://schemas.openxmlformats.org/officeDocument/2006/relationships/image" Target="../media/image69.png"/><Relationship Id="rId3" Type="http://schemas.openxmlformats.org/officeDocument/2006/relationships/image" Target="../media/image46.png"/><Relationship Id="rId21" Type="http://schemas.openxmlformats.org/officeDocument/2006/relationships/image" Target="../media/image85.png"/><Relationship Id="rId34" Type="http://schemas.openxmlformats.org/officeDocument/2006/relationships/image" Target="../media/image77.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82.png"/><Relationship Id="rId25" Type="http://schemas.openxmlformats.org/officeDocument/2006/relationships/image" Target="../media/image68.png"/><Relationship Id="rId33" Type="http://schemas.openxmlformats.org/officeDocument/2006/relationships/image" Target="../media/image76.pn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84.png"/><Relationship Id="rId29"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87.png"/><Relationship Id="rId32" Type="http://schemas.openxmlformats.org/officeDocument/2006/relationships/image" Target="../media/image75.png"/><Relationship Id="rId37" Type="http://schemas.openxmlformats.org/officeDocument/2006/relationships/image" Target="../media/image80.png"/><Relationship Id="rId5" Type="http://schemas.openxmlformats.org/officeDocument/2006/relationships/image" Target="../media/image48.png"/><Relationship Id="rId15" Type="http://schemas.openxmlformats.org/officeDocument/2006/relationships/image" Target="../media/image81.png"/><Relationship Id="rId23" Type="http://schemas.openxmlformats.org/officeDocument/2006/relationships/image" Target="../media/image86.png"/><Relationship Id="rId28" Type="http://schemas.openxmlformats.org/officeDocument/2006/relationships/image" Target="../media/image71.png"/><Relationship Id="rId36"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46.png"/><Relationship Id="rId21" Type="http://schemas.openxmlformats.org/officeDocument/2006/relationships/image" Target="../media/image92.png"/><Relationship Id="rId34" Type="http://schemas.openxmlformats.org/officeDocument/2006/relationships/image" Target="../media/image77.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89.png"/><Relationship Id="rId25" Type="http://schemas.openxmlformats.org/officeDocument/2006/relationships/image" Target="../media/image96.png"/><Relationship Id="rId33" Type="http://schemas.openxmlformats.org/officeDocument/2006/relationships/image" Target="../media/image76.png"/><Relationship Id="rId2" Type="http://schemas.openxmlformats.org/officeDocument/2006/relationships/image" Target="../media/image45.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95.png"/><Relationship Id="rId32" Type="http://schemas.openxmlformats.org/officeDocument/2006/relationships/image" Target="../media/image75.png"/><Relationship Id="rId37" Type="http://schemas.openxmlformats.org/officeDocument/2006/relationships/image" Target="../media/image80.png"/><Relationship Id="rId5" Type="http://schemas.openxmlformats.org/officeDocument/2006/relationships/image" Target="../media/image48.png"/><Relationship Id="rId15" Type="http://schemas.openxmlformats.org/officeDocument/2006/relationships/image" Target="../media/image81.png"/><Relationship Id="rId23" Type="http://schemas.openxmlformats.org/officeDocument/2006/relationships/image" Target="../media/image94.png"/><Relationship Id="rId28" Type="http://schemas.openxmlformats.org/officeDocument/2006/relationships/image" Target="../media/image71.png"/><Relationship Id="rId36"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93.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s>
</file>

<file path=ppt/slides/_rels/slide25.xml.rels><?xml version="1.0" encoding="UTF-8" standalone="yes"?>
<Relationships xmlns="http://schemas.openxmlformats.org/package/2006/relationships"><Relationship Id="rId13" Type="http://schemas.openxmlformats.org/officeDocument/2006/relationships/image" Target="../media/image109.png"/><Relationship Id="rId18" Type="http://schemas.openxmlformats.org/officeDocument/2006/relationships/image" Target="../media/image114.png"/><Relationship Id="rId26" Type="http://schemas.openxmlformats.org/officeDocument/2006/relationships/image" Target="../media/image122.png"/><Relationship Id="rId39" Type="http://schemas.openxmlformats.org/officeDocument/2006/relationships/image" Target="../media/image135.png"/><Relationship Id="rId3" Type="http://schemas.openxmlformats.org/officeDocument/2006/relationships/image" Target="../media/image99.png"/><Relationship Id="rId21" Type="http://schemas.openxmlformats.org/officeDocument/2006/relationships/image" Target="../media/image117.png"/><Relationship Id="rId34" Type="http://schemas.openxmlformats.org/officeDocument/2006/relationships/image" Target="../media/image130.png"/><Relationship Id="rId42" Type="http://schemas.openxmlformats.org/officeDocument/2006/relationships/image" Target="../media/image138.png"/><Relationship Id="rId47" Type="http://schemas.openxmlformats.org/officeDocument/2006/relationships/image" Target="../media/image143.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png"/><Relationship Id="rId25" Type="http://schemas.openxmlformats.org/officeDocument/2006/relationships/image" Target="../media/image121.png"/><Relationship Id="rId33" Type="http://schemas.openxmlformats.org/officeDocument/2006/relationships/image" Target="../media/image129.png"/><Relationship Id="rId38" Type="http://schemas.openxmlformats.org/officeDocument/2006/relationships/image" Target="../media/image134.png"/><Relationship Id="rId46" Type="http://schemas.openxmlformats.org/officeDocument/2006/relationships/image" Target="../media/image142.png"/><Relationship Id="rId2" Type="http://schemas.openxmlformats.org/officeDocument/2006/relationships/image" Target="../media/image98.png"/><Relationship Id="rId16" Type="http://schemas.openxmlformats.org/officeDocument/2006/relationships/image" Target="../media/image112.png"/><Relationship Id="rId20" Type="http://schemas.openxmlformats.org/officeDocument/2006/relationships/image" Target="../media/image116.png"/><Relationship Id="rId29" Type="http://schemas.openxmlformats.org/officeDocument/2006/relationships/image" Target="../media/image125.png"/><Relationship Id="rId41" Type="http://schemas.openxmlformats.org/officeDocument/2006/relationships/image" Target="../media/image137.png"/><Relationship Id="rId1" Type="http://schemas.openxmlformats.org/officeDocument/2006/relationships/slideLayout" Target="../slideLayouts/slideLayout1.xml"/><Relationship Id="rId6" Type="http://schemas.openxmlformats.org/officeDocument/2006/relationships/image" Target="../media/image102.png"/><Relationship Id="rId11" Type="http://schemas.openxmlformats.org/officeDocument/2006/relationships/image" Target="../media/image107.png"/><Relationship Id="rId24" Type="http://schemas.openxmlformats.org/officeDocument/2006/relationships/image" Target="../media/image120.png"/><Relationship Id="rId32" Type="http://schemas.openxmlformats.org/officeDocument/2006/relationships/image" Target="../media/image128.png"/><Relationship Id="rId37" Type="http://schemas.openxmlformats.org/officeDocument/2006/relationships/image" Target="../media/image133.png"/><Relationship Id="rId40" Type="http://schemas.openxmlformats.org/officeDocument/2006/relationships/image" Target="../media/image136.png"/><Relationship Id="rId45" Type="http://schemas.openxmlformats.org/officeDocument/2006/relationships/image" Target="../media/image141.png"/><Relationship Id="rId5" Type="http://schemas.openxmlformats.org/officeDocument/2006/relationships/image" Target="../media/image101.png"/><Relationship Id="rId15" Type="http://schemas.openxmlformats.org/officeDocument/2006/relationships/image" Target="../media/image111.png"/><Relationship Id="rId23" Type="http://schemas.openxmlformats.org/officeDocument/2006/relationships/image" Target="../media/image119.png"/><Relationship Id="rId28" Type="http://schemas.openxmlformats.org/officeDocument/2006/relationships/image" Target="../media/image124.png"/><Relationship Id="rId36" Type="http://schemas.openxmlformats.org/officeDocument/2006/relationships/image" Target="../media/image132.png"/><Relationship Id="rId49" Type="http://schemas.openxmlformats.org/officeDocument/2006/relationships/image" Target="../media/image145.png"/><Relationship Id="rId10" Type="http://schemas.openxmlformats.org/officeDocument/2006/relationships/image" Target="../media/image106.png"/><Relationship Id="rId19" Type="http://schemas.openxmlformats.org/officeDocument/2006/relationships/image" Target="../media/image115.png"/><Relationship Id="rId31" Type="http://schemas.openxmlformats.org/officeDocument/2006/relationships/image" Target="../media/image127.png"/><Relationship Id="rId44" Type="http://schemas.openxmlformats.org/officeDocument/2006/relationships/image" Target="../media/image140.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 Id="rId22" Type="http://schemas.openxmlformats.org/officeDocument/2006/relationships/image" Target="../media/image118.png"/><Relationship Id="rId27" Type="http://schemas.openxmlformats.org/officeDocument/2006/relationships/image" Target="../media/image123.png"/><Relationship Id="rId30" Type="http://schemas.openxmlformats.org/officeDocument/2006/relationships/image" Target="../media/image126.png"/><Relationship Id="rId35" Type="http://schemas.openxmlformats.org/officeDocument/2006/relationships/image" Target="../media/image131.png"/><Relationship Id="rId43" Type="http://schemas.openxmlformats.org/officeDocument/2006/relationships/image" Target="../media/image139.png"/><Relationship Id="rId48" Type="http://schemas.openxmlformats.org/officeDocument/2006/relationships/image" Target="../media/image144.png"/><Relationship Id="rId8" Type="http://schemas.openxmlformats.org/officeDocument/2006/relationships/image" Target="../media/image104.png"/></Relationships>
</file>

<file path=ppt/slides/_rels/slide2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34.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第二十九讲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树的基础知识</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12</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8E82444-1F77-4C58-8932-94BAFF561682}"/>
                  </a:ext>
                </a:extLst>
              </p:cNvPr>
              <p:cNvSpPr txBox="1"/>
              <p:nvPr/>
            </p:nvSpPr>
            <p:spPr>
              <a:xfrm>
                <a:off x="1214877" y="1556970"/>
                <a:ext cx="9762244" cy="2175083"/>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能使用握手定理、树的概念证明有关树的一些简单性质</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能理解和证明</a:t>
                </a:r>
                <a14:m>
                  <m:oMath xmlns:m="http://schemas.openxmlformats.org/officeDocument/2006/math">
                    <m:r>
                      <a:rPr lang="en-US" altLang="zh-CN" sz="2400" b="1">
                        <a:solidFill>
                          <a:srgbClr val="002060"/>
                        </a:solidFill>
                        <a:latin typeface="Cambria Math" panose="02040503050406030204" pitchFamily="18" charset="0"/>
                      </a:rPr>
                      <m:t>𝒎</m:t>
                    </m:r>
                  </m:oMath>
                </a14:m>
                <a:r>
                  <a:rPr lang="zh-CN" altLang="en-US" sz="2400" b="1">
                    <a:solidFill>
                      <a:srgbClr val="002060"/>
                    </a:solidFill>
                    <a:latin typeface="+mn-ea"/>
                  </a:rPr>
                  <a:t>元树的一些性质，包括平衡</a:t>
                </a:r>
                <a14:m>
                  <m:oMath xmlns:m="http://schemas.openxmlformats.org/officeDocument/2006/math">
                    <m:r>
                      <a:rPr lang="en-US" altLang="zh-CN" sz="2400" b="1">
                        <a:solidFill>
                          <a:srgbClr val="002060"/>
                        </a:solidFill>
                        <a:latin typeface="Cambria Math" panose="02040503050406030204" pitchFamily="18" charset="0"/>
                      </a:rPr>
                      <m:t>𝒎</m:t>
                    </m:r>
                  </m:oMath>
                </a14:m>
                <a:r>
                  <a:rPr lang="zh-CN" altLang="en-US" sz="2400" b="1">
                    <a:solidFill>
                      <a:srgbClr val="002060"/>
                    </a:solidFill>
                    <a:latin typeface="+mn-ea"/>
                  </a:rPr>
                  <a:t>元树的一些性质</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树的遍历要能给出算法输出的顶点访问序列</a:t>
                </a:r>
              </a:p>
            </p:txBody>
          </p:sp>
        </mc:Choice>
        <mc:Fallback xmlns="">
          <p:sp>
            <p:nvSpPr>
              <p:cNvPr id="11" name="文本框 10">
                <a:extLst>
                  <a:ext uri="{FF2B5EF4-FFF2-40B4-BE49-F238E27FC236}">
                    <a16:creationId xmlns:a16="http://schemas.microsoft.com/office/drawing/2014/main" id="{08E82444-1F77-4C58-8932-94BAFF561682}"/>
                  </a:ext>
                </a:extLst>
              </p:cNvPr>
              <p:cNvSpPr txBox="1">
                <a:spLocks noRot="1" noChangeAspect="1" noMove="1" noResize="1" noEditPoints="1" noAdjustHandles="1" noChangeArrowheads="1" noChangeShapeType="1" noTextEdit="1"/>
              </p:cNvSpPr>
              <p:nvPr/>
            </p:nvSpPr>
            <p:spPr>
              <a:xfrm>
                <a:off x="1214877" y="1556970"/>
                <a:ext cx="9762244" cy="2175083"/>
              </a:xfrm>
              <a:prstGeom prst="rect">
                <a:avLst/>
              </a:prstGeom>
              <a:blipFill>
                <a:blip r:embed="rId2"/>
                <a:stretch>
                  <a:fillRect l="-811" t="-3641" b="-5602"/>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890854DB-545A-4FBE-A32F-4944B762A786}"/>
              </a:ext>
            </a:extLst>
          </p:cNvPr>
          <p:cNvSpPr txBox="1"/>
          <p:nvPr/>
        </p:nvSpPr>
        <p:spPr>
          <a:xfrm>
            <a:off x="1214877" y="4025508"/>
            <a:ext cx="9762244" cy="1764714"/>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400" b="1">
                <a:solidFill>
                  <a:schemeClr val="accent6">
                    <a:lumMod val="50000"/>
                  </a:schemeClr>
                </a:solidFill>
                <a:latin typeface="+mn-ea"/>
              </a:rPr>
              <a:t>如何证明无向树的基本性质？</a:t>
            </a:r>
            <a:endParaRPr lang="en-US" altLang="zh-CN" sz="2400" b="1">
              <a:solidFill>
                <a:schemeClr val="accent6">
                  <a:lumMod val="50000"/>
                </a:schemeClr>
              </a:solidFill>
              <a:latin typeface="+mn-ea"/>
            </a:endParaRPr>
          </a:p>
          <a:p>
            <a:pPr marL="342900" indent="-342900">
              <a:lnSpc>
                <a:spcPts val="3200"/>
              </a:lnSpc>
              <a:spcBef>
                <a:spcPts val="1200"/>
              </a:spcBef>
              <a:spcAft>
                <a:spcPts val="600"/>
              </a:spcAft>
              <a:buFont typeface="Arial" panose="020B0604020202020204" pitchFamily="34" charset="0"/>
              <a:buChar char="•"/>
            </a:pPr>
            <a:r>
              <a:rPr lang="zh-CN" altLang="en-US" sz="2400" b="1">
                <a:solidFill>
                  <a:schemeClr val="accent6">
                    <a:lumMod val="50000"/>
                  </a:schemeClr>
                </a:solidFill>
                <a:latin typeface="+mn-ea"/>
              </a:rPr>
              <a:t>如何理解根数的中序、前序、后序遍历，它们与图的遍历有什么异同？</a:t>
            </a:r>
            <a:endParaRPr lang="en-US" altLang="zh-CN" sz="2400" b="1">
              <a:solidFill>
                <a:schemeClr val="accent6">
                  <a:lumMod val="50000"/>
                </a:schemeClr>
              </a:solidFill>
              <a:latin typeface="+mn-ea"/>
            </a:endParaRPr>
          </a:p>
        </p:txBody>
      </p:sp>
    </p:spTree>
    <p:extLst>
      <p:ext uri="{BB962C8B-B14F-4D97-AF65-F5344CB8AC3E}">
        <p14:creationId xmlns:p14="http://schemas.microsoft.com/office/powerpoint/2010/main" val="2255198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无向树的定义及性质</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根树的定义及性质</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树的遍历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无向树的定义及其性质</a:t>
            </a:r>
          </a:p>
        </p:txBody>
      </p:sp>
      <p:sp>
        <p:nvSpPr>
          <p:cNvPr id="2" name="文本框 1">
            <a:extLst>
              <a:ext uri="{FF2B5EF4-FFF2-40B4-BE49-F238E27FC236}">
                <a16:creationId xmlns:a16="http://schemas.microsoft.com/office/drawing/2014/main" id="{AA7BCAEE-1A19-4D28-AB28-E3CB59072ECB}"/>
              </a:ext>
            </a:extLst>
          </p:cNvPr>
          <p:cNvSpPr txBox="1"/>
          <p:nvPr/>
        </p:nvSpPr>
        <p:spPr>
          <a:xfrm>
            <a:off x="914758" y="1533954"/>
            <a:ext cx="4663079" cy="381316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无向树</a:t>
            </a:r>
            <a:r>
              <a:rPr lang="en-US" altLang="zh-CN" sz="2400" b="1">
                <a:solidFill>
                  <a:srgbClr val="C00000"/>
                </a:solidFill>
              </a:rPr>
              <a:t>(tree)</a:t>
            </a:r>
            <a:r>
              <a:rPr lang="zh-CN" altLang="en-US" sz="2400" b="1">
                <a:solidFill>
                  <a:srgbClr val="C00000"/>
                </a:solidFill>
              </a:rPr>
              <a:t>的定义</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连通无回路的无向图称为无向树</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环、重边都是回路，因此无向树必定是</a:t>
            </a:r>
            <a:r>
              <a:rPr lang="zh-CN" altLang="en-US" sz="2000" b="1">
                <a:solidFill>
                  <a:srgbClr val="C00000"/>
                </a:solidFill>
              </a:rPr>
              <a:t>简单图</a:t>
            </a:r>
          </a:p>
          <a:p>
            <a:pPr marL="342900" indent="-342900">
              <a:lnSpc>
                <a:spcPts val="32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无向树中度数为</a:t>
            </a:r>
            <a:r>
              <a:rPr lang="en-US" altLang="zh-CN" sz="2000" b="1">
                <a:solidFill>
                  <a:schemeClr val="accent6">
                    <a:lumMod val="50000"/>
                  </a:schemeClr>
                </a:solidFill>
              </a:rPr>
              <a:t>1</a:t>
            </a:r>
            <a:r>
              <a:rPr lang="zh-CN" altLang="en-US" sz="2000" b="1">
                <a:solidFill>
                  <a:schemeClr val="accent6">
                    <a:lumMod val="50000"/>
                  </a:schemeClr>
                </a:solidFill>
              </a:rPr>
              <a:t>的顶点称为</a:t>
            </a:r>
            <a:r>
              <a:rPr lang="zh-CN" altLang="en-US" sz="2000" b="1">
                <a:solidFill>
                  <a:srgbClr val="C00000"/>
                </a:solidFill>
              </a:rPr>
              <a:t>树叶</a:t>
            </a:r>
            <a:r>
              <a:rPr lang="zh-CN" altLang="en-US" sz="2000" b="1">
                <a:solidFill>
                  <a:schemeClr val="accent6">
                    <a:lumMod val="50000"/>
                  </a:schemeClr>
                </a:solidFill>
              </a:rPr>
              <a:t>、度数大于等于</a:t>
            </a:r>
            <a:r>
              <a:rPr lang="en-US" altLang="zh-CN" sz="2000" b="1">
                <a:solidFill>
                  <a:schemeClr val="accent6">
                    <a:lumMod val="50000"/>
                  </a:schemeClr>
                </a:solidFill>
              </a:rPr>
              <a:t>2</a:t>
            </a:r>
            <a:r>
              <a:rPr lang="zh-CN" altLang="en-US" sz="2000" b="1">
                <a:solidFill>
                  <a:schemeClr val="accent6">
                    <a:lumMod val="50000"/>
                  </a:schemeClr>
                </a:solidFill>
              </a:rPr>
              <a:t>的顶点称为</a:t>
            </a:r>
            <a:r>
              <a:rPr lang="zh-CN" altLang="en-US" sz="2000" b="1">
                <a:solidFill>
                  <a:srgbClr val="C00000"/>
                </a:solidFill>
              </a:rPr>
              <a:t>分支点</a:t>
            </a:r>
            <a:endParaRPr lang="en-US" altLang="zh-CN" sz="2000" b="1">
              <a:solidFill>
                <a:srgbClr val="C0000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只有一个顶点（这时没有边）的简单图称为平凡树</a:t>
            </a:r>
            <a:endParaRPr lang="en-US" altLang="zh-CN" sz="2000" b="1">
              <a:solidFill>
                <a:schemeClr val="accent6">
                  <a:lumMod val="50000"/>
                </a:schemeClr>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1C994C1-2147-4B93-AB5D-231D08AEA236}"/>
                  </a:ext>
                </a:extLst>
              </p:cNvPr>
              <p:cNvSpPr txBox="1"/>
              <p:nvPr/>
            </p:nvSpPr>
            <p:spPr>
              <a:xfrm>
                <a:off x="6267586" y="1533954"/>
                <a:ext cx="5009656" cy="400109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无向树的性质</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下面六个命题相互等价</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无向树的定义：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rgbClr val="C00000"/>
                    </a:solidFill>
                  </a:rPr>
                  <a:t>连通</a:t>
                </a:r>
                <a:r>
                  <a:rPr lang="zh-CN" altLang="en-US" sz="2000" b="1">
                    <a:solidFill>
                      <a:schemeClr val="accent6">
                        <a:lumMod val="50000"/>
                      </a:schemeClr>
                    </a:solidFill>
                  </a:rPr>
                  <a:t>且</a:t>
                </a:r>
                <a:r>
                  <a:rPr lang="zh-CN" altLang="en-US" sz="2000" b="1">
                    <a:solidFill>
                      <a:srgbClr val="C00000"/>
                    </a:solidFill>
                  </a:rPr>
                  <a:t>无回路</a:t>
                </a:r>
                <a:endParaRPr lang="en-US" altLang="zh-CN" sz="2000" b="1">
                  <a:solidFill>
                    <a:srgbClr val="C00000"/>
                  </a:solidFill>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的任意两个顶点之间存在</a:t>
                </a:r>
                <a:r>
                  <a:rPr lang="zh-CN" altLang="en-US" sz="2000" b="1">
                    <a:solidFill>
                      <a:srgbClr val="C00000"/>
                    </a:solidFill>
                  </a:rPr>
                  <a:t>惟一的通路</a:t>
                </a: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连通且任意边都是</a:t>
                </a:r>
                <a:r>
                  <a:rPr lang="zh-CN" altLang="en-US" sz="2000" b="1">
                    <a:solidFill>
                      <a:srgbClr val="C00000"/>
                    </a:solidFill>
                  </a:rPr>
                  <a:t>桥</a:t>
                </a: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无回路，但任何两个不相邻顶点间加一条</a:t>
                </a:r>
                <a:r>
                  <a:rPr lang="zh-CN" altLang="en-US" sz="2000" b="1">
                    <a:solidFill>
                      <a:srgbClr val="C00000"/>
                    </a:solidFill>
                  </a:rPr>
                  <a:t>新边</a:t>
                </a:r>
                <a:r>
                  <a:rPr lang="zh-CN" altLang="en-US" sz="2000" b="1">
                    <a:solidFill>
                      <a:schemeClr val="accent6">
                        <a:lumMod val="50000"/>
                      </a:schemeClr>
                    </a:solidFill>
                  </a:rPr>
                  <a:t>，则得到</a:t>
                </a:r>
                <a:r>
                  <a:rPr lang="zh-CN" altLang="en-US" sz="2000" b="1">
                    <a:solidFill>
                      <a:srgbClr val="C00000"/>
                    </a:solidFill>
                  </a:rPr>
                  <a:t>惟一</a:t>
                </a:r>
                <a:r>
                  <a:rPr lang="zh-CN" altLang="en-US" sz="2000" b="1">
                    <a:solidFill>
                      <a:schemeClr val="accent6">
                        <a:lumMod val="50000"/>
                      </a:schemeClr>
                    </a:solidFill>
                  </a:rPr>
                  <a:t>一个</a:t>
                </a:r>
                <a:r>
                  <a:rPr lang="zh-CN" altLang="en-US" sz="2000" b="1">
                    <a:solidFill>
                      <a:srgbClr val="C00000"/>
                    </a:solidFill>
                  </a:rPr>
                  <a:t>回路</a:t>
                </a: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a:solidFill>
                          <a:schemeClr val="accent6">
                            <a:lumMod val="50000"/>
                          </a:schemeClr>
                        </a:solidFill>
                        <a:latin typeface="Cambria Math" panose="02040503050406030204" pitchFamily="18" charset="0"/>
                      </a:rPr>
                      <m:t>𝑮</m:t>
                    </m:r>
                  </m:oMath>
                </a14:m>
                <a:r>
                  <a:rPr lang="zh-CN" altLang="en-US" sz="2000" b="1">
                    <a:solidFill>
                      <a:srgbClr val="C00000"/>
                    </a:solidFill>
                  </a:rPr>
                  <a:t>无回路</a:t>
                </a:r>
                <a:r>
                  <a:rPr lang="zh-CN" altLang="en-US" sz="2000" b="1">
                    <a:solidFill>
                      <a:schemeClr val="accent6">
                        <a:lumMod val="50000"/>
                      </a:schemeClr>
                    </a:solidFill>
                  </a:rPr>
                  <a:t>且</a:t>
                </a: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a:solidFill>
                          <a:schemeClr val="accent6">
                            <a:lumMod val="50000"/>
                          </a:schemeClr>
                        </a:solidFill>
                        <a:latin typeface="Cambria Math" panose="02040503050406030204" pitchFamily="18" charset="0"/>
                      </a:rPr>
                      <m:t>𝑮</m:t>
                    </m:r>
                  </m:oMath>
                </a14:m>
                <a:r>
                  <a:rPr lang="zh-CN" altLang="en-US" sz="2000" b="1">
                    <a:solidFill>
                      <a:srgbClr val="C00000"/>
                    </a:solidFill>
                  </a:rPr>
                  <a:t>连通</a:t>
                </a:r>
                <a:r>
                  <a:rPr lang="zh-CN" altLang="en-US" sz="2000" b="1">
                    <a:solidFill>
                      <a:schemeClr val="accent6">
                        <a:lumMod val="50000"/>
                      </a:schemeClr>
                    </a:solidFill>
                  </a:rPr>
                  <a:t>且</a:t>
                </a: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endParaRPr lang="zh-CN" altLang="en-US" sz="2000" b="1">
                  <a:solidFill>
                    <a:schemeClr val="accent6">
                      <a:lumMod val="50000"/>
                    </a:schemeClr>
                  </a:solidFill>
                </a:endParaRPr>
              </a:p>
            </p:txBody>
          </p:sp>
        </mc:Choice>
        <mc:Fallback xmlns="">
          <p:sp>
            <p:nvSpPr>
              <p:cNvPr id="4" name="文本框 3">
                <a:extLst>
                  <a:ext uri="{FF2B5EF4-FFF2-40B4-BE49-F238E27FC236}">
                    <a16:creationId xmlns:a16="http://schemas.microsoft.com/office/drawing/2014/main" id="{01C994C1-2147-4B93-AB5D-231D08AEA236}"/>
                  </a:ext>
                </a:extLst>
              </p:cNvPr>
              <p:cNvSpPr txBox="1">
                <a:spLocks noRot="1" noChangeAspect="1" noMove="1" noResize="1" noEditPoints="1" noAdjustHandles="1" noChangeArrowheads="1" noChangeShapeType="1" noTextEdit="1"/>
              </p:cNvSpPr>
              <p:nvPr/>
            </p:nvSpPr>
            <p:spPr>
              <a:xfrm>
                <a:off x="6267586" y="1533954"/>
                <a:ext cx="5009656" cy="4001095"/>
              </a:xfrm>
              <a:prstGeom prst="rect">
                <a:avLst/>
              </a:prstGeom>
              <a:blipFill>
                <a:blip r:embed="rId2"/>
                <a:stretch>
                  <a:fillRect l="-1217" t="-1067" b="-18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273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无向树性质的证明</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47C14E7-7F77-4F43-A50A-D58E5B2E90CE}"/>
                  </a:ext>
                </a:extLst>
              </p:cNvPr>
              <p:cNvSpPr txBox="1"/>
              <p:nvPr/>
            </p:nvSpPr>
            <p:spPr>
              <a:xfrm>
                <a:off x="1024957" y="3159598"/>
                <a:ext cx="7030492" cy="369332"/>
              </a:xfrm>
              <a:prstGeom prst="rect">
                <a:avLst/>
              </a:prstGeom>
              <a:solidFill>
                <a:schemeClr val="accent5">
                  <a:lumMod val="20000"/>
                  <a:lumOff val="80000"/>
                  <a:alpha val="50000"/>
                </a:schemeClr>
              </a:solidFill>
            </p:spPr>
            <p:txBody>
              <a:bodyPr wrap="square" rtlCol="0">
                <a:spAutoFit/>
              </a:bodyPr>
              <a:lstStyle/>
              <a:p>
                <a:r>
                  <a:rPr lang="zh-CN" altLang="en-US" b="1">
                    <a:solidFill>
                      <a:srgbClr val="C00000"/>
                    </a:solidFill>
                  </a:rPr>
                  <a:t>定义</a:t>
                </a:r>
                <a14:m>
                  <m:oMath xmlns:m="http://schemas.openxmlformats.org/officeDocument/2006/math">
                    <m:r>
                      <a:rPr lang="en-US" altLang="zh-CN" b="1" i="1" smtClean="0">
                        <a:solidFill>
                          <a:srgbClr val="C00000"/>
                        </a:solidFill>
                        <a:latin typeface="Cambria Math" panose="02040503050406030204" pitchFamily="18" charset="0"/>
                      </a:rPr>
                      <m:t>⟹</m:t>
                    </m:r>
                  </m:oMath>
                </a14:m>
                <a:r>
                  <a:rPr lang="en-US" altLang="zh-CN" b="1">
                    <a:solidFill>
                      <a:srgbClr val="C00000"/>
                    </a:solidFill>
                  </a:rPr>
                  <a:t>(1)</a:t>
                </a:r>
                <a:r>
                  <a:rPr lang="zh-CN" altLang="en-US" b="1">
                    <a:solidFill>
                      <a:schemeClr val="accent6">
                        <a:lumMod val="50000"/>
                      </a:schemeClr>
                    </a:solidFill>
                  </a:rPr>
                  <a:t>：</a:t>
                </a:r>
                <a:r>
                  <a:rPr lang="zh-CN" altLang="en-US" b="1">
                    <a:solidFill>
                      <a:srgbClr val="0000FF"/>
                    </a:solidFill>
                  </a:rPr>
                  <a:t>反证法</a:t>
                </a:r>
                <a:r>
                  <a:rPr lang="zh-CN" altLang="en-US" b="1">
                    <a:solidFill>
                      <a:schemeClr val="accent6">
                        <a:lumMod val="50000"/>
                      </a:schemeClr>
                    </a:solidFill>
                  </a:rPr>
                  <a:t>，若存在两个顶点有多个通路，则存在回路</a:t>
                </a:r>
              </a:p>
            </p:txBody>
          </p:sp>
        </mc:Choice>
        <mc:Fallback xmlns="">
          <p:sp>
            <p:nvSpPr>
              <p:cNvPr id="2" name="文本框 1">
                <a:extLst>
                  <a:ext uri="{FF2B5EF4-FFF2-40B4-BE49-F238E27FC236}">
                    <a16:creationId xmlns:a16="http://schemas.microsoft.com/office/drawing/2014/main" id="{847C14E7-7F77-4F43-A50A-D58E5B2E90CE}"/>
                  </a:ext>
                </a:extLst>
              </p:cNvPr>
              <p:cNvSpPr txBox="1">
                <a:spLocks noRot="1" noChangeAspect="1" noMove="1" noResize="1" noEditPoints="1" noAdjustHandles="1" noChangeArrowheads="1" noChangeShapeType="1" noTextEdit="1"/>
              </p:cNvSpPr>
              <p:nvPr/>
            </p:nvSpPr>
            <p:spPr>
              <a:xfrm>
                <a:off x="1024957" y="3159598"/>
                <a:ext cx="7030492" cy="369332"/>
              </a:xfrm>
              <a:prstGeom prst="rect">
                <a:avLst/>
              </a:prstGeom>
              <a:blipFill>
                <a:blip r:embed="rId2"/>
                <a:stretch>
                  <a:fillRect l="-694"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F400541-CCD4-4300-BE4F-562CE500DBF1}"/>
                  </a:ext>
                </a:extLst>
              </p:cNvPr>
              <p:cNvSpPr txBox="1"/>
              <p:nvPr/>
            </p:nvSpPr>
            <p:spPr>
              <a:xfrm>
                <a:off x="1024957" y="1146493"/>
                <a:ext cx="5341675" cy="461665"/>
              </a:xfrm>
              <a:prstGeom prst="rect">
                <a:avLst/>
              </a:prstGeom>
              <a:solidFill>
                <a:schemeClr val="accent4">
                  <a:lumMod val="20000"/>
                  <a:lumOff val="80000"/>
                  <a:alpha val="50000"/>
                </a:schemeClr>
              </a:solidFill>
            </p:spPr>
            <p:txBody>
              <a:bodyPr wrap="square" rtlCol="0">
                <a:spAutoFit/>
              </a:bodyPr>
              <a:lstStyle/>
              <a:p>
                <a:r>
                  <a:rPr lang="zh-CN" altLang="en-US" sz="2400" b="1">
                    <a:solidFill>
                      <a:schemeClr val="accent2">
                        <a:lumMod val="50000"/>
                      </a:schemeClr>
                    </a:solidFill>
                  </a:rPr>
                  <a:t>无向树</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rPr>
                  <a:t>的定义：连通无回路的无向图</a:t>
                </a:r>
              </a:p>
            </p:txBody>
          </p:sp>
        </mc:Choice>
        <mc:Fallback xmlns="">
          <p:sp>
            <p:nvSpPr>
              <p:cNvPr id="3" name="文本框 2">
                <a:extLst>
                  <a:ext uri="{FF2B5EF4-FFF2-40B4-BE49-F238E27FC236}">
                    <a16:creationId xmlns:a16="http://schemas.microsoft.com/office/drawing/2014/main" id="{7F400541-CCD4-4300-BE4F-562CE500DBF1}"/>
                  </a:ext>
                </a:extLst>
              </p:cNvPr>
              <p:cNvSpPr txBox="1">
                <a:spLocks noRot="1" noChangeAspect="1" noMove="1" noResize="1" noEditPoints="1" noAdjustHandles="1" noChangeArrowheads="1" noChangeShapeType="1" noTextEdit="1"/>
              </p:cNvSpPr>
              <p:nvPr/>
            </p:nvSpPr>
            <p:spPr>
              <a:xfrm>
                <a:off x="1024957" y="1146493"/>
                <a:ext cx="5341675" cy="461665"/>
              </a:xfrm>
              <a:prstGeom prst="rect">
                <a:avLst/>
              </a:prstGeom>
              <a:blipFill>
                <a:blip r:embed="rId3"/>
                <a:stretch>
                  <a:fillRect l="-1712" t="-9211" r="-457"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AA2A7CB-3342-4B26-A2C3-F753F5703517}"/>
                  </a:ext>
                </a:extLst>
              </p:cNvPr>
              <p:cNvSpPr txBox="1"/>
              <p:nvPr/>
            </p:nvSpPr>
            <p:spPr>
              <a:xfrm>
                <a:off x="1024957" y="3642459"/>
                <a:ext cx="7454624" cy="369332"/>
              </a:xfrm>
              <a:prstGeom prst="rect">
                <a:avLst/>
              </a:prstGeom>
              <a:solidFill>
                <a:schemeClr val="accent5">
                  <a:lumMod val="20000"/>
                  <a:lumOff val="80000"/>
                  <a:alpha val="50000"/>
                </a:schemeClr>
              </a:solidFill>
            </p:spPr>
            <p:txBody>
              <a:bodyPr wrap="square" rtlCol="0">
                <a:spAutoFit/>
              </a:bodyPr>
              <a:lstStyle/>
              <a:p>
                <a:r>
                  <a:rPr lang="en-US" altLang="zh-CN" b="1">
                    <a:solidFill>
                      <a:srgbClr val="C00000"/>
                    </a:solidFill>
                  </a:rPr>
                  <a:t>(1)</a:t>
                </a:r>
                <a14:m>
                  <m:oMath xmlns:m="http://schemas.openxmlformats.org/officeDocument/2006/math">
                    <m:r>
                      <a:rPr lang="en-US" altLang="zh-CN" b="1">
                        <a:solidFill>
                          <a:srgbClr val="C00000"/>
                        </a:solidFill>
                        <a:latin typeface="Cambria Math" panose="02040503050406030204" pitchFamily="18" charset="0"/>
                      </a:rPr>
                      <m:t>⟹</m:t>
                    </m:r>
                  </m:oMath>
                </a14:m>
                <a:r>
                  <a:rPr lang="en-US" altLang="zh-CN" b="1">
                    <a:solidFill>
                      <a:srgbClr val="C00000"/>
                    </a:solidFill>
                  </a:rPr>
                  <a:t>(2)</a:t>
                </a:r>
                <a:r>
                  <a:rPr lang="zh-CN" altLang="en-US" b="1">
                    <a:solidFill>
                      <a:schemeClr val="accent6">
                        <a:lumMod val="50000"/>
                      </a:schemeClr>
                    </a:solidFill>
                  </a:rPr>
                  <a:t>：</a:t>
                </a:r>
                <a:r>
                  <a:rPr lang="zh-CN" altLang="en-US" b="1">
                    <a:solidFill>
                      <a:srgbClr val="0000FF"/>
                    </a:solidFill>
                  </a:rPr>
                  <a:t>反证法</a:t>
                </a:r>
                <a:r>
                  <a:rPr lang="zh-CN" altLang="en-US" b="1">
                    <a:solidFill>
                      <a:schemeClr val="accent6">
                        <a:lumMod val="50000"/>
                      </a:schemeClr>
                    </a:solidFill>
                  </a:rPr>
                  <a:t>，如果边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𝒆</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𝒖</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𝒗</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不是桥，则</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𝒖</m:t>
                    </m:r>
                  </m:oMath>
                </a14:m>
                <a:r>
                  <a:rPr lang="zh-CN" altLang="en-US" b="1">
                    <a:solidFill>
                      <a:schemeClr val="accent6">
                        <a:lumMod val="50000"/>
                      </a:schemeClr>
                    </a:solidFill>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𝒗</m:t>
                    </m:r>
                  </m:oMath>
                </a14:m>
                <a:r>
                  <a:rPr lang="zh-CN" altLang="en-US" b="1">
                    <a:solidFill>
                      <a:schemeClr val="accent6">
                        <a:lumMod val="50000"/>
                      </a:schemeClr>
                    </a:solidFill>
                  </a:rPr>
                  <a:t>之间存在多个通路</a:t>
                </a:r>
              </a:p>
            </p:txBody>
          </p:sp>
        </mc:Choice>
        <mc:Fallback xmlns="">
          <p:sp>
            <p:nvSpPr>
              <p:cNvPr id="4" name="文本框 3">
                <a:extLst>
                  <a:ext uri="{FF2B5EF4-FFF2-40B4-BE49-F238E27FC236}">
                    <a16:creationId xmlns:a16="http://schemas.microsoft.com/office/drawing/2014/main" id="{0AA2A7CB-3342-4B26-A2C3-F753F5703517}"/>
                  </a:ext>
                </a:extLst>
              </p:cNvPr>
              <p:cNvSpPr txBox="1">
                <a:spLocks noRot="1" noChangeAspect="1" noMove="1" noResize="1" noEditPoints="1" noAdjustHandles="1" noChangeArrowheads="1" noChangeShapeType="1" noTextEdit="1"/>
              </p:cNvSpPr>
              <p:nvPr/>
            </p:nvSpPr>
            <p:spPr>
              <a:xfrm>
                <a:off x="1024957" y="3642459"/>
                <a:ext cx="7454624" cy="369332"/>
              </a:xfrm>
              <a:prstGeom prst="rect">
                <a:avLst/>
              </a:prstGeom>
              <a:blipFill>
                <a:blip r:embed="rId4"/>
                <a:stretch>
                  <a:fillRect l="-654" t="-10000" r="-32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5D764B2-9E7C-4431-84F2-E2C9878AF1BA}"/>
                  </a:ext>
                </a:extLst>
              </p:cNvPr>
              <p:cNvSpPr/>
              <p:nvPr/>
            </p:nvSpPr>
            <p:spPr>
              <a:xfrm>
                <a:off x="1024957" y="4125320"/>
                <a:ext cx="10142083" cy="1141466"/>
              </a:xfrm>
              <a:prstGeom prst="rect">
                <a:avLst/>
              </a:prstGeom>
              <a:solidFill>
                <a:schemeClr val="accent5">
                  <a:lumMod val="20000"/>
                  <a:lumOff val="80000"/>
                  <a:alpha val="50000"/>
                </a:schemeClr>
              </a:solidFill>
            </p:spPr>
            <p:txBody>
              <a:bodyPr wrap="square">
                <a:spAutoFit/>
              </a:bodyPr>
              <a:lstStyle/>
              <a:p>
                <a:pPr>
                  <a:lnSpc>
                    <a:spcPts val="2800"/>
                  </a:lnSpc>
                </a:pPr>
                <a:r>
                  <a:rPr lang="en-US" altLang="zh-CN" b="1">
                    <a:solidFill>
                      <a:srgbClr val="C00000"/>
                    </a:solidFill>
                  </a:rPr>
                  <a:t>(2)</a:t>
                </a:r>
                <a14:m>
                  <m:oMath xmlns:m="http://schemas.openxmlformats.org/officeDocument/2006/math">
                    <m:r>
                      <a:rPr lang="en-US" altLang="zh-CN" b="1">
                        <a:solidFill>
                          <a:srgbClr val="C00000"/>
                        </a:solidFill>
                        <a:latin typeface="Cambria Math" panose="02040503050406030204" pitchFamily="18" charset="0"/>
                      </a:rPr>
                      <m:t>⟹</m:t>
                    </m:r>
                  </m:oMath>
                </a14:m>
                <a:r>
                  <a:rPr lang="en-US" altLang="zh-CN" b="1">
                    <a:solidFill>
                      <a:srgbClr val="C00000"/>
                    </a:solidFill>
                  </a:rPr>
                  <a:t>(3)</a:t>
                </a:r>
                <a:r>
                  <a:rPr lang="zh-CN" altLang="en-US" b="1">
                    <a:solidFill>
                      <a:schemeClr val="accent6">
                        <a:lumMod val="50000"/>
                      </a:schemeClr>
                    </a:solidFill>
                  </a:rPr>
                  <a:t>：</a:t>
                </a:r>
                <a:r>
                  <a:rPr lang="zh-CN" altLang="en-US" b="1">
                    <a:solidFill>
                      <a:srgbClr val="0000FF"/>
                    </a:solidFill>
                  </a:rPr>
                  <a:t>反证法</a:t>
                </a:r>
                <a:r>
                  <a:rPr lang="zh-CN" altLang="en-US" b="1">
                    <a:solidFill>
                      <a:schemeClr val="accent6">
                        <a:lumMod val="50000"/>
                      </a:schemeClr>
                    </a:solidFill>
                  </a:rPr>
                  <a:t>，任意边都是桥则无回路，因为回路上的边都不是桥。</a:t>
                </a:r>
              </a:p>
              <a:p>
                <a:pPr>
                  <a:lnSpc>
                    <a:spcPts val="2800"/>
                  </a:lnSpc>
                </a:pPr>
                <a:r>
                  <a:rPr lang="zh-CN" altLang="en-US" b="1">
                    <a:solidFill>
                      <a:schemeClr val="accent6">
                        <a:lumMod val="50000"/>
                      </a:schemeClr>
                    </a:solidFill>
                  </a:rPr>
                  <a:t>两个不相邻顶点加新边肯定得到一个回路，因为这两个不相邻顶点原本有通路；如果得到的回路不是唯一的，则这两个不相邻顶点原来有多个通路，这多个通路会构成回路，与任意边都是桥矛盾！</a:t>
                </a:r>
              </a:p>
            </p:txBody>
          </p:sp>
        </mc:Choice>
        <mc:Fallback xmlns="">
          <p:sp>
            <p:nvSpPr>
              <p:cNvPr id="6" name="矩形 5">
                <a:extLst>
                  <a:ext uri="{FF2B5EF4-FFF2-40B4-BE49-F238E27FC236}">
                    <a16:creationId xmlns:a16="http://schemas.microsoft.com/office/drawing/2014/main" id="{C5D764B2-9E7C-4431-84F2-E2C9878AF1BA}"/>
                  </a:ext>
                </a:extLst>
              </p:cNvPr>
              <p:cNvSpPr>
                <a:spLocks noRot="1" noChangeAspect="1" noMove="1" noResize="1" noEditPoints="1" noAdjustHandles="1" noChangeArrowheads="1" noChangeShapeType="1" noTextEdit="1"/>
              </p:cNvSpPr>
              <p:nvPr/>
            </p:nvSpPr>
            <p:spPr>
              <a:xfrm>
                <a:off x="1024957" y="4125320"/>
                <a:ext cx="10142083" cy="1141466"/>
              </a:xfrm>
              <a:prstGeom prst="rect">
                <a:avLst/>
              </a:prstGeom>
              <a:blipFill>
                <a:blip r:embed="rId5"/>
                <a:stretch>
                  <a:fillRect l="-481" b="-74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52D744F-53B4-4162-983A-14BCD3B89959}"/>
                  </a:ext>
                </a:extLst>
              </p:cNvPr>
              <p:cNvSpPr txBox="1"/>
              <p:nvPr/>
            </p:nvSpPr>
            <p:spPr>
              <a:xfrm>
                <a:off x="1024957" y="1695865"/>
                <a:ext cx="8624305"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en-US" altLang="zh-CN" sz="2000" b="1">
                    <a:solidFill>
                      <a:srgbClr val="002060"/>
                    </a:solidFill>
                    <a:latin typeface="+mn-ea"/>
                  </a:rPr>
                  <a:t>(1)</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的任意两个顶点之间存在惟一的通路</a:t>
                </a:r>
              </a:p>
              <a:p>
                <a:pPr>
                  <a:spcBef>
                    <a:spcPts val="600"/>
                  </a:spcBef>
                  <a:spcAft>
                    <a:spcPts val="600"/>
                  </a:spcAft>
                </a:pPr>
                <a:r>
                  <a:rPr lang="en-US" altLang="zh-CN" sz="2000" b="1">
                    <a:solidFill>
                      <a:srgbClr val="002060"/>
                    </a:solidFill>
                    <a:latin typeface="+mn-ea"/>
                  </a:rPr>
                  <a:t>(2)</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连通且任意边都是桥</a:t>
                </a:r>
              </a:p>
              <a:p>
                <a:pPr>
                  <a:spcBef>
                    <a:spcPts val="600"/>
                  </a:spcBef>
                  <a:spcAft>
                    <a:spcPts val="600"/>
                  </a:spcAft>
                </a:pPr>
                <a:r>
                  <a:rPr lang="en-US" altLang="zh-CN" sz="2000" b="1">
                    <a:solidFill>
                      <a:srgbClr val="002060"/>
                    </a:solidFill>
                    <a:latin typeface="+mn-ea"/>
                  </a:rPr>
                  <a:t>(3)</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无回路，但任何两个不相邻顶点间加一条新边，则得到惟一一个回路</a:t>
                </a:r>
              </a:p>
            </p:txBody>
          </p:sp>
        </mc:Choice>
        <mc:Fallback xmlns="">
          <p:sp>
            <p:nvSpPr>
              <p:cNvPr id="11" name="文本框 10">
                <a:extLst>
                  <a:ext uri="{FF2B5EF4-FFF2-40B4-BE49-F238E27FC236}">
                    <a16:creationId xmlns:a16="http://schemas.microsoft.com/office/drawing/2014/main" id="{452D744F-53B4-4162-983A-14BCD3B89959}"/>
                  </a:ext>
                </a:extLst>
              </p:cNvPr>
              <p:cNvSpPr txBox="1">
                <a:spLocks noRot="1" noChangeAspect="1" noMove="1" noResize="1" noEditPoints="1" noAdjustHandles="1" noChangeArrowheads="1" noChangeShapeType="1" noTextEdit="1"/>
              </p:cNvSpPr>
              <p:nvPr/>
            </p:nvSpPr>
            <p:spPr>
              <a:xfrm>
                <a:off x="1024957" y="1695865"/>
                <a:ext cx="8624305" cy="1323439"/>
              </a:xfrm>
              <a:prstGeom prst="rect">
                <a:avLst/>
              </a:prstGeom>
              <a:blipFill>
                <a:blip r:embed="rId6"/>
                <a:stretch>
                  <a:fillRect l="-707" t="-3687" b="-78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DA3A916-CC28-417B-B998-4DACA439908B}"/>
                  </a:ext>
                </a:extLst>
              </p:cNvPr>
              <p:cNvSpPr txBox="1"/>
              <p:nvPr/>
            </p:nvSpPr>
            <p:spPr>
              <a:xfrm>
                <a:off x="1024957" y="5403975"/>
                <a:ext cx="10142082" cy="781496"/>
              </a:xfrm>
              <a:prstGeom prst="rect">
                <a:avLst/>
              </a:prstGeom>
              <a:solidFill>
                <a:schemeClr val="accent5">
                  <a:lumMod val="20000"/>
                  <a:lumOff val="80000"/>
                  <a:alpha val="50000"/>
                </a:schemeClr>
              </a:solidFill>
            </p:spPr>
            <p:txBody>
              <a:bodyPr wrap="square" rtlCol="0">
                <a:spAutoFit/>
              </a:bodyPr>
              <a:lstStyle/>
              <a:p>
                <a:pPr>
                  <a:lnSpc>
                    <a:spcPts val="2800"/>
                  </a:lnSpc>
                </a:pPr>
                <a:r>
                  <a:rPr lang="en-US" altLang="zh-CN" b="1">
                    <a:solidFill>
                      <a:srgbClr val="C00000"/>
                    </a:solidFill>
                  </a:rPr>
                  <a:t>(3)</a:t>
                </a:r>
                <a14:m>
                  <m:oMath xmlns:m="http://schemas.openxmlformats.org/officeDocument/2006/math">
                    <m:r>
                      <a:rPr lang="en-US" altLang="zh-CN" b="1">
                        <a:solidFill>
                          <a:srgbClr val="C00000"/>
                        </a:solidFill>
                        <a:latin typeface="Cambria Math" panose="02040503050406030204" pitchFamily="18" charset="0"/>
                      </a:rPr>
                      <m:t>⟹</m:t>
                    </m:r>
                  </m:oMath>
                </a14:m>
                <a:r>
                  <a:rPr lang="zh-CN" altLang="en-US" b="1">
                    <a:solidFill>
                      <a:srgbClr val="C00000"/>
                    </a:solidFill>
                  </a:rPr>
                  <a:t>定义</a:t>
                </a:r>
                <a:r>
                  <a:rPr lang="zh-CN" altLang="en-US" b="1">
                    <a:solidFill>
                      <a:schemeClr val="accent6">
                        <a:lumMod val="50000"/>
                      </a:schemeClr>
                    </a:solidFill>
                  </a:rPr>
                  <a:t>：任何两个不相邻顶点加一条新边能得到回路说明这两个不相邻顶点原本是连通的，因此图</a:t>
                </a:r>
                <a14:m>
                  <m:oMath xmlns:m="http://schemas.openxmlformats.org/officeDocument/2006/math">
                    <m:r>
                      <a:rPr lang="en-US" altLang="zh-CN" b="1" i="1">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是连通的，且无回路，因此</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是无向树</a:t>
                </a:r>
              </a:p>
            </p:txBody>
          </p:sp>
        </mc:Choice>
        <mc:Fallback xmlns="">
          <p:sp>
            <p:nvSpPr>
              <p:cNvPr id="12" name="文本框 11">
                <a:extLst>
                  <a:ext uri="{FF2B5EF4-FFF2-40B4-BE49-F238E27FC236}">
                    <a16:creationId xmlns:a16="http://schemas.microsoft.com/office/drawing/2014/main" id="{3DA3A916-CC28-417B-B998-4DACA439908B}"/>
                  </a:ext>
                </a:extLst>
              </p:cNvPr>
              <p:cNvSpPr txBox="1">
                <a:spLocks noRot="1" noChangeAspect="1" noMove="1" noResize="1" noEditPoints="1" noAdjustHandles="1" noChangeArrowheads="1" noChangeShapeType="1" noTextEdit="1"/>
              </p:cNvSpPr>
              <p:nvPr/>
            </p:nvSpPr>
            <p:spPr>
              <a:xfrm>
                <a:off x="1024957" y="5403975"/>
                <a:ext cx="10142082" cy="781496"/>
              </a:xfrm>
              <a:prstGeom prst="rect">
                <a:avLst/>
              </a:prstGeom>
              <a:blipFill>
                <a:blip r:embed="rId7"/>
                <a:stretch>
                  <a:fillRect l="-481" r="-300" b="-10853"/>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6DE811C-24E7-4353-B678-BCB17EF14894}"/>
              </a:ext>
            </a:extLst>
          </p:cNvPr>
          <p:cNvSpPr txBox="1"/>
          <p:nvPr/>
        </p:nvSpPr>
        <p:spPr>
          <a:xfrm>
            <a:off x="7109992" y="1145100"/>
            <a:ext cx="2539270" cy="69262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证明无向树的定义与这三个命题两两相互等价</a:t>
            </a:r>
          </a:p>
        </p:txBody>
      </p:sp>
    </p:spTree>
    <p:extLst>
      <p:ext uri="{BB962C8B-B14F-4D97-AF65-F5344CB8AC3E}">
        <p14:creationId xmlns:p14="http://schemas.microsoft.com/office/powerpoint/2010/main" val="365639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无向树性质的证明</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F400541-CCD4-4300-BE4F-562CE500DBF1}"/>
                  </a:ext>
                </a:extLst>
              </p:cNvPr>
              <p:cNvSpPr txBox="1"/>
              <p:nvPr/>
            </p:nvSpPr>
            <p:spPr>
              <a:xfrm>
                <a:off x="1024957" y="1146493"/>
                <a:ext cx="5341675" cy="461665"/>
              </a:xfrm>
              <a:prstGeom prst="rect">
                <a:avLst/>
              </a:prstGeom>
              <a:solidFill>
                <a:schemeClr val="accent4">
                  <a:lumMod val="20000"/>
                  <a:lumOff val="80000"/>
                  <a:alpha val="50000"/>
                </a:schemeClr>
              </a:solidFill>
            </p:spPr>
            <p:txBody>
              <a:bodyPr wrap="square" rtlCol="0">
                <a:spAutoFit/>
              </a:bodyPr>
              <a:lstStyle/>
              <a:p>
                <a:r>
                  <a:rPr lang="zh-CN" altLang="en-US" sz="2400" b="1">
                    <a:solidFill>
                      <a:schemeClr val="accent2">
                        <a:lumMod val="50000"/>
                      </a:schemeClr>
                    </a:solidFill>
                  </a:rPr>
                  <a:t>无向树</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rPr>
                  <a:t>的定义：连通无回路的无向图</a:t>
                </a:r>
              </a:p>
            </p:txBody>
          </p:sp>
        </mc:Choice>
        <mc:Fallback xmlns="">
          <p:sp>
            <p:nvSpPr>
              <p:cNvPr id="3" name="文本框 2">
                <a:extLst>
                  <a:ext uri="{FF2B5EF4-FFF2-40B4-BE49-F238E27FC236}">
                    <a16:creationId xmlns:a16="http://schemas.microsoft.com/office/drawing/2014/main" id="{7F400541-CCD4-4300-BE4F-562CE500DBF1}"/>
                  </a:ext>
                </a:extLst>
              </p:cNvPr>
              <p:cNvSpPr txBox="1">
                <a:spLocks noRot="1" noChangeAspect="1" noMove="1" noResize="1" noEditPoints="1" noAdjustHandles="1" noChangeArrowheads="1" noChangeShapeType="1" noTextEdit="1"/>
              </p:cNvSpPr>
              <p:nvPr/>
            </p:nvSpPr>
            <p:spPr>
              <a:xfrm>
                <a:off x="1024957" y="1146493"/>
                <a:ext cx="5341675" cy="461665"/>
              </a:xfrm>
              <a:prstGeom prst="rect">
                <a:avLst/>
              </a:prstGeom>
              <a:blipFill>
                <a:blip r:embed="rId2"/>
                <a:stretch>
                  <a:fillRect l="-1712" t="-9211" r="-457"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5D764B2-9E7C-4431-84F2-E2C9878AF1BA}"/>
                  </a:ext>
                </a:extLst>
              </p:cNvPr>
              <p:cNvSpPr/>
              <p:nvPr/>
            </p:nvSpPr>
            <p:spPr>
              <a:xfrm>
                <a:off x="1024957" y="3265685"/>
                <a:ext cx="10142083" cy="2872966"/>
              </a:xfrm>
              <a:prstGeom prst="rect">
                <a:avLst/>
              </a:prstGeom>
              <a:solidFill>
                <a:schemeClr val="accent5">
                  <a:lumMod val="20000"/>
                  <a:lumOff val="80000"/>
                  <a:alpha val="50000"/>
                </a:schemeClr>
              </a:solidFill>
            </p:spPr>
            <p:txBody>
              <a:bodyPr wrap="square">
                <a:spAutoFit/>
              </a:bodyPr>
              <a:lstStyle/>
              <a:p>
                <a:pPr>
                  <a:lnSpc>
                    <a:spcPts val="2800"/>
                  </a:lnSpc>
                  <a:spcBef>
                    <a:spcPts val="600"/>
                  </a:spcBef>
                </a:pPr>
                <a:r>
                  <a:rPr lang="en-US" altLang="zh-CN" b="1">
                    <a:solidFill>
                      <a:srgbClr val="C00000"/>
                    </a:solidFill>
                  </a:rPr>
                  <a:t>(2)</a:t>
                </a:r>
                <a14:m>
                  <m:oMath xmlns:m="http://schemas.openxmlformats.org/officeDocument/2006/math">
                    <m:r>
                      <a:rPr lang="en-US" altLang="zh-CN" b="1">
                        <a:solidFill>
                          <a:srgbClr val="C00000"/>
                        </a:solidFill>
                        <a:latin typeface="Cambria Math" panose="02040503050406030204" pitchFamily="18" charset="0"/>
                      </a:rPr>
                      <m:t>⟹</m:t>
                    </m:r>
                  </m:oMath>
                </a14:m>
                <a:r>
                  <a:rPr lang="en-US" altLang="zh-CN" b="1">
                    <a:solidFill>
                      <a:srgbClr val="C00000"/>
                    </a:solidFill>
                  </a:rPr>
                  <a:t>(4)</a:t>
                </a:r>
                <a:r>
                  <a:rPr lang="zh-CN" altLang="en-US" b="1">
                    <a:solidFill>
                      <a:schemeClr val="accent6">
                        <a:lumMod val="50000"/>
                      </a:schemeClr>
                    </a:solidFill>
                  </a:rPr>
                  <a:t>：显然任意边是桥时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无回路。用</a:t>
                </a:r>
                <a:r>
                  <a:rPr lang="zh-CN" altLang="en-US" b="1">
                    <a:solidFill>
                      <a:srgbClr val="0000FF"/>
                    </a:solidFill>
                  </a:rPr>
                  <a:t>强归纳法</a:t>
                </a:r>
                <a:r>
                  <a:rPr lang="zh-CN" altLang="en-US" b="1">
                    <a:solidFill>
                      <a:schemeClr val="accent6">
                        <a:lumMod val="50000"/>
                      </a:schemeClr>
                    </a:solidFill>
                  </a:rPr>
                  <a:t>证明</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𝒏𝑷</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𝒏</m:t>
                        </m:r>
                      </m:e>
                    </m:d>
                  </m:oMath>
                </a14:m>
                <a:r>
                  <a:rPr lang="zh-CN" altLang="en-US" b="1">
                    <a:solidFill>
                      <a:schemeClr val="accent6">
                        <a:lumMod val="50000"/>
                      </a:schemeClr>
                    </a:solidFill>
                  </a:rPr>
                  <a:t>，这里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是：</a:t>
                </a:r>
              </a:p>
              <a:p>
                <a:pPr algn="ctr">
                  <a:lnSpc>
                    <a:spcPts val="2800"/>
                  </a:lnSpc>
                  <a:spcBef>
                    <a:spcPts val="600"/>
                  </a:spcBef>
                </a:pPr>
                <a:r>
                  <a:rPr lang="zh-CN" altLang="en-US" b="1">
                    <a:solidFill>
                      <a:schemeClr val="accent2">
                        <a:lumMod val="50000"/>
                      </a:schemeClr>
                    </a:solidFill>
                    <a:latin typeface="楷体" panose="02010609060101010101" pitchFamily="49" charset="-122"/>
                    <a:ea typeface="楷体" panose="02010609060101010101" pitchFamily="49" charset="-122"/>
                  </a:rPr>
                  <a:t>如果</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个顶点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条边的图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oMath>
                </a14:m>
                <a:r>
                  <a:rPr lang="zh-CN" altLang="en-US" b="1">
                    <a:solidFill>
                      <a:schemeClr val="accent2">
                        <a:lumMod val="50000"/>
                      </a:schemeClr>
                    </a:solidFill>
                    <a:latin typeface="楷体" panose="02010609060101010101" pitchFamily="49" charset="-122"/>
                    <a:ea typeface="楷体" panose="02010609060101010101" pitchFamily="49" charset="-122"/>
                  </a:rPr>
                  <a:t>连通且任意边都是桥，则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endParaRPr lang="zh-CN" altLang="en-US" b="1">
                  <a:solidFill>
                    <a:schemeClr val="accent2">
                      <a:lumMod val="50000"/>
                    </a:schemeClr>
                  </a:solidFill>
                  <a:latin typeface="楷体" panose="02010609060101010101" pitchFamily="49" charset="-122"/>
                  <a:ea typeface="楷体" panose="02010609060101010101" pitchFamily="49" charset="-122"/>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归纳基</a:t>
                </a:r>
                <a:r>
                  <a:rPr lang="zh-CN" altLang="en-US" b="1">
                    <a:solidFill>
                      <a:schemeClr val="accent6">
                        <a:lumMod val="50000"/>
                      </a:schemeClr>
                    </a:solidFill>
                  </a:rPr>
                  <a:t>：</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显然成立；</a:t>
                </a:r>
                <a:endParaRPr lang="en-US" altLang="zh-CN" b="1">
                  <a:solidFill>
                    <a:schemeClr val="accent6">
                      <a:lumMod val="50000"/>
                    </a:schemeClr>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归纳步</a:t>
                </a:r>
                <a:r>
                  <a:rPr lang="zh-CN" altLang="en-US" b="1">
                    <a:solidFill>
                      <a:schemeClr val="accent6">
                        <a:lumMod val="50000"/>
                      </a:schemeClr>
                    </a:solidFill>
                  </a:rPr>
                  <a:t>：</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𝒌</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，假定</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𝟏</m:t>
                        </m:r>
                      </m:e>
                    </m:d>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𝑷</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e>
                    </m:d>
                  </m:oMath>
                </a14:m>
                <a:r>
                  <a:rPr lang="zh-CN" altLang="en-US" b="1">
                    <a:solidFill>
                      <a:schemeClr val="accent6">
                        <a:lumMod val="50000"/>
                      </a:schemeClr>
                    </a:solidFill>
                  </a:rPr>
                  <a:t>成立，考虑</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𝑷</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rPr>
                  <a:t>。</a:t>
                </a:r>
                <a:endParaRPr lang="en-US" altLang="zh-CN" b="1">
                  <a:solidFill>
                    <a:schemeClr val="accent6">
                      <a:lumMod val="50000"/>
                    </a:schemeClr>
                  </a:solidFill>
                </a:endParaRPr>
              </a:p>
              <a:p>
                <a:pPr marL="742950" lvl="1" indent="-285750">
                  <a:lnSpc>
                    <a:spcPts val="28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对任意有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个顶点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latin typeface="楷体" panose="02010609060101010101" pitchFamily="49" charset="-122"/>
                    <a:ea typeface="楷体" panose="02010609060101010101" pitchFamily="49" charset="-122"/>
                  </a:rPr>
                  <a:t>条边连通且任意边都是桥的图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oMath>
                </a14:m>
                <a:r>
                  <a:rPr lang="zh-CN" altLang="en-US" b="1">
                    <a:solidFill>
                      <a:schemeClr val="accent2">
                        <a:lumMod val="50000"/>
                      </a:schemeClr>
                    </a:solidFill>
                    <a:latin typeface="楷体" panose="02010609060101010101" pitchFamily="49" charset="-122"/>
                    <a:ea typeface="楷体" panose="02010609060101010101" pitchFamily="49" charset="-122"/>
                  </a:rPr>
                  <a:t>，任取边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𝒆</m:t>
                    </m:r>
                  </m:oMath>
                </a14:m>
                <a:r>
                  <a:rPr lang="zh-CN" altLang="en-US" b="1">
                    <a:solidFill>
                      <a:schemeClr val="accent2">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𝒆</m:t>
                    </m:r>
                  </m:oMath>
                </a14:m>
                <a:r>
                  <a:rPr lang="zh-CN" altLang="en-US"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r>
                      <a:rPr lang="en-US" altLang="zh-CN" b="1" i="1" smtClean="0">
                        <a:solidFill>
                          <a:srgbClr val="0000FF"/>
                        </a:solidFill>
                        <a:latin typeface="Cambria Math" panose="02040503050406030204" pitchFamily="18" charset="0"/>
                      </a:rPr>
                      <m:t>𝟐</m:t>
                    </m:r>
                  </m:oMath>
                </a14:m>
                <a:r>
                  <a:rPr lang="zh-CN" altLang="en-US" b="1">
                    <a:solidFill>
                      <a:srgbClr val="0000FF"/>
                    </a:solidFill>
                    <a:latin typeface="楷体" panose="02010609060101010101" pitchFamily="49" charset="-122"/>
                    <a:ea typeface="楷体" panose="02010609060101010101" pitchFamily="49" charset="-122"/>
                  </a:rPr>
                  <a:t>个连通分支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𝑮</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𝑮</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，顶点数为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&lt;</m:t>
                    </m:r>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，设边数为</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，由</a:t>
                </a:r>
                <a:r>
                  <a:rPr lang="zh-CN" altLang="en-US" b="1">
                    <a:solidFill>
                      <a:srgbClr val="0000FF"/>
                    </a:solidFill>
                    <a:latin typeface="楷体" panose="02010609060101010101" pitchFamily="49" charset="-122"/>
                    <a:ea typeface="楷体" panose="02010609060101010101" pitchFamily="49" charset="-122"/>
                  </a:rPr>
                  <a:t>归纳假设</a:t>
                </a:r>
                <a:r>
                  <a:rPr lang="zh-CN" altLang="en-US"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en-US" altLang="zh-CN" b="1">
                    <a:solidFill>
                      <a:schemeClr val="accent2">
                        <a:lumMod val="50000"/>
                      </a:schemeClr>
                    </a:solidFill>
                    <a:latin typeface="楷体" panose="02010609060101010101" pitchFamily="49" charset="-122"/>
                    <a:ea typeface="楷体" panose="02010609060101010101" pitchFamily="49" charset="-122"/>
                  </a:rPr>
                  <a:t>, </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a:solidFill>
                              <a:schemeClr val="accent2">
                                <a:lumMod val="50000"/>
                              </a:schemeClr>
                            </a:solidFill>
                            <a:latin typeface="Cambria Math" panose="02040503050406030204" pitchFamily="18" charset="0"/>
                          </a:rPr>
                          <m:t>𝟐</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，从而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𝒎</m:t>
                        </m:r>
                      </m:e>
                      <m:sub>
                        <m:r>
                          <a:rPr lang="en-US" altLang="zh-CN" b="1" i="1" smtClean="0">
                            <a:solidFill>
                              <a:schemeClr val="accent2">
                                <a:lumMod val="50000"/>
                              </a:schemeClr>
                            </a:solidFill>
                            <a:latin typeface="Cambria Math" panose="02040503050406030204" pitchFamily="18" charset="0"/>
                          </a:rPr>
                          <m:t>𝟐</m:t>
                        </m:r>
                      </m:sub>
                    </m:sSub>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𝒏</m:t>
                        </m:r>
                      </m:e>
                      <m:sub>
                        <m:r>
                          <a:rPr lang="en-US" altLang="zh-CN" b="1" i="1" smtClean="0">
                            <a:solidFill>
                              <a:schemeClr val="accent2">
                                <a:lumMod val="50000"/>
                              </a:schemeClr>
                            </a:solidFill>
                            <a:latin typeface="Cambria Math" panose="02040503050406030204" pitchFamily="18" charset="0"/>
                          </a:rPr>
                          <m:t>𝟐</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，则有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，即</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𝒌</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oMath>
                </a14:m>
                <a:r>
                  <a:rPr lang="zh-CN" altLang="en-US" b="1">
                    <a:solidFill>
                      <a:schemeClr val="accent2">
                        <a:lumMod val="50000"/>
                      </a:schemeClr>
                    </a:solidFill>
                    <a:latin typeface="楷体" panose="02010609060101010101" pitchFamily="49" charset="-122"/>
                    <a:ea typeface="楷体" panose="02010609060101010101" pitchFamily="49" charset="-122"/>
                  </a:rPr>
                  <a:t>成立。</a:t>
                </a:r>
              </a:p>
            </p:txBody>
          </p:sp>
        </mc:Choice>
        <mc:Fallback xmlns="">
          <p:sp>
            <p:nvSpPr>
              <p:cNvPr id="6" name="矩形 5">
                <a:extLst>
                  <a:ext uri="{FF2B5EF4-FFF2-40B4-BE49-F238E27FC236}">
                    <a16:creationId xmlns:a16="http://schemas.microsoft.com/office/drawing/2014/main" id="{C5D764B2-9E7C-4431-84F2-E2C9878AF1BA}"/>
                  </a:ext>
                </a:extLst>
              </p:cNvPr>
              <p:cNvSpPr>
                <a:spLocks noRot="1" noChangeAspect="1" noMove="1" noResize="1" noEditPoints="1" noAdjustHandles="1" noChangeArrowheads="1" noChangeShapeType="1" noTextEdit="1"/>
              </p:cNvSpPr>
              <p:nvPr/>
            </p:nvSpPr>
            <p:spPr>
              <a:xfrm>
                <a:off x="1024957" y="3265685"/>
                <a:ext cx="10142083" cy="2872966"/>
              </a:xfrm>
              <a:prstGeom prst="rect">
                <a:avLst/>
              </a:prstGeom>
              <a:blipFill>
                <a:blip r:embed="rId3"/>
                <a:stretch>
                  <a:fillRect l="-481" b="-21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52D744F-53B4-4162-983A-14BCD3B89959}"/>
                  </a:ext>
                </a:extLst>
              </p:cNvPr>
              <p:cNvSpPr txBox="1"/>
              <p:nvPr/>
            </p:nvSpPr>
            <p:spPr>
              <a:xfrm>
                <a:off x="1024956" y="1709022"/>
                <a:ext cx="3691768"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en-US" altLang="zh-CN" sz="2000" b="1">
                    <a:solidFill>
                      <a:srgbClr val="002060"/>
                    </a:solidFill>
                    <a:latin typeface="+mn-ea"/>
                  </a:rPr>
                  <a:t>(2)</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连通且任意边都是桥</a:t>
                </a:r>
              </a:p>
              <a:p>
                <a:pPr>
                  <a:spcBef>
                    <a:spcPts val="600"/>
                  </a:spcBef>
                  <a:spcAft>
                    <a:spcPts val="600"/>
                  </a:spcAft>
                </a:pPr>
                <a:r>
                  <a:rPr lang="en-US" altLang="zh-CN" sz="2000" b="1">
                    <a:solidFill>
                      <a:srgbClr val="002060"/>
                    </a:solidFill>
                    <a:latin typeface="+mn-ea"/>
                  </a:rPr>
                  <a:t>(4)</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无回路且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r>
                      <a:rPr lang="en-US" altLang="zh-CN" sz="2000" b="1" i="1" smtClean="0">
                        <a:solidFill>
                          <a:srgbClr val="002060"/>
                        </a:solidFill>
                        <a:latin typeface="Cambria Math" panose="02040503050406030204" pitchFamily="18" charset="0"/>
                        <a:ea typeface="楷体" panose="02010609060101010101" pitchFamily="49" charset="-122"/>
                      </a:rPr>
                      <m:t> = </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oMath>
                </a14:m>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r>
                  <a:rPr lang="en-US" altLang="zh-CN" sz="2000" b="1">
                    <a:solidFill>
                      <a:srgbClr val="002060"/>
                    </a:solidFill>
                    <a:latin typeface="+mn-ea"/>
                  </a:rPr>
                  <a:t>(5)</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连通且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r>
                      <a:rPr lang="en-US" altLang="zh-CN" sz="2000" b="1" i="1" smtClean="0">
                        <a:solidFill>
                          <a:srgbClr val="002060"/>
                        </a:solidFill>
                        <a:latin typeface="Cambria Math" panose="02040503050406030204" pitchFamily="18" charset="0"/>
                        <a:ea typeface="楷体" panose="02010609060101010101" pitchFamily="49" charset="-122"/>
                      </a:rPr>
                      <m:t> = </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452D744F-53B4-4162-983A-14BCD3B89959}"/>
                  </a:ext>
                </a:extLst>
              </p:cNvPr>
              <p:cNvSpPr txBox="1">
                <a:spLocks noRot="1" noChangeAspect="1" noMove="1" noResize="1" noEditPoints="1" noAdjustHandles="1" noChangeArrowheads="1" noChangeShapeType="1" noTextEdit="1"/>
              </p:cNvSpPr>
              <p:nvPr/>
            </p:nvSpPr>
            <p:spPr>
              <a:xfrm>
                <a:off x="1024956" y="1709022"/>
                <a:ext cx="3691768" cy="1323439"/>
              </a:xfrm>
              <a:prstGeom prst="rect">
                <a:avLst/>
              </a:prstGeom>
              <a:blipFill>
                <a:blip r:embed="rId4"/>
                <a:stretch>
                  <a:fillRect l="-1650" t="-3687" b="-783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6DE811C-24E7-4353-B678-BCB17EF14894}"/>
              </a:ext>
            </a:extLst>
          </p:cNvPr>
          <p:cNvSpPr txBox="1"/>
          <p:nvPr/>
        </p:nvSpPr>
        <p:spPr>
          <a:xfrm>
            <a:off x="5189094" y="2078386"/>
            <a:ext cx="3218124" cy="384849"/>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证明这三个命题两两相互等价</a:t>
            </a:r>
          </a:p>
        </p:txBody>
      </p:sp>
    </p:spTree>
    <p:extLst>
      <p:ext uri="{BB962C8B-B14F-4D97-AF65-F5344CB8AC3E}">
        <p14:creationId xmlns:p14="http://schemas.microsoft.com/office/powerpoint/2010/main" val="99988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无向树性质的证明</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F400541-CCD4-4300-BE4F-562CE500DBF1}"/>
                  </a:ext>
                </a:extLst>
              </p:cNvPr>
              <p:cNvSpPr txBox="1"/>
              <p:nvPr/>
            </p:nvSpPr>
            <p:spPr>
              <a:xfrm>
                <a:off x="1024957" y="1146493"/>
                <a:ext cx="5341675" cy="461665"/>
              </a:xfrm>
              <a:prstGeom prst="rect">
                <a:avLst/>
              </a:prstGeom>
              <a:solidFill>
                <a:schemeClr val="accent4">
                  <a:lumMod val="20000"/>
                  <a:lumOff val="80000"/>
                  <a:alpha val="50000"/>
                </a:schemeClr>
              </a:solidFill>
            </p:spPr>
            <p:txBody>
              <a:bodyPr wrap="square" rtlCol="0">
                <a:spAutoFit/>
              </a:bodyPr>
              <a:lstStyle/>
              <a:p>
                <a:r>
                  <a:rPr lang="zh-CN" altLang="en-US" sz="2400" b="1">
                    <a:solidFill>
                      <a:schemeClr val="accent2">
                        <a:lumMod val="50000"/>
                      </a:schemeClr>
                    </a:solidFill>
                  </a:rPr>
                  <a:t>无向树</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rPr>
                  <a:t>的定义：连通无回路的无向图</a:t>
                </a:r>
              </a:p>
            </p:txBody>
          </p:sp>
        </mc:Choice>
        <mc:Fallback xmlns="">
          <p:sp>
            <p:nvSpPr>
              <p:cNvPr id="3" name="文本框 2">
                <a:extLst>
                  <a:ext uri="{FF2B5EF4-FFF2-40B4-BE49-F238E27FC236}">
                    <a16:creationId xmlns:a16="http://schemas.microsoft.com/office/drawing/2014/main" id="{7F400541-CCD4-4300-BE4F-562CE500DBF1}"/>
                  </a:ext>
                </a:extLst>
              </p:cNvPr>
              <p:cNvSpPr txBox="1">
                <a:spLocks noRot="1" noChangeAspect="1" noMove="1" noResize="1" noEditPoints="1" noAdjustHandles="1" noChangeArrowheads="1" noChangeShapeType="1" noTextEdit="1"/>
              </p:cNvSpPr>
              <p:nvPr/>
            </p:nvSpPr>
            <p:spPr>
              <a:xfrm>
                <a:off x="1024957" y="1146493"/>
                <a:ext cx="5341675" cy="461665"/>
              </a:xfrm>
              <a:prstGeom prst="rect">
                <a:avLst/>
              </a:prstGeom>
              <a:blipFill>
                <a:blip r:embed="rId2"/>
                <a:stretch>
                  <a:fillRect l="-1712" t="-9211" r="-457"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5D764B2-9E7C-4431-84F2-E2C9878AF1BA}"/>
                  </a:ext>
                </a:extLst>
              </p:cNvPr>
              <p:cNvSpPr/>
              <p:nvPr/>
            </p:nvSpPr>
            <p:spPr>
              <a:xfrm>
                <a:off x="1024957" y="3233655"/>
                <a:ext cx="10142083" cy="1495859"/>
              </a:xfrm>
              <a:prstGeom prst="rect">
                <a:avLst/>
              </a:prstGeom>
              <a:solidFill>
                <a:schemeClr val="accent5">
                  <a:lumMod val="20000"/>
                  <a:lumOff val="80000"/>
                  <a:alpha val="50000"/>
                </a:schemeClr>
              </a:solidFill>
            </p:spPr>
            <p:txBody>
              <a:bodyPr wrap="square">
                <a:spAutoFit/>
              </a:bodyPr>
              <a:lstStyle/>
              <a:p>
                <a:pPr>
                  <a:lnSpc>
                    <a:spcPts val="2800"/>
                  </a:lnSpc>
                  <a:spcBef>
                    <a:spcPts val="600"/>
                  </a:spcBef>
                </a:pPr>
                <a:r>
                  <a:rPr lang="en-US" altLang="zh-CN" b="1">
                    <a:solidFill>
                      <a:srgbClr val="C00000"/>
                    </a:solidFill>
                  </a:rPr>
                  <a:t>(4)</a:t>
                </a:r>
                <a14:m>
                  <m:oMath xmlns:m="http://schemas.openxmlformats.org/officeDocument/2006/math">
                    <m:r>
                      <a:rPr lang="en-US" altLang="zh-CN" b="1">
                        <a:solidFill>
                          <a:srgbClr val="C00000"/>
                        </a:solidFill>
                        <a:latin typeface="Cambria Math" panose="02040503050406030204" pitchFamily="18" charset="0"/>
                      </a:rPr>
                      <m:t>⟹</m:t>
                    </m:r>
                  </m:oMath>
                </a14:m>
                <a:r>
                  <a:rPr lang="en-US" altLang="zh-CN" b="1">
                    <a:solidFill>
                      <a:srgbClr val="C00000"/>
                    </a:solidFill>
                  </a:rPr>
                  <a:t>(5)</a:t>
                </a:r>
                <a:r>
                  <a:rPr lang="zh-CN" altLang="en-US" b="1">
                    <a:solidFill>
                      <a:schemeClr val="accent6">
                        <a:lumMod val="50000"/>
                      </a:schemeClr>
                    </a:solidFill>
                  </a:rPr>
                  <a:t>：只需证明当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无回路且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连通。</a:t>
                </a:r>
                <a:r>
                  <a:rPr lang="zh-CN" altLang="en-US" b="1">
                    <a:solidFill>
                      <a:srgbClr val="0000FF"/>
                    </a:solidFill>
                  </a:rPr>
                  <a:t>反证法</a:t>
                </a:r>
                <a:r>
                  <a:rPr lang="zh-CN" altLang="en-US" b="1">
                    <a:solidFill>
                      <a:schemeClr val="accent6">
                        <a:lumMod val="50000"/>
                      </a:schemeClr>
                    </a:solidFill>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不连通，设有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个连通分支</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𝑮</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𝑮</m:t>
                        </m:r>
                      </m:e>
                      <m:sub>
                        <m:r>
                          <a:rPr lang="en-US" altLang="zh-CN" b="1" i="1">
                            <a:solidFill>
                              <a:schemeClr val="accent6">
                                <a:lumMod val="50000"/>
                              </a:schemeClr>
                            </a:solidFill>
                            <a:latin typeface="Cambria Math" panose="02040503050406030204" pitchFamily="18" charset="0"/>
                          </a:rPr>
                          <m:t>𝒌</m:t>
                        </m:r>
                      </m:sub>
                    </m:sSub>
                  </m:oMath>
                </a14:m>
                <a:r>
                  <a:rPr lang="zh-CN" altLang="en-US" b="1">
                    <a:solidFill>
                      <a:schemeClr val="accent6">
                        <a:lumMod val="50000"/>
                      </a:schemeClr>
                    </a:solidFill>
                  </a:rPr>
                  <a:t>，则</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𝑮</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都连通且无回路，也即</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𝑮</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都是无向树，设</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𝑮</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有</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𝒏</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个顶点</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𝒊</m:t>
                        </m:r>
                      </m:sub>
                    </m:sSub>
                  </m:oMath>
                </a14:m>
                <a:r>
                  <a:rPr lang="zh-CN" altLang="en-US" b="1">
                    <a:solidFill>
                      <a:schemeClr val="accent6">
                        <a:lumMod val="50000"/>
                      </a:schemeClr>
                    </a:solidFill>
                  </a:rPr>
                  <a:t>条边，则有</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𝒏</m:t>
                        </m:r>
                      </m:e>
                      <m:sub>
                        <m:r>
                          <a:rPr lang="en-US" altLang="zh-CN" b="1" i="1" smtClean="0">
                            <a:solidFill>
                              <a:schemeClr val="accent6">
                                <a:lumMod val="50000"/>
                              </a:schemeClr>
                            </a:solidFill>
                            <a:latin typeface="Cambria Math" panose="02040503050406030204" pitchFamily="18" charset="0"/>
                          </a:rPr>
                          <m:t>𝒊</m:t>
                        </m:r>
                      </m:sub>
                    </m:sSub>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𝟏</m:t>
                        </m:r>
                      </m:sub>
                    </m:sSub>
                    <m:r>
                      <a:rPr lang="en-US" altLang="zh-CN" b="1" i="1" smtClean="0">
                        <a:solidFill>
                          <a:schemeClr val="accent6">
                            <a:lumMod val="50000"/>
                          </a:schemeClr>
                        </a:solidFill>
                        <a:latin typeface="Cambria Math" panose="02040503050406030204" pitchFamily="18" charset="0"/>
                      </a:rPr>
                      <m:t>+⋯+</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𝒎</m:t>
                        </m:r>
                      </m:e>
                      <m:sub>
                        <m:r>
                          <a:rPr lang="en-US" altLang="zh-CN" b="1" i="1" smtClean="0">
                            <a:solidFill>
                              <a:schemeClr val="accent6">
                                <a:lumMod val="50000"/>
                              </a:schemeClr>
                            </a:solidFill>
                            <a:latin typeface="Cambria Math" panose="02040503050406030204" pitchFamily="18" charset="0"/>
                          </a:rPr>
                          <m:t>𝒌</m:t>
                        </m:r>
                      </m:sub>
                    </m:sSub>
                  </m:oMath>
                </a14:m>
                <a:r>
                  <a:rPr lang="zh-CN" altLang="en-US" b="1">
                    <a:solidFill>
                      <a:schemeClr val="accent6">
                        <a:lumMod val="50000"/>
                      </a:schemeClr>
                    </a:solidFill>
                  </a:rPr>
                  <a:t>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 = </m:t>
                    </m:r>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𝒏</m:t>
                        </m:r>
                      </m:e>
                      <m:sub>
                        <m:r>
                          <a:rPr lang="en-US" altLang="zh-CN" b="1" i="1">
                            <a:solidFill>
                              <a:schemeClr val="accent6">
                                <a:lumMod val="50000"/>
                              </a:schemeClr>
                            </a:solidFill>
                            <a:latin typeface="Cambria Math" panose="02040503050406030204" pitchFamily="18" charset="0"/>
                          </a:rPr>
                          <m:t>𝟏</m:t>
                        </m:r>
                      </m:sub>
                    </m:sSub>
                    <m:r>
                      <a:rPr lang="en-US" altLang="zh-CN" b="1" i="1">
                        <a:solidFill>
                          <a:schemeClr val="accent6">
                            <a:lumMod val="50000"/>
                          </a:schemeClr>
                        </a:solidFill>
                        <a:latin typeface="Cambria Math" panose="02040503050406030204" pitchFamily="18" charset="0"/>
                      </a:rPr>
                      <m:t>+⋯+</m:t>
                    </m:r>
                    <m:sSub>
                      <m:sSubPr>
                        <m:ctrlPr>
                          <a:rPr lang="en-US" altLang="zh-CN" b="1" i="1">
                            <a:solidFill>
                              <a:schemeClr val="accent6">
                                <a:lumMod val="50000"/>
                              </a:schemeClr>
                            </a:solidFill>
                            <a:latin typeface="Cambria Math" panose="02040503050406030204" pitchFamily="18" charset="0"/>
                          </a:rPr>
                        </m:ctrlPr>
                      </m:sSubPr>
                      <m:e>
                        <m:r>
                          <a:rPr lang="en-US" altLang="zh-CN" b="1" i="1">
                            <a:solidFill>
                              <a:schemeClr val="accent6">
                                <a:lumMod val="50000"/>
                              </a:schemeClr>
                            </a:solidFill>
                            <a:latin typeface="Cambria Math" panose="02040503050406030204" pitchFamily="18" charset="0"/>
                          </a:rPr>
                          <m:t>𝒏</m:t>
                        </m:r>
                      </m:e>
                      <m:sub>
                        <m:r>
                          <a:rPr lang="en-US" altLang="zh-CN" b="1" i="1">
                            <a:solidFill>
                              <a:schemeClr val="accent6">
                                <a:lumMod val="50000"/>
                              </a:schemeClr>
                            </a:solidFill>
                            <a:latin typeface="Cambria Math" panose="02040503050406030204" pitchFamily="18" charset="0"/>
                          </a:rPr>
                          <m:t>𝒌</m:t>
                        </m:r>
                      </m:sub>
                    </m:sSub>
                  </m:oMath>
                </a14:m>
                <a:r>
                  <a:rPr lang="zh-CN" altLang="en-US" b="1">
                    <a:solidFill>
                      <a:schemeClr val="accent6">
                        <a:lumMod val="50000"/>
                      </a:schemeClr>
                    </a:solidFill>
                  </a:rPr>
                  <a:t>，从而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，则与</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矛盾，因此必有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𝟏</m:t>
                    </m:r>
                  </m:oMath>
                </a14:m>
                <a:r>
                  <a:rPr lang="zh-CN" altLang="en-US" b="1">
                    <a:solidFill>
                      <a:schemeClr val="accent6">
                        <a:lumMod val="50000"/>
                      </a:schemeClr>
                    </a:solidFill>
                  </a:rPr>
                  <a:t>，即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a:solidFill>
                      <a:schemeClr val="accent6">
                        <a:lumMod val="50000"/>
                      </a:schemeClr>
                    </a:solidFill>
                  </a:rPr>
                  <a:t>是连通的</a:t>
                </a:r>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6" name="矩形 5">
                <a:extLst>
                  <a:ext uri="{FF2B5EF4-FFF2-40B4-BE49-F238E27FC236}">
                    <a16:creationId xmlns:a16="http://schemas.microsoft.com/office/drawing/2014/main" id="{C5D764B2-9E7C-4431-84F2-E2C9878AF1BA}"/>
                  </a:ext>
                </a:extLst>
              </p:cNvPr>
              <p:cNvSpPr>
                <a:spLocks noRot="1" noChangeAspect="1" noMove="1" noResize="1" noEditPoints="1" noAdjustHandles="1" noChangeArrowheads="1" noChangeShapeType="1" noTextEdit="1"/>
              </p:cNvSpPr>
              <p:nvPr/>
            </p:nvSpPr>
            <p:spPr>
              <a:xfrm>
                <a:off x="1024957" y="3233655"/>
                <a:ext cx="10142083" cy="1495859"/>
              </a:xfrm>
              <a:prstGeom prst="rect">
                <a:avLst/>
              </a:prstGeom>
              <a:blipFill>
                <a:blip r:embed="rId3"/>
                <a:stretch>
                  <a:fillRect l="-481" r="-2825" b="-5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52D744F-53B4-4162-983A-14BCD3B89959}"/>
                  </a:ext>
                </a:extLst>
              </p:cNvPr>
              <p:cNvSpPr txBox="1"/>
              <p:nvPr/>
            </p:nvSpPr>
            <p:spPr>
              <a:xfrm>
                <a:off x="1024956" y="1709022"/>
                <a:ext cx="3691768"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en-US" altLang="zh-CN" sz="2000" b="1">
                    <a:solidFill>
                      <a:srgbClr val="002060"/>
                    </a:solidFill>
                    <a:latin typeface="+mn-ea"/>
                  </a:rPr>
                  <a:t>(2)</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连通且任意边都是桥</a:t>
                </a:r>
              </a:p>
              <a:p>
                <a:pPr>
                  <a:spcBef>
                    <a:spcPts val="600"/>
                  </a:spcBef>
                  <a:spcAft>
                    <a:spcPts val="600"/>
                  </a:spcAft>
                </a:pPr>
                <a:r>
                  <a:rPr lang="en-US" altLang="zh-CN" sz="2000" b="1">
                    <a:solidFill>
                      <a:srgbClr val="002060"/>
                    </a:solidFill>
                    <a:latin typeface="+mn-ea"/>
                  </a:rPr>
                  <a:t>(4)</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无回路且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r>
                      <a:rPr lang="en-US" altLang="zh-CN" sz="2000" b="1" i="1" smtClean="0">
                        <a:solidFill>
                          <a:srgbClr val="002060"/>
                        </a:solidFill>
                        <a:latin typeface="Cambria Math" panose="02040503050406030204" pitchFamily="18" charset="0"/>
                        <a:ea typeface="楷体" panose="02010609060101010101" pitchFamily="49" charset="-122"/>
                      </a:rPr>
                      <m:t> = </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oMath>
                </a14:m>
                <a:endParaRPr lang="en-US" altLang="zh-CN" sz="2000"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r>
                  <a:rPr lang="en-US" altLang="zh-CN" sz="2000" b="1">
                    <a:solidFill>
                      <a:srgbClr val="002060"/>
                    </a:solidFill>
                    <a:latin typeface="+mn-ea"/>
                  </a:rPr>
                  <a:t>(5)</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r>
                      <a:rPr lang="en-US" altLang="zh-CN" sz="2000" b="1" i="1">
                        <a:solidFill>
                          <a:srgbClr val="002060"/>
                        </a:solidFill>
                        <a:latin typeface="Cambria Math" panose="02040503050406030204" pitchFamily="18" charset="0"/>
                      </a:rPr>
                      <m:t>𝑮</m:t>
                    </m:r>
                  </m:oMath>
                </a14:m>
                <a:r>
                  <a:rPr lang="zh-CN" altLang="en-US" sz="2000" b="1">
                    <a:solidFill>
                      <a:srgbClr val="002060"/>
                    </a:solidFill>
                    <a:latin typeface="楷体" panose="02010609060101010101" pitchFamily="49" charset="-122"/>
                    <a:ea typeface="楷体" panose="02010609060101010101" pitchFamily="49" charset="-122"/>
                  </a:rPr>
                  <a:t>连通且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𝒎</m:t>
                    </m:r>
                    <m:r>
                      <a:rPr lang="en-US" altLang="zh-CN" sz="2000" b="1" i="1" smtClean="0">
                        <a:solidFill>
                          <a:srgbClr val="002060"/>
                        </a:solidFill>
                        <a:latin typeface="Cambria Math" panose="02040503050406030204" pitchFamily="18" charset="0"/>
                        <a:ea typeface="楷体" panose="02010609060101010101" pitchFamily="49" charset="-122"/>
                      </a:rPr>
                      <m:t> = </m:t>
                    </m:r>
                    <m:r>
                      <a:rPr lang="en-US" altLang="zh-CN" sz="2000" b="1" i="1" smtClean="0">
                        <a:solidFill>
                          <a:srgbClr val="002060"/>
                        </a:solidFill>
                        <a:latin typeface="Cambria Math" panose="02040503050406030204" pitchFamily="18" charset="0"/>
                        <a:ea typeface="楷体" panose="02010609060101010101" pitchFamily="49" charset="-122"/>
                      </a:rPr>
                      <m:t>𝒏</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𝟏</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452D744F-53B4-4162-983A-14BCD3B89959}"/>
                  </a:ext>
                </a:extLst>
              </p:cNvPr>
              <p:cNvSpPr txBox="1">
                <a:spLocks noRot="1" noChangeAspect="1" noMove="1" noResize="1" noEditPoints="1" noAdjustHandles="1" noChangeArrowheads="1" noChangeShapeType="1" noTextEdit="1"/>
              </p:cNvSpPr>
              <p:nvPr/>
            </p:nvSpPr>
            <p:spPr>
              <a:xfrm>
                <a:off x="1024956" y="1709022"/>
                <a:ext cx="3691768" cy="1323439"/>
              </a:xfrm>
              <a:prstGeom prst="rect">
                <a:avLst/>
              </a:prstGeom>
              <a:blipFill>
                <a:blip r:embed="rId4"/>
                <a:stretch>
                  <a:fillRect l="-1650" t="-3687" b="-783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6DE811C-24E7-4353-B678-BCB17EF14894}"/>
              </a:ext>
            </a:extLst>
          </p:cNvPr>
          <p:cNvSpPr txBox="1"/>
          <p:nvPr/>
        </p:nvSpPr>
        <p:spPr>
          <a:xfrm>
            <a:off x="5189094" y="2078386"/>
            <a:ext cx="3218124" cy="384849"/>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证明这三个命题两两相互等价</a:t>
            </a: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C1CAC4B9-9DC3-42EA-BFFE-6828DDC17C7A}"/>
                  </a:ext>
                </a:extLst>
              </p:cNvPr>
              <p:cNvSpPr txBox="1"/>
              <p:nvPr/>
            </p:nvSpPr>
            <p:spPr>
              <a:xfrm>
                <a:off x="1024958" y="4915268"/>
                <a:ext cx="10142082" cy="1141466"/>
              </a:xfrm>
              <a:prstGeom prst="rect">
                <a:avLst/>
              </a:prstGeom>
              <a:solidFill>
                <a:schemeClr val="accent5">
                  <a:lumMod val="20000"/>
                  <a:lumOff val="80000"/>
                  <a:alpha val="50000"/>
                </a:schemeClr>
              </a:solidFill>
            </p:spPr>
            <p:txBody>
              <a:bodyPr wrap="square" rtlCol="0">
                <a:spAutoFit/>
              </a:bodyPr>
              <a:lstStyle/>
              <a:p>
                <a:pPr>
                  <a:lnSpc>
                    <a:spcPts val="2800"/>
                  </a:lnSpc>
                </a:pPr>
                <a:r>
                  <a:rPr lang="en-US" altLang="zh-CN" b="1" dirty="0">
                    <a:solidFill>
                      <a:srgbClr val="C00000"/>
                    </a:solidFill>
                  </a:rPr>
                  <a:t>(5)</a:t>
                </a:r>
                <a14:m>
                  <m:oMath xmlns:m="http://schemas.openxmlformats.org/officeDocument/2006/math">
                    <m:r>
                      <a:rPr lang="en-US" altLang="zh-CN" b="1">
                        <a:solidFill>
                          <a:srgbClr val="C00000"/>
                        </a:solidFill>
                        <a:latin typeface="Cambria Math" panose="02040503050406030204" pitchFamily="18" charset="0"/>
                      </a:rPr>
                      <m:t>⟹</m:t>
                    </m:r>
                  </m:oMath>
                </a14:m>
                <a:r>
                  <a:rPr lang="en-US" altLang="zh-CN" b="1" dirty="0">
                    <a:solidFill>
                      <a:srgbClr val="C00000"/>
                    </a:solidFill>
                  </a:rPr>
                  <a:t>(2)</a:t>
                </a:r>
                <a:r>
                  <a:rPr lang="zh-CN" altLang="en-US" b="1" dirty="0">
                    <a:solidFill>
                      <a:schemeClr val="accent6">
                        <a:lumMod val="50000"/>
                      </a:schemeClr>
                    </a:solidFill>
                  </a:rPr>
                  <a:t>：只需证明当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dirty="0">
                    <a:solidFill>
                      <a:schemeClr val="accent6">
                        <a:lumMod val="50000"/>
                      </a:schemeClr>
                    </a:solidFill>
                  </a:rPr>
                  <a:t>无连通且</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 = </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dirty="0">
                    <a:solidFill>
                      <a:schemeClr val="accent6">
                        <a:lumMod val="50000"/>
                      </a:schemeClr>
                    </a:solidFill>
                  </a:rPr>
                  <a:t>的每条边都是桥。</a:t>
                </a:r>
                <a:r>
                  <a:rPr lang="zh-CN" altLang="en-US" b="1" dirty="0">
                    <a:solidFill>
                      <a:srgbClr val="0000FF"/>
                    </a:solidFill>
                  </a:rPr>
                  <a:t>反证法</a:t>
                </a:r>
                <a:r>
                  <a:rPr lang="zh-CN" altLang="en-US" b="1" dirty="0">
                    <a:solidFill>
                      <a:schemeClr val="accent6">
                        <a:lumMod val="50000"/>
                      </a:schemeClr>
                    </a:solidFill>
                  </a:rPr>
                  <a:t>，对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oMath>
                </a14:m>
                <a:r>
                  <a:rPr lang="zh-CN" altLang="en-US" b="1" dirty="0">
                    <a:solidFill>
                      <a:schemeClr val="accent6">
                        <a:lumMod val="50000"/>
                      </a:schemeClr>
                    </a:solidFill>
                  </a:rPr>
                  <a:t>的任意边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不是桥，即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仍是连通的，而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oMath>
                </a14:m>
                <a:r>
                  <a:rPr lang="zh-CN" altLang="en-US" b="1" dirty="0">
                    <a:solidFill>
                      <a:schemeClr val="accent6">
                        <a:lumMod val="50000"/>
                      </a:schemeClr>
                    </a:solidFill>
                  </a:rPr>
                  <a:t>个顶点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𝒎</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𝟐</m:t>
                    </m:r>
                  </m:oMath>
                </a14:m>
                <a:r>
                  <a:rPr lang="en-US" altLang="zh-CN" b="1" dirty="0">
                    <a:solidFill>
                      <a:schemeClr val="accent6">
                        <a:lumMod val="50000"/>
                      </a:schemeClr>
                    </a:solidFill>
                  </a:rPr>
                  <a:t>=n-3</a:t>
                </a:r>
                <a:r>
                  <a:rPr lang="zh-CN" altLang="en-US" b="1" dirty="0">
                    <a:solidFill>
                      <a:schemeClr val="accent6">
                        <a:lumMod val="50000"/>
                      </a:schemeClr>
                    </a:solidFill>
                  </a:rPr>
                  <a:t>条边，这与</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oMath>
                </a14:m>
                <a:r>
                  <a:rPr lang="zh-CN" altLang="en-US" b="1" dirty="0">
                    <a:solidFill>
                      <a:schemeClr val="accent6">
                        <a:lumMod val="50000"/>
                      </a:schemeClr>
                    </a:solidFill>
                  </a:rPr>
                  <a:t>个顶点的连通图至少需要</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oMath>
                </a14:m>
                <a:r>
                  <a:rPr lang="zh-CN" altLang="en-US" b="1" dirty="0">
                    <a:solidFill>
                      <a:schemeClr val="accent6">
                        <a:lumMod val="50000"/>
                      </a:schemeClr>
                    </a:solidFill>
                  </a:rPr>
                  <a:t>条边矛盾，因此</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𝑮</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必不连通，也即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𝒆</m:t>
                    </m:r>
                  </m:oMath>
                </a14:m>
                <a:r>
                  <a:rPr lang="zh-CN" altLang="en-US" b="1" dirty="0">
                    <a:solidFill>
                      <a:schemeClr val="accent6">
                        <a:lumMod val="50000"/>
                      </a:schemeClr>
                    </a:solidFill>
                  </a:rPr>
                  <a:t>是桥</a:t>
                </a:r>
              </a:p>
            </p:txBody>
          </p:sp>
        </mc:Choice>
        <mc:Fallback>
          <p:sp>
            <p:nvSpPr>
              <p:cNvPr id="12" name="文本框 11">
                <a:extLst>
                  <a:ext uri="{FF2B5EF4-FFF2-40B4-BE49-F238E27FC236}">
                    <a16:creationId xmlns:a16="http://schemas.microsoft.com/office/drawing/2014/main" id="{C1CAC4B9-9DC3-42EA-BFFE-6828DDC17C7A}"/>
                  </a:ext>
                </a:extLst>
              </p:cNvPr>
              <p:cNvSpPr txBox="1">
                <a:spLocks noRot="1" noChangeAspect="1" noMove="1" noResize="1" noEditPoints="1" noAdjustHandles="1" noChangeArrowheads="1" noChangeShapeType="1" noTextEdit="1"/>
              </p:cNvSpPr>
              <p:nvPr/>
            </p:nvSpPr>
            <p:spPr>
              <a:xfrm>
                <a:off x="1024958" y="4915268"/>
                <a:ext cx="10142082" cy="1141466"/>
              </a:xfrm>
              <a:prstGeom prst="rect">
                <a:avLst/>
              </a:prstGeom>
              <a:blipFill>
                <a:blip r:embed="rId5"/>
                <a:stretch>
                  <a:fillRect l="-481" b="-69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222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无向树性质小结</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16FE6E0-E584-41BA-B1DE-D1A44F59D901}"/>
                  </a:ext>
                </a:extLst>
              </p:cNvPr>
              <p:cNvSpPr txBox="1"/>
              <p:nvPr/>
            </p:nvSpPr>
            <p:spPr>
              <a:xfrm>
                <a:off x="1733690" y="2808902"/>
                <a:ext cx="3561937" cy="2327817"/>
              </a:xfrm>
              <a:prstGeom prst="rect">
                <a:avLst/>
              </a:prstGeom>
              <a:solidFill>
                <a:schemeClr val="accent4">
                  <a:lumMod val="20000"/>
                  <a:lumOff val="80000"/>
                </a:schemeClr>
              </a:solidFill>
            </p:spPr>
            <p:txBody>
              <a:bodyPr wrap="square" rtlCol="0">
                <a:spAutoFit/>
              </a:bodyPr>
              <a:lstStyle/>
              <a:p>
                <a:pPr marL="342900" indent="-342900">
                  <a:lnSpc>
                    <a:spcPts val="3200"/>
                  </a:lnSpc>
                  <a:spcBef>
                    <a:spcPts val="1200"/>
                  </a:spcBef>
                  <a:spcAft>
                    <a:spcPts val="1200"/>
                  </a:spcAft>
                  <a:buFont typeface="Arial" panose="020B0604020202020204" pitchFamily="34" charset="0"/>
                  <a:buChar char="•"/>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连通且无回路</a:t>
                </a:r>
              </a:p>
              <a:p>
                <a:pPr marL="342900" indent="-342900">
                  <a:lnSpc>
                    <a:spcPts val="3200"/>
                  </a:lnSpc>
                  <a:spcBef>
                    <a:spcPts val="1200"/>
                  </a:spcBef>
                  <a:spcAft>
                    <a:spcPts val="1200"/>
                  </a:spcAft>
                  <a:buFont typeface="Arial" panose="020B0604020202020204" pitchFamily="34" charset="0"/>
                  <a:buChar char="•"/>
                </a:pPr>
                <a14:m>
                  <m:oMath xmlns:m="http://schemas.openxmlformats.org/officeDocument/2006/math">
                    <m:r>
                      <a:rPr lang="en-US" altLang="zh-CN" sz="2400" b="1" i="1">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的任意两个顶点之间存在惟一的通路</a:t>
                </a:r>
              </a:p>
              <a:p>
                <a:pPr marL="342900" indent="-342900">
                  <a:lnSpc>
                    <a:spcPts val="3200"/>
                  </a:lnSpc>
                  <a:spcBef>
                    <a:spcPts val="1200"/>
                  </a:spcBef>
                  <a:spcAft>
                    <a:spcPts val="1200"/>
                  </a:spcAft>
                  <a:buFont typeface="Arial" panose="020B0604020202020204" pitchFamily="34" charset="0"/>
                  <a:buChar char="•"/>
                </a:pPr>
                <a14:m>
                  <m:oMath xmlns:m="http://schemas.openxmlformats.org/officeDocument/2006/math">
                    <m:r>
                      <a:rPr lang="en-US" altLang="zh-CN" sz="2400" b="1" i="1">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连通且任意边都是桥</a:t>
                </a:r>
              </a:p>
            </p:txBody>
          </p:sp>
        </mc:Choice>
        <mc:Fallback xmlns="">
          <p:sp>
            <p:nvSpPr>
              <p:cNvPr id="2" name="文本框 1">
                <a:extLst>
                  <a:ext uri="{FF2B5EF4-FFF2-40B4-BE49-F238E27FC236}">
                    <a16:creationId xmlns:a16="http://schemas.microsoft.com/office/drawing/2014/main" id="{B16FE6E0-E584-41BA-B1DE-D1A44F59D901}"/>
                  </a:ext>
                </a:extLst>
              </p:cNvPr>
              <p:cNvSpPr txBox="1">
                <a:spLocks noRot="1" noChangeAspect="1" noMove="1" noResize="1" noEditPoints="1" noAdjustHandles="1" noChangeArrowheads="1" noChangeShapeType="1" noTextEdit="1"/>
              </p:cNvSpPr>
              <p:nvPr/>
            </p:nvSpPr>
            <p:spPr>
              <a:xfrm>
                <a:off x="1733690" y="2808902"/>
                <a:ext cx="3561937" cy="2327817"/>
              </a:xfrm>
              <a:prstGeom prst="rect">
                <a:avLst/>
              </a:prstGeom>
              <a:blipFill>
                <a:blip r:embed="rId2"/>
                <a:stretch>
                  <a:fillRect l="-2222" t="-1047" r="-171" b="-52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FF25CED-8CC2-4F95-A693-13D9624AEA7B}"/>
                  </a:ext>
                </a:extLst>
              </p:cNvPr>
              <p:cNvSpPr txBox="1"/>
              <p:nvPr/>
            </p:nvSpPr>
            <p:spPr>
              <a:xfrm>
                <a:off x="5930721" y="2849425"/>
                <a:ext cx="4494703" cy="2246769"/>
              </a:xfrm>
              <a:prstGeom prst="rect">
                <a:avLst/>
              </a:prstGeom>
              <a:solidFill>
                <a:schemeClr val="accent4">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无回路，但任何两个不相邻顶点间加一条新边，则得到惟一一个回路</a:t>
                </a: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400" b="1" i="1">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无回路且</a:t>
                </a:r>
                <a14:m>
                  <m:oMath xmlns:m="http://schemas.openxmlformats.org/officeDocument/2006/math">
                    <m:r>
                      <a:rPr lang="en-US" altLang="zh-CN" sz="2400" b="1" i="1">
                        <a:solidFill>
                          <a:schemeClr val="accent2">
                            <a:lumMod val="50000"/>
                          </a:schemeClr>
                        </a:solidFill>
                        <a:latin typeface="Cambria Math" panose="02040503050406030204" pitchFamily="18" charset="0"/>
                      </a:rPr>
                      <m:t>𝒎</m:t>
                    </m:r>
                    <m:r>
                      <a:rPr lang="en-US" altLang="zh-CN" sz="2400" b="1" i="1">
                        <a:solidFill>
                          <a:schemeClr val="accent2">
                            <a:lumMod val="50000"/>
                          </a:schemeClr>
                        </a:solidFill>
                        <a:latin typeface="Cambria Math" panose="02040503050406030204" pitchFamily="18" charset="0"/>
                      </a:rPr>
                      <m:t> = </m:t>
                    </m:r>
                    <m:r>
                      <a:rPr lang="en-US" altLang="zh-CN" sz="2400" b="1" i="1">
                        <a:solidFill>
                          <a:schemeClr val="accent2">
                            <a:lumMod val="50000"/>
                          </a:schemeClr>
                        </a:solidFill>
                        <a:latin typeface="Cambria Math" panose="02040503050406030204" pitchFamily="18" charset="0"/>
                      </a:rPr>
                      <m:t>𝒏</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oMath>
                </a14:m>
                <a:endParaRPr lang="en-US" altLang="zh-CN" sz="2400" b="1">
                  <a:solidFill>
                    <a:schemeClr val="accent2">
                      <a:lumMod val="50000"/>
                    </a:schemeClr>
                  </a:solidFill>
                  <a:latin typeface="+mn-ea"/>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400" b="1" i="1">
                        <a:solidFill>
                          <a:schemeClr val="accent2">
                            <a:lumMod val="50000"/>
                          </a:schemeClr>
                        </a:solidFill>
                        <a:latin typeface="Cambria Math" panose="02040503050406030204" pitchFamily="18" charset="0"/>
                      </a:rPr>
                      <m:t>𝑮</m:t>
                    </m:r>
                  </m:oMath>
                </a14:m>
                <a:r>
                  <a:rPr lang="zh-CN" altLang="en-US" sz="2400" b="1">
                    <a:solidFill>
                      <a:schemeClr val="accent2">
                        <a:lumMod val="50000"/>
                      </a:schemeClr>
                    </a:solidFill>
                    <a:latin typeface="+mn-ea"/>
                  </a:rPr>
                  <a:t>连通且</a:t>
                </a:r>
                <a14:m>
                  <m:oMath xmlns:m="http://schemas.openxmlformats.org/officeDocument/2006/math">
                    <m:r>
                      <a:rPr lang="en-US" altLang="zh-CN" sz="2400" b="1" i="1">
                        <a:solidFill>
                          <a:schemeClr val="accent2">
                            <a:lumMod val="50000"/>
                          </a:schemeClr>
                        </a:solidFill>
                        <a:latin typeface="Cambria Math" panose="02040503050406030204" pitchFamily="18" charset="0"/>
                      </a:rPr>
                      <m:t>𝒎</m:t>
                    </m:r>
                    <m:r>
                      <a:rPr lang="en-US" altLang="zh-CN" sz="2400" b="1" i="1">
                        <a:solidFill>
                          <a:schemeClr val="accent2">
                            <a:lumMod val="50000"/>
                          </a:schemeClr>
                        </a:solidFill>
                        <a:latin typeface="Cambria Math" panose="02040503050406030204" pitchFamily="18" charset="0"/>
                      </a:rPr>
                      <m:t> = </m:t>
                    </m:r>
                    <m:r>
                      <a:rPr lang="en-US" altLang="zh-CN" sz="2400" b="1" i="1">
                        <a:solidFill>
                          <a:schemeClr val="accent2">
                            <a:lumMod val="50000"/>
                          </a:schemeClr>
                        </a:solidFill>
                        <a:latin typeface="Cambria Math" panose="02040503050406030204" pitchFamily="18" charset="0"/>
                      </a:rPr>
                      <m:t>𝒏</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oMath>
                </a14:m>
                <a:endParaRPr lang="en-US" altLang="zh-CN" sz="2400" b="1">
                  <a:solidFill>
                    <a:schemeClr val="accent2">
                      <a:lumMod val="50000"/>
                    </a:schemeClr>
                  </a:solidFill>
                  <a:latin typeface="+mn-ea"/>
                </a:endParaRPr>
              </a:p>
            </p:txBody>
          </p:sp>
        </mc:Choice>
        <mc:Fallback xmlns="">
          <p:sp>
            <p:nvSpPr>
              <p:cNvPr id="4" name="文本框 3">
                <a:extLst>
                  <a:ext uri="{FF2B5EF4-FFF2-40B4-BE49-F238E27FC236}">
                    <a16:creationId xmlns:a16="http://schemas.microsoft.com/office/drawing/2014/main" id="{7FF25CED-8CC2-4F95-A693-13D9624AEA7B}"/>
                  </a:ext>
                </a:extLst>
              </p:cNvPr>
              <p:cNvSpPr txBox="1">
                <a:spLocks noRot="1" noChangeAspect="1" noMove="1" noResize="1" noEditPoints="1" noAdjustHandles="1" noChangeArrowheads="1" noChangeShapeType="1" noTextEdit="1"/>
              </p:cNvSpPr>
              <p:nvPr/>
            </p:nvSpPr>
            <p:spPr>
              <a:xfrm>
                <a:off x="5930721" y="2849425"/>
                <a:ext cx="4494703" cy="2246769"/>
              </a:xfrm>
              <a:prstGeom prst="rect">
                <a:avLst/>
              </a:prstGeom>
              <a:blipFill>
                <a:blip r:embed="rId3"/>
                <a:stretch>
                  <a:fillRect l="-1900" t="-1897" r="-678" b="-54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B70EC69-DF8A-41B4-8267-78503F15C791}"/>
                  </a:ext>
                </a:extLst>
              </p:cNvPr>
              <p:cNvSpPr txBox="1"/>
              <p:nvPr/>
            </p:nvSpPr>
            <p:spPr>
              <a:xfrm>
                <a:off x="2746763" y="1850556"/>
                <a:ext cx="6696282" cy="523220"/>
              </a:xfrm>
              <a:prstGeom prst="rect">
                <a:avLst/>
              </a:prstGeom>
              <a:solidFill>
                <a:schemeClr val="accent5">
                  <a:lumMod val="20000"/>
                  <a:lumOff val="80000"/>
                  <a:alpha val="43000"/>
                </a:schemeClr>
              </a:solidFill>
            </p:spPr>
            <p:txBody>
              <a:bodyPr wrap="square" rtlCol="0">
                <a:spAutoFit/>
              </a:bodyPr>
              <a:lstStyle/>
              <a:p>
                <a:r>
                  <a:rPr lang="zh-CN" altLang="en-US" sz="2800" b="1">
                    <a:solidFill>
                      <a:srgbClr val="002060"/>
                    </a:solidFill>
                    <a:latin typeface="楷体" panose="02010609060101010101" pitchFamily="49" charset="-122"/>
                    <a:ea typeface="楷体" panose="02010609060101010101" pitchFamily="49" charset="-122"/>
                  </a:rPr>
                  <a:t>无向树</a:t>
                </a:r>
                <a14:m>
                  <m:oMath xmlns:m="http://schemas.openxmlformats.org/officeDocument/2006/math">
                    <m:r>
                      <a:rPr lang="en-US" altLang="zh-CN" sz="2800" b="1" i="1">
                        <a:solidFill>
                          <a:srgbClr val="002060"/>
                        </a:solidFill>
                        <a:latin typeface="Cambria Math" panose="02040503050406030204" pitchFamily="18" charset="0"/>
                      </a:rPr>
                      <m:t>𝑮</m:t>
                    </m:r>
                  </m:oMath>
                </a14:m>
                <a:r>
                  <a:rPr lang="zh-CN" altLang="en-US" sz="2800" b="1">
                    <a:solidFill>
                      <a:srgbClr val="002060"/>
                    </a:solidFill>
                    <a:latin typeface="楷体" panose="02010609060101010101" pitchFamily="49" charset="-122"/>
                    <a:ea typeface="楷体" panose="02010609060101010101" pitchFamily="49" charset="-122"/>
                  </a:rPr>
                  <a:t>的性质：设</a:t>
                </a:r>
                <a14:m>
                  <m:oMath xmlns:m="http://schemas.openxmlformats.org/officeDocument/2006/math">
                    <m:r>
                      <a:rPr lang="en-US" altLang="zh-CN" sz="2800" b="1" i="1">
                        <a:solidFill>
                          <a:srgbClr val="002060"/>
                        </a:solidFill>
                        <a:latin typeface="Cambria Math" panose="02040503050406030204" pitchFamily="18" charset="0"/>
                      </a:rPr>
                      <m:t>𝑮</m:t>
                    </m:r>
                  </m:oMath>
                </a14:m>
                <a:r>
                  <a:rPr lang="zh-CN" altLang="en-US" sz="2800" b="1">
                    <a:solidFill>
                      <a:srgbClr val="002060"/>
                    </a:solidFill>
                    <a:latin typeface="楷体" panose="02010609060101010101" pitchFamily="49" charset="-122"/>
                    <a:ea typeface="楷体" panose="02010609060101010101" pitchFamily="49" charset="-122"/>
                  </a:rPr>
                  <a:t>的顶点数</a:t>
                </a:r>
                <a14:m>
                  <m:oMath xmlns:m="http://schemas.openxmlformats.org/officeDocument/2006/math">
                    <m:r>
                      <a:rPr lang="en-US" altLang="zh-CN" sz="2800" b="1" i="1">
                        <a:solidFill>
                          <a:srgbClr val="002060"/>
                        </a:solidFill>
                        <a:latin typeface="Cambria Math" panose="02040503050406030204" pitchFamily="18" charset="0"/>
                      </a:rPr>
                      <m:t>𝒏</m:t>
                    </m:r>
                  </m:oMath>
                </a14:m>
                <a:r>
                  <a:rPr lang="zh-CN" altLang="en-US" sz="2800" b="1">
                    <a:solidFill>
                      <a:srgbClr val="002060"/>
                    </a:solidFill>
                    <a:latin typeface="楷体" panose="02010609060101010101" pitchFamily="49" charset="-122"/>
                    <a:ea typeface="楷体" panose="02010609060101010101" pitchFamily="49" charset="-122"/>
                  </a:rPr>
                  <a:t>，边数</a:t>
                </a:r>
                <a14:m>
                  <m:oMath xmlns:m="http://schemas.openxmlformats.org/officeDocument/2006/math">
                    <m:r>
                      <a:rPr lang="en-US" altLang="zh-CN" sz="2800" b="1" i="1">
                        <a:solidFill>
                          <a:srgbClr val="002060"/>
                        </a:solidFill>
                        <a:latin typeface="Cambria Math" panose="02040503050406030204" pitchFamily="18" charset="0"/>
                      </a:rPr>
                      <m:t>𝒎</m:t>
                    </m:r>
                  </m:oMath>
                </a14:m>
                <a:endParaRPr lang="en-US" altLang="zh-CN" sz="2800" b="1">
                  <a:solidFill>
                    <a:srgbClr val="002060"/>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BB70EC69-DF8A-41B4-8267-78503F15C791}"/>
                  </a:ext>
                </a:extLst>
              </p:cNvPr>
              <p:cNvSpPr txBox="1">
                <a:spLocks noRot="1" noChangeAspect="1" noMove="1" noResize="1" noEditPoints="1" noAdjustHandles="1" noChangeArrowheads="1" noChangeShapeType="1" noTextEdit="1"/>
              </p:cNvSpPr>
              <p:nvPr/>
            </p:nvSpPr>
            <p:spPr>
              <a:xfrm>
                <a:off x="2746763" y="1850556"/>
                <a:ext cx="6696282" cy="523220"/>
              </a:xfrm>
              <a:prstGeom prst="rect">
                <a:avLst/>
              </a:prstGeom>
              <a:blipFill>
                <a:blip r:embed="rId4"/>
                <a:stretch>
                  <a:fillRect l="-1913" t="-15294" b="-30588"/>
                </a:stretch>
              </a:blipFill>
            </p:spPr>
            <p:txBody>
              <a:bodyPr/>
              <a:lstStyle/>
              <a:p>
                <a:r>
                  <a:rPr lang="zh-CN" altLang="en-US">
                    <a:noFill/>
                  </a:rPr>
                  <a:t> </a:t>
                </a:r>
              </a:p>
            </p:txBody>
          </p:sp>
        </mc:Fallback>
      </mc:AlternateContent>
      <p:sp>
        <p:nvSpPr>
          <p:cNvPr id="11" name="矩形: 圆角 10">
            <a:extLst>
              <a:ext uri="{FF2B5EF4-FFF2-40B4-BE49-F238E27FC236}">
                <a16:creationId xmlns:a16="http://schemas.microsoft.com/office/drawing/2014/main" id="{F6AFB3F9-A35A-4BB7-96E3-B61885B1E276}"/>
              </a:ext>
            </a:extLst>
          </p:cNvPr>
          <p:cNvSpPr/>
          <p:nvPr/>
        </p:nvSpPr>
        <p:spPr>
          <a:xfrm>
            <a:off x="1098596" y="1559086"/>
            <a:ext cx="9992616" cy="3930788"/>
          </a:xfrm>
          <a:prstGeom prst="roundRect">
            <a:avLst>
              <a:gd name="adj" fmla="val 1198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293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证明图论命题的基本方法</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EE1181B-9ACF-4D74-A33E-B66CB7ADA69D}"/>
                  </a:ext>
                </a:extLst>
              </p:cNvPr>
              <p:cNvSpPr txBox="1"/>
              <p:nvPr/>
            </p:nvSpPr>
            <p:spPr>
              <a:xfrm>
                <a:off x="1103801" y="1677078"/>
                <a:ext cx="9984395" cy="3950762"/>
              </a:xfrm>
              <a:prstGeom prst="rect">
                <a:avLst/>
              </a:prstGeom>
              <a:solidFill>
                <a:schemeClr val="accent5">
                  <a:lumMod val="20000"/>
                  <a:lumOff val="80000"/>
                  <a:alpha val="50000"/>
                </a:schemeClr>
              </a:solidFill>
            </p:spPr>
            <p:txBody>
              <a:bodyPr wrap="square" rtlCol="0">
                <a:spAutoFit/>
              </a:bodyPr>
              <a:lstStyle/>
              <a:p>
                <a:pPr>
                  <a:lnSpc>
                    <a:spcPts val="2880"/>
                  </a:lnSpc>
                  <a:spcBef>
                    <a:spcPts val="600"/>
                  </a:spcBef>
                  <a:spcAft>
                    <a:spcPts val="1200"/>
                  </a:spcAft>
                </a:pPr>
                <a:r>
                  <a:rPr lang="zh-CN" altLang="en-US" sz="2800" b="1">
                    <a:solidFill>
                      <a:srgbClr val="002060"/>
                    </a:solidFill>
                    <a:latin typeface="楷体" panose="02010609060101010101" pitchFamily="49" charset="-122"/>
                    <a:ea typeface="楷体" panose="02010609060101010101" pitchFamily="49" charset="-122"/>
                  </a:rPr>
                  <a:t>无向树性质的证明展示了图论命题证明的两种基本方法</a:t>
                </a:r>
              </a:p>
              <a:p>
                <a:pPr marL="342900" indent="-342900">
                  <a:lnSpc>
                    <a:spcPts val="3000"/>
                  </a:lnSpc>
                  <a:spcBef>
                    <a:spcPts val="600"/>
                  </a:spcBef>
                  <a:spcAft>
                    <a:spcPts val="1200"/>
                  </a:spcAft>
                  <a:buFont typeface="Arial" panose="020B0604020202020204" pitchFamily="34" charset="0"/>
                  <a:buChar char="•"/>
                </a:pPr>
                <a:r>
                  <a:rPr lang="zh-CN" altLang="en-US" sz="2400" b="1">
                    <a:solidFill>
                      <a:srgbClr val="C00000"/>
                    </a:solidFill>
                  </a:rPr>
                  <a:t>反证法</a:t>
                </a:r>
                <a:r>
                  <a:rPr lang="zh-CN" altLang="en-US" sz="2400" b="1">
                    <a:solidFill>
                      <a:schemeClr val="accent6">
                        <a:lumMod val="50000"/>
                      </a:schemeClr>
                    </a:solidFill>
                  </a:rPr>
                  <a:t>：许多命题使用反证法可以很好地说明命题成立的关键点</a:t>
                </a:r>
              </a:p>
              <a:p>
                <a:pPr marL="342900" indent="-342900">
                  <a:lnSpc>
                    <a:spcPts val="3000"/>
                  </a:lnSpc>
                  <a:spcBef>
                    <a:spcPts val="600"/>
                  </a:spcBef>
                  <a:spcAft>
                    <a:spcPts val="1200"/>
                  </a:spcAft>
                  <a:buFont typeface="Arial" panose="020B0604020202020204" pitchFamily="34" charset="0"/>
                  <a:buChar char="•"/>
                </a:pPr>
                <a:r>
                  <a:rPr lang="zh-CN" altLang="en-US" sz="2400" b="1">
                    <a:solidFill>
                      <a:srgbClr val="C00000"/>
                    </a:solidFill>
                  </a:rPr>
                  <a:t>数学归纳法</a:t>
                </a:r>
                <a:r>
                  <a:rPr lang="zh-CN" altLang="en-US" sz="2400" b="1">
                    <a:solidFill>
                      <a:schemeClr val="accent6">
                        <a:lumMod val="50000"/>
                      </a:schemeClr>
                    </a:solidFill>
                  </a:rPr>
                  <a:t>：通常针对图的顶点数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𝒏</m:t>
                    </m:r>
                  </m:oMath>
                </a14:m>
                <a:r>
                  <a:rPr lang="zh-CN" altLang="en-US" sz="2400" b="1">
                    <a:solidFill>
                      <a:schemeClr val="accent6">
                        <a:lumMod val="50000"/>
                      </a:schemeClr>
                    </a:solidFill>
                  </a:rPr>
                  <a:t>做归纳证明</a:t>
                </a:r>
              </a:p>
              <a:p>
                <a:pPr marL="742950" lvl="1" indent="-285750">
                  <a:lnSpc>
                    <a:spcPts val="30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归纳步的证明通常针对任意有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个顶点的图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，通过</a:t>
                </a:r>
                <a:r>
                  <a:rPr lang="zh-CN" altLang="en-US" sz="2000" b="1">
                    <a:solidFill>
                      <a:srgbClr val="0000FF"/>
                    </a:solidFill>
                    <a:latin typeface="楷体" panose="02010609060101010101" pitchFamily="49" charset="-122"/>
                    <a:ea typeface="楷体" panose="02010609060101010101" pitchFamily="49" charset="-122"/>
                  </a:rPr>
                  <a:t>删除顶点</a:t>
                </a:r>
                <a:r>
                  <a:rPr lang="zh-CN" altLang="en-US" sz="2000" b="1">
                    <a:solidFill>
                      <a:schemeClr val="accent2">
                        <a:lumMod val="50000"/>
                      </a:schemeClr>
                    </a:solidFill>
                    <a:latin typeface="楷体" panose="02010609060101010101" pitchFamily="49" charset="-122"/>
                    <a:ea typeface="楷体" panose="02010609060101010101" pitchFamily="49" charset="-122"/>
                  </a:rPr>
                  <a:t>或</a:t>
                </a:r>
                <a:r>
                  <a:rPr lang="zh-CN" altLang="en-US" sz="2000" b="1">
                    <a:solidFill>
                      <a:srgbClr val="0000FF"/>
                    </a:solidFill>
                    <a:latin typeface="楷体" panose="02010609060101010101" pitchFamily="49" charset="-122"/>
                    <a:ea typeface="楷体" panose="02010609060101010101" pitchFamily="49" charset="-122"/>
                  </a:rPr>
                  <a:t>删除边</a:t>
                </a:r>
                <a:r>
                  <a:rPr lang="zh-CN" altLang="en-US" sz="2000" b="1">
                    <a:solidFill>
                      <a:schemeClr val="accent2">
                        <a:lumMod val="50000"/>
                      </a:schemeClr>
                    </a:solidFill>
                    <a:latin typeface="楷体" panose="02010609060101010101" pitchFamily="49" charset="-122"/>
                    <a:ea typeface="楷体" panose="02010609060101010101" pitchFamily="49" charset="-122"/>
                  </a:rPr>
                  <a:t>而得到顶点数更少的图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，再由归纳假设，待证命题对于图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成立，然后再考虑回被删除的顶点或边，从而证明待证命题对于图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𝑮</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也成立</a:t>
                </a:r>
              </a:p>
              <a:p>
                <a:pPr marL="742950" lvl="1" indent="-285750">
                  <a:lnSpc>
                    <a:spcPts val="30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这时归纳步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𝑷</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𝒌</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𝑷</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e>
                        </m:d>
                      </m:e>
                    </m:d>
                  </m:oMath>
                </a14:m>
                <a:r>
                  <a:rPr lang="zh-CN" altLang="en-US" sz="2000" b="1">
                    <a:solidFill>
                      <a:srgbClr val="0000FF"/>
                    </a:solidFill>
                    <a:latin typeface="楷体" panose="02010609060101010101" pitchFamily="49" charset="-122"/>
                    <a:ea typeface="楷体" panose="02010609060101010101" pitchFamily="49" charset="-122"/>
                  </a:rPr>
                  <a:t>不是</a:t>
                </a:r>
                <a:r>
                  <a:rPr lang="zh-CN" altLang="en-US" sz="2000" b="1">
                    <a:solidFill>
                      <a:schemeClr val="accent2">
                        <a:lumMod val="50000"/>
                      </a:schemeClr>
                    </a:solidFill>
                    <a:latin typeface="楷体" panose="02010609060101010101" pitchFamily="49" charset="-122"/>
                    <a:ea typeface="楷体" panose="02010609060101010101" pitchFamily="49" charset="-122"/>
                  </a:rPr>
                  <a:t>通过考虑在任意有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𝒌</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个顶点的图中</a:t>
                </a:r>
                <a:r>
                  <a:rPr lang="zh-CN" altLang="en-US" sz="2000" b="1">
                    <a:solidFill>
                      <a:srgbClr val="0000FF"/>
                    </a:solidFill>
                    <a:latin typeface="楷体" panose="02010609060101010101" pitchFamily="49" charset="-122"/>
                    <a:ea typeface="楷体" panose="02010609060101010101" pitchFamily="49" charset="-122"/>
                  </a:rPr>
                  <a:t>增加顶点</a:t>
                </a:r>
                <a:r>
                  <a:rPr lang="zh-CN" altLang="en-US" sz="2000" b="1">
                    <a:solidFill>
                      <a:schemeClr val="accent2">
                        <a:lumMod val="50000"/>
                      </a:schemeClr>
                    </a:solidFill>
                    <a:latin typeface="楷体" panose="02010609060101010101" pitchFamily="49" charset="-122"/>
                    <a:ea typeface="楷体" panose="02010609060101010101" pitchFamily="49" charset="-122"/>
                  </a:rPr>
                  <a:t>进行证明</a:t>
                </a:r>
              </a:p>
            </p:txBody>
          </p:sp>
        </mc:Choice>
        <mc:Fallback xmlns="">
          <p:sp>
            <p:nvSpPr>
              <p:cNvPr id="3" name="文本框 2">
                <a:extLst>
                  <a:ext uri="{FF2B5EF4-FFF2-40B4-BE49-F238E27FC236}">
                    <a16:creationId xmlns:a16="http://schemas.microsoft.com/office/drawing/2014/main" id="{9EE1181B-9ACF-4D74-A33E-B66CB7ADA69D}"/>
                  </a:ext>
                </a:extLst>
              </p:cNvPr>
              <p:cNvSpPr txBox="1">
                <a:spLocks noRot="1" noChangeAspect="1" noMove="1" noResize="1" noEditPoints="1" noAdjustHandles="1" noChangeArrowheads="1" noChangeShapeType="1" noTextEdit="1"/>
              </p:cNvSpPr>
              <p:nvPr/>
            </p:nvSpPr>
            <p:spPr>
              <a:xfrm>
                <a:off x="1103801" y="1677078"/>
                <a:ext cx="9984395" cy="3950762"/>
              </a:xfrm>
              <a:prstGeom prst="rect">
                <a:avLst/>
              </a:prstGeom>
              <a:blipFill>
                <a:blip r:embed="rId2"/>
                <a:stretch>
                  <a:fillRect l="-1221" t="-2932" b="-18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6766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无向树的定义及性质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无向树性质证明举例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7CA16CD-9BBC-4E0E-920B-14431974CD3B}"/>
                  </a:ext>
                </a:extLst>
              </p:cNvPr>
              <p:cNvSpPr/>
              <p:nvPr/>
            </p:nvSpPr>
            <p:spPr>
              <a:xfrm>
                <a:off x="682674" y="1234813"/>
                <a:ext cx="8231081" cy="461665"/>
              </a:xfrm>
              <a:prstGeom prst="rect">
                <a:avLst/>
              </a:prstGeom>
              <a:solidFill>
                <a:schemeClr val="accent6">
                  <a:lumMod val="20000"/>
                  <a:lumOff val="80000"/>
                  <a:alpha val="50000"/>
                </a:schemeClr>
              </a:solidFill>
            </p:spPr>
            <p:txBody>
              <a:bodyPr wrap="square">
                <a:spAutoFit/>
              </a:bodyPr>
              <a:lstStyle/>
              <a:p>
                <a:r>
                  <a:rPr lang="zh-CN" altLang="en-US" sz="24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zh-CN" altLang="en-US" sz="2400" b="1" i="1" smtClean="0">
                        <a:solidFill>
                          <a:srgbClr val="002060"/>
                        </a:solidFill>
                        <a:latin typeface="Cambria Math" panose="02040503050406030204" pitchFamily="18" charset="0"/>
                      </a:rPr>
                      <m:t>𝑻</m:t>
                    </m:r>
                    <m:r>
                      <a:rPr lang="zh-CN" altLang="en-US" sz="2400" b="1" i="1" smtClean="0">
                        <a:solidFill>
                          <a:srgbClr val="002060"/>
                        </a:solidFill>
                        <a:latin typeface="Cambria Math" panose="02040503050406030204" pitchFamily="18" charset="0"/>
                      </a:rPr>
                      <m:t>=</m:t>
                    </m:r>
                    <m:d>
                      <m:dPr>
                        <m:ctrlPr>
                          <a:rPr lang="zh-CN" altLang="en-US" sz="2400" b="1" i="1" smtClean="0">
                            <a:solidFill>
                              <a:srgbClr val="002060"/>
                            </a:solidFill>
                            <a:latin typeface="Cambria Math" panose="02040503050406030204" pitchFamily="18" charset="0"/>
                          </a:rPr>
                        </m:ctrlPr>
                      </m:dPr>
                      <m:e>
                        <m:r>
                          <a:rPr lang="zh-CN" altLang="en-US" sz="2400" b="1" i="1">
                            <a:solidFill>
                              <a:srgbClr val="002060"/>
                            </a:solidFill>
                            <a:latin typeface="Cambria Math" panose="02040503050406030204" pitchFamily="18" charset="0"/>
                          </a:rPr>
                          <m:t>𝑽</m:t>
                        </m:r>
                        <m:r>
                          <a:rPr lang="zh-CN" altLang="en-US" sz="2400" b="1" i="1">
                            <a:solidFill>
                              <a:srgbClr val="002060"/>
                            </a:solidFill>
                            <a:latin typeface="Cambria Math" panose="02040503050406030204" pitchFamily="18" charset="0"/>
                          </a:rPr>
                          <m:t>, </m:t>
                        </m:r>
                        <m:r>
                          <a:rPr lang="zh-CN" altLang="en-US" sz="2400" b="1" i="1">
                            <a:solidFill>
                              <a:srgbClr val="002060"/>
                            </a:solidFill>
                            <a:latin typeface="Cambria Math" panose="02040503050406030204" pitchFamily="18" charset="0"/>
                          </a:rPr>
                          <m:t>𝑬</m:t>
                        </m:r>
                      </m:e>
                    </m:d>
                  </m:oMath>
                </a14:m>
                <a:r>
                  <a:rPr lang="zh-CN" altLang="en-US" sz="2400" b="1">
                    <a:solidFill>
                      <a:srgbClr val="002060"/>
                    </a:solidFill>
                    <a:latin typeface="楷体" panose="02010609060101010101" pitchFamily="49" charset="-122"/>
                    <a:ea typeface="楷体" panose="02010609060101010101" pitchFamily="49" charset="-122"/>
                  </a:rPr>
                  <a:t>是树，且</a:t>
                </a:r>
                <a14:m>
                  <m:oMath xmlns:m="http://schemas.openxmlformats.org/officeDocument/2006/math">
                    <m:d>
                      <m:dPr>
                        <m:begChr m:val="|"/>
                        <m:endChr m:val="|"/>
                        <m:ctrlPr>
                          <a:rPr lang="zh-CN" altLang="en-US" sz="2400" b="1" i="1" smtClean="0">
                            <a:solidFill>
                              <a:srgbClr val="002060"/>
                            </a:solidFill>
                            <a:latin typeface="Cambria Math" panose="02040503050406030204" pitchFamily="18" charset="0"/>
                          </a:rPr>
                        </m:ctrlPr>
                      </m:dPr>
                      <m:e>
                        <m:r>
                          <a:rPr lang="zh-CN" altLang="en-US" sz="2400" b="1" i="1">
                            <a:solidFill>
                              <a:srgbClr val="002060"/>
                            </a:solidFill>
                            <a:latin typeface="Cambria Math" panose="02040503050406030204" pitchFamily="18" charset="0"/>
                          </a:rPr>
                          <m:t>𝑽</m:t>
                        </m:r>
                      </m:e>
                    </m:d>
                    <m:r>
                      <a:rPr lang="zh-CN" altLang="en-US" sz="2400" b="1" i="1" smtClean="0">
                        <a:solidFill>
                          <a:srgbClr val="002060"/>
                        </a:solidFill>
                        <a:latin typeface="Cambria Math" panose="02040503050406030204" pitchFamily="18" charset="0"/>
                      </a:rPr>
                      <m:t>=</m:t>
                    </m:r>
                    <m:r>
                      <a:rPr lang="zh-CN" altLang="en-US" sz="2400" b="1" i="1" smtClean="0">
                        <a:solidFill>
                          <a:srgbClr val="002060"/>
                        </a:solidFill>
                        <a:latin typeface="Cambria Math" panose="02040503050406030204" pitchFamily="18" charset="0"/>
                      </a:rPr>
                      <m:t>𝒏</m:t>
                    </m:r>
                    <m:r>
                      <a:rPr lang="zh-CN" altLang="en-US" sz="2400" b="1" i="1" smtClean="0">
                        <a:solidFill>
                          <a:srgbClr val="002060"/>
                        </a:solidFill>
                        <a:latin typeface="Cambria Math" panose="02040503050406030204" pitchFamily="18" charset="0"/>
                      </a:rPr>
                      <m:t>≥</m:t>
                    </m:r>
                    <m:r>
                      <a:rPr lang="zh-CN" altLang="en-US" sz="2400" b="1" i="1" smtClean="0">
                        <a:solidFill>
                          <a:srgbClr val="002060"/>
                        </a:solidFill>
                        <a:latin typeface="Cambria Math" panose="02040503050406030204" pitchFamily="18" charset="0"/>
                      </a:rPr>
                      <m:t>𝟐</m:t>
                    </m:r>
                  </m:oMath>
                </a14:m>
                <a:r>
                  <a:rPr lang="zh-CN" altLang="en-US" sz="2400" b="1">
                    <a:solidFill>
                      <a:srgbClr val="002060"/>
                    </a:solidFill>
                    <a:latin typeface="楷体" panose="02010609060101010101" pitchFamily="49" charset="-122"/>
                    <a:ea typeface="楷体" panose="02010609060101010101" pitchFamily="49" charset="-122"/>
                  </a:rPr>
                  <a:t>。证明：</a:t>
                </a:r>
                <a14:m>
                  <m:oMath xmlns:m="http://schemas.openxmlformats.org/officeDocument/2006/math">
                    <m:r>
                      <a:rPr lang="zh-CN" altLang="en-US" sz="2400" b="1" i="1" smtClean="0">
                        <a:solidFill>
                          <a:srgbClr val="002060"/>
                        </a:solidFill>
                        <a:latin typeface="Cambria Math" panose="02040503050406030204" pitchFamily="18" charset="0"/>
                      </a:rPr>
                      <m:t>𝑻</m:t>
                    </m:r>
                  </m:oMath>
                </a14:m>
                <a:r>
                  <a:rPr lang="zh-CN" altLang="en-US" sz="2400" b="1">
                    <a:solidFill>
                      <a:srgbClr val="002060"/>
                    </a:solidFill>
                    <a:latin typeface="楷体" panose="02010609060101010101" pitchFamily="49" charset="-122"/>
                    <a:ea typeface="楷体" panose="02010609060101010101" pitchFamily="49" charset="-122"/>
                  </a:rPr>
                  <a:t>至少有两片树叶</a:t>
                </a:r>
              </a:p>
            </p:txBody>
          </p:sp>
        </mc:Choice>
        <mc:Fallback xmlns="">
          <p:sp>
            <p:nvSpPr>
              <p:cNvPr id="2" name="矩形 1">
                <a:extLst>
                  <a:ext uri="{FF2B5EF4-FFF2-40B4-BE49-F238E27FC236}">
                    <a16:creationId xmlns:a16="http://schemas.microsoft.com/office/drawing/2014/main" id="{47CA16CD-9BBC-4E0E-920B-14431974CD3B}"/>
                  </a:ext>
                </a:extLst>
              </p:cNvPr>
              <p:cNvSpPr>
                <a:spLocks noRot="1" noChangeAspect="1" noMove="1" noResize="1" noEditPoints="1" noAdjustHandles="1" noChangeArrowheads="1" noChangeShapeType="1" noTextEdit="1"/>
              </p:cNvSpPr>
              <p:nvPr/>
            </p:nvSpPr>
            <p:spPr>
              <a:xfrm>
                <a:off x="682674" y="1234813"/>
                <a:ext cx="8231081" cy="461665"/>
              </a:xfrm>
              <a:prstGeom prst="rect">
                <a:avLst/>
              </a:prstGeom>
              <a:blipFill>
                <a:blip r:embed="rId2"/>
                <a:stretch>
                  <a:fillRect l="-1185" t="-14667" r="-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BBF3197-E77F-4659-B37A-B8627A2108B0}"/>
                  </a:ext>
                </a:extLst>
              </p:cNvPr>
              <p:cNvSpPr txBox="1"/>
              <p:nvPr/>
            </p:nvSpPr>
            <p:spPr>
              <a:xfrm>
                <a:off x="1385850" y="1930717"/>
                <a:ext cx="9396175" cy="1785104"/>
              </a:xfrm>
              <a:prstGeom prst="rect">
                <a:avLst/>
              </a:prstGeom>
              <a:solidFill>
                <a:schemeClr val="accent5">
                  <a:lumMod val="20000"/>
                  <a:lumOff val="80000"/>
                  <a:alpha val="25000"/>
                </a:schemeClr>
              </a:solidFill>
            </p:spPr>
            <p:txBody>
              <a:bodyPr wrap="square" rtlCol="0">
                <a:spAutoFit/>
              </a:bodyPr>
              <a:lstStyle/>
              <a:p>
                <a:pPr algn="ctr">
                  <a:spcBef>
                    <a:spcPts val="600"/>
                  </a:spcBef>
                  <a:spcAft>
                    <a:spcPts val="600"/>
                  </a:spcAft>
                </a:pPr>
                <a:r>
                  <a:rPr lang="zh-CN" altLang="en-US" sz="2000" b="1">
                    <a:solidFill>
                      <a:srgbClr val="C00000"/>
                    </a:solidFill>
                  </a:rPr>
                  <a:t>反证法</a:t>
                </a:r>
                <a:endParaRPr lang="en-US" altLang="zh-CN" sz="2000" b="1">
                  <a:solidFill>
                    <a:srgbClr val="C00000"/>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假定</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至多有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片树叶，则至多有一个</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度顶点，其他顶点度数都大于等于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，从而有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的顶点度数总和大于等于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e>
                    </m:d>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但</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是树，边数</a:t>
                </a:r>
                <a14:m>
                  <m:oMath xmlns:m="http://schemas.openxmlformats.org/officeDocument/2006/math">
                    <m:r>
                      <a:rPr lang="en-US" altLang="zh-CN" sz="2000" b="1" i="1" smtClean="0">
                        <a:solidFill>
                          <a:srgbClr val="C00000"/>
                        </a:solidFill>
                        <a:latin typeface="Cambria Math" panose="02040503050406030204" pitchFamily="18" charset="0"/>
                      </a:rPr>
                      <m:t>𝒎</m:t>
                    </m:r>
                    <m:r>
                      <a:rPr lang="en-US" altLang="zh-CN" sz="2000" b="1" i="1" smtClean="0">
                        <a:solidFill>
                          <a:srgbClr val="C00000"/>
                        </a:solidFill>
                        <a:latin typeface="Cambria Math" panose="02040503050406030204" pitchFamily="18" charset="0"/>
                      </a:rPr>
                      <m:t> = </m:t>
                    </m:r>
                    <m:r>
                      <a:rPr lang="en-US" altLang="zh-CN" sz="2000" b="1" i="1" smtClean="0">
                        <a:solidFill>
                          <a:srgbClr val="C00000"/>
                        </a:solidFill>
                        <a:latin typeface="Cambria Math" panose="02040503050406030204" pitchFamily="18" charset="0"/>
                      </a:rPr>
                      <m:t>𝒏</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oMath>
                </a14:m>
                <a:r>
                  <a:rPr lang="zh-CN" altLang="en-US" sz="2000" b="1">
                    <a:solidFill>
                      <a:schemeClr val="accent6">
                        <a:lumMod val="50000"/>
                      </a:schemeClr>
                    </a:solidFill>
                  </a:rPr>
                  <a:t>，由</a:t>
                </a:r>
                <a:r>
                  <a:rPr lang="zh-CN" altLang="en-US" sz="2000" b="1">
                    <a:solidFill>
                      <a:srgbClr val="C00000"/>
                    </a:solidFill>
                  </a:rPr>
                  <a:t>握手定理</a:t>
                </a:r>
                <a:r>
                  <a:rPr lang="zh-CN" altLang="en-US" sz="2000" b="1">
                    <a:solidFill>
                      <a:schemeClr val="accent6">
                        <a:lumMod val="50000"/>
                      </a:schemeClr>
                    </a:solidFill>
                  </a:rPr>
                  <a:t>有顶点度数总和应等于</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𝟐</m:t>
                    </m:r>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，矛盾！</a:t>
                </a:r>
              </a:p>
            </p:txBody>
          </p:sp>
        </mc:Choice>
        <mc:Fallback xmlns="">
          <p:sp>
            <p:nvSpPr>
              <p:cNvPr id="3" name="文本框 2">
                <a:extLst>
                  <a:ext uri="{FF2B5EF4-FFF2-40B4-BE49-F238E27FC236}">
                    <a16:creationId xmlns:a16="http://schemas.microsoft.com/office/drawing/2014/main" id="{CBBF3197-E77F-4659-B37A-B8627A2108B0}"/>
                  </a:ext>
                </a:extLst>
              </p:cNvPr>
              <p:cNvSpPr txBox="1">
                <a:spLocks noRot="1" noChangeAspect="1" noMove="1" noResize="1" noEditPoints="1" noAdjustHandles="1" noChangeArrowheads="1" noChangeShapeType="1" noTextEdit="1"/>
              </p:cNvSpPr>
              <p:nvPr/>
            </p:nvSpPr>
            <p:spPr>
              <a:xfrm>
                <a:off x="1385850" y="1930717"/>
                <a:ext cx="9396175" cy="1785104"/>
              </a:xfrm>
              <a:prstGeom prst="rect">
                <a:avLst/>
              </a:prstGeom>
              <a:blipFill>
                <a:blip r:embed="rId3"/>
                <a:stretch>
                  <a:fillRect l="-584" t="-2048" r="-454" b="-5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DA5D92D-C539-4526-BFBA-DA56E737CDDC}"/>
                  </a:ext>
                </a:extLst>
              </p:cNvPr>
              <p:cNvSpPr txBox="1"/>
              <p:nvPr/>
            </p:nvSpPr>
            <p:spPr>
              <a:xfrm>
                <a:off x="1397912" y="3902601"/>
                <a:ext cx="9396174" cy="2218171"/>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直接证明法</a:t>
                </a:r>
                <a:endParaRPr lang="en-US" altLang="zh-CN" sz="2000" b="1">
                  <a:solidFill>
                    <a:srgbClr val="C00000"/>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假定</a:t>
                </a:r>
                <a14:m>
                  <m:oMath xmlns:m="http://schemas.openxmlformats.org/officeDocument/2006/math">
                    <m:r>
                      <a:rPr lang="en-US" altLang="zh-CN" sz="2000" b="1">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有</a:t>
                </a:r>
                <a14:m>
                  <m:oMath xmlns:m="http://schemas.openxmlformats.org/officeDocument/2006/math">
                    <m:r>
                      <a:rPr lang="en-US" altLang="zh-CN" sz="2000" b="1">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片树叶，即</a:t>
                </a:r>
                <a14:m>
                  <m:oMath xmlns:m="http://schemas.openxmlformats.org/officeDocument/2006/math">
                    <m:r>
                      <a:rPr lang="en-US" altLang="zh-CN" sz="2000" b="1">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有</a:t>
                </a:r>
                <a14:m>
                  <m:oMath xmlns:m="http://schemas.openxmlformats.org/officeDocument/2006/math">
                    <m:r>
                      <a:rPr lang="en-US" altLang="zh-CN" sz="2000" b="1">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个</a:t>
                </a:r>
                <a14:m>
                  <m:oMath xmlns:m="http://schemas.openxmlformats.org/officeDocument/2006/math">
                    <m:r>
                      <a:rPr lang="en-US" altLang="zh-CN" sz="2000" b="1">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度顶点，其他顶点度数都大于等于</a:t>
                </a:r>
                <a14:m>
                  <m:oMath xmlns:m="http://schemas.openxmlformats.org/officeDocument/2006/math">
                    <m:r>
                      <a:rPr lang="en-US" altLang="zh-CN" sz="2000" b="1">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，从而</a:t>
                </a:r>
                <a14:m>
                  <m:oMath xmlns:m="http://schemas.openxmlformats.org/officeDocument/2006/math">
                    <m:r>
                      <a:rPr lang="en-US" altLang="zh-CN" sz="2000" b="1">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的顶点度数总和大于等于</a:t>
                </a:r>
                <a14:m>
                  <m:oMath xmlns:m="http://schemas.openxmlformats.org/officeDocument/2006/math">
                    <m:r>
                      <a:rPr lang="en-US" altLang="zh-CN" sz="2000" b="1">
                        <a:solidFill>
                          <a:schemeClr val="accent6">
                            <a:lumMod val="50000"/>
                          </a:schemeClr>
                        </a:solidFill>
                        <a:latin typeface="Cambria Math" panose="02040503050406030204" pitchFamily="18" charset="0"/>
                      </a:rPr>
                      <m:t>𝟐</m:t>
                    </m:r>
                    <m:d>
                      <m:dPr>
                        <m:ctrlPr>
                          <a:rPr lang="en-US" altLang="zh-CN" sz="2000" b="1" i="1">
                            <a:solidFill>
                              <a:schemeClr val="accent6">
                                <a:lumMod val="50000"/>
                              </a:schemeClr>
                            </a:solidFill>
                            <a:latin typeface="Cambria Math" panose="02040503050406030204" pitchFamily="18" charset="0"/>
                          </a:rPr>
                        </m:ctrlPr>
                      </m:dPr>
                      <m:e>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𝒌</m:t>
                        </m:r>
                      </m:e>
                    </m:d>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𝒌</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𝟐</m:t>
                    </m:r>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𝒌</m:t>
                    </m:r>
                  </m:oMath>
                </a14:m>
                <a:endParaRPr lang="en-US" altLang="zh-CN" sz="2000" b="1">
                  <a:solidFill>
                    <a:schemeClr val="accent6">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而</a:t>
                </a:r>
                <a14:m>
                  <m:oMath xmlns:m="http://schemas.openxmlformats.org/officeDocument/2006/math">
                    <m:r>
                      <a:rPr lang="en-US" altLang="zh-CN" sz="2000" b="1">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是树，边数</a:t>
                </a:r>
                <a14:m>
                  <m:oMath xmlns:m="http://schemas.openxmlformats.org/officeDocument/2006/math">
                    <m:r>
                      <a:rPr lang="en-US" altLang="zh-CN" sz="2000" b="1" smtClean="0">
                        <a:solidFill>
                          <a:srgbClr val="C00000"/>
                        </a:solidFill>
                        <a:latin typeface="Cambria Math" panose="02040503050406030204" pitchFamily="18" charset="0"/>
                      </a:rPr>
                      <m:t>𝒎</m:t>
                    </m:r>
                    <m:r>
                      <a:rPr lang="en-US" altLang="zh-CN" sz="2000" b="1" smtClean="0">
                        <a:solidFill>
                          <a:srgbClr val="C00000"/>
                        </a:solidFill>
                        <a:latin typeface="Cambria Math" panose="02040503050406030204" pitchFamily="18" charset="0"/>
                      </a:rPr>
                      <m:t>=</m:t>
                    </m:r>
                    <m:r>
                      <a:rPr lang="en-US" altLang="zh-CN" sz="2000" b="1" smtClean="0">
                        <a:solidFill>
                          <a:srgbClr val="C00000"/>
                        </a:solidFill>
                        <a:latin typeface="Cambria Math" panose="02040503050406030204" pitchFamily="18" charset="0"/>
                      </a:rPr>
                      <m:t>𝒏</m:t>
                    </m:r>
                    <m:r>
                      <a:rPr lang="en-US" altLang="zh-CN" sz="2000" b="1" smtClean="0">
                        <a:solidFill>
                          <a:srgbClr val="C00000"/>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，由</a:t>
                </a:r>
                <a:r>
                  <a:rPr lang="zh-CN" altLang="en-US" sz="2000" b="1">
                    <a:solidFill>
                      <a:srgbClr val="C00000"/>
                    </a:solidFill>
                  </a:rPr>
                  <a:t>握手定理</a:t>
                </a:r>
                <a:r>
                  <a:rPr lang="zh-CN" altLang="en-US" sz="2000" b="1">
                    <a:solidFill>
                      <a:schemeClr val="accent6">
                        <a:lumMod val="50000"/>
                      </a:schemeClr>
                    </a:solidFill>
                  </a:rPr>
                  <a:t>有顶点度数总和应等于</a:t>
                </a:r>
                <a14:m>
                  <m:oMath xmlns:m="http://schemas.openxmlformats.org/officeDocument/2006/math">
                    <m:r>
                      <a:rPr lang="en-US" altLang="zh-CN" sz="2000" b="1">
                        <a:solidFill>
                          <a:schemeClr val="accent6">
                            <a:lumMod val="50000"/>
                          </a:schemeClr>
                        </a:solidFill>
                        <a:latin typeface="Cambria Math" panose="02040503050406030204" pitchFamily="18" charset="0"/>
                      </a:rPr>
                      <m:t>𝟐</m:t>
                    </m:r>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𝟐</m:t>
                    </m:r>
                  </m:oMath>
                </a14:m>
                <a:r>
                  <a:rPr lang="zh-CN" altLang="en-US" sz="2000" b="1">
                    <a:solidFill>
                      <a:schemeClr val="accent6">
                        <a:lumMod val="50000"/>
                      </a:schemeClr>
                    </a:solidFill>
                  </a:rPr>
                  <a:t>，从而</a:t>
                </a:r>
                <a14:m>
                  <m:oMath xmlns:m="http://schemas.openxmlformats.org/officeDocument/2006/math">
                    <m:r>
                      <a:rPr lang="en-US" altLang="zh-CN" sz="2000" b="1">
                        <a:solidFill>
                          <a:schemeClr val="accent6">
                            <a:lumMod val="50000"/>
                          </a:schemeClr>
                        </a:solidFill>
                        <a:latin typeface="Cambria Math" panose="02040503050406030204" pitchFamily="18" charset="0"/>
                      </a:rPr>
                      <m:t>𝟐</m:t>
                    </m:r>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𝟐</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𝟐</m:t>
                    </m:r>
                    <m:r>
                      <a:rPr lang="en-US" altLang="zh-CN" sz="2000" b="1">
                        <a:solidFill>
                          <a:schemeClr val="accent6">
                            <a:lumMod val="50000"/>
                          </a:schemeClr>
                        </a:solidFill>
                        <a:latin typeface="Cambria Math" panose="02040503050406030204" pitchFamily="18" charset="0"/>
                      </a:rPr>
                      <m:t>𝒏</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𝒌</m:t>
                    </m:r>
                  </m:oMath>
                </a14:m>
                <a:r>
                  <a:rPr lang="zh-CN" altLang="en-US" sz="2000" b="1">
                    <a:solidFill>
                      <a:schemeClr val="accent6">
                        <a:lumMod val="50000"/>
                      </a:schemeClr>
                    </a:solidFill>
                  </a:rPr>
                  <a:t>，从而</a:t>
                </a:r>
                <a14:m>
                  <m:oMath xmlns:m="http://schemas.openxmlformats.org/officeDocument/2006/math">
                    <m:r>
                      <a:rPr lang="en-US" altLang="zh-CN" sz="2000" b="1">
                        <a:solidFill>
                          <a:schemeClr val="accent6">
                            <a:lumMod val="50000"/>
                          </a:schemeClr>
                        </a:solidFill>
                        <a:latin typeface="Cambria Math" panose="02040503050406030204" pitchFamily="18" charset="0"/>
                      </a:rPr>
                      <m:t>𝒌</m:t>
                    </m:r>
                    <m:r>
                      <a:rPr lang="en-US" altLang="zh-CN" sz="2000" b="1">
                        <a:solidFill>
                          <a:schemeClr val="accent6">
                            <a:lumMod val="50000"/>
                          </a:schemeClr>
                        </a:solidFill>
                        <a:latin typeface="Cambria Math" panose="02040503050406030204" pitchFamily="18" charset="0"/>
                      </a:rPr>
                      <m:t>≥</m:t>
                    </m:r>
                    <m:r>
                      <a:rPr lang="en-US" altLang="zh-CN" sz="2000" b="1">
                        <a:solidFill>
                          <a:schemeClr val="accent6">
                            <a:lumMod val="50000"/>
                          </a:schemeClr>
                        </a:solidFill>
                        <a:latin typeface="Cambria Math" panose="02040503050406030204" pitchFamily="18" charset="0"/>
                      </a:rPr>
                      <m:t>𝟐</m:t>
                    </m:r>
                  </m:oMath>
                </a14:m>
                <a:endParaRPr lang="en-US" altLang="zh-CN" sz="2000" b="1">
                  <a:solidFill>
                    <a:schemeClr val="accent6">
                      <a:lumMod val="50000"/>
                    </a:schemeClr>
                  </a:solidFill>
                </a:endParaRPr>
              </a:p>
            </p:txBody>
          </p:sp>
        </mc:Choice>
        <mc:Fallback xmlns="">
          <p:sp>
            <p:nvSpPr>
              <p:cNvPr id="4" name="文本框 3">
                <a:extLst>
                  <a:ext uri="{FF2B5EF4-FFF2-40B4-BE49-F238E27FC236}">
                    <a16:creationId xmlns:a16="http://schemas.microsoft.com/office/drawing/2014/main" id="{0DA5D92D-C539-4526-BFBA-DA56E737CDDC}"/>
                  </a:ext>
                </a:extLst>
              </p:cNvPr>
              <p:cNvSpPr txBox="1">
                <a:spLocks noRot="1" noChangeAspect="1" noMove="1" noResize="1" noEditPoints="1" noAdjustHandles="1" noChangeArrowheads="1" noChangeShapeType="1" noTextEdit="1"/>
              </p:cNvSpPr>
              <p:nvPr/>
            </p:nvSpPr>
            <p:spPr>
              <a:xfrm>
                <a:off x="1397912" y="3902601"/>
                <a:ext cx="9396174" cy="2218171"/>
              </a:xfrm>
              <a:prstGeom prst="rect">
                <a:avLst/>
              </a:prstGeom>
              <a:blipFill>
                <a:blip r:embed="rId4"/>
                <a:stretch>
                  <a:fillRect l="-584" t="-1374" b="-3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0904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无向树的定义及性质</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根树的定义及性质</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树的遍历</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715168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根树的定义</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D5CDB99-6488-4F5E-A934-3CC6DBBEC212}"/>
                  </a:ext>
                </a:extLst>
              </p:cNvPr>
              <p:cNvSpPr txBox="1"/>
              <p:nvPr/>
            </p:nvSpPr>
            <p:spPr>
              <a:xfrm>
                <a:off x="926782" y="1658464"/>
                <a:ext cx="7709905" cy="1609030"/>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spcAft>
                    <a:spcPts val="1200"/>
                  </a:spcAft>
                </a:pPr>
                <a:r>
                  <a:rPr lang="zh-CN" altLang="en-US" sz="2000" b="1">
                    <a:solidFill>
                      <a:srgbClr val="002060"/>
                    </a:solidFill>
                    <a:latin typeface="楷体" panose="02010609060101010101" pitchFamily="49" charset="-122"/>
                    <a:ea typeface="楷体" panose="02010609060101010101" pitchFamily="49" charset="-122"/>
                  </a:rPr>
                  <a:t>若一个有向图的</a:t>
                </a:r>
                <a:r>
                  <a:rPr lang="zh-CN" altLang="en-US" sz="2000" b="1">
                    <a:solidFill>
                      <a:srgbClr val="0000FF"/>
                    </a:solidFill>
                    <a:latin typeface="楷体" panose="02010609060101010101" pitchFamily="49" charset="-122"/>
                    <a:ea typeface="楷体" panose="02010609060101010101" pitchFamily="49" charset="-122"/>
                  </a:rPr>
                  <a:t>基图</a:t>
                </a:r>
                <a:r>
                  <a:rPr lang="zh-CN" altLang="en-US" sz="2000" b="1">
                    <a:solidFill>
                      <a:srgbClr val="002060"/>
                    </a:solidFill>
                    <a:latin typeface="楷体" panose="02010609060101010101" pitchFamily="49" charset="-122"/>
                    <a:ea typeface="楷体" panose="02010609060101010101" pitchFamily="49" charset="-122"/>
                  </a:rPr>
                  <a:t>是树，则称这个图是</a:t>
                </a:r>
                <a:r>
                  <a:rPr lang="zh-CN" altLang="en-US" sz="2000" b="1">
                    <a:solidFill>
                      <a:srgbClr val="C00000"/>
                    </a:solidFill>
                    <a:latin typeface="+mn-ea"/>
                  </a:rPr>
                  <a:t>有向树</a:t>
                </a:r>
              </a:p>
              <a:p>
                <a:pPr>
                  <a:lnSpc>
                    <a:spcPts val="2800"/>
                  </a:lnSpc>
                  <a:spcBef>
                    <a:spcPts val="600"/>
                  </a:spcBef>
                  <a:spcAft>
                    <a:spcPts val="1200"/>
                  </a:spcAft>
                </a:pPr>
                <a:r>
                  <a:rPr lang="zh-CN" altLang="en-US" sz="2000" b="1">
                    <a:solidFill>
                      <a:srgbClr val="002060"/>
                    </a:solidFill>
                    <a:latin typeface="楷体" panose="02010609060101010101" pitchFamily="49" charset="-122"/>
                    <a:ea typeface="楷体" panose="02010609060101010101" pitchFamily="49" charset="-122"/>
                  </a:rPr>
                  <a:t>有向树</a:t>
                </a:r>
                <a14:m>
                  <m:oMath xmlns:m="http://schemas.openxmlformats.org/officeDocument/2006/math">
                    <m:r>
                      <a:rPr lang="en-US" altLang="zh-CN" sz="2000" b="1" i="1" smtClean="0">
                        <a:solidFill>
                          <a:srgbClr val="002060"/>
                        </a:solidFill>
                        <a:latin typeface="Cambria Math" panose="02040503050406030204" pitchFamily="18" charset="0"/>
                      </a:rPr>
                      <m:t>𝑻</m:t>
                    </m:r>
                  </m:oMath>
                </a14:m>
                <a:r>
                  <a:rPr lang="zh-CN" altLang="en-US" sz="2000" b="1">
                    <a:solidFill>
                      <a:srgbClr val="002060"/>
                    </a:solidFill>
                    <a:latin typeface="楷体" panose="02010609060101010101" pitchFamily="49" charset="-122"/>
                    <a:ea typeface="楷体" panose="02010609060101010101" pitchFamily="49" charset="-122"/>
                  </a:rPr>
                  <a:t>有且仅有一个顶点</a:t>
                </a:r>
                <a14:m>
                  <m:oMath xmlns:m="http://schemas.openxmlformats.org/officeDocument/2006/math">
                    <m:r>
                      <a:rPr lang="en-US" altLang="zh-CN" sz="2000" b="1" i="1" smtClean="0">
                        <a:solidFill>
                          <a:srgbClr val="002060"/>
                        </a:solidFill>
                        <a:latin typeface="Cambria Math" panose="02040503050406030204" pitchFamily="18" charset="0"/>
                      </a:rPr>
                      <m:t>𝒓</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0000FF"/>
                    </a:solidFill>
                    <a:latin typeface="楷体" panose="02010609060101010101" pitchFamily="49" charset="-122"/>
                    <a:ea typeface="楷体" panose="02010609060101010101" pitchFamily="49" charset="-122"/>
                  </a:rPr>
                  <a:t>入度为</a:t>
                </a:r>
                <a14:m>
                  <m:oMath xmlns:m="http://schemas.openxmlformats.org/officeDocument/2006/math">
                    <m:r>
                      <a:rPr lang="en-US" altLang="zh-CN" sz="2000" b="1" i="1" smtClean="0">
                        <a:solidFill>
                          <a:srgbClr val="0000FF"/>
                        </a:solidFill>
                        <a:latin typeface="Cambria Math" panose="02040503050406030204" pitchFamily="18" charset="0"/>
                      </a:rPr>
                      <m:t>𝟎</m:t>
                    </m:r>
                  </m:oMath>
                </a14:m>
                <a:r>
                  <a:rPr lang="zh-CN" altLang="en-US" sz="2000" b="1">
                    <a:solidFill>
                      <a:srgbClr val="002060"/>
                    </a:solidFill>
                    <a:latin typeface="楷体" panose="02010609060101010101" pitchFamily="49" charset="-122"/>
                    <a:ea typeface="楷体" panose="02010609060101010101" pitchFamily="49" charset="-122"/>
                  </a:rPr>
                  <a:t>，则称为以</a:t>
                </a:r>
                <a14:m>
                  <m:oMath xmlns:m="http://schemas.openxmlformats.org/officeDocument/2006/math">
                    <m:r>
                      <a:rPr lang="en-US" altLang="zh-CN" sz="2000" b="1" i="1" smtClean="0">
                        <a:solidFill>
                          <a:srgbClr val="0000FF"/>
                        </a:solidFill>
                        <a:latin typeface="Cambria Math" panose="02040503050406030204" pitchFamily="18" charset="0"/>
                      </a:rPr>
                      <m:t>𝒓</m:t>
                    </m:r>
                  </m:oMath>
                </a14:m>
                <a:r>
                  <a:rPr lang="zh-CN" altLang="en-US" sz="2000" b="1">
                    <a:solidFill>
                      <a:srgbClr val="0000FF"/>
                    </a:solidFill>
                    <a:latin typeface="楷体" panose="02010609060101010101" pitchFamily="49" charset="-122"/>
                    <a:ea typeface="楷体" panose="02010609060101010101" pitchFamily="49" charset="-122"/>
                  </a:rPr>
                  <a:t>为根</a:t>
                </a:r>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mn-ea"/>
                  </a:rPr>
                  <a:t>根树</a:t>
                </a:r>
              </a:p>
              <a:p>
                <a:pPr marL="342900" indent="-342900">
                  <a:lnSpc>
                    <a:spcPts val="2800"/>
                  </a:lnSpc>
                  <a:spcBef>
                    <a:spcPts val="600"/>
                  </a:spcBef>
                  <a:spcAft>
                    <a:spcPts val="1200"/>
                  </a:spcAft>
                  <a:buFont typeface="Arial" panose="020B0604020202020204" pitchFamily="34" charset="0"/>
                  <a:buChar char="•"/>
                </a:pPr>
                <a:r>
                  <a:rPr lang="zh-CN" altLang="en-US" sz="2000" b="1">
                    <a:solidFill>
                      <a:schemeClr val="accent6">
                        <a:lumMod val="50000"/>
                      </a:schemeClr>
                    </a:solidFill>
                  </a:rPr>
                  <a:t>根树中出度为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𝟎</m:t>
                    </m:r>
                  </m:oMath>
                </a14:m>
                <a:r>
                  <a:rPr lang="zh-CN" altLang="en-US" sz="2000" b="1">
                    <a:solidFill>
                      <a:schemeClr val="accent6">
                        <a:lumMod val="50000"/>
                      </a:schemeClr>
                    </a:solidFill>
                  </a:rPr>
                  <a:t>的顶点称为</a:t>
                </a:r>
                <a:r>
                  <a:rPr lang="zh-CN" altLang="en-US" sz="2000" b="1">
                    <a:solidFill>
                      <a:srgbClr val="C00000"/>
                    </a:solidFill>
                  </a:rPr>
                  <a:t>叶子</a:t>
                </a:r>
                <a:r>
                  <a:rPr lang="zh-CN" altLang="en-US" sz="2000" b="1">
                    <a:solidFill>
                      <a:schemeClr val="accent6">
                        <a:lumMod val="50000"/>
                      </a:schemeClr>
                    </a:solidFill>
                  </a:rPr>
                  <a:t>，出度不为</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𝟎</m:t>
                    </m:r>
                  </m:oMath>
                </a14:m>
                <a:r>
                  <a:rPr lang="zh-CN" altLang="en-US" sz="2000" b="1">
                    <a:solidFill>
                      <a:schemeClr val="accent6">
                        <a:lumMod val="50000"/>
                      </a:schemeClr>
                    </a:solidFill>
                  </a:rPr>
                  <a:t>的顶点称为</a:t>
                </a:r>
                <a:r>
                  <a:rPr lang="zh-CN" altLang="en-US" sz="2000" b="1">
                    <a:solidFill>
                      <a:srgbClr val="C00000"/>
                    </a:solidFill>
                  </a:rPr>
                  <a:t>内部顶点</a:t>
                </a:r>
              </a:p>
            </p:txBody>
          </p:sp>
        </mc:Choice>
        <mc:Fallback xmlns="">
          <p:sp>
            <p:nvSpPr>
              <p:cNvPr id="2" name="文本框 1">
                <a:extLst>
                  <a:ext uri="{FF2B5EF4-FFF2-40B4-BE49-F238E27FC236}">
                    <a16:creationId xmlns:a16="http://schemas.microsoft.com/office/drawing/2014/main" id="{3D5CDB99-6488-4F5E-A934-3CC6DBBEC212}"/>
                  </a:ext>
                </a:extLst>
              </p:cNvPr>
              <p:cNvSpPr txBox="1">
                <a:spLocks noRot="1" noChangeAspect="1" noMove="1" noResize="1" noEditPoints="1" noAdjustHandles="1" noChangeArrowheads="1" noChangeShapeType="1" noTextEdit="1"/>
              </p:cNvSpPr>
              <p:nvPr/>
            </p:nvSpPr>
            <p:spPr>
              <a:xfrm>
                <a:off x="926782" y="1658464"/>
                <a:ext cx="7709905" cy="1609030"/>
              </a:xfrm>
              <a:prstGeom prst="rect">
                <a:avLst/>
              </a:prstGeom>
              <a:blipFill>
                <a:blip r:embed="rId2"/>
                <a:stretch>
                  <a:fillRect l="-791" t="-1515" r="-791" b="-56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013B746-DAF3-4E5F-8504-3ADFAE308630}"/>
                  </a:ext>
                </a:extLst>
              </p:cNvPr>
              <p:cNvSpPr txBox="1"/>
              <p:nvPr/>
            </p:nvSpPr>
            <p:spPr>
              <a:xfrm>
                <a:off x="926782" y="3742840"/>
                <a:ext cx="7000211" cy="1631216"/>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spcAft>
                    <a:spcPts val="12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𝑻</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𝑽</m:t>
                    </m:r>
                    <m:r>
                      <a:rPr lang="en-US" altLang="zh-CN" sz="2400" b="1">
                        <a:solidFill>
                          <a:srgbClr val="002060"/>
                        </a:solidFill>
                        <a:latin typeface="Cambria Math" panose="02040503050406030204" pitchFamily="18" charset="0"/>
                        <a:ea typeface="楷体" panose="02010609060101010101" pitchFamily="49" charset="-122"/>
                      </a:rPr>
                      <m:t>, </m:t>
                    </m:r>
                    <m:r>
                      <a:rPr lang="en-US" altLang="zh-CN" sz="2400" b="1">
                        <a:solidFill>
                          <a:srgbClr val="002060"/>
                        </a:solidFill>
                        <a:latin typeface="Cambria Math" panose="02040503050406030204" pitchFamily="18" charset="0"/>
                        <a:ea typeface="楷体" panose="02010609060101010101" pitchFamily="49" charset="-122"/>
                      </a:rPr>
                      <m:t>𝑬</m:t>
                    </m:r>
                    <m:r>
                      <a:rPr lang="en-US" altLang="zh-CN" sz="2400" b="1">
                        <a:solidFill>
                          <a:srgbClr val="002060"/>
                        </a:solidFill>
                        <a:latin typeface="Cambria Math" panose="02040503050406030204" pitchFamily="18" charset="0"/>
                        <a:ea typeface="楷体" panose="02010609060101010101" pitchFamily="49" charset="-122"/>
                      </a:rPr>
                      <m:t>)</m:t>
                    </m:r>
                  </m:oMath>
                </a14:m>
                <a:r>
                  <a:rPr lang="zh-CN" altLang="en-US" sz="2400" b="1">
                    <a:solidFill>
                      <a:srgbClr val="002060"/>
                    </a:solidFill>
                    <a:latin typeface="楷体" panose="02010609060101010101" pitchFamily="49" charset="-122"/>
                    <a:ea typeface="楷体" panose="02010609060101010101" pitchFamily="49" charset="-122"/>
                  </a:rPr>
                  <a:t>是以顶点</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𝒓</m:t>
                    </m:r>
                  </m:oMath>
                </a14:m>
                <a:r>
                  <a:rPr lang="zh-CN" altLang="en-US" sz="2400" b="1">
                    <a:solidFill>
                      <a:srgbClr val="002060"/>
                    </a:solidFill>
                    <a:latin typeface="楷体" panose="02010609060101010101" pitchFamily="49" charset="-122"/>
                    <a:ea typeface="楷体" panose="02010609060101010101" pitchFamily="49" charset="-122"/>
                  </a:rPr>
                  <a:t>为根的根树，设</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𝑽</m:t>
                    </m:r>
                    <m:r>
                      <a:rPr lang="en-US" altLang="zh-CN" sz="2400" b="1">
                        <a:solidFill>
                          <a:srgbClr val="002060"/>
                        </a:solidFill>
                        <a:latin typeface="Cambria Math" panose="02040503050406030204" pitchFamily="18" charset="0"/>
                        <a:ea typeface="楷体" panose="02010609060101010101" pitchFamily="49" charset="-122"/>
                      </a:rPr>
                      <m:t>|&gt;</m:t>
                    </m:r>
                    <m:r>
                      <a:rPr lang="en-US" altLang="zh-CN" sz="2400" b="1">
                        <a:solidFill>
                          <a:srgbClr val="002060"/>
                        </a:solidFill>
                        <a:latin typeface="Cambria Math" panose="02040503050406030204" pitchFamily="18" charset="0"/>
                        <a:ea typeface="楷体" panose="02010609060101010101" pitchFamily="49" charset="-122"/>
                      </a:rPr>
                      <m:t>𝟏</m:t>
                    </m:r>
                  </m:oMath>
                </a14:m>
                <a:r>
                  <a:rPr lang="zh-CN" altLang="en-US" sz="2400" b="1">
                    <a:solidFill>
                      <a:srgbClr val="002060"/>
                    </a:solidFill>
                    <a:latin typeface="楷体" panose="02010609060101010101" pitchFamily="49" charset="-122"/>
                    <a:ea typeface="楷体" panose="02010609060101010101" pitchFamily="49" charset="-122"/>
                  </a:rPr>
                  <a:t>，则</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lnSpc>
                    <a:spcPts val="2800"/>
                  </a:lnSpc>
                  <a:spcBef>
                    <a:spcPts val="600"/>
                  </a:spcBef>
                  <a:spcAft>
                    <a:spcPts val="1200"/>
                  </a:spcAft>
                  <a:buFont typeface="Arial" panose="020B0604020202020204" pitchFamily="34" charset="0"/>
                  <a:buChar char="•"/>
                </a:pPr>
                <a:r>
                  <a:rPr lang="zh-CN" altLang="en-US" sz="2400" b="1">
                    <a:solidFill>
                      <a:schemeClr val="accent6">
                        <a:lumMod val="50000"/>
                      </a:schemeClr>
                    </a:solidFill>
                  </a:rPr>
                  <a:t>除</a:t>
                </a:r>
                <a14:m>
                  <m:oMath xmlns:m="http://schemas.openxmlformats.org/officeDocument/2006/math">
                    <m:r>
                      <a:rPr lang="en-US" altLang="zh-CN" sz="2400" b="1">
                        <a:solidFill>
                          <a:schemeClr val="accent6">
                            <a:lumMod val="50000"/>
                          </a:schemeClr>
                        </a:solidFill>
                        <a:latin typeface="Cambria Math" panose="02040503050406030204" pitchFamily="18" charset="0"/>
                      </a:rPr>
                      <m:t>𝒓</m:t>
                    </m:r>
                  </m:oMath>
                </a14:m>
                <a:r>
                  <a:rPr lang="zh-CN" altLang="en-US" sz="2400" b="1">
                    <a:solidFill>
                      <a:schemeClr val="accent6">
                        <a:lumMod val="50000"/>
                      </a:schemeClr>
                    </a:solidFill>
                  </a:rPr>
                  <a:t>以外的顶点的</a:t>
                </a:r>
                <a:r>
                  <a:rPr lang="zh-CN" altLang="en-US" sz="2400" b="1">
                    <a:solidFill>
                      <a:srgbClr val="C00000"/>
                    </a:solidFill>
                  </a:rPr>
                  <a:t>入度都为</a:t>
                </a:r>
                <a14:m>
                  <m:oMath xmlns:m="http://schemas.openxmlformats.org/officeDocument/2006/math">
                    <m:r>
                      <a:rPr lang="en-US" altLang="zh-CN" sz="2400" b="1">
                        <a:solidFill>
                          <a:srgbClr val="C00000"/>
                        </a:solidFill>
                        <a:latin typeface="Cambria Math" panose="02040503050406030204" pitchFamily="18" charset="0"/>
                      </a:rPr>
                      <m:t>𝟏</m:t>
                    </m:r>
                  </m:oMath>
                </a14:m>
                <a:endParaRPr lang="en-US" altLang="zh-CN" sz="2400" b="1">
                  <a:solidFill>
                    <a:schemeClr val="accent6">
                      <a:lumMod val="50000"/>
                    </a:schemeClr>
                  </a:solidFill>
                </a:endParaRPr>
              </a:p>
              <a:p>
                <a:pPr marL="342900" indent="-342900">
                  <a:lnSpc>
                    <a:spcPts val="2800"/>
                  </a:lnSpc>
                  <a:spcBef>
                    <a:spcPts val="600"/>
                  </a:spcBef>
                  <a:spcAft>
                    <a:spcPts val="1200"/>
                  </a:spcAft>
                  <a:buFont typeface="Arial" panose="020B0604020202020204" pitchFamily="34" charset="0"/>
                  <a:buChar char="•"/>
                </a:pPr>
                <a14:m>
                  <m:oMath xmlns:m="http://schemas.openxmlformats.org/officeDocument/2006/math">
                    <m:r>
                      <a:rPr lang="en-US" altLang="zh-CN" sz="2400" b="1">
                        <a:solidFill>
                          <a:schemeClr val="accent6">
                            <a:lumMod val="50000"/>
                          </a:schemeClr>
                        </a:solidFill>
                        <a:latin typeface="Cambria Math" panose="02040503050406030204" pitchFamily="18" charset="0"/>
                      </a:rPr>
                      <m:t>𝒓</m:t>
                    </m:r>
                  </m:oMath>
                </a14:m>
                <a:r>
                  <a:rPr lang="zh-CN" altLang="en-US" sz="2400" b="1">
                    <a:solidFill>
                      <a:schemeClr val="accent6">
                        <a:lumMod val="50000"/>
                      </a:schemeClr>
                    </a:solidFill>
                  </a:rPr>
                  <a:t>到任意其他顶点都有</a:t>
                </a:r>
                <a:r>
                  <a:rPr lang="zh-CN" altLang="en-US" sz="2400" b="1">
                    <a:solidFill>
                      <a:srgbClr val="C00000"/>
                    </a:solidFill>
                  </a:rPr>
                  <a:t>唯一的有向通路</a:t>
                </a:r>
              </a:p>
            </p:txBody>
          </p:sp>
        </mc:Choice>
        <mc:Fallback xmlns="">
          <p:sp>
            <p:nvSpPr>
              <p:cNvPr id="3" name="文本框 2">
                <a:extLst>
                  <a:ext uri="{FF2B5EF4-FFF2-40B4-BE49-F238E27FC236}">
                    <a16:creationId xmlns:a16="http://schemas.microsoft.com/office/drawing/2014/main" id="{3013B746-DAF3-4E5F-8504-3ADFAE308630}"/>
                  </a:ext>
                </a:extLst>
              </p:cNvPr>
              <p:cNvSpPr txBox="1">
                <a:spLocks noRot="1" noChangeAspect="1" noMove="1" noResize="1" noEditPoints="1" noAdjustHandles="1" noChangeArrowheads="1" noChangeShapeType="1" noTextEdit="1"/>
              </p:cNvSpPr>
              <p:nvPr/>
            </p:nvSpPr>
            <p:spPr>
              <a:xfrm>
                <a:off x="926782" y="3742840"/>
                <a:ext cx="7000211" cy="1631216"/>
              </a:xfrm>
              <a:prstGeom prst="rect">
                <a:avLst/>
              </a:prstGeom>
              <a:blipFill>
                <a:blip r:embed="rId3"/>
                <a:stretch>
                  <a:fillRect l="-1307" t="-4478" r="-958" b="-7836"/>
                </a:stretch>
              </a:blipFill>
            </p:spPr>
            <p:txBody>
              <a:bodyPr/>
              <a:lstStyle/>
              <a:p>
                <a:r>
                  <a:rPr lang="zh-CN" altLang="en-US">
                    <a:noFill/>
                  </a:rPr>
                  <a:t> </a:t>
                </a:r>
              </a:p>
            </p:txBody>
          </p:sp>
        </mc:Fallback>
      </mc:AlternateContent>
      <p:grpSp>
        <p:nvGrpSpPr>
          <p:cNvPr id="58" name="组合 57">
            <a:extLst>
              <a:ext uri="{FF2B5EF4-FFF2-40B4-BE49-F238E27FC236}">
                <a16:creationId xmlns:a16="http://schemas.microsoft.com/office/drawing/2014/main" id="{BB9958D8-90C7-4AAE-A918-98F1EF63289A}"/>
              </a:ext>
            </a:extLst>
          </p:cNvPr>
          <p:cNvGrpSpPr/>
          <p:nvPr/>
        </p:nvGrpSpPr>
        <p:grpSpPr>
          <a:xfrm>
            <a:off x="8835911" y="2189868"/>
            <a:ext cx="2284273" cy="3402883"/>
            <a:chOff x="8756970" y="1788585"/>
            <a:chExt cx="2284273" cy="3402883"/>
          </a:xfrm>
        </p:grpSpPr>
        <p:sp>
          <p:nvSpPr>
            <p:cNvPr id="16" name="椭圆 15">
              <a:extLst>
                <a:ext uri="{FF2B5EF4-FFF2-40B4-BE49-F238E27FC236}">
                  <a16:creationId xmlns:a16="http://schemas.microsoft.com/office/drawing/2014/main" id="{30C513CA-2208-4D0D-88EF-BD2C8249C729}"/>
                </a:ext>
              </a:extLst>
            </p:cNvPr>
            <p:cNvSpPr/>
            <p:nvPr/>
          </p:nvSpPr>
          <p:spPr>
            <a:xfrm>
              <a:off x="9716322" y="2519534"/>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a:extLst>
                <a:ext uri="{FF2B5EF4-FFF2-40B4-BE49-F238E27FC236}">
                  <a16:creationId xmlns:a16="http://schemas.microsoft.com/office/drawing/2014/main" id="{34B82409-DEE7-4967-B72E-BB3B4F00706F}"/>
                </a:ext>
              </a:extLst>
            </p:cNvPr>
            <p:cNvCxnSpPr>
              <a:stCxn id="16" idx="5"/>
            </p:cNvCxnSpPr>
            <p:nvPr/>
          </p:nvCxnSpPr>
          <p:spPr>
            <a:xfrm>
              <a:off x="9772472" y="2575684"/>
              <a:ext cx="693790" cy="61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D0165020-1976-401E-9001-E3CDB773A20D}"/>
                </a:ext>
              </a:extLst>
            </p:cNvPr>
            <p:cNvSpPr/>
            <p:nvPr/>
          </p:nvSpPr>
          <p:spPr>
            <a:xfrm>
              <a:off x="10456628" y="3180898"/>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C6E82E2E-53BE-478F-A24E-43DDC1CEA524}"/>
                </a:ext>
              </a:extLst>
            </p:cNvPr>
            <p:cNvSpPr/>
            <p:nvPr/>
          </p:nvSpPr>
          <p:spPr>
            <a:xfrm>
              <a:off x="9368762" y="3566066"/>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59EF703C-5CCB-4258-9D07-73A25ECB5612}"/>
                </a:ext>
              </a:extLst>
            </p:cNvPr>
            <p:cNvSpPr/>
            <p:nvPr/>
          </p:nvSpPr>
          <p:spPr>
            <a:xfrm>
              <a:off x="10934426" y="4194538"/>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7ED87A43-F25D-4F8A-8CC6-BC58A1C72003}"/>
                </a:ext>
              </a:extLst>
            </p:cNvPr>
            <p:cNvSpPr/>
            <p:nvPr/>
          </p:nvSpPr>
          <p:spPr>
            <a:xfrm>
              <a:off x="10522412" y="1788585"/>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3C130AD1-89A6-4F5C-B1CA-42B22DA5A000}"/>
                </a:ext>
              </a:extLst>
            </p:cNvPr>
            <p:cNvSpPr/>
            <p:nvPr/>
          </p:nvSpPr>
          <p:spPr>
            <a:xfrm>
              <a:off x="8756970" y="4488524"/>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A4F357CB-067C-4404-ACA4-A029B15094A9}"/>
                </a:ext>
              </a:extLst>
            </p:cNvPr>
            <p:cNvSpPr/>
            <p:nvPr/>
          </p:nvSpPr>
          <p:spPr>
            <a:xfrm>
              <a:off x="10237113" y="4829612"/>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5DFE1CCF-A9EA-43C4-9F02-8F085C009A50}"/>
                </a:ext>
              </a:extLst>
            </p:cNvPr>
            <p:cNvSpPr/>
            <p:nvPr/>
          </p:nvSpPr>
          <p:spPr>
            <a:xfrm>
              <a:off x="9302978" y="5125684"/>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a:extLst>
                <a:ext uri="{FF2B5EF4-FFF2-40B4-BE49-F238E27FC236}">
                  <a16:creationId xmlns:a16="http://schemas.microsoft.com/office/drawing/2014/main" id="{B26848DF-50F2-49D0-A38D-10E8E4C359C9}"/>
                </a:ext>
              </a:extLst>
            </p:cNvPr>
            <p:cNvCxnSpPr>
              <a:cxnSpLocks/>
              <a:endCxn id="29" idx="3"/>
            </p:cNvCxnSpPr>
            <p:nvPr/>
          </p:nvCxnSpPr>
          <p:spPr>
            <a:xfrm flipV="1">
              <a:off x="9746158" y="1844735"/>
              <a:ext cx="785888" cy="719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CFF566FE-A1BE-49FC-8134-1CB47B198D41}"/>
                </a:ext>
              </a:extLst>
            </p:cNvPr>
            <p:cNvCxnSpPr>
              <a:cxnSpLocks/>
              <a:stCxn id="16" idx="4"/>
              <a:endCxn id="27" idx="0"/>
            </p:cNvCxnSpPr>
            <p:nvPr/>
          </p:nvCxnSpPr>
          <p:spPr>
            <a:xfrm flipH="1">
              <a:off x="9401654" y="2585318"/>
              <a:ext cx="347560" cy="980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D4D81983-FC8C-47B3-8D33-54CD154F154F}"/>
                </a:ext>
              </a:extLst>
            </p:cNvPr>
            <p:cNvCxnSpPr>
              <a:cxnSpLocks/>
              <a:endCxn id="28" idx="0"/>
            </p:cNvCxnSpPr>
            <p:nvPr/>
          </p:nvCxnSpPr>
          <p:spPr>
            <a:xfrm>
              <a:off x="10484037" y="3237048"/>
              <a:ext cx="483281" cy="957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48206EF1-3D79-4E44-9EEF-E79BC838EAEE}"/>
                </a:ext>
              </a:extLst>
            </p:cNvPr>
            <p:cNvCxnSpPr>
              <a:cxnSpLocks/>
            </p:cNvCxnSpPr>
            <p:nvPr/>
          </p:nvCxnSpPr>
          <p:spPr>
            <a:xfrm flipH="1">
              <a:off x="8822754" y="3610789"/>
              <a:ext cx="578900" cy="876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58E03EE4-C65A-419F-99B1-6B87E4BEBD3C}"/>
                </a:ext>
              </a:extLst>
            </p:cNvPr>
            <p:cNvCxnSpPr>
              <a:cxnSpLocks/>
              <a:endCxn id="32" idx="1"/>
            </p:cNvCxnSpPr>
            <p:nvPr/>
          </p:nvCxnSpPr>
          <p:spPr>
            <a:xfrm>
              <a:off x="8789862" y="4543728"/>
              <a:ext cx="522750" cy="591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1E8031B0-03E7-4D7B-8FCB-4987BB1F81E1}"/>
                </a:ext>
              </a:extLst>
            </p:cNvPr>
            <p:cNvCxnSpPr>
              <a:cxnSpLocks/>
              <a:endCxn id="31" idx="5"/>
            </p:cNvCxnSpPr>
            <p:nvPr/>
          </p:nvCxnSpPr>
          <p:spPr>
            <a:xfrm flipH="1">
              <a:off x="10293263" y="4236304"/>
              <a:ext cx="674056" cy="649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3D7420A-E87D-41BC-971A-A5750D624403}"/>
                </a:ext>
              </a:extLst>
            </p:cNvPr>
            <p:cNvCxnSpPr>
              <a:cxnSpLocks/>
            </p:cNvCxnSpPr>
            <p:nvPr/>
          </p:nvCxnSpPr>
          <p:spPr>
            <a:xfrm flipH="1">
              <a:off x="10118702" y="3205455"/>
              <a:ext cx="395479" cy="94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B143A784-74E5-430A-BB5C-D9BAFF07E36E}"/>
                </a:ext>
              </a:extLst>
            </p:cNvPr>
            <p:cNvCxnSpPr>
              <a:cxnSpLocks/>
            </p:cNvCxnSpPr>
            <p:nvPr/>
          </p:nvCxnSpPr>
          <p:spPr>
            <a:xfrm>
              <a:off x="9397502" y="3636853"/>
              <a:ext cx="454541" cy="752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342F927-8BA7-406E-8B5B-559730BCEB86}"/>
                </a:ext>
              </a:extLst>
            </p:cNvPr>
            <p:cNvCxnSpPr>
              <a:cxnSpLocks/>
            </p:cNvCxnSpPr>
            <p:nvPr/>
          </p:nvCxnSpPr>
          <p:spPr>
            <a:xfrm flipV="1">
              <a:off x="10512778" y="2536986"/>
              <a:ext cx="481949" cy="678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F711F8A3-8BB6-4CB1-81F2-25E6D1AD721D}"/>
                </a:ext>
              </a:extLst>
            </p:cNvPr>
            <p:cNvSpPr/>
            <p:nvPr/>
          </p:nvSpPr>
          <p:spPr>
            <a:xfrm>
              <a:off x="9852043" y="4389014"/>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7A50AAC0-5560-4650-8ED0-DEBAFAA3094B}"/>
                </a:ext>
              </a:extLst>
            </p:cNvPr>
            <p:cNvSpPr/>
            <p:nvPr/>
          </p:nvSpPr>
          <p:spPr>
            <a:xfrm>
              <a:off x="10085810" y="4140763"/>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8CA9B089-2537-4ECB-9856-1953B181CBE9}"/>
                </a:ext>
              </a:extLst>
            </p:cNvPr>
            <p:cNvSpPr/>
            <p:nvPr/>
          </p:nvSpPr>
          <p:spPr>
            <a:xfrm>
              <a:off x="10975459" y="2507577"/>
              <a:ext cx="65784" cy="657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0A1FFDE0-B4D9-4DB3-A93C-8297A27DE7A6}"/>
                  </a:ext>
                </a:extLst>
              </p:cNvPr>
              <p:cNvSpPr txBox="1"/>
              <p:nvPr/>
            </p:nvSpPr>
            <p:spPr>
              <a:xfrm>
                <a:off x="9531029" y="2684183"/>
                <a:ext cx="3609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smtClean="0">
                          <a:solidFill>
                            <a:srgbClr val="C00000"/>
                          </a:solidFill>
                          <a:latin typeface="Cambria Math" panose="02040503050406030204" pitchFamily="18" charset="0"/>
                          <a:ea typeface="楷体" panose="02010609060101010101" pitchFamily="49" charset="-122"/>
                        </a:rPr>
                        <m:t>𝒓</m:t>
                      </m:r>
                    </m:oMath>
                  </m:oMathPara>
                </a14:m>
                <a:endParaRPr lang="zh-CN" altLang="en-US">
                  <a:solidFill>
                    <a:srgbClr val="C00000"/>
                  </a:solidFill>
                </a:endParaRPr>
              </a:p>
            </p:txBody>
          </p:sp>
        </mc:Choice>
        <mc:Fallback xmlns="">
          <p:sp>
            <p:nvSpPr>
              <p:cNvPr id="60" name="文本框 59">
                <a:extLst>
                  <a:ext uri="{FF2B5EF4-FFF2-40B4-BE49-F238E27FC236}">
                    <a16:creationId xmlns:a16="http://schemas.microsoft.com/office/drawing/2014/main" id="{0A1FFDE0-B4D9-4DB3-A93C-8297A27DE7A6}"/>
                  </a:ext>
                </a:extLst>
              </p:cNvPr>
              <p:cNvSpPr txBox="1">
                <a:spLocks noRot="1" noChangeAspect="1" noMove="1" noResize="1" noEditPoints="1" noAdjustHandles="1" noChangeArrowheads="1" noChangeShapeType="1" noTextEdit="1"/>
              </p:cNvSpPr>
              <p:nvPr/>
            </p:nvSpPr>
            <p:spPr>
              <a:xfrm>
                <a:off x="9531029" y="2684183"/>
                <a:ext cx="360951" cy="36933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1774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根树的定义</a:t>
            </a:r>
          </a:p>
        </p:txBody>
      </p:sp>
      <p:sp>
        <p:nvSpPr>
          <p:cNvPr id="4" name="文本框 3">
            <a:extLst>
              <a:ext uri="{FF2B5EF4-FFF2-40B4-BE49-F238E27FC236}">
                <a16:creationId xmlns:a16="http://schemas.microsoft.com/office/drawing/2014/main" id="{F9A9D7A6-5831-4F5C-83C3-841C2E2A584A}"/>
              </a:ext>
            </a:extLst>
          </p:cNvPr>
          <p:cNvSpPr txBox="1"/>
          <p:nvPr/>
        </p:nvSpPr>
        <p:spPr>
          <a:xfrm>
            <a:off x="863966" y="1580471"/>
            <a:ext cx="4197031" cy="1785104"/>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根树一些简单术语</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父亲顶点、儿子顶点、兄弟顶点</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祖先顶点、后代顶点</a:t>
            </a: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子树、顶点层数、树高</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2920E39-13E9-490F-9E86-62C854AC2B24}"/>
                  </a:ext>
                </a:extLst>
              </p:cNvPr>
              <p:cNvSpPr txBox="1"/>
              <p:nvPr/>
            </p:nvSpPr>
            <p:spPr>
              <a:xfrm>
                <a:off x="3003310" y="3965002"/>
                <a:ext cx="1445013" cy="1631216"/>
              </a:xfrm>
              <a:prstGeom prst="rect">
                <a:avLst/>
              </a:prstGeom>
              <a:solidFill>
                <a:schemeClr val="accent6">
                  <a:lumMod val="20000"/>
                  <a:lumOff val="80000"/>
                  <a:alpha val="50000"/>
                </a:schemeClr>
              </a:solidFill>
            </p:spPr>
            <p:txBody>
              <a:bodyPr wrap="square" rtlCol="0">
                <a:spAutoFit/>
              </a:bodyPr>
              <a:lstStyle/>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a14:m>
                <a:r>
                  <a:rPr lang="zh-CN" altLang="en-US" b="1">
                    <a:solidFill>
                      <a:schemeClr val="accent2">
                        <a:lumMod val="50000"/>
                      </a:schemeClr>
                    </a:solidFill>
                  </a:rPr>
                  <a:t>的父亲</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rPr>
                  <a:t>的儿子</a:t>
                </a:r>
                <a:endParaRPr lang="en-US" altLang="zh-CN" b="1" i="1">
                  <a:solidFill>
                    <a:schemeClr val="accent2">
                      <a:lumMod val="50000"/>
                    </a:schemeClr>
                  </a:solidFill>
                  <a:latin typeface="Cambria Math" panose="02040503050406030204" pitchFamily="18" charset="0"/>
                </a:endParaRPr>
              </a:p>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𝒌</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𝒄</m:t>
                    </m:r>
                  </m:oMath>
                </a14:m>
                <a:r>
                  <a:rPr lang="zh-CN" altLang="en-US" b="1">
                    <a:solidFill>
                      <a:schemeClr val="accent2">
                        <a:lumMod val="50000"/>
                      </a:schemeClr>
                    </a:solidFill>
                  </a:rPr>
                  <a:t>的兄弟</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的祖先</a:t>
                </a:r>
                <a:endParaRPr lang="en-US" altLang="zh-CN" b="1">
                  <a:solidFill>
                    <a:schemeClr val="accent2">
                      <a:lumMod val="50000"/>
                    </a:schemeClr>
                  </a:solidFill>
                </a:endParaRPr>
              </a:p>
              <a:p>
                <a:pPr>
                  <a:spcBef>
                    <a:spcPts val="3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𝒇</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oMath>
                </a14:m>
                <a:r>
                  <a:rPr lang="zh-CN" altLang="en-US" b="1">
                    <a:solidFill>
                      <a:schemeClr val="accent2">
                        <a:lumMod val="50000"/>
                      </a:schemeClr>
                    </a:solidFill>
                  </a:rPr>
                  <a:t>的后代</a:t>
                </a:r>
                <a:endParaRPr lang="en-US" altLang="zh-CN" b="1">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62920E39-13E9-490F-9E86-62C854AC2B24}"/>
                  </a:ext>
                </a:extLst>
              </p:cNvPr>
              <p:cNvSpPr txBox="1">
                <a:spLocks noRot="1" noChangeAspect="1" noMove="1" noResize="1" noEditPoints="1" noAdjustHandles="1" noChangeArrowheads="1" noChangeShapeType="1" noTextEdit="1"/>
              </p:cNvSpPr>
              <p:nvPr/>
            </p:nvSpPr>
            <p:spPr>
              <a:xfrm>
                <a:off x="3003310" y="3965002"/>
                <a:ext cx="1445013" cy="1631216"/>
              </a:xfrm>
              <a:prstGeom prst="rect">
                <a:avLst/>
              </a:prstGeom>
              <a:blipFill>
                <a:blip r:embed="rId2"/>
                <a:stretch>
                  <a:fillRect l="-1266" t="-1866" b="-485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0C103AA7-F880-4D90-B3CC-2079FDF0C22A}"/>
              </a:ext>
            </a:extLst>
          </p:cNvPr>
          <p:cNvSpPr txBox="1"/>
          <p:nvPr/>
        </p:nvSpPr>
        <p:spPr>
          <a:xfrm>
            <a:off x="5580151" y="1580471"/>
            <a:ext cx="5590001" cy="1077346"/>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000" b="1">
                <a:solidFill>
                  <a:srgbClr val="C00000"/>
                </a:solidFill>
              </a:rPr>
              <a:t>根树的画法</a:t>
            </a:r>
            <a:endParaRPr lang="en-US" altLang="zh-CN" sz="2000" b="1">
              <a:solidFill>
                <a:srgbClr val="C00000"/>
              </a:solidFill>
            </a:endParaRPr>
          </a:p>
          <a:p>
            <a:pPr>
              <a:lnSpc>
                <a:spcPts val="2400"/>
              </a:lnSpc>
            </a:pPr>
            <a:r>
              <a:rPr lang="zh-CN" altLang="en-US" b="1">
                <a:solidFill>
                  <a:srgbClr val="002060"/>
                </a:solidFill>
                <a:latin typeface="楷体" panose="02010609060101010101" pitchFamily="49" charset="-122"/>
                <a:ea typeface="楷体" panose="02010609060101010101" pitchFamily="49" charset="-122"/>
              </a:rPr>
              <a:t>根放在最上方，边的方向都从上面顶点指向下面顶点，从而省略边方向，</a:t>
            </a:r>
            <a:r>
              <a:rPr lang="zh-CN" altLang="en-US" b="1">
                <a:solidFill>
                  <a:srgbClr val="C00000"/>
                </a:solidFill>
              </a:rPr>
              <a:t>画成无向树样子</a:t>
            </a:r>
          </a:p>
        </p:txBody>
      </p:sp>
      <p:sp>
        <p:nvSpPr>
          <p:cNvPr id="14" name="文本框 13">
            <a:extLst>
              <a:ext uri="{FF2B5EF4-FFF2-40B4-BE49-F238E27FC236}">
                <a16:creationId xmlns:a16="http://schemas.microsoft.com/office/drawing/2014/main" id="{C48C7043-1C46-4874-BDC7-6712478B9E14}"/>
              </a:ext>
            </a:extLst>
          </p:cNvPr>
          <p:cNvSpPr txBox="1"/>
          <p:nvPr/>
        </p:nvSpPr>
        <p:spPr>
          <a:xfrm>
            <a:off x="5580151" y="2967936"/>
            <a:ext cx="4629552" cy="369332"/>
          </a:xfrm>
          <a:prstGeom prst="rect">
            <a:avLst/>
          </a:prstGeom>
          <a:solidFill>
            <a:schemeClr val="accent4">
              <a:lumMod val="20000"/>
              <a:lumOff val="80000"/>
            </a:schemeClr>
          </a:solidFill>
        </p:spPr>
        <p:txBody>
          <a:bodyPr wrap="square" rtlCol="0">
            <a:spAutoFit/>
          </a:bodyPr>
          <a:lstStyle/>
          <a:p>
            <a:pPr>
              <a:spcBef>
                <a:spcPts val="600"/>
              </a:spcBef>
            </a:pPr>
            <a:r>
              <a:rPr lang="zh-CN" altLang="en-US" b="1">
                <a:solidFill>
                  <a:schemeClr val="accent2">
                    <a:lumMod val="50000"/>
                  </a:schemeClr>
                </a:solidFill>
                <a:latin typeface="+mn-ea"/>
              </a:rPr>
              <a:t>无向树也可看做是根树，任意顶点可作为根</a:t>
            </a:r>
          </a:p>
        </p:txBody>
      </p:sp>
      <p:grpSp>
        <p:nvGrpSpPr>
          <p:cNvPr id="16" name="组合 15">
            <a:extLst>
              <a:ext uri="{FF2B5EF4-FFF2-40B4-BE49-F238E27FC236}">
                <a16:creationId xmlns:a16="http://schemas.microsoft.com/office/drawing/2014/main" id="{024163DF-F592-443F-BBF1-B35F868DFE72}"/>
              </a:ext>
            </a:extLst>
          </p:cNvPr>
          <p:cNvGrpSpPr/>
          <p:nvPr/>
        </p:nvGrpSpPr>
        <p:grpSpPr>
          <a:xfrm>
            <a:off x="5367437" y="3647387"/>
            <a:ext cx="4842266" cy="2432732"/>
            <a:chOff x="6872250" y="3949760"/>
            <a:chExt cx="4842266" cy="2432732"/>
          </a:xfrm>
        </p:grpSpPr>
        <p:pic>
          <p:nvPicPr>
            <p:cNvPr id="6" name="图片 5">
              <a:extLst>
                <a:ext uri="{FF2B5EF4-FFF2-40B4-BE49-F238E27FC236}">
                  <a16:creationId xmlns:a16="http://schemas.microsoft.com/office/drawing/2014/main" id="{C416A8D3-C8A2-467B-8743-EE30603C2F8B}"/>
                </a:ext>
              </a:extLst>
            </p:cNvPr>
            <p:cNvPicPr>
              <a:picLocks noChangeAspect="1"/>
            </p:cNvPicPr>
            <p:nvPr/>
          </p:nvPicPr>
          <p:blipFill>
            <a:blip r:embed="rId3"/>
            <a:stretch>
              <a:fillRect/>
            </a:stretch>
          </p:blipFill>
          <p:spPr>
            <a:xfrm>
              <a:off x="6872250" y="3949760"/>
              <a:ext cx="4011419" cy="2432732"/>
            </a:xfrm>
            <a:prstGeom prst="rect">
              <a:avLst/>
            </a:prstGeom>
          </p:spPr>
        </p:pic>
        <p:sp>
          <p:nvSpPr>
            <p:cNvPr id="12" name="文本框 11">
              <a:extLst>
                <a:ext uri="{FF2B5EF4-FFF2-40B4-BE49-F238E27FC236}">
                  <a16:creationId xmlns:a16="http://schemas.microsoft.com/office/drawing/2014/main" id="{2BD7D491-5263-43BB-979A-FF431A85D638}"/>
                </a:ext>
              </a:extLst>
            </p:cNvPr>
            <p:cNvSpPr txBox="1"/>
            <p:nvPr/>
          </p:nvSpPr>
          <p:spPr>
            <a:xfrm>
              <a:off x="9495944" y="5869429"/>
              <a:ext cx="1065704"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树高是</a:t>
              </a:r>
              <a:r>
                <a:rPr lang="en-US" altLang="zh-CN" b="1">
                  <a:solidFill>
                    <a:schemeClr val="accent2">
                      <a:lumMod val="50000"/>
                    </a:schemeClr>
                  </a:solidFill>
                </a:rPr>
                <a:t>3</a:t>
              </a:r>
              <a:endParaRPr lang="zh-CN" altLang="en-US" b="1">
                <a:solidFill>
                  <a:schemeClr val="accent2">
                    <a:lumMod val="50000"/>
                  </a:schemeClr>
                </a:solidFill>
              </a:endParaRPr>
            </a:p>
          </p:txBody>
        </p:sp>
        <p:sp>
          <p:nvSpPr>
            <p:cNvPr id="15" name="文本框 14">
              <a:extLst>
                <a:ext uri="{FF2B5EF4-FFF2-40B4-BE49-F238E27FC236}">
                  <a16:creationId xmlns:a16="http://schemas.microsoft.com/office/drawing/2014/main" id="{4959DCB6-6BBB-4430-AA16-43FCCB78C50B}"/>
                </a:ext>
              </a:extLst>
            </p:cNvPr>
            <p:cNvSpPr txBox="1"/>
            <p:nvPr/>
          </p:nvSpPr>
          <p:spPr>
            <a:xfrm>
              <a:off x="10357236" y="3983218"/>
              <a:ext cx="1295947" cy="369332"/>
            </a:xfrm>
            <a:prstGeom prst="rect">
              <a:avLst/>
            </a:prstGeom>
            <a:no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第</a:t>
              </a:r>
              <a:r>
                <a:rPr lang="en-US" altLang="zh-CN" b="1">
                  <a:solidFill>
                    <a:srgbClr val="002060"/>
                  </a:solidFill>
                  <a:latin typeface="楷体" panose="02010609060101010101" pitchFamily="49" charset="-122"/>
                  <a:ea typeface="楷体" panose="02010609060101010101" pitchFamily="49" charset="-122"/>
                </a:rPr>
                <a:t>0</a:t>
              </a:r>
              <a:r>
                <a:rPr lang="zh-CN" altLang="en-US" b="1">
                  <a:solidFill>
                    <a:srgbClr val="002060"/>
                  </a:solidFill>
                  <a:latin typeface="楷体" panose="02010609060101010101" pitchFamily="49" charset="-122"/>
                  <a:ea typeface="楷体" panose="02010609060101010101" pitchFamily="49" charset="-122"/>
                </a:rPr>
                <a:t>层顶点</a:t>
              </a:r>
            </a:p>
          </p:txBody>
        </p:sp>
        <p:sp>
          <p:nvSpPr>
            <p:cNvPr id="18" name="文本框 17">
              <a:extLst>
                <a:ext uri="{FF2B5EF4-FFF2-40B4-BE49-F238E27FC236}">
                  <a16:creationId xmlns:a16="http://schemas.microsoft.com/office/drawing/2014/main" id="{2254711F-3452-47CF-9A9C-3242D5E4D6E4}"/>
                </a:ext>
              </a:extLst>
            </p:cNvPr>
            <p:cNvSpPr txBox="1"/>
            <p:nvPr/>
          </p:nvSpPr>
          <p:spPr>
            <a:xfrm>
              <a:off x="10833086" y="4583036"/>
              <a:ext cx="794826" cy="369332"/>
            </a:xfrm>
            <a:prstGeom prst="rect">
              <a:avLst/>
            </a:prstGeom>
            <a:no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第</a:t>
              </a:r>
              <a:r>
                <a:rPr lang="en-US" altLang="zh-CN" b="1">
                  <a:solidFill>
                    <a:srgbClr val="002060"/>
                  </a:solidFill>
                  <a:latin typeface="楷体" panose="02010609060101010101" pitchFamily="49" charset="-122"/>
                  <a:ea typeface="楷体" panose="02010609060101010101" pitchFamily="49" charset="-122"/>
                </a:rPr>
                <a:t>1</a:t>
              </a:r>
              <a:r>
                <a:rPr lang="zh-CN" altLang="en-US" b="1">
                  <a:solidFill>
                    <a:srgbClr val="002060"/>
                  </a:solidFill>
                  <a:latin typeface="楷体" panose="02010609060101010101" pitchFamily="49" charset="-122"/>
                  <a:ea typeface="楷体" panose="02010609060101010101" pitchFamily="49" charset="-122"/>
                </a:rPr>
                <a:t>层</a:t>
              </a:r>
            </a:p>
          </p:txBody>
        </p:sp>
        <p:sp>
          <p:nvSpPr>
            <p:cNvPr id="19" name="文本框 18">
              <a:extLst>
                <a:ext uri="{FF2B5EF4-FFF2-40B4-BE49-F238E27FC236}">
                  <a16:creationId xmlns:a16="http://schemas.microsoft.com/office/drawing/2014/main" id="{5DCE680A-F8F2-47BA-8AE2-9CA4B3DF5341}"/>
                </a:ext>
              </a:extLst>
            </p:cNvPr>
            <p:cNvSpPr txBox="1"/>
            <p:nvPr/>
          </p:nvSpPr>
          <p:spPr>
            <a:xfrm>
              <a:off x="10888925" y="5182855"/>
              <a:ext cx="825591" cy="369332"/>
            </a:xfrm>
            <a:prstGeom prst="rect">
              <a:avLst/>
            </a:prstGeom>
            <a:no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第</a:t>
              </a:r>
              <a:r>
                <a:rPr lang="en-US" altLang="zh-CN" b="1">
                  <a:solidFill>
                    <a:srgbClr val="002060"/>
                  </a:solidFill>
                  <a:latin typeface="楷体" panose="02010609060101010101" pitchFamily="49" charset="-122"/>
                  <a:ea typeface="楷体" panose="02010609060101010101" pitchFamily="49" charset="-122"/>
                </a:rPr>
                <a:t>2</a:t>
              </a:r>
              <a:r>
                <a:rPr lang="zh-CN" altLang="en-US" b="1">
                  <a:solidFill>
                    <a:srgbClr val="002060"/>
                  </a:solidFill>
                  <a:latin typeface="楷体" panose="02010609060101010101" pitchFamily="49" charset="-122"/>
                  <a:ea typeface="楷体" panose="02010609060101010101" pitchFamily="49" charset="-122"/>
                </a:rPr>
                <a:t>层</a:t>
              </a:r>
            </a:p>
          </p:txBody>
        </p:sp>
        <p:sp>
          <p:nvSpPr>
            <p:cNvPr id="20" name="文本框 19">
              <a:extLst>
                <a:ext uri="{FF2B5EF4-FFF2-40B4-BE49-F238E27FC236}">
                  <a16:creationId xmlns:a16="http://schemas.microsoft.com/office/drawing/2014/main" id="{5AA59550-EEB8-4078-9BDA-65494A016BAA}"/>
                </a:ext>
              </a:extLst>
            </p:cNvPr>
            <p:cNvSpPr txBox="1"/>
            <p:nvPr/>
          </p:nvSpPr>
          <p:spPr>
            <a:xfrm>
              <a:off x="10888924" y="5825856"/>
              <a:ext cx="825591" cy="369332"/>
            </a:xfrm>
            <a:prstGeom prst="rect">
              <a:avLst/>
            </a:prstGeom>
            <a:no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第</a:t>
              </a:r>
              <a:r>
                <a:rPr lang="en-US" altLang="zh-CN" b="1">
                  <a:solidFill>
                    <a:srgbClr val="002060"/>
                  </a:solidFill>
                  <a:latin typeface="楷体" panose="02010609060101010101" pitchFamily="49" charset="-122"/>
                  <a:ea typeface="楷体" panose="02010609060101010101" pitchFamily="49" charset="-122"/>
                </a:rPr>
                <a:t>3</a:t>
              </a:r>
              <a:r>
                <a:rPr lang="zh-CN" altLang="en-US" b="1">
                  <a:solidFill>
                    <a:srgbClr val="002060"/>
                  </a:solidFill>
                  <a:latin typeface="楷体" panose="02010609060101010101" pitchFamily="49" charset="-122"/>
                  <a:ea typeface="楷体" panose="02010609060101010101" pitchFamily="49" charset="-122"/>
                </a:rPr>
                <a:t>层</a:t>
              </a:r>
            </a:p>
          </p:txBody>
        </p:sp>
        <p:cxnSp>
          <p:nvCxnSpPr>
            <p:cNvPr id="21" name="直接连接符 20">
              <a:extLst>
                <a:ext uri="{FF2B5EF4-FFF2-40B4-BE49-F238E27FC236}">
                  <a16:creationId xmlns:a16="http://schemas.microsoft.com/office/drawing/2014/main" id="{2A3592FF-A4EA-4E43-A82D-3EFFBB3DA244}"/>
                </a:ext>
              </a:extLst>
            </p:cNvPr>
            <p:cNvCxnSpPr>
              <a:cxnSpLocks/>
            </p:cNvCxnSpPr>
            <p:nvPr/>
          </p:nvCxnSpPr>
          <p:spPr>
            <a:xfrm flipV="1">
              <a:off x="6979701" y="4450059"/>
              <a:ext cx="4673482" cy="2362"/>
            </a:xfrm>
            <a:prstGeom prst="line">
              <a:avLst/>
            </a:prstGeom>
            <a:ln w="6350">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B3A4370-364B-455F-B319-65F831E4DD3E}"/>
                </a:ext>
              </a:extLst>
            </p:cNvPr>
            <p:cNvCxnSpPr>
              <a:cxnSpLocks/>
            </p:cNvCxnSpPr>
            <p:nvPr/>
          </p:nvCxnSpPr>
          <p:spPr>
            <a:xfrm>
              <a:off x="6979701" y="5082983"/>
              <a:ext cx="4729882" cy="0"/>
            </a:xfrm>
            <a:prstGeom prst="line">
              <a:avLst/>
            </a:prstGeom>
            <a:ln w="6350">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FCEF3E7-FCBA-4987-86F5-A860EF1CF4B9}"/>
                </a:ext>
              </a:extLst>
            </p:cNvPr>
            <p:cNvCxnSpPr>
              <a:cxnSpLocks/>
            </p:cNvCxnSpPr>
            <p:nvPr/>
          </p:nvCxnSpPr>
          <p:spPr>
            <a:xfrm>
              <a:off x="6973122" y="5769999"/>
              <a:ext cx="4736461" cy="0"/>
            </a:xfrm>
            <a:prstGeom prst="line">
              <a:avLst/>
            </a:prstGeom>
            <a:ln w="6350">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9568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smtClean="0">
                        <a:latin typeface="Cambria Math" panose="02040503050406030204" pitchFamily="18" charset="0"/>
                      </a:rPr>
                      <m:t>𝑚</m:t>
                    </m:r>
                  </m:oMath>
                </a14:m>
                <a:r>
                  <a:rPr lang="en-US" altLang="zh-CN"/>
                  <a:t>-</a:t>
                </a:r>
                <a:r>
                  <a:rPr lang="zh-CN" altLang="en-US"/>
                  <a:t>元树</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8F8A78FD-C3F2-40CB-9EF0-404C797D1075}"/>
              </a:ext>
            </a:extLst>
          </p:cNvPr>
          <p:cNvSpPr txBox="1"/>
          <p:nvPr/>
        </p:nvSpPr>
        <p:spPr>
          <a:xfrm>
            <a:off x="882218" y="3987658"/>
            <a:ext cx="4604537" cy="1754326"/>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有序根树</a:t>
            </a:r>
            <a:endParaRPr lang="en-US" altLang="zh-CN" sz="20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每个顶点的儿子顶点都按某个顺序排列</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有序二元树称为</a:t>
            </a:r>
            <a:r>
              <a:rPr lang="zh-CN" altLang="en-US" sz="2000" b="1">
                <a:solidFill>
                  <a:srgbClr val="C00000"/>
                </a:solidFill>
              </a:rPr>
              <a:t>二元树</a:t>
            </a:r>
            <a:r>
              <a:rPr lang="zh-CN" altLang="en-US" sz="2000" b="1">
                <a:solidFill>
                  <a:schemeClr val="accent6">
                    <a:lumMod val="50000"/>
                  </a:schemeClr>
                </a:solidFill>
              </a:rPr>
              <a:t>或</a:t>
            </a:r>
            <a:r>
              <a:rPr lang="zh-CN" altLang="en-US" sz="2000" b="1">
                <a:solidFill>
                  <a:srgbClr val="C00000"/>
                </a:solidFill>
              </a:rPr>
              <a:t>二叉树</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左儿子和右儿子、左子树和右子树</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B522DD6-4DBB-4A9A-B796-8AA0826235CD}"/>
                  </a:ext>
                </a:extLst>
              </p:cNvPr>
              <p:cNvSpPr txBox="1"/>
              <p:nvPr/>
            </p:nvSpPr>
            <p:spPr>
              <a:xfrm>
                <a:off x="888441" y="1283733"/>
                <a:ext cx="3256317" cy="861774"/>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endParaRPr lang="en-US" altLang="zh-CN" sz="20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每个顶点的出度都不大于</a:t>
                </a:r>
                <a14:m>
                  <m:oMath xmlns:m="http://schemas.openxmlformats.org/officeDocument/2006/math">
                    <m:r>
                      <a:rPr lang="en-US" altLang="zh-CN" sz="2000" b="1" i="1" smtClean="0">
                        <a:solidFill>
                          <a:srgbClr val="002060"/>
                        </a:solidFill>
                        <a:latin typeface="Cambria Math" panose="02040503050406030204" pitchFamily="18" charset="0"/>
                      </a:rPr>
                      <m:t>𝒎</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1B522DD6-4DBB-4A9A-B796-8AA0826235CD}"/>
                  </a:ext>
                </a:extLst>
              </p:cNvPr>
              <p:cNvSpPr txBox="1">
                <a:spLocks noRot="1" noChangeAspect="1" noMove="1" noResize="1" noEditPoints="1" noAdjustHandles="1" noChangeArrowheads="1" noChangeShapeType="1" noTextEdit="1"/>
              </p:cNvSpPr>
              <p:nvPr/>
            </p:nvSpPr>
            <p:spPr>
              <a:xfrm>
                <a:off x="888441" y="1283733"/>
                <a:ext cx="3256317" cy="861774"/>
              </a:xfrm>
              <a:prstGeom prst="rect">
                <a:avLst/>
              </a:prstGeom>
              <a:blipFill>
                <a:blip r:embed="rId3"/>
                <a:stretch>
                  <a:fillRect l="-2060" t="-425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B039384-924E-4CEF-8259-E2609239F841}"/>
                  </a:ext>
                </a:extLst>
              </p:cNvPr>
              <p:cNvSpPr txBox="1"/>
              <p:nvPr/>
            </p:nvSpPr>
            <p:spPr>
              <a:xfrm>
                <a:off x="4648034" y="1283733"/>
                <a:ext cx="3385695" cy="861774"/>
              </a:xfrm>
              <a:prstGeom prst="rect">
                <a:avLst/>
              </a:prstGeom>
              <a:solidFill>
                <a:schemeClr val="accent2">
                  <a:lumMod val="20000"/>
                  <a:lumOff val="80000"/>
                  <a:alpha val="75000"/>
                </a:schemeClr>
              </a:solidFill>
            </p:spPr>
            <p:txBody>
              <a:bodyPr wrap="square" rtlCol="0">
                <a:spAutoFit/>
              </a:bodyPr>
              <a:lstStyle/>
              <a:p>
                <a:pPr algn="ctr">
                  <a:spcBef>
                    <a:spcPts val="600"/>
                  </a:spcBef>
                  <a:spcAft>
                    <a:spcPts val="600"/>
                  </a:spcAft>
                </a:pPr>
                <a:r>
                  <a:rPr lang="zh-CN" altLang="en-US" sz="2000" b="1">
                    <a:solidFill>
                      <a:srgbClr val="C00000"/>
                    </a:solidFill>
                  </a:rPr>
                  <a:t>满</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r>
                  <a:rPr lang="en-US" altLang="zh-CN" sz="2000" b="1">
                    <a:solidFill>
                      <a:srgbClr val="C00000"/>
                    </a:solidFill>
                  </a:rPr>
                  <a:t>(</a:t>
                </a:r>
                <a:r>
                  <a:rPr lang="zh-CN" altLang="en-US" sz="2000" b="1">
                    <a:solidFill>
                      <a:srgbClr val="C00000"/>
                    </a:solidFill>
                  </a:rPr>
                  <a:t>正则</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r>
                  <a:rPr lang="en-US" altLang="zh-CN" sz="2000" b="1">
                    <a:solidFill>
                      <a:srgbClr val="C00000"/>
                    </a:solidFill>
                  </a:rPr>
                  <a:t>)</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每个顶点的出度不是</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𝟎</m:t>
                    </m:r>
                  </m:oMath>
                </a14:m>
                <a:r>
                  <a:rPr lang="zh-CN" altLang="en-US" sz="2000" b="1">
                    <a:solidFill>
                      <a:srgbClr val="002060"/>
                    </a:solidFill>
                    <a:latin typeface="楷体" panose="02010609060101010101" pitchFamily="49" charset="-122"/>
                    <a:ea typeface="楷体" panose="02010609060101010101" pitchFamily="49" charset="-122"/>
                  </a:rPr>
                  <a:t>就是</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𝒎</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5B039384-924E-4CEF-8259-E2609239F841}"/>
                  </a:ext>
                </a:extLst>
              </p:cNvPr>
              <p:cNvSpPr txBox="1">
                <a:spLocks noRot="1" noChangeAspect="1" noMove="1" noResize="1" noEditPoints="1" noAdjustHandles="1" noChangeArrowheads="1" noChangeShapeType="1" noTextEdit="1"/>
              </p:cNvSpPr>
              <p:nvPr/>
            </p:nvSpPr>
            <p:spPr>
              <a:xfrm>
                <a:off x="4648034" y="1283733"/>
                <a:ext cx="3385695" cy="861774"/>
              </a:xfrm>
              <a:prstGeom prst="rect">
                <a:avLst/>
              </a:prstGeom>
              <a:blipFill>
                <a:blip r:embed="rId4"/>
                <a:stretch>
                  <a:fillRect l="-1799" t="-425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2AFC018-DEDA-4265-BF16-DF719F6701A0}"/>
                  </a:ext>
                </a:extLst>
              </p:cNvPr>
              <p:cNvSpPr txBox="1"/>
              <p:nvPr/>
            </p:nvSpPr>
            <p:spPr>
              <a:xfrm>
                <a:off x="8537005" y="1283733"/>
                <a:ext cx="2493222" cy="129580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完全</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endParaRPr lang="en-US" altLang="zh-CN" sz="2000" b="1">
                  <a:solidFill>
                    <a:srgbClr val="C00000"/>
                  </a:solidFill>
                </a:endParaRPr>
              </a:p>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满</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元树的每片叶子的层数都等于树高</a:t>
                </a:r>
              </a:p>
            </p:txBody>
          </p:sp>
        </mc:Choice>
        <mc:Fallback xmlns="">
          <p:sp>
            <p:nvSpPr>
              <p:cNvPr id="6" name="文本框 5">
                <a:extLst>
                  <a:ext uri="{FF2B5EF4-FFF2-40B4-BE49-F238E27FC236}">
                    <a16:creationId xmlns:a16="http://schemas.microsoft.com/office/drawing/2014/main" id="{02AFC018-DEDA-4265-BF16-DF719F6701A0}"/>
                  </a:ext>
                </a:extLst>
              </p:cNvPr>
              <p:cNvSpPr txBox="1">
                <a:spLocks noRot="1" noChangeAspect="1" noMove="1" noResize="1" noEditPoints="1" noAdjustHandles="1" noChangeArrowheads="1" noChangeShapeType="1" noTextEdit="1"/>
              </p:cNvSpPr>
              <p:nvPr/>
            </p:nvSpPr>
            <p:spPr>
              <a:xfrm>
                <a:off x="8537005" y="1283733"/>
                <a:ext cx="2493222" cy="1295804"/>
              </a:xfrm>
              <a:prstGeom prst="rect">
                <a:avLst/>
              </a:prstGeom>
              <a:blipFill>
                <a:blip r:embed="rId5"/>
                <a:stretch>
                  <a:fillRect l="-2445" t="-2830" r="-1467" b="-56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50F2692-1032-43C7-A409-A41556D05346}"/>
                  </a:ext>
                </a:extLst>
              </p:cNvPr>
              <p:cNvSpPr txBox="1"/>
              <p:nvPr/>
            </p:nvSpPr>
            <p:spPr>
              <a:xfrm>
                <a:off x="882218" y="2517304"/>
                <a:ext cx="3835218" cy="86177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平衡</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endParaRPr lang="en-US" altLang="zh-CN" sz="2000" b="1">
                  <a:solidFill>
                    <a:srgbClr val="C00000"/>
                  </a:solidFill>
                </a:endParaRPr>
              </a:p>
              <a:p>
                <a:pPr>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元树的叶子之间高度最多差一</a:t>
                </a:r>
              </a:p>
            </p:txBody>
          </p:sp>
        </mc:Choice>
        <mc:Fallback xmlns="">
          <p:sp>
            <p:nvSpPr>
              <p:cNvPr id="11" name="文本框 10">
                <a:extLst>
                  <a:ext uri="{FF2B5EF4-FFF2-40B4-BE49-F238E27FC236}">
                    <a16:creationId xmlns:a16="http://schemas.microsoft.com/office/drawing/2014/main" id="{750F2692-1032-43C7-A409-A41556D05346}"/>
                  </a:ext>
                </a:extLst>
              </p:cNvPr>
              <p:cNvSpPr txBox="1">
                <a:spLocks noRot="1" noChangeAspect="1" noMove="1" noResize="1" noEditPoints="1" noAdjustHandles="1" noChangeArrowheads="1" noChangeShapeType="1" noTextEdit="1"/>
              </p:cNvSpPr>
              <p:nvPr/>
            </p:nvSpPr>
            <p:spPr>
              <a:xfrm>
                <a:off x="882218" y="2517304"/>
                <a:ext cx="3835218" cy="861774"/>
              </a:xfrm>
              <a:prstGeom prst="rect">
                <a:avLst/>
              </a:prstGeom>
              <a:blipFill>
                <a:blip r:embed="rId6"/>
                <a:stretch>
                  <a:fillRect t="-4255" b="-10638"/>
                </a:stretch>
              </a:blipFill>
            </p:spPr>
            <p:txBody>
              <a:bodyPr/>
              <a:lstStyle/>
              <a:p>
                <a:r>
                  <a:rPr lang="zh-CN" altLang="en-US">
                    <a:noFill/>
                  </a:rPr>
                  <a:t> </a:t>
                </a:r>
              </a:p>
            </p:txBody>
          </p:sp>
        </mc:Fallback>
      </mc:AlternateContent>
      <p:sp>
        <p:nvSpPr>
          <p:cNvPr id="12" name="箭头: 右 11">
            <a:extLst>
              <a:ext uri="{FF2B5EF4-FFF2-40B4-BE49-F238E27FC236}">
                <a16:creationId xmlns:a16="http://schemas.microsoft.com/office/drawing/2014/main" id="{D082479C-B4EC-4C5C-95F2-868298F4BF73}"/>
              </a:ext>
            </a:extLst>
          </p:cNvPr>
          <p:cNvSpPr/>
          <p:nvPr/>
        </p:nvSpPr>
        <p:spPr>
          <a:xfrm>
            <a:off x="4144758" y="1660465"/>
            <a:ext cx="503276" cy="1052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1A6C93A6-49C9-4931-8EED-73CEBC152240}"/>
              </a:ext>
            </a:extLst>
          </p:cNvPr>
          <p:cNvSpPr/>
          <p:nvPr/>
        </p:nvSpPr>
        <p:spPr>
          <a:xfrm>
            <a:off x="8033729" y="1651438"/>
            <a:ext cx="503276" cy="1026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下 13">
            <a:extLst>
              <a:ext uri="{FF2B5EF4-FFF2-40B4-BE49-F238E27FC236}">
                <a16:creationId xmlns:a16="http://schemas.microsoft.com/office/drawing/2014/main" id="{95B17923-57CB-4016-BCAE-5CC9999A75FD}"/>
              </a:ext>
            </a:extLst>
          </p:cNvPr>
          <p:cNvSpPr/>
          <p:nvPr/>
        </p:nvSpPr>
        <p:spPr>
          <a:xfrm>
            <a:off x="2462504" y="2157688"/>
            <a:ext cx="108189" cy="37179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B1D5F11E-2A50-4651-9A94-59DE8DCC31DC}"/>
              </a:ext>
            </a:extLst>
          </p:cNvPr>
          <p:cNvPicPr>
            <a:picLocks noChangeAspect="1"/>
          </p:cNvPicPr>
          <p:nvPr/>
        </p:nvPicPr>
        <p:blipFill>
          <a:blip r:embed="rId7"/>
          <a:stretch>
            <a:fillRect/>
          </a:stretch>
        </p:blipFill>
        <p:spPr>
          <a:xfrm>
            <a:off x="5872682" y="4041573"/>
            <a:ext cx="3113819" cy="1241069"/>
          </a:xfrm>
          <a:prstGeom prst="rect">
            <a:avLst/>
          </a:prstGeom>
        </p:spPr>
      </p:pic>
      <p:pic>
        <p:nvPicPr>
          <p:cNvPr id="19" name="图片 18">
            <a:extLst>
              <a:ext uri="{FF2B5EF4-FFF2-40B4-BE49-F238E27FC236}">
                <a16:creationId xmlns:a16="http://schemas.microsoft.com/office/drawing/2014/main" id="{48702676-D92B-4DDD-9B5A-A91600855E41}"/>
              </a:ext>
            </a:extLst>
          </p:cNvPr>
          <p:cNvPicPr>
            <a:picLocks noChangeAspect="1"/>
          </p:cNvPicPr>
          <p:nvPr/>
        </p:nvPicPr>
        <p:blipFill>
          <a:blip r:embed="rId8"/>
          <a:stretch>
            <a:fillRect/>
          </a:stretch>
        </p:blipFill>
        <p:spPr>
          <a:xfrm>
            <a:off x="5962630" y="2681342"/>
            <a:ext cx="3023871" cy="1321486"/>
          </a:xfrm>
          <a:prstGeom prst="rect">
            <a:avLst/>
          </a:prstGeom>
        </p:spPr>
      </p:pic>
      <p:pic>
        <p:nvPicPr>
          <p:cNvPr id="20" name="图片 19">
            <a:extLst>
              <a:ext uri="{FF2B5EF4-FFF2-40B4-BE49-F238E27FC236}">
                <a16:creationId xmlns:a16="http://schemas.microsoft.com/office/drawing/2014/main" id="{BF3BE0FD-B48B-4136-A765-7B1D17084B8D}"/>
              </a:ext>
            </a:extLst>
          </p:cNvPr>
          <p:cNvPicPr>
            <a:picLocks noChangeAspect="1"/>
          </p:cNvPicPr>
          <p:nvPr/>
        </p:nvPicPr>
        <p:blipFill>
          <a:blip r:embed="rId9"/>
          <a:stretch>
            <a:fillRect/>
          </a:stretch>
        </p:blipFill>
        <p:spPr>
          <a:xfrm>
            <a:off x="5578272" y="5230123"/>
            <a:ext cx="4138055" cy="1106611"/>
          </a:xfrm>
          <a:prstGeom prst="rect">
            <a:avLst/>
          </a:prstGeom>
        </p:spPr>
      </p:pic>
      <p:sp>
        <p:nvSpPr>
          <p:cNvPr id="21" name="文本框 20">
            <a:extLst>
              <a:ext uri="{FF2B5EF4-FFF2-40B4-BE49-F238E27FC236}">
                <a16:creationId xmlns:a16="http://schemas.microsoft.com/office/drawing/2014/main" id="{DFEB0323-0AF5-470F-99C4-EB9406F3907C}"/>
              </a:ext>
            </a:extLst>
          </p:cNvPr>
          <p:cNvSpPr txBox="1"/>
          <p:nvPr/>
        </p:nvSpPr>
        <p:spPr>
          <a:xfrm>
            <a:off x="9282147" y="3032968"/>
            <a:ext cx="2493222" cy="692626"/>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rgbClr val="002060"/>
                </a:solidFill>
              </a:rPr>
              <a:t>三元树，既不是满三元树，也不是平衡三元树</a:t>
            </a:r>
          </a:p>
        </p:txBody>
      </p:sp>
      <p:sp>
        <p:nvSpPr>
          <p:cNvPr id="22" name="文本框 21">
            <a:extLst>
              <a:ext uri="{FF2B5EF4-FFF2-40B4-BE49-F238E27FC236}">
                <a16:creationId xmlns:a16="http://schemas.microsoft.com/office/drawing/2014/main" id="{F2498E51-E9C1-43B5-841B-834E1848163A}"/>
              </a:ext>
            </a:extLst>
          </p:cNvPr>
          <p:cNvSpPr txBox="1"/>
          <p:nvPr/>
        </p:nvSpPr>
        <p:spPr>
          <a:xfrm>
            <a:off x="9280911" y="4350623"/>
            <a:ext cx="2493222" cy="692626"/>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rgbClr val="002060"/>
                </a:solidFill>
              </a:rPr>
              <a:t>三元树，既是</a:t>
            </a:r>
            <a:r>
              <a:rPr lang="zh-CN" altLang="en-US" b="1">
                <a:solidFill>
                  <a:srgbClr val="0000FF"/>
                </a:solidFill>
              </a:rPr>
              <a:t>满三元树</a:t>
            </a:r>
            <a:r>
              <a:rPr lang="zh-CN" altLang="en-US" b="1">
                <a:solidFill>
                  <a:srgbClr val="002060"/>
                </a:solidFill>
              </a:rPr>
              <a:t>，也是</a:t>
            </a:r>
            <a:r>
              <a:rPr lang="zh-CN" altLang="en-US" b="1">
                <a:solidFill>
                  <a:srgbClr val="0000FF"/>
                </a:solidFill>
              </a:rPr>
              <a:t>平衡三元树</a:t>
            </a:r>
          </a:p>
        </p:txBody>
      </p:sp>
      <p:sp>
        <p:nvSpPr>
          <p:cNvPr id="23" name="文本框 22">
            <a:extLst>
              <a:ext uri="{FF2B5EF4-FFF2-40B4-BE49-F238E27FC236}">
                <a16:creationId xmlns:a16="http://schemas.microsoft.com/office/drawing/2014/main" id="{84BFCB0F-929F-4616-A9E2-BB67274F5E4D}"/>
              </a:ext>
            </a:extLst>
          </p:cNvPr>
          <p:cNvSpPr txBox="1"/>
          <p:nvPr/>
        </p:nvSpPr>
        <p:spPr>
          <a:xfrm>
            <a:off x="9716327" y="5457234"/>
            <a:ext cx="2059042" cy="692626"/>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rgbClr val="002060"/>
                </a:solidFill>
              </a:rPr>
              <a:t>二叉树，满二叉树，也是</a:t>
            </a:r>
            <a:r>
              <a:rPr lang="zh-CN" altLang="en-US" b="1">
                <a:solidFill>
                  <a:srgbClr val="0000FF"/>
                </a:solidFill>
              </a:rPr>
              <a:t>完全二叉树</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17083D7A-A3B3-4F59-BBDF-A42AB7894105}"/>
                  </a:ext>
                </a:extLst>
              </p:cNvPr>
              <p:cNvSpPr txBox="1"/>
              <p:nvPr/>
            </p:nvSpPr>
            <p:spPr>
              <a:xfrm>
                <a:off x="5030229" y="2560014"/>
                <a:ext cx="1651183"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完全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元树都是平衡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𝒎</m:t>
                    </m:r>
                  </m:oMath>
                </a14:m>
                <a:r>
                  <a:rPr lang="zh-CN" altLang="en-US" b="1">
                    <a:solidFill>
                      <a:schemeClr val="accent2">
                        <a:lumMod val="50000"/>
                      </a:schemeClr>
                    </a:solidFill>
                  </a:rPr>
                  <a:t>元树</a:t>
                </a:r>
              </a:p>
            </p:txBody>
          </p:sp>
        </mc:Choice>
        <mc:Fallback xmlns="">
          <p:sp>
            <p:nvSpPr>
              <p:cNvPr id="24" name="文本框 23">
                <a:extLst>
                  <a:ext uri="{FF2B5EF4-FFF2-40B4-BE49-F238E27FC236}">
                    <a16:creationId xmlns:a16="http://schemas.microsoft.com/office/drawing/2014/main" id="{17083D7A-A3B3-4F59-BBDF-A42AB7894105}"/>
                  </a:ext>
                </a:extLst>
              </p:cNvPr>
              <p:cNvSpPr txBox="1">
                <a:spLocks noRot="1" noChangeAspect="1" noMove="1" noResize="1" noEditPoints="1" noAdjustHandles="1" noChangeArrowheads="1" noChangeShapeType="1" noTextEdit="1"/>
              </p:cNvSpPr>
              <p:nvPr/>
            </p:nvSpPr>
            <p:spPr>
              <a:xfrm>
                <a:off x="5030229" y="2560014"/>
                <a:ext cx="1651183" cy="646331"/>
              </a:xfrm>
              <a:prstGeom prst="rect">
                <a:avLst/>
              </a:prstGeom>
              <a:blipFill>
                <a:blip r:embed="rId10"/>
                <a:stretch>
                  <a:fillRect l="-2952" t="-5660"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3168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1" grpId="0" animBg="1"/>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𝑚</m:t>
                    </m:r>
                  </m:oMath>
                </a14:m>
                <a:r>
                  <a:rPr lang="en-US" altLang="zh-CN"/>
                  <a:t>-</a:t>
                </a:r>
                <a:r>
                  <a:rPr lang="zh-CN" altLang="en-US"/>
                  <a:t>元树的顶点数</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1FF8C59-6150-4ACD-A671-251FA12FB0E0}"/>
                  </a:ext>
                </a:extLst>
              </p:cNvPr>
              <p:cNvSpPr txBox="1"/>
              <p:nvPr/>
            </p:nvSpPr>
            <p:spPr>
              <a:xfrm>
                <a:off x="904532" y="1633467"/>
                <a:ext cx="9742635"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𝑻</m:t>
                    </m:r>
                  </m:oMath>
                </a14:m>
                <a:r>
                  <a:rPr lang="zh-CN" altLang="en-US" sz="2400" b="1">
                    <a:solidFill>
                      <a:srgbClr val="002060"/>
                    </a:solidFill>
                    <a:latin typeface="楷体" panose="02010609060101010101" pitchFamily="49" charset="-122"/>
                    <a:ea typeface="楷体" panose="02010609060101010101" pitchFamily="49" charset="-122"/>
                  </a:rPr>
                  <a:t>是一棵满</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𝒎</m:t>
                    </m:r>
                  </m:oMath>
                </a14:m>
                <a:r>
                  <a:rPr lang="zh-CN" altLang="en-US" sz="2400" b="1">
                    <a:solidFill>
                      <a:srgbClr val="002060"/>
                    </a:solidFill>
                    <a:latin typeface="楷体" panose="02010609060101010101" pitchFamily="49" charset="-122"/>
                    <a:ea typeface="楷体" panose="02010609060101010101" pitchFamily="49" charset="-122"/>
                  </a:rPr>
                  <a:t>元树，有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𝒏</m:t>
                    </m:r>
                  </m:oMath>
                </a14:m>
                <a:r>
                  <a:rPr lang="zh-CN" altLang="en-US" sz="2400" b="1">
                    <a:solidFill>
                      <a:srgbClr val="002060"/>
                    </a:solidFill>
                    <a:latin typeface="楷体" panose="02010609060101010101" pitchFamily="49" charset="-122"/>
                    <a:ea typeface="楷体" panose="02010609060101010101" pitchFamily="49" charset="-122"/>
                  </a:rPr>
                  <a:t>个顶点，则它有多少内部顶点，多少片叶子？</a:t>
                </a:r>
              </a:p>
            </p:txBody>
          </p:sp>
        </mc:Choice>
        <mc:Fallback xmlns="">
          <p:sp>
            <p:nvSpPr>
              <p:cNvPr id="2" name="文本框 1">
                <a:extLst>
                  <a:ext uri="{FF2B5EF4-FFF2-40B4-BE49-F238E27FC236}">
                    <a16:creationId xmlns:a16="http://schemas.microsoft.com/office/drawing/2014/main" id="{31FF8C59-6150-4ACD-A671-251FA12FB0E0}"/>
                  </a:ext>
                </a:extLst>
              </p:cNvPr>
              <p:cNvSpPr txBox="1">
                <a:spLocks noRot="1" noChangeAspect="1" noMove="1" noResize="1" noEditPoints="1" noAdjustHandles="1" noChangeArrowheads="1" noChangeShapeType="1" noTextEdit="1"/>
              </p:cNvSpPr>
              <p:nvPr/>
            </p:nvSpPr>
            <p:spPr>
              <a:xfrm>
                <a:off x="904532" y="1633467"/>
                <a:ext cx="9742635" cy="461665"/>
              </a:xfrm>
              <a:prstGeom prst="rect">
                <a:avLst/>
              </a:prstGeom>
              <a:blipFill>
                <a:blip r:embed="rId3"/>
                <a:stretch>
                  <a:fillRect l="-938" t="-14474" r="-813"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1A18EE1-3A7B-4D93-8CDE-4FDD780AE585}"/>
                  </a:ext>
                </a:extLst>
              </p:cNvPr>
              <p:cNvSpPr txBox="1"/>
              <p:nvPr/>
            </p:nvSpPr>
            <p:spPr>
              <a:xfrm>
                <a:off x="904532" y="2536448"/>
                <a:ext cx="7032328" cy="178510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设满</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元树</a:t>
                </a:r>
                <a14:m>
                  <m:oMath xmlns:m="http://schemas.openxmlformats.org/officeDocument/2006/math">
                    <m:r>
                      <a:rPr lang="en-US" altLang="zh-CN" sz="2000" b="1" i="1" smtClean="0">
                        <a:solidFill>
                          <a:srgbClr val="002060"/>
                        </a:solidFill>
                        <a:latin typeface="Cambria Math" panose="02040503050406030204" pitchFamily="18" charset="0"/>
                      </a:rPr>
                      <m:t>𝑻</m:t>
                    </m:r>
                  </m:oMath>
                </a14:m>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𝒏</m:t>
                    </m:r>
                  </m:oMath>
                </a14:m>
                <a:r>
                  <a:rPr lang="zh-CN" altLang="en-US" sz="2000" b="1">
                    <a:solidFill>
                      <a:srgbClr val="002060"/>
                    </a:solidFill>
                    <a:latin typeface="楷体" panose="02010609060101010101" pitchFamily="49" charset="-122"/>
                    <a:ea typeface="楷体" panose="02010609060101010101" pitchFamily="49" charset="-122"/>
                  </a:rPr>
                  <a:t>个顶点，</a:t>
                </a:r>
                <a14:m>
                  <m:oMath xmlns:m="http://schemas.openxmlformats.org/officeDocument/2006/math">
                    <m:r>
                      <a:rPr lang="en-US" altLang="zh-CN" sz="2000" b="1" i="1" smtClean="0">
                        <a:solidFill>
                          <a:srgbClr val="002060"/>
                        </a:solidFill>
                        <a:latin typeface="Cambria Math" panose="02040503050406030204" pitchFamily="18" charset="0"/>
                      </a:rPr>
                      <m:t>𝒊</m:t>
                    </m:r>
                  </m:oMath>
                </a14:m>
                <a:r>
                  <a:rPr lang="zh-CN" altLang="en-US" sz="2000" b="1">
                    <a:solidFill>
                      <a:srgbClr val="002060"/>
                    </a:solidFill>
                    <a:latin typeface="楷体" panose="02010609060101010101" pitchFamily="49" charset="-122"/>
                    <a:ea typeface="楷体" panose="02010609060101010101" pitchFamily="49" charset="-122"/>
                  </a:rPr>
                  <a:t>个内部顶点，</a:t>
                </a:r>
                <a14:m>
                  <m:oMath xmlns:m="http://schemas.openxmlformats.org/officeDocument/2006/math">
                    <m:r>
                      <a:rPr lang="en-US" altLang="zh-CN" sz="2000" b="1" i="1" smtClean="0">
                        <a:solidFill>
                          <a:srgbClr val="002060"/>
                        </a:solidFill>
                        <a:latin typeface="Cambria Math" panose="02040503050406030204" pitchFamily="18" charset="0"/>
                      </a:rPr>
                      <m:t>𝒍</m:t>
                    </m:r>
                  </m:oMath>
                </a14:m>
                <a:r>
                  <a:rPr lang="zh-CN" altLang="en-US" sz="2000" b="1">
                    <a:solidFill>
                      <a:srgbClr val="002060"/>
                    </a:solidFill>
                    <a:latin typeface="楷体" panose="02010609060101010101" pitchFamily="49" charset="-122"/>
                    <a:ea typeface="楷体" panose="02010609060101010101" pitchFamily="49" charset="-122"/>
                  </a:rPr>
                  <a:t>个叶子顶点</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由</a:t>
                </a:r>
                <a:r>
                  <a:rPr lang="zh-CN" altLang="en-US" sz="2000" b="1">
                    <a:solidFill>
                      <a:srgbClr val="C00000"/>
                    </a:solidFill>
                  </a:rPr>
                  <a:t>握手定理</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个顶点的</a:t>
                </a:r>
                <a:r>
                  <a:rPr lang="zh-CN" altLang="en-US" sz="2000" b="1">
                    <a:solidFill>
                      <a:srgbClr val="0000FF"/>
                    </a:solidFill>
                  </a:rPr>
                  <a:t>出度之和是</a:t>
                </a:r>
                <a14:m>
                  <m:oMath xmlns:m="http://schemas.openxmlformats.org/officeDocument/2006/math">
                    <m:r>
                      <a:rPr lang="en-US" altLang="zh-CN" sz="2000" b="1" i="1" smtClean="0">
                        <a:solidFill>
                          <a:srgbClr val="0000FF"/>
                        </a:solidFill>
                        <a:latin typeface="Cambria Math" panose="02040503050406030204" pitchFamily="18" charset="0"/>
                      </a:rPr>
                      <m:t>𝒏</m:t>
                    </m:r>
                    <m:r>
                      <a:rPr lang="en-US" altLang="zh-CN" sz="2000" b="1" i="1" smtClean="0">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𝟏</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𝒊</m:t>
                    </m:r>
                  </m:oMath>
                </a14:m>
                <a:r>
                  <a:rPr lang="zh-CN" altLang="en-US" sz="2000" b="1">
                    <a:solidFill>
                      <a:schemeClr val="accent6">
                        <a:lumMod val="50000"/>
                      </a:schemeClr>
                    </a:solidFill>
                  </a:rPr>
                  <a:t>个</a:t>
                </a:r>
                <a:r>
                  <a:rPr lang="zh-CN" altLang="en-US" sz="2000" b="1">
                    <a:solidFill>
                      <a:srgbClr val="0000FF"/>
                    </a:solidFill>
                  </a:rPr>
                  <a:t>内部顶点有</a:t>
                </a:r>
                <a14:m>
                  <m:oMath xmlns:m="http://schemas.openxmlformats.org/officeDocument/2006/math">
                    <m:r>
                      <a:rPr lang="en-US" altLang="zh-CN" sz="2000" b="1" i="1" smtClean="0">
                        <a:solidFill>
                          <a:srgbClr val="0000FF"/>
                        </a:solidFill>
                        <a:latin typeface="Cambria Math" panose="02040503050406030204" pitchFamily="18" charset="0"/>
                      </a:rPr>
                      <m:t>𝒎𝒊</m:t>
                    </m:r>
                  </m:oMath>
                </a14:m>
                <a:r>
                  <a:rPr lang="zh-CN" altLang="en-US" sz="2000" b="1">
                    <a:solidFill>
                      <a:srgbClr val="0000FF"/>
                    </a:solidFill>
                  </a:rPr>
                  <a:t>个出度</a:t>
                </a:r>
                <a:r>
                  <a:rPr lang="zh-CN" altLang="en-US" sz="2000" b="1">
                    <a:solidFill>
                      <a:schemeClr val="accent6">
                        <a:lumMod val="50000"/>
                      </a:schemeClr>
                    </a:solidFill>
                  </a:rPr>
                  <a:t>，因此</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𝒎𝒊</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oMath>
                </a14:m>
                <a:r>
                  <a:rPr lang="zh-CN" altLang="en-US" sz="2000" b="1">
                    <a:solidFill>
                      <a:schemeClr val="accent6">
                        <a:lumMod val="50000"/>
                      </a:schemeClr>
                    </a:solidFill>
                  </a:rPr>
                  <a:t>，而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r>
                      <a:rPr lang="en-US" altLang="zh-CN" sz="2000" b="1" i="1" smtClean="0">
                        <a:solidFill>
                          <a:schemeClr val="accent6">
                            <a:lumMod val="50000"/>
                          </a:schemeClr>
                        </a:solidFill>
                        <a:latin typeface="Cambria Math" panose="02040503050406030204" pitchFamily="18" charset="0"/>
                      </a:rPr>
                      <m:t> = </m:t>
                    </m:r>
                    <m:r>
                      <a:rPr lang="en-US" altLang="zh-CN" sz="2000" b="1" i="1" smtClean="0">
                        <a:solidFill>
                          <a:schemeClr val="accent6">
                            <a:lumMod val="50000"/>
                          </a:schemeClr>
                        </a:solidFill>
                        <a:latin typeface="Cambria Math" panose="02040503050406030204" pitchFamily="18" charset="0"/>
                      </a:rPr>
                      <m:t>𝒊</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𝒍</m:t>
                    </m:r>
                  </m:oMath>
                </a14:m>
                <a:endParaRPr lang="en-US" altLang="zh-CN" sz="20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因此可得到：</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𝒊</m:t>
                    </m:r>
                    <m:r>
                      <a:rPr lang="en-US" altLang="zh-CN" sz="2000" b="1" i="1" smtClean="0">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𝒎</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𝒍</m:t>
                    </m:r>
                    <m:r>
                      <a:rPr lang="en-US" altLang="zh-CN" sz="2000" b="1" i="1" smtClean="0">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𝒎</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𝒎</m:t>
                    </m:r>
                  </m:oMath>
                </a14:m>
                <a:endParaRPr lang="en-US" altLang="zh-CN" sz="2000" b="1">
                  <a:solidFill>
                    <a:schemeClr val="accent6">
                      <a:lumMod val="50000"/>
                    </a:schemeClr>
                  </a:solidFill>
                </a:endParaRPr>
              </a:p>
            </p:txBody>
          </p:sp>
        </mc:Choice>
        <mc:Fallback xmlns="">
          <p:sp>
            <p:nvSpPr>
              <p:cNvPr id="3" name="文本框 2">
                <a:extLst>
                  <a:ext uri="{FF2B5EF4-FFF2-40B4-BE49-F238E27FC236}">
                    <a16:creationId xmlns:a16="http://schemas.microsoft.com/office/drawing/2014/main" id="{D1A18EE1-3A7B-4D93-8CDE-4FDD780AE585}"/>
                  </a:ext>
                </a:extLst>
              </p:cNvPr>
              <p:cNvSpPr txBox="1">
                <a:spLocks noRot="1" noChangeAspect="1" noMove="1" noResize="1" noEditPoints="1" noAdjustHandles="1" noChangeArrowheads="1" noChangeShapeType="1" noTextEdit="1"/>
              </p:cNvSpPr>
              <p:nvPr/>
            </p:nvSpPr>
            <p:spPr>
              <a:xfrm>
                <a:off x="904532" y="2536448"/>
                <a:ext cx="7032328" cy="1785104"/>
              </a:xfrm>
              <a:prstGeom prst="rect">
                <a:avLst/>
              </a:prstGeom>
              <a:blipFill>
                <a:blip r:embed="rId4"/>
                <a:stretch>
                  <a:fillRect l="-867" t="-2389" b="-5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4D121A8-CC4D-4D9D-BE98-A3DD06F8CE52}"/>
                  </a:ext>
                </a:extLst>
              </p:cNvPr>
              <p:cNvSpPr txBox="1"/>
              <p:nvPr/>
            </p:nvSpPr>
            <p:spPr>
              <a:xfrm>
                <a:off x="904532" y="4814342"/>
                <a:ext cx="5756114" cy="642484"/>
              </a:xfrm>
              <a:prstGeom prst="rect">
                <a:avLst/>
              </a:prstGeom>
              <a:solidFill>
                <a:schemeClr val="accent4">
                  <a:lumMod val="20000"/>
                  <a:lumOff val="80000"/>
                  <a:alpha val="50000"/>
                </a:schemeClr>
              </a:solidFill>
            </p:spPr>
            <p:txBody>
              <a:bodyPr wrap="square" rtlCol="0">
                <a:spAutoFit/>
              </a:bodyPr>
              <a:lstStyle/>
              <a:p>
                <a:pPr algn="ct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 = </m:t>
                    </m:r>
                    <m:r>
                      <a:rPr lang="en-US" altLang="zh-CN" sz="2400" b="1" i="1">
                        <a:solidFill>
                          <a:schemeClr val="accent2">
                            <a:lumMod val="50000"/>
                          </a:schemeClr>
                        </a:solidFill>
                        <a:latin typeface="Cambria Math" panose="02040503050406030204" pitchFamily="18" charset="0"/>
                      </a:rPr>
                      <m:t>𝒊</m:t>
                    </m:r>
                    <m:r>
                      <a:rPr lang="en-US" altLang="zh-CN" sz="2400" b="1" i="1">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𝒍</m:t>
                    </m:r>
                  </m:oMath>
                </a14:m>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𝒊</m:t>
                    </m:r>
                    <m:r>
                      <a:rPr lang="en-US" altLang="zh-CN" sz="2400" b="1" i="1" smtClean="0">
                        <a:solidFill>
                          <a:schemeClr val="accent2">
                            <a:lumMod val="50000"/>
                          </a:schemeClr>
                        </a:solidFill>
                        <a:latin typeface="Cambria Math" panose="02040503050406030204" pitchFamily="18" charset="0"/>
                      </a:rPr>
                      <m:t> =</m:t>
                    </m:r>
                    <m:f>
                      <m:fPr>
                        <m:ctrlPr>
                          <a:rPr lang="en-US" altLang="zh-CN" sz="2400" b="1" i="1" smtClean="0">
                            <a:solidFill>
                              <a:schemeClr val="accent2">
                                <a:lumMod val="50000"/>
                              </a:schemeClr>
                            </a:solidFill>
                            <a:latin typeface="Cambria Math" panose="02040503050406030204" pitchFamily="18" charset="0"/>
                          </a:rPr>
                        </m:ctrlPr>
                      </m:fPr>
                      <m:num>
                        <m:r>
                          <a:rPr lang="en-US" altLang="zh-CN" sz="2400" b="1" i="1" smtClean="0">
                            <a:solidFill>
                              <a:schemeClr val="accent2">
                                <a:lumMod val="50000"/>
                              </a:schemeClr>
                            </a:solidFill>
                            <a:latin typeface="Cambria Math" panose="02040503050406030204" pitchFamily="18" charset="0"/>
                          </a:rPr>
                          <m:t>𝒏</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num>
                      <m:den>
                        <m:r>
                          <a:rPr lang="en-US" altLang="zh-CN" sz="2400" b="1" i="1">
                            <a:solidFill>
                              <a:schemeClr val="accent2">
                                <a:lumMod val="50000"/>
                              </a:schemeClr>
                            </a:solidFill>
                            <a:latin typeface="Cambria Math" panose="02040503050406030204" pitchFamily="18" charset="0"/>
                          </a:rPr>
                          <m:t>𝒎</m:t>
                        </m:r>
                      </m:den>
                    </m:f>
                  </m:oMath>
                </a14:m>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𝒍</m:t>
                    </m:r>
                    <m:r>
                      <a:rPr lang="en-US" altLang="zh-CN" sz="2400" b="1" i="1" smtClean="0">
                        <a:solidFill>
                          <a:schemeClr val="accent2">
                            <a:lumMod val="50000"/>
                          </a:schemeClr>
                        </a:solidFill>
                        <a:latin typeface="Cambria Math" panose="02040503050406030204" pitchFamily="18" charset="0"/>
                      </a:rPr>
                      <m:t> =</m:t>
                    </m:r>
                    <m:f>
                      <m:fPr>
                        <m:ctrlPr>
                          <a:rPr lang="en-US" altLang="zh-CN" sz="2400" b="1" i="1" smtClean="0">
                            <a:solidFill>
                              <a:schemeClr val="accent2">
                                <a:lumMod val="50000"/>
                              </a:schemeClr>
                            </a:solidFill>
                            <a:latin typeface="Cambria Math" panose="02040503050406030204" pitchFamily="18" charset="0"/>
                          </a:rPr>
                        </m:ctrlPr>
                      </m:fPr>
                      <m:num>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𝒎</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e>
                        </m:d>
                        <m:r>
                          <a:rPr lang="en-US" altLang="zh-CN" sz="2400" b="1" i="1">
                            <a:solidFill>
                              <a:schemeClr val="accent2">
                                <a:lumMod val="50000"/>
                              </a:schemeClr>
                            </a:solidFill>
                            <a:latin typeface="Cambria Math" panose="02040503050406030204" pitchFamily="18" charset="0"/>
                          </a:rPr>
                          <m:t>𝒏</m:t>
                        </m:r>
                        <m:r>
                          <a:rPr lang="en-US" altLang="zh-CN" sz="2400" b="1" i="1">
                            <a:solidFill>
                              <a:schemeClr val="accent2">
                                <a:lumMod val="50000"/>
                              </a:schemeClr>
                            </a:solidFill>
                            <a:latin typeface="Cambria Math" panose="02040503050406030204" pitchFamily="18" charset="0"/>
                          </a:rPr>
                          <m:t> + </m:t>
                        </m:r>
                        <m:r>
                          <a:rPr lang="en-US" altLang="zh-CN" sz="2400" b="1" i="1">
                            <a:solidFill>
                              <a:schemeClr val="accent2">
                                <a:lumMod val="50000"/>
                              </a:schemeClr>
                            </a:solidFill>
                            <a:latin typeface="Cambria Math" panose="02040503050406030204" pitchFamily="18" charset="0"/>
                          </a:rPr>
                          <m:t>𝟏</m:t>
                        </m:r>
                      </m:num>
                      <m:den>
                        <m:r>
                          <a:rPr lang="en-US" altLang="zh-CN" sz="2400" b="1" i="1" smtClean="0">
                            <a:solidFill>
                              <a:schemeClr val="accent2">
                                <a:lumMod val="50000"/>
                              </a:schemeClr>
                            </a:solidFill>
                            <a:latin typeface="Cambria Math" panose="02040503050406030204" pitchFamily="18" charset="0"/>
                          </a:rPr>
                          <m:t>𝒎</m:t>
                        </m:r>
                      </m:den>
                    </m:f>
                  </m:oMath>
                </a14:m>
                <a:endParaRPr lang="zh-CN" altLang="en-US" sz="2400">
                  <a:solidFill>
                    <a:schemeClr val="accent2">
                      <a:lumMod val="50000"/>
                    </a:schemeClr>
                  </a:solidFill>
                </a:endParaRPr>
              </a:p>
            </p:txBody>
          </p:sp>
        </mc:Choice>
        <mc:Fallback xmlns="">
          <p:sp>
            <p:nvSpPr>
              <p:cNvPr id="4" name="文本框 3">
                <a:extLst>
                  <a:ext uri="{FF2B5EF4-FFF2-40B4-BE49-F238E27FC236}">
                    <a16:creationId xmlns:a16="http://schemas.microsoft.com/office/drawing/2014/main" id="{74D121A8-CC4D-4D9D-BE98-A3DD06F8CE52}"/>
                  </a:ext>
                </a:extLst>
              </p:cNvPr>
              <p:cNvSpPr txBox="1">
                <a:spLocks noRot="1" noChangeAspect="1" noMove="1" noResize="1" noEditPoints="1" noAdjustHandles="1" noChangeArrowheads="1" noChangeShapeType="1" noTextEdit="1"/>
              </p:cNvSpPr>
              <p:nvPr/>
            </p:nvSpPr>
            <p:spPr>
              <a:xfrm>
                <a:off x="904532" y="4814342"/>
                <a:ext cx="5756114" cy="64248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2B388BA-2550-4EA2-8346-0B13F63F9D9E}"/>
                  </a:ext>
                </a:extLst>
              </p:cNvPr>
              <p:cNvSpPr txBox="1"/>
              <p:nvPr/>
            </p:nvSpPr>
            <p:spPr>
              <a:xfrm>
                <a:off x="8162718" y="2980525"/>
                <a:ext cx="3124750"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为什么出度之和是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oMath>
                </a14:m>
                <a:r>
                  <a:rPr lang="zh-CN" altLang="en-US" sz="2000" b="1">
                    <a:solidFill>
                      <a:schemeClr val="accent2">
                        <a:lumMod val="50000"/>
                      </a:schemeClr>
                    </a:solidFill>
                  </a:rPr>
                  <a:t>？</a:t>
                </a:r>
              </a:p>
            </p:txBody>
          </p:sp>
        </mc:Choice>
        <mc:Fallback xmlns="">
          <p:sp>
            <p:nvSpPr>
              <p:cNvPr id="6" name="文本框 5">
                <a:extLst>
                  <a:ext uri="{FF2B5EF4-FFF2-40B4-BE49-F238E27FC236}">
                    <a16:creationId xmlns:a16="http://schemas.microsoft.com/office/drawing/2014/main" id="{C2B388BA-2550-4EA2-8346-0B13F63F9D9E}"/>
                  </a:ext>
                </a:extLst>
              </p:cNvPr>
              <p:cNvSpPr txBox="1">
                <a:spLocks noRot="1" noChangeAspect="1" noMove="1" noResize="1" noEditPoints="1" noAdjustHandles="1" noChangeArrowheads="1" noChangeShapeType="1" noTextEdit="1"/>
              </p:cNvSpPr>
              <p:nvPr/>
            </p:nvSpPr>
            <p:spPr>
              <a:xfrm>
                <a:off x="8162718" y="2980525"/>
                <a:ext cx="3124750" cy="400110"/>
              </a:xfrm>
              <a:prstGeom prst="rect">
                <a:avLst/>
              </a:prstGeom>
              <a:blipFill>
                <a:blip r:embed="rId6"/>
                <a:stretch>
                  <a:fillRect l="-1949" t="-9091" r="-1559" b="-2575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2F71867-0617-488E-9909-A206E42A4D0F}"/>
              </a:ext>
            </a:extLst>
          </p:cNvPr>
          <p:cNvSpPr txBox="1"/>
          <p:nvPr/>
        </p:nvSpPr>
        <p:spPr>
          <a:xfrm>
            <a:off x="8162718" y="3536598"/>
            <a:ext cx="2230084"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叶子顶点没有出度！</a:t>
            </a:r>
          </a:p>
        </p:txBody>
      </p:sp>
      <p:sp>
        <p:nvSpPr>
          <p:cNvPr id="12" name="文本框 11">
            <a:extLst>
              <a:ext uri="{FF2B5EF4-FFF2-40B4-BE49-F238E27FC236}">
                <a16:creationId xmlns:a16="http://schemas.microsoft.com/office/drawing/2014/main" id="{D42CC9D0-A05A-4B6E-BDE2-7F8D5E67F43B}"/>
              </a:ext>
            </a:extLst>
          </p:cNvPr>
          <p:cNvSpPr txBox="1"/>
          <p:nvPr/>
        </p:nvSpPr>
        <p:spPr>
          <a:xfrm>
            <a:off x="7307527" y="4953475"/>
            <a:ext cx="397994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注意：根树除根外所有顶点入度都为</a:t>
            </a:r>
            <a:r>
              <a:rPr lang="en-US" altLang="zh-CN" b="1">
                <a:solidFill>
                  <a:schemeClr val="accent2">
                    <a:lumMod val="50000"/>
                  </a:schemeClr>
                </a:solidFill>
              </a:rPr>
              <a:t>1</a:t>
            </a:r>
            <a:endParaRPr lang="zh-CN" altLang="en-US" b="1">
              <a:solidFill>
                <a:schemeClr val="accent2">
                  <a:lumMod val="50000"/>
                </a:schemeClr>
              </a:solidFill>
            </a:endParaRPr>
          </a:p>
        </p:txBody>
      </p:sp>
    </p:spTree>
    <p:extLst>
      <p:ext uri="{BB962C8B-B14F-4D97-AF65-F5344CB8AC3E}">
        <p14:creationId xmlns:p14="http://schemas.microsoft.com/office/powerpoint/2010/main" val="3902352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𝑚</m:t>
                    </m:r>
                  </m:oMath>
                </a14:m>
                <a:r>
                  <a:rPr lang="en-US" altLang="zh-CN"/>
                  <a:t>-</a:t>
                </a:r>
                <a:r>
                  <a:rPr lang="zh-CN" altLang="en-US"/>
                  <a:t>元树的顶点数</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1FF8C59-6150-4ACD-A671-251FA12FB0E0}"/>
                  </a:ext>
                </a:extLst>
              </p:cNvPr>
              <p:cNvSpPr txBox="1"/>
              <p:nvPr/>
            </p:nvSpPr>
            <p:spPr>
              <a:xfrm>
                <a:off x="904532" y="1633467"/>
                <a:ext cx="9742635" cy="907300"/>
              </a:xfrm>
              <a:prstGeom prst="rect">
                <a:avLst/>
              </a:prstGeom>
              <a:solidFill>
                <a:schemeClr val="accent6">
                  <a:lumMod val="20000"/>
                  <a:lumOff val="80000"/>
                  <a:alpha val="50000"/>
                </a:schemeClr>
              </a:solidFill>
            </p:spPr>
            <p:txBody>
              <a:bodyPr wrap="square" rtlCol="0">
                <a:spAutoFit/>
              </a:bodyPr>
              <a:lstStyle/>
              <a:p>
                <a:pPr>
                  <a:lnSpc>
                    <a:spcPts val="3400"/>
                  </a:lnSpc>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𝑻</m:t>
                    </m:r>
                  </m:oMath>
                </a14:m>
                <a:r>
                  <a:rPr lang="zh-CN" altLang="en-US" sz="2400" b="1">
                    <a:solidFill>
                      <a:srgbClr val="002060"/>
                    </a:solidFill>
                    <a:latin typeface="楷体" panose="02010609060101010101" pitchFamily="49" charset="-122"/>
                    <a:ea typeface="楷体" panose="02010609060101010101" pitchFamily="49" charset="-122"/>
                  </a:rPr>
                  <a:t>是一棵满</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𝟑</m:t>
                    </m:r>
                  </m:oMath>
                </a14:m>
                <a:r>
                  <a:rPr lang="zh-CN" altLang="en-US" sz="2400" b="1">
                    <a:solidFill>
                      <a:srgbClr val="002060"/>
                    </a:solidFill>
                    <a:latin typeface="楷体" panose="02010609060101010101" pitchFamily="49" charset="-122"/>
                    <a:ea typeface="楷体" panose="02010609060101010101" pitchFamily="49" charset="-122"/>
                  </a:rPr>
                  <a:t>元树，且有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𝟏𝟑</m:t>
                    </m:r>
                  </m:oMath>
                </a14:m>
                <a:r>
                  <a:rPr lang="zh-CN" altLang="en-US" sz="2400" b="1">
                    <a:solidFill>
                      <a:srgbClr val="002060"/>
                    </a:solidFill>
                    <a:latin typeface="楷体" panose="02010609060101010101" pitchFamily="49" charset="-122"/>
                    <a:ea typeface="楷体" panose="02010609060101010101" pitchFamily="49" charset="-122"/>
                  </a:rPr>
                  <a:t>片叶子，则它有多少顶点，其中有多少内部顶点？</a:t>
                </a:r>
              </a:p>
            </p:txBody>
          </p:sp>
        </mc:Choice>
        <mc:Fallback xmlns="">
          <p:sp>
            <p:nvSpPr>
              <p:cNvPr id="2" name="文本框 1">
                <a:extLst>
                  <a:ext uri="{FF2B5EF4-FFF2-40B4-BE49-F238E27FC236}">
                    <a16:creationId xmlns:a16="http://schemas.microsoft.com/office/drawing/2014/main" id="{31FF8C59-6150-4ACD-A671-251FA12FB0E0}"/>
                  </a:ext>
                </a:extLst>
              </p:cNvPr>
              <p:cNvSpPr txBox="1">
                <a:spLocks noRot="1" noChangeAspect="1" noMove="1" noResize="1" noEditPoints="1" noAdjustHandles="1" noChangeArrowheads="1" noChangeShapeType="1" noTextEdit="1"/>
              </p:cNvSpPr>
              <p:nvPr/>
            </p:nvSpPr>
            <p:spPr>
              <a:xfrm>
                <a:off x="904532" y="1633467"/>
                <a:ext cx="9742635" cy="907300"/>
              </a:xfrm>
              <a:prstGeom prst="rect">
                <a:avLst/>
              </a:prstGeom>
              <a:blipFill>
                <a:blip r:embed="rId3"/>
                <a:stretch>
                  <a:fillRect l="-938" t="-4698" b="-140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94454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𝑚</m:t>
                    </m:r>
                  </m:oMath>
                </a14:m>
                <a:r>
                  <a:rPr lang="en-US" altLang="zh-CN"/>
                  <a:t>-</a:t>
                </a:r>
                <a:r>
                  <a:rPr lang="zh-CN" altLang="en-US"/>
                  <a:t>元树的顶点数</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1FF8C59-6150-4ACD-A671-251FA12FB0E0}"/>
                  </a:ext>
                </a:extLst>
              </p:cNvPr>
              <p:cNvSpPr txBox="1"/>
              <p:nvPr/>
            </p:nvSpPr>
            <p:spPr>
              <a:xfrm>
                <a:off x="904532" y="1633467"/>
                <a:ext cx="9742635" cy="907300"/>
              </a:xfrm>
              <a:prstGeom prst="rect">
                <a:avLst/>
              </a:prstGeom>
              <a:solidFill>
                <a:schemeClr val="accent6">
                  <a:lumMod val="20000"/>
                  <a:lumOff val="80000"/>
                  <a:alpha val="50000"/>
                </a:schemeClr>
              </a:solidFill>
            </p:spPr>
            <p:txBody>
              <a:bodyPr wrap="square" rtlCol="0">
                <a:spAutoFit/>
              </a:bodyPr>
              <a:lstStyle/>
              <a:p>
                <a:pPr>
                  <a:lnSpc>
                    <a:spcPts val="3400"/>
                  </a:lnSpc>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𝑻</m:t>
                    </m:r>
                  </m:oMath>
                </a14:m>
                <a:r>
                  <a:rPr lang="zh-CN" altLang="en-US" sz="2400" b="1">
                    <a:solidFill>
                      <a:srgbClr val="002060"/>
                    </a:solidFill>
                    <a:latin typeface="楷体" panose="02010609060101010101" pitchFamily="49" charset="-122"/>
                    <a:ea typeface="楷体" panose="02010609060101010101" pitchFamily="49" charset="-122"/>
                  </a:rPr>
                  <a:t>是一棵满</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𝟑</m:t>
                    </m:r>
                  </m:oMath>
                </a14:m>
                <a:r>
                  <a:rPr lang="zh-CN" altLang="en-US" sz="2400" b="1">
                    <a:solidFill>
                      <a:srgbClr val="002060"/>
                    </a:solidFill>
                    <a:latin typeface="楷体" panose="02010609060101010101" pitchFamily="49" charset="-122"/>
                    <a:ea typeface="楷体" panose="02010609060101010101" pitchFamily="49" charset="-122"/>
                  </a:rPr>
                  <a:t>元树，且有</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𝟏𝟑</m:t>
                    </m:r>
                  </m:oMath>
                </a14:m>
                <a:r>
                  <a:rPr lang="zh-CN" altLang="en-US" sz="2400" b="1">
                    <a:solidFill>
                      <a:srgbClr val="002060"/>
                    </a:solidFill>
                    <a:latin typeface="楷体" panose="02010609060101010101" pitchFamily="49" charset="-122"/>
                    <a:ea typeface="楷体" panose="02010609060101010101" pitchFamily="49" charset="-122"/>
                  </a:rPr>
                  <a:t>片叶子，则它有多少顶点，其中有多少内部顶点？</a:t>
                </a:r>
              </a:p>
            </p:txBody>
          </p:sp>
        </mc:Choice>
        <mc:Fallback xmlns="">
          <p:sp>
            <p:nvSpPr>
              <p:cNvPr id="2" name="文本框 1">
                <a:extLst>
                  <a:ext uri="{FF2B5EF4-FFF2-40B4-BE49-F238E27FC236}">
                    <a16:creationId xmlns:a16="http://schemas.microsoft.com/office/drawing/2014/main" id="{31FF8C59-6150-4ACD-A671-251FA12FB0E0}"/>
                  </a:ext>
                </a:extLst>
              </p:cNvPr>
              <p:cNvSpPr txBox="1">
                <a:spLocks noRot="1" noChangeAspect="1" noMove="1" noResize="1" noEditPoints="1" noAdjustHandles="1" noChangeArrowheads="1" noChangeShapeType="1" noTextEdit="1"/>
              </p:cNvSpPr>
              <p:nvPr/>
            </p:nvSpPr>
            <p:spPr>
              <a:xfrm>
                <a:off x="904532" y="1633467"/>
                <a:ext cx="9742635" cy="907300"/>
              </a:xfrm>
              <a:prstGeom prst="rect">
                <a:avLst/>
              </a:prstGeom>
              <a:blipFill>
                <a:blip r:embed="rId3"/>
                <a:stretch>
                  <a:fillRect l="-938" t="-4698" b="-14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09DD6DC-DEDD-434F-A234-E0C0B7CCC1FA}"/>
                  </a:ext>
                </a:extLst>
              </p:cNvPr>
              <p:cNvSpPr txBox="1"/>
              <p:nvPr/>
            </p:nvSpPr>
            <p:spPr>
              <a:xfrm>
                <a:off x="904532" y="3247053"/>
                <a:ext cx="9742635" cy="1301895"/>
              </a:xfrm>
              <a:prstGeom prst="rect">
                <a:avLst/>
              </a:prstGeom>
              <a:solidFill>
                <a:schemeClr val="accent5">
                  <a:lumMod val="20000"/>
                  <a:lumOff val="80000"/>
                </a:schemeClr>
              </a:solidFill>
            </p:spPr>
            <p:txBody>
              <a:bodyPr wrap="square" rtlCol="0">
                <a:spAutoFit/>
              </a:bodyPr>
              <a:lstStyle/>
              <a:p>
                <a:pPr>
                  <a:lnSpc>
                    <a:spcPts val="3200"/>
                  </a:lnSpc>
                </a:pPr>
                <a:r>
                  <a:rPr lang="zh-CN" altLang="en-US" sz="2400" b="1">
                    <a:solidFill>
                      <a:schemeClr val="accent2">
                        <a:lumMod val="50000"/>
                      </a:schemeClr>
                    </a:solidFill>
                  </a:rPr>
                  <a:t>设有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oMath>
                </a14:m>
                <a:r>
                  <a:rPr lang="zh-CN" altLang="en-US" sz="2400" b="1">
                    <a:solidFill>
                      <a:schemeClr val="accent2">
                        <a:lumMod val="50000"/>
                      </a:schemeClr>
                    </a:solidFill>
                  </a:rPr>
                  <a:t>个内部顶点，则每个内部顶点有</a:t>
                </a:r>
                <a:r>
                  <a:rPr lang="en-US" altLang="zh-CN" sz="2400" b="1">
                    <a:solidFill>
                      <a:schemeClr val="accent2">
                        <a:lumMod val="50000"/>
                      </a:schemeClr>
                    </a:solidFill>
                  </a:rPr>
                  <a:t>3</a:t>
                </a:r>
                <a:r>
                  <a:rPr lang="zh-CN" altLang="en-US" sz="2400" b="1">
                    <a:solidFill>
                      <a:schemeClr val="accent2">
                        <a:lumMod val="50000"/>
                      </a:schemeClr>
                    </a:solidFill>
                  </a:rPr>
                  <a:t>个出度，出度之和是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𝟑</m:t>
                    </m:r>
                    <m:r>
                      <a:rPr lang="en-US" altLang="zh-CN" sz="2400" b="1" i="1" smtClean="0">
                        <a:solidFill>
                          <a:schemeClr val="accent2">
                            <a:lumMod val="50000"/>
                          </a:schemeClr>
                        </a:solidFill>
                        <a:latin typeface="Cambria Math" panose="02040503050406030204" pitchFamily="18" charset="0"/>
                      </a:rPr>
                      <m:t>𝒙</m:t>
                    </m:r>
                  </m:oMath>
                </a14:m>
                <a:r>
                  <a:rPr lang="zh-CN" altLang="en-US" sz="2400" b="1">
                    <a:solidFill>
                      <a:schemeClr val="accent2">
                        <a:lumMod val="50000"/>
                      </a:schemeClr>
                    </a:solidFill>
                  </a:rPr>
                  <a:t>，从而</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𝑻</m:t>
                    </m:r>
                  </m:oMath>
                </a14:m>
                <a:r>
                  <a:rPr lang="zh-CN" altLang="en-US" sz="2400" b="1">
                    <a:solidFill>
                      <a:schemeClr val="accent2">
                        <a:lumMod val="50000"/>
                      </a:schemeClr>
                    </a:solidFill>
                  </a:rPr>
                  <a:t>的边数也是</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𝟑</m:t>
                    </m:r>
                    <m:r>
                      <a:rPr lang="en-US" altLang="zh-CN" sz="2400" b="1" i="1" smtClean="0">
                        <a:solidFill>
                          <a:schemeClr val="accent2">
                            <a:lumMod val="50000"/>
                          </a:schemeClr>
                        </a:solidFill>
                        <a:latin typeface="Cambria Math" panose="02040503050406030204" pitchFamily="18" charset="0"/>
                      </a:rPr>
                      <m:t>𝒙</m:t>
                    </m:r>
                  </m:oMath>
                </a14:m>
                <a:r>
                  <a:rPr lang="zh-CN" altLang="en-US" sz="2400" b="1">
                    <a:solidFill>
                      <a:schemeClr val="accent2">
                        <a:lumMod val="50000"/>
                      </a:schemeClr>
                    </a:solidFill>
                  </a:rPr>
                  <a:t>，而边数等于顶点数减一，因此</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𝟑</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𝟏𝟑</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oMath>
                </a14:m>
                <a:r>
                  <a:rPr lang="zh-CN" altLang="en-US" sz="2400" b="1">
                    <a:solidFill>
                      <a:schemeClr val="accent2">
                        <a:lumMod val="50000"/>
                      </a:schemeClr>
                    </a:solidFill>
                  </a:rPr>
                  <a:t>，解得</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𝟔</m:t>
                    </m:r>
                  </m:oMath>
                </a14:m>
                <a:r>
                  <a:rPr lang="zh-CN" altLang="en-US" sz="2400" b="1">
                    <a:solidFill>
                      <a:schemeClr val="accent2">
                        <a:lumMod val="50000"/>
                      </a:schemeClr>
                    </a:solidFill>
                  </a:rPr>
                  <a:t>，即</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𝑻</m:t>
                    </m:r>
                  </m:oMath>
                </a14:m>
                <a:r>
                  <a:rPr lang="zh-CN" altLang="en-US" sz="2400" b="1">
                    <a:solidFill>
                      <a:schemeClr val="accent2">
                        <a:lumMod val="50000"/>
                      </a:schemeClr>
                    </a:solidFill>
                  </a:rPr>
                  <a:t>总共有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𝟏𝟗</m:t>
                    </m:r>
                  </m:oMath>
                </a14:m>
                <a:r>
                  <a:rPr lang="zh-CN" altLang="en-US" sz="2400" b="1">
                    <a:solidFill>
                      <a:schemeClr val="accent2">
                        <a:lumMod val="50000"/>
                      </a:schemeClr>
                    </a:solidFill>
                  </a:rPr>
                  <a:t>个顶点，其中有</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𝟔</m:t>
                    </m:r>
                  </m:oMath>
                </a14:m>
                <a:r>
                  <a:rPr lang="zh-CN" altLang="en-US" sz="2400" b="1">
                    <a:solidFill>
                      <a:schemeClr val="accent2">
                        <a:lumMod val="50000"/>
                      </a:schemeClr>
                    </a:solidFill>
                  </a:rPr>
                  <a:t>个内部顶点。</a:t>
                </a:r>
              </a:p>
            </p:txBody>
          </p:sp>
        </mc:Choice>
        <mc:Fallback xmlns="">
          <p:sp>
            <p:nvSpPr>
              <p:cNvPr id="13" name="文本框 12">
                <a:extLst>
                  <a:ext uri="{FF2B5EF4-FFF2-40B4-BE49-F238E27FC236}">
                    <a16:creationId xmlns:a16="http://schemas.microsoft.com/office/drawing/2014/main" id="{D09DD6DC-DEDD-434F-A234-E0C0B7CCC1FA}"/>
                  </a:ext>
                </a:extLst>
              </p:cNvPr>
              <p:cNvSpPr txBox="1">
                <a:spLocks noRot="1" noChangeAspect="1" noMove="1" noResize="1" noEditPoints="1" noAdjustHandles="1" noChangeArrowheads="1" noChangeShapeType="1" noTextEdit="1"/>
              </p:cNvSpPr>
              <p:nvPr/>
            </p:nvSpPr>
            <p:spPr>
              <a:xfrm>
                <a:off x="904532" y="3247053"/>
                <a:ext cx="9742635" cy="1301895"/>
              </a:xfrm>
              <a:prstGeom prst="rect">
                <a:avLst/>
              </a:prstGeom>
              <a:blipFill>
                <a:blip r:embed="rId4"/>
                <a:stretch>
                  <a:fillRect l="-938" t="-1878" b="-103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5295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根树的定义及性质</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altLang="zh-CN" i="1">
                        <a:latin typeface="Cambria Math" panose="02040503050406030204" pitchFamily="18" charset="0"/>
                      </a:rPr>
                      <m:t>𝑚</m:t>
                    </m:r>
                  </m:oMath>
                </a14:m>
                <a:r>
                  <a:rPr lang="en-US" altLang="zh-CN"/>
                  <a:t>-</a:t>
                </a:r>
                <a:r>
                  <a:rPr lang="zh-CN" altLang="en-US"/>
                  <a:t>元树的树高</a:t>
                </a:r>
              </a:p>
            </p:txBody>
          </p:sp>
        </mc:Choice>
        <mc:Fallback xmlns="">
          <p:sp>
            <p:nvSpPr>
              <p:cNvPr id="17" name="矩形 16">
                <a:extLst>
                  <a:ext uri="{FF2B5EF4-FFF2-40B4-BE49-F238E27FC236}">
                    <a16:creationId xmlns:a16="http://schemas.microsoft.com/office/drawing/2014/main" id="{C8A63A11-312B-46D2-98D0-53742CDD8886}"/>
                  </a:ext>
                </a:extLst>
              </p:cNvPr>
              <p:cNvSpPr>
                <a:spLocks noRot="1" noChangeAspect="1" noMove="1" noResize="1" noEditPoints="1" noAdjustHandles="1" noChangeArrowheads="1" noChangeShapeType="1" noTextEdit="1"/>
              </p:cNvSpPr>
              <p:nvPr/>
            </p:nvSpPr>
            <p:spPr>
              <a:xfrm>
                <a:off x="-2" y="322342"/>
                <a:ext cx="12192002" cy="459280"/>
              </a:xfrm>
              <a:prstGeom prst="rect">
                <a:avLst/>
              </a:prstGeom>
              <a:blipFill>
                <a:blip r:embed="rId2"/>
                <a:stretch>
                  <a:fillRect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1C8FCFB-B841-4A11-98FC-9B733B043A1A}"/>
                  </a:ext>
                </a:extLst>
              </p:cNvPr>
              <p:cNvSpPr txBox="1"/>
              <p:nvPr/>
            </p:nvSpPr>
            <p:spPr>
              <a:xfrm>
                <a:off x="977991" y="1597665"/>
                <a:ext cx="4093970" cy="411779"/>
              </a:xfrm>
              <a:prstGeom prst="rect">
                <a:avLst/>
              </a:prstGeom>
              <a:solidFill>
                <a:schemeClr val="accent2">
                  <a:lumMod val="40000"/>
                  <a:lumOff val="6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高度为</a:t>
                </a:r>
                <a14:m>
                  <m:oMath xmlns:m="http://schemas.openxmlformats.org/officeDocument/2006/math">
                    <m:r>
                      <a:rPr lang="en-US" altLang="zh-CN" sz="2000" b="1" i="1" smtClean="0">
                        <a:solidFill>
                          <a:srgbClr val="002060"/>
                        </a:solidFill>
                        <a:latin typeface="Cambria Math" panose="02040503050406030204" pitchFamily="18" charset="0"/>
                      </a:rPr>
                      <m:t>𝒉</m:t>
                    </m:r>
                  </m:oMath>
                </a14:m>
                <a:r>
                  <a:rPr lang="zh-CN" altLang="en-US" sz="2000" b="1">
                    <a:solidFill>
                      <a:srgbClr val="002060"/>
                    </a:solidFill>
                    <a:latin typeface="楷体" panose="02010609060101010101" pitchFamily="49" charset="-122"/>
                    <a:ea typeface="楷体" panose="02010609060101010101" pitchFamily="49" charset="-122"/>
                  </a:rPr>
                  <a:t>的完全</a:t>
                </a:r>
                <a14:m>
                  <m:oMath xmlns:m="http://schemas.openxmlformats.org/officeDocument/2006/math">
                    <m:r>
                      <a:rPr lang="en-US" altLang="zh-CN" sz="2000" b="1" i="1" smtClean="0">
                        <a:solidFill>
                          <a:srgbClr val="002060"/>
                        </a:solidFill>
                        <a:latin typeface="Cambria Math" panose="02040503050406030204" pitchFamily="18" charset="0"/>
                      </a:rPr>
                      <m:t>𝒎</m:t>
                    </m:r>
                  </m:oMath>
                </a14:m>
                <a:r>
                  <a:rPr lang="zh-CN" altLang="en-US" sz="2000" b="1">
                    <a:solidFill>
                      <a:srgbClr val="002060"/>
                    </a:solidFill>
                    <a:latin typeface="楷体" panose="02010609060101010101" pitchFamily="49" charset="-122"/>
                    <a:ea typeface="楷体" panose="02010609060101010101" pitchFamily="49" charset="-122"/>
                  </a:rPr>
                  <a:t>元树有</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𝒎</m:t>
                        </m:r>
                      </m:e>
                      <m:sup>
                        <m:r>
                          <a:rPr lang="en-US" altLang="zh-CN" sz="2000" b="1" i="1" smtClean="0">
                            <a:solidFill>
                              <a:srgbClr val="002060"/>
                            </a:solidFill>
                            <a:latin typeface="Cambria Math" panose="02040503050406030204" pitchFamily="18" charset="0"/>
                          </a:rPr>
                          <m:t>𝒉</m:t>
                        </m:r>
                      </m:sup>
                    </m:sSup>
                  </m:oMath>
                </a14:m>
                <a:r>
                  <a:rPr lang="zh-CN" altLang="en-US" sz="2000" b="1">
                    <a:solidFill>
                      <a:srgbClr val="002060"/>
                    </a:solidFill>
                    <a:latin typeface="楷体" panose="02010609060101010101" pitchFamily="49" charset="-122"/>
                    <a:ea typeface="楷体" panose="02010609060101010101" pitchFamily="49" charset="-122"/>
                  </a:rPr>
                  <a:t>片叶子</a:t>
                </a:r>
              </a:p>
            </p:txBody>
          </p:sp>
        </mc:Choice>
        <mc:Fallback xmlns="">
          <p:sp>
            <p:nvSpPr>
              <p:cNvPr id="2" name="文本框 1">
                <a:extLst>
                  <a:ext uri="{FF2B5EF4-FFF2-40B4-BE49-F238E27FC236}">
                    <a16:creationId xmlns:a16="http://schemas.microsoft.com/office/drawing/2014/main" id="{71C8FCFB-B841-4A11-98FC-9B733B043A1A}"/>
                  </a:ext>
                </a:extLst>
              </p:cNvPr>
              <p:cNvSpPr txBox="1">
                <a:spLocks noRot="1" noChangeAspect="1" noMove="1" noResize="1" noEditPoints="1" noAdjustHandles="1" noChangeArrowheads="1" noChangeShapeType="1" noTextEdit="1"/>
              </p:cNvSpPr>
              <p:nvPr/>
            </p:nvSpPr>
            <p:spPr>
              <a:xfrm>
                <a:off x="977991" y="1597665"/>
                <a:ext cx="4093970" cy="411779"/>
              </a:xfrm>
              <a:prstGeom prst="rect">
                <a:avLst/>
              </a:prstGeom>
              <a:blipFill>
                <a:blip r:embed="rId3"/>
                <a:stretch>
                  <a:fillRect l="-1488" t="-7353" b="-220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9AE31D4-4832-41CF-B941-F3DDC7C3DFB4}"/>
                  </a:ext>
                </a:extLst>
              </p:cNvPr>
              <p:cNvSpPr txBox="1"/>
              <p:nvPr/>
            </p:nvSpPr>
            <p:spPr>
              <a:xfrm>
                <a:off x="5789009" y="1170285"/>
                <a:ext cx="5091694"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高度为</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𝒉</m:t>
                    </m:r>
                  </m:oMath>
                </a14:m>
                <a:r>
                  <a:rPr lang="zh-CN" altLang="en-US" sz="2000" b="1">
                    <a:solidFill>
                      <a:srgbClr val="002060"/>
                    </a:solidFill>
                    <a:latin typeface="楷体" panose="02010609060101010101" pitchFamily="49" charset="-122"/>
                    <a:ea typeface="楷体" panose="02010609060101010101" pitchFamily="49" charset="-122"/>
                  </a:rPr>
                  <a:t>的平衡满</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𝒎</m:t>
                    </m:r>
                  </m:oMath>
                </a14:m>
                <a:r>
                  <a:rPr lang="zh-CN" altLang="en-US" sz="2000" b="1">
                    <a:solidFill>
                      <a:srgbClr val="002060"/>
                    </a:solidFill>
                    <a:latin typeface="楷体" panose="02010609060101010101" pitchFamily="49" charset="-122"/>
                    <a:ea typeface="楷体" panose="02010609060101010101" pitchFamily="49" charset="-122"/>
                  </a:rPr>
                  <a:t>元树的叶子数大于</a:t>
                </a:r>
                <a14:m>
                  <m:oMath xmlns:m="http://schemas.openxmlformats.org/officeDocument/2006/math">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𝒎</m:t>
                        </m:r>
                      </m:e>
                      <m:sup>
                        <m:r>
                          <a:rPr lang="en-US" altLang="zh-CN" sz="2000" b="1">
                            <a:solidFill>
                              <a:srgbClr val="002060"/>
                            </a:solidFill>
                            <a:latin typeface="Cambria Math" panose="02040503050406030204" pitchFamily="18" charset="0"/>
                            <a:ea typeface="楷体" panose="02010609060101010101" pitchFamily="49" charset="-122"/>
                          </a:rPr>
                          <m:t>𝒉</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𝟏</m:t>
                        </m:r>
                      </m:sup>
                    </m:sSup>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若</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𝑻</m:t>
                    </m:r>
                  </m:oMath>
                </a14:m>
                <a:r>
                  <a:rPr lang="zh-CN" altLang="en-US" sz="2000" b="1">
                    <a:solidFill>
                      <a:schemeClr val="accent6">
                        <a:lumMod val="50000"/>
                      </a:schemeClr>
                    </a:solidFill>
                  </a:rPr>
                  <a:t>是</a:t>
                </a:r>
                <a:r>
                  <a:rPr lang="zh-CN" altLang="en-US" sz="2000" b="1">
                    <a:solidFill>
                      <a:srgbClr val="C00000"/>
                    </a:solidFill>
                  </a:rPr>
                  <a:t>平衡满</a:t>
                </a:r>
                <a14:m>
                  <m:oMath xmlns:m="http://schemas.openxmlformats.org/officeDocument/2006/math">
                    <m:r>
                      <a:rPr lang="en-US" altLang="zh-CN" sz="2000" b="1" i="1" smtClean="0">
                        <a:solidFill>
                          <a:srgbClr val="C00000"/>
                        </a:solidFill>
                        <a:latin typeface="Cambria Math" panose="02040503050406030204" pitchFamily="18" charset="0"/>
                      </a:rPr>
                      <m:t>𝒎</m:t>
                    </m:r>
                  </m:oMath>
                </a14:m>
                <a:r>
                  <a:rPr lang="zh-CN" altLang="en-US" sz="2000" b="1">
                    <a:solidFill>
                      <a:srgbClr val="C00000"/>
                    </a:solidFill>
                  </a:rPr>
                  <a:t>元树</a:t>
                </a:r>
                <a:r>
                  <a:rPr lang="zh-CN" altLang="en-US" sz="2000" b="1">
                    <a:solidFill>
                      <a:schemeClr val="accent6">
                        <a:lumMod val="50000"/>
                      </a:schemeClr>
                    </a:solidFill>
                  </a:rPr>
                  <a:t>，且有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𝒍</m:t>
                    </m:r>
                  </m:oMath>
                </a14:m>
                <a:r>
                  <a:rPr lang="zh-CN" altLang="en-US" sz="2000" b="1">
                    <a:solidFill>
                      <a:schemeClr val="accent6">
                        <a:lumMod val="50000"/>
                      </a:schemeClr>
                    </a:solidFill>
                  </a:rPr>
                  <a:t>片叶子，则</a:t>
                </a:r>
              </a:p>
              <a:p>
                <a:pPr marL="800100" lvl="1"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𝑻</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的树高</a:t>
                </a:r>
                <a14:m>
                  <m:oMath xmlns:m="http://schemas.openxmlformats.org/officeDocument/2006/math">
                    <m:r>
                      <a:rPr lang="en-US" altLang="zh-CN" sz="2000" b="1" i="1" smtClean="0">
                        <a:solidFill>
                          <a:srgbClr val="0000FF"/>
                        </a:solidFill>
                        <a:latin typeface="Cambria Math" panose="02040503050406030204" pitchFamily="18" charset="0"/>
                      </a:rPr>
                      <m:t>𝒉</m:t>
                    </m:r>
                    <m:r>
                      <a:rPr lang="en-US" altLang="zh-CN" sz="2000" b="1" i="1" smtClean="0">
                        <a:solidFill>
                          <a:srgbClr val="0000FF"/>
                        </a:solidFill>
                        <a:latin typeface="Cambria Math" panose="02040503050406030204" pitchFamily="18" charset="0"/>
                      </a:rPr>
                      <m:t>≤</m:t>
                    </m:r>
                    <m:d>
                      <m:dPr>
                        <m:begChr m:val="⌈"/>
                        <m:endChr m:val="⌉"/>
                        <m:ctrlPr>
                          <a:rPr lang="en-US" altLang="zh-CN" sz="2000" b="1" i="1" smtClean="0">
                            <a:solidFill>
                              <a:srgbClr val="0000FF"/>
                            </a:solidFill>
                            <a:latin typeface="Cambria Math" panose="02040503050406030204" pitchFamily="18" charset="0"/>
                          </a:rPr>
                        </m:ctrlPr>
                      </m:dPr>
                      <m:e>
                        <m:sSub>
                          <m:sSubPr>
                            <m:ctrlPr>
                              <a:rPr lang="en-US" altLang="zh-CN" sz="2000" b="1" i="1" smtClean="0">
                                <a:solidFill>
                                  <a:srgbClr val="0000FF"/>
                                </a:solidFill>
                                <a:latin typeface="Cambria Math" panose="02040503050406030204" pitchFamily="18" charset="0"/>
                              </a:rPr>
                            </m:ctrlPr>
                          </m:sSubPr>
                          <m:e>
                            <m:r>
                              <a:rPr lang="en-US" altLang="zh-CN" sz="2000" b="1" i="0" smtClean="0">
                                <a:solidFill>
                                  <a:srgbClr val="0000FF"/>
                                </a:solidFill>
                                <a:latin typeface="Cambria Math" panose="02040503050406030204" pitchFamily="18" charset="0"/>
                              </a:rPr>
                              <m:t>𝐥𝐨𝐠</m:t>
                            </m:r>
                          </m:e>
                          <m:sub>
                            <m:r>
                              <a:rPr lang="en-US" altLang="zh-CN" sz="2000" b="1" i="1" smtClean="0">
                                <a:solidFill>
                                  <a:srgbClr val="0000FF"/>
                                </a:solidFill>
                                <a:latin typeface="Cambria Math" panose="02040503050406030204" pitchFamily="18" charset="0"/>
                              </a:rPr>
                              <m:t>𝒎</m:t>
                            </m:r>
                          </m:sub>
                        </m:sSub>
                        <m:r>
                          <a:rPr lang="en-US" altLang="zh-CN" sz="2000" b="1" i="1" smtClean="0">
                            <a:solidFill>
                              <a:srgbClr val="0000FF"/>
                            </a:solidFill>
                            <a:latin typeface="Cambria Math" panose="02040503050406030204" pitchFamily="18" charset="0"/>
                          </a:rPr>
                          <m:t>𝒍</m:t>
                        </m:r>
                      </m:e>
                    </m:d>
                  </m:oMath>
                </a14:m>
                <a:endParaRPr lang="en-US" altLang="zh-CN" sz="2000" b="1">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29AE31D4-4832-41CF-B941-F3DDC7C3DFB4}"/>
                  </a:ext>
                </a:extLst>
              </p:cNvPr>
              <p:cNvSpPr txBox="1">
                <a:spLocks noRot="1" noChangeAspect="1" noMove="1" noResize="1" noEditPoints="1" noAdjustHandles="1" noChangeArrowheads="1" noChangeShapeType="1" noTextEdit="1"/>
              </p:cNvSpPr>
              <p:nvPr/>
            </p:nvSpPr>
            <p:spPr>
              <a:xfrm>
                <a:off x="5789009" y="1170285"/>
                <a:ext cx="5091694" cy="1323439"/>
              </a:xfrm>
              <a:prstGeom prst="rect">
                <a:avLst/>
              </a:prstGeom>
              <a:blipFill>
                <a:blip r:embed="rId4"/>
                <a:stretch>
                  <a:fillRect l="-1317" t="-2765" b="-7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EB18F79-BD93-482E-AD94-709659DDB3CF}"/>
                  </a:ext>
                </a:extLst>
              </p:cNvPr>
              <p:cNvSpPr txBox="1"/>
              <p:nvPr/>
            </p:nvSpPr>
            <p:spPr>
              <a:xfrm>
                <a:off x="977991" y="2826061"/>
                <a:ext cx="7448962"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在相同高度的</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𝒎</m:t>
                    </m:r>
                  </m:oMath>
                </a14:m>
                <a:r>
                  <a:rPr lang="zh-CN" altLang="en-US" sz="2000" b="1">
                    <a:solidFill>
                      <a:srgbClr val="002060"/>
                    </a:solidFill>
                    <a:latin typeface="楷体" panose="02010609060101010101" pitchFamily="49" charset="-122"/>
                    <a:ea typeface="楷体" panose="02010609060101010101" pitchFamily="49" charset="-122"/>
                  </a:rPr>
                  <a:t>元树中，</a:t>
                </a:r>
                <a:r>
                  <a:rPr lang="zh-CN" altLang="en-US" sz="2000" b="1">
                    <a:solidFill>
                      <a:srgbClr val="C00000"/>
                    </a:solidFill>
                    <a:latin typeface="+mn-ea"/>
                  </a:rPr>
                  <a:t>满</a:t>
                </a:r>
                <a14:m>
                  <m:oMath xmlns:m="http://schemas.openxmlformats.org/officeDocument/2006/math">
                    <m:r>
                      <a:rPr lang="en-US" altLang="zh-CN" sz="2000" b="1">
                        <a:solidFill>
                          <a:srgbClr val="C00000"/>
                        </a:solidFill>
                        <a:latin typeface="Cambria Math" panose="02040503050406030204" pitchFamily="18" charset="0"/>
                      </a:rPr>
                      <m:t>𝒎</m:t>
                    </m:r>
                  </m:oMath>
                </a14:m>
                <a:r>
                  <a:rPr lang="zh-CN" altLang="en-US" sz="2000" b="1">
                    <a:solidFill>
                      <a:srgbClr val="C00000"/>
                    </a:solidFill>
                    <a:latin typeface="+mn-ea"/>
                  </a:rPr>
                  <a:t>元树</a:t>
                </a:r>
                <a:r>
                  <a:rPr lang="zh-CN" altLang="en-US" sz="2000" b="1">
                    <a:solidFill>
                      <a:srgbClr val="002060"/>
                    </a:solidFill>
                    <a:latin typeface="楷体" panose="02010609060101010101" pitchFamily="49" charset="-122"/>
                    <a:ea typeface="楷体" panose="02010609060101010101" pitchFamily="49" charset="-122"/>
                  </a:rPr>
                  <a:t>的顶点数最多，叶子数也最多</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高度为</a:t>
                </a:r>
                <a14:m>
                  <m:oMath xmlns:m="http://schemas.openxmlformats.org/officeDocument/2006/math">
                    <m:r>
                      <a:rPr lang="en-US" altLang="zh-CN" sz="2000" b="1">
                        <a:solidFill>
                          <a:schemeClr val="accent6">
                            <a:lumMod val="50000"/>
                          </a:schemeClr>
                        </a:solidFill>
                        <a:latin typeface="Cambria Math" panose="02040503050406030204" pitchFamily="18" charset="0"/>
                      </a:rPr>
                      <m:t>𝒉</m:t>
                    </m:r>
                  </m:oMath>
                </a14:m>
                <a:r>
                  <a:rPr lang="zh-CN" altLang="en-US" sz="2000" b="1">
                    <a:solidFill>
                      <a:schemeClr val="accent6">
                        <a:lumMod val="50000"/>
                      </a:schemeClr>
                    </a:solidFill>
                  </a:rPr>
                  <a:t>的</a:t>
                </a:r>
                <a14:m>
                  <m:oMath xmlns:m="http://schemas.openxmlformats.org/officeDocument/2006/math">
                    <m:r>
                      <a:rPr lang="en-US" altLang="zh-CN" sz="2000" b="1">
                        <a:solidFill>
                          <a:schemeClr val="accent6">
                            <a:lumMod val="50000"/>
                          </a:schemeClr>
                        </a:solidFill>
                        <a:latin typeface="Cambria Math" panose="02040503050406030204" pitchFamily="18" charset="0"/>
                      </a:rPr>
                      <m:t>𝒎</m:t>
                    </m:r>
                  </m:oMath>
                </a14:m>
                <a:r>
                  <a:rPr lang="zh-CN" altLang="en-US" sz="2000" b="1">
                    <a:solidFill>
                      <a:schemeClr val="accent6">
                        <a:lumMod val="50000"/>
                      </a:schemeClr>
                    </a:solidFill>
                  </a:rPr>
                  <a:t>元树至多有</a:t>
                </a:r>
                <a14:m>
                  <m:oMath xmlns:m="http://schemas.openxmlformats.org/officeDocument/2006/math">
                    <m:sSup>
                      <m:sSupPr>
                        <m:ctrlPr>
                          <a:rPr lang="en-US" altLang="zh-CN" sz="2000" b="1" i="1">
                            <a:solidFill>
                              <a:schemeClr val="accent6">
                                <a:lumMod val="50000"/>
                              </a:schemeClr>
                            </a:solidFill>
                            <a:latin typeface="Cambria Math" panose="02040503050406030204" pitchFamily="18" charset="0"/>
                          </a:rPr>
                        </m:ctrlPr>
                      </m:sSupPr>
                      <m:e>
                        <m:r>
                          <a:rPr lang="en-US" altLang="zh-CN" sz="2000" b="1">
                            <a:solidFill>
                              <a:schemeClr val="accent6">
                                <a:lumMod val="50000"/>
                              </a:schemeClr>
                            </a:solidFill>
                            <a:latin typeface="Cambria Math" panose="02040503050406030204" pitchFamily="18" charset="0"/>
                          </a:rPr>
                          <m:t>𝒎</m:t>
                        </m:r>
                      </m:e>
                      <m:sup>
                        <m:r>
                          <a:rPr lang="en-US" altLang="zh-CN" sz="2000" b="1">
                            <a:solidFill>
                              <a:schemeClr val="accent6">
                                <a:lumMod val="50000"/>
                              </a:schemeClr>
                            </a:solidFill>
                            <a:latin typeface="Cambria Math" panose="02040503050406030204" pitchFamily="18" charset="0"/>
                          </a:rPr>
                          <m:t>𝒉</m:t>
                        </m:r>
                      </m:sup>
                    </m:sSup>
                  </m:oMath>
                </a14:m>
                <a:r>
                  <a:rPr lang="zh-CN" altLang="en-US" sz="2000" b="1">
                    <a:solidFill>
                      <a:schemeClr val="accent6">
                        <a:lumMod val="50000"/>
                      </a:schemeClr>
                    </a:solidFill>
                  </a:rPr>
                  <a:t>片叶子</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𝒍</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片叶子的</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元树的树高</a:t>
                </a:r>
                <a14:m>
                  <m:oMath xmlns:m="http://schemas.openxmlformats.org/officeDocument/2006/math">
                    <m:r>
                      <a:rPr lang="en-US" altLang="zh-CN" sz="2000" b="1" i="1" smtClean="0">
                        <a:solidFill>
                          <a:srgbClr val="0000FF"/>
                        </a:solidFill>
                        <a:latin typeface="Cambria Math" panose="02040503050406030204" pitchFamily="18" charset="0"/>
                        <a:ea typeface="楷体" panose="02010609060101010101" pitchFamily="49" charset="-122"/>
                      </a:rPr>
                      <m:t>𝒉</m:t>
                    </m:r>
                    <m:r>
                      <a:rPr lang="en-US" altLang="zh-CN" sz="2000" b="1" i="1" smtClean="0">
                        <a:solidFill>
                          <a:srgbClr val="0000FF"/>
                        </a:solidFill>
                        <a:latin typeface="Cambria Math" panose="02040503050406030204" pitchFamily="18" charset="0"/>
                        <a:ea typeface="楷体" panose="02010609060101010101" pitchFamily="49" charset="-122"/>
                      </a:rPr>
                      <m:t>≥</m:t>
                    </m:r>
                    <m:d>
                      <m:dPr>
                        <m:begChr m:val="⌈"/>
                        <m:endChr m:val="⌉"/>
                        <m:ctrlPr>
                          <a:rPr lang="en-US" altLang="zh-CN" sz="2000" b="1" i="1" smtClean="0">
                            <a:solidFill>
                              <a:srgbClr val="0000FF"/>
                            </a:solidFill>
                            <a:latin typeface="Cambria Math" panose="02040503050406030204" pitchFamily="18" charset="0"/>
                          </a:rPr>
                        </m:ctrlPr>
                      </m:dPr>
                      <m:e>
                        <m:sSub>
                          <m:sSubPr>
                            <m:ctrlPr>
                              <a:rPr lang="en-US" altLang="zh-CN" sz="2000" b="1" i="1" smtClean="0">
                                <a:solidFill>
                                  <a:srgbClr val="0000FF"/>
                                </a:solidFill>
                                <a:latin typeface="Cambria Math" panose="02040503050406030204" pitchFamily="18" charset="0"/>
                              </a:rPr>
                            </m:ctrlPr>
                          </m:sSubPr>
                          <m:e>
                            <m:r>
                              <a:rPr lang="en-US" altLang="zh-CN" sz="2000" b="1" i="0" smtClean="0">
                                <a:solidFill>
                                  <a:srgbClr val="0000FF"/>
                                </a:solidFill>
                                <a:latin typeface="Cambria Math" panose="02040503050406030204" pitchFamily="18" charset="0"/>
                              </a:rPr>
                              <m:t>𝐥𝐨𝐠</m:t>
                            </m:r>
                          </m:e>
                          <m:sub>
                            <m:r>
                              <a:rPr lang="en-US" altLang="zh-CN" sz="2000" b="1" i="1" smtClean="0">
                                <a:solidFill>
                                  <a:srgbClr val="0000FF"/>
                                </a:solidFill>
                                <a:latin typeface="Cambria Math" panose="02040503050406030204" pitchFamily="18" charset="0"/>
                              </a:rPr>
                              <m:t>𝒎</m:t>
                            </m:r>
                          </m:sub>
                        </m:sSub>
                        <m:r>
                          <a:rPr lang="en-US" altLang="zh-CN" sz="2000" b="1" i="1" smtClean="0">
                            <a:solidFill>
                              <a:srgbClr val="0000FF"/>
                            </a:solidFill>
                            <a:latin typeface="Cambria Math" panose="02040503050406030204" pitchFamily="18" charset="0"/>
                          </a:rPr>
                          <m:t>𝒍</m:t>
                        </m:r>
                      </m:e>
                    </m:d>
                  </m:oMath>
                </a14:m>
                <a:endParaRPr lang="en-US" altLang="zh-CN" sz="2000" b="1">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CEB18F79-BD93-482E-AD94-709659DDB3CF}"/>
                  </a:ext>
                </a:extLst>
              </p:cNvPr>
              <p:cNvSpPr txBox="1">
                <a:spLocks noRot="1" noChangeAspect="1" noMove="1" noResize="1" noEditPoints="1" noAdjustHandles="1" noChangeArrowheads="1" noChangeShapeType="1" noTextEdit="1"/>
              </p:cNvSpPr>
              <p:nvPr/>
            </p:nvSpPr>
            <p:spPr>
              <a:xfrm>
                <a:off x="977991" y="2826061"/>
                <a:ext cx="7448962" cy="1323439"/>
              </a:xfrm>
              <a:prstGeom prst="rect">
                <a:avLst/>
              </a:prstGeom>
              <a:blipFill>
                <a:blip r:embed="rId5"/>
                <a:stretch>
                  <a:fillRect l="-818" t="-4147" b="-7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F4151CD-E96E-4167-9CD7-8A000F4F6C61}"/>
                  </a:ext>
                </a:extLst>
              </p:cNvPr>
              <p:cNvSpPr txBox="1"/>
              <p:nvPr/>
            </p:nvSpPr>
            <p:spPr>
              <a:xfrm>
                <a:off x="2026508" y="4702842"/>
                <a:ext cx="8203286" cy="132343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有相同叶子数的</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𝒎</m:t>
                    </m:r>
                  </m:oMath>
                </a14:m>
                <a:r>
                  <a:rPr lang="zh-CN" altLang="en-US" sz="2000" b="1">
                    <a:solidFill>
                      <a:srgbClr val="002060"/>
                    </a:solidFill>
                    <a:latin typeface="楷体" panose="02010609060101010101" pitchFamily="49" charset="-122"/>
                    <a:ea typeface="楷体" panose="02010609060101010101" pitchFamily="49" charset="-122"/>
                  </a:rPr>
                  <a:t>元树中，</a:t>
                </a:r>
                <a:r>
                  <a:rPr lang="zh-CN" altLang="en-US" sz="2000" b="1">
                    <a:solidFill>
                      <a:srgbClr val="C00000"/>
                    </a:solidFill>
                    <a:latin typeface="+mn-ea"/>
                  </a:rPr>
                  <a:t>平衡满</a:t>
                </a:r>
                <a14:m>
                  <m:oMath xmlns:m="http://schemas.openxmlformats.org/officeDocument/2006/math">
                    <m:r>
                      <a:rPr lang="en-US" altLang="zh-CN" sz="2000" b="1">
                        <a:solidFill>
                          <a:srgbClr val="C00000"/>
                        </a:solidFill>
                        <a:latin typeface="Cambria Math" panose="02040503050406030204" pitchFamily="18" charset="0"/>
                      </a:rPr>
                      <m:t>𝒎</m:t>
                    </m:r>
                  </m:oMath>
                </a14:m>
                <a:r>
                  <a:rPr lang="zh-CN" altLang="en-US" sz="2000" b="1">
                    <a:solidFill>
                      <a:srgbClr val="C00000"/>
                    </a:solidFill>
                    <a:latin typeface="+mn-ea"/>
                  </a:rPr>
                  <a:t>元树</a:t>
                </a:r>
                <a:r>
                  <a:rPr lang="zh-CN" altLang="en-US" sz="2000" b="1">
                    <a:solidFill>
                      <a:srgbClr val="002060"/>
                    </a:solidFill>
                    <a:latin typeface="楷体" panose="02010609060101010101" pitchFamily="49" charset="-122"/>
                    <a:ea typeface="楷体" panose="02010609060101010101" pitchFamily="49" charset="-122"/>
                  </a:rPr>
                  <a:t>的高度最小，</a:t>
                </a:r>
                <a:r>
                  <a:rPr lang="zh-CN" altLang="en-US" sz="2000" b="1">
                    <a:solidFill>
                      <a:srgbClr val="0000FF"/>
                    </a:solidFill>
                    <a:latin typeface="楷体" panose="02010609060101010101" pitchFamily="49" charset="-122"/>
                    <a:ea typeface="楷体" panose="02010609060101010101" pitchFamily="49" charset="-122"/>
                  </a:rPr>
                  <a:t>等于</a:t>
                </a:r>
                <a14:m>
                  <m:oMath xmlns:m="http://schemas.openxmlformats.org/officeDocument/2006/math">
                    <m:d>
                      <m:dPr>
                        <m:begChr m:val="⌈"/>
                        <m:endChr m:val="⌉"/>
                        <m:ctrlPr>
                          <a:rPr lang="en-US" altLang="zh-CN" sz="2000" b="1" i="1">
                            <a:solidFill>
                              <a:srgbClr val="0000FF"/>
                            </a:solidFill>
                            <a:latin typeface="Cambria Math" panose="02040503050406030204" pitchFamily="18" charset="0"/>
                            <a:ea typeface="楷体" panose="02010609060101010101" pitchFamily="49" charset="-122"/>
                          </a:rPr>
                        </m:ctrlPr>
                      </m:dPr>
                      <m:e>
                        <m:sSub>
                          <m:sSubPr>
                            <m:ctrlPr>
                              <a:rPr lang="en-US" altLang="zh-CN" sz="2000" b="1" i="1">
                                <a:solidFill>
                                  <a:srgbClr val="0000FF"/>
                                </a:solidFill>
                                <a:latin typeface="Cambria Math" panose="02040503050406030204" pitchFamily="18" charset="0"/>
                                <a:ea typeface="楷体" panose="02010609060101010101" pitchFamily="49" charset="-122"/>
                              </a:rPr>
                            </m:ctrlPr>
                          </m:sSubPr>
                          <m:e>
                            <m:r>
                              <a:rPr lang="en-US" altLang="zh-CN" sz="2000" b="1" i="1">
                                <a:solidFill>
                                  <a:srgbClr val="0000FF"/>
                                </a:solidFill>
                                <a:latin typeface="Cambria Math" panose="02040503050406030204" pitchFamily="18" charset="0"/>
                                <a:ea typeface="楷体" panose="02010609060101010101" pitchFamily="49" charset="-122"/>
                              </a:rPr>
                              <m:t>𝐥𝐨𝐠</m:t>
                            </m:r>
                          </m:e>
                          <m:sub>
                            <m:r>
                              <a:rPr lang="en-US" altLang="zh-CN" sz="2000" b="1" i="1">
                                <a:solidFill>
                                  <a:srgbClr val="0000FF"/>
                                </a:solidFill>
                                <a:latin typeface="Cambria Math" panose="02040503050406030204" pitchFamily="18" charset="0"/>
                                <a:ea typeface="楷体" panose="02010609060101010101" pitchFamily="49" charset="-122"/>
                              </a:rPr>
                              <m:t>𝒎</m:t>
                            </m:r>
                          </m:sub>
                        </m:sSub>
                        <m:r>
                          <a:rPr lang="en-US" altLang="zh-CN" sz="2000" b="1">
                            <a:solidFill>
                              <a:srgbClr val="0000FF"/>
                            </a:solidFill>
                            <a:latin typeface="Cambria Math" panose="02040503050406030204" pitchFamily="18" charset="0"/>
                            <a:ea typeface="楷体" panose="02010609060101010101" pitchFamily="49" charset="-122"/>
                          </a:rPr>
                          <m:t>𝒍</m:t>
                        </m:r>
                      </m:e>
                    </m:d>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许多与树相关的算法的时间复杂度都与</a:t>
                </a:r>
                <a:r>
                  <a:rPr lang="zh-CN" altLang="en-US" sz="2000" b="1">
                    <a:solidFill>
                      <a:srgbClr val="0000FF"/>
                    </a:solidFill>
                  </a:rPr>
                  <a:t>树的高度</a:t>
                </a:r>
                <a:r>
                  <a:rPr lang="zh-CN" altLang="en-US" sz="2000" b="1">
                    <a:solidFill>
                      <a:schemeClr val="accent6">
                        <a:lumMod val="50000"/>
                      </a:schemeClr>
                    </a:solidFill>
                  </a:rPr>
                  <a:t>相关</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因此在设计这类算法时要尽量使得树是平衡满</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元树</a:t>
                </a:r>
              </a:p>
            </p:txBody>
          </p:sp>
        </mc:Choice>
        <mc:Fallback xmlns="">
          <p:sp>
            <p:nvSpPr>
              <p:cNvPr id="6" name="文本框 5">
                <a:extLst>
                  <a:ext uri="{FF2B5EF4-FFF2-40B4-BE49-F238E27FC236}">
                    <a16:creationId xmlns:a16="http://schemas.microsoft.com/office/drawing/2014/main" id="{3F4151CD-E96E-4167-9CD7-8A000F4F6C61}"/>
                  </a:ext>
                </a:extLst>
              </p:cNvPr>
              <p:cNvSpPr txBox="1">
                <a:spLocks noRot="1" noChangeAspect="1" noMove="1" noResize="1" noEditPoints="1" noAdjustHandles="1" noChangeArrowheads="1" noChangeShapeType="1" noTextEdit="1"/>
              </p:cNvSpPr>
              <p:nvPr/>
            </p:nvSpPr>
            <p:spPr>
              <a:xfrm>
                <a:off x="2026508" y="4702842"/>
                <a:ext cx="8203286" cy="1323439"/>
              </a:xfrm>
              <a:prstGeom prst="rect">
                <a:avLst/>
              </a:prstGeom>
              <a:blipFill>
                <a:blip r:embed="rId6"/>
                <a:stretch>
                  <a:fillRect l="-743" t="-3670" b="-6422"/>
                </a:stretch>
              </a:blipFill>
            </p:spPr>
            <p:txBody>
              <a:bodyPr/>
              <a:lstStyle/>
              <a:p>
                <a:r>
                  <a:rPr lang="zh-CN" altLang="en-US">
                    <a:noFill/>
                  </a:rPr>
                  <a:t> </a:t>
                </a:r>
              </a:p>
            </p:txBody>
          </p:sp>
        </mc:Fallback>
      </mc:AlternateContent>
      <p:sp>
        <p:nvSpPr>
          <p:cNvPr id="11" name="箭头: 下 10">
            <a:extLst>
              <a:ext uri="{FF2B5EF4-FFF2-40B4-BE49-F238E27FC236}">
                <a16:creationId xmlns:a16="http://schemas.microsoft.com/office/drawing/2014/main" id="{0B00B0A2-9A07-4B10-B790-4EB1B7B19735}"/>
              </a:ext>
            </a:extLst>
          </p:cNvPr>
          <p:cNvSpPr/>
          <p:nvPr/>
        </p:nvSpPr>
        <p:spPr>
          <a:xfrm>
            <a:off x="2978927" y="1994403"/>
            <a:ext cx="92097" cy="8310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8C736B66-8BD8-4918-8545-165907DEC314}"/>
              </a:ext>
            </a:extLst>
          </p:cNvPr>
          <p:cNvSpPr/>
          <p:nvPr/>
        </p:nvSpPr>
        <p:spPr>
          <a:xfrm>
            <a:off x="5144322" y="1756436"/>
            <a:ext cx="644687" cy="1108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下 12">
            <a:extLst>
              <a:ext uri="{FF2B5EF4-FFF2-40B4-BE49-F238E27FC236}">
                <a16:creationId xmlns:a16="http://schemas.microsoft.com/office/drawing/2014/main" id="{8B562269-C7EE-46FC-BD5D-EC2E0CF6FD6E}"/>
              </a:ext>
            </a:extLst>
          </p:cNvPr>
          <p:cNvSpPr/>
          <p:nvPr/>
        </p:nvSpPr>
        <p:spPr>
          <a:xfrm>
            <a:off x="9196627" y="2493724"/>
            <a:ext cx="92097" cy="22091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下 13">
            <a:extLst>
              <a:ext uri="{FF2B5EF4-FFF2-40B4-BE49-F238E27FC236}">
                <a16:creationId xmlns:a16="http://schemas.microsoft.com/office/drawing/2014/main" id="{E0548CD0-7F63-4156-88A2-CFABB2F15FC2}"/>
              </a:ext>
            </a:extLst>
          </p:cNvPr>
          <p:cNvSpPr/>
          <p:nvPr/>
        </p:nvSpPr>
        <p:spPr>
          <a:xfrm>
            <a:off x="4618049" y="4149500"/>
            <a:ext cx="92097" cy="5533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0322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11"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无向树的定义及性质</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根树的定义及性质</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树的遍历</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580179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树的遍历</a:t>
            </a:r>
          </a:p>
        </p:txBody>
      </p:sp>
      <p:sp>
        <p:nvSpPr>
          <p:cNvPr id="2" name="文本框 1">
            <a:extLst>
              <a:ext uri="{FF2B5EF4-FFF2-40B4-BE49-F238E27FC236}">
                <a16:creationId xmlns:a16="http://schemas.microsoft.com/office/drawing/2014/main" id="{73A47D61-3667-4717-9E56-7A598F3FD8BD}"/>
              </a:ext>
            </a:extLst>
          </p:cNvPr>
          <p:cNvSpPr txBox="1"/>
          <p:nvPr/>
        </p:nvSpPr>
        <p:spPr>
          <a:xfrm>
            <a:off x="837652" y="1380343"/>
            <a:ext cx="9367667" cy="949555"/>
          </a:xfrm>
          <a:prstGeom prst="rect">
            <a:avLst/>
          </a:prstGeom>
          <a:solidFill>
            <a:schemeClr val="accent5">
              <a:lumMod val="20000"/>
              <a:lumOff val="80000"/>
              <a:alpha val="50000"/>
            </a:schemeClr>
          </a:solidFill>
        </p:spPr>
        <p:txBody>
          <a:bodyPr wrap="square" rtlCol="0">
            <a:spAutoFit/>
          </a:bodyPr>
          <a:lstStyle/>
          <a:p>
            <a:pPr>
              <a:lnSpc>
                <a:spcPts val="3000"/>
              </a:lnSpc>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树的遍历通常也是指按照某种方式访问树的所有顶点</a:t>
            </a:r>
          </a:p>
          <a:p>
            <a:pPr marL="342900" indent="-34290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树作为一种数据结构广泛用于程序设计，树的遍历算法是必须掌握的基础知识</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CD589E5-B337-4449-AFA2-C45BF2015AA1}"/>
                  </a:ext>
                </a:extLst>
              </p:cNvPr>
              <p:cNvSpPr txBox="1"/>
              <p:nvPr/>
            </p:nvSpPr>
            <p:spPr>
              <a:xfrm>
                <a:off x="837652" y="2693035"/>
                <a:ext cx="4618049" cy="3103991"/>
              </a:xfrm>
              <a:prstGeom prst="rect">
                <a:avLst/>
              </a:prstGeom>
              <a:solidFill>
                <a:schemeClr val="accent2">
                  <a:lumMod val="20000"/>
                  <a:lumOff val="80000"/>
                  <a:alpha val="50000"/>
                </a:schemeClr>
              </a:solidFill>
            </p:spPr>
            <p:txBody>
              <a:bodyPr wrap="square" rtlCol="0">
                <a:spAutoFit/>
              </a:bodyPr>
              <a:lstStyle/>
              <a:p>
                <a:pPr>
                  <a:lnSpc>
                    <a:spcPts val="3000"/>
                  </a:lnSpc>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树的遍历一般从根开始，通常无论树采用何种表示和存储方法都假定</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能快速访问一棵树的根，而且</a:t>
                </a:r>
                <a:endParaRPr lang="en-US" altLang="zh-CN" sz="2000" b="1">
                  <a:solidFill>
                    <a:schemeClr val="accent6">
                      <a:lumMod val="50000"/>
                    </a:schemeClr>
                  </a:solidFill>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对每个顶点都能快速访问它所有儿子</a:t>
                </a:r>
              </a:p>
              <a:p>
                <a:pPr marL="742950" lvl="1" indent="-285750">
                  <a:lnSpc>
                    <a:spcPts val="30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快速指可用常数时间，即复杂度为</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𝑶</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𝟏</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的操作得到树的根或任意顶点的儿子顶点列表（的起始顶点）</a:t>
                </a:r>
              </a:p>
            </p:txBody>
          </p:sp>
        </mc:Choice>
        <mc:Fallback xmlns="">
          <p:sp>
            <p:nvSpPr>
              <p:cNvPr id="3" name="文本框 2">
                <a:extLst>
                  <a:ext uri="{FF2B5EF4-FFF2-40B4-BE49-F238E27FC236}">
                    <a16:creationId xmlns:a16="http://schemas.microsoft.com/office/drawing/2014/main" id="{2CD589E5-B337-4449-AFA2-C45BF2015AA1}"/>
                  </a:ext>
                </a:extLst>
              </p:cNvPr>
              <p:cNvSpPr txBox="1">
                <a:spLocks noRot="1" noChangeAspect="1" noMove="1" noResize="1" noEditPoints="1" noAdjustHandles="1" noChangeArrowheads="1" noChangeShapeType="1" noTextEdit="1"/>
              </p:cNvSpPr>
              <p:nvPr/>
            </p:nvSpPr>
            <p:spPr>
              <a:xfrm>
                <a:off x="837652" y="2693035"/>
                <a:ext cx="4618049" cy="3103991"/>
              </a:xfrm>
              <a:prstGeom prst="rect">
                <a:avLst/>
              </a:prstGeom>
              <a:blipFill>
                <a:blip r:embed="rId2"/>
                <a:stretch>
                  <a:fillRect l="-1319" t="-393" r="-1187" b="-11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292A351-E03F-40A3-977E-0E8AEB1BA4B0}"/>
                  </a:ext>
                </a:extLst>
              </p:cNvPr>
              <p:cNvSpPr txBox="1"/>
              <p:nvPr/>
            </p:nvSpPr>
            <p:spPr>
              <a:xfrm>
                <a:off x="5677173" y="2635328"/>
                <a:ext cx="5677175" cy="3219407"/>
              </a:xfrm>
              <a:prstGeom prst="rect">
                <a:avLst/>
              </a:prstGeom>
              <a:solidFill>
                <a:schemeClr val="accent4">
                  <a:lumMod val="20000"/>
                  <a:lumOff val="80000"/>
                  <a:alpha val="50000"/>
                </a:schemeClr>
              </a:solidFill>
            </p:spPr>
            <p:txBody>
              <a:bodyPr wrap="square" rtlCol="0">
                <a:spAutoFit/>
              </a:bodyPr>
              <a:lstStyle/>
              <a:p>
                <a:pPr marL="342900" indent="-342900">
                  <a:lnSpc>
                    <a:spcPts val="30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树的遍历也可采用先深遍历和先广遍历的策略</a:t>
                </a: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树的先广遍历策略比一般图更容易理解</a:t>
                </a:r>
              </a:p>
              <a:p>
                <a:pPr marL="800100" lvl="1" indent="-34290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按照顶点层数访问树的每个顶点</a:t>
                </a:r>
              </a:p>
              <a:p>
                <a:pPr marL="1257300" lvl="2" indent="-342900">
                  <a:lnSpc>
                    <a:spcPts val="30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最开始访问第</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𝟎</m:t>
                    </m:r>
                  </m:oMath>
                </a14:m>
                <a:r>
                  <a:rPr lang="zh-CN" altLang="en-US" b="1">
                    <a:solidFill>
                      <a:schemeClr val="accent2">
                        <a:lumMod val="50000"/>
                      </a:schemeClr>
                    </a:solidFill>
                    <a:latin typeface="楷体" panose="02010609060101010101" pitchFamily="49" charset="-122"/>
                    <a:ea typeface="楷体" panose="02010609060101010101" pitchFamily="49" charset="-122"/>
                  </a:rPr>
                  <a:t>层的根，然后访问第</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层顶点，即根的儿子，再访问第</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𝟐</m:t>
                    </m:r>
                  </m:oMath>
                </a14:m>
                <a:r>
                  <a:rPr lang="zh-CN" altLang="en-US" b="1">
                    <a:solidFill>
                      <a:schemeClr val="accent2">
                        <a:lumMod val="50000"/>
                      </a:schemeClr>
                    </a:solidFill>
                    <a:latin typeface="楷体" panose="02010609060101010101" pitchFamily="49" charset="-122"/>
                    <a:ea typeface="楷体" panose="02010609060101010101" pitchFamily="49" charset="-122"/>
                  </a:rPr>
                  <a:t>层顶点等</a:t>
                </a:r>
              </a:p>
              <a:p>
                <a:pPr marL="800100" lvl="1" indent="-34290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与一般图先广遍历相同，利用一个队列存放尚未访问其所有儿子顶点的顶点即可</a:t>
                </a:r>
              </a:p>
            </p:txBody>
          </p:sp>
        </mc:Choice>
        <mc:Fallback xmlns="">
          <p:sp>
            <p:nvSpPr>
              <p:cNvPr id="4" name="文本框 3">
                <a:extLst>
                  <a:ext uri="{FF2B5EF4-FFF2-40B4-BE49-F238E27FC236}">
                    <a16:creationId xmlns:a16="http://schemas.microsoft.com/office/drawing/2014/main" id="{F292A351-E03F-40A3-977E-0E8AEB1BA4B0}"/>
                  </a:ext>
                </a:extLst>
              </p:cNvPr>
              <p:cNvSpPr txBox="1">
                <a:spLocks noRot="1" noChangeAspect="1" noMove="1" noResize="1" noEditPoints="1" noAdjustHandles="1" noChangeArrowheads="1" noChangeShapeType="1" noTextEdit="1"/>
              </p:cNvSpPr>
              <p:nvPr/>
            </p:nvSpPr>
            <p:spPr>
              <a:xfrm>
                <a:off x="5677173" y="2635328"/>
                <a:ext cx="5677175" cy="3219407"/>
              </a:xfrm>
              <a:prstGeom prst="rect">
                <a:avLst/>
              </a:prstGeom>
              <a:blipFill>
                <a:blip r:embed="rId3"/>
                <a:stretch>
                  <a:fillRect l="-966" t="-189" r="-429" b="-2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041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树的前序、中序和后序遍历</a:t>
            </a:r>
          </a:p>
        </p:txBody>
      </p:sp>
      <p:sp>
        <p:nvSpPr>
          <p:cNvPr id="2" name="文本框 1">
            <a:extLst>
              <a:ext uri="{FF2B5EF4-FFF2-40B4-BE49-F238E27FC236}">
                <a16:creationId xmlns:a16="http://schemas.microsoft.com/office/drawing/2014/main" id="{5BB1AD1C-BB8F-4C09-9257-982F8166DAD6}"/>
              </a:ext>
            </a:extLst>
          </p:cNvPr>
          <p:cNvSpPr txBox="1"/>
          <p:nvPr/>
        </p:nvSpPr>
        <p:spPr>
          <a:xfrm>
            <a:off x="1323518" y="1347853"/>
            <a:ext cx="9544963" cy="1292662"/>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先深遍历策略应用在树的遍历有三种变体</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分别称为</a:t>
            </a:r>
            <a:r>
              <a:rPr lang="zh-CN" altLang="en-US" sz="2000" b="1">
                <a:solidFill>
                  <a:srgbClr val="C00000"/>
                </a:solidFill>
              </a:rPr>
              <a:t>前序</a:t>
            </a:r>
            <a:r>
              <a:rPr lang="en-US" altLang="zh-CN" sz="2000" b="1">
                <a:solidFill>
                  <a:schemeClr val="accent6">
                    <a:lumMod val="50000"/>
                  </a:schemeClr>
                </a:solidFill>
              </a:rPr>
              <a:t>(pre-order)</a:t>
            </a:r>
            <a:r>
              <a:rPr lang="zh-CN" altLang="en-US" sz="2000" b="1">
                <a:solidFill>
                  <a:schemeClr val="accent6">
                    <a:lumMod val="50000"/>
                  </a:schemeClr>
                </a:solidFill>
              </a:rPr>
              <a:t>遍历、</a:t>
            </a:r>
            <a:r>
              <a:rPr lang="zh-CN" altLang="en-US" sz="2000" b="1">
                <a:solidFill>
                  <a:srgbClr val="C00000"/>
                </a:solidFill>
              </a:rPr>
              <a:t>中序</a:t>
            </a:r>
            <a:r>
              <a:rPr lang="en-US" altLang="zh-CN" sz="2000" b="1">
                <a:solidFill>
                  <a:schemeClr val="accent6">
                    <a:lumMod val="50000"/>
                  </a:schemeClr>
                </a:solidFill>
              </a:rPr>
              <a:t>(in-order)</a:t>
            </a:r>
            <a:r>
              <a:rPr lang="zh-CN" altLang="en-US" sz="2000" b="1">
                <a:solidFill>
                  <a:schemeClr val="accent6">
                    <a:lumMod val="50000"/>
                  </a:schemeClr>
                </a:solidFill>
              </a:rPr>
              <a:t>遍历和</a:t>
            </a:r>
            <a:r>
              <a:rPr lang="zh-CN" altLang="en-US" sz="2000" b="1">
                <a:solidFill>
                  <a:srgbClr val="C00000"/>
                </a:solidFill>
              </a:rPr>
              <a:t>后序</a:t>
            </a:r>
            <a:r>
              <a:rPr lang="en-US" altLang="zh-CN" sz="2000" b="1">
                <a:solidFill>
                  <a:schemeClr val="accent6">
                    <a:lumMod val="50000"/>
                  </a:schemeClr>
                </a:solidFill>
              </a:rPr>
              <a:t>(post-order)</a:t>
            </a:r>
            <a:r>
              <a:rPr lang="zh-CN" altLang="en-US" sz="2000" b="1">
                <a:solidFill>
                  <a:schemeClr val="accent6">
                    <a:lumMod val="50000"/>
                  </a:schemeClr>
                </a:solidFill>
              </a:rPr>
              <a:t>遍历</a:t>
            </a: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这里序是指对顶点本身访问和对以顶点的儿子为根的子树遍历之间的先后关系</a:t>
            </a:r>
          </a:p>
        </p:txBody>
      </p:sp>
      <p:sp>
        <p:nvSpPr>
          <p:cNvPr id="3" name="文本框 2">
            <a:extLst>
              <a:ext uri="{FF2B5EF4-FFF2-40B4-BE49-F238E27FC236}">
                <a16:creationId xmlns:a16="http://schemas.microsoft.com/office/drawing/2014/main" id="{AE06C272-B803-4CE6-92DD-FE91139786EA}"/>
              </a:ext>
            </a:extLst>
          </p:cNvPr>
          <p:cNvSpPr txBox="1"/>
          <p:nvPr/>
        </p:nvSpPr>
        <p:spPr>
          <a:xfrm>
            <a:off x="1797003" y="2950126"/>
            <a:ext cx="8597991" cy="118494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前序遍历</a:t>
            </a:r>
            <a:endParaRPr lang="en-US" altLang="zh-CN"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先访问顶点</a:t>
            </a:r>
            <a:r>
              <a:rPr lang="zh-CN" altLang="en-US" b="1">
                <a:solidFill>
                  <a:srgbClr val="0000FF"/>
                </a:solidFill>
                <a:latin typeface="楷体" panose="02010609060101010101" pitchFamily="49" charset="-122"/>
                <a:ea typeface="楷体" panose="02010609060101010101" pitchFamily="49" charset="-122"/>
              </a:rPr>
              <a:t>本身</a:t>
            </a:r>
            <a:r>
              <a:rPr lang="zh-CN" altLang="en-US" b="1">
                <a:solidFill>
                  <a:srgbClr val="002060"/>
                </a:solidFill>
                <a:latin typeface="楷体" panose="02010609060101010101" pitchFamily="49" charset="-122"/>
                <a:ea typeface="楷体" panose="02010609060101010101" pitchFamily="49" charset="-122"/>
              </a:rPr>
              <a:t>完成一些必要的操作（例如，打印顶点所存储的信息）</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然后再按同样方式（也即递归地）依次遍历这个顶点的</a:t>
            </a:r>
            <a:r>
              <a:rPr lang="zh-CN" altLang="en-US" b="1">
                <a:solidFill>
                  <a:srgbClr val="0000FF"/>
                </a:solidFill>
                <a:latin typeface="楷体" panose="02010609060101010101" pitchFamily="49" charset="-122"/>
                <a:ea typeface="楷体" panose="02010609060101010101" pitchFamily="49" charset="-122"/>
              </a:rPr>
              <a:t>每个儿子</a:t>
            </a:r>
            <a:r>
              <a:rPr lang="zh-CN" altLang="en-US" b="1">
                <a:solidFill>
                  <a:srgbClr val="002060"/>
                </a:solidFill>
                <a:latin typeface="楷体" panose="02010609060101010101" pitchFamily="49" charset="-122"/>
                <a:ea typeface="楷体" panose="02010609060101010101" pitchFamily="49" charset="-122"/>
              </a:rPr>
              <a:t>顶点为根的子树</a:t>
            </a:r>
          </a:p>
        </p:txBody>
      </p:sp>
      <p:sp>
        <p:nvSpPr>
          <p:cNvPr id="4" name="文本框 3">
            <a:extLst>
              <a:ext uri="{FF2B5EF4-FFF2-40B4-BE49-F238E27FC236}">
                <a16:creationId xmlns:a16="http://schemas.microsoft.com/office/drawing/2014/main" id="{59E84555-71A5-423B-881E-A9DD8CC0950A}"/>
              </a:ext>
            </a:extLst>
          </p:cNvPr>
          <p:cNvSpPr txBox="1"/>
          <p:nvPr/>
        </p:nvSpPr>
        <p:spPr>
          <a:xfrm>
            <a:off x="903052" y="4379712"/>
            <a:ext cx="6096384" cy="157735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中序遍历</a:t>
            </a:r>
            <a:endParaRPr lang="en-US" altLang="zh-CN"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先按同样方式遍历一个顶点的</a:t>
            </a:r>
            <a:r>
              <a:rPr lang="zh-CN" altLang="en-US" b="1">
                <a:solidFill>
                  <a:srgbClr val="0000FF"/>
                </a:solidFill>
                <a:latin typeface="楷体" panose="02010609060101010101" pitchFamily="49" charset="-122"/>
                <a:ea typeface="楷体" panose="02010609060101010101" pitchFamily="49" charset="-122"/>
              </a:rPr>
              <a:t>第一个儿子</a:t>
            </a:r>
            <a:r>
              <a:rPr lang="zh-CN" altLang="en-US" b="1">
                <a:solidFill>
                  <a:srgbClr val="002060"/>
                </a:solidFill>
                <a:latin typeface="楷体" panose="02010609060101010101" pitchFamily="49" charset="-122"/>
                <a:ea typeface="楷体" panose="02010609060101010101" pitchFamily="49" charset="-122"/>
              </a:rPr>
              <a:t>为根的子树</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然后再访问这个顶点</a:t>
            </a:r>
            <a:r>
              <a:rPr lang="zh-CN" altLang="en-US" b="1">
                <a:solidFill>
                  <a:srgbClr val="0000FF"/>
                </a:solidFill>
                <a:latin typeface="楷体" panose="02010609060101010101" pitchFamily="49" charset="-122"/>
                <a:ea typeface="楷体" panose="02010609060101010101" pitchFamily="49" charset="-122"/>
              </a:rPr>
              <a:t>本身</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然后再按同样方式依次遍历以</a:t>
            </a:r>
            <a:r>
              <a:rPr lang="zh-CN" altLang="en-US" b="1">
                <a:solidFill>
                  <a:srgbClr val="0000FF"/>
                </a:solidFill>
                <a:latin typeface="楷体" panose="02010609060101010101" pitchFamily="49" charset="-122"/>
                <a:ea typeface="楷体" panose="02010609060101010101" pitchFamily="49" charset="-122"/>
              </a:rPr>
              <a:t>其他儿子</a:t>
            </a:r>
            <a:r>
              <a:rPr lang="zh-CN" altLang="en-US" b="1">
                <a:solidFill>
                  <a:srgbClr val="002060"/>
                </a:solidFill>
                <a:latin typeface="楷体" panose="02010609060101010101" pitchFamily="49" charset="-122"/>
                <a:ea typeface="楷体" panose="02010609060101010101" pitchFamily="49" charset="-122"/>
              </a:rPr>
              <a:t>顶点为根的子树</a:t>
            </a:r>
          </a:p>
        </p:txBody>
      </p:sp>
      <p:sp>
        <p:nvSpPr>
          <p:cNvPr id="6" name="文本框 5">
            <a:extLst>
              <a:ext uri="{FF2B5EF4-FFF2-40B4-BE49-F238E27FC236}">
                <a16:creationId xmlns:a16="http://schemas.microsoft.com/office/drawing/2014/main" id="{C7718AFE-7513-4D7B-8616-D57055E969A8}"/>
              </a:ext>
            </a:extLst>
          </p:cNvPr>
          <p:cNvSpPr txBox="1"/>
          <p:nvPr/>
        </p:nvSpPr>
        <p:spPr>
          <a:xfrm>
            <a:off x="7592263" y="4418182"/>
            <a:ext cx="3696685" cy="1500411"/>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后序遍历</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先按同样方式依次遍历该顶点的</a:t>
            </a:r>
            <a:r>
              <a:rPr lang="zh-CN" altLang="en-US" b="1">
                <a:solidFill>
                  <a:srgbClr val="0000FF"/>
                </a:solidFill>
                <a:latin typeface="楷体" panose="02010609060101010101" pitchFamily="49" charset="-122"/>
                <a:ea typeface="楷体" panose="02010609060101010101" pitchFamily="49" charset="-122"/>
              </a:rPr>
              <a:t>每个儿子</a:t>
            </a:r>
            <a:r>
              <a:rPr lang="zh-CN" altLang="en-US" b="1">
                <a:solidFill>
                  <a:srgbClr val="002060"/>
                </a:solidFill>
                <a:latin typeface="楷体" panose="02010609060101010101" pitchFamily="49" charset="-122"/>
                <a:ea typeface="楷体" panose="02010609060101010101" pitchFamily="49" charset="-122"/>
              </a:rPr>
              <a:t>为根的子树</a:t>
            </a: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然后再访问这个顶点</a:t>
            </a:r>
            <a:r>
              <a:rPr lang="zh-CN" altLang="en-US" b="1">
                <a:solidFill>
                  <a:srgbClr val="0000FF"/>
                </a:solidFill>
                <a:latin typeface="楷体" panose="02010609060101010101" pitchFamily="49" charset="-122"/>
                <a:ea typeface="楷体" panose="02010609060101010101" pitchFamily="49" charset="-122"/>
              </a:rPr>
              <a:t>本身</a:t>
            </a:r>
          </a:p>
        </p:txBody>
      </p:sp>
    </p:spTree>
    <p:extLst>
      <p:ext uri="{BB962C8B-B14F-4D97-AF65-F5344CB8AC3E}">
        <p14:creationId xmlns:p14="http://schemas.microsoft.com/office/powerpoint/2010/main" val="363447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树的中序遍历举例</a:t>
            </a:r>
          </a:p>
        </p:txBody>
      </p:sp>
      <p:sp>
        <p:nvSpPr>
          <p:cNvPr id="11" name="文本框 10">
            <a:extLst>
              <a:ext uri="{FF2B5EF4-FFF2-40B4-BE49-F238E27FC236}">
                <a16:creationId xmlns:a16="http://schemas.microsoft.com/office/drawing/2014/main" id="{34E240A4-AFCA-4FAB-9A1C-8EF8F7EC8D32}"/>
              </a:ext>
            </a:extLst>
          </p:cNvPr>
          <p:cNvSpPr txBox="1"/>
          <p:nvPr/>
        </p:nvSpPr>
        <p:spPr>
          <a:xfrm>
            <a:off x="1152318" y="1187110"/>
            <a:ext cx="8597991" cy="118494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前序遍历</a:t>
            </a:r>
            <a:endParaRPr lang="en-US" altLang="zh-CN"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先访问顶点</a:t>
            </a:r>
            <a:r>
              <a:rPr lang="zh-CN" altLang="en-US" b="1">
                <a:solidFill>
                  <a:srgbClr val="0000FF"/>
                </a:solidFill>
                <a:latin typeface="楷体" panose="02010609060101010101" pitchFamily="49" charset="-122"/>
                <a:ea typeface="楷体" panose="02010609060101010101" pitchFamily="49" charset="-122"/>
              </a:rPr>
              <a:t>本身</a:t>
            </a:r>
            <a:r>
              <a:rPr lang="zh-CN" altLang="en-US" b="1">
                <a:solidFill>
                  <a:srgbClr val="002060"/>
                </a:solidFill>
                <a:latin typeface="楷体" panose="02010609060101010101" pitchFamily="49" charset="-122"/>
                <a:ea typeface="楷体" panose="02010609060101010101" pitchFamily="49" charset="-122"/>
              </a:rPr>
              <a:t>完成一些必要的操作（例如，打印顶点所存储的信息）</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然后再按同样方式（也即递归地）依次遍历这个顶点的</a:t>
            </a:r>
            <a:r>
              <a:rPr lang="zh-CN" altLang="en-US" b="1">
                <a:solidFill>
                  <a:srgbClr val="0000FF"/>
                </a:solidFill>
                <a:latin typeface="楷体" panose="02010609060101010101" pitchFamily="49" charset="-122"/>
                <a:ea typeface="楷体" panose="02010609060101010101" pitchFamily="49" charset="-122"/>
              </a:rPr>
              <a:t>每个儿子</a:t>
            </a:r>
            <a:r>
              <a:rPr lang="zh-CN" altLang="en-US" b="1">
                <a:solidFill>
                  <a:srgbClr val="002060"/>
                </a:solidFill>
                <a:latin typeface="楷体" panose="02010609060101010101" pitchFamily="49" charset="-122"/>
                <a:ea typeface="楷体" panose="02010609060101010101" pitchFamily="49" charset="-122"/>
              </a:rPr>
              <a:t>顶点为根的子树</a:t>
            </a:r>
          </a:p>
        </p:txBody>
      </p:sp>
      <p:grpSp>
        <p:nvGrpSpPr>
          <p:cNvPr id="46" name="组合 45">
            <a:extLst>
              <a:ext uri="{FF2B5EF4-FFF2-40B4-BE49-F238E27FC236}">
                <a16:creationId xmlns:a16="http://schemas.microsoft.com/office/drawing/2014/main" id="{31B62FD6-DA8D-4F5E-8AB1-70D96D10CA1C}"/>
              </a:ext>
            </a:extLst>
          </p:cNvPr>
          <p:cNvGrpSpPr/>
          <p:nvPr/>
        </p:nvGrpSpPr>
        <p:grpSpPr>
          <a:xfrm>
            <a:off x="600052" y="2802320"/>
            <a:ext cx="5072314" cy="3012566"/>
            <a:chOff x="1270731" y="2777538"/>
            <a:chExt cx="5072314" cy="3012566"/>
          </a:xfrm>
        </p:grpSpPr>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F94D6625-5109-4F23-A1E0-8B3DAA49676E}"/>
                    </a:ext>
                  </a:extLst>
                </p:cNvPr>
                <p:cNvSpPr/>
                <p:nvPr/>
              </p:nvSpPr>
              <p:spPr>
                <a:xfrm>
                  <a:off x="3558924" y="2777538"/>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3" name="椭圆 2">
                  <a:extLst>
                    <a:ext uri="{FF2B5EF4-FFF2-40B4-BE49-F238E27FC236}">
                      <a16:creationId xmlns:a16="http://schemas.microsoft.com/office/drawing/2014/main" id="{F94D6625-5109-4F23-A1E0-8B3DAA49676E}"/>
                    </a:ext>
                  </a:extLst>
                </p:cNvPr>
                <p:cNvSpPr>
                  <a:spLocks noRot="1" noChangeAspect="1" noMove="1" noResize="1" noEditPoints="1" noAdjustHandles="1" noChangeArrowheads="1" noChangeShapeType="1" noTextEdit="1"/>
                </p:cNvSpPr>
                <p:nvPr/>
              </p:nvSpPr>
              <p:spPr>
                <a:xfrm>
                  <a:off x="3558924" y="2777538"/>
                  <a:ext cx="494093" cy="505092"/>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5CCA56A8-B7A4-43E5-A75F-B6414D59048F}"/>
                    </a:ext>
                  </a:extLst>
                </p:cNvPr>
                <p:cNvSpPr/>
                <p:nvPr/>
              </p:nvSpPr>
              <p:spPr>
                <a:xfrm>
                  <a:off x="2026508"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12" name="椭圆 11">
                  <a:extLst>
                    <a:ext uri="{FF2B5EF4-FFF2-40B4-BE49-F238E27FC236}">
                      <a16:creationId xmlns:a16="http://schemas.microsoft.com/office/drawing/2014/main" id="{5CCA56A8-B7A4-43E5-A75F-B6414D59048F}"/>
                    </a:ext>
                  </a:extLst>
                </p:cNvPr>
                <p:cNvSpPr>
                  <a:spLocks noRot="1" noChangeAspect="1" noMove="1" noResize="1" noEditPoints="1" noAdjustHandles="1" noChangeArrowheads="1" noChangeShapeType="1" noTextEdit="1"/>
                </p:cNvSpPr>
                <p:nvPr/>
              </p:nvSpPr>
              <p:spPr>
                <a:xfrm>
                  <a:off x="2026508" y="3581201"/>
                  <a:ext cx="494093" cy="50509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EDA8EB0B-A7B4-4C9B-A67D-2DB4212EFA11}"/>
                    </a:ext>
                  </a:extLst>
                </p:cNvPr>
                <p:cNvSpPr/>
                <p:nvPr/>
              </p:nvSpPr>
              <p:spPr>
                <a:xfrm>
                  <a:off x="1270731"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13" name="椭圆 12">
                  <a:extLst>
                    <a:ext uri="{FF2B5EF4-FFF2-40B4-BE49-F238E27FC236}">
                      <a16:creationId xmlns:a16="http://schemas.microsoft.com/office/drawing/2014/main" id="{EDA8EB0B-A7B4-4C9B-A67D-2DB4212EFA11}"/>
                    </a:ext>
                  </a:extLst>
                </p:cNvPr>
                <p:cNvSpPr>
                  <a:spLocks noRot="1" noChangeAspect="1" noMove="1" noResize="1" noEditPoints="1" noAdjustHandles="1" noChangeArrowheads="1" noChangeShapeType="1" noTextEdit="1"/>
                </p:cNvSpPr>
                <p:nvPr/>
              </p:nvSpPr>
              <p:spPr>
                <a:xfrm>
                  <a:off x="1270731" y="4441019"/>
                  <a:ext cx="494093" cy="50509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1F48AD51-44AF-4C49-BFEB-D91AC04A4626}"/>
                    </a:ext>
                  </a:extLst>
                </p:cNvPr>
                <p:cNvSpPr/>
                <p:nvPr/>
              </p:nvSpPr>
              <p:spPr>
                <a:xfrm>
                  <a:off x="2026507"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14" name="椭圆 13">
                  <a:extLst>
                    <a:ext uri="{FF2B5EF4-FFF2-40B4-BE49-F238E27FC236}">
                      <a16:creationId xmlns:a16="http://schemas.microsoft.com/office/drawing/2014/main" id="{1F48AD51-44AF-4C49-BFEB-D91AC04A4626}"/>
                    </a:ext>
                  </a:extLst>
                </p:cNvPr>
                <p:cNvSpPr>
                  <a:spLocks noRot="1" noChangeAspect="1" noMove="1" noResize="1" noEditPoints="1" noAdjustHandles="1" noChangeArrowheads="1" noChangeShapeType="1" noTextEdit="1"/>
                </p:cNvSpPr>
                <p:nvPr/>
              </p:nvSpPr>
              <p:spPr>
                <a:xfrm>
                  <a:off x="2026507" y="5285012"/>
                  <a:ext cx="494093" cy="505092"/>
                </a:xfrm>
                <a:prstGeom prst="ellipse">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F037A80D-2455-408B-AB4C-CF2F8FEFF1D6}"/>
                    </a:ext>
                  </a:extLst>
                </p:cNvPr>
                <p:cNvSpPr/>
                <p:nvPr/>
              </p:nvSpPr>
              <p:spPr>
                <a:xfrm>
                  <a:off x="2800953"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15" name="椭圆 14">
                  <a:extLst>
                    <a:ext uri="{FF2B5EF4-FFF2-40B4-BE49-F238E27FC236}">
                      <a16:creationId xmlns:a16="http://schemas.microsoft.com/office/drawing/2014/main" id="{F037A80D-2455-408B-AB4C-CF2F8FEFF1D6}"/>
                    </a:ext>
                  </a:extLst>
                </p:cNvPr>
                <p:cNvSpPr>
                  <a:spLocks noRot="1" noChangeAspect="1" noMove="1" noResize="1" noEditPoints="1" noAdjustHandles="1" noChangeArrowheads="1" noChangeShapeType="1" noTextEdit="1"/>
                </p:cNvSpPr>
                <p:nvPr/>
              </p:nvSpPr>
              <p:spPr>
                <a:xfrm>
                  <a:off x="2800953" y="4427780"/>
                  <a:ext cx="494093" cy="50509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20869EAD-BD82-4133-8966-05D5B1B9AD7A}"/>
                    </a:ext>
                  </a:extLst>
                </p:cNvPr>
                <p:cNvSpPr/>
                <p:nvPr/>
              </p:nvSpPr>
              <p:spPr>
                <a:xfrm>
                  <a:off x="3558924"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16" name="椭圆 15">
                  <a:extLst>
                    <a:ext uri="{FF2B5EF4-FFF2-40B4-BE49-F238E27FC236}">
                      <a16:creationId xmlns:a16="http://schemas.microsoft.com/office/drawing/2014/main" id="{20869EAD-BD82-4133-8966-05D5B1B9AD7A}"/>
                    </a:ext>
                  </a:extLst>
                </p:cNvPr>
                <p:cNvSpPr>
                  <a:spLocks noRot="1" noChangeAspect="1" noMove="1" noResize="1" noEditPoints="1" noAdjustHandles="1" noChangeArrowheads="1" noChangeShapeType="1" noTextEdit="1"/>
                </p:cNvSpPr>
                <p:nvPr/>
              </p:nvSpPr>
              <p:spPr>
                <a:xfrm>
                  <a:off x="3558924" y="5285012"/>
                  <a:ext cx="494093" cy="505092"/>
                </a:xfrm>
                <a:prstGeom prst="ellipse">
                  <a:avLst/>
                </a:prstGeom>
                <a:blipFill>
                  <a:blip r:embed="rId7"/>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801CC62C-345B-4150-9688-014F40B960EE}"/>
                    </a:ext>
                  </a:extLst>
                </p:cNvPr>
                <p:cNvSpPr/>
                <p:nvPr/>
              </p:nvSpPr>
              <p:spPr>
                <a:xfrm>
                  <a:off x="4322017"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18" name="椭圆 17">
                  <a:extLst>
                    <a:ext uri="{FF2B5EF4-FFF2-40B4-BE49-F238E27FC236}">
                      <a16:creationId xmlns:a16="http://schemas.microsoft.com/office/drawing/2014/main" id="{801CC62C-345B-4150-9688-014F40B960EE}"/>
                    </a:ext>
                  </a:extLst>
                </p:cNvPr>
                <p:cNvSpPr>
                  <a:spLocks noRot="1" noChangeAspect="1" noMove="1" noResize="1" noEditPoints="1" noAdjustHandles="1" noChangeArrowheads="1" noChangeShapeType="1" noTextEdit="1"/>
                </p:cNvSpPr>
                <p:nvPr/>
              </p:nvSpPr>
              <p:spPr>
                <a:xfrm>
                  <a:off x="4322017" y="4427780"/>
                  <a:ext cx="494093" cy="50509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74820E64-FCC5-4BC7-B983-89CAC26ED80E}"/>
                    </a:ext>
                  </a:extLst>
                </p:cNvPr>
                <p:cNvSpPr/>
                <p:nvPr/>
              </p:nvSpPr>
              <p:spPr>
                <a:xfrm>
                  <a:off x="5106303"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19" name="椭圆 18">
                  <a:extLst>
                    <a:ext uri="{FF2B5EF4-FFF2-40B4-BE49-F238E27FC236}">
                      <a16:creationId xmlns:a16="http://schemas.microsoft.com/office/drawing/2014/main" id="{74820E64-FCC5-4BC7-B983-89CAC26ED80E}"/>
                    </a:ext>
                  </a:extLst>
                </p:cNvPr>
                <p:cNvSpPr>
                  <a:spLocks noRot="1" noChangeAspect="1" noMove="1" noResize="1" noEditPoints="1" noAdjustHandles="1" noChangeArrowheads="1" noChangeShapeType="1" noTextEdit="1"/>
                </p:cNvSpPr>
                <p:nvPr/>
              </p:nvSpPr>
              <p:spPr>
                <a:xfrm>
                  <a:off x="5106303" y="3581201"/>
                  <a:ext cx="494093" cy="505092"/>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EFBFDF5E-8BD6-45B9-A9BD-776E300C0902}"/>
                    </a:ext>
                  </a:extLst>
                </p:cNvPr>
                <p:cNvSpPr/>
                <p:nvPr/>
              </p:nvSpPr>
              <p:spPr>
                <a:xfrm>
                  <a:off x="5848952"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20" name="椭圆 19">
                  <a:extLst>
                    <a:ext uri="{FF2B5EF4-FFF2-40B4-BE49-F238E27FC236}">
                      <a16:creationId xmlns:a16="http://schemas.microsoft.com/office/drawing/2014/main" id="{EFBFDF5E-8BD6-45B9-A9BD-776E300C0902}"/>
                    </a:ext>
                  </a:extLst>
                </p:cNvPr>
                <p:cNvSpPr>
                  <a:spLocks noRot="1" noChangeAspect="1" noMove="1" noResize="1" noEditPoints="1" noAdjustHandles="1" noChangeArrowheads="1" noChangeShapeType="1" noTextEdit="1"/>
                </p:cNvSpPr>
                <p:nvPr/>
              </p:nvSpPr>
              <p:spPr>
                <a:xfrm>
                  <a:off x="5848952" y="4441019"/>
                  <a:ext cx="494093" cy="505092"/>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631DE8B9-C84D-4C33-B713-71F98877466D}"/>
                    </a:ext>
                  </a:extLst>
                </p:cNvPr>
                <p:cNvSpPr/>
                <p:nvPr/>
              </p:nvSpPr>
              <p:spPr>
                <a:xfrm>
                  <a:off x="3558601"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21" name="椭圆 20">
                  <a:extLst>
                    <a:ext uri="{FF2B5EF4-FFF2-40B4-BE49-F238E27FC236}">
                      <a16:creationId xmlns:a16="http://schemas.microsoft.com/office/drawing/2014/main" id="{631DE8B9-C84D-4C33-B713-71F98877466D}"/>
                    </a:ext>
                  </a:extLst>
                </p:cNvPr>
                <p:cNvSpPr>
                  <a:spLocks noRot="1" noChangeAspect="1" noMove="1" noResize="1" noEditPoints="1" noAdjustHandles="1" noChangeArrowheads="1" noChangeShapeType="1" noTextEdit="1"/>
                </p:cNvSpPr>
                <p:nvPr/>
              </p:nvSpPr>
              <p:spPr>
                <a:xfrm>
                  <a:off x="3558601" y="3581201"/>
                  <a:ext cx="494093" cy="505092"/>
                </a:xfrm>
                <a:prstGeom prst="ellipse">
                  <a:avLst/>
                </a:prstGeom>
                <a:blipFill>
                  <a:blip r:embed="rId11"/>
                  <a:stretch>
                    <a:fillRect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BCF6B318-0149-49DF-9076-01B9DE0FC6F3}"/>
                    </a:ext>
                  </a:extLst>
                </p:cNvPr>
                <p:cNvSpPr/>
                <p:nvPr/>
              </p:nvSpPr>
              <p:spPr>
                <a:xfrm>
                  <a:off x="2034198"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22" name="椭圆 21">
                  <a:extLst>
                    <a:ext uri="{FF2B5EF4-FFF2-40B4-BE49-F238E27FC236}">
                      <a16:creationId xmlns:a16="http://schemas.microsoft.com/office/drawing/2014/main" id="{BCF6B318-0149-49DF-9076-01B9DE0FC6F3}"/>
                    </a:ext>
                  </a:extLst>
                </p:cNvPr>
                <p:cNvSpPr>
                  <a:spLocks noRot="1" noChangeAspect="1" noMove="1" noResize="1" noEditPoints="1" noAdjustHandles="1" noChangeArrowheads="1" noChangeShapeType="1" noTextEdit="1"/>
                </p:cNvSpPr>
                <p:nvPr/>
              </p:nvSpPr>
              <p:spPr>
                <a:xfrm>
                  <a:off x="2034198" y="4427780"/>
                  <a:ext cx="494093" cy="505092"/>
                </a:xfrm>
                <a:prstGeom prst="ellipse">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8418CC85-4461-4AF2-B253-DB53090C2F7D}"/>
                    </a:ext>
                  </a:extLst>
                </p:cNvPr>
                <p:cNvSpPr/>
                <p:nvPr/>
              </p:nvSpPr>
              <p:spPr>
                <a:xfrm>
                  <a:off x="5106303"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23" name="椭圆 22">
                  <a:extLst>
                    <a:ext uri="{FF2B5EF4-FFF2-40B4-BE49-F238E27FC236}">
                      <a16:creationId xmlns:a16="http://schemas.microsoft.com/office/drawing/2014/main" id="{8418CC85-4461-4AF2-B253-DB53090C2F7D}"/>
                    </a:ext>
                  </a:extLst>
                </p:cNvPr>
                <p:cNvSpPr>
                  <a:spLocks noRot="1" noChangeAspect="1" noMove="1" noResize="1" noEditPoints="1" noAdjustHandles="1" noChangeArrowheads="1" noChangeShapeType="1" noTextEdit="1"/>
                </p:cNvSpPr>
                <p:nvPr/>
              </p:nvSpPr>
              <p:spPr>
                <a:xfrm>
                  <a:off x="5106303" y="4441019"/>
                  <a:ext cx="494093" cy="505092"/>
                </a:xfrm>
                <a:prstGeom prst="ellipse">
                  <a:avLst/>
                </a:prstGeom>
                <a:blipFill>
                  <a:blip r:embed="rId13"/>
                  <a:stretch>
                    <a:fillRect/>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FA47524B-5E09-465B-82A0-C6EA0ED3385C}"/>
                </a:ext>
              </a:extLst>
            </p:cNvPr>
            <p:cNvCxnSpPr>
              <a:cxnSpLocks/>
              <a:stCxn id="3" idx="3"/>
              <a:endCxn id="12" idx="7"/>
            </p:cNvCxnSpPr>
            <p:nvPr/>
          </p:nvCxnSpPr>
          <p:spPr>
            <a:xfrm flipH="1">
              <a:off x="2448243" y="3208661"/>
              <a:ext cx="1183039"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9DBF557-4916-4F65-BBFE-4BE1ABA37A1C}"/>
                </a:ext>
              </a:extLst>
            </p:cNvPr>
            <p:cNvCxnSpPr>
              <a:stCxn id="3" idx="5"/>
              <a:endCxn id="19" idx="1"/>
            </p:cNvCxnSpPr>
            <p:nvPr/>
          </p:nvCxnSpPr>
          <p:spPr>
            <a:xfrm>
              <a:off x="3980659" y="3208661"/>
              <a:ext cx="1198002"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30DF8E5-3355-428B-865A-E550A859B39A}"/>
                </a:ext>
              </a:extLst>
            </p:cNvPr>
            <p:cNvCxnSpPr>
              <a:stCxn id="3" idx="4"/>
              <a:endCxn id="21" idx="0"/>
            </p:cNvCxnSpPr>
            <p:nvPr/>
          </p:nvCxnSpPr>
          <p:spPr>
            <a:xfrm flipH="1">
              <a:off x="3805648" y="3282630"/>
              <a:ext cx="323" cy="298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50ED833-F510-433D-B917-995F0EA2B990}"/>
                </a:ext>
              </a:extLst>
            </p:cNvPr>
            <p:cNvCxnSpPr>
              <a:stCxn id="12" idx="3"/>
              <a:endCxn id="13" idx="7"/>
            </p:cNvCxnSpPr>
            <p:nvPr/>
          </p:nvCxnSpPr>
          <p:spPr>
            <a:xfrm flipH="1">
              <a:off x="1692466" y="4012324"/>
              <a:ext cx="406400" cy="502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7E0E4EE9-2735-4625-98E7-DF03FDC7B6AE}"/>
                </a:ext>
              </a:extLst>
            </p:cNvPr>
            <p:cNvCxnSpPr>
              <a:endCxn id="22" idx="0"/>
            </p:cNvCxnSpPr>
            <p:nvPr/>
          </p:nvCxnSpPr>
          <p:spPr>
            <a:xfrm>
              <a:off x="2281244" y="4086293"/>
              <a:ext cx="1" cy="3414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B14FECC9-E767-4801-B5D7-B4D0324E974E}"/>
                </a:ext>
              </a:extLst>
            </p:cNvPr>
            <p:cNvCxnSpPr>
              <a:stCxn id="12" idx="5"/>
              <a:endCxn id="15" idx="1"/>
            </p:cNvCxnSpPr>
            <p:nvPr/>
          </p:nvCxnSpPr>
          <p:spPr>
            <a:xfrm>
              <a:off x="2448243" y="4012324"/>
              <a:ext cx="425068"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74BC137-9059-4F32-9E2E-1F34D4320892}"/>
                </a:ext>
              </a:extLst>
            </p:cNvPr>
            <p:cNvCxnSpPr>
              <a:stCxn id="15" idx="3"/>
              <a:endCxn id="14" idx="7"/>
            </p:cNvCxnSpPr>
            <p:nvPr/>
          </p:nvCxnSpPr>
          <p:spPr>
            <a:xfrm flipH="1">
              <a:off x="2448242" y="4858903"/>
              <a:ext cx="425069"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50AFC7B-2AAD-4BB4-A6ED-3792FEE56BAB}"/>
                </a:ext>
              </a:extLst>
            </p:cNvPr>
            <p:cNvCxnSpPr>
              <a:stCxn id="15" idx="5"/>
              <a:endCxn id="16" idx="1"/>
            </p:cNvCxnSpPr>
            <p:nvPr/>
          </p:nvCxnSpPr>
          <p:spPr>
            <a:xfrm>
              <a:off x="3222688" y="4858903"/>
              <a:ext cx="408594"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493A921-9431-4A32-9E6E-7CAEA200C2B4}"/>
                </a:ext>
              </a:extLst>
            </p:cNvPr>
            <p:cNvCxnSpPr>
              <a:stCxn id="19" idx="3"/>
              <a:endCxn id="18" idx="7"/>
            </p:cNvCxnSpPr>
            <p:nvPr/>
          </p:nvCxnSpPr>
          <p:spPr>
            <a:xfrm flipH="1">
              <a:off x="4743752" y="4012324"/>
              <a:ext cx="434909"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088AA6E-40AE-4F77-8C93-2EB625F25902}"/>
                </a:ext>
              </a:extLst>
            </p:cNvPr>
            <p:cNvCxnSpPr>
              <a:stCxn id="19" idx="4"/>
              <a:endCxn id="23" idx="0"/>
            </p:cNvCxnSpPr>
            <p:nvPr/>
          </p:nvCxnSpPr>
          <p:spPr>
            <a:xfrm>
              <a:off x="5353350" y="4086293"/>
              <a:ext cx="0" cy="354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0BD67FD-765E-4003-8332-0F12AA0875A1}"/>
                </a:ext>
              </a:extLst>
            </p:cNvPr>
            <p:cNvCxnSpPr>
              <a:stCxn id="19" idx="5"/>
              <a:endCxn id="20" idx="1"/>
            </p:cNvCxnSpPr>
            <p:nvPr/>
          </p:nvCxnSpPr>
          <p:spPr>
            <a:xfrm>
              <a:off x="5528038" y="4012324"/>
              <a:ext cx="393272" cy="502664"/>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椭圆 46">
                <a:extLst>
                  <a:ext uri="{FF2B5EF4-FFF2-40B4-BE49-F238E27FC236}">
                    <a16:creationId xmlns:a16="http://schemas.microsoft.com/office/drawing/2014/main" id="{4C966A61-41EC-4318-9055-BDE83FF2B965}"/>
                  </a:ext>
                </a:extLst>
              </p:cNvPr>
              <p:cNvSpPr/>
              <p:nvPr/>
            </p:nvSpPr>
            <p:spPr>
              <a:xfrm>
                <a:off x="2891853" y="280232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47" name="椭圆 46">
                <a:extLst>
                  <a:ext uri="{FF2B5EF4-FFF2-40B4-BE49-F238E27FC236}">
                    <a16:creationId xmlns:a16="http://schemas.microsoft.com/office/drawing/2014/main" id="{4C966A61-41EC-4318-9055-BDE83FF2B965}"/>
                  </a:ext>
                </a:extLst>
              </p:cNvPr>
              <p:cNvSpPr>
                <a:spLocks noRot="1" noChangeAspect="1" noMove="1" noResize="1" noEditPoints="1" noAdjustHandles="1" noChangeArrowheads="1" noChangeShapeType="1" noTextEdit="1"/>
              </p:cNvSpPr>
              <p:nvPr/>
            </p:nvSpPr>
            <p:spPr>
              <a:xfrm>
                <a:off x="2891853" y="2802320"/>
                <a:ext cx="494093" cy="505092"/>
              </a:xfrm>
              <a:prstGeom prst="ellipse">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椭圆 47">
                <a:extLst>
                  <a:ext uri="{FF2B5EF4-FFF2-40B4-BE49-F238E27FC236}">
                    <a16:creationId xmlns:a16="http://schemas.microsoft.com/office/drawing/2014/main" id="{B77A37B5-BC9C-4E18-8329-9778A336F470}"/>
                  </a:ext>
                </a:extLst>
              </p:cNvPr>
              <p:cNvSpPr/>
              <p:nvPr/>
            </p:nvSpPr>
            <p:spPr>
              <a:xfrm>
                <a:off x="5619660"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48" name="椭圆 47">
                <a:extLst>
                  <a:ext uri="{FF2B5EF4-FFF2-40B4-BE49-F238E27FC236}">
                    <a16:creationId xmlns:a16="http://schemas.microsoft.com/office/drawing/2014/main" id="{B77A37B5-BC9C-4E18-8329-9778A336F470}"/>
                  </a:ext>
                </a:extLst>
              </p:cNvPr>
              <p:cNvSpPr>
                <a:spLocks noRot="1" noChangeAspect="1" noMove="1" noResize="1" noEditPoints="1" noAdjustHandles="1" noChangeArrowheads="1" noChangeShapeType="1" noTextEdit="1"/>
              </p:cNvSpPr>
              <p:nvPr/>
            </p:nvSpPr>
            <p:spPr>
              <a:xfrm>
                <a:off x="5619660" y="3911436"/>
                <a:ext cx="494093" cy="505092"/>
              </a:xfrm>
              <a:prstGeom prst="ellipse">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066E8DA0-DC4A-4FE6-B5F8-3DB5205ED59E}"/>
                  </a:ext>
                </a:extLst>
              </p:cNvPr>
              <p:cNvSpPr/>
              <p:nvPr/>
            </p:nvSpPr>
            <p:spPr>
              <a:xfrm>
                <a:off x="6121895"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49" name="椭圆 48">
                <a:extLst>
                  <a:ext uri="{FF2B5EF4-FFF2-40B4-BE49-F238E27FC236}">
                    <a16:creationId xmlns:a16="http://schemas.microsoft.com/office/drawing/2014/main" id="{066E8DA0-DC4A-4FE6-B5F8-3DB5205ED59E}"/>
                  </a:ext>
                </a:extLst>
              </p:cNvPr>
              <p:cNvSpPr>
                <a:spLocks noRot="1" noChangeAspect="1" noMove="1" noResize="1" noEditPoints="1" noAdjustHandles="1" noChangeArrowheads="1" noChangeShapeType="1" noTextEdit="1"/>
              </p:cNvSpPr>
              <p:nvPr/>
            </p:nvSpPr>
            <p:spPr>
              <a:xfrm>
                <a:off x="6121895" y="3911436"/>
                <a:ext cx="494093" cy="505092"/>
              </a:xfrm>
              <a:prstGeom prst="ellipse">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椭圆 49">
                <a:extLst>
                  <a:ext uri="{FF2B5EF4-FFF2-40B4-BE49-F238E27FC236}">
                    <a16:creationId xmlns:a16="http://schemas.microsoft.com/office/drawing/2014/main" id="{DFD6AEB8-03A7-4B5C-8591-79B1DE6FC8FF}"/>
                  </a:ext>
                </a:extLst>
              </p:cNvPr>
              <p:cNvSpPr/>
              <p:nvPr/>
            </p:nvSpPr>
            <p:spPr>
              <a:xfrm>
                <a:off x="6615996"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50" name="椭圆 49">
                <a:extLst>
                  <a:ext uri="{FF2B5EF4-FFF2-40B4-BE49-F238E27FC236}">
                    <a16:creationId xmlns:a16="http://schemas.microsoft.com/office/drawing/2014/main" id="{DFD6AEB8-03A7-4B5C-8591-79B1DE6FC8FF}"/>
                  </a:ext>
                </a:extLst>
              </p:cNvPr>
              <p:cNvSpPr>
                <a:spLocks noRot="1" noChangeAspect="1" noMove="1" noResize="1" noEditPoints="1" noAdjustHandles="1" noChangeArrowheads="1" noChangeShapeType="1" noTextEdit="1"/>
              </p:cNvSpPr>
              <p:nvPr/>
            </p:nvSpPr>
            <p:spPr>
              <a:xfrm>
                <a:off x="6615996" y="3917090"/>
                <a:ext cx="494093" cy="505092"/>
              </a:xfrm>
              <a:prstGeom prst="ellipse">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0D2F69D1-150A-460E-AF61-702FA3C4E146}"/>
                  </a:ext>
                </a:extLst>
              </p:cNvPr>
              <p:cNvSpPr/>
              <p:nvPr/>
            </p:nvSpPr>
            <p:spPr>
              <a:xfrm>
                <a:off x="7134507" y="3917090"/>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51" name="椭圆 50">
                <a:extLst>
                  <a:ext uri="{FF2B5EF4-FFF2-40B4-BE49-F238E27FC236}">
                    <a16:creationId xmlns:a16="http://schemas.microsoft.com/office/drawing/2014/main" id="{0D2F69D1-150A-460E-AF61-702FA3C4E146}"/>
                  </a:ext>
                </a:extLst>
              </p:cNvPr>
              <p:cNvSpPr>
                <a:spLocks noRot="1" noChangeAspect="1" noMove="1" noResize="1" noEditPoints="1" noAdjustHandles="1" noChangeArrowheads="1" noChangeShapeType="1" noTextEdit="1"/>
              </p:cNvSpPr>
              <p:nvPr/>
            </p:nvSpPr>
            <p:spPr>
              <a:xfrm>
                <a:off x="7134507" y="3917090"/>
                <a:ext cx="494093" cy="492252"/>
              </a:xfrm>
              <a:prstGeom prst="ellipse">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447A106E-7112-4E45-8D2E-B4629C778CAA}"/>
                  </a:ext>
                </a:extLst>
              </p:cNvPr>
              <p:cNvSpPr/>
              <p:nvPr/>
            </p:nvSpPr>
            <p:spPr>
              <a:xfrm>
                <a:off x="7644891"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52" name="椭圆 51">
                <a:extLst>
                  <a:ext uri="{FF2B5EF4-FFF2-40B4-BE49-F238E27FC236}">
                    <a16:creationId xmlns:a16="http://schemas.microsoft.com/office/drawing/2014/main" id="{447A106E-7112-4E45-8D2E-B4629C778CAA}"/>
                  </a:ext>
                </a:extLst>
              </p:cNvPr>
              <p:cNvSpPr>
                <a:spLocks noRot="1" noChangeAspect="1" noMove="1" noResize="1" noEditPoints="1" noAdjustHandles="1" noChangeArrowheads="1" noChangeShapeType="1" noTextEdit="1"/>
              </p:cNvSpPr>
              <p:nvPr/>
            </p:nvSpPr>
            <p:spPr>
              <a:xfrm>
                <a:off x="7644891" y="3917090"/>
                <a:ext cx="494093" cy="505092"/>
              </a:xfrm>
              <a:prstGeom prst="ellipse">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椭圆 52">
                <a:extLst>
                  <a:ext uri="{FF2B5EF4-FFF2-40B4-BE49-F238E27FC236}">
                    <a16:creationId xmlns:a16="http://schemas.microsoft.com/office/drawing/2014/main" id="{984B9AD0-8A03-4F40-99D0-FA40D8B2A53E}"/>
                  </a:ext>
                </a:extLst>
              </p:cNvPr>
              <p:cNvSpPr/>
              <p:nvPr/>
            </p:nvSpPr>
            <p:spPr>
              <a:xfrm>
                <a:off x="8155254" y="39192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53" name="椭圆 52">
                <a:extLst>
                  <a:ext uri="{FF2B5EF4-FFF2-40B4-BE49-F238E27FC236}">
                    <a16:creationId xmlns:a16="http://schemas.microsoft.com/office/drawing/2014/main" id="{984B9AD0-8A03-4F40-99D0-FA40D8B2A53E}"/>
                  </a:ext>
                </a:extLst>
              </p:cNvPr>
              <p:cNvSpPr>
                <a:spLocks noRot="1" noChangeAspect="1" noMove="1" noResize="1" noEditPoints="1" noAdjustHandles="1" noChangeArrowheads="1" noChangeShapeType="1" noTextEdit="1"/>
              </p:cNvSpPr>
              <p:nvPr/>
            </p:nvSpPr>
            <p:spPr>
              <a:xfrm>
                <a:off x="8155254" y="3919270"/>
                <a:ext cx="494093" cy="505092"/>
              </a:xfrm>
              <a:prstGeom prst="ellipse">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椭圆 53">
                <a:extLst>
                  <a:ext uri="{FF2B5EF4-FFF2-40B4-BE49-F238E27FC236}">
                    <a16:creationId xmlns:a16="http://schemas.microsoft.com/office/drawing/2014/main" id="{8FD23C5B-51AC-4639-B337-2703C6FF6F04}"/>
                  </a:ext>
                </a:extLst>
              </p:cNvPr>
              <p:cNvSpPr/>
              <p:nvPr/>
            </p:nvSpPr>
            <p:spPr>
              <a:xfrm>
                <a:off x="8665617" y="390925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54" name="椭圆 53">
                <a:extLst>
                  <a:ext uri="{FF2B5EF4-FFF2-40B4-BE49-F238E27FC236}">
                    <a16:creationId xmlns:a16="http://schemas.microsoft.com/office/drawing/2014/main" id="{8FD23C5B-51AC-4639-B337-2703C6FF6F04}"/>
                  </a:ext>
                </a:extLst>
              </p:cNvPr>
              <p:cNvSpPr>
                <a:spLocks noRot="1" noChangeAspect="1" noMove="1" noResize="1" noEditPoints="1" noAdjustHandles="1" noChangeArrowheads="1" noChangeShapeType="1" noTextEdit="1"/>
              </p:cNvSpPr>
              <p:nvPr/>
            </p:nvSpPr>
            <p:spPr>
              <a:xfrm>
                <a:off x="8665617" y="3909256"/>
                <a:ext cx="494093" cy="505092"/>
              </a:xfrm>
              <a:prstGeom prst="ellipse">
                <a:avLst/>
              </a:prstGeom>
              <a:blipFill>
                <a:blip r:embed="rId21"/>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椭圆 54">
                <a:extLst>
                  <a:ext uri="{FF2B5EF4-FFF2-40B4-BE49-F238E27FC236}">
                    <a16:creationId xmlns:a16="http://schemas.microsoft.com/office/drawing/2014/main" id="{F284DECD-BAE5-4BF8-82D1-AAD618F23C30}"/>
                  </a:ext>
                </a:extLst>
              </p:cNvPr>
              <p:cNvSpPr/>
              <p:nvPr/>
            </p:nvSpPr>
            <p:spPr>
              <a:xfrm>
                <a:off x="9174432"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55" name="椭圆 54">
                <a:extLst>
                  <a:ext uri="{FF2B5EF4-FFF2-40B4-BE49-F238E27FC236}">
                    <a16:creationId xmlns:a16="http://schemas.microsoft.com/office/drawing/2014/main" id="{F284DECD-BAE5-4BF8-82D1-AAD618F23C30}"/>
                  </a:ext>
                </a:extLst>
              </p:cNvPr>
              <p:cNvSpPr>
                <a:spLocks noRot="1" noChangeAspect="1" noMove="1" noResize="1" noEditPoints="1" noAdjustHandles="1" noChangeArrowheads="1" noChangeShapeType="1" noTextEdit="1"/>
              </p:cNvSpPr>
              <p:nvPr/>
            </p:nvSpPr>
            <p:spPr>
              <a:xfrm>
                <a:off x="9174432" y="3917090"/>
                <a:ext cx="494093" cy="505092"/>
              </a:xfrm>
              <a:prstGeom prst="ellipse">
                <a:avLst/>
              </a:prstGeom>
              <a:blipFill>
                <a:blip r:embed="rId22"/>
                <a:stretch>
                  <a:fillRect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椭圆 55">
                <a:extLst>
                  <a:ext uri="{FF2B5EF4-FFF2-40B4-BE49-F238E27FC236}">
                    <a16:creationId xmlns:a16="http://schemas.microsoft.com/office/drawing/2014/main" id="{FC282B33-F1D6-4541-83B8-C822A9D8003C}"/>
                  </a:ext>
                </a:extLst>
              </p:cNvPr>
              <p:cNvSpPr/>
              <p:nvPr/>
            </p:nvSpPr>
            <p:spPr>
              <a:xfrm>
                <a:off x="9686371" y="391899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56" name="椭圆 55">
                <a:extLst>
                  <a:ext uri="{FF2B5EF4-FFF2-40B4-BE49-F238E27FC236}">
                    <a16:creationId xmlns:a16="http://schemas.microsoft.com/office/drawing/2014/main" id="{FC282B33-F1D6-4541-83B8-C822A9D8003C}"/>
                  </a:ext>
                </a:extLst>
              </p:cNvPr>
              <p:cNvSpPr>
                <a:spLocks noRot="1" noChangeAspect="1" noMove="1" noResize="1" noEditPoints="1" noAdjustHandles="1" noChangeArrowheads="1" noChangeShapeType="1" noTextEdit="1"/>
              </p:cNvSpPr>
              <p:nvPr/>
            </p:nvSpPr>
            <p:spPr>
              <a:xfrm>
                <a:off x="9686371" y="3918992"/>
                <a:ext cx="494093" cy="505092"/>
              </a:xfrm>
              <a:prstGeom prst="ellipse">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椭圆 56">
                <a:extLst>
                  <a:ext uri="{FF2B5EF4-FFF2-40B4-BE49-F238E27FC236}">
                    <a16:creationId xmlns:a16="http://schemas.microsoft.com/office/drawing/2014/main" id="{987A16F4-C0D3-4366-A99E-B3B6C82C37EF}"/>
                  </a:ext>
                </a:extLst>
              </p:cNvPr>
              <p:cNvSpPr/>
              <p:nvPr/>
            </p:nvSpPr>
            <p:spPr>
              <a:xfrm>
                <a:off x="10188613" y="392089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57" name="椭圆 56">
                <a:extLst>
                  <a:ext uri="{FF2B5EF4-FFF2-40B4-BE49-F238E27FC236}">
                    <a16:creationId xmlns:a16="http://schemas.microsoft.com/office/drawing/2014/main" id="{987A16F4-C0D3-4366-A99E-B3B6C82C37EF}"/>
                  </a:ext>
                </a:extLst>
              </p:cNvPr>
              <p:cNvSpPr>
                <a:spLocks noRot="1" noChangeAspect="1" noMove="1" noResize="1" noEditPoints="1" noAdjustHandles="1" noChangeArrowheads="1" noChangeShapeType="1" noTextEdit="1"/>
              </p:cNvSpPr>
              <p:nvPr/>
            </p:nvSpPr>
            <p:spPr>
              <a:xfrm>
                <a:off x="10188613" y="3920894"/>
                <a:ext cx="494093" cy="505092"/>
              </a:xfrm>
              <a:prstGeom prst="ellipse">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椭圆 57">
                <a:extLst>
                  <a:ext uri="{FF2B5EF4-FFF2-40B4-BE49-F238E27FC236}">
                    <a16:creationId xmlns:a16="http://schemas.microsoft.com/office/drawing/2014/main" id="{8E75F42B-B37F-4979-9430-AB3A72ADBACD}"/>
                  </a:ext>
                </a:extLst>
              </p:cNvPr>
              <p:cNvSpPr/>
              <p:nvPr/>
            </p:nvSpPr>
            <p:spPr>
              <a:xfrm>
                <a:off x="10698976" y="3910705"/>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58" name="椭圆 57">
                <a:extLst>
                  <a:ext uri="{FF2B5EF4-FFF2-40B4-BE49-F238E27FC236}">
                    <a16:creationId xmlns:a16="http://schemas.microsoft.com/office/drawing/2014/main" id="{8E75F42B-B37F-4979-9430-AB3A72ADBACD}"/>
                  </a:ext>
                </a:extLst>
              </p:cNvPr>
              <p:cNvSpPr>
                <a:spLocks noRot="1" noChangeAspect="1" noMove="1" noResize="1" noEditPoints="1" noAdjustHandles="1" noChangeArrowheads="1" noChangeShapeType="1" noTextEdit="1"/>
              </p:cNvSpPr>
              <p:nvPr/>
            </p:nvSpPr>
            <p:spPr>
              <a:xfrm>
                <a:off x="10698976" y="3910705"/>
                <a:ext cx="494093" cy="505092"/>
              </a:xfrm>
              <a:prstGeom prst="ellipse">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椭圆 58">
                <a:extLst>
                  <a:ext uri="{FF2B5EF4-FFF2-40B4-BE49-F238E27FC236}">
                    <a16:creationId xmlns:a16="http://schemas.microsoft.com/office/drawing/2014/main" id="{9E088ACA-56F4-4CE5-91A8-CC256AC87031}"/>
                  </a:ext>
                </a:extLst>
              </p:cNvPr>
              <p:cNvSpPr/>
              <p:nvPr/>
            </p:nvSpPr>
            <p:spPr>
              <a:xfrm>
                <a:off x="11201218" y="3912607"/>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59" name="椭圆 58">
                <a:extLst>
                  <a:ext uri="{FF2B5EF4-FFF2-40B4-BE49-F238E27FC236}">
                    <a16:creationId xmlns:a16="http://schemas.microsoft.com/office/drawing/2014/main" id="{9E088ACA-56F4-4CE5-91A8-CC256AC87031}"/>
                  </a:ext>
                </a:extLst>
              </p:cNvPr>
              <p:cNvSpPr>
                <a:spLocks noRot="1" noChangeAspect="1" noMove="1" noResize="1" noEditPoints="1" noAdjustHandles="1" noChangeArrowheads="1" noChangeShapeType="1" noTextEdit="1"/>
              </p:cNvSpPr>
              <p:nvPr/>
            </p:nvSpPr>
            <p:spPr>
              <a:xfrm>
                <a:off x="11201218" y="3912607"/>
                <a:ext cx="494093" cy="505092"/>
              </a:xfrm>
              <a:prstGeom prst="ellipse">
                <a:avLst/>
              </a:prstGeom>
              <a:blipFill>
                <a:blip r:embed="rId26"/>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928D7CAA-A517-421B-9C2E-DCC0AB8701A6}"/>
              </a:ext>
            </a:extLst>
          </p:cNvPr>
          <p:cNvCxnSpPr>
            <a:stCxn id="47" idx="3"/>
            <a:endCxn id="12" idx="7"/>
          </p:cNvCxnSpPr>
          <p:nvPr/>
        </p:nvCxnSpPr>
        <p:spPr>
          <a:xfrm flipH="1">
            <a:off x="1777564" y="3233443"/>
            <a:ext cx="1186647"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椭圆 61">
                <a:extLst>
                  <a:ext uri="{FF2B5EF4-FFF2-40B4-BE49-F238E27FC236}">
                    <a16:creationId xmlns:a16="http://schemas.microsoft.com/office/drawing/2014/main" id="{380A075B-6FE5-441B-AAF7-86BEB8B8CFC2}"/>
                  </a:ext>
                </a:extLst>
              </p:cNvPr>
              <p:cNvSpPr/>
              <p:nvPr/>
            </p:nvSpPr>
            <p:spPr>
              <a:xfrm>
                <a:off x="1356030" y="36023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62" name="椭圆 61">
                <a:extLst>
                  <a:ext uri="{FF2B5EF4-FFF2-40B4-BE49-F238E27FC236}">
                    <a16:creationId xmlns:a16="http://schemas.microsoft.com/office/drawing/2014/main" id="{380A075B-6FE5-441B-AAF7-86BEB8B8CFC2}"/>
                  </a:ext>
                </a:extLst>
              </p:cNvPr>
              <p:cNvSpPr>
                <a:spLocks noRot="1" noChangeAspect="1" noMove="1" noResize="1" noEditPoints="1" noAdjustHandles="1" noChangeArrowheads="1" noChangeShapeType="1" noTextEdit="1"/>
              </p:cNvSpPr>
              <p:nvPr/>
            </p:nvSpPr>
            <p:spPr>
              <a:xfrm>
                <a:off x="1356030" y="3602390"/>
                <a:ext cx="494093" cy="505092"/>
              </a:xfrm>
              <a:prstGeom prst="ellipse">
                <a:avLst/>
              </a:prstGeom>
              <a:blipFill>
                <a:blip r:embed="rId27"/>
                <a:stretch>
                  <a:fillRect/>
                </a:stretch>
              </a:blipFill>
            </p:spPr>
            <p:txBody>
              <a:bodyPr/>
              <a:lstStyle/>
              <a:p>
                <a:r>
                  <a:rPr lang="zh-CN" altLang="en-US">
                    <a:noFill/>
                  </a:rPr>
                  <a:t> </a:t>
                </a:r>
              </a:p>
            </p:txBody>
          </p:sp>
        </mc:Fallback>
      </mc:AlternateContent>
      <p:cxnSp>
        <p:nvCxnSpPr>
          <p:cNvPr id="64" name="直接连接符 63">
            <a:extLst>
              <a:ext uri="{FF2B5EF4-FFF2-40B4-BE49-F238E27FC236}">
                <a16:creationId xmlns:a16="http://schemas.microsoft.com/office/drawing/2014/main" id="{2D715472-5176-4D17-9ED1-790C7DCDE308}"/>
              </a:ext>
            </a:extLst>
          </p:cNvPr>
          <p:cNvCxnSpPr>
            <a:stCxn id="62" idx="3"/>
            <a:endCxn id="13" idx="7"/>
          </p:cNvCxnSpPr>
          <p:nvPr/>
        </p:nvCxnSpPr>
        <p:spPr>
          <a:xfrm flipH="1">
            <a:off x="1021787" y="4033513"/>
            <a:ext cx="406601" cy="50625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椭圆 64">
                <a:extLst>
                  <a:ext uri="{FF2B5EF4-FFF2-40B4-BE49-F238E27FC236}">
                    <a16:creationId xmlns:a16="http://schemas.microsoft.com/office/drawing/2014/main" id="{86972C65-E831-46AB-9A86-4965EFC05BA7}"/>
                  </a:ext>
                </a:extLst>
              </p:cNvPr>
              <p:cNvSpPr/>
              <p:nvPr/>
            </p:nvSpPr>
            <p:spPr>
              <a:xfrm>
                <a:off x="599313" y="446878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65" name="椭圆 64">
                <a:extLst>
                  <a:ext uri="{FF2B5EF4-FFF2-40B4-BE49-F238E27FC236}">
                    <a16:creationId xmlns:a16="http://schemas.microsoft.com/office/drawing/2014/main" id="{86972C65-E831-46AB-9A86-4965EFC05BA7}"/>
                  </a:ext>
                </a:extLst>
              </p:cNvPr>
              <p:cNvSpPr>
                <a:spLocks noRot="1" noChangeAspect="1" noMove="1" noResize="1" noEditPoints="1" noAdjustHandles="1" noChangeArrowheads="1" noChangeShapeType="1" noTextEdit="1"/>
              </p:cNvSpPr>
              <p:nvPr/>
            </p:nvSpPr>
            <p:spPr>
              <a:xfrm>
                <a:off x="599313" y="4468786"/>
                <a:ext cx="494093" cy="505092"/>
              </a:xfrm>
              <a:prstGeom prst="ellipse">
                <a:avLst/>
              </a:prstGeom>
              <a:blipFill>
                <a:blip r:embed="rId28"/>
                <a:stretch>
                  <a:fillRect/>
                </a:stretch>
              </a:blipFill>
            </p:spPr>
            <p:txBody>
              <a:bodyPr/>
              <a:lstStyle/>
              <a:p>
                <a:r>
                  <a:rPr lang="zh-CN" altLang="en-US">
                    <a:noFill/>
                  </a:rPr>
                  <a:t> </a:t>
                </a:r>
              </a:p>
            </p:txBody>
          </p:sp>
        </mc:Fallback>
      </mc:AlternateContent>
      <p:cxnSp>
        <p:nvCxnSpPr>
          <p:cNvPr id="67" name="直接连接符 66">
            <a:extLst>
              <a:ext uri="{FF2B5EF4-FFF2-40B4-BE49-F238E27FC236}">
                <a16:creationId xmlns:a16="http://schemas.microsoft.com/office/drawing/2014/main" id="{CF9D0CF5-485A-43F9-B992-FF6ECF3EFA84}"/>
              </a:ext>
            </a:extLst>
          </p:cNvPr>
          <p:cNvCxnSpPr>
            <a:stCxn id="62" idx="4"/>
            <a:endCxn id="22" idx="0"/>
          </p:cNvCxnSpPr>
          <p:nvPr/>
        </p:nvCxnSpPr>
        <p:spPr>
          <a:xfrm>
            <a:off x="1603077" y="4107482"/>
            <a:ext cx="7489" cy="34508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椭圆 67">
                <a:extLst>
                  <a:ext uri="{FF2B5EF4-FFF2-40B4-BE49-F238E27FC236}">
                    <a16:creationId xmlns:a16="http://schemas.microsoft.com/office/drawing/2014/main" id="{F3FAD147-0A63-4D3B-8429-72364EEAED1B}"/>
                  </a:ext>
                </a:extLst>
              </p:cNvPr>
              <p:cNvSpPr/>
              <p:nvPr/>
            </p:nvSpPr>
            <p:spPr>
              <a:xfrm>
                <a:off x="1363519"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68" name="椭圆 67">
                <a:extLst>
                  <a:ext uri="{FF2B5EF4-FFF2-40B4-BE49-F238E27FC236}">
                    <a16:creationId xmlns:a16="http://schemas.microsoft.com/office/drawing/2014/main" id="{F3FAD147-0A63-4D3B-8429-72364EEAED1B}"/>
                  </a:ext>
                </a:extLst>
              </p:cNvPr>
              <p:cNvSpPr>
                <a:spLocks noRot="1" noChangeAspect="1" noMove="1" noResize="1" noEditPoints="1" noAdjustHandles="1" noChangeArrowheads="1" noChangeShapeType="1" noTextEdit="1"/>
              </p:cNvSpPr>
              <p:nvPr/>
            </p:nvSpPr>
            <p:spPr>
              <a:xfrm>
                <a:off x="1363519" y="4446479"/>
                <a:ext cx="494093" cy="505092"/>
              </a:xfrm>
              <a:prstGeom prst="ellipse">
                <a:avLst/>
              </a:prstGeom>
              <a:blipFill>
                <a:blip r:embed="rId29"/>
                <a:stretch>
                  <a:fillRect/>
                </a:stretch>
              </a:blipFill>
            </p:spPr>
            <p:txBody>
              <a:bodyPr/>
              <a:lstStyle/>
              <a:p>
                <a:r>
                  <a:rPr lang="zh-CN" altLang="en-US">
                    <a:noFill/>
                  </a:rPr>
                  <a:t> </a:t>
                </a:r>
              </a:p>
            </p:txBody>
          </p:sp>
        </mc:Fallback>
      </mc:AlternateContent>
      <p:cxnSp>
        <p:nvCxnSpPr>
          <p:cNvPr id="70" name="直接连接符 69">
            <a:extLst>
              <a:ext uri="{FF2B5EF4-FFF2-40B4-BE49-F238E27FC236}">
                <a16:creationId xmlns:a16="http://schemas.microsoft.com/office/drawing/2014/main" id="{68C55553-EA04-47F2-BC3B-D6BAA9B822BE}"/>
              </a:ext>
            </a:extLst>
          </p:cNvPr>
          <p:cNvCxnSpPr>
            <a:stCxn id="62" idx="5"/>
            <a:endCxn id="15" idx="1"/>
          </p:cNvCxnSpPr>
          <p:nvPr/>
        </p:nvCxnSpPr>
        <p:spPr>
          <a:xfrm>
            <a:off x="1777765" y="4033513"/>
            <a:ext cx="424867" cy="49301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椭圆 70">
                <a:extLst>
                  <a:ext uri="{FF2B5EF4-FFF2-40B4-BE49-F238E27FC236}">
                    <a16:creationId xmlns:a16="http://schemas.microsoft.com/office/drawing/2014/main" id="{7A15C647-F826-4322-8E65-C0BC088CDC92}"/>
                  </a:ext>
                </a:extLst>
              </p:cNvPr>
              <p:cNvSpPr/>
              <p:nvPr/>
            </p:nvSpPr>
            <p:spPr>
              <a:xfrm>
                <a:off x="2132031"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71" name="椭圆 70">
                <a:extLst>
                  <a:ext uri="{FF2B5EF4-FFF2-40B4-BE49-F238E27FC236}">
                    <a16:creationId xmlns:a16="http://schemas.microsoft.com/office/drawing/2014/main" id="{7A15C647-F826-4322-8E65-C0BC088CDC92}"/>
                  </a:ext>
                </a:extLst>
              </p:cNvPr>
              <p:cNvSpPr>
                <a:spLocks noRot="1" noChangeAspect="1" noMove="1" noResize="1" noEditPoints="1" noAdjustHandles="1" noChangeArrowheads="1" noChangeShapeType="1" noTextEdit="1"/>
              </p:cNvSpPr>
              <p:nvPr/>
            </p:nvSpPr>
            <p:spPr>
              <a:xfrm>
                <a:off x="2132031" y="4446479"/>
                <a:ext cx="494093" cy="505092"/>
              </a:xfrm>
              <a:prstGeom prst="ellipse">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椭圆 71">
                <a:extLst>
                  <a:ext uri="{FF2B5EF4-FFF2-40B4-BE49-F238E27FC236}">
                    <a16:creationId xmlns:a16="http://schemas.microsoft.com/office/drawing/2014/main" id="{C5B34713-2891-415A-B36E-07EBA2E47253}"/>
                  </a:ext>
                </a:extLst>
              </p:cNvPr>
              <p:cNvSpPr/>
              <p:nvPr/>
            </p:nvSpPr>
            <p:spPr>
              <a:xfrm>
                <a:off x="1355827" y="5303133"/>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72" name="椭圆 71">
                <a:extLst>
                  <a:ext uri="{FF2B5EF4-FFF2-40B4-BE49-F238E27FC236}">
                    <a16:creationId xmlns:a16="http://schemas.microsoft.com/office/drawing/2014/main" id="{C5B34713-2891-415A-B36E-07EBA2E47253}"/>
                  </a:ext>
                </a:extLst>
              </p:cNvPr>
              <p:cNvSpPr>
                <a:spLocks noRot="1" noChangeAspect="1" noMove="1" noResize="1" noEditPoints="1" noAdjustHandles="1" noChangeArrowheads="1" noChangeShapeType="1" noTextEdit="1"/>
              </p:cNvSpPr>
              <p:nvPr/>
            </p:nvSpPr>
            <p:spPr>
              <a:xfrm>
                <a:off x="1355827" y="5303133"/>
                <a:ext cx="494093" cy="505092"/>
              </a:xfrm>
              <a:prstGeom prst="ellipse">
                <a:avLst/>
              </a:prstGeom>
              <a:blipFill>
                <a:blip r:embed="rId31"/>
                <a:stretch>
                  <a:fillRect/>
                </a:stretch>
              </a:blipFill>
            </p:spPr>
            <p:txBody>
              <a:bodyPr/>
              <a:lstStyle/>
              <a:p>
                <a:r>
                  <a:rPr lang="zh-CN" altLang="en-US">
                    <a:noFill/>
                  </a:rPr>
                  <a:t> </a:t>
                </a:r>
              </a:p>
            </p:txBody>
          </p:sp>
        </mc:Fallback>
      </mc:AlternateContent>
      <p:cxnSp>
        <p:nvCxnSpPr>
          <p:cNvPr id="74" name="直接连接符 73">
            <a:extLst>
              <a:ext uri="{FF2B5EF4-FFF2-40B4-BE49-F238E27FC236}">
                <a16:creationId xmlns:a16="http://schemas.microsoft.com/office/drawing/2014/main" id="{3085D4BE-FAD4-4C90-AEEF-0BD9083BEEDB}"/>
              </a:ext>
            </a:extLst>
          </p:cNvPr>
          <p:cNvCxnSpPr>
            <a:stCxn id="71" idx="3"/>
            <a:endCxn id="72" idx="7"/>
          </p:cNvCxnSpPr>
          <p:nvPr/>
        </p:nvCxnSpPr>
        <p:spPr>
          <a:xfrm flipH="1">
            <a:off x="1777562" y="4877602"/>
            <a:ext cx="426827" cy="4995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81A1D254-1E3C-4D9D-AF68-008EE9E7F2FE}"/>
              </a:ext>
            </a:extLst>
          </p:cNvPr>
          <p:cNvCxnSpPr>
            <a:stCxn id="71" idx="5"/>
            <a:endCxn id="16" idx="1"/>
          </p:cNvCxnSpPr>
          <p:nvPr/>
        </p:nvCxnSpPr>
        <p:spPr>
          <a:xfrm>
            <a:off x="2553766" y="4877602"/>
            <a:ext cx="406837" cy="50616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椭圆 76">
                <a:extLst>
                  <a:ext uri="{FF2B5EF4-FFF2-40B4-BE49-F238E27FC236}">
                    <a16:creationId xmlns:a16="http://schemas.microsoft.com/office/drawing/2014/main" id="{780F778F-CC3D-47D1-9494-AEC614AB80AC}"/>
                  </a:ext>
                </a:extLst>
              </p:cNvPr>
              <p:cNvSpPr/>
              <p:nvPr/>
            </p:nvSpPr>
            <p:spPr>
              <a:xfrm>
                <a:off x="2887921" y="531443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77" name="椭圆 76">
                <a:extLst>
                  <a:ext uri="{FF2B5EF4-FFF2-40B4-BE49-F238E27FC236}">
                    <a16:creationId xmlns:a16="http://schemas.microsoft.com/office/drawing/2014/main" id="{780F778F-CC3D-47D1-9494-AEC614AB80AC}"/>
                  </a:ext>
                </a:extLst>
              </p:cNvPr>
              <p:cNvSpPr>
                <a:spLocks noRot="1" noChangeAspect="1" noMove="1" noResize="1" noEditPoints="1" noAdjustHandles="1" noChangeArrowheads="1" noChangeShapeType="1" noTextEdit="1"/>
              </p:cNvSpPr>
              <p:nvPr/>
            </p:nvSpPr>
            <p:spPr>
              <a:xfrm>
                <a:off x="2887921" y="5314431"/>
                <a:ext cx="494093" cy="505092"/>
              </a:xfrm>
              <a:prstGeom prst="ellipse">
                <a:avLst/>
              </a:prstGeom>
              <a:blipFill>
                <a:blip r:embed="rId32"/>
                <a:stretch>
                  <a:fillRect b="-4706"/>
                </a:stretch>
              </a:blipFill>
            </p:spPr>
            <p:txBody>
              <a:bodyPr/>
              <a:lstStyle/>
              <a:p>
                <a:r>
                  <a:rPr lang="zh-CN" altLang="en-US">
                    <a:noFill/>
                  </a:rPr>
                  <a:t> </a:t>
                </a:r>
              </a:p>
            </p:txBody>
          </p:sp>
        </mc:Fallback>
      </mc:AlternateContent>
      <p:cxnSp>
        <p:nvCxnSpPr>
          <p:cNvPr id="79" name="直接连接符 78">
            <a:extLst>
              <a:ext uri="{FF2B5EF4-FFF2-40B4-BE49-F238E27FC236}">
                <a16:creationId xmlns:a16="http://schemas.microsoft.com/office/drawing/2014/main" id="{CE15715B-60DD-4B07-B509-CB446B382AE4}"/>
              </a:ext>
            </a:extLst>
          </p:cNvPr>
          <p:cNvCxnSpPr>
            <a:stCxn id="47" idx="4"/>
            <a:endCxn id="21" idx="0"/>
          </p:cNvCxnSpPr>
          <p:nvPr/>
        </p:nvCxnSpPr>
        <p:spPr>
          <a:xfrm flipH="1">
            <a:off x="3134969" y="3307412"/>
            <a:ext cx="3931" cy="29857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椭圆 79">
                <a:extLst>
                  <a:ext uri="{FF2B5EF4-FFF2-40B4-BE49-F238E27FC236}">
                    <a16:creationId xmlns:a16="http://schemas.microsoft.com/office/drawing/2014/main" id="{7A5500A5-768D-4845-98D5-C97F2102D527}"/>
                  </a:ext>
                </a:extLst>
              </p:cNvPr>
              <p:cNvSpPr/>
              <p:nvPr/>
            </p:nvSpPr>
            <p:spPr>
              <a:xfrm>
                <a:off x="2886939" y="36040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80" name="椭圆 79">
                <a:extLst>
                  <a:ext uri="{FF2B5EF4-FFF2-40B4-BE49-F238E27FC236}">
                    <a16:creationId xmlns:a16="http://schemas.microsoft.com/office/drawing/2014/main" id="{7A5500A5-768D-4845-98D5-C97F2102D527}"/>
                  </a:ext>
                </a:extLst>
              </p:cNvPr>
              <p:cNvSpPr>
                <a:spLocks noRot="1" noChangeAspect="1" noMove="1" noResize="1" noEditPoints="1" noAdjustHandles="1" noChangeArrowheads="1" noChangeShapeType="1" noTextEdit="1"/>
              </p:cNvSpPr>
              <p:nvPr/>
            </p:nvSpPr>
            <p:spPr>
              <a:xfrm>
                <a:off x="2886939" y="3604042"/>
                <a:ext cx="494093" cy="505092"/>
              </a:xfrm>
              <a:prstGeom prst="ellipse">
                <a:avLst/>
              </a:prstGeom>
              <a:blipFill>
                <a:blip r:embed="rId33"/>
                <a:stretch>
                  <a:fillRect b="-4706"/>
                </a:stretch>
              </a:blipFill>
            </p:spPr>
            <p:txBody>
              <a:bodyPr/>
              <a:lstStyle/>
              <a:p>
                <a:r>
                  <a:rPr lang="zh-CN" altLang="en-US">
                    <a:noFill/>
                  </a:rPr>
                  <a:t> </a:t>
                </a:r>
              </a:p>
            </p:txBody>
          </p:sp>
        </mc:Fallback>
      </mc:AlternateContent>
      <p:cxnSp>
        <p:nvCxnSpPr>
          <p:cNvPr id="82" name="直接连接符 81">
            <a:extLst>
              <a:ext uri="{FF2B5EF4-FFF2-40B4-BE49-F238E27FC236}">
                <a16:creationId xmlns:a16="http://schemas.microsoft.com/office/drawing/2014/main" id="{418E6DBA-F95F-4077-9782-F9C286A5488C}"/>
              </a:ext>
            </a:extLst>
          </p:cNvPr>
          <p:cNvCxnSpPr>
            <a:stCxn id="47" idx="5"/>
            <a:endCxn id="19" idx="1"/>
          </p:cNvCxnSpPr>
          <p:nvPr/>
        </p:nvCxnSpPr>
        <p:spPr>
          <a:xfrm>
            <a:off x="3313588" y="3233443"/>
            <a:ext cx="1194394"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9CC535A-7741-4216-B48C-CA6CD32509E2}"/>
              </a:ext>
            </a:extLst>
          </p:cNvPr>
          <p:cNvCxnSpPr>
            <a:stCxn id="19" idx="3"/>
            <a:endCxn id="18" idx="7"/>
          </p:cNvCxnSpPr>
          <p:nvPr/>
        </p:nvCxnSpPr>
        <p:spPr>
          <a:xfrm flipH="1">
            <a:off x="4073073" y="4037106"/>
            <a:ext cx="434909" cy="48942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C4FEE25-E2F4-491E-8FA1-10203A5A464B}"/>
              </a:ext>
            </a:extLst>
          </p:cNvPr>
          <p:cNvCxnSpPr>
            <a:stCxn id="19" idx="4"/>
            <a:endCxn id="23" idx="0"/>
          </p:cNvCxnSpPr>
          <p:nvPr/>
        </p:nvCxnSpPr>
        <p:spPr>
          <a:xfrm>
            <a:off x="4682671" y="4111075"/>
            <a:ext cx="0" cy="35472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F1C5C25-77CE-42DF-8D60-C361F0F19301}"/>
              </a:ext>
            </a:extLst>
          </p:cNvPr>
          <p:cNvCxnSpPr>
            <a:stCxn id="19" idx="5"/>
            <a:endCxn id="20" idx="1"/>
          </p:cNvCxnSpPr>
          <p:nvPr/>
        </p:nvCxnSpPr>
        <p:spPr>
          <a:xfrm>
            <a:off x="4857359" y="4037106"/>
            <a:ext cx="393272" cy="50266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椭圆 88">
                <a:extLst>
                  <a:ext uri="{FF2B5EF4-FFF2-40B4-BE49-F238E27FC236}">
                    <a16:creationId xmlns:a16="http://schemas.microsoft.com/office/drawing/2014/main" id="{3E629E07-A19C-431F-AA25-D5DB01ED34E4}"/>
                  </a:ext>
                </a:extLst>
              </p:cNvPr>
              <p:cNvSpPr/>
              <p:nvPr/>
            </p:nvSpPr>
            <p:spPr>
              <a:xfrm>
                <a:off x="4437037" y="36034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89" name="椭圆 88">
                <a:extLst>
                  <a:ext uri="{FF2B5EF4-FFF2-40B4-BE49-F238E27FC236}">
                    <a16:creationId xmlns:a16="http://schemas.microsoft.com/office/drawing/2014/main" id="{3E629E07-A19C-431F-AA25-D5DB01ED34E4}"/>
                  </a:ext>
                </a:extLst>
              </p:cNvPr>
              <p:cNvSpPr>
                <a:spLocks noRot="1" noChangeAspect="1" noMove="1" noResize="1" noEditPoints="1" noAdjustHandles="1" noChangeArrowheads="1" noChangeShapeType="1" noTextEdit="1"/>
              </p:cNvSpPr>
              <p:nvPr/>
            </p:nvSpPr>
            <p:spPr>
              <a:xfrm>
                <a:off x="4437037" y="3603470"/>
                <a:ext cx="494093" cy="505092"/>
              </a:xfrm>
              <a:prstGeom prst="ellipse">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椭圆 89">
                <a:extLst>
                  <a:ext uri="{FF2B5EF4-FFF2-40B4-BE49-F238E27FC236}">
                    <a16:creationId xmlns:a16="http://schemas.microsoft.com/office/drawing/2014/main" id="{C8F1FFCC-B779-4137-ABFE-34D566B893ED}"/>
                  </a:ext>
                </a:extLst>
              </p:cNvPr>
              <p:cNvSpPr/>
              <p:nvPr/>
            </p:nvSpPr>
            <p:spPr>
              <a:xfrm>
                <a:off x="3644180" y="44566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90" name="椭圆 89">
                <a:extLst>
                  <a:ext uri="{FF2B5EF4-FFF2-40B4-BE49-F238E27FC236}">
                    <a16:creationId xmlns:a16="http://schemas.microsoft.com/office/drawing/2014/main" id="{C8F1FFCC-B779-4137-ABFE-34D566B893ED}"/>
                  </a:ext>
                </a:extLst>
              </p:cNvPr>
              <p:cNvSpPr>
                <a:spLocks noRot="1" noChangeAspect="1" noMove="1" noResize="1" noEditPoints="1" noAdjustHandles="1" noChangeArrowheads="1" noChangeShapeType="1" noTextEdit="1"/>
              </p:cNvSpPr>
              <p:nvPr/>
            </p:nvSpPr>
            <p:spPr>
              <a:xfrm>
                <a:off x="3644180" y="4456642"/>
                <a:ext cx="494093" cy="505092"/>
              </a:xfrm>
              <a:prstGeom prst="ellipse">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椭圆 90">
                <a:extLst>
                  <a:ext uri="{FF2B5EF4-FFF2-40B4-BE49-F238E27FC236}">
                    <a16:creationId xmlns:a16="http://schemas.microsoft.com/office/drawing/2014/main" id="{8558D783-4F46-4F37-AE96-12A84C71471C}"/>
                  </a:ext>
                </a:extLst>
              </p:cNvPr>
              <p:cNvSpPr/>
              <p:nvPr/>
            </p:nvSpPr>
            <p:spPr>
              <a:xfrm>
                <a:off x="4435624" y="4466588"/>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91" name="椭圆 90">
                <a:extLst>
                  <a:ext uri="{FF2B5EF4-FFF2-40B4-BE49-F238E27FC236}">
                    <a16:creationId xmlns:a16="http://schemas.microsoft.com/office/drawing/2014/main" id="{8558D783-4F46-4F37-AE96-12A84C71471C}"/>
                  </a:ext>
                </a:extLst>
              </p:cNvPr>
              <p:cNvSpPr>
                <a:spLocks noRot="1" noChangeAspect="1" noMove="1" noResize="1" noEditPoints="1" noAdjustHandles="1" noChangeArrowheads="1" noChangeShapeType="1" noTextEdit="1"/>
              </p:cNvSpPr>
              <p:nvPr/>
            </p:nvSpPr>
            <p:spPr>
              <a:xfrm>
                <a:off x="4435624" y="4466588"/>
                <a:ext cx="494093" cy="505092"/>
              </a:xfrm>
              <a:prstGeom prst="ellipse">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椭圆 91">
                <a:extLst>
                  <a:ext uri="{FF2B5EF4-FFF2-40B4-BE49-F238E27FC236}">
                    <a16:creationId xmlns:a16="http://schemas.microsoft.com/office/drawing/2014/main" id="{AF05E022-BFFB-44BF-9B47-C425709D28BE}"/>
                  </a:ext>
                </a:extLst>
              </p:cNvPr>
              <p:cNvSpPr/>
              <p:nvPr/>
            </p:nvSpPr>
            <p:spPr>
              <a:xfrm>
                <a:off x="5178271" y="446580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92" name="椭圆 91">
                <a:extLst>
                  <a:ext uri="{FF2B5EF4-FFF2-40B4-BE49-F238E27FC236}">
                    <a16:creationId xmlns:a16="http://schemas.microsoft.com/office/drawing/2014/main" id="{AF05E022-BFFB-44BF-9B47-C425709D28BE}"/>
                  </a:ext>
                </a:extLst>
              </p:cNvPr>
              <p:cNvSpPr>
                <a:spLocks noRot="1" noChangeAspect="1" noMove="1" noResize="1" noEditPoints="1" noAdjustHandles="1" noChangeArrowheads="1" noChangeShapeType="1" noTextEdit="1"/>
              </p:cNvSpPr>
              <p:nvPr/>
            </p:nvSpPr>
            <p:spPr>
              <a:xfrm>
                <a:off x="5178271" y="4465801"/>
                <a:ext cx="494093" cy="505092"/>
              </a:xfrm>
              <a:prstGeom prst="ellipse">
                <a:avLst/>
              </a:prstGeom>
              <a:blipFill>
                <a:blip r:embed="rId37"/>
                <a:stretch>
                  <a:fillRect/>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0290A40A-5931-4C3C-8491-FBE71E8A04BC}"/>
              </a:ext>
            </a:extLst>
          </p:cNvPr>
          <p:cNvSpPr txBox="1"/>
          <p:nvPr/>
        </p:nvSpPr>
        <p:spPr>
          <a:xfrm>
            <a:off x="5806761" y="2499565"/>
            <a:ext cx="3258298"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下面的遍历动画省去了从后代顶点回溯到祖先顶点的过程</a:t>
            </a:r>
          </a:p>
        </p:txBody>
      </p:sp>
    </p:spTree>
    <p:extLst>
      <p:ext uri="{BB962C8B-B14F-4D97-AF65-F5344CB8AC3E}">
        <p14:creationId xmlns:p14="http://schemas.microsoft.com/office/powerpoint/2010/main" val="148358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8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2" grpId="0" animBg="1"/>
      <p:bldP spid="65" grpId="0" animBg="1"/>
      <p:bldP spid="68" grpId="0" animBg="1"/>
      <p:bldP spid="71" grpId="0" animBg="1"/>
      <p:bldP spid="72" grpId="0" animBg="1"/>
      <p:bldP spid="77" grpId="0" animBg="1"/>
      <p:bldP spid="80" grpId="0" animBg="1"/>
      <p:bldP spid="89" grpId="0" animBg="1"/>
      <p:bldP spid="90" grpId="0" animBg="1"/>
      <p:bldP spid="91" grpId="0" animBg="1"/>
      <p:bldP spid="9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树的中序遍历举例</a:t>
            </a:r>
          </a:p>
        </p:txBody>
      </p:sp>
      <p:grpSp>
        <p:nvGrpSpPr>
          <p:cNvPr id="46" name="组合 45">
            <a:extLst>
              <a:ext uri="{FF2B5EF4-FFF2-40B4-BE49-F238E27FC236}">
                <a16:creationId xmlns:a16="http://schemas.microsoft.com/office/drawing/2014/main" id="{31B62FD6-DA8D-4F5E-8AB1-70D96D10CA1C}"/>
              </a:ext>
            </a:extLst>
          </p:cNvPr>
          <p:cNvGrpSpPr/>
          <p:nvPr/>
        </p:nvGrpSpPr>
        <p:grpSpPr>
          <a:xfrm>
            <a:off x="600052" y="2802320"/>
            <a:ext cx="5072314" cy="3012566"/>
            <a:chOff x="1270731" y="2777538"/>
            <a:chExt cx="5072314" cy="3012566"/>
          </a:xfrm>
        </p:grpSpPr>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F94D6625-5109-4F23-A1E0-8B3DAA49676E}"/>
                    </a:ext>
                  </a:extLst>
                </p:cNvPr>
                <p:cNvSpPr/>
                <p:nvPr/>
              </p:nvSpPr>
              <p:spPr>
                <a:xfrm>
                  <a:off x="3558924" y="2777538"/>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3" name="椭圆 2">
                  <a:extLst>
                    <a:ext uri="{FF2B5EF4-FFF2-40B4-BE49-F238E27FC236}">
                      <a16:creationId xmlns:a16="http://schemas.microsoft.com/office/drawing/2014/main" id="{F94D6625-5109-4F23-A1E0-8B3DAA49676E}"/>
                    </a:ext>
                  </a:extLst>
                </p:cNvPr>
                <p:cNvSpPr>
                  <a:spLocks noRot="1" noChangeAspect="1" noMove="1" noResize="1" noEditPoints="1" noAdjustHandles="1" noChangeArrowheads="1" noChangeShapeType="1" noTextEdit="1"/>
                </p:cNvSpPr>
                <p:nvPr/>
              </p:nvSpPr>
              <p:spPr>
                <a:xfrm>
                  <a:off x="3558924" y="2777538"/>
                  <a:ext cx="494093" cy="505092"/>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5CCA56A8-B7A4-43E5-A75F-B6414D59048F}"/>
                    </a:ext>
                  </a:extLst>
                </p:cNvPr>
                <p:cNvSpPr/>
                <p:nvPr/>
              </p:nvSpPr>
              <p:spPr>
                <a:xfrm>
                  <a:off x="2026508"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12" name="椭圆 11">
                  <a:extLst>
                    <a:ext uri="{FF2B5EF4-FFF2-40B4-BE49-F238E27FC236}">
                      <a16:creationId xmlns:a16="http://schemas.microsoft.com/office/drawing/2014/main" id="{5CCA56A8-B7A4-43E5-A75F-B6414D59048F}"/>
                    </a:ext>
                  </a:extLst>
                </p:cNvPr>
                <p:cNvSpPr>
                  <a:spLocks noRot="1" noChangeAspect="1" noMove="1" noResize="1" noEditPoints="1" noAdjustHandles="1" noChangeArrowheads="1" noChangeShapeType="1" noTextEdit="1"/>
                </p:cNvSpPr>
                <p:nvPr/>
              </p:nvSpPr>
              <p:spPr>
                <a:xfrm>
                  <a:off x="2026508" y="3581201"/>
                  <a:ext cx="494093" cy="50509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EDA8EB0B-A7B4-4C9B-A67D-2DB4212EFA11}"/>
                    </a:ext>
                  </a:extLst>
                </p:cNvPr>
                <p:cNvSpPr/>
                <p:nvPr/>
              </p:nvSpPr>
              <p:spPr>
                <a:xfrm>
                  <a:off x="1270731"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13" name="椭圆 12">
                  <a:extLst>
                    <a:ext uri="{FF2B5EF4-FFF2-40B4-BE49-F238E27FC236}">
                      <a16:creationId xmlns:a16="http://schemas.microsoft.com/office/drawing/2014/main" id="{EDA8EB0B-A7B4-4C9B-A67D-2DB4212EFA11}"/>
                    </a:ext>
                  </a:extLst>
                </p:cNvPr>
                <p:cNvSpPr>
                  <a:spLocks noRot="1" noChangeAspect="1" noMove="1" noResize="1" noEditPoints="1" noAdjustHandles="1" noChangeArrowheads="1" noChangeShapeType="1" noTextEdit="1"/>
                </p:cNvSpPr>
                <p:nvPr/>
              </p:nvSpPr>
              <p:spPr>
                <a:xfrm>
                  <a:off x="1270731" y="4441019"/>
                  <a:ext cx="494093" cy="50509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1F48AD51-44AF-4C49-BFEB-D91AC04A4626}"/>
                    </a:ext>
                  </a:extLst>
                </p:cNvPr>
                <p:cNvSpPr/>
                <p:nvPr/>
              </p:nvSpPr>
              <p:spPr>
                <a:xfrm>
                  <a:off x="2026507"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14" name="椭圆 13">
                  <a:extLst>
                    <a:ext uri="{FF2B5EF4-FFF2-40B4-BE49-F238E27FC236}">
                      <a16:creationId xmlns:a16="http://schemas.microsoft.com/office/drawing/2014/main" id="{1F48AD51-44AF-4C49-BFEB-D91AC04A4626}"/>
                    </a:ext>
                  </a:extLst>
                </p:cNvPr>
                <p:cNvSpPr>
                  <a:spLocks noRot="1" noChangeAspect="1" noMove="1" noResize="1" noEditPoints="1" noAdjustHandles="1" noChangeArrowheads="1" noChangeShapeType="1" noTextEdit="1"/>
                </p:cNvSpPr>
                <p:nvPr/>
              </p:nvSpPr>
              <p:spPr>
                <a:xfrm>
                  <a:off x="2026507" y="5285012"/>
                  <a:ext cx="494093" cy="505092"/>
                </a:xfrm>
                <a:prstGeom prst="ellipse">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F037A80D-2455-408B-AB4C-CF2F8FEFF1D6}"/>
                    </a:ext>
                  </a:extLst>
                </p:cNvPr>
                <p:cNvSpPr/>
                <p:nvPr/>
              </p:nvSpPr>
              <p:spPr>
                <a:xfrm>
                  <a:off x="2800953"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15" name="椭圆 14">
                  <a:extLst>
                    <a:ext uri="{FF2B5EF4-FFF2-40B4-BE49-F238E27FC236}">
                      <a16:creationId xmlns:a16="http://schemas.microsoft.com/office/drawing/2014/main" id="{F037A80D-2455-408B-AB4C-CF2F8FEFF1D6}"/>
                    </a:ext>
                  </a:extLst>
                </p:cNvPr>
                <p:cNvSpPr>
                  <a:spLocks noRot="1" noChangeAspect="1" noMove="1" noResize="1" noEditPoints="1" noAdjustHandles="1" noChangeArrowheads="1" noChangeShapeType="1" noTextEdit="1"/>
                </p:cNvSpPr>
                <p:nvPr/>
              </p:nvSpPr>
              <p:spPr>
                <a:xfrm>
                  <a:off x="2800953" y="4427780"/>
                  <a:ext cx="494093" cy="50509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20869EAD-BD82-4133-8966-05D5B1B9AD7A}"/>
                    </a:ext>
                  </a:extLst>
                </p:cNvPr>
                <p:cNvSpPr/>
                <p:nvPr/>
              </p:nvSpPr>
              <p:spPr>
                <a:xfrm>
                  <a:off x="3558924"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16" name="椭圆 15">
                  <a:extLst>
                    <a:ext uri="{FF2B5EF4-FFF2-40B4-BE49-F238E27FC236}">
                      <a16:creationId xmlns:a16="http://schemas.microsoft.com/office/drawing/2014/main" id="{20869EAD-BD82-4133-8966-05D5B1B9AD7A}"/>
                    </a:ext>
                  </a:extLst>
                </p:cNvPr>
                <p:cNvSpPr>
                  <a:spLocks noRot="1" noChangeAspect="1" noMove="1" noResize="1" noEditPoints="1" noAdjustHandles="1" noChangeArrowheads="1" noChangeShapeType="1" noTextEdit="1"/>
                </p:cNvSpPr>
                <p:nvPr/>
              </p:nvSpPr>
              <p:spPr>
                <a:xfrm>
                  <a:off x="3558924" y="5285012"/>
                  <a:ext cx="494093" cy="505092"/>
                </a:xfrm>
                <a:prstGeom prst="ellipse">
                  <a:avLst/>
                </a:prstGeom>
                <a:blipFill>
                  <a:blip r:embed="rId7"/>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801CC62C-345B-4150-9688-014F40B960EE}"/>
                    </a:ext>
                  </a:extLst>
                </p:cNvPr>
                <p:cNvSpPr/>
                <p:nvPr/>
              </p:nvSpPr>
              <p:spPr>
                <a:xfrm>
                  <a:off x="4322017"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18" name="椭圆 17">
                  <a:extLst>
                    <a:ext uri="{FF2B5EF4-FFF2-40B4-BE49-F238E27FC236}">
                      <a16:creationId xmlns:a16="http://schemas.microsoft.com/office/drawing/2014/main" id="{801CC62C-345B-4150-9688-014F40B960EE}"/>
                    </a:ext>
                  </a:extLst>
                </p:cNvPr>
                <p:cNvSpPr>
                  <a:spLocks noRot="1" noChangeAspect="1" noMove="1" noResize="1" noEditPoints="1" noAdjustHandles="1" noChangeArrowheads="1" noChangeShapeType="1" noTextEdit="1"/>
                </p:cNvSpPr>
                <p:nvPr/>
              </p:nvSpPr>
              <p:spPr>
                <a:xfrm>
                  <a:off x="4322017" y="4427780"/>
                  <a:ext cx="494093" cy="50509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74820E64-FCC5-4BC7-B983-89CAC26ED80E}"/>
                    </a:ext>
                  </a:extLst>
                </p:cNvPr>
                <p:cNvSpPr/>
                <p:nvPr/>
              </p:nvSpPr>
              <p:spPr>
                <a:xfrm>
                  <a:off x="5106303"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19" name="椭圆 18">
                  <a:extLst>
                    <a:ext uri="{FF2B5EF4-FFF2-40B4-BE49-F238E27FC236}">
                      <a16:creationId xmlns:a16="http://schemas.microsoft.com/office/drawing/2014/main" id="{74820E64-FCC5-4BC7-B983-89CAC26ED80E}"/>
                    </a:ext>
                  </a:extLst>
                </p:cNvPr>
                <p:cNvSpPr>
                  <a:spLocks noRot="1" noChangeAspect="1" noMove="1" noResize="1" noEditPoints="1" noAdjustHandles="1" noChangeArrowheads="1" noChangeShapeType="1" noTextEdit="1"/>
                </p:cNvSpPr>
                <p:nvPr/>
              </p:nvSpPr>
              <p:spPr>
                <a:xfrm>
                  <a:off x="5106303" y="3581201"/>
                  <a:ext cx="494093" cy="505092"/>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EFBFDF5E-8BD6-45B9-A9BD-776E300C0902}"/>
                    </a:ext>
                  </a:extLst>
                </p:cNvPr>
                <p:cNvSpPr/>
                <p:nvPr/>
              </p:nvSpPr>
              <p:spPr>
                <a:xfrm>
                  <a:off x="5848952"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20" name="椭圆 19">
                  <a:extLst>
                    <a:ext uri="{FF2B5EF4-FFF2-40B4-BE49-F238E27FC236}">
                      <a16:creationId xmlns:a16="http://schemas.microsoft.com/office/drawing/2014/main" id="{EFBFDF5E-8BD6-45B9-A9BD-776E300C0902}"/>
                    </a:ext>
                  </a:extLst>
                </p:cNvPr>
                <p:cNvSpPr>
                  <a:spLocks noRot="1" noChangeAspect="1" noMove="1" noResize="1" noEditPoints="1" noAdjustHandles="1" noChangeArrowheads="1" noChangeShapeType="1" noTextEdit="1"/>
                </p:cNvSpPr>
                <p:nvPr/>
              </p:nvSpPr>
              <p:spPr>
                <a:xfrm>
                  <a:off x="5848952" y="4441019"/>
                  <a:ext cx="494093" cy="505092"/>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631DE8B9-C84D-4C33-B713-71F98877466D}"/>
                    </a:ext>
                  </a:extLst>
                </p:cNvPr>
                <p:cNvSpPr/>
                <p:nvPr/>
              </p:nvSpPr>
              <p:spPr>
                <a:xfrm>
                  <a:off x="3558601"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21" name="椭圆 20">
                  <a:extLst>
                    <a:ext uri="{FF2B5EF4-FFF2-40B4-BE49-F238E27FC236}">
                      <a16:creationId xmlns:a16="http://schemas.microsoft.com/office/drawing/2014/main" id="{631DE8B9-C84D-4C33-B713-71F98877466D}"/>
                    </a:ext>
                  </a:extLst>
                </p:cNvPr>
                <p:cNvSpPr>
                  <a:spLocks noRot="1" noChangeAspect="1" noMove="1" noResize="1" noEditPoints="1" noAdjustHandles="1" noChangeArrowheads="1" noChangeShapeType="1" noTextEdit="1"/>
                </p:cNvSpPr>
                <p:nvPr/>
              </p:nvSpPr>
              <p:spPr>
                <a:xfrm>
                  <a:off x="3558601" y="3581201"/>
                  <a:ext cx="494093" cy="505092"/>
                </a:xfrm>
                <a:prstGeom prst="ellipse">
                  <a:avLst/>
                </a:prstGeom>
                <a:blipFill>
                  <a:blip r:embed="rId11"/>
                  <a:stretch>
                    <a:fillRect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BCF6B318-0149-49DF-9076-01B9DE0FC6F3}"/>
                    </a:ext>
                  </a:extLst>
                </p:cNvPr>
                <p:cNvSpPr/>
                <p:nvPr/>
              </p:nvSpPr>
              <p:spPr>
                <a:xfrm>
                  <a:off x="2034198"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22" name="椭圆 21">
                  <a:extLst>
                    <a:ext uri="{FF2B5EF4-FFF2-40B4-BE49-F238E27FC236}">
                      <a16:creationId xmlns:a16="http://schemas.microsoft.com/office/drawing/2014/main" id="{BCF6B318-0149-49DF-9076-01B9DE0FC6F3}"/>
                    </a:ext>
                  </a:extLst>
                </p:cNvPr>
                <p:cNvSpPr>
                  <a:spLocks noRot="1" noChangeAspect="1" noMove="1" noResize="1" noEditPoints="1" noAdjustHandles="1" noChangeArrowheads="1" noChangeShapeType="1" noTextEdit="1"/>
                </p:cNvSpPr>
                <p:nvPr/>
              </p:nvSpPr>
              <p:spPr>
                <a:xfrm>
                  <a:off x="2034198" y="4427780"/>
                  <a:ext cx="494093" cy="505092"/>
                </a:xfrm>
                <a:prstGeom prst="ellipse">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8418CC85-4461-4AF2-B253-DB53090C2F7D}"/>
                    </a:ext>
                  </a:extLst>
                </p:cNvPr>
                <p:cNvSpPr/>
                <p:nvPr/>
              </p:nvSpPr>
              <p:spPr>
                <a:xfrm>
                  <a:off x="5106303"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23" name="椭圆 22">
                  <a:extLst>
                    <a:ext uri="{FF2B5EF4-FFF2-40B4-BE49-F238E27FC236}">
                      <a16:creationId xmlns:a16="http://schemas.microsoft.com/office/drawing/2014/main" id="{8418CC85-4461-4AF2-B253-DB53090C2F7D}"/>
                    </a:ext>
                  </a:extLst>
                </p:cNvPr>
                <p:cNvSpPr>
                  <a:spLocks noRot="1" noChangeAspect="1" noMove="1" noResize="1" noEditPoints="1" noAdjustHandles="1" noChangeArrowheads="1" noChangeShapeType="1" noTextEdit="1"/>
                </p:cNvSpPr>
                <p:nvPr/>
              </p:nvSpPr>
              <p:spPr>
                <a:xfrm>
                  <a:off x="5106303" y="4441019"/>
                  <a:ext cx="494093" cy="505092"/>
                </a:xfrm>
                <a:prstGeom prst="ellipse">
                  <a:avLst/>
                </a:prstGeom>
                <a:blipFill>
                  <a:blip r:embed="rId13"/>
                  <a:stretch>
                    <a:fillRect/>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FA47524B-5E09-465B-82A0-C6EA0ED3385C}"/>
                </a:ext>
              </a:extLst>
            </p:cNvPr>
            <p:cNvCxnSpPr>
              <a:cxnSpLocks/>
              <a:stCxn id="3" idx="3"/>
              <a:endCxn id="12" idx="7"/>
            </p:cNvCxnSpPr>
            <p:nvPr/>
          </p:nvCxnSpPr>
          <p:spPr>
            <a:xfrm flipH="1">
              <a:off x="2448243" y="3208661"/>
              <a:ext cx="1183039"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9DBF557-4916-4F65-BBFE-4BE1ABA37A1C}"/>
                </a:ext>
              </a:extLst>
            </p:cNvPr>
            <p:cNvCxnSpPr>
              <a:stCxn id="3" idx="5"/>
              <a:endCxn id="19" idx="1"/>
            </p:cNvCxnSpPr>
            <p:nvPr/>
          </p:nvCxnSpPr>
          <p:spPr>
            <a:xfrm>
              <a:off x="3980659" y="3208661"/>
              <a:ext cx="1198002"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30DF8E5-3355-428B-865A-E550A859B39A}"/>
                </a:ext>
              </a:extLst>
            </p:cNvPr>
            <p:cNvCxnSpPr>
              <a:stCxn id="3" idx="4"/>
              <a:endCxn id="21" idx="0"/>
            </p:cNvCxnSpPr>
            <p:nvPr/>
          </p:nvCxnSpPr>
          <p:spPr>
            <a:xfrm flipH="1">
              <a:off x="3805648" y="3282630"/>
              <a:ext cx="323" cy="298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50ED833-F510-433D-B917-995F0EA2B990}"/>
                </a:ext>
              </a:extLst>
            </p:cNvPr>
            <p:cNvCxnSpPr>
              <a:stCxn id="12" idx="3"/>
              <a:endCxn id="13" idx="7"/>
            </p:cNvCxnSpPr>
            <p:nvPr/>
          </p:nvCxnSpPr>
          <p:spPr>
            <a:xfrm flipH="1">
              <a:off x="1692466" y="4012324"/>
              <a:ext cx="406400" cy="502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7E0E4EE9-2735-4625-98E7-DF03FDC7B6AE}"/>
                </a:ext>
              </a:extLst>
            </p:cNvPr>
            <p:cNvCxnSpPr>
              <a:endCxn id="22" idx="0"/>
            </p:cNvCxnSpPr>
            <p:nvPr/>
          </p:nvCxnSpPr>
          <p:spPr>
            <a:xfrm>
              <a:off x="2281244" y="4086293"/>
              <a:ext cx="1" cy="3414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B14FECC9-E767-4801-B5D7-B4D0324E974E}"/>
                </a:ext>
              </a:extLst>
            </p:cNvPr>
            <p:cNvCxnSpPr>
              <a:stCxn id="12" idx="5"/>
              <a:endCxn id="15" idx="1"/>
            </p:cNvCxnSpPr>
            <p:nvPr/>
          </p:nvCxnSpPr>
          <p:spPr>
            <a:xfrm>
              <a:off x="2448243" y="4012324"/>
              <a:ext cx="425068"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74BC137-9059-4F32-9E2E-1F34D4320892}"/>
                </a:ext>
              </a:extLst>
            </p:cNvPr>
            <p:cNvCxnSpPr>
              <a:stCxn id="15" idx="3"/>
              <a:endCxn id="14" idx="7"/>
            </p:cNvCxnSpPr>
            <p:nvPr/>
          </p:nvCxnSpPr>
          <p:spPr>
            <a:xfrm flipH="1">
              <a:off x="2448242" y="4858903"/>
              <a:ext cx="425069"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50AFC7B-2AAD-4BB4-A6ED-3792FEE56BAB}"/>
                </a:ext>
              </a:extLst>
            </p:cNvPr>
            <p:cNvCxnSpPr>
              <a:stCxn id="15" idx="5"/>
              <a:endCxn id="16" idx="1"/>
            </p:cNvCxnSpPr>
            <p:nvPr/>
          </p:nvCxnSpPr>
          <p:spPr>
            <a:xfrm>
              <a:off x="3222688" y="4858903"/>
              <a:ext cx="408594"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493A921-9431-4A32-9E6E-7CAEA200C2B4}"/>
                </a:ext>
              </a:extLst>
            </p:cNvPr>
            <p:cNvCxnSpPr>
              <a:stCxn id="19" idx="3"/>
              <a:endCxn id="18" idx="7"/>
            </p:cNvCxnSpPr>
            <p:nvPr/>
          </p:nvCxnSpPr>
          <p:spPr>
            <a:xfrm flipH="1">
              <a:off x="4743752" y="4012324"/>
              <a:ext cx="434909"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088AA6E-40AE-4F77-8C93-2EB625F25902}"/>
                </a:ext>
              </a:extLst>
            </p:cNvPr>
            <p:cNvCxnSpPr>
              <a:stCxn id="19" idx="4"/>
              <a:endCxn id="23" idx="0"/>
            </p:cNvCxnSpPr>
            <p:nvPr/>
          </p:nvCxnSpPr>
          <p:spPr>
            <a:xfrm>
              <a:off x="5353350" y="4086293"/>
              <a:ext cx="0" cy="354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0BD67FD-765E-4003-8332-0F12AA0875A1}"/>
                </a:ext>
              </a:extLst>
            </p:cNvPr>
            <p:cNvCxnSpPr>
              <a:stCxn id="19" idx="5"/>
              <a:endCxn id="20" idx="1"/>
            </p:cNvCxnSpPr>
            <p:nvPr/>
          </p:nvCxnSpPr>
          <p:spPr>
            <a:xfrm>
              <a:off x="5528038" y="4012324"/>
              <a:ext cx="393272" cy="502664"/>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椭圆 46">
                <a:extLst>
                  <a:ext uri="{FF2B5EF4-FFF2-40B4-BE49-F238E27FC236}">
                    <a16:creationId xmlns:a16="http://schemas.microsoft.com/office/drawing/2014/main" id="{4C966A61-41EC-4318-9055-BDE83FF2B965}"/>
                  </a:ext>
                </a:extLst>
              </p:cNvPr>
              <p:cNvSpPr/>
              <p:nvPr/>
            </p:nvSpPr>
            <p:spPr>
              <a:xfrm>
                <a:off x="2891853" y="280232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47" name="椭圆 46">
                <a:extLst>
                  <a:ext uri="{FF2B5EF4-FFF2-40B4-BE49-F238E27FC236}">
                    <a16:creationId xmlns:a16="http://schemas.microsoft.com/office/drawing/2014/main" id="{4C966A61-41EC-4318-9055-BDE83FF2B965}"/>
                  </a:ext>
                </a:extLst>
              </p:cNvPr>
              <p:cNvSpPr>
                <a:spLocks noRot="1" noChangeAspect="1" noMove="1" noResize="1" noEditPoints="1" noAdjustHandles="1" noChangeArrowheads="1" noChangeShapeType="1" noTextEdit="1"/>
              </p:cNvSpPr>
              <p:nvPr/>
            </p:nvSpPr>
            <p:spPr>
              <a:xfrm>
                <a:off x="2891853" y="2802320"/>
                <a:ext cx="494093" cy="505092"/>
              </a:xfrm>
              <a:prstGeom prst="ellipse">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椭圆 47">
                <a:extLst>
                  <a:ext uri="{FF2B5EF4-FFF2-40B4-BE49-F238E27FC236}">
                    <a16:creationId xmlns:a16="http://schemas.microsoft.com/office/drawing/2014/main" id="{B77A37B5-BC9C-4E18-8329-9778A336F470}"/>
                  </a:ext>
                </a:extLst>
              </p:cNvPr>
              <p:cNvSpPr/>
              <p:nvPr/>
            </p:nvSpPr>
            <p:spPr>
              <a:xfrm>
                <a:off x="5619660"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48" name="椭圆 47">
                <a:extLst>
                  <a:ext uri="{FF2B5EF4-FFF2-40B4-BE49-F238E27FC236}">
                    <a16:creationId xmlns:a16="http://schemas.microsoft.com/office/drawing/2014/main" id="{B77A37B5-BC9C-4E18-8329-9778A336F470}"/>
                  </a:ext>
                </a:extLst>
              </p:cNvPr>
              <p:cNvSpPr>
                <a:spLocks noRot="1" noChangeAspect="1" noMove="1" noResize="1" noEditPoints="1" noAdjustHandles="1" noChangeArrowheads="1" noChangeShapeType="1" noTextEdit="1"/>
              </p:cNvSpPr>
              <p:nvPr/>
            </p:nvSpPr>
            <p:spPr>
              <a:xfrm>
                <a:off x="5619660" y="3911436"/>
                <a:ext cx="494093" cy="505092"/>
              </a:xfrm>
              <a:prstGeom prst="ellipse">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066E8DA0-DC4A-4FE6-B5F8-3DB5205ED59E}"/>
                  </a:ext>
                </a:extLst>
              </p:cNvPr>
              <p:cNvSpPr/>
              <p:nvPr/>
            </p:nvSpPr>
            <p:spPr>
              <a:xfrm>
                <a:off x="6121895"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49" name="椭圆 48">
                <a:extLst>
                  <a:ext uri="{FF2B5EF4-FFF2-40B4-BE49-F238E27FC236}">
                    <a16:creationId xmlns:a16="http://schemas.microsoft.com/office/drawing/2014/main" id="{066E8DA0-DC4A-4FE6-B5F8-3DB5205ED59E}"/>
                  </a:ext>
                </a:extLst>
              </p:cNvPr>
              <p:cNvSpPr>
                <a:spLocks noRot="1" noChangeAspect="1" noMove="1" noResize="1" noEditPoints="1" noAdjustHandles="1" noChangeArrowheads="1" noChangeShapeType="1" noTextEdit="1"/>
              </p:cNvSpPr>
              <p:nvPr/>
            </p:nvSpPr>
            <p:spPr>
              <a:xfrm>
                <a:off x="6121895" y="3911436"/>
                <a:ext cx="494093" cy="505092"/>
              </a:xfrm>
              <a:prstGeom prst="ellipse">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椭圆 49">
                <a:extLst>
                  <a:ext uri="{FF2B5EF4-FFF2-40B4-BE49-F238E27FC236}">
                    <a16:creationId xmlns:a16="http://schemas.microsoft.com/office/drawing/2014/main" id="{DFD6AEB8-03A7-4B5C-8591-79B1DE6FC8FF}"/>
                  </a:ext>
                </a:extLst>
              </p:cNvPr>
              <p:cNvSpPr/>
              <p:nvPr/>
            </p:nvSpPr>
            <p:spPr>
              <a:xfrm>
                <a:off x="6615996"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50" name="椭圆 49">
                <a:extLst>
                  <a:ext uri="{FF2B5EF4-FFF2-40B4-BE49-F238E27FC236}">
                    <a16:creationId xmlns:a16="http://schemas.microsoft.com/office/drawing/2014/main" id="{DFD6AEB8-03A7-4B5C-8591-79B1DE6FC8FF}"/>
                  </a:ext>
                </a:extLst>
              </p:cNvPr>
              <p:cNvSpPr>
                <a:spLocks noRot="1" noChangeAspect="1" noMove="1" noResize="1" noEditPoints="1" noAdjustHandles="1" noChangeArrowheads="1" noChangeShapeType="1" noTextEdit="1"/>
              </p:cNvSpPr>
              <p:nvPr/>
            </p:nvSpPr>
            <p:spPr>
              <a:xfrm>
                <a:off x="6615996" y="3917090"/>
                <a:ext cx="494093" cy="505092"/>
              </a:xfrm>
              <a:prstGeom prst="ellipse">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0D2F69D1-150A-460E-AF61-702FA3C4E146}"/>
                  </a:ext>
                </a:extLst>
              </p:cNvPr>
              <p:cNvSpPr/>
              <p:nvPr/>
            </p:nvSpPr>
            <p:spPr>
              <a:xfrm>
                <a:off x="7134507" y="3917090"/>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51" name="椭圆 50">
                <a:extLst>
                  <a:ext uri="{FF2B5EF4-FFF2-40B4-BE49-F238E27FC236}">
                    <a16:creationId xmlns:a16="http://schemas.microsoft.com/office/drawing/2014/main" id="{0D2F69D1-150A-460E-AF61-702FA3C4E146}"/>
                  </a:ext>
                </a:extLst>
              </p:cNvPr>
              <p:cNvSpPr>
                <a:spLocks noRot="1" noChangeAspect="1" noMove="1" noResize="1" noEditPoints="1" noAdjustHandles="1" noChangeArrowheads="1" noChangeShapeType="1" noTextEdit="1"/>
              </p:cNvSpPr>
              <p:nvPr/>
            </p:nvSpPr>
            <p:spPr>
              <a:xfrm>
                <a:off x="7134507" y="3917090"/>
                <a:ext cx="494093" cy="492252"/>
              </a:xfrm>
              <a:prstGeom prst="ellipse">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447A106E-7112-4E45-8D2E-B4629C778CAA}"/>
                  </a:ext>
                </a:extLst>
              </p:cNvPr>
              <p:cNvSpPr/>
              <p:nvPr/>
            </p:nvSpPr>
            <p:spPr>
              <a:xfrm>
                <a:off x="7644891"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52" name="椭圆 51">
                <a:extLst>
                  <a:ext uri="{FF2B5EF4-FFF2-40B4-BE49-F238E27FC236}">
                    <a16:creationId xmlns:a16="http://schemas.microsoft.com/office/drawing/2014/main" id="{447A106E-7112-4E45-8D2E-B4629C778CAA}"/>
                  </a:ext>
                </a:extLst>
              </p:cNvPr>
              <p:cNvSpPr>
                <a:spLocks noRot="1" noChangeAspect="1" noMove="1" noResize="1" noEditPoints="1" noAdjustHandles="1" noChangeArrowheads="1" noChangeShapeType="1" noTextEdit="1"/>
              </p:cNvSpPr>
              <p:nvPr/>
            </p:nvSpPr>
            <p:spPr>
              <a:xfrm>
                <a:off x="7644891" y="3917090"/>
                <a:ext cx="494093" cy="505092"/>
              </a:xfrm>
              <a:prstGeom prst="ellipse">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椭圆 52">
                <a:extLst>
                  <a:ext uri="{FF2B5EF4-FFF2-40B4-BE49-F238E27FC236}">
                    <a16:creationId xmlns:a16="http://schemas.microsoft.com/office/drawing/2014/main" id="{984B9AD0-8A03-4F40-99D0-FA40D8B2A53E}"/>
                  </a:ext>
                </a:extLst>
              </p:cNvPr>
              <p:cNvSpPr/>
              <p:nvPr/>
            </p:nvSpPr>
            <p:spPr>
              <a:xfrm>
                <a:off x="8155254" y="39192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53" name="椭圆 52">
                <a:extLst>
                  <a:ext uri="{FF2B5EF4-FFF2-40B4-BE49-F238E27FC236}">
                    <a16:creationId xmlns:a16="http://schemas.microsoft.com/office/drawing/2014/main" id="{984B9AD0-8A03-4F40-99D0-FA40D8B2A53E}"/>
                  </a:ext>
                </a:extLst>
              </p:cNvPr>
              <p:cNvSpPr>
                <a:spLocks noRot="1" noChangeAspect="1" noMove="1" noResize="1" noEditPoints="1" noAdjustHandles="1" noChangeArrowheads="1" noChangeShapeType="1" noTextEdit="1"/>
              </p:cNvSpPr>
              <p:nvPr/>
            </p:nvSpPr>
            <p:spPr>
              <a:xfrm>
                <a:off x="8155254" y="3919270"/>
                <a:ext cx="494093" cy="505092"/>
              </a:xfrm>
              <a:prstGeom prst="ellipse">
                <a:avLst/>
              </a:prstGeom>
              <a:blipFill>
                <a:blip r:embed="rId20"/>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椭圆 53">
                <a:extLst>
                  <a:ext uri="{FF2B5EF4-FFF2-40B4-BE49-F238E27FC236}">
                    <a16:creationId xmlns:a16="http://schemas.microsoft.com/office/drawing/2014/main" id="{8FD23C5B-51AC-4639-B337-2703C6FF6F04}"/>
                  </a:ext>
                </a:extLst>
              </p:cNvPr>
              <p:cNvSpPr/>
              <p:nvPr/>
            </p:nvSpPr>
            <p:spPr>
              <a:xfrm>
                <a:off x="8665617" y="390925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54" name="椭圆 53">
                <a:extLst>
                  <a:ext uri="{FF2B5EF4-FFF2-40B4-BE49-F238E27FC236}">
                    <a16:creationId xmlns:a16="http://schemas.microsoft.com/office/drawing/2014/main" id="{8FD23C5B-51AC-4639-B337-2703C6FF6F04}"/>
                  </a:ext>
                </a:extLst>
              </p:cNvPr>
              <p:cNvSpPr>
                <a:spLocks noRot="1" noChangeAspect="1" noMove="1" noResize="1" noEditPoints="1" noAdjustHandles="1" noChangeArrowheads="1" noChangeShapeType="1" noTextEdit="1"/>
              </p:cNvSpPr>
              <p:nvPr/>
            </p:nvSpPr>
            <p:spPr>
              <a:xfrm>
                <a:off x="8665617" y="3909256"/>
                <a:ext cx="494093" cy="505092"/>
              </a:xfrm>
              <a:prstGeom prst="ellipse">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椭圆 54">
                <a:extLst>
                  <a:ext uri="{FF2B5EF4-FFF2-40B4-BE49-F238E27FC236}">
                    <a16:creationId xmlns:a16="http://schemas.microsoft.com/office/drawing/2014/main" id="{F284DECD-BAE5-4BF8-82D1-AAD618F23C30}"/>
                  </a:ext>
                </a:extLst>
              </p:cNvPr>
              <p:cNvSpPr/>
              <p:nvPr/>
            </p:nvSpPr>
            <p:spPr>
              <a:xfrm>
                <a:off x="9174432"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55" name="椭圆 54">
                <a:extLst>
                  <a:ext uri="{FF2B5EF4-FFF2-40B4-BE49-F238E27FC236}">
                    <a16:creationId xmlns:a16="http://schemas.microsoft.com/office/drawing/2014/main" id="{F284DECD-BAE5-4BF8-82D1-AAD618F23C30}"/>
                  </a:ext>
                </a:extLst>
              </p:cNvPr>
              <p:cNvSpPr>
                <a:spLocks noRot="1" noChangeAspect="1" noMove="1" noResize="1" noEditPoints="1" noAdjustHandles="1" noChangeArrowheads="1" noChangeShapeType="1" noTextEdit="1"/>
              </p:cNvSpPr>
              <p:nvPr/>
            </p:nvSpPr>
            <p:spPr>
              <a:xfrm>
                <a:off x="9174432" y="3917090"/>
                <a:ext cx="494093" cy="505092"/>
              </a:xfrm>
              <a:prstGeom prst="ellipse">
                <a:avLst/>
              </a:prstGeom>
              <a:blipFill>
                <a:blip r:embed="rId22"/>
                <a:stretch>
                  <a:fillRect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椭圆 55">
                <a:extLst>
                  <a:ext uri="{FF2B5EF4-FFF2-40B4-BE49-F238E27FC236}">
                    <a16:creationId xmlns:a16="http://schemas.microsoft.com/office/drawing/2014/main" id="{FC282B33-F1D6-4541-83B8-C822A9D8003C}"/>
                  </a:ext>
                </a:extLst>
              </p:cNvPr>
              <p:cNvSpPr/>
              <p:nvPr/>
            </p:nvSpPr>
            <p:spPr>
              <a:xfrm>
                <a:off x="9686371" y="391899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56" name="椭圆 55">
                <a:extLst>
                  <a:ext uri="{FF2B5EF4-FFF2-40B4-BE49-F238E27FC236}">
                    <a16:creationId xmlns:a16="http://schemas.microsoft.com/office/drawing/2014/main" id="{FC282B33-F1D6-4541-83B8-C822A9D8003C}"/>
                  </a:ext>
                </a:extLst>
              </p:cNvPr>
              <p:cNvSpPr>
                <a:spLocks noRot="1" noChangeAspect="1" noMove="1" noResize="1" noEditPoints="1" noAdjustHandles="1" noChangeArrowheads="1" noChangeShapeType="1" noTextEdit="1"/>
              </p:cNvSpPr>
              <p:nvPr/>
            </p:nvSpPr>
            <p:spPr>
              <a:xfrm>
                <a:off x="9686371" y="3918992"/>
                <a:ext cx="494093" cy="505092"/>
              </a:xfrm>
              <a:prstGeom prst="ellipse">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椭圆 56">
                <a:extLst>
                  <a:ext uri="{FF2B5EF4-FFF2-40B4-BE49-F238E27FC236}">
                    <a16:creationId xmlns:a16="http://schemas.microsoft.com/office/drawing/2014/main" id="{987A16F4-C0D3-4366-A99E-B3B6C82C37EF}"/>
                  </a:ext>
                </a:extLst>
              </p:cNvPr>
              <p:cNvSpPr/>
              <p:nvPr/>
            </p:nvSpPr>
            <p:spPr>
              <a:xfrm>
                <a:off x="10188613" y="392089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57" name="椭圆 56">
                <a:extLst>
                  <a:ext uri="{FF2B5EF4-FFF2-40B4-BE49-F238E27FC236}">
                    <a16:creationId xmlns:a16="http://schemas.microsoft.com/office/drawing/2014/main" id="{987A16F4-C0D3-4366-A99E-B3B6C82C37EF}"/>
                  </a:ext>
                </a:extLst>
              </p:cNvPr>
              <p:cNvSpPr>
                <a:spLocks noRot="1" noChangeAspect="1" noMove="1" noResize="1" noEditPoints="1" noAdjustHandles="1" noChangeArrowheads="1" noChangeShapeType="1" noTextEdit="1"/>
              </p:cNvSpPr>
              <p:nvPr/>
            </p:nvSpPr>
            <p:spPr>
              <a:xfrm>
                <a:off x="10188613" y="3920894"/>
                <a:ext cx="494093" cy="505092"/>
              </a:xfrm>
              <a:prstGeom prst="ellipse">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椭圆 57">
                <a:extLst>
                  <a:ext uri="{FF2B5EF4-FFF2-40B4-BE49-F238E27FC236}">
                    <a16:creationId xmlns:a16="http://schemas.microsoft.com/office/drawing/2014/main" id="{8E75F42B-B37F-4979-9430-AB3A72ADBACD}"/>
                  </a:ext>
                </a:extLst>
              </p:cNvPr>
              <p:cNvSpPr/>
              <p:nvPr/>
            </p:nvSpPr>
            <p:spPr>
              <a:xfrm>
                <a:off x="10698976" y="3910705"/>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58" name="椭圆 57">
                <a:extLst>
                  <a:ext uri="{FF2B5EF4-FFF2-40B4-BE49-F238E27FC236}">
                    <a16:creationId xmlns:a16="http://schemas.microsoft.com/office/drawing/2014/main" id="{8E75F42B-B37F-4979-9430-AB3A72ADBACD}"/>
                  </a:ext>
                </a:extLst>
              </p:cNvPr>
              <p:cNvSpPr>
                <a:spLocks noRot="1" noChangeAspect="1" noMove="1" noResize="1" noEditPoints="1" noAdjustHandles="1" noChangeArrowheads="1" noChangeShapeType="1" noTextEdit="1"/>
              </p:cNvSpPr>
              <p:nvPr/>
            </p:nvSpPr>
            <p:spPr>
              <a:xfrm>
                <a:off x="10698976" y="3910705"/>
                <a:ext cx="494093" cy="505092"/>
              </a:xfrm>
              <a:prstGeom prst="ellipse">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椭圆 58">
                <a:extLst>
                  <a:ext uri="{FF2B5EF4-FFF2-40B4-BE49-F238E27FC236}">
                    <a16:creationId xmlns:a16="http://schemas.microsoft.com/office/drawing/2014/main" id="{9E088ACA-56F4-4CE5-91A8-CC256AC87031}"/>
                  </a:ext>
                </a:extLst>
              </p:cNvPr>
              <p:cNvSpPr/>
              <p:nvPr/>
            </p:nvSpPr>
            <p:spPr>
              <a:xfrm>
                <a:off x="11201218" y="3912607"/>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59" name="椭圆 58">
                <a:extLst>
                  <a:ext uri="{FF2B5EF4-FFF2-40B4-BE49-F238E27FC236}">
                    <a16:creationId xmlns:a16="http://schemas.microsoft.com/office/drawing/2014/main" id="{9E088ACA-56F4-4CE5-91A8-CC256AC87031}"/>
                  </a:ext>
                </a:extLst>
              </p:cNvPr>
              <p:cNvSpPr>
                <a:spLocks noRot="1" noChangeAspect="1" noMove="1" noResize="1" noEditPoints="1" noAdjustHandles="1" noChangeArrowheads="1" noChangeShapeType="1" noTextEdit="1"/>
              </p:cNvSpPr>
              <p:nvPr/>
            </p:nvSpPr>
            <p:spPr>
              <a:xfrm>
                <a:off x="11201218" y="3912607"/>
                <a:ext cx="494093" cy="505092"/>
              </a:xfrm>
              <a:prstGeom prst="ellipse">
                <a:avLst/>
              </a:prstGeom>
              <a:blipFill>
                <a:blip r:embed="rId26"/>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928D7CAA-A517-421B-9C2E-DCC0AB8701A6}"/>
              </a:ext>
            </a:extLst>
          </p:cNvPr>
          <p:cNvCxnSpPr>
            <a:stCxn id="47" idx="3"/>
            <a:endCxn id="12" idx="7"/>
          </p:cNvCxnSpPr>
          <p:nvPr/>
        </p:nvCxnSpPr>
        <p:spPr>
          <a:xfrm flipH="1">
            <a:off x="1777564" y="3233443"/>
            <a:ext cx="1186647"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椭圆 61">
                <a:extLst>
                  <a:ext uri="{FF2B5EF4-FFF2-40B4-BE49-F238E27FC236}">
                    <a16:creationId xmlns:a16="http://schemas.microsoft.com/office/drawing/2014/main" id="{380A075B-6FE5-441B-AAF7-86BEB8B8CFC2}"/>
                  </a:ext>
                </a:extLst>
              </p:cNvPr>
              <p:cNvSpPr/>
              <p:nvPr/>
            </p:nvSpPr>
            <p:spPr>
              <a:xfrm>
                <a:off x="1356030" y="36023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62" name="椭圆 61">
                <a:extLst>
                  <a:ext uri="{FF2B5EF4-FFF2-40B4-BE49-F238E27FC236}">
                    <a16:creationId xmlns:a16="http://schemas.microsoft.com/office/drawing/2014/main" id="{380A075B-6FE5-441B-AAF7-86BEB8B8CFC2}"/>
                  </a:ext>
                </a:extLst>
              </p:cNvPr>
              <p:cNvSpPr>
                <a:spLocks noRot="1" noChangeAspect="1" noMove="1" noResize="1" noEditPoints="1" noAdjustHandles="1" noChangeArrowheads="1" noChangeShapeType="1" noTextEdit="1"/>
              </p:cNvSpPr>
              <p:nvPr/>
            </p:nvSpPr>
            <p:spPr>
              <a:xfrm>
                <a:off x="1356030" y="3602390"/>
                <a:ext cx="494093" cy="505092"/>
              </a:xfrm>
              <a:prstGeom prst="ellipse">
                <a:avLst/>
              </a:prstGeom>
              <a:blipFill>
                <a:blip r:embed="rId27"/>
                <a:stretch>
                  <a:fillRect/>
                </a:stretch>
              </a:blipFill>
            </p:spPr>
            <p:txBody>
              <a:bodyPr/>
              <a:lstStyle/>
              <a:p>
                <a:r>
                  <a:rPr lang="zh-CN" altLang="en-US">
                    <a:noFill/>
                  </a:rPr>
                  <a:t> </a:t>
                </a:r>
              </a:p>
            </p:txBody>
          </p:sp>
        </mc:Fallback>
      </mc:AlternateContent>
      <p:cxnSp>
        <p:nvCxnSpPr>
          <p:cNvPr id="64" name="直接连接符 63">
            <a:extLst>
              <a:ext uri="{FF2B5EF4-FFF2-40B4-BE49-F238E27FC236}">
                <a16:creationId xmlns:a16="http://schemas.microsoft.com/office/drawing/2014/main" id="{2D715472-5176-4D17-9ED1-790C7DCDE308}"/>
              </a:ext>
            </a:extLst>
          </p:cNvPr>
          <p:cNvCxnSpPr>
            <a:stCxn id="62" idx="3"/>
            <a:endCxn id="13" idx="7"/>
          </p:cNvCxnSpPr>
          <p:nvPr/>
        </p:nvCxnSpPr>
        <p:spPr>
          <a:xfrm flipH="1">
            <a:off x="1021787" y="4033513"/>
            <a:ext cx="406601" cy="50625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椭圆 64">
                <a:extLst>
                  <a:ext uri="{FF2B5EF4-FFF2-40B4-BE49-F238E27FC236}">
                    <a16:creationId xmlns:a16="http://schemas.microsoft.com/office/drawing/2014/main" id="{86972C65-E831-46AB-9A86-4965EFC05BA7}"/>
                  </a:ext>
                </a:extLst>
              </p:cNvPr>
              <p:cNvSpPr/>
              <p:nvPr/>
            </p:nvSpPr>
            <p:spPr>
              <a:xfrm>
                <a:off x="599313" y="446878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65" name="椭圆 64">
                <a:extLst>
                  <a:ext uri="{FF2B5EF4-FFF2-40B4-BE49-F238E27FC236}">
                    <a16:creationId xmlns:a16="http://schemas.microsoft.com/office/drawing/2014/main" id="{86972C65-E831-46AB-9A86-4965EFC05BA7}"/>
                  </a:ext>
                </a:extLst>
              </p:cNvPr>
              <p:cNvSpPr>
                <a:spLocks noRot="1" noChangeAspect="1" noMove="1" noResize="1" noEditPoints="1" noAdjustHandles="1" noChangeArrowheads="1" noChangeShapeType="1" noTextEdit="1"/>
              </p:cNvSpPr>
              <p:nvPr/>
            </p:nvSpPr>
            <p:spPr>
              <a:xfrm>
                <a:off x="599313" y="4468786"/>
                <a:ext cx="494093" cy="505092"/>
              </a:xfrm>
              <a:prstGeom prst="ellipse">
                <a:avLst/>
              </a:prstGeom>
              <a:blipFill>
                <a:blip r:embed="rId28"/>
                <a:stretch>
                  <a:fillRect/>
                </a:stretch>
              </a:blipFill>
            </p:spPr>
            <p:txBody>
              <a:bodyPr/>
              <a:lstStyle/>
              <a:p>
                <a:r>
                  <a:rPr lang="zh-CN" altLang="en-US">
                    <a:noFill/>
                  </a:rPr>
                  <a:t> </a:t>
                </a:r>
              </a:p>
            </p:txBody>
          </p:sp>
        </mc:Fallback>
      </mc:AlternateContent>
      <p:cxnSp>
        <p:nvCxnSpPr>
          <p:cNvPr id="67" name="直接连接符 66">
            <a:extLst>
              <a:ext uri="{FF2B5EF4-FFF2-40B4-BE49-F238E27FC236}">
                <a16:creationId xmlns:a16="http://schemas.microsoft.com/office/drawing/2014/main" id="{CF9D0CF5-485A-43F9-B992-FF6ECF3EFA84}"/>
              </a:ext>
            </a:extLst>
          </p:cNvPr>
          <p:cNvCxnSpPr>
            <a:stCxn id="62" idx="4"/>
            <a:endCxn id="22" idx="0"/>
          </p:cNvCxnSpPr>
          <p:nvPr/>
        </p:nvCxnSpPr>
        <p:spPr>
          <a:xfrm>
            <a:off x="1603077" y="4107482"/>
            <a:ext cx="7489" cy="34508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椭圆 67">
                <a:extLst>
                  <a:ext uri="{FF2B5EF4-FFF2-40B4-BE49-F238E27FC236}">
                    <a16:creationId xmlns:a16="http://schemas.microsoft.com/office/drawing/2014/main" id="{F3FAD147-0A63-4D3B-8429-72364EEAED1B}"/>
                  </a:ext>
                </a:extLst>
              </p:cNvPr>
              <p:cNvSpPr/>
              <p:nvPr/>
            </p:nvSpPr>
            <p:spPr>
              <a:xfrm>
                <a:off x="1363519"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68" name="椭圆 67">
                <a:extLst>
                  <a:ext uri="{FF2B5EF4-FFF2-40B4-BE49-F238E27FC236}">
                    <a16:creationId xmlns:a16="http://schemas.microsoft.com/office/drawing/2014/main" id="{F3FAD147-0A63-4D3B-8429-72364EEAED1B}"/>
                  </a:ext>
                </a:extLst>
              </p:cNvPr>
              <p:cNvSpPr>
                <a:spLocks noRot="1" noChangeAspect="1" noMove="1" noResize="1" noEditPoints="1" noAdjustHandles="1" noChangeArrowheads="1" noChangeShapeType="1" noTextEdit="1"/>
              </p:cNvSpPr>
              <p:nvPr/>
            </p:nvSpPr>
            <p:spPr>
              <a:xfrm>
                <a:off x="1363519" y="4446479"/>
                <a:ext cx="494093" cy="505092"/>
              </a:xfrm>
              <a:prstGeom prst="ellipse">
                <a:avLst/>
              </a:prstGeom>
              <a:blipFill>
                <a:blip r:embed="rId29"/>
                <a:stretch>
                  <a:fillRect/>
                </a:stretch>
              </a:blipFill>
            </p:spPr>
            <p:txBody>
              <a:bodyPr/>
              <a:lstStyle/>
              <a:p>
                <a:r>
                  <a:rPr lang="zh-CN" altLang="en-US">
                    <a:noFill/>
                  </a:rPr>
                  <a:t> </a:t>
                </a:r>
              </a:p>
            </p:txBody>
          </p:sp>
        </mc:Fallback>
      </mc:AlternateContent>
      <p:cxnSp>
        <p:nvCxnSpPr>
          <p:cNvPr id="70" name="直接连接符 69">
            <a:extLst>
              <a:ext uri="{FF2B5EF4-FFF2-40B4-BE49-F238E27FC236}">
                <a16:creationId xmlns:a16="http://schemas.microsoft.com/office/drawing/2014/main" id="{68C55553-EA04-47F2-BC3B-D6BAA9B822BE}"/>
              </a:ext>
            </a:extLst>
          </p:cNvPr>
          <p:cNvCxnSpPr>
            <a:stCxn id="62" idx="5"/>
            <a:endCxn id="15" idx="1"/>
          </p:cNvCxnSpPr>
          <p:nvPr/>
        </p:nvCxnSpPr>
        <p:spPr>
          <a:xfrm>
            <a:off x="1777765" y="4033513"/>
            <a:ext cx="424867" cy="49301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椭圆 70">
                <a:extLst>
                  <a:ext uri="{FF2B5EF4-FFF2-40B4-BE49-F238E27FC236}">
                    <a16:creationId xmlns:a16="http://schemas.microsoft.com/office/drawing/2014/main" id="{7A15C647-F826-4322-8E65-C0BC088CDC92}"/>
                  </a:ext>
                </a:extLst>
              </p:cNvPr>
              <p:cNvSpPr/>
              <p:nvPr/>
            </p:nvSpPr>
            <p:spPr>
              <a:xfrm>
                <a:off x="2132031"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71" name="椭圆 70">
                <a:extLst>
                  <a:ext uri="{FF2B5EF4-FFF2-40B4-BE49-F238E27FC236}">
                    <a16:creationId xmlns:a16="http://schemas.microsoft.com/office/drawing/2014/main" id="{7A15C647-F826-4322-8E65-C0BC088CDC92}"/>
                  </a:ext>
                </a:extLst>
              </p:cNvPr>
              <p:cNvSpPr>
                <a:spLocks noRot="1" noChangeAspect="1" noMove="1" noResize="1" noEditPoints="1" noAdjustHandles="1" noChangeArrowheads="1" noChangeShapeType="1" noTextEdit="1"/>
              </p:cNvSpPr>
              <p:nvPr/>
            </p:nvSpPr>
            <p:spPr>
              <a:xfrm>
                <a:off x="2132031" y="4446479"/>
                <a:ext cx="494093" cy="505092"/>
              </a:xfrm>
              <a:prstGeom prst="ellipse">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椭圆 71">
                <a:extLst>
                  <a:ext uri="{FF2B5EF4-FFF2-40B4-BE49-F238E27FC236}">
                    <a16:creationId xmlns:a16="http://schemas.microsoft.com/office/drawing/2014/main" id="{C5B34713-2891-415A-B36E-07EBA2E47253}"/>
                  </a:ext>
                </a:extLst>
              </p:cNvPr>
              <p:cNvSpPr/>
              <p:nvPr/>
            </p:nvSpPr>
            <p:spPr>
              <a:xfrm>
                <a:off x="1355827" y="5303133"/>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72" name="椭圆 71">
                <a:extLst>
                  <a:ext uri="{FF2B5EF4-FFF2-40B4-BE49-F238E27FC236}">
                    <a16:creationId xmlns:a16="http://schemas.microsoft.com/office/drawing/2014/main" id="{C5B34713-2891-415A-B36E-07EBA2E47253}"/>
                  </a:ext>
                </a:extLst>
              </p:cNvPr>
              <p:cNvSpPr>
                <a:spLocks noRot="1" noChangeAspect="1" noMove="1" noResize="1" noEditPoints="1" noAdjustHandles="1" noChangeArrowheads="1" noChangeShapeType="1" noTextEdit="1"/>
              </p:cNvSpPr>
              <p:nvPr/>
            </p:nvSpPr>
            <p:spPr>
              <a:xfrm>
                <a:off x="1355827" y="5303133"/>
                <a:ext cx="494093" cy="505092"/>
              </a:xfrm>
              <a:prstGeom prst="ellipse">
                <a:avLst/>
              </a:prstGeom>
              <a:blipFill>
                <a:blip r:embed="rId31"/>
                <a:stretch>
                  <a:fillRect/>
                </a:stretch>
              </a:blipFill>
            </p:spPr>
            <p:txBody>
              <a:bodyPr/>
              <a:lstStyle/>
              <a:p>
                <a:r>
                  <a:rPr lang="zh-CN" altLang="en-US">
                    <a:noFill/>
                  </a:rPr>
                  <a:t> </a:t>
                </a:r>
              </a:p>
            </p:txBody>
          </p:sp>
        </mc:Fallback>
      </mc:AlternateContent>
      <p:cxnSp>
        <p:nvCxnSpPr>
          <p:cNvPr id="74" name="直接连接符 73">
            <a:extLst>
              <a:ext uri="{FF2B5EF4-FFF2-40B4-BE49-F238E27FC236}">
                <a16:creationId xmlns:a16="http://schemas.microsoft.com/office/drawing/2014/main" id="{3085D4BE-FAD4-4C90-AEEF-0BD9083BEEDB}"/>
              </a:ext>
            </a:extLst>
          </p:cNvPr>
          <p:cNvCxnSpPr>
            <a:stCxn id="71" idx="3"/>
            <a:endCxn id="72" idx="7"/>
          </p:cNvCxnSpPr>
          <p:nvPr/>
        </p:nvCxnSpPr>
        <p:spPr>
          <a:xfrm flipH="1">
            <a:off x="1777562" y="4877602"/>
            <a:ext cx="426827" cy="4995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81A1D254-1E3C-4D9D-AF68-008EE9E7F2FE}"/>
              </a:ext>
            </a:extLst>
          </p:cNvPr>
          <p:cNvCxnSpPr>
            <a:stCxn id="71" idx="5"/>
            <a:endCxn id="16" idx="1"/>
          </p:cNvCxnSpPr>
          <p:nvPr/>
        </p:nvCxnSpPr>
        <p:spPr>
          <a:xfrm>
            <a:off x="2553766" y="4877602"/>
            <a:ext cx="406837" cy="50616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椭圆 76">
                <a:extLst>
                  <a:ext uri="{FF2B5EF4-FFF2-40B4-BE49-F238E27FC236}">
                    <a16:creationId xmlns:a16="http://schemas.microsoft.com/office/drawing/2014/main" id="{780F778F-CC3D-47D1-9494-AEC614AB80AC}"/>
                  </a:ext>
                </a:extLst>
              </p:cNvPr>
              <p:cNvSpPr/>
              <p:nvPr/>
            </p:nvSpPr>
            <p:spPr>
              <a:xfrm>
                <a:off x="2887921" y="531443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77" name="椭圆 76">
                <a:extLst>
                  <a:ext uri="{FF2B5EF4-FFF2-40B4-BE49-F238E27FC236}">
                    <a16:creationId xmlns:a16="http://schemas.microsoft.com/office/drawing/2014/main" id="{780F778F-CC3D-47D1-9494-AEC614AB80AC}"/>
                  </a:ext>
                </a:extLst>
              </p:cNvPr>
              <p:cNvSpPr>
                <a:spLocks noRot="1" noChangeAspect="1" noMove="1" noResize="1" noEditPoints="1" noAdjustHandles="1" noChangeArrowheads="1" noChangeShapeType="1" noTextEdit="1"/>
              </p:cNvSpPr>
              <p:nvPr/>
            </p:nvSpPr>
            <p:spPr>
              <a:xfrm>
                <a:off x="2887921" y="5314431"/>
                <a:ext cx="494093" cy="505092"/>
              </a:xfrm>
              <a:prstGeom prst="ellipse">
                <a:avLst/>
              </a:prstGeom>
              <a:blipFill>
                <a:blip r:embed="rId32"/>
                <a:stretch>
                  <a:fillRect b="-4706"/>
                </a:stretch>
              </a:blipFill>
            </p:spPr>
            <p:txBody>
              <a:bodyPr/>
              <a:lstStyle/>
              <a:p>
                <a:r>
                  <a:rPr lang="zh-CN" altLang="en-US">
                    <a:noFill/>
                  </a:rPr>
                  <a:t> </a:t>
                </a:r>
              </a:p>
            </p:txBody>
          </p:sp>
        </mc:Fallback>
      </mc:AlternateContent>
      <p:cxnSp>
        <p:nvCxnSpPr>
          <p:cNvPr id="79" name="直接连接符 78">
            <a:extLst>
              <a:ext uri="{FF2B5EF4-FFF2-40B4-BE49-F238E27FC236}">
                <a16:creationId xmlns:a16="http://schemas.microsoft.com/office/drawing/2014/main" id="{CE15715B-60DD-4B07-B509-CB446B382AE4}"/>
              </a:ext>
            </a:extLst>
          </p:cNvPr>
          <p:cNvCxnSpPr>
            <a:stCxn id="47" idx="4"/>
            <a:endCxn id="21" idx="0"/>
          </p:cNvCxnSpPr>
          <p:nvPr/>
        </p:nvCxnSpPr>
        <p:spPr>
          <a:xfrm flipH="1">
            <a:off x="3134969" y="3307412"/>
            <a:ext cx="3931" cy="29857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椭圆 79">
                <a:extLst>
                  <a:ext uri="{FF2B5EF4-FFF2-40B4-BE49-F238E27FC236}">
                    <a16:creationId xmlns:a16="http://schemas.microsoft.com/office/drawing/2014/main" id="{7A5500A5-768D-4845-98D5-C97F2102D527}"/>
                  </a:ext>
                </a:extLst>
              </p:cNvPr>
              <p:cNvSpPr/>
              <p:nvPr/>
            </p:nvSpPr>
            <p:spPr>
              <a:xfrm>
                <a:off x="2886939" y="36040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80" name="椭圆 79">
                <a:extLst>
                  <a:ext uri="{FF2B5EF4-FFF2-40B4-BE49-F238E27FC236}">
                    <a16:creationId xmlns:a16="http://schemas.microsoft.com/office/drawing/2014/main" id="{7A5500A5-768D-4845-98D5-C97F2102D527}"/>
                  </a:ext>
                </a:extLst>
              </p:cNvPr>
              <p:cNvSpPr>
                <a:spLocks noRot="1" noChangeAspect="1" noMove="1" noResize="1" noEditPoints="1" noAdjustHandles="1" noChangeArrowheads="1" noChangeShapeType="1" noTextEdit="1"/>
              </p:cNvSpPr>
              <p:nvPr/>
            </p:nvSpPr>
            <p:spPr>
              <a:xfrm>
                <a:off x="2886939" y="3604042"/>
                <a:ext cx="494093" cy="505092"/>
              </a:xfrm>
              <a:prstGeom prst="ellipse">
                <a:avLst/>
              </a:prstGeom>
              <a:blipFill>
                <a:blip r:embed="rId33"/>
                <a:stretch>
                  <a:fillRect b="-4706"/>
                </a:stretch>
              </a:blipFill>
            </p:spPr>
            <p:txBody>
              <a:bodyPr/>
              <a:lstStyle/>
              <a:p>
                <a:r>
                  <a:rPr lang="zh-CN" altLang="en-US">
                    <a:noFill/>
                  </a:rPr>
                  <a:t> </a:t>
                </a:r>
              </a:p>
            </p:txBody>
          </p:sp>
        </mc:Fallback>
      </mc:AlternateContent>
      <p:cxnSp>
        <p:nvCxnSpPr>
          <p:cNvPr id="82" name="直接连接符 81">
            <a:extLst>
              <a:ext uri="{FF2B5EF4-FFF2-40B4-BE49-F238E27FC236}">
                <a16:creationId xmlns:a16="http://schemas.microsoft.com/office/drawing/2014/main" id="{418E6DBA-F95F-4077-9782-F9C286A5488C}"/>
              </a:ext>
            </a:extLst>
          </p:cNvPr>
          <p:cNvCxnSpPr>
            <a:stCxn id="47" idx="5"/>
            <a:endCxn id="19" idx="1"/>
          </p:cNvCxnSpPr>
          <p:nvPr/>
        </p:nvCxnSpPr>
        <p:spPr>
          <a:xfrm>
            <a:off x="3313588" y="3233443"/>
            <a:ext cx="1194394"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9CC535A-7741-4216-B48C-CA6CD32509E2}"/>
              </a:ext>
            </a:extLst>
          </p:cNvPr>
          <p:cNvCxnSpPr>
            <a:stCxn id="19" idx="3"/>
            <a:endCxn id="18" idx="7"/>
          </p:cNvCxnSpPr>
          <p:nvPr/>
        </p:nvCxnSpPr>
        <p:spPr>
          <a:xfrm flipH="1">
            <a:off x="4073073" y="4037106"/>
            <a:ext cx="434909" cy="48942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C4FEE25-E2F4-491E-8FA1-10203A5A464B}"/>
              </a:ext>
            </a:extLst>
          </p:cNvPr>
          <p:cNvCxnSpPr>
            <a:stCxn id="19" idx="4"/>
            <a:endCxn id="23" idx="0"/>
          </p:cNvCxnSpPr>
          <p:nvPr/>
        </p:nvCxnSpPr>
        <p:spPr>
          <a:xfrm>
            <a:off x="4682671" y="4111075"/>
            <a:ext cx="0" cy="35472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F1C5C25-77CE-42DF-8D60-C361F0F19301}"/>
              </a:ext>
            </a:extLst>
          </p:cNvPr>
          <p:cNvCxnSpPr>
            <a:stCxn id="19" idx="5"/>
            <a:endCxn id="20" idx="1"/>
          </p:cNvCxnSpPr>
          <p:nvPr/>
        </p:nvCxnSpPr>
        <p:spPr>
          <a:xfrm>
            <a:off x="4857359" y="4037106"/>
            <a:ext cx="393272" cy="50266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椭圆 88">
                <a:extLst>
                  <a:ext uri="{FF2B5EF4-FFF2-40B4-BE49-F238E27FC236}">
                    <a16:creationId xmlns:a16="http://schemas.microsoft.com/office/drawing/2014/main" id="{3E629E07-A19C-431F-AA25-D5DB01ED34E4}"/>
                  </a:ext>
                </a:extLst>
              </p:cNvPr>
              <p:cNvSpPr/>
              <p:nvPr/>
            </p:nvSpPr>
            <p:spPr>
              <a:xfrm>
                <a:off x="4437037" y="36034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89" name="椭圆 88">
                <a:extLst>
                  <a:ext uri="{FF2B5EF4-FFF2-40B4-BE49-F238E27FC236}">
                    <a16:creationId xmlns:a16="http://schemas.microsoft.com/office/drawing/2014/main" id="{3E629E07-A19C-431F-AA25-D5DB01ED34E4}"/>
                  </a:ext>
                </a:extLst>
              </p:cNvPr>
              <p:cNvSpPr>
                <a:spLocks noRot="1" noChangeAspect="1" noMove="1" noResize="1" noEditPoints="1" noAdjustHandles="1" noChangeArrowheads="1" noChangeShapeType="1" noTextEdit="1"/>
              </p:cNvSpPr>
              <p:nvPr/>
            </p:nvSpPr>
            <p:spPr>
              <a:xfrm>
                <a:off x="4437037" y="3603470"/>
                <a:ext cx="494093" cy="505092"/>
              </a:xfrm>
              <a:prstGeom prst="ellipse">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椭圆 89">
                <a:extLst>
                  <a:ext uri="{FF2B5EF4-FFF2-40B4-BE49-F238E27FC236}">
                    <a16:creationId xmlns:a16="http://schemas.microsoft.com/office/drawing/2014/main" id="{C8F1FFCC-B779-4137-ABFE-34D566B893ED}"/>
                  </a:ext>
                </a:extLst>
              </p:cNvPr>
              <p:cNvSpPr/>
              <p:nvPr/>
            </p:nvSpPr>
            <p:spPr>
              <a:xfrm>
                <a:off x="3644180" y="44566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90" name="椭圆 89">
                <a:extLst>
                  <a:ext uri="{FF2B5EF4-FFF2-40B4-BE49-F238E27FC236}">
                    <a16:creationId xmlns:a16="http://schemas.microsoft.com/office/drawing/2014/main" id="{C8F1FFCC-B779-4137-ABFE-34D566B893ED}"/>
                  </a:ext>
                </a:extLst>
              </p:cNvPr>
              <p:cNvSpPr>
                <a:spLocks noRot="1" noChangeAspect="1" noMove="1" noResize="1" noEditPoints="1" noAdjustHandles="1" noChangeArrowheads="1" noChangeShapeType="1" noTextEdit="1"/>
              </p:cNvSpPr>
              <p:nvPr/>
            </p:nvSpPr>
            <p:spPr>
              <a:xfrm>
                <a:off x="3644180" y="4456642"/>
                <a:ext cx="494093" cy="505092"/>
              </a:xfrm>
              <a:prstGeom prst="ellipse">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椭圆 90">
                <a:extLst>
                  <a:ext uri="{FF2B5EF4-FFF2-40B4-BE49-F238E27FC236}">
                    <a16:creationId xmlns:a16="http://schemas.microsoft.com/office/drawing/2014/main" id="{8558D783-4F46-4F37-AE96-12A84C71471C}"/>
                  </a:ext>
                </a:extLst>
              </p:cNvPr>
              <p:cNvSpPr/>
              <p:nvPr/>
            </p:nvSpPr>
            <p:spPr>
              <a:xfrm>
                <a:off x="4435624" y="4466588"/>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91" name="椭圆 90">
                <a:extLst>
                  <a:ext uri="{FF2B5EF4-FFF2-40B4-BE49-F238E27FC236}">
                    <a16:creationId xmlns:a16="http://schemas.microsoft.com/office/drawing/2014/main" id="{8558D783-4F46-4F37-AE96-12A84C71471C}"/>
                  </a:ext>
                </a:extLst>
              </p:cNvPr>
              <p:cNvSpPr>
                <a:spLocks noRot="1" noChangeAspect="1" noMove="1" noResize="1" noEditPoints="1" noAdjustHandles="1" noChangeArrowheads="1" noChangeShapeType="1" noTextEdit="1"/>
              </p:cNvSpPr>
              <p:nvPr/>
            </p:nvSpPr>
            <p:spPr>
              <a:xfrm>
                <a:off x="4435624" y="4466588"/>
                <a:ext cx="494093" cy="505092"/>
              </a:xfrm>
              <a:prstGeom prst="ellipse">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椭圆 91">
                <a:extLst>
                  <a:ext uri="{FF2B5EF4-FFF2-40B4-BE49-F238E27FC236}">
                    <a16:creationId xmlns:a16="http://schemas.microsoft.com/office/drawing/2014/main" id="{AF05E022-BFFB-44BF-9B47-C425709D28BE}"/>
                  </a:ext>
                </a:extLst>
              </p:cNvPr>
              <p:cNvSpPr/>
              <p:nvPr/>
            </p:nvSpPr>
            <p:spPr>
              <a:xfrm>
                <a:off x="5178271" y="446580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92" name="椭圆 91">
                <a:extLst>
                  <a:ext uri="{FF2B5EF4-FFF2-40B4-BE49-F238E27FC236}">
                    <a16:creationId xmlns:a16="http://schemas.microsoft.com/office/drawing/2014/main" id="{AF05E022-BFFB-44BF-9B47-C425709D28BE}"/>
                  </a:ext>
                </a:extLst>
              </p:cNvPr>
              <p:cNvSpPr>
                <a:spLocks noRot="1" noChangeAspect="1" noMove="1" noResize="1" noEditPoints="1" noAdjustHandles="1" noChangeArrowheads="1" noChangeShapeType="1" noTextEdit="1"/>
              </p:cNvSpPr>
              <p:nvPr/>
            </p:nvSpPr>
            <p:spPr>
              <a:xfrm>
                <a:off x="5178271" y="4465801"/>
                <a:ext cx="494093" cy="505092"/>
              </a:xfrm>
              <a:prstGeom prst="ellipse">
                <a:avLst/>
              </a:prstGeom>
              <a:blipFill>
                <a:blip r:embed="rId37"/>
                <a:stretch>
                  <a:fillRect/>
                </a:stretch>
              </a:blipFill>
            </p:spPr>
            <p:txBody>
              <a:bodyPr/>
              <a:lstStyle/>
              <a:p>
                <a:r>
                  <a:rPr lang="zh-CN" altLang="en-US">
                    <a:noFill/>
                  </a:rPr>
                  <a:t> </a:t>
                </a:r>
              </a:p>
            </p:txBody>
          </p:sp>
        </mc:Fallback>
      </mc:AlternateContent>
      <p:sp>
        <p:nvSpPr>
          <p:cNvPr id="93" name="文本框 92">
            <a:extLst>
              <a:ext uri="{FF2B5EF4-FFF2-40B4-BE49-F238E27FC236}">
                <a16:creationId xmlns:a16="http://schemas.microsoft.com/office/drawing/2014/main" id="{85633A42-5347-41FF-ADB4-00AB33B50A7D}"/>
              </a:ext>
            </a:extLst>
          </p:cNvPr>
          <p:cNvSpPr txBox="1"/>
          <p:nvPr/>
        </p:nvSpPr>
        <p:spPr>
          <a:xfrm>
            <a:off x="1038123" y="1095979"/>
            <a:ext cx="6096384" cy="157735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中序遍历</a:t>
            </a:r>
            <a:endParaRPr lang="en-US" altLang="zh-CN" sz="2000" b="1">
              <a:solidFill>
                <a:srgbClr val="C00000"/>
              </a:solidFill>
            </a:endParaRP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先按同样方式遍历一个顶点的</a:t>
            </a:r>
            <a:r>
              <a:rPr lang="zh-CN" altLang="en-US" b="1">
                <a:solidFill>
                  <a:srgbClr val="0000FF"/>
                </a:solidFill>
                <a:latin typeface="楷体" panose="02010609060101010101" pitchFamily="49" charset="-122"/>
                <a:ea typeface="楷体" panose="02010609060101010101" pitchFamily="49" charset="-122"/>
              </a:rPr>
              <a:t>第一个儿子</a:t>
            </a:r>
            <a:r>
              <a:rPr lang="zh-CN" altLang="en-US" b="1">
                <a:solidFill>
                  <a:srgbClr val="002060"/>
                </a:solidFill>
                <a:latin typeface="楷体" panose="02010609060101010101" pitchFamily="49" charset="-122"/>
                <a:ea typeface="楷体" panose="02010609060101010101" pitchFamily="49" charset="-122"/>
              </a:rPr>
              <a:t>为根的子树</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然后再访问这个顶点</a:t>
            </a:r>
            <a:r>
              <a:rPr lang="zh-CN" altLang="en-US" b="1">
                <a:solidFill>
                  <a:srgbClr val="0000FF"/>
                </a:solidFill>
                <a:latin typeface="楷体" panose="02010609060101010101" pitchFamily="49" charset="-122"/>
                <a:ea typeface="楷体" panose="02010609060101010101" pitchFamily="49" charset="-122"/>
              </a:rPr>
              <a:t>本身</a:t>
            </a:r>
          </a:p>
          <a:p>
            <a:pPr marL="342900" indent="-342900">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然后再按同样方式依次遍历以</a:t>
            </a:r>
            <a:r>
              <a:rPr lang="zh-CN" altLang="en-US" b="1">
                <a:solidFill>
                  <a:srgbClr val="0000FF"/>
                </a:solidFill>
                <a:latin typeface="楷体" panose="02010609060101010101" pitchFamily="49" charset="-122"/>
                <a:ea typeface="楷体" panose="02010609060101010101" pitchFamily="49" charset="-122"/>
              </a:rPr>
              <a:t>其他儿子</a:t>
            </a:r>
            <a:r>
              <a:rPr lang="zh-CN" altLang="en-US" b="1">
                <a:solidFill>
                  <a:srgbClr val="002060"/>
                </a:solidFill>
                <a:latin typeface="楷体" panose="02010609060101010101" pitchFamily="49" charset="-122"/>
                <a:ea typeface="楷体" panose="02010609060101010101" pitchFamily="49" charset="-122"/>
              </a:rPr>
              <a:t>顶点为根的子树</a:t>
            </a:r>
          </a:p>
        </p:txBody>
      </p:sp>
      <p:sp>
        <p:nvSpPr>
          <p:cNvPr id="94" name="文本框 93">
            <a:extLst>
              <a:ext uri="{FF2B5EF4-FFF2-40B4-BE49-F238E27FC236}">
                <a16:creationId xmlns:a16="http://schemas.microsoft.com/office/drawing/2014/main" id="{7F7336EC-3059-4AF1-A3F2-0C3EA07B428C}"/>
              </a:ext>
            </a:extLst>
          </p:cNvPr>
          <p:cNvSpPr txBox="1"/>
          <p:nvPr/>
        </p:nvSpPr>
        <p:spPr>
          <a:xfrm>
            <a:off x="7381553" y="1285994"/>
            <a:ext cx="3258298" cy="1200329"/>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下面的遍历动画只给出从第一个儿子为根的子树遍历完之后回溯的动画，省去了其他从后代顶点回溯到祖先顶点的过程</a:t>
            </a:r>
          </a:p>
        </p:txBody>
      </p:sp>
      <p:sp>
        <p:nvSpPr>
          <p:cNvPr id="95" name="任意多边形: 形状 94">
            <a:extLst>
              <a:ext uri="{FF2B5EF4-FFF2-40B4-BE49-F238E27FC236}">
                <a16:creationId xmlns:a16="http://schemas.microsoft.com/office/drawing/2014/main" id="{FE4474B1-619A-49BC-8EA9-37FBE5B4BFE0}"/>
              </a:ext>
            </a:extLst>
          </p:cNvPr>
          <p:cNvSpPr/>
          <p:nvPr/>
        </p:nvSpPr>
        <p:spPr>
          <a:xfrm>
            <a:off x="1092017" y="4098354"/>
            <a:ext cx="388127" cy="559165"/>
          </a:xfrm>
          <a:custGeom>
            <a:avLst/>
            <a:gdLst>
              <a:gd name="connsiteX0" fmla="*/ 0 w 388127"/>
              <a:gd name="connsiteY0" fmla="*/ 559165 h 559165"/>
              <a:gd name="connsiteX1" fmla="*/ 269715 w 388127"/>
              <a:gd name="connsiteY1" fmla="*/ 289450 h 559165"/>
              <a:gd name="connsiteX2" fmla="*/ 388127 w 388127"/>
              <a:gd name="connsiteY2" fmla="*/ 0 h 559165"/>
              <a:gd name="connsiteX3" fmla="*/ 388127 w 388127"/>
              <a:gd name="connsiteY3" fmla="*/ 0 h 559165"/>
            </a:gdLst>
            <a:ahLst/>
            <a:cxnLst>
              <a:cxn ang="0">
                <a:pos x="connsiteX0" y="connsiteY0"/>
              </a:cxn>
              <a:cxn ang="0">
                <a:pos x="connsiteX1" y="connsiteY1"/>
              </a:cxn>
              <a:cxn ang="0">
                <a:pos x="connsiteX2" y="connsiteY2"/>
              </a:cxn>
              <a:cxn ang="0">
                <a:pos x="connsiteX3" y="connsiteY3"/>
              </a:cxn>
            </a:cxnLst>
            <a:rect l="l" t="t" r="r" b="b"/>
            <a:pathLst>
              <a:path w="388127" h="559165">
                <a:moveTo>
                  <a:pt x="0" y="559165"/>
                </a:moveTo>
                <a:cubicBezTo>
                  <a:pt x="102513" y="470904"/>
                  <a:pt x="205027" y="382644"/>
                  <a:pt x="269715" y="289450"/>
                </a:cubicBezTo>
                <a:cubicBezTo>
                  <a:pt x="334403" y="196256"/>
                  <a:pt x="388127" y="0"/>
                  <a:pt x="388127" y="0"/>
                </a:cubicBezTo>
                <a:lnTo>
                  <a:pt x="388127" y="0"/>
                </a:ln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a:extLst>
              <a:ext uri="{FF2B5EF4-FFF2-40B4-BE49-F238E27FC236}">
                <a16:creationId xmlns:a16="http://schemas.microsoft.com/office/drawing/2014/main" id="{B2D743FE-95B2-4273-8489-8A1FF44B2982}"/>
              </a:ext>
            </a:extLst>
          </p:cNvPr>
          <p:cNvSpPr/>
          <p:nvPr/>
        </p:nvSpPr>
        <p:spPr>
          <a:xfrm>
            <a:off x="1869375" y="4935904"/>
            <a:ext cx="388127" cy="559165"/>
          </a:xfrm>
          <a:custGeom>
            <a:avLst/>
            <a:gdLst>
              <a:gd name="connsiteX0" fmla="*/ 0 w 388127"/>
              <a:gd name="connsiteY0" fmla="*/ 559165 h 559165"/>
              <a:gd name="connsiteX1" fmla="*/ 269715 w 388127"/>
              <a:gd name="connsiteY1" fmla="*/ 289450 h 559165"/>
              <a:gd name="connsiteX2" fmla="*/ 388127 w 388127"/>
              <a:gd name="connsiteY2" fmla="*/ 0 h 559165"/>
              <a:gd name="connsiteX3" fmla="*/ 388127 w 388127"/>
              <a:gd name="connsiteY3" fmla="*/ 0 h 559165"/>
            </a:gdLst>
            <a:ahLst/>
            <a:cxnLst>
              <a:cxn ang="0">
                <a:pos x="connsiteX0" y="connsiteY0"/>
              </a:cxn>
              <a:cxn ang="0">
                <a:pos x="connsiteX1" y="connsiteY1"/>
              </a:cxn>
              <a:cxn ang="0">
                <a:pos x="connsiteX2" y="connsiteY2"/>
              </a:cxn>
              <a:cxn ang="0">
                <a:pos x="connsiteX3" y="connsiteY3"/>
              </a:cxn>
            </a:cxnLst>
            <a:rect l="l" t="t" r="r" b="b"/>
            <a:pathLst>
              <a:path w="388127" h="559165">
                <a:moveTo>
                  <a:pt x="0" y="559165"/>
                </a:moveTo>
                <a:cubicBezTo>
                  <a:pt x="102513" y="470904"/>
                  <a:pt x="205027" y="382644"/>
                  <a:pt x="269715" y="289450"/>
                </a:cubicBezTo>
                <a:cubicBezTo>
                  <a:pt x="334403" y="196256"/>
                  <a:pt x="388127" y="0"/>
                  <a:pt x="388127" y="0"/>
                </a:cubicBezTo>
                <a:lnTo>
                  <a:pt x="388127" y="0"/>
                </a:ln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任意多边形: 形状 97">
            <a:extLst>
              <a:ext uri="{FF2B5EF4-FFF2-40B4-BE49-F238E27FC236}">
                <a16:creationId xmlns:a16="http://schemas.microsoft.com/office/drawing/2014/main" id="{0EBC8273-3EB9-43A5-AF8C-36BD651D424A}"/>
              </a:ext>
            </a:extLst>
          </p:cNvPr>
          <p:cNvSpPr/>
          <p:nvPr/>
        </p:nvSpPr>
        <p:spPr>
          <a:xfrm>
            <a:off x="2670684" y="3289209"/>
            <a:ext cx="519848" cy="2012995"/>
          </a:xfrm>
          <a:custGeom>
            <a:avLst/>
            <a:gdLst>
              <a:gd name="connsiteX0" fmla="*/ 519848 w 519848"/>
              <a:gd name="connsiteY0" fmla="*/ 2012995 h 2012995"/>
              <a:gd name="connsiteX1" fmla="*/ 39624 w 519848"/>
              <a:gd name="connsiteY1" fmla="*/ 1098595 h 2012995"/>
              <a:gd name="connsiteX2" fmla="*/ 59359 w 519848"/>
              <a:gd name="connsiteY2" fmla="*/ 361813 h 2012995"/>
              <a:gd name="connsiteX3" fmla="*/ 315917 w 519848"/>
              <a:gd name="connsiteY3" fmla="*/ 0 h 2012995"/>
            </a:gdLst>
            <a:ahLst/>
            <a:cxnLst>
              <a:cxn ang="0">
                <a:pos x="connsiteX0" y="connsiteY0"/>
              </a:cxn>
              <a:cxn ang="0">
                <a:pos x="connsiteX1" y="connsiteY1"/>
              </a:cxn>
              <a:cxn ang="0">
                <a:pos x="connsiteX2" y="connsiteY2"/>
              </a:cxn>
              <a:cxn ang="0">
                <a:pos x="connsiteX3" y="connsiteY3"/>
              </a:cxn>
            </a:cxnLst>
            <a:rect l="l" t="t" r="r" b="b"/>
            <a:pathLst>
              <a:path w="519848" h="2012995">
                <a:moveTo>
                  <a:pt x="519848" y="2012995"/>
                </a:moveTo>
                <a:cubicBezTo>
                  <a:pt x="318110" y="1693393"/>
                  <a:pt x="116372" y="1373792"/>
                  <a:pt x="39624" y="1098595"/>
                </a:cubicBezTo>
                <a:cubicBezTo>
                  <a:pt x="-37124" y="823398"/>
                  <a:pt x="13310" y="544912"/>
                  <a:pt x="59359" y="361813"/>
                </a:cubicBezTo>
                <a:cubicBezTo>
                  <a:pt x="105408" y="178714"/>
                  <a:pt x="210662" y="89357"/>
                  <a:pt x="315917" y="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形状 98">
            <a:extLst>
              <a:ext uri="{FF2B5EF4-FFF2-40B4-BE49-F238E27FC236}">
                <a16:creationId xmlns:a16="http://schemas.microsoft.com/office/drawing/2014/main" id="{709216A2-2F2B-4695-AC5A-8B80D89F6681}"/>
              </a:ext>
            </a:extLst>
          </p:cNvPr>
          <p:cNvSpPr/>
          <p:nvPr/>
        </p:nvSpPr>
        <p:spPr>
          <a:xfrm>
            <a:off x="4170267" y="4121443"/>
            <a:ext cx="388127" cy="559165"/>
          </a:xfrm>
          <a:custGeom>
            <a:avLst/>
            <a:gdLst>
              <a:gd name="connsiteX0" fmla="*/ 0 w 388127"/>
              <a:gd name="connsiteY0" fmla="*/ 559165 h 559165"/>
              <a:gd name="connsiteX1" fmla="*/ 269715 w 388127"/>
              <a:gd name="connsiteY1" fmla="*/ 289450 h 559165"/>
              <a:gd name="connsiteX2" fmla="*/ 388127 w 388127"/>
              <a:gd name="connsiteY2" fmla="*/ 0 h 559165"/>
              <a:gd name="connsiteX3" fmla="*/ 388127 w 388127"/>
              <a:gd name="connsiteY3" fmla="*/ 0 h 559165"/>
            </a:gdLst>
            <a:ahLst/>
            <a:cxnLst>
              <a:cxn ang="0">
                <a:pos x="connsiteX0" y="connsiteY0"/>
              </a:cxn>
              <a:cxn ang="0">
                <a:pos x="connsiteX1" y="connsiteY1"/>
              </a:cxn>
              <a:cxn ang="0">
                <a:pos x="connsiteX2" y="connsiteY2"/>
              </a:cxn>
              <a:cxn ang="0">
                <a:pos x="connsiteX3" y="connsiteY3"/>
              </a:cxn>
            </a:cxnLst>
            <a:rect l="l" t="t" r="r" b="b"/>
            <a:pathLst>
              <a:path w="388127" h="559165">
                <a:moveTo>
                  <a:pt x="0" y="559165"/>
                </a:moveTo>
                <a:cubicBezTo>
                  <a:pt x="102513" y="470904"/>
                  <a:pt x="205027" y="382644"/>
                  <a:pt x="269715" y="289450"/>
                </a:cubicBezTo>
                <a:cubicBezTo>
                  <a:pt x="334403" y="196256"/>
                  <a:pt x="388127" y="0"/>
                  <a:pt x="388127" y="0"/>
                </a:cubicBezTo>
                <a:lnTo>
                  <a:pt x="388127" y="0"/>
                </a:ln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6878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8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2" grpId="0" animBg="1"/>
      <p:bldP spid="65" grpId="0" animBg="1"/>
      <p:bldP spid="68" grpId="0" animBg="1"/>
      <p:bldP spid="71" grpId="0" animBg="1"/>
      <p:bldP spid="72" grpId="0" animBg="1"/>
      <p:bldP spid="77" grpId="0" animBg="1"/>
      <p:bldP spid="80" grpId="0" animBg="1"/>
      <p:bldP spid="89" grpId="0" animBg="1"/>
      <p:bldP spid="90" grpId="0" animBg="1"/>
      <p:bldP spid="91" grpId="0" animBg="1"/>
      <p:bldP spid="92" grpId="0" animBg="1"/>
      <p:bldP spid="95" grpId="0" animBg="1"/>
      <p:bldP spid="96" grpId="0" animBg="1"/>
      <p:bldP spid="98" grpId="0" animBg="1"/>
      <p:bldP spid="9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树的后序遍历举例</a:t>
            </a:r>
          </a:p>
        </p:txBody>
      </p:sp>
      <p:grpSp>
        <p:nvGrpSpPr>
          <p:cNvPr id="46" name="组合 45">
            <a:extLst>
              <a:ext uri="{FF2B5EF4-FFF2-40B4-BE49-F238E27FC236}">
                <a16:creationId xmlns:a16="http://schemas.microsoft.com/office/drawing/2014/main" id="{31B62FD6-DA8D-4F5E-8AB1-70D96D10CA1C}"/>
              </a:ext>
            </a:extLst>
          </p:cNvPr>
          <p:cNvGrpSpPr/>
          <p:nvPr/>
        </p:nvGrpSpPr>
        <p:grpSpPr>
          <a:xfrm>
            <a:off x="600052" y="2802320"/>
            <a:ext cx="5072314" cy="3012566"/>
            <a:chOff x="1270731" y="2777538"/>
            <a:chExt cx="5072314" cy="3012566"/>
          </a:xfrm>
        </p:grpSpPr>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F94D6625-5109-4F23-A1E0-8B3DAA49676E}"/>
                    </a:ext>
                  </a:extLst>
                </p:cNvPr>
                <p:cNvSpPr/>
                <p:nvPr/>
              </p:nvSpPr>
              <p:spPr>
                <a:xfrm>
                  <a:off x="3558924" y="2777538"/>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3" name="椭圆 2">
                  <a:extLst>
                    <a:ext uri="{FF2B5EF4-FFF2-40B4-BE49-F238E27FC236}">
                      <a16:creationId xmlns:a16="http://schemas.microsoft.com/office/drawing/2014/main" id="{F94D6625-5109-4F23-A1E0-8B3DAA49676E}"/>
                    </a:ext>
                  </a:extLst>
                </p:cNvPr>
                <p:cNvSpPr>
                  <a:spLocks noRot="1" noChangeAspect="1" noMove="1" noResize="1" noEditPoints="1" noAdjustHandles="1" noChangeArrowheads="1" noChangeShapeType="1" noTextEdit="1"/>
                </p:cNvSpPr>
                <p:nvPr/>
              </p:nvSpPr>
              <p:spPr>
                <a:xfrm>
                  <a:off x="3558924" y="2777538"/>
                  <a:ext cx="494093" cy="505092"/>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5CCA56A8-B7A4-43E5-A75F-B6414D59048F}"/>
                    </a:ext>
                  </a:extLst>
                </p:cNvPr>
                <p:cNvSpPr/>
                <p:nvPr/>
              </p:nvSpPr>
              <p:spPr>
                <a:xfrm>
                  <a:off x="2026508"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12" name="椭圆 11">
                  <a:extLst>
                    <a:ext uri="{FF2B5EF4-FFF2-40B4-BE49-F238E27FC236}">
                      <a16:creationId xmlns:a16="http://schemas.microsoft.com/office/drawing/2014/main" id="{5CCA56A8-B7A4-43E5-A75F-B6414D59048F}"/>
                    </a:ext>
                  </a:extLst>
                </p:cNvPr>
                <p:cNvSpPr>
                  <a:spLocks noRot="1" noChangeAspect="1" noMove="1" noResize="1" noEditPoints="1" noAdjustHandles="1" noChangeArrowheads="1" noChangeShapeType="1" noTextEdit="1"/>
                </p:cNvSpPr>
                <p:nvPr/>
              </p:nvSpPr>
              <p:spPr>
                <a:xfrm>
                  <a:off x="2026508" y="3581201"/>
                  <a:ext cx="494093" cy="50509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EDA8EB0B-A7B4-4C9B-A67D-2DB4212EFA11}"/>
                    </a:ext>
                  </a:extLst>
                </p:cNvPr>
                <p:cNvSpPr/>
                <p:nvPr/>
              </p:nvSpPr>
              <p:spPr>
                <a:xfrm>
                  <a:off x="1270731"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13" name="椭圆 12">
                  <a:extLst>
                    <a:ext uri="{FF2B5EF4-FFF2-40B4-BE49-F238E27FC236}">
                      <a16:creationId xmlns:a16="http://schemas.microsoft.com/office/drawing/2014/main" id="{EDA8EB0B-A7B4-4C9B-A67D-2DB4212EFA11}"/>
                    </a:ext>
                  </a:extLst>
                </p:cNvPr>
                <p:cNvSpPr>
                  <a:spLocks noRot="1" noChangeAspect="1" noMove="1" noResize="1" noEditPoints="1" noAdjustHandles="1" noChangeArrowheads="1" noChangeShapeType="1" noTextEdit="1"/>
                </p:cNvSpPr>
                <p:nvPr/>
              </p:nvSpPr>
              <p:spPr>
                <a:xfrm>
                  <a:off x="1270731" y="4441019"/>
                  <a:ext cx="494093" cy="50509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1F48AD51-44AF-4C49-BFEB-D91AC04A4626}"/>
                    </a:ext>
                  </a:extLst>
                </p:cNvPr>
                <p:cNvSpPr/>
                <p:nvPr/>
              </p:nvSpPr>
              <p:spPr>
                <a:xfrm>
                  <a:off x="2026507"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14" name="椭圆 13">
                  <a:extLst>
                    <a:ext uri="{FF2B5EF4-FFF2-40B4-BE49-F238E27FC236}">
                      <a16:creationId xmlns:a16="http://schemas.microsoft.com/office/drawing/2014/main" id="{1F48AD51-44AF-4C49-BFEB-D91AC04A4626}"/>
                    </a:ext>
                  </a:extLst>
                </p:cNvPr>
                <p:cNvSpPr>
                  <a:spLocks noRot="1" noChangeAspect="1" noMove="1" noResize="1" noEditPoints="1" noAdjustHandles="1" noChangeArrowheads="1" noChangeShapeType="1" noTextEdit="1"/>
                </p:cNvSpPr>
                <p:nvPr/>
              </p:nvSpPr>
              <p:spPr>
                <a:xfrm>
                  <a:off x="2026507" y="5285012"/>
                  <a:ext cx="494093" cy="505092"/>
                </a:xfrm>
                <a:prstGeom prst="ellipse">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F037A80D-2455-408B-AB4C-CF2F8FEFF1D6}"/>
                    </a:ext>
                  </a:extLst>
                </p:cNvPr>
                <p:cNvSpPr/>
                <p:nvPr/>
              </p:nvSpPr>
              <p:spPr>
                <a:xfrm>
                  <a:off x="2800953"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15" name="椭圆 14">
                  <a:extLst>
                    <a:ext uri="{FF2B5EF4-FFF2-40B4-BE49-F238E27FC236}">
                      <a16:creationId xmlns:a16="http://schemas.microsoft.com/office/drawing/2014/main" id="{F037A80D-2455-408B-AB4C-CF2F8FEFF1D6}"/>
                    </a:ext>
                  </a:extLst>
                </p:cNvPr>
                <p:cNvSpPr>
                  <a:spLocks noRot="1" noChangeAspect="1" noMove="1" noResize="1" noEditPoints="1" noAdjustHandles="1" noChangeArrowheads="1" noChangeShapeType="1" noTextEdit="1"/>
                </p:cNvSpPr>
                <p:nvPr/>
              </p:nvSpPr>
              <p:spPr>
                <a:xfrm>
                  <a:off x="2800953" y="4427780"/>
                  <a:ext cx="494093" cy="50509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20869EAD-BD82-4133-8966-05D5B1B9AD7A}"/>
                    </a:ext>
                  </a:extLst>
                </p:cNvPr>
                <p:cNvSpPr/>
                <p:nvPr/>
              </p:nvSpPr>
              <p:spPr>
                <a:xfrm>
                  <a:off x="3558924"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16" name="椭圆 15">
                  <a:extLst>
                    <a:ext uri="{FF2B5EF4-FFF2-40B4-BE49-F238E27FC236}">
                      <a16:creationId xmlns:a16="http://schemas.microsoft.com/office/drawing/2014/main" id="{20869EAD-BD82-4133-8966-05D5B1B9AD7A}"/>
                    </a:ext>
                  </a:extLst>
                </p:cNvPr>
                <p:cNvSpPr>
                  <a:spLocks noRot="1" noChangeAspect="1" noMove="1" noResize="1" noEditPoints="1" noAdjustHandles="1" noChangeArrowheads="1" noChangeShapeType="1" noTextEdit="1"/>
                </p:cNvSpPr>
                <p:nvPr/>
              </p:nvSpPr>
              <p:spPr>
                <a:xfrm>
                  <a:off x="3558924" y="5285012"/>
                  <a:ext cx="494093" cy="505092"/>
                </a:xfrm>
                <a:prstGeom prst="ellipse">
                  <a:avLst/>
                </a:prstGeom>
                <a:blipFill>
                  <a:blip r:embed="rId7"/>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801CC62C-345B-4150-9688-014F40B960EE}"/>
                    </a:ext>
                  </a:extLst>
                </p:cNvPr>
                <p:cNvSpPr/>
                <p:nvPr/>
              </p:nvSpPr>
              <p:spPr>
                <a:xfrm>
                  <a:off x="4322017"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18" name="椭圆 17">
                  <a:extLst>
                    <a:ext uri="{FF2B5EF4-FFF2-40B4-BE49-F238E27FC236}">
                      <a16:creationId xmlns:a16="http://schemas.microsoft.com/office/drawing/2014/main" id="{801CC62C-345B-4150-9688-014F40B960EE}"/>
                    </a:ext>
                  </a:extLst>
                </p:cNvPr>
                <p:cNvSpPr>
                  <a:spLocks noRot="1" noChangeAspect="1" noMove="1" noResize="1" noEditPoints="1" noAdjustHandles="1" noChangeArrowheads="1" noChangeShapeType="1" noTextEdit="1"/>
                </p:cNvSpPr>
                <p:nvPr/>
              </p:nvSpPr>
              <p:spPr>
                <a:xfrm>
                  <a:off x="4322017" y="4427780"/>
                  <a:ext cx="494093" cy="50509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74820E64-FCC5-4BC7-B983-89CAC26ED80E}"/>
                    </a:ext>
                  </a:extLst>
                </p:cNvPr>
                <p:cNvSpPr/>
                <p:nvPr/>
              </p:nvSpPr>
              <p:spPr>
                <a:xfrm>
                  <a:off x="5106303"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19" name="椭圆 18">
                  <a:extLst>
                    <a:ext uri="{FF2B5EF4-FFF2-40B4-BE49-F238E27FC236}">
                      <a16:creationId xmlns:a16="http://schemas.microsoft.com/office/drawing/2014/main" id="{74820E64-FCC5-4BC7-B983-89CAC26ED80E}"/>
                    </a:ext>
                  </a:extLst>
                </p:cNvPr>
                <p:cNvSpPr>
                  <a:spLocks noRot="1" noChangeAspect="1" noMove="1" noResize="1" noEditPoints="1" noAdjustHandles="1" noChangeArrowheads="1" noChangeShapeType="1" noTextEdit="1"/>
                </p:cNvSpPr>
                <p:nvPr/>
              </p:nvSpPr>
              <p:spPr>
                <a:xfrm>
                  <a:off x="5106303" y="3581201"/>
                  <a:ext cx="494093" cy="505092"/>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EFBFDF5E-8BD6-45B9-A9BD-776E300C0902}"/>
                    </a:ext>
                  </a:extLst>
                </p:cNvPr>
                <p:cNvSpPr/>
                <p:nvPr/>
              </p:nvSpPr>
              <p:spPr>
                <a:xfrm>
                  <a:off x="5848952"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20" name="椭圆 19">
                  <a:extLst>
                    <a:ext uri="{FF2B5EF4-FFF2-40B4-BE49-F238E27FC236}">
                      <a16:creationId xmlns:a16="http://schemas.microsoft.com/office/drawing/2014/main" id="{EFBFDF5E-8BD6-45B9-A9BD-776E300C0902}"/>
                    </a:ext>
                  </a:extLst>
                </p:cNvPr>
                <p:cNvSpPr>
                  <a:spLocks noRot="1" noChangeAspect="1" noMove="1" noResize="1" noEditPoints="1" noAdjustHandles="1" noChangeArrowheads="1" noChangeShapeType="1" noTextEdit="1"/>
                </p:cNvSpPr>
                <p:nvPr/>
              </p:nvSpPr>
              <p:spPr>
                <a:xfrm>
                  <a:off x="5848952" y="4441019"/>
                  <a:ext cx="494093" cy="505092"/>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631DE8B9-C84D-4C33-B713-71F98877466D}"/>
                    </a:ext>
                  </a:extLst>
                </p:cNvPr>
                <p:cNvSpPr/>
                <p:nvPr/>
              </p:nvSpPr>
              <p:spPr>
                <a:xfrm>
                  <a:off x="3558601"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21" name="椭圆 20">
                  <a:extLst>
                    <a:ext uri="{FF2B5EF4-FFF2-40B4-BE49-F238E27FC236}">
                      <a16:creationId xmlns:a16="http://schemas.microsoft.com/office/drawing/2014/main" id="{631DE8B9-C84D-4C33-B713-71F98877466D}"/>
                    </a:ext>
                  </a:extLst>
                </p:cNvPr>
                <p:cNvSpPr>
                  <a:spLocks noRot="1" noChangeAspect="1" noMove="1" noResize="1" noEditPoints="1" noAdjustHandles="1" noChangeArrowheads="1" noChangeShapeType="1" noTextEdit="1"/>
                </p:cNvSpPr>
                <p:nvPr/>
              </p:nvSpPr>
              <p:spPr>
                <a:xfrm>
                  <a:off x="3558601" y="3581201"/>
                  <a:ext cx="494093" cy="505092"/>
                </a:xfrm>
                <a:prstGeom prst="ellipse">
                  <a:avLst/>
                </a:prstGeom>
                <a:blipFill>
                  <a:blip r:embed="rId11"/>
                  <a:stretch>
                    <a:fillRect b="-4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BCF6B318-0149-49DF-9076-01B9DE0FC6F3}"/>
                    </a:ext>
                  </a:extLst>
                </p:cNvPr>
                <p:cNvSpPr/>
                <p:nvPr/>
              </p:nvSpPr>
              <p:spPr>
                <a:xfrm>
                  <a:off x="2034198"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22" name="椭圆 21">
                  <a:extLst>
                    <a:ext uri="{FF2B5EF4-FFF2-40B4-BE49-F238E27FC236}">
                      <a16:creationId xmlns:a16="http://schemas.microsoft.com/office/drawing/2014/main" id="{BCF6B318-0149-49DF-9076-01B9DE0FC6F3}"/>
                    </a:ext>
                  </a:extLst>
                </p:cNvPr>
                <p:cNvSpPr>
                  <a:spLocks noRot="1" noChangeAspect="1" noMove="1" noResize="1" noEditPoints="1" noAdjustHandles="1" noChangeArrowheads="1" noChangeShapeType="1" noTextEdit="1"/>
                </p:cNvSpPr>
                <p:nvPr/>
              </p:nvSpPr>
              <p:spPr>
                <a:xfrm>
                  <a:off x="2034198" y="4427780"/>
                  <a:ext cx="494093" cy="505092"/>
                </a:xfrm>
                <a:prstGeom prst="ellipse">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8418CC85-4461-4AF2-B253-DB53090C2F7D}"/>
                    </a:ext>
                  </a:extLst>
                </p:cNvPr>
                <p:cNvSpPr/>
                <p:nvPr/>
              </p:nvSpPr>
              <p:spPr>
                <a:xfrm>
                  <a:off x="5106303"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23" name="椭圆 22">
                  <a:extLst>
                    <a:ext uri="{FF2B5EF4-FFF2-40B4-BE49-F238E27FC236}">
                      <a16:creationId xmlns:a16="http://schemas.microsoft.com/office/drawing/2014/main" id="{8418CC85-4461-4AF2-B253-DB53090C2F7D}"/>
                    </a:ext>
                  </a:extLst>
                </p:cNvPr>
                <p:cNvSpPr>
                  <a:spLocks noRot="1" noChangeAspect="1" noMove="1" noResize="1" noEditPoints="1" noAdjustHandles="1" noChangeArrowheads="1" noChangeShapeType="1" noTextEdit="1"/>
                </p:cNvSpPr>
                <p:nvPr/>
              </p:nvSpPr>
              <p:spPr>
                <a:xfrm>
                  <a:off x="5106303" y="4441019"/>
                  <a:ext cx="494093" cy="505092"/>
                </a:xfrm>
                <a:prstGeom prst="ellipse">
                  <a:avLst/>
                </a:prstGeom>
                <a:blipFill>
                  <a:blip r:embed="rId13"/>
                  <a:stretch>
                    <a:fillRect/>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FA47524B-5E09-465B-82A0-C6EA0ED3385C}"/>
                </a:ext>
              </a:extLst>
            </p:cNvPr>
            <p:cNvCxnSpPr>
              <a:cxnSpLocks/>
              <a:stCxn id="3" idx="3"/>
              <a:endCxn id="12" idx="7"/>
            </p:cNvCxnSpPr>
            <p:nvPr/>
          </p:nvCxnSpPr>
          <p:spPr>
            <a:xfrm flipH="1">
              <a:off x="2448243" y="3208661"/>
              <a:ext cx="1183039"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9DBF557-4916-4F65-BBFE-4BE1ABA37A1C}"/>
                </a:ext>
              </a:extLst>
            </p:cNvPr>
            <p:cNvCxnSpPr>
              <a:stCxn id="3" idx="5"/>
              <a:endCxn id="19" idx="1"/>
            </p:cNvCxnSpPr>
            <p:nvPr/>
          </p:nvCxnSpPr>
          <p:spPr>
            <a:xfrm>
              <a:off x="3980659" y="3208661"/>
              <a:ext cx="1198002"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30DF8E5-3355-428B-865A-E550A859B39A}"/>
                </a:ext>
              </a:extLst>
            </p:cNvPr>
            <p:cNvCxnSpPr>
              <a:stCxn id="3" idx="4"/>
              <a:endCxn id="21" idx="0"/>
            </p:cNvCxnSpPr>
            <p:nvPr/>
          </p:nvCxnSpPr>
          <p:spPr>
            <a:xfrm flipH="1">
              <a:off x="3805648" y="3282630"/>
              <a:ext cx="323" cy="298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50ED833-F510-433D-B917-995F0EA2B990}"/>
                </a:ext>
              </a:extLst>
            </p:cNvPr>
            <p:cNvCxnSpPr>
              <a:stCxn id="12" idx="3"/>
              <a:endCxn id="13" idx="7"/>
            </p:cNvCxnSpPr>
            <p:nvPr/>
          </p:nvCxnSpPr>
          <p:spPr>
            <a:xfrm flipH="1">
              <a:off x="1692466" y="4012324"/>
              <a:ext cx="406400" cy="502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7E0E4EE9-2735-4625-98E7-DF03FDC7B6AE}"/>
                </a:ext>
              </a:extLst>
            </p:cNvPr>
            <p:cNvCxnSpPr>
              <a:endCxn id="22" idx="0"/>
            </p:cNvCxnSpPr>
            <p:nvPr/>
          </p:nvCxnSpPr>
          <p:spPr>
            <a:xfrm>
              <a:off x="2281244" y="4086293"/>
              <a:ext cx="1" cy="3414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B14FECC9-E767-4801-B5D7-B4D0324E974E}"/>
                </a:ext>
              </a:extLst>
            </p:cNvPr>
            <p:cNvCxnSpPr>
              <a:stCxn id="12" idx="5"/>
              <a:endCxn id="15" idx="1"/>
            </p:cNvCxnSpPr>
            <p:nvPr/>
          </p:nvCxnSpPr>
          <p:spPr>
            <a:xfrm>
              <a:off x="2448243" y="4012324"/>
              <a:ext cx="425068"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74BC137-9059-4F32-9E2E-1F34D4320892}"/>
                </a:ext>
              </a:extLst>
            </p:cNvPr>
            <p:cNvCxnSpPr>
              <a:stCxn id="15" idx="3"/>
              <a:endCxn id="14" idx="7"/>
            </p:cNvCxnSpPr>
            <p:nvPr/>
          </p:nvCxnSpPr>
          <p:spPr>
            <a:xfrm flipH="1">
              <a:off x="2448242" y="4858903"/>
              <a:ext cx="425069"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50AFC7B-2AAD-4BB4-A6ED-3792FEE56BAB}"/>
                </a:ext>
              </a:extLst>
            </p:cNvPr>
            <p:cNvCxnSpPr>
              <a:stCxn id="15" idx="5"/>
              <a:endCxn id="16" idx="1"/>
            </p:cNvCxnSpPr>
            <p:nvPr/>
          </p:nvCxnSpPr>
          <p:spPr>
            <a:xfrm>
              <a:off x="3222688" y="4858903"/>
              <a:ext cx="408594"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493A921-9431-4A32-9E6E-7CAEA200C2B4}"/>
                </a:ext>
              </a:extLst>
            </p:cNvPr>
            <p:cNvCxnSpPr>
              <a:stCxn id="19" idx="3"/>
              <a:endCxn id="18" idx="7"/>
            </p:cNvCxnSpPr>
            <p:nvPr/>
          </p:nvCxnSpPr>
          <p:spPr>
            <a:xfrm flipH="1">
              <a:off x="4743752" y="4012324"/>
              <a:ext cx="434909"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088AA6E-40AE-4F77-8C93-2EB625F25902}"/>
                </a:ext>
              </a:extLst>
            </p:cNvPr>
            <p:cNvCxnSpPr>
              <a:stCxn id="19" idx="4"/>
              <a:endCxn id="23" idx="0"/>
            </p:cNvCxnSpPr>
            <p:nvPr/>
          </p:nvCxnSpPr>
          <p:spPr>
            <a:xfrm>
              <a:off x="5353350" y="4086293"/>
              <a:ext cx="0" cy="354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0BD67FD-765E-4003-8332-0F12AA0875A1}"/>
                </a:ext>
              </a:extLst>
            </p:cNvPr>
            <p:cNvCxnSpPr>
              <a:stCxn id="19" idx="5"/>
              <a:endCxn id="20" idx="1"/>
            </p:cNvCxnSpPr>
            <p:nvPr/>
          </p:nvCxnSpPr>
          <p:spPr>
            <a:xfrm>
              <a:off x="5528038" y="4012324"/>
              <a:ext cx="393272" cy="502664"/>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椭圆 46">
                <a:extLst>
                  <a:ext uri="{FF2B5EF4-FFF2-40B4-BE49-F238E27FC236}">
                    <a16:creationId xmlns:a16="http://schemas.microsoft.com/office/drawing/2014/main" id="{4C966A61-41EC-4318-9055-BDE83FF2B965}"/>
                  </a:ext>
                </a:extLst>
              </p:cNvPr>
              <p:cNvSpPr/>
              <p:nvPr/>
            </p:nvSpPr>
            <p:spPr>
              <a:xfrm>
                <a:off x="2891853" y="280232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47" name="椭圆 46">
                <a:extLst>
                  <a:ext uri="{FF2B5EF4-FFF2-40B4-BE49-F238E27FC236}">
                    <a16:creationId xmlns:a16="http://schemas.microsoft.com/office/drawing/2014/main" id="{4C966A61-41EC-4318-9055-BDE83FF2B965}"/>
                  </a:ext>
                </a:extLst>
              </p:cNvPr>
              <p:cNvSpPr>
                <a:spLocks noRot="1" noChangeAspect="1" noMove="1" noResize="1" noEditPoints="1" noAdjustHandles="1" noChangeArrowheads="1" noChangeShapeType="1" noTextEdit="1"/>
              </p:cNvSpPr>
              <p:nvPr/>
            </p:nvSpPr>
            <p:spPr>
              <a:xfrm>
                <a:off x="2891853" y="2802320"/>
                <a:ext cx="494093" cy="505092"/>
              </a:xfrm>
              <a:prstGeom prst="ellipse">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椭圆 47">
                <a:extLst>
                  <a:ext uri="{FF2B5EF4-FFF2-40B4-BE49-F238E27FC236}">
                    <a16:creationId xmlns:a16="http://schemas.microsoft.com/office/drawing/2014/main" id="{B77A37B5-BC9C-4E18-8329-9778A336F470}"/>
                  </a:ext>
                </a:extLst>
              </p:cNvPr>
              <p:cNvSpPr/>
              <p:nvPr/>
            </p:nvSpPr>
            <p:spPr>
              <a:xfrm>
                <a:off x="5619660"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48" name="椭圆 47">
                <a:extLst>
                  <a:ext uri="{FF2B5EF4-FFF2-40B4-BE49-F238E27FC236}">
                    <a16:creationId xmlns:a16="http://schemas.microsoft.com/office/drawing/2014/main" id="{B77A37B5-BC9C-4E18-8329-9778A336F470}"/>
                  </a:ext>
                </a:extLst>
              </p:cNvPr>
              <p:cNvSpPr>
                <a:spLocks noRot="1" noChangeAspect="1" noMove="1" noResize="1" noEditPoints="1" noAdjustHandles="1" noChangeArrowheads="1" noChangeShapeType="1" noTextEdit="1"/>
              </p:cNvSpPr>
              <p:nvPr/>
            </p:nvSpPr>
            <p:spPr>
              <a:xfrm>
                <a:off x="5619660" y="3911436"/>
                <a:ext cx="494093" cy="505092"/>
              </a:xfrm>
              <a:prstGeom prst="ellipse">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066E8DA0-DC4A-4FE6-B5F8-3DB5205ED59E}"/>
                  </a:ext>
                </a:extLst>
              </p:cNvPr>
              <p:cNvSpPr/>
              <p:nvPr/>
            </p:nvSpPr>
            <p:spPr>
              <a:xfrm>
                <a:off x="6121895"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49" name="椭圆 48">
                <a:extLst>
                  <a:ext uri="{FF2B5EF4-FFF2-40B4-BE49-F238E27FC236}">
                    <a16:creationId xmlns:a16="http://schemas.microsoft.com/office/drawing/2014/main" id="{066E8DA0-DC4A-4FE6-B5F8-3DB5205ED59E}"/>
                  </a:ext>
                </a:extLst>
              </p:cNvPr>
              <p:cNvSpPr>
                <a:spLocks noRot="1" noChangeAspect="1" noMove="1" noResize="1" noEditPoints="1" noAdjustHandles="1" noChangeArrowheads="1" noChangeShapeType="1" noTextEdit="1"/>
              </p:cNvSpPr>
              <p:nvPr/>
            </p:nvSpPr>
            <p:spPr>
              <a:xfrm>
                <a:off x="6121895" y="3911436"/>
                <a:ext cx="494093" cy="505092"/>
              </a:xfrm>
              <a:prstGeom prst="ellipse">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椭圆 49">
                <a:extLst>
                  <a:ext uri="{FF2B5EF4-FFF2-40B4-BE49-F238E27FC236}">
                    <a16:creationId xmlns:a16="http://schemas.microsoft.com/office/drawing/2014/main" id="{DFD6AEB8-03A7-4B5C-8591-79B1DE6FC8FF}"/>
                  </a:ext>
                </a:extLst>
              </p:cNvPr>
              <p:cNvSpPr/>
              <p:nvPr/>
            </p:nvSpPr>
            <p:spPr>
              <a:xfrm>
                <a:off x="6615996"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50" name="椭圆 49">
                <a:extLst>
                  <a:ext uri="{FF2B5EF4-FFF2-40B4-BE49-F238E27FC236}">
                    <a16:creationId xmlns:a16="http://schemas.microsoft.com/office/drawing/2014/main" id="{DFD6AEB8-03A7-4B5C-8591-79B1DE6FC8FF}"/>
                  </a:ext>
                </a:extLst>
              </p:cNvPr>
              <p:cNvSpPr>
                <a:spLocks noRot="1" noChangeAspect="1" noMove="1" noResize="1" noEditPoints="1" noAdjustHandles="1" noChangeArrowheads="1" noChangeShapeType="1" noTextEdit="1"/>
              </p:cNvSpPr>
              <p:nvPr/>
            </p:nvSpPr>
            <p:spPr>
              <a:xfrm>
                <a:off x="6615996" y="3917090"/>
                <a:ext cx="494093" cy="505092"/>
              </a:xfrm>
              <a:prstGeom prst="ellipse">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0D2F69D1-150A-460E-AF61-702FA3C4E146}"/>
                  </a:ext>
                </a:extLst>
              </p:cNvPr>
              <p:cNvSpPr/>
              <p:nvPr/>
            </p:nvSpPr>
            <p:spPr>
              <a:xfrm>
                <a:off x="7134507" y="3917090"/>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51" name="椭圆 50">
                <a:extLst>
                  <a:ext uri="{FF2B5EF4-FFF2-40B4-BE49-F238E27FC236}">
                    <a16:creationId xmlns:a16="http://schemas.microsoft.com/office/drawing/2014/main" id="{0D2F69D1-150A-460E-AF61-702FA3C4E146}"/>
                  </a:ext>
                </a:extLst>
              </p:cNvPr>
              <p:cNvSpPr>
                <a:spLocks noRot="1" noChangeAspect="1" noMove="1" noResize="1" noEditPoints="1" noAdjustHandles="1" noChangeArrowheads="1" noChangeShapeType="1" noTextEdit="1"/>
              </p:cNvSpPr>
              <p:nvPr/>
            </p:nvSpPr>
            <p:spPr>
              <a:xfrm>
                <a:off x="7134507" y="3917090"/>
                <a:ext cx="494093" cy="492252"/>
              </a:xfrm>
              <a:prstGeom prst="ellipse">
                <a:avLst/>
              </a:prstGeom>
              <a:blipFill>
                <a:blip r:embed="rId18"/>
                <a:stretch>
                  <a:fillRect b="-60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447A106E-7112-4E45-8D2E-B4629C778CAA}"/>
                  </a:ext>
                </a:extLst>
              </p:cNvPr>
              <p:cNvSpPr/>
              <p:nvPr/>
            </p:nvSpPr>
            <p:spPr>
              <a:xfrm>
                <a:off x="7644891"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52" name="椭圆 51">
                <a:extLst>
                  <a:ext uri="{FF2B5EF4-FFF2-40B4-BE49-F238E27FC236}">
                    <a16:creationId xmlns:a16="http://schemas.microsoft.com/office/drawing/2014/main" id="{447A106E-7112-4E45-8D2E-B4629C778CAA}"/>
                  </a:ext>
                </a:extLst>
              </p:cNvPr>
              <p:cNvSpPr>
                <a:spLocks noRot="1" noChangeAspect="1" noMove="1" noResize="1" noEditPoints="1" noAdjustHandles="1" noChangeArrowheads="1" noChangeShapeType="1" noTextEdit="1"/>
              </p:cNvSpPr>
              <p:nvPr/>
            </p:nvSpPr>
            <p:spPr>
              <a:xfrm>
                <a:off x="7644891" y="3917090"/>
                <a:ext cx="494093" cy="505092"/>
              </a:xfrm>
              <a:prstGeom prst="ellipse">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椭圆 52">
                <a:extLst>
                  <a:ext uri="{FF2B5EF4-FFF2-40B4-BE49-F238E27FC236}">
                    <a16:creationId xmlns:a16="http://schemas.microsoft.com/office/drawing/2014/main" id="{984B9AD0-8A03-4F40-99D0-FA40D8B2A53E}"/>
                  </a:ext>
                </a:extLst>
              </p:cNvPr>
              <p:cNvSpPr/>
              <p:nvPr/>
            </p:nvSpPr>
            <p:spPr>
              <a:xfrm>
                <a:off x="8155254" y="39192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53" name="椭圆 52">
                <a:extLst>
                  <a:ext uri="{FF2B5EF4-FFF2-40B4-BE49-F238E27FC236}">
                    <a16:creationId xmlns:a16="http://schemas.microsoft.com/office/drawing/2014/main" id="{984B9AD0-8A03-4F40-99D0-FA40D8B2A53E}"/>
                  </a:ext>
                </a:extLst>
              </p:cNvPr>
              <p:cNvSpPr>
                <a:spLocks noRot="1" noChangeAspect="1" noMove="1" noResize="1" noEditPoints="1" noAdjustHandles="1" noChangeArrowheads="1" noChangeShapeType="1" noTextEdit="1"/>
              </p:cNvSpPr>
              <p:nvPr/>
            </p:nvSpPr>
            <p:spPr>
              <a:xfrm>
                <a:off x="8155254" y="3919270"/>
                <a:ext cx="494093" cy="505092"/>
              </a:xfrm>
              <a:prstGeom prst="ellipse">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椭圆 53">
                <a:extLst>
                  <a:ext uri="{FF2B5EF4-FFF2-40B4-BE49-F238E27FC236}">
                    <a16:creationId xmlns:a16="http://schemas.microsoft.com/office/drawing/2014/main" id="{8FD23C5B-51AC-4639-B337-2703C6FF6F04}"/>
                  </a:ext>
                </a:extLst>
              </p:cNvPr>
              <p:cNvSpPr/>
              <p:nvPr/>
            </p:nvSpPr>
            <p:spPr>
              <a:xfrm>
                <a:off x="8665617" y="390925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54" name="椭圆 53">
                <a:extLst>
                  <a:ext uri="{FF2B5EF4-FFF2-40B4-BE49-F238E27FC236}">
                    <a16:creationId xmlns:a16="http://schemas.microsoft.com/office/drawing/2014/main" id="{8FD23C5B-51AC-4639-B337-2703C6FF6F04}"/>
                  </a:ext>
                </a:extLst>
              </p:cNvPr>
              <p:cNvSpPr>
                <a:spLocks noRot="1" noChangeAspect="1" noMove="1" noResize="1" noEditPoints="1" noAdjustHandles="1" noChangeArrowheads="1" noChangeShapeType="1" noTextEdit="1"/>
              </p:cNvSpPr>
              <p:nvPr/>
            </p:nvSpPr>
            <p:spPr>
              <a:xfrm>
                <a:off x="8665617" y="3909256"/>
                <a:ext cx="494093" cy="505092"/>
              </a:xfrm>
              <a:prstGeom prst="ellipse">
                <a:avLst/>
              </a:prstGeom>
              <a:blipFill>
                <a:blip r:embed="rId21"/>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椭圆 54">
                <a:extLst>
                  <a:ext uri="{FF2B5EF4-FFF2-40B4-BE49-F238E27FC236}">
                    <a16:creationId xmlns:a16="http://schemas.microsoft.com/office/drawing/2014/main" id="{F284DECD-BAE5-4BF8-82D1-AAD618F23C30}"/>
                  </a:ext>
                </a:extLst>
              </p:cNvPr>
              <p:cNvSpPr/>
              <p:nvPr/>
            </p:nvSpPr>
            <p:spPr>
              <a:xfrm>
                <a:off x="9174432"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55" name="椭圆 54">
                <a:extLst>
                  <a:ext uri="{FF2B5EF4-FFF2-40B4-BE49-F238E27FC236}">
                    <a16:creationId xmlns:a16="http://schemas.microsoft.com/office/drawing/2014/main" id="{F284DECD-BAE5-4BF8-82D1-AAD618F23C30}"/>
                  </a:ext>
                </a:extLst>
              </p:cNvPr>
              <p:cNvSpPr>
                <a:spLocks noRot="1" noChangeAspect="1" noMove="1" noResize="1" noEditPoints="1" noAdjustHandles="1" noChangeArrowheads="1" noChangeShapeType="1" noTextEdit="1"/>
              </p:cNvSpPr>
              <p:nvPr/>
            </p:nvSpPr>
            <p:spPr>
              <a:xfrm>
                <a:off x="9174432" y="3917090"/>
                <a:ext cx="494093" cy="505092"/>
              </a:xfrm>
              <a:prstGeom prst="ellipse">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椭圆 55">
                <a:extLst>
                  <a:ext uri="{FF2B5EF4-FFF2-40B4-BE49-F238E27FC236}">
                    <a16:creationId xmlns:a16="http://schemas.microsoft.com/office/drawing/2014/main" id="{FC282B33-F1D6-4541-83B8-C822A9D8003C}"/>
                  </a:ext>
                </a:extLst>
              </p:cNvPr>
              <p:cNvSpPr/>
              <p:nvPr/>
            </p:nvSpPr>
            <p:spPr>
              <a:xfrm>
                <a:off x="9686371" y="391899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56" name="椭圆 55">
                <a:extLst>
                  <a:ext uri="{FF2B5EF4-FFF2-40B4-BE49-F238E27FC236}">
                    <a16:creationId xmlns:a16="http://schemas.microsoft.com/office/drawing/2014/main" id="{FC282B33-F1D6-4541-83B8-C822A9D8003C}"/>
                  </a:ext>
                </a:extLst>
              </p:cNvPr>
              <p:cNvSpPr>
                <a:spLocks noRot="1" noChangeAspect="1" noMove="1" noResize="1" noEditPoints="1" noAdjustHandles="1" noChangeArrowheads="1" noChangeShapeType="1" noTextEdit="1"/>
              </p:cNvSpPr>
              <p:nvPr/>
            </p:nvSpPr>
            <p:spPr>
              <a:xfrm>
                <a:off x="9686371" y="3918992"/>
                <a:ext cx="494093" cy="505092"/>
              </a:xfrm>
              <a:prstGeom prst="ellipse">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椭圆 56">
                <a:extLst>
                  <a:ext uri="{FF2B5EF4-FFF2-40B4-BE49-F238E27FC236}">
                    <a16:creationId xmlns:a16="http://schemas.microsoft.com/office/drawing/2014/main" id="{987A16F4-C0D3-4366-A99E-B3B6C82C37EF}"/>
                  </a:ext>
                </a:extLst>
              </p:cNvPr>
              <p:cNvSpPr/>
              <p:nvPr/>
            </p:nvSpPr>
            <p:spPr>
              <a:xfrm>
                <a:off x="10188613" y="392089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57" name="椭圆 56">
                <a:extLst>
                  <a:ext uri="{FF2B5EF4-FFF2-40B4-BE49-F238E27FC236}">
                    <a16:creationId xmlns:a16="http://schemas.microsoft.com/office/drawing/2014/main" id="{987A16F4-C0D3-4366-A99E-B3B6C82C37EF}"/>
                  </a:ext>
                </a:extLst>
              </p:cNvPr>
              <p:cNvSpPr>
                <a:spLocks noRot="1" noChangeAspect="1" noMove="1" noResize="1" noEditPoints="1" noAdjustHandles="1" noChangeArrowheads="1" noChangeShapeType="1" noTextEdit="1"/>
              </p:cNvSpPr>
              <p:nvPr/>
            </p:nvSpPr>
            <p:spPr>
              <a:xfrm>
                <a:off x="10188613" y="3920894"/>
                <a:ext cx="494093" cy="505092"/>
              </a:xfrm>
              <a:prstGeom prst="ellipse">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椭圆 57">
                <a:extLst>
                  <a:ext uri="{FF2B5EF4-FFF2-40B4-BE49-F238E27FC236}">
                    <a16:creationId xmlns:a16="http://schemas.microsoft.com/office/drawing/2014/main" id="{8E75F42B-B37F-4979-9430-AB3A72ADBACD}"/>
                  </a:ext>
                </a:extLst>
              </p:cNvPr>
              <p:cNvSpPr/>
              <p:nvPr/>
            </p:nvSpPr>
            <p:spPr>
              <a:xfrm>
                <a:off x="10698976" y="3910705"/>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58" name="椭圆 57">
                <a:extLst>
                  <a:ext uri="{FF2B5EF4-FFF2-40B4-BE49-F238E27FC236}">
                    <a16:creationId xmlns:a16="http://schemas.microsoft.com/office/drawing/2014/main" id="{8E75F42B-B37F-4979-9430-AB3A72ADBACD}"/>
                  </a:ext>
                </a:extLst>
              </p:cNvPr>
              <p:cNvSpPr>
                <a:spLocks noRot="1" noChangeAspect="1" noMove="1" noResize="1" noEditPoints="1" noAdjustHandles="1" noChangeArrowheads="1" noChangeShapeType="1" noTextEdit="1"/>
              </p:cNvSpPr>
              <p:nvPr/>
            </p:nvSpPr>
            <p:spPr>
              <a:xfrm>
                <a:off x="10698976" y="3910705"/>
                <a:ext cx="494093" cy="505092"/>
              </a:xfrm>
              <a:prstGeom prst="ellipse">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椭圆 58">
                <a:extLst>
                  <a:ext uri="{FF2B5EF4-FFF2-40B4-BE49-F238E27FC236}">
                    <a16:creationId xmlns:a16="http://schemas.microsoft.com/office/drawing/2014/main" id="{9E088ACA-56F4-4CE5-91A8-CC256AC87031}"/>
                  </a:ext>
                </a:extLst>
              </p:cNvPr>
              <p:cNvSpPr/>
              <p:nvPr/>
            </p:nvSpPr>
            <p:spPr>
              <a:xfrm>
                <a:off x="11201218" y="3912607"/>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59" name="椭圆 58">
                <a:extLst>
                  <a:ext uri="{FF2B5EF4-FFF2-40B4-BE49-F238E27FC236}">
                    <a16:creationId xmlns:a16="http://schemas.microsoft.com/office/drawing/2014/main" id="{9E088ACA-56F4-4CE5-91A8-CC256AC87031}"/>
                  </a:ext>
                </a:extLst>
              </p:cNvPr>
              <p:cNvSpPr>
                <a:spLocks noRot="1" noChangeAspect="1" noMove="1" noResize="1" noEditPoints="1" noAdjustHandles="1" noChangeArrowheads="1" noChangeShapeType="1" noTextEdit="1"/>
              </p:cNvSpPr>
              <p:nvPr/>
            </p:nvSpPr>
            <p:spPr>
              <a:xfrm>
                <a:off x="11201218" y="3912607"/>
                <a:ext cx="494093" cy="505092"/>
              </a:xfrm>
              <a:prstGeom prst="ellipse">
                <a:avLst/>
              </a:prstGeom>
              <a:blipFill>
                <a:blip r:embed="rId26"/>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928D7CAA-A517-421B-9C2E-DCC0AB8701A6}"/>
              </a:ext>
            </a:extLst>
          </p:cNvPr>
          <p:cNvCxnSpPr>
            <a:stCxn id="47" idx="3"/>
            <a:endCxn id="12" idx="7"/>
          </p:cNvCxnSpPr>
          <p:nvPr/>
        </p:nvCxnSpPr>
        <p:spPr>
          <a:xfrm flipH="1">
            <a:off x="1777564" y="3233443"/>
            <a:ext cx="1186647"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椭圆 61">
                <a:extLst>
                  <a:ext uri="{FF2B5EF4-FFF2-40B4-BE49-F238E27FC236}">
                    <a16:creationId xmlns:a16="http://schemas.microsoft.com/office/drawing/2014/main" id="{380A075B-6FE5-441B-AAF7-86BEB8B8CFC2}"/>
                  </a:ext>
                </a:extLst>
              </p:cNvPr>
              <p:cNvSpPr/>
              <p:nvPr/>
            </p:nvSpPr>
            <p:spPr>
              <a:xfrm>
                <a:off x="1356030" y="36023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62" name="椭圆 61">
                <a:extLst>
                  <a:ext uri="{FF2B5EF4-FFF2-40B4-BE49-F238E27FC236}">
                    <a16:creationId xmlns:a16="http://schemas.microsoft.com/office/drawing/2014/main" id="{380A075B-6FE5-441B-AAF7-86BEB8B8CFC2}"/>
                  </a:ext>
                </a:extLst>
              </p:cNvPr>
              <p:cNvSpPr>
                <a:spLocks noRot="1" noChangeAspect="1" noMove="1" noResize="1" noEditPoints="1" noAdjustHandles="1" noChangeArrowheads="1" noChangeShapeType="1" noTextEdit="1"/>
              </p:cNvSpPr>
              <p:nvPr/>
            </p:nvSpPr>
            <p:spPr>
              <a:xfrm>
                <a:off x="1356030" y="3602390"/>
                <a:ext cx="494093" cy="505092"/>
              </a:xfrm>
              <a:prstGeom prst="ellipse">
                <a:avLst/>
              </a:prstGeom>
              <a:blipFill>
                <a:blip r:embed="rId27"/>
                <a:stretch>
                  <a:fillRect/>
                </a:stretch>
              </a:blipFill>
            </p:spPr>
            <p:txBody>
              <a:bodyPr/>
              <a:lstStyle/>
              <a:p>
                <a:r>
                  <a:rPr lang="zh-CN" altLang="en-US">
                    <a:noFill/>
                  </a:rPr>
                  <a:t> </a:t>
                </a:r>
              </a:p>
            </p:txBody>
          </p:sp>
        </mc:Fallback>
      </mc:AlternateContent>
      <p:cxnSp>
        <p:nvCxnSpPr>
          <p:cNvPr id="64" name="直接连接符 63">
            <a:extLst>
              <a:ext uri="{FF2B5EF4-FFF2-40B4-BE49-F238E27FC236}">
                <a16:creationId xmlns:a16="http://schemas.microsoft.com/office/drawing/2014/main" id="{2D715472-5176-4D17-9ED1-790C7DCDE308}"/>
              </a:ext>
            </a:extLst>
          </p:cNvPr>
          <p:cNvCxnSpPr>
            <a:stCxn id="62" idx="3"/>
            <a:endCxn id="13" idx="7"/>
          </p:cNvCxnSpPr>
          <p:nvPr/>
        </p:nvCxnSpPr>
        <p:spPr>
          <a:xfrm flipH="1">
            <a:off x="1021787" y="4033513"/>
            <a:ext cx="406601" cy="50625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椭圆 64">
                <a:extLst>
                  <a:ext uri="{FF2B5EF4-FFF2-40B4-BE49-F238E27FC236}">
                    <a16:creationId xmlns:a16="http://schemas.microsoft.com/office/drawing/2014/main" id="{86972C65-E831-46AB-9A86-4965EFC05BA7}"/>
                  </a:ext>
                </a:extLst>
              </p:cNvPr>
              <p:cNvSpPr/>
              <p:nvPr/>
            </p:nvSpPr>
            <p:spPr>
              <a:xfrm>
                <a:off x="599313" y="446878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65" name="椭圆 64">
                <a:extLst>
                  <a:ext uri="{FF2B5EF4-FFF2-40B4-BE49-F238E27FC236}">
                    <a16:creationId xmlns:a16="http://schemas.microsoft.com/office/drawing/2014/main" id="{86972C65-E831-46AB-9A86-4965EFC05BA7}"/>
                  </a:ext>
                </a:extLst>
              </p:cNvPr>
              <p:cNvSpPr>
                <a:spLocks noRot="1" noChangeAspect="1" noMove="1" noResize="1" noEditPoints="1" noAdjustHandles="1" noChangeArrowheads="1" noChangeShapeType="1" noTextEdit="1"/>
              </p:cNvSpPr>
              <p:nvPr/>
            </p:nvSpPr>
            <p:spPr>
              <a:xfrm>
                <a:off x="599313" y="4468786"/>
                <a:ext cx="494093" cy="505092"/>
              </a:xfrm>
              <a:prstGeom prst="ellipse">
                <a:avLst/>
              </a:prstGeom>
              <a:blipFill>
                <a:blip r:embed="rId28"/>
                <a:stretch>
                  <a:fillRect/>
                </a:stretch>
              </a:blipFill>
            </p:spPr>
            <p:txBody>
              <a:bodyPr/>
              <a:lstStyle/>
              <a:p>
                <a:r>
                  <a:rPr lang="zh-CN" altLang="en-US">
                    <a:noFill/>
                  </a:rPr>
                  <a:t> </a:t>
                </a:r>
              </a:p>
            </p:txBody>
          </p:sp>
        </mc:Fallback>
      </mc:AlternateContent>
      <p:cxnSp>
        <p:nvCxnSpPr>
          <p:cNvPr id="67" name="直接连接符 66">
            <a:extLst>
              <a:ext uri="{FF2B5EF4-FFF2-40B4-BE49-F238E27FC236}">
                <a16:creationId xmlns:a16="http://schemas.microsoft.com/office/drawing/2014/main" id="{CF9D0CF5-485A-43F9-B992-FF6ECF3EFA84}"/>
              </a:ext>
            </a:extLst>
          </p:cNvPr>
          <p:cNvCxnSpPr>
            <a:stCxn id="62" idx="4"/>
            <a:endCxn id="22" idx="0"/>
          </p:cNvCxnSpPr>
          <p:nvPr/>
        </p:nvCxnSpPr>
        <p:spPr>
          <a:xfrm>
            <a:off x="1603077" y="4107482"/>
            <a:ext cx="7489" cy="34508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椭圆 67">
                <a:extLst>
                  <a:ext uri="{FF2B5EF4-FFF2-40B4-BE49-F238E27FC236}">
                    <a16:creationId xmlns:a16="http://schemas.microsoft.com/office/drawing/2014/main" id="{F3FAD147-0A63-4D3B-8429-72364EEAED1B}"/>
                  </a:ext>
                </a:extLst>
              </p:cNvPr>
              <p:cNvSpPr/>
              <p:nvPr/>
            </p:nvSpPr>
            <p:spPr>
              <a:xfrm>
                <a:off x="1363519"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68" name="椭圆 67">
                <a:extLst>
                  <a:ext uri="{FF2B5EF4-FFF2-40B4-BE49-F238E27FC236}">
                    <a16:creationId xmlns:a16="http://schemas.microsoft.com/office/drawing/2014/main" id="{F3FAD147-0A63-4D3B-8429-72364EEAED1B}"/>
                  </a:ext>
                </a:extLst>
              </p:cNvPr>
              <p:cNvSpPr>
                <a:spLocks noRot="1" noChangeAspect="1" noMove="1" noResize="1" noEditPoints="1" noAdjustHandles="1" noChangeArrowheads="1" noChangeShapeType="1" noTextEdit="1"/>
              </p:cNvSpPr>
              <p:nvPr/>
            </p:nvSpPr>
            <p:spPr>
              <a:xfrm>
                <a:off x="1363519" y="4446479"/>
                <a:ext cx="494093" cy="505092"/>
              </a:xfrm>
              <a:prstGeom prst="ellipse">
                <a:avLst/>
              </a:prstGeom>
              <a:blipFill>
                <a:blip r:embed="rId29"/>
                <a:stretch>
                  <a:fillRect/>
                </a:stretch>
              </a:blipFill>
            </p:spPr>
            <p:txBody>
              <a:bodyPr/>
              <a:lstStyle/>
              <a:p>
                <a:r>
                  <a:rPr lang="zh-CN" altLang="en-US">
                    <a:noFill/>
                  </a:rPr>
                  <a:t> </a:t>
                </a:r>
              </a:p>
            </p:txBody>
          </p:sp>
        </mc:Fallback>
      </mc:AlternateContent>
      <p:cxnSp>
        <p:nvCxnSpPr>
          <p:cNvPr id="70" name="直接连接符 69">
            <a:extLst>
              <a:ext uri="{FF2B5EF4-FFF2-40B4-BE49-F238E27FC236}">
                <a16:creationId xmlns:a16="http://schemas.microsoft.com/office/drawing/2014/main" id="{68C55553-EA04-47F2-BC3B-D6BAA9B822BE}"/>
              </a:ext>
            </a:extLst>
          </p:cNvPr>
          <p:cNvCxnSpPr>
            <a:stCxn id="62" idx="5"/>
            <a:endCxn id="15" idx="1"/>
          </p:cNvCxnSpPr>
          <p:nvPr/>
        </p:nvCxnSpPr>
        <p:spPr>
          <a:xfrm>
            <a:off x="1777765" y="4033513"/>
            <a:ext cx="424867" cy="49301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椭圆 70">
                <a:extLst>
                  <a:ext uri="{FF2B5EF4-FFF2-40B4-BE49-F238E27FC236}">
                    <a16:creationId xmlns:a16="http://schemas.microsoft.com/office/drawing/2014/main" id="{7A15C647-F826-4322-8E65-C0BC088CDC92}"/>
                  </a:ext>
                </a:extLst>
              </p:cNvPr>
              <p:cNvSpPr/>
              <p:nvPr/>
            </p:nvSpPr>
            <p:spPr>
              <a:xfrm>
                <a:off x="2132031" y="444647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71" name="椭圆 70">
                <a:extLst>
                  <a:ext uri="{FF2B5EF4-FFF2-40B4-BE49-F238E27FC236}">
                    <a16:creationId xmlns:a16="http://schemas.microsoft.com/office/drawing/2014/main" id="{7A15C647-F826-4322-8E65-C0BC088CDC92}"/>
                  </a:ext>
                </a:extLst>
              </p:cNvPr>
              <p:cNvSpPr>
                <a:spLocks noRot="1" noChangeAspect="1" noMove="1" noResize="1" noEditPoints="1" noAdjustHandles="1" noChangeArrowheads="1" noChangeShapeType="1" noTextEdit="1"/>
              </p:cNvSpPr>
              <p:nvPr/>
            </p:nvSpPr>
            <p:spPr>
              <a:xfrm>
                <a:off x="2132031" y="4446479"/>
                <a:ext cx="494093" cy="505092"/>
              </a:xfrm>
              <a:prstGeom prst="ellipse">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椭圆 71">
                <a:extLst>
                  <a:ext uri="{FF2B5EF4-FFF2-40B4-BE49-F238E27FC236}">
                    <a16:creationId xmlns:a16="http://schemas.microsoft.com/office/drawing/2014/main" id="{C5B34713-2891-415A-B36E-07EBA2E47253}"/>
                  </a:ext>
                </a:extLst>
              </p:cNvPr>
              <p:cNvSpPr/>
              <p:nvPr/>
            </p:nvSpPr>
            <p:spPr>
              <a:xfrm>
                <a:off x="1355827" y="5303133"/>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72" name="椭圆 71">
                <a:extLst>
                  <a:ext uri="{FF2B5EF4-FFF2-40B4-BE49-F238E27FC236}">
                    <a16:creationId xmlns:a16="http://schemas.microsoft.com/office/drawing/2014/main" id="{C5B34713-2891-415A-B36E-07EBA2E47253}"/>
                  </a:ext>
                </a:extLst>
              </p:cNvPr>
              <p:cNvSpPr>
                <a:spLocks noRot="1" noChangeAspect="1" noMove="1" noResize="1" noEditPoints="1" noAdjustHandles="1" noChangeArrowheads="1" noChangeShapeType="1" noTextEdit="1"/>
              </p:cNvSpPr>
              <p:nvPr/>
            </p:nvSpPr>
            <p:spPr>
              <a:xfrm>
                <a:off x="1355827" y="5303133"/>
                <a:ext cx="494093" cy="505092"/>
              </a:xfrm>
              <a:prstGeom prst="ellipse">
                <a:avLst/>
              </a:prstGeom>
              <a:blipFill>
                <a:blip r:embed="rId31"/>
                <a:stretch>
                  <a:fillRect/>
                </a:stretch>
              </a:blipFill>
            </p:spPr>
            <p:txBody>
              <a:bodyPr/>
              <a:lstStyle/>
              <a:p>
                <a:r>
                  <a:rPr lang="zh-CN" altLang="en-US">
                    <a:noFill/>
                  </a:rPr>
                  <a:t> </a:t>
                </a:r>
              </a:p>
            </p:txBody>
          </p:sp>
        </mc:Fallback>
      </mc:AlternateContent>
      <p:cxnSp>
        <p:nvCxnSpPr>
          <p:cNvPr id="74" name="直接连接符 73">
            <a:extLst>
              <a:ext uri="{FF2B5EF4-FFF2-40B4-BE49-F238E27FC236}">
                <a16:creationId xmlns:a16="http://schemas.microsoft.com/office/drawing/2014/main" id="{3085D4BE-FAD4-4C90-AEEF-0BD9083BEEDB}"/>
              </a:ext>
            </a:extLst>
          </p:cNvPr>
          <p:cNvCxnSpPr>
            <a:stCxn id="71" idx="3"/>
            <a:endCxn id="72" idx="7"/>
          </p:cNvCxnSpPr>
          <p:nvPr/>
        </p:nvCxnSpPr>
        <p:spPr>
          <a:xfrm flipH="1">
            <a:off x="1777562" y="4877602"/>
            <a:ext cx="426827" cy="4995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81A1D254-1E3C-4D9D-AF68-008EE9E7F2FE}"/>
              </a:ext>
            </a:extLst>
          </p:cNvPr>
          <p:cNvCxnSpPr>
            <a:stCxn id="71" idx="5"/>
            <a:endCxn id="16" idx="1"/>
          </p:cNvCxnSpPr>
          <p:nvPr/>
        </p:nvCxnSpPr>
        <p:spPr>
          <a:xfrm>
            <a:off x="2553766" y="4877602"/>
            <a:ext cx="406837" cy="50616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椭圆 76">
                <a:extLst>
                  <a:ext uri="{FF2B5EF4-FFF2-40B4-BE49-F238E27FC236}">
                    <a16:creationId xmlns:a16="http://schemas.microsoft.com/office/drawing/2014/main" id="{780F778F-CC3D-47D1-9494-AEC614AB80AC}"/>
                  </a:ext>
                </a:extLst>
              </p:cNvPr>
              <p:cNvSpPr/>
              <p:nvPr/>
            </p:nvSpPr>
            <p:spPr>
              <a:xfrm>
                <a:off x="2887921" y="531443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77" name="椭圆 76">
                <a:extLst>
                  <a:ext uri="{FF2B5EF4-FFF2-40B4-BE49-F238E27FC236}">
                    <a16:creationId xmlns:a16="http://schemas.microsoft.com/office/drawing/2014/main" id="{780F778F-CC3D-47D1-9494-AEC614AB80AC}"/>
                  </a:ext>
                </a:extLst>
              </p:cNvPr>
              <p:cNvSpPr>
                <a:spLocks noRot="1" noChangeAspect="1" noMove="1" noResize="1" noEditPoints="1" noAdjustHandles="1" noChangeArrowheads="1" noChangeShapeType="1" noTextEdit="1"/>
              </p:cNvSpPr>
              <p:nvPr/>
            </p:nvSpPr>
            <p:spPr>
              <a:xfrm>
                <a:off x="2887921" y="5314431"/>
                <a:ext cx="494093" cy="505092"/>
              </a:xfrm>
              <a:prstGeom prst="ellipse">
                <a:avLst/>
              </a:prstGeom>
              <a:blipFill>
                <a:blip r:embed="rId32"/>
                <a:stretch>
                  <a:fillRect b="-4706"/>
                </a:stretch>
              </a:blipFill>
            </p:spPr>
            <p:txBody>
              <a:bodyPr/>
              <a:lstStyle/>
              <a:p>
                <a:r>
                  <a:rPr lang="zh-CN" altLang="en-US">
                    <a:noFill/>
                  </a:rPr>
                  <a:t> </a:t>
                </a:r>
              </a:p>
            </p:txBody>
          </p:sp>
        </mc:Fallback>
      </mc:AlternateContent>
      <p:cxnSp>
        <p:nvCxnSpPr>
          <p:cNvPr id="79" name="直接连接符 78">
            <a:extLst>
              <a:ext uri="{FF2B5EF4-FFF2-40B4-BE49-F238E27FC236}">
                <a16:creationId xmlns:a16="http://schemas.microsoft.com/office/drawing/2014/main" id="{CE15715B-60DD-4B07-B509-CB446B382AE4}"/>
              </a:ext>
            </a:extLst>
          </p:cNvPr>
          <p:cNvCxnSpPr>
            <a:stCxn id="47" idx="4"/>
            <a:endCxn id="21" idx="0"/>
          </p:cNvCxnSpPr>
          <p:nvPr/>
        </p:nvCxnSpPr>
        <p:spPr>
          <a:xfrm flipH="1">
            <a:off x="3134969" y="3307412"/>
            <a:ext cx="3931" cy="29857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椭圆 79">
                <a:extLst>
                  <a:ext uri="{FF2B5EF4-FFF2-40B4-BE49-F238E27FC236}">
                    <a16:creationId xmlns:a16="http://schemas.microsoft.com/office/drawing/2014/main" id="{7A5500A5-768D-4845-98D5-C97F2102D527}"/>
                  </a:ext>
                </a:extLst>
              </p:cNvPr>
              <p:cNvSpPr/>
              <p:nvPr/>
            </p:nvSpPr>
            <p:spPr>
              <a:xfrm>
                <a:off x="2886939" y="36040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80" name="椭圆 79">
                <a:extLst>
                  <a:ext uri="{FF2B5EF4-FFF2-40B4-BE49-F238E27FC236}">
                    <a16:creationId xmlns:a16="http://schemas.microsoft.com/office/drawing/2014/main" id="{7A5500A5-768D-4845-98D5-C97F2102D527}"/>
                  </a:ext>
                </a:extLst>
              </p:cNvPr>
              <p:cNvSpPr>
                <a:spLocks noRot="1" noChangeAspect="1" noMove="1" noResize="1" noEditPoints="1" noAdjustHandles="1" noChangeArrowheads="1" noChangeShapeType="1" noTextEdit="1"/>
              </p:cNvSpPr>
              <p:nvPr/>
            </p:nvSpPr>
            <p:spPr>
              <a:xfrm>
                <a:off x="2886939" y="3604042"/>
                <a:ext cx="494093" cy="505092"/>
              </a:xfrm>
              <a:prstGeom prst="ellipse">
                <a:avLst/>
              </a:prstGeom>
              <a:blipFill>
                <a:blip r:embed="rId33"/>
                <a:stretch>
                  <a:fillRect b="-4706"/>
                </a:stretch>
              </a:blipFill>
            </p:spPr>
            <p:txBody>
              <a:bodyPr/>
              <a:lstStyle/>
              <a:p>
                <a:r>
                  <a:rPr lang="zh-CN" altLang="en-US">
                    <a:noFill/>
                  </a:rPr>
                  <a:t> </a:t>
                </a:r>
              </a:p>
            </p:txBody>
          </p:sp>
        </mc:Fallback>
      </mc:AlternateContent>
      <p:cxnSp>
        <p:nvCxnSpPr>
          <p:cNvPr id="82" name="直接连接符 81">
            <a:extLst>
              <a:ext uri="{FF2B5EF4-FFF2-40B4-BE49-F238E27FC236}">
                <a16:creationId xmlns:a16="http://schemas.microsoft.com/office/drawing/2014/main" id="{418E6DBA-F95F-4077-9782-F9C286A5488C}"/>
              </a:ext>
            </a:extLst>
          </p:cNvPr>
          <p:cNvCxnSpPr>
            <a:stCxn id="47" idx="5"/>
            <a:endCxn id="19" idx="1"/>
          </p:cNvCxnSpPr>
          <p:nvPr/>
        </p:nvCxnSpPr>
        <p:spPr>
          <a:xfrm>
            <a:off x="3313588" y="3233443"/>
            <a:ext cx="1194394" cy="44650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9CC535A-7741-4216-B48C-CA6CD32509E2}"/>
              </a:ext>
            </a:extLst>
          </p:cNvPr>
          <p:cNvCxnSpPr>
            <a:stCxn id="19" idx="3"/>
            <a:endCxn id="18" idx="7"/>
          </p:cNvCxnSpPr>
          <p:nvPr/>
        </p:nvCxnSpPr>
        <p:spPr>
          <a:xfrm flipH="1">
            <a:off x="4073073" y="4037106"/>
            <a:ext cx="434909" cy="48942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C4FEE25-E2F4-491E-8FA1-10203A5A464B}"/>
              </a:ext>
            </a:extLst>
          </p:cNvPr>
          <p:cNvCxnSpPr>
            <a:stCxn id="19" idx="4"/>
            <a:endCxn id="23" idx="0"/>
          </p:cNvCxnSpPr>
          <p:nvPr/>
        </p:nvCxnSpPr>
        <p:spPr>
          <a:xfrm>
            <a:off x="4682671" y="4111075"/>
            <a:ext cx="0" cy="35472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F1C5C25-77CE-42DF-8D60-C361F0F19301}"/>
              </a:ext>
            </a:extLst>
          </p:cNvPr>
          <p:cNvCxnSpPr>
            <a:stCxn id="19" idx="5"/>
            <a:endCxn id="20" idx="1"/>
          </p:cNvCxnSpPr>
          <p:nvPr/>
        </p:nvCxnSpPr>
        <p:spPr>
          <a:xfrm>
            <a:off x="4857359" y="4037106"/>
            <a:ext cx="393272" cy="50266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椭圆 88">
                <a:extLst>
                  <a:ext uri="{FF2B5EF4-FFF2-40B4-BE49-F238E27FC236}">
                    <a16:creationId xmlns:a16="http://schemas.microsoft.com/office/drawing/2014/main" id="{3E629E07-A19C-431F-AA25-D5DB01ED34E4}"/>
                  </a:ext>
                </a:extLst>
              </p:cNvPr>
              <p:cNvSpPr/>
              <p:nvPr/>
            </p:nvSpPr>
            <p:spPr>
              <a:xfrm>
                <a:off x="4437037" y="36034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89" name="椭圆 88">
                <a:extLst>
                  <a:ext uri="{FF2B5EF4-FFF2-40B4-BE49-F238E27FC236}">
                    <a16:creationId xmlns:a16="http://schemas.microsoft.com/office/drawing/2014/main" id="{3E629E07-A19C-431F-AA25-D5DB01ED34E4}"/>
                  </a:ext>
                </a:extLst>
              </p:cNvPr>
              <p:cNvSpPr>
                <a:spLocks noRot="1" noChangeAspect="1" noMove="1" noResize="1" noEditPoints="1" noAdjustHandles="1" noChangeArrowheads="1" noChangeShapeType="1" noTextEdit="1"/>
              </p:cNvSpPr>
              <p:nvPr/>
            </p:nvSpPr>
            <p:spPr>
              <a:xfrm>
                <a:off x="4437037" y="3603470"/>
                <a:ext cx="494093" cy="505092"/>
              </a:xfrm>
              <a:prstGeom prst="ellipse">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椭圆 89">
                <a:extLst>
                  <a:ext uri="{FF2B5EF4-FFF2-40B4-BE49-F238E27FC236}">
                    <a16:creationId xmlns:a16="http://schemas.microsoft.com/office/drawing/2014/main" id="{C8F1FFCC-B779-4137-ABFE-34D566B893ED}"/>
                  </a:ext>
                </a:extLst>
              </p:cNvPr>
              <p:cNvSpPr/>
              <p:nvPr/>
            </p:nvSpPr>
            <p:spPr>
              <a:xfrm>
                <a:off x="3644180" y="445664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90" name="椭圆 89">
                <a:extLst>
                  <a:ext uri="{FF2B5EF4-FFF2-40B4-BE49-F238E27FC236}">
                    <a16:creationId xmlns:a16="http://schemas.microsoft.com/office/drawing/2014/main" id="{C8F1FFCC-B779-4137-ABFE-34D566B893ED}"/>
                  </a:ext>
                </a:extLst>
              </p:cNvPr>
              <p:cNvSpPr>
                <a:spLocks noRot="1" noChangeAspect="1" noMove="1" noResize="1" noEditPoints="1" noAdjustHandles="1" noChangeArrowheads="1" noChangeShapeType="1" noTextEdit="1"/>
              </p:cNvSpPr>
              <p:nvPr/>
            </p:nvSpPr>
            <p:spPr>
              <a:xfrm>
                <a:off x="3644180" y="4456642"/>
                <a:ext cx="494093" cy="505092"/>
              </a:xfrm>
              <a:prstGeom prst="ellipse">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椭圆 90">
                <a:extLst>
                  <a:ext uri="{FF2B5EF4-FFF2-40B4-BE49-F238E27FC236}">
                    <a16:creationId xmlns:a16="http://schemas.microsoft.com/office/drawing/2014/main" id="{8558D783-4F46-4F37-AE96-12A84C71471C}"/>
                  </a:ext>
                </a:extLst>
              </p:cNvPr>
              <p:cNvSpPr/>
              <p:nvPr/>
            </p:nvSpPr>
            <p:spPr>
              <a:xfrm>
                <a:off x="4435624" y="4466588"/>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91" name="椭圆 90">
                <a:extLst>
                  <a:ext uri="{FF2B5EF4-FFF2-40B4-BE49-F238E27FC236}">
                    <a16:creationId xmlns:a16="http://schemas.microsoft.com/office/drawing/2014/main" id="{8558D783-4F46-4F37-AE96-12A84C71471C}"/>
                  </a:ext>
                </a:extLst>
              </p:cNvPr>
              <p:cNvSpPr>
                <a:spLocks noRot="1" noChangeAspect="1" noMove="1" noResize="1" noEditPoints="1" noAdjustHandles="1" noChangeArrowheads="1" noChangeShapeType="1" noTextEdit="1"/>
              </p:cNvSpPr>
              <p:nvPr/>
            </p:nvSpPr>
            <p:spPr>
              <a:xfrm>
                <a:off x="4435624" y="4466588"/>
                <a:ext cx="494093" cy="505092"/>
              </a:xfrm>
              <a:prstGeom prst="ellipse">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椭圆 91">
                <a:extLst>
                  <a:ext uri="{FF2B5EF4-FFF2-40B4-BE49-F238E27FC236}">
                    <a16:creationId xmlns:a16="http://schemas.microsoft.com/office/drawing/2014/main" id="{AF05E022-BFFB-44BF-9B47-C425709D28BE}"/>
                  </a:ext>
                </a:extLst>
              </p:cNvPr>
              <p:cNvSpPr/>
              <p:nvPr/>
            </p:nvSpPr>
            <p:spPr>
              <a:xfrm>
                <a:off x="5178271" y="446580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92" name="椭圆 91">
                <a:extLst>
                  <a:ext uri="{FF2B5EF4-FFF2-40B4-BE49-F238E27FC236}">
                    <a16:creationId xmlns:a16="http://schemas.microsoft.com/office/drawing/2014/main" id="{AF05E022-BFFB-44BF-9B47-C425709D28BE}"/>
                  </a:ext>
                </a:extLst>
              </p:cNvPr>
              <p:cNvSpPr>
                <a:spLocks noRot="1" noChangeAspect="1" noMove="1" noResize="1" noEditPoints="1" noAdjustHandles="1" noChangeArrowheads="1" noChangeShapeType="1" noTextEdit="1"/>
              </p:cNvSpPr>
              <p:nvPr/>
            </p:nvSpPr>
            <p:spPr>
              <a:xfrm>
                <a:off x="5178271" y="4465801"/>
                <a:ext cx="494093" cy="505092"/>
              </a:xfrm>
              <a:prstGeom prst="ellipse">
                <a:avLst/>
              </a:prstGeom>
              <a:blipFill>
                <a:blip r:embed="rId37"/>
                <a:stretch>
                  <a:fillRect/>
                </a:stretch>
              </a:blipFill>
            </p:spPr>
            <p:txBody>
              <a:bodyPr/>
              <a:lstStyle/>
              <a:p>
                <a:r>
                  <a:rPr lang="zh-CN" altLang="en-US">
                    <a:noFill/>
                  </a:rPr>
                  <a:t> </a:t>
                </a:r>
              </a:p>
            </p:txBody>
          </p:sp>
        </mc:Fallback>
      </mc:AlternateContent>
      <p:sp>
        <p:nvSpPr>
          <p:cNvPr id="2" name="任意多边形: 形状 1">
            <a:extLst>
              <a:ext uri="{FF2B5EF4-FFF2-40B4-BE49-F238E27FC236}">
                <a16:creationId xmlns:a16="http://schemas.microsoft.com/office/drawing/2014/main" id="{A0AF0CB1-9B16-434A-BB66-3B9F389F8E65}"/>
              </a:ext>
            </a:extLst>
          </p:cNvPr>
          <p:cNvSpPr/>
          <p:nvPr/>
        </p:nvSpPr>
        <p:spPr>
          <a:xfrm>
            <a:off x="2605053" y="4821980"/>
            <a:ext cx="460489" cy="486803"/>
          </a:xfrm>
          <a:custGeom>
            <a:avLst/>
            <a:gdLst>
              <a:gd name="connsiteX0" fmla="*/ 460489 w 460489"/>
              <a:gd name="connsiteY0" fmla="*/ 486803 h 486803"/>
              <a:gd name="connsiteX1" fmla="*/ 289451 w 460489"/>
              <a:gd name="connsiteY1" fmla="*/ 151303 h 486803"/>
              <a:gd name="connsiteX2" fmla="*/ 0 w 460489"/>
              <a:gd name="connsiteY2" fmla="*/ 0 h 486803"/>
            </a:gdLst>
            <a:ahLst/>
            <a:cxnLst>
              <a:cxn ang="0">
                <a:pos x="connsiteX0" y="connsiteY0"/>
              </a:cxn>
              <a:cxn ang="0">
                <a:pos x="connsiteX1" y="connsiteY1"/>
              </a:cxn>
              <a:cxn ang="0">
                <a:pos x="connsiteX2" y="connsiteY2"/>
              </a:cxn>
            </a:cxnLst>
            <a:rect l="l" t="t" r="r" b="b"/>
            <a:pathLst>
              <a:path w="460489" h="486803">
                <a:moveTo>
                  <a:pt x="460489" y="486803"/>
                </a:moveTo>
                <a:cubicBezTo>
                  <a:pt x="413344" y="359620"/>
                  <a:pt x="366199" y="232437"/>
                  <a:pt x="289451" y="151303"/>
                </a:cubicBezTo>
                <a:cubicBezTo>
                  <a:pt x="212703" y="70169"/>
                  <a:pt x="106351" y="35084"/>
                  <a:pt x="0" y="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a:extLst>
              <a:ext uri="{FF2B5EF4-FFF2-40B4-BE49-F238E27FC236}">
                <a16:creationId xmlns:a16="http://schemas.microsoft.com/office/drawing/2014/main" id="{11DFF92B-ED2F-45C7-9C8F-C27339E2BB51}"/>
              </a:ext>
            </a:extLst>
          </p:cNvPr>
          <p:cNvSpPr/>
          <p:nvPr/>
        </p:nvSpPr>
        <p:spPr>
          <a:xfrm>
            <a:off x="1864644" y="3922539"/>
            <a:ext cx="460489" cy="486803"/>
          </a:xfrm>
          <a:custGeom>
            <a:avLst/>
            <a:gdLst>
              <a:gd name="connsiteX0" fmla="*/ 460489 w 460489"/>
              <a:gd name="connsiteY0" fmla="*/ 486803 h 486803"/>
              <a:gd name="connsiteX1" fmla="*/ 289451 w 460489"/>
              <a:gd name="connsiteY1" fmla="*/ 151303 h 486803"/>
              <a:gd name="connsiteX2" fmla="*/ 0 w 460489"/>
              <a:gd name="connsiteY2" fmla="*/ 0 h 486803"/>
            </a:gdLst>
            <a:ahLst/>
            <a:cxnLst>
              <a:cxn ang="0">
                <a:pos x="connsiteX0" y="connsiteY0"/>
              </a:cxn>
              <a:cxn ang="0">
                <a:pos x="connsiteX1" y="connsiteY1"/>
              </a:cxn>
              <a:cxn ang="0">
                <a:pos x="connsiteX2" y="connsiteY2"/>
              </a:cxn>
            </a:cxnLst>
            <a:rect l="l" t="t" r="r" b="b"/>
            <a:pathLst>
              <a:path w="460489" h="486803">
                <a:moveTo>
                  <a:pt x="460489" y="486803"/>
                </a:moveTo>
                <a:cubicBezTo>
                  <a:pt x="413344" y="359620"/>
                  <a:pt x="366199" y="232437"/>
                  <a:pt x="289451" y="151303"/>
                </a:cubicBezTo>
                <a:cubicBezTo>
                  <a:pt x="212703" y="70169"/>
                  <a:pt x="106351" y="35084"/>
                  <a:pt x="0" y="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形状 72">
            <a:extLst>
              <a:ext uri="{FF2B5EF4-FFF2-40B4-BE49-F238E27FC236}">
                <a16:creationId xmlns:a16="http://schemas.microsoft.com/office/drawing/2014/main" id="{581AFC28-4A21-4680-9FC7-EA879C77A61A}"/>
              </a:ext>
            </a:extLst>
          </p:cNvPr>
          <p:cNvSpPr/>
          <p:nvPr/>
        </p:nvSpPr>
        <p:spPr>
          <a:xfrm>
            <a:off x="4941798" y="3954361"/>
            <a:ext cx="460489" cy="486803"/>
          </a:xfrm>
          <a:custGeom>
            <a:avLst/>
            <a:gdLst>
              <a:gd name="connsiteX0" fmla="*/ 460489 w 460489"/>
              <a:gd name="connsiteY0" fmla="*/ 486803 h 486803"/>
              <a:gd name="connsiteX1" fmla="*/ 289451 w 460489"/>
              <a:gd name="connsiteY1" fmla="*/ 151303 h 486803"/>
              <a:gd name="connsiteX2" fmla="*/ 0 w 460489"/>
              <a:gd name="connsiteY2" fmla="*/ 0 h 486803"/>
            </a:gdLst>
            <a:ahLst/>
            <a:cxnLst>
              <a:cxn ang="0">
                <a:pos x="connsiteX0" y="connsiteY0"/>
              </a:cxn>
              <a:cxn ang="0">
                <a:pos x="connsiteX1" y="connsiteY1"/>
              </a:cxn>
              <a:cxn ang="0">
                <a:pos x="connsiteX2" y="connsiteY2"/>
              </a:cxn>
            </a:cxnLst>
            <a:rect l="l" t="t" r="r" b="b"/>
            <a:pathLst>
              <a:path w="460489" h="486803">
                <a:moveTo>
                  <a:pt x="460489" y="486803"/>
                </a:moveTo>
                <a:cubicBezTo>
                  <a:pt x="413344" y="359620"/>
                  <a:pt x="366199" y="232437"/>
                  <a:pt x="289451" y="151303"/>
                </a:cubicBezTo>
                <a:cubicBezTo>
                  <a:pt x="212703" y="70169"/>
                  <a:pt x="106351" y="35084"/>
                  <a:pt x="0" y="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3A4B702F-6A6A-4B83-98E1-30E6651FF94D}"/>
              </a:ext>
            </a:extLst>
          </p:cNvPr>
          <p:cNvSpPr/>
          <p:nvPr/>
        </p:nvSpPr>
        <p:spPr>
          <a:xfrm>
            <a:off x="3389555" y="3075828"/>
            <a:ext cx="1232448" cy="539694"/>
          </a:xfrm>
          <a:custGeom>
            <a:avLst/>
            <a:gdLst>
              <a:gd name="connsiteX0" fmla="*/ 460489 w 460489"/>
              <a:gd name="connsiteY0" fmla="*/ 486803 h 486803"/>
              <a:gd name="connsiteX1" fmla="*/ 289451 w 460489"/>
              <a:gd name="connsiteY1" fmla="*/ 151303 h 486803"/>
              <a:gd name="connsiteX2" fmla="*/ 0 w 460489"/>
              <a:gd name="connsiteY2" fmla="*/ 0 h 486803"/>
            </a:gdLst>
            <a:ahLst/>
            <a:cxnLst>
              <a:cxn ang="0">
                <a:pos x="connsiteX0" y="connsiteY0"/>
              </a:cxn>
              <a:cxn ang="0">
                <a:pos x="connsiteX1" y="connsiteY1"/>
              </a:cxn>
              <a:cxn ang="0">
                <a:pos x="connsiteX2" y="connsiteY2"/>
              </a:cxn>
            </a:cxnLst>
            <a:rect l="l" t="t" r="r" b="b"/>
            <a:pathLst>
              <a:path w="460489" h="486803">
                <a:moveTo>
                  <a:pt x="460489" y="486803"/>
                </a:moveTo>
                <a:cubicBezTo>
                  <a:pt x="413344" y="359620"/>
                  <a:pt x="366199" y="232437"/>
                  <a:pt x="289451" y="151303"/>
                </a:cubicBezTo>
                <a:cubicBezTo>
                  <a:pt x="212703" y="70169"/>
                  <a:pt x="106351" y="35084"/>
                  <a:pt x="0" y="0"/>
                </a:cubicBezTo>
              </a:path>
            </a:pathLst>
          </a:custGeom>
          <a:noFill/>
          <a:ln>
            <a:solidFill>
              <a:schemeClr val="accent4">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E427AFDD-A3DA-42B6-AC7F-AC6BA9434A36}"/>
              </a:ext>
            </a:extLst>
          </p:cNvPr>
          <p:cNvSpPr txBox="1"/>
          <p:nvPr/>
        </p:nvSpPr>
        <p:spPr>
          <a:xfrm>
            <a:off x="7381553" y="1198782"/>
            <a:ext cx="3258298" cy="1200329"/>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下面的遍历动画只给出从最后的儿子为根的子树遍历完之后回溯的动画，省去了其他从后代顶点回溯到祖先顶点的过程</a:t>
            </a:r>
          </a:p>
        </p:txBody>
      </p:sp>
      <p:sp>
        <p:nvSpPr>
          <p:cNvPr id="81" name="文本框 80">
            <a:extLst>
              <a:ext uri="{FF2B5EF4-FFF2-40B4-BE49-F238E27FC236}">
                <a16:creationId xmlns:a16="http://schemas.microsoft.com/office/drawing/2014/main" id="{4BCC132D-B17E-4EE4-8483-531FF1541AB0}"/>
              </a:ext>
            </a:extLst>
          </p:cNvPr>
          <p:cNvSpPr txBox="1"/>
          <p:nvPr/>
        </p:nvSpPr>
        <p:spPr>
          <a:xfrm>
            <a:off x="1021787" y="1190995"/>
            <a:ext cx="5905286" cy="1223412"/>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后序遍历</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先按同样方式依次遍历该顶点的</a:t>
            </a:r>
            <a:r>
              <a:rPr lang="zh-CN" altLang="en-US" b="1">
                <a:solidFill>
                  <a:srgbClr val="0000FF"/>
                </a:solidFill>
                <a:latin typeface="楷体" panose="02010609060101010101" pitchFamily="49" charset="-122"/>
                <a:ea typeface="楷体" panose="02010609060101010101" pitchFamily="49" charset="-122"/>
              </a:rPr>
              <a:t>每个儿子</a:t>
            </a:r>
            <a:r>
              <a:rPr lang="zh-CN" altLang="en-US" b="1">
                <a:solidFill>
                  <a:srgbClr val="002060"/>
                </a:solidFill>
                <a:latin typeface="楷体" panose="02010609060101010101" pitchFamily="49" charset="-122"/>
                <a:ea typeface="楷体" panose="02010609060101010101" pitchFamily="49" charset="-122"/>
              </a:rPr>
              <a:t>为根的子树</a:t>
            </a: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然后再访问这个顶点</a:t>
            </a:r>
            <a:r>
              <a:rPr lang="zh-CN" altLang="en-US" b="1">
                <a:solidFill>
                  <a:srgbClr val="0000FF"/>
                </a:solidFill>
                <a:latin typeface="楷体" panose="02010609060101010101" pitchFamily="49" charset="-122"/>
                <a:ea typeface="楷体" panose="02010609060101010101" pitchFamily="49" charset="-122"/>
              </a:rPr>
              <a:t>本身</a:t>
            </a:r>
          </a:p>
        </p:txBody>
      </p:sp>
    </p:spTree>
    <p:extLst>
      <p:ext uri="{BB962C8B-B14F-4D97-AF65-F5344CB8AC3E}">
        <p14:creationId xmlns:p14="http://schemas.microsoft.com/office/powerpoint/2010/main" val="281482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7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2" grpId="0" animBg="1"/>
      <p:bldP spid="65" grpId="0" animBg="1"/>
      <p:bldP spid="68" grpId="0" animBg="1"/>
      <p:bldP spid="71" grpId="0" animBg="1"/>
      <p:bldP spid="72" grpId="0" animBg="1"/>
      <p:bldP spid="77" grpId="0" animBg="1"/>
      <p:bldP spid="80" grpId="0" animBg="1"/>
      <p:bldP spid="89" grpId="0" animBg="1"/>
      <p:bldP spid="90" grpId="0" animBg="1"/>
      <p:bldP spid="91" grpId="0" animBg="1"/>
      <p:bldP spid="92" grpId="0" animBg="1"/>
      <p:bldP spid="2" grpId="0" animBg="1"/>
      <p:bldP spid="69" grpId="0" animBg="1"/>
      <p:bldP spid="73" grpId="0" animBg="1"/>
      <p:bldP spid="7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树的前序、中序和后序遍历举例汇总</a:t>
            </a:r>
          </a:p>
        </p:txBody>
      </p:sp>
      <p:grpSp>
        <p:nvGrpSpPr>
          <p:cNvPr id="11" name="组合 10">
            <a:extLst>
              <a:ext uri="{FF2B5EF4-FFF2-40B4-BE49-F238E27FC236}">
                <a16:creationId xmlns:a16="http://schemas.microsoft.com/office/drawing/2014/main" id="{677E178A-AD62-404E-8E8A-81AE1FFFC82D}"/>
              </a:ext>
            </a:extLst>
          </p:cNvPr>
          <p:cNvGrpSpPr/>
          <p:nvPr/>
        </p:nvGrpSpPr>
        <p:grpSpPr>
          <a:xfrm>
            <a:off x="1023685" y="1102360"/>
            <a:ext cx="5072314" cy="3012566"/>
            <a:chOff x="1270731" y="2777538"/>
            <a:chExt cx="5072314" cy="3012566"/>
          </a:xfrm>
        </p:grpSpPr>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E8F8E7C7-0122-4270-88AB-A5A68F40859A}"/>
                    </a:ext>
                  </a:extLst>
                </p:cNvPr>
                <p:cNvSpPr/>
                <p:nvPr/>
              </p:nvSpPr>
              <p:spPr>
                <a:xfrm>
                  <a:off x="3558924" y="2777538"/>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12" name="椭圆 11">
                  <a:extLst>
                    <a:ext uri="{FF2B5EF4-FFF2-40B4-BE49-F238E27FC236}">
                      <a16:creationId xmlns:a16="http://schemas.microsoft.com/office/drawing/2014/main" id="{E8F8E7C7-0122-4270-88AB-A5A68F40859A}"/>
                    </a:ext>
                  </a:extLst>
                </p:cNvPr>
                <p:cNvSpPr>
                  <a:spLocks noRot="1" noChangeAspect="1" noMove="1" noResize="1" noEditPoints="1" noAdjustHandles="1" noChangeArrowheads="1" noChangeShapeType="1" noTextEdit="1"/>
                </p:cNvSpPr>
                <p:nvPr/>
              </p:nvSpPr>
              <p:spPr>
                <a:xfrm>
                  <a:off x="3558924" y="2777538"/>
                  <a:ext cx="494093" cy="505092"/>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0A7975B1-FFEB-4314-BCE7-4A1FF9D1E870}"/>
                    </a:ext>
                  </a:extLst>
                </p:cNvPr>
                <p:cNvSpPr/>
                <p:nvPr/>
              </p:nvSpPr>
              <p:spPr>
                <a:xfrm>
                  <a:off x="2026508"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13" name="椭圆 12">
                  <a:extLst>
                    <a:ext uri="{FF2B5EF4-FFF2-40B4-BE49-F238E27FC236}">
                      <a16:creationId xmlns:a16="http://schemas.microsoft.com/office/drawing/2014/main" id="{0A7975B1-FFEB-4314-BCE7-4A1FF9D1E870}"/>
                    </a:ext>
                  </a:extLst>
                </p:cNvPr>
                <p:cNvSpPr>
                  <a:spLocks noRot="1" noChangeAspect="1" noMove="1" noResize="1" noEditPoints="1" noAdjustHandles="1" noChangeArrowheads="1" noChangeShapeType="1" noTextEdit="1"/>
                </p:cNvSpPr>
                <p:nvPr/>
              </p:nvSpPr>
              <p:spPr>
                <a:xfrm>
                  <a:off x="2026508" y="3581201"/>
                  <a:ext cx="494093" cy="50509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D3B541AC-9E70-4782-A7B6-BA9C69A5C1C6}"/>
                    </a:ext>
                  </a:extLst>
                </p:cNvPr>
                <p:cNvSpPr/>
                <p:nvPr/>
              </p:nvSpPr>
              <p:spPr>
                <a:xfrm>
                  <a:off x="1270731"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14" name="椭圆 13">
                  <a:extLst>
                    <a:ext uri="{FF2B5EF4-FFF2-40B4-BE49-F238E27FC236}">
                      <a16:creationId xmlns:a16="http://schemas.microsoft.com/office/drawing/2014/main" id="{D3B541AC-9E70-4782-A7B6-BA9C69A5C1C6}"/>
                    </a:ext>
                  </a:extLst>
                </p:cNvPr>
                <p:cNvSpPr>
                  <a:spLocks noRot="1" noChangeAspect="1" noMove="1" noResize="1" noEditPoints="1" noAdjustHandles="1" noChangeArrowheads="1" noChangeShapeType="1" noTextEdit="1"/>
                </p:cNvSpPr>
                <p:nvPr/>
              </p:nvSpPr>
              <p:spPr>
                <a:xfrm>
                  <a:off x="1270731" y="4441019"/>
                  <a:ext cx="494093" cy="50509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0B97C3A7-7E61-479C-B4D3-E9DAB998B2C1}"/>
                    </a:ext>
                  </a:extLst>
                </p:cNvPr>
                <p:cNvSpPr/>
                <p:nvPr/>
              </p:nvSpPr>
              <p:spPr>
                <a:xfrm>
                  <a:off x="2026507"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15" name="椭圆 14">
                  <a:extLst>
                    <a:ext uri="{FF2B5EF4-FFF2-40B4-BE49-F238E27FC236}">
                      <a16:creationId xmlns:a16="http://schemas.microsoft.com/office/drawing/2014/main" id="{0B97C3A7-7E61-479C-B4D3-E9DAB998B2C1}"/>
                    </a:ext>
                  </a:extLst>
                </p:cNvPr>
                <p:cNvSpPr>
                  <a:spLocks noRot="1" noChangeAspect="1" noMove="1" noResize="1" noEditPoints="1" noAdjustHandles="1" noChangeArrowheads="1" noChangeShapeType="1" noTextEdit="1"/>
                </p:cNvSpPr>
                <p:nvPr/>
              </p:nvSpPr>
              <p:spPr>
                <a:xfrm>
                  <a:off x="2026507" y="5285012"/>
                  <a:ext cx="494093" cy="505092"/>
                </a:xfrm>
                <a:prstGeom prst="ellipse">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CEB9D698-192F-473B-80A5-5FCDA6006233}"/>
                    </a:ext>
                  </a:extLst>
                </p:cNvPr>
                <p:cNvSpPr/>
                <p:nvPr/>
              </p:nvSpPr>
              <p:spPr>
                <a:xfrm>
                  <a:off x="2800953"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16" name="椭圆 15">
                  <a:extLst>
                    <a:ext uri="{FF2B5EF4-FFF2-40B4-BE49-F238E27FC236}">
                      <a16:creationId xmlns:a16="http://schemas.microsoft.com/office/drawing/2014/main" id="{CEB9D698-192F-473B-80A5-5FCDA6006233}"/>
                    </a:ext>
                  </a:extLst>
                </p:cNvPr>
                <p:cNvSpPr>
                  <a:spLocks noRot="1" noChangeAspect="1" noMove="1" noResize="1" noEditPoints="1" noAdjustHandles="1" noChangeArrowheads="1" noChangeShapeType="1" noTextEdit="1"/>
                </p:cNvSpPr>
                <p:nvPr/>
              </p:nvSpPr>
              <p:spPr>
                <a:xfrm>
                  <a:off x="2800953" y="4427780"/>
                  <a:ext cx="494093" cy="50509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C6E070BD-0C02-4C6B-AC3B-E0F1727A2437}"/>
                    </a:ext>
                  </a:extLst>
                </p:cNvPr>
                <p:cNvSpPr/>
                <p:nvPr/>
              </p:nvSpPr>
              <p:spPr>
                <a:xfrm>
                  <a:off x="3558924" y="5285012"/>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18" name="椭圆 17">
                  <a:extLst>
                    <a:ext uri="{FF2B5EF4-FFF2-40B4-BE49-F238E27FC236}">
                      <a16:creationId xmlns:a16="http://schemas.microsoft.com/office/drawing/2014/main" id="{C6E070BD-0C02-4C6B-AC3B-E0F1727A2437}"/>
                    </a:ext>
                  </a:extLst>
                </p:cNvPr>
                <p:cNvSpPr>
                  <a:spLocks noRot="1" noChangeAspect="1" noMove="1" noResize="1" noEditPoints="1" noAdjustHandles="1" noChangeArrowheads="1" noChangeShapeType="1" noTextEdit="1"/>
                </p:cNvSpPr>
                <p:nvPr/>
              </p:nvSpPr>
              <p:spPr>
                <a:xfrm>
                  <a:off x="3558924" y="5285012"/>
                  <a:ext cx="494093" cy="505092"/>
                </a:xfrm>
                <a:prstGeom prst="ellipse">
                  <a:avLst/>
                </a:prstGeom>
                <a:blipFill>
                  <a:blip r:embed="rId7"/>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719DA5AE-3417-4734-A600-31B0F80DA616}"/>
                    </a:ext>
                  </a:extLst>
                </p:cNvPr>
                <p:cNvSpPr/>
                <p:nvPr/>
              </p:nvSpPr>
              <p:spPr>
                <a:xfrm>
                  <a:off x="4322017"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19" name="椭圆 18">
                  <a:extLst>
                    <a:ext uri="{FF2B5EF4-FFF2-40B4-BE49-F238E27FC236}">
                      <a16:creationId xmlns:a16="http://schemas.microsoft.com/office/drawing/2014/main" id="{719DA5AE-3417-4734-A600-31B0F80DA616}"/>
                    </a:ext>
                  </a:extLst>
                </p:cNvPr>
                <p:cNvSpPr>
                  <a:spLocks noRot="1" noChangeAspect="1" noMove="1" noResize="1" noEditPoints="1" noAdjustHandles="1" noChangeArrowheads="1" noChangeShapeType="1" noTextEdit="1"/>
                </p:cNvSpPr>
                <p:nvPr/>
              </p:nvSpPr>
              <p:spPr>
                <a:xfrm>
                  <a:off x="4322017" y="4427780"/>
                  <a:ext cx="494093" cy="50509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37EC454F-35B2-491C-8F77-A522F8DFB57F}"/>
                    </a:ext>
                  </a:extLst>
                </p:cNvPr>
                <p:cNvSpPr/>
                <p:nvPr/>
              </p:nvSpPr>
              <p:spPr>
                <a:xfrm>
                  <a:off x="5106303"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20" name="椭圆 19">
                  <a:extLst>
                    <a:ext uri="{FF2B5EF4-FFF2-40B4-BE49-F238E27FC236}">
                      <a16:creationId xmlns:a16="http://schemas.microsoft.com/office/drawing/2014/main" id="{37EC454F-35B2-491C-8F77-A522F8DFB57F}"/>
                    </a:ext>
                  </a:extLst>
                </p:cNvPr>
                <p:cNvSpPr>
                  <a:spLocks noRot="1" noChangeAspect="1" noMove="1" noResize="1" noEditPoints="1" noAdjustHandles="1" noChangeArrowheads="1" noChangeShapeType="1" noTextEdit="1"/>
                </p:cNvSpPr>
                <p:nvPr/>
              </p:nvSpPr>
              <p:spPr>
                <a:xfrm>
                  <a:off x="5106303" y="3581201"/>
                  <a:ext cx="494093" cy="505092"/>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328E6F63-BB40-49C7-8715-7D2F3EDDF41F}"/>
                    </a:ext>
                  </a:extLst>
                </p:cNvPr>
                <p:cNvSpPr/>
                <p:nvPr/>
              </p:nvSpPr>
              <p:spPr>
                <a:xfrm>
                  <a:off x="5848952"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21" name="椭圆 20">
                  <a:extLst>
                    <a:ext uri="{FF2B5EF4-FFF2-40B4-BE49-F238E27FC236}">
                      <a16:creationId xmlns:a16="http://schemas.microsoft.com/office/drawing/2014/main" id="{328E6F63-BB40-49C7-8715-7D2F3EDDF41F}"/>
                    </a:ext>
                  </a:extLst>
                </p:cNvPr>
                <p:cNvSpPr>
                  <a:spLocks noRot="1" noChangeAspect="1" noMove="1" noResize="1" noEditPoints="1" noAdjustHandles="1" noChangeArrowheads="1" noChangeShapeType="1" noTextEdit="1"/>
                </p:cNvSpPr>
                <p:nvPr/>
              </p:nvSpPr>
              <p:spPr>
                <a:xfrm>
                  <a:off x="5848952" y="4441019"/>
                  <a:ext cx="494093" cy="505092"/>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6DB38BED-3438-4E3B-A9AD-2198BA0BD359}"/>
                    </a:ext>
                  </a:extLst>
                </p:cNvPr>
                <p:cNvSpPr/>
                <p:nvPr/>
              </p:nvSpPr>
              <p:spPr>
                <a:xfrm>
                  <a:off x="3558601" y="3581201"/>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22" name="椭圆 21">
                  <a:extLst>
                    <a:ext uri="{FF2B5EF4-FFF2-40B4-BE49-F238E27FC236}">
                      <a16:creationId xmlns:a16="http://schemas.microsoft.com/office/drawing/2014/main" id="{6DB38BED-3438-4E3B-A9AD-2198BA0BD359}"/>
                    </a:ext>
                  </a:extLst>
                </p:cNvPr>
                <p:cNvSpPr>
                  <a:spLocks noRot="1" noChangeAspect="1" noMove="1" noResize="1" noEditPoints="1" noAdjustHandles="1" noChangeArrowheads="1" noChangeShapeType="1" noTextEdit="1"/>
                </p:cNvSpPr>
                <p:nvPr/>
              </p:nvSpPr>
              <p:spPr>
                <a:xfrm>
                  <a:off x="3558601" y="3581201"/>
                  <a:ext cx="494093" cy="505092"/>
                </a:xfrm>
                <a:prstGeom prst="ellipse">
                  <a:avLst/>
                </a:prstGeom>
                <a:blipFill>
                  <a:blip r:embed="rId11"/>
                  <a:stretch>
                    <a:fillRect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387BC1DB-566C-4E7D-8152-59427E07748E}"/>
                    </a:ext>
                  </a:extLst>
                </p:cNvPr>
                <p:cNvSpPr/>
                <p:nvPr/>
              </p:nvSpPr>
              <p:spPr>
                <a:xfrm>
                  <a:off x="2034198" y="4427780"/>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23" name="椭圆 22">
                  <a:extLst>
                    <a:ext uri="{FF2B5EF4-FFF2-40B4-BE49-F238E27FC236}">
                      <a16:creationId xmlns:a16="http://schemas.microsoft.com/office/drawing/2014/main" id="{387BC1DB-566C-4E7D-8152-59427E07748E}"/>
                    </a:ext>
                  </a:extLst>
                </p:cNvPr>
                <p:cNvSpPr>
                  <a:spLocks noRot="1" noChangeAspect="1" noMove="1" noResize="1" noEditPoints="1" noAdjustHandles="1" noChangeArrowheads="1" noChangeShapeType="1" noTextEdit="1"/>
                </p:cNvSpPr>
                <p:nvPr/>
              </p:nvSpPr>
              <p:spPr>
                <a:xfrm>
                  <a:off x="2034198" y="4427780"/>
                  <a:ext cx="494093" cy="505092"/>
                </a:xfrm>
                <a:prstGeom prst="ellipse">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780A30DF-FDE9-495F-AAA4-392369BF9418}"/>
                    </a:ext>
                  </a:extLst>
                </p:cNvPr>
                <p:cNvSpPr/>
                <p:nvPr/>
              </p:nvSpPr>
              <p:spPr>
                <a:xfrm>
                  <a:off x="5106303" y="4441019"/>
                  <a:ext cx="494093" cy="50509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24" name="椭圆 23">
                  <a:extLst>
                    <a:ext uri="{FF2B5EF4-FFF2-40B4-BE49-F238E27FC236}">
                      <a16:creationId xmlns:a16="http://schemas.microsoft.com/office/drawing/2014/main" id="{780A30DF-FDE9-495F-AAA4-392369BF9418}"/>
                    </a:ext>
                  </a:extLst>
                </p:cNvPr>
                <p:cNvSpPr>
                  <a:spLocks noRot="1" noChangeAspect="1" noMove="1" noResize="1" noEditPoints="1" noAdjustHandles="1" noChangeArrowheads="1" noChangeShapeType="1" noTextEdit="1"/>
                </p:cNvSpPr>
                <p:nvPr/>
              </p:nvSpPr>
              <p:spPr>
                <a:xfrm>
                  <a:off x="5106303" y="4441019"/>
                  <a:ext cx="494093" cy="505092"/>
                </a:xfrm>
                <a:prstGeom prst="ellipse">
                  <a:avLst/>
                </a:prstGeom>
                <a:blipFill>
                  <a:blip r:embed="rId13"/>
                  <a:stretch>
                    <a:fillRect/>
                  </a:stretch>
                </a:blipFill>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F3B62E8E-6578-4F3D-BB7A-0F98D524E303}"/>
                </a:ext>
              </a:extLst>
            </p:cNvPr>
            <p:cNvCxnSpPr>
              <a:cxnSpLocks/>
              <a:stCxn id="12" idx="3"/>
              <a:endCxn id="13" idx="7"/>
            </p:cNvCxnSpPr>
            <p:nvPr/>
          </p:nvCxnSpPr>
          <p:spPr>
            <a:xfrm flipH="1">
              <a:off x="2448243" y="3208661"/>
              <a:ext cx="1183039"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14926553-4E29-4866-91F9-DDF6DE89950F}"/>
                </a:ext>
              </a:extLst>
            </p:cNvPr>
            <p:cNvCxnSpPr>
              <a:stCxn id="12" idx="5"/>
              <a:endCxn id="20" idx="1"/>
            </p:cNvCxnSpPr>
            <p:nvPr/>
          </p:nvCxnSpPr>
          <p:spPr>
            <a:xfrm>
              <a:off x="3980659" y="3208661"/>
              <a:ext cx="1198002" cy="446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C8099D3-449B-4138-9407-330A90FD3164}"/>
                </a:ext>
              </a:extLst>
            </p:cNvPr>
            <p:cNvCxnSpPr>
              <a:stCxn id="12" idx="4"/>
              <a:endCxn id="22" idx="0"/>
            </p:cNvCxnSpPr>
            <p:nvPr/>
          </p:nvCxnSpPr>
          <p:spPr>
            <a:xfrm flipH="1">
              <a:off x="3805648" y="3282630"/>
              <a:ext cx="323" cy="298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9BD3898-D4A6-49FD-B343-952CE73B6A80}"/>
                </a:ext>
              </a:extLst>
            </p:cNvPr>
            <p:cNvCxnSpPr>
              <a:stCxn id="13" idx="3"/>
              <a:endCxn id="14" idx="7"/>
            </p:cNvCxnSpPr>
            <p:nvPr/>
          </p:nvCxnSpPr>
          <p:spPr>
            <a:xfrm flipH="1">
              <a:off x="1692466" y="4012324"/>
              <a:ext cx="406400" cy="502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1CB50CB-6F4F-4D2D-BFE8-E4454194DF77}"/>
                </a:ext>
              </a:extLst>
            </p:cNvPr>
            <p:cNvCxnSpPr>
              <a:endCxn id="23" idx="0"/>
            </p:cNvCxnSpPr>
            <p:nvPr/>
          </p:nvCxnSpPr>
          <p:spPr>
            <a:xfrm>
              <a:off x="2281244" y="4086293"/>
              <a:ext cx="1" cy="3414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0AFB8C9-1145-4599-A2F9-7C18771856CB}"/>
                </a:ext>
              </a:extLst>
            </p:cNvPr>
            <p:cNvCxnSpPr>
              <a:stCxn id="13" idx="5"/>
              <a:endCxn id="16" idx="1"/>
            </p:cNvCxnSpPr>
            <p:nvPr/>
          </p:nvCxnSpPr>
          <p:spPr>
            <a:xfrm>
              <a:off x="2448243" y="4012324"/>
              <a:ext cx="425068"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38B34A21-87A5-482C-AA3F-EF4C6084E07A}"/>
                </a:ext>
              </a:extLst>
            </p:cNvPr>
            <p:cNvCxnSpPr>
              <a:stCxn id="16" idx="3"/>
              <a:endCxn id="15" idx="7"/>
            </p:cNvCxnSpPr>
            <p:nvPr/>
          </p:nvCxnSpPr>
          <p:spPr>
            <a:xfrm flipH="1">
              <a:off x="2448242" y="4858903"/>
              <a:ext cx="425069"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A9CAA534-81D3-4CDE-A86B-0448CE80FD87}"/>
                </a:ext>
              </a:extLst>
            </p:cNvPr>
            <p:cNvCxnSpPr>
              <a:stCxn id="16" idx="5"/>
              <a:endCxn id="18" idx="1"/>
            </p:cNvCxnSpPr>
            <p:nvPr/>
          </p:nvCxnSpPr>
          <p:spPr>
            <a:xfrm>
              <a:off x="3222688" y="4858903"/>
              <a:ext cx="408594" cy="50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BB4C68DA-3957-4DEA-AD09-5504538F2142}"/>
                </a:ext>
              </a:extLst>
            </p:cNvPr>
            <p:cNvCxnSpPr>
              <a:stCxn id="20" idx="3"/>
              <a:endCxn id="19" idx="7"/>
            </p:cNvCxnSpPr>
            <p:nvPr/>
          </p:nvCxnSpPr>
          <p:spPr>
            <a:xfrm flipH="1">
              <a:off x="4743752" y="4012324"/>
              <a:ext cx="434909" cy="489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C719A84-7E5C-449C-AD4C-9BE9F7143D16}"/>
                </a:ext>
              </a:extLst>
            </p:cNvPr>
            <p:cNvCxnSpPr>
              <a:stCxn id="20" idx="4"/>
              <a:endCxn id="24" idx="0"/>
            </p:cNvCxnSpPr>
            <p:nvPr/>
          </p:nvCxnSpPr>
          <p:spPr>
            <a:xfrm>
              <a:off x="5353350" y="4086293"/>
              <a:ext cx="0" cy="3547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1727C69A-8EF3-45F9-B71D-43AD9FD92908}"/>
                </a:ext>
              </a:extLst>
            </p:cNvPr>
            <p:cNvCxnSpPr>
              <a:stCxn id="20" idx="5"/>
              <a:endCxn id="21" idx="1"/>
            </p:cNvCxnSpPr>
            <p:nvPr/>
          </p:nvCxnSpPr>
          <p:spPr>
            <a:xfrm>
              <a:off x="5528038" y="4012324"/>
              <a:ext cx="393272" cy="50266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C963C439-0797-4E83-8A8F-FE7E46B0DB3A}"/>
              </a:ext>
            </a:extLst>
          </p:cNvPr>
          <p:cNvGrpSpPr/>
          <p:nvPr/>
        </p:nvGrpSpPr>
        <p:grpSpPr>
          <a:xfrm>
            <a:off x="2315524" y="4319948"/>
            <a:ext cx="6075651" cy="516730"/>
            <a:chOff x="1485213" y="4501550"/>
            <a:chExt cx="6075651" cy="516730"/>
          </a:xfrm>
        </p:grpSpPr>
        <mc:AlternateContent xmlns:mc="http://schemas.openxmlformats.org/markup-compatibility/2006" xmlns:a14="http://schemas.microsoft.com/office/drawing/2010/main">
          <mc:Choice Requires="a14">
            <p:sp>
              <p:nvSpPr>
                <p:cNvPr id="59" name="椭圆 58">
                  <a:extLst>
                    <a:ext uri="{FF2B5EF4-FFF2-40B4-BE49-F238E27FC236}">
                      <a16:creationId xmlns:a16="http://schemas.microsoft.com/office/drawing/2014/main" id="{B1DA5D6E-9927-486B-8B9F-45716CEB32D6}"/>
                    </a:ext>
                  </a:extLst>
                </p:cNvPr>
                <p:cNvSpPr/>
                <p:nvPr/>
              </p:nvSpPr>
              <p:spPr>
                <a:xfrm>
                  <a:off x="1485213" y="450373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59" name="椭圆 58">
                  <a:extLst>
                    <a:ext uri="{FF2B5EF4-FFF2-40B4-BE49-F238E27FC236}">
                      <a16:creationId xmlns:a16="http://schemas.microsoft.com/office/drawing/2014/main" id="{B1DA5D6E-9927-486B-8B9F-45716CEB32D6}"/>
                    </a:ext>
                  </a:extLst>
                </p:cNvPr>
                <p:cNvSpPr>
                  <a:spLocks noRot="1" noChangeAspect="1" noMove="1" noResize="1" noEditPoints="1" noAdjustHandles="1" noChangeArrowheads="1" noChangeShapeType="1" noTextEdit="1"/>
                </p:cNvSpPr>
                <p:nvPr/>
              </p:nvSpPr>
              <p:spPr>
                <a:xfrm>
                  <a:off x="1485213" y="4503730"/>
                  <a:ext cx="494093" cy="505092"/>
                </a:xfrm>
                <a:prstGeom prst="ellipse">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椭圆 59">
                  <a:extLst>
                    <a:ext uri="{FF2B5EF4-FFF2-40B4-BE49-F238E27FC236}">
                      <a16:creationId xmlns:a16="http://schemas.microsoft.com/office/drawing/2014/main" id="{BCA8870B-2D54-4E16-802D-AB29A24906CC}"/>
                    </a:ext>
                  </a:extLst>
                </p:cNvPr>
                <p:cNvSpPr/>
                <p:nvPr/>
              </p:nvSpPr>
              <p:spPr>
                <a:xfrm>
                  <a:off x="1987448" y="450373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60" name="椭圆 59">
                  <a:extLst>
                    <a:ext uri="{FF2B5EF4-FFF2-40B4-BE49-F238E27FC236}">
                      <a16:creationId xmlns:a16="http://schemas.microsoft.com/office/drawing/2014/main" id="{BCA8870B-2D54-4E16-802D-AB29A24906CC}"/>
                    </a:ext>
                  </a:extLst>
                </p:cNvPr>
                <p:cNvSpPr>
                  <a:spLocks noRot="1" noChangeAspect="1" noMove="1" noResize="1" noEditPoints="1" noAdjustHandles="1" noChangeArrowheads="1" noChangeShapeType="1" noTextEdit="1"/>
                </p:cNvSpPr>
                <p:nvPr/>
              </p:nvSpPr>
              <p:spPr>
                <a:xfrm>
                  <a:off x="1987448" y="4503730"/>
                  <a:ext cx="494093" cy="505092"/>
                </a:xfrm>
                <a:prstGeom prst="ellipse">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椭圆 60">
                  <a:extLst>
                    <a:ext uri="{FF2B5EF4-FFF2-40B4-BE49-F238E27FC236}">
                      <a16:creationId xmlns:a16="http://schemas.microsoft.com/office/drawing/2014/main" id="{600260D3-1508-4F2A-91EE-18CC64EC9253}"/>
                    </a:ext>
                  </a:extLst>
                </p:cNvPr>
                <p:cNvSpPr/>
                <p:nvPr/>
              </p:nvSpPr>
              <p:spPr>
                <a:xfrm>
                  <a:off x="2481549" y="450938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61" name="椭圆 60">
                  <a:extLst>
                    <a:ext uri="{FF2B5EF4-FFF2-40B4-BE49-F238E27FC236}">
                      <a16:creationId xmlns:a16="http://schemas.microsoft.com/office/drawing/2014/main" id="{600260D3-1508-4F2A-91EE-18CC64EC9253}"/>
                    </a:ext>
                  </a:extLst>
                </p:cNvPr>
                <p:cNvSpPr>
                  <a:spLocks noRot="1" noChangeAspect="1" noMove="1" noResize="1" noEditPoints="1" noAdjustHandles="1" noChangeArrowheads="1" noChangeShapeType="1" noTextEdit="1"/>
                </p:cNvSpPr>
                <p:nvPr/>
              </p:nvSpPr>
              <p:spPr>
                <a:xfrm>
                  <a:off x="2481549" y="4509384"/>
                  <a:ext cx="494093" cy="505092"/>
                </a:xfrm>
                <a:prstGeom prst="ellipse">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椭圆 61">
                  <a:extLst>
                    <a:ext uri="{FF2B5EF4-FFF2-40B4-BE49-F238E27FC236}">
                      <a16:creationId xmlns:a16="http://schemas.microsoft.com/office/drawing/2014/main" id="{365BB256-4BD0-4E44-A660-03BD8212CBCD}"/>
                    </a:ext>
                  </a:extLst>
                </p:cNvPr>
                <p:cNvSpPr/>
                <p:nvPr/>
              </p:nvSpPr>
              <p:spPr>
                <a:xfrm>
                  <a:off x="3000060" y="4509384"/>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62" name="椭圆 61">
                  <a:extLst>
                    <a:ext uri="{FF2B5EF4-FFF2-40B4-BE49-F238E27FC236}">
                      <a16:creationId xmlns:a16="http://schemas.microsoft.com/office/drawing/2014/main" id="{365BB256-4BD0-4E44-A660-03BD8212CBCD}"/>
                    </a:ext>
                  </a:extLst>
                </p:cNvPr>
                <p:cNvSpPr>
                  <a:spLocks noRot="1" noChangeAspect="1" noMove="1" noResize="1" noEditPoints="1" noAdjustHandles="1" noChangeArrowheads="1" noChangeShapeType="1" noTextEdit="1"/>
                </p:cNvSpPr>
                <p:nvPr/>
              </p:nvSpPr>
              <p:spPr>
                <a:xfrm>
                  <a:off x="3000060" y="4509384"/>
                  <a:ext cx="494093" cy="492252"/>
                </a:xfrm>
                <a:prstGeom prst="ellipse">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椭圆 62">
                  <a:extLst>
                    <a:ext uri="{FF2B5EF4-FFF2-40B4-BE49-F238E27FC236}">
                      <a16:creationId xmlns:a16="http://schemas.microsoft.com/office/drawing/2014/main" id="{642A0E3E-F02E-4A20-A6A9-1D06F3178AF5}"/>
                    </a:ext>
                  </a:extLst>
                </p:cNvPr>
                <p:cNvSpPr/>
                <p:nvPr/>
              </p:nvSpPr>
              <p:spPr>
                <a:xfrm>
                  <a:off x="3510444" y="450938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63" name="椭圆 62">
                  <a:extLst>
                    <a:ext uri="{FF2B5EF4-FFF2-40B4-BE49-F238E27FC236}">
                      <a16:creationId xmlns:a16="http://schemas.microsoft.com/office/drawing/2014/main" id="{642A0E3E-F02E-4A20-A6A9-1D06F3178AF5}"/>
                    </a:ext>
                  </a:extLst>
                </p:cNvPr>
                <p:cNvSpPr>
                  <a:spLocks noRot="1" noChangeAspect="1" noMove="1" noResize="1" noEditPoints="1" noAdjustHandles="1" noChangeArrowheads="1" noChangeShapeType="1" noTextEdit="1"/>
                </p:cNvSpPr>
                <p:nvPr/>
              </p:nvSpPr>
              <p:spPr>
                <a:xfrm>
                  <a:off x="3510444" y="4509384"/>
                  <a:ext cx="494093" cy="505092"/>
                </a:xfrm>
                <a:prstGeom prst="ellipse">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椭圆 63">
                  <a:extLst>
                    <a:ext uri="{FF2B5EF4-FFF2-40B4-BE49-F238E27FC236}">
                      <a16:creationId xmlns:a16="http://schemas.microsoft.com/office/drawing/2014/main" id="{5E7094B4-0349-41E8-9A1B-AA2265D84D9F}"/>
                    </a:ext>
                  </a:extLst>
                </p:cNvPr>
                <p:cNvSpPr/>
                <p:nvPr/>
              </p:nvSpPr>
              <p:spPr>
                <a:xfrm>
                  <a:off x="4020807" y="451156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64" name="椭圆 63">
                  <a:extLst>
                    <a:ext uri="{FF2B5EF4-FFF2-40B4-BE49-F238E27FC236}">
                      <a16:creationId xmlns:a16="http://schemas.microsoft.com/office/drawing/2014/main" id="{5E7094B4-0349-41E8-9A1B-AA2265D84D9F}"/>
                    </a:ext>
                  </a:extLst>
                </p:cNvPr>
                <p:cNvSpPr>
                  <a:spLocks noRot="1" noChangeAspect="1" noMove="1" noResize="1" noEditPoints="1" noAdjustHandles="1" noChangeArrowheads="1" noChangeShapeType="1" noTextEdit="1"/>
                </p:cNvSpPr>
                <p:nvPr/>
              </p:nvSpPr>
              <p:spPr>
                <a:xfrm>
                  <a:off x="4020807" y="4511564"/>
                  <a:ext cx="494093" cy="505092"/>
                </a:xfrm>
                <a:prstGeom prst="ellipse">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椭圆 64">
                  <a:extLst>
                    <a:ext uri="{FF2B5EF4-FFF2-40B4-BE49-F238E27FC236}">
                      <a16:creationId xmlns:a16="http://schemas.microsoft.com/office/drawing/2014/main" id="{116D8E96-2BFC-43BB-BE65-4FAA88D45C75}"/>
                    </a:ext>
                  </a:extLst>
                </p:cNvPr>
                <p:cNvSpPr/>
                <p:nvPr/>
              </p:nvSpPr>
              <p:spPr>
                <a:xfrm>
                  <a:off x="4531170" y="450155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65" name="椭圆 64">
                  <a:extLst>
                    <a:ext uri="{FF2B5EF4-FFF2-40B4-BE49-F238E27FC236}">
                      <a16:creationId xmlns:a16="http://schemas.microsoft.com/office/drawing/2014/main" id="{116D8E96-2BFC-43BB-BE65-4FAA88D45C75}"/>
                    </a:ext>
                  </a:extLst>
                </p:cNvPr>
                <p:cNvSpPr>
                  <a:spLocks noRot="1" noChangeAspect="1" noMove="1" noResize="1" noEditPoints="1" noAdjustHandles="1" noChangeArrowheads="1" noChangeShapeType="1" noTextEdit="1"/>
                </p:cNvSpPr>
                <p:nvPr/>
              </p:nvSpPr>
              <p:spPr>
                <a:xfrm>
                  <a:off x="4531170" y="4501550"/>
                  <a:ext cx="494093" cy="505092"/>
                </a:xfrm>
                <a:prstGeom prst="ellipse">
                  <a:avLst/>
                </a:prstGeom>
                <a:blipFill>
                  <a:blip r:embed="rId20"/>
                  <a:stretch>
                    <a:fillRect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椭圆 65">
                  <a:extLst>
                    <a:ext uri="{FF2B5EF4-FFF2-40B4-BE49-F238E27FC236}">
                      <a16:creationId xmlns:a16="http://schemas.microsoft.com/office/drawing/2014/main" id="{C88AAED4-DFBF-41A3-8FE1-340FAB7B5517}"/>
                    </a:ext>
                  </a:extLst>
                </p:cNvPr>
                <p:cNvSpPr/>
                <p:nvPr/>
              </p:nvSpPr>
              <p:spPr>
                <a:xfrm>
                  <a:off x="5039985" y="450938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66" name="椭圆 65">
                  <a:extLst>
                    <a:ext uri="{FF2B5EF4-FFF2-40B4-BE49-F238E27FC236}">
                      <a16:creationId xmlns:a16="http://schemas.microsoft.com/office/drawing/2014/main" id="{C88AAED4-DFBF-41A3-8FE1-340FAB7B5517}"/>
                    </a:ext>
                  </a:extLst>
                </p:cNvPr>
                <p:cNvSpPr>
                  <a:spLocks noRot="1" noChangeAspect="1" noMove="1" noResize="1" noEditPoints="1" noAdjustHandles="1" noChangeArrowheads="1" noChangeShapeType="1" noTextEdit="1"/>
                </p:cNvSpPr>
                <p:nvPr/>
              </p:nvSpPr>
              <p:spPr>
                <a:xfrm>
                  <a:off x="5039985" y="4509384"/>
                  <a:ext cx="494093" cy="505092"/>
                </a:xfrm>
                <a:prstGeom prst="ellipse">
                  <a:avLst/>
                </a:prstGeom>
                <a:blipFill>
                  <a:blip r:embed="rId21"/>
                  <a:stretch>
                    <a:fillRect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椭圆 66">
                  <a:extLst>
                    <a:ext uri="{FF2B5EF4-FFF2-40B4-BE49-F238E27FC236}">
                      <a16:creationId xmlns:a16="http://schemas.microsoft.com/office/drawing/2014/main" id="{8FAB1932-AD0B-45DE-816F-5D0D1DC6A56A}"/>
                    </a:ext>
                  </a:extLst>
                </p:cNvPr>
                <p:cNvSpPr/>
                <p:nvPr/>
              </p:nvSpPr>
              <p:spPr>
                <a:xfrm>
                  <a:off x="5551924" y="451128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67" name="椭圆 66">
                  <a:extLst>
                    <a:ext uri="{FF2B5EF4-FFF2-40B4-BE49-F238E27FC236}">
                      <a16:creationId xmlns:a16="http://schemas.microsoft.com/office/drawing/2014/main" id="{8FAB1932-AD0B-45DE-816F-5D0D1DC6A56A}"/>
                    </a:ext>
                  </a:extLst>
                </p:cNvPr>
                <p:cNvSpPr>
                  <a:spLocks noRot="1" noChangeAspect="1" noMove="1" noResize="1" noEditPoints="1" noAdjustHandles="1" noChangeArrowheads="1" noChangeShapeType="1" noTextEdit="1"/>
                </p:cNvSpPr>
                <p:nvPr/>
              </p:nvSpPr>
              <p:spPr>
                <a:xfrm>
                  <a:off x="5551924" y="4511286"/>
                  <a:ext cx="494093" cy="505092"/>
                </a:xfrm>
                <a:prstGeom prst="ellipse">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椭圆 67">
                  <a:extLst>
                    <a:ext uri="{FF2B5EF4-FFF2-40B4-BE49-F238E27FC236}">
                      <a16:creationId xmlns:a16="http://schemas.microsoft.com/office/drawing/2014/main" id="{CA43A287-F160-4F04-9C1A-7267A06CD384}"/>
                    </a:ext>
                  </a:extLst>
                </p:cNvPr>
                <p:cNvSpPr/>
                <p:nvPr/>
              </p:nvSpPr>
              <p:spPr>
                <a:xfrm>
                  <a:off x="6054166" y="4513188"/>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68" name="椭圆 67">
                  <a:extLst>
                    <a:ext uri="{FF2B5EF4-FFF2-40B4-BE49-F238E27FC236}">
                      <a16:creationId xmlns:a16="http://schemas.microsoft.com/office/drawing/2014/main" id="{CA43A287-F160-4F04-9C1A-7267A06CD384}"/>
                    </a:ext>
                  </a:extLst>
                </p:cNvPr>
                <p:cNvSpPr>
                  <a:spLocks noRot="1" noChangeAspect="1" noMove="1" noResize="1" noEditPoints="1" noAdjustHandles="1" noChangeArrowheads="1" noChangeShapeType="1" noTextEdit="1"/>
                </p:cNvSpPr>
                <p:nvPr/>
              </p:nvSpPr>
              <p:spPr>
                <a:xfrm>
                  <a:off x="6054166" y="4513188"/>
                  <a:ext cx="494093" cy="505092"/>
                </a:xfrm>
                <a:prstGeom prst="ellipse">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椭圆 68">
                  <a:extLst>
                    <a:ext uri="{FF2B5EF4-FFF2-40B4-BE49-F238E27FC236}">
                      <a16:creationId xmlns:a16="http://schemas.microsoft.com/office/drawing/2014/main" id="{1ED45069-B24A-416A-90DA-1F9163BBC078}"/>
                    </a:ext>
                  </a:extLst>
                </p:cNvPr>
                <p:cNvSpPr/>
                <p:nvPr/>
              </p:nvSpPr>
              <p:spPr>
                <a:xfrm>
                  <a:off x="6564529" y="4502999"/>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69" name="椭圆 68">
                  <a:extLst>
                    <a:ext uri="{FF2B5EF4-FFF2-40B4-BE49-F238E27FC236}">
                      <a16:creationId xmlns:a16="http://schemas.microsoft.com/office/drawing/2014/main" id="{1ED45069-B24A-416A-90DA-1F9163BBC078}"/>
                    </a:ext>
                  </a:extLst>
                </p:cNvPr>
                <p:cNvSpPr>
                  <a:spLocks noRot="1" noChangeAspect="1" noMove="1" noResize="1" noEditPoints="1" noAdjustHandles="1" noChangeArrowheads="1" noChangeShapeType="1" noTextEdit="1"/>
                </p:cNvSpPr>
                <p:nvPr/>
              </p:nvSpPr>
              <p:spPr>
                <a:xfrm>
                  <a:off x="6564529" y="4502999"/>
                  <a:ext cx="494093" cy="505092"/>
                </a:xfrm>
                <a:prstGeom prst="ellipse">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椭圆 69">
                  <a:extLst>
                    <a:ext uri="{FF2B5EF4-FFF2-40B4-BE49-F238E27FC236}">
                      <a16:creationId xmlns:a16="http://schemas.microsoft.com/office/drawing/2014/main" id="{75F7EF80-D026-4792-9B73-4042B3CD96D0}"/>
                    </a:ext>
                  </a:extLst>
                </p:cNvPr>
                <p:cNvSpPr/>
                <p:nvPr/>
              </p:nvSpPr>
              <p:spPr>
                <a:xfrm>
                  <a:off x="7066771" y="4504901"/>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70" name="椭圆 69">
                  <a:extLst>
                    <a:ext uri="{FF2B5EF4-FFF2-40B4-BE49-F238E27FC236}">
                      <a16:creationId xmlns:a16="http://schemas.microsoft.com/office/drawing/2014/main" id="{75F7EF80-D026-4792-9B73-4042B3CD96D0}"/>
                    </a:ext>
                  </a:extLst>
                </p:cNvPr>
                <p:cNvSpPr>
                  <a:spLocks noRot="1" noChangeAspect="1" noMove="1" noResize="1" noEditPoints="1" noAdjustHandles="1" noChangeArrowheads="1" noChangeShapeType="1" noTextEdit="1"/>
                </p:cNvSpPr>
                <p:nvPr/>
              </p:nvSpPr>
              <p:spPr>
                <a:xfrm>
                  <a:off x="7066771" y="4504901"/>
                  <a:ext cx="494093" cy="505092"/>
                </a:xfrm>
                <a:prstGeom prst="ellipse">
                  <a:avLst/>
                </a:prstGeom>
                <a:blipFill>
                  <a:blip r:embed="rId25"/>
                  <a:stretch>
                    <a:fillRect/>
                  </a:stretch>
                </a:blipFill>
              </p:spPr>
              <p:txBody>
                <a:bodyPr/>
                <a:lstStyle/>
                <a:p>
                  <a:r>
                    <a:rPr lang="zh-CN" altLang="en-US">
                      <a:noFill/>
                    </a:rPr>
                    <a:t> </a:t>
                  </a:r>
                </a:p>
              </p:txBody>
            </p:sp>
          </mc:Fallback>
        </mc:AlternateContent>
      </p:grpSp>
      <p:sp>
        <p:nvSpPr>
          <p:cNvPr id="71" name="文本框 70">
            <a:extLst>
              <a:ext uri="{FF2B5EF4-FFF2-40B4-BE49-F238E27FC236}">
                <a16:creationId xmlns:a16="http://schemas.microsoft.com/office/drawing/2014/main" id="{13DF4F32-E0EC-473F-928E-A43EB8FE04BB}"/>
              </a:ext>
            </a:extLst>
          </p:cNvPr>
          <p:cNvSpPr txBox="1"/>
          <p:nvPr/>
        </p:nvSpPr>
        <p:spPr>
          <a:xfrm>
            <a:off x="873382" y="4380273"/>
            <a:ext cx="1253185"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前序序列</a:t>
            </a:r>
          </a:p>
        </p:txBody>
      </p:sp>
      <p:grpSp>
        <p:nvGrpSpPr>
          <p:cNvPr id="84" name="组合 83">
            <a:extLst>
              <a:ext uri="{FF2B5EF4-FFF2-40B4-BE49-F238E27FC236}">
                <a16:creationId xmlns:a16="http://schemas.microsoft.com/office/drawing/2014/main" id="{47889611-48C1-4DEA-966D-93B01140FEDC}"/>
              </a:ext>
            </a:extLst>
          </p:cNvPr>
          <p:cNvGrpSpPr/>
          <p:nvPr/>
        </p:nvGrpSpPr>
        <p:grpSpPr>
          <a:xfrm>
            <a:off x="2307385" y="4962735"/>
            <a:ext cx="6075651" cy="516730"/>
            <a:chOff x="5619660" y="3909256"/>
            <a:chExt cx="6075651" cy="516730"/>
          </a:xfrm>
        </p:grpSpPr>
        <mc:AlternateContent xmlns:mc="http://schemas.openxmlformats.org/markup-compatibility/2006" xmlns:a14="http://schemas.microsoft.com/office/drawing/2010/main">
          <mc:Choice Requires="a14">
            <p:sp>
              <p:nvSpPr>
                <p:cNvPr id="72" name="椭圆 71">
                  <a:extLst>
                    <a:ext uri="{FF2B5EF4-FFF2-40B4-BE49-F238E27FC236}">
                      <a16:creationId xmlns:a16="http://schemas.microsoft.com/office/drawing/2014/main" id="{8A886E03-A3DD-4D40-B188-FA52B31CA506}"/>
                    </a:ext>
                  </a:extLst>
                </p:cNvPr>
                <p:cNvSpPr/>
                <p:nvPr/>
              </p:nvSpPr>
              <p:spPr>
                <a:xfrm>
                  <a:off x="5619660"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72" name="椭圆 71">
                  <a:extLst>
                    <a:ext uri="{FF2B5EF4-FFF2-40B4-BE49-F238E27FC236}">
                      <a16:creationId xmlns:a16="http://schemas.microsoft.com/office/drawing/2014/main" id="{8A886E03-A3DD-4D40-B188-FA52B31CA506}"/>
                    </a:ext>
                  </a:extLst>
                </p:cNvPr>
                <p:cNvSpPr>
                  <a:spLocks noRot="1" noChangeAspect="1" noMove="1" noResize="1" noEditPoints="1" noAdjustHandles="1" noChangeArrowheads="1" noChangeShapeType="1" noTextEdit="1"/>
                </p:cNvSpPr>
                <p:nvPr/>
              </p:nvSpPr>
              <p:spPr>
                <a:xfrm>
                  <a:off x="5619660" y="3911436"/>
                  <a:ext cx="494093" cy="505092"/>
                </a:xfrm>
                <a:prstGeom prst="ellipse">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椭圆 72">
                  <a:extLst>
                    <a:ext uri="{FF2B5EF4-FFF2-40B4-BE49-F238E27FC236}">
                      <a16:creationId xmlns:a16="http://schemas.microsoft.com/office/drawing/2014/main" id="{21623EDE-1A69-444F-8ED0-ACE9E147E65E}"/>
                    </a:ext>
                  </a:extLst>
                </p:cNvPr>
                <p:cNvSpPr/>
                <p:nvPr/>
              </p:nvSpPr>
              <p:spPr>
                <a:xfrm>
                  <a:off x="6121895"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73" name="椭圆 72">
                  <a:extLst>
                    <a:ext uri="{FF2B5EF4-FFF2-40B4-BE49-F238E27FC236}">
                      <a16:creationId xmlns:a16="http://schemas.microsoft.com/office/drawing/2014/main" id="{21623EDE-1A69-444F-8ED0-ACE9E147E65E}"/>
                    </a:ext>
                  </a:extLst>
                </p:cNvPr>
                <p:cNvSpPr>
                  <a:spLocks noRot="1" noChangeAspect="1" noMove="1" noResize="1" noEditPoints="1" noAdjustHandles="1" noChangeArrowheads="1" noChangeShapeType="1" noTextEdit="1"/>
                </p:cNvSpPr>
                <p:nvPr/>
              </p:nvSpPr>
              <p:spPr>
                <a:xfrm>
                  <a:off x="6121895" y="3911436"/>
                  <a:ext cx="494093" cy="505092"/>
                </a:xfrm>
                <a:prstGeom prst="ellipse">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椭圆 73">
                  <a:extLst>
                    <a:ext uri="{FF2B5EF4-FFF2-40B4-BE49-F238E27FC236}">
                      <a16:creationId xmlns:a16="http://schemas.microsoft.com/office/drawing/2014/main" id="{3EC9A818-C6FB-4839-AFB6-0FEB4241E155}"/>
                    </a:ext>
                  </a:extLst>
                </p:cNvPr>
                <p:cNvSpPr/>
                <p:nvPr/>
              </p:nvSpPr>
              <p:spPr>
                <a:xfrm>
                  <a:off x="6615996"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74" name="椭圆 73">
                  <a:extLst>
                    <a:ext uri="{FF2B5EF4-FFF2-40B4-BE49-F238E27FC236}">
                      <a16:creationId xmlns:a16="http://schemas.microsoft.com/office/drawing/2014/main" id="{3EC9A818-C6FB-4839-AFB6-0FEB4241E155}"/>
                    </a:ext>
                  </a:extLst>
                </p:cNvPr>
                <p:cNvSpPr>
                  <a:spLocks noRot="1" noChangeAspect="1" noMove="1" noResize="1" noEditPoints="1" noAdjustHandles="1" noChangeArrowheads="1" noChangeShapeType="1" noTextEdit="1"/>
                </p:cNvSpPr>
                <p:nvPr/>
              </p:nvSpPr>
              <p:spPr>
                <a:xfrm>
                  <a:off x="6615996" y="3917090"/>
                  <a:ext cx="494093" cy="505092"/>
                </a:xfrm>
                <a:prstGeom prst="ellipse">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椭圆 74">
                  <a:extLst>
                    <a:ext uri="{FF2B5EF4-FFF2-40B4-BE49-F238E27FC236}">
                      <a16:creationId xmlns:a16="http://schemas.microsoft.com/office/drawing/2014/main" id="{544F4028-D791-47A1-8324-9090C4E84103}"/>
                    </a:ext>
                  </a:extLst>
                </p:cNvPr>
                <p:cNvSpPr/>
                <p:nvPr/>
              </p:nvSpPr>
              <p:spPr>
                <a:xfrm>
                  <a:off x="7134507" y="3917090"/>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75" name="椭圆 74">
                  <a:extLst>
                    <a:ext uri="{FF2B5EF4-FFF2-40B4-BE49-F238E27FC236}">
                      <a16:creationId xmlns:a16="http://schemas.microsoft.com/office/drawing/2014/main" id="{544F4028-D791-47A1-8324-9090C4E84103}"/>
                    </a:ext>
                  </a:extLst>
                </p:cNvPr>
                <p:cNvSpPr>
                  <a:spLocks noRot="1" noChangeAspect="1" noMove="1" noResize="1" noEditPoints="1" noAdjustHandles="1" noChangeArrowheads="1" noChangeShapeType="1" noTextEdit="1"/>
                </p:cNvSpPr>
                <p:nvPr/>
              </p:nvSpPr>
              <p:spPr>
                <a:xfrm>
                  <a:off x="7134507" y="3917090"/>
                  <a:ext cx="494093" cy="492252"/>
                </a:xfrm>
                <a:prstGeom prst="ellipse">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椭圆 75">
                  <a:extLst>
                    <a:ext uri="{FF2B5EF4-FFF2-40B4-BE49-F238E27FC236}">
                      <a16:creationId xmlns:a16="http://schemas.microsoft.com/office/drawing/2014/main" id="{491C2DF4-3916-468B-92CC-627166C50833}"/>
                    </a:ext>
                  </a:extLst>
                </p:cNvPr>
                <p:cNvSpPr/>
                <p:nvPr/>
              </p:nvSpPr>
              <p:spPr>
                <a:xfrm>
                  <a:off x="7644891"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76" name="椭圆 75">
                  <a:extLst>
                    <a:ext uri="{FF2B5EF4-FFF2-40B4-BE49-F238E27FC236}">
                      <a16:creationId xmlns:a16="http://schemas.microsoft.com/office/drawing/2014/main" id="{491C2DF4-3916-468B-92CC-627166C50833}"/>
                    </a:ext>
                  </a:extLst>
                </p:cNvPr>
                <p:cNvSpPr>
                  <a:spLocks noRot="1" noChangeAspect="1" noMove="1" noResize="1" noEditPoints="1" noAdjustHandles="1" noChangeArrowheads="1" noChangeShapeType="1" noTextEdit="1"/>
                </p:cNvSpPr>
                <p:nvPr/>
              </p:nvSpPr>
              <p:spPr>
                <a:xfrm>
                  <a:off x="7644891" y="3917090"/>
                  <a:ext cx="494093" cy="505092"/>
                </a:xfrm>
                <a:prstGeom prst="ellipse">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椭圆 76">
                  <a:extLst>
                    <a:ext uri="{FF2B5EF4-FFF2-40B4-BE49-F238E27FC236}">
                      <a16:creationId xmlns:a16="http://schemas.microsoft.com/office/drawing/2014/main" id="{9EB7FC8D-B92E-4782-BD25-097564CC87E2}"/>
                    </a:ext>
                  </a:extLst>
                </p:cNvPr>
                <p:cNvSpPr/>
                <p:nvPr/>
              </p:nvSpPr>
              <p:spPr>
                <a:xfrm>
                  <a:off x="8155254" y="39192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77" name="椭圆 76">
                  <a:extLst>
                    <a:ext uri="{FF2B5EF4-FFF2-40B4-BE49-F238E27FC236}">
                      <a16:creationId xmlns:a16="http://schemas.microsoft.com/office/drawing/2014/main" id="{9EB7FC8D-B92E-4782-BD25-097564CC87E2}"/>
                    </a:ext>
                  </a:extLst>
                </p:cNvPr>
                <p:cNvSpPr>
                  <a:spLocks noRot="1" noChangeAspect="1" noMove="1" noResize="1" noEditPoints="1" noAdjustHandles="1" noChangeArrowheads="1" noChangeShapeType="1" noTextEdit="1"/>
                </p:cNvSpPr>
                <p:nvPr/>
              </p:nvSpPr>
              <p:spPr>
                <a:xfrm>
                  <a:off x="8155254" y="3919270"/>
                  <a:ext cx="494093" cy="505092"/>
                </a:xfrm>
                <a:prstGeom prst="ellipse">
                  <a:avLst/>
                </a:prstGeom>
                <a:blipFill>
                  <a:blip r:embed="rId31"/>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椭圆 77">
                  <a:extLst>
                    <a:ext uri="{FF2B5EF4-FFF2-40B4-BE49-F238E27FC236}">
                      <a16:creationId xmlns:a16="http://schemas.microsoft.com/office/drawing/2014/main" id="{2A53DC98-C32A-45A7-A842-1801BE1ABF64}"/>
                    </a:ext>
                  </a:extLst>
                </p:cNvPr>
                <p:cNvSpPr/>
                <p:nvPr/>
              </p:nvSpPr>
              <p:spPr>
                <a:xfrm>
                  <a:off x="8665617" y="390925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78" name="椭圆 77">
                  <a:extLst>
                    <a:ext uri="{FF2B5EF4-FFF2-40B4-BE49-F238E27FC236}">
                      <a16:creationId xmlns:a16="http://schemas.microsoft.com/office/drawing/2014/main" id="{2A53DC98-C32A-45A7-A842-1801BE1ABF64}"/>
                    </a:ext>
                  </a:extLst>
                </p:cNvPr>
                <p:cNvSpPr>
                  <a:spLocks noRot="1" noChangeAspect="1" noMove="1" noResize="1" noEditPoints="1" noAdjustHandles="1" noChangeArrowheads="1" noChangeShapeType="1" noTextEdit="1"/>
                </p:cNvSpPr>
                <p:nvPr/>
              </p:nvSpPr>
              <p:spPr>
                <a:xfrm>
                  <a:off x="8665617" y="3909256"/>
                  <a:ext cx="494093" cy="505092"/>
                </a:xfrm>
                <a:prstGeom prst="ellipse">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椭圆 78">
                  <a:extLst>
                    <a:ext uri="{FF2B5EF4-FFF2-40B4-BE49-F238E27FC236}">
                      <a16:creationId xmlns:a16="http://schemas.microsoft.com/office/drawing/2014/main" id="{9CE7DD03-2F17-418F-9278-436DD6028D50}"/>
                    </a:ext>
                  </a:extLst>
                </p:cNvPr>
                <p:cNvSpPr/>
                <p:nvPr/>
              </p:nvSpPr>
              <p:spPr>
                <a:xfrm>
                  <a:off x="9174432"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79" name="椭圆 78">
                  <a:extLst>
                    <a:ext uri="{FF2B5EF4-FFF2-40B4-BE49-F238E27FC236}">
                      <a16:creationId xmlns:a16="http://schemas.microsoft.com/office/drawing/2014/main" id="{9CE7DD03-2F17-418F-9278-436DD6028D50}"/>
                    </a:ext>
                  </a:extLst>
                </p:cNvPr>
                <p:cNvSpPr>
                  <a:spLocks noRot="1" noChangeAspect="1" noMove="1" noResize="1" noEditPoints="1" noAdjustHandles="1" noChangeArrowheads="1" noChangeShapeType="1" noTextEdit="1"/>
                </p:cNvSpPr>
                <p:nvPr/>
              </p:nvSpPr>
              <p:spPr>
                <a:xfrm>
                  <a:off x="9174432" y="3917090"/>
                  <a:ext cx="494093" cy="505092"/>
                </a:xfrm>
                <a:prstGeom prst="ellipse">
                  <a:avLst/>
                </a:prstGeom>
                <a:blipFill>
                  <a:blip r:embed="rId33"/>
                  <a:stretch>
                    <a:fillRect b="-47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椭圆 79">
                  <a:extLst>
                    <a:ext uri="{FF2B5EF4-FFF2-40B4-BE49-F238E27FC236}">
                      <a16:creationId xmlns:a16="http://schemas.microsoft.com/office/drawing/2014/main" id="{C00F7229-9AC8-4B7F-8E2C-682C22FC0625}"/>
                    </a:ext>
                  </a:extLst>
                </p:cNvPr>
                <p:cNvSpPr/>
                <p:nvPr/>
              </p:nvSpPr>
              <p:spPr>
                <a:xfrm>
                  <a:off x="9686371" y="391899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80" name="椭圆 79">
                  <a:extLst>
                    <a:ext uri="{FF2B5EF4-FFF2-40B4-BE49-F238E27FC236}">
                      <a16:creationId xmlns:a16="http://schemas.microsoft.com/office/drawing/2014/main" id="{C00F7229-9AC8-4B7F-8E2C-682C22FC0625}"/>
                    </a:ext>
                  </a:extLst>
                </p:cNvPr>
                <p:cNvSpPr>
                  <a:spLocks noRot="1" noChangeAspect="1" noMove="1" noResize="1" noEditPoints="1" noAdjustHandles="1" noChangeArrowheads="1" noChangeShapeType="1" noTextEdit="1"/>
                </p:cNvSpPr>
                <p:nvPr/>
              </p:nvSpPr>
              <p:spPr>
                <a:xfrm>
                  <a:off x="9686371" y="3918992"/>
                  <a:ext cx="494093" cy="505092"/>
                </a:xfrm>
                <a:prstGeom prst="ellipse">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椭圆 80">
                  <a:extLst>
                    <a:ext uri="{FF2B5EF4-FFF2-40B4-BE49-F238E27FC236}">
                      <a16:creationId xmlns:a16="http://schemas.microsoft.com/office/drawing/2014/main" id="{6F8B99C0-73C7-4D6D-A630-F77C003CFEEF}"/>
                    </a:ext>
                  </a:extLst>
                </p:cNvPr>
                <p:cNvSpPr/>
                <p:nvPr/>
              </p:nvSpPr>
              <p:spPr>
                <a:xfrm>
                  <a:off x="10188613" y="392089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81" name="椭圆 80">
                  <a:extLst>
                    <a:ext uri="{FF2B5EF4-FFF2-40B4-BE49-F238E27FC236}">
                      <a16:creationId xmlns:a16="http://schemas.microsoft.com/office/drawing/2014/main" id="{6F8B99C0-73C7-4D6D-A630-F77C003CFEEF}"/>
                    </a:ext>
                  </a:extLst>
                </p:cNvPr>
                <p:cNvSpPr>
                  <a:spLocks noRot="1" noChangeAspect="1" noMove="1" noResize="1" noEditPoints="1" noAdjustHandles="1" noChangeArrowheads="1" noChangeShapeType="1" noTextEdit="1"/>
                </p:cNvSpPr>
                <p:nvPr/>
              </p:nvSpPr>
              <p:spPr>
                <a:xfrm>
                  <a:off x="10188613" y="3920894"/>
                  <a:ext cx="494093" cy="505092"/>
                </a:xfrm>
                <a:prstGeom prst="ellipse">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椭圆 81">
                  <a:extLst>
                    <a:ext uri="{FF2B5EF4-FFF2-40B4-BE49-F238E27FC236}">
                      <a16:creationId xmlns:a16="http://schemas.microsoft.com/office/drawing/2014/main" id="{CE4B5F9A-F0D6-4AF3-9DCF-6EA2187E2ABD}"/>
                    </a:ext>
                  </a:extLst>
                </p:cNvPr>
                <p:cNvSpPr/>
                <p:nvPr/>
              </p:nvSpPr>
              <p:spPr>
                <a:xfrm>
                  <a:off x="10698976" y="3910705"/>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82" name="椭圆 81">
                  <a:extLst>
                    <a:ext uri="{FF2B5EF4-FFF2-40B4-BE49-F238E27FC236}">
                      <a16:creationId xmlns:a16="http://schemas.microsoft.com/office/drawing/2014/main" id="{CE4B5F9A-F0D6-4AF3-9DCF-6EA2187E2ABD}"/>
                    </a:ext>
                  </a:extLst>
                </p:cNvPr>
                <p:cNvSpPr>
                  <a:spLocks noRot="1" noChangeAspect="1" noMove="1" noResize="1" noEditPoints="1" noAdjustHandles="1" noChangeArrowheads="1" noChangeShapeType="1" noTextEdit="1"/>
                </p:cNvSpPr>
                <p:nvPr/>
              </p:nvSpPr>
              <p:spPr>
                <a:xfrm>
                  <a:off x="10698976" y="3910705"/>
                  <a:ext cx="494093" cy="505092"/>
                </a:xfrm>
                <a:prstGeom prst="ellipse">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椭圆 82">
                  <a:extLst>
                    <a:ext uri="{FF2B5EF4-FFF2-40B4-BE49-F238E27FC236}">
                      <a16:creationId xmlns:a16="http://schemas.microsoft.com/office/drawing/2014/main" id="{8FB3A1FB-1623-427F-9D03-C74A2CA1A5BC}"/>
                    </a:ext>
                  </a:extLst>
                </p:cNvPr>
                <p:cNvSpPr/>
                <p:nvPr/>
              </p:nvSpPr>
              <p:spPr>
                <a:xfrm>
                  <a:off x="11201218" y="3912607"/>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83" name="椭圆 82">
                  <a:extLst>
                    <a:ext uri="{FF2B5EF4-FFF2-40B4-BE49-F238E27FC236}">
                      <a16:creationId xmlns:a16="http://schemas.microsoft.com/office/drawing/2014/main" id="{8FB3A1FB-1623-427F-9D03-C74A2CA1A5BC}"/>
                    </a:ext>
                  </a:extLst>
                </p:cNvPr>
                <p:cNvSpPr>
                  <a:spLocks noRot="1" noChangeAspect="1" noMove="1" noResize="1" noEditPoints="1" noAdjustHandles="1" noChangeArrowheads="1" noChangeShapeType="1" noTextEdit="1"/>
                </p:cNvSpPr>
                <p:nvPr/>
              </p:nvSpPr>
              <p:spPr>
                <a:xfrm>
                  <a:off x="11201218" y="3912607"/>
                  <a:ext cx="494093" cy="505092"/>
                </a:xfrm>
                <a:prstGeom prst="ellipse">
                  <a:avLst/>
                </a:prstGeom>
                <a:blipFill>
                  <a:blip r:embed="rId37"/>
                  <a:stretch>
                    <a:fillRect/>
                  </a:stretch>
                </a:blipFill>
              </p:spPr>
              <p:txBody>
                <a:bodyPr/>
                <a:lstStyle/>
                <a:p>
                  <a:r>
                    <a:rPr lang="zh-CN" altLang="en-US">
                      <a:noFill/>
                    </a:rPr>
                    <a:t> </a:t>
                  </a:r>
                </a:p>
              </p:txBody>
            </p:sp>
          </mc:Fallback>
        </mc:AlternateContent>
      </p:grpSp>
      <p:grpSp>
        <p:nvGrpSpPr>
          <p:cNvPr id="97" name="组合 96">
            <a:extLst>
              <a:ext uri="{FF2B5EF4-FFF2-40B4-BE49-F238E27FC236}">
                <a16:creationId xmlns:a16="http://schemas.microsoft.com/office/drawing/2014/main" id="{A17ADA24-9C1B-415C-815B-5ECE089D7E6F}"/>
              </a:ext>
            </a:extLst>
          </p:cNvPr>
          <p:cNvGrpSpPr/>
          <p:nvPr/>
        </p:nvGrpSpPr>
        <p:grpSpPr>
          <a:xfrm>
            <a:off x="2299246" y="5615258"/>
            <a:ext cx="6075651" cy="516730"/>
            <a:chOff x="5619660" y="3909256"/>
            <a:chExt cx="6075651" cy="516730"/>
          </a:xfrm>
        </p:grpSpPr>
        <mc:AlternateContent xmlns:mc="http://schemas.openxmlformats.org/markup-compatibility/2006" xmlns:a14="http://schemas.microsoft.com/office/drawing/2010/main">
          <mc:Choice Requires="a14">
            <p:sp>
              <p:nvSpPr>
                <p:cNvPr id="85" name="椭圆 84">
                  <a:extLst>
                    <a:ext uri="{FF2B5EF4-FFF2-40B4-BE49-F238E27FC236}">
                      <a16:creationId xmlns:a16="http://schemas.microsoft.com/office/drawing/2014/main" id="{0302F219-13FB-4006-856B-C425C22761DB}"/>
                    </a:ext>
                  </a:extLst>
                </p:cNvPr>
                <p:cNvSpPr/>
                <p:nvPr/>
              </p:nvSpPr>
              <p:spPr>
                <a:xfrm>
                  <a:off x="5619660"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𝒄</m:t>
                        </m:r>
                      </m:oMath>
                    </m:oMathPara>
                  </a14:m>
                  <a:endParaRPr lang="zh-CN" altLang="en-US" b="1"/>
                </a:p>
              </p:txBody>
            </p:sp>
          </mc:Choice>
          <mc:Fallback xmlns="">
            <p:sp>
              <p:nvSpPr>
                <p:cNvPr id="85" name="椭圆 84">
                  <a:extLst>
                    <a:ext uri="{FF2B5EF4-FFF2-40B4-BE49-F238E27FC236}">
                      <a16:creationId xmlns:a16="http://schemas.microsoft.com/office/drawing/2014/main" id="{0302F219-13FB-4006-856B-C425C22761DB}"/>
                    </a:ext>
                  </a:extLst>
                </p:cNvPr>
                <p:cNvSpPr>
                  <a:spLocks noRot="1" noChangeAspect="1" noMove="1" noResize="1" noEditPoints="1" noAdjustHandles="1" noChangeArrowheads="1" noChangeShapeType="1" noTextEdit="1"/>
                </p:cNvSpPr>
                <p:nvPr/>
              </p:nvSpPr>
              <p:spPr>
                <a:xfrm>
                  <a:off x="5619660" y="3911436"/>
                  <a:ext cx="494093" cy="505092"/>
                </a:xfrm>
                <a:prstGeom prst="ellipse">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椭圆 85">
                  <a:extLst>
                    <a:ext uri="{FF2B5EF4-FFF2-40B4-BE49-F238E27FC236}">
                      <a16:creationId xmlns:a16="http://schemas.microsoft.com/office/drawing/2014/main" id="{49738A47-3506-4AA4-A7A7-0D12E871D853}"/>
                    </a:ext>
                  </a:extLst>
                </p:cNvPr>
                <p:cNvSpPr/>
                <p:nvPr/>
              </p:nvSpPr>
              <p:spPr>
                <a:xfrm>
                  <a:off x="6121895" y="391143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𝒌</m:t>
                        </m:r>
                      </m:oMath>
                    </m:oMathPara>
                  </a14:m>
                  <a:endParaRPr lang="zh-CN" altLang="en-US" b="1"/>
                </a:p>
              </p:txBody>
            </p:sp>
          </mc:Choice>
          <mc:Fallback xmlns="">
            <p:sp>
              <p:nvSpPr>
                <p:cNvPr id="86" name="椭圆 85">
                  <a:extLst>
                    <a:ext uri="{FF2B5EF4-FFF2-40B4-BE49-F238E27FC236}">
                      <a16:creationId xmlns:a16="http://schemas.microsoft.com/office/drawing/2014/main" id="{49738A47-3506-4AA4-A7A7-0D12E871D853}"/>
                    </a:ext>
                  </a:extLst>
                </p:cNvPr>
                <p:cNvSpPr>
                  <a:spLocks noRot="1" noChangeAspect="1" noMove="1" noResize="1" noEditPoints="1" noAdjustHandles="1" noChangeArrowheads="1" noChangeShapeType="1" noTextEdit="1"/>
                </p:cNvSpPr>
                <p:nvPr/>
              </p:nvSpPr>
              <p:spPr>
                <a:xfrm>
                  <a:off x="6121895" y="3911436"/>
                  <a:ext cx="494093" cy="505092"/>
                </a:xfrm>
                <a:prstGeom prst="ellipse">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椭圆 86">
                  <a:extLst>
                    <a:ext uri="{FF2B5EF4-FFF2-40B4-BE49-F238E27FC236}">
                      <a16:creationId xmlns:a16="http://schemas.microsoft.com/office/drawing/2014/main" id="{FD2F92BA-A9A3-40AB-B77F-4804085E4A85}"/>
                    </a:ext>
                  </a:extLst>
                </p:cNvPr>
                <p:cNvSpPr/>
                <p:nvPr/>
              </p:nvSpPr>
              <p:spPr>
                <a:xfrm>
                  <a:off x="6615996"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𝒅</m:t>
                        </m:r>
                      </m:oMath>
                    </m:oMathPara>
                  </a14:m>
                  <a:endParaRPr lang="zh-CN" altLang="en-US" b="1"/>
                </a:p>
              </p:txBody>
            </p:sp>
          </mc:Choice>
          <mc:Fallback xmlns="">
            <p:sp>
              <p:nvSpPr>
                <p:cNvPr id="87" name="椭圆 86">
                  <a:extLst>
                    <a:ext uri="{FF2B5EF4-FFF2-40B4-BE49-F238E27FC236}">
                      <a16:creationId xmlns:a16="http://schemas.microsoft.com/office/drawing/2014/main" id="{FD2F92BA-A9A3-40AB-B77F-4804085E4A85}"/>
                    </a:ext>
                  </a:extLst>
                </p:cNvPr>
                <p:cNvSpPr>
                  <a:spLocks noRot="1" noChangeAspect="1" noMove="1" noResize="1" noEditPoints="1" noAdjustHandles="1" noChangeArrowheads="1" noChangeShapeType="1" noTextEdit="1"/>
                </p:cNvSpPr>
                <p:nvPr/>
              </p:nvSpPr>
              <p:spPr>
                <a:xfrm>
                  <a:off x="6615996" y="3917090"/>
                  <a:ext cx="494093" cy="505092"/>
                </a:xfrm>
                <a:prstGeom prst="ellipse">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椭圆 87">
                  <a:extLst>
                    <a:ext uri="{FF2B5EF4-FFF2-40B4-BE49-F238E27FC236}">
                      <a16:creationId xmlns:a16="http://schemas.microsoft.com/office/drawing/2014/main" id="{560EA833-759C-480A-9A00-CEAF2083FC26}"/>
                    </a:ext>
                  </a:extLst>
                </p:cNvPr>
                <p:cNvSpPr/>
                <p:nvPr/>
              </p:nvSpPr>
              <p:spPr>
                <a:xfrm>
                  <a:off x="7134507" y="3917090"/>
                  <a:ext cx="494093" cy="49225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𝒇</m:t>
                        </m:r>
                      </m:oMath>
                    </m:oMathPara>
                  </a14:m>
                  <a:endParaRPr lang="zh-CN" altLang="en-US" b="1"/>
                </a:p>
              </p:txBody>
            </p:sp>
          </mc:Choice>
          <mc:Fallback xmlns="">
            <p:sp>
              <p:nvSpPr>
                <p:cNvPr id="88" name="椭圆 87">
                  <a:extLst>
                    <a:ext uri="{FF2B5EF4-FFF2-40B4-BE49-F238E27FC236}">
                      <a16:creationId xmlns:a16="http://schemas.microsoft.com/office/drawing/2014/main" id="{560EA833-759C-480A-9A00-CEAF2083FC26}"/>
                    </a:ext>
                  </a:extLst>
                </p:cNvPr>
                <p:cNvSpPr>
                  <a:spLocks noRot="1" noChangeAspect="1" noMove="1" noResize="1" noEditPoints="1" noAdjustHandles="1" noChangeArrowheads="1" noChangeShapeType="1" noTextEdit="1"/>
                </p:cNvSpPr>
                <p:nvPr/>
              </p:nvSpPr>
              <p:spPr>
                <a:xfrm>
                  <a:off x="7134507" y="3917090"/>
                  <a:ext cx="494093" cy="492252"/>
                </a:xfrm>
                <a:prstGeom prst="ellipse">
                  <a:avLst/>
                </a:prstGeom>
                <a:blipFill>
                  <a:blip r:embed="rId41"/>
                  <a:stretch>
                    <a:fillRect b="-60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椭圆 88">
                  <a:extLst>
                    <a:ext uri="{FF2B5EF4-FFF2-40B4-BE49-F238E27FC236}">
                      <a16:creationId xmlns:a16="http://schemas.microsoft.com/office/drawing/2014/main" id="{A89DB833-8A1C-4767-A544-CD8C13D836A6}"/>
                    </a:ext>
                  </a:extLst>
                </p:cNvPr>
                <p:cNvSpPr/>
                <p:nvPr/>
              </p:nvSpPr>
              <p:spPr>
                <a:xfrm>
                  <a:off x="7644891"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𝒆</m:t>
                        </m:r>
                      </m:oMath>
                    </m:oMathPara>
                  </a14:m>
                  <a:endParaRPr lang="zh-CN" altLang="en-US" b="1"/>
                </a:p>
              </p:txBody>
            </p:sp>
          </mc:Choice>
          <mc:Fallback xmlns="">
            <p:sp>
              <p:nvSpPr>
                <p:cNvPr id="89" name="椭圆 88">
                  <a:extLst>
                    <a:ext uri="{FF2B5EF4-FFF2-40B4-BE49-F238E27FC236}">
                      <a16:creationId xmlns:a16="http://schemas.microsoft.com/office/drawing/2014/main" id="{A89DB833-8A1C-4767-A544-CD8C13D836A6}"/>
                    </a:ext>
                  </a:extLst>
                </p:cNvPr>
                <p:cNvSpPr>
                  <a:spLocks noRot="1" noChangeAspect="1" noMove="1" noResize="1" noEditPoints="1" noAdjustHandles="1" noChangeArrowheads="1" noChangeShapeType="1" noTextEdit="1"/>
                </p:cNvSpPr>
                <p:nvPr/>
              </p:nvSpPr>
              <p:spPr>
                <a:xfrm>
                  <a:off x="7644891" y="3917090"/>
                  <a:ext cx="494093" cy="505092"/>
                </a:xfrm>
                <a:prstGeom prst="ellipse">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椭圆 89">
                  <a:extLst>
                    <a:ext uri="{FF2B5EF4-FFF2-40B4-BE49-F238E27FC236}">
                      <a16:creationId xmlns:a16="http://schemas.microsoft.com/office/drawing/2014/main" id="{CC300AB9-499E-4B15-ABEF-A6125B33CF38}"/>
                    </a:ext>
                  </a:extLst>
                </p:cNvPr>
                <p:cNvSpPr/>
                <p:nvPr/>
              </p:nvSpPr>
              <p:spPr>
                <a:xfrm>
                  <a:off x="8155254" y="391927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𝒃</m:t>
                        </m:r>
                      </m:oMath>
                    </m:oMathPara>
                  </a14:m>
                  <a:endParaRPr lang="zh-CN" altLang="en-US" b="1"/>
                </a:p>
              </p:txBody>
            </p:sp>
          </mc:Choice>
          <mc:Fallback xmlns="">
            <p:sp>
              <p:nvSpPr>
                <p:cNvPr id="90" name="椭圆 89">
                  <a:extLst>
                    <a:ext uri="{FF2B5EF4-FFF2-40B4-BE49-F238E27FC236}">
                      <a16:creationId xmlns:a16="http://schemas.microsoft.com/office/drawing/2014/main" id="{CC300AB9-499E-4B15-ABEF-A6125B33CF38}"/>
                    </a:ext>
                  </a:extLst>
                </p:cNvPr>
                <p:cNvSpPr>
                  <a:spLocks noRot="1" noChangeAspect="1" noMove="1" noResize="1" noEditPoints="1" noAdjustHandles="1" noChangeArrowheads="1" noChangeShapeType="1" noTextEdit="1"/>
                </p:cNvSpPr>
                <p:nvPr/>
              </p:nvSpPr>
              <p:spPr>
                <a:xfrm>
                  <a:off x="8155254" y="3919270"/>
                  <a:ext cx="494093" cy="505092"/>
                </a:xfrm>
                <a:prstGeom prst="ellipse">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椭圆 90">
                  <a:extLst>
                    <a:ext uri="{FF2B5EF4-FFF2-40B4-BE49-F238E27FC236}">
                      <a16:creationId xmlns:a16="http://schemas.microsoft.com/office/drawing/2014/main" id="{946D6296-DF24-45F2-B628-BC59AA6E282D}"/>
                    </a:ext>
                  </a:extLst>
                </p:cNvPr>
                <p:cNvSpPr/>
                <p:nvPr/>
              </p:nvSpPr>
              <p:spPr>
                <a:xfrm>
                  <a:off x="8665617" y="3909256"/>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𝒋</m:t>
                        </m:r>
                      </m:oMath>
                    </m:oMathPara>
                  </a14:m>
                  <a:endParaRPr lang="zh-CN" altLang="en-US" b="1"/>
                </a:p>
              </p:txBody>
            </p:sp>
          </mc:Choice>
          <mc:Fallback xmlns="">
            <p:sp>
              <p:nvSpPr>
                <p:cNvPr id="91" name="椭圆 90">
                  <a:extLst>
                    <a:ext uri="{FF2B5EF4-FFF2-40B4-BE49-F238E27FC236}">
                      <a16:creationId xmlns:a16="http://schemas.microsoft.com/office/drawing/2014/main" id="{946D6296-DF24-45F2-B628-BC59AA6E282D}"/>
                    </a:ext>
                  </a:extLst>
                </p:cNvPr>
                <p:cNvSpPr>
                  <a:spLocks noRot="1" noChangeAspect="1" noMove="1" noResize="1" noEditPoints="1" noAdjustHandles="1" noChangeArrowheads="1" noChangeShapeType="1" noTextEdit="1"/>
                </p:cNvSpPr>
                <p:nvPr/>
              </p:nvSpPr>
              <p:spPr>
                <a:xfrm>
                  <a:off x="8665617" y="3909256"/>
                  <a:ext cx="494093" cy="505092"/>
                </a:xfrm>
                <a:prstGeom prst="ellipse">
                  <a:avLst/>
                </a:prstGeom>
                <a:blipFill>
                  <a:blip r:embed="rId44"/>
                  <a:stretch>
                    <a:fillRect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椭圆 91">
                  <a:extLst>
                    <a:ext uri="{FF2B5EF4-FFF2-40B4-BE49-F238E27FC236}">
                      <a16:creationId xmlns:a16="http://schemas.microsoft.com/office/drawing/2014/main" id="{E1D5F355-A8BF-4EF7-B913-79CA873ADC3E}"/>
                    </a:ext>
                  </a:extLst>
                </p:cNvPr>
                <p:cNvSpPr/>
                <p:nvPr/>
              </p:nvSpPr>
              <p:spPr>
                <a:xfrm>
                  <a:off x="9174432" y="3917090"/>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𝒈</m:t>
                        </m:r>
                      </m:oMath>
                    </m:oMathPara>
                  </a14:m>
                  <a:endParaRPr lang="zh-CN" altLang="en-US" b="1"/>
                </a:p>
              </p:txBody>
            </p:sp>
          </mc:Choice>
          <mc:Fallback xmlns="">
            <p:sp>
              <p:nvSpPr>
                <p:cNvPr id="92" name="椭圆 91">
                  <a:extLst>
                    <a:ext uri="{FF2B5EF4-FFF2-40B4-BE49-F238E27FC236}">
                      <a16:creationId xmlns:a16="http://schemas.microsoft.com/office/drawing/2014/main" id="{E1D5F355-A8BF-4EF7-B913-79CA873ADC3E}"/>
                    </a:ext>
                  </a:extLst>
                </p:cNvPr>
                <p:cNvSpPr>
                  <a:spLocks noRot="1" noChangeAspect="1" noMove="1" noResize="1" noEditPoints="1" noAdjustHandles="1" noChangeArrowheads="1" noChangeShapeType="1" noTextEdit="1"/>
                </p:cNvSpPr>
                <p:nvPr/>
              </p:nvSpPr>
              <p:spPr>
                <a:xfrm>
                  <a:off x="9174432" y="3917090"/>
                  <a:ext cx="494093" cy="505092"/>
                </a:xfrm>
                <a:prstGeom prst="ellipse">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椭圆 92">
                  <a:extLst>
                    <a:ext uri="{FF2B5EF4-FFF2-40B4-BE49-F238E27FC236}">
                      <a16:creationId xmlns:a16="http://schemas.microsoft.com/office/drawing/2014/main" id="{7033C5C4-A7DD-4B83-8D1C-B651ECE98311}"/>
                    </a:ext>
                  </a:extLst>
                </p:cNvPr>
                <p:cNvSpPr/>
                <p:nvPr/>
              </p:nvSpPr>
              <p:spPr>
                <a:xfrm>
                  <a:off x="9686371" y="3918992"/>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oMath>
                    </m:oMathPara>
                  </a14:m>
                  <a:endParaRPr lang="zh-CN" altLang="en-US" b="1"/>
                </a:p>
              </p:txBody>
            </p:sp>
          </mc:Choice>
          <mc:Fallback xmlns="">
            <p:sp>
              <p:nvSpPr>
                <p:cNvPr id="93" name="椭圆 92">
                  <a:extLst>
                    <a:ext uri="{FF2B5EF4-FFF2-40B4-BE49-F238E27FC236}">
                      <a16:creationId xmlns:a16="http://schemas.microsoft.com/office/drawing/2014/main" id="{7033C5C4-A7DD-4B83-8D1C-B651ECE98311}"/>
                    </a:ext>
                  </a:extLst>
                </p:cNvPr>
                <p:cNvSpPr>
                  <a:spLocks noRot="1" noChangeAspect="1" noMove="1" noResize="1" noEditPoints="1" noAdjustHandles="1" noChangeArrowheads="1" noChangeShapeType="1" noTextEdit="1"/>
                </p:cNvSpPr>
                <p:nvPr/>
              </p:nvSpPr>
              <p:spPr>
                <a:xfrm>
                  <a:off x="9686371" y="3918992"/>
                  <a:ext cx="494093" cy="505092"/>
                </a:xfrm>
                <a:prstGeom prst="ellipse">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椭圆 93">
                  <a:extLst>
                    <a:ext uri="{FF2B5EF4-FFF2-40B4-BE49-F238E27FC236}">
                      <a16:creationId xmlns:a16="http://schemas.microsoft.com/office/drawing/2014/main" id="{83C6A916-577B-464D-BCBF-0440C154C0A4}"/>
                    </a:ext>
                  </a:extLst>
                </p:cNvPr>
                <p:cNvSpPr/>
                <p:nvPr/>
              </p:nvSpPr>
              <p:spPr>
                <a:xfrm>
                  <a:off x="10188613" y="3920894"/>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𝒊</m:t>
                        </m:r>
                      </m:oMath>
                    </m:oMathPara>
                  </a14:m>
                  <a:endParaRPr lang="zh-CN" altLang="en-US" b="1"/>
                </a:p>
              </p:txBody>
            </p:sp>
          </mc:Choice>
          <mc:Fallback xmlns="">
            <p:sp>
              <p:nvSpPr>
                <p:cNvPr id="94" name="椭圆 93">
                  <a:extLst>
                    <a:ext uri="{FF2B5EF4-FFF2-40B4-BE49-F238E27FC236}">
                      <a16:creationId xmlns:a16="http://schemas.microsoft.com/office/drawing/2014/main" id="{83C6A916-577B-464D-BCBF-0440C154C0A4}"/>
                    </a:ext>
                  </a:extLst>
                </p:cNvPr>
                <p:cNvSpPr>
                  <a:spLocks noRot="1" noChangeAspect="1" noMove="1" noResize="1" noEditPoints="1" noAdjustHandles="1" noChangeArrowheads="1" noChangeShapeType="1" noTextEdit="1"/>
                </p:cNvSpPr>
                <p:nvPr/>
              </p:nvSpPr>
              <p:spPr>
                <a:xfrm>
                  <a:off x="10188613" y="3920894"/>
                  <a:ext cx="494093" cy="505092"/>
                </a:xfrm>
                <a:prstGeom prst="ellipse">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椭圆 94">
                  <a:extLst>
                    <a:ext uri="{FF2B5EF4-FFF2-40B4-BE49-F238E27FC236}">
                      <a16:creationId xmlns:a16="http://schemas.microsoft.com/office/drawing/2014/main" id="{003CD1C9-F27E-428E-8FBD-79DB88ECFC89}"/>
                    </a:ext>
                  </a:extLst>
                </p:cNvPr>
                <p:cNvSpPr/>
                <p:nvPr/>
              </p:nvSpPr>
              <p:spPr>
                <a:xfrm>
                  <a:off x="10698976" y="3910705"/>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𝒉</m:t>
                        </m:r>
                      </m:oMath>
                    </m:oMathPara>
                  </a14:m>
                  <a:endParaRPr lang="zh-CN" altLang="en-US" b="1"/>
                </a:p>
              </p:txBody>
            </p:sp>
          </mc:Choice>
          <mc:Fallback xmlns="">
            <p:sp>
              <p:nvSpPr>
                <p:cNvPr id="95" name="椭圆 94">
                  <a:extLst>
                    <a:ext uri="{FF2B5EF4-FFF2-40B4-BE49-F238E27FC236}">
                      <a16:creationId xmlns:a16="http://schemas.microsoft.com/office/drawing/2014/main" id="{003CD1C9-F27E-428E-8FBD-79DB88ECFC89}"/>
                    </a:ext>
                  </a:extLst>
                </p:cNvPr>
                <p:cNvSpPr>
                  <a:spLocks noRot="1" noChangeAspect="1" noMove="1" noResize="1" noEditPoints="1" noAdjustHandles="1" noChangeArrowheads="1" noChangeShapeType="1" noTextEdit="1"/>
                </p:cNvSpPr>
                <p:nvPr/>
              </p:nvSpPr>
              <p:spPr>
                <a:xfrm>
                  <a:off x="10698976" y="3910705"/>
                  <a:ext cx="494093" cy="505092"/>
                </a:xfrm>
                <a:prstGeom prst="ellipse">
                  <a:avLst/>
                </a:prstGeom>
                <a:blipFill>
                  <a:blip r:embed="rId4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椭圆 95">
                  <a:extLst>
                    <a:ext uri="{FF2B5EF4-FFF2-40B4-BE49-F238E27FC236}">
                      <a16:creationId xmlns:a16="http://schemas.microsoft.com/office/drawing/2014/main" id="{B93AC9D6-63B2-4F04-B4D1-3D0965F5A3FA}"/>
                    </a:ext>
                  </a:extLst>
                </p:cNvPr>
                <p:cNvSpPr/>
                <p:nvPr/>
              </p:nvSpPr>
              <p:spPr>
                <a:xfrm>
                  <a:off x="11201218" y="3912607"/>
                  <a:ext cx="494093" cy="50509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bIns="108000" rtlCol="0" anchor="ctr"/>
                <a:lstStyle/>
                <a:p>
                  <a:pPr algn="ct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𝒂</m:t>
                        </m:r>
                      </m:oMath>
                    </m:oMathPara>
                  </a14:m>
                  <a:endParaRPr lang="zh-CN" altLang="en-US" b="1"/>
                </a:p>
              </p:txBody>
            </p:sp>
          </mc:Choice>
          <mc:Fallback xmlns="">
            <p:sp>
              <p:nvSpPr>
                <p:cNvPr id="96" name="椭圆 95">
                  <a:extLst>
                    <a:ext uri="{FF2B5EF4-FFF2-40B4-BE49-F238E27FC236}">
                      <a16:creationId xmlns:a16="http://schemas.microsoft.com/office/drawing/2014/main" id="{B93AC9D6-63B2-4F04-B4D1-3D0965F5A3FA}"/>
                    </a:ext>
                  </a:extLst>
                </p:cNvPr>
                <p:cNvSpPr>
                  <a:spLocks noRot="1" noChangeAspect="1" noMove="1" noResize="1" noEditPoints="1" noAdjustHandles="1" noChangeArrowheads="1" noChangeShapeType="1" noTextEdit="1"/>
                </p:cNvSpPr>
                <p:nvPr/>
              </p:nvSpPr>
              <p:spPr>
                <a:xfrm>
                  <a:off x="11201218" y="3912607"/>
                  <a:ext cx="494093" cy="505092"/>
                </a:xfrm>
                <a:prstGeom prst="ellipse">
                  <a:avLst/>
                </a:prstGeom>
                <a:blipFill>
                  <a:blip r:embed="rId49"/>
                  <a:stretch>
                    <a:fillRect/>
                  </a:stretch>
                </a:blipFill>
              </p:spPr>
              <p:txBody>
                <a:bodyPr/>
                <a:lstStyle/>
                <a:p>
                  <a:r>
                    <a:rPr lang="zh-CN" altLang="en-US">
                      <a:noFill/>
                    </a:rPr>
                    <a:t> </a:t>
                  </a:r>
                </a:p>
              </p:txBody>
            </p:sp>
          </mc:Fallback>
        </mc:AlternateContent>
      </p:grpSp>
      <p:sp>
        <p:nvSpPr>
          <p:cNvPr id="98" name="文本框 97">
            <a:extLst>
              <a:ext uri="{FF2B5EF4-FFF2-40B4-BE49-F238E27FC236}">
                <a16:creationId xmlns:a16="http://schemas.microsoft.com/office/drawing/2014/main" id="{F82487A3-68E9-4A13-B1C4-25BD20481CBE}"/>
              </a:ext>
            </a:extLst>
          </p:cNvPr>
          <p:cNvSpPr txBox="1"/>
          <p:nvPr/>
        </p:nvSpPr>
        <p:spPr>
          <a:xfrm>
            <a:off x="873381" y="5034221"/>
            <a:ext cx="1253185"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中序序列</a:t>
            </a:r>
          </a:p>
        </p:txBody>
      </p:sp>
      <p:sp>
        <p:nvSpPr>
          <p:cNvPr id="99" name="文本框 98">
            <a:extLst>
              <a:ext uri="{FF2B5EF4-FFF2-40B4-BE49-F238E27FC236}">
                <a16:creationId xmlns:a16="http://schemas.microsoft.com/office/drawing/2014/main" id="{EA210E20-C1D5-42DE-85E1-B9FC87DAC594}"/>
              </a:ext>
            </a:extLst>
          </p:cNvPr>
          <p:cNvSpPr txBox="1"/>
          <p:nvPr/>
        </p:nvSpPr>
        <p:spPr>
          <a:xfrm>
            <a:off x="873742" y="5667749"/>
            <a:ext cx="1253185"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后序序列</a:t>
            </a:r>
          </a:p>
        </p:txBody>
      </p:sp>
      <p:sp>
        <p:nvSpPr>
          <p:cNvPr id="100" name="文本框 99">
            <a:extLst>
              <a:ext uri="{FF2B5EF4-FFF2-40B4-BE49-F238E27FC236}">
                <a16:creationId xmlns:a16="http://schemas.microsoft.com/office/drawing/2014/main" id="{932EC7FD-C431-4DB7-A1F5-D6400C4A6F0D}"/>
              </a:ext>
            </a:extLst>
          </p:cNvPr>
          <p:cNvSpPr txBox="1"/>
          <p:nvPr/>
        </p:nvSpPr>
        <p:spPr>
          <a:xfrm>
            <a:off x="5914784" y="1131777"/>
            <a:ext cx="5614253" cy="1302216"/>
          </a:xfrm>
          <a:prstGeom prst="rect">
            <a:avLst/>
          </a:prstGeom>
          <a:solidFill>
            <a:schemeClr val="accent5">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前序、中序还是后序采用的都是</a:t>
            </a:r>
            <a:r>
              <a:rPr lang="zh-CN" altLang="en-US" sz="2000" b="1">
                <a:solidFill>
                  <a:srgbClr val="C00000"/>
                </a:solidFill>
                <a:latin typeface="+mn-ea"/>
              </a:rPr>
              <a:t>先深遍历</a:t>
            </a:r>
            <a:r>
              <a:rPr lang="zh-CN" altLang="en-US" sz="2000" b="1">
                <a:solidFill>
                  <a:srgbClr val="002060"/>
                </a:solidFill>
                <a:latin typeface="楷体" panose="02010609060101010101" pitchFamily="49" charset="-122"/>
                <a:ea typeface="楷体" panose="02010609060101010101" pitchFamily="49" charset="-122"/>
              </a:rPr>
              <a:t>的策略</a:t>
            </a:r>
          </a:p>
          <a:p>
            <a:pPr marL="342900" indent="-342900">
              <a:lnSpc>
                <a:spcPts val="28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遍历以某个顶点为根的子树时，会一直走向儿子顶点，直到将这棵子树的所有顶点都访问完</a:t>
            </a:r>
          </a:p>
        </p:txBody>
      </p:sp>
      <p:sp>
        <p:nvSpPr>
          <p:cNvPr id="101" name="文本框 100">
            <a:extLst>
              <a:ext uri="{FF2B5EF4-FFF2-40B4-BE49-F238E27FC236}">
                <a16:creationId xmlns:a16="http://schemas.microsoft.com/office/drawing/2014/main" id="{90F1E5AB-80D9-46C9-BF1D-66FB0DA58046}"/>
              </a:ext>
            </a:extLst>
          </p:cNvPr>
          <p:cNvSpPr txBox="1"/>
          <p:nvPr/>
        </p:nvSpPr>
        <p:spPr>
          <a:xfrm>
            <a:off x="6235803" y="2607874"/>
            <a:ext cx="5293234" cy="1442831"/>
          </a:xfrm>
          <a:prstGeom prst="rect">
            <a:avLst/>
          </a:prstGeom>
          <a:solidFill>
            <a:schemeClr val="accent4">
              <a:lumMod val="20000"/>
              <a:lumOff val="80000"/>
            </a:schemeClr>
          </a:solidFill>
        </p:spPr>
        <p:txBody>
          <a:bodyPr wrap="square" rtlCol="0">
            <a:spAutoFit/>
          </a:bodyPr>
          <a:lstStyle/>
          <a:p>
            <a:pPr>
              <a:lnSpc>
                <a:spcPts val="2160"/>
              </a:lnSpc>
              <a:spcBef>
                <a:spcPts val="600"/>
              </a:spcBef>
            </a:pPr>
            <a:r>
              <a:rPr lang="zh-CN" altLang="en-US" b="1">
                <a:solidFill>
                  <a:srgbClr val="002060"/>
                </a:solidFill>
                <a:latin typeface="楷体" panose="02010609060101010101" pitchFamily="49" charset="-122"/>
                <a:ea typeface="楷体" panose="02010609060101010101" pitchFamily="49" charset="-122"/>
              </a:rPr>
              <a:t>前序、中序和后序的区别在于走向新的儿子顶点时</a:t>
            </a:r>
          </a:p>
          <a:p>
            <a:pPr marL="285750" indent="-285750">
              <a:lnSpc>
                <a:spcPts val="2160"/>
              </a:lnSpc>
              <a:spcBef>
                <a:spcPts val="600"/>
              </a:spcBef>
              <a:buFont typeface="Arial" panose="020B0604020202020204" pitchFamily="34" charset="0"/>
              <a:buChar char="•"/>
            </a:pPr>
            <a:r>
              <a:rPr lang="zh-CN" altLang="en-US" b="1">
                <a:solidFill>
                  <a:schemeClr val="accent2">
                    <a:lumMod val="50000"/>
                  </a:schemeClr>
                </a:solidFill>
              </a:rPr>
              <a:t>是立即做访问顶点所需要做的操作（前序）</a:t>
            </a:r>
          </a:p>
          <a:p>
            <a:pPr marL="285750" indent="-285750">
              <a:lnSpc>
                <a:spcPts val="2160"/>
              </a:lnSpc>
              <a:spcBef>
                <a:spcPts val="600"/>
              </a:spcBef>
              <a:buFont typeface="Arial" panose="020B0604020202020204" pitchFamily="34" charset="0"/>
              <a:buChar char="•"/>
            </a:pPr>
            <a:r>
              <a:rPr lang="zh-CN" altLang="en-US" b="1">
                <a:solidFill>
                  <a:schemeClr val="accent2">
                    <a:lumMod val="50000"/>
                  </a:schemeClr>
                </a:solidFill>
              </a:rPr>
              <a:t>还是在遍历完第一个儿子才做（中序）</a:t>
            </a:r>
          </a:p>
          <a:p>
            <a:pPr marL="285750" indent="-285750">
              <a:lnSpc>
                <a:spcPts val="2160"/>
              </a:lnSpc>
              <a:spcBef>
                <a:spcPts val="600"/>
              </a:spcBef>
              <a:buFont typeface="Arial" panose="020B0604020202020204" pitchFamily="34" charset="0"/>
              <a:buChar char="•"/>
            </a:pPr>
            <a:r>
              <a:rPr lang="zh-CN" altLang="en-US" b="1">
                <a:solidFill>
                  <a:schemeClr val="accent2">
                    <a:lumMod val="50000"/>
                  </a:schemeClr>
                </a:solidFill>
              </a:rPr>
              <a:t>还是在遍历完所有儿子才做（后序）</a:t>
            </a:r>
          </a:p>
        </p:txBody>
      </p:sp>
    </p:spTree>
    <p:extLst>
      <p:ext uri="{BB962C8B-B14F-4D97-AF65-F5344CB8AC3E}">
        <p14:creationId xmlns:p14="http://schemas.microsoft.com/office/powerpoint/2010/main" val="2724424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树的前序、后序遍历算法</a:t>
            </a:r>
          </a:p>
        </p:txBody>
      </p:sp>
      <p:pic>
        <p:nvPicPr>
          <p:cNvPr id="2" name="图片 1">
            <a:extLst>
              <a:ext uri="{FF2B5EF4-FFF2-40B4-BE49-F238E27FC236}">
                <a16:creationId xmlns:a16="http://schemas.microsoft.com/office/drawing/2014/main" id="{EEC15713-5D3D-4992-B4FD-ED58B9C9610E}"/>
              </a:ext>
            </a:extLst>
          </p:cNvPr>
          <p:cNvPicPr>
            <a:picLocks noChangeAspect="1"/>
          </p:cNvPicPr>
          <p:nvPr/>
        </p:nvPicPr>
        <p:blipFill>
          <a:blip r:embed="rId2"/>
          <a:stretch>
            <a:fillRect/>
          </a:stretch>
        </p:blipFill>
        <p:spPr>
          <a:xfrm>
            <a:off x="1019655" y="1177810"/>
            <a:ext cx="10152690" cy="2441295"/>
          </a:xfrm>
          <a:prstGeom prst="rect">
            <a:avLst/>
          </a:prstGeom>
        </p:spPr>
      </p:pic>
      <p:pic>
        <p:nvPicPr>
          <p:cNvPr id="3" name="图片 2">
            <a:extLst>
              <a:ext uri="{FF2B5EF4-FFF2-40B4-BE49-F238E27FC236}">
                <a16:creationId xmlns:a16="http://schemas.microsoft.com/office/drawing/2014/main" id="{0851BBCB-7AE5-48EA-8319-467B265A8737}"/>
              </a:ext>
            </a:extLst>
          </p:cNvPr>
          <p:cNvPicPr>
            <a:picLocks noChangeAspect="1"/>
          </p:cNvPicPr>
          <p:nvPr/>
        </p:nvPicPr>
        <p:blipFill>
          <a:blip r:embed="rId3"/>
          <a:stretch>
            <a:fillRect/>
          </a:stretch>
        </p:blipFill>
        <p:spPr>
          <a:xfrm>
            <a:off x="1019655" y="3685815"/>
            <a:ext cx="10100126" cy="2441294"/>
          </a:xfrm>
          <a:prstGeom prst="rect">
            <a:avLst/>
          </a:prstGeom>
        </p:spPr>
      </p:pic>
    </p:spTree>
    <p:extLst>
      <p:ext uri="{BB962C8B-B14F-4D97-AF65-F5344CB8AC3E}">
        <p14:creationId xmlns:p14="http://schemas.microsoft.com/office/powerpoint/2010/main" val="2157884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树的中序遍历算法及三个算法的效率分析</a:t>
            </a:r>
          </a:p>
        </p:txBody>
      </p:sp>
      <p:pic>
        <p:nvPicPr>
          <p:cNvPr id="2" name="图片 1">
            <a:extLst>
              <a:ext uri="{FF2B5EF4-FFF2-40B4-BE49-F238E27FC236}">
                <a16:creationId xmlns:a16="http://schemas.microsoft.com/office/drawing/2014/main" id="{1A8334B8-BC5D-44D7-9BBB-C3CC5B381BB7}"/>
              </a:ext>
            </a:extLst>
          </p:cNvPr>
          <p:cNvPicPr>
            <a:picLocks noChangeAspect="1"/>
          </p:cNvPicPr>
          <p:nvPr/>
        </p:nvPicPr>
        <p:blipFill>
          <a:blip r:embed="rId2"/>
          <a:stretch>
            <a:fillRect/>
          </a:stretch>
        </p:blipFill>
        <p:spPr>
          <a:xfrm>
            <a:off x="815723" y="1733524"/>
            <a:ext cx="10198740" cy="3390951"/>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0803818-DE7B-4FA0-973F-489D9843BB57}"/>
                  </a:ext>
                </a:extLst>
              </p:cNvPr>
              <p:cNvSpPr txBox="1"/>
              <p:nvPr/>
            </p:nvSpPr>
            <p:spPr>
              <a:xfrm>
                <a:off x="6777962" y="1453830"/>
                <a:ext cx="4236501" cy="1603388"/>
              </a:xfrm>
              <a:prstGeom prst="rect">
                <a:avLst/>
              </a:prstGeom>
              <a:solidFill>
                <a:schemeClr val="accent4">
                  <a:lumMod val="20000"/>
                  <a:lumOff val="80000"/>
                </a:schemeClr>
              </a:solidFill>
            </p:spPr>
            <p:txBody>
              <a:bodyPr wrap="square" rtlCol="0">
                <a:spAutoFit/>
              </a:bodyPr>
              <a:lstStyle/>
              <a:p>
                <a:pPr>
                  <a:lnSpc>
                    <a:spcPts val="24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树的每个顶点都会且只会输出标记一次</a:t>
                </a:r>
              </a:p>
              <a:p>
                <a:pPr marL="285750" indent="-285750">
                  <a:lnSpc>
                    <a:spcPts val="2400"/>
                  </a:lnSpc>
                  <a:spcBef>
                    <a:spcPts val="600"/>
                  </a:spcBef>
                  <a:spcAft>
                    <a:spcPts val="600"/>
                  </a:spcAft>
                  <a:buFont typeface="Arial" panose="020B0604020202020204" pitchFamily="34" charset="0"/>
                  <a:buChar char="•"/>
                </a:pPr>
                <a:r>
                  <a:rPr lang="zh-CN" altLang="en-US" b="1">
                    <a:solidFill>
                      <a:schemeClr val="accent6">
                        <a:lumMod val="50000"/>
                      </a:schemeClr>
                    </a:solidFill>
                  </a:rPr>
                  <a:t>以顶点标记的输出为基本操作，这些算法的时间复杂度都是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𝑶</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𝒏</m:t>
                    </m:r>
                    <m:r>
                      <a:rPr lang="en-US" altLang="zh-CN" b="1" i="1" smtClean="0">
                        <a:solidFill>
                          <a:schemeClr val="accent6">
                            <a:lumMod val="50000"/>
                          </a:schemeClr>
                        </a:solidFill>
                        <a:latin typeface="Cambria Math" panose="02040503050406030204" pitchFamily="18" charset="0"/>
                      </a:rPr>
                      <m:t>)</m:t>
                    </m:r>
                  </m:oMath>
                </a14:m>
                <a:endParaRPr lang="en-US" altLang="zh-CN" b="1">
                  <a:solidFill>
                    <a:schemeClr val="accent6">
                      <a:lumMod val="50000"/>
                    </a:schemeClr>
                  </a:solidFill>
                </a:endParaRPr>
              </a:p>
              <a:p>
                <a:pPr marL="742950" lvl="1" indent="-285750">
                  <a:lnSpc>
                    <a:spcPts val="24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这里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是树的顶点数</a:t>
                </a:r>
              </a:p>
            </p:txBody>
          </p:sp>
        </mc:Choice>
        <mc:Fallback xmlns="">
          <p:sp>
            <p:nvSpPr>
              <p:cNvPr id="3" name="文本框 2">
                <a:extLst>
                  <a:ext uri="{FF2B5EF4-FFF2-40B4-BE49-F238E27FC236}">
                    <a16:creationId xmlns:a16="http://schemas.microsoft.com/office/drawing/2014/main" id="{00803818-DE7B-4FA0-973F-489D9843BB57}"/>
                  </a:ext>
                </a:extLst>
              </p:cNvPr>
              <p:cNvSpPr txBox="1">
                <a:spLocks noRot="1" noChangeAspect="1" noMove="1" noResize="1" noEditPoints="1" noAdjustHandles="1" noChangeArrowheads="1" noChangeShapeType="1" noTextEdit="1"/>
              </p:cNvSpPr>
              <p:nvPr/>
            </p:nvSpPr>
            <p:spPr>
              <a:xfrm>
                <a:off x="6777962" y="1453830"/>
                <a:ext cx="4236501" cy="1603388"/>
              </a:xfrm>
              <a:prstGeom prst="rect">
                <a:avLst/>
              </a:prstGeom>
              <a:blipFill>
                <a:blip r:embed="rId3"/>
                <a:stretch>
                  <a:fillRect l="-1295" t="-2273" b="-4167"/>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EB9A4D9-1468-443B-A7D3-03C5692367CE}"/>
              </a:ext>
            </a:extLst>
          </p:cNvPr>
          <p:cNvSpPr txBox="1"/>
          <p:nvPr/>
        </p:nvSpPr>
        <p:spPr>
          <a:xfrm>
            <a:off x="3197465" y="5302204"/>
            <a:ext cx="5797067"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如果要更细致地考虑算法的基本操作和更准确的算法复杂度分析，则依赖于树的存储方式，这里不再展开讨论</a:t>
            </a:r>
          </a:p>
        </p:txBody>
      </p:sp>
    </p:spTree>
    <p:extLst>
      <p:ext uri="{BB962C8B-B14F-4D97-AF65-F5344CB8AC3E}">
        <p14:creationId xmlns:p14="http://schemas.microsoft.com/office/powerpoint/2010/main" val="4165064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树的前序、中序和后序遍历练习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EF3F9EC-8186-4007-AEB5-7151B3F2A3E6}"/>
                  </a:ext>
                </a:extLst>
              </p:cNvPr>
              <p:cNvSpPr txBox="1"/>
              <p:nvPr/>
            </p:nvSpPr>
            <p:spPr>
              <a:xfrm>
                <a:off x="5854503" y="2696680"/>
                <a:ext cx="5420613" cy="166199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前序遍历序列是：</a:t>
                </a:r>
                <a14:m>
                  <m:oMath xmlns:m="http://schemas.openxmlformats.org/officeDocument/2006/math">
                    <m:r>
                      <a:rPr lang="pt-BR" altLang="zh-CN" sz="2400" b="1" i="1">
                        <a:solidFill>
                          <a:srgbClr val="C00000"/>
                        </a:solidFill>
                        <a:latin typeface="Cambria Math" panose="02040503050406030204" pitchFamily="18" charset="0"/>
                      </a:rPr>
                      <m:t>𝒂</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oMath>
                </a14:m>
                <a:endParaRPr lang="en-US" altLang="zh-CN" sz="2400" b="1">
                  <a:solidFill>
                    <a:schemeClr val="tx2">
                      <a:lumMod val="50000"/>
                    </a:schemeClr>
                  </a:solidFill>
                </a:endParaRPr>
              </a:p>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中序遍历序列是：</a:t>
                </a:r>
                <a14:m>
                  <m:oMath xmlns:m="http://schemas.openxmlformats.org/officeDocument/2006/math">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𝒂</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oMath>
                </a14:m>
                <a:endParaRPr lang="en-US" altLang="zh-CN" sz="2400" b="1">
                  <a:solidFill>
                    <a:schemeClr val="tx2">
                      <a:lumMod val="50000"/>
                    </a:schemeClr>
                  </a:solidFill>
                </a:endParaRPr>
              </a:p>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后序遍历序列是：</a:t>
                </a:r>
                <a14:m>
                  <m:oMath xmlns:m="http://schemas.openxmlformats.org/officeDocument/2006/math">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𝒂</m:t>
                    </m:r>
                  </m:oMath>
                </a14:m>
                <a:endParaRPr lang="en-US" altLang="zh-CN" sz="2400" b="1">
                  <a:solidFill>
                    <a:schemeClr val="tx2">
                      <a:lumMod val="50000"/>
                    </a:schemeClr>
                  </a:solidFill>
                </a:endParaRPr>
              </a:p>
            </p:txBody>
          </p:sp>
        </mc:Choice>
        <mc:Fallback xmlns="">
          <p:sp>
            <p:nvSpPr>
              <p:cNvPr id="2" name="文本框 1">
                <a:extLst>
                  <a:ext uri="{FF2B5EF4-FFF2-40B4-BE49-F238E27FC236}">
                    <a16:creationId xmlns:a16="http://schemas.microsoft.com/office/drawing/2014/main" id="{6EF3F9EC-8186-4007-AEB5-7151B3F2A3E6}"/>
                  </a:ext>
                </a:extLst>
              </p:cNvPr>
              <p:cNvSpPr txBox="1">
                <a:spLocks noRot="1" noChangeAspect="1" noMove="1" noResize="1" noEditPoints="1" noAdjustHandles="1" noChangeArrowheads="1" noChangeShapeType="1" noTextEdit="1"/>
              </p:cNvSpPr>
              <p:nvPr/>
            </p:nvSpPr>
            <p:spPr>
              <a:xfrm>
                <a:off x="5854503" y="2696680"/>
                <a:ext cx="5420613" cy="1661993"/>
              </a:xfrm>
              <a:prstGeom prst="rect">
                <a:avLst/>
              </a:prstGeom>
              <a:blipFill>
                <a:blip r:embed="rId2"/>
                <a:stretch>
                  <a:fillRect l="-1461" t="-2564" b="-7692"/>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53192EBC-A090-4A88-8777-D2C20CE6D7FD}"/>
              </a:ext>
            </a:extLst>
          </p:cNvPr>
          <p:cNvPicPr>
            <a:picLocks noChangeAspect="1"/>
          </p:cNvPicPr>
          <p:nvPr/>
        </p:nvPicPr>
        <p:blipFill>
          <a:blip r:embed="rId3"/>
          <a:stretch>
            <a:fillRect/>
          </a:stretch>
        </p:blipFill>
        <p:spPr>
          <a:xfrm>
            <a:off x="916884" y="1602940"/>
            <a:ext cx="4685734" cy="4099039"/>
          </a:xfrm>
          <a:prstGeom prst="rect">
            <a:avLst/>
          </a:prstGeom>
        </p:spPr>
      </p:pic>
      <p:cxnSp>
        <p:nvCxnSpPr>
          <p:cNvPr id="6" name="直接连接符 5">
            <a:extLst>
              <a:ext uri="{FF2B5EF4-FFF2-40B4-BE49-F238E27FC236}">
                <a16:creationId xmlns:a16="http://schemas.microsoft.com/office/drawing/2014/main" id="{3E548898-537C-4B9D-BE2E-136F765C2DFE}"/>
              </a:ext>
            </a:extLst>
          </p:cNvPr>
          <p:cNvCxnSpPr/>
          <p:nvPr/>
        </p:nvCxnSpPr>
        <p:spPr>
          <a:xfrm>
            <a:off x="8696668" y="3151062"/>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1A707C9-37CE-43FE-8D7B-7BB509329F59}"/>
              </a:ext>
            </a:extLst>
          </p:cNvPr>
          <p:cNvCxnSpPr/>
          <p:nvPr/>
        </p:nvCxnSpPr>
        <p:spPr>
          <a:xfrm>
            <a:off x="8696668" y="3750794"/>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4463A4A-B0D3-4691-883F-AB7CAF897AD8}"/>
              </a:ext>
            </a:extLst>
          </p:cNvPr>
          <p:cNvCxnSpPr/>
          <p:nvPr/>
        </p:nvCxnSpPr>
        <p:spPr>
          <a:xfrm>
            <a:off x="8696668" y="4358673"/>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84A251F-BE65-464C-B5CE-6F457FB36B7A}"/>
              </a:ext>
            </a:extLst>
          </p:cNvPr>
          <p:cNvSpPr txBox="1"/>
          <p:nvPr/>
        </p:nvSpPr>
        <p:spPr>
          <a:xfrm>
            <a:off x="8696668" y="2693940"/>
            <a:ext cx="2361651" cy="400110"/>
          </a:xfrm>
          <a:prstGeom prst="rect">
            <a:avLst/>
          </a:prstGeom>
          <a:solidFill>
            <a:schemeClr val="bg1"/>
          </a:solidFill>
        </p:spPr>
        <p:txBody>
          <a:bodyPr wrap="square" rtlCol="0">
            <a:spAutoFit/>
          </a:bodyPr>
          <a:lstStyle/>
          <a:p>
            <a:pPr algn="ctr"/>
            <a:r>
              <a:rPr lang="en-US" altLang="zh-CN" sz="2000" b="1">
                <a:solidFill>
                  <a:srgbClr val="C00000"/>
                </a:solidFill>
              </a:rPr>
              <a:t>(1)</a:t>
            </a:r>
            <a:endParaRPr lang="zh-CN" altLang="en-US" sz="2000" b="1">
              <a:solidFill>
                <a:srgbClr val="C00000"/>
              </a:solidFill>
            </a:endParaRPr>
          </a:p>
        </p:txBody>
      </p:sp>
      <p:sp>
        <p:nvSpPr>
          <p:cNvPr id="14" name="文本框 13">
            <a:extLst>
              <a:ext uri="{FF2B5EF4-FFF2-40B4-BE49-F238E27FC236}">
                <a16:creationId xmlns:a16="http://schemas.microsoft.com/office/drawing/2014/main" id="{FF4E6F30-017B-4BE0-A437-58E3D60E9F27}"/>
              </a:ext>
            </a:extLst>
          </p:cNvPr>
          <p:cNvSpPr txBox="1"/>
          <p:nvPr/>
        </p:nvSpPr>
        <p:spPr>
          <a:xfrm>
            <a:off x="8696668" y="3306828"/>
            <a:ext cx="2361651" cy="400110"/>
          </a:xfrm>
          <a:prstGeom prst="rect">
            <a:avLst/>
          </a:prstGeom>
          <a:solidFill>
            <a:schemeClr val="bg1"/>
          </a:solidFill>
        </p:spPr>
        <p:txBody>
          <a:bodyPr wrap="square" rtlCol="0">
            <a:spAutoFit/>
          </a:bodyPr>
          <a:lstStyle/>
          <a:p>
            <a:pPr algn="ctr"/>
            <a:r>
              <a:rPr lang="en-US" altLang="zh-CN" sz="2000" b="1">
                <a:solidFill>
                  <a:srgbClr val="C00000"/>
                </a:solidFill>
              </a:rPr>
              <a:t>(2)</a:t>
            </a:r>
            <a:endParaRPr lang="zh-CN" altLang="en-US" sz="2000" b="1">
              <a:solidFill>
                <a:srgbClr val="C00000"/>
              </a:solidFill>
            </a:endParaRPr>
          </a:p>
        </p:txBody>
      </p:sp>
      <p:sp>
        <p:nvSpPr>
          <p:cNvPr id="15" name="文本框 14">
            <a:extLst>
              <a:ext uri="{FF2B5EF4-FFF2-40B4-BE49-F238E27FC236}">
                <a16:creationId xmlns:a16="http://schemas.microsoft.com/office/drawing/2014/main" id="{F2468A06-3572-41B5-BCE8-7EDAC9DD692B}"/>
              </a:ext>
            </a:extLst>
          </p:cNvPr>
          <p:cNvSpPr txBox="1"/>
          <p:nvPr/>
        </p:nvSpPr>
        <p:spPr>
          <a:xfrm>
            <a:off x="8696668" y="3914706"/>
            <a:ext cx="2361651" cy="400110"/>
          </a:xfrm>
          <a:prstGeom prst="rect">
            <a:avLst/>
          </a:prstGeom>
          <a:solidFill>
            <a:schemeClr val="bg1"/>
          </a:solidFill>
        </p:spPr>
        <p:txBody>
          <a:bodyPr wrap="square" rtlCol="0">
            <a:spAutoFit/>
          </a:bodyPr>
          <a:lstStyle/>
          <a:p>
            <a:pPr algn="ctr"/>
            <a:r>
              <a:rPr lang="en-US" altLang="zh-CN" sz="2000" b="1">
                <a:solidFill>
                  <a:srgbClr val="C00000"/>
                </a:solidFill>
              </a:rPr>
              <a:t>(3)</a:t>
            </a:r>
            <a:endParaRPr lang="zh-CN" altLang="en-US" sz="2000" b="1">
              <a:solidFill>
                <a:srgbClr val="C00000"/>
              </a:solidFill>
            </a:endParaRPr>
          </a:p>
        </p:txBody>
      </p:sp>
    </p:spTree>
    <p:extLst>
      <p:ext uri="{BB962C8B-B14F-4D97-AF65-F5344CB8AC3E}">
        <p14:creationId xmlns:p14="http://schemas.microsoft.com/office/powerpoint/2010/main" val="1525238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树的前序、中序和后序遍历练习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EF3F9EC-8186-4007-AEB5-7151B3F2A3E6}"/>
                  </a:ext>
                </a:extLst>
              </p:cNvPr>
              <p:cNvSpPr txBox="1"/>
              <p:nvPr/>
            </p:nvSpPr>
            <p:spPr>
              <a:xfrm>
                <a:off x="5854503" y="2696680"/>
                <a:ext cx="5420613" cy="166199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前序遍历序列是：</a:t>
                </a:r>
                <a14:m>
                  <m:oMath xmlns:m="http://schemas.openxmlformats.org/officeDocument/2006/math">
                    <m:r>
                      <a:rPr lang="pt-BR" altLang="zh-CN" sz="2400" b="1" i="1">
                        <a:solidFill>
                          <a:srgbClr val="C00000"/>
                        </a:solidFill>
                        <a:latin typeface="Cambria Math" panose="02040503050406030204" pitchFamily="18" charset="0"/>
                      </a:rPr>
                      <m:t>𝒂</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oMath>
                </a14:m>
                <a:endParaRPr lang="en-US" altLang="zh-CN" sz="2400" b="1">
                  <a:solidFill>
                    <a:schemeClr val="tx2">
                      <a:lumMod val="50000"/>
                    </a:schemeClr>
                  </a:solidFill>
                </a:endParaRPr>
              </a:p>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中序遍历序列是：</a:t>
                </a:r>
                <a14:m>
                  <m:oMath xmlns:m="http://schemas.openxmlformats.org/officeDocument/2006/math">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𝒂</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oMath>
                </a14:m>
                <a:endParaRPr lang="en-US" altLang="zh-CN" sz="2400" b="1">
                  <a:solidFill>
                    <a:schemeClr val="tx2">
                      <a:lumMod val="50000"/>
                    </a:schemeClr>
                  </a:solidFill>
                </a:endParaRPr>
              </a:p>
              <a:p>
                <a:pPr marL="342900" indent="-342900">
                  <a:spcBef>
                    <a:spcPts val="600"/>
                  </a:spcBef>
                  <a:spcAft>
                    <a:spcPts val="1200"/>
                  </a:spcAft>
                  <a:buFont typeface="Arial" panose="020B0604020202020204" pitchFamily="34" charset="0"/>
                  <a:buChar char="•"/>
                </a:pPr>
                <a:r>
                  <a:rPr lang="zh-CN" altLang="en-US" sz="2400" b="1">
                    <a:solidFill>
                      <a:schemeClr val="accent6">
                        <a:lumMod val="50000"/>
                      </a:schemeClr>
                    </a:solidFill>
                  </a:rPr>
                  <a:t>后序遍历序列是：</a:t>
                </a:r>
                <a14:m>
                  <m:oMath xmlns:m="http://schemas.openxmlformats.org/officeDocument/2006/math">
                    <m:r>
                      <a:rPr lang="pt-BR" altLang="zh-CN" sz="2400" b="1" i="1">
                        <a:solidFill>
                          <a:srgbClr val="C00000"/>
                        </a:solidFill>
                        <a:latin typeface="Cambria Math" panose="02040503050406030204" pitchFamily="18" charset="0"/>
                      </a:rPr>
                      <m:t>𝒅</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𝒈</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𝒆</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𝒃</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𝒊</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𝒋</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𝒉</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𝒇</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𝒄</m:t>
                    </m:r>
                    <m:r>
                      <a:rPr lang="pt-BR" altLang="zh-CN" sz="2400" b="1" i="1">
                        <a:solidFill>
                          <a:srgbClr val="C00000"/>
                        </a:solidFill>
                        <a:latin typeface="Cambria Math" panose="02040503050406030204" pitchFamily="18" charset="0"/>
                      </a:rPr>
                      <m:t> </m:t>
                    </m:r>
                    <m:r>
                      <a:rPr lang="pt-BR" altLang="zh-CN" sz="2400" b="1" i="1">
                        <a:solidFill>
                          <a:srgbClr val="C00000"/>
                        </a:solidFill>
                        <a:latin typeface="Cambria Math" panose="02040503050406030204" pitchFamily="18" charset="0"/>
                      </a:rPr>
                      <m:t>𝒂</m:t>
                    </m:r>
                  </m:oMath>
                </a14:m>
                <a:endParaRPr lang="en-US" altLang="zh-CN" sz="2400" b="1">
                  <a:solidFill>
                    <a:schemeClr val="tx2">
                      <a:lumMod val="50000"/>
                    </a:schemeClr>
                  </a:solidFill>
                </a:endParaRPr>
              </a:p>
            </p:txBody>
          </p:sp>
        </mc:Choice>
        <mc:Fallback xmlns="">
          <p:sp>
            <p:nvSpPr>
              <p:cNvPr id="2" name="文本框 1">
                <a:extLst>
                  <a:ext uri="{FF2B5EF4-FFF2-40B4-BE49-F238E27FC236}">
                    <a16:creationId xmlns:a16="http://schemas.microsoft.com/office/drawing/2014/main" id="{6EF3F9EC-8186-4007-AEB5-7151B3F2A3E6}"/>
                  </a:ext>
                </a:extLst>
              </p:cNvPr>
              <p:cNvSpPr txBox="1">
                <a:spLocks noRot="1" noChangeAspect="1" noMove="1" noResize="1" noEditPoints="1" noAdjustHandles="1" noChangeArrowheads="1" noChangeShapeType="1" noTextEdit="1"/>
              </p:cNvSpPr>
              <p:nvPr/>
            </p:nvSpPr>
            <p:spPr>
              <a:xfrm>
                <a:off x="5854503" y="2696680"/>
                <a:ext cx="5420613" cy="1661993"/>
              </a:xfrm>
              <a:prstGeom prst="rect">
                <a:avLst/>
              </a:prstGeom>
              <a:blipFill>
                <a:blip r:embed="rId2"/>
                <a:stretch>
                  <a:fillRect l="-1461" t="-2564" b="-7692"/>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53192EBC-A090-4A88-8777-D2C20CE6D7FD}"/>
              </a:ext>
            </a:extLst>
          </p:cNvPr>
          <p:cNvPicPr>
            <a:picLocks noChangeAspect="1"/>
          </p:cNvPicPr>
          <p:nvPr/>
        </p:nvPicPr>
        <p:blipFill>
          <a:blip r:embed="rId3"/>
          <a:stretch>
            <a:fillRect/>
          </a:stretch>
        </p:blipFill>
        <p:spPr>
          <a:xfrm>
            <a:off x="916884" y="1602940"/>
            <a:ext cx="4685734" cy="4099039"/>
          </a:xfrm>
          <a:prstGeom prst="rect">
            <a:avLst/>
          </a:prstGeom>
        </p:spPr>
      </p:pic>
      <p:cxnSp>
        <p:nvCxnSpPr>
          <p:cNvPr id="6" name="直接连接符 5">
            <a:extLst>
              <a:ext uri="{FF2B5EF4-FFF2-40B4-BE49-F238E27FC236}">
                <a16:creationId xmlns:a16="http://schemas.microsoft.com/office/drawing/2014/main" id="{3E548898-537C-4B9D-BE2E-136F765C2DFE}"/>
              </a:ext>
            </a:extLst>
          </p:cNvPr>
          <p:cNvCxnSpPr/>
          <p:nvPr/>
        </p:nvCxnSpPr>
        <p:spPr>
          <a:xfrm>
            <a:off x="8696668" y="3151062"/>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1A707C9-37CE-43FE-8D7B-7BB509329F59}"/>
              </a:ext>
            </a:extLst>
          </p:cNvPr>
          <p:cNvCxnSpPr/>
          <p:nvPr/>
        </p:nvCxnSpPr>
        <p:spPr>
          <a:xfrm>
            <a:off x="8696668" y="3750794"/>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4463A4A-B0D3-4691-883F-AB7CAF897AD8}"/>
              </a:ext>
            </a:extLst>
          </p:cNvPr>
          <p:cNvCxnSpPr/>
          <p:nvPr/>
        </p:nvCxnSpPr>
        <p:spPr>
          <a:xfrm>
            <a:off x="8696668" y="4358673"/>
            <a:ext cx="2361651" cy="0"/>
          </a:xfrm>
          <a:prstGeom prst="line">
            <a:avLst/>
          </a:prstGeom>
          <a:ln w="1905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715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树的遍历</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表达式的前缀、中缀和后缀形式</a:t>
            </a:r>
          </a:p>
        </p:txBody>
      </p:sp>
      <p:sp>
        <p:nvSpPr>
          <p:cNvPr id="2" name="文本框 1">
            <a:extLst>
              <a:ext uri="{FF2B5EF4-FFF2-40B4-BE49-F238E27FC236}">
                <a16:creationId xmlns:a16="http://schemas.microsoft.com/office/drawing/2014/main" id="{E84176E3-13EC-4D08-998D-DAEA7C79ACFA}"/>
              </a:ext>
            </a:extLst>
          </p:cNvPr>
          <p:cNvSpPr txBox="1"/>
          <p:nvPr/>
        </p:nvSpPr>
        <p:spPr>
          <a:xfrm>
            <a:off x="1164381" y="1153474"/>
            <a:ext cx="7670434" cy="86177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对于任意由运算符和操作数构成的表达式都可构建它的</a:t>
            </a:r>
            <a:r>
              <a:rPr lang="zh-CN" altLang="en-US" sz="2000" b="1">
                <a:solidFill>
                  <a:srgbClr val="C00000"/>
                </a:solidFill>
                <a:latin typeface="+mn-ea"/>
              </a:rPr>
              <a:t>抽象语法树</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内部顶点对应运算符，叶子顶点对应操作数</a:t>
            </a:r>
          </a:p>
        </p:txBody>
      </p:sp>
      <p:sp>
        <p:nvSpPr>
          <p:cNvPr id="3" name="文本框 2">
            <a:extLst>
              <a:ext uri="{FF2B5EF4-FFF2-40B4-BE49-F238E27FC236}">
                <a16:creationId xmlns:a16="http://schemas.microsoft.com/office/drawing/2014/main" id="{5DEA74DA-5F3C-44A1-990B-87A922B934E7}"/>
              </a:ext>
            </a:extLst>
          </p:cNvPr>
          <p:cNvSpPr txBox="1"/>
          <p:nvPr/>
        </p:nvSpPr>
        <p:spPr>
          <a:xfrm>
            <a:off x="1164381" y="2269848"/>
            <a:ext cx="9736056" cy="138499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表达式的前缀</a:t>
            </a:r>
            <a:r>
              <a:rPr lang="en-US" altLang="zh-CN" sz="2400" b="1">
                <a:solidFill>
                  <a:srgbClr val="C00000"/>
                </a:solidFill>
              </a:rPr>
              <a:t>(prefix)</a:t>
            </a:r>
            <a:r>
              <a:rPr lang="zh-CN" altLang="en-US" sz="2400" b="1">
                <a:solidFill>
                  <a:srgbClr val="C00000"/>
                </a:solidFill>
              </a:rPr>
              <a:t>、中缀</a:t>
            </a:r>
            <a:r>
              <a:rPr lang="en-US" altLang="zh-CN" sz="2400" b="1">
                <a:solidFill>
                  <a:srgbClr val="C00000"/>
                </a:solidFill>
              </a:rPr>
              <a:t>(infix)</a:t>
            </a:r>
            <a:r>
              <a:rPr lang="zh-CN" altLang="en-US" sz="2400" b="1">
                <a:solidFill>
                  <a:srgbClr val="C00000"/>
                </a:solidFill>
              </a:rPr>
              <a:t>和后缀</a:t>
            </a:r>
            <a:r>
              <a:rPr lang="en-US" altLang="zh-CN" sz="2400" b="1">
                <a:solidFill>
                  <a:srgbClr val="C00000"/>
                </a:solidFill>
              </a:rPr>
              <a:t>(postfix)</a:t>
            </a:r>
            <a:r>
              <a:rPr lang="zh-CN" altLang="en-US" sz="2400" b="1">
                <a:solidFill>
                  <a:srgbClr val="C00000"/>
                </a:solidFill>
              </a:rPr>
              <a:t>表示</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表达式抽象语法树的前序、中序和后序遍历分别给出表达式的</a:t>
            </a:r>
            <a:r>
              <a:rPr lang="zh-CN" altLang="en-US" sz="2000" b="1">
                <a:solidFill>
                  <a:srgbClr val="C00000"/>
                </a:solidFill>
                <a:latin typeface="+mn-ea"/>
              </a:rPr>
              <a:t>前缀</a:t>
            </a:r>
            <a:r>
              <a:rPr lang="zh-CN" altLang="en-US" sz="2000" b="1">
                <a:solidFill>
                  <a:srgbClr val="002060"/>
                </a:solidFill>
                <a:latin typeface="楷体" panose="02010609060101010101" pitchFamily="49" charset="-122"/>
                <a:ea typeface="楷体" panose="02010609060101010101" pitchFamily="49" charset="-122"/>
              </a:rPr>
              <a:t>、</a:t>
            </a:r>
            <a:r>
              <a:rPr lang="zh-CN" altLang="en-US" sz="2000" b="1">
                <a:solidFill>
                  <a:srgbClr val="C00000"/>
                </a:solidFill>
                <a:latin typeface="+mn-ea"/>
              </a:rPr>
              <a:t>中缀</a:t>
            </a:r>
            <a:r>
              <a:rPr lang="zh-CN" altLang="en-US" sz="2000" b="1">
                <a:solidFill>
                  <a:srgbClr val="002060"/>
                </a:solidFill>
                <a:latin typeface="楷体" panose="02010609060101010101" pitchFamily="49" charset="-122"/>
                <a:ea typeface="楷体" panose="02010609060101010101" pitchFamily="49" charset="-122"/>
              </a:rPr>
              <a:t>和</a:t>
            </a:r>
            <a:r>
              <a:rPr lang="zh-CN" altLang="en-US" sz="2000" b="1">
                <a:solidFill>
                  <a:srgbClr val="C00000"/>
                </a:solidFill>
                <a:latin typeface="+mn-ea"/>
              </a:rPr>
              <a:t>后缀</a:t>
            </a:r>
            <a:r>
              <a:rPr lang="zh-CN" altLang="en-US" sz="2000" b="1">
                <a:solidFill>
                  <a:srgbClr val="002060"/>
                </a:solidFill>
                <a:latin typeface="楷体" panose="02010609060101010101" pitchFamily="49" charset="-122"/>
                <a:ea typeface="楷体" panose="02010609060101010101" pitchFamily="49" charset="-122"/>
              </a:rPr>
              <a:t>形式</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前缀形式也称为</a:t>
            </a:r>
            <a:r>
              <a:rPr lang="zh-CN" altLang="en-US" sz="2000" b="1">
                <a:solidFill>
                  <a:srgbClr val="C00000"/>
                </a:solidFill>
              </a:rPr>
              <a:t>波兰记号</a:t>
            </a:r>
            <a:r>
              <a:rPr lang="zh-CN" altLang="en-US" sz="2000" b="1">
                <a:solidFill>
                  <a:schemeClr val="accent6">
                    <a:lumMod val="50000"/>
                  </a:schemeClr>
                </a:solidFill>
              </a:rPr>
              <a:t>，后缀形式也称为</a:t>
            </a:r>
            <a:r>
              <a:rPr lang="zh-CN" altLang="en-US" sz="2000" b="1">
                <a:solidFill>
                  <a:srgbClr val="C00000"/>
                </a:solidFill>
              </a:rPr>
              <a:t>逆波兰记号</a:t>
            </a:r>
            <a:endParaRPr lang="en-US" altLang="zh-CN" sz="2000" b="1">
              <a:solidFill>
                <a:schemeClr val="accent6">
                  <a:lumMod val="50000"/>
                </a:schemeClr>
              </a:solidFill>
            </a:endParaRPr>
          </a:p>
        </p:txBody>
      </p:sp>
      <p:pic>
        <p:nvPicPr>
          <p:cNvPr id="4" name="图片 3">
            <a:extLst>
              <a:ext uri="{FF2B5EF4-FFF2-40B4-BE49-F238E27FC236}">
                <a16:creationId xmlns:a16="http://schemas.microsoft.com/office/drawing/2014/main" id="{DB24DE04-9E34-4E2A-B6A1-CD1698279FAB}"/>
              </a:ext>
            </a:extLst>
          </p:cNvPr>
          <p:cNvPicPr>
            <a:picLocks noChangeAspect="1"/>
          </p:cNvPicPr>
          <p:nvPr/>
        </p:nvPicPr>
        <p:blipFill>
          <a:blip r:embed="rId2"/>
          <a:stretch>
            <a:fillRect/>
          </a:stretch>
        </p:blipFill>
        <p:spPr>
          <a:xfrm>
            <a:off x="1767401" y="3841833"/>
            <a:ext cx="3923718" cy="2222188"/>
          </a:xfrm>
          <a:prstGeom prst="rect">
            <a:avLst/>
          </a:prstGeom>
        </p:spPr>
      </p:pic>
      <p:sp>
        <p:nvSpPr>
          <p:cNvPr id="6" name="文本框 5">
            <a:extLst>
              <a:ext uri="{FF2B5EF4-FFF2-40B4-BE49-F238E27FC236}">
                <a16:creationId xmlns:a16="http://schemas.microsoft.com/office/drawing/2014/main" id="{31970993-33C0-4B00-8D80-BBAA23746227}"/>
              </a:ext>
            </a:extLst>
          </p:cNvPr>
          <p:cNvSpPr txBox="1"/>
          <p:nvPr/>
        </p:nvSpPr>
        <p:spPr>
          <a:xfrm>
            <a:off x="6181904" y="3909443"/>
            <a:ext cx="4085968" cy="1508105"/>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前缀形式：</a:t>
            </a:r>
            <a:r>
              <a:rPr lang="zh-CN" altLang="en-US" sz="2400" b="1">
                <a:solidFill>
                  <a:schemeClr val="accent2">
                    <a:lumMod val="50000"/>
                  </a:schemeClr>
                </a:solidFill>
              </a:rPr>
              <a:t>* </a:t>
            </a:r>
            <a:r>
              <a:rPr lang="en-US" altLang="zh-CN" sz="2400" b="1">
                <a:solidFill>
                  <a:schemeClr val="accent2">
                    <a:lumMod val="50000"/>
                  </a:schemeClr>
                </a:solidFill>
              </a:rPr>
              <a:t>+ 3 / 7 3 - 5 2</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中缀形式：</a:t>
            </a:r>
            <a:r>
              <a:rPr lang="en-US" altLang="zh-CN" sz="2400" b="1">
                <a:solidFill>
                  <a:schemeClr val="accent2">
                    <a:lumMod val="50000"/>
                  </a:schemeClr>
                </a:solidFill>
              </a:rPr>
              <a:t>3 + 7 / 3 * 5 - 2</a:t>
            </a: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后缀形式：</a:t>
            </a:r>
            <a:r>
              <a:rPr lang="en-US" altLang="zh-CN" sz="2400" b="1">
                <a:solidFill>
                  <a:schemeClr val="accent2">
                    <a:lumMod val="50000"/>
                  </a:schemeClr>
                </a:solidFill>
              </a:rPr>
              <a:t>3 7 3 / + 5 2 - *</a:t>
            </a:r>
          </a:p>
        </p:txBody>
      </p:sp>
      <p:sp>
        <p:nvSpPr>
          <p:cNvPr id="11" name="文本框 10">
            <a:extLst>
              <a:ext uri="{FF2B5EF4-FFF2-40B4-BE49-F238E27FC236}">
                <a16:creationId xmlns:a16="http://schemas.microsoft.com/office/drawing/2014/main" id="{B352861E-701D-4B87-8167-454356947351}"/>
              </a:ext>
            </a:extLst>
          </p:cNvPr>
          <p:cNvSpPr txBox="1"/>
          <p:nvPr/>
        </p:nvSpPr>
        <p:spPr>
          <a:xfrm>
            <a:off x="6181904" y="5560840"/>
            <a:ext cx="4665905" cy="692626"/>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利用表达式后缀形式，或者说对表达式抽象语法树做后序遍历很容易计算表达式的结果</a:t>
            </a:r>
          </a:p>
        </p:txBody>
      </p:sp>
    </p:spTree>
    <p:extLst>
      <p:ext uri="{BB962C8B-B14F-4D97-AF65-F5344CB8AC3E}">
        <p14:creationId xmlns:p14="http://schemas.microsoft.com/office/powerpoint/2010/main" val="1830338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F550948-0A88-4D14-B7D1-47069CABE5F1}"/>
                  </a:ext>
                </a:extLst>
              </p:cNvPr>
              <p:cNvSpPr txBox="1"/>
              <p:nvPr/>
            </p:nvSpPr>
            <p:spPr>
              <a:xfrm>
                <a:off x="783771" y="1103964"/>
                <a:ext cx="4417981" cy="4781374"/>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树的基础知识</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无向树的定义和基本性质</a:t>
                </a:r>
              </a:p>
              <a:p>
                <a:pPr marL="800100" lvl="1" indent="-342900">
                  <a:lnSpc>
                    <a:spcPts val="3000"/>
                  </a:lnSpc>
                  <a:spcBef>
                    <a:spcPts val="600"/>
                  </a:spcBef>
                  <a:spcAft>
                    <a:spcPts val="300"/>
                  </a:spcAft>
                  <a:buFont typeface="Arial" panose="020B0604020202020204" pitchFamily="34" charset="0"/>
                  <a:buChar char="•"/>
                </a:pPr>
                <a:r>
                  <a:rPr lang="zh-CN" altLang="en-US" sz="2000" b="1">
                    <a:solidFill>
                      <a:schemeClr val="accent2">
                        <a:lumMod val="50000"/>
                      </a:schemeClr>
                    </a:solidFill>
                    <a:latin typeface="+mn-ea"/>
                  </a:rPr>
                  <a:t>连通且没有回路的简单图，它的边数等于顶点数减一等</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根树和</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𝒎</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元树</a:t>
                </a:r>
              </a:p>
              <a:p>
                <a:pPr marL="800100" lvl="1" indent="-342900">
                  <a:lnSpc>
                    <a:spcPts val="3000"/>
                  </a:lnSpc>
                  <a:spcBef>
                    <a:spcPts val="600"/>
                  </a:spcBef>
                  <a:spcAft>
                    <a:spcPts val="300"/>
                  </a:spcAft>
                  <a:buFont typeface="Arial" panose="020B0604020202020204" pitchFamily="34" charset="0"/>
                  <a:buChar char="•"/>
                </a:pPr>
                <a:r>
                  <a:rPr lang="zh-CN" altLang="en-US" sz="2000" b="1">
                    <a:solidFill>
                      <a:schemeClr val="accent2">
                        <a:lumMod val="50000"/>
                      </a:schemeClr>
                    </a:solidFill>
                    <a:latin typeface="+mn-ea"/>
                  </a:rPr>
                  <a:t>在顶点数相同的情况下，平衡满</a:t>
                </a:r>
                <a:r>
                  <a:rPr lang="en-US" altLang="zh-CN" sz="2000" b="1">
                    <a:solidFill>
                      <a:schemeClr val="accent2">
                        <a:lumMod val="50000"/>
                      </a:schemeClr>
                    </a:solidFill>
                    <a:latin typeface="+mn-ea"/>
                  </a:rPr>
                  <a:t>m</a:t>
                </a:r>
                <a:r>
                  <a:rPr lang="zh-CN" altLang="en-US" sz="2000" b="1">
                    <a:solidFill>
                      <a:schemeClr val="accent2">
                        <a:lumMod val="50000"/>
                      </a:schemeClr>
                    </a:solidFill>
                    <a:latin typeface="+mn-ea"/>
                  </a:rPr>
                  <a:t>元树具有最小的树高</a:t>
                </a: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树的遍历</a:t>
                </a:r>
              </a:p>
              <a:p>
                <a:pPr marL="800100" lvl="1" indent="-342900">
                  <a:lnSpc>
                    <a:spcPts val="3000"/>
                  </a:lnSpc>
                  <a:spcBef>
                    <a:spcPts val="600"/>
                  </a:spcBef>
                  <a:spcAft>
                    <a:spcPts val="300"/>
                  </a:spcAft>
                  <a:buFont typeface="Arial" panose="020B0604020202020204" pitchFamily="34" charset="0"/>
                  <a:buChar char="•"/>
                </a:pPr>
                <a:r>
                  <a:rPr lang="zh-CN" altLang="en-US" sz="2000" b="1">
                    <a:solidFill>
                      <a:schemeClr val="accent2">
                        <a:lumMod val="50000"/>
                      </a:schemeClr>
                    </a:solidFill>
                    <a:latin typeface="+mn-ea"/>
                  </a:rPr>
                  <a:t>树的前序、中序和后序遍历，以及表达式的前缀、中缀和后缀表示法</a:t>
                </a:r>
              </a:p>
            </p:txBody>
          </p:sp>
        </mc:Choice>
        <mc:Fallback xmlns="">
          <p:sp>
            <p:nvSpPr>
              <p:cNvPr id="2" name="文本框 1">
                <a:extLst>
                  <a:ext uri="{FF2B5EF4-FFF2-40B4-BE49-F238E27FC236}">
                    <a16:creationId xmlns:a16="http://schemas.microsoft.com/office/drawing/2014/main" id="{EF550948-0A88-4D14-B7D1-47069CABE5F1}"/>
                  </a:ext>
                </a:extLst>
              </p:cNvPr>
              <p:cNvSpPr txBox="1">
                <a:spLocks noRot="1" noChangeAspect="1" noMove="1" noResize="1" noEditPoints="1" noAdjustHandles="1" noChangeArrowheads="1" noChangeShapeType="1" noTextEdit="1"/>
              </p:cNvSpPr>
              <p:nvPr/>
            </p:nvSpPr>
            <p:spPr>
              <a:xfrm>
                <a:off x="783771" y="1103964"/>
                <a:ext cx="4417981" cy="4781374"/>
              </a:xfrm>
              <a:prstGeom prst="rect">
                <a:avLst/>
              </a:prstGeom>
              <a:blipFill>
                <a:blip r:embed="rId2"/>
                <a:stretch>
                  <a:fillRect l="-1243" t="-893" b="-14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9046192-3E11-4E79-BCD3-91093B8CC99E}"/>
                  </a:ext>
                </a:extLst>
              </p:cNvPr>
              <p:cNvSpPr txBox="1"/>
              <p:nvPr/>
            </p:nvSpPr>
            <p:spPr>
              <a:xfrm>
                <a:off x="5539000" y="1878824"/>
                <a:ext cx="5869229" cy="3231654"/>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能使用握手定理、树的概念证明有关树的一些简单性质</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能理解和证明</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元树的一些性质，包括平衡</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𝒎</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元树的一些性质</a:t>
                </a: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树的遍历要能给出算法输出的顶点访问序列</a:t>
                </a:r>
              </a:p>
              <a:p>
                <a:pPr marL="800100" lvl="1" indent="-342900">
                  <a:spcBef>
                    <a:spcPts val="600"/>
                  </a:spcBef>
                  <a:spcAft>
                    <a:spcPts val="600"/>
                  </a:spcAft>
                  <a:buFont typeface="Arial" panose="020B0604020202020204" pitchFamily="34" charset="0"/>
                  <a:buChar char="•"/>
                </a:pPr>
                <a:r>
                  <a:rPr lang="zh-CN" altLang="en-US" sz="2000" b="1">
                    <a:solidFill>
                      <a:schemeClr val="accent4">
                        <a:lumMod val="50000"/>
                      </a:schemeClr>
                    </a:solidFill>
                    <a:latin typeface="等线" panose="02010600030101010101" pitchFamily="2" charset="-122"/>
                    <a:ea typeface="等线" panose="02010600030101010101" pitchFamily="2" charset="-122"/>
                  </a:rPr>
                  <a:t>包括前序、中序、后序，以及树的先广遍历</a:t>
                </a:r>
              </a:p>
            </p:txBody>
          </p:sp>
        </mc:Choice>
        <mc:Fallback xmlns="">
          <p:sp>
            <p:nvSpPr>
              <p:cNvPr id="4" name="文本框 3">
                <a:extLst>
                  <a:ext uri="{FF2B5EF4-FFF2-40B4-BE49-F238E27FC236}">
                    <a16:creationId xmlns:a16="http://schemas.microsoft.com/office/drawing/2014/main" id="{79046192-3E11-4E79-BCD3-91093B8CC99E}"/>
                  </a:ext>
                </a:extLst>
              </p:cNvPr>
              <p:cNvSpPr txBox="1">
                <a:spLocks noRot="1" noChangeAspect="1" noMove="1" noResize="1" noEditPoints="1" noAdjustHandles="1" noChangeArrowheads="1" noChangeShapeType="1" noTextEdit="1"/>
              </p:cNvSpPr>
              <p:nvPr/>
            </p:nvSpPr>
            <p:spPr>
              <a:xfrm>
                <a:off x="5539000" y="1878824"/>
                <a:ext cx="5869229" cy="3231654"/>
              </a:xfrm>
              <a:prstGeom prst="rect">
                <a:avLst/>
              </a:prstGeom>
              <a:blipFill>
                <a:blip r:embed="rId3"/>
                <a:stretch>
                  <a:fillRect l="-936" t="-1321" r="-936" b="-24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31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dirty="0">
                <a:latin typeface="Arial" panose="020B0604020202020204" pitchFamily="34" charset="0"/>
                <a:ea typeface="楷体" panose="02010609060101010101" pitchFamily="49" charset="-122"/>
                <a:cs typeface="Arial" panose="020B0604020202020204" pitchFamily="34" charset="0"/>
              </a:rPr>
              <a:t>/32</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920079" y="1938752"/>
            <a:ext cx="9103862"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9.27</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9.30</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9.32</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pic>
        <p:nvPicPr>
          <p:cNvPr id="4" name="图片 3">
            <a:extLst>
              <a:ext uri="{FF2B5EF4-FFF2-40B4-BE49-F238E27FC236}">
                <a16:creationId xmlns:a16="http://schemas.microsoft.com/office/drawing/2014/main" id="{58C184A3-6F1F-414D-B6FA-D7C20356D039}"/>
              </a:ext>
            </a:extLst>
          </p:cNvPr>
          <p:cNvPicPr>
            <a:picLocks noChangeAspect="1"/>
          </p:cNvPicPr>
          <p:nvPr/>
        </p:nvPicPr>
        <p:blipFill>
          <a:blip r:embed="rId2"/>
          <a:stretch>
            <a:fillRect/>
          </a:stretch>
        </p:blipFill>
        <p:spPr>
          <a:xfrm>
            <a:off x="920078" y="3969700"/>
            <a:ext cx="10125075" cy="390525"/>
          </a:xfrm>
          <a:prstGeom prst="rect">
            <a:avLst/>
          </a:prstGeom>
        </p:spPr>
      </p:pic>
      <p:sp>
        <p:nvSpPr>
          <p:cNvPr id="6" name="文本框 5">
            <a:extLst>
              <a:ext uri="{FF2B5EF4-FFF2-40B4-BE49-F238E27FC236}">
                <a16:creationId xmlns:a16="http://schemas.microsoft.com/office/drawing/2014/main" id="{A71DADF7-6B81-4FD7-B37E-0580003DB5C5}"/>
              </a:ext>
            </a:extLst>
          </p:cNvPr>
          <p:cNvSpPr txBox="1"/>
          <p:nvPr/>
        </p:nvSpPr>
        <p:spPr>
          <a:xfrm>
            <a:off x="920078" y="3429000"/>
            <a:ext cx="9921154"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目前教材中的练习</a:t>
            </a:r>
            <a:r>
              <a:rPr lang="en-US" altLang="zh-CN" sz="2000" b="1">
                <a:solidFill>
                  <a:schemeClr val="accent2">
                    <a:lumMod val="50000"/>
                  </a:schemeClr>
                </a:solidFill>
              </a:rPr>
              <a:t>9.27</a:t>
            </a:r>
            <a:r>
              <a:rPr lang="zh-CN" altLang="en-US" sz="2000" b="1">
                <a:solidFill>
                  <a:schemeClr val="accent2">
                    <a:lumMod val="50000"/>
                  </a:schemeClr>
                </a:solidFill>
              </a:rPr>
              <a:t>与正文中定理</a:t>
            </a:r>
            <a:r>
              <a:rPr lang="en-US" altLang="zh-CN" sz="2000" b="1">
                <a:solidFill>
                  <a:schemeClr val="accent2">
                    <a:lumMod val="50000"/>
                  </a:schemeClr>
                </a:solidFill>
              </a:rPr>
              <a:t>9.7</a:t>
            </a:r>
            <a:r>
              <a:rPr lang="zh-CN" altLang="en-US" sz="2000" b="1">
                <a:solidFill>
                  <a:schemeClr val="accent2">
                    <a:lumMod val="50000"/>
                  </a:schemeClr>
                </a:solidFill>
              </a:rPr>
              <a:t>和定理</a:t>
            </a:r>
            <a:r>
              <a:rPr lang="en-US" altLang="zh-CN" sz="2000" b="1">
                <a:solidFill>
                  <a:schemeClr val="accent2">
                    <a:lumMod val="50000"/>
                  </a:schemeClr>
                </a:solidFill>
              </a:rPr>
              <a:t>9.8</a:t>
            </a:r>
            <a:r>
              <a:rPr lang="zh-CN" altLang="en-US" sz="2000" b="1">
                <a:solidFill>
                  <a:schemeClr val="accent2">
                    <a:lumMod val="50000"/>
                  </a:schemeClr>
                </a:solidFill>
              </a:rPr>
              <a:t>重复，因此练习</a:t>
            </a:r>
            <a:r>
              <a:rPr lang="en-US" altLang="zh-CN" sz="2000" b="1">
                <a:solidFill>
                  <a:schemeClr val="accent2">
                    <a:lumMod val="50000"/>
                  </a:schemeClr>
                </a:solidFill>
              </a:rPr>
              <a:t>9.27</a:t>
            </a:r>
            <a:r>
              <a:rPr lang="zh-CN" altLang="en-US" sz="2000" b="1">
                <a:solidFill>
                  <a:schemeClr val="accent2">
                    <a:lumMod val="50000"/>
                  </a:schemeClr>
                </a:solidFill>
              </a:rPr>
              <a:t>改为下面的题目！</a:t>
            </a:r>
          </a:p>
        </p:txBody>
      </p:sp>
    </p:spTree>
    <p:extLst>
      <p:ext uri="{BB962C8B-B14F-4D97-AF65-F5344CB8AC3E}">
        <p14:creationId xmlns:p14="http://schemas.microsoft.com/office/powerpoint/2010/main" val="118656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第二十九讲  树的基础知识</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1584</TotalTime>
  <Words>4534</Words>
  <Application>Microsoft Office PowerPoint</Application>
  <PresentationFormat>宽屏</PresentationFormat>
  <Paragraphs>541</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83</cp:revision>
  <dcterms:created xsi:type="dcterms:W3CDTF">2022-01-01T06:39:40Z</dcterms:created>
  <dcterms:modified xsi:type="dcterms:W3CDTF">2024-12-23T08:53:03Z</dcterms:modified>
</cp:coreProperties>
</file>