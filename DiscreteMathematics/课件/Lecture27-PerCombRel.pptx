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5" r:id="rId3"/>
    <p:sldId id="284" r:id="rId4"/>
    <p:sldId id="303" r:id="rId5"/>
    <p:sldId id="281" r:id="rId6"/>
    <p:sldId id="288" r:id="rId7"/>
    <p:sldId id="304" r:id="rId8"/>
    <p:sldId id="305" r:id="rId9"/>
    <p:sldId id="306" r:id="rId10"/>
    <p:sldId id="311" r:id="rId11"/>
    <p:sldId id="307" r:id="rId12"/>
    <p:sldId id="321" r:id="rId13"/>
    <p:sldId id="313" r:id="rId14"/>
    <p:sldId id="310" r:id="rId15"/>
    <p:sldId id="312" r:id="rId16"/>
    <p:sldId id="314" r:id="rId17"/>
    <p:sldId id="308" r:id="rId18"/>
    <p:sldId id="322" r:id="rId19"/>
    <p:sldId id="257" r:id="rId20"/>
    <p:sldId id="317" r:id="rId21"/>
    <p:sldId id="286" r:id="rId22"/>
    <p:sldId id="318" r:id="rId23"/>
    <p:sldId id="291" r:id="rId24"/>
    <p:sldId id="290" r:id="rId25"/>
    <p:sldId id="294" r:id="rId26"/>
    <p:sldId id="293" r:id="rId27"/>
    <p:sldId id="289" r:id="rId28"/>
    <p:sldId id="320" r:id="rId29"/>
    <p:sldId id="280" r:id="rId30"/>
    <p:sldId id="262"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7EC"/>
    <a:srgbClr val="0000FF"/>
    <a:srgbClr val="FFF8E5"/>
    <a:srgbClr val="FDF2EA"/>
    <a:srgbClr val="E5EFE5"/>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2024/12/11</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2024/12/11</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7.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77.png"/><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8.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18" Type="http://schemas.openxmlformats.org/officeDocument/2006/relationships/image" Target="../media/image104.png"/><Relationship Id="rId3" Type="http://schemas.openxmlformats.org/officeDocument/2006/relationships/image" Target="../media/image89.png"/><Relationship Id="rId21" Type="http://schemas.openxmlformats.org/officeDocument/2006/relationships/image" Target="../media/image107.png"/><Relationship Id="rId7" Type="http://schemas.openxmlformats.org/officeDocument/2006/relationships/image" Target="../media/image93.png"/><Relationship Id="rId12" Type="http://schemas.openxmlformats.org/officeDocument/2006/relationships/image" Target="../media/image98.png"/><Relationship Id="rId17" Type="http://schemas.openxmlformats.org/officeDocument/2006/relationships/image" Target="../media/image103.png"/><Relationship Id="rId2" Type="http://schemas.openxmlformats.org/officeDocument/2006/relationships/image" Target="../media/image88.png"/><Relationship Id="rId16" Type="http://schemas.openxmlformats.org/officeDocument/2006/relationships/image" Target="../media/image102.png"/><Relationship Id="rId20"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1.png"/><Relationship Id="rId15" Type="http://schemas.openxmlformats.org/officeDocument/2006/relationships/image" Target="../media/image101.png"/><Relationship Id="rId10" Type="http://schemas.openxmlformats.org/officeDocument/2006/relationships/image" Target="../media/image96.png"/><Relationship Id="rId19" Type="http://schemas.openxmlformats.org/officeDocument/2006/relationships/image" Target="../media/image105.png"/><Relationship Id="rId4" Type="http://schemas.openxmlformats.org/officeDocument/2006/relationships/image" Target="../media/image90.png"/><Relationship Id="rId9" Type="http://schemas.openxmlformats.org/officeDocument/2006/relationships/image" Target="../media/image95.png"/><Relationship Id="rId14" Type="http://schemas.openxmlformats.org/officeDocument/2006/relationships/image" Target="../media/image100.png"/><Relationship Id="rId22" Type="http://schemas.openxmlformats.org/officeDocument/2006/relationships/image" Target="../media/image108.png"/></Relationships>
</file>

<file path=ppt/slides/_rels/slide9.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xml"/><Relationship Id="rId4" Type="http://schemas.openxmlformats.org/officeDocument/2006/relationships/image" Target="../media/image121.png"/></Relationships>
</file>

<file path=ppt/slides/_rels/slide1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20.png"/><Relationship Id="rId1" Type="http://schemas.openxmlformats.org/officeDocument/2006/relationships/slideLayout" Target="../slideLayouts/slideLayout1.xml"/><Relationship Id="rId4" Type="http://schemas.openxmlformats.org/officeDocument/2006/relationships/image" Target="../media/image1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xml"/><Relationship Id="rId5" Type="http://schemas.openxmlformats.org/officeDocument/2006/relationships/image" Target="../media/image125.png"/><Relationship Id="rId4" Type="http://schemas.openxmlformats.org/officeDocument/2006/relationships/image" Target="../media/image124.png"/></Relationships>
</file>

<file path=ppt/slides/_rels/slide14.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7.png"/><Relationship Id="rId7" Type="http://schemas.openxmlformats.org/officeDocument/2006/relationships/image" Target="../media/image130.png"/><Relationship Id="rId2" Type="http://schemas.openxmlformats.org/officeDocument/2006/relationships/image" Target="../media/image126.png"/><Relationship Id="rId1" Type="http://schemas.openxmlformats.org/officeDocument/2006/relationships/slideLayout" Target="../slideLayouts/slideLayout1.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09.png"/><Relationship Id="rId9" Type="http://schemas.openxmlformats.org/officeDocument/2006/relationships/image" Target="../media/image132.png"/></Relationships>
</file>

<file path=ppt/slides/_rels/slide15.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3.emf"/><Relationship Id="rId7" Type="http://schemas.openxmlformats.org/officeDocument/2006/relationships/image" Target="../media/image141.png"/><Relationship Id="rId2" Type="http://schemas.openxmlformats.org/officeDocument/2006/relationships/image" Target="../media/image136.png"/><Relationship Id="rId1" Type="http://schemas.openxmlformats.org/officeDocument/2006/relationships/slideLayout" Target="../slideLayouts/slideLayout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 Id="rId9" Type="http://schemas.openxmlformats.org/officeDocument/2006/relationships/image" Target="../media/image143.png"/></Relationships>
</file>

<file path=ppt/slides/_rels/slide1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26.png"/><Relationship Id="rId5" Type="http://schemas.openxmlformats.org/officeDocument/2006/relationships/image" Target="../media/image28.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2.png"/><Relationship Id="rId9"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731520" y="1185233"/>
            <a:ext cx="10461997"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a:latin typeface="仿宋" panose="02010609060101010101" pitchFamily="49" charset="-122"/>
                <a:ea typeface="仿宋" panose="02010609060101010101" pitchFamily="49" charset="-122"/>
              </a:rPr>
              <a:t>第二十七讲</a:t>
            </a:r>
            <a:r>
              <a:rPr lang="en-US" altLang="zh-CN" sz="4000" b="1">
                <a:latin typeface="仿宋" panose="02010609060101010101" pitchFamily="49" charset="-122"/>
                <a:ea typeface="仿宋" panose="02010609060101010101" pitchFamily="49" charset="-122"/>
              </a:rPr>
              <a:t>	</a:t>
            </a:r>
            <a:r>
              <a:rPr lang="zh-CN" altLang="en-US" sz="4000" b="1">
                <a:latin typeface="仿宋" panose="02010609060101010101" pitchFamily="49" charset="-122"/>
                <a:ea typeface="仿宋" panose="02010609060101010101" pitchFamily="49" charset="-122"/>
              </a:rPr>
              <a:t>排列组合生成与递推建模</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7</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9D7146D-5D36-4C5A-9B5B-E900F6EA5FF0}"/>
                  </a:ext>
                </a:extLst>
              </p:cNvPr>
              <p:cNvSpPr txBox="1"/>
              <p:nvPr/>
            </p:nvSpPr>
            <p:spPr>
              <a:xfrm>
                <a:off x="1381059" y="1674175"/>
                <a:ext cx="9415167" cy="1610826"/>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能编写计算机程序实现全排列和</a:t>
                </a:r>
                <a14:m>
                  <m:oMath xmlns:m="http://schemas.openxmlformats.org/officeDocument/2006/math">
                    <m:r>
                      <a:rPr lang="en-US" altLang="zh-CN" sz="2400" b="1">
                        <a:solidFill>
                          <a:srgbClr val="002060"/>
                        </a:solidFill>
                        <a:latin typeface="Cambria Math" panose="02040503050406030204" pitchFamily="18" charset="0"/>
                      </a:rPr>
                      <m:t>𝒓</m:t>
                    </m:r>
                  </m:oMath>
                </a14:m>
                <a:r>
                  <a:rPr lang="zh-CN" altLang="en-US" sz="2400" b="1">
                    <a:solidFill>
                      <a:srgbClr val="002060"/>
                    </a:solidFill>
                    <a:latin typeface="+mn-ea"/>
                  </a:rPr>
                  <a:t>组合生成算法</a:t>
                </a:r>
                <a:endParaRPr lang="en-US" altLang="zh-CN" sz="2400" b="1">
                  <a:solidFill>
                    <a:srgbClr val="002060"/>
                  </a:solidFill>
                  <a:latin typeface="+mn-ea"/>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能使用递推关系式对简单计数问题和递归算法的效率分析进行建模</a:t>
                </a:r>
              </a:p>
            </p:txBody>
          </p:sp>
        </mc:Choice>
        <mc:Fallback xmlns="">
          <p:sp>
            <p:nvSpPr>
              <p:cNvPr id="11" name="文本框 10">
                <a:extLst>
                  <a:ext uri="{FF2B5EF4-FFF2-40B4-BE49-F238E27FC236}">
                    <a16:creationId xmlns:a16="http://schemas.microsoft.com/office/drawing/2014/main" id="{F9D7146D-5D36-4C5A-9B5B-E900F6EA5FF0}"/>
                  </a:ext>
                </a:extLst>
              </p:cNvPr>
              <p:cNvSpPr txBox="1">
                <a:spLocks noRot="1" noChangeAspect="1" noMove="1" noResize="1" noEditPoints="1" noAdjustHandles="1" noChangeArrowheads="1" noChangeShapeType="1" noTextEdit="1"/>
              </p:cNvSpPr>
              <p:nvPr/>
            </p:nvSpPr>
            <p:spPr>
              <a:xfrm>
                <a:off x="1381059" y="1674175"/>
                <a:ext cx="9415167" cy="1610826"/>
              </a:xfrm>
              <a:prstGeom prst="rect">
                <a:avLst/>
              </a:prstGeom>
              <a:blipFill>
                <a:blip r:embed="rId2"/>
                <a:stretch>
                  <a:fillRect l="-907" t="-5303" r="-453" b="-79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DD78700-B511-4333-9A39-D43B503D9053}"/>
                  </a:ext>
                </a:extLst>
              </p:cNvPr>
              <p:cNvSpPr txBox="1"/>
              <p:nvPr/>
            </p:nvSpPr>
            <p:spPr>
              <a:xfrm>
                <a:off x="1519560" y="3845641"/>
                <a:ext cx="9152878" cy="1785104"/>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如何从偏序关系的角度理解全排列和</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𝒓</m:t>
                    </m:r>
                  </m:oMath>
                </a14:m>
                <a:r>
                  <a:rPr lang="zh-CN" altLang="en-US" sz="2800" b="1">
                    <a:solidFill>
                      <a:schemeClr val="accent6">
                        <a:lumMod val="50000"/>
                      </a:schemeClr>
                    </a:solidFill>
                    <a:latin typeface="+mn-ea"/>
                  </a:rPr>
                  <a:t>组合生成算法？</a:t>
                </a:r>
                <a:endParaRPr lang="en-US" altLang="zh-CN" sz="2800" b="1">
                  <a:solidFill>
                    <a:schemeClr val="accent6">
                      <a:lumMod val="50000"/>
                    </a:schemeClr>
                  </a:solidFill>
                  <a:latin typeface="+mn-ea"/>
                </a:endParaRP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如何使用递推关系式对一些计数问题进行建模？</a:t>
                </a:r>
                <a:endParaRPr lang="en-US" altLang="zh-CN" sz="2800" b="1">
                  <a:solidFill>
                    <a:schemeClr val="accent6">
                      <a:lumMod val="50000"/>
                    </a:schemeClr>
                  </a:solidFill>
                  <a:latin typeface="+mn-ea"/>
                </a:endParaRPr>
              </a:p>
            </p:txBody>
          </p:sp>
        </mc:Choice>
        <mc:Fallback xmlns="">
          <p:sp>
            <p:nvSpPr>
              <p:cNvPr id="12" name="文本框 11">
                <a:extLst>
                  <a:ext uri="{FF2B5EF4-FFF2-40B4-BE49-F238E27FC236}">
                    <a16:creationId xmlns:a16="http://schemas.microsoft.com/office/drawing/2014/main" id="{9DD78700-B511-4333-9A39-D43B503D9053}"/>
                  </a:ext>
                </a:extLst>
              </p:cNvPr>
              <p:cNvSpPr txBox="1">
                <a:spLocks noRot="1" noChangeAspect="1" noMove="1" noResize="1" noEditPoints="1" noAdjustHandles="1" noChangeArrowheads="1" noChangeShapeType="1" noTextEdit="1"/>
              </p:cNvSpPr>
              <p:nvPr/>
            </p:nvSpPr>
            <p:spPr>
              <a:xfrm>
                <a:off x="1519560" y="3845641"/>
                <a:ext cx="9152878" cy="1785104"/>
              </a:xfrm>
              <a:prstGeom prst="rect">
                <a:avLst/>
              </a:prstGeom>
              <a:blipFill>
                <a:blip r:embed="rId3"/>
                <a:stretch>
                  <a:fillRect l="-1198" t="-9215" b="-81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76842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5763014" cy="3547125"/>
          </a:xfrm>
          <a:prstGeom prst="rect">
            <a:avLst/>
          </a:prstGeom>
          <a:noFill/>
        </p:spPr>
        <p:txBody>
          <a:bodyPr wrap="square" rtlCol="0">
            <a:spAutoFit/>
          </a:bodyPr>
          <a:lstStyle/>
          <a:p>
            <a:pPr>
              <a:lnSpc>
                <a:spcPct val="25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全排列生成算法</a:t>
            </a:r>
            <a:r>
              <a:rPr lang="en-US" altLang="zh-CN" sz="3200" b="1" dirty="0">
                <a:solidFill>
                  <a:schemeClr val="accent6">
                    <a:lumMod val="50000"/>
                  </a:schemeClr>
                </a:solidFill>
                <a:latin typeface="仿宋" panose="02010609060101010101" pitchFamily="49" charset="-122"/>
                <a:ea typeface="仿宋" panose="02010609060101010101" pitchFamily="49" charset="-122"/>
              </a:rPr>
              <a:t>(</a:t>
            </a:r>
            <a:r>
              <a:rPr lang="zh-CN" altLang="en-US" sz="3200" b="1" dirty="0">
                <a:solidFill>
                  <a:schemeClr val="accent6">
                    <a:lumMod val="50000"/>
                  </a:schemeClr>
                </a:solidFill>
                <a:latin typeface="仿宋" panose="02010609060101010101" pitchFamily="49" charset="-122"/>
                <a:ea typeface="仿宋" panose="02010609060101010101" pitchFamily="49" charset="-122"/>
              </a:rPr>
              <a:t>非重点）</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en-US" altLang="zh-CN" sz="3200" b="1" dirty="0">
                <a:solidFill>
                  <a:schemeClr val="accent6">
                    <a:lumMod val="50000"/>
                  </a:schemeClr>
                </a:solidFill>
                <a:latin typeface="仿宋" panose="02010609060101010101" pitchFamily="49" charset="-122"/>
                <a:ea typeface="仿宋" panose="02010609060101010101" pitchFamily="49" charset="-122"/>
              </a:rPr>
              <a:t>r-</a:t>
            </a:r>
            <a:r>
              <a:rPr lang="zh-CN" altLang="en-US" sz="3200" b="1" dirty="0">
                <a:solidFill>
                  <a:schemeClr val="accent6">
                    <a:lumMod val="50000"/>
                  </a:schemeClr>
                </a:solidFill>
                <a:latin typeface="仿宋" panose="02010609060101010101" pitchFamily="49" charset="-122"/>
                <a:ea typeface="仿宋" panose="02010609060101010101" pitchFamily="49" charset="-122"/>
              </a:rPr>
              <a:t>组合生成算法</a:t>
            </a:r>
            <a:r>
              <a:rPr lang="en-US" altLang="zh-CN" sz="3200" b="1" dirty="0">
                <a:solidFill>
                  <a:schemeClr val="accent6">
                    <a:lumMod val="50000"/>
                  </a:schemeClr>
                </a:solidFill>
                <a:latin typeface="仿宋" panose="02010609060101010101" pitchFamily="49" charset="-122"/>
                <a:ea typeface="仿宋" panose="02010609060101010101" pitchFamily="49" charset="-122"/>
              </a:rPr>
              <a:t>(</a:t>
            </a:r>
            <a:r>
              <a:rPr lang="zh-CN" altLang="en-US" sz="3200" b="1" dirty="0">
                <a:solidFill>
                  <a:schemeClr val="accent6">
                    <a:lumMod val="50000"/>
                  </a:schemeClr>
                </a:solidFill>
                <a:latin typeface="仿宋" panose="02010609060101010101" pitchFamily="49" charset="-122"/>
                <a:ea typeface="仿宋" panose="02010609060101010101" pitchFamily="49" charset="-122"/>
              </a:rPr>
              <a:t>非重点）</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计数问题的递推关系式建模</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683165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生成排列组合的含义</a:t>
            </a:r>
          </a:p>
        </p:txBody>
      </p:sp>
      <p:sp>
        <p:nvSpPr>
          <p:cNvPr id="2" name="文本框 1">
            <a:extLst>
              <a:ext uri="{FF2B5EF4-FFF2-40B4-BE49-F238E27FC236}">
                <a16:creationId xmlns:a16="http://schemas.microsoft.com/office/drawing/2014/main" id="{55D2499B-5871-4D75-9E10-94490988334E}"/>
              </a:ext>
            </a:extLst>
          </p:cNvPr>
          <p:cNvSpPr txBox="1"/>
          <p:nvPr/>
        </p:nvSpPr>
        <p:spPr>
          <a:xfrm>
            <a:off x="822303" y="1189363"/>
            <a:ext cx="7657278" cy="1184940"/>
          </a:xfrm>
          <a:prstGeom prst="rect">
            <a:avLst/>
          </a:prstGeom>
          <a:solidFill>
            <a:schemeClr val="accent2">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C00000"/>
                </a:solidFill>
                <a:latin typeface="+mn-ea"/>
              </a:rPr>
              <a:t>排列组合的生成</a:t>
            </a:r>
            <a:r>
              <a:rPr lang="zh-CN" altLang="en-US" sz="2000" b="1">
                <a:solidFill>
                  <a:srgbClr val="002060"/>
                </a:solidFill>
                <a:latin typeface="楷体" panose="02010609060101010101" pitchFamily="49" charset="-122"/>
                <a:ea typeface="楷体" panose="02010609060101010101" pitchFamily="49" charset="-122"/>
              </a:rPr>
              <a:t>是指将满足条件的排列和组合一一枚举出来</a:t>
            </a:r>
          </a:p>
          <a:p>
            <a:pPr marL="342900" indent="-342900">
              <a:spcBef>
                <a:spcPts val="600"/>
              </a:spcBef>
              <a:spcAft>
                <a:spcPts val="300"/>
              </a:spcAft>
              <a:buFont typeface="Arial" panose="020B0604020202020204" pitchFamily="34" charset="0"/>
              <a:buChar char="•"/>
            </a:pPr>
            <a:r>
              <a:rPr lang="zh-CN" altLang="en-US" b="1">
                <a:solidFill>
                  <a:schemeClr val="accent6">
                    <a:lumMod val="50000"/>
                  </a:schemeClr>
                </a:solidFill>
              </a:rPr>
              <a:t>验证计数结果需生成可能的串、可能的子集，或不定方程可能的解等等</a:t>
            </a:r>
          </a:p>
          <a:p>
            <a:pPr marL="342900" indent="-342900">
              <a:spcBef>
                <a:spcPts val="600"/>
              </a:spcBef>
              <a:spcAft>
                <a:spcPts val="300"/>
              </a:spcAft>
              <a:buFont typeface="Arial" panose="020B0604020202020204" pitchFamily="34" charset="0"/>
              <a:buChar char="•"/>
            </a:pPr>
            <a:r>
              <a:rPr lang="zh-CN" altLang="en-US" b="1">
                <a:solidFill>
                  <a:schemeClr val="accent6">
                    <a:lumMod val="50000"/>
                  </a:schemeClr>
                </a:solidFill>
              </a:rPr>
              <a:t>实际应用也可能枚举问题的解再找到满足条件的解或对解进行优化</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B85FA88-1B44-493D-85A5-BAA1DC6D2736}"/>
                  </a:ext>
                </a:extLst>
              </p:cNvPr>
              <p:cNvSpPr txBox="1"/>
              <p:nvPr/>
            </p:nvSpPr>
            <p:spPr>
              <a:xfrm>
                <a:off x="822302" y="2571504"/>
                <a:ext cx="10571517" cy="1669688"/>
              </a:xfrm>
              <a:prstGeom prst="rect">
                <a:avLst/>
              </a:prstGeom>
              <a:solidFill>
                <a:schemeClr val="accent5">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课程主要讨论</a:t>
                </a:r>
                <a14:m>
                  <m:oMath xmlns:m="http://schemas.openxmlformats.org/officeDocument/2006/math">
                    <m:r>
                      <a:rPr lang="en-US" altLang="zh-CN" sz="2000" b="1" i="1" smtClean="0">
                        <a:solidFill>
                          <a:srgbClr val="C00000"/>
                        </a:solidFill>
                        <a:latin typeface="Cambria Math" panose="02040503050406030204" pitchFamily="18" charset="0"/>
                      </a:rPr>
                      <m:t>𝒏</m:t>
                    </m:r>
                  </m:oMath>
                </a14:m>
                <a:r>
                  <a:rPr lang="zh-CN" altLang="en-US" sz="2000" b="1">
                    <a:solidFill>
                      <a:srgbClr val="C00000"/>
                    </a:solidFill>
                    <a:latin typeface="+mn-ea"/>
                  </a:rPr>
                  <a:t>个元素集合的所有全排列</a:t>
                </a:r>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C00000"/>
                        </a:solidFill>
                        <a:latin typeface="Cambria Math" panose="02040503050406030204" pitchFamily="18" charset="0"/>
                      </a:rPr>
                      <m:t>𝒏</m:t>
                    </m:r>
                  </m:oMath>
                </a14:m>
                <a:r>
                  <a:rPr lang="zh-CN" altLang="en-US" sz="2000" b="1">
                    <a:solidFill>
                      <a:srgbClr val="C00000"/>
                    </a:solidFill>
                    <a:latin typeface="+mn-ea"/>
                  </a:rPr>
                  <a:t>个元素的所有</a:t>
                </a:r>
                <a14:m>
                  <m:oMath xmlns:m="http://schemas.openxmlformats.org/officeDocument/2006/math">
                    <m:r>
                      <a:rPr lang="en-US" altLang="zh-CN" sz="2000" b="1" i="1" smtClean="0">
                        <a:solidFill>
                          <a:srgbClr val="C00000"/>
                        </a:solidFill>
                        <a:latin typeface="Cambria Math" panose="02040503050406030204" pitchFamily="18" charset="0"/>
                      </a:rPr>
                      <m:t>𝒓</m:t>
                    </m:r>
                  </m:oMath>
                </a14:m>
                <a:r>
                  <a:rPr lang="zh-CN" altLang="en-US" sz="2000" b="1">
                    <a:solidFill>
                      <a:srgbClr val="C00000"/>
                    </a:solidFill>
                    <a:latin typeface="+mn-ea"/>
                  </a:rPr>
                  <a:t>组合</a:t>
                </a:r>
                <a:r>
                  <a:rPr lang="zh-CN" altLang="en-US" sz="2000" b="1">
                    <a:solidFill>
                      <a:srgbClr val="002060"/>
                    </a:solidFill>
                    <a:latin typeface="楷体" panose="02010609060101010101" pitchFamily="49" charset="-122"/>
                    <a:ea typeface="楷体" panose="02010609060101010101" pitchFamily="49" charset="-122"/>
                  </a:rPr>
                  <a:t>的生成算法</a:t>
                </a:r>
              </a:p>
              <a:p>
                <a:pPr marL="342900" indent="-342900">
                  <a:spcBef>
                    <a:spcPts val="600"/>
                  </a:spcBef>
                  <a:spcAft>
                    <a:spcPts val="300"/>
                  </a:spcAft>
                  <a:buFont typeface="Arial" panose="020B0604020202020204" pitchFamily="34" charset="0"/>
                  <a:buChar char="•"/>
                </a:pPr>
                <a14:m>
                  <m:oMath xmlns:m="http://schemas.openxmlformats.org/officeDocument/2006/math">
                    <m:r>
                      <a:rPr lang="en-US" altLang="zh-CN" sz="2000" b="1">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元素集合的所有</a:t>
                </a:r>
                <a14:m>
                  <m:oMath xmlns:m="http://schemas.openxmlformats.org/officeDocument/2006/math">
                    <m:r>
                      <a:rPr lang="en-US" altLang="zh-CN" sz="2000" b="1">
                        <a:solidFill>
                          <a:schemeClr val="accent6">
                            <a:lumMod val="50000"/>
                          </a:schemeClr>
                        </a:solidFill>
                        <a:latin typeface="Cambria Math" panose="02040503050406030204" pitchFamily="18" charset="0"/>
                      </a:rPr>
                      <m:t>𝒓</m:t>
                    </m:r>
                  </m:oMath>
                </a14:m>
                <a:r>
                  <a:rPr lang="zh-CN" altLang="en-US" sz="2000" b="1">
                    <a:solidFill>
                      <a:schemeClr val="accent6">
                        <a:lumMod val="50000"/>
                      </a:schemeClr>
                    </a:solidFill>
                  </a:rPr>
                  <a:t>排列，可用</a:t>
                </a:r>
                <a14:m>
                  <m:oMath xmlns:m="http://schemas.openxmlformats.org/officeDocument/2006/math">
                    <m:r>
                      <a:rPr lang="en-US" altLang="zh-CN" sz="2000" b="1">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元素</a:t>
                </a:r>
                <a14:m>
                  <m:oMath xmlns:m="http://schemas.openxmlformats.org/officeDocument/2006/math">
                    <m:r>
                      <a:rPr lang="en-US" altLang="zh-CN" sz="2000" b="1">
                        <a:solidFill>
                          <a:schemeClr val="accent6">
                            <a:lumMod val="50000"/>
                          </a:schemeClr>
                        </a:solidFill>
                        <a:latin typeface="Cambria Math" panose="02040503050406030204" pitchFamily="18" charset="0"/>
                      </a:rPr>
                      <m:t>𝒓</m:t>
                    </m:r>
                  </m:oMath>
                </a14:m>
                <a:r>
                  <a:rPr lang="zh-CN" altLang="en-US" sz="2000" b="1">
                    <a:solidFill>
                      <a:schemeClr val="accent6">
                        <a:lumMod val="50000"/>
                      </a:schemeClr>
                    </a:solidFill>
                  </a:rPr>
                  <a:t>组合生成算法选出</a:t>
                </a:r>
                <a14:m>
                  <m:oMath xmlns:m="http://schemas.openxmlformats.org/officeDocument/2006/math">
                    <m:r>
                      <a:rPr lang="en-US" altLang="zh-CN" sz="2000" b="1">
                        <a:solidFill>
                          <a:schemeClr val="accent6">
                            <a:lumMod val="50000"/>
                          </a:schemeClr>
                        </a:solidFill>
                        <a:latin typeface="Cambria Math" panose="02040503050406030204" pitchFamily="18" charset="0"/>
                      </a:rPr>
                      <m:t>𝒓</m:t>
                    </m:r>
                  </m:oMath>
                </a14:m>
                <a:r>
                  <a:rPr lang="zh-CN" altLang="en-US" sz="2000" b="1">
                    <a:solidFill>
                      <a:schemeClr val="accent6">
                        <a:lumMod val="50000"/>
                      </a:schemeClr>
                    </a:solidFill>
                  </a:rPr>
                  <a:t>个元素，再生成</a:t>
                </a:r>
                <a14:m>
                  <m:oMath xmlns:m="http://schemas.openxmlformats.org/officeDocument/2006/math">
                    <m:r>
                      <a:rPr lang="en-US" altLang="zh-CN" sz="2000" b="1">
                        <a:solidFill>
                          <a:schemeClr val="accent6">
                            <a:lumMod val="50000"/>
                          </a:schemeClr>
                        </a:solidFill>
                        <a:latin typeface="Cambria Math" panose="02040503050406030204" pitchFamily="18" charset="0"/>
                      </a:rPr>
                      <m:t>𝒓</m:t>
                    </m:r>
                  </m:oMath>
                </a14:m>
                <a:r>
                  <a:rPr lang="zh-CN" altLang="en-US" sz="2000" b="1">
                    <a:solidFill>
                      <a:schemeClr val="accent6">
                        <a:lumMod val="50000"/>
                      </a:schemeClr>
                    </a:solidFill>
                  </a:rPr>
                  <a:t>个元素的全排列</a:t>
                </a:r>
              </a:p>
              <a:p>
                <a:pPr marL="342900" indent="-342900">
                  <a:spcBef>
                    <a:spcPts val="600"/>
                  </a:spcBef>
                  <a:spcAft>
                    <a:spcPts val="300"/>
                  </a:spcAft>
                  <a:buFont typeface="Arial" panose="020B0604020202020204" pitchFamily="34" charset="0"/>
                  <a:buChar char="•"/>
                </a:pPr>
                <a14:m>
                  <m:oMath xmlns:m="http://schemas.openxmlformats.org/officeDocument/2006/math">
                    <m:r>
                      <a:rPr lang="en-US" altLang="zh-CN" sz="2000" b="1">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元素的所有组合，即</a:t>
                </a:r>
                <a14:m>
                  <m:oMath xmlns:m="http://schemas.openxmlformats.org/officeDocument/2006/math">
                    <m:r>
                      <a:rPr lang="en-US" altLang="zh-CN" sz="2000" b="1">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元素集合的所有子集的生成，也就是生成幂集</a:t>
                </a: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前面已经利用二进制串与子集的对应给出了一个生成幂集的算法</a:t>
                </a:r>
              </a:p>
            </p:txBody>
          </p:sp>
        </mc:Choice>
        <mc:Fallback xmlns="">
          <p:sp>
            <p:nvSpPr>
              <p:cNvPr id="3" name="文本框 2">
                <a:extLst>
                  <a:ext uri="{FF2B5EF4-FFF2-40B4-BE49-F238E27FC236}">
                    <a16:creationId xmlns:a16="http://schemas.microsoft.com/office/drawing/2014/main" id="{2B85FA88-1B44-493D-85A5-BAA1DC6D2736}"/>
                  </a:ext>
                </a:extLst>
              </p:cNvPr>
              <p:cNvSpPr txBox="1">
                <a:spLocks noRot="1" noChangeAspect="1" noMove="1" noResize="1" noEditPoints="1" noAdjustHandles="1" noChangeArrowheads="1" noChangeShapeType="1" noTextEdit="1"/>
              </p:cNvSpPr>
              <p:nvPr/>
            </p:nvSpPr>
            <p:spPr>
              <a:xfrm>
                <a:off x="822302" y="2571504"/>
                <a:ext cx="10571517" cy="1669688"/>
              </a:xfrm>
              <a:prstGeom prst="rect">
                <a:avLst/>
              </a:prstGeom>
              <a:blipFill>
                <a:blip r:embed="rId2"/>
                <a:stretch>
                  <a:fillRect l="-634" t="-3285" r="-404" b="-29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25F2094-19F5-47EF-94E0-315A36249ACD}"/>
                  </a:ext>
                </a:extLst>
              </p:cNvPr>
              <p:cNvSpPr txBox="1"/>
              <p:nvPr/>
            </p:nvSpPr>
            <p:spPr>
              <a:xfrm>
                <a:off x="822303" y="4459210"/>
                <a:ext cx="10117606" cy="1669688"/>
              </a:xfrm>
              <a:prstGeom prst="rect">
                <a:avLst/>
              </a:prstGeom>
              <a:solidFill>
                <a:schemeClr val="accent4">
                  <a:lumMod val="20000"/>
                  <a:lumOff val="80000"/>
                  <a:alpha val="50000"/>
                </a:schemeClr>
              </a:solidFill>
            </p:spPr>
            <p:txBody>
              <a:bodyPr wrap="square" rtlCol="0">
                <a:spAutoFit/>
              </a:bodyPr>
              <a:lstStyle/>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有许多不同的全排列与</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𝒓</m:t>
                    </m:r>
                  </m:oMath>
                </a14:m>
                <a:r>
                  <a:rPr lang="zh-CN" altLang="en-US" sz="2000" b="1">
                    <a:solidFill>
                      <a:srgbClr val="002060"/>
                    </a:solidFill>
                    <a:latin typeface="楷体" panose="02010609060101010101" pitchFamily="49" charset="-122"/>
                    <a:ea typeface="楷体" panose="02010609060101010101" pitchFamily="49" charset="-122"/>
                  </a:rPr>
                  <a:t>组合生成算法</a:t>
                </a:r>
              </a:p>
              <a:p>
                <a:pPr marL="800100" lvl="1" indent="-342900">
                  <a:spcBef>
                    <a:spcPts val="600"/>
                  </a:spcBef>
                  <a:spcAft>
                    <a:spcPts val="300"/>
                  </a:spcAft>
                  <a:buFont typeface="Arial" panose="020B0604020202020204" pitchFamily="34" charset="0"/>
                  <a:buChar char="•"/>
                </a:pPr>
                <a:r>
                  <a:rPr lang="zh-CN" altLang="en-US" b="1">
                    <a:solidFill>
                      <a:schemeClr val="accent6">
                        <a:lumMod val="50000"/>
                      </a:schemeClr>
                    </a:solidFill>
                  </a:rPr>
                  <a:t>例如，生成</a:t>
                </a:r>
                <a14:m>
                  <m:oMath xmlns:m="http://schemas.openxmlformats.org/officeDocument/2006/math">
                    <m:r>
                      <a:rPr lang="en-US" altLang="zh-CN" b="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个元素集合</a:t>
                </a:r>
                <a14:m>
                  <m:oMath xmlns:m="http://schemas.openxmlformats.org/officeDocument/2006/math">
                    <m:r>
                      <a:rPr lang="en-US" altLang="zh-CN" b="1">
                        <a:solidFill>
                          <a:schemeClr val="accent6">
                            <a:lumMod val="50000"/>
                          </a:schemeClr>
                        </a:solidFill>
                        <a:latin typeface="Cambria Math" panose="02040503050406030204" pitchFamily="18" charset="0"/>
                      </a:rPr>
                      <m:t>𝑺</m:t>
                    </m:r>
                  </m:oMath>
                </a14:m>
                <a:r>
                  <a:rPr lang="zh-CN" altLang="en-US" b="1">
                    <a:solidFill>
                      <a:schemeClr val="accent6">
                        <a:lumMod val="50000"/>
                      </a:schemeClr>
                    </a:solidFill>
                  </a:rPr>
                  <a:t>的长度为</a:t>
                </a:r>
                <a14:m>
                  <m:oMath xmlns:m="http://schemas.openxmlformats.org/officeDocument/2006/math">
                    <m:r>
                      <a:rPr lang="en-US" altLang="zh-CN" b="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允许重复字符的所有串，然后过滤出不含重复字符的串</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下面讨论基于</a:t>
                </a:r>
                <a:r>
                  <a:rPr lang="zh-CN" altLang="en-US" sz="2000" b="1">
                    <a:solidFill>
                      <a:srgbClr val="C00000"/>
                    </a:solidFill>
                    <a:latin typeface="+mn-ea"/>
                  </a:rPr>
                  <a:t>字典序</a:t>
                </a:r>
                <a:r>
                  <a:rPr lang="en-US" altLang="zh-CN" sz="2000" b="1">
                    <a:solidFill>
                      <a:srgbClr val="002060"/>
                    </a:solidFill>
                    <a:latin typeface="+mn-ea"/>
                  </a:rPr>
                  <a:t>(lexicographic order)</a:t>
                </a:r>
                <a:r>
                  <a:rPr lang="zh-CN" altLang="en-US" sz="2000" b="1">
                    <a:solidFill>
                      <a:srgbClr val="002060"/>
                    </a:solidFill>
                    <a:latin typeface="楷体" panose="02010609060101010101" pitchFamily="49" charset="-122"/>
                    <a:ea typeface="楷体" panose="02010609060101010101" pitchFamily="49" charset="-122"/>
                  </a:rPr>
                  <a:t>或说</a:t>
                </a:r>
                <a:r>
                  <a:rPr lang="zh-CN" altLang="en-US" sz="2000" b="1">
                    <a:solidFill>
                      <a:srgbClr val="C00000"/>
                    </a:solidFill>
                    <a:latin typeface="+mn-ea"/>
                  </a:rPr>
                  <a:t>词典序</a:t>
                </a:r>
                <a:r>
                  <a:rPr lang="en-US" altLang="zh-CN" sz="2000" b="1">
                    <a:solidFill>
                      <a:srgbClr val="002060"/>
                    </a:solidFill>
                    <a:latin typeface="+mn-ea"/>
                  </a:rPr>
                  <a:t>(dictionary order)</a:t>
                </a:r>
                <a:r>
                  <a:rPr lang="zh-CN" altLang="en-US" sz="2000" b="1">
                    <a:solidFill>
                      <a:srgbClr val="002060"/>
                    </a:solidFill>
                    <a:latin typeface="楷体" panose="02010609060101010101" pitchFamily="49" charset="-122"/>
                    <a:ea typeface="楷体" panose="02010609060101010101" pitchFamily="49" charset="-122"/>
                  </a:rPr>
                  <a:t>算法</a:t>
                </a:r>
              </a:p>
              <a:p>
                <a:pPr marL="800100" lvl="1" indent="-342900">
                  <a:spcBef>
                    <a:spcPts val="600"/>
                  </a:spcBef>
                  <a:spcAft>
                    <a:spcPts val="300"/>
                  </a:spcAft>
                  <a:buFont typeface="Arial" panose="020B0604020202020204" pitchFamily="34" charset="0"/>
                  <a:buChar char="•"/>
                </a:pPr>
                <a:r>
                  <a:rPr lang="zh-CN" altLang="en-US" b="1">
                    <a:solidFill>
                      <a:schemeClr val="accent6">
                        <a:lumMod val="50000"/>
                      </a:schemeClr>
                    </a:solidFill>
                  </a:rPr>
                  <a:t>通过按某种规律枚举全排列或</a:t>
                </a:r>
                <a:r>
                  <a:rPr lang="en-US" altLang="zh-CN" b="1">
                    <a:solidFill>
                      <a:schemeClr val="accent6">
                        <a:lumMod val="50000"/>
                      </a:schemeClr>
                    </a:solidFill>
                  </a:rPr>
                  <a:t>r</a:t>
                </a:r>
                <a:r>
                  <a:rPr lang="zh-CN" altLang="en-US" b="1">
                    <a:solidFill>
                      <a:schemeClr val="accent6">
                        <a:lumMod val="50000"/>
                      </a:schemeClr>
                    </a:solidFill>
                  </a:rPr>
                  <a:t>组合而无需生成多余的串</a:t>
                </a:r>
              </a:p>
            </p:txBody>
          </p:sp>
        </mc:Choice>
        <mc:Fallback xmlns="">
          <p:sp>
            <p:nvSpPr>
              <p:cNvPr id="4" name="文本框 3">
                <a:extLst>
                  <a:ext uri="{FF2B5EF4-FFF2-40B4-BE49-F238E27FC236}">
                    <a16:creationId xmlns:a16="http://schemas.microsoft.com/office/drawing/2014/main" id="{A25F2094-19F5-47EF-94E0-315A36249ACD}"/>
                  </a:ext>
                </a:extLst>
              </p:cNvPr>
              <p:cNvSpPr txBox="1">
                <a:spLocks noRot="1" noChangeAspect="1" noMove="1" noResize="1" noEditPoints="1" noAdjustHandles="1" noChangeArrowheads="1" noChangeShapeType="1" noTextEdit="1"/>
              </p:cNvSpPr>
              <p:nvPr/>
            </p:nvSpPr>
            <p:spPr>
              <a:xfrm>
                <a:off x="822303" y="4459210"/>
                <a:ext cx="10117606" cy="1669688"/>
              </a:xfrm>
              <a:prstGeom prst="rect">
                <a:avLst/>
              </a:prstGeom>
              <a:blipFill>
                <a:blip r:embed="rId3"/>
                <a:stretch>
                  <a:fillRect l="-542" t="-2555" r="-361" b="-10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6546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字典序（词典序）</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F71B920-37BC-49D4-8D84-D3AC22E9BEDA}"/>
                  </a:ext>
                </a:extLst>
              </p:cNvPr>
              <p:cNvSpPr txBox="1"/>
              <p:nvPr/>
            </p:nvSpPr>
            <p:spPr>
              <a:xfrm>
                <a:off x="1082147" y="1252047"/>
                <a:ext cx="10027702" cy="187134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字典序（也称为词典序）</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给定字符集</a:t>
                </a:r>
                <a14:m>
                  <m:oMath xmlns:m="http://schemas.openxmlformats.org/officeDocument/2006/math">
                    <m:r>
                      <a:rPr lang="en-US" altLang="zh-CN" sz="2000" b="1" i="0" smtClean="0">
                        <a:solidFill>
                          <a:srgbClr val="002060"/>
                        </a:solidFill>
                        <a:latin typeface="Cambria Math" panose="02040503050406030204" pitchFamily="18" charset="0"/>
                      </a:rPr>
                      <m:t>𝚺</m:t>
                    </m:r>
                  </m:oMath>
                </a14:m>
                <a:r>
                  <a:rPr lang="zh-CN" altLang="en-US" sz="2000" b="1">
                    <a:solidFill>
                      <a:srgbClr val="002060"/>
                    </a:solidFill>
                    <a:latin typeface="楷体" panose="02010609060101010101" pitchFamily="49" charset="-122"/>
                    <a:ea typeface="楷体" panose="02010609060101010101" pitchFamily="49" charset="-122"/>
                  </a:rPr>
                  <a:t>及其上的偏序</a:t>
                </a:r>
                <a14:m>
                  <m:oMath xmlns:m="http://schemas.openxmlformats.org/officeDocument/2006/math">
                    <m:r>
                      <a:rPr lang="en-US" altLang="zh-CN" sz="2000" b="1" i="1" smtClean="0">
                        <a:solidFill>
                          <a:srgbClr val="002060"/>
                        </a:solidFill>
                        <a:latin typeface="Cambria Math" panose="02040503050406030204" pitchFamily="18" charset="0"/>
                        <a:ea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的</a:t>
                </a:r>
                <a14:m>
                  <m:oMath xmlns:m="http://schemas.openxmlformats.org/officeDocument/2006/math">
                    <m:r>
                      <a:rPr lang="en-US" altLang="zh-CN" sz="2000" b="1" i="0" smtClean="0">
                        <a:solidFill>
                          <a:srgbClr val="002060"/>
                        </a:solidFill>
                        <a:latin typeface="Cambria Math" panose="02040503050406030204" pitchFamily="18" charset="0"/>
                      </a:rPr>
                      <m:t>𝚺</m:t>
                    </m:r>
                  </m:oMath>
                </a14:m>
                <a:r>
                  <a:rPr lang="zh-CN" altLang="en-US" sz="2000" b="1">
                    <a:solidFill>
                      <a:srgbClr val="002060"/>
                    </a:solidFill>
                    <a:latin typeface="楷体" panose="02010609060101010101" pitchFamily="49" charset="-122"/>
                    <a:ea typeface="楷体" panose="02010609060101010101" pitchFamily="49" charset="-122"/>
                  </a:rPr>
                  <a:t>上的字符串构成的集合</a:t>
                </a:r>
                <a14:m>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0" smtClean="0">
                            <a:solidFill>
                              <a:srgbClr val="002060"/>
                            </a:solidFill>
                            <a:latin typeface="Cambria Math" panose="02040503050406030204" pitchFamily="18" charset="0"/>
                          </a:rPr>
                          <m:t>𝚺</m:t>
                        </m:r>
                      </m:e>
                      <m:sup>
                        <m:r>
                          <a:rPr lang="en-US" altLang="zh-CN" sz="2000" b="1" i="1" smtClean="0">
                            <a:solidFill>
                              <a:srgbClr val="002060"/>
                            </a:solidFill>
                            <a:latin typeface="Cambria Math" panose="02040503050406030204" pitchFamily="18" charset="0"/>
                          </a:rPr>
                          <m:t>𝒏</m:t>
                        </m:r>
                      </m:sup>
                    </m:sSup>
                  </m:oMath>
                </a14:m>
                <a:r>
                  <a:rPr lang="zh-CN" altLang="en-US" sz="2000" b="1">
                    <a:solidFill>
                      <a:srgbClr val="002060"/>
                    </a:solidFill>
                    <a:latin typeface="楷体" panose="02010609060101010101" pitchFamily="49" charset="-122"/>
                    <a:ea typeface="楷体" panose="02010609060101010101" pitchFamily="49" charset="-122"/>
                  </a:rPr>
                  <a:t>上的字典序</a:t>
                </a:r>
                <a14:m>
                  <m:oMath xmlns:m="http://schemas.openxmlformats.org/officeDocument/2006/math">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定义为</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两个</a:t>
                </a: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0" smtClean="0">
                            <a:solidFill>
                              <a:schemeClr val="accent6">
                                <a:lumMod val="50000"/>
                              </a:schemeClr>
                            </a:solidFill>
                            <a:latin typeface="Cambria Math" panose="02040503050406030204" pitchFamily="18" charset="0"/>
                          </a:rPr>
                          <m:t>𝚺</m:t>
                        </m:r>
                      </m:e>
                      <m:sup>
                        <m:r>
                          <a:rPr lang="en-US" altLang="zh-CN" sz="2000" b="1" i="1" smtClean="0">
                            <a:solidFill>
                              <a:schemeClr val="accent6">
                                <a:lumMod val="50000"/>
                              </a:schemeClr>
                            </a:solidFill>
                            <a:latin typeface="Cambria Math" panose="02040503050406030204" pitchFamily="18" charset="0"/>
                          </a:rPr>
                          <m:t>𝒏</m:t>
                        </m:r>
                      </m:sup>
                    </m:sSup>
                  </m:oMath>
                </a14:m>
                <a:r>
                  <a:rPr lang="zh-CN" altLang="en-US" sz="2000" b="1">
                    <a:solidFill>
                      <a:schemeClr val="accent6">
                        <a:lumMod val="50000"/>
                      </a:schemeClr>
                    </a:solidFill>
                  </a:rPr>
                  <a:t>中的串</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𝒏</m:t>
                        </m:r>
                      </m:sub>
                    </m:sSub>
                  </m:oMath>
                </a14:m>
                <a:r>
                  <a:rPr lang="zh-CN" altLang="en-US" sz="2000" b="1">
                    <a:solidFill>
                      <a:schemeClr val="accent6">
                        <a:lumMod val="50000"/>
                      </a:schemeClr>
                    </a:solidFill>
                  </a:rPr>
                  <a:t>和</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𝒃</m:t>
                        </m:r>
                      </m:e>
                      <m:sub>
                        <m:r>
                          <a:rPr lang="en-US" altLang="zh-CN" sz="2000" b="1" i="1" smtClean="0">
                            <a:solidFill>
                              <a:schemeClr val="accent6">
                                <a:lumMod val="50000"/>
                              </a:schemeClr>
                            </a:solidFill>
                            <a:latin typeface="Cambria Math" panose="02040503050406030204" pitchFamily="18" charset="0"/>
                          </a:rPr>
                          <m:t>𝟏</m:t>
                        </m:r>
                      </m:sub>
                    </m:sSub>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𝒃</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𝒃</m:t>
                        </m:r>
                      </m:e>
                      <m:sub>
                        <m:r>
                          <a:rPr lang="en-US" altLang="zh-CN" sz="2000" b="1" i="1">
                            <a:solidFill>
                              <a:schemeClr val="accent6">
                                <a:lumMod val="50000"/>
                              </a:schemeClr>
                            </a:solidFill>
                            <a:latin typeface="Cambria Math" panose="02040503050406030204" pitchFamily="18" charset="0"/>
                          </a:rPr>
                          <m:t>𝒏</m:t>
                        </m:r>
                      </m:sub>
                    </m:sSub>
                  </m:oMath>
                </a14:m>
                <a:r>
                  <a:rPr lang="zh-CN" altLang="en-US" sz="2000" b="1">
                    <a:solidFill>
                      <a:schemeClr val="accent6">
                        <a:lumMod val="50000"/>
                      </a:schemeClr>
                    </a:solidFill>
                  </a:rPr>
                  <a:t>，</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𝒏</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𝒃</m:t>
                        </m:r>
                      </m:e>
                      <m:sub>
                        <m:r>
                          <a:rPr lang="en-US" altLang="zh-CN" sz="2000" b="1" i="1" smtClean="0">
                            <a:solidFill>
                              <a:schemeClr val="accent6">
                                <a:lumMod val="50000"/>
                              </a:schemeClr>
                            </a:solidFill>
                            <a:latin typeface="Cambria Math" panose="02040503050406030204" pitchFamily="18" charset="0"/>
                          </a:rPr>
                          <m:t>𝟏</m:t>
                        </m:r>
                      </m:sub>
                    </m:sSub>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𝒃</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𝒃</m:t>
                        </m:r>
                      </m:e>
                      <m:sub>
                        <m:r>
                          <a:rPr lang="en-US" altLang="zh-CN" sz="2000" b="1" i="1">
                            <a:solidFill>
                              <a:schemeClr val="accent6">
                                <a:lumMod val="50000"/>
                              </a:schemeClr>
                            </a:solidFill>
                            <a:latin typeface="Cambria Math" panose="02040503050406030204" pitchFamily="18" charset="0"/>
                          </a:rPr>
                          <m:t>𝒏</m:t>
                        </m:r>
                      </m:sub>
                    </m:sSub>
                  </m:oMath>
                </a14:m>
                <a:r>
                  <a:rPr lang="zh-CN" altLang="en-US" sz="2000" b="1">
                    <a:solidFill>
                      <a:schemeClr val="accent6">
                        <a:lumMod val="50000"/>
                      </a:schemeClr>
                    </a:solidFill>
                  </a:rPr>
                  <a:t>当且仅当</a:t>
                </a:r>
              </a:p>
              <a:p>
                <a:pPr algn="ct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𝒌</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𝒌</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oMath>
                </a14:m>
                <a:r>
                  <a:rPr lang="en-US" altLang="zh-CN" sz="2000" b="1">
                    <a:solidFill>
                      <a:schemeClr val="accent2">
                        <a:lumMod val="50000"/>
                      </a:schemeClr>
                    </a:solidFill>
                  </a:rPr>
                  <a:t> </a:t>
                </a:r>
                <a:r>
                  <a:rPr lang="zh-CN" altLang="en-US" sz="2000" b="1">
                    <a:solidFill>
                      <a:schemeClr val="accent2">
                        <a:lumMod val="50000"/>
                      </a:schemeClr>
                    </a:solidFill>
                  </a:rPr>
                  <a:t>且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𝒌</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𝒃</m:t>
                        </m:r>
                      </m:e>
                      <m:sub>
                        <m:r>
                          <a:rPr lang="en-US" altLang="zh-CN" sz="2000" b="1" i="1" smtClean="0">
                            <a:solidFill>
                              <a:schemeClr val="accent2">
                                <a:lumMod val="50000"/>
                              </a:schemeClr>
                            </a:solidFill>
                            <a:latin typeface="Cambria Math" panose="02040503050406030204" pitchFamily="18" charset="0"/>
                          </a:rPr>
                          <m:t>𝒌</m:t>
                        </m:r>
                      </m:sub>
                    </m:sSub>
                  </m:oMath>
                </a14:m>
                <a:r>
                  <a:rPr lang="en-US" altLang="zh-CN" sz="2000" b="1">
                    <a:solidFill>
                      <a:schemeClr val="accent2">
                        <a:lumMod val="50000"/>
                      </a:schemeClr>
                    </a:solidFill>
                  </a:rPr>
                  <a:t> </a:t>
                </a:r>
                <a:r>
                  <a:rPr lang="zh-CN" altLang="en-US" sz="2000" b="1">
                    <a:solidFill>
                      <a:schemeClr val="accent2">
                        <a:lumMod val="50000"/>
                      </a:schemeClr>
                    </a:solidFill>
                  </a:rPr>
                  <a:t>且 </a:t>
                </a:r>
                <a14:m>
                  <m:oMath xmlns:m="http://schemas.openxmlformats.org/officeDocument/2006/math">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𝒂</m:t>
                        </m:r>
                      </m:e>
                      <m:sub>
                        <m:r>
                          <a:rPr lang="en-US" altLang="zh-CN" sz="2000" b="1" i="1">
                            <a:solidFill>
                              <a:schemeClr val="accent2">
                                <a:lumMod val="50000"/>
                              </a:schemeClr>
                            </a:solidFill>
                            <a:latin typeface="Cambria Math" panose="02040503050406030204" pitchFamily="18" charset="0"/>
                          </a:rPr>
                          <m:t>𝒌</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𝒌</m:t>
                        </m:r>
                      </m:sub>
                    </m:sSub>
                  </m:oMath>
                </a14:m>
                <a:r>
                  <a:rPr lang="zh-CN" altLang="en-US" sz="2000" b="1">
                    <a:solidFill>
                      <a:schemeClr val="accent2">
                        <a:lumMod val="50000"/>
                      </a:schemeClr>
                    </a:solidFill>
                  </a:rPr>
                  <a:t> 且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 &lt; </m:t>
                    </m:r>
                    <m:r>
                      <a:rPr lang="en-US" altLang="zh-CN" sz="2000" b="1" i="1" smtClean="0">
                        <a:solidFill>
                          <a:schemeClr val="accent2">
                            <a:lumMod val="50000"/>
                          </a:schemeClr>
                        </a:solidFill>
                        <a:latin typeface="Cambria Math" panose="02040503050406030204" pitchFamily="18" charset="0"/>
                      </a:rPr>
                      <m:t>𝒌</m:t>
                    </m:r>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𝒋</m:t>
                        </m:r>
                      </m:sub>
                    </m:sSub>
                    <m:r>
                      <a:rPr lang="en-US" altLang="zh-CN" sz="2000" b="1" i="1" smtClean="0">
                        <a:solidFill>
                          <a:schemeClr val="accent2">
                            <a:lumMod val="50000"/>
                          </a:schemeClr>
                        </a:solidFill>
                        <a:latin typeface="Cambria Math" panose="02040503050406030204" pitchFamily="18" charset="0"/>
                      </a:rPr>
                      <m:t> =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𝒃</m:t>
                        </m:r>
                      </m:e>
                      <m:sub>
                        <m:r>
                          <a:rPr lang="en-US" altLang="zh-CN" sz="2000" b="1" i="1" smtClean="0">
                            <a:solidFill>
                              <a:schemeClr val="accent2">
                                <a:lumMod val="50000"/>
                              </a:schemeClr>
                            </a:solidFill>
                            <a:latin typeface="Cambria Math" panose="02040503050406030204" pitchFamily="18" charset="0"/>
                          </a:rPr>
                          <m:t>𝒋</m:t>
                        </m:r>
                      </m:sub>
                    </m:sSub>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p:txBody>
          </p:sp>
        </mc:Choice>
        <mc:Fallback xmlns="">
          <p:sp>
            <p:nvSpPr>
              <p:cNvPr id="2" name="文本框 1">
                <a:extLst>
                  <a:ext uri="{FF2B5EF4-FFF2-40B4-BE49-F238E27FC236}">
                    <a16:creationId xmlns:a16="http://schemas.microsoft.com/office/drawing/2014/main" id="{FF71B920-37BC-49D4-8D84-D3AC22E9BEDA}"/>
                  </a:ext>
                </a:extLst>
              </p:cNvPr>
              <p:cNvSpPr txBox="1">
                <a:spLocks noRot="1" noChangeAspect="1" noMove="1" noResize="1" noEditPoints="1" noAdjustHandles="1" noChangeArrowheads="1" noChangeShapeType="1" noTextEdit="1"/>
              </p:cNvSpPr>
              <p:nvPr/>
            </p:nvSpPr>
            <p:spPr>
              <a:xfrm>
                <a:off x="1082147" y="1252047"/>
                <a:ext cx="10027702" cy="1871346"/>
              </a:xfrm>
              <a:prstGeom prst="rect">
                <a:avLst/>
              </a:prstGeom>
              <a:blipFill>
                <a:blip r:embed="rId2"/>
                <a:stretch>
                  <a:fillRect l="-669" t="-2280" r="-182" b="-3909"/>
                </a:stretch>
              </a:blipFill>
            </p:spPr>
            <p:txBody>
              <a:bodyPr/>
              <a:lstStyle/>
              <a:p>
                <a:r>
                  <a:rPr lang="zh-CN" altLang="en-US">
                    <a:noFill/>
                  </a:rPr>
                  <a:t> </a:t>
                </a:r>
              </a:p>
            </p:txBody>
          </p:sp>
        </mc:Fallback>
      </mc:AlternateContent>
      <p:grpSp>
        <p:nvGrpSpPr>
          <p:cNvPr id="27" name="组合 26">
            <a:extLst>
              <a:ext uri="{FF2B5EF4-FFF2-40B4-BE49-F238E27FC236}">
                <a16:creationId xmlns:a16="http://schemas.microsoft.com/office/drawing/2014/main" id="{BC4DB212-4486-4FBC-9F68-5345D5E97564}"/>
              </a:ext>
            </a:extLst>
          </p:cNvPr>
          <p:cNvGrpSpPr/>
          <p:nvPr/>
        </p:nvGrpSpPr>
        <p:grpSpPr>
          <a:xfrm>
            <a:off x="1218101" y="3316557"/>
            <a:ext cx="9755793" cy="2249818"/>
            <a:chOff x="967027" y="3637865"/>
            <a:chExt cx="9755793" cy="2249818"/>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D3377E2-CCC5-46A1-A423-ED407DF96CE9}"/>
                    </a:ext>
                  </a:extLst>
                </p:cNvPr>
                <p:cNvSpPr txBox="1"/>
                <p:nvPr/>
              </p:nvSpPr>
              <p:spPr>
                <a:xfrm>
                  <a:off x="1082148" y="3709086"/>
                  <a:ext cx="813092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设字符集</a:t>
                  </a:r>
                  <a14:m>
                    <m:oMath xmlns:m="http://schemas.openxmlformats.org/officeDocument/2006/math">
                      <m:r>
                        <a:rPr lang="en-US" altLang="zh-CN" sz="2400" b="1">
                          <a:solidFill>
                            <a:srgbClr val="002060"/>
                          </a:solidFill>
                          <a:latin typeface="Cambria Math" panose="02040503050406030204" pitchFamily="18" charset="0"/>
                        </a:rPr>
                        <m:t>𝚺</m:t>
                      </m:r>
                    </m:oMath>
                  </a14:m>
                  <a:r>
                    <a:rPr lang="zh-CN" altLang="en-US" sz="2400" b="1">
                      <a:solidFill>
                        <a:srgbClr val="002060"/>
                      </a:solidFill>
                      <a:latin typeface="楷体" panose="02010609060101010101" pitchFamily="49" charset="-122"/>
                      <a:ea typeface="楷体" panose="02010609060101010101" pitchFamily="49" charset="-122"/>
                    </a:rPr>
                    <a:t>是</a:t>
                  </a:r>
                  <a:r>
                    <a:rPr lang="en-US" altLang="zh-CN" sz="2400" b="1">
                      <a:solidFill>
                        <a:srgbClr val="002060"/>
                      </a:solidFill>
                      <a:latin typeface="楷体" panose="02010609060101010101" pitchFamily="49" charset="-122"/>
                      <a:ea typeface="楷体" panose="02010609060101010101" pitchFamily="49" charset="-122"/>
                    </a:rPr>
                    <a:t>26</a:t>
                  </a:r>
                  <a:r>
                    <a:rPr lang="zh-CN" altLang="en-US" sz="2400" b="1">
                      <a:solidFill>
                        <a:srgbClr val="002060"/>
                      </a:solidFill>
                      <a:latin typeface="楷体" panose="02010609060101010101" pitchFamily="49" charset="-122"/>
                      <a:ea typeface="楷体" panose="02010609060101010101" pitchFamily="49" charset="-122"/>
                    </a:rPr>
                    <a:t>个小写英文字母，偏序</a:t>
                  </a:r>
                  <a14:m>
                    <m:oMath xmlns:m="http://schemas.openxmlformats.org/officeDocument/2006/math">
                      <m:r>
                        <a:rPr lang="en-US" altLang="zh-CN" sz="2400" b="1" i="1">
                          <a:solidFill>
                            <a:srgbClr val="002060"/>
                          </a:solidFill>
                          <a:latin typeface="Cambria Math" panose="02040503050406030204" pitchFamily="18" charset="0"/>
                          <a:ea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是通常的字母顺序</a:t>
                  </a:r>
                  <a:endParaRPr lang="zh-CN" altLang="en-US" sz="2400"/>
                </a:p>
              </p:txBody>
            </p:sp>
          </mc:Choice>
          <mc:Fallback xmlns="">
            <p:sp>
              <p:nvSpPr>
                <p:cNvPr id="3" name="文本框 2">
                  <a:extLst>
                    <a:ext uri="{FF2B5EF4-FFF2-40B4-BE49-F238E27FC236}">
                      <a16:creationId xmlns:a16="http://schemas.microsoft.com/office/drawing/2014/main" id="{1D3377E2-CCC5-46A1-A423-ED407DF96CE9}"/>
                    </a:ext>
                  </a:extLst>
                </p:cNvPr>
                <p:cNvSpPr txBox="1">
                  <a:spLocks noRot="1" noChangeAspect="1" noMove="1" noResize="1" noEditPoints="1" noAdjustHandles="1" noChangeArrowheads="1" noChangeShapeType="1" noTextEdit="1"/>
                </p:cNvSpPr>
                <p:nvPr/>
              </p:nvSpPr>
              <p:spPr>
                <a:xfrm>
                  <a:off x="1082148" y="3709086"/>
                  <a:ext cx="8130924" cy="461665"/>
                </a:xfrm>
                <a:prstGeom prst="rect">
                  <a:avLst/>
                </a:prstGeom>
                <a:blipFill>
                  <a:blip r:embed="rId3"/>
                  <a:stretch>
                    <a:fillRect l="-1199" t="-16000" b="-25333"/>
                  </a:stretch>
                </a:blipFill>
              </p:spPr>
              <p:txBody>
                <a:bodyPr/>
                <a:lstStyle/>
                <a:p>
                  <a:r>
                    <a:rPr lang="zh-CN" altLang="en-US">
                      <a:noFill/>
                    </a:rPr>
                    <a:t> </a:t>
                  </a:r>
                </a:p>
              </p:txBody>
            </p:sp>
          </mc:Fallback>
        </mc:AlternateContent>
        <p:grpSp>
          <p:nvGrpSpPr>
            <p:cNvPr id="25" name="组合 24">
              <a:extLst>
                <a:ext uri="{FF2B5EF4-FFF2-40B4-BE49-F238E27FC236}">
                  <a16:creationId xmlns:a16="http://schemas.microsoft.com/office/drawing/2014/main" id="{6E078943-F598-4EF7-8A43-A6B8DC842FA2}"/>
                </a:ext>
              </a:extLst>
            </p:cNvPr>
            <p:cNvGrpSpPr/>
            <p:nvPr/>
          </p:nvGrpSpPr>
          <p:grpSpPr>
            <a:xfrm>
              <a:off x="1672555" y="4294734"/>
              <a:ext cx="8846887" cy="1485709"/>
              <a:chOff x="1908825" y="4338534"/>
              <a:chExt cx="8846887" cy="1485709"/>
            </a:xfrm>
          </p:grpSpPr>
          <p:grpSp>
            <p:nvGrpSpPr>
              <p:cNvPr id="21" name="组合 20">
                <a:extLst>
                  <a:ext uri="{FF2B5EF4-FFF2-40B4-BE49-F238E27FC236}">
                    <a16:creationId xmlns:a16="http://schemas.microsoft.com/office/drawing/2014/main" id="{4AC5E31C-B2B7-4942-A5D0-DE043334EED4}"/>
                  </a:ext>
                </a:extLst>
              </p:cNvPr>
              <p:cNvGrpSpPr/>
              <p:nvPr/>
            </p:nvGrpSpPr>
            <p:grpSpPr>
              <a:xfrm>
                <a:off x="3368505" y="4338534"/>
                <a:ext cx="3912751" cy="1456509"/>
                <a:chOff x="2637945" y="4273463"/>
                <a:chExt cx="3861177" cy="1456509"/>
              </a:xfrm>
            </p:grpSpPr>
            <p:sp>
              <p:nvSpPr>
                <p:cNvPr id="13" name="矩形 12">
                  <a:extLst>
                    <a:ext uri="{FF2B5EF4-FFF2-40B4-BE49-F238E27FC236}">
                      <a16:creationId xmlns:a16="http://schemas.microsoft.com/office/drawing/2014/main" id="{CB515902-9B1E-4828-B735-F90B16CA9DEC}"/>
                    </a:ext>
                  </a:extLst>
                </p:cNvPr>
                <p:cNvSpPr/>
                <p:nvPr/>
              </p:nvSpPr>
              <p:spPr>
                <a:xfrm>
                  <a:off x="2637945" y="4281844"/>
                  <a:ext cx="3861177" cy="14481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2D94CE9-5787-4DC6-8028-5E2D99E92401}"/>
                    </a:ext>
                  </a:extLst>
                </p:cNvPr>
                <p:cNvSpPr txBox="1"/>
                <p:nvPr/>
              </p:nvSpPr>
              <p:spPr>
                <a:xfrm>
                  <a:off x="2701152" y="4273463"/>
                  <a:ext cx="3688650" cy="584775"/>
                </a:xfrm>
                <a:prstGeom prst="rect">
                  <a:avLst/>
                </a:prstGeom>
                <a:noFill/>
                <a:ln>
                  <a:noFill/>
                </a:ln>
              </p:spPr>
              <p:txBody>
                <a:bodyPr wrap="square" rtlCol="0">
                  <a:spAutoFit/>
                </a:bodyPr>
                <a:lstStyle/>
                <a:p>
                  <a:r>
                    <a:rPr lang="en-US" altLang="zh-CN" sz="3200" b="1" spc="1000">
                      <a:solidFill>
                        <a:schemeClr val="accent6">
                          <a:lumMod val="50000"/>
                        </a:schemeClr>
                      </a:solidFill>
                    </a:rPr>
                    <a:t>intellectual</a:t>
                  </a:r>
                  <a:endParaRPr lang="zh-CN" altLang="en-US" sz="3200" b="1" spc="1000">
                    <a:solidFill>
                      <a:schemeClr val="accent6">
                        <a:lumMod val="50000"/>
                      </a:schemeClr>
                    </a:solidFill>
                  </a:endParaRPr>
                </a:p>
              </p:txBody>
            </p:sp>
            <p:sp>
              <p:nvSpPr>
                <p:cNvPr id="11" name="文本框 10">
                  <a:extLst>
                    <a:ext uri="{FF2B5EF4-FFF2-40B4-BE49-F238E27FC236}">
                      <a16:creationId xmlns:a16="http://schemas.microsoft.com/office/drawing/2014/main" id="{3AAA78B0-BBE1-4354-B287-C44B7D08DD24}"/>
                    </a:ext>
                  </a:extLst>
                </p:cNvPr>
                <p:cNvSpPr txBox="1"/>
                <p:nvPr/>
              </p:nvSpPr>
              <p:spPr>
                <a:xfrm>
                  <a:off x="2701152" y="5066789"/>
                  <a:ext cx="3797970" cy="584775"/>
                </a:xfrm>
                <a:prstGeom prst="rect">
                  <a:avLst/>
                </a:prstGeom>
                <a:noFill/>
              </p:spPr>
              <p:txBody>
                <a:bodyPr wrap="square" rtlCol="0">
                  <a:spAutoFit/>
                </a:bodyPr>
                <a:lstStyle/>
                <a:p>
                  <a:r>
                    <a:rPr lang="en-US" altLang="zh-CN" sz="3200" b="1" spc="1000">
                      <a:solidFill>
                        <a:schemeClr val="accent6">
                          <a:lumMod val="50000"/>
                        </a:schemeClr>
                      </a:solidFill>
                    </a:rPr>
                    <a:t>intelligence</a:t>
                  </a:r>
                  <a:endParaRPr lang="zh-CN" altLang="en-US" sz="3200" b="1" spc="1000">
                    <a:solidFill>
                      <a:schemeClr val="accent6">
                        <a:lumMod val="50000"/>
                      </a:schemeClr>
                    </a:solidFill>
                  </a:endParaRPr>
                </a:p>
              </p:txBody>
            </p:sp>
            <p:cxnSp>
              <p:nvCxnSpPr>
                <p:cNvPr id="12" name="直接箭头连接符 11">
                  <a:extLst>
                    <a:ext uri="{FF2B5EF4-FFF2-40B4-BE49-F238E27FC236}">
                      <a16:creationId xmlns:a16="http://schemas.microsoft.com/office/drawing/2014/main" id="{9DF5DB56-03BB-4EF7-9353-F93596C49889}"/>
                    </a:ext>
                  </a:extLst>
                </p:cNvPr>
                <p:cNvCxnSpPr/>
                <p:nvPr/>
              </p:nvCxnSpPr>
              <p:spPr>
                <a:xfrm>
                  <a:off x="2848455" y="4795666"/>
                  <a:ext cx="0" cy="342078"/>
                </a:xfrm>
                <a:prstGeom prst="straightConnector1">
                  <a:avLst/>
                </a:prstGeom>
                <a:ln w="12700">
                  <a:solidFill>
                    <a:schemeClr val="accent4">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7C2F70EC-64E5-4C30-9003-031EFA4B2807}"/>
                    </a:ext>
                  </a:extLst>
                </p:cNvPr>
                <p:cNvCxnSpPr/>
                <p:nvPr/>
              </p:nvCxnSpPr>
              <p:spPr>
                <a:xfrm>
                  <a:off x="3145580" y="4795666"/>
                  <a:ext cx="0" cy="342078"/>
                </a:xfrm>
                <a:prstGeom prst="straightConnector1">
                  <a:avLst/>
                </a:prstGeom>
                <a:ln w="12700">
                  <a:solidFill>
                    <a:schemeClr val="accent4">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11B7491-FCD4-435D-BCB9-E1FF3C192DC1}"/>
                    </a:ext>
                  </a:extLst>
                </p:cNvPr>
                <p:cNvCxnSpPr/>
                <p:nvPr/>
              </p:nvCxnSpPr>
              <p:spPr>
                <a:xfrm>
                  <a:off x="3461344" y="4795666"/>
                  <a:ext cx="0" cy="342078"/>
                </a:xfrm>
                <a:prstGeom prst="straightConnector1">
                  <a:avLst/>
                </a:prstGeom>
                <a:ln w="12700">
                  <a:solidFill>
                    <a:schemeClr val="accent4">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21CC6B8D-DF7A-4163-A1CB-5B29A869573B}"/>
                    </a:ext>
                  </a:extLst>
                </p:cNvPr>
                <p:cNvCxnSpPr/>
                <p:nvPr/>
              </p:nvCxnSpPr>
              <p:spPr>
                <a:xfrm>
                  <a:off x="3763951" y="4795666"/>
                  <a:ext cx="0" cy="342078"/>
                </a:xfrm>
                <a:prstGeom prst="straightConnector1">
                  <a:avLst/>
                </a:prstGeom>
                <a:ln w="12700">
                  <a:solidFill>
                    <a:schemeClr val="accent4">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60C83520-E5FE-4363-A7B5-51BFBEA3BD1B}"/>
                    </a:ext>
                  </a:extLst>
                </p:cNvPr>
                <p:cNvCxnSpPr/>
                <p:nvPr/>
              </p:nvCxnSpPr>
              <p:spPr>
                <a:xfrm>
                  <a:off x="4053017" y="4795666"/>
                  <a:ext cx="0" cy="342078"/>
                </a:xfrm>
                <a:prstGeom prst="straightConnector1">
                  <a:avLst/>
                </a:prstGeom>
                <a:ln w="12700">
                  <a:solidFill>
                    <a:schemeClr val="accent4">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E4CFB08F-08A1-44FF-861E-F0E05A176A9B}"/>
                    </a:ext>
                  </a:extLst>
                </p:cNvPr>
                <p:cNvCxnSpPr/>
                <p:nvPr/>
              </p:nvCxnSpPr>
              <p:spPr>
                <a:xfrm>
                  <a:off x="4290224" y="4795666"/>
                  <a:ext cx="0" cy="342078"/>
                </a:xfrm>
                <a:prstGeom prst="straightConnector1">
                  <a:avLst/>
                </a:prstGeom>
                <a:ln w="12700">
                  <a:solidFill>
                    <a:schemeClr val="accent4">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29E6316-D310-4B54-A4D3-8D06D7BC7E52}"/>
                    </a:ext>
                  </a:extLst>
                </p:cNvPr>
                <p:cNvCxnSpPr/>
                <p:nvPr/>
              </p:nvCxnSpPr>
              <p:spPr>
                <a:xfrm>
                  <a:off x="4553361" y="4795666"/>
                  <a:ext cx="0" cy="342078"/>
                </a:xfrm>
                <a:prstGeom prst="straightConnector1">
                  <a:avLst/>
                </a:prstGeom>
                <a:ln w="127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B38ACF-185E-4F70-BA84-F4BCE6CF09C1}"/>
                      </a:ext>
                    </a:extLst>
                  </p:cNvPr>
                  <p:cNvSpPr txBox="1"/>
                  <p:nvPr/>
                </p:nvSpPr>
                <p:spPr>
                  <a:xfrm>
                    <a:off x="1962861" y="4474979"/>
                    <a:ext cx="13589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𝟏</m:t>
                              </m:r>
                            </m:sub>
                          </m:sSub>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𝟐</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𝟏𝟐</m:t>
                              </m:r>
                            </m:sub>
                          </m:sSub>
                        </m:oMath>
                      </m:oMathPara>
                    </a14:m>
                    <a:endParaRPr lang="zh-CN" altLang="en-US">
                      <a:solidFill>
                        <a:schemeClr val="accent2">
                          <a:lumMod val="50000"/>
                        </a:schemeClr>
                      </a:solidFill>
                    </a:endParaRPr>
                  </a:p>
                </p:txBody>
              </p:sp>
            </mc:Choice>
            <mc:Fallback xmlns="">
              <p:sp>
                <p:nvSpPr>
                  <p:cNvPr id="22" name="文本框 21">
                    <a:extLst>
                      <a:ext uri="{FF2B5EF4-FFF2-40B4-BE49-F238E27FC236}">
                        <a16:creationId xmlns:a16="http://schemas.microsoft.com/office/drawing/2014/main" id="{58B38ACF-185E-4F70-BA84-F4BCE6CF09C1}"/>
                      </a:ext>
                    </a:extLst>
                  </p:cNvPr>
                  <p:cNvSpPr txBox="1">
                    <a:spLocks noRot="1" noChangeAspect="1" noMove="1" noResize="1" noEditPoints="1" noAdjustHandles="1" noChangeArrowheads="1" noChangeShapeType="1" noTextEdit="1"/>
                  </p:cNvSpPr>
                  <p:nvPr/>
                </p:nvSpPr>
                <p:spPr>
                  <a:xfrm>
                    <a:off x="1962861" y="4474979"/>
                    <a:ext cx="1358915"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A972B2B4-7AE3-4B8F-A18D-13CD6C8956E9}"/>
                      </a:ext>
                    </a:extLst>
                  </p:cNvPr>
                  <p:cNvSpPr txBox="1"/>
                  <p:nvPr/>
                </p:nvSpPr>
                <p:spPr>
                  <a:xfrm>
                    <a:off x="1908825" y="5280459"/>
                    <a:ext cx="14129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𝟏</m:t>
                              </m:r>
                            </m:sub>
                          </m:sSub>
                          <m:sSub>
                            <m:sSubPr>
                              <m:ctrlPr>
                                <a:rPr lang="en-US" altLang="zh-CN" b="1" i="1">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𝟐</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smtClean="0">
                                  <a:solidFill>
                                    <a:schemeClr val="accent2">
                                      <a:lumMod val="50000"/>
                                    </a:schemeClr>
                                  </a:solidFill>
                                  <a:latin typeface="Cambria Math" panose="02040503050406030204" pitchFamily="18" charset="0"/>
                                </a:rPr>
                                <m:t>𝟏𝟐</m:t>
                              </m:r>
                            </m:sub>
                          </m:sSub>
                        </m:oMath>
                      </m:oMathPara>
                    </a14:m>
                    <a:endParaRPr lang="zh-CN" altLang="en-US">
                      <a:solidFill>
                        <a:schemeClr val="accent2">
                          <a:lumMod val="50000"/>
                        </a:schemeClr>
                      </a:solidFill>
                    </a:endParaRPr>
                  </a:p>
                </p:txBody>
              </p:sp>
            </mc:Choice>
            <mc:Fallback xmlns="">
              <p:sp>
                <p:nvSpPr>
                  <p:cNvPr id="23" name="文本框 22">
                    <a:extLst>
                      <a:ext uri="{FF2B5EF4-FFF2-40B4-BE49-F238E27FC236}">
                        <a16:creationId xmlns:a16="http://schemas.microsoft.com/office/drawing/2014/main" id="{A972B2B4-7AE3-4B8F-A18D-13CD6C8956E9}"/>
                      </a:ext>
                    </a:extLst>
                  </p:cNvPr>
                  <p:cNvSpPr txBox="1">
                    <a:spLocks noRot="1" noChangeAspect="1" noMove="1" noResize="1" noEditPoints="1" noAdjustHandles="1" noChangeArrowheads="1" noChangeShapeType="1" noTextEdit="1"/>
                  </p:cNvSpPr>
                  <p:nvPr/>
                </p:nvSpPr>
                <p:spPr>
                  <a:xfrm>
                    <a:off x="1908825" y="5280459"/>
                    <a:ext cx="1412951"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45D209E-F82F-461F-9BA4-C7475E559B11}"/>
                      </a:ext>
                    </a:extLst>
                  </p:cNvPr>
                  <p:cNvSpPr txBox="1"/>
                  <p:nvPr/>
                </p:nvSpPr>
                <p:spPr>
                  <a:xfrm>
                    <a:off x="7547906" y="4346915"/>
                    <a:ext cx="3207806" cy="1477328"/>
                  </a:xfrm>
                  <a:prstGeom prst="rect">
                    <a:avLst/>
                  </a:prstGeom>
                  <a:solidFill>
                    <a:schemeClr val="accent4">
                      <a:lumMod val="20000"/>
                      <a:lumOff val="80000"/>
                    </a:schemeClr>
                  </a:solidFill>
                </p:spPr>
                <p:txBody>
                  <a:bodyPr wrap="square" rtlCol="0">
                    <a:spAutoFit/>
                  </a:bodyPr>
                  <a:lstStyle/>
                  <a:p>
                    <a:pPr>
                      <a:lnSpc>
                        <a:spcPts val="3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𝒃</m:t>
                              </m:r>
                            </m:e>
                            <m:sub>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 ⋯,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𝟔</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𝒃</m:t>
                              </m:r>
                            </m:e>
                            <m:sub>
                              <m:r>
                                <a:rPr lang="en-US" altLang="zh-CN" sz="2400" b="1" i="1" smtClean="0">
                                  <a:solidFill>
                                    <a:schemeClr val="accent2">
                                      <a:lumMod val="50000"/>
                                    </a:schemeClr>
                                  </a:solidFill>
                                  <a:latin typeface="Cambria Math" panose="02040503050406030204" pitchFamily="18" charset="0"/>
                                </a:rPr>
                                <m:t>𝟔</m:t>
                              </m:r>
                            </m:sub>
                          </m:sSub>
                        </m:oMath>
                      </m:oMathPara>
                    </a14:m>
                    <a:endParaRPr lang="en-US" altLang="zh-CN" sz="2400" b="1">
                      <a:solidFill>
                        <a:schemeClr val="accent2">
                          <a:lumMod val="50000"/>
                        </a:schemeClr>
                      </a:solidFill>
                    </a:endParaRPr>
                  </a:p>
                  <a:p>
                    <a:pPr>
                      <a:lnSpc>
                        <a:spcPts val="3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𝟕</m:t>
                              </m:r>
                            </m:sub>
                          </m:sSub>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𝒃</m:t>
                              </m:r>
                            </m:e>
                            <m:sub>
                              <m:r>
                                <a:rPr lang="en-US" altLang="zh-CN" sz="2400" b="1" i="1" smtClean="0">
                                  <a:solidFill>
                                    <a:schemeClr val="accent2">
                                      <a:lumMod val="50000"/>
                                    </a:schemeClr>
                                  </a:solidFill>
                                  <a:latin typeface="Cambria Math" panose="02040503050406030204" pitchFamily="18" charset="0"/>
                                </a:rPr>
                                <m:t>𝟕</m:t>
                              </m:r>
                            </m:sub>
                          </m:sSub>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𝟕</m:t>
                              </m:r>
                            </m:sub>
                          </m:sSub>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𝒃</m:t>
                          </m:r>
                          <m:r>
                            <a:rPr lang="en-US" altLang="zh-CN" sz="2400" b="1" i="1" smtClean="0">
                              <a:solidFill>
                                <a:schemeClr val="accent2">
                                  <a:lumMod val="50000"/>
                                </a:schemeClr>
                              </a:solidFill>
                              <a:latin typeface="Cambria Math" panose="02040503050406030204" pitchFamily="18" charset="0"/>
                            </a:rPr>
                            <m:t>_</m:t>
                          </m:r>
                          <m:r>
                            <a:rPr lang="en-US" altLang="zh-CN" sz="2400" b="1" i="1" smtClean="0">
                              <a:solidFill>
                                <a:schemeClr val="accent2">
                                  <a:lumMod val="50000"/>
                                </a:schemeClr>
                              </a:solidFill>
                              <a:latin typeface="Cambria Math" panose="02040503050406030204" pitchFamily="18" charset="0"/>
                            </a:rPr>
                            <m:t>𝟕</m:t>
                          </m:r>
                        </m:oMath>
                      </m:oMathPara>
                    </a14:m>
                    <a:endParaRPr lang="en-US" altLang="zh-CN" sz="2400" b="1">
                      <a:solidFill>
                        <a:schemeClr val="accent2">
                          <a:lumMod val="50000"/>
                        </a:schemeClr>
                      </a:solidFill>
                    </a:endParaRPr>
                  </a:p>
                  <a:p>
                    <a:pPr>
                      <a:lnSpc>
                        <a:spcPts val="3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𝟏𝟐</m:t>
                              </m:r>
                            </m:sub>
                          </m:sSub>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𝒃</m:t>
                              </m:r>
                            </m:e>
                            <m:sub>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𝒃</m:t>
                              </m:r>
                            </m:e>
                            <m:sub>
                              <m:r>
                                <a:rPr lang="en-US" altLang="zh-CN" sz="2400" b="1" i="1" smtClean="0">
                                  <a:solidFill>
                                    <a:schemeClr val="accent2">
                                      <a:lumMod val="50000"/>
                                    </a:schemeClr>
                                  </a:solidFill>
                                  <a:latin typeface="Cambria Math" panose="02040503050406030204" pitchFamily="18" charset="0"/>
                                </a:rPr>
                                <m:t>𝟏𝟐</m:t>
                              </m:r>
                            </m:sub>
                          </m:sSub>
                        </m:oMath>
                      </m:oMathPara>
                    </a14:m>
                    <a:endParaRPr lang="zh-CN" altLang="en-US" sz="2400" b="1">
                      <a:solidFill>
                        <a:schemeClr val="accent2">
                          <a:lumMod val="50000"/>
                        </a:schemeClr>
                      </a:solidFill>
                    </a:endParaRPr>
                  </a:p>
                </p:txBody>
              </p:sp>
            </mc:Choice>
            <mc:Fallback xmlns="">
              <p:sp>
                <p:nvSpPr>
                  <p:cNvPr id="24" name="文本框 23">
                    <a:extLst>
                      <a:ext uri="{FF2B5EF4-FFF2-40B4-BE49-F238E27FC236}">
                        <a16:creationId xmlns:a16="http://schemas.microsoft.com/office/drawing/2014/main" id="{A45D209E-F82F-461F-9BA4-C7475E559B11}"/>
                      </a:ext>
                    </a:extLst>
                  </p:cNvPr>
                  <p:cNvSpPr txBox="1">
                    <a:spLocks noRot="1" noChangeAspect="1" noMove="1" noResize="1" noEditPoints="1" noAdjustHandles="1" noChangeArrowheads="1" noChangeShapeType="1" noTextEdit="1"/>
                  </p:cNvSpPr>
                  <p:nvPr/>
                </p:nvSpPr>
                <p:spPr>
                  <a:xfrm>
                    <a:off x="7547906" y="4346915"/>
                    <a:ext cx="3207806" cy="1477328"/>
                  </a:xfrm>
                  <a:prstGeom prst="rect">
                    <a:avLst/>
                  </a:prstGeom>
                  <a:blipFill>
                    <a:blip r:embed="rId6"/>
                    <a:stretch>
                      <a:fillRect/>
                    </a:stretch>
                  </a:blipFill>
                </p:spPr>
                <p:txBody>
                  <a:bodyPr/>
                  <a:lstStyle/>
                  <a:p>
                    <a:r>
                      <a:rPr lang="zh-CN" altLang="en-US">
                        <a:noFill/>
                      </a:rPr>
                      <a:t> </a:t>
                    </a:r>
                  </a:p>
                </p:txBody>
              </p:sp>
            </mc:Fallback>
          </mc:AlternateContent>
        </p:grpSp>
        <p:sp>
          <p:nvSpPr>
            <p:cNvPr id="26" name="矩形: 圆角 25">
              <a:extLst>
                <a:ext uri="{FF2B5EF4-FFF2-40B4-BE49-F238E27FC236}">
                  <a16:creationId xmlns:a16="http://schemas.microsoft.com/office/drawing/2014/main" id="{B64478C3-8A37-4DED-BC85-1E258691D082}"/>
                </a:ext>
              </a:extLst>
            </p:cNvPr>
            <p:cNvSpPr/>
            <p:nvPr/>
          </p:nvSpPr>
          <p:spPr>
            <a:xfrm>
              <a:off x="967027" y="3637865"/>
              <a:ext cx="9755793" cy="2249818"/>
            </a:xfrm>
            <a:prstGeom prst="roundRect">
              <a:avLst>
                <a:gd name="adj" fmla="val 4386"/>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4CC844C-45FD-4844-A895-81B6B8C3E5ED}"/>
                  </a:ext>
                </a:extLst>
              </p:cNvPr>
              <p:cNvSpPr txBox="1"/>
              <p:nvPr/>
            </p:nvSpPr>
            <p:spPr>
              <a:xfrm>
                <a:off x="1082147" y="5724275"/>
                <a:ext cx="7969755" cy="400110"/>
              </a:xfrm>
              <a:prstGeom prst="rect">
                <a:avLst/>
              </a:prstGeom>
              <a:solidFill>
                <a:schemeClr val="accent4">
                  <a:lumMod val="40000"/>
                  <a:lumOff val="60000"/>
                </a:schemeClr>
              </a:solidFill>
            </p:spPr>
            <p:txBody>
              <a:bodyPr wrap="square" rtlCol="0">
                <a:spAutoFit/>
              </a:bodyPr>
              <a:lstStyle/>
              <a:p>
                <a:r>
                  <a:rPr lang="zh-CN" altLang="en-US" sz="2000" b="1">
                    <a:solidFill>
                      <a:schemeClr val="accent2">
                        <a:lumMod val="50000"/>
                      </a:schemeClr>
                    </a:solidFill>
                  </a:rPr>
                  <a:t>不难证明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是</a:t>
                </a:r>
                <a14:m>
                  <m:oMath xmlns:m="http://schemas.openxmlformats.org/officeDocument/2006/math">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0" smtClean="0">
                            <a:solidFill>
                              <a:schemeClr val="accent2">
                                <a:lumMod val="50000"/>
                              </a:schemeClr>
                            </a:solidFill>
                            <a:latin typeface="Cambria Math" panose="02040503050406030204" pitchFamily="18" charset="0"/>
                          </a:rPr>
                          <m:t>𝚺</m:t>
                        </m:r>
                      </m:e>
                      <m:sup>
                        <m:r>
                          <a:rPr lang="en-US" altLang="zh-CN" sz="2000" b="1" i="1" smtClean="0">
                            <a:solidFill>
                              <a:schemeClr val="accent2">
                                <a:lumMod val="50000"/>
                              </a:schemeClr>
                            </a:solidFill>
                            <a:latin typeface="Cambria Math" panose="02040503050406030204" pitchFamily="18" charset="0"/>
                          </a:rPr>
                          <m:t>𝒏</m:t>
                        </m:r>
                      </m:sup>
                    </m:sSup>
                  </m:oMath>
                </a14:m>
                <a:r>
                  <a:rPr lang="zh-CN" altLang="en-US" sz="2000" b="1">
                    <a:solidFill>
                      <a:schemeClr val="accent2">
                        <a:lumMod val="50000"/>
                      </a:schemeClr>
                    </a:solidFill>
                  </a:rPr>
                  <a:t>上的偏序，且当</a:t>
                </a:r>
                <a14:m>
                  <m:oMath xmlns:m="http://schemas.openxmlformats.org/officeDocument/2006/math">
                    <m:r>
                      <a:rPr lang="en-US" altLang="zh-CN" sz="2000" b="1" i="1">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是</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𝚺</m:t>
                    </m:r>
                  </m:oMath>
                </a14:m>
                <a:r>
                  <a:rPr lang="zh-CN" altLang="en-US" sz="2000" b="1">
                    <a:solidFill>
                      <a:schemeClr val="accent2">
                        <a:lumMod val="50000"/>
                      </a:schemeClr>
                    </a:solidFill>
                  </a:rPr>
                  <a:t>上的全序时，</a:t>
                </a:r>
                <a14:m>
                  <m:oMath xmlns:m="http://schemas.openxmlformats.org/officeDocument/2006/math">
                    <m:r>
                      <a:rPr lang="en-US" altLang="zh-CN" sz="2000" b="1" i="1">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也是</a:t>
                </a:r>
                <a14:m>
                  <m:oMath xmlns:m="http://schemas.openxmlformats.org/officeDocument/2006/math">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𝜮</m:t>
                        </m:r>
                      </m:e>
                      <m:sup>
                        <m:r>
                          <a:rPr lang="en-US" altLang="zh-CN" sz="2000" b="1" i="1">
                            <a:solidFill>
                              <a:schemeClr val="accent2">
                                <a:lumMod val="50000"/>
                              </a:schemeClr>
                            </a:solidFill>
                            <a:latin typeface="Cambria Math" panose="02040503050406030204" pitchFamily="18" charset="0"/>
                          </a:rPr>
                          <m:t>𝒏</m:t>
                        </m:r>
                      </m:sup>
                    </m:sSup>
                  </m:oMath>
                </a14:m>
                <a:r>
                  <a:rPr lang="zh-CN" altLang="en-US" sz="2000" b="1">
                    <a:solidFill>
                      <a:schemeClr val="accent2">
                        <a:lumMod val="50000"/>
                      </a:schemeClr>
                    </a:solidFill>
                  </a:rPr>
                  <a:t>上的全序</a:t>
                </a:r>
              </a:p>
            </p:txBody>
          </p:sp>
        </mc:Choice>
        <mc:Fallback xmlns="">
          <p:sp>
            <p:nvSpPr>
              <p:cNvPr id="28" name="文本框 27">
                <a:extLst>
                  <a:ext uri="{FF2B5EF4-FFF2-40B4-BE49-F238E27FC236}">
                    <a16:creationId xmlns:a16="http://schemas.microsoft.com/office/drawing/2014/main" id="{54CC844C-45FD-4844-A895-81B6B8C3E5ED}"/>
                  </a:ext>
                </a:extLst>
              </p:cNvPr>
              <p:cNvSpPr txBox="1">
                <a:spLocks noRot="1" noChangeAspect="1" noMove="1" noResize="1" noEditPoints="1" noAdjustHandles="1" noChangeArrowheads="1" noChangeShapeType="1" noTextEdit="1"/>
              </p:cNvSpPr>
              <p:nvPr/>
            </p:nvSpPr>
            <p:spPr>
              <a:xfrm>
                <a:off x="1082147" y="5724275"/>
                <a:ext cx="7969755" cy="400110"/>
              </a:xfrm>
              <a:prstGeom prst="rect">
                <a:avLst/>
              </a:prstGeom>
              <a:blipFill>
                <a:blip r:embed="rId7"/>
                <a:stretch>
                  <a:fillRect l="-842" t="-7576" b="-257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7870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字典序与全排列</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0A42485-F2B8-42FC-BAFC-3676B668AEE7}"/>
                  </a:ext>
                </a:extLst>
              </p:cNvPr>
              <p:cNvSpPr txBox="1"/>
              <p:nvPr/>
            </p:nvSpPr>
            <p:spPr>
              <a:xfrm>
                <a:off x="935940" y="1240309"/>
                <a:ext cx="5160058" cy="1785104"/>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下面总假定</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个元素的集合</a:t>
                </a:r>
                <a14:m>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𝒏</m:t>
                    </m:r>
                    <m:r>
                      <m:rPr>
                        <m:lit/>
                      </m:rP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latin typeface="+mn-ea"/>
                  </a:rPr>
                  <a:t>看做是</a:t>
                </a:r>
                <a14:m>
                  <m:oMath xmlns:m="http://schemas.openxmlformats.org/officeDocument/2006/math">
                    <m:r>
                      <a:rPr lang="en-US" altLang="zh-CN" sz="2000" b="1">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latin typeface="+mn-ea"/>
                  </a:rPr>
                  <a:t>个</a:t>
                </a:r>
                <a:r>
                  <a:rPr lang="zh-CN" altLang="en-US" sz="2000" b="1">
                    <a:solidFill>
                      <a:srgbClr val="C00000"/>
                    </a:solidFill>
                    <a:latin typeface="+mn-ea"/>
                  </a:rPr>
                  <a:t>数字字符</a:t>
                </a:r>
                <a:r>
                  <a:rPr lang="zh-CN" altLang="en-US" sz="2000" b="1">
                    <a:solidFill>
                      <a:schemeClr val="accent6">
                        <a:lumMod val="50000"/>
                      </a:schemeClr>
                    </a:solidFill>
                    <a:latin typeface="+mn-ea"/>
                  </a:rPr>
                  <a:t>的集合</a:t>
                </a: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latin typeface="+mn-ea"/>
                  </a:rPr>
                  <a:t>上的</a:t>
                </a:r>
                <a:r>
                  <a:rPr lang="zh-CN" altLang="en-US" sz="2000" b="1" i="0">
                    <a:solidFill>
                      <a:schemeClr val="accent6">
                        <a:lumMod val="50000"/>
                      </a:schemeClr>
                    </a:solidFill>
                    <a:latin typeface="+mj-lt"/>
                  </a:rPr>
                  <a:t>全序</a:t>
                </a:r>
                <a:r>
                  <a:rPr lang="zh-CN" altLang="en-US" sz="2000" b="1">
                    <a:solidFill>
                      <a:schemeClr val="accent6">
                        <a:lumMod val="50000"/>
                      </a:schemeClr>
                    </a:solidFill>
                    <a:latin typeface="+mn-ea"/>
                  </a:rPr>
                  <a:t>是普通的小于等于关系，即</a:t>
                </a:r>
                <a:endParaRPr lang="en-US" altLang="zh-CN" sz="2000" b="1">
                  <a:solidFill>
                    <a:schemeClr val="accent6">
                      <a:lumMod val="50000"/>
                    </a:schemeClr>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 &lt; </m:t>
                      </m:r>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 &lt; ⋯&lt; </m:t>
                      </m:r>
                      <m:r>
                        <a:rPr lang="en-US" altLang="zh-CN" sz="2000" b="1" i="1" smtClean="0">
                          <a:solidFill>
                            <a:schemeClr val="accent2">
                              <a:lumMod val="50000"/>
                            </a:schemeClr>
                          </a:solidFill>
                          <a:latin typeface="Cambria Math" panose="02040503050406030204" pitchFamily="18" charset="0"/>
                        </a:rPr>
                        <m:t>𝒏</m:t>
                      </m:r>
                    </m:oMath>
                  </m:oMathPara>
                </a14:m>
                <a:endParaRPr lang="en-US" altLang="zh-CN" sz="2000" b="1">
                  <a:solidFill>
                    <a:schemeClr val="accent2">
                      <a:lumMod val="50000"/>
                    </a:schemeClr>
                  </a:solidFill>
                  <a:latin typeface="+mn-ea"/>
                </a:endParaRPr>
              </a:p>
            </p:txBody>
          </p:sp>
        </mc:Choice>
        <mc:Fallback xmlns="">
          <p:sp>
            <p:nvSpPr>
              <p:cNvPr id="2" name="文本框 1">
                <a:extLst>
                  <a:ext uri="{FF2B5EF4-FFF2-40B4-BE49-F238E27FC236}">
                    <a16:creationId xmlns:a16="http://schemas.microsoft.com/office/drawing/2014/main" id="{60A42485-F2B8-42FC-BAFC-3676B668AEE7}"/>
                  </a:ext>
                </a:extLst>
              </p:cNvPr>
              <p:cNvSpPr txBox="1">
                <a:spLocks noRot="1" noChangeAspect="1" noMove="1" noResize="1" noEditPoints="1" noAdjustHandles="1" noChangeArrowheads="1" noChangeShapeType="1" noTextEdit="1"/>
              </p:cNvSpPr>
              <p:nvPr/>
            </p:nvSpPr>
            <p:spPr>
              <a:xfrm>
                <a:off x="935940" y="1240309"/>
                <a:ext cx="5160058" cy="1785104"/>
              </a:xfrm>
              <a:prstGeom prst="rect">
                <a:avLst/>
              </a:prstGeom>
              <a:blipFill>
                <a:blip r:embed="rId2"/>
                <a:stretch>
                  <a:fillRect l="-1300" t="-2389" r="-1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DB6A88B-7A70-4843-9A0C-440AB00CE92E}"/>
                  </a:ext>
                </a:extLst>
              </p:cNvPr>
              <p:cNvSpPr txBox="1"/>
              <p:nvPr/>
            </p:nvSpPr>
            <p:spPr>
              <a:xfrm>
                <a:off x="6412993" y="1453476"/>
                <a:ext cx="4843067" cy="1358770"/>
              </a:xfrm>
              <a:prstGeom prst="rect">
                <a:avLst/>
              </a:prstGeom>
              <a:solidFill>
                <a:schemeClr val="accent4">
                  <a:lumMod val="20000"/>
                  <a:lumOff val="80000"/>
                  <a:alpha val="50000"/>
                </a:schemeClr>
              </a:solidFill>
            </p:spPr>
            <p:txBody>
              <a:bodyPr wrap="square" rtlCol="0">
                <a:spAutoFit/>
              </a:bodyPr>
              <a:lstStyle/>
              <a:p>
                <a:pPr>
                  <a:lnSpc>
                    <a:spcPts val="3000"/>
                  </a:lnSpc>
                  <a:spcBef>
                    <a:spcPts val="600"/>
                  </a:spcBef>
                  <a:spcAft>
                    <a:spcPts val="600"/>
                  </a:spcAft>
                </a:pPr>
                <a:r>
                  <a:rPr lang="zh-CN" altLang="en-US" sz="2000" b="1">
                    <a:solidFill>
                      <a:schemeClr val="accent2">
                        <a:lumMod val="50000"/>
                      </a:schemeClr>
                    </a:solidFill>
                  </a:rPr>
                  <a:t>生成</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的所有全排列是按字典序枚举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中数字构成的所有长为</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oMath>
                </a14:m>
                <a:r>
                  <a:rPr lang="zh-CN" altLang="en-US" sz="2000" b="1">
                    <a:solidFill>
                      <a:schemeClr val="accent2">
                        <a:lumMod val="50000"/>
                      </a:schemeClr>
                    </a:solidFill>
                  </a:rPr>
                  <a:t>的</a:t>
                </a:r>
                <a:r>
                  <a:rPr lang="zh-CN" altLang="en-US" sz="2000" b="1">
                    <a:solidFill>
                      <a:srgbClr val="C00000"/>
                    </a:solidFill>
                  </a:rPr>
                  <a:t>不含重复数字</a:t>
                </a:r>
                <a:r>
                  <a:rPr lang="zh-CN" altLang="en-US" sz="2000" b="1">
                    <a:solidFill>
                      <a:schemeClr val="accent2">
                        <a:lumMod val="50000"/>
                      </a:schemeClr>
                    </a:solidFill>
                  </a:rPr>
                  <a:t>的串</a:t>
                </a:r>
                <a:endParaRPr lang="en-US" altLang="zh-CN" sz="2000" b="1">
                  <a:solidFill>
                    <a:schemeClr val="accent2">
                      <a:lumMod val="50000"/>
                    </a:schemeClr>
                  </a:solidFill>
                </a:endParaRPr>
              </a:p>
              <a:p>
                <a:pPr marL="285750" indent="-28575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每个串是</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的一个全排列</a:t>
                </a:r>
              </a:p>
            </p:txBody>
          </p:sp>
        </mc:Choice>
        <mc:Fallback xmlns="">
          <p:sp>
            <p:nvSpPr>
              <p:cNvPr id="3" name="文本框 2">
                <a:extLst>
                  <a:ext uri="{FF2B5EF4-FFF2-40B4-BE49-F238E27FC236}">
                    <a16:creationId xmlns:a16="http://schemas.microsoft.com/office/drawing/2014/main" id="{9DB6A88B-7A70-4843-9A0C-440AB00CE92E}"/>
                  </a:ext>
                </a:extLst>
              </p:cNvPr>
              <p:cNvSpPr txBox="1">
                <a:spLocks noRot="1" noChangeAspect="1" noMove="1" noResize="1" noEditPoints="1" noAdjustHandles="1" noChangeArrowheads="1" noChangeShapeType="1" noTextEdit="1"/>
              </p:cNvSpPr>
              <p:nvPr/>
            </p:nvSpPr>
            <p:spPr>
              <a:xfrm>
                <a:off x="6412993" y="1453476"/>
                <a:ext cx="4843067" cy="1358770"/>
              </a:xfrm>
              <a:prstGeom prst="rect">
                <a:avLst/>
              </a:prstGeom>
              <a:blipFill>
                <a:blip r:embed="rId3"/>
                <a:stretch>
                  <a:fillRect l="-1259" r="-630" b="-67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DD47639-DBF0-401F-90C8-8E7660B11DD7}"/>
                  </a:ext>
                </a:extLst>
              </p:cNvPr>
              <p:cNvSpPr txBox="1"/>
              <p:nvPr/>
            </p:nvSpPr>
            <p:spPr>
              <a:xfrm>
                <a:off x="724074" y="3272822"/>
                <a:ext cx="10743847" cy="2796407"/>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记</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的所有全排列</a:t>
                </a:r>
                <a:r>
                  <a:rPr lang="en-US" altLang="zh-CN" sz="2400" b="1">
                    <a:solidFill>
                      <a:srgbClr val="002060"/>
                    </a:solidFill>
                    <a:latin typeface="楷体" panose="02010609060101010101" pitchFamily="49" charset="-122"/>
                    <a:ea typeface="楷体" panose="02010609060101010101" pitchFamily="49" charset="-122"/>
                  </a:rPr>
                  <a:t>,</a:t>
                </a:r>
                <a:r>
                  <a:rPr lang="zh-CN" altLang="en-US" sz="2400" b="1">
                    <a:solidFill>
                      <a:srgbClr val="002060"/>
                    </a:solidFill>
                    <a:latin typeface="楷体" panose="02010609060101010101" pitchFamily="49" charset="-122"/>
                    <a:ea typeface="楷体" panose="02010609060101010101" pitchFamily="49" charset="-122"/>
                  </a:rPr>
                  <a:t>即</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𝑺</m:t>
                    </m:r>
                  </m:oMath>
                </a14:m>
                <a:r>
                  <a:rPr lang="zh-CN" altLang="en-US" sz="2400" b="1">
                    <a:solidFill>
                      <a:srgbClr val="002060"/>
                    </a:solidFill>
                    <a:latin typeface="楷体" panose="02010609060101010101" pitchFamily="49" charset="-122"/>
                    <a:ea typeface="楷体" panose="02010609060101010101" pitchFamily="49" charset="-122"/>
                  </a:rPr>
                  <a:t>中数字构成的长为</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𝒏</m:t>
                    </m:r>
                  </m:oMath>
                </a14:m>
                <a:r>
                  <a:rPr lang="zh-CN" altLang="en-US" sz="2400" b="1">
                    <a:solidFill>
                      <a:srgbClr val="002060"/>
                    </a:solidFill>
                    <a:latin typeface="楷体" panose="02010609060101010101" pitchFamily="49" charset="-122"/>
                    <a:ea typeface="楷体" panose="02010609060101010101" pitchFamily="49" charset="-122"/>
                  </a:rPr>
                  <a:t>且不含重复数字的串构成的集合是</a:t>
                </a:r>
                <a14:m>
                  <m:oMath xmlns:m="http://schemas.openxmlformats.org/officeDocument/2006/math">
                    <m:r>
                      <a:rPr lang="en-US" altLang="zh-CN" sz="2400" b="1" i="1" smtClean="0">
                        <a:solidFill>
                          <a:srgbClr val="002060"/>
                        </a:solidFill>
                        <a:latin typeface="Cambria Math" panose="02040503050406030204" pitchFamily="18" charset="0"/>
                      </a:rPr>
                      <m:t>𝑷</m:t>
                    </m:r>
                  </m:oMath>
                </a14:m>
                <a:endParaRPr lang="en-US" altLang="zh-CN" sz="2400" b="1" i="1">
                  <a:solidFill>
                    <a:srgbClr val="002060"/>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14:m>
                  <m:oMath xmlns:m="http://schemas.openxmlformats.org/officeDocument/2006/math">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𝑷</m:t>
                        </m:r>
                        <m:r>
                          <a:rPr lang="en-US" altLang="zh-CN" sz="2000" b="1" i="1">
                            <a:solidFill>
                              <a:schemeClr val="accent6">
                                <a:lumMod val="50000"/>
                              </a:schemeClr>
                            </a:solidFill>
                            <a:latin typeface="Cambria Math" panose="02040503050406030204" pitchFamily="18" charset="0"/>
                          </a:rPr>
                          <m:t>,≼</m:t>
                        </m:r>
                      </m:e>
                    </m:d>
                  </m:oMath>
                </a14:m>
                <a:r>
                  <a:rPr lang="zh-CN" altLang="en-US" sz="2000" b="1">
                    <a:solidFill>
                      <a:schemeClr val="accent6">
                        <a:lumMod val="50000"/>
                      </a:schemeClr>
                    </a:solidFill>
                    <a:latin typeface="+mn-ea"/>
                  </a:rPr>
                  <a:t>是全序集</a:t>
                </a:r>
                <a14:m>
                  <m:oMath xmlns:m="http://schemas.openxmlformats.org/officeDocument/2006/math">
                    <m:d>
                      <m:dPr>
                        <m:ctrlPr>
                          <a:rPr lang="en-US" altLang="zh-CN" sz="2000" b="1" i="1" smtClean="0">
                            <a:solidFill>
                              <a:schemeClr val="accent6">
                                <a:lumMod val="50000"/>
                              </a:schemeClr>
                            </a:solidFill>
                            <a:latin typeface="Cambria Math" panose="02040503050406030204" pitchFamily="18" charset="0"/>
                          </a:rPr>
                        </m:ctrlPr>
                      </m:dPr>
                      <m:e>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𝑺</m:t>
                            </m:r>
                          </m:e>
                          <m:sup>
                            <m:r>
                              <a:rPr lang="en-US" altLang="zh-CN" sz="2000" b="1" i="1" smtClean="0">
                                <a:solidFill>
                                  <a:schemeClr val="accent6">
                                    <a:lumMod val="50000"/>
                                  </a:schemeClr>
                                </a:solidFill>
                                <a:latin typeface="Cambria Math" panose="02040503050406030204" pitchFamily="18" charset="0"/>
                              </a:rPr>
                              <m:t>𝒏</m:t>
                            </m:r>
                          </m:sup>
                        </m:sSup>
                        <m:r>
                          <a:rPr lang="en-US" altLang="zh-CN" sz="2000" b="1" i="1" smtClean="0">
                            <a:solidFill>
                              <a:schemeClr val="accent6">
                                <a:lumMod val="50000"/>
                              </a:schemeClr>
                            </a:solidFill>
                            <a:latin typeface="Cambria Math" panose="02040503050406030204" pitchFamily="18" charset="0"/>
                          </a:rPr>
                          <m:t>,≼</m:t>
                        </m:r>
                      </m:e>
                    </m:d>
                  </m:oMath>
                </a14:m>
                <a:r>
                  <a:rPr lang="zh-CN" altLang="en-US" sz="2000" b="1">
                    <a:solidFill>
                      <a:schemeClr val="accent6">
                        <a:lumMod val="50000"/>
                      </a:schemeClr>
                    </a:solidFill>
                    <a:latin typeface="+mn-ea"/>
                  </a:rPr>
                  <a:t>的子集，也是全序集，</a:t>
                </a:r>
                <a:r>
                  <a:rPr lang="zh-CN" altLang="en-US" sz="2000" b="1">
                    <a:solidFill>
                      <a:schemeClr val="accent6">
                        <a:lumMod val="50000"/>
                      </a:schemeClr>
                    </a:solidFill>
                  </a:rPr>
                  <a:t>最小的排列是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𝟏𝟐𝟑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，最大的排列是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𝟑𝟐𝟏</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对</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𝑷</m:t>
                    </m:r>
                  </m:oMath>
                </a14:m>
                <a:r>
                  <a:rPr lang="zh-CN" altLang="en-US" sz="2000" b="1">
                    <a:solidFill>
                      <a:schemeClr val="accent6">
                        <a:lumMod val="50000"/>
                      </a:schemeClr>
                    </a:solidFill>
                  </a:rPr>
                  <a:t>中任意全排列</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𝒏</m:t>
                        </m:r>
                      </m:sub>
                    </m:sSub>
                  </m:oMath>
                </a14:m>
                <a:r>
                  <a:rPr lang="zh-CN" altLang="en-US" sz="2000" b="1">
                    <a:solidFill>
                      <a:schemeClr val="accent6">
                        <a:lumMod val="50000"/>
                      </a:schemeClr>
                    </a:solidFill>
                  </a:rPr>
                  <a:t>，要找到在字典序下</a:t>
                </a:r>
                <a:r>
                  <a:rPr lang="zh-CN" altLang="en-US" sz="2000" b="1">
                    <a:solidFill>
                      <a:srgbClr val="C00000"/>
                    </a:solidFill>
                  </a:rPr>
                  <a:t>覆盖</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oMath>
                </a14:m>
                <a:r>
                  <a:rPr lang="zh-CN" altLang="en-US" sz="2000" b="1">
                    <a:solidFill>
                      <a:schemeClr val="accent6">
                        <a:lumMod val="50000"/>
                      </a:schemeClr>
                    </a:solidFill>
                  </a:rPr>
                  <a:t>的全排列</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oMath>
                </a14:m>
                <a:endParaRPr lang="en-US" altLang="zh-CN" sz="2000" b="1">
                  <a:solidFill>
                    <a:schemeClr val="accent6">
                      <a:lumMod val="50000"/>
                    </a:schemeClr>
                  </a:solidFill>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即找到使得</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且不存在</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𝒄</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使得</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𝒄</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且</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𝒄</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的全排列</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生成</a:t>
                </a:r>
                <a14:m>
                  <m:oMath xmlns:m="http://schemas.openxmlformats.org/officeDocument/2006/math">
                    <m:r>
                      <a:rPr lang="en-US" altLang="zh-CN" sz="2000" b="1" i="1">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rPr>
                  <a:t>的所有全排列是要枚举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𝑷</m:t>
                    </m:r>
                  </m:oMath>
                </a14:m>
                <a:r>
                  <a:rPr lang="zh-CN" altLang="en-US" sz="2000" b="1">
                    <a:solidFill>
                      <a:schemeClr val="accent6">
                        <a:lumMod val="50000"/>
                      </a:schemeClr>
                    </a:solidFill>
                  </a:rPr>
                  <a:t>的所有元素，</a:t>
                </a:r>
                <a:r>
                  <a:rPr lang="zh-CN" altLang="en-US" sz="2000" b="1">
                    <a:solidFill>
                      <a:srgbClr val="C00000"/>
                    </a:solidFill>
                  </a:rPr>
                  <a:t>基本思路</a:t>
                </a:r>
                <a:r>
                  <a:rPr lang="zh-CN" altLang="en-US" sz="2000" b="1">
                    <a:solidFill>
                      <a:schemeClr val="accent6">
                        <a:lumMod val="50000"/>
                      </a:schemeClr>
                    </a:solidFill>
                  </a:rPr>
                  <a:t>是</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从最小的全排列</a:t>
                </a:r>
                <a14:m>
                  <m:oMath xmlns:m="http://schemas.openxmlformats.org/officeDocument/2006/math">
                    <m:r>
                      <a:rPr lang="en-US" altLang="zh-CN" sz="2000" b="1">
                        <a:solidFill>
                          <a:schemeClr val="accent2">
                            <a:lumMod val="50000"/>
                          </a:schemeClr>
                        </a:solidFill>
                        <a:latin typeface="Cambria Math" panose="02040503050406030204" pitchFamily="18" charset="0"/>
                        <a:ea typeface="楷体" panose="02010609060101010101" pitchFamily="49" charset="-122"/>
                      </a:rPr>
                      <m:t>𝟏𝟐𝟑</m:t>
                    </m:r>
                    <m:r>
                      <a:rPr lang="en-US" altLang="zh-CN" sz="2000" b="1">
                        <a:solidFill>
                          <a:schemeClr val="accent2">
                            <a:lumMod val="50000"/>
                          </a:schemeClr>
                        </a:solidFill>
                        <a:latin typeface="Cambria Math" panose="02040503050406030204" pitchFamily="18" charset="0"/>
                        <a:ea typeface="楷体" panose="02010609060101010101" pitchFamily="49" charset="-122"/>
                      </a:rPr>
                      <m:t>⋯</m:t>
                    </m:r>
                    <m:r>
                      <a:rPr lang="en-US" altLang="zh-CN" sz="2000" b="1">
                        <a:solidFill>
                          <a:schemeClr val="accent2">
                            <a:lumMod val="50000"/>
                          </a:schemeClr>
                        </a:solidFill>
                        <a:latin typeface="Cambria Math" panose="02040503050406030204" pitchFamily="18" charset="0"/>
                        <a:ea typeface="楷体" panose="02010609060101010101" pitchFamily="49" charset="-122"/>
                      </a:rPr>
                      <m:t>𝒏</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开始，</a:t>
                </a:r>
                <a:r>
                  <a:rPr lang="zh-CN" altLang="en-US" sz="2000" b="1">
                    <a:solidFill>
                      <a:srgbClr val="0000FF"/>
                    </a:solidFill>
                    <a:latin typeface="楷体" panose="02010609060101010101" pitchFamily="49" charset="-122"/>
                    <a:ea typeface="楷体" panose="02010609060101010101" pitchFamily="49" charset="-122"/>
                  </a:rPr>
                  <a:t>不断找覆盖它的全排列</a:t>
                </a:r>
                <a:r>
                  <a:rPr lang="zh-CN" altLang="en-US" sz="2000" b="1">
                    <a:solidFill>
                      <a:schemeClr val="accent2">
                        <a:lumMod val="50000"/>
                      </a:schemeClr>
                    </a:solidFill>
                    <a:latin typeface="楷体" panose="02010609060101010101" pitchFamily="49" charset="-122"/>
                    <a:ea typeface="楷体" panose="02010609060101010101" pitchFamily="49" charset="-122"/>
                  </a:rPr>
                  <a:t>，直到最大的全排列</a:t>
                </a:r>
                <a14:m>
                  <m:oMath xmlns:m="http://schemas.openxmlformats.org/officeDocument/2006/math">
                    <m:r>
                      <a:rPr lang="en-US" altLang="zh-CN" sz="2000" b="1">
                        <a:solidFill>
                          <a:schemeClr val="accent2">
                            <a:lumMod val="50000"/>
                          </a:schemeClr>
                        </a:solidFill>
                        <a:latin typeface="Cambria Math" panose="02040503050406030204" pitchFamily="18" charset="0"/>
                        <a:ea typeface="楷体" panose="02010609060101010101" pitchFamily="49" charset="-122"/>
                      </a:rPr>
                      <m:t>𝒏</m:t>
                    </m:r>
                    <m:r>
                      <a:rPr lang="en-US" altLang="zh-CN" sz="2000" b="1">
                        <a:solidFill>
                          <a:schemeClr val="accent2">
                            <a:lumMod val="50000"/>
                          </a:schemeClr>
                        </a:solidFill>
                        <a:latin typeface="Cambria Math" panose="02040503050406030204" pitchFamily="18" charset="0"/>
                        <a:ea typeface="楷体" panose="02010609060101010101" pitchFamily="49" charset="-122"/>
                      </a:rPr>
                      <m:t>⋯</m:t>
                    </m:r>
                    <m:r>
                      <a:rPr lang="en-US" altLang="zh-CN" sz="2000" b="1">
                        <a:solidFill>
                          <a:schemeClr val="accent2">
                            <a:lumMod val="50000"/>
                          </a:schemeClr>
                        </a:solidFill>
                        <a:latin typeface="Cambria Math" panose="02040503050406030204" pitchFamily="18" charset="0"/>
                        <a:ea typeface="楷体" panose="02010609060101010101" pitchFamily="49" charset="-122"/>
                      </a:rPr>
                      <m:t>𝟑𝟐𝟏</m:t>
                    </m:r>
                  </m:oMath>
                </a14:m>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ADD47639-DBF0-401F-90C8-8E7660B11DD7}"/>
                  </a:ext>
                </a:extLst>
              </p:cNvPr>
              <p:cNvSpPr txBox="1">
                <a:spLocks noRot="1" noChangeAspect="1" noMove="1" noResize="1" noEditPoints="1" noAdjustHandles="1" noChangeArrowheads="1" noChangeShapeType="1" noTextEdit="1"/>
              </p:cNvSpPr>
              <p:nvPr/>
            </p:nvSpPr>
            <p:spPr>
              <a:xfrm>
                <a:off x="724074" y="3272822"/>
                <a:ext cx="10743847" cy="2796407"/>
              </a:xfrm>
              <a:prstGeom prst="rect">
                <a:avLst/>
              </a:prstGeom>
              <a:blipFill>
                <a:blip r:embed="rId4"/>
                <a:stretch>
                  <a:fillRect l="-908" t="-2397" b="-1525"/>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A5B0CD1-E545-4589-AF44-BFF22C4B59DF}"/>
              </a:ext>
            </a:extLst>
          </p:cNvPr>
          <p:cNvSpPr txBox="1"/>
          <p:nvPr/>
        </p:nvSpPr>
        <p:spPr>
          <a:xfrm>
            <a:off x="8474840" y="4902847"/>
            <a:ext cx="2517696"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全序下找覆盖使得枚举</a:t>
            </a:r>
            <a:r>
              <a:rPr lang="zh-CN" altLang="en-US" b="1">
                <a:solidFill>
                  <a:srgbClr val="C00000"/>
                </a:solidFill>
              </a:rPr>
              <a:t>不重复</a:t>
            </a:r>
            <a:r>
              <a:rPr lang="zh-CN" altLang="en-US" b="1">
                <a:solidFill>
                  <a:schemeClr val="accent2">
                    <a:lumMod val="50000"/>
                  </a:schemeClr>
                </a:solidFill>
              </a:rPr>
              <a:t>、</a:t>
            </a:r>
            <a:r>
              <a:rPr lang="zh-CN" altLang="en-US" b="1">
                <a:solidFill>
                  <a:srgbClr val="C00000"/>
                </a:solidFill>
              </a:rPr>
              <a:t>不遗漏</a:t>
            </a:r>
          </a:p>
        </p:txBody>
      </p:sp>
    </p:spTree>
    <p:extLst>
      <p:ext uri="{BB962C8B-B14F-4D97-AF65-F5344CB8AC3E}">
        <p14:creationId xmlns:p14="http://schemas.microsoft.com/office/powerpoint/2010/main" val="551087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全排列之间的覆盖</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B495F53-4FCF-4EBD-BD30-A08D6BCD904F}"/>
                  </a:ext>
                </a:extLst>
              </p:cNvPr>
              <p:cNvSpPr txBox="1"/>
              <p:nvPr/>
            </p:nvSpPr>
            <p:spPr>
              <a:xfrm>
                <a:off x="896857" y="1282791"/>
                <a:ext cx="4302285" cy="1246495"/>
              </a:xfrm>
              <a:prstGeom prst="rect">
                <a:avLst/>
              </a:prstGeom>
              <a:solidFill>
                <a:schemeClr val="accent2">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在以</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𝒊</m:t>
                        </m:r>
                      </m:sub>
                    </m:sSub>
                  </m:oMath>
                </a14:m>
                <a:r>
                  <a:rPr lang="zh-CN" altLang="en-US" sz="2000" b="1">
                    <a:solidFill>
                      <a:srgbClr val="002060"/>
                    </a:solidFill>
                    <a:latin typeface="楷体" panose="02010609060101010101" pitchFamily="49" charset="-122"/>
                    <a:ea typeface="楷体" panose="02010609060101010101" pitchFamily="49" charset="-122"/>
                  </a:rPr>
                  <a:t>开头的所有串中</a:t>
                </a:r>
              </a:p>
              <a:p>
                <a:pPr marL="285750" indent="-285750">
                  <a:spcBef>
                    <a:spcPts val="600"/>
                  </a:spcBef>
                  <a:spcAft>
                    <a:spcPts val="300"/>
                  </a:spcAft>
                  <a:buFont typeface="Arial" panose="020B0604020202020204" pitchFamily="34" charset="0"/>
                  <a:buChar char="•"/>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rPr>
                  <a:t>后面的数字是</a:t>
                </a:r>
                <a:r>
                  <a:rPr lang="zh-CN" altLang="en-US" sz="2000" b="1">
                    <a:solidFill>
                      <a:srgbClr val="C00000"/>
                    </a:solidFill>
                  </a:rPr>
                  <a:t>递减序列</a:t>
                </a:r>
                <a:r>
                  <a:rPr lang="zh-CN" altLang="en-US" sz="2000" b="1">
                    <a:solidFill>
                      <a:schemeClr val="accent6">
                        <a:lumMod val="50000"/>
                      </a:schemeClr>
                    </a:solidFill>
                  </a:rPr>
                  <a:t>时串</a:t>
                </a:r>
                <a:r>
                  <a:rPr lang="zh-CN" altLang="en-US" sz="2000" b="1">
                    <a:solidFill>
                      <a:srgbClr val="C00000"/>
                    </a:solidFill>
                  </a:rPr>
                  <a:t>最大</a:t>
                </a:r>
                <a:endParaRPr lang="en-US" altLang="zh-CN" sz="2000" b="1">
                  <a:solidFill>
                    <a:srgbClr val="C00000"/>
                  </a:solidFill>
                </a:endParaRPr>
              </a:p>
              <a:p>
                <a:pPr marL="285750" indent="-285750">
                  <a:spcBef>
                    <a:spcPts val="600"/>
                  </a:spcBef>
                  <a:spcAft>
                    <a:spcPts val="300"/>
                  </a:spcAft>
                  <a:buFont typeface="Arial" panose="020B0604020202020204" pitchFamily="34" charset="0"/>
                  <a:buChar char="•"/>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rPr>
                  <a:t>后面的数字是</a:t>
                </a:r>
                <a:r>
                  <a:rPr lang="zh-CN" altLang="en-US" sz="2000" b="1">
                    <a:solidFill>
                      <a:srgbClr val="C00000"/>
                    </a:solidFill>
                  </a:rPr>
                  <a:t>递增序列</a:t>
                </a:r>
                <a:r>
                  <a:rPr lang="zh-CN" altLang="en-US" sz="2000" b="1">
                    <a:solidFill>
                      <a:schemeClr val="accent6">
                        <a:lumMod val="50000"/>
                      </a:schemeClr>
                    </a:solidFill>
                  </a:rPr>
                  <a:t>时串</a:t>
                </a:r>
                <a:r>
                  <a:rPr lang="zh-CN" altLang="en-US" sz="2000" b="1">
                    <a:solidFill>
                      <a:srgbClr val="C00000"/>
                    </a:solidFill>
                  </a:rPr>
                  <a:t>最小</a:t>
                </a:r>
              </a:p>
            </p:txBody>
          </p:sp>
        </mc:Choice>
        <mc:Fallback xmlns="">
          <p:sp>
            <p:nvSpPr>
              <p:cNvPr id="2" name="文本框 1">
                <a:extLst>
                  <a:ext uri="{FF2B5EF4-FFF2-40B4-BE49-F238E27FC236}">
                    <a16:creationId xmlns:a16="http://schemas.microsoft.com/office/drawing/2014/main" id="{DB495F53-4FCF-4EBD-BD30-A08D6BCD904F}"/>
                  </a:ext>
                </a:extLst>
              </p:cNvPr>
              <p:cNvSpPr txBox="1">
                <a:spLocks noRot="1" noChangeAspect="1" noMove="1" noResize="1" noEditPoints="1" noAdjustHandles="1" noChangeArrowheads="1" noChangeShapeType="1" noTextEdit="1"/>
              </p:cNvSpPr>
              <p:nvPr/>
            </p:nvSpPr>
            <p:spPr>
              <a:xfrm>
                <a:off x="896857" y="1282791"/>
                <a:ext cx="4302285" cy="1246495"/>
              </a:xfrm>
              <a:prstGeom prst="rect">
                <a:avLst/>
              </a:prstGeom>
              <a:blipFill>
                <a:blip r:embed="rId2"/>
                <a:stretch>
                  <a:fillRect l="-1416" t="-3415" r="-992" b="-78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1FC87F4-5300-41B8-876C-767BAD4EC8D2}"/>
                  </a:ext>
                </a:extLst>
              </p:cNvPr>
              <p:cNvSpPr txBox="1"/>
              <p:nvPr/>
            </p:nvSpPr>
            <p:spPr>
              <a:xfrm>
                <a:off x="8420375" y="1406286"/>
                <a:ext cx="2874768" cy="999504"/>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下面说的串都是指集合</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r>
                      <a:rPr lang="en-US" altLang="zh-CN" b="1" i="1" smtClean="0">
                        <a:solidFill>
                          <a:schemeClr val="accent2">
                            <a:lumMod val="50000"/>
                          </a:schemeClr>
                        </a:solidFill>
                        <a:latin typeface="Cambria Math" panose="02040503050406030204" pitchFamily="18" charset="0"/>
                      </a:rPr>
                      <m:t>=</m:t>
                    </m:r>
                    <m:r>
                      <m:rPr>
                        <m:lit/>
                      </m:rP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 ⋯, </m:t>
                    </m:r>
                    <m:r>
                      <a:rPr lang="en-US" altLang="zh-CN" b="1" i="1">
                        <a:solidFill>
                          <a:schemeClr val="accent2">
                            <a:lumMod val="50000"/>
                          </a:schemeClr>
                        </a:solidFill>
                        <a:latin typeface="Cambria Math" panose="02040503050406030204" pitchFamily="18" charset="0"/>
                      </a:rPr>
                      <m:t>𝒏</m:t>
                    </m:r>
                    <m:r>
                      <m:rPr>
                        <m:lit/>
                      </m:rP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的一个全排列，且例子中都令</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oMath>
                </a14:m>
                <a:endParaRPr lang="zh-CN" altLang="en-US"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11FC87F4-5300-41B8-876C-767BAD4EC8D2}"/>
                  </a:ext>
                </a:extLst>
              </p:cNvPr>
              <p:cNvSpPr txBox="1">
                <a:spLocks noRot="1" noChangeAspect="1" noMove="1" noResize="1" noEditPoints="1" noAdjustHandles="1" noChangeArrowheads="1" noChangeShapeType="1" noTextEdit="1"/>
              </p:cNvSpPr>
              <p:nvPr/>
            </p:nvSpPr>
            <p:spPr>
              <a:xfrm>
                <a:off x="8420375" y="1406286"/>
                <a:ext cx="2874768" cy="999504"/>
              </a:xfrm>
              <a:prstGeom prst="rect">
                <a:avLst/>
              </a:prstGeom>
              <a:blipFill>
                <a:blip r:embed="rId3"/>
                <a:stretch>
                  <a:fillRect l="-1695" t="-1829" r="-1695" b="-91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CCFBE82-575D-4910-93F6-FB68E2A1EE76}"/>
                  </a:ext>
                </a:extLst>
              </p:cNvPr>
              <p:cNvSpPr txBox="1"/>
              <p:nvPr/>
            </p:nvSpPr>
            <p:spPr>
              <a:xfrm>
                <a:off x="5490786" y="1282791"/>
                <a:ext cx="2637945" cy="1246495"/>
              </a:xfrm>
              <a:prstGeom prst="rect">
                <a:avLst/>
              </a:prstGeom>
              <a:solidFill>
                <a:schemeClr val="accent6">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以</a:t>
                </a:r>
                <a14:m>
                  <m:oMath xmlns:m="http://schemas.openxmlformats.org/officeDocument/2006/math">
                    <m:r>
                      <a:rPr lang="en-US" altLang="zh-CN" sz="2000" b="1" i="1" smtClean="0">
                        <a:solidFill>
                          <a:srgbClr val="002060"/>
                        </a:solidFill>
                        <a:latin typeface="Cambria Math" panose="02040503050406030204" pitchFamily="18" charset="0"/>
                      </a:rPr>
                      <m:t>𝟑𝟐𝟏𝟓</m:t>
                    </m:r>
                  </m:oMath>
                </a14:m>
                <a:r>
                  <a:rPr lang="zh-CN" altLang="en-US" sz="2000" b="1">
                    <a:solidFill>
                      <a:srgbClr val="002060"/>
                    </a:solidFill>
                    <a:latin typeface="楷体" panose="02010609060101010101" pitchFamily="49" charset="-122"/>
                    <a:ea typeface="楷体" panose="02010609060101010101" pitchFamily="49" charset="-122"/>
                  </a:rPr>
                  <a:t>开头的所有串</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3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𝟑𝟐𝟏𝟓𝟖𝟕𝟔𝟒</m:t>
                    </m:r>
                  </m:oMath>
                </a14:m>
                <a:r>
                  <a:rPr lang="zh-CN" altLang="en-US" sz="2000" b="1">
                    <a:solidFill>
                      <a:schemeClr val="accent6">
                        <a:lumMod val="50000"/>
                      </a:schemeClr>
                    </a:solidFill>
                    <a:latin typeface="+mn-ea"/>
                  </a:rPr>
                  <a:t>最大</a:t>
                </a:r>
                <a:endParaRPr lang="en-US" altLang="zh-CN" sz="2000" b="1">
                  <a:solidFill>
                    <a:schemeClr val="accent6">
                      <a:lumMod val="50000"/>
                    </a:schemeClr>
                  </a:solidFill>
                  <a:latin typeface="+mn-ea"/>
                </a:endParaRPr>
              </a:p>
              <a:p>
                <a:pPr marL="342900" indent="-342900">
                  <a:spcBef>
                    <a:spcPts val="600"/>
                  </a:spcBef>
                  <a:spcAft>
                    <a:spcPts val="3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𝟑𝟐𝟏𝟓𝟒𝟔𝟕𝟖</m:t>
                    </m:r>
                  </m:oMath>
                </a14:m>
                <a:r>
                  <a:rPr lang="zh-CN" altLang="en-US" sz="2000" b="1">
                    <a:solidFill>
                      <a:schemeClr val="accent6">
                        <a:lumMod val="50000"/>
                      </a:schemeClr>
                    </a:solidFill>
                    <a:latin typeface="+mn-ea"/>
                  </a:rPr>
                  <a:t>最小</a:t>
                </a:r>
              </a:p>
            </p:txBody>
          </p:sp>
        </mc:Choice>
        <mc:Fallback xmlns="">
          <p:sp>
            <p:nvSpPr>
              <p:cNvPr id="4" name="文本框 3">
                <a:extLst>
                  <a:ext uri="{FF2B5EF4-FFF2-40B4-BE49-F238E27FC236}">
                    <a16:creationId xmlns:a16="http://schemas.microsoft.com/office/drawing/2014/main" id="{8CCFBE82-575D-4910-93F6-FB68E2A1EE76}"/>
                  </a:ext>
                </a:extLst>
              </p:cNvPr>
              <p:cNvSpPr txBox="1">
                <a:spLocks noRot="1" noChangeAspect="1" noMove="1" noResize="1" noEditPoints="1" noAdjustHandles="1" noChangeArrowheads="1" noChangeShapeType="1" noTextEdit="1"/>
              </p:cNvSpPr>
              <p:nvPr/>
            </p:nvSpPr>
            <p:spPr>
              <a:xfrm>
                <a:off x="5490786" y="1282791"/>
                <a:ext cx="2637945" cy="1246495"/>
              </a:xfrm>
              <a:prstGeom prst="rect">
                <a:avLst/>
              </a:prstGeom>
              <a:blipFill>
                <a:blip r:embed="rId4"/>
                <a:stretch>
                  <a:fillRect l="-2546" t="-3415" r="-231" b="-7805"/>
                </a:stretch>
              </a:blipFill>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17E3AB07-A0C8-400D-AFD8-80CC14272938}"/>
              </a:ext>
            </a:extLst>
          </p:cNvPr>
          <p:cNvSpPr/>
          <p:nvPr/>
        </p:nvSpPr>
        <p:spPr>
          <a:xfrm>
            <a:off x="5199142" y="1848535"/>
            <a:ext cx="274101" cy="1052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78D1DE0F-2A9F-44FD-A55D-5A9D2D3DF360}"/>
              </a:ext>
            </a:extLst>
          </p:cNvPr>
          <p:cNvSpPr/>
          <p:nvPr/>
        </p:nvSpPr>
        <p:spPr>
          <a:xfrm>
            <a:off x="8527821" y="2782238"/>
            <a:ext cx="2874768" cy="3488106"/>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64ED20F-AB45-40E7-AFB6-DBF842C7E3FA}"/>
                  </a:ext>
                </a:extLst>
              </p:cNvPr>
              <p:cNvSpPr txBox="1"/>
              <p:nvPr/>
            </p:nvSpPr>
            <p:spPr>
              <a:xfrm>
                <a:off x="2603955" y="2782238"/>
                <a:ext cx="3392270" cy="400110"/>
              </a:xfrm>
              <a:prstGeom prst="rect">
                <a:avLst/>
              </a:prstGeom>
              <a:noFill/>
            </p:spPr>
            <p:txBody>
              <a:bodyPr wrap="square" rtlCol="0">
                <a:spAutoFit/>
              </a:bodyPr>
              <a:lstStyle/>
              <a:p>
                <a:r>
                  <a:rPr lang="zh-CN" altLang="en-US" sz="2000" b="1">
                    <a:solidFill>
                      <a:schemeClr val="accent2">
                        <a:lumMod val="50000"/>
                      </a:schemeClr>
                    </a:solidFill>
                  </a:rPr>
                  <a:t>确定覆盖</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𝟏</m:t>
                        </m:r>
                      </m:sub>
                    </m:sSub>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𝒂</m:t>
                        </m:r>
                      </m:e>
                      <m:sub>
                        <m:r>
                          <a:rPr lang="en-US" altLang="zh-CN" sz="2000" b="1" i="1">
                            <a:solidFill>
                              <a:schemeClr val="accent2">
                                <a:lumMod val="50000"/>
                              </a:schemeClr>
                            </a:solidFill>
                            <a:latin typeface="Cambria Math" panose="02040503050406030204" pitchFamily="18" charset="0"/>
                          </a:rPr>
                          <m:t>𝟐</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的串</a:t>
                </a:r>
              </a:p>
            </p:txBody>
          </p:sp>
        </mc:Choice>
        <mc:Fallback xmlns="">
          <p:sp>
            <p:nvSpPr>
              <p:cNvPr id="11" name="文本框 10">
                <a:extLst>
                  <a:ext uri="{FF2B5EF4-FFF2-40B4-BE49-F238E27FC236}">
                    <a16:creationId xmlns:a16="http://schemas.microsoft.com/office/drawing/2014/main" id="{D64ED20F-AB45-40E7-AFB6-DBF842C7E3FA}"/>
                  </a:ext>
                </a:extLst>
              </p:cNvPr>
              <p:cNvSpPr txBox="1">
                <a:spLocks noRot="1" noChangeAspect="1" noMove="1" noResize="1" noEditPoints="1" noAdjustHandles="1" noChangeArrowheads="1" noChangeShapeType="1" noTextEdit="1"/>
              </p:cNvSpPr>
              <p:nvPr/>
            </p:nvSpPr>
            <p:spPr>
              <a:xfrm>
                <a:off x="2603955" y="2782238"/>
                <a:ext cx="3392270" cy="400110"/>
              </a:xfrm>
              <a:prstGeom prst="rect">
                <a:avLst/>
              </a:prstGeom>
              <a:blipFill>
                <a:blip r:embed="rId5"/>
                <a:stretch>
                  <a:fillRect l="-1795" t="-7576" r="-898"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B07A200-320C-4708-8EF9-968B09D3D718}"/>
                  </a:ext>
                </a:extLst>
              </p:cNvPr>
              <p:cNvSpPr txBox="1"/>
              <p:nvPr/>
            </p:nvSpPr>
            <p:spPr>
              <a:xfrm>
                <a:off x="896855" y="3307776"/>
                <a:ext cx="6806471" cy="761747"/>
              </a:xfrm>
              <a:prstGeom prst="rect">
                <a:avLst/>
              </a:prstGeom>
              <a:solidFill>
                <a:schemeClr val="accent5">
                  <a:lumMod val="20000"/>
                  <a:lumOff val="80000"/>
                  <a:alpha val="50000"/>
                </a:schemeClr>
              </a:solidFill>
            </p:spPr>
            <p:txBody>
              <a:bodyPr wrap="square" rtlCol="0">
                <a:spAutoFit/>
              </a:bodyPr>
              <a:lstStyle/>
              <a:p>
                <a:pPr>
                  <a:spcBef>
                    <a:spcPts val="600"/>
                  </a:spcBef>
                  <a:spcAft>
                    <a:spcPts val="300"/>
                  </a:spcAft>
                </a:pPr>
                <a:r>
                  <a:rPr lang="zh-CN" altLang="en-US" b="1">
                    <a:solidFill>
                      <a:srgbClr val="002060"/>
                    </a:solidFill>
                  </a:rPr>
                  <a:t>确定</a:t>
                </a:r>
                <a14:m>
                  <m:oMath xmlns:m="http://schemas.openxmlformats.org/officeDocument/2006/math">
                    <m:r>
                      <a:rPr lang="en-US" altLang="zh-CN" b="1" i="1" smtClean="0">
                        <a:solidFill>
                          <a:srgbClr val="002060"/>
                        </a:solidFill>
                        <a:latin typeface="Cambria Math" panose="02040503050406030204" pitchFamily="18" charset="0"/>
                      </a:rPr>
                      <m:t>𝒂</m:t>
                    </m:r>
                  </m:oMath>
                </a14:m>
                <a:r>
                  <a:rPr lang="zh-CN" altLang="en-US" b="1">
                    <a:solidFill>
                      <a:srgbClr val="002060"/>
                    </a:solidFill>
                  </a:rPr>
                  <a:t>是以怎样</a:t>
                </a:r>
                <a:r>
                  <a:rPr lang="zh-CN" altLang="en-US" b="1">
                    <a:solidFill>
                      <a:srgbClr val="C00000"/>
                    </a:solidFill>
                  </a:rPr>
                  <a:t>最短前缀</a:t>
                </a:r>
                <a:r>
                  <a:rPr lang="zh-CN" altLang="en-US" b="1">
                    <a:solidFill>
                      <a:srgbClr val="002060"/>
                    </a:solidFill>
                  </a:rPr>
                  <a:t>开头的所有串中的</a:t>
                </a:r>
                <a:r>
                  <a:rPr lang="zh-CN" altLang="en-US" b="1">
                    <a:solidFill>
                      <a:srgbClr val="C00000"/>
                    </a:solidFill>
                  </a:rPr>
                  <a:t>最大串</a:t>
                </a:r>
              </a:p>
              <a:p>
                <a:pPr marL="285750" indent="-28575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找到最短前缀</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，使得</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后面的数字</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是递减序列</a:t>
                </a:r>
              </a:p>
            </p:txBody>
          </p:sp>
        </mc:Choice>
        <mc:Fallback xmlns="">
          <p:sp>
            <p:nvSpPr>
              <p:cNvPr id="12" name="文本框 11">
                <a:extLst>
                  <a:ext uri="{FF2B5EF4-FFF2-40B4-BE49-F238E27FC236}">
                    <a16:creationId xmlns:a16="http://schemas.microsoft.com/office/drawing/2014/main" id="{DB07A200-320C-4708-8EF9-968B09D3D718}"/>
                  </a:ext>
                </a:extLst>
              </p:cNvPr>
              <p:cNvSpPr txBox="1">
                <a:spLocks noRot="1" noChangeAspect="1" noMove="1" noResize="1" noEditPoints="1" noAdjustHandles="1" noChangeArrowheads="1" noChangeShapeType="1" noTextEdit="1"/>
              </p:cNvSpPr>
              <p:nvPr/>
            </p:nvSpPr>
            <p:spPr>
              <a:xfrm>
                <a:off x="896855" y="3307776"/>
                <a:ext cx="6806471" cy="761747"/>
              </a:xfrm>
              <a:prstGeom prst="rect">
                <a:avLst/>
              </a:prstGeom>
              <a:blipFill>
                <a:blip r:embed="rId6"/>
                <a:stretch>
                  <a:fillRect l="-716" t="-4800" b="-104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9E81DB9-2F97-49F0-9B6C-927EF47FBF5D}"/>
                  </a:ext>
                </a:extLst>
              </p:cNvPr>
              <p:cNvSpPr txBox="1"/>
              <p:nvPr/>
            </p:nvSpPr>
            <p:spPr>
              <a:xfrm>
                <a:off x="896856" y="4291153"/>
                <a:ext cx="7082764" cy="814325"/>
              </a:xfrm>
              <a:prstGeom prst="rect">
                <a:avLst/>
              </a:prstGeom>
              <a:solidFill>
                <a:schemeClr val="accent5">
                  <a:lumMod val="20000"/>
                  <a:lumOff val="80000"/>
                  <a:alpha val="50000"/>
                </a:schemeClr>
              </a:solidFill>
            </p:spPr>
            <p:txBody>
              <a:bodyPr wrap="square" rtlCol="0">
                <a:spAutoFit/>
              </a:bodyPr>
              <a:lstStyle/>
              <a:p>
                <a:pPr>
                  <a:spcBef>
                    <a:spcPts val="600"/>
                  </a:spcBef>
                  <a:spcAft>
                    <a:spcPts val="300"/>
                  </a:spcAft>
                </a:pPr>
                <a:r>
                  <a:rPr lang="zh-CN" altLang="en-US" b="1">
                    <a:solidFill>
                      <a:srgbClr val="002060"/>
                    </a:solidFill>
                  </a:rPr>
                  <a:t>将</a:t>
                </a:r>
                <a14:m>
                  <m:oMath xmlns:m="http://schemas.openxmlformats.org/officeDocument/2006/math">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𝒊</m:t>
                        </m:r>
                      </m:sub>
                    </m:sSub>
                  </m:oMath>
                </a14:m>
                <a:r>
                  <a:rPr lang="zh-CN" altLang="en-US" b="1">
                    <a:solidFill>
                      <a:srgbClr val="002060"/>
                    </a:solidFill>
                  </a:rPr>
                  <a:t>替换成</a:t>
                </a:r>
                <a14:m>
                  <m:oMath xmlns:m="http://schemas.openxmlformats.org/officeDocument/2006/math">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𝒊</m:t>
                        </m:r>
                        <m:r>
                          <a:rPr lang="en-US" altLang="zh-CN" b="1">
                            <a:solidFill>
                              <a:srgbClr val="002060"/>
                            </a:solidFill>
                            <a:latin typeface="Cambria Math" panose="02040503050406030204" pitchFamily="18" charset="0"/>
                          </a:rPr>
                          <m:t>+</m:t>
                        </m:r>
                        <m:r>
                          <a:rPr lang="en-US" altLang="zh-CN" b="1">
                            <a:solidFill>
                              <a:srgbClr val="002060"/>
                            </a:solidFill>
                            <a:latin typeface="Cambria Math" panose="02040503050406030204" pitchFamily="18" charset="0"/>
                          </a:rPr>
                          <m:t>𝟏</m:t>
                        </m:r>
                      </m:sub>
                    </m:sSub>
                    <m:r>
                      <a:rPr lang="en-US" altLang="zh-CN" b="1">
                        <a:solidFill>
                          <a:srgbClr val="002060"/>
                        </a:solidFill>
                        <a:latin typeface="Cambria Math" panose="02040503050406030204" pitchFamily="18" charset="0"/>
                      </a:rPr>
                      <m:t>,⋯, </m:t>
                    </m:r>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𝒏</m:t>
                        </m:r>
                      </m:sub>
                    </m:sSub>
                  </m:oMath>
                </a14:m>
                <a:r>
                  <a:rPr lang="zh-CN" altLang="en-US" b="1">
                    <a:solidFill>
                      <a:srgbClr val="002060"/>
                    </a:solidFill>
                  </a:rPr>
                  <a:t>中</a:t>
                </a:r>
                <a:r>
                  <a:rPr lang="zh-CN" altLang="en-US" b="1">
                    <a:solidFill>
                      <a:srgbClr val="C00000"/>
                    </a:solidFill>
                  </a:rPr>
                  <a:t>恰好大于</a:t>
                </a:r>
                <a14:m>
                  <m:oMath xmlns:m="http://schemas.openxmlformats.org/officeDocument/2006/math">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𝒊</m:t>
                        </m:r>
                      </m:sub>
                    </m:sSub>
                  </m:oMath>
                </a14:m>
                <a:r>
                  <a:rPr lang="zh-CN" altLang="en-US" b="1">
                    <a:solidFill>
                      <a:srgbClr val="002060"/>
                    </a:solidFill>
                  </a:rPr>
                  <a:t>的数字</a:t>
                </a:r>
                <a14:m>
                  <m:oMath xmlns:m="http://schemas.openxmlformats.org/officeDocument/2006/math">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𝒋</m:t>
                        </m:r>
                      </m:sub>
                    </m:sSub>
                  </m:oMath>
                </a14:m>
                <a:r>
                  <a:rPr lang="zh-CN" altLang="en-US" b="1">
                    <a:solidFill>
                      <a:srgbClr val="002060"/>
                    </a:solidFill>
                  </a:rPr>
                  <a:t>，得到前缀</a:t>
                </a:r>
                <a14:m>
                  <m:oMath xmlns:m="http://schemas.openxmlformats.org/officeDocument/2006/math">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𝟏</m:t>
                        </m:r>
                      </m:sub>
                    </m:sSub>
                    <m:r>
                      <a:rPr lang="en-US" altLang="zh-CN" b="1">
                        <a:solidFill>
                          <a:srgbClr val="002060"/>
                        </a:solidFill>
                        <a:latin typeface="Cambria Math" panose="02040503050406030204" pitchFamily="18" charset="0"/>
                      </a:rPr>
                      <m:t>⋯</m:t>
                    </m:r>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𝒊</m:t>
                        </m:r>
                        <m:r>
                          <a:rPr lang="en-US" altLang="zh-CN" b="1">
                            <a:solidFill>
                              <a:srgbClr val="002060"/>
                            </a:solidFill>
                            <a:latin typeface="Cambria Math" panose="02040503050406030204" pitchFamily="18" charset="0"/>
                          </a:rPr>
                          <m:t>−</m:t>
                        </m:r>
                        <m:r>
                          <a:rPr lang="en-US" altLang="zh-CN" b="1">
                            <a:solidFill>
                              <a:srgbClr val="002060"/>
                            </a:solidFill>
                            <a:latin typeface="Cambria Math" panose="02040503050406030204" pitchFamily="18" charset="0"/>
                          </a:rPr>
                          <m:t>𝟏</m:t>
                        </m:r>
                      </m:sub>
                    </m:sSub>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𝒋</m:t>
                        </m:r>
                      </m:sub>
                    </m:sSub>
                  </m:oMath>
                </a14:m>
                <a:endParaRPr lang="en-US" altLang="zh-CN" b="1">
                  <a:solidFill>
                    <a:srgbClr val="002060"/>
                  </a:solidFill>
                </a:endParaRPr>
              </a:p>
              <a:p>
                <a:pPr marL="285750" indent="-28575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即</a:t>
                </a:r>
                <a14:m>
                  <m:oMath xmlns:m="http://schemas.openxmlformats.org/officeDocument/2006/math">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𝒂</m:t>
                        </m:r>
                      </m:e>
                      <m:sub>
                        <m:r>
                          <a:rPr lang="en-US" altLang="zh-CN" b="1">
                            <a:solidFill>
                              <a:schemeClr val="accent2">
                                <a:lumMod val="50000"/>
                              </a:schemeClr>
                            </a:solidFill>
                            <a:latin typeface="Cambria Math" panose="02040503050406030204" pitchFamily="18" charset="0"/>
                            <a:ea typeface="楷体" panose="02010609060101010101" pitchFamily="49" charset="-122"/>
                          </a:rPr>
                          <m:t>𝒋</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𝒂</m:t>
                        </m:r>
                      </m:e>
                      <m:sub>
                        <m:r>
                          <a:rPr lang="en-US" altLang="zh-CN" b="1">
                            <a:solidFill>
                              <a:schemeClr val="accent2">
                                <a:lumMod val="50000"/>
                              </a:schemeClr>
                            </a:solidFill>
                            <a:latin typeface="Cambria Math" panose="02040503050406030204" pitchFamily="18" charset="0"/>
                            <a:ea typeface="楷体" panose="02010609060101010101" pitchFamily="49" charset="-122"/>
                          </a:rPr>
                          <m:t>𝒊</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𝟏</m:t>
                        </m:r>
                      </m:sub>
                    </m:sSub>
                    <m:r>
                      <a:rPr lang="en-US" altLang="zh-CN" b="1">
                        <a:solidFill>
                          <a:schemeClr val="accent2">
                            <a:lumMod val="50000"/>
                          </a:schemeClr>
                        </a:solidFill>
                        <a:latin typeface="Cambria Math" panose="02040503050406030204" pitchFamily="18" charset="0"/>
                        <a:ea typeface="楷体" panose="02010609060101010101" pitchFamily="49" charset="-122"/>
                      </a:rPr>
                      <m:t>, ⋯</m:t>
                    </m:r>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𝒂</m:t>
                        </m:r>
                      </m:e>
                      <m:sub>
                        <m:r>
                          <a:rPr lang="en-US" altLang="zh-CN" b="1">
                            <a:solidFill>
                              <a:schemeClr val="accent2">
                                <a:lumMod val="50000"/>
                              </a:schemeClr>
                            </a:solidFill>
                            <a:latin typeface="Cambria Math" panose="02040503050406030204" pitchFamily="18" charset="0"/>
                            <a:ea typeface="楷体" panose="02010609060101010101" pitchFamily="49" charset="-122"/>
                          </a:rPr>
                          <m:t>𝒏</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中大于</a:t>
                </a:r>
                <a14:m>
                  <m:oMath xmlns:m="http://schemas.openxmlformats.org/officeDocument/2006/math">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𝒂</m:t>
                        </m:r>
                      </m:e>
                      <m:sub>
                        <m:r>
                          <a:rPr lang="en-US" altLang="zh-CN" b="1">
                            <a:solidFill>
                              <a:schemeClr val="accent2">
                                <a:lumMod val="50000"/>
                              </a:schemeClr>
                            </a:solidFill>
                            <a:latin typeface="Cambria Math" panose="02040503050406030204" pitchFamily="18" charset="0"/>
                            <a:ea typeface="楷体" panose="02010609060101010101" pitchFamily="49" charset="-122"/>
                          </a:rPr>
                          <m:t>𝒊</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的最小数字</a:t>
                </a:r>
              </a:p>
            </p:txBody>
          </p:sp>
        </mc:Choice>
        <mc:Fallback xmlns="">
          <p:sp>
            <p:nvSpPr>
              <p:cNvPr id="13" name="文本框 12">
                <a:extLst>
                  <a:ext uri="{FF2B5EF4-FFF2-40B4-BE49-F238E27FC236}">
                    <a16:creationId xmlns:a16="http://schemas.microsoft.com/office/drawing/2014/main" id="{F9E81DB9-2F97-49F0-9B6C-927EF47FBF5D}"/>
                  </a:ext>
                </a:extLst>
              </p:cNvPr>
              <p:cNvSpPr txBox="1">
                <a:spLocks noRot="1" noChangeAspect="1" noMove="1" noResize="1" noEditPoints="1" noAdjustHandles="1" noChangeArrowheads="1" noChangeShapeType="1" noTextEdit="1"/>
              </p:cNvSpPr>
              <p:nvPr/>
            </p:nvSpPr>
            <p:spPr>
              <a:xfrm>
                <a:off x="896856" y="4291153"/>
                <a:ext cx="7082764" cy="814325"/>
              </a:xfrm>
              <a:prstGeom prst="rect">
                <a:avLst/>
              </a:prstGeom>
              <a:blipFill>
                <a:blip r:embed="rId7"/>
                <a:stretch>
                  <a:fillRect l="-688" t="-3731" b="-52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AA21709-9A7D-4366-815B-1DD029A994FA}"/>
                  </a:ext>
                </a:extLst>
              </p:cNvPr>
              <p:cNvSpPr txBox="1"/>
              <p:nvPr/>
            </p:nvSpPr>
            <p:spPr>
              <a:xfrm>
                <a:off x="896855" y="5327108"/>
                <a:ext cx="6220991" cy="814325"/>
              </a:xfrm>
              <a:prstGeom prst="rect">
                <a:avLst/>
              </a:prstGeom>
              <a:solidFill>
                <a:schemeClr val="accent5">
                  <a:lumMod val="20000"/>
                  <a:lumOff val="80000"/>
                  <a:alpha val="50000"/>
                </a:schemeClr>
              </a:solidFill>
            </p:spPr>
            <p:txBody>
              <a:bodyPr wrap="square" rtlCol="0">
                <a:spAutoFit/>
              </a:bodyPr>
              <a:lstStyle/>
              <a:p>
                <a:pPr>
                  <a:spcBef>
                    <a:spcPts val="600"/>
                  </a:spcBef>
                  <a:spcAft>
                    <a:spcPts val="300"/>
                  </a:spcAft>
                </a:pPr>
                <a:r>
                  <a:rPr lang="zh-CN" altLang="en-US" b="1">
                    <a:solidFill>
                      <a:srgbClr val="002060"/>
                    </a:solidFill>
                  </a:rPr>
                  <a:t>剩下数字</a:t>
                </a:r>
                <a14:m>
                  <m:oMath xmlns:m="http://schemas.openxmlformats.org/officeDocument/2006/math">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𝒊</m:t>
                        </m:r>
                      </m:sub>
                    </m:sSub>
                    <m:r>
                      <a:rPr lang="en-US" altLang="zh-CN" b="1">
                        <a:solidFill>
                          <a:srgbClr val="002060"/>
                        </a:solidFill>
                        <a:latin typeface="Cambria Math" panose="02040503050406030204" pitchFamily="18" charset="0"/>
                      </a:rPr>
                      <m:t>, </m:t>
                    </m:r>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𝒊</m:t>
                        </m:r>
                        <m:r>
                          <a:rPr lang="en-US" altLang="zh-CN" b="1">
                            <a:solidFill>
                              <a:srgbClr val="002060"/>
                            </a:solidFill>
                            <a:latin typeface="Cambria Math" panose="02040503050406030204" pitchFamily="18" charset="0"/>
                          </a:rPr>
                          <m:t>+</m:t>
                        </m:r>
                        <m:r>
                          <a:rPr lang="en-US" altLang="zh-CN" b="1">
                            <a:solidFill>
                              <a:srgbClr val="002060"/>
                            </a:solidFill>
                            <a:latin typeface="Cambria Math" panose="02040503050406030204" pitchFamily="18" charset="0"/>
                          </a:rPr>
                          <m:t>𝟏</m:t>
                        </m:r>
                      </m:sub>
                    </m:sSub>
                    <m:r>
                      <a:rPr lang="en-US" altLang="zh-CN" b="1">
                        <a:solidFill>
                          <a:srgbClr val="002060"/>
                        </a:solidFill>
                        <a:latin typeface="Cambria Math" panose="02040503050406030204" pitchFamily="18" charset="0"/>
                      </a:rPr>
                      <m:t>, ⋯, </m:t>
                    </m:r>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𝒋</m:t>
                        </m:r>
                        <m:r>
                          <a:rPr lang="en-US" altLang="zh-CN" b="1">
                            <a:solidFill>
                              <a:srgbClr val="002060"/>
                            </a:solidFill>
                            <a:latin typeface="Cambria Math" panose="02040503050406030204" pitchFamily="18" charset="0"/>
                          </a:rPr>
                          <m:t>−</m:t>
                        </m:r>
                        <m:r>
                          <a:rPr lang="en-US" altLang="zh-CN" b="1">
                            <a:solidFill>
                              <a:srgbClr val="002060"/>
                            </a:solidFill>
                            <a:latin typeface="Cambria Math" panose="02040503050406030204" pitchFamily="18" charset="0"/>
                          </a:rPr>
                          <m:t>𝟏</m:t>
                        </m:r>
                      </m:sub>
                    </m:sSub>
                    <m:r>
                      <a:rPr lang="en-US" altLang="zh-CN" b="1">
                        <a:solidFill>
                          <a:srgbClr val="002060"/>
                        </a:solidFill>
                        <a:latin typeface="Cambria Math" panose="02040503050406030204" pitchFamily="18" charset="0"/>
                      </a:rPr>
                      <m:t>, </m:t>
                    </m:r>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𝒋</m:t>
                        </m:r>
                        <m:r>
                          <a:rPr lang="en-US" altLang="zh-CN" b="1">
                            <a:solidFill>
                              <a:srgbClr val="002060"/>
                            </a:solidFill>
                            <a:latin typeface="Cambria Math" panose="02040503050406030204" pitchFamily="18" charset="0"/>
                          </a:rPr>
                          <m:t>+</m:t>
                        </m:r>
                        <m:r>
                          <a:rPr lang="en-US" altLang="zh-CN" b="1">
                            <a:solidFill>
                              <a:srgbClr val="002060"/>
                            </a:solidFill>
                            <a:latin typeface="Cambria Math" panose="02040503050406030204" pitchFamily="18" charset="0"/>
                          </a:rPr>
                          <m:t>𝟏</m:t>
                        </m:r>
                      </m:sub>
                    </m:sSub>
                    <m:r>
                      <a:rPr lang="en-US" altLang="zh-CN" b="1">
                        <a:solidFill>
                          <a:srgbClr val="002060"/>
                        </a:solidFill>
                        <a:latin typeface="Cambria Math" panose="02040503050406030204" pitchFamily="18" charset="0"/>
                      </a:rPr>
                      <m:t>, ⋯</m:t>
                    </m:r>
                    <m:sSub>
                      <m:sSubPr>
                        <m:ctrlPr>
                          <a:rPr lang="en-US" altLang="zh-CN" b="1" i="1">
                            <a:solidFill>
                              <a:srgbClr val="002060"/>
                            </a:solidFill>
                            <a:latin typeface="Cambria Math" panose="02040503050406030204" pitchFamily="18" charset="0"/>
                          </a:rPr>
                        </m:ctrlPr>
                      </m:sSubPr>
                      <m:e>
                        <m:r>
                          <a:rPr lang="en-US" altLang="zh-CN" b="1">
                            <a:solidFill>
                              <a:srgbClr val="002060"/>
                            </a:solidFill>
                            <a:latin typeface="Cambria Math" panose="02040503050406030204" pitchFamily="18" charset="0"/>
                          </a:rPr>
                          <m:t>𝒂</m:t>
                        </m:r>
                      </m:e>
                      <m:sub>
                        <m:r>
                          <a:rPr lang="en-US" altLang="zh-CN" b="1">
                            <a:solidFill>
                              <a:srgbClr val="002060"/>
                            </a:solidFill>
                            <a:latin typeface="Cambria Math" panose="02040503050406030204" pitchFamily="18" charset="0"/>
                          </a:rPr>
                          <m:t>𝒏</m:t>
                        </m:r>
                      </m:sub>
                    </m:sSub>
                  </m:oMath>
                </a14:m>
                <a:r>
                  <a:rPr lang="zh-CN" altLang="en-US" b="1">
                    <a:solidFill>
                      <a:srgbClr val="002060"/>
                    </a:solidFill>
                  </a:rPr>
                  <a:t>按</a:t>
                </a:r>
                <a:r>
                  <a:rPr lang="zh-CN" altLang="en-US" b="1">
                    <a:solidFill>
                      <a:srgbClr val="C00000"/>
                    </a:solidFill>
                  </a:rPr>
                  <a:t>递增顺序</a:t>
                </a:r>
                <a:r>
                  <a:rPr lang="zh-CN" altLang="en-US" b="1">
                    <a:solidFill>
                      <a:srgbClr val="002060"/>
                    </a:solidFill>
                  </a:rPr>
                  <a:t>排列</a:t>
                </a:r>
              </a:p>
              <a:p>
                <a:pPr marL="285750" indent="-28575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即得到</a:t>
                </a:r>
                <a14:m>
                  <m:oMath xmlns:m="http://schemas.openxmlformats.org/officeDocument/2006/math">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𝒂</m:t>
                        </m:r>
                      </m:e>
                      <m:sub>
                        <m:r>
                          <a:rPr lang="en-US" altLang="zh-CN" b="1">
                            <a:solidFill>
                              <a:schemeClr val="accent2">
                                <a:lumMod val="50000"/>
                              </a:schemeClr>
                            </a:solidFill>
                            <a:latin typeface="Cambria Math" panose="02040503050406030204" pitchFamily="18" charset="0"/>
                            <a:ea typeface="楷体" panose="02010609060101010101" pitchFamily="49" charset="-122"/>
                          </a:rPr>
                          <m:t>𝟏</m:t>
                        </m:r>
                      </m:sub>
                    </m:sSub>
                    <m:r>
                      <a:rPr lang="en-US" altLang="zh-CN" b="1">
                        <a:solidFill>
                          <a:schemeClr val="accent2">
                            <a:lumMod val="50000"/>
                          </a:schemeClr>
                        </a:solidFill>
                        <a:latin typeface="Cambria Math" panose="02040503050406030204" pitchFamily="18" charset="0"/>
                        <a:ea typeface="楷体" panose="02010609060101010101" pitchFamily="49" charset="-122"/>
                      </a:rPr>
                      <m:t>⋯</m:t>
                    </m:r>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𝒂</m:t>
                        </m:r>
                      </m:e>
                      <m:sub>
                        <m:r>
                          <a:rPr lang="en-US" altLang="zh-CN" b="1">
                            <a:solidFill>
                              <a:schemeClr val="accent2">
                                <a:lumMod val="50000"/>
                              </a:schemeClr>
                            </a:solidFill>
                            <a:latin typeface="Cambria Math" panose="02040503050406030204" pitchFamily="18" charset="0"/>
                            <a:ea typeface="楷体" panose="02010609060101010101" pitchFamily="49" charset="-122"/>
                          </a:rPr>
                          <m:t>𝒊</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𝟏</m:t>
                        </m:r>
                      </m:sub>
                    </m:sSub>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𝒂</m:t>
                        </m:r>
                      </m:e>
                      <m:sub>
                        <m:r>
                          <a:rPr lang="en-US" altLang="zh-CN" b="1">
                            <a:solidFill>
                              <a:schemeClr val="accent2">
                                <a:lumMod val="50000"/>
                              </a:schemeClr>
                            </a:solidFill>
                            <a:latin typeface="Cambria Math" panose="02040503050406030204" pitchFamily="18" charset="0"/>
                            <a:ea typeface="楷体" panose="02010609060101010101" pitchFamily="49" charset="-122"/>
                          </a:rPr>
                          <m:t>𝒋</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开头的最小串，这个串就是</a:t>
                </a:r>
                <a:r>
                  <a:rPr lang="zh-CN" altLang="en-US" b="1">
                    <a:solidFill>
                      <a:srgbClr val="C00000"/>
                    </a:solidFill>
                    <a:latin typeface="+mn-ea"/>
                  </a:rPr>
                  <a:t>覆盖</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𝒂</m:t>
                    </m:r>
                  </m:oMath>
                </a14:m>
                <a:r>
                  <a:rPr lang="zh-CN" altLang="en-US" b="1">
                    <a:solidFill>
                      <a:schemeClr val="accent2">
                        <a:lumMod val="50000"/>
                      </a:schemeClr>
                    </a:solidFill>
                    <a:latin typeface="楷体" panose="02010609060101010101" pitchFamily="49" charset="-122"/>
                    <a:ea typeface="楷体" panose="02010609060101010101" pitchFamily="49" charset="-122"/>
                  </a:rPr>
                  <a:t>的串</a:t>
                </a:r>
              </a:p>
            </p:txBody>
          </p:sp>
        </mc:Choice>
        <mc:Fallback xmlns="">
          <p:sp>
            <p:nvSpPr>
              <p:cNvPr id="14" name="文本框 13">
                <a:extLst>
                  <a:ext uri="{FF2B5EF4-FFF2-40B4-BE49-F238E27FC236}">
                    <a16:creationId xmlns:a16="http://schemas.microsoft.com/office/drawing/2014/main" id="{CAA21709-9A7D-4366-815B-1DD029A994FA}"/>
                  </a:ext>
                </a:extLst>
              </p:cNvPr>
              <p:cNvSpPr txBox="1">
                <a:spLocks noRot="1" noChangeAspect="1" noMove="1" noResize="1" noEditPoints="1" noAdjustHandles="1" noChangeArrowheads="1" noChangeShapeType="1" noTextEdit="1"/>
              </p:cNvSpPr>
              <p:nvPr/>
            </p:nvSpPr>
            <p:spPr>
              <a:xfrm>
                <a:off x="896855" y="5327108"/>
                <a:ext cx="6220991" cy="814325"/>
              </a:xfrm>
              <a:prstGeom prst="rect">
                <a:avLst/>
              </a:prstGeom>
              <a:blipFill>
                <a:blip r:embed="rId8"/>
                <a:stretch>
                  <a:fillRect l="-784" t="-3759" b="-9023"/>
                </a:stretch>
              </a:blipFill>
            </p:spPr>
            <p:txBody>
              <a:bodyPr/>
              <a:lstStyle/>
              <a:p>
                <a:r>
                  <a:rPr lang="zh-CN" altLang="en-US">
                    <a:noFill/>
                  </a:rPr>
                  <a:t> </a:t>
                </a:r>
              </a:p>
            </p:txBody>
          </p:sp>
        </mc:Fallback>
      </mc:AlternateContent>
      <p:sp>
        <p:nvSpPr>
          <p:cNvPr id="15" name="箭头: 下 14">
            <a:extLst>
              <a:ext uri="{FF2B5EF4-FFF2-40B4-BE49-F238E27FC236}">
                <a16:creationId xmlns:a16="http://schemas.microsoft.com/office/drawing/2014/main" id="{22FDAF6D-3A43-4195-9BDB-83D384075646}"/>
              </a:ext>
            </a:extLst>
          </p:cNvPr>
          <p:cNvSpPr/>
          <p:nvPr/>
        </p:nvSpPr>
        <p:spPr>
          <a:xfrm>
            <a:off x="4392545" y="4069523"/>
            <a:ext cx="91386" cy="2216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7F5E7F4C-C1EB-4B97-85F5-43C495DDD2DE}"/>
              </a:ext>
            </a:extLst>
          </p:cNvPr>
          <p:cNvSpPr/>
          <p:nvPr/>
        </p:nvSpPr>
        <p:spPr>
          <a:xfrm>
            <a:off x="4392545" y="5105480"/>
            <a:ext cx="111477" cy="2216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F60D40C-7235-440F-A375-FA2ABCDE5B4F}"/>
                  </a:ext>
                </a:extLst>
              </p:cNvPr>
              <p:cNvSpPr txBox="1"/>
              <p:nvPr/>
            </p:nvSpPr>
            <p:spPr>
              <a:xfrm>
                <a:off x="8741982" y="2802093"/>
                <a:ext cx="2435836" cy="400110"/>
              </a:xfrm>
              <a:prstGeom prst="rect">
                <a:avLst/>
              </a:prstGeom>
              <a:noFill/>
            </p:spPr>
            <p:txBody>
              <a:bodyPr wrap="square" rtlCol="0">
                <a:spAutoFit/>
              </a:bodyPr>
              <a:lstStyle/>
              <a:p>
                <a:r>
                  <a:rPr lang="zh-CN" altLang="en-US" sz="2000" b="1">
                    <a:solidFill>
                      <a:schemeClr val="accent2">
                        <a:lumMod val="50000"/>
                      </a:schemeClr>
                    </a:solidFill>
                  </a:rPr>
                  <a:t>覆盖</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𝟑𝟐𝟏𝟓𝟖𝟕𝟔𝟒</m:t>
                    </m:r>
                  </m:oMath>
                </a14:m>
                <a:r>
                  <a:rPr lang="zh-CN" altLang="en-US" sz="2000" b="1">
                    <a:solidFill>
                      <a:schemeClr val="accent2">
                        <a:lumMod val="50000"/>
                      </a:schemeClr>
                    </a:solidFill>
                  </a:rPr>
                  <a:t>的串</a:t>
                </a:r>
              </a:p>
            </p:txBody>
          </p:sp>
        </mc:Choice>
        <mc:Fallback xmlns="">
          <p:sp>
            <p:nvSpPr>
              <p:cNvPr id="18" name="文本框 17">
                <a:extLst>
                  <a:ext uri="{FF2B5EF4-FFF2-40B4-BE49-F238E27FC236}">
                    <a16:creationId xmlns:a16="http://schemas.microsoft.com/office/drawing/2014/main" id="{4F60D40C-7235-440F-A375-FA2ABCDE5B4F}"/>
                  </a:ext>
                </a:extLst>
              </p:cNvPr>
              <p:cNvSpPr txBox="1">
                <a:spLocks noRot="1" noChangeAspect="1" noMove="1" noResize="1" noEditPoints="1" noAdjustHandles="1" noChangeArrowheads="1" noChangeShapeType="1" noTextEdit="1"/>
              </p:cNvSpPr>
              <p:nvPr/>
            </p:nvSpPr>
            <p:spPr>
              <a:xfrm>
                <a:off x="8741982" y="2802093"/>
                <a:ext cx="2435836" cy="400110"/>
              </a:xfrm>
              <a:prstGeom prst="rect">
                <a:avLst/>
              </a:prstGeom>
              <a:blipFill>
                <a:blip r:embed="rId9"/>
                <a:stretch>
                  <a:fillRect l="-2500" t="-9231" r="-2250"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C35E4352-A927-4216-A5A1-3CB67ACD79AB}"/>
                  </a:ext>
                </a:extLst>
              </p:cNvPr>
              <p:cNvSpPr txBox="1"/>
              <p:nvPr/>
            </p:nvSpPr>
            <p:spPr>
              <a:xfrm>
                <a:off x="9031915" y="3378638"/>
                <a:ext cx="2267151" cy="646331"/>
              </a:xfrm>
              <a:prstGeom prst="rect">
                <a:avLst/>
              </a:prstGeom>
              <a:solidFill>
                <a:schemeClr val="accent6">
                  <a:lumMod val="20000"/>
                  <a:lumOff val="8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它是以</a:t>
                </a:r>
                <a:r>
                  <a:rPr lang="zh-CN" altLang="en-US" b="1">
                    <a:solidFill>
                      <a:srgbClr val="0000FF"/>
                    </a:solidFill>
                    <a:latin typeface="楷体" panose="02010609060101010101" pitchFamily="49" charset="-122"/>
                    <a:ea typeface="楷体" panose="02010609060101010101" pitchFamily="49" charset="-122"/>
                  </a:rPr>
                  <a:t>最短前缀</a:t>
                </a:r>
                <a14:m>
                  <m:oMath xmlns:m="http://schemas.openxmlformats.org/officeDocument/2006/math">
                    <m:r>
                      <a:rPr lang="en-US" altLang="zh-CN" b="1" i="1" smtClean="0">
                        <a:solidFill>
                          <a:srgbClr val="0000FF"/>
                        </a:solidFill>
                        <a:latin typeface="Cambria Math" panose="02040503050406030204" pitchFamily="18" charset="0"/>
                        <a:ea typeface="楷体" panose="02010609060101010101" pitchFamily="49" charset="-122"/>
                      </a:rPr>
                      <m:t>𝟑𝟐𝟏𝟓</m:t>
                    </m:r>
                  </m:oMath>
                </a14:m>
                <a:r>
                  <a:rPr lang="zh-CN" altLang="en-US" b="1">
                    <a:solidFill>
                      <a:srgbClr val="002060"/>
                    </a:solidFill>
                    <a:latin typeface="楷体" panose="02010609060101010101" pitchFamily="49" charset="-122"/>
                    <a:ea typeface="楷体" panose="02010609060101010101" pitchFamily="49" charset="-122"/>
                  </a:rPr>
                  <a:t>开头的最大串</a:t>
                </a:r>
              </a:p>
            </p:txBody>
          </p:sp>
        </mc:Choice>
        <mc:Fallback xmlns="">
          <p:sp>
            <p:nvSpPr>
              <p:cNvPr id="19" name="文本框 18">
                <a:extLst>
                  <a:ext uri="{FF2B5EF4-FFF2-40B4-BE49-F238E27FC236}">
                    <a16:creationId xmlns:a16="http://schemas.microsoft.com/office/drawing/2014/main" id="{C35E4352-A927-4216-A5A1-3CB67ACD79AB}"/>
                  </a:ext>
                </a:extLst>
              </p:cNvPr>
              <p:cNvSpPr txBox="1">
                <a:spLocks noRot="1" noChangeAspect="1" noMove="1" noResize="1" noEditPoints="1" noAdjustHandles="1" noChangeArrowheads="1" noChangeShapeType="1" noTextEdit="1"/>
              </p:cNvSpPr>
              <p:nvPr/>
            </p:nvSpPr>
            <p:spPr>
              <a:xfrm>
                <a:off x="9031915" y="3378638"/>
                <a:ext cx="2267151" cy="646331"/>
              </a:xfrm>
              <a:prstGeom prst="rect">
                <a:avLst/>
              </a:prstGeom>
              <a:blipFill>
                <a:blip r:embed="rId10"/>
                <a:stretch>
                  <a:fillRect l="-2419" t="-4717" b="-12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66398DF-2703-46DF-83BE-D2E80C58A099}"/>
                  </a:ext>
                </a:extLst>
              </p:cNvPr>
              <p:cNvSpPr txBox="1"/>
              <p:nvPr/>
            </p:nvSpPr>
            <p:spPr>
              <a:xfrm>
                <a:off x="9367666" y="4375149"/>
                <a:ext cx="1927476" cy="646331"/>
              </a:xfrm>
              <a:prstGeom prst="rect">
                <a:avLst/>
              </a:prstGeom>
              <a:solidFill>
                <a:schemeClr val="accent6">
                  <a:lumMod val="20000"/>
                  <a:lumOff val="8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将</a:t>
                </a:r>
                <a14:m>
                  <m:oMath xmlns:m="http://schemas.openxmlformats.org/officeDocument/2006/math">
                    <m:r>
                      <a:rPr lang="en-US" altLang="zh-CN" b="1" i="1" smtClean="0">
                        <a:solidFill>
                          <a:srgbClr val="0000FF"/>
                        </a:solidFill>
                        <a:latin typeface="Cambria Math" panose="02040503050406030204" pitchFamily="18" charset="0"/>
                        <a:ea typeface="楷体" panose="02010609060101010101" pitchFamily="49" charset="-122"/>
                      </a:rPr>
                      <m:t>𝟓</m:t>
                    </m:r>
                  </m:oMath>
                </a14:m>
                <a:r>
                  <a:rPr lang="zh-CN" altLang="en-US" b="1">
                    <a:solidFill>
                      <a:srgbClr val="002060"/>
                    </a:solidFill>
                    <a:latin typeface="楷体" panose="02010609060101010101" pitchFamily="49" charset="-122"/>
                    <a:ea typeface="楷体" panose="02010609060101010101" pitchFamily="49" charset="-122"/>
                  </a:rPr>
                  <a:t>替换为</a:t>
                </a:r>
                <a14:m>
                  <m:oMath xmlns:m="http://schemas.openxmlformats.org/officeDocument/2006/math">
                    <m:r>
                      <a:rPr lang="en-US" altLang="zh-CN" b="1" i="1" smtClean="0">
                        <a:solidFill>
                          <a:srgbClr val="0000FF"/>
                        </a:solidFill>
                        <a:latin typeface="Cambria Math" panose="02040503050406030204" pitchFamily="18" charset="0"/>
                        <a:ea typeface="楷体" panose="02010609060101010101" pitchFamily="49" charset="-122"/>
                      </a:rPr>
                      <m:t>𝟔</m:t>
                    </m:r>
                  </m:oMath>
                </a14:m>
                <a:r>
                  <a:rPr lang="zh-CN" altLang="en-US" b="1">
                    <a:solidFill>
                      <a:srgbClr val="002060"/>
                    </a:solidFill>
                    <a:latin typeface="楷体" panose="02010609060101010101" pitchFamily="49" charset="-122"/>
                    <a:ea typeface="楷体" panose="02010609060101010101" pitchFamily="49" charset="-122"/>
                  </a:rPr>
                  <a:t>得到</a:t>
                </a:r>
                <a:r>
                  <a:rPr lang="zh-CN" altLang="en-US" b="1">
                    <a:solidFill>
                      <a:srgbClr val="0000FF"/>
                    </a:solidFill>
                    <a:latin typeface="楷体" panose="02010609060101010101" pitchFamily="49" charset="-122"/>
                    <a:ea typeface="楷体" panose="02010609060101010101" pitchFamily="49" charset="-122"/>
                  </a:rPr>
                  <a:t>前缀</a:t>
                </a:r>
                <a14:m>
                  <m:oMath xmlns:m="http://schemas.openxmlformats.org/officeDocument/2006/math">
                    <m:r>
                      <a:rPr lang="en-US" altLang="zh-CN" b="1" i="1" smtClean="0">
                        <a:solidFill>
                          <a:srgbClr val="0000FF"/>
                        </a:solidFill>
                        <a:latin typeface="Cambria Math" panose="02040503050406030204" pitchFamily="18" charset="0"/>
                        <a:ea typeface="楷体" panose="02010609060101010101" pitchFamily="49" charset="-122"/>
                      </a:rPr>
                      <m:t>𝟑𝟐𝟏𝟔</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xmlns="">
          <p:sp>
            <p:nvSpPr>
              <p:cNvPr id="20" name="文本框 19">
                <a:extLst>
                  <a:ext uri="{FF2B5EF4-FFF2-40B4-BE49-F238E27FC236}">
                    <a16:creationId xmlns:a16="http://schemas.microsoft.com/office/drawing/2014/main" id="{466398DF-2703-46DF-83BE-D2E80C58A099}"/>
                  </a:ext>
                </a:extLst>
              </p:cNvPr>
              <p:cNvSpPr txBox="1">
                <a:spLocks noRot="1" noChangeAspect="1" noMove="1" noResize="1" noEditPoints="1" noAdjustHandles="1" noChangeArrowheads="1" noChangeShapeType="1" noTextEdit="1"/>
              </p:cNvSpPr>
              <p:nvPr/>
            </p:nvSpPr>
            <p:spPr>
              <a:xfrm>
                <a:off x="9367666" y="4375149"/>
                <a:ext cx="1927476" cy="646331"/>
              </a:xfrm>
              <a:prstGeom prst="rect">
                <a:avLst/>
              </a:prstGeom>
              <a:blipFill>
                <a:blip r:embed="rId11"/>
                <a:stretch>
                  <a:fillRect l="-2848" t="-7547" b="-12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65B9D39C-3039-44B3-8470-6B06F56F0408}"/>
                  </a:ext>
                </a:extLst>
              </p:cNvPr>
              <p:cNvSpPr txBox="1"/>
              <p:nvPr/>
            </p:nvSpPr>
            <p:spPr>
              <a:xfrm>
                <a:off x="8624659" y="5272605"/>
                <a:ext cx="2670483" cy="923330"/>
              </a:xfrm>
              <a:prstGeom prst="rect">
                <a:avLst/>
              </a:prstGeom>
              <a:solidFill>
                <a:schemeClr val="accent6">
                  <a:lumMod val="20000"/>
                  <a:lumOff val="8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剩下数字</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𝟓</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𝟖</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𝟕</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𝟒</m:t>
                    </m:r>
                  </m:oMath>
                </a14:m>
                <a:r>
                  <a:rPr lang="zh-CN" altLang="en-US" b="1">
                    <a:solidFill>
                      <a:srgbClr val="002060"/>
                    </a:solidFill>
                    <a:latin typeface="楷体" panose="02010609060101010101" pitchFamily="49" charset="-122"/>
                    <a:ea typeface="楷体" panose="02010609060101010101" pitchFamily="49" charset="-122"/>
                  </a:rPr>
                  <a:t>按</a:t>
                </a:r>
                <a:r>
                  <a:rPr lang="zh-CN" altLang="en-US" b="1">
                    <a:solidFill>
                      <a:srgbClr val="0000FF"/>
                    </a:solidFill>
                    <a:latin typeface="楷体" panose="02010609060101010101" pitchFamily="49" charset="-122"/>
                    <a:ea typeface="楷体" panose="02010609060101010101" pitchFamily="49" charset="-122"/>
                  </a:rPr>
                  <a:t>递增顺序</a:t>
                </a:r>
                <a:r>
                  <a:rPr lang="zh-CN" altLang="en-US" b="1">
                    <a:solidFill>
                      <a:srgbClr val="002060"/>
                    </a:solidFill>
                    <a:latin typeface="楷体" panose="02010609060101010101" pitchFamily="49" charset="-122"/>
                    <a:ea typeface="楷体" panose="02010609060101010101" pitchFamily="49" charset="-122"/>
                  </a:rPr>
                  <a:t>排列得到</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𝟑𝟐𝟏𝟔𝟒𝟓𝟖𝟕</m:t>
                    </m:r>
                  </m:oMath>
                </a14:m>
                <a:r>
                  <a:rPr lang="zh-CN" altLang="en-US" b="1">
                    <a:solidFill>
                      <a:srgbClr val="002060"/>
                    </a:solidFill>
                    <a:latin typeface="楷体" panose="02010609060101010101" pitchFamily="49" charset="-122"/>
                    <a:ea typeface="楷体" panose="02010609060101010101" pitchFamily="49" charset="-122"/>
                  </a:rPr>
                  <a:t>是覆盖</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𝟑𝟐𝟏𝟓𝟖𝟕𝟔𝟒</m:t>
                    </m:r>
                  </m:oMath>
                </a14:m>
                <a:r>
                  <a:rPr lang="zh-CN" altLang="en-US" b="1">
                    <a:solidFill>
                      <a:srgbClr val="002060"/>
                    </a:solidFill>
                    <a:latin typeface="楷体" panose="02010609060101010101" pitchFamily="49" charset="-122"/>
                    <a:ea typeface="楷体" panose="02010609060101010101" pitchFamily="49" charset="-122"/>
                  </a:rPr>
                  <a:t>的串</a:t>
                </a:r>
              </a:p>
            </p:txBody>
          </p:sp>
        </mc:Choice>
        <mc:Fallback xmlns="">
          <p:sp>
            <p:nvSpPr>
              <p:cNvPr id="21" name="文本框 20">
                <a:extLst>
                  <a:ext uri="{FF2B5EF4-FFF2-40B4-BE49-F238E27FC236}">
                    <a16:creationId xmlns:a16="http://schemas.microsoft.com/office/drawing/2014/main" id="{65B9D39C-3039-44B3-8470-6B06F56F0408}"/>
                  </a:ext>
                </a:extLst>
              </p:cNvPr>
              <p:cNvSpPr txBox="1">
                <a:spLocks noRot="1" noChangeAspect="1" noMove="1" noResize="1" noEditPoints="1" noAdjustHandles="1" noChangeArrowheads="1" noChangeShapeType="1" noTextEdit="1"/>
              </p:cNvSpPr>
              <p:nvPr/>
            </p:nvSpPr>
            <p:spPr>
              <a:xfrm>
                <a:off x="8624659" y="5272605"/>
                <a:ext cx="2670483" cy="923330"/>
              </a:xfrm>
              <a:prstGeom prst="rect">
                <a:avLst/>
              </a:prstGeom>
              <a:blipFill>
                <a:blip r:embed="rId12"/>
                <a:stretch>
                  <a:fillRect l="-2055" t="-5298" b="-8609"/>
                </a:stretch>
              </a:blipFill>
            </p:spPr>
            <p:txBody>
              <a:bodyPr/>
              <a:lstStyle/>
              <a:p>
                <a:r>
                  <a:rPr lang="zh-CN" altLang="en-US">
                    <a:noFill/>
                  </a:rPr>
                  <a:t> </a:t>
                </a:r>
              </a:p>
            </p:txBody>
          </p:sp>
        </mc:Fallback>
      </mc:AlternateContent>
      <p:sp>
        <p:nvSpPr>
          <p:cNvPr id="22" name="箭头: 右 21">
            <a:extLst>
              <a:ext uri="{FF2B5EF4-FFF2-40B4-BE49-F238E27FC236}">
                <a16:creationId xmlns:a16="http://schemas.microsoft.com/office/drawing/2014/main" id="{A4BB5B91-650B-431C-8C13-EC8565CF3D11}"/>
              </a:ext>
            </a:extLst>
          </p:cNvPr>
          <p:cNvSpPr/>
          <p:nvPr/>
        </p:nvSpPr>
        <p:spPr>
          <a:xfrm>
            <a:off x="7703325" y="3653935"/>
            <a:ext cx="1328589" cy="478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C05D48E2-8488-4983-B4E0-5FD177ADD683}"/>
              </a:ext>
            </a:extLst>
          </p:cNvPr>
          <p:cNvSpPr/>
          <p:nvPr/>
        </p:nvSpPr>
        <p:spPr>
          <a:xfrm>
            <a:off x="7979620" y="4672028"/>
            <a:ext cx="138804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52DE12D-5A3D-448B-BC06-F0AEE2C0452C}"/>
              </a:ext>
            </a:extLst>
          </p:cNvPr>
          <p:cNvSpPr/>
          <p:nvPr/>
        </p:nvSpPr>
        <p:spPr>
          <a:xfrm>
            <a:off x="7117846" y="5724337"/>
            <a:ext cx="150681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a:extLst>
              <a:ext uri="{FF2B5EF4-FFF2-40B4-BE49-F238E27FC236}">
                <a16:creationId xmlns:a16="http://schemas.microsoft.com/office/drawing/2014/main" id="{3A6B26A2-2034-411F-80EB-8A570D2BD51D}"/>
              </a:ext>
            </a:extLst>
          </p:cNvPr>
          <p:cNvSpPr/>
          <p:nvPr/>
        </p:nvSpPr>
        <p:spPr>
          <a:xfrm>
            <a:off x="10262330" y="4024969"/>
            <a:ext cx="91386" cy="3501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下 25">
            <a:extLst>
              <a:ext uri="{FF2B5EF4-FFF2-40B4-BE49-F238E27FC236}">
                <a16:creationId xmlns:a16="http://schemas.microsoft.com/office/drawing/2014/main" id="{C46C6FC0-B5C2-48DB-B011-83084927382C}"/>
              </a:ext>
            </a:extLst>
          </p:cNvPr>
          <p:cNvSpPr/>
          <p:nvPr/>
        </p:nvSpPr>
        <p:spPr>
          <a:xfrm>
            <a:off x="10275665" y="5006685"/>
            <a:ext cx="91387" cy="2697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3D36D78A-8606-4D28-8402-FB1D1418D035}"/>
              </a:ext>
            </a:extLst>
          </p:cNvPr>
          <p:cNvSpPr/>
          <p:nvPr/>
        </p:nvSpPr>
        <p:spPr>
          <a:xfrm>
            <a:off x="789409" y="2802093"/>
            <a:ext cx="7297156" cy="3468251"/>
          </a:xfrm>
          <a:prstGeom prst="roundRect">
            <a:avLst>
              <a:gd name="adj" fmla="val 566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984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1" grpId="0"/>
      <p:bldP spid="12" grpId="0" animBg="1"/>
      <p:bldP spid="13" grpId="0" animBg="1"/>
      <p:bldP spid="14" grpId="0" animBg="1"/>
      <p:bldP spid="15" grpId="0" animBg="1"/>
      <p:bldP spid="16" grpId="0" animBg="1"/>
      <p:bldP spid="18" grpId="0"/>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全排列覆盖的举例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2DAEA51-A142-456E-A2EC-FA139EDE13D3}"/>
                  </a:ext>
                </a:extLst>
              </p:cNvPr>
              <p:cNvSpPr txBox="1"/>
              <p:nvPr/>
            </p:nvSpPr>
            <p:spPr>
              <a:xfrm>
                <a:off x="673548" y="1130765"/>
                <a:ext cx="7663855" cy="383951"/>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下面说的串都是指集合</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r>
                      <a:rPr lang="en-US" altLang="zh-CN" b="1" i="1" smtClean="0">
                        <a:solidFill>
                          <a:schemeClr val="accent2">
                            <a:lumMod val="50000"/>
                          </a:schemeClr>
                        </a:solidFill>
                        <a:latin typeface="Cambria Math" panose="02040503050406030204" pitchFamily="18" charset="0"/>
                      </a:rPr>
                      <m:t>=</m:t>
                    </m:r>
                    <m:r>
                      <m:rPr>
                        <m:lit/>
                      </m:rP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 ⋯, </m:t>
                    </m:r>
                    <m:r>
                      <a:rPr lang="en-US" altLang="zh-CN" b="1" i="1">
                        <a:solidFill>
                          <a:schemeClr val="accent2">
                            <a:lumMod val="50000"/>
                          </a:schemeClr>
                        </a:solidFill>
                        <a:latin typeface="Cambria Math" panose="02040503050406030204" pitchFamily="18" charset="0"/>
                      </a:rPr>
                      <m:t>𝒏</m:t>
                    </m:r>
                    <m:r>
                      <m:rPr>
                        <m:lit/>
                      </m:rP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的一个全排列，且例子中都令</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oMath>
                </a14:m>
                <a:endParaRPr lang="zh-CN" altLang="en-US" b="1">
                  <a:solidFill>
                    <a:schemeClr val="accent2">
                      <a:lumMod val="50000"/>
                    </a:schemeClr>
                  </a:solidFill>
                </a:endParaRPr>
              </a:p>
            </p:txBody>
          </p:sp>
        </mc:Choice>
        <mc:Fallback xmlns="">
          <p:sp>
            <p:nvSpPr>
              <p:cNvPr id="11" name="文本框 10">
                <a:extLst>
                  <a:ext uri="{FF2B5EF4-FFF2-40B4-BE49-F238E27FC236}">
                    <a16:creationId xmlns:a16="http://schemas.microsoft.com/office/drawing/2014/main" id="{22DAEA51-A142-456E-A2EC-FA139EDE13D3}"/>
                  </a:ext>
                </a:extLst>
              </p:cNvPr>
              <p:cNvSpPr txBox="1">
                <a:spLocks noRot="1" noChangeAspect="1" noMove="1" noResize="1" noEditPoints="1" noAdjustHandles="1" noChangeArrowheads="1" noChangeShapeType="1" noTextEdit="1"/>
              </p:cNvSpPr>
              <p:nvPr/>
            </p:nvSpPr>
            <p:spPr>
              <a:xfrm>
                <a:off x="673548" y="1130765"/>
                <a:ext cx="7663855" cy="383951"/>
              </a:xfrm>
              <a:prstGeom prst="rect">
                <a:avLst/>
              </a:prstGeom>
              <a:blipFill>
                <a:blip r:embed="rId2"/>
                <a:stretch>
                  <a:fillRect l="-636" t="-3175" b="-25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C2DBCD8-C597-495E-9D77-45FDE6E79C1E}"/>
                  </a:ext>
                </a:extLst>
              </p:cNvPr>
              <p:cNvSpPr txBox="1"/>
              <p:nvPr/>
            </p:nvSpPr>
            <p:spPr>
              <a:xfrm>
                <a:off x="673548" y="1740586"/>
                <a:ext cx="7465436" cy="1323439"/>
              </a:xfrm>
              <a:prstGeom prst="rect">
                <a:avLst/>
              </a:prstGeom>
              <a:solidFill>
                <a:schemeClr val="accent2">
                  <a:lumMod val="20000"/>
                  <a:lumOff val="80000"/>
                  <a:alpha val="50000"/>
                </a:schemeClr>
              </a:solidFill>
            </p:spPr>
            <p:txBody>
              <a:bodyPr wrap="square" rtlCol="0">
                <a:spAutoFit/>
              </a:bodyPr>
              <a:lstStyle/>
              <a:p>
                <a:pPr>
                  <a:lnSpc>
                    <a:spcPts val="3000"/>
                  </a:lnSpc>
                  <a:spcBef>
                    <a:spcPts val="600"/>
                  </a:spcBef>
                  <a:spcAft>
                    <a:spcPts val="600"/>
                  </a:spcAft>
                </a:pPr>
                <a:r>
                  <a:rPr lang="zh-CN" altLang="en-US" sz="2000" b="1">
                    <a:solidFill>
                      <a:schemeClr val="accent2">
                        <a:lumMod val="50000"/>
                      </a:schemeClr>
                    </a:solidFill>
                  </a:rPr>
                  <a:t>若串</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𝟏</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𝟐</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𝒋</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是以</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sub>
                    </m:sSub>
                  </m:oMath>
                </a14:m>
                <a:r>
                  <a:rPr lang="zh-CN" altLang="en-US" sz="2000" b="1">
                    <a:solidFill>
                      <a:schemeClr val="accent2">
                        <a:lumMod val="50000"/>
                      </a:schemeClr>
                    </a:solidFill>
                  </a:rPr>
                  <a:t>为最短前缀的最大串，</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𝒋</m:t>
                        </m:r>
                      </m:sub>
                    </m:sSub>
                  </m:oMath>
                </a14:m>
                <a:r>
                  <a:rPr lang="zh-CN" altLang="en-US" sz="2000" b="1">
                    <a:solidFill>
                      <a:schemeClr val="accent2">
                        <a:lumMod val="50000"/>
                      </a:schemeClr>
                    </a:solidFill>
                  </a:rPr>
                  <a:t>是</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中恰好大于</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sub>
                    </m:sSub>
                  </m:oMath>
                </a14:m>
                <a:r>
                  <a:rPr lang="zh-CN" altLang="en-US" sz="2000" b="1">
                    <a:solidFill>
                      <a:schemeClr val="accent2">
                        <a:lumMod val="50000"/>
                      </a:schemeClr>
                    </a:solidFill>
                  </a:rPr>
                  <a:t>的数字，则覆盖</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oMath>
                </a14:m>
                <a:r>
                  <a:rPr lang="zh-CN" altLang="en-US" sz="2000" b="1">
                    <a:solidFill>
                      <a:schemeClr val="accent2">
                        <a:lumMod val="50000"/>
                      </a:schemeClr>
                    </a:solidFill>
                  </a:rPr>
                  <a:t>的串是</a:t>
                </a:r>
                <a:endParaRPr lang="en-US" altLang="zh-CN" sz="2000" b="1">
                  <a:solidFill>
                    <a:schemeClr val="accent2">
                      <a:lumMod val="50000"/>
                    </a:schemeClr>
                  </a:solidFill>
                </a:endParaRPr>
              </a:p>
              <a:p>
                <a:pPr>
                  <a:lnSpc>
                    <a:spcPts val="24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𝒊</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𝒋</m:t>
                          </m:r>
                        </m:sub>
                      </m:sSub>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𝒋</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𝒊</m:t>
                          </m:r>
                        </m:sub>
                      </m:sSub>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𝒋</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𝒊</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oMath>
                  </m:oMathPara>
                </a14:m>
                <a:endParaRPr lang="zh-CN" altLang="en-US" sz="2000" b="1"/>
              </a:p>
            </p:txBody>
          </p:sp>
        </mc:Choice>
        <mc:Fallback xmlns="">
          <p:sp>
            <p:nvSpPr>
              <p:cNvPr id="2" name="文本框 1">
                <a:extLst>
                  <a:ext uri="{FF2B5EF4-FFF2-40B4-BE49-F238E27FC236}">
                    <a16:creationId xmlns:a16="http://schemas.microsoft.com/office/drawing/2014/main" id="{3C2DBCD8-C597-495E-9D77-45FDE6E79C1E}"/>
                  </a:ext>
                </a:extLst>
              </p:cNvPr>
              <p:cNvSpPr txBox="1">
                <a:spLocks noRot="1" noChangeAspect="1" noMove="1" noResize="1" noEditPoints="1" noAdjustHandles="1" noChangeArrowheads="1" noChangeShapeType="1" noTextEdit="1"/>
              </p:cNvSpPr>
              <p:nvPr/>
            </p:nvSpPr>
            <p:spPr>
              <a:xfrm>
                <a:off x="673548" y="1740586"/>
                <a:ext cx="7465436" cy="1323439"/>
              </a:xfrm>
              <a:prstGeom prst="rect">
                <a:avLst/>
              </a:prstGeom>
              <a:blipFill>
                <a:blip r:embed="rId3"/>
                <a:stretch>
                  <a:fillRect l="-816" r="-8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F3635C0-1B7D-45D3-911E-C5E2395F5059}"/>
                  </a:ext>
                </a:extLst>
              </p:cNvPr>
              <p:cNvSpPr txBox="1"/>
              <p:nvPr/>
            </p:nvSpPr>
            <p:spPr>
              <a:xfrm>
                <a:off x="8203286" y="1975906"/>
                <a:ext cx="3697069" cy="852798"/>
              </a:xfrm>
              <a:prstGeom prst="rect">
                <a:avLst/>
              </a:prstGeom>
              <a:solidFill>
                <a:schemeClr val="accent4">
                  <a:lumMod val="20000"/>
                  <a:lumOff val="80000"/>
                </a:schemeClr>
              </a:solidFill>
            </p:spPr>
            <p:txBody>
              <a:bodyPr wrap="square" rtlCol="0">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&gt;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&gt;⋯&gt;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𝒋</m:t>
                          </m:r>
                        </m:sub>
                      </m:sSub>
                      <m:r>
                        <a:rPr lang="en-US" altLang="zh-CN" b="1" i="1" smtClean="0">
                          <a:solidFill>
                            <a:schemeClr val="accent2">
                              <a:lumMod val="50000"/>
                            </a:schemeClr>
                          </a:solidFill>
                          <a:latin typeface="Cambria Math" panose="02040503050406030204" pitchFamily="18" charset="0"/>
                        </a:rPr>
                        <m:t>&gt; ⋯&gt;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𝒏</m:t>
                          </m:r>
                        </m:sub>
                      </m:sSub>
                    </m:oMath>
                  </m:oMathPara>
                </a14:m>
                <a:endParaRPr lang="en-US" altLang="zh-CN" b="1">
                  <a:solidFill>
                    <a:schemeClr val="accent2">
                      <a:lumMod val="50000"/>
                    </a:schemeClr>
                  </a:solidFill>
                </a:endParaRPr>
              </a:p>
              <a:p>
                <a:pPr>
                  <a:spcBef>
                    <a:spcPts val="600"/>
                  </a:spcBef>
                  <a:spcAft>
                    <a:spcPts val="600"/>
                  </a:spcAft>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𝒋</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𝒋</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oMath>
                </a14:m>
                <a:r>
                  <a:rPr lang="zh-CN" altLang="en-US" b="1">
                    <a:solidFill>
                      <a:schemeClr val="accent2">
                        <a:lumMod val="50000"/>
                      </a:schemeClr>
                    </a:solidFill>
                  </a:rPr>
                  <a:t>递增排列</a:t>
                </a:r>
              </a:p>
            </p:txBody>
          </p:sp>
        </mc:Choice>
        <mc:Fallback xmlns="">
          <p:sp>
            <p:nvSpPr>
              <p:cNvPr id="3" name="文本框 2">
                <a:extLst>
                  <a:ext uri="{FF2B5EF4-FFF2-40B4-BE49-F238E27FC236}">
                    <a16:creationId xmlns:a16="http://schemas.microsoft.com/office/drawing/2014/main" id="{CF3635C0-1B7D-45D3-911E-C5E2395F5059}"/>
                  </a:ext>
                </a:extLst>
              </p:cNvPr>
              <p:cNvSpPr txBox="1">
                <a:spLocks noRot="1" noChangeAspect="1" noMove="1" noResize="1" noEditPoints="1" noAdjustHandles="1" noChangeArrowheads="1" noChangeShapeType="1" noTextEdit="1"/>
              </p:cNvSpPr>
              <p:nvPr/>
            </p:nvSpPr>
            <p:spPr>
              <a:xfrm>
                <a:off x="8203286" y="1975906"/>
                <a:ext cx="3697069" cy="852798"/>
              </a:xfrm>
              <a:prstGeom prst="rect">
                <a:avLst/>
              </a:prstGeom>
              <a:blipFill>
                <a:blip r:embed="rId4"/>
                <a:stretch>
                  <a:fillRect r="-495" b="-7857"/>
                </a:stretch>
              </a:blipFill>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C21CAFC6-95D0-4018-993C-4C0274D1449D}"/>
              </a:ext>
            </a:extLst>
          </p:cNvPr>
          <p:cNvGrpSpPr/>
          <p:nvPr/>
        </p:nvGrpSpPr>
        <p:grpSpPr>
          <a:xfrm>
            <a:off x="724722" y="3290579"/>
            <a:ext cx="10742555" cy="912350"/>
            <a:chOff x="598636" y="3532610"/>
            <a:chExt cx="10742555" cy="912350"/>
          </a:xfrm>
        </p:grpSpPr>
        <p:sp>
          <p:nvSpPr>
            <p:cNvPr id="19" name="矩形 18">
              <a:extLst>
                <a:ext uri="{FF2B5EF4-FFF2-40B4-BE49-F238E27FC236}">
                  <a16:creationId xmlns:a16="http://schemas.microsoft.com/office/drawing/2014/main" id="{1FCF1C54-4AF3-41CD-94EF-713F80FEB6D2}"/>
                </a:ext>
              </a:extLst>
            </p:cNvPr>
            <p:cNvSpPr/>
            <p:nvPr/>
          </p:nvSpPr>
          <p:spPr>
            <a:xfrm>
              <a:off x="598636" y="3532610"/>
              <a:ext cx="10742555" cy="91235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68A7BB89-660C-4FEE-95C2-C9FA187ED7E1}"/>
                </a:ext>
              </a:extLst>
            </p:cNvPr>
            <p:cNvGrpSpPr/>
            <p:nvPr/>
          </p:nvGrpSpPr>
          <p:grpSpPr>
            <a:xfrm>
              <a:off x="673548" y="3592162"/>
              <a:ext cx="10601859" cy="789255"/>
              <a:chOff x="673548" y="3592162"/>
              <a:chExt cx="10601859" cy="789255"/>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4F4A068-A37C-48DC-87A8-952EBD0C72B6}"/>
                      </a:ext>
                    </a:extLst>
                  </p:cNvPr>
                  <p:cNvSpPr txBox="1"/>
                  <p:nvPr/>
                </p:nvSpPr>
                <p:spPr>
                  <a:xfrm>
                    <a:off x="673548" y="3771699"/>
                    <a:ext cx="1902772" cy="429220"/>
                  </a:xfrm>
                  <a:prstGeom prst="rect">
                    <a:avLst/>
                  </a:prstGeom>
                  <a:solidFill>
                    <a:schemeClr val="accent6">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𝟏𝟐𝟑𝟒𝟓𝟔𝟕𝟖</m:t>
                        </m:r>
                      </m:oMath>
                    </a14:m>
                    <a:r>
                      <a:rPr lang="en-US" altLang="zh-CN" sz="2000" b="1">
                        <a:solidFill>
                          <a:srgbClr val="002060"/>
                        </a:solidFill>
                      </a:rPr>
                      <a:t> </a:t>
                    </a:r>
                    <a:endParaRPr lang="zh-CN" altLang="en-US" sz="2000" b="1">
                      <a:solidFill>
                        <a:srgbClr val="002060"/>
                      </a:solidFill>
                    </a:endParaRPr>
                  </a:p>
                </p:txBody>
              </p:sp>
            </mc:Choice>
            <mc:Fallback xmlns="">
              <p:sp>
                <p:nvSpPr>
                  <p:cNvPr id="4" name="文本框 3">
                    <a:extLst>
                      <a:ext uri="{FF2B5EF4-FFF2-40B4-BE49-F238E27FC236}">
                        <a16:creationId xmlns:a16="http://schemas.microsoft.com/office/drawing/2014/main" id="{74F4A068-A37C-48DC-87A8-952EBD0C72B6}"/>
                      </a:ext>
                    </a:extLst>
                  </p:cNvPr>
                  <p:cNvSpPr txBox="1">
                    <a:spLocks noRot="1" noChangeAspect="1" noMove="1" noResize="1" noEditPoints="1" noAdjustHandles="1" noChangeArrowheads="1" noChangeShapeType="1" noTextEdit="1"/>
                  </p:cNvSpPr>
                  <p:nvPr/>
                </p:nvSpPr>
                <p:spPr>
                  <a:xfrm>
                    <a:off x="673548" y="3771699"/>
                    <a:ext cx="1902772" cy="42922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9035F73-85D2-4892-BE7E-F41831306885}"/>
                      </a:ext>
                    </a:extLst>
                  </p:cNvPr>
                  <p:cNvSpPr txBox="1"/>
                  <p:nvPr/>
                </p:nvSpPr>
                <p:spPr>
                  <a:xfrm>
                    <a:off x="3366748" y="3592162"/>
                    <a:ext cx="2277453" cy="789255"/>
                  </a:xfrm>
                  <a:prstGeom prst="rect">
                    <a:avLst/>
                  </a:prstGeom>
                  <a:solidFill>
                    <a:schemeClr val="accent5">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是以</a:t>
                    </a:r>
                    <a14:m>
                      <m:oMath xmlns:m="http://schemas.openxmlformats.org/officeDocument/2006/math">
                        <m:r>
                          <a:rPr lang="en-US" altLang="zh-CN" sz="2000" b="1" i="1" smtClean="0">
                            <a:solidFill>
                              <a:srgbClr val="C00000"/>
                            </a:solidFill>
                            <a:latin typeface="Cambria Math" panose="02040503050406030204" pitchFamily="18" charset="0"/>
                          </a:rPr>
                          <m:t>𝟏𝟐𝟑𝟒𝟓𝟔𝟕</m:t>
                        </m:r>
                      </m:oMath>
                    </a14:m>
                    <a:r>
                      <a:rPr lang="zh-CN" altLang="en-US" sz="2000" b="1">
                        <a:solidFill>
                          <a:srgbClr val="002060"/>
                        </a:solidFill>
                      </a:rPr>
                      <a:t>为最短前缀的最大串</a:t>
                    </a:r>
                  </a:p>
                </p:txBody>
              </p:sp>
            </mc:Choice>
            <mc:Fallback xmlns="">
              <p:sp>
                <p:nvSpPr>
                  <p:cNvPr id="6" name="文本框 5">
                    <a:extLst>
                      <a:ext uri="{FF2B5EF4-FFF2-40B4-BE49-F238E27FC236}">
                        <a16:creationId xmlns:a16="http://schemas.microsoft.com/office/drawing/2014/main" id="{69035F73-85D2-4892-BE7E-F41831306885}"/>
                      </a:ext>
                    </a:extLst>
                  </p:cNvPr>
                  <p:cNvSpPr txBox="1">
                    <a:spLocks noRot="1" noChangeAspect="1" noMove="1" noResize="1" noEditPoints="1" noAdjustHandles="1" noChangeArrowheads="1" noChangeShapeType="1" noTextEdit="1"/>
                  </p:cNvSpPr>
                  <p:nvPr/>
                </p:nvSpPr>
                <p:spPr>
                  <a:xfrm>
                    <a:off x="3366748" y="3592162"/>
                    <a:ext cx="2277453" cy="789255"/>
                  </a:xfrm>
                  <a:prstGeom prst="rect">
                    <a:avLst/>
                  </a:prstGeom>
                  <a:blipFill>
                    <a:blip r:embed="rId6"/>
                    <a:stretch>
                      <a:fillRect l="-2941" t="-775" r="-535" b="-131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A3EB9AB-0608-415B-BF15-A5E33CEFBF55}"/>
                      </a:ext>
                    </a:extLst>
                  </p:cNvPr>
                  <p:cNvSpPr txBox="1"/>
                  <p:nvPr/>
                </p:nvSpPr>
                <p:spPr>
                  <a:xfrm>
                    <a:off x="6693140" y="3592162"/>
                    <a:ext cx="1938435" cy="788293"/>
                  </a:xfrm>
                  <a:prstGeom prst="rect">
                    <a:avLst/>
                  </a:prstGeom>
                  <a:solidFill>
                    <a:schemeClr val="accent4">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C00000"/>
                            </a:solidFill>
                            <a:latin typeface="Cambria Math" panose="02040503050406030204" pitchFamily="18" charset="0"/>
                          </a:rPr>
                          <m:t>𝟖</m:t>
                        </m:r>
                      </m:oMath>
                    </a14:m>
                    <a:r>
                      <a:rPr lang="zh-CN" altLang="en-US" sz="2000" b="1">
                        <a:solidFill>
                          <a:srgbClr val="002060"/>
                        </a:solidFill>
                      </a:rPr>
                      <a:t>是</a:t>
                    </a:r>
                    <a14:m>
                      <m:oMath xmlns:m="http://schemas.openxmlformats.org/officeDocument/2006/math">
                        <m:r>
                          <a:rPr lang="en-US" altLang="zh-CN" sz="2000" b="1" i="1" smtClean="0">
                            <a:solidFill>
                              <a:srgbClr val="0000FF"/>
                            </a:solidFill>
                            <a:latin typeface="Cambria Math" panose="02040503050406030204" pitchFamily="18" charset="0"/>
                          </a:rPr>
                          <m:t>𝟕</m:t>
                        </m:r>
                      </m:oMath>
                    </a14:m>
                    <a:r>
                      <a:rPr lang="zh-CN" altLang="en-US" sz="2000" b="1">
                        <a:solidFill>
                          <a:srgbClr val="002060"/>
                        </a:solidFill>
                      </a:rPr>
                      <a:t>后面恰好大于</a:t>
                    </a:r>
                    <a14:m>
                      <m:oMath xmlns:m="http://schemas.openxmlformats.org/officeDocument/2006/math">
                        <m:r>
                          <a:rPr lang="en-US" altLang="zh-CN" sz="2000" b="1" i="1" smtClean="0">
                            <a:solidFill>
                              <a:srgbClr val="0000FF"/>
                            </a:solidFill>
                            <a:latin typeface="Cambria Math" panose="02040503050406030204" pitchFamily="18" charset="0"/>
                          </a:rPr>
                          <m:t>𝟕</m:t>
                        </m:r>
                      </m:oMath>
                    </a14:m>
                    <a:r>
                      <a:rPr lang="zh-CN" altLang="en-US" sz="2000" b="1">
                        <a:solidFill>
                          <a:srgbClr val="002060"/>
                        </a:solidFill>
                      </a:rPr>
                      <a:t>的数字</a:t>
                    </a:r>
                  </a:p>
                </p:txBody>
              </p:sp>
            </mc:Choice>
            <mc:Fallback xmlns="">
              <p:sp>
                <p:nvSpPr>
                  <p:cNvPr id="12" name="文本框 11">
                    <a:extLst>
                      <a:ext uri="{FF2B5EF4-FFF2-40B4-BE49-F238E27FC236}">
                        <a16:creationId xmlns:a16="http://schemas.microsoft.com/office/drawing/2014/main" id="{0A3EB9AB-0608-415B-BF15-A5E33CEFBF55}"/>
                      </a:ext>
                    </a:extLst>
                  </p:cNvPr>
                  <p:cNvSpPr txBox="1">
                    <a:spLocks noRot="1" noChangeAspect="1" noMove="1" noResize="1" noEditPoints="1" noAdjustHandles="1" noChangeArrowheads="1" noChangeShapeType="1" noTextEdit="1"/>
                  </p:cNvSpPr>
                  <p:nvPr/>
                </p:nvSpPr>
                <p:spPr>
                  <a:xfrm>
                    <a:off x="6693140" y="3592162"/>
                    <a:ext cx="1938435" cy="788293"/>
                  </a:xfrm>
                  <a:prstGeom prst="rect">
                    <a:avLst/>
                  </a:prstGeom>
                  <a:blipFill>
                    <a:blip r:embed="rId7"/>
                    <a:stretch>
                      <a:fillRect l="-3459" t="-775" b="-131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DF76B3D-66A9-4C2C-B91E-AD902E58206B}"/>
                      </a:ext>
                    </a:extLst>
                  </p:cNvPr>
                  <p:cNvSpPr txBox="1"/>
                  <p:nvPr/>
                </p:nvSpPr>
                <p:spPr>
                  <a:xfrm>
                    <a:off x="9619483" y="3592162"/>
                    <a:ext cx="1655924" cy="788293"/>
                  </a:xfrm>
                  <a:prstGeom prst="rect">
                    <a:avLst/>
                  </a:prstGeom>
                  <a:solidFill>
                    <a:schemeClr val="accent2">
                      <a:lumMod val="20000"/>
                      <a:lumOff val="80000"/>
                    </a:schemeClr>
                  </a:solidFill>
                </p:spPr>
                <p:txBody>
                  <a:bodyPr wrap="square" rtlCol="0">
                    <a:spAutoFit/>
                  </a:bodyPr>
                  <a:lstStyle/>
                  <a:p>
                    <a:pPr>
                      <a:lnSpc>
                        <a:spcPts val="2800"/>
                      </a:lnSpc>
                    </a:pPr>
                    <a:r>
                      <a:rPr lang="zh-CN" altLang="en-US" sz="2000" b="1">
                        <a:solidFill>
                          <a:srgbClr val="002060"/>
                        </a:solidFill>
                      </a:rPr>
                      <a:t>覆盖</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的串是</a:t>
                    </a:r>
                    <a14:m>
                      <m:oMath xmlns:m="http://schemas.openxmlformats.org/officeDocument/2006/math">
                        <m:r>
                          <a:rPr lang="en-US" altLang="zh-CN" sz="2000" b="1" i="1" smtClean="0">
                            <a:solidFill>
                              <a:srgbClr val="C00000"/>
                            </a:solidFill>
                            <a:latin typeface="Cambria Math" panose="02040503050406030204" pitchFamily="18" charset="0"/>
                          </a:rPr>
                          <m:t>𝟏𝟐𝟑𝟒𝟓𝟔</m:t>
                        </m:r>
                        <m:r>
                          <a:rPr lang="en-US" altLang="zh-CN" sz="2000" b="1" i="1" smtClean="0">
                            <a:solidFill>
                              <a:srgbClr val="0000FF"/>
                            </a:solidFill>
                            <a:latin typeface="Cambria Math" panose="02040503050406030204" pitchFamily="18" charset="0"/>
                          </a:rPr>
                          <m:t>𝟖𝟕</m:t>
                        </m:r>
                      </m:oMath>
                    </a14:m>
                    <a:endParaRPr lang="zh-CN" altLang="en-US" sz="2000" b="1">
                      <a:solidFill>
                        <a:srgbClr val="002060"/>
                      </a:solidFill>
                    </a:endParaRPr>
                  </a:p>
                </p:txBody>
              </p:sp>
            </mc:Choice>
            <mc:Fallback xmlns="">
              <p:sp>
                <p:nvSpPr>
                  <p:cNvPr id="13" name="文本框 12">
                    <a:extLst>
                      <a:ext uri="{FF2B5EF4-FFF2-40B4-BE49-F238E27FC236}">
                        <a16:creationId xmlns:a16="http://schemas.microsoft.com/office/drawing/2014/main" id="{8DF76B3D-66A9-4C2C-B91E-AD902E58206B}"/>
                      </a:ext>
                    </a:extLst>
                  </p:cNvPr>
                  <p:cNvSpPr txBox="1">
                    <a:spLocks noRot="1" noChangeAspect="1" noMove="1" noResize="1" noEditPoints="1" noAdjustHandles="1" noChangeArrowheads="1" noChangeShapeType="1" noTextEdit="1"/>
                  </p:cNvSpPr>
                  <p:nvPr/>
                </p:nvSpPr>
                <p:spPr>
                  <a:xfrm>
                    <a:off x="9619483" y="3592162"/>
                    <a:ext cx="1655924" cy="788293"/>
                  </a:xfrm>
                  <a:prstGeom prst="rect">
                    <a:avLst/>
                  </a:prstGeom>
                  <a:blipFill>
                    <a:blip r:embed="rId8"/>
                    <a:stretch>
                      <a:fillRect l="-4059" t="-775" r="-1845"/>
                    </a:stretch>
                  </a:blipFill>
                </p:spPr>
                <p:txBody>
                  <a:bodyPr/>
                  <a:lstStyle/>
                  <a:p>
                    <a:r>
                      <a:rPr lang="zh-CN" altLang="en-US">
                        <a:noFill/>
                      </a:rPr>
                      <a:t> </a:t>
                    </a:r>
                  </a:p>
                </p:txBody>
              </p:sp>
            </mc:Fallback>
          </mc:AlternateContent>
          <p:sp>
            <p:nvSpPr>
              <p:cNvPr id="14" name="箭头: 右 13">
                <a:extLst>
                  <a:ext uri="{FF2B5EF4-FFF2-40B4-BE49-F238E27FC236}">
                    <a16:creationId xmlns:a16="http://schemas.microsoft.com/office/drawing/2014/main" id="{0E4D7CFE-01D4-49E4-9366-9F0726585EB3}"/>
                  </a:ext>
                </a:extLst>
              </p:cNvPr>
              <p:cNvSpPr/>
              <p:nvPr/>
            </p:nvSpPr>
            <p:spPr>
              <a:xfrm>
                <a:off x="2576320" y="3953533"/>
                <a:ext cx="79042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a:extLst>
                  <a:ext uri="{FF2B5EF4-FFF2-40B4-BE49-F238E27FC236}">
                    <a16:creationId xmlns:a16="http://schemas.microsoft.com/office/drawing/2014/main" id="{86ED1196-2518-4718-923E-B82EFC595663}"/>
                  </a:ext>
                </a:extLst>
              </p:cNvPr>
              <p:cNvSpPr/>
              <p:nvPr/>
            </p:nvSpPr>
            <p:spPr>
              <a:xfrm>
                <a:off x="5644201" y="3953533"/>
                <a:ext cx="104893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A72B3741-00E3-4761-B776-D19C23B9897E}"/>
                  </a:ext>
                </a:extLst>
              </p:cNvPr>
              <p:cNvSpPr/>
              <p:nvPr/>
            </p:nvSpPr>
            <p:spPr>
              <a:xfrm>
                <a:off x="8631575" y="3930673"/>
                <a:ext cx="98410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1" name="组合 20">
            <a:extLst>
              <a:ext uri="{FF2B5EF4-FFF2-40B4-BE49-F238E27FC236}">
                <a16:creationId xmlns:a16="http://schemas.microsoft.com/office/drawing/2014/main" id="{0001AED0-EBEC-4BE1-9B53-F46AA6FE7A2B}"/>
              </a:ext>
            </a:extLst>
          </p:cNvPr>
          <p:cNvGrpSpPr/>
          <p:nvPr/>
        </p:nvGrpSpPr>
        <p:grpSpPr>
          <a:xfrm>
            <a:off x="724721" y="4328747"/>
            <a:ext cx="10742555" cy="912350"/>
            <a:chOff x="598636" y="3532610"/>
            <a:chExt cx="10742555" cy="912350"/>
          </a:xfrm>
        </p:grpSpPr>
        <p:sp>
          <p:nvSpPr>
            <p:cNvPr id="22" name="矩形 21">
              <a:extLst>
                <a:ext uri="{FF2B5EF4-FFF2-40B4-BE49-F238E27FC236}">
                  <a16:creationId xmlns:a16="http://schemas.microsoft.com/office/drawing/2014/main" id="{61DFACD7-D22D-466E-9A60-FD7D575DDA56}"/>
                </a:ext>
              </a:extLst>
            </p:cNvPr>
            <p:cNvSpPr/>
            <p:nvPr/>
          </p:nvSpPr>
          <p:spPr>
            <a:xfrm>
              <a:off x="598636" y="3532610"/>
              <a:ext cx="10742555" cy="91235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E4C94CD9-3628-43FA-B6AE-17E89B35FCA4}"/>
                </a:ext>
              </a:extLst>
            </p:cNvPr>
            <p:cNvGrpSpPr/>
            <p:nvPr/>
          </p:nvGrpSpPr>
          <p:grpSpPr>
            <a:xfrm>
              <a:off x="673548" y="3592162"/>
              <a:ext cx="10601859" cy="789255"/>
              <a:chOff x="673548" y="3592162"/>
              <a:chExt cx="10601859" cy="789255"/>
            </a:xfrm>
          </p:grpSpPr>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DE338E3-FECC-44DD-8D51-555B3BF83DE4}"/>
                      </a:ext>
                    </a:extLst>
                  </p:cNvPr>
                  <p:cNvSpPr txBox="1"/>
                  <p:nvPr/>
                </p:nvSpPr>
                <p:spPr>
                  <a:xfrm>
                    <a:off x="673548" y="3771699"/>
                    <a:ext cx="1902772" cy="429220"/>
                  </a:xfrm>
                  <a:prstGeom prst="rect">
                    <a:avLst/>
                  </a:prstGeom>
                  <a:solidFill>
                    <a:schemeClr val="accent6">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𝟔𝟑𝟐𝟖𝟓𝟕𝟒𝟏</m:t>
                        </m:r>
                      </m:oMath>
                    </a14:m>
                    <a:r>
                      <a:rPr lang="en-US" altLang="zh-CN" sz="2000" b="1">
                        <a:solidFill>
                          <a:srgbClr val="002060"/>
                        </a:solidFill>
                      </a:rPr>
                      <a:t> </a:t>
                    </a:r>
                    <a:endParaRPr lang="zh-CN" altLang="en-US" sz="2000" b="1">
                      <a:solidFill>
                        <a:srgbClr val="002060"/>
                      </a:solidFill>
                    </a:endParaRPr>
                  </a:p>
                </p:txBody>
              </p:sp>
            </mc:Choice>
            <mc:Fallback xmlns="">
              <p:sp>
                <p:nvSpPr>
                  <p:cNvPr id="24" name="文本框 23">
                    <a:extLst>
                      <a:ext uri="{FF2B5EF4-FFF2-40B4-BE49-F238E27FC236}">
                        <a16:creationId xmlns:a16="http://schemas.microsoft.com/office/drawing/2014/main" id="{0DE338E3-FECC-44DD-8D51-555B3BF83DE4}"/>
                      </a:ext>
                    </a:extLst>
                  </p:cNvPr>
                  <p:cNvSpPr txBox="1">
                    <a:spLocks noRot="1" noChangeAspect="1" noMove="1" noResize="1" noEditPoints="1" noAdjustHandles="1" noChangeArrowheads="1" noChangeShapeType="1" noTextEdit="1"/>
                  </p:cNvSpPr>
                  <p:nvPr/>
                </p:nvSpPr>
                <p:spPr>
                  <a:xfrm>
                    <a:off x="673548" y="3771699"/>
                    <a:ext cx="1902772" cy="42922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4140889-4819-4D2E-8734-EFF85B92466E}"/>
                      </a:ext>
                    </a:extLst>
                  </p:cNvPr>
                  <p:cNvSpPr txBox="1"/>
                  <p:nvPr/>
                </p:nvSpPr>
                <p:spPr>
                  <a:xfrm>
                    <a:off x="3366748" y="3592162"/>
                    <a:ext cx="2277453" cy="789255"/>
                  </a:xfrm>
                  <a:prstGeom prst="rect">
                    <a:avLst/>
                  </a:prstGeom>
                  <a:solidFill>
                    <a:schemeClr val="accent5">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是以</a:t>
                    </a:r>
                    <a14:m>
                      <m:oMath xmlns:m="http://schemas.openxmlformats.org/officeDocument/2006/math">
                        <m:r>
                          <a:rPr lang="en-US" altLang="zh-CN" sz="2000" b="1" i="1" smtClean="0">
                            <a:solidFill>
                              <a:srgbClr val="C00000"/>
                            </a:solidFill>
                            <a:latin typeface="Cambria Math" panose="02040503050406030204" pitchFamily="18" charset="0"/>
                          </a:rPr>
                          <m:t>𝟔𝟑𝟐𝟖𝟓</m:t>
                        </m:r>
                      </m:oMath>
                    </a14:m>
                    <a:r>
                      <a:rPr lang="zh-CN" altLang="en-US" sz="2000" b="1">
                        <a:solidFill>
                          <a:srgbClr val="002060"/>
                        </a:solidFill>
                      </a:rPr>
                      <a:t>为最短前缀的最大串</a:t>
                    </a:r>
                  </a:p>
                </p:txBody>
              </p:sp>
            </mc:Choice>
            <mc:Fallback xmlns="">
              <p:sp>
                <p:nvSpPr>
                  <p:cNvPr id="25" name="文本框 24">
                    <a:extLst>
                      <a:ext uri="{FF2B5EF4-FFF2-40B4-BE49-F238E27FC236}">
                        <a16:creationId xmlns:a16="http://schemas.microsoft.com/office/drawing/2014/main" id="{04140889-4819-4D2E-8734-EFF85B92466E}"/>
                      </a:ext>
                    </a:extLst>
                  </p:cNvPr>
                  <p:cNvSpPr txBox="1">
                    <a:spLocks noRot="1" noChangeAspect="1" noMove="1" noResize="1" noEditPoints="1" noAdjustHandles="1" noChangeArrowheads="1" noChangeShapeType="1" noTextEdit="1"/>
                  </p:cNvSpPr>
                  <p:nvPr/>
                </p:nvSpPr>
                <p:spPr>
                  <a:xfrm>
                    <a:off x="3366748" y="3592162"/>
                    <a:ext cx="2277453" cy="789255"/>
                  </a:xfrm>
                  <a:prstGeom prst="rect">
                    <a:avLst/>
                  </a:prstGeom>
                  <a:blipFill>
                    <a:blip r:embed="rId10"/>
                    <a:stretch>
                      <a:fillRect l="-2941" t="-775" b="-131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773C69E-8460-42AA-A607-38F2AAE2E6D6}"/>
                      </a:ext>
                    </a:extLst>
                  </p:cNvPr>
                  <p:cNvSpPr txBox="1"/>
                  <p:nvPr/>
                </p:nvSpPr>
                <p:spPr>
                  <a:xfrm>
                    <a:off x="6693140" y="3592162"/>
                    <a:ext cx="1938435" cy="788293"/>
                  </a:xfrm>
                  <a:prstGeom prst="rect">
                    <a:avLst/>
                  </a:prstGeom>
                  <a:solidFill>
                    <a:schemeClr val="accent4">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C00000"/>
                            </a:solidFill>
                            <a:latin typeface="Cambria Math" panose="02040503050406030204" pitchFamily="18" charset="0"/>
                          </a:rPr>
                          <m:t>𝟕</m:t>
                        </m:r>
                      </m:oMath>
                    </a14:m>
                    <a:r>
                      <a:rPr lang="zh-CN" altLang="en-US" sz="2000" b="1">
                        <a:solidFill>
                          <a:srgbClr val="002060"/>
                        </a:solidFill>
                      </a:rPr>
                      <a:t>是</a:t>
                    </a:r>
                    <a14:m>
                      <m:oMath xmlns:m="http://schemas.openxmlformats.org/officeDocument/2006/math">
                        <m:r>
                          <a:rPr lang="en-US" altLang="zh-CN" sz="2000" b="1" i="1" smtClean="0">
                            <a:solidFill>
                              <a:srgbClr val="0000FF"/>
                            </a:solidFill>
                            <a:latin typeface="Cambria Math" panose="02040503050406030204" pitchFamily="18" charset="0"/>
                          </a:rPr>
                          <m:t>𝟓</m:t>
                        </m:r>
                      </m:oMath>
                    </a14:m>
                    <a:r>
                      <a:rPr lang="zh-CN" altLang="en-US" sz="2000" b="1">
                        <a:solidFill>
                          <a:srgbClr val="002060"/>
                        </a:solidFill>
                      </a:rPr>
                      <a:t>后面恰好大于</a:t>
                    </a:r>
                    <a14:m>
                      <m:oMath xmlns:m="http://schemas.openxmlformats.org/officeDocument/2006/math">
                        <m:r>
                          <a:rPr lang="en-US" altLang="zh-CN" sz="2000" b="1" i="1" smtClean="0">
                            <a:solidFill>
                              <a:srgbClr val="0000FF"/>
                            </a:solidFill>
                            <a:latin typeface="Cambria Math" panose="02040503050406030204" pitchFamily="18" charset="0"/>
                          </a:rPr>
                          <m:t>𝟓</m:t>
                        </m:r>
                      </m:oMath>
                    </a14:m>
                    <a:r>
                      <a:rPr lang="zh-CN" altLang="en-US" sz="2000" b="1">
                        <a:solidFill>
                          <a:srgbClr val="002060"/>
                        </a:solidFill>
                      </a:rPr>
                      <a:t>的数字</a:t>
                    </a:r>
                  </a:p>
                </p:txBody>
              </p:sp>
            </mc:Choice>
            <mc:Fallback xmlns="">
              <p:sp>
                <p:nvSpPr>
                  <p:cNvPr id="26" name="文本框 25">
                    <a:extLst>
                      <a:ext uri="{FF2B5EF4-FFF2-40B4-BE49-F238E27FC236}">
                        <a16:creationId xmlns:a16="http://schemas.microsoft.com/office/drawing/2014/main" id="{C773C69E-8460-42AA-A607-38F2AAE2E6D6}"/>
                      </a:ext>
                    </a:extLst>
                  </p:cNvPr>
                  <p:cNvSpPr txBox="1">
                    <a:spLocks noRot="1" noChangeAspect="1" noMove="1" noResize="1" noEditPoints="1" noAdjustHandles="1" noChangeArrowheads="1" noChangeShapeType="1" noTextEdit="1"/>
                  </p:cNvSpPr>
                  <p:nvPr/>
                </p:nvSpPr>
                <p:spPr>
                  <a:xfrm>
                    <a:off x="6693140" y="3592162"/>
                    <a:ext cx="1938435" cy="788293"/>
                  </a:xfrm>
                  <a:prstGeom prst="rect">
                    <a:avLst/>
                  </a:prstGeom>
                  <a:blipFill>
                    <a:blip r:embed="rId11"/>
                    <a:stretch>
                      <a:fillRect l="-3459" t="-775" b="-131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7C2A8E30-A4BF-49B7-961E-2533DBE18482}"/>
                      </a:ext>
                    </a:extLst>
                  </p:cNvPr>
                  <p:cNvSpPr txBox="1"/>
                  <p:nvPr/>
                </p:nvSpPr>
                <p:spPr>
                  <a:xfrm>
                    <a:off x="9619483" y="3592162"/>
                    <a:ext cx="1655924" cy="788293"/>
                  </a:xfrm>
                  <a:prstGeom prst="rect">
                    <a:avLst/>
                  </a:prstGeom>
                  <a:solidFill>
                    <a:schemeClr val="accent2">
                      <a:lumMod val="20000"/>
                      <a:lumOff val="80000"/>
                    </a:schemeClr>
                  </a:solidFill>
                </p:spPr>
                <p:txBody>
                  <a:bodyPr wrap="square" rtlCol="0">
                    <a:spAutoFit/>
                  </a:bodyPr>
                  <a:lstStyle/>
                  <a:p>
                    <a:pPr>
                      <a:lnSpc>
                        <a:spcPts val="2800"/>
                      </a:lnSpc>
                    </a:pPr>
                    <a:r>
                      <a:rPr lang="zh-CN" altLang="en-US" sz="2000" b="1">
                        <a:solidFill>
                          <a:srgbClr val="002060"/>
                        </a:solidFill>
                      </a:rPr>
                      <a:t>覆盖</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的串是</a:t>
                    </a:r>
                    <a14:m>
                      <m:oMath xmlns:m="http://schemas.openxmlformats.org/officeDocument/2006/math">
                        <m:r>
                          <a:rPr lang="en-US" altLang="zh-CN" sz="2000" b="1" i="1" smtClean="0">
                            <a:solidFill>
                              <a:srgbClr val="C00000"/>
                            </a:solidFill>
                            <a:latin typeface="Cambria Math" panose="02040503050406030204" pitchFamily="18" charset="0"/>
                          </a:rPr>
                          <m:t>𝟔𝟑𝟐𝟖𝟕</m:t>
                        </m:r>
                        <m:r>
                          <a:rPr lang="en-US" altLang="zh-CN" sz="2000" b="1" i="1" smtClean="0">
                            <a:solidFill>
                              <a:srgbClr val="0000FF"/>
                            </a:solidFill>
                            <a:latin typeface="Cambria Math" panose="02040503050406030204" pitchFamily="18" charset="0"/>
                          </a:rPr>
                          <m:t>𝟏𝟒𝟓</m:t>
                        </m:r>
                      </m:oMath>
                    </a14:m>
                    <a:endParaRPr lang="zh-CN" altLang="en-US" sz="2000" b="1">
                      <a:solidFill>
                        <a:srgbClr val="002060"/>
                      </a:solidFill>
                    </a:endParaRPr>
                  </a:p>
                </p:txBody>
              </p:sp>
            </mc:Choice>
            <mc:Fallback xmlns="">
              <p:sp>
                <p:nvSpPr>
                  <p:cNvPr id="27" name="文本框 26">
                    <a:extLst>
                      <a:ext uri="{FF2B5EF4-FFF2-40B4-BE49-F238E27FC236}">
                        <a16:creationId xmlns:a16="http://schemas.microsoft.com/office/drawing/2014/main" id="{7C2A8E30-A4BF-49B7-961E-2533DBE18482}"/>
                      </a:ext>
                    </a:extLst>
                  </p:cNvPr>
                  <p:cNvSpPr txBox="1">
                    <a:spLocks noRot="1" noChangeAspect="1" noMove="1" noResize="1" noEditPoints="1" noAdjustHandles="1" noChangeArrowheads="1" noChangeShapeType="1" noTextEdit="1"/>
                  </p:cNvSpPr>
                  <p:nvPr/>
                </p:nvSpPr>
                <p:spPr>
                  <a:xfrm>
                    <a:off x="9619483" y="3592162"/>
                    <a:ext cx="1655924" cy="788293"/>
                  </a:xfrm>
                  <a:prstGeom prst="rect">
                    <a:avLst/>
                  </a:prstGeom>
                  <a:blipFill>
                    <a:blip r:embed="rId12"/>
                    <a:stretch>
                      <a:fillRect l="-4059" t="-775" r="-1845"/>
                    </a:stretch>
                  </a:blipFill>
                </p:spPr>
                <p:txBody>
                  <a:bodyPr/>
                  <a:lstStyle/>
                  <a:p>
                    <a:r>
                      <a:rPr lang="zh-CN" altLang="en-US">
                        <a:noFill/>
                      </a:rPr>
                      <a:t> </a:t>
                    </a:r>
                  </a:p>
                </p:txBody>
              </p:sp>
            </mc:Fallback>
          </mc:AlternateContent>
          <p:sp>
            <p:nvSpPr>
              <p:cNvPr id="28" name="箭头: 右 27">
                <a:extLst>
                  <a:ext uri="{FF2B5EF4-FFF2-40B4-BE49-F238E27FC236}">
                    <a16:creationId xmlns:a16="http://schemas.microsoft.com/office/drawing/2014/main" id="{7601DF45-0603-4BAE-9AC4-37C41E72BCB7}"/>
                  </a:ext>
                </a:extLst>
              </p:cNvPr>
              <p:cNvSpPr/>
              <p:nvPr/>
            </p:nvSpPr>
            <p:spPr>
              <a:xfrm>
                <a:off x="2576320" y="3953533"/>
                <a:ext cx="79042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右 28">
                <a:extLst>
                  <a:ext uri="{FF2B5EF4-FFF2-40B4-BE49-F238E27FC236}">
                    <a16:creationId xmlns:a16="http://schemas.microsoft.com/office/drawing/2014/main" id="{5AE4C68B-1D3E-4C24-A885-A043C6C92A1E}"/>
                  </a:ext>
                </a:extLst>
              </p:cNvPr>
              <p:cNvSpPr/>
              <p:nvPr/>
            </p:nvSpPr>
            <p:spPr>
              <a:xfrm>
                <a:off x="5644201" y="3953533"/>
                <a:ext cx="104893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34A32A1A-46F4-4DD2-A208-DB90F47C6C9F}"/>
                  </a:ext>
                </a:extLst>
              </p:cNvPr>
              <p:cNvSpPr/>
              <p:nvPr/>
            </p:nvSpPr>
            <p:spPr>
              <a:xfrm>
                <a:off x="8631575" y="3930673"/>
                <a:ext cx="98410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1" name="组合 30">
            <a:extLst>
              <a:ext uri="{FF2B5EF4-FFF2-40B4-BE49-F238E27FC236}">
                <a16:creationId xmlns:a16="http://schemas.microsoft.com/office/drawing/2014/main" id="{C10B472D-0BFF-42FE-A6BB-4BC42CFF6B4B}"/>
              </a:ext>
            </a:extLst>
          </p:cNvPr>
          <p:cNvGrpSpPr/>
          <p:nvPr/>
        </p:nvGrpSpPr>
        <p:grpSpPr>
          <a:xfrm>
            <a:off x="724721" y="5400427"/>
            <a:ext cx="10742555" cy="912350"/>
            <a:chOff x="598636" y="3532610"/>
            <a:chExt cx="10742555" cy="912350"/>
          </a:xfrm>
        </p:grpSpPr>
        <p:sp>
          <p:nvSpPr>
            <p:cNvPr id="32" name="矩形 31">
              <a:extLst>
                <a:ext uri="{FF2B5EF4-FFF2-40B4-BE49-F238E27FC236}">
                  <a16:creationId xmlns:a16="http://schemas.microsoft.com/office/drawing/2014/main" id="{CAEFDACF-BF4C-47EA-BF98-DFA1FCA6CD88}"/>
                </a:ext>
              </a:extLst>
            </p:cNvPr>
            <p:cNvSpPr/>
            <p:nvPr/>
          </p:nvSpPr>
          <p:spPr>
            <a:xfrm>
              <a:off x="598636" y="3532610"/>
              <a:ext cx="10742555" cy="91235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38BD8D-4E8F-4DC1-B4C7-F9D9DDE9BA0C}"/>
                </a:ext>
              </a:extLst>
            </p:cNvPr>
            <p:cNvGrpSpPr/>
            <p:nvPr/>
          </p:nvGrpSpPr>
          <p:grpSpPr>
            <a:xfrm>
              <a:off x="673548" y="3592162"/>
              <a:ext cx="10601859" cy="789255"/>
              <a:chOff x="673548" y="3592162"/>
              <a:chExt cx="10601859" cy="789255"/>
            </a:xfrm>
          </p:grpSpPr>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72948A6A-EEC7-4B27-85CE-14ACD09731E0}"/>
                      </a:ext>
                    </a:extLst>
                  </p:cNvPr>
                  <p:cNvSpPr txBox="1"/>
                  <p:nvPr/>
                </p:nvSpPr>
                <p:spPr>
                  <a:xfrm>
                    <a:off x="673548" y="3771699"/>
                    <a:ext cx="1902772" cy="429220"/>
                  </a:xfrm>
                  <a:prstGeom prst="rect">
                    <a:avLst/>
                  </a:prstGeom>
                  <a:solidFill>
                    <a:schemeClr val="accent6">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𝟒𝟐𝟖𝟕𝟔𝟓𝟑𝟏</m:t>
                        </m:r>
                      </m:oMath>
                    </a14:m>
                    <a:r>
                      <a:rPr lang="en-US" altLang="zh-CN" sz="2000" b="1">
                        <a:solidFill>
                          <a:srgbClr val="002060"/>
                        </a:solidFill>
                      </a:rPr>
                      <a:t> </a:t>
                    </a:r>
                    <a:endParaRPr lang="zh-CN" altLang="en-US" sz="2000" b="1">
                      <a:solidFill>
                        <a:srgbClr val="002060"/>
                      </a:solidFill>
                    </a:endParaRPr>
                  </a:p>
                </p:txBody>
              </p:sp>
            </mc:Choice>
            <mc:Fallback xmlns="">
              <p:sp>
                <p:nvSpPr>
                  <p:cNvPr id="34" name="文本框 33">
                    <a:extLst>
                      <a:ext uri="{FF2B5EF4-FFF2-40B4-BE49-F238E27FC236}">
                        <a16:creationId xmlns:a16="http://schemas.microsoft.com/office/drawing/2014/main" id="{72948A6A-EEC7-4B27-85CE-14ACD09731E0}"/>
                      </a:ext>
                    </a:extLst>
                  </p:cNvPr>
                  <p:cNvSpPr txBox="1">
                    <a:spLocks noRot="1" noChangeAspect="1" noMove="1" noResize="1" noEditPoints="1" noAdjustHandles="1" noChangeArrowheads="1" noChangeShapeType="1" noTextEdit="1"/>
                  </p:cNvSpPr>
                  <p:nvPr/>
                </p:nvSpPr>
                <p:spPr>
                  <a:xfrm>
                    <a:off x="673548" y="3771699"/>
                    <a:ext cx="1902772" cy="42922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4A80E599-B421-40B3-A730-3F6812E395AD}"/>
                      </a:ext>
                    </a:extLst>
                  </p:cNvPr>
                  <p:cNvSpPr txBox="1"/>
                  <p:nvPr/>
                </p:nvSpPr>
                <p:spPr>
                  <a:xfrm>
                    <a:off x="3366748" y="3592162"/>
                    <a:ext cx="2277453" cy="789255"/>
                  </a:xfrm>
                  <a:prstGeom prst="rect">
                    <a:avLst/>
                  </a:prstGeom>
                  <a:solidFill>
                    <a:schemeClr val="accent5">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是以</a:t>
                    </a:r>
                    <a14:m>
                      <m:oMath xmlns:m="http://schemas.openxmlformats.org/officeDocument/2006/math">
                        <m:r>
                          <a:rPr lang="en-US" altLang="zh-CN" sz="2000" b="1" i="1">
                            <a:solidFill>
                              <a:srgbClr val="C00000"/>
                            </a:solidFill>
                            <a:latin typeface="Cambria Math" panose="02040503050406030204" pitchFamily="18" charset="0"/>
                          </a:rPr>
                          <m:t>𝟒𝟐</m:t>
                        </m:r>
                      </m:oMath>
                    </a14:m>
                    <a:r>
                      <a:rPr lang="zh-CN" altLang="en-US" sz="2000" b="1">
                        <a:solidFill>
                          <a:srgbClr val="002060"/>
                        </a:solidFill>
                      </a:rPr>
                      <a:t>为最短前缀的最大串</a:t>
                    </a:r>
                  </a:p>
                </p:txBody>
              </p:sp>
            </mc:Choice>
            <mc:Fallback xmlns="">
              <p:sp>
                <p:nvSpPr>
                  <p:cNvPr id="35" name="文本框 34">
                    <a:extLst>
                      <a:ext uri="{FF2B5EF4-FFF2-40B4-BE49-F238E27FC236}">
                        <a16:creationId xmlns:a16="http://schemas.microsoft.com/office/drawing/2014/main" id="{4A80E599-B421-40B3-A730-3F6812E395AD}"/>
                      </a:ext>
                    </a:extLst>
                  </p:cNvPr>
                  <p:cNvSpPr txBox="1">
                    <a:spLocks noRot="1" noChangeAspect="1" noMove="1" noResize="1" noEditPoints="1" noAdjustHandles="1" noChangeArrowheads="1" noChangeShapeType="1" noTextEdit="1"/>
                  </p:cNvSpPr>
                  <p:nvPr/>
                </p:nvSpPr>
                <p:spPr>
                  <a:xfrm>
                    <a:off x="3366748" y="3592162"/>
                    <a:ext cx="2277453" cy="789255"/>
                  </a:xfrm>
                  <a:prstGeom prst="rect">
                    <a:avLst/>
                  </a:prstGeom>
                  <a:blipFill>
                    <a:blip r:embed="rId14"/>
                    <a:stretch>
                      <a:fillRect l="-2941" t="-775" b="-131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E08B351A-23FD-408F-B197-093EE190DCA5}"/>
                      </a:ext>
                    </a:extLst>
                  </p:cNvPr>
                  <p:cNvSpPr txBox="1"/>
                  <p:nvPr/>
                </p:nvSpPr>
                <p:spPr>
                  <a:xfrm>
                    <a:off x="6693140" y="3592162"/>
                    <a:ext cx="1938435" cy="788293"/>
                  </a:xfrm>
                  <a:prstGeom prst="rect">
                    <a:avLst/>
                  </a:prstGeom>
                  <a:solidFill>
                    <a:schemeClr val="accent4">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C00000"/>
                            </a:solidFill>
                            <a:latin typeface="Cambria Math" panose="02040503050406030204" pitchFamily="18" charset="0"/>
                          </a:rPr>
                          <m:t>𝟑</m:t>
                        </m:r>
                      </m:oMath>
                    </a14:m>
                    <a:r>
                      <a:rPr lang="zh-CN" altLang="en-US" sz="2000" b="1">
                        <a:solidFill>
                          <a:srgbClr val="002060"/>
                        </a:solidFill>
                      </a:rPr>
                      <a:t>是</a:t>
                    </a:r>
                    <a14:m>
                      <m:oMath xmlns:m="http://schemas.openxmlformats.org/officeDocument/2006/math">
                        <m:r>
                          <a:rPr lang="en-US" altLang="zh-CN" sz="2000" b="1" i="1" smtClean="0">
                            <a:solidFill>
                              <a:srgbClr val="0000FF"/>
                            </a:solidFill>
                            <a:latin typeface="Cambria Math" panose="02040503050406030204" pitchFamily="18" charset="0"/>
                          </a:rPr>
                          <m:t>𝟐</m:t>
                        </m:r>
                      </m:oMath>
                    </a14:m>
                    <a:r>
                      <a:rPr lang="zh-CN" altLang="en-US" sz="2000" b="1">
                        <a:solidFill>
                          <a:srgbClr val="002060"/>
                        </a:solidFill>
                      </a:rPr>
                      <a:t>后面恰好大于</a:t>
                    </a:r>
                    <a14:m>
                      <m:oMath xmlns:m="http://schemas.openxmlformats.org/officeDocument/2006/math">
                        <m:r>
                          <a:rPr lang="en-US" altLang="zh-CN" sz="2000" b="1" i="1" smtClean="0">
                            <a:solidFill>
                              <a:srgbClr val="0000FF"/>
                            </a:solidFill>
                            <a:latin typeface="Cambria Math" panose="02040503050406030204" pitchFamily="18" charset="0"/>
                          </a:rPr>
                          <m:t>𝟐</m:t>
                        </m:r>
                      </m:oMath>
                    </a14:m>
                    <a:r>
                      <a:rPr lang="zh-CN" altLang="en-US" sz="2000" b="1">
                        <a:solidFill>
                          <a:srgbClr val="002060"/>
                        </a:solidFill>
                      </a:rPr>
                      <a:t>的数字</a:t>
                    </a:r>
                  </a:p>
                </p:txBody>
              </p:sp>
            </mc:Choice>
            <mc:Fallback xmlns="">
              <p:sp>
                <p:nvSpPr>
                  <p:cNvPr id="36" name="文本框 35">
                    <a:extLst>
                      <a:ext uri="{FF2B5EF4-FFF2-40B4-BE49-F238E27FC236}">
                        <a16:creationId xmlns:a16="http://schemas.microsoft.com/office/drawing/2014/main" id="{E08B351A-23FD-408F-B197-093EE190DCA5}"/>
                      </a:ext>
                    </a:extLst>
                  </p:cNvPr>
                  <p:cNvSpPr txBox="1">
                    <a:spLocks noRot="1" noChangeAspect="1" noMove="1" noResize="1" noEditPoints="1" noAdjustHandles="1" noChangeArrowheads="1" noChangeShapeType="1" noTextEdit="1"/>
                  </p:cNvSpPr>
                  <p:nvPr/>
                </p:nvSpPr>
                <p:spPr>
                  <a:xfrm>
                    <a:off x="6693140" y="3592162"/>
                    <a:ext cx="1938435" cy="788293"/>
                  </a:xfrm>
                  <a:prstGeom prst="rect">
                    <a:avLst/>
                  </a:prstGeom>
                  <a:blipFill>
                    <a:blip r:embed="rId15"/>
                    <a:stretch>
                      <a:fillRect l="-3459" t="-775" b="-131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E733F02E-D93D-4223-A76A-64C6E28BB5D7}"/>
                      </a:ext>
                    </a:extLst>
                  </p:cNvPr>
                  <p:cNvSpPr txBox="1"/>
                  <p:nvPr/>
                </p:nvSpPr>
                <p:spPr>
                  <a:xfrm>
                    <a:off x="9619483" y="3592162"/>
                    <a:ext cx="1655924" cy="788293"/>
                  </a:xfrm>
                  <a:prstGeom prst="rect">
                    <a:avLst/>
                  </a:prstGeom>
                  <a:solidFill>
                    <a:schemeClr val="accent2">
                      <a:lumMod val="20000"/>
                      <a:lumOff val="80000"/>
                    </a:schemeClr>
                  </a:solidFill>
                </p:spPr>
                <p:txBody>
                  <a:bodyPr wrap="square" rtlCol="0">
                    <a:spAutoFit/>
                  </a:bodyPr>
                  <a:lstStyle/>
                  <a:p>
                    <a:pPr>
                      <a:lnSpc>
                        <a:spcPts val="2800"/>
                      </a:lnSpc>
                    </a:pPr>
                    <a:r>
                      <a:rPr lang="zh-CN" altLang="en-US" sz="2000" b="1">
                        <a:solidFill>
                          <a:srgbClr val="002060"/>
                        </a:solidFill>
                      </a:rPr>
                      <a:t>覆盖</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的串是</a:t>
                    </a:r>
                    <a14:m>
                      <m:oMath xmlns:m="http://schemas.openxmlformats.org/officeDocument/2006/math">
                        <m:r>
                          <a:rPr lang="en-US" altLang="zh-CN" sz="2000" b="1" i="1" smtClean="0">
                            <a:solidFill>
                              <a:srgbClr val="C00000"/>
                            </a:solidFill>
                            <a:latin typeface="Cambria Math" panose="02040503050406030204" pitchFamily="18" charset="0"/>
                          </a:rPr>
                          <m:t>𝟒𝟑𝟏𝟐𝟓𝟔𝟕𝟖</m:t>
                        </m:r>
                      </m:oMath>
                    </a14:m>
                    <a:endParaRPr lang="zh-CN" altLang="en-US" sz="2000" b="1">
                      <a:solidFill>
                        <a:srgbClr val="002060"/>
                      </a:solidFill>
                    </a:endParaRPr>
                  </a:p>
                </p:txBody>
              </p:sp>
            </mc:Choice>
            <mc:Fallback xmlns="">
              <p:sp>
                <p:nvSpPr>
                  <p:cNvPr id="37" name="文本框 36">
                    <a:extLst>
                      <a:ext uri="{FF2B5EF4-FFF2-40B4-BE49-F238E27FC236}">
                        <a16:creationId xmlns:a16="http://schemas.microsoft.com/office/drawing/2014/main" id="{E733F02E-D93D-4223-A76A-64C6E28BB5D7}"/>
                      </a:ext>
                    </a:extLst>
                  </p:cNvPr>
                  <p:cNvSpPr txBox="1">
                    <a:spLocks noRot="1" noChangeAspect="1" noMove="1" noResize="1" noEditPoints="1" noAdjustHandles="1" noChangeArrowheads="1" noChangeShapeType="1" noTextEdit="1"/>
                  </p:cNvSpPr>
                  <p:nvPr/>
                </p:nvSpPr>
                <p:spPr>
                  <a:xfrm>
                    <a:off x="9619483" y="3592162"/>
                    <a:ext cx="1655924" cy="788293"/>
                  </a:xfrm>
                  <a:prstGeom prst="rect">
                    <a:avLst/>
                  </a:prstGeom>
                  <a:blipFill>
                    <a:blip r:embed="rId16"/>
                    <a:stretch>
                      <a:fillRect l="-4059" t="-775" r="-1845"/>
                    </a:stretch>
                  </a:blipFill>
                </p:spPr>
                <p:txBody>
                  <a:bodyPr/>
                  <a:lstStyle/>
                  <a:p>
                    <a:r>
                      <a:rPr lang="zh-CN" altLang="en-US">
                        <a:noFill/>
                      </a:rPr>
                      <a:t> </a:t>
                    </a:r>
                  </a:p>
                </p:txBody>
              </p:sp>
            </mc:Fallback>
          </mc:AlternateContent>
          <p:sp>
            <p:nvSpPr>
              <p:cNvPr id="38" name="箭头: 右 37">
                <a:extLst>
                  <a:ext uri="{FF2B5EF4-FFF2-40B4-BE49-F238E27FC236}">
                    <a16:creationId xmlns:a16="http://schemas.microsoft.com/office/drawing/2014/main" id="{D4848F2E-F4E0-4F75-820F-3BB0D8DA495B}"/>
                  </a:ext>
                </a:extLst>
              </p:cNvPr>
              <p:cNvSpPr/>
              <p:nvPr/>
            </p:nvSpPr>
            <p:spPr>
              <a:xfrm>
                <a:off x="2576320" y="3953533"/>
                <a:ext cx="79042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右 38">
                <a:extLst>
                  <a:ext uri="{FF2B5EF4-FFF2-40B4-BE49-F238E27FC236}">
                    <a16:creationId xmlns:a16="http://schemas.microsoft.com/office/drawing/2014/main" id="{2792E880-B5AB-481A-AFCB-A5D2E4D18582}"/>
                  </a:ext>
                </a:extLst>
              </p:cNvPr>
              <p:cNvSpPr/>
              <p:nvPr/>
            </p:nvSpPr>
            <p:spPr>
              <a:xfrm>
                <a:off x="5644201" y="3953533"/>
                <a:ext cx="104893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右 39">
                <a:extLst>
                  <a:ext uri="{FF2B5EF4-FFF2-40B4-BE49-F238E27FC236}">
                    <a16:creationId xmlns:a16="http://schemas.microsoft.com/office/drawing/2014/main" id="{00C8966E-C9E5-4711-9E96-55D226F24178}"/>
                  </a:ext>
                </a:extLst>
              </p:cNvPr>
              <p:cNvSpPr/>
              <p:nvPr/>
            </p:nvSpPr>
            <p:spPr>
              <a:xfrm>
                <a:off x="8631575" y="3930673"/>
                <a:ext cx="98410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C5ED744D-C421-4EF3-96D2-D0EFB0AF304E}"/>
                  </a:ext>
                </a:extLst>
              </p:cNvPr>
              <p:cNvSpPr txBox="1"/>
              <p:nvPr/>
            </p:nvSpPr>
            <p:spPr>
              <a:xfrm>
                <a:off x="2804321" y="3388608"/>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𝟕</m:t>
                      </m:r>
                    </m:oMath>
                  </m:oMathPara>
                </a14:m>
                <a:endParaRPr lang="zh-CN" altLang="en-US" sz="2000" b="1">
                  <a:solidFill>
                    <a:schemeClr val="accent2">
                      <a:lumMod val="50000"/>
                    </a:schemeClr>
                  </a:solidFill>
                </a:endParaRPr>
              </a:p>
            </p:txBody>
          </p:sp>
        </mc:Choice>
        <mc:Fallback xmlns="">
          <p:sp>
            <p:nvSpPr>
              <p:cNvPr id="41" name="文本框 40">
                <a:extLst>
                  <a:ext uri="{FF2B5EF4-FFF2-40B4-BE49-F238E27FC236}">
                    <a16:creationId xmlns:a16="http://schemas.microsoft.com/office/drawing/2014/main" id="{C5ED744D-C421-4EF3-96D2-D0EFB0AF304E}"/>
                  </a:ext>
                </a:extLst>
              </p:cNvPr>
              <p:cNvSpPr txBox="1">
                <a:spLocks noRot="1" noChangeAspect="1" noMove="1" noResize="1" noEditPoints="1" noAdjustHandles="1" noChangeArrowheads="1" noChangeShapeType="1" noTextEdit="1"/>
              </p:cNvSpPr>
              <p:nvPr/>
            </p:nvSpPr>
            <p:spPr>
              <a:xfrm>
                <a:off x="2804321" y="3388608"/>
                <a:ext cx="586595" cy="307777"/>
              </a:xfrm>
              <a:prstGeom prst="rect">
                <a:avLst/>
              </a:prstGeom>
              <a:blipFill>
                <a:blip r:embed="rId17"/>
                <a:stretch>
                  <a:fillRect l="-14583" r="-14583"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269843DD-FD80-4929-A078-7C1A87CFA4D9}"/>
                  </a:ext>
                </a:extLst>
              </p:cNvPr>
              <p:cNvSpPr txBox="1"/>
              <p:nvPr/>
            </p:nvSpPr>
            <p:spPr>
              <a:xfrm>
                <a:off x="5985077" y="3388608"/>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𝟖</m:t>
                      </m:r>
                    </m:oMath>
                  </m:oMathPara>
                </a14:m>
                <a:endParaRPr lang="zh-CN" altLang="en-US" sz="2000" b="1">
                  <a:solidFill>
                    <a:schemeClr val="accent2">
                      <a:lumMod val="50000"/>
                    </a:schemeClr>
                  </a:solidFill>
                </a:endParaRPr>
              </a:p>
            </p:txBody>
          </p:sp>
        </mc:Choice>
        <mc:Fallback xmlns="">
          <p:sp>
            <p:nvSpPr>
              <p:cNvPr id="42" name="文本框 41">
                <a:extLst>
                  <a:ext uri="{FF2B5EF4-FFF2-40B4-BE49-F238E27FC236}">
                    <a16:creationId xmlns:a16="http://schemas.microsoft.com/office/drawing/2014/main" id="{269843DD-FD80-4929-A078-7C1A87CFA4D9}"/>
                  </a:ext>
                </a:extLst>
              </p:cNvPr>
              <p:cNvSpPr txBox="1">
                <a:spLocks noRot="1" noChangeAspect="1" noMove="1" noResize="1" noEditPoints="1" noAdjustHandles="1" noChangeArrowheads="1" noChangeShapeType="1" noTextEdit="1"/>
              </p:cNvSpPr>
              <p:nvPr/>
            </p:nvSpPr>
            <p:spPr>
              <a:xfrm>
                <a:off x="5985077" y="3388608"/>
                <a:ext cx="586595" cy="307777"/>
              </a:xfrm>
              <a:prstGeom prst="rect">
                <a:avLst/>
              </a:prstGeom>
              <a:blipFill>
                <a:blip r:embed="rId18"/>
                <a:stretch>
                  <a:fillRect l="-20833" r="-14583" b="-3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23BCE3E5-66D0-4D0A-B7DE-862D12BD31F2}"/>
                  </a:ext>
                </a:extLst>
              </p:cNvPr>
              <p:cNvSpPr txBox="1"/>
              <p:nvPr/>
            </p:nvSpPr>
            <p:spPr>
              <a:xfrm>
                <a:off x="2801837" y="4436451"/>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𝟓</m:t>
                      </m:r>
                    </m:oMath>
                  </m:oMathPara>
                </a14:m>
                <a:endParaRPr lang="zh-CN" altLang="en-US" sz="2000" b="1">
                  <a:solidFill>
                    <a:schemeClr val="accent2">
                      <a:lumMod val="50000"/>
                    </a:schemeClr>
                  </a:solidFill>
                </a:endParaRPr>
              </a:p>
            </p:txBody>
          </p:sp>
        </mc:Choice>
        <mc:Fallback xmlns="">
          <p:sp>
            <p:nvSpPr>
              <p:cNvPr id="43" name="文本框 42">
                <a:extLst>
                  <a:ext uri="{FF2B5EF4-FFF2-40B4-BE49-F238E27FC236}">
                    <a16:creationId xmlns:a16="http://schemas.microsoft.com/office/drawing/2014/main" id="{23BCE3E5-66D0-4D0A-B7DE-862D12BD31F2}"/>
                  </a:ext>
                </a:extLst>
              </p:cNvPr>
              <p:cNvSpPr txBox="1">
                <a:spLocks noRot="1" noChangeAspect="1" noMove="1" noResize="1" noEditPoints="1" noAdjustHandles="1" noChangeArrowheads="1" noChangeShapeType="1" noTextEdit="1"/>
              </p:cNvSpPr>
              <p:nvPr/>
            </p:nvSpPr>
            <p:spPr>
              <a:xfrm>
                <a:off x="2801837" y="4436451"/>
                <a:ext cx="586595" cy="307777"/>
              </a:xfrm>
              <a:prstGeom prst="rect">
                <a:avLst/>
              </a:prstGeom>
              <a:blipFill>
                <a:blip r:embed="rId19"/>
                <a:stretch>
                  <a:fillRect l="-14583" r="-14583"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5AD8EFA6-C514-45C8-8E6F-BF5EB42912BE}"/>
                  </a:ext>
                </a:extLst>
              </p:cNvPr>
              <p:cNvSpPr txBox="1"/>
              <p:nvPr/>
            </p:nvSpPr>
            <p:spPr>
              <a:xfrm>
                <a:off x="2801837" y="5503947"/>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oMath>
                  </m:oMathPara>
                </a14:m>
                <a:endParaRPr lang="zh-CN" altLang="en-US" sz="2000" b="1">
                  <a:solidFill>
                    <a:schemeClr val="accent2">
                      <a:lumMod val="50000"/>
                    </a:schemeClr>
                  </a:solidFill>
                </a:endParaRPr>
              </a:p>
            </p:txBody>
          </p:sp>
        </mc:Choice>
        <mc:Fallback xmlns="">
          <p:sp>
            <p:nvSpPr>
              <p:cNvPr id="44" name="文本框 43">
                <a:extLst>
                  <a:ext uri="{FF2B5EF4-FFF2-40B4-BE49-F238E27FC236}">
                    <a16:creationId xmlns:a16="http://schemas.microsoft.com/office/drawing/2014/main" id="{5AD8EFA6-C514-45C8-8E6F-BF5EB42912BE}"/>
                  </a:ext>
                </a:extLst>
              </p:cNvPr>
              <p:cNvSpPr txBox="1">
                <a:spLocks noRot="1" noChangeAspect="1" noMove="1" noResize="1" noEditPoints="1" noAdjustHandles="1" noChangeArrowheads="1" noChangeShapeType="1" noTextEdit="1"/>
              </p:cNvSpPr>
              <p:nvPr/>
            </p:nvSpPr>
            <p:spPr>
              <a:xfrm>
                <a:off x="2801837" y="5503947"/>
                <a:ext cx="586595" cy="307777"/>
              </a:xfrm>
              <a:prstGeom prst="rect">
                <a:avLst/>
              </a:prstGeom>
              <a:blipFill>
                <a:blip r:embed="rId20"/>
                <a:stretch>
                  <a:fillRect l="-14583" r="-13542"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F298771B-703C-4E8B-B445-C67852FC36D7}"/>
                  </a:ext>
                </a:extLst>
              </p:cNvPr>
              <p:cNvSpPr txBox="1"/>
              <p:nvPr/>
            </p:nvSpPr>
            <p:spPr>
              <a:xfrm>
                <a:off x="5985077" y="4436450"/>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𝟔</m:t>
                      </m:r>
                    </m:oMath>
                  </m:oMathPara>
                </a14:m>
                <a:endParaRPr lang="zh-CN" altLang="en-US" sz="2000" b="1">
                  <a:solidFill>
                    <a:schemeClr val="accent2">
                      <a:lumMod val="50000"/>
                    </a:schemeClr>
                  </a:solidFill>
                </a:endParaRPr>
              </a:p>
            </p:txBody>
          </p:sp>
        </mc:Choice>
        <mc:Fallback xmlns="">
          <p:sp>
            <p:nvSpPr>
              <p:cNvPr id="45" name="文本框 44">
                <a:extLst>
                  <a:ext uri="{FF2B5EF4-FFF2-40B4-BE49-F238E27FC236}">
                    <a16:creationId xmlns:a16="http://schemas.microsoft.com/office/drawing/2014/main" id="{F298771B-703C-4E8B-B445-C67852FC36D7}"/>
                  </a:ext>
                </a:extLst>
              </p:cNvPr>
              <p:cNvSpPr txBox="1">
                <a:spLocks noRot="1" noChangeAspect="1" noMove="1" noResize="1" noEditPoints="1" noAdjustHandles="1" noChangeArrowheads="1" noChangeShapeType="1" noTextEdit="1"/>
              </p:cNvSpPr>
              <p:nvPr/>
            </p:nvSpPr>
            <p:spPr>
              <a:xfrm>
                <a:off x="5985077" y="4436450"/>
                <a:ext cx="586595" cy="307777"/>
              </a:xfrm>
              <a:prstGeom prst="rect">
                <a:avLst/>
              </a:prstGeom>
              <a:blipFill>
                <a:blip r:embed="rId21"/>
                <a:stretch>
                  <a:fillRect l="-20833" r="-14583" b="-3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78506FB9-C99E-4B1C-AF83-C8A018840BF9}"/>
                  </a:ext>
                </a:extLst>
              </p:cNvPr>
              <p:cNvSpPr txBox="1"/>
              <p:nvPr/>
            </p:nvSpPr>
            <p:spPr>
              <a:xfrm>
                <a:off x="5985077" y="5503946"/>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𝟕</m:t>
                      </m:r>
                    </m:oMath>
                  </m:oMathPara>
                </a14:m>
                <a:endParaRPr lang="zh-CN" altLang="en-US" sz="2000" b="1">
                  <a:solidFill>
                    <a:schemeClr val="accent2">
                      <a:lumMod val="50000"/>
                    </a:schemeClr>
                  </a:solidFill>
                </a:endParaRPr>
              </a:p>
            </p:txBody>
          </p:sp>
        </mc:Choice>
        <mc:Fallback xmlns="">
          <p:sp>
            <p:nvSpPr>
              <p:cNvPr id="46" name="文本框 45">
                <a:extLst>
                  <a:ext uri="{FF2B5EF4-FFF2-40B4-BE49-F238E27FC236}">
                    <a16:creationId xmlns:a16="http://schemas.microsoft.com/office/drawing/2014/main" id="{78506FB9-C99E-4B1C-AF83-C8A018840BF9}"/>
                  </a:ext>
                </a:extLst>
              </p:cNvPr>
              <p:cNvSpPr txBox="1">
                <a:spLocks noRot="1" noChangeAspect="1" noMove="1" noResize="1" noEditPoints="1" noAdjustHandles="1" noChangeArrowheads="1" noChangeShapeType="1" noTextEdit="1"/>
              </p:cNvSpPr>
              <p:nvPr/>
            </p:nvSpPr>
            <p:spPr>
              <a:xfrm>
                <a:off x="5985077" y="5503946"/>
                <a:ext cx="586595" cy="307777"/>
              </a:xfrm>
              <a:prstGeom prst="rect">
                <a:avLst/>
              </a:prstGeom>
              <a:blipFill>
                <a:blip r:embed="rId22"/>
                <a:stretch>
                  <a:fillRect l="-20833" r="-14583" b="-34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292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基于全排列覆盖关系的全排列生成算法</a:t>
            </a:r>
          </a:p>
        </p:txBody>
      </p:sp>
      <p:pic>
        <p:nvPicPr>
          <p:cNvPr id="2" name="图片 1">
            <a:extLst>
              <a:ext uri="{FF2B5EF4-FFF2-40B4-BE49-F238E27FC236}">
                <a16:creationId xmlns:a16="http://schemas.microsoft.com/office/drawing/2014/main" id="{247AB878-0E2D-4F8B-B944-17E25C912D9A}"/>
              </a:ext>
            </a:extLst>
          </p:cNvPr>
          <p:cNvPicPr>
            <a:picLocks noChangeAspect="1"/>
          </p:cNvPicPr>
          <p:nvPr/>
        </p:nvPicPr>
        <p:blipFill>
          <a:blip r:embed="rId2"/>
          <a:stretch>
            <a:fillRect/>
          </a:stretch>
        </p:blipFill>
        <p:spPr>
          <a:xfrm>
            <a:off x="674288" y="1179685"/>
            <a:ext cx="10843424" cy="3618592"/>
          </a:xfrm>
          <a:prstGeom prst="rect">
            <a:avLst/>
          </a:prstGeom>
        </p:spPr>
      </p:pic>
      <p:grpSp>
        <p:nvGrpSpPr>
          <p:cNvPr id="11" name="组合 10">
            <a:extLst>
              <a:ext uri="{FF2B5EF4-FFF2-40B4-BE49-F238E27FC236}">
                <a16:creationId xmlns:a16="http://schemas.microsoft.com/office/drawing/2014/main" id="{D4393D54-437E-43DE-81E3-D6EAC2EC109B}"/>
              </a:ext>
            </a:extLst>
          </p:cNvPr>
          <p:cNvGrpSpPr/>
          <p:nvPr/>
        </p:nvGrpSpPr>
        <p:grpSpPr>
          <a:xfrm>
            <a:off x="724722" y="5228549"/>
            <a:ext cx="10742555" cy="912350"/>
            <a:chOff x="598636" y="3532610"/>
            <a:chExt cx="10742555" cy="912350"/>
          </a:xfrm>
        </p:grpSpPr>
        <p:sp>
          <p:nvSpPr>
            <p:cNvPr id="12" name="矩形 11">
              <a:extLst>
                <a:ext uri="{FF2B5EF4-FFF2-40B4-BE49-F238E27FC236}">
                  <a16:creationId xmlns:a16="http://schemas.microsoft.com/office/drawing/2014/main" id="{ABDDE0B4-A940-4C68-A76C-977D94CC287F}"/>
                </a:ext>
              </a:extLst>
            </p:cNvPr>
            <p:cNvSpPr/>
            <p:nvPr/>
          </p:nvSpPr>
          <p:spPr>
            <a:xfrm>
              <a:off x="598636" y="3532610"/>
              <a:ext cx="10742555" cy="91235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6055072D-6FE5-476C-8F30-10E696B5C9BF}"/>
                </a:ext>
              </a:extLst>
            </p:cNvPr>
            <p:cNvGrpSpPr/>
            <p:nvPr/>
          </p:nvGrpSpPr>
          <p:grpSpPr>
            <a:xfrm>
              <a:off x="673548" y="3592162"/>
              <a:ext cx="10601859" cy="789255"/>
              <a:chOff x="673548" y="3592162"/>
              <a:chExt cx="10601859" cy="789255"/>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7FF1507-113F-48EA-A1C2-165405398E27}"/>
                      </a:ext>
                    </a:extLst>
                  </p:cNvPr>
                  <p:cNvSpPr txBox="1"/>
                  <p:nvPr/>
                </p:nvSpPr>
                <p:spPr>
                  <a:xfrm>
                    <a:off x="673548" y="3771699"/>
                    <a:ext cx="1902772" cy="429220"/>
                  </a:xfrm>
                  <a:prstGeom prst="rect">
                    <a:avLst/>
                  </a:prstGeom>
                  <a:solidFill>
                    <a:schemeClr val="accent6">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𝟒𝟐𝟖𝟕𝟔𝟓𝟑𝟏</m:t>
                        </m:r>
                      </m:oMath>
                    </a14:m>
                    <a:r>
                      <a:rPr lang="en-US" altLang="zh-CN" sz="2000" b="1">
                        <a:solidFill>
                          <a:srgbClr val="002060"/>
                        </a:solidFill>
                      </a:rPr>
                      <a:t> </a:t>
                    </a:r>
                    <a:endParaRPr lang="zh-CN" altLang="en-US" sz="2000" b="1">
                      <a:solidFill>
                        <a:srgbClr val="002060"/>
                      </a:solidFill>
                    </a:endParaRPr>
                  </a:p>
                </p:txBody>
              </p:sp>
            </mc:Choice>
            <mc:Fallback xmlns="">
              <p:sp>
                <p:nvSpPr>
                  <p:cNvPr id="14" name="文本框 13">
                    <a:extLst>
                      <a:ext uri="{FF2B5EF4-FFF2-40B4-BE49-F238E27FC236}">
                        <a16:creationId xmlns:a16="http://schemas.microsoft.com/office/drawing/2014/main" id="{97FF1507-113F-48EA-A1C2-165405398E27}"/>
                      </a:ext>
                    </a:extLst>
                  </p:cNvPr>
                  <p:cNvSpPr txBox="1">
                    <a:spLocks noRot="1" noChangeAspect="1" noMove="1" noResize="1" noEditPoints="1" noAdjustHandles="1" noChangeArrowheads="1" noChangeShapeType="1" noTextEdit="1"/>
                  </p:cNvSpPr>
                  <p:nvPr/>
                </p:nvSpPr>
                <p:spPr>
                  <a:xfrm>
                    <a:off x="673548" y="3771699"/>
                    <a:ext cx="1902772" cy="42922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15B6F0C-2C5D-4ABE-A6E0-411010F73B81}"/>
                      </a:ext>
                    </a:extLst>
                  </p:cNvPr>
                  <p:cNvSpPr txBox="1"/>
                  <p:nvPr/>
                </p:nvSpPr>
                <p:spPr>
                  <a:xfrm>
                    <a:off x="3366748" y="3592162"/>
                    <a:ext cx="2277453" cy="789255"/>
                  </a:xfrm>
                  <a:prstGeom prst="rect">
                    <a:avLst/>
                  </a:prstGeom>
                  <a:solidFill>
                    <a:schemeClr val="accent5">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是以</a:t>
                    </a:r>
                    <a14:m>
                      <m:oMath xmlns:m="http://schemas.openxmlformats.org/officeDocument/2006/math">
                        <m:r>
                          <a:rPr lang="en-US" altLang="zh-CN" sz="2000" b="1" i="1">
                            <a:solidFill>
                              <a:srgbClr val="C00000"/>
                            </a:solidFill>
                            <a:latin typeface="Cambria Math" panose="02040503050406030204" pitchFamily="18" charset="0"/>
                          </a:rPr>
                          <m:t>𝟒𝟐</m:t>
                        </m:r>
                      </m:oMath>
                    </a14:m>
                    <a:r>
                      <a:rPr lang="zh-CN" altLang="en-US" sz="2000" b="1">
                        <a:solidFill>
                          <a:srgbClr val="002060"/>
                        </a:solidFill>
                      </a:rPr>
                      <a:t>为最短前缀的最大串</a:t>
                    </a:r>
                  </a:p>
                </p:txBody>
              </p:sp>
            </mc:Choice>
            <mc:Fallback xmlns="">
              <p:sp>
                <p:nvSpPr>
                  <p:cNvPr id="15" name="文本框 14">
                    <a:extLst>
                      <a:ext uri="{FF2B5EF4-FFF2-40B4-BE49-F238E27FC236}">
                        <a16:creationId xmlns:a16="http://schemas.microsoft.com/office/drawing/2014/main" id="{515B6F0C-2C5D-4ABE-A6E0-411010F73B81}"/>
                      </a:ext>
                    </a:extLst>
                  </p:cNvPr>
                  <p:cNvSpPr txBox="1">
                    <a:spLocks noRot="1" noChangeAspect="1" noMove="1" noResize="1" noEditPoints="1" noAdjustHandles="1" noChangeArrowheads="1" noChangeShapeType="1" noTextEdit="1"/>
                  </p:cNvSpPr>
                  <p:nvPr/>
                </p:nvSpPr>
                <p:spPr>
                  <a:xfrm>
                    <a:off x="3366748" y="3592162"/>
                    <a:ext cx="2277453" cy="789255"/>
                  </a:xfrm>
                  <a:prstGeom prst="rect">
                    <a:avLst/>
                  </a:prstGeom>
                  <a:blipFill>
                    <a:blip r:embed="rId4"/>
                    <a:stretch>
                      <a:fillRect l="-2941"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89CDD92-4406-43B1-84FB-340939099E89}"/>
                      </a:ext>
                    </a:extLst>
                  </p:cNvPr>
                  <p:cNvSpPr txBox="1"/>
                  <p:nvPr/>
                </p:nvSpPr>
                <p:spPr>
                  <a:xfrm>
                    <a:off x="6693140" y="3592162"/>
                    <a:ext cx="1938435" cy="788293"/>
                  </a:xfrm>
                  <a:prstGeom prst="rect">
                    <a:avLst/>
                  </a:prstGeom>
                  <a:solidFill>
                    <a:schemeClr val="accent4">
                      <a:lumMod val="20000"/>
                      <a:lumOff val="8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C00000"/>
                            </a:solidFill>
                            <a:latin typeface="Cambria Math" panose="02040503050406030204" pitchFamily="18" charset="0"/>
                          </a:rPr>
                          <m:t>𝟑</m:t>
                        </m:r>
                      </m:oMath>
                    </a14:m>
                    <a:r>
                      <a:rPr lang="zh-CN" altLang="en-US" sz="2000" b="1">
                        <a:solidFill>
                          <a:srgbClr val="002060"/>
                        </a:solidFill>
                      </a:rPr>
                      <a:t>是</a:t>
                    </a:r>
                    <a14:m>
                      <m:oMath xmlns:m="http://schemas.openxmlformats.org/officeDocument/2006/math">
                        <m:r>
                          <a:rPr lang="en-US" altLang="zh-CN" sz="2000" b="1" i="1" smtClean="0">
                            <a:solidFill>
                              <a:srgbClr val="0000FF"/>
                            </a:solidFill>
                            <a:latin typeface="Cambria Math" panose="02040503050406030204" pitchFamily="18" charset="0"/>
                          </a:rPr>
                          <m:t>𝟐</m:t>
                        </m:r>
                      </m:oMath>
                    </a14:m>
                    <a:r>
                      <a:rPr lang="zh-CN" altLang="en-US" sz="2000" b="1">
                        <a:solidFill>
                          <a:srgbClr val="002060"/>
                        </a:solidFill>
                      </a:rPr>
                      <a:t>后面恰好大于</a:t>
                    </a:r>
                    <a14:m>
                      <m:oMath xmlns:m="http://schemas.openxmlformats.org/officeDocument/2006/math">
                        <m:r>
                          <a:rPr lang="en-US" altLang="zh-CN" sz="2000" b="1" i="1" smtClean="0">
                            <a:solidFill>
                              <a:srgbClr val="0000FF"/>
                            </a:solidFill>
                            <a:latin typeface="Cambria Math" panose="02040503050406030204" pitchFamily="18" charset="0"/>
                          </a:rPr>
                          <m:t>𝟐</m:t>
                        </m:r>
                      </m:oMath>
                    </a14:m>
                    <a:r>
                      <a:rPr lang="zh-CN" altLang="en-US" sz="2000" b="1">
                        <a:solidFill>
                          <a:srgbClr val="002060"/>
                        </a:solidFill>
                      </a:rPr>
                      <a:t>的数字</a:t>
                    </a:r>
                  </a:p>
                </p:txBody>
              </p:sp>
            </mc:Choice>
            <mc:Fallback xmlns="">
              <p:sp>
                <p:nvSpPr>
                  <p:cNvPr id="16" name="文本框 15">
                    <a:extLst>
                      <a:ext uri="{FF2B5EF4-FFF2-40B4-BE49-F238E27FC236}">
                        <a16:creationId xmlns:a16="http://schemas.microsoft.com/office/drawing/2014/main" id="{B89CDD92-4406-43B1-84FB-340939099E89}"/>
                      </a:ext>
                    </a:extLst>
                  </p:cNvPr>
                  <p:cNvSpPr txBox="1">
                    <a:spLocks noRot="1" noChangeAspect="1" noMove="1" noResize="1" noEditPoints="1" noAdjustHandles="1" noChangeArrowheads="1" noChangeShapeType="1" noTextEdit="1"/>
                  </p:cNvSpPr>
                  <p:nvPr/>
                </p:nvSpPr>
                <p:spPr>
                  <a:xfrm>
                    <a:off x="6693140" y="3592162"/>
                    <a:ext cx="1938435" cy="788293"/>
                  </a:xfrm>
                  <a:prstGeom prst="rect">
                    <a:avLst/>
                  </a:prstGeom>
                  <a:blipFill>
                    <a:blip r:embed="rId5"/>
                    <a:stretch>
                      <a:fillRect l="-3459"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C0EE8E8-B56C-422E-9CF3-709789E6B672}"/>
                      </a:ext>
                    </a:extLst>
                  </p:cNvPr>
                  <p:cNvSpPr txBox="1"/>
                  <p:nvPr/>
                </p:nvSpPr>
                <p:spPr>
                  <a:xfrm>
                    <a:off x="9619483" y="3592162"/>
                    <a:ext cx="1655924" cy="788293"/>
                  </a:xfrm>
                  <a:prstGeom prst="rect">
                    <a:avLst/>
                  </a:prstGeom>
                  <a:solidFill>
                    <a:schemeClr val="accent2">
                      <a:lumMod val="20000"/>
                      <a:lumOff val="80000"/>
                    </a:schemeClr>
                  </a:solidFill>
                </p:spPr>
                <p:txBody>
                  <a:bodyPr wrap="square" rtlCol="0">
                    <a:spAutoFit/>
                  </a:bodyPr>
                  <a:lstStyle/>
                  <a:p>
                    <a:pPr>
                      <a:lnSpc>
                        <a:spcPts val="2800"/>
                      </a:lnSpc>
                    </a:pPr>
                    <a:r>
                      <a:rPr lang="zh-CN" altLang="en-US" sz="2000" b="1">
                        <a:solidFill>
                          <a:srgbClr val="002060"/>
                        </a:solidFill>
                      </a:rPr>
                      <a:t>覆盖</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的串是</a:t>
                    </a:r>
                    <a14:m>
                      <m:oMath xmlns:m="http://schemas.openxmlformats.org/officeDocument/2006/math">
                        <m:r>
                          <a:rPr lang="en-US" altLang="zh-CN" sz="2000" b="1" i="1" smtClean="0">
                            <a:solidFill>
                              <a:srgbClr val="C00000"/>
                            </a:solidFill>
                            <a:latin typeface="Cambria Math" panose="02040503050406030204" pitchFamily="18" charset="0"/>
                          </a:rPr>
                          <m:t>𝟒𝟑𝟏𝟐𝟓𝟔𝟕𝟖</m:t>
                        </m:r>
                      </m:oMath>
                    </a14:m>
                    <a:endParaRPr lang="zh-CN" altLang="en-US" sz="2000" b="1">
                      <a:solidFill>
                        <a:srgbClr val="002060"/>
                      </a:solidFill>
                    </a:endParaRPr>
                  </a:p>
                </p:txBody>
              </p:sp>
            </mc:Choice>
            <mc:Fallback xmlns="">
              <p:sp>
                <p:nvSpPr>
                  <p:cNvPr id="18" name="文本框 17">
                    <a:extLst>
                      <a:ext uri="{FF2B5EF4-FFF2-40B4-BE49-F238E27FC236}">
                        <a16:creationId xmlns:a16="http://schemas.microsoft.com/office/drawing/2014/main" id="{BC0EE8E8-B56C-422E-9CF3-709789E6B672}"/>
                      </a:ext>
                    </a:extLst>
                  </p:cNvPr>
                  <p:cNvSpPr txBox="1">
                    <a:spLocks noRot="1" noChangeAspect="1" noMove="1" noResize="1" noEditPoints="1" noAdjustHandles="1" noChangeArrowheads="1" noChangeShapeType="1" noTextEdit="1"/>
                  </p:cNvSpPr>
                  <p:nvPr/>
                </p:nvSpPr>
                <p:spPr>
                  <a:xfrm>
                    <a:off x="9619483" y="3592162"/>
                    <a:ext cx="1655924" cy="788293"/>
                  </a:xfrm>
                  <a:prstGeom prst="rect">
                    <a:avLst/>
                  </a:prstGeom>
                  <a:blipFill>
                    <a:blip r:embed="rId6"/>
                    <a:stretch>
                      <a:fillRect l="-4059" r="-1845"/>
                    </a:stretch>
                  </a:blipFill>
                </p:spPr>
                <p:txBody>
                  <a:bodyPr/>
                  <a:lstStyle/>
                  <a:p>
                    <a:r>
                      <a:rPr lang="zh-CN" altLang="en-US">
                        <a:noFill/>
                      </a:rPr>
                      <a:t> </a:t>
                    </a:r>
                  </a:p>
                </p:txBody>
              </p:sp>
            </mc:Fallback>
          </mc:AlternateContent>
          <p:sp>
            <p:nvSpPr>
              <p:cNvPr id="19" name="箭头: 右 18">
                <a:extLst>
                  <a:ext uri="{FF2B5EF4-FFF2-40B4-BE49-F238E27FC236}">
                    <a16:creationId xmlns:a16="http://schemas.microsoft.com/office/drawing/2014/main" id="{2BCBAF4A-6626-4D92-888D-146E328F94EE}"/>
                  </a:ext>
                </a:extLst>
              </p:cNvPr>
              <p:cNvSpPr/>
              <p:nvPr/>
            </p:nvSpPr>
            <p:spPr>
              <a:xfrm>
                <a:off x="2576320" y="3953533"/>
                <a:ext cx="79042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124DF99A-A857-4404-956B-9129AEF42ACF}"/>
                  </a:ext>
                </a:extLst>
              </p:cNvPr>
              <p:cNvSpPr/>
              <p:nvPr/>
            </p:nvSpPr>
            <p:spPr>
              <a:xfrm>
                <a:off x="5644201" y="3953533"/>
                <a:ext cx="104893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FD82726C-9A59-4853-9AB8-D00361CC49B2}"/>
                  </a:ext>
                </a:extLst>
              </p:cNvPr>
              <p:cNvSpPr/>
              <p:nvPr/>
            </p:nvSpPr>
            <p:spPr>
              <a:xfrm>
                <a:off x="8631575" y="3930673"/>
                <a:ext cx="98410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76AB5E4-5B5C-4CBB-91A1-761CE1B4155B}"/>
                  </a:ext>
                </a:extLst>
              </p:cNvPr>
              <p:cNvSpPr txBox="1"/>
              <p:nvPr/>
            </p:nvSpPr>
            <p:spPr>
              <a:xfrm>
                <a:off x="2801838" y="5332069"/>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oMath>
                  </m:oMathPara>
                </a14:m>
                <a:endParaRPr lang="zh-CN" altLang="en-US" sz="2000" b="1">
                  <a:solidFill>
                    <a:schemeClr val="accent2">
                      <a:lumMod val="50000"/>
                    </a:schemeClr>
                  </a:solidFill>
                </a:endParaRPr>
              </a:p>
            </p:txBody>
          </p:sp>
        </mc:Choice>
        <mc:Fallback xmlns="">
          <p:sp>
            <p:nvSpPr>
              <p:cNvPr id="22" name="文本框 21">
                <a:extLst>
                  <a:ext uri="{FF2B5EF4-FFF2-40B4-BE49-F238E27FC236}">
                    <a16:creationId xmlns:a16="http://schemas.microsoft.com/office/drawing/2014/main" id="{D76AB5E4-5B5C-4CBB-91A1-761CE1B4155B}"/>
                  </a:ext>
                </a:extLst>
              </p:cNvPr>
              <p:cNvSpPr txBox="1">
                <a:spLocks noRot="1" noChangeAspect="1" noMove="1" noResize="1" noEditPoints="1" noAdjustHandles="1" noChangeArrowheads="1" noChangeShapeType="1" noTextEdit="1"/>
              </p:cNvSpPr>
              <p:nvPr/>
            </p:nvSpPr>
            <p:spPr>
              <a:xfrm>
                <a:off x="2801838" y="5332069"/>
                <a:ext cx="586595" cy="307777"/>
              </a:xfrm>
              <a:prstGeom prst="rect">
                <a:avLst/>
              </a:prstGeom>
              <a:blipFill>
                <a:blip r:embed="rId7"/>
                <a:stretch>
                  <a:fillRect l="-14583" r="-13542"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598531CB-161B-4DB3-8AEB-BACD27D0CBB1}"/>
                  </a:ext>
                </a:extLst>
              </p:cNvPr>
              <p:cNvSpPr txBox="1"/>
              <p:nvPr/>
            </p:nvSpPr>
            <p:spPr>
              <a:xfrm>
                <a:off x="5985078" y="5332068"/>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𝟕</m:t>
                      </m:r>
                    </m:oMath>
                  </m:oMathPara>
                </a14:m>
                <a:endParaRPr lang="zh-CN" altLang="en-US" sz="2000" b="1">
                  <a:solidFill>
                    <a:schemeClr val="accent2">
                      <a:lumMod val="50000"/>
                    </a:schemeClr>
                  </a:solidFill>
                </a:endParaRPr>
              </a:p>
            </p:txBody>
          </p:sp>
        </mc:Choice>
        <mc:Fallback xmlns="">
          <p:sp>
            <p:nvSpPr>
              <p:cNvPr id="23" name="文本框 22">
                <a:extLst>
                  <a:ext uri="{FF2B5EF4-FFF2-40B4-BE49-F238E27FC236}">
                    <a16:creationId xmlns:a16="http://schemas.microsoft.com/office/drawing/2014/main" id="{598531CB-161B-4DB3-8AEB-BACD27D0CBB1}"/>
                  </a:ext>
                </a:extLst>
              </p:cNvPr>
              <p:cNvSpPr txBox="1">
                <a:spLocks noRot="1" noChangeAspect="1" noMove="1" noResize="1" noEditPoints="1" noAdjustHandles="1" noChangeArrowheads="1" noChangeShapeType="1" noTextEdit="1"/>
              </p:cNvSpPr>
              <p:nvPr/>
            </p:nvSpPr>
            <p:spPr>
              <a:xfrm>
                <a:off x="5985078" y="5332068"/>
                <a:ext cx="586595" cy="307777"/>
              </a:xfrm>
              <a:prstGeom prst="rect">
                <a:avLst/>
              </a:prstGeom>
              <a:blipFill>
                <a:blip r:embed="rId8"/>
                <a:stretch>
                  <a:fillRect l="-20833" r="-14583" b="-3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E276EA-5A04-4FDA-BE76-CF48EE526950}"/>
                  </a:ext>
                </a:extLst>
              </p:cNvPr>
              <p:cNvSpPr txBox="1"/>
              <p:nvPr/>
            </p:nvSpPr>
            <p:spPr>
              <a:xfrm>
                <a:off x="1428421" y="4874459"/>
                <a:ext cx="3121103" cy="369332"/>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2">
                        <a:lumMod val="50000"/>
                      </a:schemeClr>
                    </a:solidFill>
                  </a:rPr>
                  <a:t>算法第</a:t>
                </a:r>
                <a:r>
                  <a:rPr lang="en-US" altLang="zh-CN" b="1">
                    <a:solidFill>
                      <a:schemeClr val="accent2">
                        <a:lumMod val="50000"/>
                      </a:schemeClr>
                    </a:solidFill>
                  </a:rPr>
                  <a:t>1</a:t>
                </a:r>
                <a:r>
                  <a:rPr lang="zh-CN" altLang="en-US" b="1">
                    <a:solidFill>
                      <a:schemeClr val="accent2">
                        <a:lumMod val="50000"/>
                      </a:schemeClr>
                    </a:solidFill>
                  </a:rPr>
                  <a:t>行的循环确定</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𝒊</m:t>
                    </m:r>
                  </m:oMath>
                </a14:m>
                <a:r>
                  <a:rPr lang="zh-CN" altLang="en-US" b="1">
                    <a:solidFill>
                      <a:schemeClr val="accent2">
                        <a:lumMod val="50000"/>
                      </a:schemeClr>
                    </a:solidFill>
                  </a:rPr>
                  <a:t>的值</a:t>
                </a:r>
              </a:p>
            </p:txBody>
          </p:sp>
        </mc:Choice>
        <mc:Fallback xmlns="">
          <p:sp>
            <p:nvSpPr>
              <p:cNvPr id="3" name="文本框 2">
                <a:extLst>
                  <a:ext uri="{FF2B5EF4-FFF2-40B4-BE49-F238E27FC236}">
                    <a16:creationId xmlns:a16="http://schemas.microsoft.com/office/drawing/2014/main" id="{28E276EA-5A04-4FDA-BE76-CF48EE526950}"/>
                  </a:ext>
                </a:extLst>
              </p:cNvPr>
              <p:cNvSpPr txBox="1">
                <a:spLocks noRot="1" noChangeAspect="1" noMove="1" noResize="1" noEditPoints="1" noAdjustHandles="1" noChangeArrowheads="1" noChangeShapeType="1" noTextEdit="1"/>
              </p:cNvSpPr>
              <p:nvPr/>
            </p:nvSpPr>
            <p:spPr>
              <a:xfrm>
                <a:off x="1428421" y="4874459"/>
                <a:ext cx="3121103" cy="369332"/>
              </a:xfrm>
              <a:prstGeom prst="rect">
                <a:avLst/>
              </a:prstGeom>
              <a:blipFill>
                <a:blip r:embed="rId9"/>
                <a:stretch>
                  <a:fillRect l="-1563"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2F898303-665B-42CE-83E0-43076D5C7CFC}"/>
                  </a:ext>
                </a:extLst>
              </p:cNvPr>
              <p:cNvSpPr txBox="1"/>
              <p:nvPr/>
            </p:nvSpPr>
            <p:spPr>
              <a:xfrm>
                <a:off x="4822448" y="4881214"/>
                <a:ext cx="3121103" cy="369332"/>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2">
                        <a:lumMod val="50000"/>
                      </a:schemeClr>
                    </a:solidFill>
                  </a:rPr>
                  <a:t>算法第</a:t>
                </a:r>
                <a:r>
                  <a:rPr lang="en-US" altLang="zh-CN" b="1">
                    <a:solidFill>
                      <a:schemeClr val="accent2">
                        <a:lumMod val="50000"/>
                      </a:schemeClr>
                    </a:solidFill>
                  </a:rPr>
                  <a:t>2</a:t>
                </a:r>
                <a:r>
                  <a:rPr lang="zh-CN" altLang="en-US" b="1">
                    <a:solidFill>
                      <a:schemeClr val="accent2">
                        <a:lumMod val="50000"/>
                      </a:schemeClr>
                    </a:solidFill>
                  </a:rPr>
                  <a:t>行的循环确定</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𝒋</m:t>
                    </m:r>
                  </m:oMath>
                </a14:m>
                <a:r>
                  <a:rPr lang="zh-CN" altLang="en-US" b="1">
                    <a:solidFill>
                      <a:schemeClr val="accent2">
                        <a:lumMod val="50000"/>
                      </a:schemeClr>
                    </a:solidFill>
                  </a:rPr>
                  <a:t>的值</a:t>
                </a:r>
              </a:p>
            </p:txBody>
          </p:sp>
        </mc:Choice>
        <mc:Fallback xmlns="">
          <p:sp>
            <p:nvSpPr>
              <p:cNvPr id="24" name="文本框 23">
                <a:extLst>
                  <a:ext uri="{FF2B5EF4-FFF2-40B4-BE49-F238E27FC236}">
                    <a16:creationId xmlns:a16="http://schemas.microsoft.com/office/drawing/2014/main" id="{2F898303-665B-42CE-83E0-43076D5C7CFC}"/>
                  </a:ext>
                </a:extLst>
              </p:cNvPr>
              <p:cNvSpPr txBox="1">
                <a:spLocks noRot="1" noChangeAspect="1" noMove="1" noResize="1" noEditPoints="1" noAdjustHandles="1" noChangeArrowheads="1" noChangeShapeType="1" noTextEdit="1"/>
              </p:cNvSpPr>
              <p:nvPr/>
            </p:nvSpPr>
            <p:spPr>
              <a:xfrm>
                <a:off x="4822448" y="4881214"/>
                <a:ext cx="3121103" cy="369332"/>
              </a:xfrm>
              <a:prstGeom prst="rect">
                <a:avLst/>
              </a:prstGeom>
              <a:blipFill>
                <a:blip r:embed="rId10"/>
                <a:stretch>
                  <a:fillRect l="-1563"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C26FF54-E9E1-49AE-B636-E89A2B498C1E}"/>
                  </a:ext>
                </a:extLst>
              </p:cNvPr>
              <p:cNvSpPr txBox="1"/>
              <p:nvPr/>
            </p:nvSpPr>
            <p:spPr>
              <a:xfrm>
                <a:off x="8216475" y="4873583"/>
                <a:ext cx="3333258" cy="369332"/>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2">
                        <a:lumMod val="50000"/>
                      </a:schemeClr>
                    </a:solidFill>
                  </a:rPr>
                  <a:t>算法第</a:t>
                </a:r>
                <a:r>
                  <a:rPr lang="en-US" altLang="zh-CN" b="1">
                    <a:solidFill>
                      <a:schemeClr val="accent2">
                        <a:lumMod val="50000"/>
                      </a:schemeClr>
                    </a:solidFill>
                  </a:rPr>
                  <a:t>3</a:t>
                </a:r>
                <a:r>
                  <a:rPr lang="zh-CN" altLang="en-US" b="1">
                    <a:solidFill>
                      <a:schemeClr val="accent2">
                        <a:lumMod val="50000"/>
                      </a:schemeClr>
                    </a:solidFill>
                  </a:rPr>
                  <a:t>到第</a:t>
                </a:r>
                <a:r>
                  <a:rPr lang="en-US" altLang="zh-CN" b="1">
                    <a:solidFill>
                      <a:schemeClr val="accent2">
                        <a:lumMod val="50000"/>
                      </a:schemeClr>
                    </a:solidFill>
                  </a:rPr>
                  <a:t>7</a:t>
                </a:r>
                <a:r>
                  <a:rPr lang="zh-CN" altLang="en-US" b="1">
                    <a:solidFill>
                      <a:schemeClr val="accent2">
                        <a:lumMod val="50000"/>
                      </a:schemeClr>
                    </a:solidFill>
                  </a:rPr>
                  <a:t>行得到覆盖</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a14:m>
                <a:r>
                  <a:rPr lang="zh-CN" altLang="en-US" b="1">
                    <a:solidFill>
                      <a:schemeClr val="accent2">
                        <a:lumMod val="50000"/>
                      </a:schemeClr>
                    </a:solidFill>
                  </a:rPr>
                  <a:t>的串</a:t>
                </a:r>
              </a:p>
            </p:txBody>
          </p:sp>
        </mc:Choice>
        <mc:Fallback xmlns="">
          <p:sp>
            <p:nvSpPr>
              <p:cNvPr id="4" name="文本框 3">
                <a:extLst>
                  <a:ext uri="{FF2B5EF4-FFF2-40B4-BE49-F238E27FC236}">
                    <a16:creationId xmlns:a16="http://schemas.microsoft.com/office/drawing/2014/main" id="{9C26FF54-E9E1-49AE-B636-E89A2B498C1E}"/>
                  </a:ext>
                </a:extLst>
              </p:cNvPr>
              <p:cNvSpPr txBox="1">
                <a:spLocks noRot="1" noChangeAspect="1" noMove="1" noResize="1" noEditPoints="1" noAdjustHandles="1" noChangeArrowheads="1" noChangeShapeType="1" noTextEdit="1"/>
              </p:cNvSpPr>
              <p:nvPr/>
            </p:nvSpPr>
            <p:spPr>
              <a:xfrm>
                <a:off x="8216475" y="4873583"/>
                <a:ext cx="3333258" cy="369332"/>
              </a:xfrm>
              <a:prstGeom prst="rect">
                <a:avLst/>
              </a:prstGeom>
              <a:blipFill>
                <a:blip r:embed="rId11"/>
                <a:stretch>
                  <a:fillRect l="-1645" t="-8197" r="-1463"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9673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全排列覆盖的练习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68D8CFB-624A-40C2-BFA5-0CE5F91FB0B8}"/>
                  </a:ext>
                </a:extLst>
              </p:cNvPr>
              <p:cNvSpPr txBox="1"/>
              <p:nvPr/>
            </p:nvSpPr>
            <p:spPr>
              <a:xfrm>
                <a:off x="1486721" y="1500811"/>
                <a:ext cx="5617970" cy="523220"/>
              </a:xfrm>
              <a:prstGeom prst="rect">
                <a:avLst/>
              </a:prstGeom>
              <a:solidFill>
                <a:schemeClr val="accent6">
                  <a:lumMod val="20000"/>
                  <a:lumOff val="80000"/>
                  <a:alpha val="50000"/>
                </a:schemeClr>
              </a:solidFill>
            </p:spPr>
            <p:txBody>
              <a:bodyPr wrap="square" rtlCol="0">
                <a:spAutoFit/>
              </a:bodyPr>
              <a:lstStyle/>
              <a:p>
                <a:r>
                  <a:rPr lang="zh-CN" altLang="en-US" sz="2800" b="1">
                    <a:solidFill>
                      <a:srgbClr val="002060"/>
                    </a:solidFill>
                    <a:latin typeface="楷体" panose="02010609060101010101" pitchFamily="49" charset="-122"/>
                    <a:ea typeface="楷体" panose="02010609060101010101" pitchFamily="49" charset="-122"/>
                  </a:rPr>
                  <a:t>设集合</a:t>
                </a:r>
                <a14:m>
                  <m:oMath xmlns:m="http://schemas.openxmlformats.org/officeDocument/2006/math">
                    <m:r>
                      <a:rPr lang="en-US" altLang="zh-CN" sz="2800" b="1" i="1" smtClean="0">
                        <a:solidFill>
                          <a:srgbClr val="002060"/>
                        </a:solidFill>
                        <a:latin typeface="Cambria Math" panose="02040503050406030204" pitchFamily="18" charset="0"/>
                      </a:rPr>
                      <m:t>𝑺</m:t>
                    </m:r>
                    <m:r>
                      <a:rPr lang="en-US" altLang="zh-CN" sz="2800" b="1" i="1" smtClean="0">
                        <a:solidFill>
                          <a:srgbClr val="002060"/>
                        </a:solidFill>
                        <a:latin typeface="Cambria Math" panose="02040503050406030204" pitchFamily="18" charset="0"/>
                      </a:rPr>
                      <m:t> = </m:t>
                    </m:r>
                    <m:r>
                      <m:rPr>
                        <m:lit/>
                      </m:rP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𝟏</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𝟐</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𝟑</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𝟒</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𝟓</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𝟔</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𝟕</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𝟖</m:t>
                    </m:r>
                    <m:r>
                      <m:rPr>
                        <m:lit/>
                      </m:rPr>
                      <a:rPr lang="en-US" altLang="zh-CN" sz="2800" b="1" i="1" smtClean="0">
                        <a:solidFill>
                          <a:srgbClr val="002060"/>
                        </a:solidFill>
                        <a:latin typeface="Cambria Math" panose="02040503050406030204" pitchFamily="18" charset="0"/>
                      </a:rPr>
                      <m:t>}</m:t>
                    </m:r>
                  </m:oMath>
                </a14:m>
                <a:endParaRPr lang="en-US" altLang="zh-CN" sz="2800" b="1">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F68D8CFB-624A-40C2-BFA5-0CE5F91FB0B8}"/>
                  </a:ext>
                </a:extLst>
              </p:cNvPr>
              <p:cNvSpPr txBox="1">
                <a:spLocks noRot="1" noChangeAspect="1" noMove="1" noResize="1" noEditPoints="1" noAdjustHandles="1" noChangeArrowheads="1" noChangeShapeType="1" noTextEdit="1"/>
              </p:cNvSpPr>
              <p:nvPr/>
            </p:nvSpPr>
            <p:spPr>
              <a:xfrm>
                <a:off x="1486721" y="1500811"/>
                <a:ext cx="5617970" cy="523220"/>
              </a:xfrm>
              <a:prstGeom prst="rect">
                <a:avLst/>
              </a:prstGeom>
              <a:blipFill>
                <a:blip r:embed="rId2"/>
                <a:stretch>
                  <a:fillRect l="-2280" t="-13953" b="-29070"/>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E4BF9491-60DD-4763-A54A-2AF4C26652A1}"/>
              </a:ext>
            </a:extLst>
          </p:cNvPr>
          <p:cNvGrpSpPr/>
          <p:nvPr/>
        </p:nvGrpSpPr>
        <p:grpSpPr>
          <a:xfrm>
            <a:off x="1486720" y="2271725"/>
            <a:ext cx="8979541" cy="1623862"/>
            <a:chOff x="1486720" y="2271725"/>
            <a:chExt cx="8979541" cy="1623862"/>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9DE15F5-37D7-4EC4-A906-EB27784854BB}"/>
                    </a:ext>
                  </a:extLst>
                </p:cNvPr>
                <p:cNvSpPr txBox="1"/>
                <p:nvPr/>
              </p:nvSpPr>
              <p:spPr>
                <a:xfrm>
                  <a:off x="1486720" y="2285916"/>
                  <a:ext cx="8979541" cy="1609671"/>
                </a:xfrm>
                <a:prstGeom prst="rect">
                  <a:avLst/>
                </a:prstGeom>
                <a:solidFill>
                  <a:schemeClr val="accent6">
                    <a:lumMod val="20000"/>
                    <a:lumOff val="80000"/>
                    <a:alpha val="50000"/>
                  </a:schemeClr>
                </a:solidFill>
              </p:spPr>
              <p:txBody>
                <a:bodyPr wrap="square" rtlCol="0">
                  <a:spAutoFit/>
                </a:bodyPr>
                <a:lstStyle/>
                <a:p>
                  <a:pPr>
                    <a:lnSpc>
                      <a:spcPts val="3200"/>
                    </a:lnSpc>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全排列</a:t>
                  </a:r>
                  <a14:m>
                    <m:oMath xmlns:m="http://schemas.openxmlformats.org/officeDocument/2006/math">
                      <m:r>
                        <a:rPr lang="en-US" altLang="zh-CN" sz="2400" b="1" i="1" smtClean="0">
                          <a:solidFill>
                            <a:srgbClr val="002060"/>
                          </a:solidFill>
                          <a:latin typeface="Cambria Math" panose="02040503050406030204" pitchFamily="18" charset="0"/>
                        </a:rPr>
                        <m:t>𝟒𝟑𝟏𝟔𝟖𝟕𝟓𝟐</m:t>
                      </m:r>
                    </m:oMath>
                  </a14:m>
                  <a:r>
                    <a:rPr lang="zh-CN" altLang="en-US" sz="2400" b="1">
                      <a:solidFill>
                        <a:srgbClr val="002060"/>
                      </a:solidFill>
                      <a:latin typeface="楷体" panose="02010609060101010101" pitchFamily="49" charset="-122"/>
                      <a:ea typeface="楷体" panose="02010609060101010101" pitchFamily="49" charset="-122"/>
                    </a:rPr>
                    <a:t>是以    </a:t>
                  </a:r>
                  <a14:m>
                    <m:oMath xmlns:m="http://schemas.openxmlformats.org/officeDocument/2006/math">
                      <m:r>
                        <a:rPr lang="en-US" altLang="zh-CN" sz="2400" b="1" i="1" smtClean="0">
                          <a:solidFill>
                            <a:srgbClr val="C00000"/>
                          </a:solidFill>
                          <a:latin typeface="Cambria Math" panose="02040503050406030204" pitchFamily="18" charset="0"/>
                        </a:rPr>
                        <m:t>𝟒𝟑𝟏𝟔</m:t>
                      </m:r>
                    </m:oMath>
                  </a14:m>
                  <a:r>
                    <a:rPr lang="en-US" altLang="zh-CN" sz="2400" b="1">
                      <a:solidFill>
                        <a:srgbClr val="C00000"/>
                      </a:solidFill>
                      <a:latin typeface="楷体" panose="02010609060101010101" pitchFamily="49" charset="-122"/>
                      <a:ea typeface="楷体" panose="02010609060101010101" pitchFamily="49" charset="-122"/>
                    </a:rPr>
                    <a:t> </a:t>
                  </a:r>
                  <a:r>
                    <a:rPr lang="en-US" altLang="zh-CN" sz="2400" b="1">
                      <a:solidFill>
                        <a:srgbClr val="002060"/>
                      </a:solidFill>
                      <a:latin typeface="楷体" panose="02010609060101010101" pitchFamily="49" charset="-122"/>
                      <a:ea typeface="楷体" panose="02010609060101010101" pitchFamily="49" charset="-122"/>
                    </a:rPr>
                    <a:t>   </a:t>
                  </a:r>
                  <a:r>
                    <a:rPr lang="zh-CN" altLang="en-US" sz="2400" b="1">
                      <a:solidFill>
                        <a:srgbClr val="002060"/>
                      </a:solidFill>
                      <a:latin typeface="楷体" panose="02010609060101010101" pitchFamily="49" charset="-122"/>
                      <a:ea typeface="楷体" panose="02010609060101010101" pitchFamily="49" charset="-122"/>
                    </a:rPr>
                    <a:t>为最短前缀的最大串</a:t>
                  </a:r>
                </a:p>
                <a:p>
                  <a:pPr marL="342900" indent="-342900">
                    <a:lnSpc>
                      <a:spcPts val="3200"/>
                    </a:lnSpc>
                    <a:spcBef>
                      <a:spcPts val="600"/>
                    </a:spcBef>
                    <a:spcAft>
                      <a:spcPts val="600"/>
                    </a:spcAft>
                    <a:buFont typeface="Arial" panose="020B0604020202020204" pitchFamily="34" charset="0"/>
                    <a:buChar char="•"/>
                  </a:pPr>
                  <a:r>
                    <a:rPr lang="zh-CN" altLang="en-US" sz="2400" b="1">
                      <a:solidFill>
                        <a:schemeClr val="accent6">
                          <a:lumMod val="50000"/>
                        </a:schemeClr>
                      </a:solidFill>
                    </a:rPr>
                    <a:t>覆盖它的是串以    </a:t>
                  </a:r>
                  <a14:m>
                    <m:oMath xmlns:m="http://schemas.openxmlformats.org/officeDocument/2006/math">
                      <m:r>
                        <a:rPr lang="en-US" altLang="zh-CN" sz="2400" b="1" i="1">
                          <a:solidFill>
                            <a:srgbClr val="C00000"/>
                          </a:solidFill>
                          <a:latin typeface="Cambria Math" panose="02040503050406030204" pitchFamily="18" charset="0"/>
                        </a:rPr>
                        <m:t>𝟒𝟑𝟏𝟕</m:t>
                      </m:r>
                    </m:oMath>
                  </a14:m>
                  <a:r>
                    <a:rPr lang="en-US" altLang="zh-CN" sz="2400" b="1">
                      <a:solidFill>
                        <a:schemeClr val="accent6">
                          <a:lumMod val="50000"/>
                        </a:schemeClr>
                      </a:solidFill>
                    </a:rPr>
                    <a:t>    </a:t>
                  </a:r>
                  <a:r>
                    <a:rPr lang="zh-CN" altLang="en-US" sz="2400" b="1">
                      <a:solidFill>
                        <a:schemeClr val="accent6">
                          <a:lumMod val="50000"/>
                        </a:schemeClr>
                      </a:solidFill>
                    </a:rPr>
                    <a:t>开头，剩下的数字以递增顺序排列，</a:t>
                  </a:r>
                  <a:endParaRPr lang="en-US" altLang="zh-CN" sz="2400" b="1">
                    <a:solidFill>
                      <a:schemeClr val="accent6">
                        <a:lumMod val="50000"/>
                      </a:schemeClr>
                    </a:solidFill>
                  </a:endParaRPr>
                </a:p>
                <a:p>
                  <a:pPr lvl="1">
                    <a:lnSpc>
                      <a:spcPts val="3200"/>
                    </a:lnSpc>
                    <a:spcBef>
                      <a:spcPts val="600"/>
                    </a:spcBef>
                    <a:spcAft>
                      <a:spcPts val="600"/>
                    </a:spcAft>
                  </a:pPr>
                  <a:r>
                    <a:rPr lang="zh-CN" altLang="en-US" sz="2400" b="1">
                      <a:solidFill>
                        <a:schemeClr val="accent6">
                          <a:lumMod val="50000"/>
                        </a:schemeClr>
                      </a:solidFill>
                    </a:rPr>
                    <a:t>即    </a:t>
                  </a:r>
                  <a14:m>
                    <m:oMath xmlns:m="http://schemas.openxmlformats.org/officeDocument/2006/math">
                      <m:r>
                        <a:rPr lang="en-US" altLang="zh-CN" sz="2400" b="1" i="1">
                          <a:solidFill>
                            <a:srgbClr val="C00000"/>
                          </a:solidFill>
                          <a:latin typeface="Cambria Math" panose="02040503050406030204" pitchFamily="18" charset="0"/>
                        </a:rPr>
                        <m:t>𝟒𝟑𝟏𝟕𝟐𝟓𝟔𝟖</m:t>
                      </m:r>
                    </m:oMath>
                  </a14:m>
                  <a:r>
                    <a:rPr lang="en-US" altLang="zh-CN" sz="2400" b="1">
                      <a:solidFill>
                        <a:schemeClr val="accent6">
                          <a:lumMod val="50000"/>
                        </a:schemeClr>
                      </a:solidFill>
                    </a:rPr>
                    <a:t> </a:t>
                  </a:r>
                  <a:r>
                    <a:rPr lang="en-US" altLang="zh-CN" sz="2400" b="1"/>
                    <a:t>   </a:t>
                  </a:r>
                </a:p>
              </p:txBody>
            </p:sp>
          </mc:Choice>
          <mc:Fallback xmlns="">
            <p:sp>
              <p:nvSpPr>
                <p:cNvPr id="3" name="文本框 2">
                  <a:extLst>
                    <a:ext uri="{FF2B5EF4-FFF2-40B4-BE49-F238E27FC236}">
                      <a16:creationId xmlns:a16="http://schemas.microsoft.com/office/drawing/2014/main" id="{69DE15F5-37D7-4EC4-A906-EB27784854BB}"/>
                    </a:ext>
                  </a:extLst>
                </p:cNvPr>
                <p:cNvSpPr txBox="1">
                  <a:spLocks noRot="1" noChangeAspect="1" noMove="1" noResize="1" noEditPoints="1" noAdjustHandles="1" noChangeArrowheads="1" noChangeShapeType="1" noTextEdit="1"/>
                </p:cNvSpPr>
                <p:nvPr/>
              </p:nvSpPr>
              <p:spPr>
                <a:xfrm>
                  <a:off x="1486720" y="2285916"/>
                  <a:ext cx="8979541" cy="1609671"/>
                </a:xfrm>
                <a:prstGeom prst="rect">
                  <a:avLst/>
                </a:prstGeom>
                <a:blipFill>
                  <a:blip r:embed="rId3"/>
                  <a:stretch>
                    <a:fillRect l="-1086" t="-3788" r="-543" b="-7955"/>
                  </a:stretch>
                </a:blipFill>
              </p:spPr>
              <p:txBody>
                <a:bodyPr/>
                <a:lstStyle/>
                <a:p>
                  <a:r>
                    <a:rPr lang="zh-CN" altLang="en-US">
                      <a:noFill/>
                    </a:rPr>
                    <a:t> </a:t>
                  </a:r>
                </a:p>
              </p:txBody>
            </p:sp>
          </mc:Fallback>
        </mc:AlternateContent>
        <p:cxnSp>
          <p:nvCxnSpPr>
            <p:cNvPr id="12" name="直接连接符 11">
              <a:extLst>
                <a:ext uri="{FF2B5EF4-FFF2-40B4-BE49-F238E27FC236}">
                  <a16:creationId xmlns:a16="http://schemas.microsoft.com/office/drawing/2014/main" id="{E178352F-3A3C-4B11-8247-041E66F8898A}"/>
                </a:ext>
              </a:extLst>
            </p:cNvPr>
            <p:cNvCxnSpPr/>
            <p:nvPr/>
          </p:nvCxnSpPr>
          <p:spPr>
            <a:xfrm>
              <a:off x="4677255" y="2651102"/>
              <a:ext cx="1795908"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47DE98D-9C5D-4E8E-86E4-50F6BBB4E7FA}"/>
                </a:ext>
              </a:extLst>
            </p:cNvPr>
            <p:cNvCxnSpPr>
              <a:cxnSpLocks/>
            </p:cNvCxnSpPr>
            <p:nvPr/>
          </p:nvCxnSpPr>
          <p:spPr>
            <a:xfrm>
              <a:off x="4150981" y="3236581"/>
              <a:ext cx="1276213"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30D0624-0C61-417E-88AB-BCAC9B47BC07}"/>
                </a:ext>
              </a:extLst>
            </p:cNvPr>
            <p:cNvCxnSpPr>
              <a:cxnSpLocks/>
            </p:cNvCxnSpPr>
            <p:nvPr/>
          </p:nvCxnSpPr>
          <p:spPr>
            <a:xfrm>
              <a:off x="2394544" y="3823157"/>
              <a:ext cx="1980103"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06FD9CC2-35D3-4007-8AD9-403E9BBA8C24}"/>
                </a:ext>
              </a:extLst>
            </p:cNvPr>
            <p:cNvSpPr txBox="1"/>
            <p:nvPr/>
          </p:nvSpPr>
          <p:spPr>
            <a:xfrm>
              <a:off x="4677255" y="2271725"/>
              <a:ext cx="1835379" cy="369332"/>
            </a:xfrm>
            <a:prstGeom prst="rect">
              <a:avLst/>
            </a:prstGeom>
            <a:solidFill>
              <a:srgbClr val="F0F7EC"/>
            </a:solidFill>
          </p:spPr>
          <p:txBody>
            <a:bodyPr wrap="square" tIns="0" bIns="0" rtlCol="0">
              <a:spAutoFit/>
            </a:bodyPr>
            <a:lstStyle/>
            <a:p>
              <a:pPr algn="ctr"/>
              <a:r>
                <a:rPr lang="en-US" altLang="zh-CN" sz="2400" b="1">
                  <a:solidFill>
                    <a:srgbClr val="C00000"/>
                  </a:solidFill>
                </a:rPr>
                <a:t>(1)</a:t>
              </a:r>
              <a:endParaRPr lang="zh-CN" altLang="en-US" sz="2400" b="1">
                <a:solidFill>
                  <a:srgbClr val="C00000"/>
                </a:solidFill>
              </a:endParaRPr>
            </a:p>
          </p:txBody>
        </p:sp>
        <p:sp>
          <p:nvSpPr>
            <p:cNvPr id="20" name="文本框 19">
              <a:extLst>
                <a:ext uri="{FF2B5EF4-FFF2-40B4-BE49-F238E27FC236}">
                  <a16:creationId xmlns:a16="http://schemas.microsoft.com/office/drawing/2014/main" id="{7E7AF6E7-5B61-4634-B7B3-43D2590BDE97}"/>
                </a:ext>
              </a:extLst>
            </p:cNvPr>
            <p:cNvSpPr txBox="1"/>
            <p:nvPr/>
          </p:nvSpPr>
          <p:spPr>
            <a:xfrm>
              <a:off x="2460327" y="3426414"/>
              <a:ext cx="1835379" cy="369332"/>
            </a:xfrm>
            <a:prstGeom prst="rect">
              <a:avLst/>
            </a:prstGeom>
            <a:solidFill>
              <a:srgbClr val="F0F7EC"/>
            </a:solidFill>
          </p:spPr>
          <p:txBody>
            <a:bodyPr wrap="square" tIns="0" bIns="0" rtlCol="0">
              <a:spAutoFit/>
            </a:bodyPr>
            <a:lstStyle/>
            <a:p>
              <a:pPr algn="ctr"/>
              <a:r>
                <a:rPr lang="en-US" altLang="zh-CN" sz="2400" b="1">
                  <a:solidFill>
                    <a:srgbClr val="C00000"/>
                  </a:solidFill>
                </a:rPr>
                <a:t>(3)</a:t>
              </a:r>
              <a:endParaRPr lang="zh-CN" altLang="en-US" sz="2400" b="1">
                <a:solidFill>
                  <a:srgbClr val="C00000"/>
                </a:solidFill>
              </a:endParaRPr>
            </a:p>
          </p:txBody>
        </p:sp>
        <p:sp>
          <p:nvSpPr>
            <p:cNvPr id="23" name="文本框 22">
              <a:extLst>
                <a:ext uri="{FF2B5EF4-FFF2-40B4-BE49-F238E27FC236}">
                  <a16:creationId xmlns:a16="http://schemas.microsoft.com/office/drawing/2014/main" id="{F8B9DCF2-6CAB-46B5-9972-768DF22C61F9}"/>
                </a:ext>
              </a:extLst>
            </p:cNvPr>
            <p:cNvSpPr txBox="1"/>
            <p:nvPr/>
          </p:nvSpPr>
          <p:spPr>
            <a:xfrm>
              <a:off x="4165233" y="2844629"/>
              <a:ext cx="1261961" cy="369332"/>
            </a:xfrm>
            <a:prstGeom prst="rect">
              <a:avLst/>
            </a:prstGeom>
            <a:solidFill>
              <a:srgbClr val="F0F7EC"/>
            </a:solidFill>
          </p:spPr>
          <p:txBody>
            <a:bodyPr wrap="square" tIns="0" bIns="0" rtlCol="0">
              <a:spAutoFit/>
            </a:bodyPr>
            <a:lstStyle/>
            <a:p>
              <a:pPr algn="ctr"/>
              <a:r>
                <a:rPr lang="en-US" altLang="zh-CN" sz="2400" b="1">
                  <a:solidFill>
                    <a:srgbClr val="C00000"/>
                  </a:solidFill>
                </a:rPr>
                <a:t>(2)</a:t>
              </a:r>
              <a:endParaRPr lang="zh-CN" altLang="en-US" sz="2400" b="1">
                <a:solidFill>
                  <a:srgbClr val="C00000"/>
                </a:solidFill>
              </a:endParaRPr>
            </a:p>
          </p:txBody>
        </p:sp>
      </p:grpSp>
      <p:grpSp>
        <p:nvGrpSpPr>
          <p:cNvPr id="13" name="组合 12">
            <a:extLst>
              <a:ext uri="{FF2B5EF4-FFF2-40B4-BE49-F238E27FC236}">
                <a16:creationId xmlns:a16="http://schemas.microsoft.com/office/drawing/2014/main" id="{3F70888F-1AF2-4114-AAE5-60497367AE0C}"/>
              </a:ext>
            </a:extLst>
          </p:cNvPr>
          <p:cNvGrpSpPr/>
          <p:nvPr/>
        </p:nvGrpSpPr>
        <p:grpSpPr>
          <a:xfrm>
            <a:off x="1486720" y="4157472"/>
            <a:ext cx="9124267" cy="1610826"/>
            <a:chOff x="1486720" y="4157472"/>
            <a:chExt cx="9124267" cy="1610826"/>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E5ADA13-6FB4-4952-B442-DA42396BB190}"/>
                    </a:ext>
                  </a:extLst>
                </p:cNvPr>
                <p:cNvSpPr txBox="1"/>
                <p:nvPr/>
              </p:nvSpPr>
              <p:spPr>
                <a:xfrm>
                  <a:off x="1486720" y="4157472"/>
                  <a:ext cx="9124267" cy="1610826"/>
                </a:xfrm>
                <a:prstGeom prst="rect">
                  <a:avLst/>
                </a:prstGeom>
                <a:solidFill>
                  <a:schemeClr val="accent6">
                    <a:lumMod val="20000"/>
                    <a:lumOff val="80000"/>
                    <a:alpha val="50000"/>
                  </a:schemeClr>
                </a:solidFill>
              </p:spPr>
              <p:txBody>
                <a:bodyPr wrap="square" rtlCol="0">
                  <a:spAutoFit/>
                </a:bodyPr>
                <a:lstStyle/>
                <a:p>
                  <a:pPr>
                    <a:lnSpc>
                      <a:spcPts val="3200"/>
                    </a:lnSpc>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全排列</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𝟓𝟑𝟐𝟏𝟔𝟖𝟕𝟒</m:t>
                      </m:r>
                    </m:oMath>
                  </a14:m>
                  <a:r>
                    <a:rPr lang="zh-CN" altLang="en-US" sz="2400" b="1">
                      <a:solidFill>
                        <a:srgbClr val="002060"/>
                      </a:solidFill>
                      <a:latin typeface="楷体" panose="02010609060101010101" pitchFamily="49" charset="-122"/>
                      <a:ea typeface="楷体" panose="02010609060101010101" pitchFamily="49" charset="-122"/>
                    </a:rPr>
                    <a:t>是以   </a:t>
                  </a:r>
                  <a14:m>
                    <m:oMath xmlns:m="http://schemas.openxmlformats.org/officeDocument/2006/math">
                      <m:r>
                        <a:rPr lang="zh-CN" altLang="en-US"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𝟓𝟑𝟐𝟏𝟔</m:t>
                      </m:r>
                    </m:oMath>
                  </a14:m>
                  <a:r>
                    <a:rPr lang="en-US" altLang="zh-CN" sz="2400" b="1">
                      <a:solidFill>
                        <a:srgbClr val="002060"/>
                      </a:solidFill>
                      <a:latin typeface="楷体" panose="02010609060101010101" pitchFamily="49" charset="-122"/>
                      <a:ea typeface="楷体" panose="02010609060101010101" pitchFamily="49" charset="-122"/>
                    </a:rPr>
                    <a:t>    </a:t>
                  </a:r>
                  <a:r>
                    <a:rPr lang="zh-CN" altLang="en-US" sz="2400" b="1">
                      <a:solidFill>
                        <a:srgbClr val="002060"/>
                      </a:solidFill>
                      <a:latin typeface="楷体" panose="02010609060101010101" pitchFamily="49" charset="-122"/>
                      <a:ea typeface="楷体" panose="02010609060101010101" pitchFamily="49" charset="-122"/>
                    </a:rPr>
                    <a:t>为最短前缀的最大串</a:t>
                  </a:r>
                </a:p>
                <a:p>
                  <a:pPr marL="342900" indent="-342900">
                    <a:lnSpc>
                      <a:spcPts val="3200"/>
                    </a:lnSpc>
                    <a:spcBef>
                      <a:spcPts val="600"/>
                    </a:spcBef>
                    <a:spcAft>
                      <a:spcPts val="600"/>
                    </a:spcAft>
                    <a:buFont typeface="Arial" panose="020B0604020202020204" pitchFamily="34" charset="0"/>
                    <a:buChar char="•"/>
                  </a:pPr>
                  <a:r>
                    <a:rPr lang="zh-CN" altLang="en-US" sz="2400" b="1">
                      <a:solidFill>
                        <a:schemeClr val="accent6">
                          <a:lumMod val="50000"/>
                        </a:schemeClr>
                      </a:solidFill>
                    </a:rPr>
                    <a:t>覆盖它的是串以    </a:t>
                  </a:r>
                  <a14:m>
                    <m:oMath xmlns:m="http://schemas.openxmlformats.org/officeDocument/2006/math">
                      <m:r>
                        <a:rPr lang="en-US" altLang="zh-CN" sz="2400" b="1" i="1">
                          <a:solidFill>
                            <a:srgbClr val="C00000"/>
                          </a:solidFill>
                          <a:latin typeface="Cambria Math" panose="02040503050406030204" pitchFamily="18" charset="0"/>
                        </a:rPr>
                        <m:t>𝟓𝟑𝟐𝟏𝟕</m:t>
                      </m:r>
                    </m:oMath>
                  </a14:m>
                  <a:r>
                    <a:rPr lang="en-US" altLang="zh-CN" sz="2400" b="1">
                      <a:solidFill>
                        <a:schemeClr val="accent6">
                          <a:lumMod val="50000"/>
                        </a:schemeClr>
                      </a:solidFill>
                    </a:rPr>
                    <a:t>    </a:t>
                  </a:r>
                  <a:r>
                    <a:rPr lang="zh-CN" altLang="en-US" sz="2400" b="1">
                      <a:solidFill>
                        <a:schemeClr val="accent6">
                          <a:lumMod val="50000"/>
                        </a:schemeClr>
                      </a:solidFill>
                    </a:rPr>
                    <a:t>开头，剩下的数字以递增顺序排列，</a:t>
                  </a:r>
                  <a:endParaRPr lang="en-US" altLang="zh-CN" sz="2400" b="1">
                    <a:solidFill>
                      <a:schemeClr val="accent6">
                        <a:lumMod val="50000"/>
                      </a:schemeClr>
                    </a:solidFill>
                  </a:endParaRPr>
                </a:p>
                <a:p>
                  <a:pPr lvl="1">
                    <a:lnSpc>
                      <a:spcPts val="3200"/>
                    </a:lnSpc>
                    <a:spcBef>
                      <a:spcPts val="600"/>
                    </a:spcBef>
                    <a:spcAft>
                      <a:spcPts val="600"/>
                    </a:spcAft>
                  </a:pPr>
                  <a:r>
                    <a:rPr lang="zh-CN" altLang="en-US" sz="2400" b="1">
                      <a:solidFill>
                        <a:schemeClr val="accent6">
                          <a:lumMod val="50000"/>
                        </a:schemeClr>
                      </a:solidFill>
                    </a:rPr>
                    <a:t>即    </a:t>
                  </a:r>
                  <a14:m>
                    <m:oMath xmlns:m="http://schemas.openxmlformats.org/officeDocument/2006/math">
                      <m:r>
                        <a:rPr lang="en-US" altLang="zh-CN" sz="2400" b="1" i="1">
                          <a:solidFill>
                            <a:srgbClr val="C00000"/>
                          </a:solidFill>
                          <a:latin typeface="Cambria Math" panose="02040503050406030204" pitchFamily="18" charset="0"/>
                        </a:rPr>
                        <m:t>𝟓𝟑𝟐𝟏𝟕𝟒𝟔𝟖</m:t>
                      </m:r>
                    </m:oMath>
                  </a14:m>
                  <a:r>
                    <a:rPr lang="en-US" altLang="zh-CN" sz="2400" b="1">
                      <a:solidFill>
                        <a:schemeClr val="accent6">
                          <a:lumMod val="50000"/>
                        </a:schemeClr>
                      </a:solidFill>
                    </a:rPr>
                    <a:t> </a:t>
                  </a:r>
                  <a:r>
                    <a:rPr lang="en-US" altLang="zh-CN" sz="2400" b="1"/>
                    <a:t>   </a:t>
                  </a:r>
                </a:p>
              </p:txBody>
            </p:sp>
          </mc:Choice>
          <mc:Fallback xmlns="">
            <p:sp>
              <p:nvSpPr>
                <p:cNvPr id="6" name="文本框 5">
                  <a:extLst>
                    <a:ext uri="{FF2B5EF4-FFF2-40B4-BE49-F238E27FC236}">
                      <a16:creationId xmlns:a16="http://schemas.microsoft.com/office/drawing/2014/main" id="{4E5ADA13-6FB4-4952-B442-DA42396BB190}"/>
                    </a:ext>
                  </a:extLst>
                </p:cNvPr>
                <p:cNvSpPr txBox="1">
                  <a:spLocks noRot="1" noChangeAspect="1" noMove="1" noResize="1" noEditPoints="1" noAdjustHandles="1" noChangeArrowheads="1" noChangeShapeType="1" noTextEdit="1"/>
                </p:cNvSpPr>
                <p:nvPr/>
              </p:nvSpPr>
              <p:spPr>
                <a:xfrm>
                  <a:off x="1486720" y="4157472"/>
                  <a:ext cx="9124267" cy="1610826"/>
                </a:xfrm>
                <a:prstGeom prst="rect">
                  <a:avLst/>
                </a:prstGeom>
                <a:blipFill>
                  <a:blip r:embed="rId4"/>
                  <a:stretch>
                    <a:fillRect l="-1069" t="-3788" r="-935" b="-7955"/>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AE0BB5CC-AA27-42E8-9A50-2C3E8EC1405E}"/>
                </a:ext>
              </a:extLst>
            </p:cNvPr>
            <p:cNvCxnSpPr>
              <a:cxnSpLocks/>
            </p:cNvCxnSpPr>
            <p:nvPr/>
          </p:nvCxnSpPr>
          <p:spPr>
            <a:xfrm>
              <a:off x="4677255" y="4559940"/>
              <a:ext cx="190774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CDFFE16-5A82-4F07-8A6C-8B6C71CF97F6}"/>
                </a:ext>
              </a:extLst>
            </p:cNvPr>
            <p:cNvCxnSpPr>
              <a:cxnSpLocks/>
            </p:cNvCxnSpPr>
            <p:nvPr/>
          </p:nvCxnSpPr>
          <p:spPr>
            <a:xfrm>
              <a:off x="4165233" y="5119105"/>
              <a:ext cx="1409976"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2780AE7-9667-4CC0-887B-AD73EF2B9FB4}"/>
                </a:ext>
              </a:extLst>
            </p:cNvPr>
            <p:cNvCxnSpPr>
              <a:cxnSpLocks/>
            </p:cNvCxnSpPr>
            <p:nvPr/>
          </p:nvCxnSpPr>
          <p:spPr>
            <a:xfrm>
              <a:off x="2394544" y="5685946"/>
              <a:ext cx="1980103"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8B3A4D9E-7596-46B1-9556-72536C875183}"/>
                </a:ext>
              </a:extLst>
            </p:cNvPr>
            <p:cNvSpPr txBox="1"/>
            <p:nvPr/>
          </p:nvSpPr>
          <p:spPr>
            <a:xfrm>
              <a:off x="4677255" y="4170727"/>
              <a:ext cx="1835379" cy="369332"/>
            </a:xfrm>
            <a:prstGeom prst="rect">
              <a:avLst/>
            </a:prstGeom>
            <a:solidFill>
              <a:srgbClr val="F0F7EC"/>
            </a:solidFill>
          </p:spPr>
          <p:txBody>
            <a:bodyPr wrap="square" tIns="0" bIns="0" rtlCol="0">
              <a:spAutoFit/>
            </a:bodyPr>
            <a:lstStyle/>
            <a:p>
              <a:pPr algn="ctr"/>
              <a:r>
                <a:rPr lang="en-US" altLang="zh-CN" sz="2400" b="1">
                  <a:solidFill>
                    <a:srgbClr val="C00000"/>
                  </a:solidFill>
                </a:rPr>
                <a:t>(4)</a:t>
              </a:r>
              <a:endParaRPr lang="zh-CN" altLang="en-US" sz="2400" b="1">
                <a:solidFill>
                  <a:srgbClr val="C00000"/>
                </a:solidFill>
              </a:endParaRPr>
            </a:p>
          </p:txBody>
        </p:sp>
        <p:sp>
          <p:nvSpPr>
            <p:cNvPr id="22" name="文本框 21">
              <a:extLst>
                <a:ext uri="{FF2B5EF4-FFF2-40B4-BE49-F238E27FC236}">
                  <a16:creationId xmlns:a16="http://schemas.microsoft.com/office/drawing/2014/main" id="{C26844D3-976E-43FE-97A0-4E5F11AE1641}"/>
                </a:ext>
              </a:extLst>
            </p:cNvPr>
            <p:cNvSpPr txBox="1"/>
            <p:nvPr/>
          </p:nvSpPr>
          <p:spPr>
            <a:xfrm>
              <a:off x="2471290" y="5280891"/>
              <a:ext cx="1835379" cy="369332"/>
            </a:xfrm>
            <a:prstGeom prst="rect">
              <a:avLst/>
            </a:prstGeom>
            <a:solidFill>
              <a:srgbClr val="F0F7EC"/>
            </a:solidFill>
          </p:spPr>
          <p:txBody>
            <a:bodyPr wrap="square" tIns="0" bIns="0" rtlCol="0">
              <a:spAutoFit/>
            </a:bodyPr>
            <a:lstStyle/>
            <a:p>
              <a:pPr algn="ctr"/>
              <a:r>
                <a:rPr lang="en-US" altLang="zh-CN" sz="2400" b="1">
                  <a:solidFill>
                    <a:srgbClr val="C00000"/>
                  </a:solidFill>
                </a:rPr>
                <a:t>(6)</a:t>
              </a:r>
              <a:endParaRPr lang="zh-CN" altLang="en-US" sz="2400" b="1">
                <a:solidFill>
                  <a:srgbClr val="C00000"/>
                </a:solidFill>
              </a:endParaRPr>
            </a:p>
          </p:txBody>
        </p:sp>
        <p:sp>
          <p:nvSpPr>
            <p:cNvPr id="25" name="文本框 24">
              <a:extLst>
                <a:ext uri="{FF2B5EF4-FFF2-40B4-BE49-F238E27FC236}">
                  <a16:creationId xmlns:a16="http://schemas.microsoft.com/office/drawing/2014/main" id="{5C791535-944D-4935-B7B7-2F83DDBCF6A6}"/>
                </a:ext>
              </a:extLst>
            </p:cNvPr>
            <p:cNvSpPr txBox="1"/>
            <p:nvPr/>
          </p:nvSpPr>
          <p:spPr>
            <a:xfrm>
              <a:off x="4239240" y="4729891"/>
              <a:ext cx="1261961" cy="369332"/>
            </a:xfrm>
            <a:prstGeom prst="rect">
              <a:avLst/>
            </a:prstGeom>
            <a:solidFill>
              <a:srgbClr val="F0F7EC"/>
            </a:solidFill>
          </p:spPr>
          <p:txBody>
            <a:bodyPr wrap="square" tIns="0" bIns="0" rtlCol="0">
              <a:spAutoFit/>
            </a:bodyPr>
            <a:lstStyle/>
            <a:p>
              <a:pPr algn="ctr"/>
              <a:r>
                <a:rPr lang="en-US" altLang="zh-CN" sz="2400" b="1">
                  <a:solidFill>
                    <a:srgbClr val="C00000"/>
                  </a:solidFill>
                </a:rPr>
                <a:t>(5)</a:t>
              </a:r>
              <a:endParaRPr lang="zh-CN" altLang="en-US" sz="2400" b="1">
                <a:solidFill>
                  <a:srgbClr val="C00000"/>
                </a:solidFill>
              </a:endParaRPr>
            </a:p>
          </p:txBody>
        </p:sp>
      </p:grpSp>
    </p:spTree>
    <p:extLst>
      <p:ext uri="{BB962C8B-B14F-4D97-AF65-F5344CB8AC3E}">
        <p14:creationId xmlns:p14="http://schemas.microsoft.com/office/powerpoint/2010/main" val="2876284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全排列覆盖的练习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9DE15F5-37D7-4EC4-A906-EB27784854BB}"/>
                  </a:ext>
                </a:extLst>
              </p:cNvPr>
              <p:cNvSpPr txBox="1"/>
              <p:nvPr/>
            </p:nvSpPr>
            <p:spPr>
              <a:xfrm>
                <a:off x="1486720" y="2285916"/>
                <a:ext cx="8979541" cy="1609671"/>
              </a:xfrm>
              <a:prstGeom prst="rect">
                <a:avLst/>
              </a:prstGeom>
              <a:solidFill>
                <a:schemeClr val="accent6">
                  <a:lumMod val="20000"/>
                  <a:lumOff val="80000"/>
                  <a:alpha val="50000"/>
                </a:schemeClr>
              </a:solidFill>
            </p:spPr>
            <p:txBody>
              <a:bodyPr wrap="square" rtlCol="0">
                <a:spAutoFit/>
              </a:bodyPr>
              <a:lstStyle/>
              <a:p>
                <a:pPr>
                  <a:lnSpc>
                    <a:spcPts val="3200"/>
                  </a:lnSpc>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全排列</a:t>
                </a:r>
                <a14:m>
                  <m:oMath xmlns:m="http://schemas.openxmlformats.org/officeDocument/2006/math">
                    <m:r>
                      <a:rPr lang="en-US" altLang="zh-CN" sz="2400" b="1" i="1" smtClean="0">
                        <a:solidFill>
                          <a:srgbClr val="002060"/>
                        </a:solidFill>
                        <a:latin typeface="Cambria Math" panose="02040503050406030204" pitchFamily="18" charset="0"/>
                      </a:rPr>
                      <m:t>𝟒𝟑𝟏𝟔𝟖𝟕𝟓𝟐</m:t>
                    </m:r>
                  </m:oMath>
                </a14:m>
                <a:r>
                  <a:rPr lang="zh-CN" altLang="en-US" sz="2400" b="1">
                    <a:solidFill>
                      <a:srgbClr val="002060"/>
                    </a:solidFill>
                    <a:latin typeface="楷体" panose="02010609060101010101" pitchFamily="49" charset="-122"/>
                    <a:ea typeface="楷体" panose="02010609060101010101" pitchFamily="49" charset="-122"/>
                  </a:rPr>
                  <a:t>是以    </a:t>
                </a:r>
                <a14:m>
                  <m:oMath xmlns:m="http://schemas.openxmlformats.org/officeDocument/2006/math">
                    <m:r>
                      <a:rPr lang="en-US" altLang="zh-CN" sz="2400" b="1" i="1" smtClean="0">
                        <a:solidFill>
                          <a:srgbClr val="C00000"/>
                        </a:solidFill>
                        <a:latin typeface="Cambria Math" panose="02040503050406030204" pitchFamily="18" charset="0"/>
                      </a:rPr>
                      <m:t>𝟒𝟑𝟏𝟔</m:t>
                    </m:r>
                  </m:oMath>
                </a14:m>
                <a:r>
                  <a:rPr lang="en-US" altLang="zh-CN" sz="2400" b="1">
                    <a:solidFill>
                      <a:srgbClr val="C00000"/>
                    </a:solidFill>
                    <a:latin typeface="楷体" panose="02010609060101010101" pitchFamily="49" charset="-122"/>
                    <a:ea typeface="楷体" panose="02010609060101010101" pitchFamily="49" charset="-122"/>
                  </a:rPr>
                  <a:t> </a:t>
                </a:r>
                <a:r>
                  <a:rPr lang="en-US" altLang="zh-CN" sz="2400" b="1">
                    <a:solidFill>
                      <a:srgbClr val="002060"/>
                    </a:solidFill>
                    <a:latin typeface="楷体" panose="02010609060101010101" pitchFamily="49" charset="-122"/>
                    <a:ea typeface="楷体" panose="02010609060101010101" pitchFamily="49" charset="-122"/>
                  </a:rPr>
                  <a:t>   </a:t>
                </a:r>
                <a:r>
                  <a:rPr lang="zh-CN" altLang="en-US" sz="2400" b="1">
                    <a:solidFill>
                      <a:srgbClr val="002060"/>
                    </a:solidFill>
                    <a:latin typeface="楷体" panose="02010609060101010101" pitchFamily="49" charset="-122"/>
                    <a:ea typeface="楷体" panose="02010609060101010101" pitchFamily="49" charset="-122"/>
                  </a:rPr>
                  <a:t>为最短前缀的最大串</a:t>
                </a:r>
              </a:p>
              <a:p>
                <a:pPr marL="342900" indent="-342900">
                  <a:lnSpc>
                    <a:spcPts val="3200"/>
                  </a:lnSpc>
                  <a:spcBef>
                    <a:spcPts val="600"/>
                  </a:spcBef>
                  <a:spcAft>
                    <a:spcPts val="600"/>
                  </a:spcAft>
                  <a:buFont typeface="Arial" panose="020B0604020202020204" pitchFamily="34" charset="0"/>
                  <a:buChar char="•"/>
                </a:pPr>
                <a:r>
                  <a:rPr lang="zh-CN" altLang="en-US" sz="2400" b="1">
                    <a:solidFill>
                      <a:schemeClr val="accent6">
                        <a:lumMod val="50000"/>
                      </a:schemeClr>
                    </a:solidFill>
                  </a:rPr>
                  <a:t>覆盖它的是串以    </a:t>
                </a:r>
                <a14:m>
                  <m:oMath xmlns:m="http://schemas.openxmlformats.org/officeDocument/2006/math">
                    <m:r>
                      <a:rPr lang="en-US" altLang="zh-CN" sz="2400" b="1" i="1">
                        <a:solidFill>
                          <a:srgbClr val="C00000"/>
                        </a:solidFill>
                        <a:latin typeface="Cambria Math" panose="02040503050406030204" pitchFamily="18" charset="0"/>
                      </a:rPr>
                      <m:t>𝟒𝟑𝟏𝟕</m:t>
                    </m:r>
                  </m:oMath>
                </a14:m>
                <a:r>
                  <a:rPr lang="en-US" altLang="zh-CN" sz="2400" b="1">
                    <a:solidFill>
                      <a:schemeClr val="accent6">
                        <a:lumMod val="50000"/>
                      </a:schemeClr>
                    </a:solidFill>
                  </a:rPr>
                  <a:t>    </a:t>
                </a:r>
                <a:r>
                  <a:rPr lang="zh-CN" altLang="en-US" sz="2400" b="1">
                    <a:solidFill>
                      <a:schemeClr val="accent6">
                        <a:lumMod val="50000"/>
                      </a:schemeClr>
                    </a:solidFill>
                  </a:rPr>
                  <a:t>开头，剩下的数字以递增顺序排列，</a:t>
                </a:r>
                <a:endParaRPr lang="en-US" altLang="zh-CN" sz="2400" b="1">
                  <a:solidFill>
                    <a:schemeClr val="accent6">
                      <a:lumMod val="50000"/>
                    </a:schemeClr>
                  </a:solidFill>
                </a:endParaRPr>
              </a:p>
              <a:p>
                <a:pPr lvl="1">
                  <a:lnSpc>
                    <a:spcPts val="3200"/>
                  </a:lnSpc>
                  <a:spcBef>
                    <a:spcPts val="600"/>
                  </a:spcBef>
                  <a:spcAft>
                    <a:spcPts val="600"/>
                  </a:spcAft>
                </a:pPr>
                <a:r>
                  <a:rPr lang="zh-CN" altLang="en-US" sz="2400" b="1">
                    <a:solidFill>
                      <a:schemeClr val="accent6">
                        <a:lumMod val="50000"/>
                      </a:schemeClr>
                    </a:solidFill>
                  </a:rPr>
                  <a:t>即    </a:t>
                </a:r>
                <a14:m>
                  <m:oMath xmlns:m="http://schemas.openxmlformats.org/officeDocument/2006/math">
                    <m:r>
                      <a:rPr lang="en-US" altLang="zh-CN" sz="2400" b="1" i="1">
                        <a:solidFill>
                          <a:srgbClr val="C00000"/>
                        </a:solidFill>
                        <a:latin typeface="Cambria Math" panose="02040503050406030204" pitchFamily="18" charset="0"/>
                      </a:rPr>
                      <m:t>𝟒𝟑𝟏𝟕𝟐𝟓𝟔𝟖</m:t>
                    </m:r>
                  </m:oMath>
                </a14:m>
                <a:r>
                  <a:rPr lang="en-US" altLang="zh-CN" sz="2400" b="1">
                    <a:solidFill>
                      <a:schemeClr val="accent6">
                        <a:lumMod val="50000"/>
                      </a:schemeClr>
                    </a:solidFill>
                  </a:rPr>
                  <a:t> </a:t>
                </a:r>
                <a:r>
                  <a:rPr lang="en-US" altLang="zh-CN" sz="2400" b="1"/>
                  <a:t>   </a:t>
                </a:r>
              </a:p>
            </p:txBody>
          </p:sp>
        </mc:Choice>
        <mc:Fallback xmlns="">
          <p:sp>
            <p:nvSpPr>
              <p:cNvPr id="3" name="文本框 2">
                <a:extLst>
                  <a:ext uri="{FF2B5EF4-FFF2-40B4-BE49-F238E27FC236}">
                    <a16:creationId xmlns:a16="http://schemas.microsoft.com/office/drawing/2014/main" id="{69DE15F5-37D7-4EC4-A906-EB27784854BB}"/>
                  </a:ext>
                </a:extLst>
              </p:cNvPr>
              <p:cNvSpPr txBox="1">
                <a:spLocks noRot="1" noChangeAspect="1" noMove="1" noResize="1" noEditPoints="1" noAdjustHandles="1" noChangeArrowheads="1" noChangeShapeType="1" noTextEdit="1"/>
              </p:cNvSpPr>
              <p:nvPr/>
            </p:nvSpPr>
            <p:spPr>
              <a:xfrm>
                <a:off x="1486720" y="2285916"/>
                <a:ext cx="8979541" cy="1609671"/>
              </a:xfrm>
              <a:prstGeom prst="rect">
                <a:avLst/>
              </a:prstGeom>
              <a:blipFill>
                <a:blip r:embed="rId2"/>
                <a:stretch>
                  <a:fillRect l="-1086" t="-3788" r="-543" b="-79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68D8CFB-624A-40C2-BFA5-0CE5F91FB0B8}"/>
                  </a:ext>
                </a:extLst>
              </p:cNvPr>
              <p:cNvSpPr txBox="1"/>
              <p:nvPr/>
            </p:nvSpPr>
            <p:spPr>
              <a:xfrm>
                <a:off x="1486721" y="1500811"/>
                <a:ext cx="5617970" cy="523220"/>
              </a:xfrm>
              <a:prstGeom prst="rect">
                <a:avLst/>
              </a:prstGeom>
              <a:solidFill>
                <a:schemeClr val="accent6">
                  <a:lumMod val="20000"/>
                  <a:lumOff val="80000"/>
                  <a:alpha val="50000"/>
                </a:schemeClr>
              </a:solidFill>
            </p:spPr>
            <p:txBody>
              <a:bodyPr wrap="square" rtlCol="0">
                <a:spAutoFit/>
              </a:bodyPr>
              <a:lstStyle/>
              <a:p>
                <a:r>
                  <a:rPr lang="zh-CN" altLang="en-US" sz="2800" b="1">
                    <a:solidFill>
                      <a:srgbClr val="002060"/>
                    </a:solidFill>
                    <a:latin typeface="楷体" panose="02010609060101010101" pitchFamily="49" charset="-122"/>
                    <a:ea typeface="楷体" panose="02010609060101010101" pitchFamily="49" charset="-122"/>
                  </a:rPr>
                  <a:t>设集合</a:t>
                </a:r>
                <a14:m>
                  <m:oMath xmlns:m="http://schemas.openxmlformats.org/officeDocument/2006/math">
                    <m:r>
                      <a:rPr lang="en-US" altLang="zh-CN" sz="2800" b="1" i="1" smtClean="0">
                        <a:solidFill>
                          <a:srgbClr val="002060"/>
                        </a:solidFill>
                        <a:latin typeface="Cambria Math" panose="02040503050406030204" pitchFamily="18" charset="0"/>
                      </a:rPr>
                      <m:t>𝑺</m:t>
                    </m:r>
                    <m:r>
                      <a:rPr lang="en-US" altLang="zh-CN" sz="2800" b="1" i="1" smtClean="0">
                        <a:solidFill>
                          <a:srgbClr val="002060"/>
                        </a:solidFill>
                        <a:latin typeface="Cambria Math" panose="02040503050406030204" pitchFamily="18" charset="0"/>
                      </a:rPr>
                      <m:t> = </m:t>
                    </m:r>
                    <m:r>
                      <m:rPr>
                        <m:lit/>
                      </m:rP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𝟏</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𝟐</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𝟑</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𝟒</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𝟓</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𝟔</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𝟕</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𝟖</m:t>
                    </m:r>
                    <m:r>
                      <m:rPr>
                        <m:lit/>
                      </m:rPr>
                      <a:rPr lang="en-US" altLang="zh-CN" sz="2800" b="1" i="1" smtClean="0">
                        <a:solidFill>
                          <a:srgbClr val="002060"/>
                        </a:solidFill>
                        <a:latin typeface="Cambria Math" panose="02040503050406030204" pitchFamily="18" charset="0"/>
                      </a:rPr>
                      <m:t>}</m:t>
                    </m:r>
                  </m:oMath>
                </a14:m>
                <a:endParaRPr lang="en-US" altLang="zh-CN" sz="2800" b="1">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F68D8CFB-624A-40C2-BFA5-0CE5F91FB0B8}"/>
                  </a:ext>
                </a:extLst>
              </p:cNvPr>
              <p:cNvSpPr txBox="1">
                <a:spLocks noRot="1" noChangeAspect="1" noMove="1" noResize="1" noEditPoints="1" noAdjustHandles="1" noChangeArrowheads="1" noChangeShapeType="1" noTextEdit="1"/>
              </p:cNvSpPr>
              <p:nvPr/>
            </p:nvSpPr>
            <p:spPr>
              <a:xfrm>
                <a:off x="1486721" y="1500811"/>
                <a:ext cx="5617970" cy="523220"/>
              </a:xfrm>
              <a:prstGeom prst="rect">
                <a:avLst/>
              </a:prstGeom>
              <a:blipFill>
                <a:blip r:embed="rId3"/>
                <a:stretch>
                  <a:fillRect l="-2280"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E5ADA13-6FB4-4952-B442-DA42396BB190}"/>
                  </a:ext>
                </a:extLst>
              </p:cNvPr>
              <p:cNvSpPr txBox="1"/>
              <p:nvPr/>
            </p:nvSpPr>
            <p:spPr>
              <a:xfrm>
                <a:off x="1486720" y="4157472"/>
                <a:ext cx="9124267" cy="1610826"/>
              </a:xfrm>
              <a:prstGeom prst="rect">
                <a:avLst/>
              </a:prstGeom>
              <a:solidFill>
                <a:schemeClr val="accent6">
                  <a:lumMod val="20000"/>
                  <a:lumOff val="80000"/>
                  <a:alpha val="50000"/>
                </a:schemeClr>
              </a:solidFill>
            </p:spPr>
            <p:txBody>
              <a:bodyPr wrap="square" rtlCol="0">
                <a:spAutoFit/>
              </a:bodyPr>
              <a:lstStyle/>
              <a:p>
                <a:pPr>
                  <a:lnSpc>
                    <a:spcPts val="3200"/>
                  </a:lnSpc>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全排列</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𝟓𝟑𝟐𝟏𝟔𝟖𝟕𝟒</m:t>
                    </m:r>
                  </m:oMath>
                </a14:m>
                <a:r>
                  <a:rPr lang="zh-CN" altLang="en-US" sz="2400" b="1">
                    <a:solidFill>
                      <a:srgbClr val="002060"/>
                    </a:solidFill>
                    <a:latin typeface="楷体" panose="02010609060101010101" pitchFamily="49" charset="-122"/>
                    <a:ea typeface="楷体" panose="02010609060101010101" pitchFamily="49" charset="-122"/>
                  </a:rPr>
                  <a:t>是以   </a:t>
                </a:r>
                <a14:m>
                  <m:oMath xmlns:m="http://schemas.openxmlformats.org/officeDocument/2006/math">
                    <m:r>
                      <a:rPr lang="zh-CN" altLang="en-US"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𝟓𝟑𝟐𝟏𝟔</m:t>
                    </m:r>
                  </m:oMath>
                </a14:m>
                <a:r>
                  <a:rPr lang="en-US" altLang="zh-CN" sz="2400" b="1">
                    <a:solidFill>
                      <a:srgbClr val="002060"/>
                    </a:solidFill>
                    <a:latin typeface="楷体" panose="02010609060101010101" pitchFamily="49" charset="-122"/>
                    <a:ea typeface="楷体" panose="02010609060101010101" pitchFamily="49" charset="-122"/>
                  </a:rPr>
                  <a:t>    </a:t>
                </a:r>
                <a:r>
                  <a:rPr lang="zh-CN" altLang="en-US" sz="2400" b="1">
                    <a:solidFill>
                      <a:srgbClr val="002060"/>
                    </a:solidFill>
                    <a:latin typeface="楷体" panose="02010609060101010101" pitchFamily="49" charset="-122"/>
                    <a:ea typeface="楷体" panose="02010609060101010101" pitchFamily="49" charset="-122"/>
                  </a:rPr>
                  <a:t>为最短前缀的最大串</a:t>
                </a:r>
              </a:p>
              <a:p>
                <a:pPr marL="342900" indent="-342900">
                  <a:lnSpc>
                    <a:spcPts val="3200"/>
                  </a:lnSpc>
                  <a:spcBef>
                    <a:spcPts val="600"/>
                  </a:spcBef>
                  <a:spcAft>
                    <a:spcPts val="600"/>
                  </a:spcAft>
                  <a:buFont typeface="Arial" panose="020B0604020202020204" pitchFamily="34" charset="0"/>
                  <a:buChar char="•"/>
                </a:pPr>
                <a:r>
                  <a:rPr lang="zh-CN" altLang="en-US" sz="2400" b="1">
                    <a:solidFill>
                      <a:schemeClr val="accent6">
                        <a:lumMod val="50000"/>
                      </a:schemeClr>
                    </a:solidFill>
                  </a:rPr>
                  <a:t>覆盖它的是串以    </a:t>
                </a:r>
                <a14:m>
                  <m:oMath xmlns:m="http://schemas.openxmlformats.org/officeDocument/2006/math">
                    <m:r>
                      <a:rPr lang="en-US" altLang="zh-CN" sz="2400" b="1" i="1">
                        <a:solidFill>
                          <a:srgbClr val="C00000"/>
                        </a:solidFill>
                        <a:latin typeface="Cambria Math" panose="02040503050406030204" pitchFamily="18" charset="0"/>
                      </a:rPr>
                      <m:t>𝟓𝟑𝟐𝟏𝟕</m:t>
                    </m:r>
                  </m:oMath>
                </a14:m>
                <a:r>
                  <a:rPr lang="en-US" altLang="zh-CN" sz="2400" b="1">
                    <a:solidFill>
                      <a:schemeClr val="accent6">
                        <a:lumMod val="50000"/>
                      </a:schemeClr>
                    </a:solidFill>
                  </a:rPr>
                  <a:t>    </a:t>
                </a:r>
                <a:r>
                  <a:rPr lang="zh-CN" altLang="en-US" sz="2400" b="1">
                    <a:solidFill>
                      <a:schemeClr val="accent6">
                        <a:lumMod val="50000"/>
                      </a:schemeClr>
                    </a:solidFill>
                  </a:rPr>
                  <a:t>开头，剩下的数字以递增顺序排列，</a:t>
                </a:r>
                <a:endParaRPr lang="en-US" altLang="zh-CN" sz="2400" b="1">
                  <a:solidFill>
                    <a:schemeClr val="accent6">
                      <a:lumMod val="50000"/>
                    </a:schemeClr>
                  </a:solidFill>
                </a:endParaRPr>
              </a:p>
              <a:p>
                <a:pPr lvl="1">
                  <a:lnSpc>
                    <a:spcPts val="3200"/>
                  </a:lnSpc>
                  <a:spcBef>
                    <a:spcPts val="600"/>
                  </a:spcBef>
                  <a:spcAft>
                    <a:spcPts val="600"/>
                  </a:spcAft>
                </a:pPr>
                <a:r>
                  <a:rPr lang="zh-CN" altLang="en-US" sz="2400" b="1">
                    <a:solidFill>
                      <a:schemeClr val="accent6">
                        <a:lumMod val="50000"/>
                      </a:schemeClr>
                    </a:solidFill>
                  </a:rPr>
                  <a:t>即    </a:t>
                </a:r>
                <a14:m>
                  <m:oMath xmlns:m="http://schemas.openxmlformats.org/officeDocument/2006/math">
                    <m:r>
                      <a:rPr lang="en-US" altLang="zh-CN" sz="2400" b="1" i="1">
                        <a:solidFill>
                          <a:srgbClr val="C00000"/>
                        </a:solidFill>
                        <a:latin typeface="Cambria Math" panose="02040503050406030204" pitchFamily="18" charset="0"/>
                      </a:rPr>
                      <m:t>𝟓𝟑𝟐𝟏𝟕𝟒𝟔𝟖</m:t>
                    </m:r>
                  </m:oMath>
                </a14:m>
                <a:r>
                  <a:rPr lang="en-US" altLang="zh-CN" sz="2400" b="1">
                    <a:solidFill>
                      <a:schemeClr val="accent6">
                        <a:lumMod val="50000"/>
                      </a:schemeClr>
                    </a:solidFill>
                  </a:rPr>
                  <a:t> </a:t>
                </a:r>
                <a:r>
                  <a:rPr lang="en-US" altLang="zh-CN" sz="2400" b="1"/>
                  <a:t>   </a:t>
                </a:r>
              </a:p>
            </p:txBody>
          </p:sp>
        </mc:Choice>
        <mc:Fallback xmlns="">
          <p:sp>
            <p:nvSpPr>
              <p:cNvPr id="6" name="文本框 5">
                <a:extLst>
                  <a:ext uri="{FF2B5EF4-FFF2-40B4-BE49-F238E27FC236}">
                    <a16:creationId xmlns:a16="http://schemas.microsoft.com/office/drawing/2014/main" id="{4E5ADA13-6FB4-4952-B442-DA42396BB190}"/>
                  </a:ext>
                </a:extLst>
              </p:cNvPr>
              <p:cNvSpPr txBox="1">
                <a:spLocks noRot="1" noChangeAspect="1" noMove="1" noResize="1" noEditPoints="1" noAdjustHandles="1" noChangeArrowheads="1" noChangeShapeType="1" noTextEdit="1"/>
              </p:cNvSpPr>
              <p:nvPr/>
            </p:nvSpPr>
            <p:spPr>
              <a:xfrm>
                <a:off x="1486720" y="4157472"/>
                <a:ext cx="9124267" cy="1610826"/>
              </a:xfrm>
              <a:prstGeom prst="rect">
                <a:avLst/>
              </a:prstGeom>
              <a:blipFill>
                <a:blip r:embed="rId4"/>
                <a:stretch>
                  <a:fillRect l="-1069" t="-3788" r="-935" b="-7955"/>
                </a:stretch>
              </a:blipFill>
            </p:spPr>
            <p:txBody>
              <a:bodyPr/>
              <a:lstStyle/>
              <a:p>
                <a:r>
                  <a:rPr lang="zh-CN" altLang="en-US">
                    <a:noFill/>
                  </a:rPr>
                  <a:t> </a:t>
                </a:r>
              </a:p>
            </p:txBody>
          </p:sp>
        </mc:Fallback>
      </mc:AlternateContent>
      <p:cxnSp>
        <p:nvCxnSpPr>
          <p:cNvPr id="12" name="直接连接符 11">
            <a:extLst>
              <a:ext uri="{FF2B5EF4-FFF2-40B4-BE49-F238E27FC236}">
                <a16:creationId xmlns:a16="http://schemas.microsoft.com/office/drawing/2014/main" id="{E178352F-3A3C-4B11-8247-041E66F8898A}"/>
              </a:ext>
            </a:extLst>
          </p:cNvPr>
          <p:cNvCxnSpPr/>
          <p:nvPr/>
        </p:nvCxnSpPr>
        <p:spPr>
          <a:xfrm>
            <a:off x="4677255" y="2651102"/>
            <a:ext cx="1795908"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E0BB5CC-AA27-42E8-9A50-2C3E8EC1405E}"/>
              </a:ext>
            </a:extLst>
          </p:cNvPr>
          <p:cNvCxnSpPr>
            <a:cxnSpLocks/>
          </p:cNvCxnSpPr>
          <p:nvPr/>
        </p:nvCxnSpPr>
        <p:spPr>
          <a:xfrm>
            <a:off x="4677255" y="4559940"/>
            <a:ext cx="190774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47DE98D-9C5D-4E8E-86E4-50F6BBB4E7FA}"/>
              </a:ext>
            </a:extLst>
          </p:cNvPr>
          <p:cNvCxnSpPr>
            <a:cxnSpLocks/>
          </p:cNvCxnSpPr>
          <p:nvPr/>
        </p:nvCxnSpPr>
        <p:spPr>
          <a:xfrm>
            <a:off x="4150981" y="3236581"/>
            <a:ext cx="1276213"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CDFFE16-5A82-4F07-8A6C-8B6C71CF97F6}"/>
              </a:ext>
            </a:extLst>
          </p:cNvPr>
          <p:cNvCxnSpPr>
            <a:cxnSpLocks/>
          </p:cNvCxnSpPr>
          <p:nvPr/>
        </p:nvCxnSpPr>
        <p:spPr>
          <a:xfrm>
            <a:off x="4165233" y="5119105"/>
            <a:ext cx="1409976"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30D0624-0C61-417E-88AB-BCAC9B47BC07}"/>
              </a:ext>
            </a:extLst>
          </p:cNvPr>
          <p:cNvCxnSpPr>
            <a:cxnSpLocks/>
          </p:cNvCxnSpPr>
          <p:nvPr/>
        </p:nvCxnSpPr>
        <p:spPr>
          <a:xfrm>
            <a:off x="2394544" y="3823157"/>
            <a:ext cx="1980103"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2780AE7-9667-4CC0-887B-AD73EF2B9FB4}"/>
              </a:ext>
            </a:extLst>
          </p:cNvPr>
          <p:cNvCxnSpPr>
            <a:cxnSpLocks/>
          </p:cNvCxnSpPr>
          <p:nvPr/>
        </p:nvCxnSpPr>
        <p:spPr>
          <a:xfrm>
            <a:off x="2394544" y="5685946"/>
            <a:ext cx="1980103"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0704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5186362" cy="3547125"/>
          </a:xfrm>
          <a:prstGeom prst="rect">
            <a:avLst/>
          </a:prstGeom>
          <a:noFill/>
        </p:spPr>
        <p:txBody>
          <a:bodyPr wrap="square" rtlCol="0">
            <a:spAutoFit/>
          </a:bodyPr>
          <a:lstStyle/>
          <a:p>
            <a:pPr>
              <a:lnSpc>
                <a:spcPct val="250000"/>
              </a:lnSpc>
            </a:pPr>
            <a:r>
              <a:rPr lang="zh-CN" altLang="en-US" sz="3200" b="1">
                <a:solidFill>
                  <a:schemeClr val="bg1">
                    <a:lumMod val="95000"/>
                  </a:schemeClr>
                </a:solidFill>
                <a:latin typeface="仿宋" panose="02010609060101010101" pitchFamily="49" charset="-122"/>
                <a:ea typeface="仿宋" panose="02010609060101010101" pitchFamily="49" charset="-122"/>
              </a:rPr>
              <a:t>全排列生成算法</a:t>
            </a:r>
            <a:endParaRPr lang="en-US" altLang="zh-CN" sz="3200" b="1">
              <a:solidFill>
                <a:schemeClr val="bg1">
                  <a:lumMod val="95000"/>
                </a:schemeClr>
              </a:solidFill>
              <a:latin typeface="仿宋" panose="02010609060101010101" pitchFamily="49" charset="-122"/>
              <a:ea typeface="仿宋" panose="02010609060101010101" pitchFamily="49" charset="-122"/>
            </a:endParaRPr>
          </a:p>
          <a:p>
            <a:pPr>
              <a:lnSpc>
                <a:spcPct val="250000"/>
              </a:lnSpc>
            </a:pPr>
            <a:r>
              <a:rPr lang="en-US" altLang="zh-CN" sz="3200" b="1">
                <a:solidFill>
                  <a:schemeClr val="accent6">
                    <a:lumMod val="50000"/>
                  </a:schemeClr>
                </a:solidFill>
                <a:latin typeface="仿宋" panose="02010609060101010101" pitchFamily="49" charset="-122"/>
                <a:ea typeface="仿宋" panose="02010609060101010101" pitchFamily="49" charset="-122"/>
              </a:rPr>
              <a:t>r-</a:t>
            </a:r>
            <a:r>
              <a:rPr lang="zh-CN" altLang="en-US" sz="3200" b="1">
                <a:solidFill>
                  <a:schemeClr val="accent6">
                    <a:lumMod val="50000"/>
                  </a:schemeClr>
                </a:solidFill>
                <a:latin typeface="仿宋" panose="02010609060101010101" pitchFamily="49" charset="-122"/>
                <a:ea typeface="仿宋" panose="02010609060101010101" pitchFamily="49" charset="-122"/>
              </a:rPr>
              <a:t>组合生成算法</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计数问题的递推关系式建模</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60187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字典序与</a:t>
                </a:r>
                <a14:m>
                  <m:oMath xmlns:m="http://schemas.openxmlformats.org/officeDocument/2006/math">
                    <m:r>
                      <a:rPr lang="en-US" altLang="zh-CN" i="1" smtClean="0">
                        <a:latin typeface="Cambria Math" panose="02040503050406030204" pitchFamily="18" charset="0"/>
                      </a:rPr>
                      <m:t>𝑟</m:t>
                    </m:r>
                  </m:oMath>
                </a14:m>
                <a:r>
                  <a:rPr lang="en-US" altLang="zh-CN"/>
                  <a:t>-</a:t>
                </a:r>
                <a:r>
                  <a:rPr lang="zh-CN" altLang="en-US"/>
                  <a:t>组合</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l="-350"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0A42485-F2B8-42FC-BAFC-3676B668AEE7}"/>
                  </a:ext>
                </a:extLst>
              </p:cNvPr>
              <p:cNvSpPr txBox="1"/>
              <p:nvPr/>
            </p:nvSpPr>
            <p:spPr>
              <a:xfrm>
                <a:off x="778446" y="1240309"/>
                <a:ext cx="7010788" cy="132343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下面总假定</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个元素的集合</a:t>
                </a:r>
                <a14:m>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𝒏</m:t>
                    </m:r>
                    <m:r>
                      <m:rPr>
                        <m:lit/>
                      </m:rP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C00000"/>
                    </a:solidFill>
                    <a:latin typeface="+mn-ea"/>
                  </a:rPr>
                  <a:t>严格递增</a:t>
                </a:r>
                <a:r>
                  <a:rPr lang="zh-CN" altLang="en-US" sz="2000" b="1">
                    <a:solidFill>
                      <a:schemeClr val="accent6">
                        <a:lumMod val="50000"/>
                      </a:schemeClr>
                    </a:solidFill>
                    <a:latin typeface="+mn-ea"/>
                  </a:rPr>
                  <a:t>的数字序列</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𝒓</m:t>
                        </m:r>
                      </m:sub>
                    </m:sSub>
                  </m:oMath>
                </a14:m>
                <a:r>
                  <a:rPr lang="zh-CN" altLang="en-US" sz="2000" b="1">
                    <a:solidFill>
                      <a:schemeClr val="accent6">
                        <a:lumMod val="50000"/>
                      </a:schemeClr>
                    </a:solidFill>
                    <a:latin typeface="+mn-ea"/>
                  </a:rPr>
                  <a:t>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latin typeface="+mn-ea"/>
                  </a:rPr>
                  <a:t>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𝒓</m:t>
                    </m:r>
                  </m:oMath>
                </a14:m>
                <a:r>
                  <a:rPr lang="zh-CN" altLang="en-US" sz="2000" b="1">
                    <a:solidFill>
                      <a:schemeClr val="accent6">
                        <a:lumMod val="50000"/>
                      </a:schemeClr>
                    </a:solidFill>
                    <a:latin typeface="+mn-ea"/>
                  </a:rPr>
                  <a:t>组合一一对应，即要求</a:t>
                </a:r>
                <a:endParaRPr lang="en-US" altLang="zh-CN" sz="2000" b="1">
                  <a:solidFill>
                    <a:schemeClr val="accent6">
                      <a:lumMod val="50000"/>
                    </a:schemeClr>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 &lt;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𝟐</m:t>
                          </m:r>
                        </m:sub>
                      </m:sSub>
                      <m:r>
                        <a:rPr lang="en-US" altLang="zh-CN" sz="2000" b="1" i="1">
                          <a:solidFill>
                            <a:schemeClr val="accent2">
                              <a:lumMod val="50000"/>
                            </a:schemeClr>
                          </a:solidFill>
                          <a:latin typeface="Cambria Math" panose="02040503050406030204" pitchFamily="18" charset="0"/>
                        </a:rPr>
                        <m:t> &lt; ⋯</m:t>
                      </m:r>
                      <m:r>
                        <a:rPr lang="en-US" altLang="zh-CN" sz="2000" b="1" i="1" smtClean="0">
                          <a:solidFill>
                            <a:schemeClr val="accent2">
                              <a:lumMod val="50000"/>
                            </a:schemeClr>
                          </a:solidFill>
                          <a:latin typeface="Cambria Math" panose="02040503050406030204" pitchFamily="18" charset="0"/>
                        </a:rPr>
                        <m:t>&lt;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𝒓</m:t>
                          </m:r>
                        </m:sub>
                      </m:sSub>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𝒏</m:t>
                      </m:r>
                    </m:oMath>
                  </m:oMathPara>
                </a14:m>
                <a:endParaRPr lang="en-US" altLang="zh-CN" sz="2000" b="1">
                  <a:solidFill>
                    <a:schemeClr val="accent2">
                      <a:lumMod val="50000"/>
                    </a:schemeClr>
                  </a:solidFill>
                  <a:latin typeface="+mn-ea"/>
                </a:endParaRPr>
              </a:p>
            </p:txBody>
          </p:sp>
        </mc:Choice>
        <mc:Fallback xmlns="">
          <p:sp>
            <p:nvSpPr>
              <p:cNvPr id="2" name="文本框 1">
                <a:extLst>
                  <a:ext uri="{FF2B5EF4-FFF2-40B4-BE49-F238E27FC236}">
                    <a16:creationId xmlns:a16="http://schemas.microsoft.com/office/drawing/2014/main" id="{60A42485-F2B8-42FC-BAFC-3676B668AEE7}"/>
                  </a:ext>
                </a:extLst>
              </p:cNvPr>
              <p:cNvSpPr txBox="1">
                <a:spLocks noRot="1" noChangeAspect="1" noMove="1" noResize="1" noEditPoints="1" noAdjustHandles="1" noChangeArrowheads="1" noChangeShapeType="1" noTextEdit="1"/>
              </p:cNvSpPr>
              <p:nvPr/>
            </p:nvSpPr>
            <p:spPr>
              <a:xfrm>
                <a:off x="778446" y="1240309"/>
                <a:ext cx="7010788" cy="1323439"/>
              </a:xfrm>
              <a:prstGeom prst="rect">
                <a:avLst/>
              </a:prstGeom>
              <a:blipFill>
                <a:blip r:embed="rId3"/>
                <a:stretch>
                  <a:fillRect l="-957" t="-3211" r="-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DD47639-DBF0-401F-90C8-8E7660B11DD7}"/>
                  </a:ext>
                </a:extLst>
              </p:cNvPr>
              <p:cNvSpPr txBox="1"/>
              <p:nvPr/>
            </p:nvSpPr>
            <p:spPr>
              <a:xfrm>
                <a:off x="724075" y="2896049"/>
                <a:ext cx="10743847" cy="2769989"/>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记</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的所有</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𝒓</m:t>
                    </m:r>
                  </m:oMath>
                </a14:m>
                <a:r>
                  <a:rPr lang="en-US" altLang="zh-CN" sz="2400" b="1">
                    <a:solidFill>
                      <a:srgbClr val="002060"/>
                    </a:solidFill>
                    <a:latin typeface="楷体" panose="02010609060101010101" pitchFamily="49" charset="-122"/>
                    <a:ea typeface="楷体" panose="02010609060101010101" pitchFamily="49" charset="-122"/>
                  </a:rPr>
                  <a:t>-</a:t>
                </a:r>
                <a:r>
                  <a:rPr lang="zh-CN" altLang="en-US" sz="2400" b="1">
                    <a:solidFill>
                      <a:srgbClr val="002060"/>
                    </a:solidFill>
                    <a:latin typeface="楷体" panose="02010609060101010101" pitchFamily="49" charset="-122"/>
                    <a:ea typeface="楷体" panose="02010609060101010101" pitchFamily="49" charset="-122"/>
                  </a:rPr>
                  <a:t>组合</a:t>
                </a:r>
                <a:r>
                  <a:rPr lang="en-US" altLang="zh-CN" sz="2400" b="1">
                    <a:solidFill>
                      <a:srgbClr val="002060"/>
                    </a:solidFill>
                    <a:latin typeface="楷体" panose="02010609060101010101" pitchFamily="49" charset="-122"/>
                    <a:ea typeface="楷体" panose="02010609060101010101" pitchFamily="49" charset="-122"/>
                  </a:rPr>
                  <a:t>,</a:t>
                </a:r>
                <a:r>
                  <a:rPr lang="zh-CN" altLang="en-US" sz="2400" b="1">
                    <a:solidFill>
                      <a:srgbClr val="002060"/>
                    </a:solidFill>
                    <a:latin typeface="楷体" panose="02010609060101010101" pitchFamily="49" charset="-122"/>
                    <a:ea typeface="楷体" panose="02010609060101010101" pitchFamily="49" charset="-122"/>
                  </a:rPr>
                  <a:t>即</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𝑺</m:t>
                    </m:r>
                  </m:oMath>
                </a14:m>
                <a:r>
                  <a:rPr lang="zh-CN" altLang="en-US" sz="2400" b="1">
                    <a:solidFill>
                      <a:srgbClr val="002060"/>
                    </a:solidFill>
                    <a:latin typeface="楷体" panose="02010609060101010101" pitchFamily="49" charset="-122"/>
                    <a:ea typeface="楷体" panose="02010609060101010101" pitchFamily="49" charset="-122"/>
                  </a:rPr>
                  <a:t>中</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𝒓</m:t>
                    </m:r>
                  </m:oMath>
                </a14:m>
                <a:r>
                  <a:rPr lang="zh-CN" altLang="en-US" sz="2400" b="1">
                    <a:solidFill>
                      <a:srgbClr val="002060"/>
                    </a:solidFill>
                    <a:latin typeface="楷体" panose="02010609060101010101" pitchFamily="49" charset="-122"/>
                    <a:ea typeface="楷体" panose="02010609060101010101" pitchFamily="49" charset="-122"/>
                  </a:rPr>
                  <a:t>个数字构成的长为</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𝒓</m:t>
                    </m:r>
                  </m:oMath>
                </a14:m>
                <a:r>
                  <a:rPr lang="zh-CN" altLang="en-US" sz="2400" b="1">
                    <a:solidFill>
                      <a:srgbClr val="002060"/>
                    </a:solidFill>
                    <a:latin typeface="楷体" panose="02010609060101010101" pitchFamily="49" charset="-122"/>
                    <a:ea typeface="楷体" panose="02010609060101010101" pitchFamily="49" charset="-122"/>
                  </a:rPr>
                  <a:t>且严格递增的串构成的集合是</a:t>
                </a:r>
                <a14:m>
                  <m:oMath xmlns:m="http://schemas.openxmlformats.org/officeDocument/2006/math">
                    <m:r>
                      <a:rPr lang="en-US" altLang="zh-CN" sz="2400" b="1" i="1" smtClean="0">
                        <a:solidFill>
                          <a:srgbClr val="002060"/>
                        </a:solidFill>
                        <a:latin typeface="Cambria Math" panose="02040503050406030204" pitchFamily="18" charset="0"/>
                      </a:rPr>
                      <m:t>𝑪</m:t>
                    </m:r>
                  </m:oMath>
                </a14:m>
                <a:endParaRPr lang="en-US" altLang="zh-CN" sz="2400" b="1" i="1">
                  <a:solidFill>
                    <a:srgbClr val="002060"/>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14:m>
                  <m:oMath xmlns:m="http://schemas.openxmlformats.org/officeDocument/2006/math">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𝑪</m:t>
                        </m:r>
                        <m:r>
                          <a:rPr lang="en-US" altLang="zh-CN" sz="2000" b="1" i="1">
                            <a:solidFill>
                              <a:schemeClr val="accent6">
                                <a:lumMod val="50000"/>
                              </a:schemeClr>
                            </a:solidFill>
                            <a:latin typeface="Cambria Math" panose="02040503050406030204" pitchFamily="18" charset="0"/>
                          </a:rPr>
                          <m:t>,≼</m:t>
                        </m:r>
                      </m:e>
                    </m:d>
                  </m:oMath>
                </a14:m>
                <a:r>
                  <a:rPr lang="zh-CN" altLang="en-US" sz="2000" b="1">
                    <a:solidFill>
                      <a:schemeClr val="accent6">
                        <a:lumMod val="50000"/>
                      </a:schemeClr>
                    </a:solidFill>
                    <a:latin typeface="+mn-ea"/>
                  </a:rPr>
                  <a:t>也是全序集，</a:t>
                </a:r>
                <a:r>
                  <a:rPr lang="zh-CN" altLang="en-US" sz="2000" b="1">
                    <a:solidFill>
                      <a:schemeClr val="accent6">
                        <a:lumMod val="50000"/>
                      </a:schemeClr>
                    </a:solidFill>
                  </a:rPr>
                  <a:t>最小的</a:t>
                </a:r>
                <a14:m>
                  <m:oMath xmlns:m="http://schemas.openxmlformats.org/officeDocument/2006/math">
                    <m:r>
                      <a:rPr lang="en-US" altLang="zh-CN" sz="2000" b="1" i="1">
                        <a:solidFill>
                          <a:schemeClr val="accent6">
                            <a:lumMod val="50000"/>
                          </a:schemeClr>
                        </a:solidFill>
                        <a:latin typeface="Cambria Math" panose="02040503050406030204" pitchFamily="18" charset="0"/>
                      </a:rPr>
                      <m:t>𝒓</m:t>
                    </m:r>
                  </m:oMath>
                </a14:m>
                <a:r>
                  <a:rPr lang="en-US" altLang="zh-CN" sz="2000" b="1">
                    <a:solidFill>
                      <a:schemeClr val="accent6">
                        <a:lumMod val="50000"/>
                      </a:schemeClr>
                    </a:solidFill>
                  </a:rPr>
                  <a:t>-</a:t>
                </a:r>
                <a:r>
                  <a:rPr lang="zh-CN" altLang="en-US" sz="2000" b="1">
                    <a:solidFill>
                      <a:schemeClr val="accent6">
                        <a:lumMod val="50000"/>
                      </a:schemeClr>
                    </a:solidFill>
                  </a:rPr>
                  <a:t>组合是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𝟏𝟐𝟑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a14:m>
                <a:r>
                  <a:rPr lang="zh-CN" altLang="en-US" sz="2000" b="1">
                    <a:solidFill>
                      <a:schemeClr val="accent6">
                        <a:lumMod val="50000"/>
                      </a:schemeClr>
                    </a:solidFill>
                  </a:rPr>
                  <a:t>，最大的</a:t>
                </a:r>
                <a14:m>
                  <m:oMath xmlns:m="http://schemas.openxmlformats.org/officeDocument/2006/math">
                    <m:r>
                      <a:rPr lang="en-US" altLang="zh-CN" sz="2000" b="1" i="1">
                        <a:solidFill>
                          <a:schemeClr val="accent6">
                            <a:lumMod val="50000"/>
                          </a:schemeClr>
                        </a:solidFill>
                        <a:latin typeface="Cambria Math" panose="02040503050406030204" pitchFamily="18" charset="0"/>
                      </a:rPr>
                      <m:t>𝒓</m:t>
                    </m:r>
                  </m:oMath>
                </a14:m>
                <a:r>
                  <a:rPr lang="en-US" altLang="zh-CN" sz="2000" b="1">
                    <a:solidFill>
                      <a:schemeClr val="accent6">
                        <a:lumMod val="50000"/>
                      </a:schemeClr>
                    </a:solidFill>
                  </a:rPr>
                  <a:t>-</a:t>
                </a:r>
                <a:r>
                  <a:rPr lang="zh-CN" altLang="en-US" sz="2000" b="1">
                    <a:solidFill>
                      <a:schemeClr val="accent6">
                        <a:lumMod val="50000"/>
                      </a:schemeClr>
                    </a:solidFill>
                  </a:rPr>
                  <a:t>组合是</a:t>
                </a:r>
                <a14:m>
                  <m:oMath xmlns:m="http://schemas.openxmlformats.org/officeDocument/2006/math">
                    <m:d>
                      <m:dPr>
                        <m:ctrlPr>
                          <a:rPr lang="pt-BR" altLang="zh-CN" sz="2000" b="1" i="1" smtClean="0">
                            <a:solidFill>
                              <a:schemeClr val="accent6">
                                <a:lumMod val="50000"/>
                              </a:schemeClr>
                            </a:solidFill>
                            <a:latin typeface="Cambria Math" panose="02040503050406030204" pitchFamily="18" charset="0"/>
                          </a:rPr>
                        </m:ctrlPr>
                      </m:dPr>
                      <m:e>
                        <m:r>
                          <a:rPr lang="pt-BR" altLang="zh-CN" sz="2000" b="1" i="1">
                            <a:solidFill>
                              <a:schemeClr val="accent6">
                                <a:lumMod val="50000"/>
                              </a:schemeClr>
                            </a:solidFill>
                            <a:latin typeface="Cambria Math" panose="02040503050406030204" pitchFamily="18" charset="0"/>
                          </a:rPr>
                          <m:t>𝒏</m:t>
                        </m:r>
                        <m:r>
                          <a:rPr lang="pt-BR" altLang="zh-CN" sz="2000" b="1" i="1">
                            <a:solidFill>
                              <a:schemeClr val="accent6">
                                <a:lumMod val="50000"/>
                              </a:schemeClr>
                            </a:solidFill>
                            <a:latin typeface="Cambria Math" panose="02040503050406030204" pitchFamily="18" charset="0"/>
                          </a:rPr>
                          <m:t>−</m:t>
                        </m:r>
                        <m:r>
                          <a:rPr lang="pt-BR" altLang="zh-CN" sz="2000" b="1" i="1">
                            <a:solidFill>
                              <a:schemeClr val="accent6">
                                <a:lumMod val="50000"/>
                              </a:schemeClr>
                            </a:solidFill>
                            <a:latin typeface="Cambria Math" panose="02040503050406030204" pitchFamily="18" charset="0"/>
                          </a:rPr>
                          <m:t>𝒓</m:t>
                        </m:r>
                        <m:r>
                          <a:rPr lang="pt-BR" altLang="zh-CN" sz="2000" b="1" i="1">
                            <a:solidFill>
                              <a:schemeClr val="accent6">
                                <a:lumMod val="50000"/>
                              </a:schemeClr>
                            </a:solidFill>
                            <a:latin typeface="Cambria Math" panose="02040503050406030204" pitchFamily="18" charset="0"/>
                          </a:rPr>
                          <m:t>+</m:t>
                        </m:r>
                        <m:r>
                          <a:rPr lang="pt-BR" altLang="zh-CN" sz="2000" b="1" i="1">
                            <a:solidFill>
                              <a:schemeClr val="accent6">
                                <a:lumMod val="50000"/>
                              </a:schemeClr>
                            </a:solidFill>
                            <a:latin typeface="Cambria Math" panose="02040503050406030204" pitchFamily="18" charset="0"/>
                          </a:rPr>
                          <m:t>𝟏</m:t>
                        </m:r>
                      </m:e>
                    </m:d>
                    <m:d>
                      <m:dPr>
                        <m:ctrlPr>
                          <a:rPr lang="pt-BR" altLang="zh-CN" sz="2000" b="1" i="1">
                            <a:solidFill>
                              <a:schemeClr val="accent6">
                                <a:lumMod val="50000"/>
                              </a:schemeClr>
                            </a:solidFill>
                            <a:latin typeface="Cambria Math" panose="02040503050406030204" pitchFamily="18" charset="0"/>
                          </a:rPr>
                        </m:ctrlPr>
                      </m:dPr>
                      <m:e>
                        <m:r>
                          <a:rPr lang="pt-BR" altLang="zh-CN" sz="2000" b="1" i="1">
                            <a:solidFill>
                              <a:schemeClr val="accent6">
                                <a:lumMod val="50000"/>
                              </a:schemeClr>
                            </a:solidFill>
                            <a:latin typeface="Cambria Math" panose="02040503050406030204" pitchFamily="18" charset="0"/>
                          </a:rPr>
                          <m:t>𝒏</m:t>
                        </m:r>
                        <m:r>
                          <a:rPr lang="pt-BR" altLang="zh-CN" sz="2000" b="1" i="1">
                            <a:solidFill>
                              <a:schemeClr val="accent6">
                                <a:lumMod val="50000"/>
                              </a:schemeClr>
                            </a:solidFill>
                            <a:latin typeface="Cambria Math" panose="02040503050406030204" pitchFamily="18" charset="0"/>
                          </a:rPr>
                          <m:t>−</m:t>
                        </m:r>
                        <m:r>
                          <a:rPr lang="pt-BR" altLang="zh-CN" sz="2000" b="1" i="1">
                            <a:solidFill>
                              <a:schemeClr val="accent6">
                                <a:lumMod val="50000"/>
                              </a:schemeClr>
                            </a:solidFill>
                            <a:latin typeface="Cambria Math" panose="02040503050406030204" pitchFamily="18" charset="0"/>
                          </a:rPr>
                          <m:t>𝒓</m:t>
                        </m:r>
                        <m:r>
                          <a:rPr lang="pt-BR" altLang="zh-CN" sz="2000" b="1" i="1">
                            <a:solidFill>
                              <a:schemeClr val="accent6">
                                <a:lumMod val="50000"/>
                              </a:schemeClr>
                            </a:solidFill>
                            <a:latin typeface="Cambria Math" panose="02040503050406030204" pitchFamily="18" charset="0"/>
                          </a:rPr>
                          <m:t>+</m:t>
                        </m:r>
                        <m:r>
                          <a:rPr lang="pt-BR" altLang="zh-CN" sz="2000" b="1" i="1">
                            <a:solidFill>
                              <a:schemeClr val="accent6">
                                <a:lumMod val="50000"/>
                              </a:schemeClr>
                            </a:solidFill>
                            <a:latin typeface="Cambria Math" panose="02040503050406030204" pitchFamily="18" charset="0"/>
                          </a:rPr>
                          <m:t>𝟐</m:t>
                        </m:r>
                      </m:e>
                    </m:d>
                    <m:r>
                      <a:rPr lang="pt-BR" altLang="zh-CN" sz="2000" b="1" i="1">
                        <a:solidFill>
                          <a:schemeClr val="accent6">
                            <a:lumMod val="50000"/>
                          </a:schemeClr>
                        </a:solidFill>
                        <a:latin typeface="Cambria Math" panose="02040503050406030204" pitchFamily="18" charset="0"/>
                      </a:rPr>
                      <m:t>⋯</m:t>
                    </m:r>
                    <m:r>
                      <a:rPr lang="pt-BR" altLang="zh-CN" sz="2000" b="1" i="1">
                        <a:solidFill>
                          <a:schemeClr val="accent6">
                            <a:lumMod val="50000"/>
                          </a:schemeClr>
                        </a:solidFill>
                        <a:latin typeface="Cambria Math" panose="02040503050406030204" pitchFamily="18" charset="0"/>
                      </a:rPr>
                      <m:t>𝒏</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对</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𝑪</m:t>
                    </m:r>
                  </m:oMath>
                </a14:m>
                <a:r>
                  <a:rPr lang="zh-CN" altLang="en-US" sz="2000" b="1">
                    <a:solidFill>
                      <a:schemeClr val="accent6">
                        <a:lumMod val="50000"/>
                      </a:schemeClr>
                    </a:solidFill>
                  </a:rPr>
                  <a:t>中任意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𝒓</m:t>
                    </m:r>
                  </m:oMath>
                </a14:m>
                <a:r>
                  <a:rPr lang="en-US" altLang="zh-CN" sz="2000" b="1">
                    <a:solidFill>
                      <a:schemeClr val="accent6">
                        <a:lumMod val="50000"/>
                      </a:schemeClr>
                    </a:solidFill>
                  </a:rPr>
                  <a:t>-</a:t>
                </a:r>
                <a:r>
                  <a:rPr lang="zh-CN" altLang="en-US" sz="2000" b="1">
                    <a:solidFill>
                      <a:schemeClr val="accent6">
                        <a:lumMod val="50000"/>
                      </a:schemeClr>
                    </a:solidFill>
                  </a:rPr>
                  <a:t>组合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𝒓</m:t>
                        </m:r>
                      </m:sub>
                    </m:sSub>
                  </m:oMath>
                </a14:m>
                <a:r>
                  <a:rPr lang="zh-CN" altLang="en-US" sz="2000" b="1">
                    <a:solidFill>
                      <a:schemeClr val="accent6">
                        <a:lumMod val="50000"/>
                      </a:schemeClr>
                    </a:solidFill>
                  </a:rPr>
                  <a:t>，要找到在字典序下</a:t>
                </a:r>
                <a:r>
                  <a:rPr lang="zh-CN" altLang="en-US" sz="2000" b="1">
                    <a:solidFill>
                      <a:srgbClr val="C00000"/>
                    </a:solidFill>
                  </a:rPr>
                  <a:t>覆盖</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oMath>
                </a14:m>
                <a:r>
                  <a:rPr lang="zh-CN" altLang="en-US" sz="2000" b="1">
                    <a:solidFill>
                      <a:schemeClr val="accent6">
                        <a:lumMod val="50000"/>
                      </a:schemeClr>
                    </a:solidFill>
                  </a:rPr>
                  <a:t>的</a:t>
                </a:r>
                <a14:m>
                  <m:oMath xmlns:m="http://schemas.openxmlformats.org/officeDocument/2006/math">
                    <m:r>
                      <a:rPr lang="en-US" altLang="zh-CN" sz="2000" b="1" i="1">
                        <a:solidFill>
                          <a:schemeClr val="accent6">
                            <a:lumMod val="50000"/>
                          </a:schemeClr>
                        </a:solidFill>
                        <a:latin typeface="Cambria Math" panose="02040503050406030204" pitchFamily="18" charset="0"/>
                      </a:rPr>
                      <m:t>𝒓</m:t>
                    </m:r>
                  </m:oMath>
                </a14:m>
                <a:r>
                  <a:rPr lang="en-US" altLang="zh-CN" sz="2000" b="1">
                    <a:solidFill>
                      <a:schemeClr val="accent6">
                        <a:lumMod val="50000"/>
                      </a:schemeClr>
                    </a:solidFill>
                  </a:rPr>
                  <a:t>-</a:t>
                </a:r>
                <a:r>
                  <a:rPr lang="zh-CN" altLang="en-US" sz="2000" b="1">
                    <a:solidFill>
                      <a:schemeClr val="accent6">
                        <a:lumMod val="50000"/>
                      </a:schemeClr>
                    </a:solidFill>
                  </a:rPr>
                  <a:t>组合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oMath>
                </a14:m>
                <a:endParaRPr lang="en-US" altLang="zh-CN" sz="2000" b="1">
                  <a:solidFill>
                    <a:schemeClr val="accent6">
                      <a:lumMod val="50000"/>
                    </a:schemeClr>
                  </a:solidFill>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即找到使得</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且不存在</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𝒄</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使得</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𝒄</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且</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𝒄</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的</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𝒓</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a:t>
                </a:r>
                <a:r>
                  <a:rPr lang="zh-CN" altLang="en-US" sz="2000" b="1">
                    <a:solidFill>
                      <a:schemeClr val="accent2">
                        <a:lumMod val="50000"/>
                      </a:schemeClr>
                    </a:solidFill>
                    <a:latin typeface="楷体" panose="02010609060101010101" pitchFamily="49" charset="-122"/>
                    <a:ea typeface="楷体" panose="02010609060101010101" pitchFamily="49" charset="-122"/>
                  </a:rPr>
                  <a:t>组合</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生成</a:t>
                </a:r>
                <a14:m>
                  <m:oMath xmlns:m="http://schemas.openxmlformats.org/officeDocument/2006/math">
                    <m:r>
                      <a:rPr lang="en-US" altLang="zh-CN" sz="2000" b="1" i="1">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rPr>
                  <a:t>的所有</a:t>
                </a:r>
                <a14:m>
                  <m:oMath xmlns:m="http://schemas.openxmlformats.org/officeDocument/2006/math">
                    <m:r>
                      <a:rPr lang="en-US" altLang="zh-CN" sz="2000" b="1" i="1">
                        <a:solidFill>
                          <a:schemeClr val="accent6">
                            <a:lumMod val="50000"/>
                          </a:schemeClr>
                        </a:solidFill>
                        <a:latin typeface="Cambria Math" panose="02040503050406030204" pitchFamily="18" charset="0"/>
                      </a:rPr>
                      <m:t>𝒓</m:t>
                    </m:r>
                  </m:oMath>
                </a14:m>
                <a:r>
                  <a:rPr lang="en-US" altLang="zh-CN" sz="2000" b="1">
                    <a:solidFill>
                      <a:schemeClr val="accent6">
                        <a:lumMod val="50000"/>
                      </a:schemeClr>
                    </a:solidFill>
                  </a:rPr>
                  <a:t>-</a:t>
                </a:r>
                <a:r>
                  <a:rPr lang="zh-CN" altLang="en-US" sz="2000" b="1">
                    <a:solidFill>
                      <a:schemeClr val="accent6">
                        <a:lumMod val="50000"/>
                      </a:schemeClr>
                    </a:solidFill>
                  </a:rPr>
                  <a:t>组合是要枚举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𝑪</m:t>
                    </m:r>
                  </m:oMath>
                </a14:m>
                <a:r>
                  <a:rPr lang="zh-CN" altLang="en-US" sz="2000" b="1">
                    <a:solidFill>
                      <a:schemeClr val="accent6">
                        <a:lumMod val="50000"/>
                      </a:schemeClr>
                    </a:solidFill>
                  </a:rPr>
                  <a:t>的所有元素，</a:t>
                </a:r>
                <a:r>
                  <a:rPr lang="zh-CN" altLang="en-US" sz="2000" b="1">
                    <a:solidFill>
                      <a:srgbClr val="C00000"/>
                    </a:solidFill>
                  </a:rPr>
                  <a:t>基本思路</a:t>
                </a:r>
                <a:r>
                  <a:rPr lang="zh-CN" altLang="en-US" sz="2000" b="1">
                    <a:solidFill>
                      <a:schemeClr val="accent6">
                        <a:lumMod val="50000"/>
                      </a:schemeClr>
                    </a:solidFill>
                  </a:rPr>
                  <a:t>是</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从最小的</a:t>
                </a:r>
                <a14:m>
                  <m:oMath xmlns:m="http://schemas.openxmlformats.org/officeDocument/2006/math">
                    <m:r>
                      <a:rPr lang="en-US" altLang="zh-CN" sz="2000" b="1" i="1">
                        <a:solidFill>
                          <a:schemeClr val="accent2">
                            <a:lumMod val="50000"/>
                          </a:schemeClr>
                        </a:solidFill>
                        <a:latin typeface="Cambria Math" panose="02040503050406030204" pitchFamily="18" charset="0"/>
                        <a:ea typeface="楷体" panose="02010609060101010101" pitchFamily="49" charset="-122"/>
                      </a:rPr>
                      <m:t>𝒓</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a:t>
                </a:r>
                <a:r>
                  <a:rPr lang="zh-CN" altLang="en-US" sz="2000" b="1">
                    <a:solidFill>
                      <a:schemeClr val="accent2">
                        <a:lumMod val="50000"/>
                      </a:schemeClr>
                    </a:solidFill>
                    <a:latin typeface="楷体" panose="02010609060101010101" pitchFamily="49" charset="-122"/>
                    <a:ea typeface="楷体" panose="02010609060101010101" pitchFamily="49" charset="-122"/>
                  </a:rPr>
                  <a:t>组合</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𝟏𝟐𝟑</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开始，</a:t>
                </a:r>
                <a:r>
                  <a:rPr lang="zh-CN" altLang="en-US" sz="2000" b="1">
                    <a:solidFill>
                      <a:srgbClr val="0000FF"/>
                    </a:solidFill>
                    <a:latin typeface="楷体" panose="02010609060101010101" pitchFamily="49" charset="-122"/>
                    <a:ea typeface="楷体" panose="02010609060101010101" pitchFamily="49" charset="-122"/>
                  </a:rPr>
                  <a:t>不断找覆盖它的</a:t>
                </a:r>
                <a14:m>
                  <m:oMath xmlns:m="http://schemas.openxmlformats.org/officeDocument/2006/math">
                    <m:r>
                      <a:rPr lang="en-US" altLang="zh-CN" sz="2000" b="1" i="1" smtClean="0">
                        <a:solidFill>
                          <a:srgbClr val="0000FF"/>
                        </a:solidFill>
                        <a:latin typeface="Cambria Math" panose="02040503050406030204" pitchFamily="18" charset="0"/>
                        <a:ea typeface="楷体" panose="02010609060101010101" pitchFamily="49" charset="-122"/>
                      </a:rPr>
                      <m:t>𝒓</m:t>
                    </m:r>
                  </m:oMath>
                </a14:m>
                <a:r>
                  <a:rPr lang="en-US" altLang="zh-CN" sz="2000" b="1">
                    <a:solidFill>
                      <a:srgbClr val="0000FF"/>
                    </a:solidFill>
                    <a:latin typeface="楷体" panose="02010609060101010101" pitchFamily="49" charset="-122"/>
                    <a:ea typeface="楷体" panose="02010609060101010101" pitchFamily="49" charset="-122"/>
                  </a:rPr>
                  <a:t>-</a:t>
                </a:r>
                <a:r>
                  <a:rPr lang="zh-CN" altLang="en-US" sz="2000" b="1">
                    <a:solidFill>
                      <a:srgbClr val="0000FF"/>
                    </a:solidFill>
                    <a:latin typeface="楷体" panose="02010609060101010101" pitchFamily="49" charset="-122"/>
                    <a:ea typeface="楷体" panose="02010609060101010101" pitchFamily="49" charset="-122"/>
                  </a:rPr>
                  <a:t>组合</a:t>
                </a:r>
                <a:r>
                  <a:rPr lang="zh-CN" altLang="en-US" sz="2000" b="1">
                    <a:solidFill>
                      <a:schemeClr val="accent2">
                        <a:lumMod val="50000"/>
                      </a:schemeClr>
                    </a:solidFill>
                    <a:latin typeface="楷体" panose="02010609060101010101" pitchFamily="49" charset="-122"/>
                    <a:ea typeface="楷体" panose="02010609060101010101" pitchFamily="49" charset="-122"/>
                  </a:rPr>
                  <a:t>，直到最大的</a:t>
                </a:r>
                <a14:m>
                  <m:oMath xmlns:m="http://schemas.openxmlformats.org/officeDocument/2006/math">
                    <m:r>
                      <a:rPr lang="en-US" altLang="zh-CN" sz="2000" b="1" i="1">
                        <a:solidFill>
                          <a:schemeClr val="accent2">
                            <a:lumMod val="50000"/>
                          </a:schemeClr>
                        </a:solidFill>
                        <a:latin typeface="Cambria Math" panose="02040503050406030204" pitchFamily="18" charset="0"/>
                        <a:ea typeface="楷体" panose="02010609060101010101" pitchFamily="49" charset="-122"/>
                      </a:rPr>
                      <m:t>𝒓</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a:t>
                </a:r>
                <a:r>
                  <a:rPr lang="zh-CN" altLang="en-US" sz="2000" b="1">
                    <a:solidFill>
                      <a:schemeClr val="accent2">
                        <a:lumMod val="50000"/>
                      </a:schemeClr>
                    </a:solidFill>
                    <a:latin typeface="楷体" panose="02010609060101010101" pitchFamily="49" charset="-122"/>
                    <a:ea typeface="楷体" panose="02010609060101010101" pitchFamily="49" charset="-122"/>
                  </a:rPr>
                  <a:t>组合</a:t>
                </a:r>
              </a:p>
            </p:txBody>
          </p:sp>
        </mc:Choice>
        <mc:Fallback xmlns="">
          <p:sp>
            <p:nvSpPr>
              <p:cNvPr id="4" name="文本框 3">
                <a:extLst>
                  <a:ext uri="{FF2B5EF4-FFF2-40B4-BE49-F238E27FC236}">
                    <a16:creationId xmlns:a16="http://schemas.microsoft.com/office/drawing/2014/main" id="{ADD47639-DBF0-401F-90C8-8E7660B11DD7}"/>
                  </a:ext>
                </a:extLst>
              </p:cNvPr>
              <p:cNvSpPr txBox="1">
                <a:spLocks noRot="1" noChangeAspect="1" noMove="1" noResize="1" noEditPoints="1" noAdjustHandles="1" noChangeArrowheads="1" noChangeShapeType="1" noTextEdit="1"/>
              </p:cNvSpPr>
              <p:nvPr/>
            </p:nvSpPr>
            <p:spPr>
              <a:xfrm>
                <a:off x="724075" y="2896049"/>
                <a:ext cx="10743847" cy="2769989"/>
              </a:xfrm>
              <a:prstGeom prst="rect">
                <a:avLst/>
              </a:prstGeom>
              <a:blipFill>
                <a:blip r:embed="rId4"/>
                <a:stretch>
                  <a:fillRect l="-908" t="-2423" b="-286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A5B0CD1-E545-4589-AF44-BFF22C4B59DF}"/>
              </a:ext>
            </a:extLst>
          </p:cNvPr>
          <p:cNvSpPr txBox="1"/>
          <p:nvPr/>
        </p:nvSpPr>
        <p:spPr>
          <a:xfrm>
            <a:off x="8474839" y="4533423"/>
            <a:ext cx="2517696"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全序下找覆盖使得枚举</a:t>
            </a:r>
            <a:r>
              <a:rPr lang="zh-CN" altLang="en-US" b="1">
                <a:solidFill>
                  <a:srgbClr val="C00000"/>
                </a:solidFill>
              </a:rPr>
              <a:t>不重复</a:t>
            </a:r>
            <a:r>
              <a:rPr lang="zh-CN" altLang="en-US" b="1">
                <a:solidFill>
                  <a:schemeClr val="accent2">
                    <a:lumMod val="50000"/>
                  </a:schemeClr>
                </a:solidFill>
              </a:rPr>
              <a:t>、</a:t>
            </a:r>
            <a:r>
              <a:rPr lang="zh-CN" altLang="en-US" b="1">
                <a:solidFill>
                  <a:srgbClr val="C00000"/>
                </a:solidFill>
              </a:rPr>
              <a:t>不遗漏</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751A3A0-B677-44BE-A98E-00134BCC6913}"/>
                  </a:ext>
                </a:extLst>
              </p:cNvPr>
              <p:cNvSpPr txBox="1"/>
              <p:nvPr/>
            </p:nvSpPr>
            <p:spPr>
              <a:xfrm>
                <a:off x="7935232" y="1355724"/>
                <a:ext cx="3596911" cy="1092607"/>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rgbClr val="C00000"/>
                    </a:solidFill>
                  </a:rPr>
                  <a:t>非递减</a:t>
                </a:r>
                <a:r>
                  <a:rPr lang="zh-CN" altLang="en-US" b="1">
                    <a:solidFill>
                      <a:schemeClr val="accent2">
                        <a:lumMod val="50000"/>
                      </a:schemeClr>
                    </a:solidFill>
                  </a:rPr>
                  <a:t>数字序列</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𝒓</m:t>
                        </m:r>
                      </m:sub>
                    </m:sSub>
                  </m:oMath>
                </a14:m>
                <a:r>
                  <a:rPr lang="zh-CN" altLang="en-US" b="1">
                    <a:solidFill>
                      <a:schemeClr val="accent2">
                        <a:lumMod val="50000"/>
                      </a:schemeClr>
                    </a:solidFill>
                  </a:rPr>
                  <a:t>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oMath>
                </a14:m>
                <a:r>
                  <a:rPr lang="zh-CN" altLang="en-US" b="1">
                    <a:solidFill>
                      <a:schemeClr val="accent2">
                        <a:lumMod val="50000"/>
                      </a:schemeClr>
                    </a:solidFill>
                  </a:rPr>
                  <a:t>的</a:t>
                </a:r>
                <a:r>
                  <a:rPr lang="zh-CN" altLang="en-US" b="1">
                    <a:solidFill>
                      <a:srgbClr val="C00000"/>
                    </a:solidFill>
                  </a:rPr>
                  <a:t>允许重复</a:t>
                </a:r>
                <a:r>
                  <a:rPr lang="zh-CN" altLang="en-US" b="1">
                    <a:solidFill>
                      <a:schemeClr val="accent2">
                        <a:lumMod val="50000"/>
                      </a:schemeClr>
                    </a:solidFill>
                  </a:rPr>
                  <a:t>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𝒓</m:t>
                    </m:r>
                  </m:oMath>
                </a14:m>
                <a:r>
                  <a:rPr lang="zh-CN" altLang="en-US" b="1">
                    <a:solidFill>
                      <a:schemeClr val="accent2">
                        <a:lumMod val="50000"/>
                      </a:schemeClr>
                    </a:solidFill>
                  </a:rPr>
                  <a:t>组合一一对应，即要求</a:t>
                </a:r>
                <a:endParaRPr lang="en-US" altLang="zh-CN" b="1">
                  <a:solidFill>
                    <a:schemeClr val="accent2">
                      <a:lumMod val="50000"/>
                    </a:schemeClr>
                  </a:solidFill>
                </a:endParaRPr>
              </a:p>
              <a:p>
                <a:pPr>
                  <a:lnSpc>
                    <a:spcPts val="2600"/>
                  </a:lnSpc>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𝒓</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oMath>
                  </m:oMathPara>
                </a14:m>
                <a:endParaRPr lang="zh-CN" altLang="en-US"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F751A3A0-B677-44BE-A98E-00134BCC6913}"/>
                  </a:ext>
                </a:extLst>
              </p:cNvPr>
              <p:cNvSpPr txBox="1">
                <a:spLocks noRot="1" noChangeAspect="1" noMove="1" noResize="1" noEditPoints="1" noAdjustHandles="1" noChangeArrowheads="1" noChangeShapeType="1" noTextEdit="1"/>
              </p:cNvSpPr>
              <p:nvPr/>
            </p:nvSpPr>
            <p:spPr>
              <a:xfrm>
                <a:off x="7935232" y="1355724"/>
                <a:ext cx="3596911" cy="1092607"/>
              </a:xfrm>
              <a:prstGeom prst="rect">
                <a:avLst/>
              </a:prstGeom>
              <a:blipFill>
                <a:blip r:embed="rId5"/>
                <a:stretch>
                  <a:fillRect l="-1525" r="-13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33677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smtClean="0">
                        <a:latin typeface="Cambria Math" panose="02040503050406030204" pitchFamily="18" charset="0"/>
                      </a:rPr>
                      <m:t>𝑟</m:t>
                    </m:r>
                  </m:oMath>
                </a14:m>
                <a:r>
                  <a:rPr lang="en-US" altLang="zh-CN"/>
                  <a:t>-</a:t>
                </a:r>
                <a:r>
                  <a:rPr lang="zh-CN" altLang="en-US"/>
                  <a:t>组合之间的覆盖</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272BC1B-6E8F-4E98-AB72-534FF1F69D46}"/>
                  </a:ext>
                </a:extLst>
              </p:cNvPr>
              <p:cNvSpPr txBox="1"/>
              <p:nvPr/>
            </p:nvSpPr>
            <p:spPr>
              <a:xfrm>
                <a:off x="992422" y="1288952"/>
                <a:ext cx="10207154" cy="383951"/>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下面说的串都是指集合</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r>
                      <a:rPr lang="en-US" altLang="zh-CN" b="1" i="1" smtClean="0">
                        <a:solidFill>
                          <a:schemeClr val="accent2">
                            <a:lumMod val="50000"/>
                          </a:schemeClr>
                        </a:solidFill>
                        <a:latin typeface="Cambria Math" panose="02040503050406030204" pitchFamily="18" charset="0"/>
                      </a:rPr>
                      <m:t>=</m:t>
                    </m:r>
                    <m:r>
                      <m:rPr>
                        <m:lit/>
                      </m:rP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 ⋯, </m:t>
                    </m:r>
                    <m:r>
                      <a:rPr lang="en-US" altLang="zh-CN" b="1" i="1">
                        <a:solidFill>
                          <a:schemeClr val="accent2">
                            <a:lumMod val="50000"/>
                          </a:schemeClr>
                        </a:solidFill>
                        <a:latin typeface="Cambria Math" panose="02040503050406030204" pitchFamily="18" charset="0"/>
                      </a:rPr>
                      <m:t>𝒏</m:t>
                    </m:r>
                    <m:r>
                      <m:rPr>
                        <m:lit/>
                      </m:rP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𝒓</m:t>
                    </m:r>
                  </m:oMath>
                </a14:m>
                <a:r>
                  <a:rPr lang="en-US" altLang="zh-CN" b="1">
                    <a:solidFill>
                      <a:schemeClr val="accent2">
                        <a:lumMod val="50000"/>
                      </a:schemeClr>
                    </a:solidFill>
                  </a:rPr>
                  <a:t>-</a:t>
                </a:r>
                <a:r>
                  <a:rPr lang="zh-CN" altLang="en-US" b="1">
                    <a:solidFill>
                      <a:schemeClr val="accent2">
                        <a:lumMod val="50000"/>
                      </a:schemeClr>
                    </a:solidFill>
                  </a:rPr>
                  <a:t>组合</a:t>
                </a:r>
                <a:r>
                  <a:rPr lang="en-US" altLang="zh-CN" b="1">
                    <a:solidFill>
                      <a:schemeClr val="accent2">
                        <a:lumMod val="50000"/>
                      </a:schemeClr>
                    </a:solidFill>
                  </a:rPr>
                  <a:t>(</a:t>
                </a:r>
                <a:r>
                  <a:rPr lang="zh-CN" altLang="en-US" b="1">
                    <a:solidFill>
                      <a:schemeClr val="accent2">
                        <a:lumMod val="50000"/>
                      </a:schemeClr>
                    </a:solidFill>
                  </a:rPr>
                  <a:t>即长为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𝒓</m:t>
                    </m:r>
                  </m:oMath>
                </a14:m>
                <a:r>
                  <a:rPr lang="zh-CN" altLang="en-US" b="1">
                    <a:solidFill>
                      <a:schemeClr val="accent2">
                        <a:lumMod val="50000"/>
                      </a:schemeClr>
                    </a:solidFill>
                  </a:rPr>
                  <a:t>且严格递增的数字串</a:t>
                </a:r>
                <a:r>
                  <a:rPr lang="en-US" altLang="zh-CN" b="1">
                    <a:solidFill>
                      <a:schemeClr val="accent2">
                        <a:lumMod val="50000"/>
                      </a:schemeClr>
                    </a:solidFill>
                  </a:rPr>
                  <a:t>)</a:t>
                </a:r>
                <a:r>
                  <a:rPr lang="zh-CN" altLang="en-US" b="1">
                    <a:solidFill>
                      <a:schemeClr val="accent2">
                        <a:lumMod val="50000"/>
                      </a:schemeClr>
                    </a:solidFill>
                  </a:rPr>
                  <a:t>，且例子中都令</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oMath>
                </a14:m>
                <a:endParaRPr lang="zh-CN" altLang="en-US" b="1">
                  <a:solidFill>
                    <a:schemeClr val="accent2">
                      <a:lumMod val="50000"/>
                    </a:schemeClr>
                  </a:solidFill>
                </a:endParaRPr>
              </a:p>
            </p:txBody>
          </p:sp>
        </mc:Choice>
        <mc:Fallback xmlns="">
          <p:sp>
            <p:nvSpPr>
              <p:cNvPr id="11" name="文本框 10">
                <a:extLst>
                  <a:ext uri="{FF2B5EF4-FFF2-40B4-BE49-F238E27FC236}">
                    <a16:creationId xmlns:a16="http://schemas.microsoft.com/office/drawing/2014/main" id="{3272BC1B-6E8F-4E98-AB72-534FF1F69D46}"/>
                  </a:ext>
                </a:extLst>
              </p:cNvPr>
              <p:cNvSpPr txBox="1">
                <a:spLocks noRot="1" noChangeAspect="1" noMove="1" noResize="1" noEditPoints="1" noAdjustHandles="1" noChangeArrowheads="1" noChangeShapeType="1" noTextEdit="1"/>
              </p:cNvSpPr>
              <p:nvPr/>
            </p:nvSpPr>
            <p:spPr>
              <a:xfrm>
                <a:off x="992422" y="1288952"/>
                <a:ext cx="10207154" cy="383951"/>
              </a:xfrm>
              <a:prstGeom prst="rect">
                <a:avLst/>
              </a:prstGeom>
              <a:blipFill>
                <a:blip r:embed="rId3"/>
                <a:stretch>
                  <a:fillRect l="-538" t="-3175" b="-25397"/>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5986255D-F21F-42E1-8CE3-0890AC823174}"/>
              </a:ext>
            </a:extLst>
          </p:cNvPr>
          <p:cNvSpPr/>
          <p:nvPr/>
        </p:nvSpPr>
        <p:spPr>
          <a:xfrm>
            <a:off x="6921591" y="1931470"/>
            <a:ext cx="4381226" cy="3974666"/>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7004467-C5B0-4F13-AB6D-C288C4D03B68}"/>
                  </a:ext>
                </a:extLst>
              </p:cNvPr>
              <p:cNvSpPr txBox="1"/>
              <p:nvPr/>
            </p:nvSpPr>
            <p:spPr>
              <a:xfrm>
                <a:off x="1123619" y="1931470"/>
                <a:ext cx="5462664" cy="461665"/>
              </a:xfrm>
              <a:prstGeom prst="rect">
                <a:avLst/>
              </a:prstGeom>
              <a:noFill/>
            </p:spPr>
            <p:txBody>
              <a:bodyPr wrap="square" rtlCol="0">
                <a:spAutoFit/>
              </a:bodyPr>
              <a:lstStyle/>
              <a:p>
                <a:r>
                  <a:rPr lang="zh-CN" altLang="en-US" sz="2400" b="1">
                    <a:solidFill>
                      <a:schemeClr val="accent2">
                        <a:lumMod val="50000"/>
                      </a:schemeClr>
                    </a:solidFill>
                  </a:rPr>
                  <a:t>确定覆盖</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𝒓</m:t>
                    </m:r>
                  </m:oMath>
                </a14:m>
                <a:r>
                  <a:rPr lang="en-US" altLang="zh-CN" sz="2400" b="1">
                    <a:solidFill>
                      <a:schemeClr val="accent2">
                        <a:lumMod val="50000"/>
                      </a:schemeClr>
                    </a:solidFill>
                  </a:rPr>
                  <a:t>-</a:t>
                </a:r>
                <a:r>
                  <a:rPr lang="zh-CN" altLang="en-US" sz="2400" b="1">
                    <a:solidFill>
                      <a:schemeClr val="accent2">
                        <a:lumMod val="50000"/>
                      </a:schemeClr>
                    </a:solidFill>
                  </a:rPr>
                  <a:t>组合</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𝒂</m:t>
                    </m:r>
                    <m:r>
                      <a:rPr lang="en-US" altLang="zh-CN" sz="2400" b="1" i="1" smtClean="0">
                        <a:solidFill>
                          <a:schemeClr val="accent2">
                            <a:lumMod val="50000"/>
                          </a:schemeClr>
                        </a:solidFill>
                        <a:latin typeface="Cambria Math" panose="02040503050406030204" pitchFamily="18" charset="0"/>
                      </a:rPr>
                      <m:t> = </m:t>
                    </m:r>
                    <m:sSub>
                      <m:sSubPr>
                        <m:ctrlPr>
                          <a:rPr lang="en-US" altLang="zh-CN" sz="2400" b="1" i="1">
                            <a:solidFill>
                              <a:schemeClr val="accent2">
                                <a:lumMod val="50000"/>
                              </a:schemeClr>
                            </a:solidFill>
                            <a:latin typeface="Cambria Math" panose="02040503050406030204" pitchFamily="18" charset="0"/>
                          </a:rPr>
                        </m:ctrlPr>
                      </m:sSubPr>
                      <m:e>
                        <m:r>
                          <a:rPr lang="en-US" altLang="zh-CN" sz="2400" b="1" i="1">
                            <a:solidFill>
                              <a:schemeClr val="accent2">
                                <a:lumMod val="50000"/>
                              </a:schemeClr>
                            </a:solidFill>
                            <a:latin typeface="Cambria Math" panose="02040503050406030204" pitchFamily="18" charset="0"/>
                          </a:rPr>
                          <m:t>𝒂</m:t>
                        </m:r>
                      </m:e>
                      <m:sub>
                        <m:r>
                          <a:rPr lang="en-US" altLang="zh-CN" sz="2400" b="1" i="1">
                            <a:solidFill>
                              <a:schemeClr val="accent2">
                                <a:lumMod val="50000"/>
                              </a:schemeClr>
                            </a:solidFill>
                            <a:latin typeface="Cambria Math" panose="02040503050406030204" pitchFamily="18" charset="0"/>
                          </a:rPr>
                          <m:t>𝟏</m:t>
                        </m:r>
                      </m:sub>
                    </m:sSub>
                    <m:r>
                      <a:rPr lang="en-US" altLang="zh-CN" sz="2400" b="1" i="1">
                        <a:solidFill>
                          <a:schemeClr val="accent2">
                            <a:lumMod val="50000"/>
                          </a:schemeClr>
                        </a:solidFill>
                        <a:latin typeface="Cambria Math" panose="02040503050406030204" pitchFamily="18" charset="0"/>
                      </a:rPr>
                      <m:t>⋯</m:t>
                    </m:r>
                    <m:sSub>
                      <m:sSubPr>
                        <m:ctrlPr>
                          <a:rPr lang="en-US" altLang="zh-CN" sz="2400" b="1" i="1">
                            <a:solidFill>
                              <a:schemeClr val="accent2">
                                <a:lumMod val="50000"/>
                              </a:schemeClr>
                            </a:solidFill>
                            <a:latin typeface="Cambria Math" panose="02040503050406030204" pitchFamily="18" charset="0"/>
                          </a:rPr>
                        </m:ctrlPr>
                      </m:sSubPr>
                      <m:e>
                        <m:r>
                          <a:rPr lang="en-US" altLang="zh-CN" sz="2400" b="1" i="1">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𝒓</m:t>
                        </m:r>
                      </m:sub>
                    </m:sSub>
                  </m:oMath>
                </a14:m>
                <a:r>
                  <a:rPr lang="zh-CN" altLang="en-US" sz="2400" b="1">
                    <a:solidFill>
                      <a:schemeClr val="accent2">
                        <a:lumMod val="50000"/>
                      </a:schemeClr>
                    </a:solidFill>
                  </a:rPr>
                  <a:t>的</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𝒓</m:t>
                    </m:r>
                  </m:oMath>
                </a14:m>
                <a:r>
                  <a:rPr lang="en-US" altLang="zh-CN" sz="2400" b="1">
                    <a:solidFill>
                      <a:schemeClr val="accent2">
                        <a:lumMod val="50000"/>
                      </a:schemeClr>
                    </a:solidFill>
                  </a:rPr>
                  <a:t>-</a:t>
                </a:r>
                <a:r>
                  <a:rPr lang="zh-CN" altLang="en-US" sz="2400" b="1">
                    <a:solidFill>
                      <a:schemeClr val="accent2">
                        <a:lumMod val="50000"/>
                      </a:schemeClr>
                    </a:solidFill>
                  </a:rPr>
                  <a:t>组合</a:t>
                </a:r>
              </a:p>
            </p:txBody>
          </p:sp>
        </mc:Choice>
        <mc:Fallback xmlns="">
          <p:sp>
            <p:nvSpPr>
              <p:cNvPr id="2" name="文本框 1">
                <a:extLst>
                  <a:ext uri="{FF2B5EF4-FFF2-40B4-BE49-F238E27FC236}">
                    <a16:creationId xmlns:a16="http://schemas.microsoft.com/office/drawing/2014/main" id="{47004467-C5B0-4F13-AB6D-C288C4D03B68}"/>
                  </a:ext>
                </a:extLst>
              </p:cNvPr>
              <p:cNvSpPr txBox="1">
                <a:spLocks noRot="1" noChangeAspect="1" noMove="1" noResize="1" noEditPoints="1" noAdjustHandles="1" noChangeArrowheads="1" noChangeShapeType="1" noTextEdit="1"/>
              </p:cNvSpPr>
              <p:nvPr/>
            </p:nvSpPr>
            <p:spPr>
              <a:xfrm>
                <a:off x="1123619" y="1931470"/>
                <a:ext cx="5462664" cy="461665"/>
              </a:xfrm>
              <a:prstGeom prst="rect">
                <a:avLst/>
              </a:prstGeom>
              <a:blipFill>
                <a:blip r:embed="rId4"/>
                <a:stretch>
                  <a:fillRect l="-1674"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E9AA223-EA2E-44B0-9D1D-BED5BBFDBE80}"/>
                  </a:ext>
                </a:extLst>
              </p:cNvPr>
              <p:cNvSpPr txBox="1"/>
              <p:nvPr/>
            </p:nvSpPr>
            <p:spPr>
              <a:xfrm>
                <a:off x="1011978" y="5099928"/>
                <a:ext cx="4920658" cy="707886"/>
              </a:xfrm>
              <a:prstGeom prst="rect">
                <a:avLst/>
              </a:prstGeom>
              <a:solidFill>
                <a:schemeClr val="accent5">
                  <a:lumMod val="20000"/>
                  <a:lumOff val="80000"/>
                  <a:alpha val="50000"/>
                </a:schemeClr>
              </a:solidFill>
            </p:spPr>
            <p:txBody>
              <a:bodyPr wrap="square" rtlCol="0">
                <a:spAutoFit/>
              </a:bodyPr>
              <a:lstStyle/>
              <a:p>
                <a:pPr>
                  <a:lnSpc>
                    <a:spcPts val="2400"/>
                  </a:lnSpc>
                </a:pPr>
                <a:r>
                  <a:rPr lang="zh-CN" altLang="en-US" sz="2000" b="1">
                    <a:solidFill>
                      <a:srgbClr val="002060"/>
                    </a:solidFill>
                  </a:rPr>
                  <a:t>剩下第</a:t>
                </a:r>
                <a14:m>
                  <m:oMath xmlns:m="http://schemas.openxmlformats.org/officeDocument/2006/math">
                    <m:r>
                      <a:rPr lang="en-US" altLang="zh-CN" sz="2000" b="1" i="1" smtClean="0">
                        <a:solidFill>
                          <a:srgbClr val="002060"/>
                        </a:solidFill>
                        <a:latin typeface="Cambria Math" panose="02040503050406030204" pitchFamily="18" charset="0"/>
                      </a:rPr>
                      <m:t>𝒊</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rPr>
                  <a:t>个位置到第</a:t>
                </a:r>
                <a14:m>
                  <m:oMath xmlns:m="http://schemas.openxmlformats.org/officeDocument/2006/math">
                    <m:r>
                      <a:rPr lang="en-US" altLang="zh-CN" sz="2000" b="1" i="1" smtClean="0">
                        <a:solidFill>
                          <a:srgbClr val="002060"/>
                        </a:solidFill>
                        <a:latin typeface="Cambria Math" panose="02040503050406030204" pitchFamily="18" charset="0"/>
                      </a:rPr>
                      <m:t>𝒓</m:t>
                    </m:r>
                  </m:oMath>
                </a14:m>
                <a:r>
                  <a:rPr lang="zh-CN" altLang="en-US" sz="2000" b="1">
                    <a:solidFill>
                      <a:srgbClr val="002060"/>
                    </a:solidFill>
                  </a:rPr>
                  <a:t>个位置的数字</a:t>
                </a:r>
                <a:r>
                  <a:rPr lang="zh-CN" altLang="en-US" sz="2000" b="1">
                    <a:solidFill>
                      <a:srgbClr val="C00000"/>
                    </a:solidFill>
                  </a:rPr>
                  <a:t>依次是前一个数字加</a:t>
                </a:r>
                <a14:m>
                  <m:oMath xmlns:m="http://schemas.openxmlformats.org/officeDocument/2006/math">
                    <m:r>
                      <a:rPr lang="en-US" altLang="zh-CN" sz="2000" b="1" i="1" smtClean="0">
                        <a:solidFill>
                          <a:srgbClr val="C00000"/>
                        </a:solidFill>
                        <a:latin typeface="Cambria Math" panose="02040503050406030204" pitchFamily="18" charset="0"/>
                      </a:rPr>
                      <m:t>𝟏</m:t>
                    </m:r>
                  </m:oMath>
                </a14:m>
                <a:r>
                  <a:rPr lang="zh-CN" altLang="en-US" sz="2000" b="1">
                    <a:solidFill>
                      <a:srgbClr val="002060"/>
                    </a:solidFill>
                  </a:rPr>
                  <a:t>，则得到覆盖</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的串</a:t>
                </a:r>
              </a:p>
            </p:txBody>
          </p:sp>
        </mc:Choice>
        <mc:Fallback xmlns="">
          <p:sp>
            <p:nvSpPr>
              <p:cNvPr id="3" name="文本框 2">
                <a:extLst>
                  <a:ext uri="{FF2B5EF4-FFF2-40B4-BE49-F238E27FC236}">
                    <a16:creationId xmlns:a16="http://schemas.microsoft.com/office/drawing/2014/main" id="{BE9AA223-EA2E-44B0-9D1D-BED5BBFDBE80}"/>
                  </a:ext>
                </a:extLst>
              </p:cNvPr>
              <p:cNvSpPr txBox="1">
                <a:spLocks noRot="1" noChangeAspect="1" noMove="1" noResize="1" noEditPoints="1" noAdjustHandles="1" noChangeArrowheads="1" noChangeShapeType="1" noTextEdit="1"/>
              </p:cNvSpPr>
              <p:nvPr/>
            </p:nvSpPr>
            <p:spPr>
              <a:xfrm>
                <a:off x="1011978" y="5099928"/>
                <a:ext cx="4920658" cy="707886"/>
              </a:xfrm>
              <a:prstGeom prst="rect">
                <a:avLst/>
              </a:prstGeom>
              <a:blipFill>
                <a:blip r:embed="rId5"/>
                <a:stretch>
                  <a:fillRect l="-1239" t="-5172" b="-146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A573719-B0A4-4329-BC0B-C94657223F08}"/>
                  </a:ext>
                </a:extLst>
              </p:cNvPr>
              <p:cNvSpPr txBox="1"/>
              <p:nvPr/>
            </p:nvSpPr>
            <p:spPr>
              <a:xfrm>
                <a:off x="1011978" y="4279667"/>
                <a:ext cx="4843910" cy="400110"/>
              </a:xfrm>
              <a:prstGeom prst="rect">
                <a:avLst/>
              </a:prstGeom>
              <a:solidFill>
                <a:schemeClr val="accent5">
                  <a:lumMod val="20000"/>
                  <a:lumOff val="80000"/>
                  <a:alpha val="50000"/>
                </a:schemeClr>
              </a:solidFill>
            </p:spPr>
            <p:txBody>
              <a:bodyPr wrap="square" rtlCol="0">
                <a:spAutoFit/>
              </a:bodyPr>
              <a:lstStyle/>
              <a:p>
                <a:r>
                  <a:rPr lang="zh-CN" altLang="en-US" sz="2000" b="1">
                    <a:solidFill>
                      <a:srgbClr val="002060"/>
                    </a:solidFill>
                  </a:rPr>
                  <a:t>保持</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 ⋯</m:t>
                    </m:r>
                    <m:sSub>
                      <m:sSubPr>
                        <m:ctrlPr>
                          <a:rPr lang="en-US" altLang="zh-CN" sz="2000" b="1" i="1" smtClean="0">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𝒊</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b>
                    </m:sSub>
                  </m:oMath>
                </a14:m>
                <a:r>
                  <a:rPr lang="zh-CN" altLang="en-US" sz="2000" b="1">
                    <a:solidFill>
                      <a:srgbClr val="002060"/>
                    </a:solidFill>
                  </a:rPr>
                  <a:t>不变，将第</a:t>
                </a:r>
                <a14:m>
                  <m:oMath xmlns:m="http://schemas.openxmlformats.org/officeDocument/2006/math">
                    <m:r>
                      <a:rPr lang="en-US" altLang="zh-CN" sz="2000" b="1" i="1" smtClean="0">
                        <a:solidFill>
                          <a:srgbClr val="002060"/>
                        </a:solidFill>
                        <a:latin typeface="Cambria Math" panose="02040503050406030204" pitchFamily="18" charset="0"/>
                      </a:rPr>
                      <m:t>𝒊</m:t>
                    </m:r>
                  </m:oMath>
                </a14:m>
                <a:r>
                  <a:rPr lang="zh-CN" altLang="en-US" sz="2000" b="1">
                    <a:solidFill>
                      <a:srgbClr val="002060"/>
                    </a:solidFill>
                  </a:rPr>
                  <a:t>位置的</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𝒊</m:t>
                        </m:r>
                      </m:sub>
                    </m:sSub>
                  </m:oMath>
                </a14:m>
                <a:r>
                  <a:rPr lang="zh-CN" altLang="en-US" sz="2000" b="1">
                    <a:solidFill>
                      <a:srgbClr val="C00000"/>
                    </a:solidFill>
                  </a:rPr>
                  <a:t>加</a:t>
                </a:r>
                <a14:m>
                  <m:oMath xmlns:m="http://schemas.openxmlformats.org/officeDocument/2006/math">
                    <m:r>
                      <a:rPr lang="en-US" altLang="zh-CN" sz="2000" b="1" i="1" smtClean="0">
                        <a:solidFill>
                          <a:srgbClr val="C00000"/>
                        </a:solidFill>
                        <a:latin typeface="Cambria Math" panose="02040503050406030204" pitchFamily="18" charset="0"/>
                      </a:rPr>
                      <m:t>𝟏</m:t>
                    </m:r>
                  </m:oMath>
                </a14:m>
                <a:endParaRPr lang="en-US" altLang="zh-CN" sz="2000" b="1">
                  <a:solidFill>
                    <a:srgbClr val="002060"/>
                  </a:solidFill>
                </a:endParaRPr>
              </a:p>
            </p:txBody>
          </p:sp>
        </mc:Choice>
        <mc:Fallback xmlns="">
          <p:sp>
            <p:nvSpPr>
              <p:cNvPr id="4" name="文本框 3">
                <a:extLst>
                  <a:ext uri="{FF2B5EF4-FFF2-40B4-BE49-F238E27FC236}">
                    <a16:creationId xmlns:a16="http://schemas.microsoft.com/office/drawing/2014/main" id="{0A573719-B0A4-4329-BC0B-C94657223F08}"/>
                  </a:ext>
                </a:extLst>
              </p:cNvPr>
              <p:cNvSpPr txBox="1">
                <a:spLocks noRot="1" noChangeAspect="1" noMove="1" noResize="1" noEditPoints="1" noAdjustHandles="1" noChangeArrowheads="1" noChangeShapeType="1" noTextEdit="1"/>
              </p:cNvSpPr>
              <p:nvPr/>
            </p:nvSpPr>
            <p:spPr>
              <a:xfrm>
                <a:off x="1011978" y="4279667"/>
                <a:ext cx="4843910" cy="400110"/>
              </a:xfrm>
              <a:prstGeom prst="rect">
                <a:avLst/>
              </a:prstGeom>
              <a:blipFill>
                <a:blip r:embed="rId6"/>
                <a:stretch>
                  <a:fillRect l="-1258" t="-7576"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65B10EA-DAEF-4FA8-A177-8170BCDCCEE3}"/>
                  </a:ext>
                </a:extLst>
              </p:cNvPr>
              <p:cNvSpPr txBox="1"/>
              <p:nvPr/>
            </p:nvSpPr>
            <p:spPr>
              <a:xfrm>
                <a:off x="1011978" y="2682719"/>
                <a:ext cx="5685947" cy="1176797"/>
              </a:xfrm>
              <a:prstGeom prst="rect">
                <a:avLst/>
              </a:prstGeom>
              <a:solidFill>
                <a:schemeClr val="accent5">
                  <a:lumMod val="20000"/>
                  <a:lumOff val="80000"/>
                  <a:alpha val="50000"/>
                </a:schemeClr>
              </a:solidFill>
            </p:spPr>
            <p:txBody>
              <a:bodyPr wrap="square" rtlCol="0">
                <a:spAutoFit/>
              </a:bodyPr>
              <a:lstStyle/>
              <a:p>
                <a:pPr>
                  <a:lnSpc>
                    <a:spcPts val="2400"/>
                  </a:lnSpc>
                  <a:spcBef>
                    <a:spcPts val="600"/>
                  </a:spcBef>
                  <a:spcAft>
                    <a:spcPts val="600"/>
                  </a:spcAft>
                </a:pPr>
                <a:r>
                  <a:rPr lang="zh-CN" altLang="en-US" sz="2000" b="1">
                    <a:solidFill>
                      <a:srgbClr val="002060"/>
                    </a:solidFill>
                  </a:rPr>
                  <a:t>找到</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rPr>
                  <a:t>中与最大串</a:t>
                </a:r>
                <a14:m>
                  <m:oMath xmlns:m="http://schemas.openxmlformats.org/officeDocument/2006/math">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e>
                    </m:d>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𝟐</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rPr>
                  <a:t>的对应数字不同的</a:t>
                </a:r>
                <a:r>
                  <a:rPr lang="zh-CN" altLang="en-US" sz="2000" b="1">
                    <a:solidFill>
                      <a:srgbClr val="C00000"/>
                    </a:solidFill>
                  </a:rPr>
                  <a:t>最大位置</a:t>
                </a:r>
                <a14:m>
                  <m:oMath xmlns:m="http://schemas.openxmlformats.org/officeDocument/2006/math">
                    <m:r>
                      <a:rPr lang="en-US" altLang="zh-CN" sz="2000" b="1" i="1" smtClean="0">
                        <a:solidFill>
                          <a:srgbClr val="C00000"/>
                        </a:solidFill>
                        <a:latin typeface="Cambria Math" panose="02040503050406030204" pitchFamily="18" charset="0"/>
                      </a:rPr>
                      <m:t>𝒊</m:t>
                    </m:r>
                  </m:oMath>
                </a14:m>
                <a:r>
                  <a:rPr lang="zh-CN" altLang="en-US" sz="2000" b="1">
                    <a:solidFill>
                      <a:srgbClr val="002060"/>
                    </a:solidFill>
                  </a:rPr>
                  <a:t>，即</a:t>
                </a:r>
                <a:endParaRPr lang="en-US" altLang="zh-CN" sz="2000" b="1">
                  <a:solidFill>
                    <a:srgbClr val="002060"/>
                  </a:solidFill>
                </a:endParaRPr>
              </a:p>
              <a:p>
                <a:pPr algn="ctr">
                  <a:lnSpc>
                    <a:spcPts val="2400"/>
                  </a:lnSpc>
                  <a:spcBef>
                    <a:spcPts val="600"/>
                  </a:spcBef>
                  <a:spcAft>
                    <a:spcPts val="600"/>
                  </a:spcAft>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sub>
                    </m:sSub>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𝒊</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，但</a:t>
                </a:r>
                <a:r>
                  <a:rPr lang="en-US" altLang="zh-CN"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 &lt;</m:t>
                    </m:r>
                    <m:r>
                      <a:rPr lang="en-US" altLang="zh-CN" sz="2000" b="1" i="1" smtClean="0">
                        <a:solidFill>
                          <a:schemeClr val="accent2">
                            <a:lumMod val="50000"/>
                          </a:schemeClr>
                        </a:solidFill>
                        <a:latin typeface="Cambria Math" panose="02040503050406030204" pitchFamily="18" charset="0"/>
                      </a:rPr>
                      <m:t>𝒋</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𝒋</m:t>
                        </m:r>
                      </m:sub>
                    </m:sSub>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𝒋</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A65B10EA-DAEF-4FA8-A177-8170BCDCCEE3}"/>
                  </a:ext>
                </a:extLst>
              </p:cNvPr>
              <p:cNvSpPr txBox="1">
                <a:spLocks noRot="1" noChangeAspect="1" noMove="1" noResize="1" noEditPoints="1" noAdjustHandles="1" noChangeArrowheads="1" noChangeShapeType="1" noTextEdit="1"/>
              </p:cNvSpPr>
              <p:nvPr/>
            </p:nvSpPr>
            <p:spPr>
              <a:xfrm>
                <a:off x="1011978" y="2682719"/>
                <a:ext cx="5685947" cy="1176797"/>
              </a:xfrm>
              <a:prstGeom prst="rect">
                <a:avLst/>
              </a:prstGeom>
              <a:blipFill>
                <a:blip r:embed="rId7"/>
                <a:stretch>
                  <a:fillRect l="-1072" t="-2591" r="-643" b="-56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9E42E0D-1E3D-40A5-AD54-23A17F568B85}"/>
                  </a:ext>
                </a:extLst>
              </p:cNvPr>
              <p:cNvSpPr txBox="1"/>
              <p:nvPr/>
            </p:nvSpPr>
            <p:spPr>
              <a:xfrm>
                <a:off x="7487171" y="1932543"/>
                <a:ext cx="3599105" cy="461665"/>
              </a:xfrm>
              <a:prstGeom prst="rect">
                <a:avLst/>
              </a:prstGeom>
              <a:noFill/>
            </p:spPr>
            <p:txBody>
              <a:bodyPr wrap="square" rtlCol="0">
                <a:spAutoFit/>
              </a:bodyPr>
              <a:lstStyle/>
              <a:p>
                <a:r>
                  <a:rPr lang="zh-CN" altLang="en-US" sz="2400" b="1">
                    <a:solidFill>
                      <a:schemeClr val="accent2">
                        <a:lumMod val="50000"/>
                      </a:schemeClr>
                    </a:solidFill>
                  </a:rPr>
                  <a:t>确定覆盖</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𝟏𝟑𝟒𝟕𝟖</m:t>
                    </m:r>
                  </m:oMath>
                </a14:m>
                <a:r>
                  <a:rPr lang="zh-CN" altLang="en-US" sz="2400" b="1">
                    <a:solidFill>
                      <a:schemeClr val="accent2">
                        <a:lumMod val="50000"/>
                      </a:schemeClr>
                    </a:solidFill>
                  </a:rPr>
                  <a:t>的</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𝟓</m:t>
                    </m:r>
                  </m:oMath>
                </a14:m>
                <a:r>
                  <a:rPr lang="en-US" altLang="zh-CN" sz="2400" b="1">
                    <a:solidFill>
                      <a:schemeClr val="accent2">
                        <a:lumMod val="50000"/>
                      </a:schemeClr>
                    </a:solidFill>
                  </a:rPr>
                  <a:t>-</a:t>
                </a:r>
                <a:r>
                  <a:rPr lang="zh-CN" altLang="en-US" sz="2400" b="1">
                    <a:solidFill>
                      <a:schemeClr val="accent2">
                        <a:lumMod val="50000"/>
                      </a:schemeClr>
                    </a:solidFill>
                  </a:rPr>
                  <a:t>组合</a:t>
                </a:r>
              </a:p>
            </p:txBody>
          </p:sp>
        </mc:Choice>
        <mc:Fallback xmlns="">
          <p:sp>
            <p:nvSpPr>
              <p:cNvPr id="12" name="文本框 11">
                <a:extLst>
                  <a:ext uri="{FF2B5EF4-FFF2-40B4-BE49-F238E27FC236}">
                    <a16:creationId xmlns:a16="http://schemas.microsoft.com/office/drawing/2014/main" id="{59E42E0D-1E3D-40A5-AD54-23A17F568B85}"/>
                  </a:ext>
                </a:extLst>
              </p:cNvPr>
              <p:cNvSpPr txBox="1">
                <a:spLocks noRot="1" noChangeAspect="1" noMove="1" noResize="1" noEditPoints="1" noAdjustHandles="1" noChangeArrowheads="1" noChangeShapeType="1" noTextEdit="1"/>
              </p:cNvSpPr>
              <p:nvPr/>
            </p:nvSpPr>
            <p:spPr>
              <a:xfrm>
                <a:off x="7487171" y="1932543"/>
                <a:ext cx="3599105" cy="461665"/>
              </a:xfrm>
              <a:prstGeom prst="rect">
                <a:avLst/>
              </a:prstGeom>
              <a:blipFill>
                <a:blip r:embed="rId8"/>
                <a:stretch>
                  <a:fillRect l="-2538" t="-9211" r="-1692"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9668093-B85D-4E1F-936D-D29A8CAB7914}"/>
                  </a:ext>
                </a:extLst>
              </p:cNvPr>
              <p:cNvSpPr txBox="1"/>
              <p:nvPr/>
            </p:nvSpPr>
            <p:spPr>
              <a:xfrm>
                <a:off x="7382464" y="2911341"/>
                <a:ext cx="3808520" cy="730393"/>
              </a:xfrm>
              <a:prstGeom prst="rect">
                <a:avLst/>
              </a:prstGeom>
              <a:solidFill>
                <a:schemeClr val="accent6">
                  <a:lumMod val="20000"/>
                  <a:lumOff val="80000"/>
                </a:schemeClr>
              </a:solidFill>
            </p:spPr>
            <p:txBody>
              <a:bodyPr wrap="square" rtlCol="0">
                <a:spAutoFit/>
              </a:bodyPr>
              <a:lstStyle/>
              <a:p>
                <a:pPr>
                  <a:lnSpc>
                    <a:spcPts val="2600"/>
                  </a:lnSpc>
                </a:pPr>
                <a14:m>
                  <m:oMath xmlns:m="http://schemas.openxmlformats.org/officeDocument/2006/math">
                    <m:r>
                      <a:rPr lang="en-US" altLang="zh-CN" sz="2000" b="1" i="1" smtClean="0">
                        <a:solidFill>
                          <a:srgbClr val="002060"/>
                        </a:solidFill>
                        <a:latin typeface="Cambria Math" panose="02040503050406030204" pitchFamily="18" charset="0"/>
                      </a:rPr>
                      <m:t>𝟏𝟑𝟒𝟕𝟖</m:t>
                    </m:r>
                  </m:oMath>
                </a14:m>
                <a:r>
                  <a:rPr lang="zh-CN" altLang="en-US" sz="2000" b="1">
                    <a:solidFill>
                      <a:srgbClr val="002060"/>
                    </a:solidFill>
                    <a:latin typeface="楷体" panose="02010609060101010101" pitchFamily="49" charset="-122"/>
                    <a:ea typeface="楷体" panose="02010609060101010101" pitchFamily="49" charset="-122"/>
                  </a:rPr>
                  <a:t>与最大串</a:t>
                </a:r>
                <a14:m>
                  <m:oMath xmlns:m="http://schemas.openxmlformats.org/officeDocument/2006/math">
                    <m:r>
                      <a:rPr lang="en-US" altLang="zh-CN" sz="2000" b="1" i="1" smtClean="0">
                        <a:solidFill>
                          <a:srgbClr val="002060"/>
                        </a:solidFill>
                        <a:latin typeface="Cambria Math" panose="02040503050406030204" pitchFamily="18" charset="0"/>
                      </a:rPr>
                      <m:t>𝟒𝟓𝟔𝟕𝟖</m:t>
                    </m:r>
                  </m:oMath>
                </a14:m>
                <a:r>
                  <a:rPr lang="zh-CN" altLang="en-US" sz="2000" b="1">
                    <a:solidFill>
                      <a:srgbClr val="002060"/>
                    </a:solidFill>
                    <a:latin typeface="楷体" panose="02010609060101010101" pitchFamily="49" charset="-122"/>
                    <a:ea typeface="楷体" panose="02010609060101010101" pitchFamily="49" charset="-122"/>
                  </a:rPr>
                  <a:t>对应数字不同的最大位置是</a:t>
                </a:r>
                <a14:m>
                  <m:oMath xmlns:m="http://schemas.openxmlformats.org/officeDocument/2006/math">
                    <m:r>
                      <a:rPr lang="en-US" altLang="zh-CN" sz="2000" b="1" i="1" smtClean="0">
                        <a:solidFill>
                          <a:srgbClr val="C00000"/>
                        </a:solidFill>
                        <a:latin typeface="Cambria Math" panose="02040503050406030204" pitchFamily="18" charset="0"/>
                      </a:rPr>
                      <m:t>𝒊</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𝟑</m:t>
                    </m:r>
                  </m:oMath>
                </a14:m>
                <a:r>
                  <a:rPr lang="zh-CN" altLang="en-US" sz="2000" b="1">
                    <a:solidFill>
                      <a:srgbClr val="002060"/>
                    </a:solidFill>
                    <a:latin typeface="楷体" panose="02010609060101010101" pitchFamily="49" charset="-122"/>
                    <a:ea typeface="楷体" panose="02010609060101010101" pitchFamily="49" charset="-122"/>
                  </a:rPr>
                  <a:t>处的</a:t>
                </a:r>
                <a14:m>
                  <m:oMath xmlns:m="http://schemas.openxmlformats.org/officeDocument/2006/math">
                    <m:r>
                      <a:rPr lang="en-US" altLang="zh-CN" sz="2000" b="1" i="1" smtClean="0">
                        <a:solidFill>
                          <a:srgbClr val="002060"/>
                        </a:solidFill>
                        <a:latin typeface="Cambria Math" panose="02040503050406030204" pitchFamily="18" charset="0"/>
                      </a:rPr>
                      <m:t>𝟒</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C9668093-B85D-4E1F-936D-D29A8CAB7914}"/>
                  </a:ext>
                </a:extLst>
              </p:cNvPr>
              <p:cNvSpPr txBox="1">
                <a:spLocks noRot="1" noChangeAspect="1" noMove="1" noResize="1" noEditPoints="1" noAdjustHandles="1" noChangeArrowheads="1" noChangeShapeType="1" noTextEdit="1"/>
              </p:cNvSpPr>
              <p:nvPr/>
            </p:nvSpPr>
            <p:spPr>
              <a:xfrm>
                <a:off x="7382464" y="2911341"/>
                <a:ext cx="3808520" cy="730393"/>
              </a:xfrm>
              <a:prstGeom prst="rect">
                <a:avLst/>
              </a:prstGeom>
              <a:blipFill>
                <a:blip r:embed="rId9"/>
                <a:stretch>
                  <a:fillRect l="-1600" t="-6723" r="-160" b="-134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8896877-1E3F-416C-8504-AB78B47EF7F4}"/>
                  </a:ext>
                </a:extLst>
              </p:cNvPr>
              <p:cNvSpPr txBox="1"/>
              <p:nvPr/>
            </p:nvSpPr>
            <p:spPr>
              <a:xfrm>
                <a:off x="8862091" y="4276715"/>
                <a:ext cx="2328893" cy="400110"/>
              </a:xfrm>
              <a:prstGeom prst="rect">
                <a:avLst/>
              </a:prstGeom>
              <a:solidFill>
                <a:schemeClr val="accent6">
                  <a:lumMod val="20000"/>
                  <a:lumOff val="80000"/>
                </a:schemeClr>
              </a:solidFill>
            </p:spPr>
            <p:txBody>
              <a:bodyPr wrap="square" rtlCol="0">
                <a:spAutoFit/>
              </a:bodyPr>
              <a:lstStyle/>
              <a:p>
                <a:pPr>
                  <a:lnSpc>
                    <a:spcPts val="2600"/>
                  </a:lnSpc>
                </a:pPr>
                <a:r>
                  <a:rPr lang="zh-CN" altLang="en-US" sz="2000" b="1">
                    <a:solidFill>
                      <a:srgbClr val="002060"/>
                    </a:solidFill>
                    <a:latin typeface="楷体" panose="02010609060101010101" pitchFamily="49" charset="-122"/>
                    <a:ea typeface="楷体" panose="02010609060101010101" pitchFamily="49" charset="-122"/>
                  </a:rPr>
                  <a:t>保持</a:t>
                </a:r>
                <a14:m>
                  <m:oMath xmlns:m="http://schemas.openxmlformats.org/officeDocument/2006/math">
                    <m:r>
                      <a:rPr lang="en-US" altLang="zh-CN" sz="2000" b="1" i="1" smtClean="0">
                        <a:solidFill>
                          <a:srgbClr val="002060"/>
                        </a:solidFill>
                        <a:latin typeface="Cambria Math" panose="02040503050406030204" pitchFamily="18" charset="0"/>
                      </a:rPr>
                      <m:t>𝟏𝟑</m:t>
                    </m:r>
                  </m:oMath>
                </a14:m>
                <a:r>
                  <a:rPr lang="zh-CN" altLang="en-US" sz="2000" b="1">
                    <a:solidFill>
                      <a:srgbClr val="002060"/>
                    </a:solidFill>
                    <a:latin typeface="楷体" panose="02010609060101010101" pitchFamily="49" charset="-122"/>
                    <a:ea typeface="楷体" panose="02010609060101010101" pitchFamily="49" charset="-122"/>
                  </a:rPr>
                  <a:t>不变将</a:t>
                </a:r>
                <a14:m>
                  <m:oMath xmlns:m="http://schemas.openxmlformats.org/officeDocument/2006/math">
                    <m:r>
                      <a:rPr lang="en-US" altLang="zh-CN" sz="2000" b="1" i="1" smtClean="0">
                        <a:solidFill>
                          <a:srgbClr val="C00000"/>
                        </a:solidFill>
                        <a:latin typeface="Cambria Math" panose="02040503050406030204" pitchFamily="18" charset="0"/>
                      </a:rPr>
                      <m:t>𝟒</m:t>
                    </m:r>
                  </m:oMath>
                </a14:m>
                <a:r>
                  <a:rPr lang="zh-CN" altLang="en-US" sz="2000" b="1">
                    <a:solidFill>
                      <a:srgbClr val="C00000"/>
                    </a:solidFill>
                    <a:latin typeface="楷体" panose="02010609060101010101" pitchFamily="49" charset="-122"/>
                    <a:ea typeface="楷体" panose="02010609060101010101" pitchFamily="49" charset="-122"/>
                  </a:rPr>
                  <a:t>加</a:t>
                </a:r>
                <a14:m>
                  <m:oMath xmlns:m="http://schemas.openxmlformats.org/officeDocument/2006/math">
                    <m:r>
                      <a:rPr lang="en-US" altLang="zh-CN" sz="2000" b="1" i="1" smtClean="0">
                        <a:solidFill>
                          <a:srgbClr val="C00000"/>
                        </a:solidFill>
                        <a:latin typeface="Cambria Math" panose="02040503050406030204" pitchFamily="18" charset="0"/>
                      </a:rPr>
                      <m:t>𝟏</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14" name="文本框 13">
                <a:extLst>
                  <a:ext uri="{FF2B5EF4-FFF2-40B4-BE49-F238E27FC236}">
                    <a16:creationId xmlns:a16="http://schemas.microsoft.com/office/drawing/2014/main" id="{F8896877-1E3F-416C-8504-AB78B47EF7F4}"/>
                  </a:ext>
                </a:extLst>
              </p:cNvPr>
              <p:cNvSpPr txBox="1">
                <a:spLocks noRot="1" noChangeAspect="1" noMove="1" noResize="1" noEditPoints="1" noAdjustHandles="1" noChangeArrowheads="1" noChangeShapeType="1" noTextEdit="1"/>
              </p:cNvSpPr>
              <p:nvPr/>
            </p:nvSpPr>
            <p:spPr>
              <a:xfrm>
                <a:off x="8862091" y="4276715"/>
                <a:ext cx="2328893" cy="400110"/>
              </a:xfrm>
              <a:prstGeom prst="rect">
                <a:avLst/>
              </a:prstGeom>
              <a:blipFill>
                <a:blip r:embed="rId10"/>
                <a:stretch>
                  <a:fillRect l="-2880" t="-12308"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4B8189C-4A41-47C2-AAFF-099E023ECFB1}"/>
                  </a:ext>
                </a:extLst>
              </p:cNvPr>
              <p:cNvSpPr txBox="1"/>
              <p:nvPr/>
            </p:nvSpPr>
            <p:spPr>
              <a:xfrm>
                <a:off x="6999822" y="5088674"/>
                <a:ext cx="4191162" cy="730393"/>
              </a:xfrm>
              <a:prstGeom prst="rect">
                <a:avLst/>
              </a:prstGeom>
              <a:solidFill>
                <a:schemeClr val="accent6">
                  <a:lumMod val="20000"/>
                  <a:lumOff val="80000"/>
                </a:schemeClr>
              </a:solidFill>
            </p:spPr>
            <p:txBody>
              <a:bodyPr wrap="square" rtlCol="0">
                <a:spAutoFit/>
              </a:bodyPr>
              <a:lstStyle/>
              <a:p>
                <a:pPr>
                  <a:lnSpc>
                    <a:spcPts val="2600"/>
                  </a:lnSpc>
                </a:pPr>
                <a:r>
                  <a:rPr lang="zh-CN" altLang="en-US" sz="2000" b="1">
                    <a:solidFill>
                      <a:srgbClr val="002060"/>
                    </a:solidFill>
                    <a:latin typeface="楷体" panose="02010609060101010101" pitchFamily="49" charset="-122"/>
                    <a:ea typeface="楷体" panose="02010609060101010101" pitchFamily="49" charset="-122"/>
                  </a:rPr>
                  <a:t>剩下的数字依次是前一数字加</a:t>
                </a:r>
                <a14:m>
                  <m:oMath xmlns:m="http://schemas.openxmlformats.org/officeDocument/2006/math">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，即得到</a:t>
                </a:r>
                <a14:m>
                  <m:oMath xmlns:m="http://schemas.openxmlformats.org/officeDocument/2006/math">
                    <m:r>
                      <a:rPr lang="en-US" altLang="zh-CN" sz="2000" b="1" i="1" smtClean="0">
                        <a:solidFill>
                          <a:srgbClr val="C00000"/>
                        </a:solidFill>
                        <a:latin typeface="Cambria Math" panose="02040503050406030204" pitchFamily="18" charset="0"/>
                      </a:rPr>
                      <m:t>𝟏𝟑𝟓𝟔𝟕</m:t>
                    </m:r>
                  </m:oMath>
                </a14:m>
                <a:r>
                  <a:rPr lang="zh-CN" altLang="en-US" sz="2000" b="1">
                    <a:solidFill>
                      <a:srgbClr val="002060"/>
                    </a:solidFill>
                    <a:latin typeface="楷体" panose="02010609060101010101" pitchFamily="49" charset="-122"/>
                    <a:ea typeface="楷体" panose="02010609060101010101" pitchFamily="49" charset="-122"/>
                  </a:rPr>
                  <a:t>是覆盖</a:t>
                </a:r>
                <a14:m>
                  <m:oMath xmlns:m="http://schemas.openxmlformats.org/officeDocument/2006/math">
                    <m:r>
                      <a:rPr lang="en-US" altLang="zh-CN" sz="2000" b="1" i="1" smtClean="0">
                        <a:solidFill>
                          <a:srgbClr val="002060"/>
                        </a:solidFill>
                        <a:latin typeface="Cambria Math" panose="02040503050406030204" pitchFamily="18" charset="0"/>
                      </a:rPr>
                      <m:t>𝟏𝟑𝟒𝟕𝟖</m:t>
                    </m:r>
                  </m:oMath>
                </a14:m>
                <a:r>
                  <a:rPr lang="zh-CN" altLang="en-US" sz="2000" b="1">
                    <a:solidFill>
                      <a:srgbClr val="002060"/>
                    </a:solidFill>
                    <a:latin typeface="楷体" panose="02010609060101010101" pitchFamily="49" charset="-122"/>
                    <a:ea typeface="楷体" panose="02010609060101010101" pitchFamily="49" charset="-122"/>
                  </a:rPr>
                  <a:t>的</a:t>
                </a:r>
                <a14:m>
                  <m:oMath xmlns:m="http://schemas.openxmlformats.org/officeDocument/2006/math">
                    <m:r>
                      <a:rPr lang="en-US" altLang="zh-CN" sz="2000" b="1" i="1" smtClean="0">
                        <a:solidFill>
                          <a:srgbClr val="002060"/>
                        </a:solidFill>
                        <a:latin typeface="Cambria Math" panose="02040503050406030204" pitchFamily="18" charset="0"/>
                      </a:rPr>
                      <m:t>𝟓</m:t>
                    </m:r>
                  </m:oMath>
                </a14:m>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组合</a:t>
                </a:r>
              </a:p>
            </p:txBody>
          </p:sp>
        </mc:Choice>
        <mc:Fallback xmlns="">
          <p:sp>
            <p:nvSpPr>
              <p:cNvPr id="15" name="文本框 14">
                <a:extLst>
                  <a:ext uri="{FF2B5EF4-FFF2-40B4-BE49-F238E27FC236}">
                    <a16:creationId xmlns:a16="http://schemas.microsoft.com/office/drawing/2014/main" id="{C4B8189C-4A41-47C2-AAFF-099E023ECFB1}"/>
                  </a:ext>
                </a:extLst>
              </p:cNvPr>
              <p:cNvSpPr txBox="1">
                <a:spLocks noRot="1" noChangeAspect="1" noMove="1" noResize="1" noEditPoints="1" noAdjustHandles="1" noChangeArrowheads="1" noChangeShapeType="1" noTextEdit="1"/>
              </p:cNvSpPr>
              <p:nvPr/>
            </p:nvSpPr>
            <p:spPr>
              <a:xfrm>
                <a:off x="6999822" y="5088674"/>
                <a:ext cx="4191162" cy="730393"/>
              </a:xfrm>
              <a:prstGeom prst="rect">
                <a:avLst/>
              </a:prstGeom>
              <a:blipFill>
                <a:blip r:embed="rId11"/>
                <a:stretch>
                  <a:fillRect l="-1453" t="-6667" r="-1017" b="-12500"/>
                </a:stretch>
              </a:blipFill>
            </p:spPr>
            <p:txBody>
              <a:bodyPr/>
              <a:lstStyle/>
              <a:p>
                <a:r>
                  <a:rPr lang="zh-CN" altLang="en-US">
                    <a:noFill/>
                  </a:rPr>
                  <a:t> </a:t>
                </a:r>
              </a:p>
            </p:txBody>
          </p:sp>
        </mc:Fallback>
      </mc:AlternateContent>
      <p:sp>
        <p:nvSpPr>
          <p:cNvPr id="16" name="箭头: 下 15">
            <a:extLst>
              <a:ext uri="{FF2B5EF4-FFF2-40B4-BE49-F238E27FC236}">
                <a16:creationId xmlns:a16="http://schemas.microsoft.com/office/drawing/2014/main" id="{642E2487-9557-448E-9610-51F71C79F642}"/>
              </a:ext>
            </a:extLst>
          </p:cNvPr>
          <p:cNvSpPr/>
          <p:nvPr/>
        </p:nvSpPr>
        <p:spPr>
          <a:xfrm>
            <a:off x="3368148" y="3862468"/>
            <a:ext cx="131569" cy="4171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34F23EE2-3B1D-43C8-8A9E-D1A63B820666}"/>
              </a:ext>
            </a:extLst>
          </p:cNvPr>
          <p:cNvSpPr/>
          <p:nvPr/>
        </p:nvSpPr>
        <p:spPr>
          <a:xfrm>
            <a:off x="3368147" y="4676825"/>
            <a:ext cx="131569" cy="400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9939D378-2ED2-4FCD-85E5-7DE9A9B88276}"/>
              </a:ext>
            </a:extLst>
          </p:cNvPr>
          <p:cNvSpPr/>
          <p:nvPr/>
        </p:nvSpPr>
        <p:spPr>
          <a:xfrm>
            <a:off x="9983777" y="3641734"/>
            <a:ext cx="85519" cy="6349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14063B57-6C08-4417-B8E0-54FF2A5CFF2E}"/>
              </a:ext>
            </a:extLst>
          </p:cNvPr>
          <p:cNvSpPr/>
          <p:nvPr/>
        </p:nvSpPr>
        <p:spPr>
          <a:xfrm>
            <a:off x="10013312" y="4676825"/>
            <a:ext cx="85519" cy="400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1461F813-F7F7-4F5A-ABA7-9FD64A8E6989}"/>
              </a:ext>
            </a:extLst>
          </p:cNvPr>
          <p:cNvSpPr/>
          <p:nvPr/>
        </p:nvSpPr>
        <p:spPr>
          <a:xfrm>
            <a:off x="6697925" y="3271117"/>
            <a:ext cx="68453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F1F7005-6CF1-4008-81EF-ABE3C9748913}"/>
              </a:ext>
            </a:extLst>
          </p:cNvPr>
          <p:cNvSpPr/>
          <p:nvPr/>
        </p:nvSpPr>
        <p:spPr>
          <a:xfrm>
            <a:off x="5855888" y="4454557"/>
            <a:ext cx="300620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A31ED393-2B2E-4D39-8525-B1042955E530}"/>
              </a:ext>
            </a:extLst>
          </p:cNvPr>
          <p:cNvSpPr/>
          <p:nvPr/>
        </p:nvSpPr>
        <p:spPr>
          <a:xfrm>
            <a:off x="5932635" y="5453870"/>
            <a:ext cx="1067187"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D1033AF9-2B2F-45AF-8FF7-5A005C7E2ED7}"/>
              </a:ext>
            </a:extLst>
          </p:cNvPr>
          <p:cNvSpPr/>
          <p:nvPr/>
        </p:nvSpPr>
        <p:spPr>
          <a:xfrm>
            <a:off x="889183" y="1931471"/>
            <a:ext cx="5894262" cy="3974668"/>
          </a:xfrm>
          <a:prstGeom prst="roundRect">
            <a:avLst>
              <a:gd name="adj" fmla="val 7818"/>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9414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 grpId="0"/>
      <p:bldP spid="3" grpId="0" animBg="1"/>
      <p:bldP spid="4" grpId="0" animBg="1"/>
      <p:bldP spid="6" grpId="0" animBg="1"/>
      <p:bldP spid="12" grpId="0"/>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smtClean="0">
                        <a:latin typeface="Cambria Math" panose="02040503050406030204" pitchFamily="18" charset="0"/>
                      </a:rPr>
                      <m:t>𝑛</m:t>
                    </m:r>
                  </m:oMath>
                </a14:m>
                <a:r>
                  <a:rPr lang="zh-CN" altLang="en-US"/>
                  <a:t>元素的</a:t>
                </a:r>
                <a14:m>
                  <m:oMath xmlns:m="http://schemas.openxmlformats.org/officeDocument/2006/math">
                    <m:r>
                      <a:rPr lang="en-US" altLang="zh-CN" i="1" smtClean="0">
                        <a:latin typeface="Cambria Math" panose="02040503050406030204" pitchFamily="18" charset="0"/>
                      </a:rPr>
                      <m:t>𝑟</m:t>
                    </m:r>
                  </m:oMath>
                </a14:m>
                <a:r>
                  <a:rPr lang="zh-CN" altLang="en-US"/>
                  <a:t>组合生成算法</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7E0BBC46-CCD5-4E25-A5C7-AB5B34190D54}"/>
              </a:ext>
            </a:extLst>
          </p:cNvPr>
          <p:cNvPicPr>
            <a:picLocks noChangeAspect="1"/>
          </p:cNvPicPr>
          <p:nvPr/>
        </p:nvPicPr>
        <p:blipFill>
          <a:blip r:embed="rId3"/>
          <a:stretch>
            <a:fillRect/>
          </a:stretch>
        </p:blipFill>
        <p:spPr>
          <a:xfrm>
            <a:off x="806950" y="1063840"/>
            <a:ext cx="10578099" cy="2554165"/>
          </a:xfrm>
          <a:prstGeom prst="rect">
            <a:avLst/>
          </a:prstGeom>
        </p:spPr>
      </p:pic>
      <p:grpSp>
        <p:nvGrpSpPr>
          <p:cNvPr id="4" name="组合 3">
            <a:extLst>
              <a:ext uri="{FF2B5EF4-FFF2-40B4-BE49-F238E27FC236}">
                <a16:creationId xmlns:a16="http://schemas.microsoft.com/office/drawing/2014/main" id="{FA124FC5-CD65-4A9C-B5DE-99BA756D509B}"/>
              </a:ext>
            </a:extLst>
          </p:cNvPr>
          <p:cNvGrpSpPr/>
          <p:nvPr/>
        </p:nvGrpSpPr>
        <p:grpSpPr>
          <a:xfrm>
            <a:off x="2330675" y="3715687"/>
            <a:ext cx="7530639" cy="1141997"/>
            <a:chOff x="2480072" y="4048524"/>
            <a:chExt cx="7530639" cy="1141997"/>
          </a:xfrm>
        </p:grpSpPr>
        <p:grpSp>
          <p:nvGrpSpPr>
            <p:cNvPr id="11" name="组合 10">
              <a:extLst>
                <a:ext uri="{FF2B5EF4-FFF2-40B4-BE49-F238E27FC236}">
                  <a16:creationId xmlns:a16="http://schemas.microsoft.com/office/drawing/2014/main" id="{AAF37080-B076-4407-B566-55EFF3517009}"/>
                </a:ext>
              </a:extLst>
            </p:cNvPr>
            <p:cNvGrpSpPr/>
            <p:nvPr/>
          </p:nvGrpSpPr>
          <p:grpSpPr>
            <a:xfrm>
              <a:off x="2480072" y="4402614"/>
              <a:ext cx="7530639" cy="787907"/>
              <a:chOff x="1131497" y="3532610"/>
              <a:chExt cx="7530639" cy="787907"/>
            </a:xfrm>
          </p:grpSpPr>
          <p:sp>
            <p:nvSpPr>
              <p:cNvPr id="12" name="矩形 11">
                <a:extLst>
                  <a:ext uri="{FF2B5EF4-FFF2-40B4-BE49-F238E27FC236}">
                    <a16:creationId xmlns:a16="http://schemas.microsoft.com/office/drawing/2014/main" id="{BAA63CD7-4929-4A8E-88BF-7E0F87A10E52}"/>
                  </a:ext>
                </a:extLst>
              </p:cNvPr>
              <p:cNvSpPr/>
              <p:nvPr/>
            </p:nvSpPr>
            <p:spPr>
              <a:xfrm>
                <a:off x="1131497" y="3532610"/>
                <a:ext cx="7530639" cy="787907"/>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7593A634-CB37-4B4E-B2BF-417D5F4B36B4}"/>
                  </a:ext>
                </a:extLst>
              </p:cNvPr>
              <p:cNvGrpSpPr/>
              <p:nvPr/>
            </p:nvGrpSpPr>
            <p:grpSpPr>
              <a:xfrm>
                <a:off x="1235102" y="3593262"/>
                <a:ext cx="7262574" cy="695141"/>
                <a:chOff x="1235102" y="3593262"/>
                <a:chExt cx="7262574" cy="695141"/>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3437B2B-629D-42F6-A823-0A5A06664BE5}"/>
                        </a:ext>
                      </a:extLst>
                    </p:cNvPr>
                    <p:cNvSpPr txBox="1"/>
                    <p:nvPr/>
                  </p:nvSpPr>
                  <p:spPr>
                    <a:xfrm>
                      <a:off x="1235102" y="3771699"/>
                      <a:ext cx="1341217" cy="429220"/>
                    </a:xfrm>
                    <a:prstGeom prst="rect">
                      <a:avLst/>
                    </a:prstGeom>
                    <a:solidFill>
                      <a:schemeClr val="accent6">
                        <a:lumMod val="20000"/>
                        <a:lumOff val="80000"/>
                      </a:schemeClr>
                    </a:solidFill>
                  </p:spPr>
                  <p:txBody>
                    <a:bodyPr wrap="square" rtlCol="0">
                      <a:spAutoFit/>
                    </a:bodyPr>
                    <a:lstStyle/>
                    <a:p>
                      <a:pPr>
                        <a:lnSpc>
                          <a:spcPts val="2800"/>
                        </a:lnSpc>
                      </a:pPr>
                      <a14:m>
                        <m:oMath xmlns:m="http://schemas.openxmlformats.org/officeDocument/2006/math">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𝟏𝟐𝟔𝟕𝟖</m:t>
                          </m:r>
                        </m:oMath>
                      </a14:m>
                      <a:r>
                        <a:rPr lang="en-US" altLang="zh-CN" b="1">
                          <a:solidFill>
                            <a:srgbClr val="002060"/>
                          </a:solidFill>
                        </a:rPr>
                        <a:t> </a:t>
                      </a:r>
                      <a:endParaRPr lang="zh-CN" altLang="en-US" b="1">
                        <a:solidFill>
                          <a:srgbClr val="002060"/>
                        </a:solidFill>
                      </a:endParaRPr>
                    </a:p>
                  </p:txBody>
                </p:sp>
              </mc:Choice>
              <mc:Fallback xmlns="">
                <p:sp>
                  <p:nvSpPr>
                    <p:cNvPr id="14" name="文本框 13">
                      <a:extLst>
                        <a:ext uri="{FF2B5EF4-FFF2-40B4-BE49-F238E27FC236}">
                          <a16:creationId xmlns:a16="http://schemas.microsoft.com/office/drawing/2014/main" id="{03437B2B-629D-42F6-A823-0A5A06664BE5}"/>
                        </a:ext>
                      </a:extLst>
                    </p:cNvPr>
                    <p:cNvSpPr txBox="1">
                      <a:spLocks noRot="1" noChangeAspect="1" noMove="1" noResize="1" noEditPoints="1" noAdjustHandles="1" noChangeArrowheads="1" noChangeShapeType="1" noTextEdit="1"/>
                    </p:cNvSpPr>
                    <p:nvPr/>
                  </p:nvSpPr>
                  <p:spPr>
                    <a:xfrm>
                      <a:off x="1235102" y="3771699"/>
                      <a:ext cx="1341217" cy="429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EAC6261-5BCE-4840-83FC-9144452EFDAB}"/>
                        </a:ext>
                      </a:extLst>
                    </p:cNvPr>
                    <p:cNvSpPr txBox="1"/>
                    <p:nvPr/>
                  </p:nvSpPr>
                  <p:spPr>
                    <a:xfrm>
                      <a:off x="3522543" y="3593262"/>
                      <a:ext cx="1943314" cy="691728"/>
                    </a:xfrm>
                    <a:prstGeom prst="rect">
                      <a:avLst/>
                    </a:prstGeom>
                    <a:solidFill>
                      <a:schemeClr val="accent5">
                        <a:lumMod val="20000"/>
                        <a:lumOff val="80000"/>
                      </a:schemeClr>
                    </a:solidFill>
                  </p:spPr>
                  <p:txBody>
                    <a:bodyPr wrap="square" rtlCol="0">
                      <a:spAutoFit/>
                    </a:bodyPr>
                    <a:lstStyle/>
                    <a:p>
                      <a:pPr>
                        <a:lnSpc>
                          <a:spcPts val="2400"/>
                        </a:lnSpc>
                      </a:pPr>
                      <a14:m>
                        <m:oMath xmlns:m="http://schemas.openxmlformats.org/officeDocument/2006/math">
                          <m:sSub>
                            <m:sSubPr>
                              <m:ctrlPr>
                                <a:rPr lang="en-US" altLang="zh-CN" b="1" i="1" smtClean="0">
                                  <a:solidFill>
                                    <a:srgbClr val="002060"/>
                                  </a:solidFill>
                                  <a:latin typeface="Cambria Math" panose="02040503050406030204" pitchFamily="18" charset="0"/>
                                </a:rPr>
                              </m:ctrlPr>
                            </m:sSubPr>
                            <m:e>
                              <m:r>
                                <a:rPr lang="en-US" altLang="zh-CN" b="1" i="1" smtClean="0">
                                  <a:solidFill>
                                    <a:srgbClr val="002060"/>
                                  </a:solidFill>
                                  <a:latin typeface="Cambria Math" panose="02040503050406030204" pitchFamily="18" charset="0"/>
                                </a:rPr>
                                <m:t>𝒂</m:t>
                              </m:r>
                            </m:e>
                            <m:sub>
                              <m:r>
                                <a:rPr lang="en-US" altLang="zh-CN" b="1" i="1" smtClean="0">
                                  <a:solidFill>
                                    <a:srgbClr val="002060"/>
                                  </a:solidFill>
                                  <a:latin typeface="Cambria Math" panose="02040503050406030204" pitchFamily="18" charset="0"/>
                                </a:rPr>
                                <m:t>𝒊</m:t>
                              </m:r>
                            </m:sub>
                          </m:sSub>
                        </m:oMath>
                      </a14:m>
                      <a:r>
                        <a:rPr lang="zh-CN" altLang="en-US" b="1">
                          <a:solidFill>
                            <a:srgbClr val="002060"/>
                          </a:solidFill>
                        </a:rPr>
                        <a:t>加</a:t>
                      </a:r>
                      <a14:m>
                        <m:oMath xmlns:m="http://schemas.openxmlformats.org/officeDocument/2006/math">
                          <m:r>
                            <a:rPr lang="en-US" altLang="zh-CN" b="1" i="1" smtClean="0">
                              <a:solidFill>
                                <a:srgbClr val="002060"/>
                              </a:solidFill>
                              <a:latin typeface="Cambria Math" panose="02040503050406030204" pitchFamily="18" charset="0"/>
                            </a:rPr>
                            <m:t>𝟏</m:t>
                          </m:r>
                        </m:oMath>
                      </a14:m>
                      <a:r>
                        <a:rPr lang="zh-CN" altLang="en-US" b="1">
                          <a:solidFill>
                            <a:srgbClr val="002060"/>
                          </a:solidFill>
                        </a:rPr>
                        <a:t>，后面数字是前一数字加</a:t>
                      </a:r>
                      <a14:m>
                        <m:oMath xmlns:m="http://schemas.openxmlformats.org/officeDocument/2006/math">
                          <m:r>
                            <a:rPr lang="en-US" altLang="zh-CN" b="1" i="1" smtClean="0">
                              <a:solidFill>
                                <a:srgbClr val="002060"/>
                              </a:solidFill>
                              <a:latin typeface="Cambria Math" panose="02040503050406030204" pitchFamily="18" charset="0"/>
                            </a:rPr>
                            <m:t>𝟏</m:t>
                          </m:r>
                        </m:oMath>
                      </a14:m>
                      <a:endParaRPr lang="zh-CN" altLang="en-US" b="1">
                        <a:solidFill>
                          <a:srgbClr val="002060"/>
                        </a:solidFill>
                      </a:endParaRPr>
                    </a:p>
                  </p:txBody>
                </p:sp>
              </mc:Choice>
              <mc:Fallback xmlns="">
                <p:sp>
                  <p:nvSpPr>
                    <p:cNvPr id="15" name="文本框 14">
                      <a:extLst>
                        <a:ext uri="{FF2B5EF4-FFF2-40B4-BE49-F238E27FC236}">
                          <a16:creationId xmlns:a16="http://schemas.microsoft.com/office/drawing/2014/main" id="{9EAC6261-5BCE-4840-83FC-9144452EFDAB}"/>
                        </a:ext>
                      </a:extLst>
                    </p:cNvPr>
                    <p:cNvSpPr txBox="1">
                      <a:spLocks noRot="1" noChangeAspect="1" noMove="1" noResize="1" noEditPoints="1" noAdjustHandles="1" noChangeArrowheads="1" noChangeShapeType="1" noTextEdit="1"/>
                    </p:cNvSpPr>
                    <p:nvPr/>
                  </p:nvSpPr>
                  <p:spPr>
                    <a:xfrm>
                      <a:off x="3522543" y="3593262"/>
                      <a:ext cx="1943314" cy="691728"/>
                    </a:xfrm>
                    <a:prstGeom prst="rect">
                      <a:avLst/>
                    </a:prstGeom>
                    <a:blipFill>
                      <a:blip r:embed="rId5"/>
                      <a:stretch>
                        <a:fillRect l="-2830" t="-2655" r="-1572" b="-141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C0995A2-F96E-4EE2-A6B4-08669B211B58}"/>
                        </a:ext>
                      </a:extLst>
                    </p:cNvPr>
                    <p:cNvSpPr txBox="1"/>
                    <p:nvPr/>
                  </p:nvSpPr>
                  <p:spPr>
                    <a:xfrm>
                      <a:off x="6554363" y="3596675"/>
                      <a:ext cx="1943313" cy="691728"/>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rgbClr val="002060"/>
                          </a:solidFill>
                        </a:rPr>
                        <a:t>覆盖</a:t>
                      </a:r>
                      <a14:m>
                        <m:oMath xmlns:m="http://schemas.openxmlformats.org/officeDocument/2006/math">
                          <m:r>
                            <a:rPr lang="en-US" altLang="zh-CN" b="1" i="1" smtClean="0">
                              <a:solidFill>
                                <a:srgbClr val="002060"/>
                              </a:solidFill>
                              <a:latin typeface="Cambria Math" panose="02040503050406030204" pitchFamily="18" charset="0"/>
                            </a:rPr>
                            <m:t>𝒂</m:t>
                          </m:r>
                        </m:oMath>
                      </a14:m>
                      <a:r>
                        <a:rPr lang="zh-CN" altLang="en-US" b="1">
                          <a:solidFill>
                            <a:srgbClr val="002060"/>
                          </a:solidFill>
                        </a:rPr>
                        <a:t>的</a:t>
                      </a:r>
                      <a:r>
                        <a:rPr lang="en-US" altLang="zh-CN" b="1">
                          <a:solidFill>
                            <a:srgbClr val="002060"/>
                          </a:solidFill>
                        </a:rPr>
                        <a:t>5-</a:t>
                      </a:r>
                      <a:r>
                        <a:rPr lang="zh-CN" altLang="en-US" b="1">
                          <a:solidFill>
                            <a:srgbClr val="002060"/>
                          </a:solidFill>
                        </a:rPr>
                        <a:t>组合是</a:t>
                      </a:r>
                      <a14:m>
                        <m:oMath xmlns:m="http://schemas.openxmlformats.org/officeDocument/2006/math">
                          <m:r>
                            <a:rPr lang="en-US" altLang="zh-CN" b="1" i="1" smtClean="0">
                              <a:solidFill>
                                <a:srgbClr val="C00000"/>
                              </a:solidFill>
                              <a:latin typeface="Cambria Math" panose="02040503050406030204" pitchFamily="18" charset="0"/>
                            </a:rPr>
                            <m:t>𝟏𝟑𝟒𝟓𝟔</m:t>
                          </m:r>
                        </m:oMath>
                      </a14:m>
                      <a:endParaRPr lang="zh-CN" altLang="en-US" b="1">
                        <a:solidFill>
                          <a:srgbClr val="002060"/>
                        </a:solidFill>
                      </a:endParaRPr>
                    </a:p>
                  </p:txBody>
                </p:sp>
              </mc:Choice>
              <mc:Fallback xmlns="">
                <p:sp>
                  <p:nvSpPr>
                    <p:cNvPr id="18" name="文本框 17">
                      <a:extLst>
                        <a:ext uri="{FF2B5EF4-FFF2-40B4-BE49-F238E27FC236}">
                          <a16:creationId xmlns:a16="http://schemas.microsoft.com/office/drawing/2014/main" id="{1C0995A2-F96E-4EE2-A6B4-08669B211B58}"/>
                        </a:ext>
                      </a:extLst>
                    </p:cNvPr>
                    <p:cNvSpPr txBox="1">
                      <a:spLocks noRot="1" noChangeAspect="1" noMove="1" noResize="1" noEditPoints="1" noAdjustHandles="1" noChangeArrowheads="1" noChangeShapeType="1" noTextEdit="1"/>
                    </p:cNvSpPr>
                    <p:nvPr/>
                  </p:nvSpPr>
                  <p:spPr>
                    <a:xfrm>
                      <a:off x="6554363" y="3596675"/>
                      <a:ext cx="1943313" cy="691728"/>
                    </a:xfrm>
                    <a:prstGeom prst="rect">
                      <a:avLst/>
                    </a:prstGeom>
                    <a:blipFill>
                      <a:blip r:embed="rId6"/>
                      <a:stretch>
                        <a:fillRect l="-2821" t="-1754" r="-2508"/>
                      </a:stretch>
                    </a:blipFill>
                  </p:spPr>
                  <p:txBody>
                    <a:bodyPr/>
                    <a:lstStyle/>
                    <a:p>
                      <a:r>
                        <a:rPr lang="zh-CN" altLang="en-US">
                          <a:noFill/>
                        </a:rPr>
                        <a:t> </a:t>
                      </a:r>
                    </a:p>
                  </p:txBody>
                </p:sp>
              </mc:Fallback>
            </mc:AlternateContent>
            <p:sp>
              <p:nvSpPr>
                <p:cNvPr id="19" name="箭头: 右 18">
                  <a:extLst>
                    <a:ext uri="{FF2B5EF4-FFF2-40B4-BE49-F238E27FC236}">
                      <a16:creationId xmlns:a16="http://schemas.microsoft.com/office/drawing/2014/main" id="{9B4008CD-39E1-40C4-8162-C35C5724DBD4}"/>
                    </a:ext>
                  </a:extLst>
                </p:cNvPr>
                <p:cNvSpPr/>
                <p:nvPr/>
              </p:nvSpPr>
              <p:spPr>
                <a:xfrm>
                  <a:off x="2576320" y="3943907"/>
                  <a:ext cx="946222" cy="553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61B61E7E-E0D1-4CEF-BDA8-BC9852C2AE62}"/>
                    </a:ext>
                  </a:extLst>
                </p:cNvPr>
                <p:cNvSpPr/>
                <p:nvPr/>
              </p:nvSpPr>
              <p:spPr>
                <a:xfrm>
                  <a:off x="5465858" y="3963448"/>
                  <a:ext cx="108850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3DB5B1A5-86EC-477B-80FF-2F23E7794765}"/>
                    </a:ext>
                  </a:extLst>
                </p:cNvPr>
                <p:cNvSpPr txBox="1"/>
                <p:nvPr/>
              </p:nvSpPr>
              <p:spPr>
                <a:xfrm>
                  <a:off x="4104708" y="4506132"/>
                  <a:ext cx="586595"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oMath>
                    </m:oMathPara>
                  </a14:m>
                  <a:endParaRPr lang="zh-CN" altLang="en-US" sz="2000" b="1">
                    <a:solidFill>
                      <a:schemeClr val="accent2">
                        <a:lumMod val="50000"/>
                      </a:schemeClr>
                    </a:solidFill>
                  </a:endParaRPr>
                </a:p>
              </p:txBody>
            </p:sp>
          </mc:Choice>
          <mc:Fallback xmlns="">
            <p:sp>
              <p:nvSpPr>
                <p:cNvPr id="22" name="文本框 21">
                  <a:extLst>
                    <a:ext uri="{FF2B5EF4-FFF2-40B4-BE49-F238E27FC236}">
                      <a16:creationId xmlns:a16="http://schemas.microsoft.com/office/drawing/2014/main" id="{3DB5B1A5-86EC-477B-80FF-2F23E7794765}"/>
                    </a:ext>
                  </a:extLst>
                </p:cNvPr>
                <p:cNvSpPr txBox="1">
                  <a:spLocks noRot="1" noChangeAspect="1" noMove="1" noResize="1" noEditPoints="1" noAdjustHandles="1" noChangeArrowheads="1" noChangeShapeType="1" noTextEdit="1"/>
                </p:cNvSpPr>
                <p:nvPr/>
              </p:nvSpPr>
              <p:spPr>
                <a:xfrm>
                  <a:off x="4104708" y="4506132"/>
                  <a:ext cx="586595" cy="307777"/>
                </a:xfrm>
                <a:prstGeom prst="rect">
                  <a:avLst/>
                </a:prstGeom>
                <a:blipFill>
                  <a:blip r:embed="rId7"/>
                  <a:stretch>
                    <a:fillRect l="-14583" r="-13542"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624C3F9B-95DB-41AB-8E91-50A84F508B34}"/>
                    </a:ext>
                  </a:extLst>
                </p:cNvPr>
                <p:cNvSpPr txBox="1"/>
                <p:nvPr/>
              </p:nvSpPr>
              <p:spPr>
                <a:xfrm>
                  <a:off x="2650910" y="4048524"/>
                  <a:ext cx="3121103" cy="369332"/>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2">
                          <a:lumMod val="50000"/>
                        </a:schemeClr>
                      </a:solidFill>
                    </a:rPr>
                    <a:t>算法第</a:t>
                  </a:r>
                  <a:r>
                    <a:rPr lang="en-US" altLang="zh-CN" b="1">
                      <a:solidFill>
                        <a:schemeClr val="accent2">
                          <a:lumMod val="50000"/>
                        </a:schemeClr>
                      </a:solidFill>
                    </a:rPr>
                    <a:t>1</a:t>
                  </a:r>
                  <a:r>
                    <a:rPr lang="zh-CN" altLang="en-US" b="1">
                      <a:solidFill>
                        <a:schemeClr val="accent2">
                          <a:lumMod val="50000"/>
                        </a:schemeClr>
                      </a:solidFill>
                    </a:rPr>
                    <a:t>行的循环确定</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𝒊</m:t>
                      </m:r>
                    </m:oMath>
                  </a14:m>
                  <a:r>
                    <a:rPr lang="zh-CN" altLang="en-US" b="1">
                      <a:solidFill>
                        <a:schemeClr val="accent2">
                          <a:lumMod val="50000"/>
                        </a:schemeClr>
                      </a:solidFill>
                    </a:rPr>
                    <a:t>的值</a:t>
                  </a:r>
                </a:p>
              </p:txBody>
            </p:sp>
          </mc:Choice>
          <mc:Fallback xmlns="">
            <p:sp>
              <p:nvSpPr>
                <p:cNvPr id="24" name="文本框 23">
                  <a:extLst>
                    <a:ext uri="{FF2B5EF4-FFF2-40B4-BE49-F238E27FC236}">
                      <a16:creationId xmlns:a16="http://schemas.microsoft.com/office/drawing/2014/main" id="{624C3F9B-95DB-41AB-8E91-50A84F508B34}"/>
                    </a:ext>
                  </a:extLst>
                </p:cNvPr>
                <p:cNvSpPr txBox="1">
                  <a:spLocks noRot="1" noChangeAspect="1" noMove="1" noResize="1" noEditPoints="1" noAdjustHandles="1" noChangeArrowheads="1" noChangeShapeType="1" noTextEdit="1"/>
                </p:cNvSpPr>
                <p:nvPr/>
              </p:nvSpPr>
              <p:spPr>
                <a:xfrm>
                  <a:off x="2650910" y="4048524"/>
                  <a:ext cx="3121103" cy="369332"/>
                </a:xfrm>
                <a:prstGeom prst="rect">
                  <a:avLst/>
                </a:prstGeom>
                <a:blipFill>
                  <a:blip r:embed="rId8"/>
                  <a:stretch>
                    <a:fillRect l="-1563"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1907E103-D420-4762-9F27-0432ECA3F378}"/>
                    </a:ext>
                  </a:extLst>
                </p:cNvPr>
                <p:cNvSpPr txBox="1"/>
                <p:nvPr/>
              </p:nvSpPr>
              <p:spPr>
                <a:xfrm>
                  <a:off x="6077393" y="4048524"/>
                  <a:ext cx="3565470" cy="369332"/>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2">
                          <a:lumMod val="50000"/>
                        </a:schemeClr>
                      </a:solidFill>
                    </a:rPr>
                    <a:t>算法第</a:t>
                  </a:r>
                  <a:r>
                    <a:rPr lang="en-US" altLang="zh-CN" b="1">
                      <a:solidFill>
                        <a:schemeClr val="accent2">
                          <a:lumMod val="50000"/>
                        </a:schemeClr>
                      </a:solidFill>
                    </a:rPr>
                    <a:t>2</a:t>
                  </a:r>
                  <a:r>
                    <a:rPr lang="zh-CN" altLang="en-US" b="1">
                      <a:solidFill>
                        <a:schemeClr val="accent2">
                          <a:lumMod val="50000"/>
                        </a:schemeClr>
                      </a:solidFill>
                    </a:rPr>
                    <a:t>、</a:t>
                  </a:r>
                  <a:r>
                    <a:rPr lang="en-US" altLang="zh-CN" b="1">
                      <a:solidFill>
                        <a:schemeClr val="accent2">
                          <a:lumMod val="50000"/>
                        </a:schemeClr>
                      </a:solidFill>
                    </a:rPr>
                    <a:t>3</a:t>
                  </a:r>
                  <a:r>
                    <a:rPr lang="zh-CN" altLang="en-US" b="1">
                      <a:solidFill>
                        <a:schemeClr val="accent2">
                          <a:lumMod val="50000"/>
                        </a:schemeClr>
                      </a:solidFill>
                    </a:rPr>
                    <a:t>行得到覆盖</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a14:m>
                  <a:r>
                    <a:rPr lang="zh-CN" altLang="en-US" b="1">
                      <a:solidFill>
                        <a:schemeClr val="accent2">
                          <a:lumMod val="50000"/>
                        </a:schemeClr>
                      </a:solidFill>
                    </a:rPr>
                    <a:t>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𝒓</m:t>
                      </m:r>
                    </m:oMath>
                  </a14:m>
                  <a:r>
                    <a:rPr lang="en-US" altLang="zh-CN" b="1">
                      <a:solidFill>
                        <a:schemeClr val="accent2">
                          <a:lumMod val="50000"/>
                        </a:schemeClr>
                      </a:solidFill>
                    </a:rPr>
                    <a:t>-</a:t>
                  </a:r>
                  <a:r>
                    <a:rPr lang="zh-CN" altLang="en-US" b="1">
                      <a:solidFill>
                        <a:schemeClr val="accent2">
                          <a:lumMod val="50000"/>
                        </a:schemeClr>
                      </a:solidFill>
                    </a:rPr>
                    <a:t>组合</a:t>
                  </a:r>
                </a:p>
              </p:txBody>
            </p:sp>
          </mc:Choice>
          <mc:Fallback xmlns="">
            <p:sp>
              <p:nvSpPr>
                <p:cNvPr id="26" name="文本框 25">
                  <a:extLst>
                    <a:ext uri="{FF2B5EF4-FFF2-40B4-BE49-F238E27FC236}">
                      <a16:creationId xmlns:a16="http://schemas.microsoft.com/office/drawing/2014/main" id="{1907E103-D420-4762-9F27-0432ECA3F378}"/>
                    </a:ext>
                  </a:extLst>
                </p:cNvPr>
                <p:cNvSpPr txBox="1">
                  <a:spLocks noRot="1" noChangeAspect="1" noMove="1" noResize="1" noEditPoints="1" noAdjustHandles="1" noChangeArrowheads="1" noChangeShapeType="1" noTextEdit="1"/>
                </p:cNvSpPr>
                <p:nvPr/>
              </p:nvSpPr>
              <p:spPr>
                <a:xfrm>
                  <a:off x="6077393" y="4048524"/>
                  <a:ext cx="3565470" cy="369332"/>
                </a:xfrm>
                <a:prstGeom prst="rect">
                  <a:avLst/>
                </a:prstGeom>
                <a:blipFill>
                  <a:blip r:embed="rId9"/>
                  <a:stretch>
                    <a:fillRect l="-1368" t="-10000" r="-1538" b="-26667"/>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529649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a:latin typeface="Cambria Math" panose="02040503050406030204" pitchFamily="18" charset="0"/>
                      </a:rPr>
                      <m:t>𝑟</m:t>
                    </m:r>
                  </m:oMath>
                </a14:m>
                <a:r>
                  <a:rPr lang="en-US" altLang="zh-CN"/>
                  <a:t>-</a:t>
                </a:r>
                <a:r>
                  <a:rPr lang="zh-CN" altLang="en-US"/>
                  <a:t>组合间覆盖的联系</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0397F8E-1E00-4A33-9CF2-5ACCFC56CDDC}"/>
                  </a:ext>
                </a:extLst>
              </p:cNvPr>
              <p:cNvSpPr txBox="1"/>
              <p:nvPr/>
            </p:nvSpPr>
            <p:spPr>
              <a:xfrm>
                <a:off x="1197272" y="1369246"/>
                <a:ext cx="9716322" cy="2000548"/>
              </a:xfrm>
              <a:prstGeom prst="rect">
                <a:avLst/>
              </a:prstGeom>
              <a:solidFill>
                <a:schemeClr val="accent6">
                  <a:lumMod val="20000"/>
                  <a:lumOff val="80000"/>
                  <a:alpha val="50000"/>
                </a:schemeClr>
              </a:solidFill>
            </p:spPr>
            <p:txBody>
              <a:bodyPr wrap="square" rtlCol="0">
                <a:spAutoFit/>
              </a:bodyPr>
              <a:lstStyle/>
              <a:p>
                <a:pPr>
                  <a:spcBef>
                    <a:spcPts val="1200"/>
                  </a:spcBef>
                  <a:spcAft>
                    <a:spcPts val="1200"/>
                  </a:spcAft>
                </a:pPr>
                <a:r>
                  <a:rPr lang="zh-CN" altLang="en-US" sz="2800" b="1">
                    <a:solidFill>
                      <a:srgbClr val="002060"/>
                    </a:solidFill>
                    <a:latin typeface="楷体" panose="02010609060101010101" pitchFamily="49" charset="-122"/>
                    <a:ea typeface="楷体" panose="02010609060101010101" pitchFamily="49" charset="-122"/>
                  </a:rPr>
                  <a:t>对于集合</a:t>
                </a:r>
                <a14:m>
                  <m:oMath xmlns:m="http://schemas.openxmlformats.org/officeDocument/2006/math">
                    <m:r>
                      <a:rPr lang="en-US" altLang="zh-CN" sz="2800" b="1" i="1" smtClean="0">
                        <a:solidFill>
                          <a:srgbClr val="002060"/>
                        </a:solidFill>
                        <a:latin typeface="Cambria Math" panose="02040503050406030204" pitchFamily="18" charset="0"/>
                      </a:rPr>
                      <m:t>𝑺</m:t>
                    </m:r>
                    <m:r>
                      <a:rPr lang="en-US" altLang="zh-CN" sz="2800" b="1" i="1" smtClean="0">
                        <a:solidFill>
                          <a:srgbClr val="002060"/>
                        </a:solidFill>
                        <a:latin typeface="Cambria Math" panose="02040503050406030204" pitchFamily="18" charset="0"/>
                      </a:rPr>
                      <m:t> = </m:t>
                    </m:r>
                    <m:r>
                      <m:rPr>
                        <m:lit/>
                      </m:rP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𝟏</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𝟐</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𝟑</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𝟒</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𝟓</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𝟔</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𝟕</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𝟖</m:t>
                    </m:r>
                    <m:r>
                      <m:rPr>
                        <m:lit/>
                      </m:rPr>
                      <a:rPr lang="en-US" altLang="zh-CN" sz="2800" b="1" i="1">
                        <a:solidFill>
                          <a:srgbClr val="002060"/>
                        </a:solidFill>
                        <a:latin typeface="Cambria Math" panose="02040503050406030204" pitchFamily="18" charset="0"/>
                      </a:rPr>
                      <m:t>}</m:t>
                    </m:r>
                  </m:oMath>
                </a14:m>
                <a:r>
                  <a:rPr lang="zh-CN" altLang="en-US" sz="2800" b="1">
                    <a:solidFill>
                      <a:srgbClr val="002060"/>
                    </a:solidFill>
                    <a:latin typeface="楷体" panose="02010609060101010101" pitchFamily="49" charset="-122"/>
                    <a:ea typeface="楷体" panose="02010609060101010101" pitchFamily="49" charset="-122"/>
                  </a:rPr>
                  <a:t>，考虑</a:t>
                </a:r>
                <a:r>
                  <a:rPr lang="zh-CN" altLang="en-US" sz="2800" b="1">
                    <a:solidFill>
                      <a:srgbClr val="C00000"/>
                    </a:solidFill>
                    <a:latin typeface="+mn-ea"/>
                  </a:rPr>
                  <a:t>不允许重复</a:t>
                </a:r>
                <a:r>
                  <a:rPr lang="zh-CN" altLang="en-US" sz="2800" b="1">
                    <a:solidFill>
                      <a:srgbClr val="002060"/>
                    </a:solidFill>
                    <a:latin typeface="楷体" panose="02010609060101010101" pitchFamily="49" charset="-122"/>
                    <a:ea typeface="楷体" panose="02010609060101010101" pitchFamily="49" charset="-122"/>
                  </a:rPr>
                  <a:t>的组合</a:t>
                </a:r>
              </a:p>
              <a:p>
                <a:pPr marL="457200" indent="-457200">
                  <a:spcBef>
                    <a:spcPts val="1200"/>
                  </a:spcBef>
                  <a:spcAft>
                    <a:spcPts val="1200"/>
                  </a:spcAft>
                  <a:buFont typeface="Arial" panose="020B0604020202020204" pitchFamily="34" charset="0"/>
                  <a:buChar char="•"/>
                </a:pPr>
                <a:r>
                  <a:rPr lang="zh-CN" altLang="en-US" sz="2800" b="1">
                    <a:solidFill>
                      <a:schemeClr val="accent6">
                        <a:lumMod val="50000"/>
                      </a:schemeClr>
                    </a:solidFill>
                  </a:rPr>
                  <a:t>集合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𝑺</m:t>
                    </m:r>
                  </m:oMath>
                </a14:m>
                <a:r>
                  <a:rPr lang="zh-CN" altLang="en-US" sz="2800" b="1">
                    <a:solidFill>
                      <a:schemeClr val="accent6">
                        <a:lumMod val="50000"/>
                      </a:schemeClr>
                    </a:solidFill>
                  </a:rPr>
                  <a:t>的</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𝟓</m:t>
                    </m:r>
                  </m:oMath>
                </a14:m>
                <a:r>
                  <a:rPr lang="en-US" altLang="zh-CN" sz="2800" b="1">
                    <a:solidFill>
                      <a:schemeClr val="accent6">
                        <a:lumMod val="50000"/>
                      </a:schemeClr>
                    </a:solidFill>
                  </a:rPr>
                  <a:t>-</a:t>
                </a:r>
                <a:r>
                  <a:rPr lang="zh-CN" altLang="en-US" sz="2800" b="1">
                    <a:solidFill>
                      <a:schemeClr val="accent6">
                        <a:lumMod val="50000"/>
                      </a:schemeClr>
                    </a:solidFill>
                  </a:rPr>
                  <a:t>组合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𝟏𝟑𝟒𝟓𝟖</m:t>
                    </m:r>
                  </m:oMath>
                </a14:m>
                <a:r>
                  <a:rPr lang="zh-CN" altLang="en-US" sz="2800" b="1">
                    <a:solidFill>
                      <a:schemeClr val="accent6">
                        <a:lumMod val="50000"/>
                      </a:schemeClr>
                    </a:solidFill>
                  </a:rPr>
                  <a:t>的下一个组合是    </a:t>
                </a:r>
                <a14:m>
                  <m:oMath xmlns:m="http://schemas.openxmlformats.org/officeDocument/2006/math">
                    <m:r>
                      <a:rPr lang="en-US" altLang="zh-CN" sz="2800" b="1" i="1" smtClean="0">
                        <a:solidFill>
                          <a:srgbClr val="C00000"/>
                        </a:solidFill>
                        <a:latin typeface="Cambria Math" panose="02040503050406030204" pitchFamily="18" charset="0"/>
                      </a:rPr>
                      <m:t>𝟏𝟑𝟒𝟔𝟕</m:t>
                    </m:r>
                  </m:oMath>
                </a14:m>
                <a:r>
                  <a:rPr lang="en-US" altLang="zh-CN" sz="2800" b="1">
                    <a:solidFill>
                      <a:schemeClr val="accent6">
                        <a:lumMod val="50000"/>
                      </a:schemeClr>
                    </a:solidFill>
                  </a:rPr>
                  <a:t>    </a:t>
                </a:r>
              </a:p>
              <a:p>
                <a:pPr marL="457200" indent="-457200">
                  <a:spcBef>
                    <a:spcPts val="1200"/>
                  </a:spcBef>
                  <a:spcAft>
                    <a:spcPts val="1200"/>
                  </a:spcAft>
                  <a:buFont typeface="Arial" panose="020B0604020202020204" pitchFamily="34" charset="0"/>
                  <a:buChar char="•"/>
                </a:pPr>
                <a:r>
                  <a:rPr lang="zh-CN" altLang="en-US" sz="2800" b="1">
                    <a:solidFill>
                      <a:schemeClr val="accent6">
                        <a:lumMod val="50000"/>
                      </a:schemeClr>
                    </a:solidFill>
                  </a:rPr>
                  <a:t>集合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𝑺</m:t>
                    </m:r>
                  </m:oMath>
                </a14:m>
                <a:r>
                  <a:rPr lang="zh-CN" altLang="en-US" sz="2800" b="1">
                    <a:solidFill>
                      <a:schemeClr val="accent6">
                        <a:lumMod val="50000"/>
                      </a:schemeClr>
                    </a:solidFill>
                  </a:rPr>
                  <a:t>的</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𝟓</m:t>
                    </m:r>
                  </m:oMath>
                </a14:m>
                <a:r>
                  <a:rPr lang="en-US" altLang="zh-CN" sz="2800" b="1">
                    <a:solidFill>
                      <a:schemeClr val="accent6">
                        <a:lumMod val="50000"/>
                      </a:schemeClr>
                    </a:solidFill>
                  </a:rPr>
                  <a:t>-</a:t>
                </a:r>
                <a:r>
                  <a:rPr lang="zh-CN" altLang="en-US" sz="2800" b="1">
                    <a:solidFill>
                      <a:schemeClr val="accent6">
                        <a:lumMod val="50000"/>
                      </a:schemeClr>
                    </a:solidFill>
                  </a:rPr>
                  <a:t>组合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𝟏𝟑𝟒𝟕𝟖</m:t>
                    </m:r>
                  </m:oMath>
                </a14:m>
                <a:r>
                  <a:rPr lang="zh-CN" altLang="en-US" sz="2800" b="1">
                    <a:solidFill>
                      <a:schemeClr val="accent6">
                        <a:lumMod val="50000"/>
                      </a:schemeClr>
                    </a:solidFill>
                  </a:rPr>
                  <a:t>的下一个组合是    </a:t>
                </a:r>
                <a14:m>
                  <m:oMath xmlns:m="http://schemas.openxmlformats.org/officeDocument/2006/math">
                    <m:r>
                      <a:rPr lang="en-US" altLang="zh-CN" sz="2800" b="1" i="1">
                        <a:solidFill>
                          <a:srgbClr val="C00000"/>
                        </a:solidFill>
                        <a:latin typeface="Cambria Math" panose="02040503050406030204" pitchFamily="18" charset="0"/>
                      </a:rPr>
                      <m:t>𝟏𝟑𝟓𝟔𝟕</m:t>
                    </m:r>
                    <m:r>
                      <a:rPr lang="en-US" altLang="zh-CN" sz="2800" b="1" i="1">
                        <a:solidFill>
                          <a:srgbClr val="C00000"/>
                        </a:solidFill>
                        <a:latin typeface="Cambria Math" panose="02040503050406030204" pitchFamily="18" charset="0"/>
                      </a:rPr>
                      <m:t> </m:t>
                    </m:r>
                  </m:oMath>
                </a14:m>
                <a:r>
                  <a:rPr lang="en-US" altLang="zh-CN" sz="2800" b="1">
                    <a:solidFill>
                      <a:schemeClr val="accent6">
                        <a:lumMod val="50000"/>
                      </a:schemeClr>
                    </a:solidFill>
                  </a:rPr>
                  <a:t>  </a:t>
                </a:r>
                <a:r>
                  <a:rPr lang="en-US" altLang="zh-CN" sz="2800" b="1"/>
                  <a:t> </a:t>
                </a:r>
              </a:p>
            </p:txBody>
          </p:sp>
        </mc:Choice>
        <mc:Fallback xmlns="">
          <p:sp>
            <p:nvSpPr>
              <p:cNvPr id="2" name="文本框 1">
                <a:extLst>
                  <a:ext uri="{FF2B5EF4-FFF2-40B4-BE49-F238E27FC236}">
                    <a16:creationId xmlns:a16="http://schemas.microsoft.com/office/drawing/2014/main" id="{C0397F8E-1E00-4A33-9CF2-5ACCFC56CDDC}"/>
                  </a:ext>
                </a:extLst>
              </p:cNvPr>
              <p:cNvSpPr txBox="1">
                <a:spLocks noRot="1" noChangeAspect="1" noMove="1" noResize="1" noEditPoints="1" noAdjustHandles="1" noChangeArrowheads="1" noChangeShapeType="1" noTextEdit="1"/>
              </p:cNvSpPr>
              <p:nvPr/>
            </p:nvSpPr>
            <p:spPr>
              <a:xfrm>
                <a:off x="1197272" y="1369246"/>
                <a:ext cx="9716322" cy="2000548"/>
              </a:xfrm>
              <a:prstGeom prst="rect">
                <a:avLst/>
              </a:prstGeom>
              <a:blipFill>
                <a:blip r:embed="rId3"/>
                <a:stretch>
                  <a:fillRect l="-1255" t="-4573" b="-7622"/>
                </a:stretch>
              </a:blipFill>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2ABBF8A6-0292-4046-9B3E-700D83ABD4F1}"/>
              </a:ext>
            </a:extLst>
          </p:cNvPr>
          <p:cNvCxnSpPr/>
          <p:nvPr/>
        </p:nvCxnSpPr>
        <p:spPr>
          <a:xfrm>
            <a:off x="7755954" y="2519534"/>
            <a:ext cx="189458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78B2F507-7088-4327-9C7D-1B147394D344}"/>
              </a:ext>
            </a:extLst>
          </p:cNvPr>
          <p:cNvCxnSpPr/>
          <p:nvPr/>
        </p:nvCxnSpPr>
        <p:spPr>
          <a:xfrm>
            <a:off x="7743894" y="3263992"/>
            <a:ext cx="189458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CAA43433-9571-4683-97B8-63768F1C93C4}"/>
              </a:ext>
            </a:extLst>
          </p:cNvPr>
          <p:cNvSpPr txBox="1"/>
          <p:nvPr/>
        </p:nvSpPr>
        <p:spPr>
          <a:xfrm>
            <a:off x="7802002" y="2079836"/>
            <a:ext cx="1836475" cy="415498"/>
          </a:xfrm>
          <a:prstGeom prst="rect">
            <a:avLst/>
          </a:prstGeom>
          <a:solidFill>
            <a:srgbClr val="F0F7EC"/>
          </a:solidFill>
        </p:spPr>
        <p:txBody>
          <a:bodyPr wrap="square" bIns="0" rtlCol="0">
            <a:spAutoFit/>
          </a:bodyPr>
          <a:lstStyle/>
          <a:p>
            <a:pPr algn="ctr"/>
            <a:r>
              <a:rPr lang="en-US" altLang="zh-CN" sz="2400" b="1">
                <a:solidFill>
                  <a:srgbClr val="C00000"/>
                </a:solidFill>
              </a:rPr>
              <a:t>(1)</a:t>
            </a:r>
            <a:endParaRPr lang="zh-CN" altLang="en-US" sz="2400" b="1">
              <a:solidFill>
                <a:srgbClr val="C00000"/>
              </a:solidFill>
            </a:endParaRPr>
          </a:p>
        </p:txBody>
      </p:sp>
      <p:sp>
        <p:nvSpPr>
          <p:cNvPr id="15" name="文本框 14">
            <a:extLst>
              <a:ext uri="{FF2B5EF4-FFF2-40B4-BE49-F238E27FC236}">
                <a16:creationId xmlns:a16="http://schemas.microsoft.com/office/drawing/2014/main" id="{2F3810A0-B969-4A9B-AF7F-F71133374AA2}"/>
              </a:ext>
            </a:extLst>
          </p:cNvPr>
          <p:cNvSpPr txBox="1"/>
          <p:nvPr/>
        </p:nvSpPr>
        <p:spPr>
          <a:xfrm>
            <a:off x="7755954" y="2824293"/>
            <a:ext cx="1836475" cy="415498"/>
          </a:xfrm>
          <a:prstGeom prst="rect">
            <a:avLst/>
          </a:prstGeom>
          <a:solidFill>
            <a:srgbClr val="F0F7EC"/>
          </a:solidFill>
        </p:spPr>
        <p:txBody>
          <a:bodyPr wrap="square" bIns="0" rtlCol="0">
            <a:spAutoFit/>
          </a:bodyPr>
          <a:lstStyle/>
          <a:p>
            <a:pPr algn="ctr"/>
            <a:r>
              <a:rPr lang="en-US" altLang="zh-CN" sz="2400" b="1">
                <a:solidFill>
                  <a:srgbClr val="C00000"/>
                </a:solidFill>
              </a:rPr>
              <a:t>(2)</a:t>
            </a:r>
            <a:endParaRPr lang="zh-CN" altLang="en-US" sz="2400" b="1">
              <a:solidFill>
                <a:srgbClr val="C00000"/>
              </a:solidFill>
            </a:endParaRPr>
          </a:p>
        </p:txBody>
      </p:sp>
    </p:spTree>
    <p:extLst>
      <p:ext uri="{BB962C8B-B14F-4D97-AF65-F5344CB8AC3E}">
        <p14:creationId xmlns:p14="http://schemas.microsoft.com/office/powerpoint/2010/main" val="1965247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排列组合生成算法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a:latin typeface="Cambria Math" panose="02040503050406030204" pitchFamily="18" charset="0"/>
                      </a:rPr>
                      <m:t>𝑟</m:t>
                    </m:r>
                  </m:oMath>
                </a14:m>
                <a:r>
                  <a:rPr lang="en-US" altLang="zh-CN"/>
                  <a:t>-</a:t>
                </a:r>
                <a:r>
                  <a:rPr lang="zh-CN" altLang="en-US"/>
                  <a:t>组合间覆盖的联系</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0397F8E-1E00-4A33-9CF2-5ACCFC56CDDC}"/>
                  </a:ext>
                </a:extLst>
              </p:cNvPr>
              <p:cNvSpPr txBox="1"/>
              <p:nvPr/>
            </p:nvSpPr>
            <p:spPr>
              <a:xfrm>
                <a:off x="1197272" y="1369246"/>
                <a:ext cx="9716322" cy="2000548"/>
              </a:xfrm>
              <a:prstGeom prst="rect">
                <a:avLst/>
              </a:prstGeom>
              <a:solidFill>
                <a:schemeClr val="accent6">
                  <a:lumMod val="20000"/>
                  <a:lumOff val="80000"/>
                  <a:alpha val="50000"/>
                </a:schemeClr>
              </a:solidFill>
            </p:spPr>
            <p:txBody>
              <a:bodyPr wrap="square" rtlCol="0">
                <a:spAutoFit/>
              </a:bodyPr>
              <a:lstStyle/>
              <a:p>
                <a:pPr>
                  <a:spcBef>
                    <a:spcPts val="1200"/>
                  </a:spcBef>
                  <a:spcAft>
                    <a:spcPts val="1200"/>
                  </a:spcAft>
                </a:pPr>
                <a:r>
                  <a:rPr lang="zh-CN" altLang="en-US" sz="2800" b="1">
                    <a:solidFill>
                      <a:srgbClr val="002060"/>
                    </a:solidFill>
                    <a:latin typeface="楷体" panose="02010609060101010101" pitchFamily="49" charset="-122"/>
                    <a:ea typeface="楷体" panose="02010609060101010101" pitchFamily="49" charset="-122"/>
                  </a:rPr>
                  <a:t>对于集合</a:t>
                </a:r>
                <a14:m>
                  <m:oMath xmlns:m="http://schemas.openxmlformats.org/officeDocument/2006/math">
                    <m:r>
                      <a:rPr lang="en-US" altLang="zh-CN" sz="2800" b="1" i="1" smtClean="0">
                        <a:solidFill>
                          <a:srgbClr val="002060"/>
                        </a:solidFill>
                        <a:latin typeface="Cambria Math" panose="02040503050406030204" pitchFamily="18" charset="0"/>
                      </a:rPr>
                      <m:t>𝑺</m:t>
                    </m:r>
                    <m:r>
                      <a:rPr lang="en-US" altLang="zh-CN" sz="2800" b="1" i="1" smtClean="0">
                        <a:solidFill>
                          <a:srgbClr val="002060"/>
                        </a:solidFill>
                        <a:latin typeface="Cambria Math" panose="02040503050406030204" pitchFamily="18" charset="0"/>
                      </a:rPr>
                      <m:t> = </m:t>
                    </m:r>
                    <m:r>
                      <m:rPr>
                        <m:lit/>
                      </m:rP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𝟏</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𝟐</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𝟑</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𝟒</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𝟓</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𝟔</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𝟕</m:t>
                    </m:r>
                    <m:r>
                      <a:rPr lang="en-US" altLang="zh-CN" sz="2800" b="1" i="1">
                        <a:solidFill>
                          <a:srgbClr val="002060"/>
                        </a:solidFill>
                        <a:latin typeface="Cambria Math" panose="02040503050406030204" pitchFamily="18" charset="0"/>
                      </a:rPr>
                      <m:t>, </m:t>
                    </m:r>
                    <m:r>
                      <a:rPr lang="en-US" altLang="zh-CN" sz="2800" b="1" i="1">
                        <a:solidFill>
                          <a:srgbClr val="002060"/>
                        </a:solidFill>
                        <a:latin typeface="Cambria Math" panose="02040503050406030204" pitchFamily="18" charset="0"/>
                      </a:rPr>
                      <m:t>𝟖</m:t>
                    </m:r>
                    <m:r>
                      <m:rPr>
                        <m:lit/>
                      </m:rPr>
                      <a:rPr lang="en-US" altLang="zh-CN" sz="2800" b="1" i="1">
                        <a:solidFill>
                          <a:srgbClr val="002060"/>
                        </a:solidFill>
                        <a:latin typeface="Cambria Math" panose="02040503050406030204" pitchFamily="18" charset="0"/>
                      </a:rPr>
                      <m:t>}</m:t>
                    </m:r>
                  </m:oMath>
                </a14:m>
                <a:r>
                  <a:rPr lang="zh-CN" altLang="en-US" sz="2800" b="1">
                    <a:solidFill>
                      <a:srgbClr val="002060"/>
                    </a:solidFill>
                    <a:latin typeface="楷体" panose="02010609060101010101" pitchFamily="49" charset="-122"/>
                    <a:ea typeface="楷体" panose="02010609060101010101" pitchFamily="49" charset="-122"/>
                  </a:rPr>
                  <a:t>，考虑</a:t>
                </a:r>
                <a:r>
                  <a:rPr lang="zh-CN" altLang="en-US" sz="2800" b="1">
                    <a:solidFill>
                      <a:srgbClr val="C00000"/>
                    </a:solidFill>
                    <a:latin typeface="+mn-ea"/>
                  </a:rPr>
                  <a:t>不允许重复</a:t>
                </a:r>
                <a:r>
                  <a:rPr lang="zh-CN" altLang="en-US" sz="2800" b="1">
                    <a:solidFill>
                      <a:srgbClr val="002060"/>
                    </a:solidFill>
                    <a:latin typeface="楷体" panose="02010609060101010101" pitchFamily="49" charset="-122"/>
                    <a:ea typeface="楷体" panose="02010609060101010101" pitchFamily="49" charset="-122"/>
                  </a:rPr>
                  <a:t>的组合</a:t>
                </a:r>
              </a:p>
              <a:p>
                <a:pPr marL="457200" indent="-457200">
                  <a:spcBef>
                    <a:spcPts val="1200"/>
                  </a:spcBef>
                  <a:spcAft>
                    <a:spcPts val="1200"/>
                  </a:spcAft>
                  <a:buFont typeface="Arial" panose="020B0604020202020204" pitchFamily="34" charset="0"/>
                  <a:buChar char="•"/>
                </a:pPr>
                <a:r>
                  <a:rPr lang="zh-CN" altLang="en-US" sz="2800" b="1">
                    <a:solidFill>
                      <a:schemeClr val="accent6">
                        <a:lumMod val="50000"/>
                      </a:schemeClr>
                    </a:solidFill>
                  </a:rPr>
                  <a:t>集合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𝑺</m:t>
                    </m:r>
                  </m:oMath>
                </a14:m>
                <a:r>
                  <a:rPr lang="zh-CN" altLang="en-US" sz="2800" b="1">
                    <a:solidFill>
                      <a:schemeClr val="accent6">
                        <a:lumMod val="50000"/>
                      </a:schemeClr>
                    </a:solidFill>
                  </a:rPr>
                  <a:t>的</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𝟓</m:t>
                    </m:r>
                  </m:oMath>
                </a14:m>
                <a:r>
                  <a:rPr lang="en-US" altLang="zh-CN" sz="2800" b="1">
                    <a:solidFill>
                      <a:schemeClr val="accent6">
                        <a:lumMod val="50000"/>
                      </a:schemeClr>
                    </a:solidFill>
                  </a:rPr>
                  <a:t>-</a:t>
                </a:r>
                <a:r>
                  <a:rPr lang="zh-CN" altLang="en-US" sz="2800" b="1">
                    <a:solidFill>
                      <a:schemeClr val="accent6">
                        <a:lumMod val="50000"/>
                      </a:schemeClr>
                    </a:solidFill>
                  </a:rPr>
                  <a:t>组合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𝟏𝟑𝟒𝟓𝟖</m:t>
                    </m:r>
                  </m:oMath>
                </a14:m>
                <a:r>
                  <a:rPr lang="zh-CN" altLang="en-US" sz="2800" b="1">
                    <a:solidFill>
                      <a:schemeClr val="accent6">
                        <a:lumMod val="50000"/>
                      </a:schemeClr>
                    </a:solidFill>
                  </a:rPr>
                  <a:t>的下一个组合是    </a:t>
                </a:r>
                <a14:m>
                  <m:oMath xmlns:m="http://schemas.openxmlformats.org/officeDocument/2006/math">
                    <m:r>
                      <a:rPr lang="en-US" altLang="zh-CN" sz="2800" b="1" i="1" smtClean="0">
                        <a:solidFill>
                          <a:srgbClr val="C00000"/>
                        </a:solidFill>
                        <a:latin typeface="Cambria Math" panose="02040503050406030204" pitchFamily="18" charset="0"/>
                      </a:rPr>
                      <m:t>𝟏𝟑𝟒𝟔𝟕</m:t>
                    </m:r>
                  </m:oMath>
                </a14:m>
                <a:r>
                  <a:rPr lang="en-US" altLang="zh-CN" sz="2800" b="1">
                    <a:solidFill>
                      <a:schemeClr val="accent6">
                        <a:lumMod val="50000"/>
                      </a:schemeClr>
                    </a:solidFill>
                  </a:rPr>
                  <a:t>    </a:t>
                </a:r>
              </a:p>
              <a:p>
                <a:pPr marL="457200" indent="-457200">
                  <a:spcBef>
                    <a:spcPts val="1200"/>
                  </a:spcBef>
                  <a:spcAft>
                    <a:spcPts val="1200"/>
                  </a:spcAft>
                  <a:buFont typeface="Arial" panose="020B0604020202020204" pitchFamily="34" charset="0"/>
                  <a:buChar char="•"/>
                </a:pPr>
                <a:r>
                  <a:rPr lang="zh-CN" altLang="en-US" sz="2800" b="1">
                    <a:solidFill>
                      <a:schemeClr val="accent6">
                        <a:lumMod val="50000"/>
                      </a:schemeClr>
                    </a:solidFill>
                  </a:rPr>
                  <a:t>集合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𝑺</m:t>
                    </m:r>
                  </m:oMath>
                </a14:m>
                <a:r>
                  <a:rPr lang="zh-CN" altLang="en-US" sz="2800" b="1">
                    <a:solidFill>
                      <a:schemeClr val="accent6">
                        <a:lumMod val="50000"/>
                      </a:schemeClr>
                    </a:solidFill>
                  </a:rPr>
                  <a:t>的</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𝟓</m:t>
                    </m:r>
                  </m:oMath>
                </a14:m>
                <a:r>
                  <a:rPr lang="en-US" altLang="zh-CN" sz="2800" b="1">
                    <a:solidFill>
                      <a:schemeClr val="accent6">
                        <a:lumMod val="50000"/>
                      </a:schemeClr>
                    </a:solidFill>
                  </a:rPr>
                  <a:t>-</a:t>
                </a:r>
                <a:r>
                  <a:rPr lang="zh-CN" altLang="en-US" sz="2800" b="1">
                    <a:solidFill>
                      <a:schemeClr val="accent6">
                        <a:lumMod val="50000"/>
                      </a:schemeClr>
                    </a:solidFill>
                  </a:rPr>
                  <a:t>组合</a:t>
                </a:r>
                <a14:m>
                  <m:oMath xmlns:m="http://schemas.openxmlformats.org/officeDocument/2006/math">
                    <m:r>
                      <a:rPr lang="en-US" altLang="zh-CN" sz="2800" b="1" i="1" smtClean="0">
                        <a:solidFill>
                          <a:schemeClr val="accent6">
                            <a:lumMod val="50000"/>
                          </a:schemeClr>
                        </a:solidFill>
                        <a:latin typeface="Cambria Math" panose="02040503050406030204" pitchFamily="18" charset="0"/>
                      </a:rPr>
                      <m:t>𝟏𝟑𝟒𝟕𝟖</m:t>
                    </m:r>
                  </m:oMath>
                </a14:m>
                <a:r>
                  <a:rPr lang="zh-CN" altLang="en-US" sz="2800" b="1">
                    <a:solidFill>
                      <a:schemeClr val="accent6">
                        <a:lumMod val="50000"/>
                      </a:schemeClr>
                    </a:solidFill>
                  </a:rPr>
                  <a:t>的下一个组合是    </a:t>
                </a:r>
                <a14:m>
                  <m:oMath xmlns:m="http://schemas.openxmlformats.org/officeDocument/2006/math">
                    <m:r>
                      <a:rPr lang="en-US" altLang="zh-CN" sz="2800" b="1" i="1">
                        <a:solidFill>
                          <a:srgbClr val="C00000"/>
                        </a:solidFill>
                        <a:latin typeface="Cambria Math" panose="02040503050406030204" pitchFamily="18" charset="0"/>
                      </a:rPr>
                      <m:t>𝟏𝟑𝟓𝟔𝟕</m:t>
                    </m:r>
                    <m:r>
                      <a:rPr lang="en-US" altLang="zh-CN" sz="2800" b="1" i="1">
                        <a:solidFill>
                          <a:srgbClr val="C00000"/>
                        </a:solidFill>
                        <a:latin typeface="Cambria Math" panose="02040503050406030204" pitchFamily="18" charset="0"/>
                      </a:rPr>
                      <m:t> </m:t>
                    </m:r>
                  </m:oMath>
                </a14:m>
                <a:r>
                  <a:rPr lang="en-US" altLang="zh-CN" sz="2800" b="1">
                    <a:solidFill>
                      <a:schemeClr val="accent6">
                        <a:lumMod val="50000"/>
                      </a:schemeClr>
                    </a:solidFill>
                  </a:rPr>
                  <a:t>  </a:t>
                </a:r>
                <a:r>
                  <a:rPr lang="en-US" altLang="zh-CN" sz="2800" b="1"/>
                  <a:t> </a:t>
                </a:r>
              </a:p>
            </p:txBody>
          </p:sp>
        </mc:Choice>
        <mc:Fallback xmlns="">
          <p:sp>
            <p:nvSpPr>
              <p:cNvPr id="2" name="文本框 1">
                <a:extLst>
                  <a:ext uri="{FF2B5EF4-FFF2-40B4-BE49-F238E27FC236}">
                    <a16:creationId xmlns:a16="http://schemas.microsoft.com/office/drawing/2014/main" id="{C0397F8E-1E00-4A33-9CF2-5ACCFC56CDDC}"/>
                  </a:ext>
                </a:extLst>
              </p:cNvPr>
              <p:cNvSpPr txBox="1">
                <a:spLocks noRot="1" noChangeAspect="1" noMove="1" noResize="1" noEditPoints="1" noAdjustHandles="1" noChangeArrowheads="1" noChangeShapeType="1" noTextEdit="1"/>
              </p:cNvSpPr>
              <p:nvPr/>
            </p:nvSpPr>
            <p:spPr>
              <a:xfrm>
                <a:off x="1197272" y="1369246"/>
                <a:ext cx="9716322" cy="2000548"/>
              </a:xfrm>
              <a:prstGeom prst="rect">
                <a:avLst/>
              </a:prstGeom>
              <a:blipFill>
                <a:blip r:embed="rId3"/>
                <a:stretch>
                  <a:fillRect l="-1255" t="-4573" b="-7622"/>
                </a:stretch>
              </a:blipFill>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2ABBF8A6-0292-4046-9B3E-700D83ABD4F1}"/>
              </a:ext>
            </a:extLst>
          </p:cNvPr>
          <p:cNvCxnSpPr/>
          <p:nvPr/>
        </p:nvCxnSpPr>
        <p:spPr>
          <a:xfrm>
            <a:off x="7755954" y="2519534"/>
            <a:ext cx="189458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78B2F507-7088-4327-9C7D-1B147394D344}"/>
              </a:ext>
            </a:extLst>
          </p:cNvPr>
          <p:cNvCxnSpPr/>
          <p:nvPr/>
        </p:nvCxnSpPr>
        <p:spPr>
          <a:xfrm>
            <a:off x="7743894" y="3263992"/>
            <a:ext cx="189458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579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5186362" cy="3547125"/>
          </a:xfrm>
          <a:prstGeom prst="rect">
            <a:avLst/>
          </a:prstGeom>
          <a:noFill/>
        </p:spPr>
        <p:txBody>
          <a:bodyPr wrap="square" rtlCol="0">
            <a:spAutoFit/>
          </a:bodyPr>
          <a:lstStyle/>
          <a:p>
            <a:pPr>
              <a:lnSpc>
                <a:spcPct val="250000"/>
              </a:lnSpc>
            </a:pPr>
            <a:r>
              <a:rPr lang="zh-CN" altLang="en-US" sz="3200" b="1">
                <a:solidFill>
                  <a:schemeClr val="bg1">
                    <a:lumMod val="95000"/>
                  </a:schemeClr>
                </a:solidFill>
                <a:latin typeface="仿宋" panose="02010609060101010101" pitchFamily="49" charset="-122"/>
                <a:ea typeface="仿宋" panose="02010609060101010101" pitchFamily="49" charset="-122"/>
              </a:rPr>
              <a:t>全排列生成算法</a:t>
            </a:r>
            <a:endParaRPr lang="en-US" altLang="zh-CN" sz="3200" b="1">
              <a:solidFill>
                <a:schemeClr val="bg1">
                  <a:lumMod val="95000"/>
                </a:schemeClr>
              </a:solidFill>
              <a:latin typeface="仿宋" panose="02010609060101010101" pitchFamily="49" charset="-122"/>
              <a:ea typeface="仿宋" panose="02010609060101010101" pitchFamily="49" charset="-122"/>
            </a:endParaRPr>
          </a:p>
          <a:p>
            <a:pPr>
              <a:lnSpc>
                <a:spcPct val="250000"/>
              </a:lnSpc>
            </a:pPr>
            <a:r>
              <a:rPr lang="en-US" altLang="zh-CN" sz="3200" b="1">
                <a:solidFill>
                  <a:schemeClr val="bg1">
                    <a:lumMod val="95000"/>
                  </a:schemeClr>
                </a:solidFill>
                <a:latin typeface="仿宋" panose="02010609060101010101" pitchFamily="49" charset="-122"/>
                <a:ea typeface="仿宋" panose="02010609060101010101" pitchFamily="49" charset="-122"/>
              </a:rPr>
              <a:t>r-</a:t>
            </a:r>
            <a:r>
              <a:rPr lang="zh-CN" altLang="en-US" sz="3200" b="1">
                <a:solidFill>
                  <a:schemeClr val="bg1">
                    <a:lumMod val="95000"/>
                  </a:schemeClr>
                </a:solidFill>
                <a:latin typeface="仿宋" panose="02010609060101010101" pitchFamily="49" charset="-122"/>
                <a:ea typeface="仿宋" panose="02010609060101010101" pitchFamily="49" charset="-122"/>
              </a:rPr>
              <a:t>组合生成算法</a:t>
            </a:r>
            <a:endParaRPr lang="en-US" altLang="zh-CN" sz="3200" b="1">
              <a:solidFill>
                <a:schemeClr val="bg1">
                  <a:lumMod val="95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计数问题的递推关系式建模</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259897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a:t>
            </a:r>
          </a:p>
        </p:txBody>
      </p:sp>
      <p:sp>
        <p:nvSpPr>
          <p:cNvPr id="2" name="文本框 1">
            <a:extLst>
              <a:ext uri="{FF2B5EF4-FFF2-40B4-BE49-F238E27FC236}">
                <a16:creationId xmlns:a16="http://schemas.microsoft.com/office/drawing/2014/main" id="{39242E11-ED27-484B-A435-01C78D6DB430}"/>
              </a:ext>
            </a:extLst>
          </p:cNvPr>
          <p:cNvSpPr txBox="1"/>
          <p:nvPr/>
        </p:nvSpPr>
        <p:spPr>
          <a:xfrm>
            <a:off x="1255177" y="1533879"/>
            <a:ext cx="10041084" cy="1585049"/>
          </a:xfrm>
          <a:prstGeom prst="rect">
            <a:avLst/>
          </a:prstGeom>
          <a:solidFill>
            <a:schemeClr val="accent5">
              <a:lumMod val="20000"/>
              <a:lumOff val="80000"/>
              <a:alpha val="50000"/>
            </a:schemeClr>
          </a:solidFill>
        </p:spPr>
        <p:txBody>
          <a:bodyPr wrap="square" rtlCol="0">
            <a:spAutoFit/>
          </a:bodyPr>
          <a:lstStyle/>
          <a:p>
            <a:pPr>
              <a:spcBef>
                <a:spcPts val="600"/>
              </a:spcBef>
              <a:spcAft>
                <a:spcPts val="900"/>
              </a:spcAft>
            </a:pPr>
            <a:r>
              <a:rPr lang="zh-CN" altLang="en-US" sz="2400" b="1">
                <a:solidFill>
                  <a:srgbClr val="002060"/>
                </a:solidFill>
                <a:latin typeface="楷体" panose="02010609060101010101" pitchFamily="49" charset="-122"/>
                <a:ea typeface="楷体" panose="02010609060101010101" pitchFamily="49" charset="-122"/>
              </a:rPr>
              <a:t>许多计数问题都有类似“</a:t>
            </a:r>
            <a:r>
              <a:rPr lang="zh-CN" altLang="en-US" sz="2400" b="1">
                <a:solidFill>
                  <a:srgbClr val="C00000"/>
                </a:solidFill>
                <a:latin typeface="等线" panose="02010600030101010101" pitchFamily="2" charset="-122"/>
                <a:ea typeface="等线" panose="02010600030101010101" pitchFamily="2" charset="-122"/>
              </a:rPr>
              <a:t>规模</a:t>
            </a:r>
            <a:r>
              <a:rPr lang="zh-CN" altLang="en-US" sz="2400" b="1">
                <a:solidFill>
                  <a:srgbClr val="002060"/>
                </a:solidFill>
                <a:latin typeface="楷体" panose="02010609060101010101" pitchFamily="49" charset="-122"/>
                <a:ea typeface="楷体" panose="02010609060101010101" pitchFamily="49" charset="-122"/>
              </a:rPr>
              <a:t>”的参数，不同的规模计数结果不同</a:t>
            </a: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各种字符串的计数问题，字符串的长度就是这种参数</a:t>
            </a: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算法效率分析中对算法基本操作执行次数的计算时，输入规模也是参数</a:t>
            </a:r>
          </a:p>
        </p:txBody>
      </p:sp>
      <p:sp>
        <p:nvSpPr>
          <p:cNvPr id="3" name="文本框 2">
            <a:extLst>
              <a:ext uri="{FF2B5EF4-FFF2-40B4-BE49-F238E27FC236}">
                <a16:creationId xmlns:a16="http://schemas.microsoft.com/office/drawing/2014/main" id="{7D6D1872-6BBB-4D9E-8C3A-23B13C6BF4B8}"/>
              </a:ext>
            </a:extLst>
          </p:cNvPr>
          <p:cNvSpPr txBox="1"/>
          <p:nvPr/>
        </p:nvSpPr>
        <p:spPr>
          <a:xfrm>
            <a:off x="1255177" y="3483090"/>
            <a:ext cx="8485982" cy="2146742"/>
          </a:xfrm>
          <a:prstGeom prst="rect">
            <a:avLst/>
          </a:prstGeom>
          <a:solidFill>
            <a:schemeClr val="accent5">
              <a:lumMod val="20000"/>
              <a:lumOff val="80000"/>
              <a:alpha val="50000"/>
            </a:schemeClr>
          </a:solidFill>
        </p:spPr>
        <p:txBody>
          <a:bodyPr wrap="square" rtlCol="0">
            <a:spAutoFit/>
          </a:bodyPr>
          <a:lstStyle/>
          <a:p>
            <a:pPr>
              <a:spcBef>
                <a:spcPts val="600"/>
              </a:spcBef>
              <a:spcAft>
                <a:spcPts val="900"/>
              </a:spcAft>
            </a:pPr>
            <a:r>
              <a:rPr lang="zh-CN" altLang="en-US" sz="2400" b="1">
                <a:solidFill>
                  <a:srgbClr val="002060"/>
                </a:solidFill>
                <a:latin typeface="楷体" panose="02010609060101010101" pitchFamily="49" charset="-122"/>
                <a:ea typeface="楷体" panose="02010609060101010101" pitchFamily="49" charset="-122"/>
              </a:rPr>
              <a:t>对于这类与某个规模参数有关的计数问题</a:t>
            </a: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一种求解的方法就是建立不同规模问题之间的</a:t>
            </a:r>
            <a:r>
              <a:rPr lang="zh-CN" altLang="en-US" sz="2400" b="1">
                <a:solidFill>
                  <a:srgbClr val="C00000"/>
                </a:solidFill>
                <a:latin typeface="等线" panose="02010600030101010101" pitchFamily="2" charset="-122"/>
                <a:ea typeface="等线" panose="02010600030101010101" pitchFamily="2" charset="-122"/>
              </a:rPr>
              <a:t>递推关系式</a:t>
            </a: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这样即使不能求解递推关系式，也可获得问题解的许多性质</a:t>
            </a: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并可以编写计算机程序计算某个给定规模的问题的计数结果</a:t>
            </a:r>
          </a:p>
        </p:txBody>
      </p:sp>
    </p:spTree>
    <p:extLst>
      <p:ext uri="{BB962C8B-B14F-4D97-AF65-F5344CB8AC3E}">
        <p14:creationId xmlns:p14="http://schemas.microsoft.com/office/powerpoint/2010/main" val="4252737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递推关系式的定义</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48A073E-7E9B-4E6A-94D9-735F145F07BB}"/>
                  </a:ext>
                </a:extLst>
              </p:cNvPr>
              <p:cNvSpPr txBox="1"/>
              <p:nvPr/>
            </p:nvSpPr>
            <p:spPr>
              <a:xfrm>
                <a:off x="1047882" y="1322340"/>
                <a:ext cx="10096229" cy="2454518"/>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300"/>
                  </a:spcAft>
                </a:pPr>
                <a:r>
                  <a:rPr lang="zh-CN" altLang="en-US" sz="2400" b="1">
                    <a:solidFill>
                      <a:schemeClr val="accent2">
                        <a:lumMod val="50000"/>
                      </a:schemeClr>
                    </a:solidFill>
                  </a:rPr>
                  <a:t>序列</a:t>
                </a:r>
                <a:r>
                  <a:rPr lang="en-US" altLang="zh-CN" sz="2400" b="1">
                    <a:solidFill>
                      <a:schemeClr val="accent2">
                        <a:lumMod val="50000"/>
                      </a:schemeClr>
                    </a:solidFill>
                  </a:rPr>
                  <a:t>(sequence)</a:t>
                </a:r>
                <a:r>
                  <a:rPr lang="zh-CN" altLang="en-US" sz="2400" b="1">
                    <a:solidFill>
                      <a:schemeClr val="accent2">
                        <a:lumMod val="50000"/>
                      </a:schemeClr>
                    </a:solidFill>
                  </a:rPr>
                  <a:t>和数列</a:t>
                </a:r>
                <a:r>
                  <a:rPr lang="en-US" altLang="zh-CN" sz="2400" b="1">
                    <a:solidFill>
                      <a:schemeClr val="accent2">
                        <a:lumMod val="50000"/>
                      </a:schemeClr>
                    </a:solidFill>
                  </a:rPr>
                  <a:t>(progresson</a:t>
                </a:r>
                <a:r>
                  <a:rPr lang="zh-CN" altLang="en-US" sz="2400" b="1">
                    <a:solidFill>
                      <a:schemeClr val="accent2">
                        <a:lumMod val="50000"/>
                      </a:schemeClr>
                    </a:solidFill>
                  </a:rPr>
                  <a:t>或</a:t>
                </a:r>
                <a:r>
                  <a:rPr lang="en-US" altLang="zh-CN" sz="2400" b="1">
                    <a:solidFill>
                      <a:schemeClr val="accent2">
                        <a:lumMod val="50000"/>
                      </a:schemeClr>
                    </a:solidFill>
                  </a:rPr>
                  <a:t>series)</a:t>
                </a: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上的</a:t>
                </a:r>
                <a:r>
                  <a:rPr lang="zh-CN" altLang="en-US" sz="2000" b="1">
                    <a:solidFill>
                      <a:srgbClr val="C00000"/>
                    </a:solidFill>
                    <a:latin typeface="+mn-ea"/>
                  </a:rPr>
                  <a:t>序列</a:t>
                </a:r>
                <a:r>
                  <a:rPr lang="zh-CN" altLang="en-US" sz="2000" b="1">
                    <a:solidFill>
                      <a:srgbClr val="002060"/>
                    </a:solidFill>
                    <a:latin typeface="楷体" panose="02010609060101010101" pitchFamily="49" charset="-122"/>
                    <a:ea typeface="楷体" panose="02010609060101010101" pitchFamily="49" charset="-122"/>
                  </a:rPr>
                  <a:t>是一个定义域为自然数集（或正整数集）的函数</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ℕ</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𝑨</m:t>
                    </m:r>
                  </m:oMath>
                </a14:m>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rPr>
                  <a:t>如果</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oMath>
                </a14:m>
                <a:r>
                  <a:rPr lang="zh-CN" altLang="en-US" b="1">
                    <a:solidFill>
                      <a:schemeClr val="accent6">
                        <a:lumMod val="50000"/>
                      </a:schemeClr>
                    </a:solidFill>
                  </a:rPr>
                  <a:t>也是整数集或实数集等，则序列也称为</a:t>
                </a:r>
                <a:r>
                  <a:rPr lang="zh-CN" altLang="en-US" b="1">
                    <a:solidFill>
                      <a:srgbClr val="C00000"/>
                    </a:solidFill>
                  </a:rPr>
                  <a:t>数列</a:t>
                </a:r>
                <a:endParaRPr lang="en-US" altLang="zh-CN" b="1">
                  <a:solidFill>
                    <a:srgbClr val="C00000"/>
                  </a:solidFill>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rPr>
                  <a:t>通常将</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𝒇</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𝒊</m:t>
                        </m:r>
                      </m:e>
                    </m:d>
                  </m:oMath>
                </a14:m>
                <a:r>
                  <a:rPr lang="zh-CN" altLang="en-US" b="1">
                    <a:solidFill>
                      <a:schemeClr val="accent6">
                        <a:lumMod val="50000"/>
                      </a:schemeClr>
                    </a:solidFill>
                  </a:rPr>
                  <a:t>记为</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，而将整个序列简记为</a:t>
                </a:r>
                <a14:m>
                  <m:oMath xmlns:m="http://schemas.openxmlformats.org/officeDocument/2006/math">
                    <m:r>
                      <m:rPr>
                        <m:lit/>
                      </m:rP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m:rPr>
                        <m:lit/>
                      </m:rP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称为序列</a:t>
                </a:r>
                <a14:m>
                  <m:oMath xmlns:m="http://schemas.openxmlformats.org/officeDocument/2006/math">
                    <m:r>
                      <m:rPr>
                        <m:lit/>
                      </m:rP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m:rPr>
                        <m:lit/>
                      </m:rP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𝒊</m:t>
                    </m:r>
                  </m:oMath>
                </a14:m>
                <a:r>
                  <a:rPr lang="zh-CN" altLang="en-US" b="1">
                    <a:solidFill>
                      <a:schemeClr val="accent6">
                        <a:lumMod val="50000"/>
                      </a:schemeClr>
                    </a:solidFill>
                  </a:rPr>
                  <a:t>项</a:t>
                </a:r>
                <a:r>
                  <a:rPr lang="en-US" altLang="zh-CN" b="1">
                    <a:solidFill>
                      <a:schemeClr val="accent6">
                        <a:lumMod val="50000"/>
                      </a:schemeClr>
                    </a:solidFill>
                  </a:rPr>
                  <a:t>(term)</a:t>
                </a:r>
              </a:p>
              <a:p>
                <a:pPr marL="742950" lvl="1" indent="-285750">
                  <a:spcBef>
                    <a:spcPts val="600"/>
                  </a:spcBef>
                  <a:spcAft>
                    <a:spcPts val="300"/>
                  </a:spcAft>
                  <a:buFont typeface="Arial" panose="020B0604020202020204" pitchFamily="34" charset="0"/>
                  <a:buChar char="•"/>
                </a:pPr>
                <a:r>
                  <a:rPr lang="zh-CN" altLang="en-US" b="1">
                    <a:solidFill>
                      <a:schemeClr val="accent6">
                        <a:lumMod val="50000"/>
                      </a:schemeClr>
                    </a:solidFill>
                  </a:rPr>
                  <a:t>如果没有特别说明，序列的下标都从</a:t>
                </a:r>
                <a:r>
                  <a:rPr lang="en-US" altLang="zh-CN" b="1">
                    <a:solidFill>
                      <a:schemeClr val="accent6">
                        <a:lumMod val="50000"/>
                      </a:schemeClr>
                    </a:solidFill>
                  </a:rPr>
                  <a:t>0</a:t>
                </a:r>
                <a:r>
                  <a:rPr lang="zh-CN" altLang="en-US" b="1">
                    <a:solidFill>
                      <a:schemeClr val="accent6">
                        <a:lumMod val="50000"/>
                      </a:schemeClr>
                    </a:solidFill>
                  </a:rPr>
                  <a:t>开始</a:t>
                </a: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rPr>
                  <a:t>常使用 “</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a:rPr lang="en-US" altLang="zh-CN" b="1" i="1" smtClean="0">
                        <a:solidFill>
                          <a:schemeClr val="accent6">
                            <a:lumMod val="50000"/>
                          </a:schemeClr>
                        </a:solidFill>
                        <a:latin typeface="Cambria Math" panose="02040503050406030204" pitchFamily="18" charset="0"/>
                      </a:rPr>
                      <m:t>= </m:t>
                    </m:r>
                  </m:oMath>
                </a14:m>
                <a:r>
                  <a:rPr lang="zh-CN" altLang="en-US" b="1">
                    <a:solidFill>
                      <a:schemeClr val="accent6">
                        <a:lumMod val="50000"/>
                      </a:schemeClr>
                    </a:solidFill>
                  </a:rPr>
                  <a:t>表达式”的方式给出序列，这个表达式称为序列的</a:t>
                </a:r>
                <a:r>
                  <a:rPr lang="zh-CN" altLang="en-US" b="1">
                    <a:solidFill>
                      <a:srgbClr val="C00000"/>
                    </a:solidFill>
                  </a:rPr>
                  <a:t>通项公式</a:t>
                </a:r>
                <a:r>
                  <a:rPr lang="en-US" altLang="zh-CN" b="1">
                    <a:solidFill>
                      <a:schemeClr val="accent6">
                        <a:lumMod val="50000"/>
                      </a:schemeClr>
                    </a:solidFill>
                  </a:rPr>
                  <a:t>(general item formula)</a:t>
                </a:r>
              </a:p>
            </p:txBody>
          </p:sp>
        </mc:Choice>
        <mc:Fallback xmlns="">
          <p:sp>
            <p:nvSpPr>
              <p:cNvPr id="2" name="文本框 1">
                <a:extLst>
                  <a:ext uri="{FF2B5EF4-FFF2-40B4-BE49-F238E27FC236}">
                    <a16:creationId xmlns:a16="http://schemas.microsoft.com/office/drawing/2014/main" id="{D48A073E-7E9B-4E6A-94D9-735F145F07BB}"/>
                  </a:ext>
                </a:extLst>
              </p:cNvPr>
              <p:cNvSpPr txBox="1">
                <a:spLocks noRot="1" noChangeAspect="1" noMove="1" noResize="1" noEditPoints="1" noAdjustHandles="1" noChangeArrowheads="1" noChangeShapeType="1" noTextEdit="1"/>
              </p:cNvSpPr>
              <p:nvPr/>
            </p:nvSpPr>
            <p:spPr>
              <a:xfrm>
                <a:off x="1047882" y="1322340"/>
                <a:ext cx="10096229" cy="2454518"/>
              </a:xfrm>
              <a:prstGeom prst="rect">
                <a:avLst/>
              </a:prstGeom>
              <a:blipFill>
                <a:blip r:embed="rId2"/>
                <a:stretch>
                  <a:fillRect l="-664" t="-1737" b="-29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CEA1DC5-249C-41AA-9C0E-A285DEA73E2F}"/>
                  </a:ext>
                </a:extLst>
              </p:cNvPr>
              <p:cNvSpPr txBox="1"/>
              <p:nvPr/>
            </p:nvSpPr>
            <p:spPr>
              <a:xfrm>
                <a:off x="1152315" y="3951292"/>
                <a:ext cx="9887361" cy="203786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400" b="1">
                    <a:solidFill>
                      <a:schemeClr val="accent2">
                        <a:lumMod val="50000"/>
                      </a:schemeClr>
                    </a:solidFill>
                  </a:rPr>
                  <a:t>递推关系式</a:t>
                </a:r>
                <a:r>
                  <a:rPr lang="en-US" altLang="zh-CN" sz="2400" b="1">
                    <a:solidFill>
                      <a:schemeClr val="accent2">
                        <a:lumMod val="50000"/>
                      </a:schemeClr>
                    </a:solidFill>
                  </a:rPr>
                  <a:t>(recurrence relation)</a:t>
                </a: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序列</a:t>
                </a:r>
                <a14:m>
                  <m:oMath xmlns:m="http://schemas.openxmlformats.org/officeDocument/2006/math">
                    <m:r>
                      <m:rPr>
                        <m:lit/>
                      </m:rPr>
                      <a:rPr lang="en-US" altLang="zh-CN" sz="2000" b="1">
                        <a:solidFill>
                          <a:srgbClr val="002060"/>
                        </a:solidFill>
                        <a:latin typeface="Cambria Math" panose="02040503050406030204" pitchFamily="18" charset="0"/>
                        <a:ea typeface="楷体" panose="02010609060101010101" pitchFamily="49" charset="-122"/>
                      </a:rPr>
                      <m:t>{</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𝒂</m:t>
                        </m:r>
                      </m:e>
                      <m:sub>
                        <m:r>
                          <a:rPr lang="en-US" altLang="zh-CN" sz="2000" b="1">
                            <a:solidFill>
                              <a:srgbClr val="002060"/>
                            </a:solidFill>
                            <a:latin typeface="Cambria Math" panose="02040503050406030204" pitchFamily="18" charset="0"/>
                            <a:ea typeface="楷体" panose="02010609060101010101" pitchFamily="49" charset="-122"/>
                          </a:rPr>
                          <m:t>𝒏</m:t>
                        </m:r>
                      </m:sub>
                    </m:sSub>
                    <m:r>
                      <m:rPr>
                        <m:lit/>
                      </m:rP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递推关系式</a:t>
                </a:r>
                <a:r>
                  <a:rPr lang="zh-CN" altLang="en-US" sz="2000" b="1">
                    <a:solidFill>
                      <a:srgbClr val="002060"/>
                    </a:solidFill>
                    <a:latin typeface="楷体" panose="02010609060101010101" pitchFamily="49" charset="-122"/>
                    <a:ea typeface="楷体" panose="02010609060101010101" pitchFamily="49" charset="-122"/>
                  </a:rPr>
                  <a:t>是用序列中某些前面的项</a:t>
                </a: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𝒂</m:t>
                        </m:r>
                      </m:e>
                      <m:sub>
                        <m:r>
                          <a:rPr lang="en-US" altLang="zh-CN" sz="2000" b="1">
                            <a:solidFill>
                              <a:srgbClr val="002060"/>
                            </a:solidFill>
                            <a:latin typeface="Cambria Math" panose="02040503050406030204" pitchFamily="18" charset="0"/>
                            <a:ea typeface="楷体" panose="02010609060101010101" pitchFamily="49" charset="-122"/>
                          </a:rPr>
                          <m:t>𝒊</m:t>
                        </m:r>
                      </m:sub>
                    </m:sSub>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𝟎</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𝒊</m:t>
                    </m:r>
                    <m:r>
                      <a:rPr lang="en-US" altLang="zh-CN" sz="2000" b="1">
                        <a:solidFill>
                          <a:srgbClr val="002060"/>
                        </a:solidFill>
                        <a:latin typeface="Cambria Math" panose="02040503050406030204" pitchFamily="18" charset="0"/>
                        <a:ea typeface="楷体" panose="02010609060101010101" pitchFamily="49" charset="-122"/>
                      </a:rPr>
                      <m:t> &lt; </m:t>
                    </m:r>
                    <m:r>
                      <a:rPr lang="en-US" altLang="zh-CN" sz="2000" b="1">
                        <a:solidFill>
                          <a:srgbClr val="002060"/>
                        </a:solidFill>
                        <a:latin typeface="Cambria Math" panose="02040503050406030204" pitchFamily="18" charset="0"/>
                        <a:ea typeface="楷体" panose="02010609060101010101" pitchFamily="49" charset="-122"/>
                      </a:rPr>
                      <m:t>𝒏</m:t>
                    </m:r>
                    <m: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表示第</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项</a:t>
                </a: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𝒂</m:t>
                        </m:r>
                      </m:e>
                      <m:sub>
                        <m:r>
                          <a:rPr lang="en-US" altLang="zh-CN" sz="2000" b="1">
                            <a:solidFill>
                              <a:srgbClr val="002060"/>
                            </a:solidFill>
                            <a:latin typeface="Cambria Math" panose="02040503050406030204" pitchFamily="18" charset="0"/>
                            <a:ea typeface="楷体" panose="02010609060101010101" pitchFamily="49" charset="-122"/>
                          </a:rPr>
                          <m:t>𝒏</m:t>
                        </m:r>
                      </m:sub>
                    </m:sSub>
                  </m:oMath>
                </a14:m>
                <a:r>
                  <a:rPr lang="zh-CN" altLang="en-US" sz="2000" b="1">
                    <a:solidFill>
                      <a:srgbClr val="002060"/>
                    </a:solidFill>
                    <a:latin typeface="楷体" panose="02010609060101010101" pitchFamily="49" charset="-122"/>
                    <a:ea typeface="楷体" panose="02010609060101010101" pitchFamily="49" charset="-122"/>
                  </a:rPr>
                  <a:t>的等式</a:t>
                </a:r>
              </a:p>
              <a:p>
                <a:pPr marL="342900" indent="-342900">
                  <a:spcBef>
                    <a:spcPts val="600"/>
                  </a:spcBef>
                  <a:spcAft>
                    <a:spcPts val="300"/>
                  </a:spcAft>
                  <a:buFont typeface="Arial" panose="020B0604020202020204" pitchFamily="34" charset="0"/>
                  <a:buChar char="•"/>
                </a:pPr>
                <a:r>
                  <a:rPr lang="zh-CN" altLang="en-US" b="1">
                    <a:solidFill>
                      <a:schemeClr val="accent6">
                        <a:lumMod val="50000"/>
                      </a:schemeClr>
                    </a:solidFill>
                  </a:rPr>
                  <a:t>如果序列</a:t>
                </a:r>
                <a14:m>
                  <m:oMath xmlns:m="http://schemas.openxmlformats.org/officeDocument/2006/math">
                    <m:r>
                      <m:rPr>
                        <m:lit/>
                      </m:rPr>
                      <a:rPr lang="en-US" altLang="zh-CN" b="1">
                        <a:solidFill>
                          <a:schemeClr val="accent6">
                            <a:lumMod val="50000"/>
                          </a:schemeClr>
                        </a:solidFill>
                        <a:latin typeface="Cambria Math" panose="02040503050406030204" pitchFamily="18" charset="0"/>
                      </a:rPr>
                      <m:t>{</m:t>
                    </m:r>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𝒂</m:t>
                        </m:r>
                      </m:e>
                      <m:sub>
                        <m:r>
                          <a:rPr lang="en-US" altLang="zh-CN" b="1">
                            <a:solidFill>
                              <a:schemeClr val="accent6">
                                <a:lumMod val="50000"/>
                              </a:schemeClr>
                            </a:solidFill>
                            <a:latin typeface="Cambria Math" panose="02040503050406030204" pitchFamily="18" charset="0"/>
                          </a:rPr>
                          <m:t>𝒏</m:t>
                        </m:r>
                      </m:sub>
                    </m:sSub>
                    <m:r>
                      <m:rPr>
                        <m:lit/>
                      </m:rPr>
                      <a:rPr lang="en-US" altLang="zh-CN" b="1">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满足递推关系式，则称这个序列为该递推关系式的</a:t>
                </a:r>
                <a:r>
                  <a:rPr lang="zh-CN" altLang="en-US" b="1">
                    <a:solidFill>
                      <a:srgbClr val="C00000"/>
                    </a:solidFill>
                  </a:rPr>
                  <a:t>解</a:t>
                </a:r>
                <a:r>
                  <a:rPr lang="en-US" altLang="zh-CN" b="1">
                    <a:solidFill>
                      <a:schemeClr val="accent6">
                        <a:lumMod val="50000"/>
                      </a:schemeClr>
                    </a:solidFill>
                  </a:rPr>
                  <a:t>(solution)</a:t>
                </a:r>
              </a:p>
              <a:p>
                <a:pPr marL="342900" indent="-342900">
                  <a:lnSpc>
                    <a:spcPts val="2600"/>
                  </a:lnSpc>
                  <a:spcBef>
                    <a:spcPts val="600"/>
                  </a:spcBef>
                  <a:spcAft>
                    <a:spcPts val="300"/>
                  </a:spcAft>
                  <a:buFont typeface="Arial" panose="020B0604020202020204" pitchFamily="34" charset="0"/>
                  <a:buChar char="•"/>
                </a:pPr>
                <a:r>
                  <a:rPr lang="zh-CN" altLang="en-US" b="1">
                    <a:solidFill>
                      <a:schemeClr val="accent6">
                        <a:lumMod val="50000"/>
                      </a:schemeClr>
                    </a:solidFill>
                  </a:rPr>
                  <a:t>如果递推关系式的解序列</a:t>
                </a:r>
                <a14:m>
                  <m:oMath xmlns:m="http://schemas.openxmlformats.org/officeDocument/2006/math">
                    <m:r>
                      <m:rPr>
                        <m:lit/>
                      </m:rPr>
                      <a:rPr lang="en-US" altLang="zh-CN" b="1">
                        <a:solidFill>
                          <a:schemeClr val="accent6">
                            <a:lumMod val="50000"/>
                          </a:schemeClr>
                        </a:solidFill>
                        <a:latin typeface="Cambria Math" panose="02040503050406030204" pitchFamily="18" charset="0"/>
                      </a:rPr>
                      <m:t>{</m:t>
                    </m:r>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𝒂</m:t>
                        </m:r>
                      </m:e>
                      <m:sub>
                        <m:r>
                          <a:rPr lang="en-US" altLang="zh-CN" b="1">
                            <a:solidFill>
                              <a:schemeClr val="accent6">
                                <a:lumMod val="50000"/>
                              </a:schemeClr>
                            </a:solidFill>
                            <a:latin typeface="Cambria Math" panose="02040503050406030204" pitchFamily="18" charset="0"/>
                          </a:rPr>
                          <m:t>𝒏</m:t>
                        </m:r>
                      </m:sub>
                    </m:sSub>
                    <m:r>
                      <m:rPr>
                        <m:lit/>
                      </m:rPr>
                      <a:rPr lang="en-US" altLang="zh-CN" b="1">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的第</a:t>
                </a:r>
                <a14:m>
                  <m:oMath xmlns:m="http://schemas.openxmlformats.org/officeDocument/2006/math">
                    <m:r>
                      <a:rPr lang="en-US" altLang="zh-CN" b="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项能使用不含序列中任意项的公式表达，则这个公式称为递推关系式的</a:t>
                </a:r>
                <a:r>
                  <a:rPr lang="zh-CN" altLang="en-US" b="1">
                    <a:solidFill>
                      <a:srgbClr val="C00000"/>
                    </a:solidFill>
                  </a:rPr>
                  <a:t>封闭公式解</a:t>
                </a:r>
                <a:r>
                  <a:rPr lang="en-US" altLang="zh-CN" b="1">
                    <a:solidFill>
                      <a:schemeClr val="accent6">
                        <a:lumMod val="50000"/>
                      </a:schemeClr>
                    </a:solidFill>
                  </a:rPr>
                  <a:t>(closed formula solution)</a:t>
                </a:r>
              </a:p>
            </p:txBody>
          </p:sp>
        </mc:Choice>
        <mc:Fallback xmlns="">
          <p:sp>
            <p:nvSpPr>
              <p:cNvPr id="3" name="文本框 2">
                <a:extLst>
                  <a:ext uri="{FF2B5EF4-FFF2-40B4-BE49-F238E27FC236}">
                    <a16:creationId xmlns:a16="http://schemas.microsoft.com/office/drawing/2014/main" id="{BCEA1DC5-249C-41AA-9C0E-A285DEA73E2F}"/>
                  </a:ext>
                </a:extLst>
              </p:cNvPr>
              <p:cNvSpPr txBox="1">
                <a:spLocks noRot="1" noChangeAspect="1" noMove="1" noResize="1" noEditPoints="1" noAdjustHandles="1" noChangeArrowheads="1" noChangeShapeType="1" noTextEdit="1"/>
              </p:cNvSpPr>
              <p:nvPr/>
            </p:nvSpPr>
            <p:spPr>
              <a:xfrm>
                <a:off x="1152315" y="3951292"/>
                <a:ext cx="9887361" cy="2037866"/>
              </a:xfrm>
              <a:prstGeom prst="rect">
                <a:avLst/>
              </a:prstGeom>
              <a:blipFill>
                <a:blip r:embed="rId3"/>
                <a:stretch>
                  <a:fillRect l="-617" t="-2096" b="-38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657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D0B10FE-6CB4-4BF8-BD37-1ACC8CE9B59A}"/>
                  </a:ext>
                </a:extLst>
              </p:cNvPr>
              <p:cNvSpPr txBox="1"/>
              <p:nvPr/>
            </p:nvSpPr>
            <p:spPr>
              <a:xfrm>
                <a:off x="607912" y="1323382"/>
                <a:ext cx="8904479" cy="861774"/>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𝟑</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𝟒</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𝟐</m:t>
                    </m:r>
                  </m:oMath>
                </a14:m>
                <a:r>
                  <a:rPr lang="zh-CN" altLang="en-US" sz="2000" b="1">
                    <a:solidFill>
                      <a:srgbClr val="002060"/>
                    </a:solidFill>
                    <a:latin typeface="楷体" panose="02010609060101010101" pitchFamily="49" charset="-122"/>
                    <a:ea typeface="楷体" panose="02010609060101010101" pitchFamily="49" charset="-122"/>
                  </a:rPr>
                  <a:t>是一个递推关系式</a:t>
                </a:r>
                <a:endParaRPr lang="zh-CN" altLang="en-US" sz="2000" b="1">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a:solidFill>
                      <a:schemeClr val="accent6">
                        <a:lumMod val="50000"/>
                      </a:schemeClr>
                    </a:solidFill>
                  </a:rPr>
                  <a:t>序列</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𝒏</m:t>
                        </m:r>
                      </m:sub>
                    </m:sSub>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𝟎</m:t>
                    </m:r>
                  </m:oMath>
                </a14:m>
                <a:r>
                  <a:rPr lang="zh-CN" altLang="en-US" sz="2000" b="1">
                    <a:solidFill>
                      <a:schemeClr val="accent6">
                        <a:lumMod val="50000"/>
                      </a:schemeClr>
                    </a:solidFill>
                  </a:rPr>
                  <a:t>是一个解，序列</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𝒏</m:t>
                        </m:r>
                      </m:sub>
                    </m:sSub>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以及</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𝒏</m:t>
                        </m:r>
                      </m:sub>
                    </m:sSub>
                    <m:r>
                      <a:rPr lang="en-US" altLang="zh-CN" sz="2000" b="1" i="1" smtClean="0">
                        <a:solidFill>
                          <a:schemeClr val="accent6">
                            <a:lumMod val="50000"/>
                          </a:schemeClr>
                        </a:solidFill>
                        <a:latin typeface="Cambria Math" panose="02040503050406030204" pitchFamily="18" charset="0"/>
                      </a:rPr>
                      <m:t>= </m:t>
                    </m:r>
                    <m:sSup>
                      <m:sSupPr>
                        <m:ctrlPr>
                          <a:rPr lang="en-US" altLang="zh-CN" sz="2000" b="1" i="1" smtClean="0">
                            <a:solidFill>
                              <a:schemeClr val="accent6">
                                <a:lumMod val="50000"/>
                              </a:schemeClr>
                            </a:solidFill>
                            <a:latin typeface="Cambria Math" panose="02040503050406030204" pitchFamily="18" charset="0"/>
                          </a:rPr>
                        </m:ctrlPr>
                      </m:sSupPr>
                      <m:e>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𝟒</m:t>
                            </m:r>
                          </m:e>
                        </m:d>
                      </m:e>
                      <m:sup>
                        <m:r>
                          <a:rPr lang="en-US" altLang="zh-CN" sz="2000" b="1" i="1" smtClean="0">
                            <a:solidFill>
                              <a:schemeClr val="accent6">
                                <a:lumMod val="50000"/>
                              </a:schemeClr>
                            </a:solidFill>
                            <a:latin typeface="Cambria Math" panose="02040503050406030204" pitchFamily="18" charset="0"/>
                          </a:rPr>
                          <m:t>𝒏</m:t>
                        </m:r>
                      </m:sup>
                    </m:sSup>
                  </m:oMath>
                </a14:m>
                <a:r>
                  <a:rPr lang="zh-CN" altLang="en-US" sz="2000" b="1">
                    <a:solidFill>
                      <a:schemeClr val="accent6">
                        <a:lumMod val="50000"/>
                      </a:schemeClr>
                    </a:solidFill>
                  </a:rPr>
                  <a:t>也都是它的封闭公式解</a:t>
                </a:r>
              </a:p>
            </p:txBody>
          </p:sp>
        </mc:Choice>
        <mc:Fallback xmlns="">
          <p:sp>
            <p:nvSpPr>
              <p:cNvPr id="2" name="文本框 1">
                <a:extLst>
                  <a:ext uri="{FF2B5EF4-FFF2-40B4-BE49-F238E27FC236}">
                    <a16:creationId xmlns:a16="http://schemas.microsoft.com/office/drawing/2014/main" id="{DD0B10FE-6CB4-4BF8-BD37-1ACC8CE9B59A}"/>
                  </a:ext>
                </a:extLst>
              </p:cNvPr>
              <p:cNvSpPr txBox="1">
                <a:spLocks noRot="1" noChangeAspect="1" noMove="1" noResize="1" noEditPoints="1" noAdjustHandles="1" noChangeArrowheads="1" noChangeShapeType="1" noTextEdit="1"/>
              </p:cNvSpPr>
              <p:nvPr/>
            </p:nvSpPr>
            <p:spPr>
              <a:xfrm>
                <a:off x="607912" y="1323382"/>
                <a:ext cx="8904479" cy="861774"/>
              </a:xfrm>
              <a:prstGeom prst="rect">
                <a:avLst/>
              </a:prstGeom>
              <a:blipFill>
                <a:blip r:embed="rId2"/>
                <a:stretch>
                  <a:fillRect l="-616" t="-4965" b="-120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479F91F-7C1F-4F67-9BE2-8D1DA495C454}"/>
                  </a:ext>
                </a:extLst>
              </p:cNvPr>
              <p:cNvSpPr txBox="1"/>
              <p:nvPr/>
            </p:nvSpPr>
            <p:spPr>
              <a:xfrm>
                <a:off x="607911" y="3701985"/>
                <a:ext cx="8292687" cy="861774"/>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递推关系式</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ea typeface="楷体" panose="02010609060101010101" pitchFamily="49" charset="-122"/>
                          </a:rPr>
                        </m:ctrlPr>
                      </m:sSubPr>
                      <m:e>
                        <m:r>
                          <a:rPr lang="en-US" altLang="zh-CN" sz="2000" b="1">
                            <a:solidFill>
                              <a:schemeClr val="accent2">
                                <a:lumMod val="50000"/>
                              </a:schemeClr>
                            </a:solidFill>
                            <a:latin typeface="Cambria Math" panose="02040503050406030204" pitchFamily="18" charset="0"/>
                            <a:ea typeface="楷体" panose="02010609060101010101" pitchFamily="49" charset="-122"/>
                          </a:rPr>
                          <m:t>𝒂</m:t>
                        </m:r>
                      </m:e>
                      <m:sub>
                        <m:r>
                          <a:rPr lang="en-US" altLang="zh-CN" sz="2000" b="1">
                            <a:solidFill>
                              <a:schemeClr val="accent2">
                                <a:lumMod val="50000"/>
                              </a:schemeClr>
                            </a:solidFill>
                            <a:latin typeface="Cambria Math" panose="02040503050406030204" pitchFamily="18" charset="0"/>
                            <a:ea typeface="楷体" panose="02010609060101010101" pitchFamily="49" charset="-122"/>
                          </a:rPr>
                          <m:t>𝒏</m:t>
                        </m:r>
                      </m:sub>
                    </m:sSub>
                    <m:r>
                      <a:rPr lang="en-US" altLang="zh-CN" sz="2000" b="1">
                        <a:solidFill>
                          <a:schemeClr val="accent2">
                            <a:lumMod val="50000"/>
                          </a:schemeClr>
                        </a:solidFill>
                        <a:latin typeface="Cambria Math" panose="02040503050406030204" pitchFamily="18" charset="0"/>
                        <a:ea typeface="楷体" panose="02010609060101010101" pitchFamily="49" charset="-122"/>
                      </a:rPr>
                      <m:t>= −</m:t>
                    </m:r>
                    <m:r>
                      <a:rPr lang="en-US" altLang="zh-CN" sz="2000" b="1">
                        <a:solidFill>
                          <a:schemeClr val="accent2">
                            <a:lumMod val="50000"/>
                          </a:schemeClr>
                        </a:solidFill>
                        <a:latin typeface="Cambria Math" panose="02040503050406030204" pitchFamily="18" charset="0"/>
                        <a:ea typeface="楷体" panose="02010609060101010101" pitchFamily="49" charset="-122"/>
                      </a:rPr>
                      <m:t>𝟑</m:t>
                    </m:r>
                    <m:sSub>
                      <m:sSubPr>
                        <m:ctrlPr>
                          <a:rPr lang="en-US" altLang="zh-CN" sz="2000"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sz="2000" b="1">
                            <a:solidFill>
                              <a:schemeClr val="accent2">
                                <a:lumMod val="50000"/>
                              </a:schemeClr>
                            </a:solidFill>
                            <a:latin typeface="Cambria Math" panose="02040503050406030204" pitchFamily="18" charset="0"/>
                            <a:ea typeface="楷体" panose="02010609060101010101" pitchFamily="49" charset="-122"/>
                          </a:rPr>
                          <m:t>𝒂</m:t>
                        </m:r>
                      </m:e>
                      <m:sub>
                        <m:r>
                          <a:rPr lang="en-US" altLang="zh-CN" sz="2000" b="1">
                            <a:solidFill>
                              <a:schemeClr val="accent2">
                                <a:lumMod val="50000"/>
                              </a:schemeClr>
                            </a:solidFill>
                            <a:latin typeface="Cambria Math" panose="02040503050406030204" pitchFamily="18" charset="0"/>
                            <a:ea typeface="楷体" panose="02010609060101010101" pitchFamily="49" charset="-122"/>
                          </a:rPr>
                          <m:t>𝒏</m:t>
                        </m:r>
                        <m:r>
                          <a:rPr lang="en-US" altLang="zh-CN" sz="2000" b="1">
                            <a:solidFill>
                              <a:schemeClr val="accent2">
                                <a:lumMod val="50000"/>
                              </a:schemeClr>
                            </a:solidFill>
                            <a:latin typeface="Cambria Math" panose="02040503050406030204" pitchFamily="18" charset="0"/>
                            <a:ea typeface="楷体" panose="02010609060101010101" pitchFamily="49" charset="-122"/>
                          </a:rPr>
                          <m:t>−</m:t>
                        </m:r>
                        <m:r>
                          <a:rPr lang="en-US" altLang="zh-CN" sz="2000" b="1">
                            <a:solidFill>
                              <a:schemeClr val="accent2">
                                <a:lumMod val="50000"/>
                              </a:schemeClr>
                            </a:solidFill>
                            <a:latin typeface="Cambria Math" panose="02040503050406030204" pitchFamily="18" charset="0"/>
                            <a:ea typeface="楷体" panose="02010609060101010101" pitchFamily="49" charset="-122"/>
                          </a:rPr>
                          <m:t>𝟏</m:t>
                        </m:r>
                      </m:sub>
                    </m:sSub>
                    <m:r>
                      <a:rPr lang="en-US" altLang="zh-CN" sz="2000" b="1">
                        <a:solidFill>
                          <a:schemeClr val="accent2">
                            <a:lumMod val="50000"/>
                          </a:schemeClr>
                        </a:solidFill>
                        <a:latin typeface="Cambria Math" panose="02040503050406030204" pitchFamily="18" charset="0"/>
                        <a:ea typeface="楷体" panose="02010609060101010101" pitchFamily="49" charset="-122"/>
                      </a:rPr>
                      <m:t>+ </m:t>
                    </m:r>
                    <m:r>
                      <a:rPr lang="en-US" altLang="zh-CN" sz="2000" b="1">
                        <a:solidFill>
                          <a:schemeClr val="accent2">
                            <a:lumMod val="50000"/>
                          </a:schemeClr>
                        </a:solidFill>
                        <a:latin typeface="Cambria Math" panose="02040503050406030204" pitchFamily="18" charset="0"/>
                        <a:ea typeface="楷体" panose="02010609060101010101" pitchFamily="49" charset="-122"/>
                      </a:rPr>
                      <m:t>𝟒</m:t>
                    </m:r>
                    <m:sSub>
                      <m:sSubPr>
                        <m:ctrlPr>
                          <a:rPr lang="en-US" altLang="zh-CN" sz="2000"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sz="2000" b="1">
                            <a:solidFill>
                              <a:schemeClr val="accent2">
                                <a:lumMod val="50000"/>
                              </a:schemeClr>
                            </a:solidFill>
                            <a:latin typeface="Cambria Math" panose="02040503050406030204" pitchFamily="18" charset="0"/>
                            <a:ea typeface="楷体" panose="02010609060101010101" pitchFamily="49" charset="-122"/>
                          </a:rPr>
                          <m:t>𝒂</m:t>
                        </m:r>
                      </m:e>
                      <m:sub>
                        <m:r>
                          <a:rPr lang="en-US" altLang="zh-CN" sz="2000" b="1">
                            <a:solidFill>
                              <a:schemeClr val="accent2">
                                <a:lumMod val="50000"/>
                              </a:schemeClr>
                            </a:solidFill>
                            <a:latin typeface="Cambria Math" panose="02040503050406030204" pitchFamily="18" charset="0"/>
                            <a:ea typeface="楷体" panose="02010609060101010101" pitchFamily="49" charset="-122"/>
                          </a:rPr>
                          <m:t>𝒏</m:t>
                        </m:r>
                        <m:r>
                          <a:rPr lang="en-US" altLang="zh-CN" sz="2000" b="1">
                            <a:solidFill>
                              <a:schemeClr val="accent2">
                                <a:lumMod val="50000"/>
                              </a:schemeClr>
                            </a:solidFill>
                            <a:latin typeface="Cambria Math" panose="02040503050406030204" pitchFamily="18" charset="0"/>
                            <a:ea typeface="楷体" panose="02010609060101010101" pitchFamily="49" charset="-122"/>
                          </a:rPr>
                          <m:t>−</m:t>
                        </m:r>
                        <m:r>
                          <a:rPr lang="en-US" altLang="zh-CN" sz="2000" b="1">
                            <a:solidFill>
                              <a:schemeClr val="accent2">
                                <a:lumMod val="50000"/>
                              </a:schemeClr>
                            </a:solidFill>
                            <a:latin typeface="Cambria Math" panose="02040503050406030204" pitchFamily="18" charset="0"/>
                            <a:ea typeface="楷体" panose="02010609060101010101" pitchFamily="49" charset="-122"/>
                          </a:rPr>
                          <m:t>𝟐</m:t>
                        </m:r>
                      </m:sub>
                    </m:sSub>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𝒏</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𝟐</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指定初始条件</a:t>
                </a:r>
                <a14:m>
                  <m:oMath xmlns:m="http://schemas.openxmlformats.org/officeDocument/2006/math">
                    <m:r>
                      <a:rPr lang="en-US" altLang="zh-CN" sz="2000" b="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_</m:t>
                    </m:r>
                    <m:r>
                      <a:rPr lang="en-US" altLang="zh-CN" sz="2000" b="1">
                        <a:solidFill>
                          <a:schemeClr val="accent6">
                            <a:lumMod val="50000"/>
                          </a:schemeClr>
                        </a:solidFill>
                        <a:latin typeface="Cambria Math" panose="02040503050406030204" pitchFamily="18" charset="0"/>
                      </a:rPr>
                      <m:t>𝟎</m:t>
                    </m:r>
                    <m:r>
                      <a:rPr lang="en-US" altLang="zh-CN" sz="2000" b="1">
                        <a:solidFill>
                          <a:schemeClr val="accent6">
                            <a:lumMod val="50000"/>
                          </a:schemeClr>
                        </a:solidFill>
                        <a:latin typeface="Cambria Math" panose="02040503050406030204" pitchFamily="18" charset="0"/>
                      </a:rPr>
                      <m:t> = </m:t>
                    </m:r>
                    <m:r>
                      <a:rPr lang="en-US" altLang="zh-CN" sz="2000" b="1">
                        <a:solidFill>
                          <a:schemeClr val="accent6">
                            <a:lumMod val="50000"/>
                          </a:schemeClr>
                        </a:solidFill>
                        <a:latin typeface="Cambria Math" panose="02040503050406030204" pitchFamily="18" charset="0"/>
                      </a:rPr>
                      <m:t>𝟎</m:t>
                    </m:r>
                    <m:r>
                      <a:rPr lang="en-US" altLang="zh-CN" sz="2000" b="1">
                        <a:solidFill>
                          <a:schemeClr val="accent6">
                            <a:lumMod val="50000"/>
                          </a:schemeClr>
                        </a:solidFill>
                        <a:latin typeface="Cambria Math" panose="02040503050406030204" pitchFamily="18" charset="0"/>
                      </a:rPr>
                      <m:t>, </m:t>
                    </m:r>
                    <m:r>
                      <a:rPr lang="en-US" altLang="zh-CN" sz="2000" b="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_</m:t>
                    </m:r>
                    <m:r>
                      <a:rPr lang="en-US" altLang="zh-CN" sz="2000" b="1">
                        <a:solidFill>
                          <a:schemeClr val="accent6">
                            <a:lumMod val="50000"/>
                          </a:schemeClr>
                        </a:solidFill>
                        <a:latin typeface="Cambria Math" panose="02040503050406030204" pitchFamily="18" charset="0"/>
                      </a:rPr>
                      <m:t>𝟏</m:t>
                    </m:r>
                    <m:r>
                      <a:rPr lang="en-US" altLang="zh-CN" sz="2000" b="1">
                        <a:solidFill>
                          <a:schemeClr val="accent6">
                            <a:lumMod val="50000"/>
                          </a:schemeClr>
                        </a:solidFill>
                        <a:latin typeface="Cambria Math" panose="02040503050406030204" pitchFamily="18" charset="0"/>
                      </a:rPr>
                      <m:t> = −</m:t>
                    </m:r>
                    <m:r>
                      <a:rPr lang="en-US" altLang="zh-CN" sz="2000" b="1">
                        <a:solidFill>
                          <a:schemeClr val="accent6">
                            <a:lumMod val="50000"/>
                          </a:schemeClr>
                        </a:solidFill>
                        <a:latin typeface="Cambria Math" panose="02040503050406030204" pitchFamily="18" charset="0"/>
                      </a:rPr>
                      <m:t>𝟓</m:t>
                    </m:r>
                  </m:oMath>
                </a14:m>
                <a:r>
                  <a:rPr lang="zh-CN" altLang="en-US" sz="2000" b="1">
                    <a:solidFill>
                      <a:schemeClr val="accent6">
                        <a:lumMod val="50000"/>
                      </a:schemeClr>
                    </a:solidFill>
                  </a:rPr>
                  <a:t>，可</a:t>
                </a:r>
                <a:r>
                  <a:rPr lang="zh-CN" altLang="en-US" sz="2000" b="1">
                    <a:solidFill>
                      <a:srgbClr val="C00000"/>
                    </a:solidFill>
                  </a:rPr>
                  <a:t>唯一确定</a:t>
                </a:r>
                <a:r>
                  <a:rPr lang="zh-CN" altLang="en-US" sz="2000" b="1">
                    <a:solidFill>
                      <a:schemeClr val="accent6">
                        <a:lumMod val="50000"/>
                      </a:schemeClr>
                    </a:solidFill>
                  </a:rPr>
                  <a:t>序列</a:t>
                </a:r>
                <a14:m>
                  <m:oMath xmlns:m="http://schemas.openxmlformats.org/officeDocument/2006/math">
                    <m:sSub>
                      <m:sSubPr>
                        <m:ctrlPr>
                          <a:rPr lang="en-US" altLang="zh-CN" sz="2000" b="1" i="1">
                            <a:solidFill>
                              <a:schemeClr val="accent6">
                                <a:lumMod val="50000"/>
                              </a:schemeClr>
                            </a:solidFill>
                            <a:latin typeface="Cambria Math" panose="02040503050406030204" pitchFamily="18" charset="0"/>
                          </a:rPr>
                        </m:ctrlPr>
                      </m:sSubPr>
                      <m:e>
                        <m:r>
                          <a:rPr lang="en-US" altLang="zh-CN" sz="2000" b="1">
                            <a:solidFill>
                              <a:schemeClr val="accent6">
                                <a:lumMod val="50000"/>
                              </a:schemeClr>
                            </a:solidFill>
                            <a:latin typeface="Cambria Math" panose="02040503050406030204" pitchFamily="18" charset="0"/>
                          </a:rPr>
                          <m:t>𝒂</m:t>
                        </m:r>
                      </m:e>
                      <m:sub>
                        <m:r>
                          <a:rPr lang="en-US" altLang="zh-CN" sz="2000" b="1">
                            <a:solidFill>
                              <a:schemeClr val="accent6">
                                <a:lumMod val="50000"/>
                              </a:schemeClr>
                            </a:solidFill>
                            <a:latin typeface="Cambria Math" panose="02040503050406030204" pitchFamily="18" charset="0"/>
                          </a:rPr>
                          <m:t>𝒏</m:t>
                        </m:r>
                      </m:sub>
                    </m:sSub>
                    <m:r>
                      <a:rPr lang="en-US" altLang="zh-CN" sz="2000" b="1">
                        <a:solidFill>
                          <a:schemeClr val="accent6">
                            <a:lumMod val="50000"/>
                          </a:schemeClr>
                        </a:solidFill>
                        <a:latin typeface="Cambria Math" panose="02040503050406030204" pitchFamily="18" charset="0"/>
                      </a:rPr>
                      <m:t>= </m:t>
                    </m:r>
                    <m:sSup>
                      <m:sSupPr>
                        <m:ctrlPr>
                          <a:rPr lang="en-US" altLang="zh-CN" sz="2000" b="1" i="1">
                            <a:solidFill>
                              <a:schemeClr val="accent6">
                                <a:lumMod val="50000"/>
                              </a:schemeClr>
                            </a:solidFill>
                            <a:latin typeface="Cambria Math" panose="02040503050406030204" pitchFamily="18" charset="0"/>
                          </a:rPr>
                        </m:ctrlPr>
                      </m:sSupPr>
                      <m:e>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𝟒</m:t>
                            </m:r>
                          </m:e>
                        </m:d>
                      </m:e>
                      <m:sup>
                        <m:r>
                          <a:rPr lang="en-US" altLang="zh-CN" sz="2000" b="1">
                            <a:solidFill>
                              <a:schemeClr val="accent6">
                                <a:lumMod val="50000"/>
                              </a:schemeClr>
                            </a:solidFill>
                            <a:latin typeface="Cambria Math" panose="02040503050406030204" pitchFamily="18" charset="0"/>
                          </a:rPr>
                          <m:t>𝒏</m:t>
                        </m:r>
                      </m:sup>
                    </m:sSup>
                    <m:r>
                      <a:rPr lang="en-US" altLang="zh-CN" sz="2000" b="1">
                        <a:solidFill>
                          <a:schemeClr val="accent6">
                            <a:lumMod val="50000"/>
                          </a:schemeClr>
                        </a:solidFill>
                        <a:latin typeface="Cambria Math" panose="02040503050406030204" pitchFamily="18" charset="0"/>
                      </a:rPr>
                      <m:t>− </m:t>
                    </m:r>
                    <m:r>
                      <a:rPr lang="en-US" altLang="zh-CN" sz="2000" b="1">
                        <a:solidFill>
                          <a:schemeClr val="accent6">
                            <a:lumMod val="50000"/>
                          </a:schemeClr>
                        </a:solidFill>
                        <a:latin typeface="Cambria Math" panose="02040503050406030204" pitchFamily="18" charset="0"/>
                      </a:rPr>
                      <m:t>𝟏</m:t>
                    </m:r>
                  </m:oMath>
                </a14:m>
                <a:endParaRPr lang="en-US" altLang="zh-CN" sz="2000" b="1">
                  <a:solidFill>
                    <a:schemeClr val="accent6">
                      <a:lumMod val="50000"/>
                    </a:schemeClr>
                  </a:solidFill>
                </a:endParaRPr>
              </a:p>
            </p:txBody>
          </p:sp>
        </mc:Choice>
        <mc:Fallback xmlns="">
          <p:sp>
            <p:nvSpPr>
              <p:cNvPr id="3" name="文本框 2">
                <a:extLst>
                  <a:ext uri="{FF2B5EF4-FFF2-40B4-BE49-F238E27FC236}">
                    <a16:creationId xmlns:a16="http://schemas.microsoft.com/office/drawing/2014/main" id="{8479F91F-7C1F-4F67-9BE2-8D1DA495C454}"/>
                  </a:ext>
                </a:extLst>
              </p:cNvPr>
              <p:cNvSpPr txBox="1">
                <a:spLocks noRot="1" noChangeAspect="1" noMove="1" noResize="1" noEditPoints="1" noAdjustHandles="1" noChangeArrowheads="1" noChangeShapeType="1" noTextEdit="1"/>
              </p:cNvSpPr>
              <p:nvPr/>
            </p:nvSpPr>
            <p:spPr>
              <a:xfrm>
                <a:off x="607911" y="3701985"/>
                <a:ext cx="8292687" cy="861774"/>
              </a:xfrm>
              <a:prstGeom prst="rect">
                <a:avLst/>
              </a:prstGeom>
              <a:blipFill>
                <a:blip r:embed="rId3"/>
                <a:stretch>
                  <a:fillRect l="-809" t="-4930" b="-112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9AFEEFC-A86C-4C9E-89BA-CD47D5D843B0}"/>
                  </a:ext>
                </a:extLst>
              </p:cNvPr>
              <p:cNvSpPr txBox="1"/>
              <p:nvPr/>
            </p:nvSpPr>
            <p:spPr>
              <a:xfrm>
                <a:off x="607911" y="4816646"/>
                <a:ext cx="7687473" cy="1323439"/>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C00000"/>
                    </a:solidFill>
                    <a:latin typeface="等线" panose="02010600030101010101" pitchFamily="2" charset="-122"/>
                    <a:ea typeface="等线" panose="02010600030101010101" pitchFamily="2" charset="-122"/>
                  </a:rPr>
                  <a:t>斐波拉契</a:t>
                </a:r>
                <a:r>
                  <a:rPr lang="en-US" altLang="zh-CN" sz="2000" b="1">
                    <a:solidFill>
                      <a:srgbClr val="002060"/>
                    </a:solidFill>
                    <a:latin typeface="+mn-ea"/>
                  </a:rPr>
                  <a:t>(Fibonacci)</a:t>
                </a:r>
                <a:r>
                  <a:rPr lang="zh-CN" altLang="en-US" sz="2000" b="1">
                    <a:solidFill>
                      <a:srgbClr val="002060"/>
                    </a:solidFill>
                    <a:latin typeface="楷体" panose="02010609060101010101" pitchFamily="49" charset="-122"/>
                    <a:ea typeface="楷体" panose="02010609060101010101" pitchFamily="49" charset="-122"/>
                  </a:rPr>
                  <a:t>数列的递推关系式也许是最有名的递推关系式</a:t>
                </a:r>
              </a:p>
              <a:p>
                <a:pPr marL="285750" indent="-285750">
                  <a:spcBef>
                    <a:spcPts val="600"/>
                  </a:spcBef>
                  <a:spcAft>
                    <a:spcPts val="600"/>
                  </a:spcAft>
                  <a:buFont typeface="Arial" panose="020B0604020202020204" pitchFamily="34" charset="0"/>
                  <a:buChar char="•"/>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𝑭</m:t>
                        </m:r>
                      </m:e>
                      <m:sub>
                        <m:r>
                          <a:rPr lang="en-US" altLang="zh-CN" sz="2000" b="1" i="1" smtClean="0">
                            <a:solidFill>
                              <a:schemeClr val="accent2">
                                <a:lumMod val="50000"/>
                              </a:schemeClr>
                            </a:solidFill>
                            <a:latin typeface="Cambria Math" panose="02040503050406030204" pitchFamily="18" charset="0"/>
                          </a:rPr>
                          <m:t>𝒏</m:t>
                        </m:r>
                      </m:sub>
                    </m:sSub>
                    <m:r>
                      <a:rPr lang="en-US" altLang="zh-CN" sz="2000" b="1" i="1" smtClean="0">
                        <a:solidFill>
                          <a:schemeClr val="accent2">
                            <a:lumMod val="50000"/>
                          </a:schemeClr>
                        </a:solidFill>
                        <a:latin typeface="Cambria Math" panose="02040503050406030204" pitchFamily="18" charset="0"/>
                      </a:rPr>
                      <m: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𝑭</m:t>
                        </m:r>
                      </m:e>
                      <m:sub>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𝑭</m:t>
                        </m:r>
                      </m:e>
                      <m:sub>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sub>
                    </m:sSub>
                  </m:oMath>
                </a14:m>
                <a:r>
                  <a:rPr lang="zh-CN" altLang="en-US" sz="2000" b="1"/>
                  <a:t>，</a:t>
                </a:r>
                <a14:m>
                  <m:oMath xmlns:m="http://schemas.openxmlformats.org/officeDocument/2006/math">
                    <m:r>
                      <a:rPr lang="en-US" altLang="zh-CN" sz="2000" b="1" i="1" smtClean="0">
                        <a:latin typeface="Cambria Math" panose="02040503050406030204" pitchFamily="18" charset="0"/>
                      </a:rPr>
                      <m:t>𝒏</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𝟐</m:t>
                    </m:r>
                  </m:oMath>
                </a14:m>
                <a:endParaRPr lang="en-US" altLang="zh-CN" sz="2000" b="1"/>
              </a:p>
              <a:p>
                <a:pPr marL="285750" indent="-285750">
                  <a:spcBef>
                    <a:spcPts val="600"/>
                  </a:spcBef>
                  <a:spcAft>
                    <a:spcPts val="600"/>
                  </a:spcAft>
                  <a:buFont typeface="Arial" panose="020B0604020202020204" pitchFamily="34" charset="0"/>
                  <a:buChar char="•"/>
                </a:pPr>
                <a:r>
                  <a:rPr lang="zh-CN" altLang="en-US" sz="2000" b="1">
                    <a:solidFill>
                      <a:schemeClr val="accent6">
                        <a:lumMod val="50000"/>
                      </a:schemeClr>
                    </a:solidFill>
                  </a:rPr>
                  <a:t>初始值：</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𝑭</m:t>
                        </m:r>
                      </m:e>
                      <m:sub>
                        <m:r>
                          <a:rPr lang="en-US" altLang="zh-CN" sz="2000" b="1" i="1" smtClean="0">
                            <a:solidFill>
                              <a:schemeClr val="accent6">
                                <a:lumMod val="50000"/>
                              </a:schemeClr>
                            </a:solidFill>
                            <a:latin typeface="Cambria Math" panose="02040503050406030204" pitchFamily="18" charset="0"/>
                          </a:rPr>
                          <m:t>𝟎</m:t>
                        </m:r>
                      </m:sub>
                    </m:sSub>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𝟎</m:t>
                    </m:r>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𝑭</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𝟏</m:t>
                    </m:r>
                  </m:oMath>
                </a14:m>
                <a:endParaRPr lang="en-US" altLang="zh-CN" sz="2000" b="1">
                  <a:solidFill>
                    <a:schemeClr val="accent6">
                      <a:lumMod val="50000"/>
                    </a:schemeClr>
                  </a:solidFill>
                </a:endParaRPr>
              </a:p>
            </p:txBody>
          </p:sp>
        </mc:Choice>
        <mc:Fallback xmlns="">
          <p:sp>
            <p:nvSpPr>
              <p:cNvPr id="4" name="文本框 3">
                <a:extLst>
                  <a:ext uri="{FF2B5EF4-FFF2-40B4-BE49-F238E27FC236}">
                    <a16:creationId xmlns:a16="http://schemas.microsoft.com/office/drawing/2014/main" id="{B9AFEEFC-A86C-4C9E-89BA-CD47D5D843B0}"/>
                  </a:ext>
                </a:extLst>
              </p:cNvPr>
              <p:cNvSpPr txBox="1">
                <a:spLocks noRot="1" noChangeAspect="1" noMove="1" noResize="1" noEditPoints="1" noAdjustHandles="1" noChangeArrowheads="1" noChangeShapeType="1" noTextEdit="1"/>
              </p:cNvSpPr>
              <p:nvPr/>
            </p:nvSpPr>
            <p:spPr>
              <a:xfrm>
                <a:off x="607911" y="4816646"/>
                <a:ext cx="7687473" cy="1323439"/>
              </a:xfrm>
              <a:prstGeom prst="rect">
                <a:avLst/>
              </a:prstGeom>
              <a:blipFill>
                <a:blip r:embed="rId4"/>
                <a:stretch>
                  <a:fillRect l="-872" t="-3687" b="-7373"/>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EAD438A-AE13-487B-98D8-80C031F5A5D8}"/>
              </a:ext>
            </a:extLst>
          </p:cNvPr>
          <p:cNvSpPr txBox="1"/>
          <p:nvPr/>
        </p:nvSpPr>
        <p:spPr>
          <a:xfrm>
            <a:off x="607912" y="2544215"/>
            <a:ext cx="10976173" cy="8617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一个递推关系式和它的一些</a:t>
            </a:r>
            <a:r>
              <a:rPr lang="zh-CN" altLang="en-US" sz="2000" b="1">
                <a:solidFill>
                  <a:srgbClr val="C00000"/>
                </a:solidFill>
                <a:latin typeface="等线" panose="02010600030101010101" pitchFamily="2" charset="-122"/>
                <a:ea typeface="等线" panose="02010600030101010101" pitchFamily="2" charset="-122"/>
              </a:rPr>
              <a:t>初始条件</a:t>
            </a:r>
            <a:r>
              <a:rPr lang="zh-CN" altLang="en-US" sz="2000" b="1">
                <a:solidFill>
                  <a:srgbClr val="002060"/>
                </a:solidFill>
                <a:latin typeface="楷体" panose="02010609060101010101" pitchFamily="49" charset="-122"/>
                <a:ea typeface="楷体" panose="02010609060101010101" pitchFamily="49" charset="-122"/>
              </a:rPr>
              <a:t>才能唯一确定一个序列</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递推关系式的初始条件指定序列</a:t>
            </a:r>
            <a:r>
              <a:rPr lang="zh-CN" altLang="en-US" sz="2000" b="1">
                <a:solidFill>
                  <a:srgbClr val="C00000"/>
                </a:solidFill>
              </a:rPr>
              <a:t>最初若干项</a:t>
            </a:r>
            <a:r>
              <a:rPr lang="zh-CN" altLang="en-US" sz="2000" b="1">
                <a:solidFill>
                  <a:schemeClr val="accent6">
                    <a:lumMod val="50000"/>
                  </a:schemeClr>
                </a:solidFill>
              </a:rPr>
              <a:t>的值，这些项的下标不满足递推关系式成立的条件</a:t>
            </a:r>
          </a:p>
        </p:txBody>
      </p:sp>
    </p:spTree>
    <p:extLst>
      <p:ext uri="{BB962C8B-B14F-4D97-AF65-F5344CB8AC3E}">
        <p14:creationId xmlns:p14="http://schemas.microsoft.com/office/powerpoint/2010/main" val="504161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27A8B3C-9A49-4B4F-B7D6-9E576EE8CE14}"/>
                  </a:ext>
                </a:extLst>
              </p:cNvPr>
              <p:cNvSpPr txBox="1"/>
              <p:nvPr/>
            </p:nvSpPr>
            <p:spPr>
              <a:xfrm>
                <a:off x="632624" y="1213443"/>
                <a:ext cx="7302756"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或含有连续两个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𝟏</m:t>
                    </m:r>
                  </m:oMath>
                </a14:m>
                <a:r>
                  <a:rPr lang="zh-CN" altLang="en-US" sz="2000" b="1">
                    <a:solidFill>
                      <a:srgbClr val="002060"/>
                    </a:solidFill>
                    <a:latin typeface="楷体" panose="02010609060101010101" pitchFamily="49" charset="-122"/>
                    <a:ea typeface="楷体" panose="02010609060101010101" pitchFamily="49" charset="-122"/>
                  </a:rPr>
                  <a:t>的三进制串有多少个？</a:t>
                </a:r>
              </a:p>
            </p:txBody>
          </p:sp>
        </mc:Choice>
        <mc:Fallback xmlns="">
          <p:sp>
            <p:nvSpPr>
              <p:cNvPr id="2" name="文本框 1">
                <a:extLst>
                  <a:ext uri="{FF2B5EF4-FFF2-40B4-BE49-F238E27FC236}">
                    <a16:creationId xmlns:a16="http://schemas.microsoft.com/office/drawing/2014/main" id="{E27A8B3C-9A49-4B4F-B7D6-9E576EE8CE14}"/>
                  </a:ext>
                </a:extLst>
              </p:cNvPr>
              <p:cNvSpPr txBox="1">
                <a:spLocks noRot="1" noChangeAspect="1" noMove="1" noResize="1" noEditPoints="1" noAdjustHandles="1" noChangeArrowheads="1" noChangeShapeType="1" noTextEdit="1"/>
              </p:cNvSpPr>
              <p:nvPr/>
            </p:nvSpPr>
            <p:spPr>
              <a:xfrm>
                <a:off x="632624" y="1213443"/>
                <a:ext cx="7302756" cy="400110"/>
              </a:xfrm>
              <a:prstGeom prst="rect">
                <a:avLst/>
              </a:prstGeom>
              <a:blipFill>
                <a:blip r:embed="rId2"/>
                <a:stretch>
                  <a:fillRect l="-918" t="-10606" r="-751" b="-2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E8814A4-D66D-4A83-8B6B-DA3839FC2630}"/>
                  </a:ext>
                </a:extLst>
              </p:cNvPr>
              <p:cNvSpPr txBox="1"/>
              <p:nvPr/>
            </p:nvSpPr>
            <p:spPr>
              <a:xfrm>
                <a:off x="8435174" y="1090332"/>
                <a:ext cx="2841328"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将含有连续两个</a:t>
                </a:r>
                <a:r>
                  <a:rPr lang="en-US" altLang="zh-CN" b="1">
                    <a:solidFill>
                      <a:schemeClr val="accent2">
                        <a:lumMod val="50000"/>
                      </a:schemeClr>
                    </a:solidFill>
                  </a:rPr>
                  <a:t>0</a:t>
                </a:r>
                <a:r>
                  <a:rPr lang="zh-CN" altLang="en-US" b="1">
                    <a:solidFill>
                      <a:schemeClr val="accent2">
                        <a:lumMod val="50000"/>
                      </a:schemeClr>
                    </a:solidFill>
                  </a:rPr>
                  <a:t>或含有连续两个</a:t>
                </a:r>
                <a:r>
                  <a:rPr lang="en-US" altLang="zh-CN" b="1">
                    <a:solidFill>
                      <a:schemeClr val="accent2">
                        <a:lumMod val="50000"/>
                      </a:schemeClr>
                    </a:solidFill>
                  </a:rPr>
                  <a:t>1</a:t>
                </a:r>
                <a:r>
                  <a:rPr lang="zh-CN" altLang="en-US" b="1">
                    <a:solidFill>
                      <a:schemeClr val="accent2">
                        <a:lumMod val="50000"/>
                      </a:schemeClr>
                    </a:solidFill>
                  </a:rPr>
                  <a:t>称为性质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endParaRPr lang="zh-CN" altLang="en-US"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7E8814A4-D66D-4A83-8B6B-DA3839FC2630}"/>
                  </a:ext>
                </a:extLst>
              </p:cNvPr>
              <p:cNvSpPr txBox="1">
                <a:spLocks noRot="1" noChangeAspect="1" noMove="1" noResize="1" noEditPoints="1" noAdjustHandles="1" noChangeArrowheads="1" noChangeShapeType="1" noTextEdit="1"/>
              </p:cNvSpPr>
              <p:nvPr/>
            </p:nvSpPr>
            <p:spPr>
              <a:xfrm>
                <a:off x="8435174" y="1090332"/>
                <a:ext cx="2841328" cy="646331"/>
              </a:xfrm>
              <a:prstGeom prst="rect">
                <a:avLst/>
              </a:prstGeom>
              <a:blipFill>
                <a:blip r:embed="rId3"/>
                <a:stretch>
                  <a:fillRect l="-1931" t="-5660" r="-1717"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B773F71-5DCA-4D2F-8945-4676A139BD1F}"/>
                  </a:ext>
                </a:extLst>
              </p:cNvPr>
              <p:cNvSpPr txBox="1"/>
              <p:nvPr/>
            </p:nvSpPr>
            <p:spPr>
              <a:xfrm>
                <a:off x="632623" y="1799974"/>
                <a:ext cx="10643879" cy="735714"/>
              </a:xfrm>
              <a:prstGeom prst="rect">
                <a:avLst/>
              </a:prstGeom>
              <a:solidFill>
                <a:schemeClr val="accent5">
                  <a:lumMod val="20000"/>
                  <a:lumOff val="80000"/>
                  <a:alpha val="50000"/>
                </a:schemeClr>
              </a:solidFill>
            </p:spPr>
            <p:txBody>
              <a:bodyPr wrap="square" rtlCol="0">
                <a:spAutoFit/>
              </a:bodyPr>
              <a:lstStyle/>
              <a:p>
                <a:pPr>
                  <a:spcBef>
                    <a:spcPts val="600"/>
                  </a:spcBef>
                </a:pP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开头的三进制串个数</a:t>
                </a:r>
                <a:endParaRPr lang="en-US" altLang="zh-CN" b="1">
                  <a:solidFill>
                    <a:schemeClr val="accent6">
                      <a:lumMod val="50000"/>
                    </a:schemeClr>
                  </a:solidFill>
                </a:endParaRPr>
              </a:p>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开头的三进制串个数</a:t>
                </a:r>
              </a:p>
            </p:txBody>
          </p:sp>
        </mc:Choice>
        <mc:Fallback xmlns="">
          <p:sp>
            <p:nvSpPr>
              <p:cNvPr id="12" name="文本框 11">
                <a:extLst>
                  <a:ext uri="{FF2B5EF4-FFF2-40B4-BE49-F238E27FC236}">
                    <a16:creationId xmlns:a16="http://schemas.microsoft.com/office/drawing/2014/main" id="{5B773F71-5DCA-4D2F-8945-4676A139BD1F}"/>
                  </a:ext>
                </a:extLst>
              </p:cNvPr>
              <p:cNvSpPr txBox="1">
                <a:spLocks noRot="1" noChangeAspect="1" noMove="1" noResize="1" noEditPoints="1" noAdjustHandles="1" noChangeArrowheads="1" noChangeShapeType="1" noTextEdit="1"/>
              </p:cNvSpPr>
              <p:nvPr/>
            </p:nvSpPr>
            <p:spPr>
              <a:xfrm>
                <a:off x="632623" y="1799974"/>
                <a:ext cx="10643879" cy="735714"/>
              </a:xfrm>
              <a:prstGeom prst="rect">
                <a:avLst/>
              </a:prstGeom>
              <a:blipFill>
                <a:blip r:embed="rId4"/>
                <a:stretch>
                  <a:fillRect t="-3306" b="-12397"/>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EC051C7E-50D7-4F0F-B066-B815EBE10939}"/>
              </a:ext>
            </a:extLst>
          </p:cNvPr>
          <p:cNvSpPr/>
          <p:nvPr/>
        </p:nvSpPr>
        <p:spPr>
          <a:xfrm>
            <a:off x="632623" y="2606759"/>
            <a:ext cx="10926751" cy="288115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50000"/>
                </a:schemeClr>
              </a:solidFill>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44CE8DA-479C-40A2-944E-652823655326}"/>
                  </a:ext>
                </a:extLst>
              </p:cNvPr>
              <p:cNvSpPr txBox="1"/>
              <p:nvPr/>
            </p:nvSpPr>
            <p:spPr>
              <a:xfrm>
                <a:off x="692541" y="3862704"/>
                <a:ext cx="7361249"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0"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𝟎</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a:solidFill>
                          <a:schemeClr val="accent6">
                            <a:lumMod val="50000"/>
                          </a:schemeClr>
                        </a:solidFill>
                        <a:latin typeface="Cambria Math" panose="02040503050406030204" pitchFamily="18" charset="0"/>
                      </a:rPr>
                      <m:t>𝒏</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𝟎</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𝟏</m:t>
                    </m:r>
                    <m:r>
                      <a:rPr lang="en-US" altLang="zh-CN" b="1" i="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a:solidFill>
                          <a:schemeClr val="accent6">
                            <a:lumMod val="50000"/>
                          </a:schemeClr>
                        </a:solidFill>
                        <a:latin typeface="Cambria Math" panose="02040503050406030204" pitchFamily="18" charset="0"/>
                      </a:rPr>
                      <m:t>𝒏</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𝟏𝟏</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的</a:t>
                </a:r>
                <a:r>
                  <a:rPr lang="zh-CN" altLang="en-US" b="1">
                    <a:solidFill>
                      <a:srgbClr val="C00000"/>
                    </a:solidFill>
                  </a:rPr>
                  <a:t>任意三进制串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xmlns="">
          <p:sp>
            <p:nvSpPr>
              <p:cNvPr id="14" name="文本框 13">
                <a:extLst>
                  <a:ext uri="{FF2B5EF4-FFF2-40B4-BE49-F238E27FC236}">
                    <a16:creationId xmlns:a16="http://schemas.microsoft.com/office/drawing/2014/main" id="{044CE8DA-479C-40A2-944E-652823655326}"/>
                  </a:ext>
                </a:extLst>
              </p:cNvPr>
              <p:cNvSpPr txBox="1">
                <a:spLocks noRot="1" noChangeAspect="1" noMove="1" noResize="1" noEditPoints="1" noAdjustHandles="1" noChangeArrowheads="1" noChangeShapeType="1" noTextEdit="1"/>
              </p:cNvSpPr>
              <p:nvPr/>
            </p:nvSpPr>
            <p:spPr>
              <a:xfrm>
                <a:off x="692541" y="3862704"/>
                <a:ext cx="7361249" cy="1077218"/>
              </a:xfrm>
              <a:prstGeom prst="rect">
                <a:avLst/>
              </a:prstGeom>
              <a:blipFill>
                <a:blip r:embed="rId5"/>
                <a:stretch>
                  <a:fillRect l="-746" t="-3409" r="-414" b="-852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F45B1C9-AF54-45A6-8D1A-F101BAB65790}"/>
                  </a:ext>
                </a:extLst>
              </p:cNvPr>
              <p:cNvSpPr txBox="1"/>
              <p:nvPr/>
            </p:nvSpPr>
            <p:spPr>
              <a:xfrm>
                <a:off x="692541" y="2653025"/>
                <a:ext cx="7410587"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𝟎𝟏</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𝟎</m:t>
                    </m:r>
                    <m:r>
                      <a:rPr lang="en-US" altLang="zh-CN" b="1" i="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a:solidFill>
                          <a:schemeClr val="accent6">
                            <a:lumMod val="50000"/>
                          </a:schemeClr>
                        </a:solidFill>
                        <a:latin typeface="Cambria Math" panose="02040503050406030204" pitchFamily="18" charset="0"/>
                      </a:rPr>
                      <m:t>𝒏</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𝟎𝟎</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的</a:t>
                </a:r>
                <a:r>
                  <a:rPr lang="zh-CN" altLang="en-US" b="1">
                    <a:solidFill>
                      <a:srgbClr val="C00000"/>
                    </a:solidFill>
                  </a:rPr>
                  <a:t>任意三进制串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xmlns="">
          <p:sp>
            <p:nvSpPr>
              <p:cNvPr id="15" name="文本框 14">
                <a:extLst>
                  <a:ext uri="{FF2B5EF4-FFF2-40B4-BE49-F238E27FC236}">
                    <a16:creationId xmlns:a16="http://schemas.microsoft.com/office/drawing/2014/main" id="{EF45B1C9-AF54-45A6-8D1A-F101BAB65790}"/>
                  </a:ext>
                </a:extLst>
              </p:cNvPr>
              <p:cNvSpPr txBox="1">
                <a:spLocks noRot="1" noChangeAspect="1" noMove="1" noResize="1" noEditPoints="1" noAdjustHandles="1" noChangeArrowheads="1" noChangeShapeType="1" noTextEdit="1"/>
              </p:cNvSpPr>
              <p:nvPr/>
            </p:nvSpPr>
            <p:spPr>
              <a:xfrm>
                <a:off x="692541" y="2653025"/>
                <a:ext cx="7410587" cy="1077218"/>
              </a:xfrm>
              <a:prstGeom prst="rect">
                <a:avLst/>
              </a:prstGeom>
              <a:blipFill>
                <a:blip r:embed="rId6"/>
                <a:stretch>
                  <a:fillRect l="-741" t="-2825" b="-791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6F8980D-4374-4176-91F3-36B50ED0DF8D}"/>
                  </a:ext>
                </a:extLst>
              </p:cNvPr>
              <p:cNvSpPr txBox="1"/>
              <p:nvPr/>
            </p:nvSpPr>
            <p:spPr>
              <a:xfrm>
                <a:off x="692541" y="5053430"/>
                <a:ext cx="7308622" cy="369332"/>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的三进制串一一对应</a:t>
                </a:r>
                <a:endParaRPr lang="en-US" altLang="zh-CN" b="1">
                  <a:solidFill>
                    <a:schemeClr val="accent6">
                      <a:lumMod val="50000"/>
                    </a:schemeClr>
                  </a:solidFill>
                </a:endParaRPr>
              </a:p>
            </p:txBody>
          </p:sp>
        </mc:Choice>
        <mc:Fallback xmlns="">
          <p:sp>
            <p:nvSpPr>
              <p:cNvPr id="16" name="文本框 15">
                <a:extLst>
                  <a:ext uri="{FF2B5EF4-FFF2-40B4-BE49-F238E27FC236}">
                    <a16:creationId xmlns:a16="http://schemas.microsoft.com/office/drawing/2014/main" id="{56F8980D-4374-4176-91F3-36B50ED0DF8D}"/>
                  </a:ext>
                </a:extLst>
              </p:cNvPr>
              <p:cNvSpPr txBox="1">
                <a:spLocks noRot="1" noChangeAspect="1" noMove="1" noResize="1" noEditPoints="1" noAdjustHandles="1" noChangeArrowheads="1" noChangeShapeType="1" noTextEdit="1"/>
              </p:cNvSpPr>
              <p:nvPr/>
            </p:nvSpPr>
            <p:spPr>
              <a:xfrm>
                <a:off x="692541" y="5053430"/>
                <a:ext cx="7308622" cy="369332"/>
              </a:xfrm>
              <a:prstGeom prst="rect">
                <a:avLst/>
              </a:prstGeom>
              <a:blipFill>
                <a:blip r:embed="rId7"/>
                <a:stretch>
                  <a:fillRect l="-751" t="-9836" r="-500" b="-245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1EAA896-8A69-4639-94FB-B71D600D8955}"/>
                  </a:ext>
                </a:extLst>
              </p:cNvPr>
              <p:cNvSpPr txBox="1"/>
              <p:nvPr/>
            </p:nvSpPr>
            <p:spPr>
              <a:xfrm>
                <a:off x="8733560" y="2997382"/>
                <a:ext cx="2782671" cy="388504"/>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𝟑</m:t>
                          </m:r>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p>
                      </m:sSup>
                    </m:oMath>
                  </m:oMathPara>
                </a14:m>
                <a:endParaRPr lang="zh-CN" altLang="en-US">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01EAA896-8A69-4639-94FB-B71D600D8955}"/>
                  </a:ext>
                </a:extLst>
              </p:cNvPr>
              <p:cNvSpPr txBox="1">
                <a:spLocks noRot="1" noChangeAspect="1" noMove="1" noResize="1" noEditPoints="1" noAdjustHandles="1" noChangeArrowheads="1" noChangeShapeType="1" noTextEdit="1"/>
              </p:cNvSpPr>
              <p:nvPr/>
            </p:nvSpPr>
            <p:spPr>
              <a:xfrm>
                <a:off x="8733560" y="2997382"/>
                <a:ext cx="2782671" cy="388504"/>
              </a:xfrm>
              <a:prstGeom prst="rect">
                <a:avLst/>
              </a:prstGeom>
              <a:blipFill>
                <a:blip r:embed="rId8"/>
                <a:stretch>
                  <a:fillRect b="-158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2C44F555-6CA1-4937-81EC-5A42181A6E03}"/>
                  </a:ext>
                </a:extLst>
              </p:cNvPr>
              <p:cNvSpPr txBox="1"/>
              <p:nvPr/>
            </p:nvSpPr>
            <p:spPr>
              <a:xfrm>
                <a:off x="8733560" y="4201266"/>
                <a:ext cx="2782671" cy="389850"/>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𝟑</m:t>
                          </m:r>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p>
                      </m:sSup>
                    </m:oMath>
                  </m:oMathPara>
                </a14:m>
                <a:endParaRPr lang="zh-CN" altLang="en-US">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2C44F555-6CA1-4937-81EC-5A42181A6E03}"/>
                  </a:ext>
                </a:extLst>
              </p:cNvPr>
              <p:cNvSpPr txBox="1">
                <a:spLocks noRot="1" noChangeAspect="1" noMove="1" noResize="1" noEditPoints="1" noAdjustHandles="1" noChangeArrowheads="1" noChangeShapeType="1" noTextEdit="1"/>
              </p:cNvSpPr>
              <p:nvPr/>
            </p:nvSpPr>
            <p:spPr>
              <a:xfrm>
                <a:off x="8733560" y="4201266"/>
                <a:ext cx="2782671" cy="389850"/>
              </a:xfrm>
              <a:prstGeom prst="rect">
                <a:avLst/>
              </a:prstGeom>
              <a:blipFill>
                <a:blip r:embed="rId9"/>
                <a:stretch>
                  <a:fillRect b="-156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37C4CC6-EA3A-46D0-98E7-06FD72BA5274}"/>
                  </a:ext>
                </a:extLst>
              </p:cNvPr>
              <p:cNvSpPr txBox="1"/>
              <p:nvPr/>
            </p:nvSpPr>
            <p:spPr>
              <a:xfrm>
                <a:off x="8733559" y="5039565"/>
                <a:ext cx="2703729" cy="375552"/>
              </a:xfrm>
              <a:prstGeom prst="rect">
                <a:avLst/>
              </a:prstGeom>
              <a:solidFill>
                <a:schemeClr val="accent4">
                  <a:lumMod val="20000"/>
                  <a:lumOff val="80000"/>
                </a:schemeClr>
              </a:solidFill>
              <a:ln>
                <a:noFill/>
              </a:ln>
            </p:spPr>
            <p:txBody>
              <a:bodyPr wrap="square" rtlCol="0">
                <a:spAutoFit/>
              </a:bodyPr>
              <a:lstStyle/>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oMath>
                </a14:m>
                <a:r>
                  <a:rPr lang="zh-CN" altLang="en-US">
                    <a:solidFill>
                      <a:schemeClr val="accent2">
                        <a:lumMod val="50000"/>
                      </a:schemeClr>
                    </a:solidFill>
                  </a:rPr>
                  <a:t> </a:t>
                </a:r>
              </a:p>
            </p:txBody>
          </p:sp>
        </mc:Choice>
        <mc:Fallback xmlns="">
          <p:sp>
            <p:nvSpPr>
              <p:cNvPr id="20" name="文本框 19">
                <a:extLst>
                  <a:ext uri="{FF2B5EF4-FFF2-40B4-BE49-F238E27FC236}">
                    <a16:creationId xmlns:a16="http://schemas.microsoft.com/office/drawing/2014/main" id="{A37C4CC6-EA3A-46D0-98E7-06FD72BA5274}"/>
                  </a:ext>
                </a:extLst>
              </p:cNvPr>
              <p:cNvSpPr txBox="1">
                <a:spLocks noRot="1" noChangeAspect="1" noMove="1" noResize="1" noEditPoints="1" noAdjustHandles="1" noChangeArrowheads="1" noChangeShapeType="1" noTextEdit="1"/>
              </p:cNvSpPr>
              <p:nvPr/>
            </p:nvSpPr>
            <p:spPr>
              <a:xfrm>
                <a:off x="8733559" y="5039565"/>
                <a:ext cx="2703729" cy="375552"/>
              </a:xfrm>
              <a:prstGeom prst="rect">
                <a:avLst/>
              </a:prstGeom>
              <a:blipFill>
                <a:blip r:embed="rId10"/>
                <a:stretch>
                  <a:fillRect/>
                </a:stretch>
              </a:blipFill>
              <a:ln>
                <a:noFill/>
              </a:ln>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10330AD7-94AD-4D11-95AB-506F9CE5AD8F}"/>
              </a:ext>
            </a:extLst>
          </p:cNvPr>
          <p:cNvSpPr/>
          <p:nvPr/>
        </p:nvSpPr>
        <p:spPr>
          <a:xfrm>
            <a:off x="8103128" y="3185056"/>
            <a:ext cx="630432"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BC493567-61A5-42B7-B253-3A37C1F3C514}"/>
              </a:ext>
            </a:extLst>
          </p:cNvPr>
          <p:cNvSpPr/>
          <p:nvPr/>
        </p:nvSpPr>
        <p:spPr>
          <a:xfrm>
            <a:off x="8053790" y="4396191"/>
            <a:ext cx="679770"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E761C0CA-8E86-4A7F-9C3E-EB513D2A2351}"/>
              </a:ext>
            </a:extLst>
          </p:cNvPr>
          <p:cNvSpPr/>
          <p:nvPr/>
        </p:nvSpPr>
        <p:spPr>
          <a:xfrm>
            <a:off x="8001163" y="5234490"/>
            <a:ext cx="732397"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CEBAF86-BBE6-4066-9EED-96AC33521862}"/>
                  </a:ext>
                </a:extLst>
              </p:cNvPr>
              <p:cNvSpPr txBox="1"/>
              <p:nvPr/>
            </p:nvSpPr>
            <p:spPr>
              <a:xfrm>
                <a:off x="632623" y="5632296"/>
                <a:ext cx="7308623" cy="686022"/>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Sub>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𝟎</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𝟎</m:t>
                          </m:r>
                        </m:sup>
                      </m:sSubSup>
                      <m:r>
                        <a:rPr lang="en-US" altLang="zh-CN" b="1" i="1">
                          <a:solidFill>
                            <a:schemeClr val="accent2">
                              <a:lumMod val="50000"/>
                            </a:schemeClr>
                          </a:solidFill>
                          <a:latin typeface="Cambria Math" panose="02040503050406030204" pitchFamily="18" charset="0"/>
                        </a:rPr>
                        <m:t>+</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p>
                      </m:sSup>
                    </m:oMath>
                  </m:oMathPara>
                </a14:m>
                <a:endParaRPr lang="en-US" altLang="zh-CN" b="1">
                  <a:solidFill>
                    <a:schemeClr val="accent2">
                      <a:lumMod val="50000"/>
                    </a:schemeClr>
                  </a:solidFill>
                </a:endParaRPr>
              </a:p>
              <a:p>
                <a:pP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p>
                      </m:sSup>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𝟐</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p>
                      </m:sSup>
                      <m:r>
                        <a:rPr lang="en-US" altLang="zh-CN" b="1" i="1">
                          <a:solidFill>
                            <a:schemeClr val="accent2">
                              <a:lumMod val="50000"/>
                            </a:schemeClr>
                          </a:solidFill>
                          <a:latin typeface="Cambria Math" panose="02040503050406030204" pitchFamily="18" charset="0"/>
                        </a:rPr>
                        <m:t> </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e>
                      </m:d>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24" name="文本框 23">
                <a:extLst>
                  <a:ext uri="{FF2B5EF4-FFF2-40B4-BE49-F238E27FC236}">
                    <a16:creationId xmlns:a16="http://schemas.microsoft.com/office/drawing/2014/main" id="{CCEBAF86-BBE6-4066-9EED-96AC33521862}"/>
                  </a:ext>
                </a:extLst>
              </p:cNvPr>
              <p:cNvSpPr txBox="1">
                <a:spLocks noRot="1" noChangeAspect="1" noMove="1" noResize="1" noEditPoints="1" noAdjustHandles="1" noChangeArrowheads="1" noChangeShapeType="1" noTextEdit="1"/>
              </p:cNvSpPr>
              <p:nvPr/>
            </p:nvSpPr>
            <p:spPr>
              <a:xfrm>
                <a:off x="632623" y="5632296"/>
                <a:ext cx="7308623" cy="686022"/>
              </a:xfrm>
              <a:prstGeom prst="rect">
                <a:avLst/>
              </a:prstGeom>
              <a:blipFill>
                <a:blip r:embed="rId11"/>
                <a:stretch>
                  <a:fillRect b="-8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1D8CA01-B349-44FB-9CDE-517C37874615}"/>
                  </a:ext>
                </a:extLst>
              </p:cNvPr>
              <p:cNvSpPr txBox="1"/>
              <p:nvPr/>
            </p:nvSpPr>
            <p:spPr>
              <a:xfrm>
                <a:off x="8352560" y="5637397"/>
                <a:ext cx="3206814" cy="652551"/>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𝟑</m:t>
                          </m:r>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p>
                      </m:sSup>
                    </m:oMath>
                  </m:oMathPara>
                </a14:m>
                <a:endParaRPr lang="en-US" altLang="zh-CN" b="1" i="1">
                  <a:solidFill>
                    <a:srgbClr val="C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𝟎</m:t>
                          </m:r>
                        </m:sub>
                      </m:sSub>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𝟎</m:t>
                      </m:r>
                    </m:oMath>
                  </m:oMathPara>
                </a14:m>
                <a:endParaRPr lang="zh-CN" altLang="en-US">
                  <a:solidFill>
                    <a:srgbClr val="C00000"/>
                  </a:solidFill>
                </a:endParaRPr>
              </a:p>
            </p:txBody>
          </p:sp>
        </mc:Choice>
        <mc:Fallback xmlns="">
          <p:sp>
            <p:nvSpPr>
              <p:cNvPr id="11" name="文本框 10">
                <a:extLst>
                  <a:ext uri="{FF2B5EF4-FFF2-40B4-BE49-F238E27FC236}">
                    <a16:creationId xmlns:a16="http://schemas.microsoft.com/office/drawing/2014/main" id="{31D8CA01-B349-44FB-9CDE-517C37874615}"/>
                  </a:ext>
                </a:extLst>
              </p:cNvPr>
              <p:cNvSpPr txBox="1">
                <a:spLocks noRot="1" noChangeAspect="1" noMove="1" noResize="1" noEditPoints="1" noAdjustHandles="1" noChangeArrowheads="1" noChangeShapeType="1" noTextEdit="1"/>
              </p:cNvSpPr>
              <p:nvPr/>
            </p:nvSpPr>
            <p:spPr>
              <a:xfrm>
                <a:off x="8352560" y="5637397"/>
                <a:ext cx="3206814" cy="652551"/>
              </a:xfrm>
              <a:prstGeom prst="rect">
                <a:avLst/>
              </a:prstGeom>
              <a:blipFill>
                <a:blip r:embed="rId12"/>
                <a:stretch>
                  <a:fillRect/>
                </a:stretch>
              </a:blipFill>
            </p:spPr>
            <p:txBody>
              <a:bodyPr/>
              <a:lstStyle/>
              <a:p>
                <a:r>
                  <a:rPr lang="zh-CN" altLang="en-US">
                    <a:noFill/>
                  </a:rPr>
                  <a:t> </a:t>
                </a:r>
              </a:p>
            </p:txBody>
          </p:sp>
        </mc:Fallback>
      </mc:AlternateContent>
      <p:sp>
        <p:nvSpPr>
          <p:cNvPr id="26" name="箭头: 下 25">
            <a:extLst>
              <a:ext uri="{FF2B5EF4-FFF2-40B4-BE49-F238E27FC236}">
                <a16:creationId xmlns:a16="http://schemas.microsoft.com/office/drawing/2014/main" id="{F2EE8972-7944-4A8E-86FA-B5528C0CDD1A}"/>
              </a:ext>
            </a:extLst>
          </p:cNvPr>
          <p:cNvSpPr/>
          <p:nvPr/>
        </p:nvSpPr>
        <p:spPr>
          <a:xfrm>
            <a:off x="4240884" y="5479822"/>
            <a:ext cx="92099" cy="1647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DDB67BC4-247A-47F4-A483-0A3E4BD43B04}"/>
              </a:ext>
            </a:extLst>
          </p:cNvPr>
          <p:cNvSpPr/>
          <p:nvPr/>
        </p:nvSpPr>
        <p:spPr>
          <a:xfrm>
            <a:off x="7935379" y="5963672"/>
            <a:ext cx="41718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52476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25"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11" grpId="0" animBg="1"/>
      <p:bldP spid="26" grpId="0" animBg="1"/>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递推关系式建模计数问题练习（一）</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27A8B3C-9A49-4B4F-B7D6-9E576EE8CE14}"/>
                  </a:ext>
                </a:extLst>
              </p:cNvPr>
              <p:cNvSpPr txBox="1"/>
              <p:nvPr/>
            </p:nvSpPr>
            <p:spPr>
              <a:xfrm>
                <a:off x="772032" y="1222936"/>
                <a:ext cx="8100937"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，不含有连续两个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且不含有连续两个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𝟏</m:t>
                    </m:r>
                  </m:oMath>
                </a14:m>
                <a:r>
                  <a:rPr lang="zh-CN" altLang="en-US" sz="2000" b="1">
                    <a:solidFill>
                      <a:srgbClr val="002060"/>
                    </a:solidFill>
                    <a:latin typeface="楷体" panose="02010609060101010101" pitchFamily="49" charset="-122"/>
                    <a:ea typeface="楷体" panose="02010609060101010101" pitchFamily="49" charset="-122"/>
                  </a:rPr>
                  <a:t>的三进制串有多少个？</a:t>
                </a:r>
              </a:p>
            </p:txBody>
          </p:sp>
        </mc:Choice>
        <mc:Fallback xmlns="">
          <p:sp>
            <p:nvSpPr>
              <p:cNvPr id="2" name="文本框 1">
                <a:extLst>
                  <a:ext uri="{FF2B5EF4-FFF2-40B4-BE49-F238E27FC236}">
                    <a16:creationId xmlns:a16="http://schemas.microsoft.com/office/drawing/2014/main" id="{E27A8B3C-9A49-4B4F-B7D6-9E576EE8CE14}"/>
                  </a:ext>
                </a:extLst>
              </p:cNvPr>
              <p:cNvSpPr txBox="1">
                <a:spLocks noRot="1" noChangeAspect="1" noMove="1" noResize="1" noEditPoints="1" noAdjustHandles="1" noChangeArrowheads="1" noChangeShapeType="1" noTextEdit="1"/>
              </p:cNvSpPr>
              <p:nvPr/>
            </p:nvSpPr>
            <p:spPr>
              <a:xfrm>
                <a:off x="772032" y="1222936"/>
                <a:ext cx="8100937" cy="400110"/>
              </a:xfrm>
              <a:prstGeom prst="rect">
                <a:avLst/>
              </a:prstGeom>
              <a:blipFill>
                <a:blip r:embed="rId2"/>
                <a:stretch>
                  <a:fillRect l="-828" t="-12308" r="-301"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E8814A4-D66D-4A83-8B6B-DA3839FC2630}"/>
                  </a:ext>
                </a:extLst>
              </p:cNvPr>
              <p:cNvSpPr txBox="1"/>
              <p:nvPr/>
            </p:nvSpPr>
            <p:spPr>
              <a:xfrm>
                <a:off x="8932741" y="1086277"/>
                <a:ext cx="2841328"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将不含有连续两个</a:t>
                </a:r>
                <a:r>
                  <a:rPr lang="en-US" altLang="zh-CN" b="1">
                    <a:solidFill>
                      <a:schemeClr val="accent2">
                        <a:lumMod val="50000"/>
                      </a:schemeClr>
                    </a:solidFill>
                  </a:rPr>
                  <a:t>0</a:t>
                </a:r>
                <a:r>
                  <a:rPr lang="zh-CN" altLang="en-US" b="1">
                    <a:solidFill>
                      <a:schemeClr val="accent2">
                        <a:lumMod val="50000"/>
                      </a:schemeClr>
                    </a:solidFill>
                  </a:rPr>
                  <a:t>且不含有连续两个</a:t>
                </a:r>
                <a:r>
                  <a:rPr lang="en-US" altLang="zh-CN" b="1">
                    <a:solidFill>
                      <a:schemeClr val="accent2">
                        <a:lumMod val="50000"/>
                      </a:schemeClr>
                    </a:solidFill>
                  </a:rPr>
                  <a:t>1</a:t>
                </a:r>
                <a:r>
                  <a:rPr lang="zh-CN" altLang="en-US" b="1">
                    <a:solidFill>
                      <a:schemeClr val="accent2">
                        <a:lumMod val="50000"/>
                      </a:schemeClr>
                    </a:solidFill>
                  </a:rPr>
                  <a:t>称为性质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endParaRPr lang="zh-CN" altLang="en-US"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7E8814A4-D66D-4A83-8B6B-DA3839FC2630}"/>
                  </a:ext>
                </a:extLst>
              </p:cNvPr>
              <p:cNvSpPr txBox="1">
                <a:spLocks noRot="1" noChangeAspect="1" noMove="1" noResize="1" noEditPoints="1" noAdjustHandles="1" noChangeArrowheads="1" noChangeShapeType="1" noTextEdit="1"/>
              </p:cNvSpPr>
              <p:nvPr/>
            </p:nvSpPr>
            <p:spPr>
              <a:xfrm>
                <a:off x="8932741" y="1086277"/>
                <a:ext cx="2841328" cy="646331"/>
              </a:xfrm>
              <a:prstGeom prst="rect">
                <a:avLst/>
              </a:prstGeom>
              <a:blipFill>
                <a:blip r:embed="rId3"/>
                <a:stretch>
                  <a:fillRect l="-1717" t="-4717" r="-1931"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B773F71-5DCA-4D2F-8945-4676A139BD1F}"/>
                  </a:ext>
                </a:extLst>
              </p:cNvPr>
              <p:cNvSpPr txBox="1"/>
              <p:nvPr/>
            </p:nvSpPr>
            <p:spPr>
              <a:xfrm>
                <a:off x="772032" y="1801227"/>
                <a:ext cx="10643879" cy="735714"/>
              </a:xfrm>
              <a:prstGeom prst="rect">
                <a:avLst/>
              </a:prstGeom>
              <a:solidFill>
                <a:schemeClr val="accent5">
                  <a:lumMod val="20000"/>
                  <a:lumOff val="80000"/>
                  <a:alpha val="50000"/>
                </a:schemeClr>
              </a:solidFill>
            </p:spPr>
            <p:txBody>
              <a:bodyPr wrap="square" rtlCol="0">
                <a:spAutoFit/>
              </a:bodyPr>
              <a:lstStyle/>
              <a:p>
                <a:pPr>
                  <a:spcBef>
                    <a:spcPts val="600"/>
                  </a:spcBef>
                </a:pP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开头的三进制串个数</a:t>
                </a:r>
                <a:endParaRPr lang="en-US" altLang="zh-CN" b="1">
                  <a:solidFill>
                    <a:schemeClr val="accent6">
                      <a:lumMod val="50000"/>
                    </a:schemeClr>
                  </a:solidFill>
                </a:endParaRPr>
              </a:p>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开头的三进制串个数</a:t>
                </a:r>
              </a:p>
            </p:txBody>
          </p:sp>
        </mc:Choice>
        <mc:Fallback xmlns="">
          <p:sp>
            <p:nvSpPr>
              <p:cNvPr id="12" name="文本框 11">
                <a:extLst>
                  <a:ext uri="{FF2B5EF4-FFF2-40B4-BE49-F238E27FC236}">
                    <a16:creationId xmlns:a16="http://schemas.microsoft.com/office/drawing/2014/main" id="{5B773F71-5DCA-4D2F-8945-4676A139BD1F}"/>
                  </a:ext>
                </a:extLst>
              </p:cNvPr>
              <p:cNvSpPr txBox="1">
                <a:spLocks noRot="1" noChangeAspect="1" noMove="1" noResize="1" noEditPoints="1" noAdjustHandles="1" noChangeArrowheads="1" noChangeShapeType="1" noTextEdit="1"/>
              </p:cNvSpPr>
              <p:nvPr/>
            </p:nvSpPr>
            <p:spPr>
              <a:xfrm>
                <a:off x="772032" y="1801227"/>
                <a:ext cx="10643879" cy="735714"/>
              </a:xfrm>
              <a:prstGeom prst="rect">
                <a:avLst/>
              </a:prstGeom>
              <a:blipFill>
                <a:blip r:embed="rId4"/>
                <a:stretch>
                  <a:fillRect t="-3306" b="-12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1D8CA01-B349-44FB-9CDE-517C37874615}"/>
                  </a:ext>
                </a:extLst>
              </p:cNvPr>
              <p:cNvSpPr txBox="1"/>
              <p:nvPr/>
            </p:nvSpPr>
            <p:spPr>
              <a:xfrm>
                <a:off x="7785745" y="5616069"/>
                <a:ext cx="3206814" cy="806439"/>
              </a:xfrm>
              <a:prstGeom prst="rect">
                <a:avLst/>
              </a:prstGeom>
              <a:solidFill>
                <a:schemeClr val="accent2">
                  <a:lumMod val="20000"/>
                  <a:lumOff val="80000"/>
                </a:schemeClr>
              </a:solidFill>
            </p:spPr>
            <p:txBody>
              <a:bodyPr wrap="square" rtlCol="0">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𝟑</m:t>
                          </m:r>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p>
                      </m:sSup>
                    </m:oMath>
                  </m:oMathPara>
                </a14:m>
                <a:endParaRPr lang="en-US" altLang="zh-CN" b="1" i="1">
                  <a:solidFill>
                    <a:srgbClr val="C0000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𝟎</m:t>
                          </m:r>
                        </m:sub>
                      </m:sSub>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oMath>
                  </m:oMathPara>
                </a14:m>
                <a:endParaRPr lang="zh-CN" altLang="en-US">
                  <a:solidFill>
                    <a:srgbClr val="C00000"/>
                  </a:solidFill>
                </a:endParaRPr>
              </a:p>
            </p:txBody>
          </p:sp>
        </mc:Choice>
        <mc:Fallback xmlns="">
          <p:sp>
            <p:nvSpPr>
              <p:cNvPr id="11" name="文本框 10">
                <a:extLst>
                  <a:ext uri="{FF2B5EF4-FFF2-40B4-BE49-F238E27FC236}">
                    <a16:creationId xmlns:a16="http://schemas.microsoft.com/office/drawing/2014/main" id="{31D8CA01-B349-44FB-9CDE-517C37874615}"/>
                  </a:ext>
                </a:extLst>
              </p:cNvPr>
              <p:cNvSpPr txBox="1">
                <a:spLocks noRot="1" noChangeAspect="1" noMove="1" noResize="1" noEditPoints="1" noAdjustHandles="1" noChangeArrowheads="1" noChangeShapeType="1" noTextEdit="1"/>
              </p:cNvSpPr>
              <p:nvPr/>
            </p:nvSpPr>
            <p:spPr>
              <a:xfrm>
                <a:off x="7785745" y="5616069"/>
                <a:ext cx="3206814" cy="806439"/>
              </a:xfrm>
              <a:prstGeom prst="rect">
                <a:avLst/>
              </a:prstGeom>
              <a:blipFill>
                <a:blip r:embed="rId5"/>
                <a:stretch>
                  <a:fillRect/>
                </a:stretch>
              </a:blipFill>
            </p:spPr>
            <p:txBody>
              <a:bodyPr/>
              <a:lstStyle/>
              <a:p>
                <a:r>
                  <a:rPr lang="zh-CN" altLang="en-US">
                    <a:noFill/>
                  </a:rPr>
                  <a:t> </a:t>
                </a:r>
              </a:p>
            </p:txBody>
          </p:sp>
        </mc:Fallback>
      </mc:AlternateContent>
      <p:grpSp>
        <p:nvGrpSpPr>
          <p:cNvPr id="39" name="组合 38">
            <a:extLst>
              <a:ext uri="{FF2B5EF4-FFF2-40B4-BE49-F238E27FC236}">
                <a16:creationId xmlns:a16="http://schemas.microsoft.com/office/drawing/2014/main" id="{0B97D6B9-1E33-4CF1-94ED-5B9F04799B5E}"/>
              </a:ext>
            </a:extLst>
          </p:cNvPr>
          <p:cNvGrpSpPr/>
          <p:nvPr/>
        </p:nvGrpSpPr>
        <p:grpSpPr>
          <a:xfrm>
            <a:off x="911443" y="2619006"/>
            <a:ext cx="10365059" cy="2881154"/>
            <a:chOff x="911443" y="2619006"/>
            <a:chExt cx="10365059" cy="2881154"/>
          </a:xfrm>
        </p:grpSpPr>
        <p:grpSp>
          <p:nvGrpSpPr>
            <p:cNvPr id="28" name="组合 27">
              <a:extLst>
                <a:ext uri="{FF2B5EF4-FFF2-40B4-BE49-F238E27FC236}">
                  <a16:creationId xmlns:a16="http://schemas.microsoft.com/office/drawing/2014/main" id="{3A340BB9-2B94-44A0-9817-0698E794DEF7}"/>
                </a:ext>
              </a:extLst>
            </p:cNvPr>
            <p:cNvGrpSpPr/>
            <p:nvPr/>
          </p:nvGrpSpPr>
          <p:grpSpPr>
            <a:xfrm>
              <a:off x="911443" y="2619006"/>
              <a:ext cx="10365059" cy="2881154"/>
              <a:chOff x="532852" y="2598668"/>
              <a:chExt cx="10365059" cy="2881154"/>
            </a:xfrm>
          </p:grpSpPr>
          <p:sp>
            <p:nvSpPr>
              <p:cNvPr id="25" name="矩形 24">
                <a:extLst>
                  <a:ext uri="{FF2B5EF4-FFF2-40B4-BE49-F238E27FC236}">
                    <a16:creationId xmlns:a16="http://schemas.microsoft.com/office/drawing/2014/main" id="{EC051C7E-50D7-4F0F-B066-B815EBE10939}"/>
                  </a:ext>
                </a:extLst>
              </p:cNvPr>
              <p:cNvSpPr/>
              <p:nvPr/>
            </p:nvSpPr>
            <p:spPr>
              <a:xfrm>
                <a:off x="532852" y="2598668"/>
                <a:ext cx="10365059" cy="288115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83E672BC-4D34-4DFD-97A9-2515DB031134}"/>
                  </a:ext>
                </a:extLst>
              </p:cNvPr>
              <p:cNvGrpSpPr/>
              <p:nvPr/>
            </p:nvGrpSpPr>
            <p:grpSpPr>
              <a:xfrm>
                <a:off x="592770" y="2644934"/>
                <a:ext cx="10186954" cy="2769737"/>
                <a:chOff x="684155" y="2219321"/>
                <a:chExt cx="10186954" cy="2769737"/>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44CE8DA-479C-40A2-944E-652823655326}"/>
                        </a:ext>
                      </a:extLst>
                    </p:cNvPr>
                    <p:cNvSpPr txBox="1"/>
                    <p:nvPr/>
                  </p:nvSpPr>
                  <p:spPr>
                    <a:xfrm>
                      <a:off x="684155" y="3429000"/>
                      <a:ext cx="7361249"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0" smtClean="0">
                              <a:solidFill>
                                <a:schemeClr val="accent6">
                                  <a:lumMod val="50000"/>
                                </a:schemeClr>
                              </a:solidFill>
                              <a:latin typeface="Cambria Math" panose="02040503050406030204" pitchFamily="18" charset="0"/>
                            </a:rPr>
                            <m:t>𝟏</m:t>
                          </m:r>
                          <m:r>
                            <a:rPr lang="en-US" altLang="zh-CN" b="1" i="1" smtClean="0">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𝟎</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rgbClr val="0000FF"/>
                          </a:solidFill>
                        </a:rPr>
                        <a:t>不难包含以</a:t>
                      </a:r>
                      <a14:m>
                        <m:oMath xmlns:m="http://schemas.openxmlformats.org/officeDocument/2006/math">
                          <m:r>
                            <a:rPr lang="en-US" altLang="zh-CN" b="1">
                              <a:solidFill>
                                <a:srgbClr val="0000FF"/>
                              </a:solidFill>
                              <a:latin typeface="Cambria Math" panose="02040503050406030204" pitchFamily="18" charset="0"/>
                            </a:rPr>
                            <m:t>𝟏𝟏</m:t>
                          </m:r>
                        </m:oMath>
                      </a14:m>
                      <a:r>
                        <a:rPr lang="zh-CN" altLang="en-US" b="1">
                          <a:solidFill>
                            <a:srgbClr val="0000FF"/>
                          </a:solidFill>
                        </a:rPr>
                        <a:t>开头的串</a:t>
                      </a:r>
                      <a:endParaRPr lang="en-US" altLang="zh-CN" b="1">
                        <a:solidFill>
                          <a:srgbClr val="0000FF"/>
                        </a:solidFill>
                      </a:endParaRPr>
                    </a:p>
                  </p:txBody>
                </p:sp>
              </mc:Choice>
              <mc:Fallback xmlns="">
                <p:sp>
                  <p:nvSpPr>
                    <p:cNvPr id="14" name="文本框 13">
                      <a:extLst>
                        <a:ext uri="{FF2B5EF4-FFF2-40B4-BE49-F238E27FC236}">
                          <a16:creationId xmlns:a16="http://schemas.microsoft.com/office/drawing/2014/main" id="{044CE8DA-479C-40A2-944E-652823655326}"/>
                        </a:ext>
                      </a:extLst>
                    </p:cNvPr>
                    <p:cNvSpPr txBox="1">
                      <a:spLocks noRot="1" noChangeAspect="1" noMove="1" noResize="1" noEditPoints="1" noAdjustHandles="1" noChangeArrowheads="1" noChangeShapeType="1" noTextEdit="1"/>
                    </p:cNvSpPr>
                    <p:nvPr/>
                  </p:nvSpPr>
                  <p:spPr>
                    <a:xfrm>
                      <a:off x="684155" y="3429000"/>
                      <a:ext cx="7361249" cy="1077218"/>
                    </a:xfrm>
                    <a:prstGeom prst="rect">
                      <a:avLst/>
                    </a:prstGeom>
                    <a:blipFill>
                      <a:blip r:embed="rId6"/>
                      <a:stretch>
                        <a:fillRect l="-662" t="-3409" r="-414" b="-852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F45B1C9-AF54-45A6-8D1A-F101BAB65790}"/>
                        </a:ext>
                      </a:extLst>
                    </p:cNvPr>
                    <p:cNvSpPr txBox="1"/>
                    <p:nvPr/>
                  </p:nvSpPr>
                  <p:spPr>
                    <a:xfrm>
                      <a:off x="684155" y="2219321"/>
                      <a:ext cx="7410587"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𝟎𝟏</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m:t>
                          </m:r>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rgbClr val="0000FF"/>
                          </a:solidFill>
                        </a:rPr>
                        <a:t>不能包含以</a:t>
                      </a:r>
                      <a14:m>
                        <m:oMath xmlns:m="http://schemas.openxmlformats.org/officeDocument/2006/math">
                          <m:r>
                            <a:rPr lang="en-US" altLang="zh-CN" b="1" i="1" smtClean="0">
                              <a:solidFill>
                                <a:srgbClr val="0000FF"/>
                              </a:solidFill>
                              <a:latin typeface="Cambria Math" panose="02040503050406030204" pitchFamily="18" charset="0"/>
                            </a:rPr>
                            <m:t>𝟎</m:t>
                          </m:r>
                          <m:r>
                            <a:rPr lang="en-US" altLang="zh-CN" b="1" i="1">
                              <a:solidFill>
                                <a:srgbClr val="0000FF"/>
                              </a:solidFill>
                              <a:latin typeface="Cambria Math" panose="02040503050406030204" pitchFamily="18" charset="0"/>
                            </a:rPr>
                            <m:t>𝟎</m:t>
                          </m:r>
                        </m:oMath>
                      </a14:m>
                      <a:r>
                        <a:rPr lang="zh-CN" altLang="en-US" b="1">
                          <a:solidFill>
                            <a:srgbClr val="0000FF"/>
                          </a:solidFill>
                        </a:rPr>
                        <a:t>开头的串</a:t>
                      </a:r>
                      <a:endParaRPr lang="en-US" altLang="zh-CN" b="1">
                        <a:solidFill>
                          <a:srgbClr val="0000FF"/>
                        </a:solidFill>
                      </a:endParaRPr>
                    </a:p>
                  </p:txBody>
                </p:sp>
              </mc:Choice>
              <mc:Fallback xmlns="">
                <p:sp>
                  <p:nvSpPr>
                    <p:cNvPr id="15" name="文本框 14">
                      <a:extLst>
                        <a:ext uri="{FF2B5EF4-FFF2-40B4-BE49-F238E27FC236}">
                          <a16:creationId xmlns:a16="http://schemas.microsoft.com/office/drawing/2014/main" id="{EF45B1C9-AF54-45A6-8D1A-F101BAB65790}"/>
                        </a:ext>
                      </a:extLst>
                    </p:cNvPr>
                    <p:cNvSpPr txBox="1">
                      <a:spLocks noRot="1" noChangeAspect="1" noMove="1" noResize="1" noEditPoints="1" noAdjustHandles="1" noChangeArrowheads="1" noChangeShapeType="1" noTextEdit="1"/>
                    </p:cNvSpPr>
                    <p:nvPr/>
                  </p:nvSpPr>
                  <p:spPr>
                    <a:xfrm>
                      <a:off x="684155" y="2219321"/>
                      <a:ext cx="7410587" cy="1077218"/>
                    </a:xfrm>
                    <a:prstGeom prst="rect">
                      <a:avLst/>
                    </a:prstGeom>
                    <a:blipFill>
                      <a:blip r:embed="rId7"/>
                      <a:stretch>
                        <a:fillRect l="-658" t="-2825" b="-791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6F8980D-4374-4176-91F3-36B50ED0DF8D}"/>
                        </a:ext>
                      </a:extLst>
                    </p:cNvPr>
                    <p:cNvSpPr txBox="1"/>
                    <p:nvPr/>
                  </p:nvSpPr>
                  <p:spPr>
                    <a:xfrm>
                      <a:off x="684155" y="4619726"/>
                      <a:ext cx="7308622" cy="369332"/>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a:t>
                      </a:r>
                      <a:r>
                        <a:rPr lang="zh-CN" altLang="en-US" b="1">
                          <a:solidFill>
                            <a:srgbClr val="C00000"/>
                          </a:solidFill>
                        </a:rPr>
                        <a:t>长度为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的三进制串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xmlns="">
                <p:sp>
                  <p:nvSpPr>
                    <p:cNvPr id="16" name="文本框 15">
                      <a:extLst>
                        <a:ext uri="{FF2B5EF4-FFF2-40B4-BE49-F238E27FC236}">
                          <a16:creationId xmlns:a16="http://schemas.microsoft.com/office/drawing/2014/main" id="{56F8980D-4374-4176-91F3-36B50ED0DF8D}"/>
                        </a:ext>
                      </a:extLst>
                    </p:cNvPr>
                    <p:cNvSpPr txBox="1">
                      <a:spLocks noRot="1" noChangeAspect="1" noMove="1" noResize="1" noEditPoints="1" noAdjustHandles="1" noChangeArrowheads="1" noChangeShapeType="1" noTextEdit="1"/>
                    </p:cNvSpPr>
                    <p:nvPr/>
                  </p:nvSpPr>
                  <p:spPr>
                    <a:xfrm>
                      <a:off x="684155" y="4619726"/>
                      <a:ext cx="7308622" cy="369332"/>
                    </a:xfrm>
                    <a:prstGeom prst="rect">
                      <a:avLst/>
                    </a:prstGeom>
                    <a:blipFill>
                      <a:blip r:embed="rId8"/>
                      <a:stretch>
                        <a:fillRect l="-667" t="-9836" r="-584" b="-245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1EAA896-8A69-4639-94FB-B71D600D8955}"/>
                        </a:ext>
                      </a:extLst>
                    </p:cNvPr>
                    <p:cNvSpPr txBox="1"/>
                    <p:nvPr/>
                  </p:nvSpPr>
                  <p:spPr>
                    <a:xfrm>
                      <a:off x="8725174" y="2563678"/>
                      <a:ext cx="2033967" cy="388504"/>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oMath>
                        </m:oMathPara>
                      </a14:m>
                      <a:endParaRPr lang="zh-CN" altLang="en-US">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01EAA896-8A69-4639-94FB-B71D600D8955}"/>
                        </a:ext>
                      </a:extLst>
                    </p:cNvPr>
                    <p:cNvSpPr txBox="1">
                      <a:spLocks noRot="1" noChangeAspect="1" noMove="1" noResize="1" noEditPoints="1" noAdjustHandles="1" noChangeArrowheads="1" noChangeShapeType="1" noTextEdit="1"/>
                    </p:cNvSpPr>
                    <p:nvPr/>
                  </p:nvSpPr>
                  <p:spPr>
                    <a:xfrm>
                      <a:off x="8725174" y="2563678"/>
                      <a:ext cx="2033967" cy="388504"/>
                    </a:xfrm>
                    <a:prstGeom prst="rect">
                      <a:avLst/>
                    </a:prstGeom>
                    <a:blipFill>
                      <a:blip r:embed="rId9"/>
                      <a:stretch>
                        <a:fillRect b="-158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2C44F555-6CA1-4937-81EC-5A42181A6E03}"/>
                        </a:ext>
                      </a:extLst>
                    </p:cNvPr>
                    <p:cNvSpPr txBox="1"/>
                    <p:nvPr/>
                  </p:nvSpPr>
                  <p:spPr>
                    <a:xfrm>
                      <a:off x="8725175" y="3767562"/>
                      <a:ext cx="2145934" cy="389850"/>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oMath>
                        </m:oMathPara>
                      </a14:m>
                      <a:endParaRPr lang="zh-CN" altLang="en-US">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2C44F555-6CA1-4937-81EC-5A42181A6E03}"/>
                        </a:ext>
                      </a:extLst>
                    </p:cNvPr>
                    <p:cNvSpPr txBox="1">
                      <a:spLocks noRot="1" noChangeAspect="1" noMove="1" noResize="1" noEditPoints="1" noAdjustHandles="1" noChangeArrowheads="1" noChangeShapeType="1" noTextEdit="1"/>
                    </p:cNvSpPr>
                    <p:nvPr/>
                  </p:nvSpPr>
                  <p:spPr>
                    <a:xfrm>
                      <a:off x="8725175" y="3767562"/>
                      <a:ext cx="2145934" cy="389850"/>
                    </a:xfrm>
                    <a:prstGeom prst="rect">
                      <a:avLst/>
                    </a:prstGeom>
                    <a:blipFill>
                      <a:blip r:embed="rId10"/>
                      <a:stretch>
                        <a:fillRect b="-156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37C4CC6-EA3A-46D0-98E7-06FD72BA5274}"/>
                        </a:ext>
                      </a:extLst>
                    </p:cNvPr>
                    <p:cNvSpPr txBox="1"/>
                    <p:nvPr/>
                  </p:nvSpPr>
                  <p:spPr>
                    <a:xfrm>
                      <a:off x="8725173" y="4605861"/>
                      <a:ext cx="2145935" cy="375552"/>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oMath>
                        </m:oMathPara>
                      </a14:m>
                      <a:endParaRPr lang="zh-CN" altLang="en-US">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A37C4CC6-EA3A-46D0-98E7-06FD72BA5274}"/>
                        </a:ext>
                      </a:extLst>
                    </p:cNvPr>
                    <p:cNvSpPr txBox="1">
                      <a:spLocks noRot="1" noChangeAspect="1" noMove="1" noResize="1" noEditPoints="1" noAdjustHandles="1" noChangeArrowheads="1" noChangeShapeType="1" noTextEdit="1"/>
                    </p:cNvSpPr>
                    <p:nvPr/>
                  </p:nvSpPr>
                  <p:spPr>
                    <a:xfrm>
                      <a:off x="8725173" y="4605861"/>
                      <a:ext cx="2145935" cy="375552"/>
                    </a:xfrm>
                    <a:prstGeom prst="rect">
                      <a:avLst/>
                    </a:prstGeom>
                    <a:blipFill>
                      <a:blip r:embed="rId11"/>
                      <a:stretch>
                        <a:fillRect/>
                      </a:stretch>
                    </a:blipFill>
                    <a:ln>
                      <a:noFill/>
                    </a:ln>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10330AD7-94AD-4D11-95AB-506F9CE5AD8F}"/>
                    </a:ext>
                  </a:extLst>
                </p:cNvPr>
                <p:cNvSpPr/>
                <p:nvPr/>
              </p:nvSpPr>
              <p:spPr>
                <a:xfrm>
                  <a:off x="8094742" y="2751352"/>
                  <a:ext cx="630432"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BC493567-61A5-42B7-B253-3A37C1F3C514}"/>
                    </a:ext>
                  </a:extLst>
                </p:cNvPr>
                <p:cNvSpPr/>
                <p:nvPr/>
              </p:nvSpPr>
              <p:spPr>
                <a:xfrm>
                  <a:off x="8045404" y="3962487"/>
                  <a:ext cx="679770"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E761C0CA-8E86-4A7F-9C3E-EB513D2A2351}"/>
                    </a:ext>
                  </a:extLst>
                </p:cNvPr>
                <p:cNvSpPr/>
                <p:nvPr/>
              </p:nvSpPr>
              <p:spPr>
                <a:xfrm>
                  <a:off x="7992777" y="4800786"/>
                  <a:ext cx="732397"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30" name="直接连接符 29">
              <a:extLst>
                <a:ext uri="{FF2B5EF4-FFF2-40B4-BE49-F238E27FC236}">
                  <a16:creationId xmlns:a16="http://schemas.microsoft.com/office/drawing/2014/main" id="{435BBF11-6263-486D-A13B-DB35CFD3DAA0}"/>
                </a:ext>
              </a:extLst>
            </p:cNvPr>
            <p:cNvCxnSpPr/>
            <p:nvPr/>
          </p:nvCxnSpPr>
          <p:spPr>
            <a:xfrm>
              <a:off x="4193719" y="2994023"/>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71BAA28-F934-4313-AB0A-4C43B5158E4E}"/>
                </a:ext>
              </a:extLst>
            </p:cNvPr>
            <p:cNvCxnSpPr/>
            <p:nvPr/>
          </p:nvCxnSpPr>
          <p:spPr>
            <a:xfrm>
              <a:off x="4240884" y="3326521"/>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15C1AB1-769C-489A-A4B3-8021DBB66AB5}"/>
                </a:ext>
              </a:extLst>
            </p:cNvPr>
            <p:cNvCxnSpPr/>
            <p:nvPr/>
          </p:nvCxnSpPr>
          <p:spPr>
            <a:xfrm>
              <a:off x="4193719" y="4213513"/>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3622200A-36A6-4B9C-A3BF-DE8FB1E0C246}"/>
                </a:ext>
              </a:extLst>
            </p:cNvPr>
            <p:cNvCxnSpPr/>
            <p:nvPr/>
          </p:nvCxnSpPr>
          <p:spPr>
            <a:xfrm>
              <a:off x="4192172" y="4553472"/>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D584701-C6F1-4D91-9573-19A03B865236}"/>
                </a:ext>
              </a:extLst>
            </p:cNvPr>
            <p:cNvCxnSpPr>
              <a:cxnSpLocks/>
            </p:cNvCxnSpPr>
            <p:nvPr/>
          </p:nvCxnSpPr>
          <p:spPr>
            <a:xfrm>
              <a:off x="4053017" y="5392902"/>
              <a:ext cx="3182857"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0859C48-DE76-464B-A0BB-2E1201D4188B}"/>
                </a:ext>
              </a:extLst>
            </p:cNvPr>
            <p:cNvCxnSpPr>
              <a:cxnSpLocks/>
            </p:cNvCxnSpPr>
            <p:nvPr/>
          </p:nvCxnSpPr>
          <p:spPr>
            <a:xfrm>
              <a:off x="9692535" y="3398133"/>
              <a:ext cx="1353812"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ED8E4E5C-07A5-4667-8E2B-D9FC7D072AC2}"/>
                </a:ext>
              </a:extLst>
            </p:cNvPr>
            <p:cNvCxnSpPr>
              <a:cxnSpLocks/>
            </p:cNvCxnSpPr>
            <p:nvPr/>
          </p:nvCxnSpPr>
          <p:spPr>
            <a:xfrm>
              <a:off x="9713392" y="4596819"/>
              <a:ext cx="1279167" cy="6544"/>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C8C8071-EC99-4B74-9683-037ECE73C613}"/>
                </a:ext>
              </a:extLst>
            </p:cNvPr>
            <p:cNvCxnSpPr>
              <a:cxnSpLocks/>
            </p:cNvCxnSpPr>
            <p:nvPr/>
          </p:nvCxnSpPr>
          <p:spPr>
            <a:xfrm>
              <a:off x="9781816" y="5419223"/>
              <a:ext cx="1332955" cy="814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57E3014E-3B5E-4568-B7AA-CEDA7C7EBD5B}"/>
              </a:ext>
            </a:extLst>
          </p:cNvPr>
          <p:cNvCxnSpPr>
            <a:cxnSpLocks/>
          </p:cNvCxnSpPr>
          <p:nvPr/>
        </p:nvCxnSpPr>
        <p:spPr>
          <a:xfrm>
            <a:off x="8489670" y="5990722"/>
            <a:ext cx="2405729"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0F6F44AE-C7CC-4995-B2BF-C1539D4FC1D8}"/>
              </a:ext>
            </a:extLst>
          </p:cNvPr>
          <p:cNvSpPr txBox="1"/>
          <p:nvPr/>
        </p:nvSpPr>
        <p:spPr>
          <a:xfrm>
            <a:off x="4172540" y="2705932"/>
            <a:ext cx="2650998" cy="276999"/>
          </a:xfrm>
          <a:prstGeom prst="rect">
            <a:avLst/>
          </a:prstGeom>
          <a:solidFill>
            <a:srgbClr val="FBE5D6"/>
          </a:solidFill>
        </p:spPr>
        <p:txBody>
          <a:bodyPr wrap="square" tIns="0" bIns="0" rtlCol="0">
            <a:spAutoFit/>
          </a:bodyPr>
          <a:lstStyle/>
          <a:p>
            <a:pPr algn="ctr"/>
            <a:r>
              <a:rPr lang="en-US" altLang="zh-CN" b="1">
                <a:solidFill>
                  <a:srgbClr val="C00000"/>
                </a:solidFill>
              </a:rPr>
              <a:t>(1)</a:t>
            </a:r>
            <a:endParaRPr lang="zh-CN" altLang="en-US" b="1">
              <a:solidFill>
                <a:srgbClr val="C00000"/>
              </a:solidFill>
            </a:endParaRPr>
          </a:p>
        </p:txBody>
      </p:sp>
      <p:sp>
        <p:nvSpPr>
          <p:cNvPr id="41" name="文本框 40">
            <a:extLst>
              <a:ext uri="{FF2B5EF4-FFF2-40B4-BE49-F238E27FC236}">
                <a16:creationId xmlns:a16="http://schemas.microsoft.com/office/drawing/2014/main" id="{0A5A7B1D-FF00-485E-A806-B8DD5679B5D1}"/>
              </a:ext>
            </a:extLst>
          </p:cNvPr>
          <p:cNvSpPr txBox="1"/>
          <p:nvPr/>
        </p:nvSpPr>
        <p:spPr>
          <a:xfrm>
            <a:off x="4165962" y="3035853"/>
            <a:ext cx="2657576" cy="276999"/>
          </a:xfrm>
          <a:prstGeom prst="rect">
            <a:avLst/>
          </a:prstGeom>
          <a:solidFill>
            <a:srgbClr val="FBE5D6"/>
          </a:solidFill>
        </p:spPr>
        <p:txBody>
          <a:bodyPr wrap="square" tIns="0" bIns="0" rtlCol="0">
            <a:spAutoFit/>
          </a:bodyPr>
          <a:lstStyle/>
          <a:p>
            <a:pPr algn="ctr"/>
            <a:r>
              <a:rPr lang="en-US" altLang="zh-CN" b="1">
                <a:solidFill>
                  <a:srgbClr val="C00000"/>
                </a:solidFill>
              </a:rPr>
              <a:t>(2)</a:t>
            </a:r>
            <a:endParaRPr lang="zh-CN" altLang="en-US" b="1">
              <a:solidFill>
                <a:srgbClr val="C00000"/>
              </a:solidFill>
            </a:endParaRPr>
          </a:p>
        </p:txBody>
      </p:sp>
      <p:sp>
        <p:nvSpPr>
          <p:cNvPr id="42" name="文本框 41">
            <a:extLst>
              <a:ext uri="{FF2B5EF4-FFF2-40B4-BE49-F238E27FC236}">
                <a16:creationId xmlns:a16="http://schemas.microsoft.com/office/drawing/2014/main" id="{EF8C57C1-D516-4AC1-9996-CFF712F79E0E}"/>
              </a:ext>
            </a:extLst>
          </p:cNvPr>
          <p:cNvSpPr txBox="1"/>
          <p:nvPr/>
        </p:nvSpPr>
        <p:spPr>
          <a:xfrm>
            <a:off x="4165962" y="3914107"/>
            <a:ext cx="2657576" cy="276999"/>
          </a:xfrm>
          <a:prstGeom prst="rect">
            <a:avLst/>
          </a:prstGeom>
          <a:solidFill>
            <a:srgbClr val="FBE5D6"/>
          </a:solidFill>
        </p:spPr>
        <p:txBody>
          <a:bodyPr wrap="square" tIns="0" bIns="0" rtlCol="0">
            <a:spAutoFit/>
          </a:bodyPr>
          <a:lstStyle/>
          <a:p>
            <a:pPr algn="ctr"/>
            <a:r>
              <a:rPr lang="en-US" altLang="zh-CN" b="1">
                <a:solidFill>
                  <a:srgbClr val="C00000"/>
                </a:solidFill>
              </a:rPr>
              <a:t>(4)</a:t>
            </a:r>
            <a:endParaRPr lang="zh-CN" altLang="en-US" b="1">
              <a:solidFill>
                <a:srgbClr val="C00000"/>
              </a:solidFill>
            </a:endParaRPr>
          </a:p>
        </p:txBody>
      </p:sp>
      <p:sp>
        <p:nvSpPr>
          <p:cNvPr id="43" name="文本框 42">
            <a:extLst>
              <a:ext uri="{FF2B5EF4-FFF2-40B4-BE49-F238E27FC236}">
                <a16:creationId xmlns:a16="http://schemas.microsoft.com/office/drawing/2014/main" id="{08F0134B-1685-4318-827F-77DCD4447F48}"/>
              </a:ext>
            </a:extLst>
          </p:cNvPr>
          <p:cNvSpPr txBox="1"/>
          <p:nvPr/>
        </p:nvSpPr>
        <p:spPr>
          <a:xfrm>
            <a:off x="4165962" y="4251360"/>
            <a:ext cx="2657576" cy="276999"/>
          </a:xfrm>
          <a:prstGeom prst="rect">
            <a:avLst/>
          </a:prstGeom>
          <a:solidFill>
            <a:srgbClr val="FBE5D6"/>
          </a:solidFill>
        </p:spPr>
        <p:txBody>
          <a:bodyPr wrap="square" tIns="0" bIns="0" rtlCol="0">
            <a:spAutoFit/>
          </a:bodyPr>
          <a:lstStyle/>
          <a:p>
            <a:pPr algn="ctr"/>
            <a:r>
              <a:rPr lang="en-US" altLang="zh-CN" b="1">
                <a:solidFill>
                  <a:srgbClr val="C00000"/>
                </a:solidFill>
              </a:rPr>
              <a:t>(5)</a:t>
            </a:r>
            <a:endParaRPr lang="zh-CN" altLang="en-US" b="1">
              <a:solidFill>
                <a:srgbClr val="C00000"/>
              </a:solidFill>
            </a:endParaRPr>
          </a:p>
        </p:txBody>
      </p:sp>
      <p:sp>
        <p:nvSpPr>
          <p:cNvPr id="44" name="文本框 43">
            <a:extLst>
              <a:ext uri="{FF2B5EF4-FFF2-40B4-BE49-F238E27FC236}">
                <a16:creationId xmlns:a16="http://schemas.microsoft.com/office/drawing/2014/main" id="{1A7F4661-3EB6-499B-BFD5-55421AE3B7C2}"/>
              </a:ext>
            </a:extLst>
          </p:cNvPr>
          <p:cNvSpPr txBox="1"/>
          <p:nvPr/>
        </p:nvSpPr>
        <p:spPr>
          <a:xfrm>
            <a:off x="4046438" y="5106747"/>
            <a:ext cx="3189435" cy="276999"/>
          </a:xfrm>
          <a:prstGeom prst="rect">
            <a:avLst/>
          </a:prstGeom>
          <a:solidFill>
            <a:srgbClr val="FBE5D6"/>
          </a:solidFill>
        </p:spPr>
        <p:txBody>
          <a:bodyPr wrap="square" tIns="0" bIns="0" rtlCol="0">
            <a:spAutoFit/>
          </a:bodyPr>
          <a:lstStyle/>
          <a:p>
            <a:pPr algn="ctr"/>
            <a:r>
              <a:rPr lang="en-US" altLang="zh-CN" b="1">
                <a:solidFill>
                  <a:srgbClr val="C00000"/>
                </a:solidFill>
              </a:rPr>
              <a:t>(7)</a:t>
            </a:r>
            <a:endParaRPr lang="zh-CN" altLang="en-US" b="1">
              <a:solidFill>
                <a:srgbClr val="C00000"/>
              </a:solidFill>
            </a:endParaRPr>
          </a:p>
        </p:txBody>
      </p:sp>
      <p:sp>
        <p:nvSpPr>
          <p:cNvPr id="45" name="文本框 44">
            <a:extLst>
              <a:ext uri="{FF2B5EF4-FFF2-40B4-BE49-F238E27FC236}">
                <a16:creationId xmlns:a16="http://schemas.microsoft.com/office/drawing/2014/main" id="{E87C29FA-9543-42CC-8BFC-243C6E532580}"/>
              </a:ext>
            </a:extLst>
          </p:cNvPr>
          <p:cNvSpPr txBox="1"/>
          <p:nvPr/>
        </p:nvSpPr>
        <p:spPr>
          <a:xfrm>
            <a:off x="8470351" y="5693036"/>
            <a:ext cx="2425048" cy="276999"/>
          </a:xfrm>
          <a:prstGeom prst="rect">
            <a:avLst/>
          </a:prstGeom>
          <a:solidFill>
            <a:srgbClr val="FBE5D6"/>
          </a:solidFill>
        </p:spPr>
        <p:txBody>
          <a:bodyPr wrap="square" tIns="0" bIns="0" rtlCol="0">
            <a:spAutoFit/>
          </a:bodyPr>
          <a:lstStyle/>
          <a:p>
            <a:pPr algn="ctr"/>
            <a:r>
              <a:rPr lang="en-US" altLang="zh-CN" b="1">
                <a:solidFill>
                  <a:srgbClr val="C00000"/>
                </a:solidFill>
              </a:rPr>
              <a:t>(9)</a:t>
            </a:r>
            <a:endParaRPr lang="zh-CN" altLang="en-US" b="1">
              <a:solidFill>
                <a:srgbClr val="C00000"/>
              </a:solidFill>
            </a:endParaRPr>
          </a:p>
        </p:txBody>
      </p:sp>
      <p:sp>
        <p:nvSpPr>
          <p:cNvPr id="46" name="文本框 45">
            <a:extLst>
              <a:ext uri="{FF2B5EF4-FFF2-40B4-BE49-F238E27FC236}">
                <a16:creationId xmlns:a16="http://schemas.microsoft.com/office/drawing/2014/main" id="{E29D6D1B-4229-4D99-8F63-113F80611C5A}"/>
              </a:ext>
            </a:extLst>
          </p:cNvPr>
          <p:cNvSpPr txBox="1"/>
          <p:nvPr/>
        </p:nvSpPr>
        <p:spPr>
          <a:xfrm>
            <a:off x="9682875" y="3086781"/>
            <a:ext cx="1363472" cy="276999"/>
          </a:xfrm>
          <a:prstGeom prst="rect">
            <a:avLst/>
          </a:prstGeom>
          <a:solidFill>
            <a:srgbClr val="FFF2CC"/>
          </a:solidFill>
        </p:spPr>
        <p:txBody>
          <a:bodyPr wrap="square" tIns="0" bIns="0" rtlCol="0">
            <a:spAutoFit/>
          </a:bodyPr>
          <a:lstStyle/>
          <a:p>
            <a:pPr algn="ctr"/>
            <a:r>
              <a:rPr lang="en-US" altLang="zh-CN" b="1">
                <a:solidFill>
                  <a:srgbClr val="C00000"/>
                </a:solidFill>
              </a:rPr>
              <a:t>(3)</a:t>
            </a:r>
            <a:endParaRPr lang="zh-CN" altLang="en-US" b="1">
              <a:solidFill>
                <a:srgbClr val="C00000"/>
              </a:solidFill>
            </a:endParaRPr>
          </a:p>
        </p:txBody>
      </p:sp>
      <p:sp>
        <p:nvSpPr>
          <p:cNvPr id="47" name="文本框 46">
            <a:extLst>
              <a:ext uri="{FF2B5EF4-FFF2-40B4-BE49-F238E27FC236}">
                <a16:creationId xmlns:a16="http://schemas.microsoft.com/office/drawing/2014/main" id="{BC513787-ECD2-4105-93B9-AC8825A59F30}"/>
              </a:ext>
            </a:extLst>
          </p:cNvPr>
          <p:cNvSpPr txBox="1"/>
          <p:nvPr/>
        </p:nvSpPr>
        <p:spPr>
          <a:xfrm>
            <a:off x="9741451" y="4286219"/>
            <a:ext cx="1332955" cy="276999"/>
          </a:xfrm>
          <a:prstGeom prst="rect">
            <a:avLst/>
          </a:prstGeom>
          <a:solidFill>
            <a:srgbClr val="FFF2CC"/>
          </a:solidFill>
        </p:spPr>
        <p:txBody>
          <a:bodyPr wrap="square" tIns="0" bIns="0" rtlCol="0">
            <a:spAutoFit/>
          </a:bodyPr>
          <a:lstStyle/>
          <a:p>
            <a:pPr algn="ctr"/>
            <a:r>
              <a:rPr lang="en-US" altLang="zh-CN" b="1">
                <a:solidFill>
                  <a:srgbClr val="C00000"/>
                </a:solidFill>
              </a:rPr>
              <a:t>(6)</a:t>
            </a:r>
            <a:endParaRPr lang="zh-CN" altLang="en-US" b="1">
              <a:solidFill>
                <a:srgbClr val="C00000"/>
              </a:solidFill>
            </a:endParaRPr>
          </a:p>
        </p:txBody>
      </p:sp>
      <p:sp>
        <p:nvSpPr>
          <p:cNvPr id="48" name="文本框 47">
            <a:extLst>
              <a:ext uri="{FF2B5EF4-FFF2-40B4-BE49-F238E27FC236}">
                <a16:creationId xmlns:a16="http://schemas.microsoft.com/office/drawing/2014/main" id="{5805A56B-88DD-4ED6-8218-7922A2676CF7}"/>
              </a:ext>
            </a:extLst>
          </p:cNvPr>
          <p:cNvSpPr txBox="1"/>
          <p:nvPr/>
        </p:nvSpPr>
        <p:spPr>
          <a:xfrm>
            <a:off x="9794843" y="5106747"/>
            <a:ext cx="1363472" cy="276999"/>
          </a:xfrm>
          <a:prstGeom prst="rect">
            <a:avLst/>
          </a:prstGeom>
          <a:solidFill>
            <a:srgbClr val="FFF2CC"/>
          </a:solidFill>
        </p:spPr>
        <p:txBody>
          <a:bodyPr wrap="square" tIns="0" bIns="0" rtlCol="0">
            <a:spAutoFit/>
          </a:bodyPr>
          <a:lstStyle/>
          <a:p>
            <a:pPr algn="ctr"/>
            <a:r>
              <a:rPr lang="en-US" altLang="zh-CN" b="1">
                <a:solidFill>
                  <a:srgbClr val="C00000"/>
                </a:solidFill>
              </a:rPr>
              <a:t>(8)</a:t>
            </a:r>
            <a:endParaRPr lang="zh-CN" altLang="en-US" b="1">
              <a:solidFill>
                <a:srgbClr val="C00000"/>
              </a:solidFill>
            </a:endParaRPr>
          </a:p>
        </p:txBody>
      </p:sp>
      <p:sp>
        <p:nvSpPr>
          <p:cNvPr id="4" name="箭头: 下 3">
            <a:extLst>
              <a:ext uri="{FF2B5EF4-FFF2-40B4-BE49-F238E27FC236}">
                <a16:creationId xmlns:a16="http://schemas.microsoft.com/office/drawing/2014/main" id="{DD1FD3E4-164F-4845-B626-FB19D6908B43}"/>
              </a:ext>
            </a:extLst>
          </p:cNvPr>
          <p:cNvSpPr/>
          <p:nvPr/>
        </p:nvSpPr>
        <p:spPr>
          <a:xfrm>
            <a:off x="9275568" y="5500160"/>
            <a:ext cx="98677" cy="952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82691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递推关系式建模计数问题练习（一）</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27A8B3C-9A49-4B4F-B7D6-9E576EE8CE14}"/>
                  </a:ext>
                </a:extLst>
              </p:cNvPr>
              <p:cNvSpPr txBox="1"/>
              <p:nvPr/>
            </p:nvSpPr>
            <p:spPr>
              <a:xfrm>
                <a:off x="772032" y="1222936"/>
                <a:ext cx="8100937"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，不含有连续两个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且不含有连续两个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𝟏</m:t>
                    </m:r>
                  </m:oMath>
                </a14:m>
                <a:r>
                  <a:rPr lang="zh-CN" altLang="en-US" sz="2000" b="1">
                    <a:solidFill>
                      <a:srgbClr val="002060"/>
                    </a:solidFill>
                    <a:latin typeface="楷体" panose="02010609060101010101" pitchFamily="49" charset="-122"/>
                    <a:ea typeface="楷体" panose="02010609060101010101" pitchFamily="49" charset="-122"/>
                  </a:rPr>
                  <a:t>的三进制串有多少个？</a:t>
                </a:r>
              </a:p>
            </p:txBody>
          </p:sp>
        </mc:Choice>
        <mc:Fallback xmlns="">
          <p:sp>
            <p:nvSpPr>
              <p:cNvPr id="2" name="文本框 1">
                <a:extLst>
                  <a:ext uri="{FF2B5EF4-FFF2-40B4-BE49-F238E27FC236}">
                    <a16:creationId xmlns:a16="http://schemas.microsoft.com/office/drawing/2014/main" id="{E27A8B3C-9A49-4B4F-B7D6-9E576EE8CE14}"/>
                  </a:ext>
                </a:extLst>
              </p:cNvPr>
              <p:cNvSpPr txBox="1">
                <a:spLocks noRot="1" noChangeAspect="1" noMove="1" noResize="1" noEditPoints="1" noAdjustHandles="1" noChangeArrowheads="1" noChangeShapeType="1" noTextEdit="1"/>
              </p:cNvSpPr>
              <p:nvPr/>
            </p:nvSpPr>
            <p:spPr>
              <a:xfrm>
                <a:off x="772032" y="1222936"/>
                <a:ext cx="8100937" cy="400110"/>
              </a:xfrm>
              <a:prstGeom prst="rect">
                <a:avLst/>
              </a:prstGeom>
              <a:blipFill>
                <a:blip r:embed="rId2"/>
                <a:stretch>
                  <a:fillRect l="-828" t="-12308" r="-301"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E8814A4-D66D-4A83-8B6B-DA3839FC2630}"/>
                  </a:ext>
                </a:extLst>
              </p:cNvPr>
              <p:cNvSpPr txBox="1"/>
              <p:nvPr/>
            </p:nvSpPr>
            <p:spPr>
              <a:xfrm>
                <a:off x="8932741" y="1086277"/>
                <a:ext cx="2841328"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将不含有连续两个</a:t>
                </a:r>
                <a:r>
                  <a:rPr lang="en-US" altLang="zh-CN" b="1">
                    <a:solidFill>
                      <a:schemeClr val="accent2">
                        <a:lumMod val="50000"/>
                      </a:schemeClr>
                    </a:solidFill>
                  </a:rPr>
                  <a:t>0</a:t>
                </a:r>
                <a:r>
                  <a:rPr lang="zh-CN" altLang="en-US" b="1">
                    <a:solidFill>
                      <a:schemeClr val="accent2">
                        <a:lumMod val="50000"/>
                      </a:schemeClr>
                    </a:solidFill>
                  </a:rPr>
                  <a:t>且不含有连续两个</a:t>
                </a:r>
                <a:r>
                  <a:rPr lang="en-US" altLang="zh-CN" b="1">
                    <a:solidFill>
                      <a:schemeClr val="accent2">
                        <a:lumMod val="50000"/>
                      </a:schemeClr>
                    </a:solidFill>
                  </a:rPr>
                  <a:t>1</a:t>
                </a:r>
                <a:r>
                  <a:rPr lang="zh-CN" altLang="en-US" b="1">
                    <a:solidFill>
                      <a:schemeClr val="accent2">
                        <a:lumMod val="50000"/>
                      </a:schemeClr>
                    </a:solidFill>
                  </a:rPr>
                  <a:t>称为性质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endParaRPr lang="zh-CN" altLang="en-US"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7E8814A4-D66D-4A83-8B6B-DA3839FC2630}"/>
                  </a:ext>
                </a:extLst>
              </p:cNvPr>
              <p:cNvSpPr txBox="1">
                <a:spLocks noRot="1" noChangeAspect="1" noMove="1" noResize="1" noEditPoints="1" noAdjustHandles="1" noChangeArrowheads="1" noChangeShapeType="1" noTextEdit="1"/>
              </p:cNvSpPr>
              <p:nvPr/>
            </p:nvSpPr>
            <p:spPr>
              <a:xfrm>
                <a:off x="8932741" y="1086277"/>
                <a:ext cx="2841328" cy="646331"/>
              </a:xfrm>
              <a:prstGeom prst="rect">
                <a:avLst/>
              </a:prstGeom>
              <a:blipFill>
                <a:blip r:embed="rId3"/>
                <a:stretch>
                  <a:fillRect l="-1717" t="-4717" r="-1931"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B773F71-5DCA-4D2F-8945-4676A139BD1F}"/>
                  </a:ext>
                </a:extLst>
              </p:cNvPr>
              <p:cNvSpPr txBox="1"/>
              <p:nvPr/>
            </p:nvSpPr>
            <p:spPr>
              <a:xfrm>
                <a:off x="772032" y="1801227"/>
                <a:ext cx="10643879" cy="735714"/>
              </a:xfrm>
              <a:prstGeom prst="rect">
                <a:avLst/>
              </a:prstGeom>
              <a:solidFill>
                <a:schemeClr val="accent5">
                  <a:lumMod val="20000"/>
                  <a:lumOff val="80000"/>
                  <a:alpha val="50000"/>
                </a:schemeClr>
              </a:solidFill>
            </p:spPr>
            <p:txBody>
              <a:bodyPr wrap="square" rtlCol="0">
                <a:spAutoFit/>
              </a:bodyPr>
              <a:lstStyle/>
              <a:p>
                <a:pPr>
                  <a:spcBef>
                    <a:spcPts val="600"/>
                  </a:spcBef>
                </a:pP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开头的三进制串个数</a:t>
                </a:r>
                <a:endParaRPr lang="en-US" altLang="zh-CN" b="1">
                  <a:solidFill>
                    <a:schemeClr val="accent6">
                      <a:lumMod val="50000"/>
                    </a:schemeClr>
                  </a:solidFill>
                </a:endParaRPr>
              </a:p>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开头的三进制串个数</a:t>
                </a:r>
              </a:p>
            </p:txBody>
          </p:sp>
        </mc:Choice>
        <mc:Fallback xmlns="">
          <p:sp>
            <p:nvSpPr>
              <p:cNvPr id="12" name="文本框 11">
                <a:extLst>
                  <a:ext uri="{FF2B5EF4-FFF2-40B4-BE49-F238E27FC236}">
                    <a16:creationId xmlns:a16="http://schemas.microsoft.com/office/drawing/2014/main" id="{5B773F71-5DCA-4D2F-8945-4676A139BD1F}"/>
                  </a:ext>
                </a:extLst>
              </p:cNvPr>
              <p:cNvSpPr txBox="1">
                <a:spLocks noRot="1" noChangeAspect="1" noMove="1" noResize="1" noEditPoints="1" noAdjustHandles="1" noChangeArrowheads="1" noChangeShapeType="1" noTextEdit="1"/>
              </p:cNvSpPr>
              <p:nvPr/>
            </p:nvSpPr>
            <p:spPr>
              <a:xfrm>
                <a:off x="772032" y="1801227"/>
                <a:ext cx="10643879" cy="735714"/>
              </a:xfrm>
              <a:prstGeom prst="rect">
                <a:avLst/>
              </a:prstGeom>
              <a:blipFill>
                <a:blip r:embed="rId4"/>
                <a:stretch>
                  <a:fillRect t="-3306" b="-12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CEBAF86-BBE6-4066-9EED-96AC33521862}"/>
                  </a:ext>
                </a:extLst>
              </p:cNvPr>
              <p:cNvSpPr txBox="1"/>
              <p:nvPr/>
            </p:nvSpPr>
            <p:spPr>
              <a:xfrm>
                <a:off x="1164453" y="5644557"/>
                <a:ext cx="6184337" cy="686022"/>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Sub>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𝟎</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𝟎</m:t>
                          </m:r>
                        </m:sup>
                      </m:sSubSup>
                      <m:r>
                        <a:rPr lang="en-US" altLang="zh-CN" b="1" i="1">
                          <a:solidFill>
                            <a:schemeClr val="accent2">
                              <a:lumMod val="50000"/>
                            </a:schemeClr>
                          </a:solidFill>
                          <a:latin typeface="Cambria Math" panose="02040503050406030204" pitchFamily="18" charset="0"/>
                        </a:rPr>
                        <m:t>+</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oMath>
                  </m:oMathPara>
                </a14:m>
                <a:endParaRPr lang="en-US" altLang="zh-CN" b="1">
                  <a:solidFill>
                    <a:schemeClr val="accent2">
                      <a:lumMod val="50000"/>
                    </a:schemeClr>
                  </a:solidFill>
                </a:endParaRPr>
              </a:p>
              <a:p>
                <a:pP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𝟐</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  </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e>
                      </m:d>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24" name="文本框 23">
                <a:extLst>
                  <a:ext uri="{FF2B5EF4-FFF2-40B4-BE49-F238E27FC236}">
                    <a16:creationId xmlns:a16="http://schemas.microsoft.com/office/drawing/2014/main" id="{CCEBAF86-BBE6-4066-9EED-96AC33521862}"/>
                  </a:ext>
                </a:extLst>
              </p:cNvPr>
              <p:cNvSpPr txBox="1">
                <a:spLocks noRot="1" noChangeAspect="1" noMove="1" noResize="1" noEditPoints="1" noAdjustHandles="1" noChangeArrowheads="1" noChangeShapeType="1" noTextEdit="1"/>
              </p:cNvSpPr>
              <p:nvPr/>
            </p:nvSpPr>
            <p:spPr>
              <a:xfrm>
                <a:off x="1164453" y="5644557"/>
                <a:ext cx="6184337" cy="686022"/>
              </a:xfrm>
              <a:prstGeom prst="rect">
                <a:avLst/>
              </a:prstGeom>
              <a:blipFill>
                <a:blip r:embed="rId5"/>
                <a:stretch>
                  <a:fillRect b="-8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1D8CA01-B349-44FB-9CDE-517C37874615}"/>
                  </a:ext>
                </a:extLst>
              </p:cNvPr>
              <p:cNvSpPr txBox="1"/>
              <p:nvPr/>
            </p:nvSpPr>
            <p:spPr>
              <a:xfrm>
                <a:off x="7785745" y="5616069"/>
                <a:ext cx="3206814" cy="806439"/>
              </a:xfrm>
              <a:prstGeom prst="rect">
                <a:avLst/>
              </a:prstGeom>
              <a:solidFill>
                <a:schemeClr val="accent2">
                  <a:lumMod val="20000"/>
                  <a:lumOff val="80000"/>
                </a:schemeClr>
              </a:solidFill>
            </p:spPr>
            <p:txBody>
              <a:bodyPr wrap="square" rtlCol="0">
                <a:spAutoFit/>
              </a:bodyPr>
              <a:lstStyle/>
              <a:p>
                <a:pPr>
                  <a:spcBef>
                    <a:spcPts val="600"/>
                  </a:spcBef>
                  <a:spcAft>
                    <a:spcPts val="600"/>
                  </a:spcAft>
                </a:pP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 </m:t>
                        </m:r>
                      </m:sub>
                    </m:sSub>
                    <m:r>
                      <a:rPr lang="en-US" altLang="zh-CN" b="1" i="1" smtClean="0">
                        <a:solidFill>
                          <a:srgbClr val="C00000"/>
                        </a:solidFill>
                        <a:latin typeface="Cambria Math" panose="02040503050406030204" pitchFamily="18" charset="0"/>
                      </a:rPr>
                      <m:t>   </m:t>
                    </m:r>
                  </m:oMath>
                </a14:m>
                <a:r>
                  <a:rPr lang="en-US" altLang="zh-CN" b="1" i="1">
                    <a:solidFill>
                      <a:srgbClr val="C00000"/>
                    </a:solidFill>
                    <a:latin typeface="Cambria Math" panose="02040503050406030204" pitchFamily="18" charset="0"/>
                  </a:rPr>
                  <a:t> </a:t>
                </a: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𝟎</m:t>
                          </m:r>
                        </m:sub>
                      </m:sSub>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oMath>
                  </m:oMathPara>
                </a14:m>
                <a:endParaRPr lang="zh-CN" altLang="en-US">
                  <a:solidFill>
                    <a:srgbClr val="C00000"/>
                  </a:solidFill>
                </a:endParaRPr>
              </a:p>
            </p:txBody>
          </p:sp>
        </mc:Choice>
        <mc:Fallback xmlns="">
          <p:sp>
            <p:nvSpPr>
              <p:cNvPr id="11" name="文本框 10">
                <a:extLst>
                  <a:ext uri="{FF2B5EF4-FFF2-40B4-BE49-F238E27FC236}">
                    <a16:creationId xmlns:a16="http://schemas.microsoft.com/office/drawing/2014/main" id="{31D8CA01-B349-44FB-9CDE-517C37874615}"/>
                  </a:ext>
                </a:extLst>
              </p:cNvPr>
              <p:cNvSpPr txBox="1">
                <a:spLocks noRot="1" noChangeAspect="1" noMove="1" noResize="1" noEditPoints="1" noAdjustHandles="1" noChangeArrowheads="1" noChangeShapeType="1" noTextEdit="1"/>
              </p:cNvSpPr>
              <p:nvPr/>
            </p:nvSpPr>
            <p:spPr>
              <a:xfrm>
                <a:off x="7785745" y="5616069"/>
                <a:ext cx="3206814" cy="806439"/>
              </a:xfrm>
              <a:prstGeom prst="rect">
                <a:avLst/>
              </a:prstGeom>
              <a:blipFill>
                <a:blip r:embed="rId6"/>
                <a:stretch>
                  <a:fillRect/>
                </a:stretch>
              </a:blipFill>
            </p:spPr>
            <p:txBody>
              <a:bodyPr/>
              <a:lstStyle/>
              <a:p>
                <a:r>
                  <a:rPr lang="zh-CN" altLang="en-US">
                    <a:noFill/>
                  </a:rPr>
                  <a:t> </a:t>
                </a:r>
              </a:p>
            </p:txBody>
          </p:sp>
        </mc:Fallback>
      </mc:AlternateContent>
      <p:sp>
        <p:nvSpPr>
          <p:cNvPr id="26" name="箭头: 下 25">
            <a:extLst>
              <a:ext uri="{FF2B5EF4-FFF2-40B4-BE49-F238E27FC236}">
                <a16:creationId xmlns:a16="http://schemas.microsoft.com/office/drawing/2014/main" id="{F2EE8972-7944-4A8E-86FA-B5528C0CDD1A}"/>
              </a:ext>
            </a:extLst>
          </p:cNvPr>
          <p:cNvSpPr/>
          <p:nvPr/>
        </p:nvSpPr>
        <p:spPr>
          <a:xfrm>
            <a:off x="4240884" y="5479822"/>
            <a:ext cx="92099" cy="1647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DDB67BC4-247A-47F4-A483-0A3E4BD43B04}"/>
              </a:ext>
            </a:extLst>
          </p:cNvPr>
          <p:cNvSpPr/>
          <p:nvPr/>
        </p:nvSpPr>
        <p:spPr>
          <a:xfrm>
            <a:off x="7348790" y="5965365"/>
            <a:ext cx="41718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0B97D6B9-1E33-4CF1-94ED-5B9F04799B5E}"/>
              </a:ext>
            </a:extLst>
          </p:cNvPr>
          <p:cNvGrpSpPr/>
          <p:nvPr/>
        </p:nvGrpSpPr>
        <p:grpSpPr>
          <a:xfrm>
            <a:off x="911443" y="2619006"/>
            <a:ext cx="10365059" cy="2881154"/>
            <a:chOff x="911443" y="2619006"/>
            <a:chExt cx="10365059" cy="2881154"/>
          </a:xfrm>
        </p:grpSpPr>
        <p:grpSp>
          <p:nvGrpSpPr>
            <p:cNvPr id="28" name="组合 27">
              <a:extLst>
                <a:ext uri="{FF2B5EF4-FFF2-40B4-BE49-F238E27FC236}">
                  <a16:creationId xmlns:a16="http://schemas.microsoft.com/office/drawing/2014/main" id="{3A340BB9-2B94-44A0-9817-0698E794DEF7}"/>
                </a:ext>
              </a:extLst>
            </p:cNvPr>
            <p:cNvGrpSpPr/>
            <p:nvPr/>
          </p:nvGrpSpPr>
          <p:grpSpPr>
            <a:xfrm>
              <a:off x="911443" y="2619006"/>
              <a:ext cx="10365059" cy="2881154"/>
              <a:chOff x="532852" y="2598668"/>
              <a:chExt cx="10365059" cy="2881154"/>
            </a:xfrm>
          </p:grpSpPr>
          <p:sp>
            <p:nvSpPr>
              <p:cNvPr id="25" name="矩形 24">
                <a:extLst>
                  <a:ext uri="{FF2B5EF4-FFF2-40B4-BE49-F238E27FC236}">
                    <a16:creationId xmlns:a16="http://schemas.microsoft.com/office/drawing/2014/main" id="{EC051C7E-50D7-4F0F-B066-B815EBE10939}"/>
                  </a:ext>
                </a:extLst>
              </p:cNvPr>
              <p:cNvSpPr/>
              <p:nvPr/>
            </p:nvSpPr>
            <p:spPr>
              <a:xfrm>
                <a:off x="532852" y="2598668"/>
                <a:ext cx="10365059" cy="288115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83E672BC-4D34-4DFD-97A9-2515DB031134}"/>
                  </a:ext>
                </a:extLst>
              </p:cNvPr>
              <p:cNvGrpSpPr/>
              <p:nvPr/>
            </p:nvGrpSpPr>
            <p:grpSpPr>
              <a:xfrm>
                <a:off x="592770" y="2644934"/>
                <a:ext cx="10186954" cy="2769737"/>
                <a:chOff x="684155" y="2219321"/>
                <a:chExt cx="10186954" cy="2769737"/>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44CE8DA-479C-40A2-944E-652823655326}"/>
                        </a:ext>
                      </a:extLst>
                    </p:cNvPr>
                    <p:cNvSpPr txBox="1"/>
                    <p:nvPr/>
                  </p:nvSpPr>
                  <p:spPr>
                    <a:xfrm>
                      <a:off x="684155" y="3429000"/>
                      <a:ext cx="7361249"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0" smtClean="0">
                              <a:solidFill>
                                <a:schemeClr val="accent6">
                                  <a:lumMod val="50000"/>
                                </a:schemeClr>
                              </a:solidFill>
                              <a:latin typeface="Cambria Math" panose="02040503050406030204" pitchFamily="18" charset="0"/>
                            </a:rPr>
                            <m:t>𝟏</m:t>
                          </m:r>
                          <m:r>
                            <a:rPr lang="en-US" altLang="zh-CN" b="1" i="1" smtClean="0">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𝟎</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rgbClr val="0000FF"/>
                          </a:solidFill>
                        </a:rPr>
                        <a:t>不难包含以</a:t>
                      </a:r>
                      <a14:m>
                        <m:oMath xmlns:m="http://schemas.openxmlformats.org/officeDocument/2006/math">
                          <m:r>
                            <a:rPr lang="en-US" altLang="zh-CN" b="1">
                              <a:solidFill>
                                <a:srgbClr val="0000FF"/>
                              </a:solidFill>
                              <a:latin typeface="Cambria Math" panose="02040503050406030204" pitchFamily="18" charset="0"/>
                            </a:rPr>
                            <m:t>𝟏𝟏</m:t>
                          </m:r>
                        </m:oMath>
                      </a14:m>
                      <a:r>
                        <a:rPr lang="zh-CN" altLang="en-US" b="1">
                          <a:solidFill>
                            <a:srgbClr val="0000FF"/>
                          </a:solidFill>
                        </a:rPr>
                        <a:t>开头的串</a:t>
                      </a:r>
                      <a:endParaRPr lang="en-US" altLang="zh-CN" b="1">
                        <a:solidFill>
                          <a:srgbClr val="0000FF"/>
                        </a:solidFill>
                      </a:endParaRPr>
                    </a:p>
                  </p:txBody>
                </p:sp>
              </mc:Choice>
              <mc:Fallback xmlns="">
                <p:sp>
                  <p:nvSpPr>
                    <p:cNvPr id="14" name="文本框 13">
                      <a:extLst>
                        <a:ext uri="{FF2B5EF4-FFF2-40B4-BE49-F238E27FC236}">
                          <a16:creationId xmlns:a16="http://schemas.microsoft.com/office/drawing/2014/main" id="{044CE8DA-479C-40A2-944E-652823655326}"/>
                        </a:ext>
                      </a:extLst>
                    </p:cNvPr>
                    <p:cNvSpPr txBox="1">
                      <a:spLocks noRot="1" noChangeAspect="1" noMove="1" noResize="1" noEditPoints="1" noAdjustHandles="1" noChangeArrowheads="1" noChangeShapeType="1" noTextEdit="1"/>
                    </p:cNvSpPr>
                    <p:nvPr/>
                  </p:nvSpPr>
                  <p:spPr>
                    <a:xfrm>
                      <a:off x="684155" y="3429000"/>
                      <a:ext cx="7361249" cy="1077218"/>
                    </a:xfrm>
                    <a:prstGeom prst="rect">
                      <a:avLst/>
                    </a:prstGeom>
                    <a:blipFill>
                      <a:blip r:embed="rId7"/>
                      <a:stretch>
                        <a:fillRect l="-662" t="-3409" r="-414" b="-852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F45B1C9-AF54-45A6-8D1A-F101BAB65790}"/>
                        </a:ext>
                      </a:extLst>
                    </p:cNvPr>
                    <p:cNvSpPr txBox="1"/>
                    <p:nvPr/>
                  </p:nvSpPr>
                  <p:spPr>
                    <a:xfrm>
                      <a:off x="684155" y="2219321"/>
                      <a:ext cx="7410587"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𝟎𝟏</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m:t>
                          </m:r>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rgbClr val="0000FF"/>
                          </a:solidFill>
                        </a:rPr>
                        <a:t>不能包含以</a:t>
                      </a:r>
                      <a14:m>
                        <m:oMath xmlns:m="http://schemas.openxmlformats.org/officeDocument/2006/math">
                          <m:r>
                            <a:rPr lang="en-US" altLang="zh-CN" b="1" i="1" smtClean="0">
                              <a:solidFill>
                                <a:srgbClr val="0000FF"/>
                              </a:solidFill>
                              <a:latin typeface="Cambria Math" panose="02040503050406030204" pitchFamily="18" charset="0"/>
                            </a:rPr>
                            <m:t>𝟎</m:t>
                          </m:r>
                          <m:r>
                            <a:rPr lang="en-US" altLang="zh-CN" b="1" i="1">
                              <a:solidFill>
                                <a:srgbClr val="0000FF"/>
                              </a:solidFill>
                              <a:latin typeface="Cambria Math" panose="02040503050406030204" pitchFamily="18" charset="0"/>
                            </a:rPr>
                            <m:t>𝟎</m:t>
                          </m:r>
                        </m:oMath>
                      </a14:m>
                      <a:r>
                        <a:rPr lang="zh-CN" altLang="en-US" b="1">
                          <a:solidFill>
                            <a:srgbClr val="0000FF"/>
                          </a:solidFill>
                        </a:rPr>
                        <a:t>开头的串</a:t>
                      </a:r>
                      <a:endParaRPr lang="en-US" altLang="zh-CN" b="1">
                        <a:solidFill>
                          <a:srgbClr val="0000FF"/>
                        </a:solidFill>
                      </a:endParaRPr>
                    </a:p>
                  </p:txBody>
                </p:sp>
              </mc:Choice>
              <mc:Fallback xmlns="">
                <p:sp>
                  <p:nvSpPr>
                    <p:cNvPr id="15" name="文本框 14">
                      <a:extLst>
                        <a:ext uri="{FF2B5EF4-FFF2-40B4-BE49-F238E27FC236}">
                          <a16:creationId xmlns:a16="http://schemas.microsoft.com/office/drawing/2014/main" id="{EF45B1C9-AF54-45A6-8D1A-F101BAB65790}"/>
                        </a:ext>
                      </a:extLst>
                    </p:cNvPr>
                    <p:cNvSpPr txBox="1">
                      <a:spLocks noRot="1" noChangeAspect="1" noMove="1" noResize="1" noEditPoints="1" noAdjustHandles="1" noChangeArrowheads="1" noChangeShapeType="1" noTextEdit="1"/>
                    </p:cNvSpPr>
                    <p:nvPr/>
                  </p:nvSpPr>
                  <p:spPr>
                    <a:xfrm>
                      <a:off x="684155" y="2219321"/>
                      <a:ext cx="7410587" cy="1077218"/>
                    </a:xfrm>
                    <a:prstGeom prst="rect">
                      <a:avLst/>
                    </a:prstGeom>
                    <a:blipFill>
                      <a:blip r:embed="rId8"/>
                      <a:stretch>
                        <a:fillRect l="-658" t="-2825" b="-791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6F8980D-4374-4176-91F3-36B50ED0DF8D}"/>
                        </a:ext>
                      </a:extLst>
                    </p:cNvPr>
                    <p:cNvSpPr txBox="1"/>
                    <p:nvPr/>
                  </p:nvSpPr>
                  <p:spPr>
                    <a:xfrm>
                      <a:off x="684155" y="4619726"/>
                      <a:ext cx="7308622" cy="369332"/>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a:t>
                      </a:r>
                      <a:r>
                        <a:rPr lang="zh-CN" altLang="en-US" b="1">
                          <a:solidFill>
                            <a:srgbClr val="C00000"/>
                          </a:solidFill>
                        </a:rPr>
                        <a:t>长度为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的三进制串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xmlns="">
                <p:sp>
                  <p:nvSpPr>
                    <p:cNvPr id="16" name="文本框 15">
                      <a:extLst>
                        <a:ext uri="{FF2B5EF4-FFF2-40B4-BE49-F238E27FC236}">
                          <a16:creationId xmlns:a16="http://schemas.microsoft.com/office/drawing/2014/main" id="{56F8980D-4374-4176-91F3-36B50ED0DF8D}"/>
                        </a:ext>
                      </a:extLst>
                    </p:cNvPr>
                    <p:cNvSpPr txBox="1">
                      <a:spLocks noRot="1" noChangeAspect="1" noMove="1" noResize="1" noEditPoints="1" noAdjustHandles="1" noChangeArrowheads="1" noChangeShapeType="1" noTextEdit="1"/>
                    </p:cNvSpPr>
                    <p:nvPr/>
                  </p:nvSpPr>
                  <p:spPr>
                    <a:xfrm>
                      <a:off x="684155" y="4619726"/>
                      <a:ext cx="7308622" cy="369332"/>
                    </a:xfrm>
                    <a:prstGeom prst="rect">
                      <a:avLst/>
                    </a:prstGeom>
                    <a:blipFill>
                      <a:blip r:embed="rId9"/>
                      <a:stretch>
                        <a:fillRect l="-667" t="-9836" r="-584" b="-245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1EAA896-8A69-4639-94FB-B71D600D8955}"/>
                        </a:ext>
                      </a:extLst>
                    </p:cNvPr>
                    <p:cNvSpPr txBox="1"/>
                    <p:nvPr/>
                  </p:nvSpPr>
                  <p:spPr>
                    <a:xfrm>
                      <a:off x="8725174" y="2563678"/>
                      <a:ext cx="2033967" cy="388504"/>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oMath>
                        </m:oMathPara>
                      </a14:m>
                      <a:endParaRPr lang="zh-CN" altLang="en-US">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01EAA896-8A69-4639-94FB-B71D600D8955}"/>
                        </a:ext>
                      </a:extLst>
                    </p:cNvPr>
                    <p:cNvSpPr txBox="1">
                      <a:spLocks noRot="1" noChangeAspect="1" noMove="1" noResize="1" noEditPoints="1" noAdjustHandles="1" noChangeArrowheads="1" noChangeShapeType="1" noTextEdit="1"/>
                    </p:cNvSpPr>
                    <p:nvPr/>
                  </p:nvSpPr>
                  <p:spPr>
                    <a:xfrm>
                      <a:off x="8725174" y="2563678"/>
                      <a:ext cx="2033967" cy="388504"/>
                    </a:xfrm>
                    <a:prstGeom prst="rect">
                      <a:avLst/>
                    </a:prstGeom>
                    <a:blipFill>
                      <a:blip r:embed="rId10"/>
                      <a:stretch>
                        <a:fillRect b="-158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2C44F555-6CA1-4937-81EC-5A42181A6E03}"/>
                        </a:ext>
                      </a:extLst>
                    </p:cNvPr>
                    <p:cNvSpPr txBox="1"/>
                    <p:nvPr/>
                  </p:nvSpPr>
                  <p:spPr>
                    <a:xfrm>
                      <a:off x="8725175" y="3767562"/>
                      <a:ext cx="2145934" cy="389850"/>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oMath>
                        </m:oMathPara>
                      </a14:m>
                      <a:endParaRPr lang="zh-CN" altLang="en-US">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2C44F555-6CA1-4937-81EC-5A42181A6E03}"/>
                        </a:ext>
                      </a:extLst>
                    </p:cNvPr>
                    <p:cNvSpPr txBox="1">
                      <a:spLocks noRot="1" noChangeAspect="1" noMove="1" noResize="1" noEditPoints="1" noAdjustHandles="1" noChangeArrowheads="1" noChangeShapeType="1" noTextEdit="1"/>
                    </p:cNvSpPr>
                    <p:nvPr/>
                  </p:nvSpPr>
                  <p:spPr>
                    <a:xfrm>
                      <a:off x="8725175" y="3767562"/>
                      <a:ext cx="2145934" cy="389850"/>
                    </a:xfrm>
                    <a:prstGeom prst="rect">
                      <a:avLst/>
                    </a:prstGeom>
                    <a:blipFill>
                      <a:blip r:embed="rId11"/>
                      <a:stretch>
                        <a:fillRect b="-156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37C4CC6-EA3A-46D0-98E7-06FD72BA5274}"/>
                        </a:ext>
                      </a:extLst>
                    </p:cNvPr>
                    <p:cNvSpPr txBox="1"/>
                    <p:nvPr/>
                  </p:nvSpPr>
                  <p:spPr>
                    <a:xfrm>
                      <a:off x="8725173" y="4605861"/>
                      <a:ext cx="2145935" cy="375552"/>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oMath>
                        </m:oMathPara>
                      </a14:m>
                      <a:endParaRPr lang="zh-CN" altLang="en-US">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A37C4CC6-EA3A-46D0-98E7-06FD72BA5274}"/>
                        </a:ext>
                      </a:extLst>
                    </p:cNvPr>
                    <p:cNvSpPr txBox="1">
                      <a:spLocks noRot="1" noChangeAspect="1" noMove="1" noResize="1" noEditPoints="1" noAdjustHandles="1" noChangeArrowheads="1" noChangeShapeType="1" noTextEdit="1"/>
                    </p:cNvSpPr>
                    <p:nvPr/>
                  </p:nvSpPr>
                  <p:spPr>
                    <a:xfrm>
                      <a:off x="8725173" y="4605861"/>
                      <a:ext cx="2145935" cy="375552"/>
                    </a:xfrm>
                    <a:prstGeom prst="rect">
                      <a:avLst/>
                    </a:prstGeom>
                    <a:blipFill>
                      <a:blip r:embed="rId12"/>
                      <a:stretch>
                        <a:fillRect/>
                      </a:stretch>
                    </a:blipFill>
                    <a:ln>
                      <a:noFill/>
                    </a:ln>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10330AD7-94AD-4D11-95AB-506F9CE5AD8F}"/>
                    </a:ext>
                  </a:extLst>
                </p:cNvPr>
                <p:cNvSpPr/>
                <p:nvPr/>
              </p:nvSpPr>
              <p:spPr>
                <a:xfrm>
                  <a:off x="8094742" y="2751352"/>
                  <a:ext cx="630432"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BC493567-61A5-42B7-B253-3A37C1F3C514}"/>
                    </a:ext>
                  </a:extLst>
                </p:cNvPr>
                <p:cNvSpPr/>
                <p:nvPr/>
              </p:nvSpPr>
              <p:spPr>
                <a:xfrm>
                  <a:off x="8045404" y="3962487"/>
                  <a:ext cx="679770"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E761C0CA-8E86-4A7F-9C3E-EB513D2A2351}"/>
                    </a:ext>
                  </a:extLst>
                </p:cNvPr>
                <p:cNvSpPr/>
                <p:nvPr/>
              </p:nvSpPr>
              <p:spPr>
                <a:xfrm>
                  <a:off x="7992777" y="4800786"/>
                  <a:ext cx="732397"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30" name="直接连接符 29">
              <a:extLst>
                <a:ext uri="{FF2B5EF4-FFF2-40B4-BE49-F238E27FC236}">
                  <a16:creationId xmlns:a16="http://schemas.microsoft.com/office/drawing/2014/main" id="{435BBF11-6263-486D-A13B-DB35CFD3DAA0}"/>
                </a:ext>
              </a:extLst>
            </p:cNvPr>
            <p:cNvCxnSpPr/>
            <p:nvPr/>
          </p:nvCxnSpPr>
          <p:spPr>
            <a:xfrm>
              <a:off x="4193719" y="2994023"/>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71BAA28-F934-4313-AB0A-4C43B5158E4E}"/>
                </a:ext>
              </a:extLst>
            </p:cNvPr>
            <p:cNvCxnSpPr/>
            <p:nvPr/>
          </p:nvCxnSpPr>
          <p:spPr>
            <a:xfrm>
              <a:off x="4240884" y="3326521"/>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15C1AB1-769C-489A-A4B3-8021DBB66AB5}"/>
                </a:ext>
              </a:extLst>
            </p:cNvPr>
            <p:cNvCxnSpPr/>
            <p:nvPr/>
          </p:nvCxnSpPr>
          <p:spPr>
            <a:xfrm>
              <a:off x="4193719" y="4213513"/>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3622200A-36A6-4B9C-A3BF-DE8FB1E0C246}"/>
                </a:ext>
              </a:extLst>
            </p:cNvPr>
            <p:cNvCxnSpPr/>
            <p:nvPr/>
          </p:nvCxnSpPr>
          <p:spPr>
            <a:xfrm>
              <a:off x="4192172" y="4553472"/>
              <a:ext cx="262478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D584701-C6F1-4D91-9573-19A03B865236}"/>
                </a:ext>
              </a:extLst>
            </p:cNvPr>
            <p:cNvCxnSpPr>
              <a:cxnSpLocks/>
            </p:cNvCxnSpPr>
            <p:nvPr/>
          </p:nvCxnSpPr>
          <p:spPr>
            <a:xfrm>
              <a:off x="4053017" y="5392902"/>
              <a:ext cx="3182857"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0859C48-DE76-464B-A0BB-2E1201D4188B}"/>
                </a:ext>
              </a:extLst>
            </p:cNvPr>
            <p:cNvCxnSpPr>
              <a:cxnSpLocks/>
            </p:cNvCxnSpPr>
            <p:nvPr/>
          </p:nvCxnSpPr>
          <p:spPr>
            <a:xfrm>
              <a:off x="9692535" y="3398133"/>
              <a:ext cx="1353812"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ED8E4E5C-07A5-4667-8E2B-D9FC7D072AC2}"/>
                </a:ext>
              </a:extLst>
            </p:cNvPr>
            <p:cNvCxnSpPr>
              <a:cxnSpLocks/>
            </p:cNvCxnSpPr>
            <p:nvPr/>
          </p:nvCxnSpPr>
          <p:spPr>
            <a:xfrm>
              <a:off x="9713392" y="4596819"/>
              <a:ext cx="1279167" cy="6544"/>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C8C8071-EC99-4B74-9683-037ECE73C613}"/>
                </a:ext>
              </a:extLst>
            </p:cNvPr>
            <p:cNvCxnSpPr>
              <a:cxnSpLocks/>
            </p:cNvCxnSpPr>
            <p:nvPr/>
          </p:nvCxnSpPr>
          <p:spPr>
            <a:xfrm>
              <a:off x="9781816" y="5419223"/>
              <a:ext cx="1332955" cy="814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57E3014E-3B5E-4568-B7AA-CEDA7C7EBD5B}"/>
              </a:ext>
            </a:extLst>
          </p:cNvPr>
          <p:cNvCxnSpPr>
            <a:cxnSpLocks/>
          </p:cNvCxnSpPr>
          <p:nvPr/>
        </p:nvCxnSpPr>
        <p:spPr>
          <a:xfrm>
            <a:off x="8489670" y="5990722"/>
            <a:ext cx="2405729"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2782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递推关系式建模计数问题练习（二）</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27A8B3C-9A49-4B4F-B7D6-9E576EE8CE14}"/>
                  </a:ext>
                </a:extLst>
              </p:cNvPr>
              <p:cNvSpPr txBox="1"/>
              <p:nvPr/>
            </p:nvSpPr>
            <p:spPr>
              <a:xfrm>
                <a:off x="688868" y="1246887"/>
                <a:ext cx="6442135"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𝒏</m:t>
                    </m:r>
                  </m:oMath>
                </a14:m>
                <a:r>
                  <a:rPr lang="zh-CN" altLang="en-US" sz="2400" b="1">
                    <a:solidFill>
                      <a:srgbClr val="002060"/>
                    </a:solidFill>
                    <a:latin typeface="楷体" panose="02010609060101010101" pitchFamily="49" charset="-122"/>
                    <a:ea typeface="楷体" panose="02010609060101010101" pitchFamily="49" charset="-122"/>
                  </a:rPr>
                  <a:t>含有连续三个</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𝟎</m:t>
                    </m:r>
                  </m:oMath>
                </a14:m>
                <a:r>
                  <a:rPr lang="zh-CN" altLang="en-US" sz="2400" b="1">
                    <a:solidFill>
                      <a:srgbClr val="002060"/>
                    </a:solidFill>
                    <a:latin typeface="楷体" panose="02010609060101010101" pitchFamily="49" charset="-122"/>
                    <a:ea typeface="楷体" panose="02010609060101010101" pitchFamily="49" charset="-122"/>
                  </a:rPr>
                  <a:t>的二进制串有多少个？</a:t>
                </a:r>
              </a:p>
            </p:txBody>
          </p:sp>
        </mc:Choice>
        <mc:Fallback xmlns="">
          <p:sp>
            <p:nvSpPr>
              <p:cNvPr id="2" name="文本框 1">
                <a:extLst>
                  <a:ext uri="{FF2B5EF4-FFF2-40B4-BE49-F238E27FC236}">
                    <a16:creationId xmlns:a16="http://schemas.microsoft.com/office/drawing/2014/main" id="{E27A8B3C-9A49-4B4F-B7D6-9E576EE8CE14}"/>
                  </a:ext>
                </a:extLst>
              </p:cNvPr>
              <p:cNvSpPr txBox="1">
                <a:spLocks noRot="1" noChangeAspect="1" noMove="1" noResize="1" noEditPoints="1" noAdjustHandles="1" noChangeArrowheads="1" noChangeShapeType="1" noTextEdit="1"/>
              </p:cNvSpPr>
              <p:nvPr/>
            </p:nvSpPr>
            <p:spPr>
              <a:xfrm>
                <a:off x="688868" y="1246887"/>
                <a:ext cx="6442135" cy="461665"/>
              </a:xfrm>
              <a:prstGeom prst="rect">
                <a:avLst/>
              </a:prstGeom>
              <a:blipFill>
                <a:blip r:embed="rId2"/>
                <a:stretch>
                  <a:fillRect l="-1419" t="-14667" r="-568"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E8814A4-D66D-4A83-8B6B-DA3839FC2630}"/>
                  </a:ext>
                </a:extLst>
              </p:cNvPr>
              <p:cNvSpPr txBox="1"/>
              <p:nvPr/>
            </p:nvSpPr>
            <p:spPr>
              <a:xfrm>
                <a:off x="7627674" y="1296353"/>
                <a:ext cx="303265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将含有连续三个</a:t>
                </a:r>
                <a:r>
                  <a:rPr lang="en-US" altLang="zh-CN" b="1">
                    <a:solidFill>
                      <a:schemeClr val="accent2">
                        <a:lumMod val="50000"/>
                      </a:schemeClr>
                    </a:solidFill>
                  </a:rPr>
                  <a:t>0</a:t>
                </a:r>
                <a:r>
                  <a:rPr lang="zh-CN" altLang="en-US" b="1">
                    <a:solidFill>
                      <a:schemeClr val="accent2">
                        <a:lumMod val="50000"/>
                      </a:schemeClr>
                    </a:solidFill>
                  </a:rPr>
                  <a:t>称为性质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endParaRPr lang="zh-CN" altLang="en-US"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7E8814A4-D66D-4A83-8B6B-DA3839FC2630}"/>
                  </a:ext>
                </a:extLst>
              </p:cNvPr>
              <p:cNvSpPr txBox="1">
                <a:spLocks noRot="1" noChangeAspect="1" noMove="1" noResize="1" noEditPoints="1" noAdjustHandles="1" noChangeArrowheads="1" noChangeShapeType="1" noTextEdit="1"/>
              </p:cNvSpPr>
              <p:nvPr/>
            </p:nvSpPr>
            <p:spPr>
              <a:xfrm>
                <a:off x="7627674" y="1296353"/>
                <a:ext cx="3032651" cy="369332"/>
              </a:xfrm>
              <a:prstGeom prst="rect">
                <a:avLst/>
              </a:prstGeom>
              <a:blipFill>
                <a:blip r:embed="rId3"/>
                <a:stretch>
                  <a:fillRect l="-1606"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B773F71-5DCA-4D2F-8945-4676A139BD1F}"/>
                  </a:ext>
                </a:extLst>
              </p:cNvPr>
              <p:cNvSpPr txBox="1"/>
              <p:nvPr/>
            </p:nvSpPr>
            <p:spPr>
              <a:xfrm>
                <a:off x="679314" y="1970493"/>
                <a:ext cx="10643879" cy="735714"/>
              </a:xfrm>
              <a:prstGeom prst="rect">
                <a:avLst/>
              </a:prstGeom>
              <a:solidFill>
                <a:schemeClr val="accent5">
                  <a:lumMod val="20000"/>
                  <a:lumOff val="80000"/>
                  <a:alpha val="50000"/>
                </a:schemeClr>
              </a:solidFill>
            </p:spPr>
            <p:txBody>
              <a:bodyPr wrap="square" rtlCol="0">
                <a:spAutoFit/>
              </a:bodyPr>
              <a:lstStyle/>
              <a:p>
                <a:pPr>
                  <a:spcBef>
                    <a:spcPts val="600"/>
                  </a:spcBef>
                </a:pP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的二进制串个数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开头的二进制串个数</a:t>
                </a:r>
                <a:endParaRPr lang="en-US" altLang="zh-CN" b="1">
                  <a:solidFill>
                    <a:schemeClr val="accent6">
                      <a:lumMod val="50000"/>
                    </a:schemeClr>
                  </a:solidFill>
                </a:endParaRPr>
              </a:p>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开头的二进制串个数</a:t>
                </a:r>
                <a:r>
                  <a:rPr lang="en-US" altLang="zh-CN" b="1">
                    <a:solidFill>
                      <a:schemeClr val="accent6">
                        <a:lumMod val="50000"/>
                      </a:schemeClr>
                    </a:solidFill>
                  </a:rPr>
                  <a:t>	</a:t>
                </a:r>
                <a:endParaRPr lang="zh-CN" altLang="en-US" b="1">
                  <a:solidFill>
                    <a:schemeClr val="accent6">
                      <a:lumMod val="50000"/>
                    </a:schemeClr>
                  </a:solidFill>
                </a:endParaRPr>
              </a:p>
            </p:txBody>
          </p:sp>
        </mc:Choice>
        <mc:Fallback xmlns="">
          <p:sp>
            <p:nvSpPr>
              <p:cNvPr id="12" name="文本框 11">
                <a:extLst>
                  <a:ext uri="{FF2B5EF4-FFF2-40B4-BE49-F238E27FC236}">
                    <a16:creationId xmlns:a16="http://schemas.microsoft.com/office/drawing/2014/main" id="{5B773F71-5DCA-4D2F-8945-4676A139BD1F}"/>
                  </a:ext>
                </a:extLst>
              </p:cNvPr>
              <p:cNvSpPr txBox="1">
                <a:spLocks noRot="1" noChangeAspect="1" noMove="1" noResize="1" noEditPoints="1" noAdjustHandles="1" noChangeArrowheads="1" noChangeShapeType="1" noTextEdit="1"/>
              </p:cNvSpPr>
              <p:nvPr/>
            </p:nvSpPr>
            <p:spPr>
              <a:xfrm>
                <a:off x="679314" y="1970493"/>
                <a:ext cx="10643879" cy="735714"/>
              </a:xfrm>
              <a:prstGeom prst="rect">
                <a:avLst/>
              </a:prstGeom>
              <a:blipFill>
                <a:blip r:embed="rId4"/>
                <a:stretch>
                  <a:fillRect t="-3306" b="-12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1D8CA01-B349-44FB-9CDE-517C37874615}"/>
                  </a:ext>
                </a:extLst>
              </p:cNvPr>
              <p:cNvSpPr txBox="1"/>
              <p:nvPr/>
            </p:nvSpPr>
            <p:spPr>
              <a:xfrm>
                <a:off x="7416771" y="5246361"/>
                <a:ext cx="3825744" cy="806439"/>
              </a:xfrm>
              <a:prstGeom prst="rect">
                <a:avLst/>
              </a:prstGeom>
              <a:solidFill>
                <a:schemeClr val="accent2">
                  <a:lumMod val="20000"/>
                  <a:lumOff val="80000"/>
                </a:schemeClr>
              </a:solidFill>
            </p:spPr>
            <p:txBody>
              <a:bodyPr wrap="square" rtlCol="0">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𝟐</m:t>
                          </m:r>
                        </m:e>
                        <m:sup>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sup>
                      </m:sSup>
                    </m:oMath>
                  </m:oMathPara>
                </a14:m>
                <a:endParaRPr lang="en-US" altLang="zh-CN" b="1" i="1">
                  <a:solidFill>
                    <a:srgbClr val="C0000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𝟎</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oMath>
                  </m:oMathPara>
                </a14:m>
                <a:endParaRPr lang="zh-CN" altLang="en-US">
                  <a:solidFill>
                    <a:srgbClr val="C00000"/>
                  </a:solidFill>
                </a:endParaRPr>
              </a:p>
            </p:txBody>
          </p:sp>
        </mc:Choice>
        <mc:Fallback xmlns="">
          <p:sp>
            <p:nvSpPr>
              <p:cNvPr id="11" name="文本框 10">
                <a:extLst>
                  <a:ext uri="{FF2B5EF4-FFF2-40B4-BE49-F238E27FC236}">
                    <a16:creationId xmlns:a16="http://schemas.microsoft.com/office/drawing/2014/main" id="{31D8CA01-B349-44FB-9CDE-517C37874615}"/>
                  </a:ext>
                </a:extLst>
              </p:cNvPr>
              <p:cNvSpPr txBox="1">
                <a:spLocks noRot="1" noChangeAspect="1" noMove="1" noResize="1" noEditPoints="1" noAdjustHandles="1" noChangeArrowheads="1" noChangeShapeType="1" noTextEdit="1"/>
              </p:cNvSpPr>
              <p:nvPr/>
            </p:nvSpPr>
            <p:spPr>
              <a:xfrm>
                <a:off x="7416771" y="5246361"/>
                <a:ext cx="3825744" cy="806439"/>
              </a:xfrm>
              <a:prstGeom prst="rect">
                <a:avLst/>
              </a:prstGeom>
              <a:blipFill>
                <a:blip r:embed="rId5"/>
                <a:stretch>
                  <a:fillRect/>
                </a:stretch>
              </a:blipFill>
            </p:spPr>
            <p:txBody>
              <a:bodyPr/>
              <a:lstStyle/>
              <a:p>
                <a:r>
                  <a:rPr lang="zh-CN" altLang="en-US">
                    <a:noFill/>
                  </a:rPr>
                  <a:t> </a:t>
                </a:r>
              </a:p>
            </p:txBody>
          </p:sp>
        </mc:Fallback>
      </mc:AlternateContent>
      <p:sp>
        <p:nvSpPr>
          <p:cNvPr id="26" name="箭头: 下 25">
            <a:extLst>
              <a:ext uri="{FF2B5EF4-FFF2-40B4-BE49-F238E27FC236}">
                <a16:creationId xmlns:a16="http://schemas.microsoft.com/office/drawing/2014/main" id="{F2EE8972-7944-4A8E-86FA-B5528C0CDD1A}"/>
              </a:ext>
            </a:extLst>
          </p:cNvPr>
          <p:cNvSpPr/>
          <p:nvPr/>
        </p:nvSpPr>
        <p:spPr>
          <a:xfrm>
            <a:off x="9287075" y="4933420"/>
            <a:ext cx="85135" cy="3029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a:extLst>
              <a:ext uri="{FF2B5EF4-FFF2-40B4-BE49-F238E27FC236}">
                <a16:creationId xmlns:a16="http://schemas.microsoft.com/office/drawing/2014/main" id="{57E3014E-3B5E-4568-B7AA-CEDA7C7EBD5B}"/>
              </a:ext>
            </a:extLst>
          </p:cNvPr>
          <p:cNvCxnSpPr>
            <a:cxnSpLocks/>
          </p:cNvCxnSpPr>
          <p:nvPr/>
        </p:nvCxnSpPr>
        <p:spPr>
          <a:xfrm flipV="1">
            <a:off x="8247710" y="5612204"/>
            <a:ext cx="2771139" cy="17519"/>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7A087066-6176-4E81-88A3-E22BAB01B79F}"/>
              </a:ext>
            </a:extLst>
          </p:cNvPr>
          <p:cNvSpPr txBox="1"/>
          <p:nvPr/>
        </p:nvSpPr>
        <p:spPr>
          <a:xfrm>
            <a:off x="8215915" y="5315221"/>
            <a:ext cx="2802934" cy="276999"/>
          </a:xfrm>
          <a:prstGeom prst="rect">
            <a:avLst/>
          </a:prstGeom>
          <a:solidFill>
            <a:srgbClr val="FBE5D6"/>
          </a:solidFill>
        </p:spPr>
        <p:txBody>
          <a:bodyPr wrap="square" tIns="0" bIns="0" rtlCol="0">
            <a:spAutoFit/>
          </a:bodyPr>
          <a:lstStyle/>
          <a:p>
            <a:pPr algn="ctr"/>
            <a:r>
              <a:rPr lang="en-US" altLang="zh-CN" b="1">
                <a:solidFill>
                  <a:srgbClr val="C00000"/>
                </a:solidFill>
              </a:rPr>
              <a:t>(7)</a:t>
            </a:r>
            <a:endParaRPr lang="zh-CN" altLang="en-US" b="1">
              <a:solidFill>
                <a:srgbClr val="C00000"/>
              </a:solidFill>
            </a:endParaRPr>
          </a:p>
        </p:txBody>
      </p:sp>
      <p:grpSp>
        <p:nvGrpSpPr>
          <p:cNvPr id="3" name="组合 2">
            <a:extLst>
              <a:ext uri="{FF2B5EF4-FFF2-40B4-BE49-F238E27FC236}">
                <a16:creationId xmlns:a16="http://schemas.microsoft.com/office/drawing/2014/main" id="{5298DB7A-AA20-40F5-BFE6-7084015E792C}"/>
              </a:ext>
            </a:extLst>
          </p:cNvPr>
          <p:cNvGrpSpPr/>
          <p:nvPr/>
        </p:nvGrpSpPr>
        <p:grpSpPr>
          <a:xfrm>
            <a:off x="621277" y="2919081"/>
            <a:ext cx="10949444" cy="2032675"/>
            <a:chOff x="619249" y="2919081"/>
            <a:chExt cx="10949444" cy="2032675"/>
          </a:xfrm>
        </p:grpSpPr>
        <p:grpSp>
          <p:nvGrpSpPr>
            <p:cNvPr id="29" name="组合 28">
              <a:extLst>
                <a:ext uri="{FF2B5EF4-FFF2-40B4-BE49-F238E27FC236}">
                  <a16:creationId xmlns:a16="http://schemas.microsoft.com/office/drawing/2014/main" id="{E1723664-4CC2-4F70-B131-C2BCDAF83831}"/>
                </a:ext>
              </a:extLst>
            </p:cNvPr>
            <p:cNvGrpSpPr/>
            <p:nvPr/>
          </p:nvGrpSpPr>
          <p:grpSpPr>
            <a:xfrm>
              <a:off x="619249" y="2919081"/>
              <a:ext cx="10949444" cy="2032675"/>
              <a:chOff x="772032" y="2911594"/>
              <a:chExt cx="10949444" cy="2032675"/>
            </a:xfrm>
          </p:grpSpPr>
          <p:sp>
            <p:nvSpPr>
              <p:cNvPr id="25" name="矩形 24">
                <a:extLst>
                  <a:ext uri="{FF2B5EF4-FFF2-40B4-BE49-F238E27FC236}">
                    <a16:creationId xmlns:a16="http://schemas.microsoft.com/office/drawing/2014/main" id="{EC051C7E-50D7-4F0F-B066-B815EBE10939}"/>
                  </a:ext>
                </a:extLst>
              </p:cNvPr>
              <p:cNvSpPr/>
              <p:nvPr/>
            </p:nvSpPr>
            <p:spPr>
              <a:xfrm>
                <a:off x="772032" y="2911594"/>
                <a:ext cx="10949444" cy="2032675"/>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83E672BC-4D34-4DFD-97A9-2515DB031134}"/>
                  </a:ext>
                </a:extLst>
              </p:cNvPr>
              <p:cNvGrpSpPr/>
              <p:nvPr/>
            </p:nvGrpSpPr>
            <p:grpSpPr>
              <a:xfrm>
                <a:off x="832097" y="3037541"/>
                <a:ext cx="10814079" cy="1756259"/>
                <a:chOff x="684155" y="2219321"/>
                <a:chExt cx="10787832" cy="1756259"/>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F45B1C9-AF54-45A6-8D1A-F101BAB65790}"/>
                        </a:ext>
                      </a:extLst>
                    </p:cNvPr>
                    <p:cNvSpPr txBox="1"/>
                    <p:nvPr/>
                  </p:nvSpPr>
                  <p:spPr>
                    <a:xfrm>
                      <a:off x="684155" y="2219321"/>
                      <a:ext cx="7518309" cy="1154162"/>
                    </a:xfrm>
                    <a:prstGeom prst="rect">
                      <a:avLst/>
                    </a:prstGeom>
                    <a:solidFill>
                      <a:schemeClr val="accent2">
                        <a:lumMod val="20000"/>
                        <a:lumOff val="80000"/>
                      </a:schemeClr>
                    </a:solidFill>
                    <a:ln>
                      <a:noFill/>
                    </a:ln>
                  </p:spPr>
                  <p:txBody>
                    <a:bodyPr wrap="square" rtlCol="0">
                      <a:spAutoFit/>
                    </a:bodyPr>
                    <a:lstStyle/>
                    <a:p>
                      <a:pPr>
                        <a:spcBef>
                          <a:spcPts val="600"/>
                        </a:spcBef>
                        <a:spcAft>
                          <a:spcPts val="300"/>
                        </a:spcAft>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𝟎𝟏</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spcAft>
                          <a:spcPts val="300"/>
                        </a:spcAft>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𝟎𝟎𝟏</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i="0" smtClean="0">
                              <a:solidFill>
                                <a:srgbClr val="C00000"/>
                              </a:solidFill>
                              <a:latin typeface="Cambria Math" panose="02040503050406030204" pitchFamily="18" charset="0"/>
                            </a:rPr>
                            <m:t>𝟐</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0" smtClean="0">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spcAft>
                          <a:spcPts val="300"/>
                        </a:spcAft>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a:solidFill>
                                <a:schemeClr val="accent6">
                                  <a:lumMod val="50000"/>
                                </a:schemeClr>
                              </a:solidFill>
                              <a:latin typeface="Cambria Math" panose="02040503050406030204" pitchFamily="18" charset="0"/>
                            </a:rPr>
                            <m:t>𝟎𝟎</m:t>
                          </m:r>
                          <m:r>
                            <a:rPr lang="en-US" altLang="zh-CN" b="1" i="1" smtClean="0">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oMath>
                      </a14:m>
                      <a:r>
                        <a:rPr lang="zh-CN" altLang="en-US" b="1">
                          <a:solidFill>
                            <a:srgbClr val="C00000"/>
                          </a:solidFill>
                        </a:rPr>
                        <a:t>的任意二进串</a:t>
                      </a:r>
                      <a:r>
                        <a:rPr lang="zh-CN" altLang="en-US" b="1">
                          <a:solidFill>
                            <a:schemeClr val="accent6">
                              <a:lumMod val="50000"/>
                            </a:schemeClr>
                          </a:solidFill>
                        </a:rPr>
                        <a:t>一一对应</a:t>
                      </a:r>
                      <a:endParaRPr lang="en-US" altLang="zh-CN" b="1">
                        <a:solidFill>
                          <a:srgbClr val="0000FF"/>
                        </a:solidFill>
                      </a:endParaRPr>
                    </a:p>
                  </p:txBody>
                </p:sp>
              </mc:Choice>
              <mc:Fallback xmlns="">
                <p:sp>
                  <p:nvSpPr>
                    <p:cNvPr id="15" name="文本框 14">
                      <a:extLst>
                        <a:ext uri="{FF2B5EF4-FFF2-40B4-BE49-F238E27FC236}">
                          <a16:creationId xmlns:a16="http://schemas.microsoft.com/office/drawing/2014/main" id="{EF45B1C9-AF54-45A6-8D1A-F101BAB65790}"/>
                        </a:ext>
                      </a:extLst>
                    </p:cNvPr>
                    <p:cNvSpPr txBox="1">
                      <a:spLocks noRot="1" noChangeAspect="1" noMove="1" noResize="1" noEditPoints="1" noAdjustHandles="1" noChangeArrowheads="1" noChangeShapeType="1" noTextEdit="1"/>
                    </p:cNvSpPr>
                    <p:nvPr/>
                  </p:nvSpPr>
                  <p:spPr>
                    <a:xfrm>
                      <a:off x="684155" y="2219321"/>
                      <a:ext cx="7518309" cy="1154162"/>
                    </a:xfrm>
                    <a:prstGeom prst="rect">
                      <a:avLst/>
                    </a:prstGeom>
                    <a:blipFill>
                      <a:blip r:embed="rId6"/>
                      <a:stretch>
                        <a:fillRect l="-728" t="-3175" b="-793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6F8980D-4374-4176-91F3-36B50ED0DF8D}"/>
                        </a:ext>
                      </a:extLst>
                    </p:cNvPr>
                    <p:cNvSpPr txBox="1"/>
                    <p:nvPr/>
                  </p:nvSpPr>
                  <p:spPr>
                    <a:xfrm>
                      <a:off x="684155" y="3606248"/>
                      <a:ext cx="7308622" cy="369332"/>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开头的串与</a:t>
                      </a:r>
                      <a:r>
                        <a:rPr lang="zh-CN" altLang="en-US" b="1">
                          <a:solidFill>
                            <a:srgbClr val="C00000"/>
                          </a:solidFill>
                        </a:rPr>
                        <a:t>长度为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的三进制串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xmlns="">
                <p:sp>
                  <p:nvSpPr>
                    <p:cNvPr id="16" name="文本框 15">
                      <a:extLst>
                        <a:ext uri="{FF2B5EF4-FFF2-40B4-BE49-F238E27FC236}">
                          <a16:creationId xmlns:a16="http://schemas.microsoft.com/office/drawing/2014/main" id="{56F8980D-4374-4176-91F3-36B50ED0DF8D}"/>
                        </a:ext>
                      </a:extLst>
                    </p:cNvPr>
                    <p:cNvSpPr txBox="1">
                      <a:spLocks noRot="1" noChangeAspect="1" noMove="1" noResize="1" noEditPoints="1" noAdjustHandles="1" noChangeArrowheads="1" noChangeShapeType="1" noTextEdit="1"/>
                    </p:cNvSpPr>
                    <p:nvPr/>
                  </p:nvSpPr>
                  <p:spPr>
                    <a:xfrm>
                      <a:off x="684155" y="3606248"/>
                      <a:ext cx="7308622" cy="369332"/>
                    </a:xfrm>
                    <a:prstGeom prst="rect">
                      <a:avLst/>
                    </a:prstGeom>
                    <a:blipFill>
                      <a:blip r:embed="rId7"/>
                      <a:stretch>
                        <a:fillRect l="-749" t="-8197" r="-250" b="-245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1EAA896-8A69-4639-94FB-B71D600D8955}"/>
                        </a:ext>
                      </a:extLst>
                    </p:cNvPr>
                    <p:cNvSpPr txBox="1"/>
                    <p:nvPr/>
                  </p:nvSpPr>
                  <p:spPr>
                    <a:xfrm>
                      <a:off x="8725174" y="2571453"/>
                      <a:ext cx="2746813" cy="388504"/>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sub>
                              <m:sup>
                                <m:r>
                                  <a:rPr lang="en-US" altLang="zh-CN" b="1" i="1" smtClean="0">
                                    <a:solidFill>
                                      <a:srgbClr val="C00000"/>
                                    </a:solidFill>
                                    <a:latin typeface="Cambria Math" panose="02040503050406030204" pitchFamily="18" charset="0"/>
                                  </a:rPr>
                                  <m:t>𝟏</m:t>
                                </m:r>
                              </m:sup>
                            </m:sSubSup>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𝟐</m:t>
                                </m:r>
                              </m:e>
                              <m:sup>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sup>
                            </m:sSup>
                          </m:oMath>
                        </m:oMathPara>
                      </a14:m>
                      <a:endParaRPr lang="zh-CN" altLang="en-US"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01EAA896-8A69-4639-94FB-B71D600D8955}"/>
                        </a:ext>
                      </a:extLst>
                    </p:cNvPr>
                    <p:cNvSpPr txBox="1">
                      <a:spLocks noRot="1" noChangeAspect="1" noMove="1" noResize="1" noEditPoints="1" noAdjustHandles="1" noChangeArrowheads="1" noChangeShapeType="1" noTextEdit="1"/>
                    </p:cNvSpPr>
                    <p:nvPr/>
                  </p:nvSpPr>
                  <p:spPr>
                    <a:xfrm>
                      <a:off x="8725174" y="2571453"/>
                      <a:ext cx="2746813" cy="388504"/>
                    </a:xfrm>
                    <a:prstGeom prst="rect">
                      <a:avLst/>
                    </a:prstGeom>
                    <a:blipFill>
                      <a:blip r:embed="rId8"/>
                      <a:stretch>
                        <a:fillRect b="-156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37C4CC6-EA3A-46D0-98E7-06FD72BA5274}"/>
                        </a:ext>
                      </a:extLst>
                    </p:cNvPr>
                    <p:cNvSpPr txBox="1"/>
                    <p:nvPr/>
                  </p:nvSpPr>
                  <p:spPr>
                    <a:xfrm>
                      <a:off x="8737856" y="3577018"/>
                      <a:ext cx="2183092" cy="375552"/>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smtClean="0">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oMath>
                        </m:oMathPara>
                      </a14:m>
                      <a:endParaRPr lang="zh-CN" altLang="en-US">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A37C4CC6-EA3A-46D0-98E7-06FD72BA5274}"/>
                        </a:ext>
                      </a:extLst>
                    </p:cNvPr>
                    <p:cNvSpPr txBox="1">
                      <a:spLocks noRot="1" noChangeAspect="1" noMove="1" noResize="1" noEditPoints="1" noAdjustHandles="1" noChangeArrowheads="1" noChangeShapeType="1" noTextEdit="1"/>
                    </p:cNvSpPr>
                    <p:nvPr/>
                  </p:nvSpPr>
                  <p:spPr>
                    <a:xfrm>
                      <a:off x="8737856" y="3577018"/>
                      <a:ext cx="2183092" cy="375552"/>
                    </a:xfrm>
                    <a:prstGeom prst="rect">
                      <a:avLst/>
                    </a:prstGeom>
                    <a:blipFill>
                      <a:blip r:embed="rId9"/>
                      <a:stretch>
                        <a:fillRect/>
                      </a:stretch>
                    </a:blipFill>
                    <a:ln>
                      <a:noFill/>
                    </a:ln>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10330AD7-94AD-4D11-95AB-506F9CE5AD8F}"/>
                    </a:ext>
                  </a:extLst>
                </p:cNvPr>
                <p:cNvSpPr/>
                <p:nvPr/>
              </p:nvSpPr>
              <p:spPr>
                <a:xfrm>
                  <a:off x="8202464" y="2751352"/>
                  <a:ext cx="522710"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E761C0CA-8E86-4A7F-9C3E-EB513D2A2351}"/>
                    </a:ext>
                  </a:extLst>
                </p:cNvPr>
                <p:cNvSpPr/>
                <p:nvPr/>
              </p:nvSpPr>
              <p:spPr>
                <a:xfrm>
                  <a:off x="7992777" y="3764794"/>
                  <a:ext cx="745079"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0" name="直接连接符 29">
                <a:extLst>
                  <a:ext uri="{FF2B5EF4-FFF2-40B4-BE49-F238E27FC236}">
                    <a16:creationId xmlns:a16="http://schemas.microsoft.com/office/drawing/2014/main" id="{435BBF11-6263-486D-A13B-DB35CFD3DAA0}"/>
                  </a:ext>
                </a:extLst>
              </p:cNvPr>
              <p:cNvCxnSpPr/>
              <p:nvPr/>
            </p:nvCxnSpPr>
            <p:spPr>
              <a:xfrm>
                <a:off x="4062295" y="3366292"/>
                <a:ext cx="263117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71BAA28-F934-4313-AB0A-4C43B5158E4E}"/>
                  </a:ext>
                </a:extLst>
              </p:cNvPr>
              <p:cNvCxnSpPr/>
              <p:nvPr/>
            </p:nvCxnSpPr>
            <p:spPr>
              <a:xfrm>
                <a:off x="4176292" y="3770402"/>
                <a:ext cx="263117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D584701-C6F1-4D91-9573-19A03B865236}"/>
                  </a:ext>
                </a:extLst>
              </p:cNvPr>
              <p:cNvCxnSpPr>
                <a:cxnSpLocks/>
              </p:cNvCxnSpPr>
              <p:nvPr/>
            </p:nvCxnSpPr>
            <p:spPr>
              <a:xfrm>
                <a:off x="3913607" y="4738453"/>
                <a:ext cx="319060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0859C48-DE76-464B-A0BB-2E1201D4188B}"/>
                  </a:ext>
                </a:extLst>
              </p:cNvPr>
              <p:cNvCxnSpPr>
                <a:cxnSpLocks/>
              </p:cNvCxnSpPr>
              <p:nvPr/>
            </p:nvCxnSpPr>
            <p:spPr>
              <a:xfrm>
                <a:off x="9574490" y="3770402"/>
                <a:ext cx="198910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C8C8071-EC99-4B74-9683-037ECE73C613}"/>
                  </a:ext>
                </a:extLst>
              </p:cNvPr>
              <p:cNvCxnSpPr>
                <a:cxnSpLocks/>
              </p:cNvCxnSpPr>
              <p:nvPr/>
            </p:nvCxnSpPr>
            <p:spPr>
              <a:xfrm>
                <a:off x="9601329" y="4738453"/>
                <a:ext cx="147975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1" name="直接连接符 40">
              <a:extLst>
                <a:ext uri="{FF2B5EF4-FFF2-40B4-BE49-F238E27FC236}">
                  <a16:creationId xmlns:a16="http://schemas.microsoft.com/office/drawing/2014/main" id="{EEE0C162-F0BA-402E-9BFA-F2F014447551}"/>
                </a:ext>
              </a:extLst>
            </p:cNvPr>
            <p:cNvCxnSpPr>
              <a:cxnSpLocks/>
            </p:cNvCxnSpPr>
            <p:nvPr/>
          </p:nvCxnSpPr>
          <p:spPr>
            <a:xfrm>
              <a:off x="4023509" y="4144574"/>
              <a:ext cx="2337820"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54F6041B-2DA9-464A-9156-4063E3C4EFAA}"/>
                </a:ext>
              </a:extLst>
            </p:cNvPr>
            <p:cNvSpPr txBox="1"/>
            <p:nvPr/>
          </p:nvSpPr>
          <p:spPr>
            <a:xfrm>
              <a:off x="3866920" y="3081803"/>
              <a:ext cx="2673766" cy="276999"/>
            </a:xfrm>
            <a:prstGeom prst="rect">
              <a:avLst/>
            </a:prstGeom>
            <a:solidFill>
              <a:srgbClr val="FBE5D6"/>
            </a:solidFill>
          </p:spPr>
          <p:txBody>
            <a:bodyPr wrap="square" tIns="0" bIns="0" rtlCol="0">
              <a:spAutoFit/>
            </a:bodyPr>
            <a:lstStyle/>
            <a:p>
              <a:pPr algn="ctr"/>
              <a:r>
                <a:rPr lang="en-US" altLang="zh-CN" b="1">
                  <a:solidFill>
                    <a:srgbClr val="C00000"/>
                  </a:solidFill>
                </a:rPr>
                <a:t>(1)</a:t>
              </a:r>
              <a:endParaRPr lang="zh-CN" altLang="en-US" b="1">
                <a:solidFill>
                  <a:srgbClr val="C00000"/>
                </a:solidFill>
              </a:endParaRPr>
            </a:p>
          </p:txBody>
        </p:sp>
        <p:sp>
          <p:nvSpPr>
            <p:cNvPr id="33" name="文本框 32">
              <a:extLst>
                <a:ext uri="{FF2B5EF4-FFF2-40B4-BE49-F238E27FC236}">
                  <a16:creationId xmlns:a16="http://schemas.microsoft.com/office/drawing/2014/main" id="{F4842B31-3B10-4CF3-BAAA-1DE5EA21DDFD}"/>
                </a:ext>
              </a:extLst>
            </p:cNvPr>
            <p:cNvSpPr txBox="1"/>
            <p:nvPr/>
          </p:nvSpPr>
          <p:spPr>
            <a:xfrm>
              <a:off x="4002213" y="3470377"/>
              <a:ext cx="2673766" cy="276999"/>
            </a:xfrm>
            <a:prstGeom prst="rect">
              <a:avLst/>
            </a:prstGeom>
            <a:solidFill>
              <a:srgbClr val="FBE5D6"/>
            </a:solidFill>
          </p:spPr>
          <p:txBody>
            <a:bodyPr wrap="square" tIns="0" bIns="0" rtlCol="0">
              <a:spAutoFit/>
            </a:bodyPr>
            <a:lstStyle/>
            <a:p>
              <a:pPr algn="ctr"/>
              <a:r>
                <a:rPr lang="en-US" altLang="zh-CN" b="1">
                  <a:solidFill>
                    <a:srgbClr val="C00000"/>
                  </a:solidFill>
                </a:rPr>
                <a:t>(2)</a:t>
              </a:r>
              <a:endParaRPr lang="zh-CN" altLang="en-US" b="1">
                <a:solidFill>
                  <a:srgbClr val="C00000"/>
                </a:solidFill>
              </a:endParaRPr>
            </a:p>
          </p:txBody>
        </p:sp>
        <p:sp>
          <p:nvSpPr>
            <p:cNvPr id="35" name="文本框 34">
              <a:extLst>
                <a:ext uri="{FF2B5EF4-FFF2-40B4-BE49-F238E27FC236}">
                  <a16:creationId xmlns:a16="http://schemas.microsoft.com/office/drawing/2014/main" id="{94A84CDD-6477-4F59-8B77-39E06F1A0B0B}"/>
                </a:ext>
              </a:extLst>
            </p:cNvPr>
            <p:cNvSpPr txBox="1"/>
            <p:nvPr/>
          </p:nvSpPr>
          <p:spPr>
            <a:xfrm>
              <a:off x="4002213" y="3852264"/>
              <a:ext cx="2359116" cy="276999"/>
            </a:xfrm>
            <a:prstGeom prst="rect">
              <a:avLst/>
            </a:prstGeom>
            <a:solidFill>
              <a:srgbClr val="FBE5D6"/>
            </a:solidFill>
          </p:spPr>
          <p:txBody>
            <a:bodyPr wrap="square" tIns="0" bIns="0" rtlCol="0">
              <a:spAutoFit/>
            </a:bodyPr>
            <a:lstStyle/>
            <a:p>
              <a:pPr algn="ctr"/>
              <a:r>
                <a:rPr lang="en-US" altLang="zh-CN" b="1">
                  <a:solidFill>
                    <a:srgbClr val="C00000"/>
                  </a:solidFill>
                </a:rPr>
                <a:t>(3)</a:t>
              </a:r>
              <a:endParaRPr lang="zh-CN" altLang="en-US" b="1">
                <a:solidFill>
                  <a:srgbClr val="C00000"/>
                </a:solidFill>
              </a:endParaRPr>
            </a:p>
          </p:txBody>
        </p:sp>
        <p:sp>
          <p:nvSpPr>
            <p:cNvPr id="37" name="文本框 36">
              <a:extLst>
                <a:ext uri="{FF2B5EF4-FFF2-40B4-BE49-F238E27FC236}">
                  <a16:creationId xmlns:a16="http://schemas.microsoft.com/office/drawing/2014/main" id="{3AED8505-CB2C-462E-B799-6940AACAC857}"/>
                </a:ext>
              </a:extLst>
            </p:cNvPr>
            <p:cNvSpPr txBox="1"/>
            <p:nvPr/>
          </p:nvSpPr>
          <p:spPr>
            <a:xfrm>
              <a:off x="3694141" y="4457860"/>
              <a:ext cx="3257284" cy="276999"/>
            </a:xfrm>
            <a:prstGeom prst="rect">
              <a:avLst/>
            </a:prstGeom>
            <a:solidFill>
              <a:srgbClr val="FBE5D6"/>
            </a:solidFill>
          </p:spPr>
          <p:txBody>
            <a:bodyPr wrap="square" tIns="0" bIns="0" rtlCol="0">
              <a:spAutoFit/>
            </a:bodyPr>
            <a:lstStyle/>
            <a:p>
              <a:pPr algn="ctr"/>
              <a:r>
                <a:rPr lang="en-US" altLang="zh-CN" b="1">
                  <a:solidFill>
                    <a:srgbClr val="C00000"/>
                  </a:solidFill>
                </a:rPr>
                <a:t>(5)</a:t>
              </a:r>
              <a:endParaRPr lang="zh-CN" altLang="en-US" b="1">
                <a:solidFill>
                  <a:srgbClr val="C00000"/>
                </a:solidFill>
              </a:endParaRPr>
            </a:p>
          </p:txBody>
        </p:sp>
        <p:sp>
          <p:nvSpPr>
            <p:cNvPr id="42" name="文本框 41">
              <a:extLst>
                <a:ext uri="{FF2B5EF4-FFF2-40B4-BE49-F238E27FC236}">
                  <a16:creationId xmlns:a16="http://schemas.microsoft.com/office/drawing/2014/main" id="{BC6592F8-9184-4F4D-B08C-10DBED7865AE}"/>
                </a:ext>
              </a:extLst>
            </p:cNvPr>
            <p:cNvSpPr txBox="1"/>
            <p:nvPr/>
          </p:nvSpPr>
          <p:spPr>
            <a:xfrm>
              <a:off x="9405110" y="3465278"/>
              <a:ext cx="2006417" cy="276999"/>
            </a:xfrm>
            <a:prstGeom prst="rect">
              <a:avLst/>
            </a:prstGeom>
            <a:solidFill>
              <a:srgbClr val="FFF2CC"/>
            </a:solidFill>
          </p:spPr>
          <p:txBody>
            <a:bodyPr wrap="square" tIns="0" bIns="0" rtlCol="0">
              <a:spAutoFit/>
            </a:bodyPr>
            <a:lstStyle/>
            <a:p>
              <a:pPr algn="ctr"/>
              <a:r>
                <a:rPr lang="en-US" altLang="zh-CN" b="1">
                  <a:solidFill>
                    <a:srgbClr val="C00000"/>
                  </a:solidFill>
                </a:rPr>
                <a:t>(3)</a:t>
              </a:r>
              <a:endParaRPr lang="zh-CN" altLang="en-US" b="1">
                <a:solidFill>
                  <a:srgbClr val="C00000"/>
                </a:solidFill>
              </a:endParaRPr>
            </a:p>
          </p:txBody>
        </p:sp>
        <p:sp>
          <p:nvSpPr>
            <p:cNvPr id="43" name="文本框 42">
              <a:extLst>
                <a:ext uri="{FF2B5EF4-FFF2-40B4-BE49-F238E27FC236}">
                  <a16:creationId xmlns:a16="http://schemas.microsoft.com/office/drawing/2014/main" id="{2964FD42-A0C8-4659-AF70-06E434EAEF86}"/>
                </a:ext>
              </a:extLst>
            </p:cNvPr>
            <p:cNvSpPr txBox="1"/>
            <p:nvPr/>
          </p:nvSpPr>
          <p:spPr>
            <a:xfrm>
              <a:off x="9421707" y="4452001"/>
              <a:ext cx="1506593" cy="276999"/>
            </a:xfrm>
            <a:prstGeom prst="rect">
              <a:avLst/>
            </a:prstGeom>
            <a:solidFill>
              <a:srgbClr val="FFF2CC"/>
            </a:solidFill>
          </p:spPr>
          <p:txBody>
            <a:bodyPr wrap="square" tIns="0" bIns="0" rtlCol="0">
              <a:spAutoFit/>
            </a:bodyPr>
            <a:lstStyle/>
            <a:p>
              <a:pPr algn="ctr"/>
              <a:r>
                <a:rPr lang="en-US" altLang="zh-CN" b="1">
                  <a:solidFill>
                    <a:srgbClr val="C00000"/>
                  </a:solidFill>
                </a:rPr>
                <a:t>(6)</a:t>
              </a:r>
              <a:endParaRPr lang="zh-CN" altLang="en-US" b="1">
                <a:solidFill>
                  <a:srgbClr val="C00000"/>
                </a:solidFill>
              </a:endParaRPr>
            </a:p>
          </p:txBody>
        </p:sp>
      </p:grpSp>
    </p:spTree>
    <p:extLst>
      <p:ext uri="{BB962C8B-B14F-4D97-AF65-F5344CB8AC3E}">
        <p14:creationId xmlns:p14="http://schemas.microsoft.com/office/powerpoint/2010/main" val="1173216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递推关系式建模计数问题练习（二）</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27A8B3C-9A49-4B4F-B7D6-9E576EE8CE14}"/>
                  </a:ext>
                </a:extLst>
              </p:cNvPr>
              <p:cNvSpPr txBox="1"/>
              <p:nvPr/>
            </p:nvSpPr>
            <p:spPr>
              <a:xfrm>
                <a:off x="688868" y="1246887"/>
                <a:ext cx="6442135"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𝒏</m:t>
                    </m:r>
                  </m:oMath>
                </a14:m>
                <a:r>
                  <a:rPr lang="zh-CN" altLang="en-US" sz="2400" b="1">
                    <a:solidFill>
                      <a:srgbClr val="002060"/>
                    </a:solidFill>
                    <a:latin typeface="楷体" panose="02010609060101010101" pitchFamily="49" charset="-122"/>
                    <a:ea typeface="楷体" panose="02010609060101010101" pitchFamily="49" charset="-122"/>
                  </a:rPr>
                  <a:t>含有连续三个</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𝟎</m:t>
                    </m:r>
                  </m:oMath>
                </a14:m>
                <a:r>
                  <a:rPr lang="zh-CN" altLang="en-US" sz="2400" b="1">
                    <a:solidFill>
                      <a:srgbClr val="002060"/>
                    </a:solidFill>
                    <a:latin typeface="楷体" panose="02010609060101010101" pitchFamily="49" charset="-122"/>
                    <a:ea typeface="楷体" panose="02010609060101010101" pitchFamily="49" charset="-122"/>
                  </a:rPr>
                  <a:t>的二进制串有多少个？</a:t>
                </a:r>
              </a:p>
            </p:txBody>
          </p:sp>
        </mc:Choice>
        <mc:Fallback xmlns="">
          <p:sp>
            <p:nvSpPr>
              <p:cNvPr id="2" name="文本框 1">
                <a:extLst>
                  <a:ext uri="{FF2B5EF4-FFF2-40B4-BE49-F238E27FC236}">
                    <a16:creationId xmlns:a16="http://schemas.microsoft.com/office/drawing/2014/main" id="{E27A8B3C-9A49-4B4F-B7D6-9E576EE8CE14}"/>
                  </a:ext>
                </a:extLst>
              </p:cNvPr>
              <p:cNvSpPr txBox="1">
                <a:spLocks noRot="1" noChangeAspect="1" noMove="1" noResize="1" noEditPoints="1" noAdjustHandles="1" noChangeArrowheads="1" noChangeShapeType="1" noTextEdit="1"/>
              </p:cNvSpPr>
              <p:nvPr/>
            </p:nvSpPr>
            <p:spPr>
              <a:xfrm>
                <a:off x="688868" y="1246887"/>
                <a:ext cx="6442135" cy="461665"/>
              </a:xfrm>
              <a:prstGeom prst="rect">
                <a:avLst/>
              </a:prstGeom>
              <a:blipFill>
                <a:blip r:embed="rId2"/>
                <a:stretch>
                  <a:fillRect l="-1419" t="-14667" r="-568"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E8814A4-D66D-4A83-8B6B-DA3839FC2630}"/>
                  </a:ext>
                </a:extLst>
              </p:cNvPr>
              <p:cNvSpPr txBox="1"/>
              <p:nvPr/>
            </p:nvSpPr>
            <p:spPr>
              <a:xfrm>
                <a:off x="7627674" y="1296353"/>
                <a:ext cx="303265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将含有连续三个</a:t>
                </a:r>
                <a:r>
                  <a:rPr lang="en-US" altLang="zh-CN" b="1">
                    <a:solidFill>
                      <a:schemeClr val="accent2">
                        <a:lumMod val="50000"/>
                      </a:schemeClr>
                    </a:solidFill>
                  </a:rPr>
                  <a:t>0</a:t>
                </a:r>
                <a:r>
                  <a:rPr lang="zh-CN" altLang="en-US" b="1">
                    <a:solidFill>
                      <a:schemeClr val="accent2">
                        <a:lumMod val="50000"/>
                      </a:schemeClr>
                    </a:solidFill>
                  </a:rPr>
                  <a:t>称为性质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endParaRPr lang="zh-CN" altLang="en-US"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7E8814A4-D66D-4A83-8B6B-DA3839FC2630}"/>
                  </a:ext>
                </a:extLst>
              </p:cNvPr>
              <p:cNvSpPr txBox="1">
                <a:spLocks noRot="1" noChangeAspect="1" noMove="1" noResize="1" noEditPoints="1" noAdjustHandles="1" noChangeArrowheads="1" noChangeShapeType="1" noTextEdit="1"/>
              </p:cNvSpPr>
              <p:nvPr/>
            </p:nvSpPr>
            <p:spPr>
              <a:xfrm>
                <a:off x="7627674" y="1296353"/>
                <a:ext cx="3032651" cy="369332"/>
              </a:xfrm>
              <a:prstGeom prst="rect">
                <a:avLst/>
              </a:prstGeom>
              <a:blipFill>
                <a:blip r:embed="rId3"/>
                <a:stretch>
                  <a:fillRect l="-1606"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B773F71-5DCA-4D2F-8945-4676A139BD1F}"/>
                  </a:ext>
                </a:extLst>
              </p:cNvPr>
              <p:cNvSpPr txBox="1"/>
              <p:nvPr/>
            </p:nvSpPr>
            <p:spPr>
              <a:xfrm>
                <a:off x="679314" y="1970493"/>
                <a:ext cx="10643879" cy="735714"/>
              </a:xfrm>
              <a:prstGeom prst="rect">
                <a:avLst/>
              </a:prstGeom>
              <a:solidFill>
                <a:schemeClr val="accent5">
                  <a:lumMod val="20000"/>
                  <a:lumOff val="80000"/>
                  <a:alpha val="50000"/>
                </a:schemeClr>
              </a:solidFill>
            </p:spPr>
            <p:txBody>
              <a:bodyPr wrap="square" rtlCol="0">
                <a:spAutoFit/>
              </a:bodyPr>
              <a:lstStyle/>
              <a:p>
                <a:pPr>
                  <a:spcBef>
                    <a:spcPts val="600"/>
                  </a:spcBef>
                </a:pP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的二进制串个数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开头的二进制串个数</a:t>
                </a:r>
                <a:endParaRPr lang="en-US" altLang="zh-CN" b="1">
                  <a:solidFill>
                    <a:schemeClr val="accent6">
                      <a:lumMod val="50000"/>
                    </a:schemeClr>
                  </a:solidFill>
                </a:endParaRPr>
              </a:p>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开头的二进制串个数</a:t>
                </a:r>
                <a:r>
                  <a:rPr lang="en-US" altLang="zh-CN" b="1">
                    <a:solidFill>
                      <a:schemeClr val="accent6">
                        <a:lumMod val="50000"/>
                      </a:schemeClr>
                    </a:solidFill>
                  </a:rPr>
                  <a:t>	</a:t>
                </a:r>
                <a:endParaRPr lang="zh-CN" altLang="en-US" b="1">
                  <a:solidFill>
                    <a:schemeClr val="accent6">
                      <a:lumMod val="50000"/>
                    </a:schemeClr>
                  </a:solidFill>
                </a:endParaRPr>
              </a:p>
            </p:txBody>
          </p:sp>
        </mc:Choice>
        <mc:Fallback xmlns="">
          <p:sp>
            <p:nvSpPr>
              <p:cNvPr id="12" name="文本框 11">
                <a:extLst>
                  <a:ext uri="{FF2B5EF4-FFF2-40B4-BE49-F238E27FC236}">
                    <a16:creationId xmlns:a16="http://schemas.microsoft.com/office/drawing/2014/main" id="{5B773F71-5DCA-4D2F-8945-4676A139BD1F}"/>
                  </a:ext>
                </a:extLst>
              </p:cNvPr>
              <p:cNvSpPr txBox="1">
                <a:spLocks noRot="1" noChangeAspect="1" noMove="1" noResize="1" noEditPoints="1" noAdjustHandles="1" noChangeArrowheads="1" noChangeShapeType="1" noTextEdit="1"/>
              </p:cNvSpPr>
              <p:nvPr/>
            </p:nvSpPr>
            <p:spPr>
              <a:xfrm>
                <a:off x="679314" y="1970493"/>
                <a:ext cx="10643879" cy="735714"/>
              </a:xfrm>
              <a:prstGeom prst="rect">
                <a:avLst/>
              </a:prstGeom>
              <a:blipFill>
                <a:blip r:embed="rId4"/>
                <a:stretch>
                  <a:fillRect t="-3306" b="-12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CEBAF86-BBE6-4066-9EED-96AC33521862}"/>
                  </a:ext>
                </a:extLst>
              </p:cNvPr>
              <p:cNvSpPr txBox="1"/>
              <p:nvPr/>
            </p:nvSpPr>
            <p:spPr>
              <a:xfrm>
                <a:off x="1506685" y="5299203"/>
                <a:ext cx="5492905" cy="671722"/>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Sub>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𝟎</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smtClean="0">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ub>
                        <m:sup>
                          <m:r>
                            <a:rPr lang="en-US" altLang="zh-CN" b="1" i="1">
                              <a:solidFill>
                                <a:schemeClr val="accent2">
                                  <a:lumMod val="50000"/>
                                </a:schemeClr>
                              </a:solidFill>
                              <a:latin typeface="Cambria Math" panose="02040503050406030204" pitchFamily="18" charset="0"/>
                            </a:rPr>
                            <m:t>𝟏</m:t>
                          </m:r>
                        </m:sup>
                      </m:sSubSup>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sup>
                      </m:sSup>
                    </m:oMath>
                  </m:oMathPara>
                </a14:m>
                <a:endParaRPr lang="en-US" altLang="zh-CN" b="1">
                  <a:solidFill>
                    <a:schemeClr val="accent2">
                      <a:lumMod val="50000"/>
                    </a:schemeClr>
                  </a:solidFill>
                </a:endParaRPr>
              </a:p>
              <a:p>
                <a:pP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ub>
                      </m:sSub>
                      <m:r>
                        <a:rPr lang="en-US" altLang="zh-CN" b="1" i="1">
                          <a:solidFill>
                            <a:schemeClr val="accent2">
                              <a:lumMod val="50000"/>
                            </a:schemeClr>
                          </a:solidFill>
                          <a:latin typeface="Cambria Math" panose="02040503050406030204" pitchFamily="18" charset="0"/>
                        </a:rPr>
                        <m: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sub>
                      </m:sSub>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sup>
                      </m:sSup>
                      <m:r>
                        <a:rPr lang="en-US" altLang="zh-CN" b="1" i="1" smtClean="0">
                          <a:solidFill>
                            <a:schemeClr val="accent2">
                              <a:lumMod val="50000"/>
                            </a:schemeClr>
                          </a:solidFill>
                          <a:latin typeface="Cambria Math" panose="02040503050406030204" pitchFamily="18" charset="0"/>
                        </a:rPr>
                        <m:t>  </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e>
                      </m:d>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24" name="文本框 23">
                <a:extLst>
                  <a:ext uri="{FF2B5EF4-FFF2-40B4-BE49-F238E27FC236}">
                    <a16:creationId xmlns:a16="http://schemas.microsoft.com/office/drawing/2014/main" id="{CCEBAF86-BBE6-4066-9EED-96AC33521862}"/>
                  </a:ext>
                </a:extLst>
              </p:cNvPr>
              <p:cNvSpPr txBox="1">
                <a:spLocks noRot="1" noChangeAspect="1" noMove="1" noResize="1" noEditPoints="1" noAdjustHandles="1" noChangeArrowheads="1" noChangeShapeType="1" noTextEdit="1"/>
              </p:cNvSpPr>
              <p:nvPr/>
            </p:nvSpPr>
            <p:spPr>
              <a:xfrm>
                <a:off x="1506685" y="5299203"/>
                <a:ext cx="5492905" cy="671722"/>
              </a:xfrm>
              <a:prstGeom prst="rect">
                <a:avLst/>
              </a:prstGeom>
              <a:blipFill>
                <a:blip r:embed="rId5"/>
                <a:stretch>
                  <a:fillRect b="-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1D8CA01-B349-44FB-9CDE-517C37874615}"/>
                  </a:ext>
                </a:extLst>
              </p:cNvPr>
              <p:cNvSpPr txBox="1"/>
              <p:nvPr/>
            </p:nvSpPr>
            <p:spPr>
              <a:xfrm>
                <a:off x="7416771" y="5246361"/>
                <a:ext cx="3825744" cy="806439"/>
              </a:xfrm>
              <a:prstGeom prst="rect">
                <a:avLst/>
              </a:prstGeom>
              <a:solidFill>
                <a:schemeClr val="accent2">
                  <a:lumMod val="20000"/>
                  <a:lumOff val="80000"/>
                </a:schemeClr>
              </a:solidFill>
            </p:spPr>
            <p:txBody>
              <a:bodyPr wrap="square" rtlCol="0">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𝟐</m:t>
                          </m:r>
                        </m:e>
                        <m:sup>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sup>
                      </m:sSup>
                    </m:oMath>
                  </m:oMathPara>
                </a14:m>
                <a:endParaRPr lang="en-US" altLang="zh-CN" b="1" i="1">
                  <a:solidFill>
                    <a:srgbClr val="C0000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𝟎</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oMath>
                  </m:oMathPara>
                </a14:m>
                <a:endParaRPr lang="zh-CN" altLang="en-US">
                  <a:solidFill>
                    <a:srgbClr val="C00000"/>
                  </a:solidFill>
                </a:endParaRPr>
              </a:p>
            </p:txBody>
          </p:sp>
        </mc:Choice>
        <mc:Fallback xmlns="">
          <p:sp>
            <p:nvSpPr>
              <p:cNvPr id="11" name="文本框 10">
                <a:extLst>
                  <a:ext uri="{FF2B5EF4-FFF2-40B4-BE49-F238E27FC236}">
                    <a16:creationId xmlns:a16="http://schemas.microsoft.com/office/drawing/2014/main" id="{31D8CA01-B349-44FB-9CDE-517C37874615}"/>
                  </a:ext>
                </a:extLst>
              </p:cNvPr>
              <p:cNvSpPr txBox="1">
                <a:spLocks noRot="1" noChangeAspect="1" noMove="1" noResize="1" noEditPoints="1" noAdjustHandles="1" noChangeArrowheads="1" noChangeShapeType="1" noTextEdit="1"/>
              </p:cNvSpPr>
              <p:nvPr/>
            </p:nvSpPr>
            <p:spPr>
              <a:xfrm>
                <a:off x="7416771" y="5246361"/>
                <a:ext cx="3825744" cy="806439"/>
              </a:xfrm>
              <a:prstGeom prst="rect">
                <a:avLst/>
              </a:prstGeom>
              <a:blipFill>
                <a:blip r:embed="rId6"/>
                <a:stretch>
                  <a:fillRect/>
                </a:stretch>
              </a:blipFill>
            </p:spPr>
            <p:txBody>
              <a:bodyPr/>
              <a:lstStyle/>
              <a:p>
                <a:r>
                  <a:rPr lang="zh-CN" altLang="en-US">
                    <a:noFill/>
                  </a:rPr>
                  <a:t> </a:t>
                </a:r>
              </a:p>
            </p:txBody>
          </p:sp>
        </mc:Fallback>
      </mc:AlternateContent>
      <p:sp>
        <p:nvSpPr>
          <p:cNvPr id="26" name="箭头: 下 25">
            <a:extLst>
              <a:ext uri="{FF2B5EF4-FFF2-40B4-BE49-F238E27FC236}">
                <a16:creationId xmlns:a16="http://schemas.microsoft.com/office/drawing/2014/main" id="{F2EE8972-7944-4A8E-86FA-B5528C0CDD1A}"/>
              </a:ext>
            </a:extLst>
          </p:cNvPr>
          <p:cNvSpPr/>
          <p:nvPr/>
        </p:nvSpPr>
        <p:spPr>
          <a:xfrm>
            <a:off x="4210571" y="4974005"/>
            <a:ext cx="85135" cy="3029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DDB67BC4-247A-47F4-A483-0A3E4BD43B04}"/>
              </a:ext>
            </a:extLst>
          </p:cNvPr>
          <p:cNvSpPr/>
          <p:nvPr/>
        </p:nvSpPr>
        <p:spPr>
          <a:xfrm>
            <a:off x="6999590" y="5612204"/>
            <a:ext cx="41718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E1723664-4CC2-4F70-B131-C2BCDAF83831}"/>
              </a:ext>
            </a:extLst>
          </p:cNvPr>
          <p:cNvGrpSpPr/>
          <p:nvPr/>
        </p:nvGrpSpPr>
        <p:grpSpPr>
          <a:xfrm>
            <a:off x="619249" y="2919081"/>
            <a:ext cx="10949444" cy="2032675"/>
            <a:chOff x="772032" y="2911594"/>
            <a:chExt cx="10949444" cy="2032675"/>
          </a:xfrm>
        </p:grpSpPr>
        <p:sp>
          <p:nvSpPr>
            <p:cNvPr id="25" name="矩形 24">
              <a:extLst>
                <a:ext uri="{FF2B5EF4-FFF2-40B4-BE49-F238E27FC236}">
                  <a16:creationId xmlns:a16="http://schemas.microsoft.com/office/drawing/2014/main" id="{EC051C7E-50D7-4F0F-B066-B815EBE10939}"/>
                </a:ext>
              </a:extLst>
            </p:cNvPr>
            <p:cNvSpPr/>
            <p:nvPr/>
          </p:nvSpPr>
          <p:spPr>
            <a:xfrm>
              <a:off x="772032" y="2911594"/>
              <a:ext cx="10949444" cy="2032675"/>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83E672BC-4D34-4DFD-97A9-2515DB031134}"/>
                </a:ext>
              </a:extLst>
            </p:cNvPr>
            <p:cNvGrpSpPr/>
            <p:nvPr/>
          </p:nvGrpSpPr>
          <p:grpSpPr>
            <a:xfrm>
              <a:off x="832097" y="3037541"/>
              <a:ext cx="10814079" cy="1756259"/>
              <a:chOff x="684155" y="2219321"/>
              <a:chExt cx="10787832" cy="1756259"/>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F45B1C9-AF54-45A6-8D1A-F101BAB65790}"/>
                      </a:ext>
                    </a:extLst>
                  </p:cNvPr>
                  <p:cNvSpPr txBox="1"/>
                  <p:nvPr/>
                </p:nvSpPr>
                <p:spPr>
                  <a:xfrm>
                    <a:off x="684155" y="2219321"/>
                    <a:ext cx="7518309" cy="1154162"/>
                  </a:xfrm>
                  <a:prstGeom prst="rect">
                    <a:avLst/>
                  </a:prstGeom>
                  <a:solidFill>
                    <a:schemeClr val="accent2">
                      <a:lumMod val="20000"/>
                      <a:lumOff val="80000"/>
                    </a:schemeClr>
                  </a:solidFill>
                  <a:ln>
                    <a:noFill/>
                  </a:ln>
                </p:spPr>
                <p:txBody>
                  <a:bodyPr wrap="square" rtlCol="0">
                    <a:spAutoFit/>
                  </a:bodyPr>
                  <a:lstStyle/>
                  <a:p>
                    <a:pPr>
                      <a:spcBef>
                        <a:spcPts val="600"/>
                      </a:spcBef>
                      <a:spcAft>
                        <a:spcPts val="300"/>
                      </a:spcAft>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𝟎𝟏</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spcAft>
                        <a:spcPts val="300"/>
                      </a:spcAft>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𝟎𝟎𝟏</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a:solidFill>
                              <a:srgbClr val="C00000"/>
                            </a:solidFill>
                            <a:latin typeface="Cambria Math" panose="02040503050406030204" pitchFamily="18" charset="0"/>
                          </a:rPr>
                          <m:t>𝒏</m:t>
                        </m:r>
                        <m:r>
                          <a:rPr lang="en-US" altLang="zh-CN" b="1">
                            <a:solidFill>
                              <a:srgbClr val="C00000"/>
                            </a:solidFill>
                            <a:latin typeface="Cambria Math" panose="02040503050406030204" pitchFamily="18" charset="0"/>
                          </a:rPr>
                          <m:t>−</m:t>
                        </m:r>
                        <m:r>
                          <a:rPr lang="en-US" altLang="zh-CN" b="1" i="0" smtClean="0">
                            <a:solidFill>
                              <a:srgbClr val="C00000"/>
                            </a:solidFill>
                            <a:latin typeface="Cambria Math" panose="02040503050406030204" pitchFamily="18" charset="0"/>
                          </a:rPr>
                          <m:t>𝟐</m:t>
                        </m:r>
                      </m:oMath>
                    </a14:m>
                    <a:r>
                      <a:rPr lang="zh-CN" altLang="en-US" b="1">
                        <a:solidFill>
                          <a:srgbClr val="C00000"/>
                        </a:solidFill>
                      </a:rPr>
                      <a:t>有性质</a:t>
                    </a:r>
                    <a14:m>
                      <m:oMath xmlns:m="http://schemas.openxmlformats.org/officeDocument/2006/math">
                        <m:r>
                          <a:rPr lang="en-US" altLang="zh-CN" b="1">
                            <a:solidFill>
                              <a:srgbClr val="C00000"/>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0" smtClean="0">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spcAft>
                        <a:spcPts val="300"/>
                      </a:spcAft>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a:solidFill>
                              <a:schemeClr val="accent6">
                                <a:lumMod val="50000"/>
                              </a:schemeClr>
                            </a:solidFill>
                            <a:latin typeface="Cambria Math" panose="02040503050406030204" pitchFamily="18" charset="0"/>
                          </a:rPr>
                          <m:t>𝟎𝟎</m:t>
                        </m:r>
                        <m:r>
                          <a:rPr lang="en-US" altLang="zh-CN" b="1" i="1" smtClean="0">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开头的串与</a:t>
                    </a:r>
                    <a:r>
                      <a:rPr lang="zh-CN" altLang="en-US" b="1">
                        <a:solidFill>
                          <a:srgbClr val="C00000"/>
                        </a:solidFill>
                      </a:rPr>
                      <a:t>长为</a:t>
                    </a:r>
                    <a14:m>
                      <m:oMath xmlns:m="http://schemas.openxmlformats.org/officeDocument/2006/math">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oMath>
                    </a14:m>
                    <a:r>
                      <a:rPr lang="zh-CN" altLang="en-US" b="1">
                        <a:solidFill>
                          <a:srgbClr val="C00000"/>
                        </a:solidFill>
                      </a:rPr>
                      <a:t>的任意二进串</a:t>
                    </a:r>
                    <a:r>
                      <a:rPr lang="zh-CN" altLang="en-US" b="1">
                        <a:solidFill>
                          <a:schemeClr val="accent6">
                            <a:lumMod val="50000"/>
                          </a:schemeClr>
                        </a:solidFill>
                      </a:rPr>
                      <a:t>一一对应</a:t>
                    </a:r>
                    <a:endParaRPr lang="en-US" altLang="zh-CN" b="1">
                      <a:solidFill>
                        <a:srgbClr val="0000FF"/>
                      </a:solidFill>
                    </a:endParaRPr>
                  </a:p>
                </p:txBody>
              </p:sp>
            </mc:Choice>
            <mc:Fallback xmlns="">
              <p:sp>
                <p:nvSpPr>
                  <p:cNvPr id="15" name="文本框 14">
                    <a:extLst>
                      <a:ext uri="{FF2B5EF4-FFF2-40B4-BE49-F238E27FC236}">
                        <a16:creationId xmlns:a16="http://schemas.microsoft.com/office/drawing/2014/main" id="{EF45B1C9-AF54-45A6-8D1A-F101BAB65790}"/>
                      </a:ext>
                    </a:extLst>
                  </p:cNvPr>
                  <p:cNvSpPr txBox="1">
                    <a:spLocks noRot="1" noChangeAspect="1" noMove="1" noResize="1" noEditPoints="1" noAdjustHandles="1" noChangeArrowheads="1" noChangeShapeType="1" noTextEdit="1"/>
                  </p:cNvSpPr>
                  <p:nvPr/>
                </p:nvSpPr>
                <p:spPr>
                  <a:xfrm>
                    <a:off x="684155" y="2219321"/>
                    <a:ext cx="7518309" cy="1154162"/>
                  </a:xfrm>
                  <a:prstGeom prst="rect">
                    <a:avLst/>
                  </a:prstGeom>
                  <a:blipFill>
                    <a:blip r:embed="rId7"/>
                    <a:stretch>
                      <a:fillRect l="-647" t="-3175" b="-793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6F8980D-4374-4176-91F3-36B50ED0DF8D}"/>
                      </a:ext>
                    </a:extLst>
                  </p:cNvPr>
                  <p:cNvSpPr txBox="1"/>
                  <p:nvPr/>
                </p:nvSpPr>
                <p:spPr>
                  <a:xfrm>
                    <a:off x="684155" y="3606248"/>
                    <a:ext cx="7308622" cy="369332"/>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开头的串与</a:t>
                    </a:r>
                    <a:r>
                      <a:rPr lang="zh-CN" altLang="en-US" b="1">
                        <a:solidFill>
                          <a:srgbClr val="C00000"/>
                        </a:solidFill>
                      </a:rPr>
                      <a:t>长度为</a:t>
                    </a:r>
                    <a14:m>
                      <m:oMath xmlns:m="http://schemas.openxmlformats.org/officeDocument/2006/math">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oMath>
                    </a14:m>
                    <a:r>
                      <a:rPr lang="zh-CN" altLang="en-US" b="1">
                        <a:solidFill>
                          <a:srgbClr val="C00000"/>
                        </a:solidFill>
                      </a:rPr>
                      <a:t>有性质</a:t>
                    </a:r>
                    <a14:m>
                      <m:oMath xmlns:m="http://schemas.openxmlformats.org/officeDocument/2006/math">
                        <m:r>
                          <a:rPr lang="en-US" altLang="zh-CN" b="1" i="1">
                            <a:solidFill>
                              <a:srgbClr val="C00000"/>
                            </a:solidFill>
                            <a:latin typeface="Cambria Math" panose="02040503050406030204" pitchFamily="18" charset="0"/>
                          </a:rPr>
                          <m:t>𝑷</m:t>
                        </m:r>
                      </m:oMath>
                    </a14:m>
                    <a:r>
                      <a:rPr lang="zh-CN" altLang="en-US" b="1">
                        <a:solidFill>
                          <a:srgbClr val="C00000"/>
                        </a:solidFill>
                      </a:rPr>
                      <a:t>的三进制串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xmlns="">
              <p:sp>
                <p:nvSpPr>
                  <p:cNvPr id="16" name="文本框 15">
                    <a:extLst>
                      <a:ext uri="{FF2B5EF4-FFF2-40B4-BE49-F238E27FC236}">
                        <a16:creationId xmlns:a16="http://schemas.microsoft.com/office/drawing/2014/main" id="{56F8980D-4374-4176-91F3-36B50ED0DF8D}"/>
                      </a:ext>
                    </a:extLst>
                  </p:cNvPr>
                  <p:cNvSpPr txBox="1">
                    <a:spLocks noRot="1" noChangeAspect="1" noMove="1" noResize="1" noEditPoints="1" noAdjustHandles="1" noChangeArrowheads="1" noChangeShapeType="1" noTextEdit="1"/>
                  </p:cNvSpPr>
                  <p:nvPr/>
                </p:nvSpPr>
                <p:spPr>
                  <a:xfrm>
                    <a:off x="684155" y="3606248"/>
                    <a:ext cx="7308622" cy="369332"/>
                  </a:xfrm>
                  <a:prstGeom prst="rect">
                    <a:avLst/>
                  </a:prstGeom>
                  <a:blipFill>
                    <a:blip r:embed="rId8"/>
                    <a:stretch>
                      <a:fillRect l="-666" t="-8197" r="-333" b="-245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1EAA896-8A69-4639-94FB-B71D600D8955}"/>
                      </a:ext>
                    </a:extLst>
                  </p:cNvPr>
                  <p:cNvSpPr txBox="1"/>
                  <p:nvPr/>
                </p:nvSpPr>
                <p:spPr>
                  <a:xfrm>
                    <a:off x="8725174" y="2571453"/>
                    <a:ext cx="2746813" cy="388504"/>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sub>
                            <m:sup>
                              <m:r>
                                <a:rPr lang="en-US" altLang="zh-CN" b="1" i="1" smtClean="0">
                                  <a:solidFill>
                                    <a:srgbClr val="C00000"/>
                                  </a:solidFill>
                                  <a:latin typeface="Cambria Math" panose="02040503050406030204" pitchFamily="18" charset="0"/>
                                </a:rPr>
                                <m:t>𝟏</m:t>
                              </m:r>
                            </m:sup>
                          </m:sSubSup>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𝟐</m:t>
                              </m:r>
                            </m:e>
                            <m:sup>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sup>
                          </m:sSup>
                        </m:oMath>
                      </m:oMathPara>
                    </a14:m>
                    <a:endParaRPr lang="zh-CN" altLang="en-US"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01EAA896-8A69-4639-94FB-B71D600D8955}"/>
                      </a:ext>
                    </a:extLst>
                  </p:cNvPr>
                  <p:cNvSpPr txBox="1">
                    <a:spLocks noRot="1" noChangeAspect="1" noMove="1" noResize="1" noEditPoints="1" noAdjustHandles="1" noChangeArrowheads="1" noChangeShapeType="1" noTextEdit="1"/>
                  </p:cNvSpPr>
                  <p:nvPr/>
                </p:nvSpPr>
                <p:spPr>
                  <a:xfrm>
                    <a:off x="8725174" y="2571453"/>
                    <a:ext cx="2746813" cy="388504"/>
                  </a:xfrm>
                  <a:prstGeom prst="rect">
                    <a:avLst/>
                  </a:prstGeom>
                  <a:blipFill>
                    <a:blip r:embed="rId9"/>
                    <a:stretch>
                      <a:fillRect b="-156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37C4CC6-EA3A-46D0-98E7-06FD72BA5274}"/>
                      </a:ext>
                    </a:extLst>
                  </p:cNvPr>
                  <p:cNvSpPr txBox="1"/>
                  <p:nvPr/>
                </p:nvSpPr>
                <p:spPr>
                  <a:xfrm>
                    <a:off x="8737856" y="3577018"/>
                    <a:ext cx="2183092" cy="375552"/>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smtClean="0">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oMath>
                      </m:oMathPara>
                    </a14:m>
                    <a:endParaRPr lang="zh-CN" altLang="en-US">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A37C4CC6-EA3A-46D0-98E7-06FD72BA5274}"/>
                      </a:ext>
                    </a:extLst>
                  </p:cNvPr>
                  <p:cNvSpPr txBox="1">
                    <a:spLocks noRot="1" noChangeAspect="1" noMove="1" noResize="1" noEditPoints="1" noAdjustHandles="1" noChangeArrowheads="1" noChangeShapeType="1" noTextEdit="1"/>
                  </p:cNvSpPr>
                  <p:nvPr/>
                </p:nvSpPr>
                <p:spPr>
                  <a:xfrm>
                    <a:off x="8737856" y="3577018"/>
                    <a:ext cx="2183092" cy="375552"/>
                  </a:xfrm>
                  <a:prstGeom prst="rect">
                    <a:avLst/>
                  </a:prstGeom>
                  <a:blipFill>
                    <a:blip r:embed="rId10"/>
                    <a:stretch>
                      <a:fillRect/>
                    </a:stretch>
                  </a:blipFill>
                  <a:ln>
                    <a:noFill/>
                  </a:ln>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10330AD7-94AD-4D11-95AB-506F9CE5AD8F}"/>
                  </a:ext>
                </a:extLst>
              </p:cNvPr>
              <p:cNvSpPr/>
              <p:nvPr/>
            </p:nvSpPr>
            <p:spPr>
              <a:xfrm>
                <a:off x="8202464" y="2751352"/>
                <a:ext cx="522710"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E761C0CA-8E86-4A7F-9C3E-EB513D2A2351}"/>
                  </a:ext>
                </a:extLst>
              </p:cNvPr>
              <p:cNvSpPr/>
              <p:nvPr/>
            </p:nvSpPr>
            <p:spPr>
              <a:xfrm>
                <a:off x="7992777" y="3764794"/>
                <a:ext cx="745079"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0" name="直接连接符 29">
              <a:extLst>
                <a:ext uri="{FF2B5EF4-FFF2-40B4-BE49-F238E27FC236}">
                  <a16:creationId xmlns:a16="http://schemas.microsoft.com/office/drawing/2014/main" id="{435BBF11-6263-486D-A13B-DB35CFD3DAA0}"/>
                </a:ext>
              </a:extLst>
            </p:cNvPr>
            <p:cNvCxnSpPr/>
            <p:nvPr/>
          </p:nvCxnSpPr>
          <p:spPr>
            <a:xfrm>
              <a:off x="4062295" y="3366292"/>
              <a:ext cx="263117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71BAA28-F934-4313-AB0A-4C43B5158E4E}"/>
                </a:ext>
              </a:extLst>
            </p:cNvPr>
            <p:cNvCxnSpPr/>
            <p:nvPr/>
          </p:nvCxnSpPr>
          <p:spPr>
            <a:xfrm>
              <a:off x="4176292" y="3770402"/>
              <a:ext cx="263117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D584701-C6F1-4D91-9573-19A03B865236}"/>
                </a:ext>
              </a:extLst>
            </p:cNvPr>
            <p:cNvCxnSpPr>
              <a:cxnSpLocks/>
            </p:cNvCxnSpPr>
            <p:nvPr/>
          </p:nvCxnSpPr>
          <p:spPr>
            <a:xfrm>
              <a:off x="3913607" y="4738453"/>
              <a:ext cx="319060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0859C48-DE76-464B-A0BB-2E1201D4188B}"/>
                </a:ext>
              </a:extLst>
            </p:cNvPr>
            <p:cNvCxnSpPr>
              <a:cxnSpLocks/>
            </p:cNvCxnSpPr>
            <p:nvPr/>
          </p:nvCxnSpPr>
          <p:spPr>
            <a:xfrm>
              <a:off x="9574490" y="3770402"/>
              <a:ext cx="198910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C8C8071-EC99-4B74-9683-037ECE73C613}"/>
                </a:ext>
              </a:extLst>
            </p:cNvPr>
            <p:cNvCxnSpPr>
              <a:cxnSpLocks/>
            </p:cNvCxnSpPr>
            <p:nvPr/>
          </p:nvCxnSpPr>
          <p:spPr>
            <a:xfrm>
              <a:off x="9601329" y="4738453"/>
              <a:ext cx="1479754"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57E3014E-3B5E-4568-B7AA-CEDA7C7EBD5B}"/>
              </a:ext>
            </a:extLst>
          </p:cNvPr>
          <p:cNvCxnSpPr>
            <a:cxnSpLocks/>
          </p:cNvCxnSpPr>
          <p:nvPr/>
        </p:nvCxnSpPr>
        <p:spPr>
          <a:xfrm flipV="1">
            <a:off x="8247710" y="5612204"/>
            <a:ext cx="2771139" cy="17519"/>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EE0C162-F0BA-402E-9BFA-F2F014447551}"/>
              </a:ext>
            </a:extLst>
          </p:cNvPr>
          <p:cNvCxnSpPr>
            <a:cxnSpLocks/>
          </p:cNvCxnSpPr>
          <p:nvPr/>
        </p:nvCxnSpPr>
        <p:spPr>
          <a:xfrm>
            <a:off x="4023509" y="4144574"/>
            <a:ext cx="2337820"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6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算法效率分析与递推关系式建模</a:t>
            </a:r>
          </a:p>
        </p:txBody>
      </p:sp>
      <p:sp>
        <p:nvSpPr>
          <p:cNvPr id="2" name="文本框 1">
            <a:extLst>
              <a:ext uri="{FF2B5EF4-FFF2-40B4-BE49-F238E27FC236}">
                <a16:creationId xmlns:a16="http://schemas.microsoft.com/office/drawing/2014/main" id="{D9F66609-7922-432A-ADCC-7D72FE33F1D4}"/>
              </a:ext>
            </a:extLst>
          </p:cNvPr>
          <p:cNvSpPr txBox="1"/>
          <p:nvPr/>
        </p:nvSpPr>
        <p:spPr>
          <a:xfrm>
            <a:off x="732398" y="1237299"/>
            <a:ext cx="9051902" cy="461665"/>
          </a:xfrm>
          <a:prstGeom prst="rect">
            <a:avLst/>
          </a:prstGeom>
          <a:solidFill>
            <a:schemeClr val="accent4">
              <a:lumMod val="20000"/>
              <a:lumOff val="80000"/>
            </a:schemeClr>
          </a:solidFill>
        </p:spPr>
        <p:txBody>
          <a:bodyPr wrap="square" rtlCol="0">
            <a:spAutoFit/>
          </a:bodyPr>
          <a:lstStyle/>
          <a:p>
            <a:r>
              <a:rPr lang="zh-CN" altLang="en-US" sz="2400" b="1">
                <a:solidFill>
                  <a:schemeClr val="accent2">
                    <a:lumMod val="50000"/>
                  </a:schemeClr>
                </a:solidFill>
              </a:rPr>
              <a:t>算法，特别是递归算法的效率分析常基于输入规模建立递推关系式</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1990DFC-6A1F-46FF-805E-19609A5C8825}"/>
                  </a:ext>
                </a:extLst>
              </p:cNvPr>
              <p:cNvSpPr txBox="1"/>
              <p:nvPr/>
            </p:nvSpPr>
            <p:spPr>
              <a:xfrm>
                <a:off x="732398" y="1877723"/>
                <a:ext cx="8801922" cy="1384995"/>
              </a:xfrm>
              <a:prstGeom prst="rect">
                <a:avLst/>
              </a:prstGeom>
              <a:solidFill>
                <a:schemeClr val="accent6">
                  <a:lumMod val="20000"/>
                  <a:lumOff val="80000"/>
                  <a:alpha val="25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求解</a:t>
                </a:r>
                <a:r>
                  <a:rPr lang="en-US" altLang="zh-CN" sz="2400" b="1">
                    <a:solidFill>
                      <a:schemeClr val="accent2">
                        <a:lumMod val="50000"/>
                      </a:schemeClr>
                    </a:solidFill>
                  </a:rPr>
                  <a:t>Hanoi</a:t>
                </a:r>
                <a:r>
                  <a:rPr lang="zh-CN" altLang="en-US" sz="2400" b="1">
                    <a:solidFill>
                      <a:schemeClr val="accent2">
                        <a:lumMod val="50000"/>
                      </a:schemeClr>
                    </a:solidFill>
                  </a:rPr>
                  <a:t>塔问题的递归算法</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设当有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个盘子时，算法输出的（移动盘子的）指令条数为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𝑻</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时有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𝑻</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&gt;</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时，有递推关系式</a:t>
                </a:r>
                <a14:m>
                  <m:oMath xmlns:m="http://schemas.openxmlformats.org/officeDocument/2006/math">
                    <m:r>
                      <a:rPr lang="en-US" altLang="zh-CN" sz="2000" b="1" i="1" smtClean="0">
                        <a:solidFill>
                          <a:srgbClr val="C00000"/>
                        </a:solidFill>
                        <a:latin typeface="Cambria Math" panose="02040503050406030204" pitchFamily="18" charset="0"/>
                      </a:rPr>
                      <m:t>𝑻</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e>
                    </m:d>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𝑻</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e>
                    </m:d>
                    <m:r>
                      <a:rPr lang="en-US" altLang="zh-CN" sz="2000" b="1" i="1">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𝟏</m:t>
                    </m:r>
                  </m:oMath>
                </a14:m>
                <a:endParaRPr lang="en-US" altLang="zh-CN" sz="2000" b="1">
                  <a:solidFill>
                    <a:schemeClr val="accent6">
                      <a:lumMod val="50000"/>
                    </a:schemeClr>
                  </a:solidFill>
                </a:endParaRPr>
              </a:p>
            </p:txBody>
          </p:sp>
        </mc:Choice>
        <mc:Fallback xmlns="">
          <p:sp>
            <p:nvSpPr>
              <p:cNvPr id="3" name="文本框 2">
                <a:extLst>
                  <a:ext uri="{FF2B5EF4-FFF2-40B4-BE49-F238E27FC236}">
                    <a16:creationId xmlns:a16="http://schemas.microsoft.com/office/drawing/2014/main" id="{C1990DFC-6A1F-46FF-805E-19609A5C8825}"/>
                  </a:ext>
                </a:extLst>
              </p:cNvPr>
              <p:cNvSpPr txBox="1">
                <a:spLocks noRot="1" noChangeAspect="1" noMove="1" noResize="1" noEditPoints="1" noAdjustHandles="1" noChangeArrowheads="1" noChangeShapeType="1" noTextEdit="1"/>
              </p:cNvSpPr>
              <p:nvPr/>
            </p:nvSpPr>
            <p:spPr>
              <a:xfrm>
                <a:off x="732398" y="1877723"/>
                <a:ext cx="8801922" cy="1384995"/>
              </a:xfrm>
              <a:prstGeom prst="rect">
                <a:avLst/>
              </a:prstGeom>
              <a:blipFill>
                <a:blip r:embed="rId2"/>
                <a:stretch>
                  <a:fillRect l="-693" t="-3084" b="-7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255B385-CADD-4605-8A9F-AC7FD34F5F03}"/>
                  </a:ext>
                </a:extLst>
              </p:cNvPr>
              <p:cNvSpPr txBox="1"/>
              <p:nvPr/>
            </p:nvSpPr>
            <p:spPr>
              <a:xfrm>
                <a:off x="732398" y="3432311"/>
                <a:ext cx="6056528" cy="2646174"/>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300"/>
                  </a:spcAft>
                </a:pPr>
                <a:r>
                  <a:rPr lang="zh-CN" altLang="en-US" sz="2400" b="1">
                    <a:solidFill>
                      <a:schemeClr val="accent2">
                        <a:lumMod val="50000"/>
                      </a:schemeClr>
                    </a:solidFill>
                  </a:rPr>
                  <a:t>二分查找算法</a:t>
                </a: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若整数序列长度是</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时，算法要进行的比较是</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𝒇</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次</a:t>
                </a:r>
              </a:p>
              <a:p>
                <a:pPr marL="342900" indent="-342900">
                  <a:lnSpc>
                    <a:spcPts val="28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有递推关系式：</a:t>
                </a:r>
                <a14:m>
                  <m:oMath xmlns:m="http://schemas.openxmlformats.org/officeDocument/2006/math">
                    <m:r>
                      <a:rPr lang="en-US" altLang="zh-CN" sz="2000" b="1" i="1" smtClean="0">
                        <a:solidFill>
                          <a:srgbClr val="C00000"/>
                        </a:solidFill>
                        <a:latin typeface="Cambria Math" panose="02040503050406030204" pitchFamily="18" charset="0"/>
                      </a:rPr>
                      <m:t>𝒇</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e>
                    </m:d>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𝒇</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e>
                    </m:d>
                    <m:r>
                      <a:rPr lang="en-US" altLang="zh-CN" sz="2000" b="1" i="1">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𝟑</m:t>
                    </m:r>
                  </m:oMath>
                </a14:m>
                <a:endParaRPr lang="en-US" altLang="zh-CN" sz="2000" b="1">
                  <a:solidFill>
                    <a:schemeClr val="accent6">
                      <a:lumMod val="50000"/>
                    </a:schemeClr>
                  </a:solidFill>
                </a:endParaRPr>
              </a:p>
              <a:p>
                <a:pPr marL="342900" indent="-342900">
                  <a:lnSpc>
                    <a:spcPts val="28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时，</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𝟏</m:t>
                    </m:r>
                  </m:oMath>
                </a14:m>
                <a:endParaRPr lang="en-US" altLang="zh-CN" sz="2000" b="1">
                  <a:solidFill>
                    <a:schemeClr val="accent6">
                      <a:lumMod val="50000"/>
                    </a:schemeClr>
                  </a:solidFill>
                </a:endParaRPr>
              </a:p>
              <a:p>
                <a:pPr marL="342900" indent="-342900">
                  <a:lnSpc>
                    <a:spcPts val="28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由于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𝟐</m:t>
                    </m:r>
                  </m:oMath>
                </a14:m>
                <a:r>
                  <a:rPr lang="zh-CN" altLang="en-US" sz="2000" b="1">
                    <a:solidFill>
                      <a:schemeClr val="accent6">
                        <a:lumMod val="50000"/>
                      </a:schemeClr>
                    </a:solidFill>
                  </a:rPr>
                  <a:t>不一定是整数，因此</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𝒇</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𝟐</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𝟑</m:t>
                    </m:r>
                  </m:oMath>
                </a14:m>
                <a:r>
                  <a:rPr lang="zh-CN" altLang="en-US" sz="2000" b="1">
                    <a:solidFill>
                      <a:schemeClr val="accent6">
                        <a:lumMod val="50000"/>
                      </a:schemeClr>
                    </a:solidFill>
                  </a:rPr>
                  <a:t>是一个用于估算算法效率的递推关系式</a:t>
                </a:r>
              </a:p>
            </p:txBody>
          </p:sp>
        </mc:Choice>
        <mc:Fallback xmlns="">
          <p:sp>
            <p:nvSpPr>
              <p:cNvPr id="4" name="文本框 3">
                <a:extLst>
                  <a:ext uri="{FF2B5EF4-FFF2-40B4-BE49-F238E27FC236}">
                    <a16:creationId xmlns:a16="http://schemas.microsoft.com/office/drawing/2014/main" id="{F255B385-CADD-4605-8A9F-AC7FD34F5F03}"/>
                  </a:ext>
                </a:extLst>
              </p:cNvPr>
              <p:cNvSpPr txBox="1">
                <a:spLocks noRot="1" noChangeAspect="1" noMove="1" noResize="1" noEditPoints="1" noAdjustHandles="1" noChangeArrowheads="1" noChangeShapeType="1" noTextEdit="1"/>
              </p:cNvSpPr>
              <p:nvPr/>
            </p:nvSpPr>
            <p:spPr>
              <a:xfrm>
                <a:off x="732398" y="3432311"/>
                <a:ext cx="6056528" cy="2646174"/>
              </a:xfrm>
              <a:prstGeom prst="rect">
                <a:avLst/>
              </a:prstGeom>
              <a:blipFill>
                <a:blip r:embed="rId3"/>
                <a:stretch>
                  <a:fillRect l="-1006" t="-1613" b="-32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859057D-459A-4AA4-844D-3BE2F5A7FB57}"/>
                  </a:ext>
                </a:extLst>
              </p:cNvPr>
              <p:cNvSpPr txBox="1"/>
              <p:nvPr/>
            </p:nvSpPr>
            <p:spPr>
              <a:xfrm>
                <a:off x="7167185" y="3932255"/>
                <a:ext cx="4292417" cy="1646285"/>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400" b="1">
                    <a:solidFill>
                      <a:schemeClr val="accent2">
                        <a:lumMod val="50000"/>
                      </a:schemeClr>
                    </a:solidFill>
                  </a:rPr>
                  <a:t>算法效率分析关注函数的增长</a:t>
                </a:r>
              </a:p>
              <a:p>
                <a:pPr marL="342900"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常用类似</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𝒇</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𝒂𝒇</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𝒃</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𝑶</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的递推关系式，并用大</a:t>
                </a:r>
                <a14:m>
                  <m:oMath xmlns:m="http://schemas.openxmlformats.org/officeDocument/2006/math">
                    <m:r>
                      <a:rPr lang="en-US" altLang="zh-CN" sz="2000" b="1" i="1" smtClean="0">
                        <a:solidFill>
                          <a:srgbClr val="002060"/>
                        </a:solidFill>
                        <a:latin typeface="Cambria Math" panose="02040503050406030204" pitchFamily="18" charset="0"/>
                      </a:rPr>
                      <m:t>𝑶</m:t>
                    </m:r>
                  </m:oMath>
                </a14:m>
                <a:r>
                  <a:rPr lang="zh-CN" altLang="en-US" sz="2000" b="1">
                    <a:solidFill>
                      <a:srgbClr val="002060"/>
                    </a:solidFill>
                    <a:latin typeface="楷体" panose="02010609060101010101" pitchFamily="49" charset="-122"/>
                    <a:ea typeface="楷体" panose="02010609060101010101" pitchFamily="49" charset="-122"/>
                  </a:rPr>
                  <a:t>记号估计</a:t>
                </a:r>
                <a14:m>
                  <m:oMath xmlns:m="http://schemas.openxmlformats.org/officeDocument/2006/math">
                    <m:r>
                      <a:rPr lang="en-US" altLang="zh-CN" sz="2000" b="1" i="1" smtClean="0">
                        <a:solidFill>
                          <a:srgbClr val="002060"/>
                        </a:solidFill>
                        <a:latin typeface="Cambria Math" panose="02040503050406030204" pitchFamily="18" charset="0"/>
                      </a:rPr>
                      <m:t>𝒇</m:t>
                    </m:r>
                  </m:oMath>
                </a14:m>
                <a:r>
                  <a:rPr lang="zh-CN" altLang="en-US" sz="2000" b="1">
                    <a:solidFill>
                      <a:srgbClr val="002060"/>
                    </a:solidFill>
                    <a:latin typeface="楷体" panose="02010609060101010101" pitchFamily="49" charset="-122"/>
                    <a:ea typeface="楷体" panose="02010609060101010101" pitchFamily="49" charset="-122"/>
                  </a:rPr>
                  <a:t>的增长情况</a:t>
                </a:r>
              </a:p>
            </p:txBody>
          </p:sp>
        </mc:Choice>
        <mc:Fallback xmlns="">
          <p:sp>
            <p:nvSpPr>
              <p:cNvPr id="6" name="文本框 5">
                <a:extLst>
                  <a:ext uri="{FF2B5EF4-FFF2-40B4-BE49-F238E27FC236}">
                    <a16:creationId xmlns:a16="http://schemas.microsoft.com/office/drawing/2014/main" id="{8859057D-459A-4AA4-844D-3BE2F5A7FB57}"/>
                  </a:ext>
                </a:extLst>
              </p:cNvPr>
              <p:cNvSpPr txBox="1">
                <a:spLocks noRot="1" noChangeAspect="1" noMove="1" noResize="1" noEditPoints="1" noAdjustHandles="1" noChangeArrowheads="1" noChangeShapeType="1" noTextEdit="1"/>
              </p:cNvSpPr>
              <p:nvPr/>
            </p:nvSpPr>
            <p:spPr>
              <a:xfrm>
                <a:off x="7167185" y="3932255"/>
                <a:ext cx="4292417" cy="1646285"/>
              </a:xfrm>
              <a:prstGeom prst="rect">
                <a:avLst/>
              </a:prstGeom>
              <a:blipFill>
                <a:blip r:embed="rId4"/>
                <a:stretch>
                  <a:fillRect l="-2273" t="-2593" r="-1278" b="-55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5155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F550948-0A88-4D14-B7D1-47069CABE5F1}"/>
                  </a:ext>
                </a:extLst>
              </p:cNvPr>
              <p:cNvSpPr txBox="1"/>
              <p:nvPr/>
            </p:nvSpPr>
            <p:spPr>
              <a:xfrm>
                <a:off x="1348478" y="1432258"/>
                <a:ext cx="9495021" cy="1949252"/>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rPr>
                  <a:t>排列组合的生成</a:t>
                </a:r>
              </a:p>
              <a:p>
                <a:pPr marL="342900" indent="-342900">
                  <a:lnSpc>
                    <a:spcPts val="3200"/>
                  </a:lnSpc>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𝒏</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物体集合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𝑺</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的全排列生成算法，以及集合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𝑺</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𝒓</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组合，即</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𝒓</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个元素子集的生成算法</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使用递推关系式对计数问题进行建模</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mn-ea"/>
                  </a:rPr>
                  <a:t>字符串的计数问题进行建模和在分析算法复杂度时运用递推关系式建模</a:t>
                </a:r>
              </a:p>
            </p:txBody>
          </p:sp>
        </mc:Choice>
        <mc:Fallback xmlns="">
          <p:sp>
            <p:nvSpPr>
              <p:cNvPr id="2" name="文本框 1">
                <a:extLst>
                  <a:ext uri="{FF2B5EF4-FFF2-40B4-BE49-F238E27FC236}">
                    <a16:creationId xmlns:a16="http://schemas.microsoft.com/office/drawing/2014/main" id="{EF550948-0A88-4D14-B7D1-47069CABE5F1}"/>
                  </a:ext>
                </a:extLst>
              </p:cNvPr>
              <p:cNvSpPr txBox="1">
                <a:spLocks noRot="1" noChangeAspect="1" noMove="1" noResize="1" noEditPoints="1" noAdjustHandles="1" noChangeArrowheads="1" noChangeShapeType="1" noTextEdit="1"/>
              </p:cNvSpPr>
              <p:nvPr/>
            </p:nvSpPr>
            <p:spPr>
              <a:xfrm>
                <a:off x="1348478" y="1432258"/>
                <a:ext cx="9495021" cy="1949252"/>
              </a:xfrm>
              <a:prstGeom prst="rect">
                <a:avLst/>
              </a:prstGeom>
              <a:blipFill>
                <a:blip r:embed="rId2"/>
                <a:stretch>
                  <a:fillRect l="-578" t="-1875" b="-15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9046192-3E11-4E79-BCD3-91093B8CC99E}"/>
                  </a:ext>
                </a:extLst>
              </p:cNvPr>
              <p:cNvSpPr txBox="1"/>
              <p:nvPr/>
            </p:nvSpPr>
            <p:spPr>
              <a:xfrm>
                <a:off x="1431862" y="3726861"/>
                <a:ext cx="9328255" cy="2215991"/>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0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能编写计算机程序实现全排列和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𝒓</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组合生成算法</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mn-ea"/>
                  </a:rPr>
                  <a:t>能编写计算机程序验证一些问题的计数结果</a:t>
                </a:r>
                <a:endParaRPr lang="en-US" altLang="zh-CN" b="1">
                  <a:solidFill>
                    <a:schemeClr val="accent2">
                      <a:lumMod val="50000"/>
                    </a:schemeClr>
                  </a:solidFill>
                  <a:latin typeface="+mn-ea"/>
                </a:endParaRP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能使用递推关系式对简单计数问题和递归算法的效率分析进行建模</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mn-ea"/>
                  </a:rPr>
                  <a:t>与字符串个数相关且对某些子串的结构进行约束的计数问题进行建模</a:t>
                </a:r>
              </a:p>
            </p:txBody>
          </p:sp>
        </mc:Choice>
        <mc:Fallback xmlns="">
          <p:sp>
            <p:nvSpPr>
              <p:cNvPr id="4" name="文本框 3">
                <a:extLst>
                  <a:ext uri="{FF2B5EF4-FFF2-40B4-BE49-F238E27FC236}">
                    <a16:creationId xmlns:a16="http://schemas.microsoft.com/office/drawing/2014/main" id="{79046192-3E11-4E79-BCD3-91093B8CC99E}"/>
                  </a:ext>
                </a:extLst>
              </p:cNvPr>
              <p:cNvSpPr txBox="1">
                <a:spLocks noRot="1" noChangeAspect="1" noMove="1" noResize="1" noEditPoints="1" noAdjustHandles="1" noChangeArrowheads="1" noChangeShapeType="1" noTextEdit="1"/>
              </p:cNvSpPr>
              <p:nvPr/>
            </p:nvSpPr>
            <p:spPr>
              <a:xfrm>
                <a:off x="1431862" y="3726861"/>
                <a:ext cx="9328255" cy="2215991"/>
              </a:xfrm>
              <a:prstGeom prst="rect">
                <a:avLst/>
              </a:prstGeom>
              <a:blipFill>
                <a:blip r:embed="rId3"/>
                <a:stretch>
                  <a:fillRect l="-588" t="-1374" b="-38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7170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906266" y="3136612"/>
            <a:ext cx="7323334" cy="584775"/>
          </a:xfrm>
          <a:prstGeom prst="rect">
            <a:avLst/>
          </a:prstGeom>
          <a:solidFill>
            <a:schemeClr val="accent4">
              <a:lumMod val="20000"/>
              <a:lumOff val="80000"/>
            </a:schemeClr>
          </a:solidFill>
        </p:spPr>
        <p:txBody>
          <a:bodyPr wrap="square" rtlCol="0">
            <a:spAutoFit/>
          </a:bodyPr>
          <a:lstStyle/>
          <a:p>
            <a:r>
              <a:rPr lang="zh-CN"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8.49</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8.55</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656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第二十七讲 排列组合生成与递推建模</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1532</TotalTime>
  <Words>5041</Words>
  <Application>Microsoft Office PowerPoint</Application>
  <PresentationFormat>宽屏</PresentationFormat>
  <Paragraphs>450</Paragraphs>
  <Slides>30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等线</vt:lpstr>
      <vt:lpstr>等线 Light</vt:lpstr>
      <vt:lpstr>仿宋</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118</cp:revision>
  <dcterms:created xsi:type="dcterms:W3CDTF">2022-01-01T06:39:40Z</dcterms:created>
  <dcterms:modified xsi:type="dcterms:W3CDTF">2024-12-11T08:51:21Z</dcterms:modified>
</cp:coreProperties>
</file>