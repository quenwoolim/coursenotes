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57" r:id="rId4"/>
    <p:sldId id="282" r:id="rId5"/>
    <p:sldId id="288" r:id="rId6"/>
    <p:sldId id="283" r:id="rId7"/>
    <p:sldId id="287" r:id="rId8"/>
    <p:sldId id="291" r:id="rId9"/>
    <p:sldId id="289" r:id="rId10"/>
    <p:sldId id="290" r:id="rId11"/>
    <p:sldId id="292" r:id="rId12"/>
    <p:sldId id="294" r:id="rId13"/>
    <p:sldId id="293" r:id="rId14"/>
    <p:sldId id="261" r:id="rId15"/>
    <p:sldId id="295" r:id="rId16"/>
    <p:sldId id="284" r:id="rId17"/>
    <p:sldId id="296" r:id="rId18"/>
    <p:sldId id="260" r:id="rId19"/>
    <p:sldId id="297" r:id="rId20"/>
    <p:sldId id="298" r:id="rId21"/>
    <p:sldId id="299" r:id="rId22"/>
    <p:sldId id="285" r:id="rId23"/>
    <p:sldId id="281" r:id="rId24"/>
    <p:sldId id="300" r:id="rId25"/>
    <p:sldId id="301" r:id="rId26"/>
    <p:sldId id="286" r:id="rId27"/>
    <p:sldId id="302" r:id="rId28"/>
    <p:sldId id="272" r:id="rId29"/>
    <p:sldId id="280" r:id="rId30"/>
    <p:sldId id="262" r:id="rId31"/>
  </p:sldIdLst>
  <p:sldSz cx="12192000" cy="6858000"/>
  <p:notesSz cx="6858000" cy="9144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E4D0"/>
    <a:srgbClr val="FFFFFF"/>
    <a:srgbClr val="EEF5FB"/>
    <a:srgbClr val="F0F7EC"/>
    <a:srgbClr val="210694"/>
    <a:srgbClr val="371E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6" d="100"/>
          <a:sy n="156" d="100"/>
        </p:scale>
        <p:origin x="44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2024/11/25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2024/11/25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2024/11/25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2024/11/25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2024/11/25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0D257-3BE1-47F0-9688-13EF46E6FAF0}" type="datetimeFigureOut">
              <a:rPr lang="zh-CN" altLang="en-US" smtClean="0"/>
              <a:t>2024/11/25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mooc1-1.chaoxing.com/course/216273730.html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48.emf"/><Relationship Id="rId4" Type="http://schemas.openxmlformats.org/officeDocument/2006/relationships/image" Target="../media/image5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第二十二讲  函数基础知识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</a:p>
        </p:txBody>
      </p:sp>
      <p:sp>
        <p:nvSpPr>
          <p:cNvPr id="12" name="矩形: 圆角 11"/>
          <p:cNvSpPr/>
          <p:nvPr/>
        </p:nvSpPr>
        <p:spPr>
          <a:xfrm>
            <a:off x="1405812" y="1185233"/>
            <a:ext cx="9393993" cy="889686"/>
          </a:xfrm>
          <a:prstGeom prst="round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800" b="1" dirty="0">
                <a:latin typeface="仿宋" panose="02010609060101010101" pitchFamily="49" charset="-122"/>
                <a:ea typeface="仿宋" panose="02010609060101010101" pitchFamily="49" charset="-122"/>
              </a:rPr>
              <a:t>第二十二讲</a:t>
            </a:r>
            <a:r>
              <a:rPr lang="en-US" altLang="zh-CN" sz="4800" b="1" dirty="0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zh-CN" altLang="en-US" sz="4800" b="1" dirty="0">
                <a:latin typeface="仿宋" panose="02010609060101010101" pitchFamily="49" charset="-122"/>
                <a:ea typeface="仿宋" panose="02010609060101010101" pitchFamily="49" charset="-122"/>
              </a:rPr>
              <a:t>函数基础知识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372231" y="2549433"/>
            <a:ext cx="34475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21069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李绿周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608174" y="3600682"/>
            <a:ext cx="51774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中山大学计算机学院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843849" y="4559643"/>
            <a:ext cx="286676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2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2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11</a:t>
            </a:r>
            <a:r>
              <a:rPr lang="zh-CN" altLang="en-US" sz="2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1705232" y="5288692"/>
            <a:ext cx="90945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hlinkClick r:id="rId2"/>
              </a:rPr>
              <a:t>https://mooc1-1.chaoxing.com/course/216273730.html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algn="ctr"/>
            <a:r>
              <a:rPr lang="en-US" altLang="zh-CN" sz="2400" dirty="0">
                <a:solidFill>
                  <a:srgbClr val="FF0000"/>
                </a:solidFill>
              </a:rPr>
              <a:t>lilvzh@mail.sysu.edu.cn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5649" y="3112777"/>
            <a:ext cx="1766582" cy="15605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第二十二讲  函数基础知识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91646C22-BFA0-4263-ADC6-D1CE69BFEFF6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/29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内容提要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107232" y="1448010"/>
            <a:ext cx="4733731" cy="385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函数的基本概念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函数的性质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函数运算与函数性质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集合基数基础知识概要</a:t>
            </a:r>
            <a:r>
              <a:rPr lang="en-US" altLang="zh-CN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*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函数的基本概念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第二十二讲  函数基础知识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/29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什么是函数？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566058" y="1841242"/>
                <a:ext cx="5007429" cy="328994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36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函数是一种特殊的关系</a:t>
                </a:r>
              </a:p>
              <a:p>
                <a:pPr>
                  <a:lnSpc>
                    <a:spcPts val="32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关系是有序对的集合，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的关系以有序对形式建立集合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的元素与集合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的元素间的某种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对应</a:t>
                </a:r>
              </a:p>
              <a:p>
                <a:pPr marL="342900" indent="-342900">
                  <a:lnSpc>
                    <a:spcPts val="32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的函数也建立集合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的元素与集合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的元素间的对应，且要求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</a:rPr>
                  <a:t>的每个元素都必须与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</a:rPr>
                  <a:t>的唯一一个元素对应</a:t>
                </a:r>
                <a:endParaRPr lang="zh-CN" altLang="en-US" sz="2000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058" y="1841242"/>
                <a:ext cx="5007429" cy="3289940"/>
              </a:xfrm>
              <a:prstGeom prst="rect">
                <a:avLst/>
              </a:prstGeom>
              <a:blipFill rotWithShape="1">
                <a:blip r:embed="rId2"/>
                <a:stretch>
                  <a:fillRect l="-5" t="-11" r="2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6618515" y="1789946"/>
                <a:ext cx="5050972" cy="33925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32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函数</a:t>
                </a:r>
                <a:r>
                  <a:rPr lang="en-US" altLang="zh-CN" sz="2400" b="1">
                    <a:solidFill>
                      <a:srgbClr val="C00000"/>
                    </a:solidFill>
                    <a:latin typeface="+mn-ea"/>
                  </a:rPr>
                  <a:t>(function)</a:t>
                </a:r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的定义</a:t>
                </a:r>
                <a:endParaRPr lang="en-US" altLang="zh-CN" sz="2400" b="1">
                  <a:solidFill>
                    <a:srgbClr val="C00000"/>
                  </a:solidFill>
                  <a:latin typeface="+mn-ea"/>
                </a:endParaRPr>
              </a:p>
              <a:p>
                <a:pPr>
                  <a:lnSpc>
                    <a:spcPts val="32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集合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𝑩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函数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𝒇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，记为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，是笛卡尔积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×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𝑩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的子集，且满足：对任意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，都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有且只有唯一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𝑩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使得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𝒃</m:t>
                        </m:r>
                      </m:e>
                    </m:d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𝒇</m:t>
                    </m:r>
                  </m:oMath>
                </a14:m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lnSpc>
                    <a:spcPts val="32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由于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存在且唯一，因此记为</a:t>
                </a:r>
                <a14:m>
                  <m:oMath xmlns:m="http://schemas.openxmlformats.org/officeDocument/2006/math">
                    <m:r>
                      <a:rPr lang="en-US" altLang="zh-CN" sz="2000" b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000" b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2000" b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000" b="1">
                  <a:solidFill>
                    <a:srgbClr val="C00000"/>
                  </a:solidFill>
                </a:endParaRPr>
              </a:p>
              <a:p>
                <a:pPr marL="342900" indent="-342900">
                  <a:lnSpc>
                    <a:spcPts val="32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在函数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下的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像</a:t>
                </a:r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(image)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，而称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在函数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下的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原像</a:t>
                </a:r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(pre-image)</a:t>
                </a: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8515" y="1789946"/>
                <a:ext cx="5050972" cy="3392532"/>
              </a:xfrm>
              <a:prstGeom prst="rect">
                <a:avLst/>
              </a:prstGeom>
              <a:blipFill rotWithShape="1">
                <a:blip r:embed="rId3"/>
                <a:stretch>
                  <a:fillRect l="-11" t="-15" r="2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函数的基本概念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第二十二讲  函数基础知识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/29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定义函数的元素枚举法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2070555" y="1188916"/>
                <a:ext cx="8050887" cy="241091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定义函数的性质概括法</a:t>
                </a:r>
                <a:endParaRPr lang="en-US" altLang="zh-CN" sz="2400" b="1">
                  <a:solidFill>
                    <a:srgbClr val="C00000"/>
                  </a:solidFill>
                </a:endParaRPr>
              </a:p>
              <a:p>
                <a:pPr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中学数学、大学高等数学或数学分析的函数通常是数集到数集的函数，一般用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函数表达式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定义，例如函数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lnSpc>
                    <a:spcPts val="28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这实际上是使用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性质概括法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给出了函数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的有序对集合</a:t>
                </a:r>
              </a:p>
              <a:p>
                <a:pPr>
                  <a:lnSpc>
                    <a:spcPts val="28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ℝ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ℝ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sSup>
                        <m:sSupPr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m:rPr>
                          <m:lit/>
                        </m:rP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0555" y="1188916"/>
                <a:ext cx="8050887" cy="2410916"/>
              </a:xfrm>
              <a:prstGeom prst="rect">
                <a:avLst/>
              </a:prstGeom>
              <a:blipFill rotWithShape="1">
                <a:blip r:embed="rId2"/>
                <a:stretch>
                  <a:fillRect l="-6" t="-8" r="2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705485" y="3776345"/>
                <a:ext cx="10852785" cy="265620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zh-CN" altLang="en-US" sz="2400" b="1">
                    <a:solidFill>
                      <a:srgbClr val="C00000"/>
                    </a:solidFill>
                  </a:rPr>
                  <a:t>定义函数的元素枚举法</a:t>
                </a:r>
                <a:endParaRPr lang="en-US" altLang="zh-CN" sz="2400" b="1">
                  <a:solidFill>
                    <a:srgbClr val="C00000"/>
                  </a:solidFill>
                </a:endParaRPr>
              </a:p>
              <a:p>
                <a:pPr>
                  <a:lnSpc>
                    <a:spcPts val="28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离散数学课程更常用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元素枚举法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定义函数，例如从集合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{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𝟑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𝟒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𝟓</m:t>
                    </m:r>
                    <m:r>
                      <m:rPr>
                        <m:lit/>
                      </m:rP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}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𝑩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{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𝒄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𝒅</m:t>
                    </m:r>
                    <m:r>
                      <m:rPr>
                        <m:lit/>
                      </m:rP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}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的函数</a:t>
                </a:r>
              </a:p>
              <a:p>
                <a:pPr>
                  <a:lnSpc>
                    <a:spcPts val="28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</m:d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d>
                      <m:r>
                        <m:rPr>
                          <m:lit/>
                        </m:rP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342900" indent="-342900">
                  <a:lnSpc>
                    <a:spcPts val="28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谈到函数人们更关注定义域元素的函数值，因此也经常使用下面的枚举方式定义函数</a:t>
                </a:r>
              </a:p>
              <a:p>
                <a:pPr>
                  <a:lnSpc>
                    <a:spcPts val="28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d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485" y="3776345"/>
                <a:ext cx="10852785" cy="265620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函数的基本概念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第二十二讲  函数基础知识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5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/29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函数是一种特殊的关系练习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852999" y="1326033"/>
            <a:ext cx="10485997" cy="3077766"/>
            <a:chOff x="853000" y="1356110"/>
            <a:chExt cx="10485997" cy="30777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/>
                <p:cNvSpPr txBox="1"/>
                <p:nvPr/>
              </p:nvSpPr>
              <p:spPr>
                <a:xfrm>
                  <a:off x="853000" y="1356110"/>
                  <a:ext cx="10485997" cy="3077766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设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r>
                    <a:rPr lang="en-US" altLang="zh-CN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。下面的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a14:m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子集是</a:t>
                  </a:r>
                  <a:r>
                    <a:rPr lang="zh-CN" altLang="en-US" sz="2400" b="1">
                      <a:solidFill>
                        <a:srgbClr val="C00000"/>
                      </a:solidFill>
                      <a:latin typeface="+mn-ea"/>
                    </a:rPr>
                    <a:t>函数</a:t>
                  </a:r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的有</a:t>
                  </a:r>
                  <a:r>
                    <a:rPr lang="zh-CN" altLang="en-US" sz="2400" b="1"/>
                    <a:t>    </a:t>
                  </a:r>
                  <a:r>
                    <a:rPr lang="en-US" altLang="zh-CN" sz="2400" b="1">
                      <a:solidFill>
                        <a:srgbClr val="C00000"/>
                      </a:solidFill>
                    </a:rPr>
                    <a:t>C, E</a:t>
                  </a:r>
                  <a:r>
                    <a:rPr lang="en-US" altLang="zh-CN" sz="2400" b="1"/>
                    <a:t> </a:t>
                  </a:r>
                </a:p>
                <a:p>
                  <a:pPr lvl="1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altLang="zh-CN" sz="2400" b="1">
                      <a:solidFill>
                        <a:srgbClr val="002060"/>
                      </a:solidFill>
                    </a:rPr>
                    <a:t>A.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</m:d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endParaRPr lang="en-US" altLang="zh-CN" sz="2400" b="1">
                    <a:solidFill>
                      <a:srgbClr val="002060"/>
                    </a:solidFill>
                  </a:endParaRPr>
                </a:p>
                <a:p>
                  <a:pPr lvl="1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altLang="zh-CN" sz="2400" b="1">
                      <a:solidFill>
                        <a:srgbClr val="002060"/>
                      </a:solidFill>
                    </a:rPr>
                    <a:t>B.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endParaRPr lang="en-US" altLang="zh-CN" sz="2400" b="1">
                    <a:solidFill>
                      <a:srgbClr val="002060"/>
                    </a:solidFill>
                  </a:endParaRPr>
                </a:p>
                <a:p>
                  <a:pPr lvl="1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altLang="zh-CN" sz="2400" b="1">
                      <a:solidFill>
                        <a:srgbClr val="002060"/>
                      </a:solidFill>
                    </a:rPr>
                    <a:t>C.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endParaRPr lang="en-US" altLang="zh-CN" sz="2400" b="1">
                    <a:solidFill>
                      <a:srgbClr val="002060"/>
                    </a:solidFill>
                  </a:endParaRPr>
                </a:p>
                <a:p>
                  <a:pPr lvl="1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altLang="zh-CN" sz="2400" b="1">
                      <a:solidFill>
                        <a:srgbClr val="002060"/>
                      </a:solidFill>
                    </a:rPr>
                    <a:t>D.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endParaRPr lang="en-US" altLang="zh-CN" sz="2400" b="1">
                    <a:solidFill>
                      <a:srgbClr val="002060"/>
                    </a:solidFill>
                  </a:endParaRPr>
                </a:p>
                <a:p>
                  <a:pPr lvl="1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altLang="zh-CN" sz="2400" b="1">
                      <a:solidFill>
                        <a:srgbClr val="002060"/>
                      </a:solidFill>
                    </a:rPr>
                    <a:t>E.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</m:d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lang="en-US" altLang="zh-CN" sz="2400" b="1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" name="文本框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3000" y="1356110"/>
                  <a:ext cx="10485997" cy="3077766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直接连接符 3"/>
            <p:cNvCxnSpPr/>
            <p:nvPr/>
          </p:nvCxnSpPr>
          <p:spPr>
            <a:xfrm>
              <a:off x="9808420" y="1776172"/>
              <a:ext cx="1217007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本框 2"/>
          <p:cNvSpPr txBox="1"/>
          <p:nvPr/>
        </p:nvSpPr>
        <p:spPr>
          <a:xfrm>
            <a:off x="9880783" y="1353515"/>
            <a:ext cx="1052545" cy="369332"/>
          </a:xfrm>
          <a:prstGeom prst="rect">
            <a:avLst/>
          </a:prstGeom>
          <a:solidFill>
            <a:srgbClr val="F0F7EC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en-US" altLang="zh-CN" sz="2400" b="1">
                <a:solidFill>
                  <a:srgbClr val="C00000"/>
                </a:solidFill>
              </a:rPr>
              <a:t>(1)</a:t>
            </a:r>
            <a:endParaRPr lang="zh-CN" altLang="en-US" sz="2400" b="1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函数的基本概念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第二十二讲  函数基础知识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/29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函数是一种特殊的关系练习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852999" y="1326033"/>
            <a:ext cx="10485997" cy="3077766"/>
            <a:chOff x="853000" y="1356110"/>
            <a:chExt cx="10485997" cy="30777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/>
                <p:cNvSpPr txBox="1"/>
                <p:nvPr/>
              </p:nvSpPr>
              <p:spPr>
                <a:xfrm>
                  <a:off x="853000" y="1356110"/>
                  <a:ext cx="10485997" cy="3077766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设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r>
                    <a:rPr lang="en-US" altLang="zh-CN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。下面的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a14:m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子集是</a:t>
                  </a:r>
                  <a:r>
                    <a:rPr lang="zh-CN" altLang="en-US" sz="2400" b="1">
                      <a:solidFill>
                        <a:srgbClr val="C00000"/>
                      </a:solidFill>
                      <a:latin typeface="+mn-ea"/>
                    </a:rPr>
                    <a:t>函数</a:t>
                  </a:r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的有</a:t>
                  </a:r>
                  <a:r>
                    <a:rPr lang="zh-CN" altLang="en-US" sz="2400" b="1"/>
                    <a:t>    </a:t>
                  </a:r>
                  <a:r>
                    <a:rPr lang="en-US" altLang="zh-CN" sz="2400" b="1">
                      <a:solidFill>
                        <a:srgbClr val="C00000"/>
                      </a:solidFill>
                    </a:rPr>
                    <a:t>C, E</a:t>
                  </a:r>
                  <a:r>
                    <a:rPr lang="en-US" altLang="zh-CN" sz="2400" b="1"/>
                    <a:t> </a:t>
                  </a:r>
                </a:p>
                <a:p>
                  <a:pPr lvl="1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altLang="zh-CN" sz="2400" b="1">
                      <a:solidFill>
                        <a:srgbClr val="002060"/>
                      </a:solidFill>
                    </a:rPr>
                    <a:t>A.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</m:d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endParaRPr lang="en-US" altLang="zh-CN" sz="2400" b="1">
                    <a:solidFill>
                      <a:srgbClr val="002060"/>
                    </a:solidFill>
                  </a:endParaRPr>
                </a:p>
                <a:p>
                  <a:pPr lvl="1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altLang="zh-CN" sz="2400" b="1">
                      <a:solidFill>
                        <a:srgbClr val="002060"/>
                      </a:solidFill>
                    </a:rPr>
                    <a:t>B.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endParaRPr lang="en-US" altLang="zh-CN" sz="2400" b="1">
                    <a:solidFill>
                      <a:srgbClr val="002060"/>
                    </a:solidFill>
                  </a:endParaRPr>
                </a:p>
                <a:p>
                  <a:pPr lvl="1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altLang="zh-CN" sz="2400" b="1">
                      <a:solidFill>
                        <a:srgbClr val="002060"/>
                      </a:solidFill>
                    </a:rPr>
                    <a:t>C.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endParaRPr lang="en-US" altLang="zh-CN" sz="2400" b="1">
                    <a:solidFill>
                      <a:srgbClr val="002060"/>
                    </a:solidFill>
                  </a:endParaRPr>
                </a:p>
                <a:p>
                  <a:pPr lvl="1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altLang="zh-CN" sz="2400" b="1">
                      <a:solidFill>
                        <a:srgbClr val="002060"/>
                      </a:solidFill>
                    </a:rPr>
                    <a:t>D.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endParaRPr lang="en-US" altLang="zh-CN" sz="2400" b="1">
                    <a:solidFill>
                      <a:srgbClr val="002060"/>
                    </a:solidFill>
                  </a:endParaRPr>
                </a:p>
                <a:p>
                  <a:pPr lvl="1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altLang="zh-CN" sz="2400" b="1">
                      <a:solidFill>
                        <a:srgbClr val="002060"/>
                      </a:solidFill>
                    </a:rPr>
                    <a:t>E.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</m:d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lang="en-US" altLang="zh-CN" sz="2400" b="1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" name="文本框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3000" y="1356110"/>
                  <a:ext cx="10485997" cy="3077766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直接连接符 3"/>
            <p:cNvCxnSpPr/>
            <p:nvPr/>
          </p:nvCxnSpPr>
          <p:spPr>
            <a:xfrm>
              <a:off x="9808420" y="1776172"/>
              <a:ext cx="1217007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1560179" y="4656402"/>
                <a:ext cx="9071638" cy="132343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不是函数，因为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的元素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的两个元素与之对应，即有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不是函数，因为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的元素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的两个元素与之对应，即有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不是函数，因为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的元素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</a:rPr>
                  <a:t>没有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的元素与之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对应</a:t>
                </a:r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0179" y="4656402"/>
                <a:ext cx="9071638" cy="1323439"/>
              </a:xfrm>
              <a:prstGeom prst="rect">
                <a:avLst/>
              </a:prstGeom>
              <a:blipFill rotWithShape="1">
                <a:blip r:embed="rId3"/>
                <a:stretch>
                  <a:fillRect l="-7" t="-44" b="-415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函数的基本概念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第二十二讲  函数基础知识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/29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函数的像集和逆像集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533866" y="1615825"/>
                <a:ext cx="9124266" cy="315471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域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(domain)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、陪域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(codomain)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、像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(image)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集和逆像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(pre-image)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集</a:t>
                </a:r>
                <a:endParaRPr lang="en-US" altLang="zh-CN" sz="2400" b="1">
                  <a:solidFill>
                    <a:srgbClr val="C00000"/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对于函数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定义域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，或简称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域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称为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陪域</a:t>
                </a:r>
                <a:endParaRPr lang="en-US" altLang="zh-CN" sz="2000" b="1">
                  <a:solidFill>
                    <a:srgbClr val="C00000"/>
                  </a:solidFill>
                  <a:latin typeface="+mn-ea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对于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⊆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𝒇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下的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像集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，记为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，定义为：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</m:d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lit/>
                        </m:rP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lit/>
                        </m:rP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lit/>
                        </m:rP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∣∃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m:rPr>
                          <m:lit/>
                        </m:rP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⊆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对于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𝑻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⊆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𝑩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𝑻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𝒇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下的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逆像集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，也称为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原像集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，记为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p>
                        <m:r>
                          <a:rPr lang="en-US" altLang="zh-CN" sz="20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，定义为：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p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d>
                        <m:dPr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</m:d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lit/>
                        </m:rP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m:rPr>
                          <m:lit/>
                        </m:rP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⊆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altLang="zh-CN" sz="2000" b="1" i="1">
                  <a:solidFill>
                    <a:schemeClr val="accent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特别地，称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为函数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值域</a:t>
                </a:r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(range)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，有时也记为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𝐫𝐚𝐧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000" b="1">
                  <a:solidFill>
                    <a:srgbClr val="C00000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866" y="1615825"/>
                <a:ext cx="9124266" cy="3154710"/>
              </a:xfrm>
              <a:prstGeom prst="rect">
                <a:avLst/>
              </a:prstGeom>
              <a:blipFill rotWithShape="1">
                <a:blip r:embed="rId2"/>
                <a:stretch>
                  <a:fillRect l="-4" t="-12" r="3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1570047" y="5443366"/>
                <a:ext cx="9051904" cy="4070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p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是一个整体记号，对任意函数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都适用，不意味着函数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必然有逆函数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0047" y="5443366"/>
                <a:ext cx="9051904" cy="407099"/>
              </a:xfrm>
              <a:prstGeom prst="rect">
                <a:avLst/>
              </a:prstGeom>
              <a:blipFill rotWithShape="1">
                <a:blip r:embed="rId3"/>
                <a:stretch>
                  <a:fillRect l="-4" t="-36" r="3" b="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函数的基本概念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第二十二讲  函数基础知识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8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/29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函数的像集和逆像集练习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059126" y="1616136"/>
            <a:ext cx="8630883" cy="3941079"/>
            <a:chOff x="1059126" y="1616136"/>
            <a:chExt cx="8630883" cy="39410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/>
                <p:cNvSpPr txBox="1"/>
                <p:nvPr/>
              </p:nvSpPr>
              <p:spPr>
                <a:xfrm>
                  <a:off x="1059126" y="1616136"/>
                  <a:ext cx="8630883" cy="394107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spcBef>
                      <a:spcPts val="600"/>
                    </a:spcBef>
                    <a:spcAft>
                      <a:spcPts val="1200"/>
                    </a:spcAft>
                  </a:pPr>
                  <a:r>
                    <a:rPr lang="zh-CN" altLang="en-US" sz="28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设</a:t>
                  </a:r>
                  <a14:m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lit/>
                        </m:rPr>
                        <a:rPr lang="en-US" altLang="zh-CN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m:rPr>
                          <m:lit/>
                        </m:rPr>
                        <a:rPr lang="en-US" altLang="zh-CN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r>
                    <a:rPr lang="en-US" altLang="zh-CN" sz="28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lit/>
                        </m:rPr>
                        <a:rPr lang="en-US" altLang="zh-CN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altLang="zh-CN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m:rPr>
                          <m:lit/>
                        </m:rPr>
                        <a:rPr lang="en-US" altLang="zh-CN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lang="zh-CN" altLang="en-US" sz="28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marL="342900" indent="-342900">
                    <a:spcBef>
                      <a:spcPts val="12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sz="2400" b="1">
                      <a:solidFill>
                        <a:schemeClr val="accent6">
                          <a:lumMod val="50000"/>
                        </a:schemeClr>
                      </a:solidFill>
                    </a:rPr>
                    <a:t>函数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4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4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CN" sz="24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altLang="zh-CN" sz="24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altLang="zh-CN" sz="24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</m:d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lang="en-US" altLang="zh-CN" sz="2400" b="1">
                    <a:solidFill>
                      <a:schemeClr val="accent6">
                        <a:lumMod val="50000"/>
                      </a:schemeClr>
                    </a:solidFill>
                  </a:endParaRPr>
                </a:p>
                <a:p>
                  <a:pPr marL="800100" lvl="1" indent="-3429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a14:m>
                  <a:r>
                    <a:rPr lang="zh-CN" altLang="en-US" sz="2400" b="1">
                      <a:solidFill>
                        <a:schemeClr val="accent4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的子集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4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400" b="1" i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1" i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400" b="1" i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1" i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r>
                    <a:rPr lang="zh-CN" altLang="en-US" sz="2400" b="1">
                      <a:solidFill>
                        <a:schemeClr val="accent4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在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2400" b="1">
                      <a:solidFill>
                        <a:schemeClr val="accent4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下的</a:t>
                  </a:r>
                  <a:r>
                    <a:rPr lang="zh-CN" altLang="en-US" sz="2400" b="1">
                      <a:solidFill>
                        <a:srgbClr val="C00000"/>
                      </a:solidFill>
                      <a:latin typeface="+mn-ea"/>
                    </a:rPr>
                    <a:t>像集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4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lang="en-US" altLang="zh-CN" sz="24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marL="800100" lvl="1" indent="-3429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a14:m>
                  <a:r>
                    <a:rPr lang="zh-CN" altLang="en-US" sz="2400" b="1">
                      <a:solidFill>
                        <a:schemeClr val="accent4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的子集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24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400" b="1" i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1" i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r>
                    <a:rPr lang="zh-CN" altLang="en-US" sz="2400" b="1">
                      <a:solidFill>
                        <a:schemeClr val="accent4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在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2400" b="1">
                      <a:solidFill>
                        <a:schemeClr val="accent4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下的</a:t>
                  </a:r>
                  <a:r>
                    <a:rPr lang="zh-CN" altLang="en-US" sz="2400" b="1">
                      <a:solidFill>
                        <a:srgbClr val="C00000"/>
                      </a:solidFill>
                      <a:latin typeface="+mn-ea"/>
                    </a:rPr>
                    <a:t>逆像集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US" altLang="zh-CN" sz="24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24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lang="en-US" altLang="zh-CN" sz="24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marL="342900" indent="-342900">
                    <a:spcBef>
                      <a:spcPts val="12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sz="2400" b="1">
                      <a:solidFill>
                        <a:schemeClr val="accent6">
                          <a:lumMod val="50000"/>
                        </a:schemeClr>
                      </a:solidFill>
                    </a:rPr>
                    <a:t>函数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4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4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CN" sz="24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altLang="zh-CN" sz="24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altLang="zh-CN" sz="24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d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lang="en-US" altLang="zh-CN" sz="2400" b="1">
                    <a:solidFill>
                      <a:schemeClr val="accent6">
                        <a:lumMod val="50000"/>
                      </a:schemeClr>
                    </a:solidFill>
                  </a:endParaRPr>
                </a:p>
                <a:p>
                  <a:pPr marL="800100" lvl="1" indent="-3429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US" altLang="zh-CN" sz="24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𝑨</m:t>
                      </m:r>
                    </m:oMath>
                  </a14:m>
                  <a:r>
                    <a:rPr lang="zh-CN" altLang="en-US" sz="2400" b="1">
                      <a:solidFill>
                        <a:schemeClr val="accent4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的子集</a:t>
                  </a:r>
                  <a14:m>
                    <m:oMath xmlns:m="http://schemas.openxmlformats.org/officeDocument/2006/math">
                      <m:r>
                        <a:rPr lang="en-US" altLang="zh-CN" sz="24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𝑺</m:t>
                      </m:r>
                      <m:r>
                        <a:rPr lang="en-US" altLang="zh-CN" sz="24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 = </m:t>
                      </m:r>
                      <m:r>
                        <m:rPr>
                          <m:lit/>
                        </m:rPr>
                        <a:rPr lang="en-US" altLang="zh-CN" sz="24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{</m:t>
                      </m:r>
                      <m:r>
                        <a:rPr lang="en-US" altLang="zh-CN" sz="24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𝟏</m:t>
                      </m:r>
                      <m:r>
                        <a:rPr lang="en-US" altLang="zh-CN" sz="24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 </m:t>
                      </m:r>
                      <m:r>
                        <a:rPr lang="en-US" altLang="zh-CN" sz="24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𝟐</m:t>
                      </m:r>
                      <m:r>
                        <a:rPr lang="en-US" altLang="zh-CN" sz="24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 </m:t>
                      </m:r>
                      <m:r>
                        <a:rPr lang="en-US" altLang="zh-CN" sz="24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𝟑</m:t>
                      </m:r>
                      <m:r>
                        <m:rPr>
                          <m:lit/>
                        </m:rPr>
                        <a:rPr lang="en-US" altLang="zh-CN" sz="24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}</m:t>
                      </m:r>
                    </m:oMath>
                  </a14:m>
                  <a:r>
                    <a:rPr lang="zh-CN" altLang="en-US" sz="2400" b="1">
                      <a:solidFill>
                        <a:schemeClr val="accent4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在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400" b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2400" b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2400" b="1">
                      <a:solidFill>
                        <a:schemeClr val="accent4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下的</a:t>
                  </a:r>
                  <a:r>
                    <a:rPr lang="zh-CN" altLang="en-US" sz="2400" b="1">
                      <a:solidFill>
                        <a:srgbClr val="C00000"/>
                      </a:solidFill>
                      <a:latin typeface="+mn-ea"/>
                    </a:rPr>
                    <a:t>像集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400" b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2400" b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24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24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𝑺</m:t>
                      </m:r>
                      <m:r>
                        <a:rPr lang="en-US" altLang="zh-CN" sz="24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) = </m:t>
                      </m:r>
                      <m:r>
                        <m:rPr>
                          <m:lit/>
                        </m:rPr>
                        <a:rPr lang="en-US" altLang="zh-CN" sz="2400" b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{</m:t>
                      </m:r>
                      <m:r>
                        <a:rPr lang="en-US" altLang="zh-CN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𝒂</m:t>
                      </m:r>
                      <m:r>
                        <a:rPr lang="en-US" altLang="zh-CN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lang="en-US" altLang="zh-CN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𝒃</m:t>
                      </m:r>
                      <m:r>
                        <m:rPr>
                          <m:lit/>
                        </m:rPr>
                        <a:rPr lang="en-US" altLang="zh-CN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}</m:t>
                      </m:r>
                    </m:oMath>
                  </a14:m>
                  <a:endParaRPr lang="en-US" altLang="zh-CN" sz="24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marL="800100" lvl="1" indent="-3429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en-US" altLang="zh-CN" sz="2400" b="1">
                      <a:solidFill>
                        <a:schemeClr val="accent4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B</a:t>
                  </a:r>
                  <a:r>
                    <a:rPr lang="zh-CN" altLang="en-US" sz="2400" b="1">
                      <a:solidFill>
                        <a:schemeClr val="accent4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的子集</a:t>
                  </a:r>
                  <a14:m>
                    <m:oMath xmlns:m="http://schemas.openxmlformats.org/officeDocument/2006/math">
                      <m:r>
                        <a:rPr lang="en-US" altLang="zh-CN" sz="24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𝑻</m:t>
                      </m:r>
                      <m:r>
                        <a:rPr lang="en-US" altLang="zh-CN" sz="24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 = </m:t>
                      </m:r>
                      <m:r>
                        <m:rPr>
                          <m:lit/>
                        </m:rPr>
                        <a:rPr lang="en-US" altLang="zh-CN" sz="24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{</m:t>
                      </m:r>
                      <m:r>
                        <a:rPr lang="en-US" altLang="zh-CN" sz="24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𝒂</m:t>
                      </m:r>
                      <m:r>
                        <a:rPr lang="en-US" altLang="zh-CN" sz="24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 </m:t>
                      </m:r>
                      <m:r>
                        <a:rPr lang="en-US" altLang="zh-CN" sz="24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𝒃</m:t>
                      </m:r>
                      <m:r>
                        <m:rPr>
                          <m:lit/>
                        </m:rPr>
                        <a:rPr lang="en-US" altLang="zh-CN" sz="24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}</m:t>
                      </m:r>
                    </m:oMath>
                  </a14:m>
                  <a:r>
                    <a:rPr lang="zh-CN" altLang="en-US" sz="2400" b="1">
                      <a:solidFill>
                        <a:schemeClr val="accent4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在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400" b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2400" b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2400" b="1">
                      <a:solidFill>
                        <a:schemeClr val="accent4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下的</a:t>
                  </a:r>
                  <a:r>
                    <a:rPr lang="zh-CN" altLang="en-US" sz="2400" b="1">
                      <a:solidFill>
                        <a:srgbClr val="C00000"/>
                      </a:solidFill>
                      <a:latin typeface="+mn-ea"/>
                    </a:rPr>
                    <a:t>逆像集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b="1" i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sz="2400" b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2400" b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𝟐</m:t>
                          </m:r>
                        </m:sub>
                        <m:sup>
                          <m:r>
                            <a:rPr lang="en-US" altLang="zh-CN" sz="2400" b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2400" b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𝟏</m:t>
                          </m:r>
                        </m:sup>
                      </m:sSubSup>
                      <m:d>
                        <m:dPr>
                          <m:ctrlPr>
                            <a:rPr lang="en-US" altLang="zh-CN" sz="2400" b="1" i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400" b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𝑻</m:t>
                          </m:r>
                        </m:e>
                      </m:d>
                      <m:r>
                        <a:rPr lang="en-US" altLang="zh-CN" sz="24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 </m:t>
                      </m:r>
                      <m:r>
                        <m:rPr>
                          <m:lit/>
                        </m:rPr>
                        <a:rPr lang="en-US" altLang="zh-CN" sz="2400" b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{</m:t>
                      </m:r>
                      <m:r>
                        <a:rPr lang="en-US" altLang="zh-CN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𝟏</m:t>
                      </m:r>
                      <m:r>
                        <a:rPr lang="en-US" altLang="zh-CN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lang="en-US" altLang="zh-CN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𝟐</m:t>
                      </m:r>
                      <m:r>
                        <a:rPr lang="en-US" altLang="zh-CN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lang="en-US" altLang="zh-CN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𝟑</m:t>
                      </m:r>
                      <m:r>
                        <a:rPr lang="en-US" altLang="zh-CN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lang="en-US" altLang="zh-CN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𝟒</m:t>
                      </m:r>
                      <m:r>
                        <m:rPr>
                          <m:lit/>
                        </m:rPr>
                        <a:rPr lang="en-US" altLang="zh-CN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}</m:t>
                      </m:r>
                    </m:oMath>
                  </a14:m>
                  <a:endParaRPr lang="en-US" altLang="zh-CN" sz="24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" name="文本框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9126" y="1616136"/>
                  <a:ext cx="8630883" cy="3941079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直接连接符 3"/>
            <p:cNvCxnSpPr/>
            <p:nvPr/>
          </p:nvCxnSpPr>
          <p:spPr>
            <a:xfrm>
              <a:off x="7848052" y="3302366"/>
              <a:ext cx="1085439" cy="0"/>
            </a:xfrm>
            <a:prstGeom prst="line">
              <a:avLst/>
            </a:prstGeom>
            <a:ln w="19050"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8033344" y="3849471"/>
              <a:ext cx="1110656" cy="0"/>
            </a:xfrm>
            <a:prstGeom prst="line">
              <a:avLst/>
            </a:prstGeom>
            <a:ln w="19050"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7908354" y="4967802"/>
              <a:ext cx="1130391" cy="0"/>
            </a:xfrm>
            <a:prstGeom prst="line">
              <a:avLst/>
            </a:prstGeom>
            <a:ln w="19050"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8033344" y="5499108"/>
              <a:ext cx="1268538" cy="0"/>
            </a:xfrm>
            <a:prstGeom prst="line">
              <a:avLst/>
            </a:prstGeom>
            <a:ln w="19050"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/>
            <p:cNvSpPr txBox="1"/>
            <p:nvPr/>
          </p:nvSpPr>
          <p:spPr>
            <a:xfrm>
              <a:off x="7848052" y="2920974"/>
              <a:ext cx="1052545" cy="369332"/>
            </a:xfrm>
            <a:prstGeom prst="rect">
              <a:avLst/>
            </a:prstGeom>
            <a:solidFill>
              <a:srgbClr val="F0F7EC"/>
            </a:solidFill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altLang="zh-CN" sz="2400" b="1">
                  <a:solidFill>
                    <a:srgbClr val="C00000"/>
                  </a:solidFill>
                </a:rPr>
                <a:t>(1)</a:t>
              </a:r>
              <a:endParaRPr lang="zh-CN" altLang="en-US" sz="2400" b="1">
                <a:solidFill>
                  <a:srgbClr val="C00000"/>
                </a:solidFill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8051980" y="3452279"/>
              <a:ext cx="1052545" cy="369332"/>
            </a:xfrm>
            <a:prstGeom prst="rect">
              <a:avLst/>
            </a:prstGeom>
            <a:solidFill>
              <a:srgbClr val="F0F7EC"/>
            </a:solidFill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altLang="zh-CN" sz="2400" b="1">
                  <a:solidFill>
                    <a:srgbClr val="C00000"/>
                  </a:solidFill>
                </a:rPr>
                <a:t>(2)</a:t>
              </a:r>
              <a:endParaRPr lang="zh-CN" altLang="en-US" sz="2400" b="1">
                <a:solidFill>
                  <a:srgbClr val="C00000"/>
                </a:solidFill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7914932" y="4576093"/>
              <a:ext cx="1085439" cy="369332"/>
            </a:xfrm>
            <a:prstGeom prst="rect">
              <a:avLst/>
            </a:prstGeom>
            <a:solidFill>
              <a:srgbClr val="F0F7EC"/>
            </a:solidFill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altLang="zh-CN" sz="2400" b="1">
                  <a:solidFill>
                    <a:srgbClr val="C00000"/>
                  </a:solidFill>
                </a:rPr>
                <a:t>(3)</a:t>
              </a:r>
              <a:endParaRPr lang="zh-CN" altLang="en-US" sz="2400" b="1">
                <a:solidFill>
                  <a:srgbClr val="C00000"/>
                </a:solidFill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8020188" y="5095337"/>
              <a:ext cx="1281693" cy="369332"/>
            </a:xfrm>
            <a:prstGeom prst="rect">
              <a:avLst/>
            </a:prstGeom>
            <a:solidFill>
              <a:srgbClr val="F0F7EC"/>
            </a:solidFill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altLang="zh-CN" sz="2400" b="1">
                  <a:solidFill>
                    <a:srgbClr val="C00000"/>
                  </a:solidFill>
                </a:rPr>
                <a:t>(4)</a:t>
              </a:r>
              <a:endParaRPr lang="zh-CN" altLang="en-US" sz="2400" b="1">
                <a:solidFill>
                  <a:srgbClr val="C00000"/>
                </a:solidFill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函数的基本概念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第二十二讲  函数基础知识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9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/29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函数的像集和逆像集练习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059126" y="1616136"/>
                <a:ext cx="8630883" cy="394107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zh-CN" altLang="en-US" sz="28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lit/>
                      </m:rP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m:rPr>
                        <m:lit/>
                      </m:rP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sz="28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lit/>
                      </m:rP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m:rPr>
                        <m:lit/>
                      </m:rP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zh-CN" altLang="en-US" sz="28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12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</m:d>
                    <m: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d>
                    <m: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</m:d>
                    <m:r>
                      <m:rPr>
                        <m:lit/>
                      </m:rP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4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的子集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4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400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400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4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4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下的</a:t>
                </a:r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像集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4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400" b="1">
                  <a:solidFill>
                    <a:schemeClr val="accent4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4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的子集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altLang="zh-CN" sz="24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400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4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4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下的</a:t>
                </a:r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逆像集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CN" sz="24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bSup>
                    <m:r>
                      <a:rPr lang="en-US" altLang="zh-CN" sz="24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altLang="zh-CN" sz="24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400" b="1">
                  <a:solidFill>
                    <a:schemeClr val="accent4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12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d>
                    <m:r>
                      <m:rPr>
                        <m:lit/>
                      </m:rP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4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的子集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  <m:r>
                      <a:rPr lang="en-US" altLang="zh-CN" sz="2400" b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= </m:t>
                    </m:r>
                    <m:r>
                      <m:rPr>
                        <m:lit/>
                      </m:rPr>
                      <a:rPr lang="en-US" altLang="zh-CN" sz="2400" b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{</m:t>
                    </m:r>
                    <m:r>
                      <a:rPr lang="en-US" altLang="zh-CN" sz="2400" b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  <m:r>
                      <a:rPr lang="en-US" altLang="zh-CN" sz="2400" b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400" b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  <m:r>
                      <a:rPr lang="en-US" altLang="zh-CN" sz="2400" b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400" b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𝟑</m:t>
                    </m:r>
                    <m:r>
                      <m:rPr>
                        <m:lit/>
                      </m:rPr>
                      <a:rPr lang="en-US" altLang="zh-CN" sz="2400" b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}</m:t>
                    </m:r>
                  </m:oMath>
                </a14:m>
                <a:r>
                  <a:rPr lang="zh-CN" altLang="en-US" sz="24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400" b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𝒇</m:t>
                        </m:r>
                      </m:e>
                      <m:sub>
                        <m:r>
                          <a:rPr lang="en-US" altLang="zh-CN" sz="2400" b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4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下的</a:t>
                </a:r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像集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400" b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𝒇</m:t>
                        </m:r>
                      </m:e>
                      <m:sub>
                        <m:r>
                          <a:rPr lang="en-US" altLang="zh-CN" sz="2400" b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sz="2400" b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2400" b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  <m:r>
                      <a:rPr lang="en-US" altLang="zh-CN" sz="2400" b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 = </m:t>
                    </m:r>
                    <m:r>
                      <m:rPr>
                        <m:lit/>
                      </m:rPr>
                      <a:rPr lang="en-US" altLang="zh-CN" sz="2400" b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{</m:t>
                    </m:r>
                    <m:r>
                      <a:rPr lang="en-US" altLang="zh-CN" sz="24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24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24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  <m:r>
                      <m:rPr>
                        <m:lit/>
                      </m:rPr>
                      <a:rPr lang="en-US" altLang="zh-CN" sz="24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}</m:t>
                    </m:r>
                  </m:oMath>
                </a14:m>
                <a:endParaRPr lang="en-US" altLang="zh-CN" sz="2400" b="1">
                  <a:solidFill>
                    <a:schemeClr val="accent4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24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B</a:t>
                </a:r>
                <a:r>
                  <a:rPr lang="zh-CN" altLang="en-US" sz="24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的子集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𝑻</m:t>
                    </m:r>
                    <m:r>
                      <a:rPr lang="en-US" altLang="zh-CN" sz="2400" b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= </m:t>
                    </m:r>
                    <m:r>
                      <m:rPr>
                        <m:lit/>
                      </m:rPr>
                      <a:rPr lang="en-US" altLang="zh-CN" sz="2400" b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{</m:t>
                    </m:r>
                    <m:r>
                      <a:rPr lang="en-US" altLang="zh-CN" sz="2400" b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2400" b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400" b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  <m:r>
                      <m:rPr>
                        <m:lit/>
                      </m:rPr>
                      <a:rPr lang="en-US" altLang="zh-CN" sz="2400" b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}</m:t>
                    </m:r>
                  </m:oMath>
                </a14:m>
                <a:r>
                  <a:rPr lang="zh-CN" altLang="en-US" sz="24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400" b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𝒇</m:t>
                        </m:r>
                      </m:e>
                      <m:sub>
                        <m:r>
                          <a:rPr lang="en-US" altLang="zh-CN" sz="2400" b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400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下的</a:t>
                </a:r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逆像集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SupPr>
                      <m:e>
                        <m:r>
                          <a:rPr lang="en-US" altLang="zh-CN" sz="2400" b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𝒇</m:t>
                        </m:r>
                      </m:e>
                      <m:sub>
                        <m:r>
                          <a:rPr lang="en-US" altLang="zh-CN" sz="2400" b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</m:sub>
                      <m:sup>
                        <m:r>
                          <a:rPr lang="en-US" altLang="zh-CN" sz="2400" b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2400" b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sup>
                    </m:sSubSup>
                    <m:d>
                      <m:dPr>
                        <m:ctrlPr>
                          <a:rPr lang="en-US" altLang="zh-CN" sz="2400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𝑻</m:t>
                        </m:r>
                      </m:e>
                    </m:d>
                    <m:r>
                      <a:rPr lang="en-US" altLang="zh-CN" sz="2400" b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 </m:t>
                    </m:r>
                    <m:r>
                      <m:rPr>
                        <m:lit/>
                      </m:rPr>
                      <a:rPr lang="en-US" altLang="zh-CN" sz="2400" b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{</m:t>
                    </m:r>
                    <m:r>
                      <a:rPr lang="en-US" altLang="zh-CN" sz="24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  <m:r>
                      <a:rPr lang="en-US" altLang="zh-CN" sz="24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24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  <m:r>
                      <a:rPr lang="en-US" altLang="zh-CN" sz="24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24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𝟑</m:t>
                    </m:r>
                    <m:r>
                      <a:rPr lang="en-US" altLang="zh-CN" sz="24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24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𝟒</m:t>
                    </m:r>
                    <m:r>
                      <m:rPr>
                        <m:lit/>
                      </m:rPr>
                      <a:rPr lang="en-US" altLang="zh-CN" sz="24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}</m:t>
                    </m:r>
                  </m:oMath>
                </a14:m>
                <a:endParaRPr lang="en-US" altLang="zh-CN" sz="2400" b="1">
                  <a:solidFill>
                    <a:schemeClr val="accent4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126" y="1616136"/>
                <a:ext cx="8630883" cy="3941079"/>
              </a:xfrm>
              <a:prstGeom prst="rect">
                <a:avLst/>
              </a:prstGeom>
              <a:blipFill rotWithShape="1">
                <a:blip r:embed="rId2"/>
                <a:stretch>
                  <a:fillRect l="-7" t="-2" r="6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接连接符 3"/>
          <p:cNvCxnSpPr/>
          <p:nvPr/>
        </p:nvCxnSpPr>
        <p:spPr>
          <a:xfrm>
            <a:off x="7848052" y="3302366"/>
            <a:ext cx="1085439" cy="0"/>
          </a:xfrm>
          <a:prstGeom prst="line">
            <a:avLst/>
          </a:prstGeom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8033344" y="3849471"/>
            <a:ext cx="1110656" cy="0"/>
          </a:xfrm>
          <a:prstGeom prst="line">
            <a:avLst/>
          </a:prstGeom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7908354" y="4967802"/>
            <a:ext cx="1130391" cy="0"/>
          </a:xfrm>
          <a:prstGeom prst="line">
            <a:avLst/>
          </a:prstGeom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8033344" y="5499108"/>
            <a:ext cx="1268538" cy="0"/>
          </a:xfrm>
          <a:prstGeom prst="line">
            <a:avLst/>
          </a:prstGeom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函数的基本概念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第二十二讲  函数基础知识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10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/29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常见的函数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257573" y="1088918"/>
                <a:ext cx="9676852" cy="336944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算法效率分析常用到的一些函数，定义域和陪域都是实数或整数，或它们的合适子集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多项式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函数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+ 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+⋯ + 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+ 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对数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函数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𝐥𝐨𝐠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是正实数，定义域是正实数集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为底：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𝐥𝐠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；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为底自然对数：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𝐥𝐧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；省略底对数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𝐥𝐨𝐠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意味着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指数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函数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sup>
                    </m:sSup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是正实数，定义域是实数集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天花板</a:t>
                </a:r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(ceiling)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函数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⌈"/>
                        <m:endChr m:val="⌉"/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，是大于等于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的最小整数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地板</a:t>
                </a:r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(floor)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函数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，是小于等于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的最大整数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阶乘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函数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! = 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，注意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! = 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! = 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zh-CN" altLang="en-US" sz="2000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573" y="1088918"/>
                <a:ext cx="9676852" cy="3369449"/>
              </a:xfrm>
              <a:prstGeom prst="rect">
                <a:avLst/>
              </a:prstGeom>
              <a:blipFill rotWithShape="1">
                <a:blip r:embed="rId2"/>
                <a:stretch>
                  <a:fillRect l="-3" t="-16" r="4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553683" y="4823818"/>
                <a:ext cx="3992004" cy="130125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8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恒等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(identity)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函数</a:t>
                </a:r>
                <a:endParaRPr lang="en-US" altLang="zh-CN" sz="2400" b="1">
                  <a:solidFill>
                    <a:srgbClr val="C00000"/>
                  </a:solidFill>
                </a:endParaRPr>
              </a:p>
              <a:p>
                <a:pPr>
                  <a:lnSpc>
                    <a:spcPts val="28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任意非空集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上的恒等关系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0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𝚫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是函数，称为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恒等函数</a:t>
                </a: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，记为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𝒊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endParaRPr lang="zh-CN" altLang="en-US" sz="2000" b="1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683" y="4823818"/>
                <a:ext cx="3992004" cy="1301254"/>
              </a:xfrm>
              <a:prstGeom prst="rect">
                <a:avLst/>
              </a:prstGeom>
              <a:blipFill rotWithShape="1">
                <a:blip r:embed="rId3"/>
                <a:stretch>
                  <a:fillRect l="-15" t="-28" r="9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4748357" y="4631298"/>
                <a:ext cx="6889960" cy="167969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>
                    <a:solidFill>
                      <a:srgbClr val="C00000"/>
                    </a:solidFill>
                  </a:rPr>
                  <a:t>全集子集的特征</a:t>
                </a:r>
                <a:r>
                  <a:rPr lang="en-US" altLang="zh-CN" b="1">
                    <a:solidFill>
                      <a:srgbClr val="C00000"/>
                    </a:solidFill>
                  </a:rPr>
                  <a:t>(characteristic)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函数</a:t>
                </a:r>
                <a:endParaRPr lang="en-US" altLang="zh-CN" b="1">
                  <a:solidFill>
                    <a:srgbClr val="C00000"/>
                  </a:solidFill>
                </a:endParaRPr>
              </a:p>
              <a:p>
                <a:pPr>
                  <a:lnSpc>
                    <a:spcPts val="2400"/>
                  </a:lnSpc>
                  <a:spcBef>
                    <a:spcPts val="600"/>
                  </a:spcBef>
                </a:pP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𝑼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是全集，对于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𝑼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的子集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𝑼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，可定义函数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𝝌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sub>
                    </m:sSub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，称为子集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b="1">
                    <a:solidFill>
                      <a:srgbClr val="C00000"/>
                    </a:solidFill>
                    <a:latin typeface="+mn-ea"/>
                  </a:rPr>
                  <a:t>特征函数</a:t>
                </a: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，定义为：对任意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𝑼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𝝌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sub>
                    </m:sSub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r>
                              <a:rPr lang="zh-CN" altLang="en-US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若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r>
                              <a:rPr lang="zh-CN" altLang="en-US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若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∉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8357" y="4631298"/>
                <a:ext cx="6889960" cy="1679691"/>
              </a:xfrm>
              <a:prstGeom prst="rect">
                <a:avLst/>
              </a:prstGeom>
              <a:blipFill rotWithShape="1">
                <a:blip r:embed="rId4"/>
                <a:stretch>
                  <a:fillRect l="-7" t="-14" r="1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函数的基本概念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第二十二讲  函数基础知识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11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/29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函数像集性质证明举例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868351" y="1243462"/>
                <a:ext cx="5321940" cy="46166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是函数，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都是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的子集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351" y="1243462"/>
                <a:ext cx="5321940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6" t="-29" r="6" b="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1842229" y="1899614"/>
                <a:ext cx="8507540" cy="126278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800"/>
                  </a:lnSpc>
                  <a:spcBef>
                    <a:spcPts val="600"/>
                  </a:spcBef>
                  <a:spcAft>
                    <a:spcPts val="300"/>
                  </a:spcAft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</a:rPr>
                  <a:t>蕴涵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</m:d>
                  </m:oMath>
                </a14:m>
                <a:endParaRPr lang="en-US" altLang="zh-CN" sz="2000" b="1"/>
              </a:p>
              <a:p>
                <a:pPr>
                  <a:lnSpc>
                    <a:spcPts val="2800"/>
                  </a:lnSpc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en-US" altLang="zh-CN" sz="2000" b="1">
                    <a:solidFill>
                      <a:srgbClr val="C00000"/>
                    </a:solidFill>
                  </a:rPr>
                  <a:t>【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证明</a:t>
                </a:r>
                <a:r>
                  <a:rPr lang="en-US" altLang="zh-CN" sz="2000" b="1">
                    <a:solidFill>
                      <a:srgbClr val="C00000"/>
                    </a:solidFill>
                  </a:rPr>
                  <a:t>】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对任意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，若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，则存在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，因为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，这意味存在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，从而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</m:d>
                  </m:oMath>
                </a14:m>
                <a:endParaRPr lang="zh-CN" altLang="en-US" sz="20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2229" y="1899614"/>
                <a:ext cx="8507540" cy="1262782"/>
              </a:xfrm>
              <a:prstGeom prst="rect">
                <a:avLst/>
              </a:prstGeom>
              <a:blipFill rotWithShape="1">
                <a:blip r:embed="rId3"/>
                <a:stretch>
                  <a:fillRect l="-1" t="-26" r="6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670999" y="3504052"/>
                <a:ext cx="4420696" cy="142269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  <a:spcBef>
                    <a:spcPts val="6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⊆</m:t>
                      </m:r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</m:d>
                    </m:oMath>
                  </m:oMathPara>
                </a14:m>
                <a:endParaRPr lang="en-US" altLang="zh-CN" b="1"/>
              </a:p>
              <a:p>
                <a:pPr>
                  <a:lnSpc>
                    <a:spcPts val="2400"/>
                  </a:lnSpc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en-US" altLang="zh-CN" b="1">
                    <a:solidFill>
                      <a:srgbClr val="C00000"/>
                    </a:solidFill>
                  </a:rPr>
                  <a:t>【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证明</a:t>
                </a:r>
                <a:r>
                  <a:rPr lang="en-US" altLang="zh-CN" b="1">
                    <a:solidFill>
                      <a:srgbClr val="C00000"/>
                    </a:solidFill>
                  </a:rPr>
                  <a:t>】</a:t>
                </a: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由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得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</m:d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</m:d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，类似有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</m:d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</m:d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，从而由</a:t>
                </a:r>
                <a:r>
                  <a:rPr lang="zh-CN" altLang="en-US" b="1">
                    <a:solidFill>
                      <a:srgbClr val="C00000"/>
                    </a:solidFill>
                    <a:latin typeface="+mn-ea"/>
                  </a:rPr>
                  <a:t>集合交与子集关系的联系</a:t>
                </a: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</m:d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</m:d>
                  </m:oMath>
                </a14:m>
                <a:endParaRPr lang="zh-CN" altLang="en-US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999" y="3504052"/>
                <a:ext cx="4420696" cy="1422697"/>
              </a:xfrm>
              <a:prstGeom prst="rect">
                <a:avLst/>
              </a:prstGeom>
              <a:blipFill rotWithShape="1">
                <a:blip r:embed="rId4"/>
                <a:stretch>
                  <a:fillRect l="-10" t="-9" r="6" b="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5449122" y="3429000"/>
                <a:ext cx="6071879" cy="157280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zh-CN" altLang="en-US" b="1">
                    <a:solidFill>
                      <a:srgbClr val="C00000"/>
                    </a:solidFill>
                  </a:rPr>
                  <a:t>举例</a:t>
                </a:r>
                <a:r>
                  <a:rPr lang="zh-CN" altLang="en-US" b="1" i="0">
                    <a:solidFill>
                      <a:srgbClr val="C00000"/>
                    </a:solidFill>
                    <a:latin typeface="+mj-lt"/>
                  </a:rPr>
                  <a:t>说明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</m:d>
                  </m:oMath>
                </a14:m>
                <a:r>
                  <a:rPr lang="zh-CN" altLang="en-US" b="1">
                    <a:solidFill>
                      <a:srgbClr val="C00000"/>
                    </a:solidFill>
                  </a:rPr>
                  <a:t>不一定是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</m:d>
                  </m:oMath>
                </a14:m>
                <a:r>
                  <a:rPr lang="zh-CN" altLang="en-US" b="1">
                    <a:solidFill>
                      <a:srgbClr val="C00000"/>
                    </a:solidFill>
                  </a:rPr>
                  <a:t>的子集</a:t>
                </a:r>
                <a:endParaRPr lang="en-US" altLang="zh-CN" b="1">
                  <a:solidFill>
                    <a:srgbClr val="C00000"/>
                  </a:solidFill>
                </a:endParaRPr>
              </a:p>
              <a:p>
                <a:pPr>
                  <a:lnSpc>
                    <a:spcPts val="2400"/>
                  </a:lnSpc>
                  <a:spcBef>
                    <a:spcPts val="600"/>
                  </a:spcBef>
                </a:pP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m:rPr>
                        <m:lit/>
                      </m:rP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m:rPr>
                        <m:lit/>
                      </m:rP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m:rPr>
                        <m:lit/>
                      </m:rP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m:rPr>
                        <m:lit/>
                      </m:rP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lnSpc>
                    <a:spcPts val="24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b="1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m:rPr>
                        <m:lit/>
                      </m:rP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</m:d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m:rPr>
                        <m:lit/>
                      </m:rP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</m:d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lit/>
                      </m:rP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m:rPr>
                        <m:lit/>
                      </m:rP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lnSpc>
                    <a:spcPts val="24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b="1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=∅,  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</m:d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endParaRPr lang="zh-CN" altLang="en-US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9122" y="3429000"/>
                <a:ext cx="6071879" cy="1572803"/>
              </a:xfrm>
              <a:prstGeom prst="rect">
                <a:avLst/>
              </a:prstGeom>
              <a:blipFill rotWithShape="1">
                <a:blip r:embed="rId5"/>
                <a:stretch>
                  <a:fillRect l="-3" r="3" b="-167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670999" y="5268734"/>
                <a:ext cx="8630885" cy="107721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zh-CN" altLang="en-US" b="1">
                    <a:solidFill>
                      <a:srgbClr val="C00000"/>
                    </a:solidFill>
                  </a:rPr>
                  <a:t>注意</a:t>
                </a:r>
              </a:p>
              <a:p>
                <a:pPr marL="28575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m:rPr>
                        <m:nor/>
                      </m:rPr>
                      <a:rPr lang="zh-CN" altLang="en-US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</m:d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≡∃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ctrlP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𝑺</m:t>
                            </m:r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∩</m:t>
                            </m:r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</m:d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≡∃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</m:oMath>
                </a14:m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28575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m:rPr>
                        <m:nor/>
                      </m:rPr>
                      <a:rPr lang="zh-CN" altLang="en-US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</m:d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≡∃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∧∃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</m:oMath>
                </a14:m>
                <a:endParaRPr lang="en-US" altLang="zh-CN" b="1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999" y="5268734"/>
                <a:ext cx="8630885" cy="1077218"/>
              </a:xfrm>
              <a:prstGeom prst="rect">
                <a:avLst/>
              </a:prstGeom>
              <a:blipFill rotWithShape="1">
                <a:blip r:embed="rId6"/>
                <a:stretch>
                  <a:fillRect l="-5" t="-13" r="5" b="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7394141" y="1055212"/>
            <a:ext cx="3683914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注意：函数是集合，许多证明也是证明集合子集关系或证明集合等式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9670273" y="5401627"/>
            <a:ext cx="1850728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存在量词对于合取没有分配律！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第二十二讲  函数基础知识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91646C22-BFA0-4263-ADC6-D1CE69BFEFF6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12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/29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内容提要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107232" y="1448010"/>
            <a:ext cx="4733731" cy="385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函数的基本概念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函数的性质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函数运算与函数性质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集合基数基础知识概要</a:t>
            </a:r>
            <a:r>
              <a:rPr lang="en-US" altLang="zh-CN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*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函数的性质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第二十二讲  函数基础知识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13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/29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单函数、满函数和双函数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699506" y="1225118"/>
                <a:ext cx="4986439" cy="287700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单函数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(injection)</a:t>
                </a:r>
              </a:p>
              <a:p>
                <a:pPr>
                  <a:lnSpc>
                    <a:spcPts val="2800"/>
                  </a:lnSpc>
                  <a:spcBef>
                    <a:spcPts val="400"/>
                  </a:spcBef>
                  <a:spcAft>
                    <a:spcPts val="2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说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单函数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，如果对任意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蕴涵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lnSpc>
                    <a:spcPts val="2800"/>
                  </a:lnSpc>
                  <a:spcBef>
                    <a:spcPts val="400"/>
                  </a:spcBef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也即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 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蕴涵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</m:oMath>
                </a14:m>
                <a:endParaRPr lang="en-US" altLang="zh-CN" sz="2000" b="1">
                  <a:solidFill>
                    <a:srgbClr val="C00000"/>
                  </a:solidFill>
                  <a:latin typeface="+mn-ea"/>
                </a:endParaRPr>
              </a:p>
              <a:p>
                <a:pPr marL="342900" indent="-342900">
                  <a:lnSpc>
                    <a:spcPts val="2800"/>
                  </a:lnSpc>
                  <a:spcBef>
                    <a:spcPts val="400"/>
                  </a:spcBef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通俗地说就是陪域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每个元素至多有定义域的一个元素与之对应</a:t>
                </a:r>
              </a:p>
              <a:p>
                <a:pPr marL="342900" indent="-342900">
                  <a:lnSpc>
                    <a:spcPts val="2800"/>
                  </a:lnSpc>
                  <a:spcBef>
                    <a:spcPts val="400"/>
                  </a:spcBef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单函数也称为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一对一</a:t>
                </a:r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(one-to-one)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函数</a:t>
                </a:r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506" y="1225118"/>
                <a:ext cx="4986439" cy="2877006"/>
              </a:xfrm>
              <a:prstGeom prst="rect">
                <a:avLst/>
              </a:prstGeom>
              <a:blipFill rotWithShape="1">
                <a:blip r:embed="rId2"/>
                <a:stretch>
                  <a:fillRect l="-7" t="-7" r="3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6506057" y="1225118"/>
                <a:ext cx="4868029" cy="287700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满函数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(surjection)</a:t>
                </a:r>
              </a:p>
              <a:p>
                <a:pPr>
                  <a:lnSpc>
                    <a:spcPts val="2800"/>
                  </a:lnSpc>
                  <a:spcBef>
                    <a:spcPts val="400"/>
                  </a:spcBef>
                  <a:spcAft>
                    <a:spcPts val="2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说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𝒇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满函数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，如果对任意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𝒚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𝑩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，都存在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𝒙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𝒇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𝒙</m:t>
                        </m:r>
                      </m:e>
                    </m:d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 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𝒚</m:t>
                    </m:r>
                  </m:oMath>
                </a14:m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lnSpc>
                    <a:spcPts val="2800"/>
                  </a:lnSpc>
                  <a:spcBef>
                    <a:spcPts val="400"/>
                  </a:spcBef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也即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𝐫𝐚𝐧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d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endParaRPr lang="en-US" altLang="zh-CN" sz="2000" b="1">
                  <a:solidFill>
                    <a:srgbClr val="C00000"/>
                  </a:solidFill>
                  <a:latin typeface="+mn-ea"/>
                </a:endParaRPr>
              </a:p>
              <a:p>
                <a:pPr marL="342900" indent="-342900">
                  <a:lnSpc>
                    <a:spcPts val="2800"/>
                  </a:lnSpc>
                  <a:spcBef>
                    <a:spcPts val="400"/>
                  </a:spcBef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通俗地说就是陪域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每个元素至少有定义域的一个元素与之对应</a:t>
                </a:r>
              </a:p>
              <a:p>
                <a:pPr marL="342900" indent="-342900">
                  <a:lnSpc>
                    <a:spcPts val="2800"/>
                  </a:lnSpc>
                  <a:spcBef>
                    <a:spcPts val="400"/>
                  </a:spcBef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满函数也称为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映上</a:t>
                </a:r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(onto)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函数</a:t>
                </a:r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057" y="1225118"/>
                <a:ext cx="4868029" cy="2877006"/>
              </a:xfrm>
              <a:prstGeom prst="rect">
                <a:avLst/>
              </a:prstGeom>
              <a:blipFill rotWithShape="1">
                <a:blip r:embed="rId3"/>
                <a:stretch>
                  <a:fillRect l="-10" t="-7" r="12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2474579" y="4427853"/>
                <a:ext cx="7242839" cy="176971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双函数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(bijection)</a:t>
                </a:r>
              </a:p>
              <a:p>
                <a:pPr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说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𝒇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是双函数，如果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𝒇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既是单函数又是满函数</a:t>
                </a:r>
              </a:p>
              <a:p>
                <a:pPr marL="342900" indent="-342900">
                  <a:lnSpc>
                    <a:spcPts val="2800"/>
                  </a:lnSpc>
                  <a:spcBef>
                    <a:spcPts val="400"/>
                  </a:spcBef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也即陪域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每个元素都有且有唯一的定义域元素与之对应</a:t>
                </a:r>
              </a:p>
              <a:p>
                <a:pPr marL="342900" indent="-342900">
                  <a:lnSpc>
                    <a:spcPts val="2800"/>
                  </a:lnSpc>
                  <a:spcBef>
                    <a:spcPts val="400"/>
                  </a:spcBef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双函数也称为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一一对应</a:t>
                </a:r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(one-to-one correspondence)</a:t>
                </a: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4579" y="4427853"/>
                <a:ext cx="7242839" cy="1769715"/>
              </a:xfrm>
              <a:prstGeom prst="rect">
                <a:avLst/>
              </a:prstGeom>
              <a:blipFill rotWithShape="1">
                <a:blip r:embed="rId4"/>
                <a:stretch>
                  <a:fillRect l="-9" t="-36" b="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函数的性质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第二十二讲  函数基础知识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14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/29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单函数、满函数和双函数举例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419211" y="1162497"/>
            <a:ext cx="7353576" cy="1215717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zh-CN" altLang="en-US" sz="2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下面的图给出了定义域和陪域之间具有不同元素对应的函数例子</a:t>
            </a:r>
          </a:p>
          <a:p>
            <a:pPr marL="342900" indent="-342900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</a:rPr>
              <a:t>这些都是函数作为关系的关系图，也称为函数的</a:t>
            </a:r>
            <a:r>
              <a:rPr lang="zh-CN" altLang="en-US" sz="2000" b="1">
                <a:solidFill>
                  <a:srgbClr val="C00000"/>
                </a:solidFill>
              </a:rPr>
              <a:t>图像</a:t>
            </a:r>
            <a:r>
              <a:rPr lang="en-US" altLang="zh-CN" sz="2000" b="1">
                <a:solidFill>
                  <a:srgbClr val="C00000"/>
                </a:solidFill>
              </a:rPr>
              <a:t>(</a:t>
            </a:r>
            <a:r>
              <a:rPr lang="en-US" altLang="zh-CN" sz="2000" b="1">
                <a:solidFill>
                  <a:schemeClr val="accent6">
                    <a:lumMod val="50000"/>
                  </a:schemeClr>
                </a:solidFill>
              </a:rPr>
              <a:t>graph)</a:t>
            </a:r>
            <a:endParaRPr lang="zh-CN" altLang="en-US" sz="2000" b="1">
              <a:solidFill>
                <a:schemeClr val="accent6">
                  <a:lumMod val="50000"/>
                </a:schemeClr>
              </a:solidFill>
            </a:endParaRPr>
          </a:p>
          <a:p>
            <a:pPr marL="800100" lvl="1" indent="-342900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accent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一个集合到另一个集合，而非一个集合上的关系的关系图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919949" y="2724528"/>
            <a:ext cx="10352100" cy="2600325"/>
            <a:chOff x="909467" y="3053448"/>
            <a:chExt cx="10352100" cy="2600325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9467" y="3072498"/>
              <a:ext cx="1676400" cy="2581275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48992" y="3072498"/>
              <a:ext cx="1638300" cy="2581275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50417" y="3053448"/>
              <a:ext cx="1647825" cy="2600325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661367" y="3062973"/>
              <a:ext cx="1600200" cy="2590800"/>
            </a:xfrm>
            <a:prstGeom prst="rect">
              <a:avLst/>
            </a:prstGeom>
          </p:spPr>
        </p:pic>
      </p:grpSp>
      <p:sp>
        <p:nvSpPr>
          <p:cNvPr id="13" name="文本框 12"/>
          <p:cNvSpPr txBox="1"/>
          <p:nvPr/>
        </p:nvSpPr>
        <p:spPr>
          <a:xfrm>
            <a:off x="636529" y="5484360"/>
            <a:ext cx="2243240" cy="6926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单函数，但不是满函数的函数图像举例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3557004" y="5484358"/>
            <a:ext cx="2243240" cy="6926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满函数，但不是单函数的函数图像举例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463191" y="5484358"/>
            <a:ext cx="2243240" cy="6926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既是单函数，又是满函数的函数图像举例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9350329" y="5484358"/>
            <a:ext cx="2243240" cy="6926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既非单函数，又非满函数的函数图像举例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函数的性质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第二十二讲  函数基础知识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15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/29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函数性质判定练习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587396" y="1574094"/>
                <a:ext cx="9753876" cy="380334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下面函数是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单函数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的有</a:t>
                </a:r>
                <a:r>
                  <a:rPr lang="zh-CN" altLang="en-US" sz="2000" b="1">
                    <a:solidFill>
                      <a:srgbClr val="002060"/>
                    </a:solidFill>
                    <a:latin typeface="+mn-ea"/>
                  </a:rPr>
                  <a:t>  </a:t>
                </a:r>
                <a:r>
                  <a:rPr lang="en-US" altLang="zh-CN" sz="2000" b="1">
                    <a:solidFill>
                      <a:srgbClr val="C00000"/>
                    </a:solidFill>
                    <a:latin typeface="+mn-ea"/>
                  </a:rPr>
                  <a:t>B,C,E,F</a:t>
                </a:r>
                <a:r>
                  <a:rPr lang="en-US" altLang="zh-CN" sz="2000" b="1">
                    <a:solidFill>
                      <a:srgbClr val="002060"/>
                    </a:solidFill>
                    <a:latin typeface="+mn-ea"/>
                  </a:rPr>
                  <a:t>  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满函数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的有  </a:t>
                </a:r>
                <a:r>
                  <a:rPr lang="en-US" altLang="zh-CN" sz="2000" b="1">
                    <a:solidFill>
                      <a:srgbClr val="C00000"/>
                    </a:solidFill>
                    <a:latin typeface="+mn-ea"/>
                  </a:rPr>
                  <a:t>A,D,E,F</a:t>
                </a:r>
                <a:r>
                  <a:rPr lang="en-US" altLang="zh-CN" sz="2000" b="1">
                    <a:solidFill>
                      <a:srgbClr val="002060"/>
                    </a:solidFill>
                    <a:latin typeface="+mn-ea"/>
                  </a:rPr>
                  <a:t>  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双函数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的有 </a:t>
                </a:r>
                <a:r>
                  <a:rPr lang="zh-CN" altLang="en-US" sz="2000" b="1">
                    <a:solidFill>
                      <a:srgbClr val="002060"/>
                    </a:solidFill>
                    <a:latin typeface="+mn-ea"/>
                  </a:rPr>
                  <a:t>  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 </a:t>
                </a:r>
                <a:r>
                  <a:rPr lang="en-US" altLang="zh-CN" sz="2000" b="1">
                    <a:solidFill>
                      <a:srgbClr val="C00000"/>
                    </a:solidFill>
                    <a:latin typeface="+mn-ea"/>
                  </a:rPr>
                  <a:t>E,F  </a:t>
                </a:r>
                <a:r>
                  <a:rPr lang="en-US" altLang="zh-CN" sz="2000" b="1">
                    <a:solidFill>
                      <a:srgbClr val="002060"/>
                    </a:solidFill>
                    <a:latin typeface="+mn-ea"/>
                  </a:rPr>
                  <a:t> </a:t>
                </a:r>
                <a:r>
                  <a: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</a:t>
                </a:r>
              </a:p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en-US" altLang="zh-CN" sz="2000" b="1">
                    <a:solidFill>
                      <a:srgbClr val="C00000"/>
                    </a:solidFill>
                  </a:rPr>
                  <a:t>A.</a:t>
                </a:r>
                <a:r>
                  <a:rPr lang="en-US" altLang="zh-CN" sz="2000" b="1">
                    <a:solidFill>
                      <a:schemeClr val="tx2">
                        <a:lumMod val="50000"/>
                      </a:schemeClr>
                    </a:solidFill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</m:d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d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000" b="1">
                  <a:solidFill>
                    <a:schemeClr val="tx2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en-US" altLang="zh-CN" sz="2000" b="1">
                    <a:solidFill>
                      <a:srgbClr val="C00000"/>
                    </a:solidFill>
                  </a:rPr>
                  <a:t>B. </a:t>
                </a:r>
                <a:r>
                  <a:rPr lang="en-US" altLang="zh-CN" sz="2000" b="1">
                    <a:solidFill>
                      <a:schemeClr val="tx2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</m:d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</m:d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000" b="1">
                  <a:solidFill>
                    <a:schemeClr val="tx2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en-US" altLang="zh-CN" sz="2000" b="1">
                    <a:solidFill>
                      <a:srgbClr val="C00000"/>
                    </a:solidFill>
                  </a:rPr>
                  <a:t>C.</a:t>
                </a:r>
                <a:r>
                  <a:rPr lang="en-US" altLang="zh-CN" sz="2000" b="1">
                    <a:solidFill>
                      <a:schemeClr val="tx2">
                        <a:lumMod val="50000"/>
                      </a:schemeClr>
                    </a:solidFill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altLang="zh-CN" sz="2000" b="1">
                  <a:solidFill>
                    <a:schemeClr val="tx2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en-US" altLang="zh-CN" sz="2000" b="1">
                    <a:solidFill>
                      <a:srgbClr val="C00000"/>
                    </a:solidFill>
                  </a:rPr>
                  <a:t>D.</a:t>
                </a:r>
                <a:r>
                  <a:rPr lang="en-US" altLang="zh-CN" sz="2000" b="1">
                    <a:solidFill>
                      <a:schemeClr val="tx2">
                        <a:lumMod val="50000"/>
                      </a:schemeClr>
                    </a:solidFill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d>
                      <m:dPr>
                        <m:begChr m:val="⌊"/>
                        <m:endChr m:val="⌋"/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e>
                    </m:d>
                  </m:oMath>
                </a14:m>
                <a:endParaRPr lang="en-US" altLang="zh-CN" sz="2000" b="1">
                  <a:solidFill>
                    <a:schemeClr val="tx2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en-US" altLang="zh-CN" sz="2000" b="1">
                    <a:solidFill>
                      <a:srgbClr val="C00000"/>
                    </a:solidFill>
                  </a:rPr>
                  <a:t>E.</a:t>
                </a:r>
                <a:r>
                  <a:rPr lang="en-US" altLang="zh-CN" sz="2000" b="1">
                    <a:solidFill>
                      <a:schemeClr val="tx2">
                        <a:lumMod val="50000"/>
                      </a:schemeClr>
                    </a:solidFill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 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endParaRPr lang="en-US" altLang="zh-CN" sz="2000" b="1">
                  <a:solidFill>
                    <a:schemeClr val="tx2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en-US" altLang="zh-CN" sz="2000" b="1">
                    <a:solidFill>
                      <a:srgbClr val="C00000"/>
                    </a:solidFill>
                  </a:rPr>
                  <a:t>F. </a:t>
                </a:r>
                <a:r>
                  <a:rPr lang="en-US" altLang="zh-CN" sz="2000" b="1">
                    <a:solidFill>
                      <a:schemeClr val="tx2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sub>
                    </m:sSub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endParaRPr lang="en-US" altLang="zh-CN" sz="2000" b="1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396" y="1574094"/>
                <a:ext cx="9753876" cy="3803349"/>
              </a:xfrm>
              <a:prstGeom prst="rect">
                <a:avLst/>
              </a:prstGeom>
              <a:blipFill rotWithShape="1">
                <a:blip r:embed="rId2"/>
                <a:stretch>
                  <a:fillRect t="-15" r="3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接连接符 3"/>
          <p:cNvCxnSpPr/>
          <p:nvPr/>
        </p:nvCxnSpPr>
        <p:spPr>
          <a:xfrm>
            <a:off x="3315522" y="1927476"/>
            <a:ext cx="1039390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5947986" y="1927476"/>
            <a:ext cx="1169861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8624305" y="1941729"/>
            <a:ext cx="1039390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335257" y="1603475"/>
            <a:ext cx="1019655" cy="307777"/>
          </a:xfrm>
          <a:prstGeom prst="rect">
            <a:avLst/>
          </a:prstGeom>
          <a:solidFill>
            <a:srgbClr val="F0F7EC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en-US" altLang="zh-CN" sz="2000" b="1">
                <a:solidFill>
                  <a:srgbClr val="C00000"/>
                </a:solidFill>
              </a:rPr>
              <a:t>(1)</a:t>
            </a:r>
            <a:endParaRPr lang="zh-CN" altLang="en-US" sz="2000" b="1">
              <a:solidFill>
                <a:srgbClr val="C0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967721" y="1603475"/>
            <a:ext cx="1019655" cy="307777"/>
          </a:xfrm>
          <a:prstGeom prst="rect">
            <a:avLst/>
          </a:prstGeom>
          <a:solidFill>
            <a:srgbClr val="F0F7EC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en-US" altLang="zh-CN" sz="2000" b="1">
                <a:solidFill>
                  <a:srgbClr val="C00000"/>
                </a:solidFill>
              </a:rPr>
              <a:t>(2)</a:t>
            </a:r>
            <a:endParaRPr lang="zh-CN" altLang="en-US" sz="2000" b="1">
              <a:solidFill>
                <a:srgbClr val="C000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624304" y="1603475"/>
            <a:ext cx="920979" cy="307777"/>
          </a:xfrm>
          <a:prstGeom prst="rect">
            <a:avLst/>
          </a:prstGeom>
          <a:solidFill>
            <a:srgbClr val="F0F7EC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en-US" altLang="zh-CN" sz="2000" b="1">
                <a:solidFill>
                  <a:srgbClr val="C00000"/>
                </a:solidFill>
              </a:rPr>
              <a:t>(3)</a:t>
            </a:r>
            <a:endParaRPr lang="zh-CN" altLang="en-US" sz="2000" b="1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函数的性质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第二十二讲  函数基础知识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16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/29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函数性质判定练习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587396" y="1574094"/>
                <a:ext cx="9753876" cy="380334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下面函数是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单函数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的有</a:t>
                </a:r>
                <a:r>
                  <a:rPr lang="zh-CN" altLang="en-US" sz="2000" b="1">
                    <a:solidFill>
                      <a:srgbClr val="002060"/>
                    </a:solidFill>
                    <a:latin typeface="+mn-ea"/>
                  </a:rPr>
                  <a:t>  </a:t>
                </a:r>
                <a:r>
                  <a:rPr lang="en-US" altLang="zh-CN" sz="2000" b="1">
                    <a:solidFill>
                      <a:srgbClr val="C00000"/>
                    </a:solidFill>
                    <a:latin typeface="+mn-ea"/>
                  </a:rPr>
                  <a:t>B,C,E,F</a:t>
                </a:r>
                <a:r>
                  <a:rPr lang="en-US" altLang="zh-CN" sz="2000" b="1">
                    <a:solidFill>
                      <a:srgbClr val="002060"/>
                    </a:solidFill>
                    <a:latin typeface="+mn-ea"/>
                  </a:rPr>
                  <a:t>  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满函数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的有  </a:t>
                </a:r>
                <a:r>
                  <a:rPr lang="en-US" altLang="zh-CN" sz="2000" b="1">
                    <a:solidFill>
                      <a:srgbClr val="C00000"/>
                    </a:solidFill>
                    <a:latin typeface="+mn-ea"/>
                  </a:rPr>
                  <a:t>A,D,E,F</a:t>
                </a:r>
                <a:r>
                  <a:rPr lang="en-US" altLang="zh-CN" sz="2000" b="1">
                    <a:solidFill>
                      <a:srgbClr val="002060"/>
                    </a:solidFill>
                    <a:latin typeface="+mn-ea"/>
                  </a:rPr>
                  <a:t>  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双函数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的有 </a:t>
                </a:r>
                <a:r>
                  <a:rPr lang="zh-CN" altLang="en-US" sz="2000" b="1">
                    <a:solidFill>
                      <a:srgbClr val="002060"/>
                    </a:solidFill>
                    <a:latin typeface="+mn-ea"/>
                  </a:rPr>
                  <a:t>  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 </a:t>
                </a:r>
                <a:r>
                  <a:rPr lang="en-US" altLang="zh-CN" sz="2000" b="1">
                    <a:solidFill>
                      <a:srgbClr val="C00000"/>
                    </a:solidFill>
                    <a:latin typeface="+mn-ea"/>
                  </a:rPr>
                  <a:t>E,F  </a:t>
                </a:r>
                <a:r>
                  <a:rPr lang="en-US" altLang="zh-CN" sz="2000" b="1">
                    <a:solidFill>
                      <a:srgbClr val="002060"/>
                    </a:solidFill>
                    <a:latin typeface="+mn-ea"/>
                  </a:rPr>
                  <a:t> </a:t>
                </a:r>
                <a:r>
                  <a: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</a:t>
                </a:r>
              </a:p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en-US" altLang="zh-CN" sz="2000" b="1">
                    <a:solidFill>
                      <a:srgbClr val="C00000"/>
                    </a:solidFill>
                  </a:rPr>
                  <a:t>A.</a:t>
                </a:r>
                <a:r>
                  <a:rPr lang="en-US" altLang="zh-CN" sz="2000" b="1">
                    <a:solidFill>
                      <a:schemeClr val="tx2">
                        <a:lumMod val="50000"/>
                      </a:schemeClr>
                    </a:solidFill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</m:d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d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000" b="1">
                  <a:solidFill>
                    <a:schemeClr val="tx2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en-US" altLang="zh-CN" sz="2000" b="1">
                    <a:solidFill>
                      <a:srgbClr val="C00000"/>
                    </a:solidFill>
                  </a:rPr>
                  <a:t>B. </a:t>
                </a:r>
                <a:r>
                  <a:rPr lang="en-US" altLang="zh-CN" sz="2000" b="1">
                    <a:solidFill>
                      <a:schemeClr val="tx2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</m:d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</m:d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000" b="1">
                  <a:solidFill>
                    <a:schemeClr val="tx2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en-US" altLang="zh-CN" sz="2000" b="1">
                    <a:solidFill>
                      <a:srgbClr val="C00000"/>
                    </a:solidFill>
                  </a:rPr>
                  <a:t>C.</a:t>
                </a:r>
                <a:r>
                  <a:rPr lang="en-US" altLang="zh-CN" sz="2000" b="1">
                    <a:solidFill>
                      <a:schemeClr val="tx2">
                        <a:lumMod val="50000"/>
                      </a:schemeClr>
                    </a:solidFill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altLang="zh-CN" sz="2000" b="1">
                  <a:solidFill>
                    <a:schemeClr val="tx2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en-US" altLang="zh-CN" sz="2000" b="1">
                    <a:solidFill>
                      <a:srgbClr val="C00000"/>
                    </a:solidFill>
                  </a:rPr>
                  <a:t>D.</a:t>
                </a:r>
                <a:r>
                  <a:rPr lang="en-US" altLang="zh-CN" sz="2000" b="1">
                    <a:solidFill>
                      <a:schemeClr val="tx2">
                        <a:lumMod val="50000"/>
                      </a:schemeClr>
                    </a:solidFill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d>
                      <m:dPr>
                        <m:begChr m:val="⌊"/>
                        <m:endChr m:val="⌋"/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e>
                    </m:d>
                  </m:oMath>
                </a14:m>
                <a:endParaRPr lang="en-US" altLang="zh-CN" sz="2000" b="1">
                  <a:solidFill>
                    <a:schemeClr val="tx2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en-US" altLang="zh-CN" sz="2000" b="1">
                    <a:solidFill>
                      <a:srgbClr val="C00000"/>
                    </a:solidFill>
                  </a:rPr>
                  <a:t>E.</a:t>
                </a:r>
                <a:r>
                  <a:rPr lang="en-US" altLang="zh-CN" sz="2000" b="1">
                    <a:solidFill>
                      <a:schemeClr val="tx2">
                        <a:lumMod val="50000"/>
                      </a:schemeClr>
                    </a:solidFill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 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endParaRPr lang="en-US" altLang="zh-CN" sz="2000" b="1">
                  <a:solidFill>
                    <a:schemeClr val="tx2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en-US" altLang="zh-CN" sz="2000" b="1">
                    <a:solidFill>
                      <a:srgbClr val="C00000"/>
                    </a:solidFill>
                  </a:rPr>
                  <a:t>F. </a:t>
                </a:r>
                <a:r>
                  <a:rPr lang="en-US" altLang="zh-CN" sz="2000" b="1">
                    <a:solidFill>
                      <a:schemeClr val="tx2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sub>
                    </m:sSub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endParaRPr lang="en-US" altLang="zh-CN" sz="2000" b="1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396" y="1574094"/>
                <a:ext cx="9753876" cy="3803349"/>
              </a:xfrm>
              <a:prstGeom prst="rect">
                <a:avLst/>
              </a:prstGeom>
              <a:blipFill rotWithShape="1">
                <a:blip r:embed="rId2"/>
                <a:stretch>
                  <a:fillRect t="-15" r="3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接连接符 3"/>
          <p:cNvCxnSpPr/>
          <p:nvPr/>
        </p:nvCxnSpPr>
        <p:spPr>
          <a:xfrm>
            <a:off x="3315522" y="1927476"/>
            <a:ext cx="1039390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5947986" y="1927476"/>
            <a:ext cx="1169861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8624305" y="1941729"/>
            <a:ext cx="1039390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10024649" y="1957350"/>
                <a:ext cx="1873012" cy="66588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不是单函数，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d>
                      </m:sub>
                    </m:sSub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d>
                      </m:sub>
                    </m:sSub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4649" y="1957350"/>
                <a:ext cx="1873012" cy="665888"/>
              </a:xfrm>
              <a:prstGeom prst="rect">
                <a:avLst/>
              </a:prstGeom>
              <a:blipFill rotWithShape="1">
                <a:blip r:embed="rId3"/>
                <a:stretch>
                  <a:fillRect l="-29" t="-42" r="16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8749947" y="2694504"/>
                <a:ext cx="2831090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不是满函数，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没有原像</a:t>
                </a:r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9947" y="2694504"/>
                <a:ext cx="2831090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0" t="-54" r="19" b="1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5519291" y="3099615"/>
                <a:ext cx="4756195" cy="65877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是单函数，若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，注意定义域是自然数，从而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291" y="3099615"/>
                <a:ext cx="4756195" cy="658770"/>
              </a:xfrm>
              <a:prstGeom prst="rect">
                <a:avLst/>
              </a:prstGeom>
              <a:blipFill rotWithShape="1">
                <a:blip r:embed="rId5"/>
                <a:stretch>
                  <a:fillRect l="-11" t="-27" r="12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/>
          <p:cNvSpPr txBox="1"/>
          <p:nvPr/>
        </p:nvSpPr>
        <p:spPr>
          <a:xfrm>
            <a:off x="5472009" y="3833779"/>
            <a:ext cx="2666975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不是满函数，</a:t>
            </a:r>
            <a:r>
              <a:rPr lang="en-US" altLang="zh-CN" b="1">
                <a:solidFill>
                  <a:schemeClr val="accent2">
                    <a:lumMod val="50000"/>
                  </a:schemeClr>
                </a:solidFill>
              </a:rPr>
              <a:t>0</a:t>
            </a: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没有原像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7368430" y="4420945"/>
            <a:ext cx="297284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是双函数，详细证明见教材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第二十二讲  函数基础知识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91646C22-BFA0-4263-ADC6-D1CE69BFEFF6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17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/29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内容提要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107232" y="1448010"/>
            <a:ext cx="4733731" cy="385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函数的基本概念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函数的性质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函数运算与函数性质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集合基数基础知识概要</a:t>
            </a:r>
            <a:r>
              <a:rPr lang="en-US" altLang="zh-CN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*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函数运算与函数性质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第二十二讲  函数基础知识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18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/29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函数复合运算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578817" y="1300722"/>
                <a:ext cx="8940071" cy="163237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函数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的复合</a:t>
                </a:r>
                <a:r>
                  <a:rPr lang="en-US" altLang="zh-CN" sz="2000" b="1">
                    <a:solidFill>
                      <a:srgbClr val="002060"/>
                    </a:solidFill>
                    <a:latin typeface="+mn-ea"/>
                  </a:rPr>
                  <a:t>(composite of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en-US" altLang="zh-CN" sz="2000" b="1">
                    <a:solidFill>
                      <a:srgbClr val="002060"/>
                    </a:solidFill>
                    <a:latin typeface="+mn-ea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en-US" altLang="zh-CN" sz="2000" b="1">
                    <a:solidFill>
                      <a:srgbClr val="002060"/>
                    </a:solidFill>
                    <a:latin typeface="+mn-ea"/>
                  </a:rPr>
                  <a:t>)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，记为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，定义为：</a:t>
                </a:r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spcBef>
                    <a:spcPts val="6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</m:d>
                      <m:d>
                        <m:dPr>
                          <m:ctrlP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d>
                        <m:dPr>
                          <m:ctrlP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CN" sz="2000" b="1"/>
              </a:p>
              <a:p>
                <a:pPr marL="342900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只有当函数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的陪域等于函数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的定义域时，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才能进行函数复合运算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函数复合运算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就是关系复合运算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817" y="1300722"/>
                <a:ext cx="8940071" cy="1632370"/>
              </a:xfrm>
              <a:prstGeom prst="rect">
                <a:avLst/>
              </a:prstGeom>
              <a:blipFill rotWithShape="1">
                <a:blip r:embed="rId2"/>
                <a:stretch>
                  <a:fillRect l="-2" t="-15" r="1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718322" y="3279221"/>
                <a:ext cx="4854871" cy="124649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函数复合满足结合律</a:t>
                </a:r>
                <a:endParaRPr lang="en-US" altLang="zh-CN" sz="2000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𝒇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→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𝑩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𝒈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𝑩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→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𝑪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𝒉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𝑪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→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𝑫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是函数，则</a:t>
                </a:r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∘</m:t>
                      </m:r>
                      <m:d>
                        <m:dPr>
                          <m:ctrlP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</m:d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</m:d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∘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322" y="3279221"/>
                <a:ext cx="4854871" cy="1246495"/>
              </a:xfrm>
              <a:prstGeom prst="rect">
                <a:avLst/>
              </a:prstGeom>
              <a:blipFill rotWithShape="1">
                <a:blip r:embed="rId3"/>
                <a:stretch>
                  <a:fillRect l="-3" t="-6" r="9" b="-136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6160123" y="5415506"/>
                <a:ext cx="4299190" cy="64633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+mn-ea"/>
                  </a:rPr>
                  <a:t>注意，说函数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+mn-ea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+mn-ea"/>
                  </a:rPr>
                  <a:t>相等，就是说它们</a:t>
                </a:r>
                <a:r>
                  <a:rPr lang="zh-CN" altLang="en-US" b="1">
                    <a:solidFill>
                      <a:srgbClr val="C00000"/>
                    </a:solidFill>
                    <a:latin typeface="+mn-ea"/>
                  </a:rPr>
                  <a:t>作为集合相等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+mn-ea"/>
                  </a:rPr>
                  <a:t>，也即对任意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zh-CN" altLang="en-US" b="1" i="0">
                    <a:solidFill>
                      <a:schemeClr val="accent2">
                        <a:lumMod val="50000"/>
                      </a:schemeClr>
                    </a:solidFill>
                    <a:latin typeface="+mn-ea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en-US" altLang="zh-CN" sz="2000" b="1">
                  <a:latin typeface="+mn-ea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0123" y="5415506"/>
                <a:ext cx="4299190" cy="646331"/>
              </a:xfrm>
              <a:prstGeom prst="rect">
                <a:avLst/>
              </a:prstGeom>
              <a:blipFill rotWithShape="1">
                <a:blip r:embed="rId4"/>
                <a:stretch>
                  <a:fillRect l="-14" t="-35" r="5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1270448" y="4820805"/>
                <a:ext cx="3750617" cy="1246495"/>
              </a:xfrm>
              <a:prstGeom prst="rect">
                <a:avLst/>
              </a:prstGeom>
              <a:solidFill>
                <a:srgbClr val="EEF5FB"/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恒等函数是函数复合的单位元</a:t>
                </a:r>
                <a:endParaRPr lang="en-US" altLang="zh-CN" sz="2000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是函数，则</a:t>
                </a:r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sSub>
                        <m:sSubPr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∘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∘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sSub>
                        <m:sSubPr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</m:oMath>
                  </m:oMathPara>
                </a14:m>
                <a:endParaRPr lang="en-US" altLang="zh-CN" sz="2000" b="1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448" y="4820805"/>
                <a:ext cx="3750617" cy="1246495"/>
              </a:xfrm>
              <a:prstGeom prst="rect">
                <a:avLst/>
              </a:prstGeom>
              <a:blipFill rotWithShape="1">
                <a:blip r:embed="rId5"/>
                <a:stretch>
                  <a:fillRect l="-12" t="-42" r="3" b="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6160123" y="3207534"/>
                <a:ext cx="5313555" cy="178510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函数复合保持函数单满性质</a:t>
                </a:r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都是单函数，则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</a:rPr>
                  <a:t>也是单函数</a:t>
                </a:r>
                <a:endParaRPr lang="en-US" altLang="zh-CN" sz="2000" b="1">
                  <a:solidFill>
                    <a:srgbClr val="C00000"/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都是满函数，则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</a:rPr>
                  <a:t>也是满函数</a:t>
                </a:r>
                <a:endParaRPr lang="en-US" altLang="zh-CN" sz="2000" b="1">
                  <a:solidFill>
                    <a:srgbClr val="C00000"/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都是双函数，则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</a:rPr>
                  <a:t>也是双函数</a:t>
                </a:r>
                <a:endParaRPr lang="en-US" altLang="zh-CN" sz="20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0123" y="3207534"/>
                <a:ext cx="5313555" cy="1785104"/>
              </a:xfrm>
              <a:prstGeom prst="rect">
                <a:avLst/>
              </a:prstGeom>
              <a:blipFill rotWithShape="1">
                <a:blip r:embed="rId6"/>
                <a:stretch>
                  <a:fillRect l="-12" t="-8" r="9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函数运算与函数性质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第二十二讲  函数基础知识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19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/29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双函数的逆函数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698406" y="1421409"/>
                <a:ext cx="10795183" cy="46166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函数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双函数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当且仅当存在函数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altLang="zh-CN" sz="24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sz="24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24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altLang="zh-CN" sz="24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24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sz="24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altLang="zh-CN" sz="24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altLang="zh-CN" sz="24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</m:oMath>
                </a14:m>
                <a:endParaRPr lang="zh-CN" altLang="en-US" sz="2400" b="1">
                  <a:solidFill>
                    <a:srgbClr val="C00000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406" y="1421409"/>
                <a:ext cx="10795183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5" t="-60" r="1" b="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1024585" y="2313310"/>
                <a:ext cx="10142824" cy="223138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双函数的逆函数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(inverse function)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设函数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是双函数，则它（作为关系）的逆关系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也是函数，称为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的逆函数，即</a:t>
                </a:r>
                <a:endParaRPr lang="en-US" altLang="zh-CN" sz="2000" b="1" i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p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lit/>
                        </m:rP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m:rPr>
                          <m:lit/>
                        </m:rP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lit/>
                        </m:rP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m:rPr>
                          <m:lit/>
                        </m:rP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也即，对任意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逆函数有时也称为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反函数</a:t>
                </a: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585" y="2313310"/>
                <a:ext cx="10142824" cy="2231380"/>
              </a:xfrm>
              <a:prstGeom prst="rect">
                <a:avLst/>
              </a:prstGeom>
              <a:blipFill rotWithShape="1">
                <a:blip r:embed="rId3"/>
                <a:stretch>
                  <a:fillRect l="-3" r="3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1130664" y="4968346"/>
                <a:ext cx="9930668" cy="86177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实际上，双函数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的逆函数是使得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𝒊𝒅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𝒊𝒅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唯一的函数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这从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函数复合的角度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刻画了双函数的基本性质，即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</a:rPr>
                  <a:t>是双函数当且仅当它存在逆函数</a:t>
                </a:r>
                <a:endParaRPr lang="zh-CN" altLang="en-US" sz="2000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664" y="4968346"/>
                <a:ext cx="9930668" cy="861774"/>
              </a:xfrm>
              <a:prstGeom prst="rect">
                <a:avLst/>
              </a:prstGeom>
              <a:blipFill rotWithShape="1">
                <a:blip r:embed="rId4"/>
                <a:stretch>
                  <a:fillRect l="-4" t="-12" r="3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函数运算与函数性质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第二十二讲  函数基础知识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/29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单函数与左逆、满函数与右逆</a:t>
            </a:r>
            <a:r>
              <a:rPr lang="en-US" altLang="zh-CN"/>
              <a:t>*</a:t>
            </a:r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842037" y="1160229"/>
                <a:ext cx="4085968" cy="46166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是函数，且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≠∅</m:t>
                    </m:r>
                  </m:oMath>
                </a14:m>
                <a:endParaRPr lang="zh-CN" altLang="en-US" sz="24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037" y="1160229"/>
                <a:ext cx="4085968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1" t="-18" r="10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842037" y="1784690"/>
                <a:ext cx="5728706" cy="138499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左逆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(left inverse)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与右逆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(right inverse)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称函数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是函数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左逆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，如果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称函数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是函数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右逆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，如果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</m:oMath>
                </a14:m>
                <a:endParaRPr lang="en-US" altLang="zh-CN" sz="20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037" y="1784690"/>
                <a:ext cx="5728706" cy="1384995"/>
              </a:xfrm>
              <a:prstGeom prst="rect">
                <a:avLst/>
              </a:prstGeom>
              <a:blipFill rotWithShape="1">
                <a:blip r:embed="rId3"/>
                <a:stretch>
                  <a:fillRect t="-25" r="7" b="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842037" y="3291108"/>
            <a:ext cx="5664018" cy="38484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一个函数左逆或右逆可能不存在，即使存在也不唯一！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7159511" y="1782184"/>
                <a:ext cx="4190452" cy="175650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  <a:spcBef>
                    <a:spcPts val="600"/>
                  </a:spcBef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利用左逆和右逆，可从函数复合角度刻画单函数、满函数基本性质</a:t>
                </a:r>
              </a:p>
              <a:p>
                <a:pPr marL="342900" indent="-342900">
                  <a:lnSpc>
                    <a:spcPts val="3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是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单函数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存在左逆</a:t>
                </a:r>
                <a:endParaRPr lang="en-US" altLang="zh-CN" sz="2000" b="1">
                  <a:solidFill>
                    <a:srgbClr val="C00000"/>
                  </a:solidFill>
                  <a:latin typeface="+mn-ea"/>
                </a:endParaRPr>
              </a:p>
              <a:p>
                <a:pPr marL="342900" indent="-342900">
                  <a:lnSpc>
                    <a:spcPts val="3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是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满函数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存在右逆</a:t>
                </a: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9511" y="1782184"/>
                <a:ext cx="4190452" cy="1756506"/>
              </a:xfrm>
              <a:prstGeom prst="rect">
                <a:avLst/>
              </a:prstGeom>
              <a:blipFill rotWithShape="1">
                <a:blip r:embed="rId4"/>
                <a:stretch>
                  <a:fillRect l="-12" t="-21" r="15" b="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842037" y="3880337"/>
                <a:ext cx="9755793" cy="23698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用左右逆证明函数复合保持函数单满性质</a:t>
                </a:r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28575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函数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都是单函数，则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也是单函数</a:t>
                </a:r>
              </a:p>
              <a:p>
                <a:pPr marL="742950" lvl="1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b="1"/>
                  <a:t>【</a:t>
                </a: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证明</a:t>
                </a:r>
                <a:r>
                  <a:rPr lang="en-US" altLang="zh-CN" b="1">
                    <a:solidFill>
                      <a:schemeClr val="accent6">
                        <a:lumMod val="50000"/>
                      </a:schemeClr>
                    </a:solidFill>
                  </a:rPr>
                  <a:t>】</a:t>
                </a: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函数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都是单函数，分别存在左逆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使得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𝒊𝒅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𝒊𝒅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，从而</a:t>
                </a:r>
                <a:endParaRPr lang="en-US" altLang="zh-CN" b="1"/>
              </a:p>
              <a:p>
                <a:pPr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sSup>
                            <m:sSupPr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∘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p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∘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∘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sSup>
                        <m:sSup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p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∘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𝒊𝒅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∘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sSup>
                        <m:sSup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p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∘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𝒊𝒅</m:t>
                      </m:r>
                    </m:oMath>
                  </m:oMathPara>
                </a14:m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28575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函数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𝒇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𝒈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都是满函数，则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𝒈</m:t>
                    </m:r>
                    <m:r>
                      <a:rPr lang="en-US" altLang="zh-CN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∘</m:t>
                    </m:r>
                    <m:r>
                      <a:rPr lang="en-US" altLang="zh-CN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𝒇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也是单函数</a:t>
                </a:r>
              </a:p>
              <a:p>
                <a:pPr marL="742950" lvl="1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b="1"/>
                  <a:t>【</a:t>
                </a: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证明</a:t>
                </a:r>
                <a:r>
                  <a:rPr lang="en-US" altLang="zh-CN" b="1">
                    <a:solidFill>
                      <a:schemeClr val="accent6">
                        <a:lumMod val="50000"/>
                      </a:schemeClr>
                    </a:solidFill>
                  </a:rPr>
                  <a:t>】</a:t>
                </a: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函数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都是满函数，分别存在右逆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altLang="zh-CN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p>
                      <m:sSupPr>
                        <m:ctrlPr>
                          <a:rPr lang="en-US" altLang="zh-CN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p>
                        <m:r>
                          <a:rPr lang="en-US" altLang="zh-CN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𝒊𝒅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altLang="zh-CN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p>
                      <m:sSupPr>
                        <m:ctrlPr>
                          <a:rPr lang="en-US" altLang="zh-CN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p>
                        <m:r>
                          <a:rPr lang="en-US" altLang="zh-CN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𝒊𝒅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，从而</a:t>
                </a:r>
                <a:endParaRPr lang="en-US" altLang="zh-CN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∘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sSup>
                            <m:sSupPr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∘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sSup>
                            <m:sSupPr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∘</m:t>
                      </m:r>
                      <m:sSup>
                        <m:sSup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∘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𝒊𝒅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∘</m:t>
                      </m:r>
                      <m:sSup>
                        <m:sSup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∘</m:t>
                      </m:r>
                      <m:sSup>
                        <m:sSup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𝒊𝒅</m:t>
                      </m:r>
                    </m:oMath>
                  </m:oMathPara>
                </a14:m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037" y="3880337"/>
                <a:ext cx="9755793" cy="2369880"/>
              </a:xfrm>
              <a:prstGeom prst="rect">
                <a:avLst/>
              </a:prstGeom>
              <a:blipFill rotWithShape="1">
                <a:blip r:embed="rId5"/>
                <a:stretch>
                  <a:fillRect t="-21" r="3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8706921" y="3708255"/>
            <a:ext cx="2917142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chemeClr val="accent2">
                    <a:lumMod val="50000"/>
                  </a:schemeClr>
                </a:solidFill>
              </a:rPr>
              <a:t>左右逆的存在是单满函数的性质概括法定义，利用此定义的这个证明比考察元素法更简洁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1B344AD-6233-9A37-2659-10ECF32DF22D}"/>
              </a:ext>
            </a:extLst>
          </p:cNvPr>
          <p:cNvSpPr txBox="1"/>
          <p:nvPr/>
        </p:nvSpPr>
        <p:spPr>
          <a:xfrm>
            <a:off x="5555796" y="956078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略过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第二十二讲  函数基础知识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91646C22-BFA0-4263-ADC6-D1CE69BFEFF6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21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/29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内容提要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107232" y="1448010"/>
            <a:ext cx="4733731" cy="385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函数的基本概念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函数的性质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函数运算与函数性质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集合基数基础知识概要</a:t>
            </a:r>
            <a:r>
              <a:rPr lang="en-US" altLang="zh-CN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*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集合基数基础知识概要</a:t>
            </a:r>
            <a:r>
              <a:rPr lang="en-US" altLang="zh-CN" sz="1400">
                <a:latin typeface="楷体" panose="02010609060101010101" pitchFamily="49" charset="-122"/>
                <a:ea typeface="楷体" panose="02010609060101010101" pitchFamily="49" charset="-122"/>
              </a:rPr>
              <a:t>*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第二十二讲  函数基础知识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22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/29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集合等势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2333144" y="1103964"/>
                <a:ext cx="7744991" cy="184665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等势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(equinumerous)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若存在集合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𝑩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之间的双函数，则称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𝑩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等势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，记为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≈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𝑩</m:t>
                    </m:r>
                  </m:oMath>
                </a14:m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直观地说，两个集合等势表明两个集合的元素之间存在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一一对应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集合等势具有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自反性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、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对称性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和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传递性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3144" y="1103964"/>
                <a:ext cx="7744991" cy="1846659"/>
              </a:xfrm>
              <a:prstGeom prst="rect">
                <a:avLst/>
              </a:prstGeom>
              <a:blipFill rotWithShape="1">
                <a:blip r:embed="rId2"/>
                <a:stretch>
                  <a:fillRect l="-2" t="-18" r="1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711952" y="3581772"/>
                <a:ext cx="4419213" cy="231037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重要的集合等势例子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自然数集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与整数集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等势：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实数集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与开区间</a:t>
                </a:r>
                <a:r>
                  <a:rPr lang="en-US" altLang="zh-CN" sz="2000" b="1">
                    <a:solidFill>
                      <a:srgbClr val="002060"/>
                    </a:solidFill>
                    <a:latin typeface="+mn-ea"/>
                  </a:rPr>
                  <a:t>(0, 1)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等势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集合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的幂集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℘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与集合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sup>
                    </m:sSup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等势</a:t>
                </a:r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sup>
                      </m:sSup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m:rPr>
                          <m:lit/>
                        </m:rP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2000" b="1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952" y="3581772"/>
                <a:ext cx="4419213" cy="2310376"/>
              </a:xfrm>
              <a:prstGeom prst="rect">
                <a:avLst/>
              </a:prstGeom>
              <a:blipFill rotWithShape="1">
                <a:blip r:embed="rId3"/>
                <a:stretch>
                  <a:fillRect l="-3" t="-16" r="8" b="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5750247" y="3300669"/>
                <a:ext cx="5729801" cy="287258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康托尔定理</a:t>
                </a:r>
                <a:endParaRPr lang="en-US" altLang="zh-CN" sz="2400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对任意集合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，不存在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到它的幂集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℘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𝑨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的满函数</a:t>
                </a:r>
              </a:p>
              <a:p>
                <a:pPr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【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证明</a:t>
                </a:r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】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对任意函数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→℘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，定义</a:t>
                </a:r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∉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m:rPr>
                          <m:lit/>
                        </m:rP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2000" b="1">
                  <a:solidFill>
                    <a:srgbClr val="C00000"/>
                  </a:solidFill>
                </a:endParaRPr>
              </a:p>
              <a:p>
                <a:pPr marL="285750" indent="-285750">
                  <a:lnSpc>
                    <a:spcPts val="2800"/>
                  </a:lnSpc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下没有原像，因为若有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，则无论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是否属于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都会导致矛盾：</a:t>
                </a:r>
                <a:endParaRPr lang="en-US" altLang="zh-CN" b="1" i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spcBef>
                    <a:spcPts val="6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↔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↔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∉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</m:oMath>
                  </m:oMathPara>
                </a14:m>
                <a:endParaRPr lang="zh-CN" altLang="en-US" sz="2000" b="1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0247" y="3300669"/>
                <a:ext cx="5729801" cy="2872581"/>
              </a:xfrm>
              <a:prstGeom prst="rect">
                <a:avLst/>
              </a:prstGeom>
              <a:blipFill rotWithShape="1">
                <a:blip r:embed="rId4"/>
                <a:stretch>
                  <a:fillRect l="-6" t="-20" r="9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集合基数基础知识概要</a:t>
            </a:r>
            <a:r>
              <a:rPr lang="en-US" altLang="zh-CN" sz="1400">
                <a:latin typeface="楷体" panose="02010609060101010101" pitchFamily="49" charset="-122"/>
                <a:ea typeface="楷体" panose="02010609060101010101" pitchFamily="49" charset="-122"/>
              </a:rPr>
              <a:t>*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第二十二讲  函数基础知识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23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/29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自然数的集合论定义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2790344" y="1277850"/>
                <a:ext cx="6611309" cy="173124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归纳集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(inductive set)</a:t>
                </a:r>
              </a:p>
              <a:p>
                <a:pPr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集合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称为归纳集，如果它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对空集和后继封闭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，即满足：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，且若集合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属于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的后继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也属于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tx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这里集合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b="1">
                    <a:solidFill>
                      <a:schemeClr val="tx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的后继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lit/>
                      </m:rP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m:rPr>
                        <m:lit/>
                      </m:rP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b="1">
                  <a:solidFill>
                    <a:schemeClr val="tx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0344" y="1277850"/>
                <a:ext cx="6611309" cy="1731243"/>
              </a:xfrm>
              <a:prstGeom prst="rect">
                <a:avLst/>
              </a:prstGeom>
              <a:blipFill rotWithShape="1">
                <a:blip r:embed="rId2"/>
                <a:stretch>
                  <a:fillRect l="-2" t="-13" r="7" b="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组合 10"/>
          <p:cNvGrpSpPr/>
          <p:nvPr/>
        </p:nvGrpSpPr>
        <p:grpSpPr>
          <a:xfrm>
            <a:off x="605215" y="3344165"/>
            <a:ext cx="6449430" cy="2558593"/>
            <a:chOff x="1040098" y="3398936"/>
            <a:chExt cx="6449430" cy="25585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/>
                <p:cNvSpPr txBox="1"/>
                <p:nvPr/>
              </p:nvSpPr>
              <p:spPr>
                <a:xfrm>
                  <a:off x="2078135" y="3398936"/>
                  <a:ext cx="4373356" cy="461665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400" b="1">
                      <a:solidFill>
                        <a:srgbClr val="C00000"/>
                      </a:solidFill>
                    </a:rPr>
                    <a:t>自然数集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ℕ</m:t>
                      </m:r>
                    </m:oMath>
                  </a14:m>
                  <a:r>
                    <a:rPr lang="zh-CN" altLang="en-US" sz="2400" b="1">
                      <a:solidFill>
                        <a:srgbClr val="C00000"/>
                      </a:solidFill>
                    </a:rPr>
                    <a:t>定义为最小的归纳集</a:t>
                  </a:r>
                </a:p>
              </p:txBody>
            </p:sp>
          </mc:Choice>
          <mc:Fallback xmlns="">
            <p:sp>
              <p:nvSpPr>
                <p:cNvPr id="3" name="文本框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8135" y="3398936"/>
                  <a:ext cx="4373356" cy="461665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40098" y="3929486"/>
              <a:ext cx="6449430" cy="2028043"/>
            </a:xfrm>
            <a:prstGeom prst="rect">
              <a:avLst/>
            </a:prstGeom>
            <a:ln w="19050">
              <a:solidFill>
                <a:schemeClr val="accent2">
                  <a:lumMod val="20000"/>
                  <a:lumOff val="80000"/>
                </a:schemeClr>
              </a:solidFill>
              <a:prstDash val="solid"/>
            </a:ln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7168282" y="3532878"/>
                <a:ext cx="4418503" cy="236988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从集合论的角度看，每个自然数都是集合</a:t>
                </a:r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b="1">
                    <a:solidFill>
                      <a:schemeClr val="accent6">
                        <a:lumMod val="50000"/>
                      </a:schemeClr>
                    </a:solidFill>
                  </a:rPr>
                  <a:t>0</a:t>
                </a: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是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空集</a:t>
                </a:r>
                <a:endParaRPr lang="en-US" altLang="zh-CN" b="1">
                  <a:solidFill>
                    <a:srgbClr val="C00000"/>
                  </a:solidFill>
                </a:endParaRPr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b="1">
                    <a:solidFill>
                      <a:schemeClr val="accent6">
                        <a:lumMod val="50000"/>
                      </a:schemeClr>
                    </a:solidFill>
                  </a:rPr>
                  <a:t>1</a:t>
                </a: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是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空集的后继</a:t>
                </a: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，包含一个元素</a:t>
                </a:r>
                <a:r>
                  <a:rPr lang="en-US" altLang="zh-CN" b="1">
                    <a:solidFill>
                      <a:schemeClr val="accent6">
                        <a:lumMod val="50000"/>
                      </a:schemeClr>
                    </a:solidFill>
                  </a:rPr>
                  <a:t>(</a:t>
                </a: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就是</a:t>
                </a:r>
                <a:r>
                  <a:rPr lang="en-US" altLang="zh-CN" b="1">
                    <a:solidFill>
                      <a:schemeClr val="accent6">
                        <a:lumMod val="50000"/>
                      </a:schemeClr>
                    </a:solidFill>
                  </a:rPr>
                  <a:t>0)</a:t>
                </a:r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b="1">
                    <a:solidFill>
                      <a:schemeClr val="accent6">
                        <a:lumMod val="50000"/>
                      </a:schemeClr>
                    </a:solidFill>
                  </a:rPr>
                  <a:t>2</a:t>
                </a: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是</a:t>
                </a:r>
                <a:r>
                  <a:rPr lang="en-US" altLang="zh-CN" b="1">
                    <a:solidFill>
                      <a:srgbClr val="C00000"/>
                    </a:solidFill>
                  </a:rPr>
                  <a:t>1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的后继</a:t>
                </a: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，包含两个元素</a:t>
                </a:r>
                <a:r>
                  <a:rPr lang="en-US" altLang="zh-CN" b="1">
                    <a:solidFill>
                      <a:schemeClr val="accent6">
                        <a:lumMod val="50000"/>
                      </a:schemeClr>
                    </a:solidFill>
                  </a:rPr>
                  <a:t>(</a:t>
                </a: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就是</a:t>
                </a:r>
                <a:r>
                  <a:rPr lang="en-US" altLang="zh-CN" b="1">
                    <a:solidFill>
                      <a:schemeClr val="accent6">
                        <a:lumMod val="50000"/>
                      </a:schemeClr>
                    </a:solidFill>
                  </a:rPr>
                  <a:t>0</a:t>
                </a: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和</a:t>
                </a:r>
                <a:r>
                  <a:rPr lang="en-US" altLang="zh-CN" b="1">
                    <a:solidFill>
                      <a:schemeClr val="accent6">
                        <a:lumMod val="50000"/>
                      </a:schemeClr>
                    </a:solidFill>
                  </a:rPr>
                  <a:t>1)</a:t>
                </a:r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自然数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b="1">
                    <a:solidFill>
                      <a:srgbClr val="C00000"/>
                    </a:solidFill>
                  </a:rPr>
                  <a:t>的后继</a:t>
                </a: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，恰好包含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个元素，分别是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zh-CN" altLang="en-US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8282" y="3532878"/>
                <a:ext cx="4418503" cy="2369880"/>
              </a:xfrm>
              <a:prstGeom prst="rect">
                <a:avLst/>
              </a:prstGeom>
              <a:blipFill rotWithShape="1">
                <a:blip r:embed="rId5"/>
                <a:stretch>
                  <a:fillRect l="-9" t="-16" r="13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集合基数基础知识概要</a:t>
            </a:r>
            <a:r>
              <a:rPr lang="en-US" altLang="zh-CN" sz="1400">
                <a:latin typeface="楷体" panose="02010609060101010101" pitchFamily="49" charset="-122"/>
                <a:ea typeface="楷体" panose="02010609060101010101" pitchFamily="49" charset="-122"/>
              </a:rPr>
              <a:t>*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第二十二讲  函数基础知识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24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/29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有穷集、无穷集和集合基数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913629" y="1260459"/>
                <a:ext cx="4822752" cy="218450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有穷集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(finite set)</a:t>
                </a:r>
              </a:p>
              <a:p>
                <a:pPr>
                  <a:lnSpc>
                    <a:spcPts val="28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集合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称为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有穷集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（或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有限集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），如果它与某个自然数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等势</a:t>
                </a:r>
              </a:p>
              <a:p>
                <a:pPr marL="342900" indent="-342900">
                  <a:lnSpc>
                    <a:spcPts val="28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有穷集的任意真子集是有穷集，且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有穷集不与它的任何真子集等势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629" y="1260459"/>
                <a:ext cx="4822752" cy="2184509"/>
              </a:xfrm>
              <a:prstGeom prst="rect">
                <a:avLst/>
              </a:prstGeom>
              <a:blipFill rotWithShape="1">
                <a:blip r:embed="rId2"/>
                <a:stretch>
                  <a:fillRect l="-10" t="-28" r="9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6703407" y="1260459"/>
            <a:ext cx="4574964" cy="2184509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>
                <a:solidFill>
                  <a:srgbClr val="C00000"/>
                </a:solidFill>
              </a:rPr>
              <a:t>无穷集</a:t>
            </a:r>
            <a:r>
              <a:rPr lang="en-US" altLang="zh-CN" sz="2400" b="1">
                <a:solidFill>
                  <a:srgbClr val="C00000"/>
                </a:solidFill>
              </a:rPr>
              <a:t>(infinite set)</a:t>
            </a:r>
          </a:p>
          <a:p>
            <a:pPr>
              <a:lnSpc>
                <a:spcPts val="28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一个集合不是有穷集，则称为</a:t>
            </a:r>
            <a:r>
              <a:rPr lang="zh-CN" altLang="en-US" sz="2000" b="1">
                <a:solidFill>
                  <a:srgbClr val="C00000"/>
                </a:solidFill>
                <a:latin typeface="+mn-ea"/>
              </a:rPr>
              <a:t>无穷集</a:t>
            </a:r>
            <a:r>
              <a:rPr lang="zh-CN" altLang="en-US" sz="2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（或</a:t>
            </a:r>
            <a:r>
              <a:rPr lang="zh-CN" altLang="en-US" sz="2000" b="1">
                <a:solidFill>
                  <a:srgbClr val="C00000"/>
                </a:solidFill>
                <a:latin typeface="+mn-ea"/>
              </a:rPr>
              <a:t>无限集</a:t>
            </a:r>
            <a:r>
              <a:rPr lang="zh-CN" altLang="en-US" sz="2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</a:p>
          <a:p>
            <a:pPr marL="342900" indent="-342900">
              <a:lnSpc>
                <a:spcPts val="2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</a:rPr>
              <a:t>一个集合是无穷集当且仅当</a:t>
            </a: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  <a:latin typeface="+mn-ea"/>
              </a:rPr>
              <a:t>它与它的某个真子集等势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913629" y="3638183"/>
                <a:ext cx="10338430" cy="257762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zh-CN" altLang="en-US" sz="2400" b="1" dirty="0">
                    <a:solidFill>
                      <a:srgbClr val="C00000"/>
                    </a:solidFill>
                  </a:rPr>
                  <a:t>集合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 dirty="0">
                    <a:solidFill>
                      <a:srgbClr val="C00000"/>
                    </a:solidFill>
                  </a:rPr>
                  <a:t>基数</a:t>
                </a:r>
                <a:r>
                  <a:rPr lang="en-US" altLang="zh-CN" sz="2400" b="1" dirty="0">
                    <a:solidFill>
                      <a:srgbClr val="C00000"/>
                    </a:solidFill>
                  </a:rPr>
                  <a:t>(cardinality)</a:t>
                </a:r>
                <a:r>
                  <a:rPr lang="zh-CN" altLang="en-US" sz="2400" b="1" dirty="0">
                    <a:solidFill>
                      <a:srgbClr val="C00000"/>
                    </a:solidFill>
                  </a:rPr>
                  <a:t>记为</a:t>
                </a:r>
                <a:r>
                  <a:rPr lang="en-US" altLang="zh-CN" sz="2400" b="1" dirty="0">
                    <a:solidFill>
                      <a:srgbClr val="C00000"/>
                    </a:solidFill>
                  </a:rPr>
                  <a:t>Card(A)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对于有穷集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，如果它与自然数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等势，则称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2000" b="1" dirty="0">
                    <a:solidFill>
                      <a:srgbClr val="C00000"/>
                    </a:solidFill>
                    <a:latin typeface="+mn-ea"/>
                  </a:rPr>
                  <a:t>基数为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，通常用更简单的记号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表示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自然数集的基数记为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ℵ</m:t>
                        </m:r>
                      </m:e>
                      <m:sub>
                        <m:r>
                          <a:rPr lang="en-US" altLang="zh-CN" sz="20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，读作“阿列夫零”；实数集的基数记为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ℵ</m:t>
                    </m:r>
                  </m:oMath>
                </a14:m>
                <a:endParaRPr lang="en-US" altLang="zh-CN" sz="2000" b="1" dirty="0">
                  <a:solidFill>
                    <a:srgbClr val="C00000"/>
                  </a:solidFill>
                  <a:latin typeface="+mn-ea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两个集合的基数相等当且仅当</a:t>
                </a:r>
                <a:r>
                  <a:rPr lang="zh-CN" altLang="en-US" sz="2000" b="1" dirty="0">
                    <a:solidFill>
                      <a:srgbClr val="C00000"/>
                    </a:solidFill>
                    <a:latin typeface="+mn-ea"/>
                  </a:rPr>
                  <a:t>它们等势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若存在集合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2000" b="1" dirty="0">
                    <a:solidFill>
                      <a:srgbClr val="C00000"/>
                    </a:solidFill>
                    <a:latin typeface="+mn-ea"/>
                  </a:rPr>
                  <a:t>单函数</a:t>
                </a:r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的基数小于等于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的基数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 dirty="0">
                    <a:solidFill>
                      <a:srgbClr val="C00000"/>
                    </a:solidFill>
                    <a:latin typeface="+mn-ea"/>
                  </a:rPr>
                  <a:t>施罗德</a:t>
                </a:r>
                <a:r>
                  <a:rPr lang="en-US" altLang="zh-CN" b="1" dirty="0">
                    <a:solidFill>
                      <a:srgbClr val="C00000"/>
                    </a:solidFill>
                    <a:latin typeface="+mn-ea"/>
                  </a:rPr>
                  <a:t>-</a:t>
                </a:r>
                <a:r>
                  <a:rPr lang="zh-CN" altLang="en-US" b="1" dirty="0">
                    <a:solidFill>
                      <a:srgbClr val="C00000"/>
                    </a:solidFill>
                    <a:latin typeface="+mn-ea"/>
                  </a:rPr>
                  <a:t>伯恩斯坦定理</a:t>
                </a:r>
                <a:r>
                  <a:rPr lang="zh-CN" alt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：既存在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的单函数又存在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的单函数，则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等势</a:t>
                </a: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629" y="3638183"/>
                <a:ext cx="10338430" cy="2577629"/>
              </a:xfrm>
              <a:prstGeom prst="rect">
                <a:avLst/>
              </a:prstGeom>
              <a:blipFill rotWithShape="1">
                <a:blip r:embed="rId3"/>
                <a:stretch>
                  <a:fillRect l="-5" t="-10" r="5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集合基数基础知识概要</a:t>
            </a:r>
            <a:r>
              <a:rPr lang="en-US" altLang="zh-CN" sz="1400">
                <a:latin typeface="楷体" panose="02010609060101010101" pitchFamily="49" charset="-122"/>
                <a:ea typeface="楷体" panose="02010609060101010101" pitchFamily="49" charset="-122"/>
              </a:rPr>
              <a:t>*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第二十二讲  函数基础知识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25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/29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可数集和不可数集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445058" y="1272895"/>
                <a:ext cx="9301882" cy="138499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可数集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(countable set)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和不可数集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(uncountable set)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如果集合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是有穷集，或者与自然数集等势，则称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可数集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，也称为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可枚举集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不是可数集，则称为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不可数集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5058" y="1272895"/>
                <a:ext cx="9301882" cy="1384995"/>
              </a:xfrm>
              <a:prstGeom prst="rect">
                <a:avLst/>
              </a:prstGeom>
              <a:blipFill rotWithShape="1">
                <a:blip r:embed="rId2"/>
                <a:stretch>
                  <a:fillRect l="-5" t="-26" r="2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614697" y="2909080"/>
                <a:ext cx="6925593" cy="311636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重要的可数集例子</a:t>
                </a:r>
              </a:p>
              <a:p>
                <a:pPr marL="285750" indent="-285750">
                  <a:lnSpc>
                    <a:spcPts val="2400"/>
                  </a:lnSpc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自然数集、自然数集的任意子集、整数集、正整数集都是可数集</a:t>
                </a:r>
              </a:p>
              <a:p>
                <a:pPr marL="285750" indent="-285750">
                  <a:lnSpc>
                    <a:spcPts val="2400"/>
                  </a:lnSpc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正整数对构成的集合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，自然数对集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都是可数集</a:t>
                </a:r>
              </a:p>
              <a:p>
                <a:pPr marL="285750" indent="-285750">
                  <a:lnSpc>
                    <a:spcPts val="2400"/>
                  </a:lnSpc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所有有穷个自然数构成的序列的集合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ℕ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是可数集</a:t>
                </a:r>
              </a:p>
              <a:p>
                <a:pPr marL="742950" lvl="1" indent="-285750">
                  <a:lnSpc>
                    <a:spcPts val="2400"/>
                  </a:lnSpc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计算机程序都是由有限个字符构成的序列，所有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计算机程序</a:t>
                </a: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构成的集合是可数集</a:t>
                </a:r>
              </a:p>
              <a:p>
                <a:pPr marL="742950" lvl="1" indent="-285750">
                  <a:lnSpc>
                    <a:spcPts val="2400"/>
                  </a:lnSpc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所有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可计算的函数</a:t>
                </a: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（可仅考虑自然数集上的函数）构成的集合是可数集</a:t>
                </a: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697" y="2909080"/>
                <a:ext cx="6925593" cy="3116366"/>
              </a:xfrm>
              <a:prstGeom prst="rect">
                <a:avLst/>
              </a:prstGeom>
              <a:blipFill rotWithShape="1">
                <a:blip r:embed="rId3"/>
                <a:stretch>
                  <a:fillRect t="-5" r="4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7649988" y="3303194"/>
                <a:ext cx="3927315" cy="232813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8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 dirty="0">
                    <a:solidFill>
                      <a:srgbClr val="C00000"/>
                    </a:solidFill>
                  </a:rPr>
                  <a:t>重要的不可数集例子</a:t>
                </a:r>
              </a:p>
              <a:p>
                <a:pPr marL="342900" indent="-342900">
                  <a:lnSpc>
                    <a:spcPts val="28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实数集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不是可数集</a:t>
                </a:r>
              </a:p>
              <a:p>
                <a:pPr marL="342900" indent="-342900">
                  <a:lnSpc>
                    <a:spcPts val="28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自然数集到自然数集的所有函数构成的集合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ℕ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ℕ</m:t>
                        </m:r>
                      </m:sup>
                    </m:sSup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不是可数集</a:t>
                </a:r>
              </a:p>
              <a:p>
                <a:pPr marL="800100" lvl="1" indent="-342900">
                  <a:lnSpc>
                    <a:spcPts val="28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因此存在不可计算的函数</a:t>
                </a: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9988" y="3303194"/>
                <a:ext cx="3927315" cy="2328138"/>
              </a:xfrm>
              <a:prstGeom prst="rect">
                <a:avLst/>
              </a:prstGeom>
              <a:blipFill rotWithShape="1">
                <a:blip r:embed="rId4"/>
                <a:stretch>
                  <a:fillRect l="-4" t="-24" r="16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集合基数基础知识概要</a:t>
            </a:r>
            <a:r>
              <a:rPr lang="en-US" altLang="zh-CN" sz="1400">
                <a:latin typeface="楷体" panose="02010609060101010101" pitchFamily="49" charset="-122"/>
                <a:ea typeface="楷体" panose="02010609060101010101" pitchFamily="49" charset="-122"/>
              </a:rPr>
              <a:t>*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第二十二讲  函数基础知识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26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/29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正整数对集合是可数集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604308" y="1203158"/>
                <a:ext cx="5223263" cy="46166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正整数对构成的集合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是可数集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308" y="1203158"/>
                <a:ext cx="5223263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8" t="-101" r="3" b="1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604308" y="1846526"/>
                <a:ext cx="10983382" cy="115275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希尔伯特的旅馆安排法双函数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d>
                      <m:d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endParaRPr lang="en-US" altLang="zh-CN" sz="2000" b="1"/>
              </a:p>
              <a:p>
                <a:pPr marL="342900" indent="-3429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第</a:t>
                </a:r>
                <a:r>
                  <a:rPr lang="en-US" altLang="zh-CN" sz="2000" b="1">
                    <a:solidFill>
                      <a:srgbClr val="002060"/>
                    </a:solidFill>
                    <a:latin typeface="+mn-ea"/>
                  </a:rPr>
                  <a:t>1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批第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位客人安排编号为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的房间，第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批第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位客人安排编号为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d>
                      <m:d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的房间</a:t>
                </a:r>
              </a:p>
              <a:p>
                <a:pPr marL="742950" lvl="1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从而安排无穷批次，每批次无穷多的客人</a:t>
                </a: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308" y="1846526"/>
                <a:ext cx="10983382" cy="1152751"/>
              </a:xfrm>
              <a:prstGeom prst="rect">
                <a:avLst/>
              </a:prstGeom>
              <a:blipFill rotWithShape="1">
                <a:blip r:embed="rId3"/>
                <a:stretch>
                  <a:fillRect l="-4" t="-50" r="2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组合 15"/>
          <p:cNvGrpSpPr/>
          <p:nvPr/>
        </p:nvGrpSpPr>
        <p:grpSpPr>
          <a:xfrm>
            <a:off x="1313105" y="3180980"/>
            <a:ext cx="9565788" cy="3118170"/>
            <a:chOff x="1313106" y="3262895"/>
            <a:chExt cx="9565788" cy="3118170"/>
          </a:xfrm>
        </p:grpSpPr>
        <p:sp>
          <p:nvSpPr>
            <p:cNvPr id="15" name="矩形: 圆角 14"/>
            <p:cNvSpPr/>
            <p:nvPr/>
          </p:nvSpPr>
          <p:spPr>
            <a:xfrm>
              <a:off x="1313106" y="3262895"/>
              <a:ext cx="9565788" cy="3118170"/>
            </a:xfrm>
            <a:prstGeom prst="roundRect">
              <a:avLst>
                <a:gd name="adj" fmla="val 853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/>
                <p:cNvSpPr txBox="1"/>
                <p:nvPr/>
              </p:nvSpPr>
              <p:spPr>
                <a:xfrm>
                  <a:off x="1313106" y="3454942"/>
                  <a:ext cx="5479821" cy="8915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ts val="3200"/>
                    </a:lnSpc>
                  </a:pPr>
                  <a:r>
                    <a: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康托尔的折线</a:t>
                  </a:r>
                  <a:r>
                    <a:rPr lang="en-US" altLang="zh-CN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(zig-zag)</a:t>
                  </a:r>
                  <a:r>
                    <a: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编码方法双函数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ℤ</m:t>
                          </m:r>
                        </m:e>
                        <m:sup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ℤ</m:t>
                          </m:r>
                        </m:e>
                        <m:sup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ℤ</m:t>
                          </m:r>
                        </m:e>
                        <m:sup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a14:m>
                  <a:endParaRPr lang="zh-CN" altLang="en-US" sz="24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" name="文本框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3106" y="3454942"/>
                  <a:ext cx="5479821" cy="891526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95432" y="3309304"/>
              <a:ext cx="3584855" cy="301106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/>
                <p:cNvSpPr txBox="1"/>
                <p:nvPr/>
              </p:nvSpPr>
              <p:spPr>
                <a:xfrm>
                  <a:off x="1611713" y="4625259"/>
                  <a:ext cx="4683833" cy="1189621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>
                    <a:spcBef>
                      <a:spcPts val="600"/>
                    </a:spcBef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40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CN" sz="240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40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sz="240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ℤ</m:t>
                          </m:r>
                        </m:e>
                        <m:sup>
                          <m:r>
                            <a:rPr lang="en-US" altLang="zh-CN" sz="240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a14:m>
                  <a:r>
                    <a:rPr lang="en-US" altLang="zh-CN" sz="2400">
                      <a:solidFill>
                        <a:schemeClr val="accent2">
                          <a:lumMod val="50000"/>
                        </a:schemeClr>
                      </a:solidFill>
                    </a:rPr>
                    <a:t>,</a:t>
                  </a:r>
                  <a:r>
                    <a:rPr lang="zh-CN" altLang="en-US" sz="2400">
                      <a:solidFill>
                        <a:schemeClr val="accent2">
                          <a:lumMod val="50000"/>
                        </a:schemeClr>
                      </a:solidFill>
                    </a:rPr>
                    <a:t> </a:t>
                  </a:r>
                  <a:endParaRPr lang="en-US" altLang="zh-CN" sz="2400">
                    <a:solidFill>
                      <a:schemeClr val="accent2">
                        <a:lumMod val="50000"/>
                      </a:schemeClr>
                    </a:solidFill>
                  </a:endParaRPr>
                </a:p>
                <a:p>
                  <a:pPr algn="ctr">
                    <a:spcBef>
                      <a:spcPts val="600"/>
                    </a:spcBef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a:rPr lang="pt-BR" altLang="zh-CN" sz="2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pt-BR" altLang="zh-CN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altLang="zh-CN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pt-BR" altLang="zh-CN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pt-BR" altLang="zh-CN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altLang="zh-CN" sz="2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altLang="zh-CN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altLang="zh-CN" sz="2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altLang="zh-CN" sz="2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pt-BR" altLang="zh-CN" sz="2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altLang="zh-CN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+ 2</m:t>
                          </m:r>
                          <m:r>
                            <a:rPr lang="pt-BR" altLang="zh-CN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𝑚𝑛</m:t>
                          </m:r>
                          <m:r>
                            <a:rPr lang="pt-BR" altLang="zh-CN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+ </m:t>
                          </m:r>
                          <m:sSup>
                            <m:sSupPr>
                              <m:ctrlPr>
                                <a:rPr lang="pt-BR" altLang="zh-CN" sz="2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altLang="zh-CN" sz="2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pt-BR" altLang="zh-CN" sz="2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altLang="zh-CN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 </m:t>
                          </m:r>
                          <m:r>
                            <a:rPr lang="pt-BR" altLang="zh-CN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pt-BR" altLang="zh-CN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− 3</m:t>
                          </m:r>
                          <m:r>
                            <a:rPr lang="pt-BR" altLang="zh-CN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altLang="zh-CN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+ 2</m:t>
                          </m:r>
                        </m:num>
                        <m:den>
                          <m:r>
                            <a:rPr lang="pt-BR" altLang="zh-CN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a14:m>
                  <a:r>
                    <a:rPr lang="pt-BR" altLang="zh-CN" sz="2000"/>
                    <a:t> </a:t>
                  </a:r>
                  <a:endParaRPr lang="zh-CN" altLang="en-US" sz="2000"/>
                </a:p>
              </p:txBody>
            </p:sp>
          </mc:Choice>
          <mc:Fallback xmlns="">
            <p:sp>
              <p:nvSpPr>
                <p:cNvPr id="14" name="文本框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1713" y="4625259"/>
                  <a:ext cx="4683833" cy="1189621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集合基数基础知识概要</a:t>
            </a:r>
            <a:r>
              <a:rPr lang="en-US" altLang="zh-CN" sz="1400">
                <a:latin typeface="楷体" panose="02010609060101010101" pitchFamily="49" charset="-122"/>
                <a:ea typeface="楷体" panose="02010609060101010101" pitchFamily="49" charset="-122"/>
              </a:rPr>
              <a:t>*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第二十二讲  函数基础知识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27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/29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对角线方法证明不可数集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03891" y="1078860"/>
            <a:ext cx="8348011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accent2">
                    <a:lumMod val="50000"/>
                  </a:schemeClr>
                </a:solidFill>
              </a:rPr>
              <a:t>康托尔提出所谓的</a:t>
            </a:r>
            <a:r>
              <a:rPr lang="zh-CN" altLang="en-US" sz="2400" b="1">
                <a:solidFill>
                  <a:srgbClr val="C00000"/>
                </a:solidFill>
              </a:rPr>
              <a:t>对角线方法</a:t>
            </a:r>
            <a:r>
              <a:rPr lang="zh-CN" altLang="en-US" sz="2400" b="1">
                <a:solidFill>
                  <a:schemeClr val="accent2">
                    <a:lumMod val="50000"/>
                  </a:schemeClr>
                </a:solidFill>
              </a:rPr>
              <a:t>用于证明一个集合不是可数集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725819" y="1776172"/>
            <a:ext cx="10740362" cy="4407539"/>
            <a:chOff x="725819" y="1776172"/>
            <a:chExt cx="10740362" cy="4407539"/>
          </a:xfrm>
        </p:grpSpPr>
        <p:sp>
          <p:nvSpPr>
            <p:cNvPr id="4" name="文本框 3"/>
            <p:cNvSpPr txBox="1"/>
            <p:nvPr/>
          </p:nvSpPr>
          <p:spPr>
            <a:xfrm>
              <a:off x="3770528" y="1851778"/>
              <a:ext cx="5143228" cy="307777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r>
                <a:rPr lang="zh-CN" altLang="en-US" sz="2000" b="1">
                  <a:solidFill>
                    <a:srgbClr val="C00000"/>
                  </a:solidFill>
                </a:rPr>
                <a:t>对角线方法证明实数开区间</a:t>
              </a:r>
              <a:r>
                <a:rPr lang="en-US" altLang="zh-CN" sz="2000" b="1">
                  <a:solidFill>
                    <a:srgbClr val="C00000"/>
                  </a:solidFill>
                </a:rPr>
                <a:t>(0, 1)</a:t>
              </a:r>
              <a:r>
                <a:rPr lang="zh-CN" altLang="en-US" sz="2000" b="1">
                  <a:solidFill>
                    <a:srgbClr val="C00000"/>
                  </a:solidFill>
                </a:rPr>
                <a:t>不是可数集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/>
                <p:cNvSpPr txBox="1"/>
                <p:nvPr/>
              </p:nvSpPr>
              <p:spPr>
                <a:xfrm>
                  <a:off x="993163" y="2287807"/>
                  <a:ext cx="7642281" cy="723275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spcBef>
                      <a:spcPts val="600"/>
                    </a:spcBef>
                  </a:pP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若</a:t>
                  </a:r>
                  <a:r>
                    <a:rPr lang="en-US" altLang="zh-CN" b="1">
                      <a:solidFill>
                        <a:schemeClr val="accent2">
                          <a:lumMod val="50000"/>
                        </a:schemeClr>
                      </a:solidFill>
                    </a:rPr>
                    <a:t>(0, 1)</a:t>
                  </a: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是可数集，则意味着在开区间</a:t>
                  </a:r>
                  <a:r>
                    <a:rPr lang="en-US" altLang="zh-CN" b="1">
                      <a:solidFill>
                        <a:schemeClr val="accent2">
                          <a:lumMod val="50000"/>
                        </a:schemeClr>
                      </a:solidFill>
                    </a:rPr>
                    <a:t>(0, 1)</a:t>
                  </a: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的实数可排成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 ⋯, </m:t>
                      </m:r>
                      <m:sSub>
                        <m:sSubPr>
                          <m:ctrlP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altLang="zh-CN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 ⋯</m:t>
                      </m:r>
                    </m:oMath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  <a:p>
                  <a:pPr marL="285750" indent="-285750">
                    <a:spcBef>
                      <a:spcPts val="600"/>
                    </a:spcBef>
                    <a:buFont typeface="Arial" panose="020B0604020202020204" pitchFamily="34" charset="0"/>
                    <a:buChar char="•"/>
                  </a:pPr>
                  <a:r>
                    <a:rPr lang="zh-CN" altLang="en-US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并根据它的十进制表示可形成一个无穷的实数表</a:t>
                  </a:r>
                </a:p>
              </p:txBody>
            </p:sp>
          </mc:Choice>
          <mc:Fallback xmlns="">
            <p:sp>
              <p:nvSpPr>
                <p:cNvPr id="6" name="文本框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3163" y="2287807"/>
                  <a:ext cx="7642281" cy="723275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tretch>
              <a:fillRect/>
            </a:stretch>
          </p:blipFill>
          <p:spPr>
            <a:xfrm>
              <a:off x="1183498" y="3267512"/>
              <a:ext cx="3212983" cy="2147330"/>
            </a:xfrm>
            <a:prstGeom prst="rect">
              <a:avLst/>
            </a:prstGeom>
          </p:spPr>
        </p:pic>
        <p:grpSp>
          <p:nvGrpSpPr>
            <p:cNvPr id="14" name="组合 13"/>
            <p:cNvGrpSpPr/>
            <p:nvPr/>
          </p:nvGrpSpPr>
          <p:grpSpPr>
            <a:xfrm>
              <a:off x="4782893" y="3259612"/>
              <a:ext cx="6494767" cy="276999"/>
              <a:chOff x="5455347" y="3243699"/>
              <a:chExt cx="6494767" cy="276999"/>
            </a:xfrm>
            <a:solidFill>
              <a:schemeClr val="accent2">
                <a:lumMod val="20000"/>
                <a:lumOff val="80000"/>
                <a:alpha val="51000"/>
              </a:schemeClr>
            </a:solidFill>
          </p:grpSpPr>
          <p:sp>
            <p:nvSpPr>
              <p:cNvPr id="12" name="文本框 11"/>
              <p:cNvSpPr txBox="1"/>
              <p:nvPr/>
            </p:nvSpPr>
            <p:spPr>
              <a:xfrm>
                <a:off x="5455347" y="3243699"/>
                <a:ext cx="4085968" cy="276999"/>
              </a:xfrm>
              <a:prstGeom prst="rect">
                <a:avLst/>
              </a:prstGeom>
              <a:solidFill>
                <a:srgbClr val="F5E4D0"/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但通过这个表的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对角线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可构造一个实数</a:t>
                </a:r>
              </a:p>
            </p:txBody>
          </p:sp>
          <p:pic>
            <p:nvPicPr>
              <p:cNvPr id="13" name="图片 12"/>
              <p:cNvPicPr>
                <a:picLocks noChangeAspect="1"/>
              </p:cNvPicPr>
              <p:nvPr/>
            </p:nvPicPr>
            <p:blipFill>
              <a:blip r:embed="rId4">
                <a:duotone>
                  <a:prstClr val="black"/>
                  <a:srgbClr val="D9C3A5">
                    <a:tint val="50000"/>
                    <a:satMod val="180000"/>
                  </a:srgbClr>
                </a:duotone>
              </a:blip>
              <a:stretch>
                <a:fillRect/>
              </a:stretch>
            </p:blipFill>
            <p:spPr>
              <a:xfrm>
                <a:off x="9416836" y="3253800"/>
                <a:ext cx="2533278" cy="256798"/>
              </a:xfrm>
              <a:prstGeom prst="rect">
                <a:avLst/>
              </a:prstGeom>
              <a:grpFill/>
              <a:ln>
                <a:noFill/>
              </a:ln>
            </p:spPr>
          </p:pic>
        </p:grpSp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tretch>
              <a:fillRect/>
            </a:stretch>
          </p:blipFill>
          <p:spPr>
            <a:xfrm>
              <a:off x="6016020" y="3797489"/>
              <a:ext cx="4131084" cy="100597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/>
                <p:cNvSpPr txBox="1"/>
                <p:nvPr/>
              </p:nvSpPr>
              <p:spPr>
                <a:xfrm>
                  <a:off x="5605706" y="5074439"/>
                  <a:ext cx="4951712" cy="999504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2400"/>
                    </a:lnSpc>
                  </a:pP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实数</a:t>
                  </a:r>
                  <a14:m>
                    <m:oMath xmlns:m="http://schemas.openxmlformats.org/officeDocument/2006/math">
                      <m:r>
                        <a:rPr lang="en-US" altLang="zh-CN" b="1" i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𝐫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的十进制表示小数的第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位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𝐝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与上述实数表的第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个实数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的十进制表小数的第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位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𝒊𝒊</m:t>
                          </m:r>
                        </m:sub>
                      </m:sSub>
                    </m:oMath>
                  </a14:m>
                  <a:r>
                    <a:rPr lang="zh-CN" altLang="en-US" b="1">
                      <a:solidFill>
                        <a:srgbClr val="C00000"/>
                      </a:solidFill>
                    </a:rPr>
                    <a:t>不相等</a:t>
                  </a: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，从而</a:t>
                  </a:r>
                  <a:r>
                    <a:rPr lang="zh-CN" altLang="en-US" b="1">
                      <a:solidFill>
                        <a:srgbClr val="C00000"/>
                      </a:solidFill>
                    </a:rPr>
                    <a:t>实数</a:t>
                  </a:r>
                  <a14:m>
                    <m:oMath xmlns:m="http://schemas.openxmlformats.org/officeDocument/2006/math">
                      <m:r>
                        <a:rPr lang="en-US" altLang="zh-CN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𝐫</m:t>
                      </m:r>
                    </m:oMath>
                  </a14:m>
                  <a:r>
                    <a:rPr lang="zh-CN" altLang="en-US" b="1">
                      <a:solidFill>
                        <a:srgbClr val="C00000"/>
                      </a:solidFill>
                    </a:rPr>
                    <a:t>不等于上述实数表中任何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a14:m>
                  <a:endParaRPr lang="zh-CN" altLang="en-US" b="1"/>
                </a:p>
              </p:txBody>
            </p:sp>
          </mc:Choice>
          <mc:Fallback xmlns="">
            <p:sp>
              <p:nvSpPr>
                <p:cNvPr id="16" name="文本框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5706" y="5074439"/>
                  <a:ext cx="4951712" cy="999504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/>
                <p:cNvSpPr txBox="1"/>
                <p:nvPr/>
              </p:nvSpPr>
              <p:spPr>
                <a:xfrm>
                  <a:off x="886988" y="5427085"/>
                  <a:ext cx="3927315" cy="646331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上述实数表不可能包括开区间</a:t>
                  </a:r>
                  <a:r>
                    <a:rPr lang="en-US" altLang="zh-CN" b="1">
                      <a:solidFill>
                        <a:schemeClr val="accent2">
                          <a:lumMod val="50000"/>
                        </a:schemeClr>
                      </a:solidFill>
                    </a:rPr>
                    <a:t>(0, 1)</a:t>
                  </a: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的所有实数，从而</a:t>
                  </a:r>
                  <a:r>
                    <a:rPr lang="en-US" altLang="zh-CN" b="1">
                      <a:solidFill>
                        <a:schemeClr val="accent2">
                          <a:lumMod val="50000"/>
                        </a:schemeClr>
                      </a:solidFill>
                    </a:rPr>
                    <a:t>(0, 1)</a:t>
                  </a: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不是可数集</a:t>
                  </a:r>
                </a:p>
              </p:txBody>
            </p:sp>
          </mc:Choice>
          <mc:Fallback xmlns="">
            <p:sp>
              <p:nvSpPr>
                <p:cNvPr id="18" name="文本框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6988" y="5427085"/>
                  <a:ext cx="3927315" cy="646331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矩形: 圆角 19"/>
            <p:cNvSpPr/>
            <p:nvPr/>
          </p:nvSpPr>
          <p:spPr>
            <a:xfrm>
              <a:off x="725819" y="1776172"/>
              <a:ext cx="10740362" cy="4407539"/>
            </a:xfrm>
            <a:prstGeom prst="roundRect">
              <a:avLst>
                <a:gd name="adj" fmla="val 8235"/>
              </a:avLst>
            </a:prstGeom>
            <a:noFill/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箭头: 下 21"/>
            <p:cNvSpPr/>
            <p:nvPr/>
          </p:nvSpPr>
          <p:spPr>
            <a:xfrm>
              <a:off x="2745391" y="3011082"/>
              <a:ext cx="105254" cy="116383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箭头: 右 22"/>
            <p:cNvSpPr/>
            <p:nvPr/>
          </p:nvSpPr>
          <p:spPr>
            <a:xfrm>
              <a:off x="4396481" y="3350669"/>
              <a:ext cx="386412" cy="93161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箭头: 下 23"/>
            <p:cNvSpPr/>
            <p:nvPr/>
          </p:nvSpPr>
          <p:spPr>
            <a:xfrm>
              <a:off x="8038827" y="3536611"/>
              <a:ext cx="100158" cy="24853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箭头: 下 24"/>
            <p:cNvSpPr/>
            <p:nvPr/>
          </p:nvSpPr>
          <p:spPr>
            <a:xfrm>
              <a:off x="8041790" y="4806594"/>
              <a:ext cx="97194" cy="27097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箭头: 左 25"/>
            <p:cNvSpPr/>
            <p:nvPr/>
          </p:nvSpPr>
          <p:spPr>
            <a:xfrm>
              <a:off x="4814303" y="5670596"/>
              <a:ext cx="791403" cy="108544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总结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第二十二讲  函数基础知识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28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/29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总结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52175" y="1269697"/>
            <a:ext cx="4391647" cy="2456763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1">
                <a:solidFill>
                  <a:srgbClr val="002060"/>
                </a:solidFill>
              </a:rPr>
              <a:t>函数是一种特殊的关系</a:t>
            </a:r>
          </a:p>
          <a:p>
            <a:pPr marL="342900" indent="-342900">
              <a:lnSpc>
                <a:spcPts val="2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函数的基本概念，包括定义域、陪域、像、原像、像集、逆像集等</a:t>
            </a:r>
            <a:endParaRPr lang="en-US" altLang="zh-CN" sz="2000" b="1">
              <a:solidFill>
                <a:schemeClr val="accent6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lnSpc>
                <a:spcPts val="2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函数的单满性质，即单函数、满函数和双函数，以及函数复合运算与函数单满性质之间的联系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52175" y="3966329"/>
            <a:ext cx="4391648" cy="20976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000" b="1">
                <a:solidFill>
                  <a:srgbClr val="002060"/>
                </a:solidFill>
              </a:rPr>
              <a:t>简单了解集合基数相关的知识</a:t>
            </a:r>
          </a:p>
          <a:p>
            <a:pPr marL="342900" indent="-342900">
              <a:lnSpc>
                <a:spcPts val="2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集合等势、自然数的集合论定义、有穷集、无穷集、集合基数</a:t>
            </a:r>
            <a:endParaRPr lang="en-US" altLang="zh-CN" sz="2000" b="1">
              <a:solidFill>
                <a:schemeClr val="accent6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lnSpc>
                <a:spcPts val="2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可数集和不可数集、康托尔定理、对角线法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704315" y="1096952"/>
            <a:ext cx="5635510" cy="51110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zh-CN" altLang="en-US" sz="2400" b="1">
                <a:solidFill>
                  <a:srgbClr val="C00000"/>
                </a:solidFill>
              </a:rPr>
              <a:t>学习这一部分的目标</a:t>
            </a:r>
          </a:p>
          <a:p>
            <a:pPr marL="342900" indent="-342900"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chemeClr val="accent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了解函数的基本概念，特别是单函数、满函数和双函数的基本概念</a:t>
            </a:r>
          </a:p>
          <a:p>
            <a:pPr marL="342900" indent="-342900"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chemeClr val="accent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能够判断和证明一个函数是否是单函数、满函数和双函数</a:t>
            </a:r>
          </a:p>
          <a:p>
            <a:pPr marL="342900" indent="-342900"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chemeClr val="accent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能计算两个函数的复合和一个函数的逆函数</a:t>
            </a:r>
          </a:p>
          <a:p>
            <a:pPr marL="342900" indent="-342900"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chemeClr val="accent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能证明函数运算与函数单满性质之间的联系</a:t>
            </a:r>
          </a:p>
          <a:p>
            <a:pPr marL="342900" indent="-342900"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chemeClr val="accent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能证明两个集合是否等势，证明一个集合是否是可数集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作业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第二十二讲  函数基础知识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511C6389-7226-43B9-9250-70FB7F990DBF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29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/29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作业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007165" y="3167390"/>
            <a:ext cx="9103862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教材练习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7.5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、练习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7.21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、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7.26</a:t>
            </a:r>
            <a:endParaRPr lang="zh-CN" altLang="en-US" sz="3200" b="1" dirty="0">
              <a:solidFill>
                <a:srgbClr val="C00000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第二十二讲  函数基础知识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921252" y="2001283"/>
            <a:ext cx="8571678" cy="2383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400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谢谢大家！</a:t>
            </a:r>
            <a:endParaRPr lang="en-US" altLang="zh-CN" sz="4000">
              <a:solidFill>
                <a:srgbClr val="C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>
              <a:lnSpc>
                <a:spcPct val="200000"/>
              </a:lnSpc>
            </a:pPr>
            <a:r>
              <a:rPr lang="zh-CN" altLang="en-US" sz="400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有什么问题和建议请及时反馈给老师！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6694c6ee-8eac-4118-b518-e9ce1844d8e9"/>
  <p:tag name="COMMONDATA" val="eyJoZGlkIjoiYWQ1M2NkMzQ3MmRmNGQyOTRlYWE3NmYyMDAyZmQ0YT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5003</Words>
  <Application>Microsoft Office PowerPoint</Application>
  <PresentationFormat>宽屏</PresentationFormat>
  <Paragraphs>411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8" baseType="lpstr">
      <vt:lpstr>等线</vt:lpstr>
      <vt:lpstr>等线 Light</vt:lpstr>
      <vt:lpstr>仿宋</vt:lpstr>
      <vt:lpstr>华文新魏</vt:lpstr>
      <vt:lpstr>楷体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380514873@qq.com</cp:lastModifiedBy>
  <cp:revision>79</cp:revision>
  <dcterms:created xsi:type="dcterms:W3CDTF">2022-01-01T06:39:00Z</dcterms:created>
  <dcterms:modified xsi:type="dcterms:W3CDTF">2024-11-25T09:38:22Z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F32842CAB2A342A8A05D58EA5DB7EC4B_12</vt:lpwstr>
  </property>
  <property fmtid="{D5CDD505-2E9C-101B-9397-08002B2CF9AE}" pid="3" name="KSOProductBuildVer">
    <vt:lpwstr>2052-11.1.0.14036</vt:lpwstr>
  </property>
</Properties>
</file>