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2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1" r:id="rId4"/>
    <p:sldId id="281" r:id="rId5"/>
    <p:sldId id="282" r:id="rId6"/>
    <p:sldId id="286" r:id="rId7"/>
    <p:sldId id="285" r:id="rId8"/>
    <p:sldId id="289" r:id="rId9"/>
    <p:sldId id="288" r:id="rId10"/>
    <p:sldId id="291" r:id="rId11"/>
    <p:sldId id="290" r:id="rId12"/>
    <p:sldId id="293" r:id="rId13"/>
    <p:sldId id="292" r:id="rId14"/>
    <p:sldId id="294" r:id="rId15"/>
    <p:sldId id="295" r:id="rId16"/>
    <p:sldId id="297" r:id="rId17"/>
    <p:sldId id="298" r:id="rId18"/>
    <p:sldId id="296" r:id="rId19"/>
    <p:sldId id="299" r:id="rId20"/>
    <p:sldId id="287" r:id="rId21"/>
    <p:sldId id="300" r:id="rId22"/>
    <p:sldId id="301" r:id="rId23"/>
    <p:sldId id="302" r:id="rId24"/>
    <p:sldId id="284" r:id="rId25"/>
    <p:sldId id="303" r:id="rId26"/>
    <p:sldId id="260" r:id="rId27"/>
    <p:sldId id="272" r:id="rId28"/>
    <p:sldId id="280" r:id="rId29"/>
    <p:sldId id="262" r:id="rId30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mooc1-1.chaoxing.com/course/216273730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tags" Target="../tags/tag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1405812" y="1185233"/>
            <a:ext cx="9393993" cy="889686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>
                <a:latin typeface="仿宋" panose="02010609060101010101" pitchFamily="49" charset="-122"/>
                <a:ea typeface="仿宋" panose="02010609060101010101" pitchFamily="49" charset="-122"/>
              </a:rPr>
              <a:t>第十九讲</a:t>
            </a:r>
            <a:r>
              <a:rPr lang="en-US" altLang="zh-CN" sz="4800" b="1" dirty="0">
                <a:latin typeface="仿宋" panose="02010609060101010101" pitchFamily="49" charset="-122"/>
                <a:ea typeface="仿宋" panose="02010609060101010101" pitchFamily="49" charset="-122"/>
              </a:rPr>
              <a:t>	 </a:t>
            </a:r>
            <a:r>
              <a:rPr lang="zh-CN" altLang="en-US" sz="4800" b="1" dirty="0">
                <a:latin typeface="仿宋" panose="02010609060101010101" pitchFamily="49" charset="-122"/>
                <a:ea typeface="仿宋" panose="02010609060101010101" pitchFamily="49" charset="-122"/>
              </a:rPr>
              <a:t>关系的性质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372231" y="2549433"/>
            <a:ext cx="3447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李绿周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608174" y="3600682"/>
            <a:ext cx="51774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843849" y="4559643"/>
            <a:ext cx="286676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11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705232" y="5288692"/>
            <a:ext cx="9094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hlinkClick r:id="rId2"/>
              </a:rPr>
              <a:t>https://mooc1-1.chaoxing.com/course/216273730.html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lilvzh@mail.sysu.edu.cn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649" y="3112777"/>
            <a:ext cx="1766582" cy="1560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07232" y="1566198"/>
            <a:ext cx="4733731" cy="2746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关系的性质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3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关系性质和关系运算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关系的性质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关系性质的元素考察法定义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548202" y="1049365"/>
                <a:ext cx="5716555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accent2">
                        <a:lumMod val="50000"/>
                      </a:schemeClr>
                    </a:solidFill>
                  </a:rPr>
                  <a:t>给定非空集合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 dirty="0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 dirty="0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 dirty="0">
                    <a:solidFill>
                      <a:schemeClr val="accent2">
                        <a:lumMod val="50000"/>
                      </a:schemeClr>
                    </a:solidFill>
                  </a:rPr>
                  <a:t>上的关系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02" y="1049365"/>
                <a:ext cx="5716555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3" t="-75" r="8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custDataLst>
                  <p:tags r:id="rId1"/>
                </p:custDataLst>
              </p:nvPr>
            </p:nvGraphicFramePr>
            <p:xfrm>
              <a:off x="548202" y="1857731"/>
              <a:ext cx="11062704" cy="409905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54373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6639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5503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48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altLang="en-US" sz="2800">
                              <a:solidFill>
                                <a:schemeClr val="bg1"/>
                              </a:solidFill>
                            </a:rPr>
                            <a:t>性质</a:t>
                          </a: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altLang="en-US" sz="2800"/>
                            <a:t>定义</a:t>
                          </a:r>
                        </a:p>
                      </a:txBody>
                      <a:tcPr marL="0" marR="0" marT="0" marB="0" anchor="ctr"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altLang="en-US" sz="2800"/>
                            <a:t>例子</a:t>
                          </a:r>
                        </a:p>
                      </a:txBody>
                      <a:tcPr marL="0" marR="0" marT="0" marB="0" anchor="ctr">
                        <a:solidFill>
                          <a:schemeClr val="accent6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  <a:latin typeface="+mn-ea"/>
                              <a:ea typeface="+mn-ea"/>
                            </a:rPr>
                            <a:t>自反性</a:t>
                          </a:r>
                          <a:endParaRPr lang="en-US" altLang="zh-CN" sz="2400" b="1" i="1">
                            <a:solidFill>
                              <a:srgbClr val="C00000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d>
                                  <m:dPr>
                                    <m:ctrlPr>
                                      <a:rPr lang="en-US" altLang="zh-CN" sz="2000" b="1" i="1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200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marL="0" marR="0" marT="36000" marB="0"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altLang="en-US" sz="1800" b="1">
                              <a:solidFill>
                                <a:srgbClr val="002060"/>
                              </a:solidFill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整数集上的</a:t>
                          </a:r>
                          <a:r>
                            <a:rPr lang="zh-CN" altLang="en-US" sz="1800" b="1">
                              <a:solidFill>
                                <a:srgbClr val="C00000"/>
                              </a:solidFill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小于等于关系</a:t>
                          </a:r>
                          <a:endParaRPr lang="zh-CN" altLang="en-US" sz="180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36000" marR="0" marT="0" marB="0" anchor="ctr"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  <a:latin typeface="+mn-ea"/>
                              <a:ea typeface="+mn-ea"/>
                            </a:rPr>
                            <a:t>反自反性</a:t>
                          </a:r>
                          <a:endParaRPr lang="en-US" altLang="zh-CN" sz="2400" b="1" i="1">
                            <a:solidFill>
                              <a:srgbClr val="C00000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d>
                                  <m:dPr>
                                    <m:ctrlP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∉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200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marL="0" marR="0" marT="36000" marB="0"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1800" b="1">
                              <a:solidFill>
                                <a:srgbClr val="002060"/>
                              </a:solidFill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整数集上的</a:t>
                          </a:r>
                          <a:r>
                            <a:rPr lang="zh-CN" altLang="en-US" sz="1800" b="1" kern="1200">
                              <a:solidFill>
                                <a:srgbClr val="C00000"/>
                              </a:solidFill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+mn-cs"/>
                            </a:rPr>
                            <a:t>小于关系</a:t>
                          </a:r>
                        </a:p>
                      </a:txBody>
                      <a:tcPr marL="36000" marR="0" marT="0" marB="0" anchor="ctr"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1106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  <a:latin typeface="+mn-ea"/>
                              <a:ea typeface="+mn-ea"/>
                            </a:rPr>
                            <a:t>对称性</a:t>
                          </a:r>
                          <a:endParaRPr lang="en-US" altLang="zh-CN" sz="2400" b="1" i="1">
                            <a:solidFill>
                              <a:srgbClr val="C00000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d>
                                  <m:dPr>
                                    <m:ctrlPr>
                                      <a:rPr lang="en-US" altLang="zh-CN" sz="2000" b="1" i="1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CN" sz="2000" b="1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marL="0" marR="0" marT="36000" marB="0"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800" b="1">
                              <a:solidFill>
                                <a:srgbClr val="002060"/>
                              </a:solidFill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整数集上的</a:t>
                          </a:r>
                          <a:r>
                            <a:rPr lang="zh-CN" altLang="en-US" sz="1800" b="1" kern="1200">
                              <a:solidFill>
                                <a:srgbClr val="C00000"/>
                              </a:solidFill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+mn-cs"/>
                            </a:rPr>
                            <a:t>模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1" kern="120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+mn-cs"/>
                                </a:rPr>
                                <m:t>𝒎</m:t>
                              </m:r>
                            </m:oMath>
                          </a14:m>
                          <a:r>
                            <a:rPr lang="zh-CN" altLang="en-US" sz="1800" b="1" kern="1200">
                              <a:solidFill>
                                <a:srgbClr val="C00000"/>
                              </a:solidFill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+mn-cs"/>
                            </a:rPr>
                            <a:t>同余关系</a:t>
                          </a:r>
                          <a:r>
                            <a:rPr lang="zh-CN" altLang="en-US" sz="1800" b="1">
                              <a:solidFill>
                                <a:srgbClr val="002060"/>
                              </a:solidFill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，即两整数整除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𝒎</m:t>
                              </m:r>
                            </m:oMath>
                          </a14:m>
                          <a:r>
                            <a:rPr lang="zh-CN" altLang="en-US" sz="1800" b="1">
                              <a:solidFill>
                                <a:srgbClr val="002060"/>
                              </a:solidFill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的余数相同</a:t>
                          </a:r>
                          <a:endParaRPr lang="en-US" altLang="zh-CN" sz="1800" b="1">
                            <a:solidFill>
                              <a:srgbClr val="002060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marL="36000" marR="0" marT="0" marB="0" anchor="ctr"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9598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  <a:latin typeface="+mn-ea"/>
                              <a:ea typeface="+mn-ea"/>
                            </a:rPr>
                            <a:t>反对称性</a:t>
                          </a:r>
                          <a:endParaRPr lang="en-US" altLang="zh-CN" sz="2400" b="1" i="1">
                            <a:solidFill>
                              <a:srgbClr val="C00000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d>
                                  <m:dPr>
                                    <m:ctrlPr>
                                      <a:rPr lang="en-US" altLang="zh-CN" sz="2000" b="1" i="1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∧</m:t>
                                    </m:r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d>
                                      <m:dPr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= 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zh-CN" altLang="en-US" sz="200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marL="0" marR="0" marT="36000" marB="0"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1800" b="1">
                              <a:solidFill>
                                <a:srgbClr val="002060"/>
                              </a:solidFill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整数集上的</a:t>
                          </a:r>
                          <a:r>
                            <a:rPr lang="zh-CN" altLang="en-US" sz="1800" b="1" kern="1200">
                              <a:solidFill>
                                <a:srgbClr val="C00000"/>
                              </a:solidFill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+mn-cs"/>
                            </a:rPr>
                            <a:t>整除关系</a:t>
                          </a:r>
                          <a:endParaRPr lang="en-US" altLang="zh-CN" sz="1800" b="1" kern="1200">
                            <a:solidFill>
                              <a:srgbClr val="C00000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1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)∧(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)⟹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zh-CN" altLang="en-US" sz="180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marL="36000" marR="0" marT="0" marB="0" anchor="ctr"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  <a:latin typeface="+mn-ea"/>
                              <a:ea typeface="+mn-ea"/>
                            </a:rPr>
                            <a:t>传递性</a:t>
                          </a:r>
                          <a:endParaRPr lang="en-US" altLang="zh-CN" sz="2400" b="1" i="1">
                            <a:solidFill>
                              <a:srgbClr val="C00000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d>
                                  <m:dPr>
                                    <m:ctrlPr>
                                      <a:rPr lang="en-US" altLang="zh-CN" sz="2000" b="1" i="1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∧</m:t>
                                    </m:r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200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marL="0" marR="0" marT="36000" marB="0"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1800" b="1">
                              <a:solidFill>
                                <a:srgbClr val="002060"/>
                              </a:solidFill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整数集上的</a:t>
                          </a:r>
                          <a:r>
                            <a:rPr lang="zh-CN" altLang="en-US" sz="1800" b="1" kern="1200">
                              <a:solidFill>
                                <a:srgbClr val="C00000"/>
                              </a:solidFill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+mn-cs"/>
                            </a:rPr>
                            <a:t>整除关系</a:t>
                          </a:r>
                          <a:endParaRPr lang="en-US" altLang="zh-CN" sz="1800" b="1" kern="1200">
                            <a:solidFill>
                              <a:srgbClr val="C00000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sepChr m:val="∣"/>
                                    <m:ctrlPr>
                                      <a:rPr lang="en-US" altLang="zh-CN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d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sepChr m:val="∣"/>
                                    <m:ctrlPr>
                                      <a:rPr lang="en-US" altLang="zh-CN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e>
                                    <m:r>
                                      <a:rPr lang="en-US" altLang="zh-CN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</m:d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⟹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zh-CN" altLang="en-US" sz="180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marL="36000" marR="0" marT="0" marB="0" anchor="ctr"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>
                <p:custDataLst>
                  <p:tags r:id="rId4"/>
                </p:custDataLst>
              </p:nvPr>
            </p:nvGraphicFramePr>
            <p:xfrm>
              <a:off x="548202" y="1857731"/>
              <a:ext cx="11062704" cy="409905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543735"/>
                    <a:gridCol w="6663936"/>
                    <a:gridCol w="2855033"/>
                  </a:tblGrid>
                  <a:tr h="648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altLang="en-US" sz="2800">
                              <a:solidFill>
                                <a:schemeClr val="bg1"/>
                              </a:solidFill>
                            </a:rPr>
                            <a:t>性质</a:t>
                          </a:r>
                          <a:endParaRPr lang="zh-CN" altLang="en-US" sz="28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altLang="en-US" sz="2800"/>
                            <a:t>定义</a:t>
                          </a:r>
                          <a:endParaRPr lang="zh-CN" altLang="en-US" sz="2800"/>
                        </a:p>
                      </a:txBody>
                      <a:tcPr marL="0" marR="0" marT="0" marB="0" anchor="ctr"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altLang="en-US" sz="2800"/>
                            <a:t>例子</a:t>
                          </a:r>
                          <a:endParaRPr lang="zh-CN" altLang="en-US" sz="2800"/>
                        </a:p>
                      </a:txBody>
                      <a:tcPr marL="0" marR="0" marT="0" marB="0" anchor="ctr">
                        <a:solidFill>
                          <a:schemeClr val="accent6">
                            <a:lumMod val="50000"/>
                          </a:schemeClr>
                        </a:solidFill>
                      </a:tcPr>
                    </a:tc>
                  </a:tr>
                  <a:tr h="6483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  <a:latin typeface="+mn-ea"/>
                              <a:ea typeface="+mn-ea"/>
                            </a:rPr>
                            <a:t>自反性</a:t>
                          </a:r>
                          <a:endParaRPr lang="en-US" altLang="zh-CN" sz="2400" b="1" i="1">
                            <a:solidFill>
                              <a:srgbClr val="C00000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36000" marB="0" anchor="ctr"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altLang="en-US" sz="1800" b="1">
                              <a:solidFill>
                                <a:srgbClr val="002060"/>
                              </a:solidFill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整数集上的</a:t>
                          </a:r>
                          <a:r>
                            <a:rPr lang="zh-CN" altLang="en-US" sz="1800" b="1">
                              <a:solidFill>
                                <a:srgbClr val="C00000"/>
                              </a:solidFill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小于等于关系</a:t>
                          </a:r>
                          <a:endParaRPr lang="zh-CN" altLang="en-US" sz="180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36000" marR="0" marT="0" marB="0" anchor="ctr"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</a:tr>
                  <a:tr h="6477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  <a:latin typeface="+mn-ea"/>
                              <a:ea typeface="+mn-ea"/>
                            </a:rPr>
                            <a:t>反自反性</a:t>
                          </a:r>
                          <a:endParaRPr lang="en-US" altLang="zh-CN" sz="2400" b="1" i="1">
                            <a:solidFill>
                              <a:srgbClr val="C00000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36000" marB="0" anchor="ctr"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1800" b="1">
                              <a:solidFill>
                                <a:srgbClr val="002060"/>
                              </a:solidFill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整数集上的</a:t>
                          </a:r>
                          <a:r>
                            <a:rPr lang="zh-CN" altLang="en-US" sz="1800" b="1" kern="1200">
                              <a:solidFill>
                                <a:srgbClr val="C00000"/>
                              </a:solidFill>
                              <a:latin typeface="楷体" panose="02010609060101010101" pitchFamily="49" charset="-122"/>
                              <a:ea typeface="楷体" panose="02010609060101010101" pitchFamily="49" charset="-122"/>
                              <a:cs typeface="+mn-cs"/>
                            </a:rPr>
                            <a:t>小于关系</a:t>
                          </a:r>
                          <a:endParaRPr lang="zh-CN" altLang="en-US" sz="1800" b="1" kern="1200">
                            <a:solidFill>
                              <a:srgbClr val="C00000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+mn-cs"/>
                          </a:endParaRPr>
                        </a:p>
                      </a:txBody>
                      <a:tcPr marL="36000" marR="0" marT="0" marB="0" anchor="ctr"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</a:tr>
                  <a:tr h="7112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  <a:latin typeface="+mn-ea"/>
                              <a:ea typeface="+mn-ea"/>
                            </a:rPr>
                            <a:t>对称性</a:t>
                          </a:r>
                          <a:endParaRPr lang="en-US" altLang="zh-CN" sz="2400" b="1" i="1">
                            <a:solidFill>
                              <a:srgbClr val="C00000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36000" marB="0" anchor="ctr"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000" marR="0" marT="0" marB="0" anchor="ctr">
                        <a:blipFill>
                          <a:blip r:embed="rId5"/>
                        </a:blipFill>
                      </a:tcPr>
                    </a:tc>
                  </a:tr>
                  <a:tr h="79629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  <a:latin typeface="+mn-ea"/>
                              <a:ea typeface="+mn-ea"/>
                            </a:rPr>
                            <a:t>反对称性</a:t>
                          </a:r>
                          <a:endParaRPr lang="en-US" altLang="zh-CN" sz="2400" b="1" i="1">
                            <a:solidFill>
                              <a:srgbClr val="C00000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36000" marB="0" anchor="ctr"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000" marR="0" marT="0" marB="0" anchor="ctr">
                        <a:blipFill>
                          <a:blip r:embed="rId5"/>
                        </a:blipFill>
                      </a:tcPr>
                    </a:tc>
                  </a:tr>
                  <a:tr h="6477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  <a:latin typeface="+mn-ea"/>
                              <a:ea typeface="+mn-ea"/>
                            </a:rPr>
                            <a:t>传递性</a:t>
                          </a:r>
                          <a:endParaRPr lang="en-US" altLang="zh-CN" sz="2400" b="1" i="1">
                            <a:solidFill>
                              <a:srgbClr val="C00000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36000" marB="0" anchor="ctr"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000" marR="0" marT="0" marB="0" anchor="ctr">
                        <a:blipFill>
                          <a:blip r:embed="rId5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关系的性质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关系性质定义中的逻辑公式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869172" y="1108284"/>
                <a:ext cx="8939250" cy="152862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定义关系性质公式中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+mn-ea"/>
                  </a:rPr>
                  <a:t>特征谓词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，与后面公式是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+mn-ea"/>
                  </a:rPr>
                  <a:t>逻辑蕴涵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关系</a:t>
                </a:r>
                <a:endParaRPr lang="en-US" altLang="zh-CN" sz="2000" b="1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例如，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</m:oMath>
                </a14:m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</m:oMath>
                </a14:m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的简写，而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∉</m:t>
                        </m:r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</m:oMath>
                </a14:m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∉</m:t>
                        </m:r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</m:oMath>
                </a14:m>
                <a:r>
                  <a:rPr lang="zh-CN" altLang="en-US" b="1" dirty="0">
                    <a:solidFill>
                      <a:schemeClr val="accent6">
                        <a:lumMod val="50000"/>
                      </a:schemeClr>
                    </a:solidFill>
                  </a:rPr>
                  <a:t>的简写</a:t>
                </a:r>
                <a:endParaRPr lang="en-US" altLang="zh-CN" b="1" dirty="0"/>
              </a:p>
              <a:p>
                <a:pPr marL="742950" lvl="1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因此若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b="1" dirty="0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是空集，空集上只有空关系，</a:t>
                </a:r>
                <a:r>
                  <a:rPr lang="zh-CN" altLang="en-US" b="1" dirty="0">
                    <a:solidFill>
                      <a:srgbClr val="C00000"/>
                    </a:solidFill>
                    <a:latin typeface="+mn-ea"/>
                  </a:rPr>
                  <a:t>空集上的空关系既是自反的又是反自反的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72" y="1108284"/>
                <a:ext cx="8939250" cy="1528624"/>
              </a:xfrm>
              <a:prstGeom prst="rect">
                <a:avLst/>
              </a:prstGeom>
              <a:blipFill rotWithShape="1">
                <a:blip r:embed="rId2"/>
                <a:stretch>
                  <a:fillRect l="-6" t="-14" r="2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869172" y="2802692"/>
                <a:ext cx="7570937" cy="11849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若指定个体变量的论域是集合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，则这些公式都可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将“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”省略</a:t>
                </a:r>
                <a:endParaRPr lang="en-US" altLang="zh-CN" sz="2000" b="1">
                  <a:solidFill>
                    <a:schemeClr val="tx2">
                      <a:lumMod val="50000"/>
                    </a:schemeClr>
                  </a:solidFill>
                  <a:latin typeface="+mn-ea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例如，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</m:d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</m:d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可写为</a:t>
                </a:r>
                <a:endParaRPr lang="en-US" altLang="zh-CN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d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d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</m:oMath>
                  </m:oMathPara>
                </a14:m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72" y="2802692"/>
                <a:ext cx="7570937" cy="1184940"/>
              </a:xfrm>
              <a:prstGeom prst="rect">
                <a:avLst/>
              </a:prstGeom>
              <a:blipFill rotWithShape="1">
                <a:blip r:embed="rId3"/>
                <a:stretch>
                  <a:fillRect l="-6" t="-37" r="4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801500" y="4417975"/>
                <a:ext cx="4018296" cy="124649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对定义对称性的公式，</a:t>
                </a:r>
                <a:r>
                  <a:rPr lang="zh-CN" altLang="en-US" sz="2000" b="1" i="0" dirty="0">
                    <a:solidFill>
                      <a:schemeClr val="accent2">
                        <a:lumMod val="50000"/>
                      </a:schemeClr>
                    </a:solidFill>
                    <a:latin typeface="+mj-lt"/>
                  </a:rPr>
                  <a:t>有</a:t>
                </a: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  <a:latin typeface="+mj-lt"/>
                  </a:rPr>
                  <a:t>：</a:t>
                </a:r>
                <a:endParaRPr lang="en-US" altLang="zh-CN" sz="2000" b="1" i="0" dirty="0">
                  <a:solidFill>
                    <a:schemeClr val="accent2">
                      <a:lumMod val="50000"/>
                    </a:schemeClr>
                  </a:solidFill>
                  <a:latin typeface="+mj-lt"/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</m:oMath>
                  </m:oMathPara>
                </a14:m>
                <a:endParaRPr lang="en-US" altLang="zh-CN" sz="2000" b="1" i="1" dirty="0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≡∀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↔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500" y="4417975"/>
                <a:ext cx="4018296" cy="1246495"/>
              </a:xfrm>
              <a:prstGeom prst="rect">
                <a:avLst/>
              </a:prstGeom>
              <a:blipFill rotWithShape="1">
                <a:blip r:embed="rId4"/>
                <a:stretch>
                  <a:fillRect l="-3" t="-22" r="4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5083584" y="4244239"/>
                <a:ext cx="4868029" cy="17477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定义反对称性的公式是：</a:t>
                </a:r>
                <a:endParaRPr lang="en-US" altLang="zh-CN" sz="20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d>
                            <m:dPr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0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而不是：</a:t>
                </a:r>
                <a:endParaRPr lang="en-US" altLang="zh-CN" sz="20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d>
                        <m:d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∉</m:t>
                          </m:r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</m:oMath>
                  </m:oMathPara>
                </a14:m>
                <a:endParaRPr lang="zh-CN" altLang="en-US" sz="20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584" y="4244239"/>
                <a:ext cx="4868029" cy="1747786"/>
              </a:xfrm>
              <a:prstGeom prst="rect">
                <a:avLst/>
              </a:prstGeom>
              <a:blipFill rotWithShape="1">
                <a:blip r:embed="rId5"/>
                <a:stretch>
                  <a:fillRect l="-8" t="-31" r="11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8650617" y="3195107"/>
                <a:ext cx="2157722" cy="4001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下面都将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省略</a:t>
                </a: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0617" y="3195107"/>
                <a:ext cx="2157722" cy="400110"/>
              </a:xfrm>
              <a:prstGeom prst="rect">
                <a:avLst/>
              </a:prstGeom>
              <a:blipFill rotWithShape="1">
                <a:blip r:embed="rId6"/>
                <a:stretch>
                  <a:fillRect l="-1" t="-105" b="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10360794" y="4794966"/>
            <a:ext cx="1368311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这两个公式有什么差别？</a:t>
            </a:r>
          </a:p>
        </p:txBody>
      </p:sp>
      <p:sp>
        <p:nvSpPr>
          <p:cNvPr id="16" name="箭头: 左 15"/>
          <p:cNvSpPr/>
          <p:nvPr/>
        </p:nvSpPr>
        <p:spPr>
          <a:xfrm>
            <a:off x="9951613" y="5084136"/>
            <a:ext cx="409181" cy="8552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关系的性质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关系不具有性质的逻辑公式描述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60648" y="1247310"/>
            <a:ext cx="7578336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定义关系性质逻辑公式的</a:t>
            </a:r>
            <a:r>
              <a:rPr lang="zh-CN" altLang="en-US" sz="2000" b="1" i="0">
                <a:solidFill>
                  <a:schemeClr val="accent2">
                    <a:lumMod val="50000"/>
                  </a:schemeClr>
                </a:solidFill>
                <a:latin typeface="+mj-lt"/>
              </a:rPr>
              <a:t>否定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给出关系不具有性质的逻辑公式描述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560648" y="1803362"/>
                <a:ext cx="8603087" cy="40011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2000" b="1">
                    <a:solidFill>
                      <a:srgbClr val="002060"/>
                    </a:solidFill>
                  </a:rPr>
                  <a:t>假定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是非空集，关系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 i="0">
                    <a:solidFill>
                      <a:srgbClr val="002060"/>
                    </a:solidFill>
                    <a:latin typeface="+mj-lt"/>
                  </a:rPr>
                  <a:t>，且下面所有公式个体变量的论域是</a:t>
                </a:r>
                <a:r>
                  <a:rPr lang="zh-CN" altLang="en-US" sz="2000" b="1">
                    <a:solidFill>
                      <a:srgbClr val="002060"/>
                    </a:solidFill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zh-CN" altLang="en-US" sz="2000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648" y="1803362"/>
                <a:ext cx="8603087" cy="400110"/>
              </a:xfrm>
              <a:prstGeom prst="rect">
                <a:avLst/>
              </a:prstGeom>
              <a:blipFill rotWithShape="1">
                <a:blip r:embed="rId2"/>
                <a:stretch>
                  <a:fillRect l="-7" t="-149" r="1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755242" y="2971690"/>
                <a:ext cx="4769710" cy="98488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</a:rPr>
                  <a:t>不是自反的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≡∃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∉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</m:oMath>
                  </m:oMathPara>
                </a14:m>
                <a:endParaRPr lang="zh-CN" altLang="en-US" sz="2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242" y="2971690"/>
                <a:ext cx="4769710" cy="984885"/>
              </a:xfrm>
              <a:prstGeom prst="rect">
                <a:avLst/>
              </a:prstGeom>
              <a:blipFill rotWithShape="1">
                <a:blip r:embed="rId3"/>
                <a:stretch>
                  <a:fillRect l="-5" t="-53" r="9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755243" y="4342926"/>
                <a:ext cx="4769709" cy="98488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</a:rPr>
                  <a:t>不是反自反的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∉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≡∃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</m:oMath>
                  </m:oMathPara>
                </a14:m>
                <a:endParaRPr lang="zh-CN" altLang="en-US" sz="2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243" y="4342926"/>
                <a:ext cx="4769709" cy="984885"/>
              </a:xfrm>
              <a:prstGeom prst="rect">
                <a:avLst/>
              </a:prstGeom>
              <a:blipFill rotWithShape="1">
                <a:blip r:embed="rId4"/>
                <a:stretch>
                  <a:fillRect l="-5" t="-16" r="9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6188096" y="3069503"/>
            <a:ext cx="2249700" cy="7892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</a:pP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存在既不是自反又不是反自反的关系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6188096" y="4440740"/>
                <a:ext cx="3843990" cy="78925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是自反的蕴涵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不是反自反的，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是反自反的蕴涵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不是自反的</a:t>
                </a: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096" y="4440740"/>
                <a:ext cx="3843990" cy="789255"/>
              </a:xfrm>
              <a:prstGeom prst="rect">
                <a:avLst/>
              </a:prstGeom>
              <a:blipFill rotWithShape="1">
                <a:blip r:embed="rId5"/>
                <a:stretch>
                  <a:fillRect l="-1" t="-23" r="9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8932568" y="2936838"/>
                <a:ext cx="2517697" cy="105458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:r>
                  <a:rPr lang="zh-CN" altLang="en-US" b="1" i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关系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不是自反的，也不是反自反的</a:t>
                </a:r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2568" y="2936838"/>
                <a:ext cx="2517697" cy="1054584"/>
              </a:xfrm>
              <a:prstGeom prst="rect">
                <a:avLst/>
              </a:prstGeom>
              <a:blipFill rotWithShape="1">
                <a:blip r:embed="rId6"/>
                <a:stretch>
                  <a:fillRect l="-1" t="-57" r="23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/>
          <p:cNvSpPr/>
          <p:nvPr/>
        </p:nvSpPr>
        <p:spPr>
          <a:xfrm>
            <a:off x="664419" y="2889068"/>
            <a:ext cx="4951353" cy="2524969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/>
          <p:cNvSpPr/>
          <p:nvPr/>
        </p:nvSpPr>
        <p:spPr>
          <a:xfrm>
            <a:off x="5615772" y="3429000"/>
            <a:ext cx="480228" cy="819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右 22"/>
          <p:cNvSpPr/>
          <p:nvPr/>
        </p:nvSpPr>
        <p:spPr>
          <a:xfrm>
            <a:off x="5615771" y="4804278"/>
            <a:ext cx="572323" cy="637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>
            <a:off x="6096000" y="2842907"/>
            <a:ext cx="5495171" cy="1235850"/>
          </a:xfrm>
          <a:prstGeom prst="roundRect">
            <a:avLst>
              <a:gd name="adj" fmla="val 12941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0282067" y="4512201"/>
                <a:ext cx="1355154" cy="6463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</a:rPr>
                  <a:t>注意这需要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chemeClr val="accent4">
                        <a:lumMod val="50000"/>
                      </a:schemeClr>
                    </a:solidFill>
                  </a:rPr>
                  <a:t>是非空集</a:t>
                </a: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2067" y="4512201"/>
                <a:ext cx="1355154" cy="646331"/>
              </a:xfrm>
              <a:prstGeom prst="rect">
                <a:avLst/>
              </a:prstGeom>
              <a:blipFill rotWithShape="1">
                <a:blip r:embed="rId7"/>
                <a:stretch>
                  <a:fillRect l="-11" t="-81" r="16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箭头: 左 10"/>
          <p:cNvSpPr/>
          <p:nvPr/>
        </p:nvSpPr>
        <p:spPr>
          <a:xfrm>
            <a:off x="10032085" y="4804278"/>
            <a:ext cx="249981" cy="4571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关系的性质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关系不具有性质的逻辑公式描述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60648" y="1247310"/>
            <a:ext cx="7578336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定义关系性质逻辑公式的</a:t>
            </a:r>
            <a:r>
              <a:rPr lang="zh-CN" altLang="en-US" sz="2000" b="1" i="0">
                <a:solidFill>
                  <a:schemeClr val="accent2">
                    <a:lumMod val="50000"/>
                  </a:schemeClr>
                </a:solidFill>
                <a:latin typeface="+mj-lt"/>
              </a:rPr>
              <a:t>否定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给出关系不具有性质的逻辑公式描述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560648" y="1803362"/>
                <a:ext cx="8603087" cy="40011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2000" b="1">
                    <a:solidFill>
                      <a:srgbClr val="002060"/>
                    </a:solidFill>
                  </a:rPr>
                  <a:t>假定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是非空集，关系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 i="0">
                    <a:solidFill>
                      <a:srgbClr val="002060"/>
                    </a:solidFill>
                    <a:latin typeface="+mj-lt"/>
                  </a:rPr>
                  <a:t>，且下面所有公式个体变量的论域是</a:t>
                </a:r>
                <a:r>
                  <a:rPr lang="zh-CN" altLang="en-US" sz="2000" b="1">
                    <a:solidFill>
                      <a:srgbClr val="002060"/>
                    </a:solidFill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zh-CN" altLang="en-US" sz="2000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648" y="1803362"/>
                <a:ext cx="8603087" cy="400110"/>
              </a:xfrm>
              <a:prstGeom prst="rect">
                <a:avLst/>
              </a:prstGeom>
              <a:blipFill rotWithShape="1">
                <a:blip r:embed="rId2"/>
                <a:stretch>
                  <a:fillRect l="-7" t="-149" r="1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/>
          <p:cNvGrpSpPr/>
          <p:nvPr/>
        </p:nvGrpSpPr>
        <p:grpSpPr>
          <a:xfrm>
            <a:off x="646683" y="2480879"/>
            <a:ext cx="10898632" cy="3645095"/>
            <a:chOff x="664419" y="2494036"/>
            <a:chExt cx="10898632" cy="36450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1197092" y="2794627"/>
                  <a:ext cx="4769710" cy="1268745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400" b="1">
                      <a:solidFill>
                        <a:srgbClr val="C00000"/>
                      </a:solidFill>
                    </a:rPr>
                    <a:t>关系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400" b="1">
                      <a:solidFill>
                        <a:srgbClr val="C00000"/>
                      </a:solidFill>
                    </a:rPr>
                    <a:t>不是对称的</a:t>
                  </a:r>
                  <a:endParaRPr lang="en-US" altLang="zh-CN" sz="2400" b="1">
                    <a:solidFill>
                      <a:srgbClr val="C00000"/>
                    </a:solidFill>
                  </a:endParaRP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d>
                          <m:dPr>
                            <m:ctrlP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∀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∀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d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d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</m:d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≡∃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d>
                          <m:dPr>
                            <m:ctrlP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d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∧</m:t>
                            </m:r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4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d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∉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</m:d>
                      </m:oMath>
                    </m:oMathPara>
                  </a14:m>
                  <a:endParaRPr lang="zh-CN" altLang="en-US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7092" y="2794627"/>
                  <a:ext cx="4769710" cy="126874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776292" y="4589719"/>
                  <a:ext cx="5625822" cy="1268745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zh-CN" altLang="en-US" sz="2400" b="1" dirty="0">
                      <a:solidFill>
                        <a:srgbClr val="C00000"/>
                      </a:solidFill>
                    </a:rPr>
                    <a:t>关系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400" b="1" dirty="0">
                      <a:solidFill>
                        <a:srgbClr val="C00000"/>
                      </a:solidFill>
                    </a:rPr>
                    <a:t>不是反对称的</a:t>
                  </a:r>
                  <a:endParaRPr lang="en-US" altLang="zh-CN" sz="2400" b="1" dirty="0">
                    <a:solidFill>
                      <a:srgbClr val="C00000"/>
                    </a:solidFill>
                  </a:endParaRPr>
                </a:p>
                <a:p>
                  <a:pPr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d>
                          <m:dPr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∀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∀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d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∧</m:t>
                            </m:r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d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≡∃</m:t>
                        </m:r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d>
                          <m:dPr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∧</m:t>
                            </m:r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d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∧</m:t>
                            </m:r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a:rPr lang="en-US" altLang="zh-CN" sz="24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d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</m:d>
                      </m:oMath>
                    </m:oMathPara>
                  </a14:m>
                  <a:endParaRPr lang="zh-CN" altLang="en-US" sz="2400" b="1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292" y="4589719"/>
                  <a:ext cx="5625822" cy="1268745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矩形 20"/>
            <p:cNvSpPr/>
            <p:nvPr/>
          </p:nvSpPr>
          <p:spPr>
            <a:xfrm>
              <a:off x="664419" y="2557771"/>
              <a:ext cx="5835057" cy="3506249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箭头: 右 21"/>
            <p:cNvSpPr/>
            <p:nvPr/>
          </p:nvSpPr>
          <p:spPr>
            <a:xfrm>
              <a:off x="6510255" y="3334916"/>
              <a:ext cx="487558" cy="6373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箭头: 右 22"/>
            <p:cNvSpPr/>
            <p:nvPr/>
          </p:nvSpPr>
          <p:spPr>
            <a:xfrm>
              <a:off x="6510255" y="5224092"/>
              <a:ext cx="804926" cy="6373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7008592" y="2494036"/>
              <a:ext cx="4554459" cy="1702726"/>
              <a:chOff x="6973122" y="2557771"/>
              <a:chExt cx="4554459" cy="1702726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7092921" y="2625991"/>
                <a:ext cx="4294319" cy="43018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存在既不是对称又不是反对称的关系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本框 19"/>
                  <p:cNvSpPr txBox="1"/>
                  <p:nvPr/>
                </p:nvSpPr>
                <p:spPr>
                  <a:xfrm>
                    <a:off x="7224489" y="3124393"/>
                    <a:ext cx="4031182" cy="1054584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  <a:alpha val="5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2400"/>
                      </a:lnSpc>
                      <a:spcBef>
                        <a:spcPts val="6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d>
                        </m:oMath>
                      </m:oMathPara>
                    </a14:m>
                    <a:endParaRPr lang="en-US" altLang="zh-CN" b="1" i="0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  <a:p>
                    <a:pPr algn="ctr">
                      <a:lnSpc>
                        <a:spcPts val="2400"/>
                      </a:lnSpc>
                      <a:spcBef>
                        <a:spcPts val="600"/>
                      </a:spcBef>
                    </a:pPr>
                    <a:r>
                      <a:rPr lang="zh-CN" altLang="en-US" b="1" i="0">
                        <a:solidFill>
                          <a:srgbClr val="00206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关系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d>
                            <m: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d>
                          </m:e>
                        </m:d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不对称，也不反对称</a:t>
                    </a:r>
                  </a:p>
                </p:txBody>
              </p:sp>
            </mc:Choice>
            <mc:Fallback xmlns="">
              <p:sp>
                <p:nvSpPr>
                  <p:cNvPr id="20" name="文本框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24489" y="3124393"/>
                    <a:ext cx="4031182" cy="1054584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" name="矩形: 圆角 23"/>
              <p:cNvSpPr/>
              <p:nvPr/>
            </p:nvSpPr>
            <p:spPr>
              <a:xfrm>
                <a:off x="6973122" y="2557771"/>
                <a:ext cx="4554459" cy="1702726"/>
              </a:xfrm>
              <a:prstGeom prst="roundRect">
                <a:avLst>
                  <a:gd name="adj" fmla="val 9464"/>
                </a:avLst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7315181" y="4372789"/>
              <a:ext cx="3920737" cy="1766342"/>
              <a:chOff x="7275729" y="2557771"/>
              <a:chExt cx="3920737" cy="1766342"/>
            </a:xfrm>
          </p:grpSpPr>
          <p:sp>
            <p:nvSpPr>
              <p:cNvPr id="26" name="文本框 25"/>
              <p:cNvSpPr txBox="1"/>
              <p:nvPr/>
            </p:nvSpPr>
            <p:spPr>
              <a:xfrm>
                <a:off x="7356057" y="2625991"/>
                <a:ext cx="3768046" cy="43018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存在既是对称又是反对称的关系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本框 26"/>
                  <p:cNvSpPr txBox="1"/>
                  <p:nvPr/>
                </p:nvSpPr>
                <p:spPr>
                  <a:xfrm>
                    <a:off x="7412377" y="3124393"/>
                    <a:ext cx="3675948" cy="114172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  <a:alpha val="5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lnSpc>
                        <a:spcPts val="2400"/>
                      </a:lnSpc>
                      <a:spcBef>
                        <a:spcPts val="6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d>
                        </m:oMath>
                      </m:oMathPara>
                    </a14:m>
                    <a:endParaRPr lang="en-US" altLang="zh-CN" b="1" i="0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  <a:p>
                    <a:pPr>
                      <a:lnSpc>
                        <a:spcPts val="2400"/>
                      </a:lnSpc>
                      <a:spcBef>
                        <a:spcPts val="600"/>
                      </a:spcBef>
                    </a:pPr>
                    <a:r>
                      <a:rPr lang="zh-CN" altLang="en-US" b="1" i="0">
                        <a:solidFill>
                          <a:srgbClr val="00206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关系</a:t>
                    </a:r>
                    <a14:m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e>
                        </m:d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既对称，也反对称</a:t>
                    </a:r>
                    <a:endParaRPr lang="en-US" altLang="zh-CN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  <a:p>
                    <a:pPr>
                      <a:lnSpc>
                        <a:spcPts val="2400"/>
                      </a:lnSpc>
                      <a:spcBef>
                        <a:spcPts val="600"/>
                      </a:spcBef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1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𝚫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𝑨</m:t>
                            </m:r>
                          </m:sub>
                        </m:sSub>
                      </m:oMath>
                    </a14:m>
                    <a:r>
                      <a:rPr lang="zh-CN" altLang="en-US" b="1">
                        <a:solidFill>
                          <a:srgbClr val="00206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及其子集都是既对称又反对称</a:t>
                    </a:r>
                  </a:p>
                </p:txBody>
              </p:sp>
            </mc:Choice>
            <mc:Fallback xmlns="">
              <p:sp>
                <p:nvSpPr>
                  <p:cNvPr id="27" name="文本框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12377" y="3124393"/>
                    <a:ext cx="3675948" cy="1141723"/>
                  </a:xfrm>
                  <a:prstGeom prst="rect">
                    <a:avLst/>
                  </a:prstGeom>
                  <a:blipFill rotWithShape="1">
                    <a:blip r:embed="rId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矩形: 圆角 27"/>
              <p:cNvSpPr/>
              <p:nvPr/>
            </p:nvSpPr>
            <p:spPr>
              <a:xfrm>
                <a:off x="7275729" y="2557771"/>
                <a:ext cx="3920737" cy="1766342"/>
              </a:xfrm>
              <a:prstGeom prst="roundRect">
                <a:avLst>
                  <a:gd name="adj" fmla="val 9464"/>
                </a:avLst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关系的性质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关系不具有性质的逻辑公式描述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2662063" y="2663785"/>
                <a:ext cx="6867867" cy="143116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</a:rPr>
                  <a:t>不是传递的</a:t>
                </a:r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¬(∀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d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d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b="1" i="1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≡∃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d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d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∉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</m:oMath>
                  </m:oMathPara>
                </a14:m>
                <a:endParaRPr lang="zh-CN" altLang="en-US" sz="2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2063" y="2663785"/>
                <a:ext cx="6867867" cy="1431161"/>
              </a:xfrm>
              <a:prstGeom prst="rect">
                <a:avLst/>
              </a:prstGeom>
              <a:blipFill rotWithShape="1">
                <a:blip r:embed="rId2"/>
                <a:stretch>
                  <a:fillRect l="-2" t="-42" r="7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/>
          <p:cNvSpPr txBox="1"/>
          <p:nvPr/>
        </p:nvSpPr>
        <p:spPr>
          <a:xfrm>
            <a:off x="560648" y="1247310"/>
            <a:ext cx="7578336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定义关系性质逻辑公式的</a:t>
            </a:r>
            <a:r>
              <a:rPr lang="zh-CN" altLang="en-US" sz="2000" b="1" i="0">
                <a:solidFill>
                  <a:schemeClr val="accent2">
                    <a:lumMod val="50000"/>
                  </a:schemeClr>
                </a:solidFill>
                <a:latin typeface="+mj-lt"/>
              </a:rPr>
              <a:t>否定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给出关系不具有性质的逻辑公式描述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560648" y="1803362"/>
                <a:ext cx="8603087" cy="40011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2000" b="1">
                    <a:solidFill>
                      <a:srgbClr val="002060"/>
                    </a:solidFill>
                  </a:rPr>
                  <a:t>假定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是非空集，关系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 i="0">
                    <a:solidFill>
                      <a:srgbClr val="002060"/>
                    </a:solidFill>
                    <a:latin typeface="+mj-lt"/>
                  </a:rPr>
                  <a:t>，且下面所有公式个体变量的论域是</a:t>
                </a:r>
                <a:r>
                  <a:rPr lang="zh-CN" altLang="en-US" sz="2000" b="1">
                    <a:solidFill>
                      <a:srgbClr val="002060"/>
                    </a:solidFill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zh-CN" altLang="en-US" sz="2000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648" y="1803362"/>
                <a:ext cx="8603087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7" t="-149" r="1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1548116" y="4336464"/>
                <a:ext cx="9095762" cy="154048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2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ts val="36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 i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24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都是传递的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，因为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不存在两两不相同的元素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使得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都属于关系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116" y="4336464"/>
                <a:ext cx="9095762" cy="1540486"/>
              </a:xfrm>
              <a:prstGeom prst="rect">
                <a:avLst/>
              </a:prstGeom>
              <a:blipFill rotWithShape="1">
                <a:blip r:embed="rId4"/>
                <a:stretch>
                  <a:fillRect l="-7" t="-3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547847" y="2879164"/>
            <a:ext cx="1841241" cy="10004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学会积极使用逻辑知识分析关系性质的定义！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关系的性质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关系性质判断练习（一）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09126" y="1416329"/>
                <a:ext cx="9507155" cy="106182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b="1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 dirty="0">
                    <a:solidFill>
                      <a:schemeClr val="tx2">
                        <a:lumMod val="50000"/>
                      </a:schemeClr>
                    </a:solidFill>
                  </a:rPr>
                  <a:t>判断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 dirty="0">
                    <a:solidFill>
                      <a:schemeClr val="tx2">
                        <a:lumMod val="50000"/>
                      </a:schemeClr>
                    </a:solidFill>
                  </a:rPr>
                  <a:t>是否是自反的、反自反的、对称的、反对称的和传递的？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26" y="1416329"/>
                <a:ext cx="9507155" cy="1061829"/>
              </a:xfrm>
              <a:prstGeom prst="rect">
                <a:avLst/>
              </a:prstGeom>
              <a:blipFill rotWithShape="1">
                <a:blip r:embed="rId2"/>
                <a:stretch>
                  <a:fillRect l="-5" t="-26" r="4" b="-291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关系的性质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9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关系性质判断练习（一）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09126" y="1416329"/>
                <a:ext cx="9507155" cy="106182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判断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是否是自反的、反自反的、对称的、反对称的和传递的？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26" y="1416329"/>
                <a:ext cx="9507155" cy="1061829"/>
              </a:xfrm>
              <a:prstGeom prst="rect">
                <a:avLst/>
              </a:prstGeom>
              <a:blipFill rotWithShape="1">
                <a:blip r:embed="rId2"/>
                <a:stretch>
                  <a:fillRect l="-5" t="-26" r="4" b="-291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166217" y="2887770"/>
                <a:ext cx="9444770" cy="255454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不是自反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的，因为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是反自反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的，因为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不是对称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的，因为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，但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是反对称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的，因为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都不同时为真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不是传递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的，因为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altLang="zh-CN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altLang="zh-CN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但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zh-CN" altLang="en-US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217" y="2887770"/>
                <a:ext cx="9444770" cy="2554545"/>
              </a:xfrm>
              <a:prstGeom prst="rect">
                <a:avLst/>
              </a:prstGeom>
              <a:blipFill rotWithShape="1">
                <a:blip r:embed="rId3"/>
                <a:stretch>
                  <a:fillRect l="-4" t="-17" r="1" b="-11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7608295" y="2669845"/>
                <a:ext cx="3594750" cy="16805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600"/>
                  </a:spcBef>
                </a:pPr>
                <a:r>
                  <a:rPr lang="zh-CN" altLang="en-US" sz="2000" b="1" dirty="0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关系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 dirty="0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不具有某个性质都通过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+mn-ea"/>
                  </a:rPr>
                  <a:t>存在量词</a:t>
                </a:r>
                <a:r>
                  <a:rPr lang="zh-CN" altLang="en-US" sz="2000" b="1" dirty="0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公式描述</a:t>
                </a: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要说明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不具有某个性质要</a:t>
                </a:r>
                <a:r>
                  <a:rPr lang="zh-CN" altLang="en-US" sz="2000" b="1" dirty="0">
                    <a:solidFill>
                      <a:srgbClr val="C00000"/>
                    </a:solidFill>
                  </a:rPr>
                  <a:t>给出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 dirty="0">
                    <a:solidFill>
                      <a:srgbClr val="C00000"/>
                    </a:solidFill>
                  </a:rPr>
                  <a:t>的具体元素</a:t>
                </a:r>
                <a:r>
                  <a:rPr lang="zh-CN" altLang="en-US" sz="2000" b="1" dirty="0">
                    <a:solidFill>
                      <a:schemeClr val="accent2">
                        <a:lumMod val="50000"/>
                      </a:schemeClr>
                    </a:solidFill>
                  </a:rPr>
                  <a:t>说明原因</a:t>
                </a: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295" y="2669845"/>
                <a:ext cx="3594750" cy="1680525"/>
              </a:xfrm>
              <a:prstGeom prst="rect">
                <a:avLst/>
              </a:prstGeom>
              <a:blipFill rotWithShape="1">
                <a:blip r:embed="rId4"/>
                <a:stretch>
                  <a:fillRect l="-10" t="-18" r="10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166217" y="5582696"/>
                <a:ext cx="9601310" cy="40011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说明关系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具有某个性质，似乎只能是重复性质的定义，有没有更有说服力的做法？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217" y="5582696"/>
                <a:ext cx="9601310" cy="400110"/>
              </a:xfrm>
              <a:prstGeom prst="rect">
                <a:avLst/>
              </a:prstGeom>
              <a:blipFill rotWithShape="1">
                <a:blip r:embed="rId5"/>
                <a:stretch>
                  <a:fillRect l="-4" t="-103" r="5" b="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关系的性质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10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关系性质判断练习（二）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09126" y="1416329"/>
                <a:ext cx="10546546" cy="106182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m:rPr>
                        <m:lit/>
                      </m:rP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m:rPr>
                        <m:lit/>
                      </m:rP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da-DK" altLang="zh-CN" sz="2400" b="1" i="0">
                  <a:solidFill>
                    <a:srgbClr val="002060"/>
                  </a:solidFill>
                  <a:latin typeface="+mj-lt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判断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是否是自反的、反自反的、对称的、反对称的和传递的？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26" y="1416329"/>
                <a:ext cx="10546546" cy="1061829"/>
              </a:xfrm>
              <a:prstGeom prst="rect">
                <a:avLst/>
              </a:prstGeom>
              <a:blipFill rotWithShape="1">
                <a:blip r:embed="rId2"/>
                <a:stretch>
                  <a:fillRect l="-4" t="-26" r="3" b="-291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关系的性质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11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关系性质判断练习（二）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09126" y="1416329"/>
                <a:ext cx="10546546" cy="106182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m:rPr>
                        <m:lit/>
                      </m:rP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m:rPr>
                        <m:lit/>
                      </m:rP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da-DK" altLang="zh-CN" sz="2400" b="1" i="0">
                  <a:solidFill>
                    <a:srgbClr val="002060"/>
                  </a:solidFill>
                  <a:latin typeface="+mj-lt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判断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是否是自反的、反自反的、对称的、反对称的和传递的？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26" y="1416329"/>
                <a:ext cx="10546546" cy="1061829"/>
              </a:xfrm>
              <a:prstGeom prst="rect">
                <a:avLst/>
              </a:prstGeom>
              <a:blipFill rotWithShape="1">
                <a:blip r:embed="rId2"/>
                <a:stretch>
                  <a:fillRect l="-4" t="-26" r="3" b="-291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709126" y="2887126"/>
                <a:ext cx="10705989" cy="255454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不是自反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的，因为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不是反自反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的，因为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不是对称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的，因为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𝟒</m:t>
                        </m:r>
                      </m:e>
                    </m:d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zh-CN" altLang="en-US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，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但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是反对称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的，因为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∀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，当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≠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时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</m:t>
                        </m:r>
                      </m:e>
                    </m:d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</m:t>
                        </m:r>
                      </m:e>
                    </m:d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不同时为真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不是传递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的，因为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𝟒</m:t>
                        </m:r>
                      </m:e>
                    </m:d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𝟒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e>
                    </m:d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但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e>
                    </m:d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∉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endParaRPr lang="zh-CN" altLang="en-US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26" y="2887126"/>
                <a:ext cx="10705989" cy="2554545"/>
              </a:xfrm>
              <a:prstGeom prst="rect">
                <a:avLst/>
              </a:prstGeom>
              <a:blipFill rotWithShape="1">
                <a:blip r:embed="rId3"/>
                <a:stretch>
                  <a:fillRect l="-4" t="-16" r="3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关系的性质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关系性质判断练习（三）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09126" y="1185032"/>
                <a:ext cx="10125527" cy="143116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定义整数集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上关系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：对任意整数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ℤ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判断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是否是自反的、反自反的、对称的、反对称的和传递的？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26" y="1185032"/>
                <a:ext cx="10125527" cy="1431161"/>
              </a:xfrm>
              <a:prstGeom prst="rect">
                <a:avLst/>
              </a:prstGeom>
              <a:blipFill rotWithShape="1">
                <a:blip r:embed="rId2"/>
                <a:stretch>
                  <a:fillRect l="-5" t="-9" r="3" b="-213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关系的性质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关系性质判断练习（三）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09126" y="1185032"/>
                <a:ext cx="10125527" cy="143116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定义整数集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上关系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：对任意整数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ℤ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判断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是否是自反的、反自反的、对称的、反对称的和传递的？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26" y="1185032"/>
                <a:ext cx="10125527" cy="1431161"/>
              </a:xfrm>
              <a:prstGeom prst="rect">
                <a:avLst/>
              </a:prstGeom>
              <a:blipFill rotWithShape="1">
                <a:blip r:embed="rId2"/>
                <a:stretch>
                  <a:fillRect l="-5" t="-9" r="3" b="-213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709126" y="2766131"/>
                <a:ext cx="10789947" cy="343626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是自反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的，因为对任意整数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，都有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，也即有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不是反自反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的，因为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𝟎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𝟎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𝟎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&lt;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𝟎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不是对称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的，因为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𝟎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𝟎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&lt;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，但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𝟎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∉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≮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𝟎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是反对称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的，因为对任意整数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，则有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都是整数，因此必有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是传递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的，因为对任意整数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𝒄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，则有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，显然若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则由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，而若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，则由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&lt; 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，从而再由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，因此这时总有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𝒄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26" y="2766131"/>
                <a:ext cx="10789947" cy="3436262"/>
              </a:xfrm>
              <a:prstGeom prst="rect">
                <a:avLst/>
              </a:prstGeom>
              <a:blipFill rotWithShape="1">
                <a:blip r:embed="rId3"/>
                <a:stretch>
                  <a:fillRect l="-4" t="-2" r="-796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8943605" y="2766131"/>
            <a:ext cx="2539269" cy="10004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对于性质概括法定义的关系，可利用其定义证明它具有某个性质！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关系的性质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关系性质的性质概括法定义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548202" y="1108567"/>
                <a:ext cx="5716555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给定非空集合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上的关系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02" y="1108567"/>
                <a:ext cx="5716555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3" t="-107" r="8" b="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/>
            </p:nvGraphicFramePr>
            <p:xfrm>
              <a:off x="1133680" y="1949826"/>
              <a:ext cx="9924638" cy="409905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54373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758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10501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48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altLang="en-US" sz="2800">
                              <a:solidFill>
                                <a:schemeClr val="bg1"/>
                              </a:solidFill>
                            </a:rPr>
                            <a:t>性质</a:t>
                          </a: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altLang="en-US" sz="2800"/>
                            <a:t>元素考察法定义</a:t>
                          </a:r>
                        </a:p>
                      </a:txBody>
                      <a:tcPr marL="0" marR="0" marT="0" marB="0" anchor="ctr"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altLang="en-US" sz="2800"/>
                            <a:t>性质概括法定义</a:t>
                          </a:r>
                        </a:p>
                      </a:txBody>
                      <a:tcPr marL="0" marR="0" marT="0" marB="0" anchor="ctr"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002060"/>
                              </a:solidFill>
                              <a:latin typeface="+mn-ea"/>
                              <a:ea typeface="+mn-ea"/>
                            </a:rPr>
                            <a:t>自反性</a:t>
                          </a:r>
                          <a:endParaRPr lang="en-US" altLang="zh-CN" sz="2400" b="1" i="1">
                            <a:solidFill>
                              <a:srgbClr val="002060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d>
                                  <m:dPr>
                                    <m:ctrlPr>
                                      <a:rPr lang="en-US" altLang="zh-CN" sz="2000" b="1" i="1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200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marL="0" marR="0" marT="36000" marB="0"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𝚫</m:t>
                                    </m:r>
                                  </m:e>
                                  <m:sub>
                                    <m:r>
                                      <a:rPr lang="en-US" altLang="zh-CN" sz="3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  <m:r>
                                  <a:rPr lang="en-US" altLang="zh-CN" sz="3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⊆</m:t>
                                </m:r>
                                <m:r>
                                  <a:rPr lang="en-US" altLang="zh-CN" sz="3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oMath>
                            </m:oMathPara>
                          </a14:m>
                          <a:endParaRPr lang="zh-CN" altLang="en-US" sz="32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36000" marR="0" marT="0" marB="0" anchor="ctr">
                        <a:solidFill>
                          <a:schemeClr val="accent4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002060"/>
                              </a:solidFill>
                              <a:latin typeface="+mn-ea"/>
                              <a:ea typeface="+mn-ea"/>
                            </a:rPr>
                            <a:t>反自反性</a:t>
                          </a:r>
                          <a:endParaRPr lang="en-US" altLang="zh-CN" sz="2400" b="1" i="1">
                            <a:solidFill>
                              <a:srgbClr val="002060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d>
                                  <m:dPr>
                                    <m:ctrlP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∉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200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marL="0" marR="0" marT="36000" marB="0"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altLang="zh-CN" sz="3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sSub>
                                  <m:sSubPr>
                                    <m:ctrlPr>
                                      <a:rPr lang="en-US" altLang="zh-CN" sz="3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𝚫</m:t>
                                    </m:r>
                                  </m:e>
                                  <m:sub>
                                    <m:r>
                                      <a:rPr lang="en-US" altLang="zh-CN" sz="3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  <m:r>
                                  <a:rPr lang="en-US" altLang="zh-CN" sz="3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3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zh-CN" altLang="en-US" sz="3200" b="1" kern="1200">
                            <a:solidFill>
                              <a:srgbClr val="C00000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+mn-cs"/>
                          </a:endParaRPr>
                        </a:p>
                      </a:txBody>
                      <a:tcPr marL="36000" marR="0" marT="0" marB="0" anchor="ctr">
                        <a:solidFill>
                          <a:schemeClr val="accent4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1106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002060"/>
                              </a:solidFill>
                              <a:latin typeface="+mn-ea"/>
                              <a:ea typeface="+mn-ea"/>
                            </a:rPr>
                            <a:t>对称性</a:t>
                          </a:r>
                          <a:endParaRPr lang="en-US" altLang="zh-CN" sz="2400" b="1" i="1">
                            <a:solidFill>
                              <a:srgbClr val="002060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d>
                                  <m:dPr>
                                    <m:ctrlPr>
                                      <a:rPr lang="en-US" altLang="zh-CN" sz="2000" b="1" i="1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CN" sz="2000" b="1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marL="0" marR="0" marT="36000" marB="0"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altLang="zh-CN" sz="3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altLang="zh-CN" sz="3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lang="en-US" altLang="zh-CN" sz="3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3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3200" b="1" kern="1200">
                            <a:solidFill>
                              <a:srgbClr val="C00000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  <a:cs typeface="+mn-cs"/>
                          </a:endParaRPr>
                        </a:p>
                      </a:txBody>
                      <a:tcPr marL="36000" marR="0" marT="0" marB="0" anchor="ctr">
                        <a:solidFill>
                          <a:schemeClr val="accent4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9598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002060"/>
                              </a:solidFill>
                              <a:latin typeface="+mn-ea"/>
                              <a:ea typeface="+mn-ea"/>
                            </a:rPr>
                            <a:t>反对称性</a:t>
                          </a:r>
                          <a:endParaRPr lang="en-US" altLang="zh-CN" sz="2400" b="1" i="1">
                            <a:solidFill>
                              <a:srgbClr val="002060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d>
                                  <m:dPr>
                                    <m:ctrlPr>
                                      <a:rPr lang="en-US" altLang="zh-CN" sz="2000" b="1" i="1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∧</m:t>
                                    </m:r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d>
                                      <m:dPr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= 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zh-CN" altLang="en-US" sz="200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marL="0" marR="0" marT="36000" marB="0"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altLang="zh-CN" sz="3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sSup>
                                  <m:sSupPr>
                                    <m:ctrlPr>
                                      <a:rPr lang="en-US" altLang="zh-CN" sz="3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p>
                                    <m:r>
                                      <a:rPr lang="en-US" altLang="zh-CN" sz="3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3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  <m:r>
                                  <a:rPr lang="en-US" altLang="zh-CN" sz="3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⊆</m:t>
                                </m:r>
                                <m:sSub>
                                  <m:sSubPr>
                                    <m:ctrlPr>
                                      <a:rPr lang="en-US" altLang="zh-CN" sz="3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1" i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𝚫</m:t>
                                    </m:r>
                                  </m:e>
                                  <m:sub>
                                    <m:r>
                                      <a:rPr lang="en-US" altLang="zh-CN" sz="32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320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marL="36000" marR="0" marT="0" marB="0" anchor="ctr">
                        <a:solidFill>
                          <a:schemeClr val="accent4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48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002060"/>
                              </a:solidFill>
                              <a:latin typeface="+mn-ea"/>
                              <a:ea typeface="+mn-ea"/>
                            </a:rPr>
                            <a:t>传递性</a:t>
                          </a:r>
                          <a:endParaRPr lang="en-US" altLang="zh-CN" sz="2400" b="1" i="1">
                            <a:solidFill>
                              <a:srgbClr val="002060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d>
                                  <m:dPr>
                                    <m:ctrlPr>
                                      <a:rPr lang="en-US" altLang="zh-CN" sz="2000" b="1" i="1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∧</m:t>
                                    </m:r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altLang="zh-CN" sz="2000" b="1" i="1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b="1" i="1" smtClean="0">
                                            <a:solidFill>
                                              <a:schemeClr val="tx2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</m:d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zh-CN" sz="2000" b="1" i="1" smtClean="0">
                                        <a:solidFill>
                                          <a:schemeClr val="tx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2000">
                            <a:solidFill>
                              <a:schemeClr val="tx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marL="0" marR="0" marT="36000" marB="0"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altLang="zh-CN" sz="3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  <m:r>
                                  <a:rPr lang="en-US" altLang="zh-CN" sz="3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altLang="zh-CN" sz="3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⊆</m:t>
                                </m:r>
                                <m:r>
                                  <a:rPr lang="en-US" altLang="zh-CN" sz="3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marL="36000" marR="0" marT="0" marB="0" anchor="ctr">
                        <a:solidFill>
                          <a:schemeClr val="accent4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/>
            </p:nvGraphicFramePr>
            <p:xfrm>
              <a:off x="1133680" y="1949826"/>
              <a:ext cx="9924638" cy="409905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543735"/>
                    <a:gridCol w="5275890"/>
                    <a:gridCol w="3105013"/>
                  </a:tblGrid>
                  <a:tr h="648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altLang="en-US" sz="2800">
                              <a:solidFill>
                                <a:schemeClr val="bg1"/>
                              </a:solidFill>
                            </a:rPr>
                            <a:t>性质</a:t>
                          </a:r>
                          <a:endParaRPr lang="zh-CN" altLang="en-US" sz="28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altLang="en-US" sz="2800"/>
                            <a:t>元素考察法定义</a:t>
                          </a:r>
                          <a:endParaRPr lang="zh-CN" altLang="en-US" sz="2800"/>
                        </a:p>
                      </a:txBody>
                      <a:tcPr marL="0" marR="0" marT="0" marB="0" anchor="ctr"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zh-CN" altLang="en-US" sz="2800"/>
                            <a:t>性质概括法定义</a:t>
                          </a:r>
                          <a:endParaRPr lang="zh-CN" altLang="en-US" sz="2800"/>
                        </a:p>
                      </a:txBody>
                      <a:tcPr marL="0" marR="0" marT="0" marB="0" anchor="ctr"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</a:tr>
                  <a:tr h="64833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002060"/>
                              </a:solidFill>
                              <a:latin typeface="+mn-ea"/>
                              <a:ea typeface="+mn-ea"/>
                            </a:rPr>
                            <a:t>自反性</a:t>
                          </a:r>
                          <a:endParaRPr lang="en-US" altLang="zh-CN" sz="2400" b="1" i="1">
                            <a:solidFill>
                              <a:srgbClr val="002060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36000" marB="0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000" marR="0" marT="0" marB="0" anchor="ctr">
                        <a:blipFill>
                          <a:blip r:embed="rId3"/>
                        </a:blipFill>
                      </a:tcPr>
                    </a:tc>
                  </a:tr>
                  <a:tr h="6477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002060"/>
                              </a:solidFill>
                              <a:latin typeface="+mn-ea"/>
                              <a:ea typeface="+mn-ea"/>
                            </a:rPr>
                            <a:t>反自反性</a:t>
                          </a:r>
                          <a:endParaRPr lang="en-US" altLang="zh-CN" sz="2400" b="1" i="1">
                            <a:solidFill>
                              <a:srgbClr val="002060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36000" marB="0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000" marR="0" marT="0" marB="0" anchor="ctr">
                        <a:blipFill>
                          <a:blip r:embed="rId3"/>
                        </a:blipFill>
                      </a:tcPr>
                    </a:tc>
                  </a:tr>
                  <a:tr h="7112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002060"/>
                              </a:solidFill>
                              <a:latin typeface="+mn-ea"/>
                              <a:ea typeface="+mn-ea"/>
                            </a:rPr>
                            <a:t>对称性</a:t>
                          </a:r>
                          <a:endParaRPr lang="en-US" altLang="zh-CN" sz="2400" b="1" i="1">
                            <a:solidFill>
                              <a:srgbClr val="002060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36000" marB="0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000" marR="0" marT="0" marB="0" anchor="ctr">
                        <a:blipFill>
                          <a:blip r:embed="rId3"/>
                        </a:blipFill>
                      </a:tcPr>
                    </a:tc>
                  </a:tr>
                  <a:tr h="79629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002060"/>
                              </a:solidFill>
                              <a:latin typeface="+mn-ea"/>
                              <a:ea typeface="+mn-ea"/>
                            </a:rPr>
                            <a:t>反对称性</a:t>
                          </a:r>
                          <a:endParaRPr lang="en-US" altLang="zh-CN" sz="2400" b="1" i="1">
                            <a:solidFill>
                              <a:srgbClr val="002060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36000" marB="0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000" marR="0" marT="0" marB="0" anchor="ctr">
                        <a:blipFill>
                          <a:blip r:embed="rId3"/>
                        </a:blipFill>
                      </a:tcPr>
                    </a:tc>
                  </a:tr>
                  <a:tr h="6477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002060"/>
                              </a:solidFill>
                              <a:latin typeface="+mn-ea"/>
                              <a:ea typeface="+mn-ea"/>
                            </a:rPr>
                            <a:t>传递性</a:t>
                          </a:r>
                          <a:endParaRPr lang="en-US" altLang="zh-CN" sz="2400" b="1" i="1">
                            <a:solidFill>
                              <a:srgbClr val="002060"/>
                            </a:solidFill>
                            <a:latin typeface="+mn-ea"/>
                            <a:ea typeface="+mn-ea"/>
                          </a:endParaRPr>
                        </a:p>
                      </a:txBody>
                      <a:tcPr marL="0" marR="0" marT="0" marB="0"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36000" marB="0" anchor="ctr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36000" marR="0" marT="0" marB="0" anchor="ctr"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文本框 2"/>
          <p:cNvSpPr txBox="1"/>
          <p:nvPr/>
        </p:nvSpPr>
        <p:spPr>
          <a:xfrm>
            <a:off x="8025669" y="1108567"/>
            <a:ext cx="3618129" cy="6926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要能证明关系性质元素考察法定义与性质概括法定义之间的等价性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关系的性质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关系性质判断练习（四）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09126" y="1416329"/>
                <a:ext cx="10546546" cy="106182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，关系</a:t>
                </a:r>
                <a14:m>
                  <m:oMath xmlns:m="http://schemas.openxmlformats.org/officeDocument/2006/math">
                    <m: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da-DK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da-DK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da-DK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da-DK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da-DK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da-DK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da-DK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m:rPr>
                        <m:lit/>
                      </m:rPr>
                      <a:rPr lang="da-DK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da-DK" altLang="zh-CN" sz="2400" b="1" i="0">
                  <a:solidFill>
                    <a:srgbClr val="002060"/>
                  </a:solidFill>
                  <a:latin typeface="+mj-lt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判断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是否是自反的、反自反的、对称的、反对称的和传递的？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26" y="1416329"/>
                <a:ext cx="10546546" cy="1061829"/>
              </a:xfrm>
              <a:prstGeom prst="rect">
                <a:avLst/>
              </a:prstGeom>
              <a:blipFill rotWithShape="1">
                <a:blip r:embed="rId2"/>
                <a:stretch>
                  <a:fillRect l="-4" t="-26" r="3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关系的性质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关系性质判断练习（四）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09126" y="1416329"/>
                <a:ext cx="10546546" cy="106182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，关系</a:t>
                </a:r>
                <a14:m>
                  <m:oMath xmlns:m="http://schemas.openxmlformats.org/officeDocument/2006/math">
                    <m: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da-DK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da-DK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da-DK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da-DK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da-DK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da-DK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da-DK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da-DK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m:rPr>
                        <m:lit/>
                      </m:rPr>
                      <a:rPr lang="da-DK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da-DK" altLang="zh-CN" sz="2400" b="1" i="0">
                  <a:solidFill>
                    <a:srgbClr val="002060"/>
                  </a:solidFill>
                  <a:latin typeface="+mj-lt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判断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是否是自反的、反自反的、对称的、反对称的和传递的？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26" y="1416329"/>
                <a:ext cx="10546546" cy="1061829"/>
              </a:xfrm>
              <a:prstGeom prst="rect">
                <a:avLst/>
              </a:prstGeom>
              <a:blipFill rotWithShape="1">
                <a:blip r:embed="rId2"/>
                <a:stretch>
                  <a:fillRect l="-4" t="-26" r="3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149881" y="2878790"/>
                <a:ext cx="7429858" cy="256288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不是自反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的，因为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∉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是反自反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的，因为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∩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𝚫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sub>
                    </m:sSub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 ∅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不是对称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的，因为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</m:d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，但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e>
                    </m:d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∉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是反对称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的，因为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∩</m:t>
                    </m:r>
                    <m:sSup>
                      <m:sSup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</m:e>
                      <m:sup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p>
                    </m:sSup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=∅⊆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𝚫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sub>
                    </m:sSub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是传递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的，因为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∘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e>
                    </m:d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𝟒</m:t>
                        </m:r>
                      </m:e>
                    </m:d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24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𝟒</m:t>
                        </m:r>
                      </m:e>
                    </m:d>
                    <m:r>
                      <m:rPr>
                        <m:lit/>
                      </m:rP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⊆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endParaRPr lang="zh-CN" altLang="en-US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881" y="2878790"/>
                <a:ext cx="7429858" cy="2562881"/>
              </a:xfrm>
              <a:prstGeom prst="rect">
                <a:avLst/>
              </a:prstGeom>
              <a:blipFill rotWithShape="1">
                <a:blip r:embed="rId3"/>
                <a:stretch>
                  <a:fillRect l="-7" t="-13" r="3" b="-120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7565180" y="2700234"/>
                <a:ext cx="3690492" cy="150053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800"/>
                  </a:lnSpc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关系性质的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性质概括法定义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给出判断一个关系有某个性质的更好做法</a:t>
                </a:r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8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例如，可通过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计算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的子集说明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是传递的等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5180" y="2700234"/>
                <a:ext cx="3690492" cy="1500539"/>
              </a:xfrm>
              <a:prstGeom prst="rect">
                <a:avLst/>
              </a:prstGeom>
              <a:blipFill rotWithShape="1">
                <a:blip r:embed="rId4"/>
                <a:stretch>
                  <a:fillRect l="-12" t="-14" r="8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关系的性质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关系性质判断练习（五）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880162" y="1238499"/>
                <a:ext cx="9421637" cy="121571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8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定义整数集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上关系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：对任意整数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∣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18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具有性质                    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(1)                  (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多选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)</a:t>
                </a:r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62" y="1238499"/>
                <a:ext cx="9421637" cy="1215717"/>
              </a:xfrm>
              <a:prstGeom prst="rect">
                <a:avLst/>
              </a:prstGeom>
              <a:blipFill rotWithShape="1">
                <a:blip r:embed="rId2"/>
                <a:stretch>
                  <a:fillRect l="-1" t="-20" r="2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880163" y="3710200"/>
                <a:ext cx="9421637" cy="121571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8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𝟒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𝟒</m:t>
                        </m:r>
                      </m:e>
                    </m:d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18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具有性质                     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(1)                       (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多选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)</a:t>
                </a:r>
                <a:endParaRPr lang="zh-CN" altLang="en-US" sz="24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63" y="3710200"/>
                <a:ext cx="9421637" cy="1215717"/>
              </a:xfrm>
              <a:prstGeom prst="rect">
                <a:avLst/>
              </a:prstGeom>
              <a:blipFill rotWithShape="1">
                <a:blip r:embed="rId3"/>
                <a:stretch>
                  <a:fillRect l="-1" t="-44" r="2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连接符 11"/>
          <p:cNvCxnSpPr/>
          <p:nvPr/>
        </p:nvCxnSpPr>
        <p:spPr>
          <a:xfrm>
            <a:off x="3381306" y="2427433"/>
            <a:ext cx="3460247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3381306" y="4869122"/>
            <a:ext cx="4085197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880162" y="5762736"/>
          <a:ext cx="923683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73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A.  </a:t>
                      </a:r>
                      <a:r>
                        <a:rPr lang="zh-CN" altLang="en-US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自反性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B.  </a:t>
                      </a:r>
                      <a:r>
                        <a:rPr lang="zh-CN" altLang="en-US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反自反性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C.  </a:t>
                      </a:r>
                      <a:r>
                        <a:rPr lang="zh-CN" altLang="en-US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对称性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D.  </a:t>
                      </a:r>
                      <a:r>
                        <a:rPr lang="zh-CN" altLang="en-US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反对称性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E.  </a:t>
                      </a:r>
                      <a:r>
                        <a:rPr lang="zh-CN" altLang="en-US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传递性</a:t>
                      </a:r>
                      <a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</a:t>
                      </a:r>
                      <a:endPara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7039367" y="2851375"/>
            <a:ext cx="326243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</a:rPr>
              <a:t>使用下面选项字母填空</a:t>
            </a:r>
            <a:endParaRPr lang="zh-CN" altLang="en-US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关系的性质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关系性质判断练习（五）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880162" y="1238499"/>
                <a:ext cx="9421637" cy="121571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8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定义整数集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上关系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：对任意整数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∣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18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具有性质 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自反性、对称性、传递性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62" y="1238499"/>
                <a:ext cx="9421637" cy="1215717"/>
              </a:xfrm>
              <a:prstGeom prst="rect">
                <a:avLst/>
              </a:prstGeom>
              <a:blipFill rotWithShape="1">
                <a:blip r:embed="rId2"/>
                <a:stretch>
                  <a:fillRect l="-1" t="-20" r="2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880163" y="3710200"/>
                <a:ext cx="9421637" cy="121571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8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𝟒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𝟒</m:t>
                        </m:r>
                      </m:e>
                    </m:d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18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具有性质 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反自反性、反对称性、传递性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63" y="3710200"/>
                <a:ext cx="9421637" cy="1215717"/>
              </a:xfrm>
              <a:prstGeom prst="rect">
                <a:avLst/>
              </a:prstGeom>
              <a:blipFill rotWithShape="1">
                <a:blip r:embed="rId3"/>
                <a:stretch>
                  <a:fillRect l="-1" t="-44" r="2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连接符 11"/>
          <p:cNvCxnSpPr/>
          <p:nvPr/>
        </p:nvCxnSpPr>
        <p:spPr>
          <a:xfrm>
            <a:off x="3381306" y="2427433"/>
            <a:ext cx="3460247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3381306" y="4869122"/>
            <a:ext cx="4085197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880162" y="5762736"/>
          <a:ext cx="923683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7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73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A.  </a:t>
                      </a:r>
                      <a:r>
                        <a:rPr lang="zh-CN" altLang="en-US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自反性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B.  </a:t>
                      </a:r>
                      <a:r>
                        <a:rPr lang="zh-CN" altLang="en-US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反自反性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C.  </a:t>
                      </a:r>
                      <a:r>
                        <a:rPr lang="zh-CN" altLang="en-US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对称性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D.  </a:t>
                      </a:r>
                      <a:r>
                        <a:rPr lang="zh-CN" altLang="en-US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反对称性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E.  </a:t>
                      </a:r>
                      <a:r>
                        <a:rPr lang="zh-CN" altLang="en-US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传递性</a:t>
                      </a:r>
                      <a:r>
                        <a:rPr lang="en-US" altLang="zh-CN" sz="2000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</a:t>
                      </a:r>
                      <a:endParaRPr lang="zh-CN" altLang="en-US" sz="2000" b="1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880162" y="2584740"/>
                <a:ext cx="8604570" cy="73661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显然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具有自反性和对称性，对于传递性，对任意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，从而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62" y="2584740"/>
                <a:ext cx="8604570" cy="736612"/>
              </a:xfrm>
              <a:prstGeom prst="rect">
                <a:avLst/>
              </a:prstGeom>
              <a:blipFill rotWithShape="1">
                <a:blip r:embed="rId4"/>
                <a:stretch>
                  <a:fillRect l="-1" t="-39" r="4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880162" y="5029660"/>
                <a:ext cx="5909861" cy="40190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注意：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∅,  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p>
                      <m:sSup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=∅⊆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=∅⊆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。</a:t>
                </a:r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62" y="5029660"/>
                <a:ext cx="5909861" cy="401905"/>
              </a:xfrm>
              <a:prstGeom prst="rect">
                <a:avLst/>
              </a:prstGeom>
              <a:blipFill rotWithShape="1">
                <a:blip r:embed="rId5"/>
                <a:stretch>
                  <a:fillRect l="-1" t="-114" r="10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/>
          <p:cNvSpPr txBox="1"/>
          <p:nvPr/>
        </p:nvSpPr>
        <p:spPr>
          <a:xfrm>
            <a:off x="4322020" y="1783496"/>
            <a:ext cx="3289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C00000"/>
                </a:solidFill>
              </a:rPr>
              <a:t>A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556021" y="1784241"/>
            <a:ext cx="3289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C00000"/>
                </a:solidFill>
              </a:rPr>
              <a:t>C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790023" y="1783496"/>
            <a:ext cx="3289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C00000"/>
                </a:solidFill>
              </a:rPr>
              <a:t>E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650941" y="4227054"/>
            <a:ext cx="3289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C00000"/>
                </a:solidFill>
              </a:rPr>
              <a:t>B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154657" y="4227054"/>
            <a:ext cx="3289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C00000"/>
                </a:solidFill>
              </a:rPr>
              <a:t>D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395237" y="4227054"/>
            <a:ext cx="3289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C00000"/>
                </a:solidFill>
              </a:rPr>
              <a:t>E</a:t>
            </a:r>
            <a:endParaRPr lang="zh-CN" altLang="en-US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19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07232" y="1566198"/>
            <a:ext cx="4733731" cy="2746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3200" b="1">
                <a:solidFill>
                  <a:schemeClr val="bg2">
                    <a:lumMod val="9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关系的性质</a:t>
            </a:r>
            <a:endParaRPr lang="en-US" altLang="zh-CN" sz="3200" b="1">
              <a:solidFill>
                <a:schemeClr val="bg2">
                  <a:lumMod val="9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3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关系性质和关系运算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关系性质和关系运算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关系性质与关系运算之间的联系总结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260862" y="1115687"/>
            <a:ext cx="9670273" cy="13849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C00000"/>
                </a:solidFill>
              </a:rPr>
              <a:t>下表给出了关系运算与关系性质之间的联系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给出参与运算的关系都有列对应的性质，那么运算的结果关系是否也有列对应的性质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其中“是”代表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一定</a:t>
            </a: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有对应性质，而“</a:t>
            </a:r>
            <a:r>
              <a:rPr lang="zh-CN" altLang="en-US" sz="2000" b="1">
                <a:solidFill>
                  <a:srgbClr val="C00000"/>
                </a:solidFill>
              </a:rPr>
              <a:t>否</a:t>
            </a: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”代表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不一定</a:t>
            </a: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</a:rPr>
              <a:t>有对应性质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11"/>
              <p:cNvGraphicFramePr>
                <a:graphicFrameLocks noGrp="1"/>
              </p:cNvGraphicFramePr>
              <p:nvPr/>
            </p:nvGraphicFramePr>
            <p:xfrm>
              <a:off x="1737798" y="2660299"/>
              <a:ext cx="8716400" cy="271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9979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7095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156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630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7621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190691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3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/>
                            <a:t>关系运算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/>
                            <a:t>自反性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/>
                            <a:t>反自反性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/>
                            <a:t>对称性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/>
                            <a:t>反对称性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/>
                            <a:t>传递性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>
                              <a:solidFill>
                                <a:srgbClr val="002060"/>
                              </a:solidFill>
                            </a:rPr>
                            <a:t>关系逆运算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p>
                                  <m:r>
                                    <a:rPr lang="en-US" altLang="zh-CN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oMath>
                          </a14:m>
                          <a:endParaRPr lang="zh-CN" altLang="en-US" sz="2000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>
                              <a:solidFill>
                                <a:srgbClr val="002060"/>
                              </a:solidFill>
                            </a:rPr>
                            <a:t>集合交运算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>
                              <a:solidFill>
                                <a:srgbClr val="002060"/>
                              </a:solidFill>
                            </a:rPr>
                            <a:t>集合并运算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</a:rPr>
                            <a:t>否</a:t>
                          </a:r>
                          <a:endParaRPr lang="zh-CN" altLang="en-US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</a:rPr>
                            <a:t>否</a:t>
                          </a:r>
                          <a:endParaRPr lang="zh-CN" altLang="en-US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>
                              <a:solidFill>
                                <a:srgbClr val="002060"/>
                              </a:solidFill>
                            </a:rPr>
                            <a:t>集合差运算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</a:rPr>
                            <a:t>否</a:t>
                          </a:r>
                          <a:endParaRPr lang="zh-CN" alt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b="1">
                              <a:solidFill>
                                <a:srgbClr val="002060"/>
                              </a:solidFill>
                            </a:rPr>
                            <a:t>关系复合运算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5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</a:rPr>
                            <a:t>否</a:t>
                          </a:r>
                          <a:endParaRPr lang="zh-CN" alt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</a:rPr>
                            <a:t>否</a:t>
                          </a:r>
                          <a:endParaRPr lang="zh-CN" alt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</a:rPr>
                            <a:t>否</a:t>
                          </a:r>
                          <a:endParaRPr lang="zh-CN" alt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</a:rPr>
                            <a:t>否</a:t>
                          </a:r>
                          <a:endParaRPr lang="zh-CN" alt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11"/>
              <p:cNvGraphicFramePr>
                <a:graphicFrameLocks noGrp="1"/>
              </p:cNvGraphicFramePr>
              <p:nvPr/>
            </p:nvGraphicFramePr>
            <p:xfrm>
              <a:off x="1737798" y="2660299"/>
              <a:ext cx="8716400" cy="271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99798"/>
                    <a:gridCol w="1170958"/>
                    <a:gridCol w="1315684"/>
                    <a:gridCol w="1263056"/>
                    <a:gridCol w="1276213"/>
                    <a:gridCol w="1190691"/>
                  </a:tblGrid>
                  <a:tr h="43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/>
                            <a:t>关系运算</a:t>
                          </a:r>
                          <a:endParaRPr lang="zh-CN" altLang="en-US" sz="2000"/>
                        </a:p>
                      </a:txBody>
                      <a:tcPr anchor="ctr"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/>
                            <a:t>自反性</a:t>
                          </a:r>
                          <a:endParaRPr lang="zh-CN" altLang="en-US" sz="2000"/>
                        </a:p>
                      </a:txBody>
                      <a:tcPr anchor="ctr"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/>
                            <a:t>反自反性</a:t>
                          </a:r>
                          <a:endParaRPr lang="zh-CN" altLang="en-US" sz="2000"/>
                        </a:p>
                      </a:txBody>
                      <a:tcPr anchor="ctr"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/>
                            <a:t>对称性</a:t>
                          </a:r>
                          <a:endParaRPr lang="zh-CN" altLang="en-US" sz="2000"/>
                        </a:p>
                      </a:txBody>
                      <a:tcPr anchor="ctr"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/>
                            <a:t>反对称性</a:t>
                          </a:r>
                          <a:endParaRPr lang="zh-CN" altLang="en-US" sz="2000"/>
                        </a:p>
                      </a:txBody>
                      <a:tcPr anchor="ctr"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/>
                            <a:t>传递性</a:t>
                          </a:r>
                          <a:endParaRPr lang="zh-CN" altLang="en-US" sz="2000"/>
                        </a:p>
                      </a:txBody>
                      <a:tcPr anchor="ctr"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</a:rPr>
                            <a:t>否</a:t>
                          </a:r>
                          <a:endParaRPr lang="zh-CN" altLang="en-US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</a:rPr>
                            <a:t>否</a:t>
                          </a:r>
                          <a:endParaRPr lang="zh-CN" altLang="en-US" sz="24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</a:rPr>
                            <a:t>否</a:t>
                          </a:r>
                          <a:endParaRPr lang="zh-CN" alt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是</a:t>
                          </a:r>
                          <a:endParaRPr lang="zh-CN" alt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</a:rPr>
                            <a:t>否</a:t>
                          </a:r>
                          <a:endParaRPr lang="zh-CN" alt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</a:rPr>
                            <a:t>否</a:t>
                          </a:r>
                          <a:endParaRPr lang="zh-CN" alt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</a:rPr>
                            <a:t>否</a:t>
                          </a:r>
                          <a:endParaRPr lang="zh-CN" alt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>
                              <a:solidFill>
                                <a:srgbClr val="C00000"/>
                              </a:solidFill>
                            </a:rPr>
                            <a:t>否</a:t>
                          </a:r>
                          <a:endParaRPr lang="zh-CN" alt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2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3" name="文本框 12"/>
          <p:cNvSpPr txBox="1"/>
          <p:nvPr/>
        </p:nvSpPr>
        <p:spPr>
          <a:xfrm>
            <a:off x="1260862" y="5517801"/>
            <a:ext cx="8468617" cy="7848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对于每个“是”要能证明这一行对应的运算保持这一列对应的性质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对于每个“否”要能给出具体例子说明对应运算不保持这一列对应的性质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关系性质和关系运算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21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关系性质和关系运算证明举例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85478" y="1181032"/>
            <a:ext cx="4828559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</a:rPr>
              <a:t>关系并保持自反、反自反和对称性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5948727" y="1212948"/>
                <a:ext cx="4236500" cy="40011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下面总设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都是非空集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A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上的关系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727" y="1212948"/>
                <a:ext cx="4236500" cy="400110"/>
              </a:xfrm>
              <a:prstGeom prst="rect">
                <a:avLst/>
              </a:prstGeom>
              <a:blipFill rotWithShape="1">
                <a:blip r:embed="rId2"/>
                <a:stretch>
                  <a:fillRect l="-1" t="-24" r="11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585470" y="1972310"/>
                <a:ext cx="7008495" cy="96329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是自反的，则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也是自反的</a:t>
                </a:r>
              </a:p>
              <a:p>
                <a:pPr marL="342900" indent="-342900">
                  <a:lnSpc>
                    <a:spcPts val="3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是自反的，因此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，显然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zh-CN" altLang="en-US" sz="2000" b="1" i="1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70" y="1972310"/>
                <a:ext cx="7008495" cy="96329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585478" y="3122607"/>
                <a:ext cx="11374085" cy="137178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是反自反的，则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∪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也是反自反的</a:t>
                </a:r>
              </a:p>
              <a:p>
                <a:pPr marL="342900" indent="-342900">
                  <a:lnSpc>
                    <a:spcPts val="3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是反自反的，因此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，从而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𝚫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𝚫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是反自反的</a:t>
                </a: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78" y="3122607"/>
                <a:ext cx="11374085" cy="1371786"/>
              </a:xfrm>
              <a:prstGeom prst="rect">
                <a:avLst/>
              </a:prstGeom>
              <a:blipFill rotWithShape="1">
                <a:blip r:embed="rId4"/>
                <a:stretch>
                  <a:fillRect t="-23" r="5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585478" y="4708713"/>
                <a:ext cx="9683431" cy="137178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是对称的，则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∪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也是对称的</a:t>
                </a:r>
              </a:p>
              <a:p>
                <a:pPr marL="342900" indent="-342900">
                  <a:lnSpc>
                    <a:spcPts val="3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是对称的，因此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，从而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en-US" altLang="zh-CN" sz="20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d>
                      </m:e>
                      <m:sup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是对称的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78" y="4708713"/>
                <a:ext cx="9683431" cy="1371786"/>
              </a:xfrm>
              <a:prstGeom prst="rect">
                <a:avLst/>
              </a:prstGeom>
              <a:blipFill rotWithShape="1">
                <a:blip r:embed="rId5"/>
                <a:stretch>
                  <a:fillRect t="-14" r="3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8139696" y="1972518"/>
            <a:ext cx="3466826" cy="13466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300"/>
              </a:spcBef>
            </a:pPr>
            <a:r>
              <a:rPr lang="zh-CN" altLang="en-US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利用关系性质的性质概括法定义可给出简洁的证明</a:t>
            </a:r>
            <a:endParaRPr lang="en-US" altLang="zh-CN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lnSpc>
                <a:spcPts val="24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课后可自行尝试利用关系性质的元素考察法定义进行证明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关系性质和关系运算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关系性质和关系运算证明举例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85478" y="1181032"/>
            <a:ext cx="6663937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</a:rPr>
              <a:t>关系复合不保持反自反、对称、反对称和传递性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7370022" y="1211809"/>
                <a:ext cx="4236500" cy="40011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下面总设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都是非空集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A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上的关系</a:t>
                </a: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022" y="1211809"/>
                <a:ext cx="4236500" cy="400110"/>
              </a:xfrm>
              <a:prstGeom prst="rect">
                <a:avLst/>
              </a:prstGeom>
              <a:blipFill rotWithShape="1">
                <a:blip r:embed="rId2"/>
                <a:stretch>
                  <a:fillRect l="-5" t="-57" r="15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585478" y="1960054"/>
                <a:ext cx="6663937" cy="93576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都是反自反关系时，则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∘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不一定是反自反的</a:t>
                </a:r>
              </a:p>
              <a:p>
                <a:pPr marL="342900" indent="-342900">
                  <a:lnSpc>
                    <a:spcPts val="3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2000" b="1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78" y="1960054"/>
                <a:ext cx="6663937" cy="935769"/>
              </a:xfrm>
              <a:prstGeom prst="rect">
                <a:avLst/>
              </a:prstGeom>
              <a:blipFill rotWithShape="1">
                <a:blip r:embed="rId3"/>
                <a:stretch>
                  <a:fillRect t="-47" r="4" b="-378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585478" y="3053167"/>
                <a:ext cx="8183552" cy="93576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都是对称关系时，则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∘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不一定是对称的</a:t>
                </a:r>
              </a:p>
              <a:p>
                <a:pPr marL="342900" indent="-342900">
                  <a:lnSpc>
                    <a:spcPts val="3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⟩, ⟨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⟩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⟩, ⟨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⟩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⟩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2000" b="1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78" y="3053167"/>
                <a:ext cx="8183552" cy="935769"/>
              </a:xfrm>
              <a:prstGeom prst="rect">
                <a:avLst/>
              </a:prstGeom>
              <a:blipFill rotWithShape="1">
                <a:blip r:embed="rId4"/>
                <a:stretch>
                  <a:fillRect t="-9" r="4" b="-378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585478" y="4146280"/>
                <a:ext cx="8617728" cy="93576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都是反对称关系时，则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∘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不一定是反对称的</a:t>
                </a:r>
              </a:p>
              <a:p>
                <a:pPr marL="342900" indent="-342900">
                  <a:lnSpc>
                    <a:spcPts val="3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20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0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d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sz="20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0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e>
                    </m:d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sz="20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0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0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CN" sz="20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0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e>
                    </m:d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{⟨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⟩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⟩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2000" b="1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78" y="4146280"/>
                <a:ext cx="8617728" cy="935769"/>
              </a:xfrm>
              <a:prstGeom prst="rect">
                <a:avLst/>
              </a:prstGeom>
              <a:blipFill rotWithShape="1">
                <a:blip r:embed="rId5"/>
                <a:stretch>
                  <a:fillRect t="-39" r="2" b="-37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585478" y="5239393"/>
                <a:ext cx="9887362" cy="93576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都是传递关系时，则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∘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不一定是传递的</a:t>
                </a:r>
              </a:p>
              <a:p>
                <a:pPr marL="342900" indent="-342900">
                  <a:lnSpc>
                    <a:spcPts val="3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2000" b="1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78" y="5239393"/>
                <a:ext cx="9887362" cy="935769"/>
              </a:xfrm>
              <a:prstGeom prst="rect">
                <a:avLst/>
              </a:prstGeom>
              <a:blipFill rotWithShape="1">
                <a:blip r:embed="rId6"/>
                <a:stretch>
                  <a:fillRect t="-1" r="4" b="-378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8702153" y="3467444"/>
                <a:ext cx="3092950" cy="120032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在举反例说明某个命题不成立时，应该充分运用离散化的思维，尽可能地思考简单的集合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和简单的关系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2153" y="3467444"/>
                <a:ext cx="3092950" cy="1200329"/>
              </a:xfrm>
              <a:prstGeom prst="rect">
                <a:avLst/>
              </a:prstGeom>
              <a:blipFill rotWithShape="1">
                <a:blip r:embed="rId7"/>
                <a:stretch>
                  <a:fillRect l="-4" t="-29" r="20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7361250" y="2055797"/>
                <a:ext cx="4433853" cy="74892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400"/>
                  </a:spcBef>
                  <a:spcAft>
                    <a:spcPts val="400"/>
                  </a:spcAft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注意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逆序复合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的定义，即注意</a:t>
                </a:r>
                <a:endParaRPr lang="en-US" altLang="zh-CN" b="1" i="1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400"/>
                  </a:spcBef>
                  <a:spcAft>
                    <a:spcPts val="4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∣∃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250" y="2055797"/>
                <a:ext cx="4433853" cy="748923"/>
              </a:xfrm>
              <a:prstGeom prst="rect">
                <a:avLst/>
              </a:prstGeom>
              <a:blipFill rotWithShape="1">
                <a:blip r:embed="rId8"/>
                <a:stretch>
                  <a:fillRect l="-7" t="-40" r="14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关系性质和关系运算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关系性质和关系运算证明练习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80224" y="1210428"/>
                <a:ext cx="10591252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是非空集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上的关系，证明若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都是传递的，则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传递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关系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24" y="1210428"/>
                <a:ext cx="10591252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2" t="-26" r="2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80224" y="1898133"/>
                <a:ext cx="10591252" cy="323165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400" b="1">
                    <a:solidFill>
                      <a:srgbClr val="C00000"/>
                    </a:solidFill>
                  </a:rPr>
                  <a:t>【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证明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】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是传递的，从而 </a:t>
                </a:r>
                <a:r>
                  <a:rPr lang="en-US" altLang="zh-CN" sz="2000" b="1" i="0">
                    <a:solidFill>
                      <a:schemeClr val="accent2">
                        <a:lumMod val="50000"/>
                      </a:schemeClr>
                    </a:solidFill>
                    <a:latin typeface="+mj-lt"/>
                  </a:rPr>
                  <a:t>      </a:t>
                </a:r>
                <a:r>
                  <a:rPr lang="en-US" altLang="zh-CN" sz="2000" b="1" i="0">
                    <a:solidFill>
                      <a:srgbClr val="C00000"/>
                    </a:solidFill>
                    <a:latin typeface="+mn-ea"/>
                  </a:rPr>
                  <a:t>(1)</a:t>
                </a:r>
                <a:r>
                  <a:rPr lang="en-US" altLang="zh-CN" sz="2000" b="1" i="0">
                    <a:solidFill>
                      <a:schemeClr val="accent2">
                        <a:lumMod val="50000"/>
                      </a:schemeClr>
                    </a:solidFill>
                    <a:latin typeface="+mj-lt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    </a:t>
                </a:r>
                <a:r>
                  <a:rPr lang="en-US" altLang="zh-CN" sz="2000" b="1">
                    <a:solidFill>
                      <a:srgbClr val="C00000"/>
                    </a:solidFill>
                    <a:latin typeface="+mn-ea"/>
                  </a:rPr>
                  <a:t>(2)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</a:t>
                </a: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  </a:t>
                </a: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      </a:t>
                </a:r>
                <a:r>
                  <a:rPr lang="en-US" altLang="zh-CN" sz="2000" b="1">
                    <a:solidFill>
                      <a:srgbClr val="C00000"/>
                    </a:solidFill>
                    <a:latin typeface="+mn-ea"/>
                  </a:rPr>
                  <a:t>(3)  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      </a:t>
                </a:r>
                <a:r>
                  <a:rPr lang="en-US" altLang="zh-CN" sz="2000" b="1">
                    <a:solidFill>
                      <a:srgbClr val="C00000"/>
                    </a:solidFill>
                    <a:latin typeface="+mn-ea"/>
                  </a:rPr>
                  <a:t>(4)  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         </a:t>
                </a:r>
                <a:r>
                  <a:rPr lang="en-US" altLang="zh-CN" sz="2000" b="1">
                    <a:solidFill>
                      <a:srgbClr val="C00000"/>
                    </a:solidFill>
                    <a:latin typeface="+mn-ea"/>
                  </a:rPr>
                  <a:t>(5)    </a:t>
                </a:r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800100" lvl="1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上面公式中，第①个子集关系是因为                      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(6)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                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，第②个子集关系是因为            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(7)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         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，第③个子集关系是因为                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(8)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∩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𝑺</m:t>
                        </m:r>
                      </m:e>
                    </m:d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∘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∩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𝑺</m:t>
                        </m:r>
                      </m:e>
                    </m:d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⊆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∩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𝑺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∩</m:t>
                    </m:r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也是传递关系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24" y="1898133"/>
                <a:ext cx="10591252" cy="3231654"/>
              </a:xfrm>
              <a:prstGeom prst="rect">
                <a:avLst/>
              </a:prstGeom>
              <a:blipFill rotWithShape="1">
                <a:blip r:embed="rId3"/>
                <a:stretch>
                  <a:fillRect l="-2" t="-4" r="2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/>
          <p:cNvCxnSpPr/>
          <p:nvPr/>
        </p:nvCxnSpPr>
        <p:spPr>
          <a:xfrm>
            <a:off x="3302365" y="2743200"/>
            <a:ext cx="1217008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276987" y="2743200"/>
            <a:ext cx="1217008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3910869" y="3671854"/>
            <a:ext cx="1142452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336192" y="3679529"/>
            <a:ext cx="1084343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546702" y="4191547"/>
            <a:ext cx="2893407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915415" y="4587348"/>
            <a:ext cx="1729028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6493995" y="4553360"/>
            <a:ext cx="2459231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883216" y="3679529"/>
            <a:ext cx="1149031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表格 24"/>
              <p:cNvGraphicFramePr>
                <a:graphicFrameLocks noGrp="1"/>
              </p:cNvGraphicFramePr>
              <p:nvPr/>
            </p:nvGraphicFramePr>
            <p:xfrm>
              <a:off x="1576626" y="5334577"/>
              <a:ext cx="9038746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70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17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406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8804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2884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7488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427517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A.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B.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C.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D.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E.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oMath>
                          </a14:m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F.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oMath>
                          </a14:m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G.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oMath>
                          </a14:m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 gridSpan="3"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H. </a:t>
                          </a:r>
                          <a:r>
                            <a:rPr lang="zh-CN" altLang="en-US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关系交与关系复合的联系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I.</a:t>
                          </a:r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r>
                            <a:rPr lang="zh-CN" altLang="en-US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集合交的性质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J.</a:t>
                          </a:r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r>
                            <a:rPr lang="zh-CN" altLang="en-US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关系交保持子集关系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表格 24"/>
              <p:cNvGraphicFramePr>
                <a:graphicFrameLocks noGrp="1"/>
              </p:cNvGraphicFramePr>
              <p:nvPr/>
            </p:nvGraphicFramePr>
            <p:xfrm>
              <a:off x="1576626" y="5334577"/>
              <a:ext cx="9038746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7028"/>
                    <a:gridCol w="1111752"/>
                    <a:gridCol w="1440674"/>
                    <a:gridCol w="1388046"/>
                    <a:gridCol w="1328840"/>
                    <a:gridCol w="1374889"/>
                    <a:gridCol w="1427517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</a:tr>
                  <a:tr h="370840">
                    <a:tc gridSpan="3"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H. </a:t>
                          </a:r>
                          <a:r>
                            <a:rPr lang="zh-CN" altLang="en-US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关系交与关系复合的联系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hMerge="1"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hMerge="1"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I.</a:t>
                          </a:r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r>
                            <a:rPr lang="zh-CN" altLang="en-US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集合交的性质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hMerge="1"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J.</a:t>
                          </a:r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r>
                            <a:rPr lang="zh-CN" altLang="en-US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关系交保持子集关系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hMerge="1"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6" name="文本框 25"/>
          <p:cNvSpPr txBox="1"/>
          <p:nvPr/>
        </p:nvSpPr>
        <p:spPr>
          <a:xfrm>
            <a:off x="9045322" y="1898133"/>
            <a:ext cx="2026154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使用下面选项字母填空以补全证明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482095" y="2742275"/>
            <a:ext cx="32234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chemeClr val="accent6">
                    <a:lumMod val="50000"/>
                  </a:schemeClr>
                </a:solidFill>
              </a:rPr>
              <a:t>①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8722980" y="2731348"/>
            <a:ext cx="32234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chemeClr val="accent6">
                    <a:lumMod val="50000"/>
                  </a:schemeClr>
                </a:solidFill>
              </a:rPr>
              <a:t>②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6493995" y="3212556"/>
            <a:ext cx="32234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chemeClr val="accent6">
                    <a:lumMod val="50000"/>
                  </a:schemeClr>
                </a:solidFill>
              </a:rPr>
              <a:t>③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关系性质和关系运算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关系性质和关系运算证明练习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80224" y="1210428"/>
                <a:ext cx="10591252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是非空集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上的关系，证明若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都是传递的，则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传递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关系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24" y="1210428"/>
                <a:ext cx="10591252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2" t="-26" r="2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80224" y="1898133"/>
                <a:ext cx="10591252" cy="323165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400" b="1">
                    <a:solidFill>
                      <a:srgbClr val="C00000"/>
                    </a:solidFill>
                  </a:rPr>
                  <a:t>【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证明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】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是传递的，从而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0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</a:t>
                </a: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  </a:t>
                </a: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altLang="zh-CN" sz="2000" b="1">
                    <a:solidFill>
                      <a:srgbClr val="C00000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000" b="1">
                    <a:solidFill>
                      <a:srgbClr val="C00000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800100" lvl="1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上面公式中，第①个子集关系是因为  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关系交与关系复合的联系 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 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，第②个子集关系是因为  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集合交的性质 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，第③个子集关系是因为  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关系交保持子集关系</a:t>
                </a:r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∩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𝑺</m:t>
                        </m:r>
                      </m:e>
                    </m:d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∘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∩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𝑺</m:t>
                        </m:r>
                      </m:e>
                    </m:d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⊆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∩</m:t>
                        </m:r>
                        <m:r>
                          <a:rPr lang="en-US" altLang="zh-CN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𝑺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∩</m:t>
                    </m:r>
                    <m:r>
                      <a:rPr lang="en-US" altLang="zh-CN" sz="20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也是传递关系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24" y="1898133"/>
                <a:ext cx="10591252" cy="3231654"/>
              </a:xfrm>
              <a:prstGeom prst="rect">
                <a:avLst/>
              </a:prstGeom>
              <a:blipFill rotWithShape="1">
                <a:blip r:embed="rId3"/>
                <a:stretch>
                  <a:fillRect l="-2" t="-4" r="2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/>
          <p:cNvCxnSpPr/>
          <p:nvPr/>
        </p:nvCxnSpPr>
        <p:spPr>
          <a:xfrm>
            <a:off x="3302365" y="2743200"/>
            <a:ext cx="1217008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276987" y="2743200"/>
            <a:ext cx="1217008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3910869" y="3671854"/>
            <a:ext cx="1142452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336192" y="3679529"/>
            <a:ext cx="1084343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546702" y="4191547"/>
            <a:ext cx="2893407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915415" y="4587348"/>
            <a:ext cx="1729028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6493995" y="4553360"/>
            <a:ext cx="2459231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883216" y="3679529"/>
            <a:ext cx="840394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表格 24"/>
              <p:cNvGraphicFramePr>
                <a:graphicFrameLocks noGrp="1"/>
              </p:cNvGraphicFramePr>
              <p:nvPr/>
            </p:nvGraphicFramePr>
            <p:xfrm>
              <a:off x="1576626" y="5334577"/>
              <a:ext cx="9038746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70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117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4067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8804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2884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7488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427517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A.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B.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C.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D.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E.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oMath>
                          </a14:m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F.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oMath>
                          </a14:m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G.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oMath>
                          </a14:m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 gridSpan="3"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H. </a:t>
                          </a:r>
                          <a:r>
                            <a:rPr lang="zh-CN" altLang="en-US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关系交与关系复合的联系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I.</a:t>
                          </a:r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r>
                            <a:rPr lang="zh-CN" altLang="en-US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集合交的性质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J.</a:t>
                          </a:r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r>
                            <a:rPr lang="zh-CN" altLang="en-US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关系交保持子集关系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表格 24"/>
              <p:cNvGraphicFramePr>
                <a:graphicFrameLocks noGrp="1"/>
              </p:cNvGraphicFramePr>
              <p:nvPr/>
            </p:nvGraphicFramePr>
            <p:xfrm>
              <a:off x="1576626" y="5334577"/>
              <a:ext cx="9038746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7028"/>
                    <a:gridCol w="1111752"/>
                    <a:gridCol w="1440674"/>
                    <a:gridCol w="1388046"/>
                    <a:gridCol w="1328840"/>
                    <a:gridCol w="1374889"/>
                    <a:gridCol w="1427517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</a:tr>
                  <a:tr h="370840">
                    <a:tc gridSpan="3"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H. </a:t>
                          </a:r>
                          <a:r>
                            <a:rPr lang="zh-CN" altLang="en-US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关系交与关系复合的联系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hMerge="1"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hMerge="1"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I.</a:t>
                          </a:r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r>
                            <a:rPr lang="zh-CN" altLang="en-US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集合交的性质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hMerge="1"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J.</a:t>
                          </a:r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r>
                            <a:rPr lang="zh-CN" altLang="en-US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关系交保持子集关系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  <a:tc hMerge="1"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20000"/>
                            <a:lumOff val="80000"/>
                            <a:alpha val="25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6" name="文本框 25"/>
          <p:cNvSpPr txBox="1"/>
          <p:nvPr/>
        </p:nvSpPr>
        <p:spPr>
          <a:xfrm>
            <a:off x="9045322" y="1898133"/>
            <a:ext cx="2026154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使用下面选项字母填空以补全证明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269392" y="2261411"/>
            <a:ext cx="3289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C00000"/>
                </a:solidFill>
              </a:rPr>
              <a:t>D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256074" y="2255823"/>
            <a:ext cx="3289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C00000"/>
                </a:solidFill>
              </a:rPr>
              <a:t>E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789089" y="3181058"/>
            <a:ext cx="3289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C00000"/>
                </a:solidFill>
              </a:rPr>
              <a:t>D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165074" y="3179217"/>
            <a:ext cx="3289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C00000"/>
                </a:solidFill>
              </a:rPr>
              <a:t>E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670435" y="3179216"/>
            <a:ext cx="3289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C00000"/>
                </a:solidFill>
              </a:rPr>
              <a:t>C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319505" y="3615121"/>
            <a:ext cx="3289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C00000"/>
                </a:solidFill>
              </a:rPr>
              <a:t>H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581948" y="4499321"/>
            <a:ext cx="3289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C00000"/>
                </a:solidFill>
              </a:rPr>
              <a:t>I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880861" y="4499321"/>
            <a:ext cx="32892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b="1">
                <a:solidFill>
                  <a:srgbClr val="C00000"/>
                </a:solidFill>
              </a:rPr>
              <a:t>J</a:t>
            </a: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482095" y="2742275"/>
            <a:ext cx="32234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chemeClr val="accent6">
                    <a:lumMod val="50000"/>
                  </a:schemeClr>
                </a:solidFill>
              </a:rPr>
              <a:t>①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8722980" y="2731348"/>
            <a:ext cx="32234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chemeClr val="accent6">
                    <a:lumMod val="50000"/>
                  </a:schemeClr>
                </a:solidFill>
              </a:rPr>
              <a:t>②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6493995" y="3212556"/>
            <a:ext cx="32234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chemeClr val="accent6">
                    <a:lumMod val="50000"/>
                  </a:schemeClr>
                </a:solidFill>
              </a:rPr>
              <a:t>③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关系性质和关系运算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关系性质证明举例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715705" y="1281686"/>
                <a:ext cx="10125527" cy="195438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是非空集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上关系，定义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℘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𝑺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{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𝑿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𝒀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∈℘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𝑨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×℘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𝑨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∣∀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𝒙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∈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𝑿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∃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𝒚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∈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𝒀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𝒙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𝑹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𝒚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}</m:t>
                      </m:r>
                    </m:oMath>
                  </m:oMathPara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即对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的任意子集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2400" b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𝒀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4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400" b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2400" b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400" b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</m:oMath>
                </a14:m>
                <a:endParaRPr lang="en-US" altLang="zh-CN" sz="2400" b="1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证明若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是传递的，则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也是传递关系</a:t>
                </a:r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05" y="1281686"/>
                <a:ext cx="10125527" cy="1954381"/>
              </a:xfrm>
              <a:prstGeom prst="rect">
                <a:avLst/>
              </a:prstGeom>
              <a:blipFill rotWithShape="1">
                <a:blip r:embed="rId2"/>
                <a:stretch>
                  <a:fillRect l="-1" t="-13" r="5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组合 42"/>
          <p:cNvGrpSpPr/>
          <p:nvPr/>
        </p:nvGrpSpPr>
        <p:grpSpPr>
          <a:xfrm>
            <a:off x="310281" y="3346791"/>
            <a:ext cx="11571436" cy="2933974"/>
            <a:chOff x="310281" y="3346791"/>
            <a:chExt cx="11571436" cy="29339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481320" y="4610629"/>
                  <a:ext cx="1243321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是传递的</a:t>
                  </a:r>
                </a:p>
              </p:txBody>
            </p:sp>
          </mc:Choice>
          <mc:Fallback xmlns=""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320" y="4610629"/>
                  <a:ext cx="1243321" cy="276999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2173248" y="4339978"/>
                  <a:ext cx="2333143" cy="82464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⊆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altLang="zh-CN" b="1" i="1" dirty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</m:d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⟹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</m:d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m:oMathPara>
                  </a14:m>
                  <a:endParaRPr lang="zh-CN" altLang="en-US" b="1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3248" y="4339978"/>
                  <a:ext cx="2333143" cy="824649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4967129" y="4333630"/>
                  <a:ext cx="1810161" cy="830997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m:oMathPara>
                  </a14:m>
                  <a:endParaRPr lang="en-US" altLang="zh-CN" b="1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,∃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altLang="zh-CN" b="1" i="1" dirty="0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zh-CN" altLang="en-US" b="1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7129" y="4333630"/>
                  <a:ext cx="1810161" cy="830997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/>
                <p:cNvSpPr txBox="1"/>
                <p:nvPr/>
              </p:nvSpPr>
              <p:spPr>
                <a:xfrm>
                  <a:off x="7238028" y="4333630"/>
                  <a:ext cx="2320412" cy="83099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altLang="zh-CN" b="1" i="1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∃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altLang="zh-CN" b="1" i="1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本框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8028" y="4333630"/>
                  <a:ext cx="2320412" cy="830997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9944922" y="3696250"/>
                  <a:ext cx="1805776" cy="83099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altLang="zh-CN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d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∃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altLang="zh-CN" b="1" i="1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4922" y="3696250"/>
                  <a:ext cx="1805776" cy="830997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/>
                <p:cNvSpPr txBox="1"/>
                <p:nvPr/>
              </p:nvSpPr>
              <p:spPr>
                <a:xfrm>
                  <a:off x="9971784" y="4948480"/>
                  <a:ext cx="1752052" cy="830997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</m:d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m:oMathPara>
                  </a14:m>
                  <a:endParaRPr lang="en-US" altLang="zh-CN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∃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altLang="zh-CN" b="1" i="1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d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zh-CN" altLang="en-US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1784" y="4948480"/>
                  <a:ext cx="1752052" cy="830997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箭头: 右 13"/>
            <p:cNvSpPr/>
            <p:nvPr/>
          </p:nvSpPr>
          <p:spPr>
            <a:xfrm>
              <a:off x="1724641" y="4732201"/>
              <a:ext cx="460738" cy="6818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箭头: 右 15"/>
            <p:cNvSpPr/>
            <p:nvPr/>
          </p:nvSpPr>
          <p:spPr>
            <a:xfrm>
              <a:off x="4506391" y="4723624"/>
              <a:ext cx="460738" cy="6818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箭头: 左 17"/>
            <p:cNvSpPr/>
            <p:nvPr/>
          </p:nvSpPr>
          <p:spPr>
            <a:xfrm>
              <a:off x="6773576" y="4701650"/>
              <a:ext cx="437041" cy="112128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箭头: 左 18"/>
            <p:cNvSpPr/>
            <p:nvPr/>
          </p:nvSpPr>
          <p:spPr>
            <a:xfrm rot="18113009">
              <a:off x="9444573" y="4357135"/>
              <a:ext cx="651089" cy="108309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箭头: 左 19"/>
            <p:cNvSpPr/>
            <p:nvPr/>
          </p:nvSpPr>
          <p:spPr>
            <a:xfrm rot="3279967">
              <a:off x="9439067" y="5150237"/>
              <a:ext cx="662099" cy="98885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188624" y="3702846"/>
              <a:ext cx="1532771" cy="55399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传递的元素考察法定义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/>
                <p:cNvSpPr txBox="1"/>
                <p:nvPr/>
              </p:nvSpPr>
              <p:spPr>
                <a:xfrm>
                  <a:off x="3287014" y="5380552"/>
                  <a:ext cx="2808985" cy="55399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zh-CN" altLang="en-US" b="1" dirty="0">
                      <a:solidFill>
                        <a:schemeClr val="accent2">
                          <a:lumMod val="50000"/>
                        </a:schemeClr>
                      </a:solidFill>
                    </a:rPr>
                    <a:t>以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zh-CN" altLang="en-US" b="1" dirty="0">
                      <a:solidFill>
                        <a:schemeClr val="accent2">
                          <a:lumMod val="50000"/>
                        </a:schemeClr>
                      </a:solidFill>
                    </a:rPr>
                    <a:t>为附加前提证明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endParaRPr lang="zh-CN" altLang="en-US" b="1" dirty="0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014" y="5380552"/>
                  <a:ext cx="2808985" cy="553998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/>
                <p:cNvSpPr txBox="1"/>
                <p:nvPr/>
              </p:nvSpPr>
              <p:spPr>
                <a:xfrm>
                  <a:off x="4885570" y="4011121"/>
                  <a:ext cx="1888006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的定义</a:t>
                  </a:r>
                </a:p>
              </p:txBody>
            </p:sp>
          </mc:Choice>
          <mc:Fallback xmlns="">
            <p:sp>
              <p:nvSpPr>
                <p:cNvPr id="23" name="文本框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5570" y="4011121"/>
                  <a:ext cx="1888006" cy="276999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/>
                <p:cNvSpPr txBox="1"/>
                <p:nvPr/>
              </p:nvSpPr>
              <p:spPr>
                <a:xfrm>
                  <a:off x="10001911" y="3401801"/>
                  <a:ext cx="1753148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的定义</a:t>
                  </a:r>
                </a:p>
              </p:txBody>
            </p:sp>
          </mc:Choice>
          <mc:Fallback xmlns=""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1911" y="3401801"/>
                  <a:ext cx="1753148" cy="276999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/>
                <p:cNvSpPr txBox="1"/>
                <p:nvPr/>
              </p:nvSpPr>
              <p:spPr>
                <a:xfrm>
                  <a:off x="10001911" y="5827019"/>
                  <a:ext cx="1752052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的定义</a:t>
                  </a:r>
                </a:p>
              </p:txBody>
            </p:sp>
          </mc:Choice>
          <mc:Fallback xmlns="">
            <p:sp>
              <p:nvSpPr>
                <p:cNvPr id="25" name="文本框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1911" y="5827019"/>
                  <a:ext cx="1752052" cy="276999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/>
                <p:cNvSpPr txBox="1"/>
                <p:nvPr/>
              </p:nvSpPr>
              <p:spPr>
                <a:xfrm>
                  <a:off x="6415870" y="5519051"/>
                  <a:ext cx="1237980" cy="276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的传递性</a:t>
                  </a:r>
                </a:p>
              </p:txBody>
            </p:sp>
          </mc:Choice>
          <mc:Fallback xmlns="">
            <p:sp>
              <p:nvSpPr>
                <p:cNvPr id="26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5870" y="5519051"/>
                  <a:ext cx="1237980" cy="276999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文本框 26"/>
            <p:cNvSpPr txBox="1"/>
            <p:nvPr/>
          </p:nvSpPr>
          <p:spPr>
            <a:xfrm>
              <a:off x="9333129" y="5566963"/>
              <a:ext cx="611793" cy="55399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逻辑推理</a:t>
              </a: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468013" y="5254076"/>
              <a:ext cx="2510967" cy="373137"/>
              <a:chOff x="468013" y="5206982"/>
              <a:chExt cx="2510967" cy="373137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468013" y="5210787"/>
                <a:ext cx="463589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934135" y="5206982"/>
                <a:ext cx="2044845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rgbClr val="002060"/>
                    </a:solidFill>
                  </a:rPr>
                  <a:t>分析，按定义展开</a:t>
                </a:r>
              </a:p>
            </p:txBody>
          </p:sp>
          <p:sp>
            <p:nvSpPr>
              <p:cNvPr id="29" name="箭头: 右 28"/>
              <p:cNvSpPr/>
              <p:nvPr/>
            </p:nvSpPr>
            <p:spPr>
              <a:xfrm>
                <a:off x="481320" y="5344692"/>
                <a:ext cx="400188" cy="90462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7011921" y="3537796"/>
              <a:ext cx="2707916" cy="373137"/>
              <a:chOff x="487747" y="5206982"/>
              <a:chExt cx="2707916" cy="373137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33" name="矩形 32"/>
              <p:cNvSpPr/>
              <p:nvPr/>
            </p:nvSpPr>
            <p:spPr>
              <a:xfrm>
                <a:off x="487747" y="5210787"/>
                <a:ext cx="463589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934135" y="5206982"/>
                <a:ext cx="2261528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>
                    <a:solidFill>
                      <a:srgbClr val="002060"/>
                    </a:solidFill>
                  </a:rPr>
                  <a:t>从附加前提开始构造</a:t>
                </a:r>
              </a:p>
            </p:txBody>
          </p:sp>
          <p:sp>
            <p:nvSpPr>
              <p:cNvPr id="35" name="箭头: 右 34"/>
              <p:cNvSpPr/>
              <p:nvPr/>
            </p:nvSpPr>
            <p:spPr>
              <a:xfrm rot="10800000">
                <a:off x="553678" y="5344692"/>
                <a:ext cx="400188" cy="90462"/>
              </a:xfrm>
              <a:prstGeom prst="rightArrow">
                <a:avLst/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6" name="箭头: 上 35"/>
            <p:cNvSpPr/>
            <p:nvPr/>
          </p:nvSpPr>
          <p:spPr>
            <a:xfrm>
              <a:off x="4691041" y="4813778"/>
              <a:ext cx="45719" cy="576145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箭头: 下 36"/>
            <p:cNvSpPr/>
            <p:nvPr/>
          </p:nvSpPr>
          <p:spPr>
            <a:xfrm>
              <a:off x="1914319" y="4288120"/>
              <a:ext cx="45719" cy="42820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箭头: 上 37"/>
            <p:cNvSpPr/>
            <p:nvPr/>
          </p:nvSpPr>
          <p:spPr>
            <a:xfrm>
              <a:off x="6989141" y="4831290"/>
              <a:ext cx="45719" cy="667053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箭头: 上 38"/>
            <p:cNvSpPr/>
            <p:nvPr/>
          </p:nvSpPr>
          <p:spPr>
            <a:xfrm>
              <a:off x="9705961" y="5263509"/>
              <a:ext cx="45719" cy="276999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465982" y="5773363"/>
              <a:ext cx="2336424" cy="3693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rgbClr val="C00000"/>
                  </a:solidFill>
                </a:rPr>
                <a:t>证明整体思路示意图</a:t>
              </a:r>
            </a:p>
          </p:txBody>
        </p:sp>
        <p:sp>
          <p:nvSpPr>
            <p:cNvPr id="41" name="矩形: 圆角 40"/>
            <p:cNvSpPr/>
            <p:nvPr/>
          </p:nvSpPr>
          <p:spPr>
            <a:xfrm>
              <a:off x="310281" y="3346791"/>
              <a:ext cx="11571436" cy="2933974"/>
            </a:xfrm>
            <a:prstGeom prst="roundRect">
              <a:avLst>
                <a:gd name="adj" fmla="val 5456"/>
              </a:avLst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2978980" y="3533827"/>
              <a:ext cx="2049041" cy="3693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rgbClr val="C00000"/>
                  </a:solidFill>
                </a:rPr>
                <a:t>分析与构造相结合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关系性质和关系运算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A84936A-AD8A-4245-A4DE-139658DA8B11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关系性质证明举例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715705" y="1281686"/>
                <a:ext cx="10125527" cy="195438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是非空集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上关系，定义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℘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𝑺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=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{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𝑿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,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𝒀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∈℘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𝑨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×℘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𝑨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∣∀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𝒙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∈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𝑿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∃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𝒚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∈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𝒀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𝒙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𝑹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 </m:t>
                          </m:r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𝒚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}</m:t>
                      </m:r>
                    </m:oMath>
                  </m:oMathPara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即对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的任意子集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2400" b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𝒀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400" b="1" i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400" b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2400" b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400" b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</m:oMath>
                </a14:m>
                <a:endParaRPr lang="en-US" altLang="zh-CN" sz="2400" b="1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证明若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是传递的，则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也是传递关系</a:t>
                </a:r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05" y="1281686"/>
                <a:ext cx="10125527" cy="1954381"/>
              </a:xfrm>
              <a:prstGeom prst="rect">
                <a:avLst/>
              </a:prstGeom>
              <a:blipFill rotWithShape="1">
                <a:blip r:embed="rId2"/>
                <a:stretch>
                  <a:fillRect l="-1" t="-13" r="5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15705" y="3417486"/>
                <a:ext cx="9487420" cy="270843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000" b="1">
                    <a:solidFill>
                      <a:srgbClr val="C00000"/>
                    </a:solidFill>
                  </a:rPr>
                  <a:t>【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证明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】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的任意子集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:endParaRPr lang="en-US" altLang="zh-CN" sz="2000" b="1" i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(⟨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⟩∈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:r>
                  <a:rPr lang="zh-CN" altLang="en-US" sz="2000" b="1"/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𝒁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</m:d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</m:oMath>
                </a14:m>
                <a:endParaRPr lang="en-US" altLang="zh-CN" sz="2000" b="1"/>
              </a:p>
              <a:p>
                <a:pPr marL="800100" lvl="1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从而对任意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，存在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使得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，而对于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，又存在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使得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，根据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的传递性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，就有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从而对任意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都存在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使得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，因此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综上，对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∀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𝑿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𝒀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𝒁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⊆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𝑿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𝒀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𝒀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𝒁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则有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𝑿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𝒁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是传递关系。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05" y="3417486"/>
                <a:ext cx="9487420" cy="2708434"/>
              </a:xfrm>
              <a:prstGeom prst="rect">
                <a:avLst/>
              </a:prstGeom>
              <a:blipFill rotWithShape="1">
                <a:blip r:embed="rId3"/>
                <a:stretch>
                  <a:fillRect l="-1" t="-20" r="-1393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总结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448480" y="1413063"/>
            <a:ext cx="9295033" cy="2031325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002060"/>
                </a:solidFill>
              </a:rPr>
              <a:t>关系的性质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自反性、反自反性、对称性、反对称性和传递性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给出了每个性质的元素考察法定义和性质概括法定义</a:t>
            </a:r>
            <a:endParaRPr lang="en-US" altLang="zh-CN" sz="2400" b="1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考察了关系性质和关系并、交、差、逆和复合运算之间的联系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00281" y="3965389"/>
            <a:ext cx="9791429" cy="2031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400" b="1">
                <a:solidFill>
                  <a:srgbClr val="C00000"/>
                </a:solidFill>
              </a:rPr>
              <a:t>学习这一部分的目标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能判断关系是否具有自反性、反自反性、对称性、反对称性和传递性</a:t>
            </a:r>
            <a:endParaRPr lang="en-US" altLang="zh-CN" sz="2400" b="1">
              <a:solidFill>
                <a:schemeClr val="accent2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并能进行证明或举例说明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能证明或举例说明关系运算与关系性质之间的联系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511C6389-7226-43B9-9250-70FB7F990DBF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/28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作业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07165" y="3167390"/>
            <a:ext cx="9103862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教材练习</a:t>
            </a:r>
            <a:r>
              <a:rPr lang="en-US" altLang="zh-CN" sz="32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6.13</a:t>
            </a:r>
            <a:r>
              <a:rPr lang="zh-CN" altLang="en-US" sz="32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、练习</a:t>
            </a:r>
            <a:r>
              <a:rPr lang="en-US" altLang="zh-CN" sz="32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6.17</a:t>
            </a:r>
            <a:r>
              <a:rPr lang="zh-CN" altLang="en-US" sz="32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、练习</a:t>
            </a:r>
            <a:r>
              <a:rPr lang="en-US" altLang="zh-CN" sz="32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6.18</a:t>
            </a:r>
            <a:r>
              <a:rPr lang="zh-CN" altLang="en-US" sz="32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和练习</a:t>
            </a:r>
            <a:r>
              <a:rPr lang="en-US" altLang="zh-CN" sz="3200" b="1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6.19</a:t>
            </a:r>
            <a:endParaRPr lang="zh-CN" altLang="en-US" sz="3200" b="1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第十九讲  关系的性质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921252" y="2001283"/>
            <a:ext cx="8571678" cy="2383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4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谢谢大家！</a:t>
            </a:r>
            <a:endParaRPr lang="en-US" altLang="zh-CN" sz="400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4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有什么问题和建议请及时反馈给老师！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43dab61-262b-4092-a53b-cba4dd09f0ec"/>
  <p:tag name="COMMONDATA" val="eyJoZGlkIjoiM2U4OGRhNmIyZDU4NjBkZGRhNTk5ZGMxZjVlYTc4Zm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f639446-1f26-496a-85ca-008bea2c6047}"/>
</p:tagLst>
</file>

<file path=ppt/tags/tag20.xml><?xml version="1.0" encoding="utf-8"?>
<p:tagLst xmlns:p="http://schemas.openxmlformats.org/presentationml/2006/main">
  <p:tag name="KSO_WM_UNIT_TABLE_BEAUTIFY" val="smartTable{9f639446-1f26-496a-85ca-008bea2c6047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4171</Words>
  <Application>Microsoft Office PowerPoint</Application>
  <PresentationFormat>宽屏</PresentationFormat>
  <Paragraphs>472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等线</vt:lpstr>
      <vt:lpstr>等线 Light</vt:lpstr>
      <vt:lpstr>仿宋</vt:lpstr>
      <vt:lpstr>华文新魏</vt:lpstr>
      <vt:lpstr>楷体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380514873@qq.com</cp:lastModifiedBy>
  <cp:revision>97</cp:revision>
  <dcterms:created xsi:type="dcterms:W3CDTF">2022-01-01T06:39:00Z</dcterms:created>
  <dcterms:modified xsi:type="dcterms:W3CDTF">2024-11-13T12:53:42Z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629779D2D156465F9A5169986EC50CB0_12</vt:lpwstr>
  </property>
  <property fmtid="{D5CDD505-2E9C-101B-9397-08002B2CF9AE}" pid="3" name="KSOProductBuildVer">
    <vt:lpwstr>2052-11.1.0.14036</vt:lpwstr>
  </property>
</Properties>
</file>