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57" r:id="rId5"/>
    <p:sldId id="261" r:id="rId6"/>
    <p:sldId id="283" r:id="rId7"/>
    <p:sldId id="281" r:id="rId8"/>
    <p:sldId id="286" r:id="rId9"/>
    <p:sldId id="285" r:id="rId10"/>
    <p:sldId id="287" r:id="rId11"/>
    <p:sldId id="288" r:id="rId12"/>
    <p:sldId id="284" r:id="rId13"/>
    <p:sldId id="282" r:id="rId14"/>
    <p:sldId id="291" r:id="rId15"/>
    <p:sldId id="289" r:id="rId16"/>
    <p:sldId id="292" r:id="rId17"/>
    <p:sldId id="293" r:id="rId18"/>
    <p:sldId id="260" r:id="rId19"/>
    <p:sldId id="296" r:id="rId20"/>
    <p:sldId id="294" r:id="rId21"/>
    <p:sldId id="298" r:id="rId22"/>
    <p:sldId id="295" r:id="rId23"/>
    <p:sldId id="299" r:id="rId24"/>
    <p:sldId id="297" r:id="rId25"/>
    <p:sldId id="300" r:id="rId26"/>
    <p:sldId id="303" r:id="rId27"/>
    <p:sldId id="302" r:id="rId28"/>
    <p:sldId id="304" r:id="rId29"/>
    <p:sldId id="301" r:id="rId30"/>
    <p:sldId id="290" r:id="rId31"/>
    <p:sldId id="306" r:id="rId32"/>
    <p:sldId id="307" r:id="rId33"/>
    <p:sldId id="305" r:id="rId34"/>
    <p:sldId id="308" r:id="rId35"/>
    <p:sldId id="310" r:id="rId36"/>
    <p:sldId id="272" r:id="rId37"/>
    <p:sldId id="280" r:id="rId38"/>
    <p:sldId id="262" r:id="rId39"/>
  </p:sldIdLst>
  <p:sldSz cx="12192000" cy="6858000"/>
  <p:notesSz cx="6858000" cy="9144000"/>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7EC"/>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3" autoAdjust="0"/>
    <p:restoredTop sz="94660"/>
  </p:normalViewPr>
  <p:slideViewPr>
    <p:cSldViewPr snapToGrid="0">
      <p:cViewPr varScale="1">
        <p:scale>
          <a:sx n="162" d="100"/>
          <a:sy n="162" d="100"/>
        </p:scale>
        <p:origin x="100" y="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gs" Target="tags/tag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210D257-3BE1-47F0-9688-13EF46E6FAF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8B9369F-48C0-4C81-8F4C-2D9B5E779A1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hyperlink" Target="https://mooc1-1.chaoxing.com/course/216273730.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8" Type="http://schemas.openxmlformats.org/officeDocument/2006/relationships/slideLayout" Target="../slideLayouts/slideLayout1.xml"/><Relationship Id="rId17" Type="http://schemas.openxmlformats.org/officeDocument/2006/relationships/image" Target="../media/image18.png"/><Relationship Id="rId16" Type="http://schemas.openxmlformats.org/officeDocument/2006/relationships/image" Target="../media/image17.png"/><Relationship Id="rId15" Type="http://schemas.openxmlformats.org/officeDocument/2006/relationships/image" Target="../media/image16.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2.png"/><Relationship Id="rId12" Type="http://schemas.openxmlformats.org/officeDocument/2006/relationships/slideLayout" Target="../slideLayouts/slideLayout1.xml"/><Relationship Id="rId11" Type="http://schemas.openxmlformats.org/officeDocument/2006/relationships/image" Target="../media/image28.png"/><Relationship Id="rId10" Type="http://schemas.openxmlformats.org/officeDocument/2006/relationships/image" Target="../media/image27.png"/><Relationship Id="rId1" Type="http://schemas.openxmlformats.org/officeDocument/2006/relationships/image" Target="../media/image19.png"/></Relationships>
</file>

<file path=ppt/slides/_rels/slide5.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image" Target="../media/image36.png"/><Relationship Id="rId7" Type="http://schemas.openxmlformats.org/officeDocument/2006/relationships/image" Target="../media/image35.png"/><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4" Type="http://schemas.openxmlformats.org/officeDocument/2006/relationships/slideLayout" Target="../slideLayouts/slideLayout1.xml"/><Relationship Id="rId13" Type="http://schemas.openxmlformats.org/officeDocument/2006/relationships/image" Target="../media/image40.png"/><Relationship Id="rId12" Type="http://schemas.openxmlformats.org/officeDocument/2006/relationships/image" Target="../media/image39.png"/><Relationship Id="rId11" Type="http://schemas.openxmlformats.org/officeDocument/2006/relationships/image" Target="../media/image27.png"/><Relationship Id="rId10" Type="http://schemas.openxmlformats.org/officeDocument/2006/relationships/image" Target="../media/image38.png"/><Relationship Id="rId1" Type="http://schemas.openxmlformats.org/officeDocument/2006/relationships/image" Target="../media/image29.png"/></Relationships>
</file>

<file path=ppt/slides/_rels/slide6.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image" Target="../media/image48.png"/><Relationship Id="rId7" Type="http://schemas.openxmlformats.org/officeDocument/2006/relationships/image" Target="../media/image47.png"/><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7" Type="http://schemas.openxmlformats.org/officeDocument/2006/relationships/slideLayout" Target="../slideLayouts/slideLayout1.xml"/><Relationship Id="rId16" Type="http://schemas.openxmlformats.org/officeDocument/2006/relationships/image" Target="../media/image56.png"/><Relationship Id="rId15" Type="http://schemas.openxmlformats.org/officeDocument/2006/relationships/image" Target="../media/image55.png"/><Relationship Id="rId14" Type="http://schemas.openxmlformats.org/officeDocument/2006/relationships/image" Target="../media/image54.png"/><Relationship Id="rId13" Type="http://schemas.openxmlformats.org/officeDocument/2006/relationships/image" Target="../media/image53.png"/><Relationship Id="rId12" Type="http://schemas.openxmlformats.org/officeDocument/2006/relationships/image" Target="../media/image52.png"/><Relationship Id="rId11" Type="http://schemas.openxmlformats.org/officeDocument/2006/relationships/image" Target="../media/image51.png"/><Relationship Id="rId10" Type="http://schemas.openxmlformats.org/officeDocument/2006/relationships/image" Target="../media/image50.png"/><Relationship Id="rId1" Type="http://schemas.openxmlformats.org/officeDocument/2006/relationships/image" Target="../media/image41.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42.png"/><Relationship Id="rId1" Type="http://schemas.openxmlformats.org/officeDocument/2006/relationships/image" Target="../media/image4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9.png"/><Relationship Id="rId2" Type="http://schemas.openxmlformats.org/officeDocument/2006/relationships/image" Target="../media/image42.png"/><Relationship Id="rId1"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42.png"/><Relationship Id="rId1"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12.xml.rels><?xml version="1.0" encoding="UTF-8" standalone="yes"?>
<Relationships xmlns="http://schemas.openxmlformats.org/package/2006/relationships"><Relationship Id="rId9" Type="http://schemas.openxmlformats.org/officeDocument/2006/relationships/image" Target="../media/image76.png"/><Relationship Id="rId8" Type="http://schemas.openxmlformats.org/officeDocument/2006/relationships/image" Target="../media/image75.png"/><Relationship Id="rId7" Type="http://schemas.openxmlformats.org/officeDocument/2006/relationships/image" Target="../media/image74.png"/><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3" Type="http://schemas.openxmlformats.org/officeDocument/2006/relationships/image" Target="../media/image70.png"/><Relationship Id="rId21" Type="http://schemas.openxmlformats.org/officeDocument/2006/relationships/slideLayout" Target="../slideLayouts/slideLayout1.xml"/><Relationship Id="rId20" Type="http://schemas.openxmlformats.org/officeDocument/2006/relationships/image" Target="../media/image87.png"/><Relationship Id="rId2" Type="http://schemas.openxmlformats.org/officeDocument/2006/relationships/image" Target="../media/image69.png"/><Relationship Id="rId19" Type="http://schemas.openxmlformats.org/officeDocument/2006/relationships/image" Target="../media/image86.png"/><Relationship Id="rId18" Type="http://schemas.openxmlformats.org/officeDocument/2006/relationships/image" Target="../media/image85.png"/><Relationship Id="rId17" Type="http://schemas.openxmlformats.org/officeDocument/2006/relationships/image" Target="../media/image84.png"/><Relationship Id="rId16" Type="http://schemas.openxmlformats.org/officeDocument/2006/relationships/image" Target="../media/image83.png"/><Relationship Id="rId15" Type="http://schemas.openxmlformats.org/officeDocument/2006/relationships/image" Target="../media/image82.png"/><Relationship Id="rId14" Type="http://schemas.openxmlformats.org/officeDocument/2006/relationships/image" Target="../media/image81.png"/><Relationship Id="rId13" Type="http://schemas.openxmlformats.org/officeDocument/2006/relationships/image" Target="../media/image80.png"/><Relationship Id="rId12" Type="http://schemas.openxmlformats.org/officeDocument/2006/relationships/image" Target="../media/image79.png"/><Relationship Id="rId11" Type="http://schemas.openxmlformats.org/officeDocument/2006/relationships/image" Target="../media/image78.png"/><Relationship Id="rId10" Type="http://schemas.openxmlformats.org/officeDocument/2006/relationships/image" Target="../media/image77.png"/><Relationship Id="rId1" Type="http://schemas.openxmlformats.org/officeDocument/2006/relationships/image" Target="../media/image6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9" Type="http://schemas.openxmlformats.org/officeDocument/2006/relationships/image" Target="../media/image96.png"/><Relationship Id="rId8" Type="http://schemas.openxmlformats.org/officeDocument/2006/relationships/image" Target="../media/image95.png"/><Relationship Id="rId7" Type="http://schemas.openxmlformats.org/officeDocument/2006/relationships/image" Target="../media/image94.png"/><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3" Type="http://schemas.openxmlformats.org/officeDocument/2006/relationships/image" Target="../media/image90.png"/><Relationship Id="rId2" Type="http://schemas.openxmlformats.org/officeDocument/2006/relationships/image" Target="../media/image89.png"/><Relationship Id="rId16" Type="http://schemas.openxmlformats.org/officeDocument/2006/relationships/slideLayout" Target="../slideLayouts/slideLayout1.xml"/><Relationship Id="rId15" Type="http://schemas.openxmlformats.org/officeDocument/2006/relationships/image" Target="../media/image102.png"/><Relationship Id="rId14" Type="http://schemas.openxmlformats.org/officeDocument/2006/relationships/image" Target="../media/image101.png"/><Relationship Id="rId13" Type="http://schemas.openxmlformats.org/officeDocument/2006/relationships/image" Target="../media/image100.png"/><Relationship Id="rId12" Type="http://schemas.openxmlformats.org/officeDocument/2006/relationships/image" Target="../media/image99.png"/><Relationship Id="rId11" Type="http://schemas.openxmlformats.org/officeDocument/2006/relationships/image" Target="../media/image98.png"/><Relationship Id="rId10" Type="http://schemas.openxmlformats.org/officeDocument/2006/relationships/image" Target="../media/image97.png"/><Relationship Id="rId1" Type="http://schemas.openxmlformats.org/officeDocument/2006/relationships/image" Target="../media/image8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6.png"/><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image" Target="../media/image103.png"/></Relationships>
</file>

<file path=ppt/slides/_rels/slide17.xml.rels><?xml version="1.0" encoding="UTF-8" standalone="yes"?>
<Relationships xmlns="http://schemas.openxmlformats.org/package/2006/relationships"><Relationship Id="rId9" Type="http://schemas.openxmlformats.org/officeDocument/2006/relationships/image" Target="../media/image115.png"/><Relationship Id="rId8" Type="http://schemas.openxmlformats.org/officeDocument/2006/relationships/image" Target="../media/image114.png"/><Relationship Id="rId7" Type="http://schemas.openxmlformats.org/officeDocument/2006/relationships/image" Target="../media/image113.png"/><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 Id="rId3" Type="http://schemas.openxmlformats.org/officeDocument/2006/relationships/image" Target="../media/image109.png"/><Relationship Id="rId2" Type="http://schemas.openxmlformats.org/officeDocument/2006/relationships/image" Target="../media/image108.png"/><Relationship Id="rId16" Type="http://schemas.openxmlformats.org/officeDocument/2006/relationships/slideLayout" Target="../slideLayouts/slideLayout1.xml"/><Relationship Id="rId15" Type="http://schemas.openxmlformats.org/officeDocument/2006/relationships/image" Target="../media/image121.png"/><Relationship Id="rId14" Type="http://schemas.openxmlformats.org/officeDocument/2006/relationships/image" Target="../media/image120.png"/><Relationship Id="rId13" Type="http://schemas.openxmlformats.org/officeDocument/2006/relationships/image" Target="../media/image119.png"/><Relationship Id="rId12" Type="http://schemas.openxmlformats.org/officeDocument/2006/relationships/image" Target="../media/image118.png"/><Relationship Id="rId11" Type="http://schemas.openxmlformats.org/officeDocument/2006/relationships/image" Target="../media/image117.png"/><Relationship Id="rId10" Type="http://schemas.openxmlformats.org/officeDocument/2006/relationships/image" Target="../media/image116.png"/><Relationship Id="rId1" Type="http://schemas.openxmlformats.org/officeDocument/2006/relationships/image" Target="../media/image107.png"/></Relationships>
</file>

<file path=ppt/slides/_rels/slide18.xml.rels><?xml version="1.0" encoding="UTF-8" standalone="yes"?>
<Relationships xmlns="http://schemas.openxmlformats.org/package/2006/relationships"><Relationship Id="rId9" Type="http://schemas.openxmlformats.org/officeDocument/2006/relationships/image" Target="../media/image119.png"/><Relationship Id="rId8" Type="http://schemas.openxmlformats.org/officeDocument/2006/relationships/image" Target="../media/image118.png"/><Relationship Id="rId7" Type="http://schemas.openxmlformats.org/officeDocument/2006/relationships/image" Target="../media/image117.png"/><Relationship Id="rId6" Type="http://schemas.openxmlformats.org/officeDocument/2006/relationships/image" Target="../media/image115.png"/><Relationship Id="rId5" Type="http://schemas.openxmlformats.org/officeDocument/2006/relationships/image" Target="../media/image122.png"/><Relationship Id="rId4" Type="http://schemas.openxmlformats.org/officeDocument/2006/relationships/image" Target="../media/image113.png"/><Relationship Id="rId3" Type="http://schemas.openxmlformats.org/officeDocument/2006/relationships/image" Target="../media/image109.png"/><Relationship Id="rId2" Type="http://schemas.openxmlformats.org/officeDocument/2006/relationships/image" Target="../media/image108.png"/><Relationship Id="rId13" Type="http://schemas.openxmlformats.org/officeDocument/2006/relationships/slideLayout" Target="../slideLayouts/slideLayout1.xml"/><Relationship Id="rId12" Type="http://schemas.openxmlformats.org/officeDocument/2006/relationships/image" Target="../media/image125.png"/><Relationship Id="rId11" Type="http://schemas.openxmlformats.org/officeDocument/2006/relationships/image" Target="../media/image124.png"/><Relationship Id="rId10" Type="http://schemas.openxmlformats.org/officeDocument/2006/relationships/image" Target="../media/image123.png"/><Relationship Id="rId1" Type="http://schemas.openxmlformats.org/officeDocument/2006/relationships/image" Target="../media/image107.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image" Target="../media/image126.png"/></Relationships>
</file>

<file path=ppt/slides/_rels/slide20.xml.rels><?xml version="1.0" encoding="UTF-8" standalone="yes"?>
<Relationships xmlns="http://schemas.openxmlformats.org/package/2006/relationships"><Relationship Id="rId9" Type="http://schemas.openxmlformats.org/officeDocument/2006/relationships/image" Target="../media/image118.png"/><Relationship Id="rId8" Type="http://schemas.openxmlformats.org/officeDocument/2006/relationships/image" Target="../media/image117.png"/><Relationship Id="rId7" Type="http://schemas.openxmlformats.org/officeDocument/2006/relationships/image" Target="../media/image115.png"/><Relationship Id="rId6" Type="http://schemas.openxmlformats.org/officeDocument/2006/relationships/image" Target="../media/image130.png"/><Relationship Id="rId5" Type="http://schemas.openxmlformats.org/officeDocument/2006/relationships/image" Target="../media/image113.png"/><Relationship Id="rId4" Type="http://schemas.openxmlformats.org/officeDocument/2006/relationships/image" Target="../media/image129.png"/><Relationship Id="rId3" Type="http://schemas.openxmlformats.org/officeDocument/2006/relationships/image" Target="../media/image109.png"/><Relationship Id="rId2" Type="http://schemas.openxmlformats.org/officeDocument/2006/relationships/image" Target="../media/image108.png"/><Relationship Id="rId14" Type="http://schemas.openxmlformats.org/officeDocument/2006/relationships/slideLayout" Target="../slideLayouts/slideLayout1.xml"/><Relationship Id="rId13" Type="http://schemas.openxmlformats.org/officeDocument/2006/relationships/image" Target="../media/image133.png"/><Relationship Id="rId12" Type="http://schemas.openxmlformats.org/officeDocument/2006/relationships/image" Target="../media/image132.png"/><Relationship Id="rId11" Type="http://schemas.openxmlformats.org/officeDocument/2006/relationships/image" Target="../media/image131.png"/><Relationship Id="rId10" Type="http://schemas.openxmlformats.org/officeDocument/2006/relationships/image" Target="../media/image119.png"/><Relationship Id="rId1" Type="http://schemas.openxmlformats.org/officeDocument/2006/relationships/image" Target="../media/image107.png"/></Relationships>
</file>

<file path=ppt/slides/_rels/slide21.xml.rels><?xml version="1.0" encoding="UTF-8" standalone="yes"?>
<Relationships xmlns="http://schemas.openxmlformats.org/package/2006/relationships"><Relationship Id="rId9" Type="http://schemas.openxmlformats.org/officeDocument/2006/relationships/image" Target="../media/image142.png"/><Relationship Id="rId8" Type="http://schemas.openxmlformats.org/officeDocument/2006/relationships/image" Target="../media/image141.png"/><Relationship Id="rId7" Type="http://schemas.openxmlformats.org/officeDocument/2006/relationships/image" Target="../media/image140.png"/><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 Id="rId3" Type="http://schemas.openxmlformats.org/officeDocument/2006/relationships/image" Target="../media/image136.png"/><Relationship Id="rId2" Type="http://schemas.openxmlformats.org/officeDocument/2006/relationships/image" Target="../media/image135.png"/><Relationship Id="rId12" Type="http://schemas.openxmlformats.org/officeDocument/2006/relationships/slideLayout" Target="../slideLayouts/slideLayout1.xml"/><Relationship Id="rId11" Type="http://schemas.openxmlformats.org/officeDocument/2006/relationships/image" Target="../media/image144.png"/><Relationship Id="rId10" Type="http://schemas.openxmlformats.org/officeDocument/2006/relationships/image" Target="../media/image143.png"/><Relationship Id="rId1" Type="http://schemas.openxmlformats.org/officeDocument/2006/relationships/image" Target="../media/image134.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46.png"/><Relationship Id="rId1" Type="http://schemas.openxmlformats.org/officeDocument/2006/relationships/image" Target="../media/image145.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image" Target="../media/image147.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53.png"/><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image" Target="../media/image150.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5.png"/><Relationship Id="rId1" Type="http://schemas.openxmlformats.org/officeDocument/2006/relationships/image" Target="../media/image154.png"/></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59.png"/><Relationship Id="rId5" Type="http://schemas.openxmlformats.org/officeDocument/2006/relationships/image" Target="../media/image158.png"/><Relationship Id="rId4" Type="http://schemas.openxmlformats.org/officeDocument/2006/relationships/image" Target="../media/image157.png"/><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image" Target="../media/image15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1.png"/><Relationship Id="rId1" Type="http://schemas.openxmlformats.org/officeDocument/2006/relationships/image" Target="../media/image160.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3.png"/><Relationship Id="rId1" Type="http://schemas.openxmlformats.org/officeDocument/2006/relationships/image" Target="../media/image162.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65.png"/><Relationship Id="rId1" Type="http://schemas.openxmlformats.org/officeDocument/2006/relationships/image" Target="../media/image164.png"/></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70.png"/><Relationship Id="rId4" Type="http://schemas.openxmlformats.org/officeDocument/2006/relationships/image" Target="../media/image169.png"/><Relationship Id="rId3" Type="http://schemas.openxmlformats.org/officeDocument/2006/relationships/image" Target="../media/image168.png"/><Relationship Id="rId2" Type="http://schemas.openxmlformats.org/officeDocument/2006/relationships/image" Target="../media/image167.png"/><Relationship Id="rId1" Type="http://schemas.openxmlformats.org/officeDocument/2006/relationships/image" Target="../media/image166.png"/></Relationships>
</file>

<file path=ppt/slides/_rels/slide32.xml.rels><?xml version="1.0" encoding="UTF-8" standalone="yes"?>
<Relationships xmlns="http://schemas.openxmlformats.org/package/2006/relationships"><Relationship Id="rId9" Type="http://schemas.openxmlformats.org/officeDocument/2006/relationships/image" Target="../media/image179.png"/><Relationship Id="rId8" Type="http://schemas.openxmlformats.org/officeDocument/2006/relationships/image" Target="../media/image178.png"/><Relationship Id="rId7" Type="http://schemas.openxmlformats.org/officeDocument/2006/relationships/image" Target="../media/image177.png"/><Relationship Id="rId6" Type="http://schemas.openxmlformats.org/officeDocument/2006/relationships/image" Target="../media/image176.png"/><Relationship Id="rId5" Type="http://schemas.openxmlformats.org/officeDocument/2006/relationships/image" Target="../media/image175.png"/><Relationship Id="rId4" Type="http://schemas.openxmlformats.org/officeDocument/2006/relationships/image" Target="../media/image174.png"/><Relationship Id="rId3" Type="http://schemas.openxmlformats.org/officeDocument/2006/relationships/image" Target="../media/image173.png"/><Relationship Id="rId2" Type="http://schemas.openxmlformats.org/officeDocument/2006/relationships/image" Target="../media/image172.png"/><Relationship Id="rId16" Type="http://schemas.openxmlformats.org/officeDocument/2006/relationships/slideLayout" Target="../slideLayouts/slideLayout1.xml"/><Relationship Id="rId15" Type="http://schemas.openxmlformats.org/officeDocument/2006/relationships/image" Target="../media/image185.png"/><Relationship Id="rId14" Type="http://schemas.openxmlformats.org/officeDocument/2006/relationships/image" Target="../media/image184.png"/><Relationship Id="rId13" Type="http://schemas.openxmlformats.org/officeDocument/2006/relationships/image" Target="../media/image183.png"/><Relationship Id="rId12" Type="http://schemas.openxmlformats.org/officeDocument/2006/relationships/image" Target="../media/image182.png"/><Relationship Id="rId11" Type="http://schemas.openxmlformats.org/officeDocument/2006/relationships/image" Target="../media/image181.png"/><Relationship Id="rId10" Type="http://schemas.openxmlformats.org/officeDocument/2006/relationships/image" Target="../media/image180.png"/><Relationship Id="rId1" Type="http://schemas.openxmlformats.org/officeDocument/2006/relationships/image" Target="../media/image171.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5.png"/><Relationship Id="rId1" Type="http://schemas.openxmlformats.org/officeDocument/2006/relationships/image" Target="../media/image186.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87.png"/><Relationship Id="rId2" Type="http://schemas.openxmlformats.org/officeDocument/2006/relationships/image" Target="../media/image155.png"/><Relationship Id="rId1" Type="http://schemas.openxmlformats.org/officeDocument/2006/relationships/image" Target="../media/image18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2" name="矩形: 圆角 11"/>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第二十讲  关系的闭包</a:t>
            </a:r>
            <a:endParaRPr lang="zh-CN" altLang="en-US" sz="4800" b="1">
              <a:latin typeface="仿宋" panose="02010609060101010101" pitchFamily="49" charset="-122"/>
              <a:ea typeface="仿宋" panose="02010609060101010101" pitchFamily="49" charset="-122"/>
            </a:endParaRPr>
          </a:p>
        </p:txBody>
      </p:sp>
      <p:sp>
        <p:nvSpPr>
          <p:cNvPr id="13" name="文本框 12"/>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endParaRPr lang="zh-CN" altLang="en-US" sz="4000" dirty="0">
              <a:solidFill>
                <a:srgbClr val="210694"/>
              </a:solidFill>
              <a:latin typeface="楷体" panose="02010609060101010101" pitchFamily="49" charset="-122"/>
              <a:ea typeface="楷体" panose="02010609060101010101" pitchFamily="49" charset="-122"/>
            </a:endParaRPr>
          </a:p>
        </p:txBody>
      </p:sp>
      <p:sp>
        <p:nvSpPr>
          <p:cNvPr id="14" name="文本框 13"/>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endParaRPr lang="zh-CN" altLang="en-US" sz="3200" b="1">
              <a:solidFill>
                <a:schemeClr val="accent6">
                  <a:lumMod val="50000"/>
                </a:schemeClr>
              </a:solidFill>
              <a:latin typeface="仿宋" panose="02010609060101010101" pitchFamily="49" charset="-122"/>
              <a:ea typeface="仿宋" panose="02010609060101010101" pitchFamily="49" charset="-122"/>
            </a:endParaRPr>
          </a:p>
        </p:txBody>
      </p:sp>
      <p:sp>
        <p:nvSpPr>
          <p:cNvPr id="15" name="文本框 14"/>
          <p:cNvSpPr txBox="1"/>
          <p:nvPr/>
        </p:nvSpPr>
        <p:spPr>
          <a:xfrm>
            <a:off x="4843849" y="4559643"/>
            <a:ext cx="2866767" cy="460375"/>
          </a:xfrm>
          <a:prstGeom prst="rect">
            <a:avLst/>
          </a:prstGeom>
          <a:noFill/>
        </p:spPr>
        <p:txBody>
          <a:bodyPr wrap="square" rtlCol="0">
            <a:spAutoFit/>
          </a:bodyPr>
          <a:lstStyle/>
          <a:p>
            <a:pPr algn="ctr"/>
            <a:r>
              <a:rPr lang="en-US" altLang="zh-CN" sz="240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11</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endPar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endParaRPr>
          </a:p>
        </p:txBody>
      </p:sp>
      <p:sp>
        <p:nvSpPr>
          <p:cNvPr id="16" name="文本框 15"/>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1"/>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2" name="文本框 1"/>
          <p:cNvSpPr txBox="1"/>
          <p:nvPr/>
        </p:nvSpPr>
        <p:spPr>
          <a:xfrm>
            <a:off x="1107232" y="1448010"/>
            <a:ext cx="5281127" cy="3874715"/>
          </a:xfrm>
          <a:prstGeom prst="rect">
            <a:avLst/>
          </a:prstGeom>
          <a:noFill/>
        </p:spPr>
        <p:txBody>
          <a:bodyPr wrap="square" rtlCol="0">
            <a:spAutoFit/>
          </a:bodyPr>
          <a:lstStyle/>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关系闭包的定义与基本性质</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自反闭包和对称闭包的计算</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dirty="0">
                <a:solidFill>
                  <a:schemeClr val="accent6">
                    <a:lumMod val="50000"/>
                  </a:schemeClr>
                </a:solidFill>
                <a:latin typeface="仿宋" panose="02010609060101010101" pitchFamily="49" charset="-122"/>
                <a:ea typeface="仿宋" panose="02010609060101010101" pitchFamily="49" charset="-122"/>
              </a:rPr>
              <a:t>传递闭包的计算</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en-US" altLang="zh-CN" sz="3200" dirty="0" err="1">
                <a:solidFill>
                  <a:schemeClr val="accent6">
                    <a:lumMod val="50000"/>
                  </a:schemeClr>
                </a:solidFill>
                <a:latin typeface="Arial" panose="020B0604020202020204" pitchFamily="34" charset="0"/>
                <a:ea typeface="仿宋" panose="02010609060101010101" pitchFamily="49" charset="-122"/>
                <a:cs typeface="Arial" panose="020B0604020202020204" pitchFamily="34" charset="0"/>
              </a:rPr>
              <a:t>Warshall</a:t>
            </a:r>
            <a:r>
              <a:rPr lang="zh-CN" altLang="en-US" sz="3200" b="1" dirty="0">
                <a:solidFill>
                  <a:schemeClr val="accent6">
                    <a:lumMod val="50000"/>
                  </a:schemeClr>
                </a:solidFill>
                <a:latin typeface="仿宋" panose="02010609060101010101" pitchFamily="49" charset="-122"/>
                <a:ea typeface="仿宋" panose="02010609060101010101" pitchFamily="49" charset="-122"/>
              </a:rPr>
              <a:t>算法</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关系闭包的定义与基本性质</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关系闭包的定义</a:t>
            </a:r>
            <a:endParaRPr lang="zh-CN" altLang="en-US"/>
          </a:p>
        </p:txBody>
      </p:sp>
      <p:sp>
        <p:nvSpPr>
          <p:cNvPr id="2" name="文本框 1"/>
          <p:cNvSpPr txBox="1"/>
          <p:nvPr/>
        </p:nvSpPr>
        <p:spPr>
          <a:xfrm>
            <a:off x="615819" y="1127691"/>
            <a:ext cx="8745896" cy="461665"/>
          </a:xfrm>
          <a:prstGeom prst="rect">
            <a:avLst/>
          </a:prstGeom>
          <a:solidFill>
            <a:schemeClr val="accent4">
              <a:lumMod val="40000"/>
              <a:lumOff val="60000"/>
            </a:schemeClr>
          </a:solidFill>
        </p:spPr>
        <p:txBody>
          <a:bodyPr wrap="square" rtlCol="0">
            <a:spAutoFit/>
          </a:bodyPr>
          <a:lstStyle/>
          <a:p>
            <a:r>
              <a:rPr lang="zh-CN" altLang="en-US" sz="2400" b="1">
                <a:solidFill>
                  <a:schemeClr val="accent2">
                    <a:lumMod val="50000"/>
                  </a:schemeClr>
                </a:solidFill>
              </a:rPr>
              <a:t>关系的闭包</a:t>
            </a:r>
            <a:r>
              <a:rPr lang="en-US" altLang="zh-CN" sz="2400" b="1">
                <a:solidFill>
                  <a:schemeClr val="accent2">
                    <a:lumMod val="50000"/>
                  </a:schemeClr>
                </a:solidFill>
              </a:rPr>
              <a:t>(closure)</a:t>
            </a:r>
            <a:r>
              <a:rPr lang="zh-CN" altLang="en-US" sz="2400" b="1">
                <a:solidFill>
                  <a:schemeClr val="accent2">
                    <a:lumMod val="50000"/>
                  </a:schemeClr>
                </a:solidFill>
              </a:rPr>
              <a:t>是包含一个关系且满足某个性质的最小关系</a:t>
            </a:r>
            <a:endParaRPr lang="zh-CN" altLang="en-US" sz="2400" b="1">
              <a:solidFill>
                <a:schemeClr val="accent2">
                  <a:lumMod val="50000"/>
                </a:schemeClr>
              </a:solidFill>
            </a:endParaRPr>
          </a:p>
        </p:txBody>
      </p:sp>
      <mc:AlternateContent xmlns:mc="http://schemas.openxmlformats.org/markup-compatibility/2006">
        <mc:Choice xmlns:a14="http://schemas.microsoft.com/office/drawing/2010/main" Requires="a14">
          <p:sp>
            <p:nvSpPr>
              <p:cNvPr id="3" name="文本框 2"/>
              <p:cNvSpPr txBox="1"/>
              <p:nvPr/>
            </p:nvSpPr>
            <p:spPr>
              <a:xfrm>
                <a:off x="9690008" y="1004580"/>
                <a:ext cx="1730123" cy="707886"/>
              </a:xfrm>
              <a:prstGeom prst="rect">
                <a:avLst/>
              </a:prstGeom>
              <a:solidFill>
                <a:schemeClr val="accent2">
                  <a:lumMod val="20000"/>
                  <a:lumOff val="80000"/>
                </a:schemeClr>
              </a:solidFill>
            </p:spPr>
            <p:txBody>
              <a:bodyPr wrap="square" rtlCol="0">
                <a:spAutoFit/>
              </a:bodyPr>
              <a:lstStyle/>
              <a:p>
                <a:r>
                  <a:rPr lang="zh-CN" altLang="en-US" sz="2000" b="1">
                    <a:solidFill>
                      <a:schemeClr val="accent2">
                        <a:lumMod val="50000"/>
                      </a:schemeClr>
                    </a:solidFill>
                  </a:rPr>
                  <a:t>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是非空集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r>
                  <a:rPr lang="zh-CN" altLang="en-US" sz="2000" b="1">
                    <a:solidFill>
                      <a:schemeClr val="accent2">
                        <a:lumMod val="50000"/>
                      </a:schemeClr>
                    </a:solidFill>
                  </a:rPr>
                  <a:t>上的关系</a:t>
                </a:r>
                <a:endParaRPr lang="zh-CN" altLang="en-US" sz="2000" b="1">
                  <a:solidFill>
                    <a:schemeClr val="accent2">
                      <a:lumMod val="50000"/>
                    </a:schemeClr>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9690008" y="1004580"/>
                <a:ext cx="1730123" cy="707886"/>
              </a:xfrm>
              <a:prstGeom prst="rect">
                <a:avLst/>
              </a:prstGeom>
              <a:blipFill rotWithShape="1">
                <a:blip r:embed="rId1"/>
                <a:stretch>
                  <a:fillRect l="-31" t="-1" r="17" b="71"/>
                </a:stretch>
              </a:blipFill>
            </p:spPr>
            <p:txBody>
              <a:bodyPr/>
              <a:lstStyle/>
              <a:p>
                <a:r>
                  <a:rPr lang="zh-CN" altLang="en-US">
                    <a:noFill/>
                  </a:rPr>
                  <a:t> </a:t>
                </a:r>
              </a:p>
            </p:txBody>
          </p:sp>
        </mc:Fallback>
      </mc:AlternateContent>
      <p:grpSp>
        <p:nvGrpSpPr>
          <p:cNvPr id="16" name="组合 15"/>
          <p:cNvGrpSpPr/>
          <p:nvPr/>
        </p:nvGrpSpPr>
        <p:grpSpPr>
          <a:xfrm>
            <a:off x="733313" y="2041858"/>
            <a:ext cx="10725372" cy="1082890"/>
            <a:chOff x="615819" y="2041858"/>
            <a:chExt cx="10725372" cy="1082890"/>
          </a:xfrm>
        </p:grpSpPr>
        <p:sp>
          <p:nvSpPr>
            <p:cNvPr id="13" name="矩形: 圆角 12"/>
            <p:cNvSpPr/>
            <p:nvPr/>
          </p:nvSpPr>
          <p:spPr>
            <a:xfrm>
              <a:off x="615819" y="2041858"/>
              <a:ext cx="10725372" cy="1082890"/>
            </a:xfrm>
            <a:prstGeom prst="roundRect">
              <a:avLst>
                <a:gd name="adj" fmla="val 14845"/>
              </a:avLst>
            </a:prstGeom>
            <a:solidFill>
              <a:schemeClr val="bg1">
                <a:lumMod val="85000"/>
                <a:alpha val="25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 name="文本框 3"/>
                <p:cNvSpPr txBox="1"/>
                <p:nvPr/>
              </p:nvSpPr>
              <p:spPr>
                <a:xfrm>
                  <a:off x="615819" y="2086444"/>
                  <a:ext cx="2907304" cy="400110"/>
                </a:xfrm>
                <a:prstGeom prst="rect">
                  <a:avLst/>
                </a:prstGeom>
                <a:noFill/>
              </p:spPr>
              <p:txBody>
                <a:bodyPr wrap="square" rtlCol="0">
                  <a:spAutoFit/>
                </a:bodyPr>
                <a:lstStyle/>
                <a:p>
                  <a:pPr algn="ctr"/>
                  <a:r>
                    <a:rPr lang="zh-CN" altLang="en-US" sz="2000" b="1">
                      <a:solidFill>
                        <a:srgbClr val="C00000"/>
                      </a:solidFill>
                    </a:rPr>
                    <a:t>自反</a:t>
                  </a:r>
                  <a:r>
                    <a:rPr lang="en-US" altLang="zh-CN" sz="2000" b="1">
                      <a:solidFill>
                        <a:srgbClr val="C00000"/>
                      </a:solidFill>
                    </a:rPr>
                    <a:t>(reflexive)</a:t>
                  </a:r>
                  <a:r>
                    <a:rPr lang="zh-CN" altLang="en-US" sz="2000" b="1">
                      <a:solidFill>
                        <a:srgbClr val="C00000"/>
                      </a:solidFill>
                    </a:rPr>
                    <a:t>闭包</a:t>
                  </a:r>
                  <a14:m>
                    <m:oMath xmlns:m="http://schemas.openxmlformats.org/officeDocument/2006/math">
                      <m:r>
                        <a:rPr lang="en-US" altLang="zh-CN" sz="2000" b="1" i="1" smtClean="0">
                          <a:solidFill>
                            <a:srgbClr val="C00000"/>
                          </a:solidFill>
                          <a:latin typeface="Cambria Math" panose="02040503050406030204" pitchFamily="18" charset="0"/>
                        </a:rPr>
                        <m:t>𝒓</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e>
                      </m:d>
                    </m:oMath>
                  </a14:m>
                  <a:endParaRPr lang="en-US" altLang="zh-CN" sz="2000" b="1">
                    <a:solidFill>
                      <a:srgbClr val="C00000"/>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615819" y="2086444"/>
                  <a:ext cx="2907304" cy="400110"/>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3849607" y="2383915"/>
                  <a:ext cx="1305748"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𝒓</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e>
                        </m:d>
                      </m:oMath>
                    </m:oMathPara>
                  </a14:m>
                  <a:endParaRPr lang="zh-CN" altLang="en-US" sz="2000" b="1">
                    <a:solidFill>
                      <a:schemeClr val="accent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3849607" y="2383915"/>
                  <a:ext cx="1305748" cy="40011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5814725" y="2383247"/>
                  <a:ext cx="2013066" cy="400110"/>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是自反关系</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5814725" y="2383247"/>
                  <a:ext cx="2013066" cy="40011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8364456" y="2166714"/>
                  <a:ext cx="2832010" cy="833177"/>
                </a:xfrm>
                <a:prstGeom prst="rect">
                  <a:avLst/>
                </a:prstGeom>
                <a:solidFill>
                  <a:schemeClr val="accent4">
                    <a:lumMod val="20000"/>
                    <a:lumOff val="80000"/>
                  </a:schemeClr>
                </a:solidFill>
              </p:spPr>
              <p:txBody>
                <a:bodyPr wrap="square" rtlCol="0">
                  <a:spAutoFit/>
                </a:bodyPr>
                <a:lstStyle/>
                <a:p>
                  <a:pPr>
                    <a:lnSpc>
                      <a:spcPts val="3000"/>
                    </a:lnSpc>
                  </a:pPr>
                  <a:r>
                    <a:rPr lang="zh-CN" altLang="en-US" sz="2000" b="1">
                      <a:solidFill>
                        <a:srgbClr val="002060"/>
                      </a:solidFill>
                      <a:latin typeface="楷体" panose="02010609060101010101" pitchFamily="49" charset="-122"/>
                      <a:ea typeface="楷体" panose="02010609060101010101" pitchFamily="49" charset="-122"/>
                    </a:rPr>
                    <a:t>对</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上任意</a:t>
                  </a:r>
                  <a:r>
                    <a:rPr lang="zh-CN" altLang="en-US" sz="2000" b="1">
                      <a:solidFill>
                        <a:srgbClr val="C00000"/>
                      </a:solidFill>
                      <a:latin typeface="+mn-ea"/>
                    </a:rPr>
                    <a:t>自反关系</a:t>
                  </a:r>
                  <a14:m>
                    <m:oMath xmlns:m="http://schemas.openxmlformats.org/officeDocument/2006/math">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，若</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，则</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𝒓</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8364456" y="2166714"/>
                  <a:ext cx="2832010" cy="833177"/>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729846" y="2625810"/>
                  <a:ext cx="2679250" cy="400110"/>
                </a:xfrm>
                <a:prstGeom prst="rect">
                  <a:avLst/>
                </a:prstGeom>
                <a:solidFill>
                  <a:schemeClr val="accent2">
                    <a:lumMod val="20000"/>
                    <a:lumOff val="8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包含</a:t>
                  </a:r>
                  <a14:m>
                    <m:oMath xmlns:m="http://schemas.openxmlformats.org/officeDocument/2006/math">
                      <m:r>
                        <a:rPr lang="en-US" altLang="zh-CN" sz="2000" b="1" i="1">
                          <a:solidFill>
                            <a:srgbClr val="002060"/>
                          </a:solidFill>
                          <a:latin typeface="Cambria Math" panose="02040503050406030204" pitchFamily="18" charset="0"/>
                        </a:rPr>
                        <m:t>𝑹</m:t>
                      </m:r>
                    </m:oMath>
                  </a14:m>
                  <a:r>
                    <a:rPr lang="zh-CN" altLang="en-US" sz="2000" b="1">
                      <a:solidFill>
                        <a:srgbClr val="002060"/>
                      </a:solidFill>
                      <a:latin typeface="楷体" panose="02010609060101010101" pitchFamily="49" charset="-122"/>
                      <a:ea typeface="楷体" panose="02010609060101010101" pitchFamily="49" charset="-122"/>
                    </a:rPr>
                    <a:t>的最小自反关系</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14" name="文本框 13"/>
                <p:cNvSpPr txBox="1">
                  <a:spLocks noRot="1" noChangeAspect="1" noMove="1" noResize="1" noEditPoints="1" noAdjustHandles="1" noChangeArrowheads="1" noChangeShapeType="1" noTextEdit="1"/>
                </p:cNvSpPr>
                <p:nvPr/>
              </p:nvSpPr>
              <p:spPr>
                <a:xfrm>
                  <a:off x="729846" y="2625810"/>
                  <a:ext cx="2679250" cy="400110"/>
                </a:xfrm>
                <a:prstGeom prst="rect">
                  <a:avLst/>
                </a:prstGeom>
                <a:blipFill rotWithShape="1">
                  <a:blip r:embed="rId6"/>
                </a:blipFill>
              </p:spPr>
              <p:txBody>
                <a:bodyPr/>
                <a:lstStyle/>
                <a:p>
                  <a:r>
                    <a:rPr lang="zh-CN" altLang="en-US">
                      <a:noFill/>
                    </a:rPr>
                    <a:t> </a:t>
                  </a:r>
                </a:p>
              </p:txBody>
            </p:sp>
          </mc:Fallback>
        </mc:AlternateContent>
      </p:grpSp>
      <p:grpSp>
        <p:nvGrpSpPr>
          <p:cNvPr id="18" name="组合 17"/>
          <p:cNvGrpSpPr/>
          <p:nvPr/>
        </p:nvGrpSpPr>
        <p:grpSpPr>
          <a:xfrm>
            <a:off x="694760" y="3390936"/>
            <a:ext cx="10763925" cy="1082890"/>
            <a:chOff x="577266" y="2041858"/>
            <a:chExt cx="10763925" cy="1082890"/>
          </a:xfrm>
        </p:grpSpPr>
        <p:sp>
          <p:nvSpPr>
            <p:cNvPr id="23" name="矩形: 圆角 22"/>
            <p:cNvSpPr/>
            <p:nvPr/>
          </p:nvSpPr>
          <p:spPr>
            <a:xfrm>
              <a:off x="615819" y="2041858"/>
              <a:ext cx="10725372" cy="1082890"/>
            </a:xfrm>
            <a:prstGeom prst="roundRect">
              <a:avLst>
                <a:gd name="adj" fmla="val 14845"/>
              </a:avLst>
            </a:prstGeom>
            <a:solidFill>
              <a:schemeClr val="bg1">
                <a:lumMod val="85000"/>
                <a:alpha val="50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9" name="文本框 18"/>
                <p:cNvSpPr txBox="1"/>
                <p:nvPr/>
              </p:nvSpPr>
              <p:spPr>
                <a:xfrm>
                  <a:off x="577266" y="2086444"/>
                  <a:ext cx="3079348" cy="400110"/>
                </a:xfrm>
                <a:prstGeom prst="rect">
                  <a:avLst/>
                </a:prstGeom>
                <a:noFill/>
              </p:spPr>
              <p:txBody>
                <a:bodyPr wrap="square" rtlCol="0">
                  <a:spAutoFit/>
                </a:bodyPr>
                <a:lstStyle/>
                <a:p>
                  <a:pPr algn="ctr"/>
                  <a:r>
                    <a:rPr lang="zh-CN" altLang="en-US" sz="2000" b="1">
                      <a:solidFill>
                        <a:srgbClr val="C00000"/>
                      </a:solidFill>
                    </a:rPr>
                    <a:t>对称</a:t>
                  </a:r>
                  <a:r>
                    <a:rPr lang="en-US" altLang="zh-CN" sz="2000" b="1">
                      <a:solidFill>
                        <a:srgbClr val="C00000"/>
                      </a:solidFill>
                    </a:rPr>
                    <a:t>(symmetric)</a:t>
                  </a:r>
                  <a:r>
                    <a:rPr lang="zh-CN" altLang="en-US" sz="2000" b="1">
                      <a:solidFill>
                        <a:srgbClr val="C00000"/>
                      </a:solidFill>
                    </a:rPr>
                    <a:t>闭包</a:t>
                  </a:r>
                  <a14:m>
                    <m:oMath xmlns:m="http://schemas.openxmlformats.org/officeDocument/2006/math">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e>
                      </m:d>
                    </m:oMath>
                  </a14:m>
                  <a:endParaRPr lang="en-US" altLang="zh-CN" sz="2000" b="1">
                    <a:solidFill>
                      <a:srgbClr val="C00000"/>
                    </a:solidFill>
                  </a:endParaRPr>
                </a:p>
              </p:txBody>
            </p:sp>
          </mc:Choice>
          <mc:Fallback>
            <p:sp>
              <p:nvSpPr>
                <p:cNvPr id="19" name="文本框 18"/>
                <p:cNvSpPr txBox="1">
                  <a:spLocks noRot="1" noChangeAspect="1" noMove="1" noResize="1" noEditPoints="1" noAdjustHandles="1" noChangeArrowheads="1" noChangeShapeType="1" noTextEdit="1"/>
                </p:cNvSpPr>
                <p:nvPr/>
              </p:nvSpPr>
              <p:spPr>
                <a:xfrm>
                  <a:off x="577266" y="2086444"/>
                  <a:ext cx="3079348" cy="400110"/>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3849607" y="2383915"/>
                  <a:ext cx="1305748"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𝒔</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e>
                        </m:d>
                      </m:oMath>
                    </m:oMathPara>
                  </a14:m>
                  <a:endParaRPr lang="zh-CN" altLang="en-US" sz="2000" b="1">
                    <a:solidFill>
                      <a:schemeClr val="accent2">
                        <a:lumMod val="50000"/>
                      </a:schemeClr>
                    </a:solidFill>
                  </a:endParaRPr>
                </a:p>
              </p:txBody>
            </p:sp>
          </mc:Choice>
          <mc:Fallback>
            <p:sp>
              <p:nvSpPr>
                <p:cNvPr id="20" name="文本框 19"/>
                <p:cNvSpPr txBox="1">
                  <a:spLocks noRot="1" noChangeAspect="1" noMove="1" noResize="1" noEditPoints="1" noAdjustHandles="1" noChangeArrowheads="1" noChangeShapeType="1" noTextEdit="1"/>
                </p:cNvSpPr>
                <p:nvPr/>
              </p:nvSpPr>
              <p:spPr>
                <a:xfrm>
                  <a:off x="3849607" y="2383915"/>
                  <a:ext cx="1305748" cy="400110"/>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5814725" y="2383247"/>
                  <a:ext cx="2013066" cy="400110"/>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𝒔</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是对称关系</a:t>
                  </a:r>
                  <a:endParaRPr lang="zh-CN" altLang="en-US" sz="2000" b="1" dirty="0">
                    <a:solidFill>
                      <a:srgbClr val="002060"/>
                    </a:solidFill>
                    <a:latin typeface="楷体" panose="02010609060101010101" pitchFamily="49" charset="-122"/>
                    <a:ea typeface="楷体" panose="02010609060101010101" pitchFamily="49" charset="-122"/>
                  </a:endParaRPr>
                </a:p>
              </p:txBody>
            </p:sp>
          </mc:Choice>
          <mc:Fallback>
            <p:sp>
              <p:nvSpPr>
                <p:cNvPr id="21" name="文本框 20"/>
                <p:cNvSpPr txBox="1">
                  <a:spLocks noRot="1" noChangeAspect="1" noMove="1" noResize="1" noEditPoints="1" noAdjustHandles="1" noChangeArrowheads="1" noChangeShapeType="1" noTextEdit="1"/>
                </p:cNvSpPr>
                <p:nvPr/>
              </p:nvSpPr>
              <p:spPr>
                <a:xfrm>
                  <a:off x="5814725" y="2383247"/>
                  <a:ext cx="2013066" cy="400110"/>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8364456" y="2166714"/>
                  <a:ext cx="2832010" cy="833177"/>
                </a:xfrm>
                <a:prstGeom prst="rect">
                  <a:avLst/>
                </a:prstGeom>
                <a:solidFill>
                  <a:schemeClr val="accent4">
                    <a:lumMod val="20000"/>
                    <a:lumOff val="80000"/>
                  </a:schemeClr>
                </a:solidFill>
              </p:spPr>
              <p:txBody>
                <a:bodyPr wrap="square" rtlCol="0">
                  <a:spAutoFit/>
                </a:bodyPr>
                <a:lstStyle/>
                <a:p>
                  <a:pPr>
                    <a:lnSpc>
                      <a:spcPts val="3000"/>
                    </a:lnSpc>
                  </a:pPr>
                  <a:r>
                    <a:rPr lang="zh-CN" altLang="en-US" sz="2000" b="1">
                      <a:solidFill>
                        <a:srgbClr val="002060"/>
                      </a:solidFill>
                      <a:latin typeface="楷体" panose="02010609060101010101" pitchFamily="49" charset="-122"/>
                      <a:ea typeface="楷体" panose="02010609060101010101" pitchFamily="49" charset="-122"/>
                    </a:rPr>
                    <a:t>对</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上任意</a:t>
                  </a:r>
                  <a:r>
                    <a:rPr lang="zh-CN" altLang="en-US" sz="2000" b="1">
                      <a:solidFill>
                        <a:srgbClr val="C00000"/>
                      </a:solidFill>
                      <a:latin typeface="+mn-ea"/>
                    </a:rPr>
                    <a:t>对称关系</a:t>
                  </a:r>
                  <a14:m>
                    <m:oMath xmlns:m="http://schemas.openxmlformats.org/officeDocument/2006/math">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，若</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，则</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𝒔</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2" name="文本框 21"/>
                <p:cNvSpPr txBox="1">
                  <a:spLocks noRot="1" noChangeAspect="1" noMove="1" noResize="1" noEditPoints="1" noAdjustHandles="1" noChangeArrowheads="1" noChangeShapeType="1" noTextEdit="1"/>
                </p:cNvSpPr>
                <p:nvPr/>
              </p:nvSpPr>
              <p:spPr>
                <a:xfrm>
                  <a:off x="8364456" y="2166714"/>
                  <a:ext cx="2832010" cy="833177"/>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4" name="文本框 23"/>
                <p:cNvSpPr txBox="1"/>
                <p:nvPr/>
              </p:nvSpPr>
              <p:spPr>
                <a:xfrm>
                  <a:off x="729846" y="2625810"/>
                  <a:ext cx="2679250" cy="400110"/>
                </a:xfrm>
                <a:prstGeom prst="rect">
                  <a:avLst/>
                </a:prstGeom>
                <a:solidFill>
                  <a:schemeClr val="accent2">
                    <a:lumMod val="20000"/>
                    <a:lumOff val="8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包含</a:t>
                  </a:r>
                  <a14:m>
                    <m:oMath xmlns:m="http://schemas.openxmlformats.org/officeDocument/2006/math">
                      <m:r>
                        <a:rPr lang="en-US" altLang="zh-CN" sz="2000" b="1" i="1">
                          <a:solidFill>
                            <a:srgbClr val="002060"/>
                          </a:solidFill>
                          <a:latin typeface="Cambria Math" panose="02040503050406030204" pitchFamily="18" charset="0"/>
                        </a:rPr>
                        <m:t>𝑹</m:t>
                      </m:r>
                    </m:oMath>
                  </a14:m>
                  <a:r>
                    <a:rPr lang="zh-CN" altLang="en-US" sz="2000" b="1">
                      <a:solidFill>
                        <a:srgbClr val="002060"/>
                      </a:solidFill>
                      <a:latin typeface="楷体" panose="02010609060101010101" pitchFamily="49" charset="-122"/>
                      <a:ea typeface="楷体" panose="02010609060101010101" pitchFamily="49" charset="-122"/>
                    </a:rPr>
                    <a:t>的最小对称关系</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4" name="文本框 23"/>
                <p:cNvSpPr txBox="1">
                  <a:spLocks noRot="1" noChangeAspect="1" noMove="1" noResize="1" noEditPoints="1" noAdjustHandles="1" noChangeArrowheads="1" noChangeShapeType="1" noTextEdit="1"/>
                </p:cNvSpPr>
                <p:nvPr/>
              </p:nvSpPr>
              <p:spPr>
                <a:xfrm>
                  <a:off x="729846" y="2625810"/>
                  <a:ext cx="2679250" cy="400110"/>
                </a:xfrm>
                <a:prstGeom prst="rect">
                  <a:avLst/>
                </a:prstGeom>
                <a:blipFill rotWithShape="1">
                  <a:blip r:embed="rId11"/>
                </a:blipFill>
              </p:spPr>
              <p:txBody>
                <a:bodyPr/>
                <a:lstStyle/>
                <a:p>
                  <a:r>
                    <a:rPr lang="zh-CN" altLang="en-US">
                      <a:noFill/>
                    </a:rPr>
                    <a:t> </a:t>
                  </a:r>
                </a:p>
              </p:txBody>
            </p:sp>
          </mc:Fallback>
        </mc:AlternateContent>
      </p:grpSp>
      <p:grpSp>
        <p:nvGrpSpPr>
          <p:cNvPr id="25" name="组合 24"/>
          <p:cNvGrpSpPr/>
          <p:nvPr/>
        </p:nvGrpSpPr>
        <p:grpSpPr>
          <a:xfrm>
            <a:off x="694759" y="4740014"/>
            <a:ext cx="10725372" cy="1082890"/>
            <a:chOff x="615819" y="2041858"/>
            <a:chExt cx="10725372" cy="1082890"/>
          </a:xfrm>
        </p:grpSpPr>
        <p:sp>
          <p:nvSpPr>
            <p:cNvPr id="30" name="矩形: 圆角 29"/>
            <p:cNvSpPr/>
            <p:nvPr/>
          </p:nvSpPr>
          <p:spPr>
            <a:xfrm>
              <a:off x="615819" y="2041858"/>
              <a:ext cx="10725372" cy="1082890"/>
            </a:xfrm>
            <a:prstGeom prst="roundRect">
              <a:avLst>
                <a:gd name="adj" fmla="val 14845"/>
              </a:avLst>
            </a:prstGeom>
            <a:solidFill>
              <a:schemeClr val="bg1">
                <a:lumMod val="85000"/>
                <a:alpha val="75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6" name="文本框 25"/>
                <p:cNvSpPr txBox="1"/>
                <p:nvPr/>
              </p:nvSpPr>
              <p:spPr>
                <a:xfrm>
                  <a:off x="615819" y="2086444"/>
                  <a:ext cx="3053846" cy="400110"/>
                </a:xfrm>
                <a:prstGeom prst="rect">
                  <a:avLst/>
                </a:prstGeom>
                <a:noFill/>
              </p:spPr>
              <p:txBody>
                <a:bodyPr wrap="square" rtlCol="0">
                  <a:spAutoFit/>
                </a:bodyPr>
                <a:lstStyle/>
                <a:p>
                  <a:pPr algn="ctr"/>
                  <a:r>
                    <a:rPr lang="zh-CN" altLang="en-US" sz="2000" b="1" dirty="0">
                      <a:solidFill>
                        <a:srgbClr val="C00000"/>
                      </a:solidFill>
                    </a:rPr>
                    <a:t>传递</a:t>
                  </a:r>
                  <a:r>
                    <a:rPr lang="en-US" altLang="zh-CN" sz="2000" b="1" dirty="0">
                      <a:solidFill>
                        <a:srgbClr val="C00000"/>
                      </a:solidFill>
                    </a:rPr>
                    <a:t>(transitive)</a:t>
                  </a:r>
                  <a:r>
                    <a:rPr lang="zh-CN" altLang="en-US" sz="2000" b="1" dirty="0">
                      <a:solidFill>
                        <a:srgbClr val="C00000"/>
                      </a:solidFill>
                    </a:rPr>
                    <a:t>闭包</a:t>
                  </a:r>
                  <a14:m>
                    <m:oMath xmlns:m="http://schemas.openxmlformats.org/officeDocument/2006/math">
                      <m:r>
                        <a:rPr lang="en-US" altLang="zh-CN" sz="2000" b="1" i="1" smtClean="0">
                          <a:solidFill>
                            <a:srgbClr val="C00000"/>
                          </a:solidFill>
                          <a:latin typeface="Cambria Math" panose="02040503050406030204" pitchFamily="18" charset="0"/>
                        </a:rPr>
                        <m:t>𝒕</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e>
                      </m:d>
                    </m:oMath>
                  </a14:m>
                  <a:endParaRPr lang="en-US" altLang="zh-CN" sz="2000" b="1" dirty="0">
                    <a:solidFill>
                      <a:srgbClr val="C00000"/>
                    </a:solidFill>
                  </a:endParaRPr>
                </a:p>
              </p:txBody>
            </p:sp>
          </mc:Choice>
          <mc:Fallback>
            <p:sp>
              <p:nvSpPr>
                <p:cNvPr id="26" name="文本框 25"/>
                <p:cNvSpPr txBox="1">
                  <a:spLocks noRot="1" noChangeAspect="1" noMove="1" noResize="1" noEditPoints="1" noAdjustHandles="1" noChangeArrowheads="1" noChangeShapeType="1" noTextEdit="1"/>
                </p:cNvSpPr>
                <p:nvPr/>
              </p:nvSpPr>
              <p:spPr>
                <a:xfrm>
                  <a:off x="615819" y="2086444"/>
                  <a:ext cx="3053846" cy="400110"/>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文本框 26"/>
                <p:cNvSpPr txBox="1"/>
                <p:nvPr/>
              </p:nvSpPr>
              <p:spPr>
                <a:xfrm>
                  <a:off x="3936287" y="2373427"/>
                  <a:ext cx="1305748"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𝒕</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e>
                        </m:d>
                      </m:oMath>
                    </m:oMathPara>
                  </a14:m>
                  <a:endParaRPr lang="zh-CN" altLang="en-US" sz="2000" b="1">
                    <a:solidFill>
                      <a:schemeClr val="accent2">
                        <a:lumMod val="50000"/>
                      </a:schemeClr>
                    </a:solidFill>
                  </a:endParaRPr>
                </a:p>
              </p:txBody>
            </p:sp>
          </mc:Choice>
          <mc:Fallback>
            <p:sp>
              <p:nvSpPr>
                <p:cNvPr id="27" name="文本框 26"/>
                <p:cNvSpPr txBox="1">
                  <a:spLocks noRot="1" noChangeAspect="1" noMove="1" noResize="1" noEditPoints="1" noAdjustHandles="1" noChangeArrowheads="1" noChangeShapeType="1" noTextEdit="1"/>
                </p:cNvSpPr>
                <p:nvPr/>
              </p:nvSpPr>
              <p:spPr>
                <a:xfrm>
                  <a:off x="3936287" y="2373427"/>
                  <a:ext cx="1305748" cy="400110"/>
                </a:xfrm>
                <a:prstGeom prst="rect">
                  <a:avLst/>
                </a:prstGeom>
                <a:blipFill rotWithShape="1">
                  <a:blip r:embed="rId1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p:cNvSpPr txBox="1"/>
                <p:nvPr/>
              </p:nvSpPr>
              <p:spPr>
                <a:xfrm>
                  <a:off x="5840502" y="2383247"/>
                  <a:ext cx="2013066" cy="400110"/>
                </a:xfrm>
                <a:prstGeom prst="rect">
                  <a:avLst/>
                </a:prstGeom>
                <a:solidFill>
                  <a:schemeClr val="accent5">
                    <a:lumMod val="20000"/>
                    <a:lumOff val="80000"/>
                  </a:schemeClr>
                </a:solidFill>
              </p:spPr>
              <p:txBody>
                <a:bodyPr wrap="square"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𝒕</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是传递关系</a:t>
                  </a:r>
                  <a:endParaRPr lang="zh-CN" altLang="en-US" sz="2000" b="1" dirty="0">
                    <a:solidFill>
                      <a:srgbClr val="002060"/>
                    </a:solidFill>
                    <a:latin typeface="楷体" panose="02010609060101010101" pitchFamily="49" charset="-122"/>
                    <a:ea typeface="楷体" panose="02010609060101010101" pitchFamily="49" charset="-122"/>
                  </a:endParaRPr>
                </a:p>
              </p:txBody>
            </p:sp>
          </mc:Choice>
          <mc:Fallback>
            <p:sp>
              <p:nvSpPr>
                <p:cNvPr id="28" name="文本框 27"/>
                <p:cNvSpPr txBox="1">
                  <a:spLocks noRot="1" noChangeAspect="1" noMove="1" noResize="1" noEditPoints="1" noAdjustHandles="1" noChangeArrowheads="1" noChangeShapeType="1" noTextEdit="1"/>
                </p:cNvSpPr>
                <p:nvPr/>
              </p:nvSpPr>
              <p:spPr>
                <a:xfrm>
                  <a:off x="5840502" y="2383247"/>
                  <a:ext cx="2013066" cy="400110"/>
                </a:xfrm>
                <a:prstGeom prst="rect">
                  <a:avLst/>
                </a:prstGeom>
                <a:blipFill rotWithShape="1">
                  <a:blip r:embed="rId1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8364456" y="2166714"/>
                  <a:ext cx="2832010" cy="833177"/>
                </a:xfrm>
                <a:prstGeom prst="rect">
                  <a:avLst/>
                </a:prstGeom>
                <a:solidFill>
                  <a:schemeClr val="accent4">
                    <a:lumMod val="20000"/>
                    <a:lumOff val="80000"/>
                  </a:schemeClr>
                </a:solidFill>
              </p:spPr>
              <p:txBody>
                <a:bodyPr wrap="square" rtlCol="0">
                  <a:spAutoFit/>
                </a:bodyPr>
                <a:lstStyle/>
                <a:p>
                  <a:pPr>
                    <a:lnSpc>
                      <a:spcPts val="3000"/>
                    </a:lnSpc>
                  </a:pPr>
                  <a:r>
                    <a:rPr lang="zh-CN" altLang="en-US" sz="2000" b="1">
                      <a:solidFill>
                        <a:srgbClr val="002060"/>
                      </a:solidFill>
                      <a:latin typeface="楷体" panose="02010609060101010101" pitchFamily="49" charset="-122"/>
                      <a:ea typeface="楷体" panose="02010609060101010101" pitchFamily="49" charset="-122"/>
                    </a:rPr>
                    <a:t>对</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上任意</a:t>
                  </a:r>
                  <a:r>
                    <a:rPr lang="zh-CN" altLang="en-US" sz="2000" b="1">
                      <a:solidFill>
                        <a:srgbClr val="C00000"/>
                      </a:solidFill>
                      <a:latin typeface="+mn-ea"/>
                    </a:rPr>
                    <a:t>传递关系</a:t>
                  </a:r>
                  <a14:m>
                    <m:oMath xmlns:m="http://schemas.openxmlformats.org/officeDocument/2006/math">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，若</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，则</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𝒕</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9" name="文本框 28"/>
                <p:cNvSpPr txBox="1">
                  <a:spLocks noRot="1" noChangeAspect="1" noMove="1" noResize="1" noEditPoints="1" noAdjustHandles="1" noChangeArrowheads="1" noChangeShapeType="1" noTextEdit="1"/>
                </p:cNvSpPr>
                <p:nvPr/>
              </p:nvSpPr>
              <p:spPr>
                <a:xfrm>
                  <a:off x="8364456" y="2166714"/>
                  <a:ext cx="2832010" cy="833177"/>
                </a:xfrm>
                <a:prstGeom prst="rect">
                  <a:avLst/>
                </a:prstGeom>
                <a:blipFill rotWithShape="1">
                  <a:blip r:embed="rId1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729846" y="2625810"/>
                  <a:ext cx="2679250" cy="400110"/>
                </a:xfrm>
                <a:prstGeom prst="rect">
                  <a:avLst/>
                </a:prstGeom>
                <a:solidFill>
                  <a:schemeClr val="accent2">
                    <a:lumMod val="20000"/>
                    <a:lumOff val="8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包含</a:t>
                  </a:r>
                  <a14:m>
                    <m:oMath xmlns:m="http://schemas.openxmlformats.org/officeDocument/2006/math">
                      <m:r>
                        <a:rPr lang="en-US" altLang="zh-CN" sz="2000" b="1" i="1">
                          <a:solidFill>
                            <a:srgbClr val="002060"/>
                          </a:solidFill>
                          <a:latin typeface="Cambria Math" panose="02040503050406030204" pitchFamily="18" charset="0"/>
                        </a:rPr>
                        <m:t>𝑹</m:t>
                      </m:r>
                    </m:oMath>
                  </a14:m>
                  <a:r>
                    <a:rPr lang="zh-CN" altLang="en-US" sz="2000" b="1">
                      <a:solidFill>
                        <a:srgbClr val="002060"/>
                      </a:solidFill>
                      <a:latin typeface="楷体" panose="02010609060101010101" pitchFamily="49" charset="-122"/>
                      <a:ea typeface="楷体" panose="02010609060101010101" pitchFamily="49" charset="-122"/>
                    </a:rPr>
                    <a:t>的最小传递关系</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31" name="文本框 30"/>
                <p:cNvSpPr txBox="1">
                  <a:spLocks noRot="1" noChangeAspect="1" noMove="1" noResize="1" noEditPoints="1" noAdjustHandles="1" noChangeArrowheads="1" noChangeShapeType="1" noTextEdit="1"/>
                </p:cNvSpPr>
                <p:nvPr/>
              </p:nvSpPr>
              <p:spPr>
                <a:xfrm>
                  <a:off x="729846" y="2625810"/>
                  <a:ext cx="2679250" cy="400110"/>
                </a:xfrm>
                <a:prstGeom prst="rect">
                  <a:avLst/>
                </a:prstGeom>
                <a:blipFill rotWithShape="1">
                  <a:blip r:embed="rId16"/>
                </a:blipFill>
              </p:spPr>
              <p:txBody>
                <a:bodyPr/>
                <a:lstStyle/>
                <a:p>
                  <a:r>
                    <a:rPr lang="zh-CN" altLang="en-US">
                      <a:noFill/>
                    </a:rPr>
                    <a:t> </a:t>
                  </a:r>
                </a:p>
              </p:txBody>
            </p:sp>
          </mc:Fallback>
        </mc:AlternateContent>
      </p:grpSp>
      <p:cxnSp>
        <p:nvCxnSpPr>
          <p:cNvPr id="33" name="直接连接符 32"/>
          <p:cNvCxnSpPr/>
          <p:nvPr/>
        </p:nvCxnSpPr>
        <p:spPr>
          <a:xfrm>
            <a:off x="5577247" y="1881427"/>
            <a:ext cx="6875" cy="4466746"/>
          </a:xfrm>
          <a:prstGeom prst="line">
            <a:avLst/>
          </a:prstGeom>
          <a:ln w="12700">
            <a:solidFill>
              <a:srgbClr val="002060"/>
            </a:solidFill>
            <a:prstDash val="lg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3756918" y="1881427"/>
            <a:ext cx="17190" cy="4461723"/>
          </a:xfrm>
          <a:prstGeom prst="line">
            <a:avLst/>
          </a:prstGeom>
          <a:ln w="12700">
            <a:solidFill>
              <a:srgbClr val="002060"/>
            </a:solidFill>
            <a:prstDash val="lg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8198421" y="1881427"/>
            <a:ext cx="11709" cy="4473691"/>
          </a:xfrm>
          <a:prstGeom prst="line">
            <a:avLst/>
          </a:prstGeom>
          <a:ln w="12700">
            <a:solidFill>
              <a:srgbClr val="002060"/>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9" name="文本框 38"/>
              <p:cNvSpPr txBox="1"/>
              <p:nvPr/>
            </p:nvSpPr>
            <p:spPr>
              <a:xfrm>
                <a:off x="4196215" y="5898361"/>
                <a:ext cx="847519" cy="369332"/>
              </a:xfrm>
              <a:prstGeom prst="rect">
                <a:avLst/>
              </a:prstGeom>
              <a:noFill/>
            </p:spPr>
            <p:txBody>
              <a:bodyPr wrap="square" rtlCol="0">
                <a:spAutoFit/>
              </a:bodyPr>
              <a:lstStyle/>
              <a:p>
                <a:r>
                  <a:rPr lang="zh-CN" altLang="en-US" b="1">
                    <a:solidFill>
                      <a:srgbClr val="C00000"/>
                    </a:solidFill>
                  </a:rPr>
                  <a:t>包含</a:t>
                </a:r>
                <a14:m>
                  <m:oMath xmlns:m="http://schemas.openxmlformats.org/officeDocument/2006/math">
                    <m:r>
                      <a:rPr lang="en-US" altLang="zh-CN" b="1" i="1" smtClean="0">
                        <a:solidFill>
                          <a:srgbClr val="C00000"/>
                        </a:solidFill>
                        <a:latin typeface="Cambria Math" panose="02040503050406030204" pitchFamily="18" charset="0"/>
                      </a:rPr>
                      <m:t>𝑹</m:t>
                    </m:r>
                  </m:oMath>
                </a14:m>
                <a:endParaRPr lang="zh-CN" altLang="en-US" b="1">
                  <a:solidFill>
                    <a:srgbClr val="C00000"/>
                  </a:solidFill>
                </a:endParaRPr>
              </a:p>
            </p:txBody>
          </p:sp>
        </mc:Choice>
        <mc:Fallback>
          <p:sp>
            <p:nvSpPr>
              <p:cNvPr id="39" name="文本框 38"/>
              <p:cNvSpPr txBox="1">
                <a:spLocks noRot="1" noChangeAspect="1" noMove="1" noResize="1" noEditPoints="1" noAdjustHandles="1" noChangeArrowheads="1" noChangeShapeType="1" noTextEdit="1"/>
              </p:cNvSpPr>
              <p:nvPr/>
            </p:nvSpPr>
            <p:spPr>
              <a:xfrm>
                <a:off x="4196215" y="5898361"/>
                <a:ext cx="847519" cy="369332"/>
              </a:xfrm>
              <a:prstGeom prst="rect">
                <a:avLst/>
              </a:prstGeom>
              <a:blipFill rotWithShape="1">
                <a:blip r:embed="rId17"/>
                <a:stretch>
                  <a:fillRect l="-16" t="-130" r="67" b="66"/>
                </a:stretch>
              </a:blipFill>
            </p:spPr>
            <p:txBody>
              <a:bodyPr/>
              <a:lstStyle/>
              <a:p>
                <a:r>
                  <a:rPr lang="zh-CN" altLang="en-US">
                    <a:noFill/>
                  </a:rPr>
                  <a:t> </a:t>
                </a:r>
              </a:p>
            </p:txBody>
          </p:sp>
        </mc:Fallback>
      </mc:AlternateContent>
      <p:sp>
        <p:nvSpPr>
          <p:cNvPr id="40" name="文本框 39"/>
          <p:cNvSpPr txBox="1"/>
          <p:nvPr/>
        </p:nvSpPr>
        <p:spPr>
          <a:xfrm>
            <a:off x="6261649" y="5904426"/>
            <a:ext cx="1328651" cy="369332"/>
          </a:xfrm>
          <a:prstGeom prst="rect">
            <a:avLst/>
          </a:prstGeom>
          <a:noFill/>
        </p:spPr>
        <p:txBody>
          <a:bodyPr wrap="square" rtlCol="0">
            <a:spAutoFit/>
          </a:bodyPr>
          <a:lstStyle/>
          <a:p>
            <a:pPr algn="ctr"/>
            <a:r>
              <a:rPr lang="zh-CN" altLang="en-US" b="1">
                <a:solidFill>
                  <a:srgbClr val="C00000"/>
                </a:solidFill>
              </a:rPr>
              <a:t>有相应性质</a:t>
            </a:r>
            <a:endParaRPr lang="zh-CN" altLang="en-US" b="1">
              <a:solidFill>
                <a:srgbClr val="C00000"/>
              </a:solidFill>
            </a:endParaRPr>
          </a:p>
        </p:txBody>
      </p:sp>
      <p:sp>
        <p:nvSpPr>
          <p:cNvPr id="41" name="文本框 40"/>
          <p:cNvSpPr txBox="1"/>
          <p:nvPr/>
        </p:nvSpPr>
        <p:spPr>
          <a:xfrm>
            <a:off x="9233629" y="5898361"/>
            <a:ext cx="1328651" cy="369332"/>
          </a:xfrm>
          <a:prstGeom prst="rect">
            <a:avLst/>
          </a:prstGeom>
          <a:noFill/>
        </p:spPr>
        <p:txBody>
          <a:bodyPr wrap="square" rtlCol="0">
            <a:spAutoFit/>
          </a:bodyPr>
          <a:lstStyle/>
          <a:p>
            <a:pPr algn="ctr"/>
            <a:r>
              <a:rPr lang="zh-CN" altLang="en-US" b="1">
                <a:solidFill>
                  <a:srgbClr val="C00000"/>
                </a:solidFill>
              </a:rPr>
              <a:t>最小</a:t>
            </a:r>
            <a:endParaRPr lang="zh-CN" altLang="en-US" b="1">
              <a:solidFill>
                <a:srgbClr val="C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关系闭包的定义与基本性质</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关系闭包的基本性质</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675203" y="1336508"/>
                <a:ext cx="4839883" cy="1508105"/>
              </a:xfrm>
              <a:prstGeom prst="rect">
                <a:avLst/>
              </a:prstGeom>
              <a:solidFill>
                <a:schemeClr val="accent5">
                  <a:lumMod val="20000"/>
                  <a:lumOff val="80000"/>
                </a:schemeClr>
              </a:solidFill>
            </p:spPr>
            <p:txBody>
              <a:bodyPr wrap="square" rtlCol="0">
                <a:spAutoFit/>
              </a:bodyPr>
              <a:lstStyle/>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latin typeface="楷体" panose="02010609060101010101" pitchFamily="49" charset="-122"/>
                    <a:ea typeface="楷体" panose="02010609060101010101" pitchFamily="49" charset="-122"/>
                  </a:rPr>
                  <a:t>是自反关系当且仅当</a:t>
                </a:r>
                <a14:m>
                  <m:oMath xmlns:m="http://schemas.openxmlformats.org/officeDocument/2006/math">
                    <m:r>
                      <a:rPr lang="en-US" altLang="zh-CN" sz="2400" b="1" i="1" smtClean="0">
                        <a:solidFill>
                          <a:srgbClr val="002060"/>
                        </a:solidFill>
                        <a:latin typeface="Cambria Math" panose="02040503050406030204" pitchFamily="18" charset="0"/>
                      </a:rPr>
                      <m:t>𝒓</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𝑹</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𝑹</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latin typeface="楷体" panose="02010609060101010101" pitchFamily="49" charset="-122"/>
                    <a:ea typeface="楷体" panose="02010609060101010101" pitchFamily="49" charset="-122"/>
                  </a:rPr>
                  <a:t>是对称关系当且仅当</a:t>
                </a:r>
                <a14:m>
                  <m:oMath xmlns:m="http://schemas.openxmlformats.org/officeDocument/2006/math">
                    <m:r>
                      <a:rPr lang="en-US" altLang="zh-CN" sz="2400" b="1" i="1" smtClean="0">
                        <a:solidFill>
                          <a:srgbClr val="002060"/>
                        </a:solidFill>
                        <a:latin typeface="Cambria Math" panose="02040503050406030204" pitchFamily="18" charset="0"/>
                      </a:rPr>
                      <m:t>𝒔</m:t>
                    </m:r>
                    <m:d>
                      <m:dPr>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𝑹</m:t>
                        </m:r>
                      </m:e>
                    </m:d>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𝑹</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latin typeface="楷体" panose="02010609060101010101" pitchFamily="49" charset="-122"/>
                    <a:ea typeface="楷体" panose="02010609060101010101" pitchFamily="49" charset="-122"/>
                  </a:rPr>
                  <a:t>是传递关系当且仅当</a:t>
                </a:r>
                <a14:m>
                  <m:oMath xmlns:m="http://schemas.openxmlformats.org/officeDocument/2006/math">
                    <m:r>
                      <a:rPr lang="en-US" altLang="zh-CN" sz="2400" b="1" i="1" smtClean="0">
                        <a:solidFill>
                          <a:srgbClr val="002060"/>
                        </a:solidFill>
                        <a:latin typeface="Cambria Math" panose="02040503050406030204" pitchFamily="18" charset="0"/>
                      </a:rPr>
                      <m:t>𝒕</m:t>
                    </m:r>
                    <m:d>
                      <m:dPr>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𝑹</m:t>
                        </m:r>
                      </m:e>
                    </m:d>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𝑹</m:t>
                    </m:r>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675203" y="1336508"/>
                <a:ext cx="4839883" cy="1508105"/>
              </a:xfrm>
              <a:prstGeom prst="rect">
                <a:avLst/>
              </a:prstGeom>
              <a:blipFill rotWithShape="1">
                <a:blip r:embed="rId1"/>
                <a:stretch>
                  <a:fillRect l="-4" t="-31" r="2" b="30"/>
                </a:stretch>
              </a:blipFill>
            </p:spPr>
            <p:txBody>
              <a:bodyPr/>
              <a:lstStyle/>
              <a:p>
                <a:r>
                  <a:rPr lang="zh-CN" altLang="en-US">
                    <a:noFill/>
                  </a:rPr>
                  <a:t> </a:t>
                </a:r>
              </a:p>
            </p:txBody>
          </p:sp>
        </mc:Fallback>
      </mc:AlternateContent>
      <p:grpSp>
        <p:nvGrpSpPr>
          <p:cNvPr id="18" name="组合 17"/>
          <p:cNvGrpSpPr/>
          <p:nvPr/>
        </p:nvGrpSpPr>
        <p:grpSpPr>
          <a:xfrm>
            <a:off x="615819" y="1123376"/>
            <a:ext cx="10986678" cy="4738805"/>
            <a:chOff x="615819" y="1123376"/>
            <a:chExt cx="10986678" cy="4738805"/>
          </a:xfrm>
        </p:grpSpPr>
        <mc:AlternateContent xmlns:mc="http://schemas.openxmlformats.org/markup-compatibility/2006">
          <mc:Choice xmlns:a14="http://schemas.microsoft.com/office/drawing/2010/main" Requires="a14">
            <p:sp>
              <p:nvSpPr>
                <p:cNvPr id="12" name="文本框 11"/>
                <p:cNvSpPr txBox="1"/>
                <p:nvPr/>
              </p:nvSpPr>
              <p:spPr>
                <a:xfrm>
                  <a:off x="8467879" y="1123376"/>
                  <a:ext cx="1730123" cy="707886"/>
                </a:xfrm>
                <a:prstGeom prst="rect">
                  <a:avLst/>
                </a:prstGeom>
                <a:solidFill>
                  <a:schemeClr val="accent2">
                    <a:lumMod val="20000"/>
                    <a:lumOff val="80000"/>
                  </a:schemeClr>
                </a:solidFill>
              </p:spPr>
              <p:txBody>
                <a:bodyPr wrap="square" rtlCol="0">
                  <a:spAutoFit/>
                </a:bodyPr>
                <a:lstStyle/>
                <a:p>
                  <a:r>
                    <a:rPr lang="zh-CN" altLang="en-US" sz="2000" b="1">
                      <a:solidFill>
                        <a:schemeClr val="accent2">
                          <a:lumMod val="50000"/>
                        </a:schemeClr>
                      </a:solidFill>
                    </a:rPr>
                    <a:t>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是非空集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r>
                    <a:rPr lang="zh-CN" altLang="en-US" sz="2000" b="1">
                      <a:solidFill>
                        <a:schemeClr val="accent2">
                          <a:lumMod val="50000"/>
                        </a:schemeClr>
                      </a:solidFill>
                    </a:rPr>
                    <a:t>上的关系</a:t>
                  </a:r>
                  <a:endParaRPr lang="zh-CN" altLang="en-US" sz="2000"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8467879" y="1123376"/>
                  <a:ext cx="1730123" cy="707886"/>
                </a:xfrm>
                <a:prstGeom prst="rect">
                  <a:avLst/>
                </a:prstGeom>
                <a:blipFill rotWithShape="1">
                  <a:blip r:embed="rId2"/>
                </a:blipFill>
              </p:spPr>
              <p:txBody>
                <a:bodyPr/>
                <a:lstStyle/>
                <a:p>
                  <a:r>
                    <a:rPr lang="zh-CN" altLang="en-US">
                      <a:noFill/>
                    </a:rPr>
                    <a:t> </a:t>
                  </a:r>
                </a:p>
              </p:txBody>
            </p:sp>
          </mc:Fallback>
        </mc:AlternateContent>
        <p:grpSp>
          <p:nvGrpSpPr>
            <p:cNvPr id="34" name="组合 33"/>
            <p:cNvGrpSpPr/>
            <p:nvPr/>
          </p:nvGrpSpPr>
          <p:grpSpPr>
            <a:xfrm>
              <a:off x="6892349" y="2253774"/>
              <a:ext cx="4657519" cy="3430382"/>
              <a:chOff x="6374485" y="2170877"/>
              <a:chExt cx="4657519" cy="3430382"/>
            </a:xfrm>
          </p:grpSpPr>
          <mc:AlternateContent xmlns:mc="http://schemas.openxmlformats.org/markup-compatibility/2006">
            <mc:Choice xmlns:a14="http://schemas.microsoft.com/office/drawing/2010/main" Requires="a14">
              <p:sp>
                <p:nvSpPr>
                  <p:cNvPr id="3" name="文本框 2"/>
                  <p:cNvSpPr txBox="1"/>
                  <p:nvPr/>
                </p:nvSpPr>
                <p:spPr>
                  <a:xfrm>
                    <a:off x="6604729" y="2170877"/>
                    <a:ext cx="3249739" cy="400110"/>
                  </a:xfrm>
                  <a:prstGeom prst="rect">
                    <a:avLst/>
                  </a:prstGeom>
                  <a:solidFill>
                    <a:schemeClr val="accent2">
                      <a:lumMod val="20000"/>
                      <a:lumOff val="80000"/>
                    </a:schemeClr>
                  </a:solidFill>
                </p:spPr>
                <p:txBody>
                  <a:bodyPr wrap="square"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𝑹</m:t>
                        </m:r>
                      </m:oMath>
                    </a14:m>
                    <a:r>
                      <a:rPr lang="zh-CN" altLang="en-US" sz="2000" b="1">
                        <a:solidFill>
                          <a:srgbClr val="002060"/>
                        </a:solidFill>
                      </a:rPr>
                      <a:t>是自反关系</a:t>
                    </a:r>
                    <a14:m>
                      <m:oMath xmlns:m="http://schemas.openxmlformats.org/officeDocument/2006/math">
                        <m:r>
                          <a:rPr lang="en-US" altLang="zh-CN" sz="2000" b="1" i="0"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oMath>
                    </a14:m>
                    <a:endParaRPr lang="zh-CN" altLang="en-US" sz="2000" b="1">
                      <a:solidFill>
                        <a:srgbClr val="002060"/>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6604729" y="2170877"/>
                    <a:ext cx="3249739" cy="40011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7538863" y="3087095"/>
                    <a:ext cx="1381469"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𝑹</m:t>
                          </m:r>
                        </m:oMath>
                      </m:oMathPara>
                    </a14:m>
                    <a:endParaRPr lang="zh-CN" altLang="en-US" sz="2000" b="1">
                      <a:solidFill>
                        <a:srgbClr val="002060"/>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7538863" y="3087095"/>
                    <a:ext cx="1381469" cy="40011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6374485" y="3972396"/>
                    <a:ext cx="1381469" cy="400110"/>
                  </a:xfrm>
                  <a:prstGeom prst="rect">
                    <a:avLst/>
                  </a:prstGeom>
                  <a:solidFill>
                    <a:schemeClr val="accent6">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oMath>
                      </m:oMathPara>
                    </a14:m>
                    <a:endParaRPr lang="zh-CN" altLang="en-US" sz="2000" b="1">
                      <a:solidFill>
                        <a:srgbClr val="002060"/>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6374485" y="3972396"/>
                    <a:ext cx="1381469" cy="40011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8815077" y="3957804"/>
                    <a:ext cx="1381469"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oMath>
                      </m:oMathPara>
                    </a14:m>
                    <a:endParaRPr lang="zh-CN" altLang="en-US" sz="2000" b="1">
                      <a:solidFill>
                        <a:srgbClr val="002060"/>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8815077" y="3957804"/>
                    <a:ext cx="1381469" cy="400110"/>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7755954" y="4895163"/>
                    <a:ext cx="1644604" cy="400110"/>
                  </a:xfrm>
                  <a:prstGeom prst="rect">
                    <a:avLst/>
                  </a:prstGeom>
                  <a:solidFill>
                    <a:schemeClr val="accent6">
                      <a:lumMod val="20000"/>
                      <a:lumOff val="80000"/>
                    </a:schemeClr>
                  </a:solidFill>
                </p:spPr>
                <p:txBody>
                  <a:bodyPr wrap="square"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𝑹</m:t>
                        </m:r>
                      </m:oMath>
                    </a14:m>
                    <a:r>
                      <a:rPr lang="zh-CN" altLang="en-US" sz="2000" b="1">
                        <a:solidFill>
                          <a:srgbClr val="002060"/>
                        </a:solidFill>
                      </a:rPr>
                      <a:t>是自反关系</a:t>
                    </a:r>
                    <a:endParaRPr lang="zh-CN" altLang="en-US" sz="2000" b="1">
                      <a:solidFill>
                        <a:srgbClr val="002060"/>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7755954" y="4895163"/>
                    <a:ext cx="1644604" cy="400110"/>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10078134" y="4895163"/>
                    <a:ext cx="953870" cy="400110"/>
                  </a:xfrm>
                  <a:prstGeom prst="rect">
                    <a:avLst/>
                  </a:prstGeom>
                  <a:solidFill>
                    <a:schemeClr val="accent6">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oMath>
                      </m:oMathPara>
                    </a14:m>
                    <a:endParaRPr lang="zh-CN" altLang="en-US" sz="2000" b="1">
                      <a:solidFill>
                        <a:srgbClr val="002060"/>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10078134" y="4895163"/>
                    <a:ext cx="953870" cy="400110"/>
                  </a:xfrm>
                  <a:prstGeom prst="rect">
                    <a:avLst/>
                  </a:prstGeom>
                  <a:blipFill rotWithShape="1">
                    <a:blip r:embed="rId8"/>
                  </a:blipFill>
                </p:spPr>
                <p:txBody>
                  <a:bodyPr/>
                  <a:lstStyle/>
                  <a:p>
                    <a:r>
                      <a:rPr lang="zh-CN" altLang="en-US">
                        <a:noFill/>
                      </a:rPr>
                      <a:t> </a:t>
                    </a:r>
                  </a:p>
                </p:txBody>
              </p:sp>
            </mc:Fallback>
          </mc:AlternateContent>
          <p:cxnSp>
            <p:nvCxnSpPr>
              <p:cNvPr id="19" name="直接箭头连接符 18"/>
              <p:cNvCxnSpPr>
                <a:stCxn id="3" idx="2"/>
                <a:endCxn id="4" idx="0"/>
              </p:cNvCxnSpPr>
              <p:nvPr/>
            </p:nvCxnSpPr>
            <p:spPr>
              <a:xfrm flipH="1">
                <a:off x="8229598" y="2570987"/>
                <a:ext cx="1" cy="516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4" idx="2"/>
                <a:endCxn id="6" idx="0"/>
              </p:cNvCxnSpPr>
              <p:nvPr/>
            </p:nvCxnSpPr>
            <p:spPr>
              <a:xfrm flipH="1">
                <a:off x="7065220" y="3487205"/>
                <a:ext cx="1164378" cy="485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4" idx="2"/>
                <a:endCxn id="13" idx="0"/>
              </p:cNvCxnSpPr>
              <p:nvPr/>
            </p:nvCxnSpPr>
            <p:spPr>
              <a:xfrm>
                <a:off x="8229598" y="3487205"/>
                <a:ext cx="1276214" cy="470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7368240" y="3557514"/>
                <a:ext cx="1893764" cy="29251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集合相等与子集关系</a:t>
                </a:r>
                <a:endParaRPr lang="zh-CN" altLang="en-US" sz="1600" b="1">
                  <a:solidFill>
                    <a:schemeClr val="accent2">
                      <a:lumMod val="50000"/>
                    </a:schemeClr>
                  </a:solidFill>
                </a:endParaRPr>
              </a:p>
            </p:txBody>
          </p:sp>
          <mc:AlternateContent xmlns:mc="http://schemas.openxmlformats.org/markup-compatibility/2006">
            <mc:Choice xmlns:a14="http://schemas.microsoft.com/office/drawing/2010/main" Requires="a14">
              <p:sp>
                <p:nvSpPr>
                  <p:cNvPr id="27" name="文本框 26"/>
                  <p:cNvSpPr txBox="1"/>
                  <p:nvPr/>
                </p:nvSpPr>
                <p:spPr>
                  <a:xfrm>
                    <a:off x="6516675" y="4403423"/>
                    <a:ext cx="1097087"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𝒓</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𝑹</m:t>
                        </m:r>
                        <m:r>
                          <a:rPr lang="en-US" altLang="zh-CN" sz="1600" b="1" i="1" smtClean="0">
                            <a:solidFill>
                              <a:schemeClr val="accent2">
                                <a:lumMod val="50000"/>
                              </a:schemeClr>
                            </a:solidFill>
                            <a:latin typeface="Cambria Math" panose="02040503050406030204" pitchFamily="18" charset="0"/>
                          </a:rPr>
                          <m:t>)</m:t>
                        </m:r>
                      </m:oMath>
                    </a14:m>
                    <a:r>
                      <a:rPr lang="zh-CN" altLang="en-US" sz="1600" b="1">
                        <a:solidFill>
                          <a:schemeClr val="accent2">
                            <a:lumMod val="50000"/>
                          </a:schemeClr>
                        </a:solidFill>
                      </a:rPr>
                      <a:t>的定义</a:t>
                    </a:r>
                    <a:endParaRPr lang="zh-CN" altLang="en-US" sz="1600" b="1">
                      <a:solidFill>
                        <a:schemeClr val="accent2">
                          <a:lumMod val="50000"/>
                        </a:schemeClr>
                      </a:solidFill>
                    </a:endParaRPr>
                  </a:p>
                </p:txBody>
              </p:sp>
            </mc:Choice>
            <mc:Fallback>
              <p:sp>
                <p:nvSpPr>
                  <p:cNvPr id="27" name="文本框 26"/>
                  <p:cNvSpPr txBox="1">
                    <a:spLocks noRot="1" noChangeAspect="1" noMove="1" noResize="1" noEditPoints="1" noAdjustHandles="1" noChangeArrowheads="1" noChangeShapeType="1" noTextEdit="1"/>
                  </p:cNvSpPr>
                  <p:nvPr/>
                </p:nvSpPr>
                <p:spPr>
                  <a:xfrm>
                    <a:off x="6516675" y="4403423"/>
                    <a:ext cx="1097087" cy="285656"/>
                  </a:xfrm>
                  <a:prstGeom prst="rect">
                    <a:avLst/>
                  </a:prstGeom>
                  <a:blipFill rotWithShape="1">
                    <a:blip r:embed="rId9"/>
                  </a:blipFill>
                </p:spPr>
                <p:txBody>
                  <a:bodyPr/>
                  <a:lstStyle/>
                  <a:p>
                    <a:r>
                      <a:rPr lang="zh-CN" altLang="en-US">
                        <a:noFill/>
                      </a:rPr>
                      <a:t> </a:t>
                    </a:r>
                  </a:p>
                </p:txBody>
              </p:sp>
            </mc:Fallback>
          </mc:AlternateContent>
          <p:cxnSp>
            <p:nvCxnSpPr>
              <p:cNvPr id="29" name="直接箭头连接符 28"/>
              <p:cNvCxnSpPr>
                <a:stCxn id="13" idx="2"/>
                <a:endCxn id="14" idx="0"/>
              </p:cNvCxnSpPr>
              <p:nvPr/>
            </p:nvCxnSpPr>
            <p:spPr>
              <a:xfrm flipH="1">
                <a:off x="8578256" y="4357914"/>
                <a:ext cx="927556" cy="537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3" idx="2"/>
                <a:endCxn id="15" idx="0"/>
              </p:cNvCxnSpPr>
              <p:nvPr/>
            </p:nvCxnSpPr>
            <p:spPr>
              <a:xfrm>
                <a:off x="9505812" y="4357914"/>
                <a:ext cx="1049257" cy="537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文本框 31"/>
                  <p:cNvSpPr txBox="1"/>
                  <p:nvPr/>
                </p:nvSpPr>
                <p:spPr>
                  <a:xfrm>
                    <a:off x="8895147" y="4389741"/>
                    <a:ext cx="1265593" cy="284886"/>
                  </a:xfrm>
                  <a:prstGeom prst="rect">
                    <a:avLst/>
                  </a:prstGeom>
                  <a:solidFill>
                    <a:schemeClr val="accent4">
                      <a:lumMod val="20000"/>
                      <a:lumOff val="80000"/>
                    </a:schemeClr>
                  </a:solidFill>
                </p:spPr>
                <p:txBody>
                  <a:bodyPr wrap="square" lIns="0" tIns="0" rIns="0" bIns="0" rtlCol="0">
                    <a:spAutoFit/>
                  </a:bodyPr>
                  <a:lstStyle/>
                  <a:p>
                    <a:pPr algn="ctr">
                      <a:lnSpc>
                        <a:spcPts val="2400"/>
                      </a:lnSpc>
                    </a:pP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𝒓</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𝑹</m:t>
                        </m:r>
                        <m:r>
                          <a:rPr lang="en-US" altLang="zh-CN" sz="1600" b="1" i="1" smtClean="0">
                            <a:solidFill>
                              <a:schemeClr val="accent2">
                                <a:lumMod val="50000"/>
                              </a:schemeClr>
                            </a:solidFill>
                            <a:latin typeface="Cambria Math" panose="02040503050406030204" pitchFamily="18" charset="0"/>
                          </a:rPr>
                          <m:t>)</m:t>
                        </m:r>
                      </m:oMath>
                    </a14:m>
                    <a:r>
                      <a:rPr lang="zh-CN" altLang="en-US" sz="1600" b="1">
                        <a:solidFill>
                          <a:schemeClr val="accent2">
                            <a:lumMod val="50000"/>
                          </a:schemeClr>
                        </a:solidFill>
                      </a:rPr>
                      <a:t>的最小性</a:t>
                    </a:r>
                    <a:endParaRPr lang="zh-CN" altLang="en-US" sz="1600" b="1">
                      <a:solidFill>
                        <a:schemeClr val="accent2">
                          <a:lumMod val="50000"/>
                        </a:schemeClr>
                      </a:solidFill>
                    </a:endParaRPr>
                  </a:p>
                </p:txBody>
              </p:sp>
            </mc:Choice>
            <mc:Fallback>
              <p:sp>
                <p:nvSpPr>
                  <p:cNvPr id="32" name="文本框 31"/>
                  <p:cNvSpPr txBox="1">
                    <a:spLocks noRot="1" noChangeAspect="1" noMove="1" noResize="1" noEditPoints="1" noAdjustHandles="1" noChangeArrowheads="1" noChangeShapeType="1" noTextEdit="1"/>
                  </p:cNvSpPr>
                  <p:nvPr/>
                </p:nvSpPr>
                <p:spPr>
                  <a:xfrm>
                    <a:off x="8895147" y="4389741"/>
                    <a:ext cx="1265593" cy="284886"/>
                  </a:xfrm>
                  <a:prstGeom prst="rect">
                    <a:avLst/>
                  </a:prstGeom>
                  <a:blipFill rotWithShape="1">
                    <a:blip r:embed="rId10"/>
                  </a:blipFill>
                </p:spPr>
                <p:txBody>
                  <a:bodyPr/>
                  <a:lstStyle/>
                  <a:p>
                    <a:r>
                      <a:rPr lang="zh-CN" altLang="en-US">
                        <a:noFill/>
                      </a:rPr>
                      <a:t> </a:t>
                    </a:r>
                  </a:p>
                </p:txBody>
              </p:sp>
            </mc:Fallback>
          </mc:AlternateContent>
          <p:sp>
            <p:nvSpPr>
              <p:cNvPr id="33" name="文本框 32"/>
              <p:cNvSpPr txBox="1"/>
              <p:nvPr/>
            </p:nvSpPr>
            <p:spPr>
              <a:xfrm>
                <a:off x="8185571" y="5315603"/>
                <a:ext cx="869618"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附加前提</a:t>
                </a:r>
                <a:endParaRPr lang="zh-CN" altLang="en-US" sz="1600" b="1">
                  <a:solidFill>
                    <a:schemeClr val="accent2">
                      <a:lumMod val="50000"/>
                    </a:schemeClr>
                  </a:solidFill>
                </a:endParaRPr>
              </a:p>
            </p:txBody>
          </p:sp>
        </p:grpSp>
        <mc:AlternateContent xmlns:mc="http://schemas.openxmlformats.org/markup-compatibility/2006">
          <mc:Choice xmlns:a14="http://schemas.microsoft.com/office/drawing/2010/main" Requires="a14">
            <p:sp>
              <p:nvSpPr>
                <p:cNvPr id="35" name="文本框 34"/>
                <p:cNvSpPr txBox="1"/>
                <p:nvPr/>
              </p:nvSpPr>
              <p:spPr>
                <a:xfrm>
                  <a:off x="615819" y="3781227"/>
                  <a:ext cx="5908067" cy="2080954"/>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证明</a:t>
                  </a:r>
                  <a14:m>
                    <m:oMath xmlns:m="http://schemas.openxmlformats.org/officeDocument/2006/math">
                      <m:r>
                        <a:rPr lang="en-US" altLang="zh-CN" sz="2400" b="1" i="1" smtClean="0">
                          <a:solidFill>
                            <a:srgbClr val="C00000"/>
                          </a:solidFill>
                          <a:latin typeface="Cambria Math" panose="02040503050406030204" pitchFamily="18" charset="0"/>
                        </a:rPr>
                        <m:t>𝑹</m:t>
                      </m:r>
                    </m:oMath>
                  </a14:m>
                  <a:r>
                    <a:rPr lang="zh-CN" altLang="en-US" sz="2400" b="1">
                      <a:solidFill>
                        <a:srgbClr val="C00000"/>
                      </a:solidFill>
                    </a:rPr>
                    <a:t>是自反关系当且仅当</a:t>
                  </a:r>
                  <a14:m>
                    <m:oMath xmlns:m="http://schemas.openxmlformats.org/officeDocument/2006/math">
                      <m:r>
                        <a:rPr lang="en-US" altLang="zh-CN" sz="2400" b="1" i="1" smtClean="0">
                          <a:solidFill>
                            <a:srgbClr val="C00000"/>
                          </a:solidFill>
                          <a:latin typeface="Cambria Math" panose="02040503050406030204" pitchFamily="18" charset="0"/>
                        </a:rPr>
                        <m:t>𝒓</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𝑹</m:t>
                          </m:r>
                        </m:e>
                      </m:d>
                      <m:r>
                        <a:rPr lang="en-US" altLang="zh-CN" sz="2400" b="1" i="1" smtClean="0">
                          <a:solidFill>
                            <a:srgbClr val="C0000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𝑹</m:t>
                      </m:r>
                    </m:oMath>
                  </a14:m>
                  <a:endParaRPr lang="en-US" altLang="zh-CN" sz="2400" b="1">
                    <a:solidFill>
                      <a:srgbClr val="C00000"/>
                    </a:solidFill>
                  </a:endParaRPr>
                </a:p>
                <a:p>
                  <a:pPr marL="342900" indent="-342900">
                    <a:spcBef>
                      <a:spcPts val="600"/>
                    </a:spcBef>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显然当</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oMath>
                  </a14:m>
                  <a:r>
                    <a:rPr lang="zh-CN" altLang="en-US" sz="2000" b="1">
                      <a:solidFill>
                        <a:srgbClr val="002060"/>
                      </a:solidFill>
                      <a:latin typeface="楷体" panose="02010609060101010101" pitchFamily="49" charset="-122"/>
                      <a:ea typeface="楷体" panose="02010609060101010101" pitchFamily="49" charset="-122"/>
                    </a:rPr>
                    <a:t>时，</a:t>
                  </a:r>
                  <a14:m>
                    <m:oMath xmlns:m="http://schemas.openxmlformats.org/officeDocument/2006/math">
                      <m:r>
                        <a:rPr lang="en-US" altLang="zh-CN" sz="2000" b="1" i="1" smtClean="0">
                          <a:solidFill>
                            <a:srgbClr val="002060"/>
                          </a:solidFill>
                          <a:latin typeface="Cambria Math" panose="02040503050406030204" pitchFamily="18" charset="0"/>
                        </a:rPr>
                        <m:t>𝑹</m:t>
                      </m:r>
                    </m:oMath>
                  </a14:m>
                  <a:r>
                    <a:rPr lang="zh-CN" altLang="en-US" sz="2000" b="1">
                      <a:solidFill>
                        <a:srgbClr val="002060"/>
                      </a:solidFill>
                      <a:latin typeface="楷体" panose="02010609060101010101" pitchFamily="49" charset="-122"/>
                      <a:ea typeface="楷体" panose="02010609060101010101" pitchFamily="49" charset="-122"/>
                    </a:rPr>
                    <a:t>是自反关系。</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lgn="just">
                    <a:spcBef>
                      <a:spcPts val="600"/>
                    </a:spcBef>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当</a:t>
                  </a:r>
                  <a14:m>
                    <m:oMath xmlns:m="http://schemas.openxmlformats.org/officeDocument/2006/math">
                      <m:r>
                        <a:rPr lang="en-US" altLang="zh-CN" sz="2000" b="1" i="1" smtClean="0">
                          <a:solidFill>
                            <a:srgbClr val="002060"/>
                          </a:solidFill>
                          <a:latin typeface="Cambria Math" panose="02040503050406030204" pitchFamily="18" charset="0"/>
                        </a:rPr>
                        <m:t>𝑹</m:t>
                      </m:r>
                    </m:oMath>
                  </a14:m>
                  <a:r>
                    <a:rPr lang="zh-CN" altLang="en-US" sz="2000" b="1">
                      <a:solidFill>
                        <a:srgbClr val="002060"/>
                      </a:solidFill>
                      <a:latin typeface="楷体" panose="02010609060101010101" pitchFamily="49" charset="-122"/>
                      <a:ea typeface="楷体" panose="02010609060101010101" pitchFamily="49" charset="-122"/>
                    </a:rPr>
                    <a:t>是自反关系时，由关系闭包定义有</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𝑹</m:t>
                      </m:r>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𝒓</m:t>
                      </m:r>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a:solidFill>
                                <a:srgbClr val="002060"/>
                              </a:solidFill>
                              <a:latin typeface="Cambria Math" panose="02040503050406030204" pitchFamily="18" charset="0"/>
                              <a:ea typeface="楷体" panose="02010609060101010101" pitchFamily="49" charset="-122"/>
                            </a:rPr>
                            <m:t>𝑹</m:t>
                          </m:r>
                        </m:e>
                      </m:d>
                    </m:oMath>
                  </a14:m>
                  <a:endParaRPr lang="en-US" altLang="zh-CN" sz="2000" b="1">
                    <a:solidFill>
                      <a:srgbClr val="002060"/>
                    </a:solidFill>
                    <a:latin typeface="楷体" panose="02010609060101010101" pitchFamily="49" charset="-122"/>
                    <a:ea typeface="楷体" panose="02010609060101010101" pitchFamily="49" charset="-122"/>
                  </a:endParaRPr>
                </a:p>
                <a:p>
                  <a:pPr marL="800100" lvl="1" indent="-342900" algn="just">
                    <a:lnSpc>
                      <a:spcPts val="2800"/>
                    </a:lnSpc>
                    <a:spcBef>
                      <a:spcPts val="600"/>
                    </a:spcBef>
                    <a:buFont typeface="Arial" panose="020B0604020202020204" pitchFamily="34" charset="0"/>
                    <a:buChar char="•"/>
                  </a:pPr>
                  <a:r>
                    <a:rPr lang="zh-CN" altLang="en-US" sz="2000" b="1">
                      <a:solidFill>
                        <a:schemeClr val="accent6">
                          <a:lumMod val="50000"/>
                        </a:schemeClr>
                      </a:solidFill>
                    </a:rPr>
                    <a:t>而</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𝑹</m:t>
                      </m:r>
                    </m:oMath>
                  </a14:m>
                  <a:r>
                    <a:rPr lang="zh-CN" altLang="en-US" sz="2000" b="1">
                      <a:solidFill>
                        <a:schemeClr val="accent6">
                          <a:lumMod val="50000"/>
                        </a:schemeClr>
                      </a:solidFill>
                    </a:rPr>
                    <a:t>是自反关系且</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𝑹</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𝑹</m:t>
                      </m:r>
                    </m:oMath>
                  </a14:m>
                  <a:r>
                    <a:rPr lang="zh-CN" altLang="en-US" sz="2000" b="1">
                      <a:solidFill>
                        <a:schemeClr val="accent6">
                          <a:lumMod val="50000"/>
                        </a:schemeClr>
                      </a:solidFill>
                    </a:rPr>
                    <a:t>，由</a:t>
                  </a:r>
                  <a:r>
                    <a:rPr lang="zh-CN" altLang="en-US" sz="2000" b="1">
                      <a:solidFill>
                        <a:srgbClr val="C00000"/>
                      </a:solidFill>
                    </a:rPr>
                    <a:t>关系闭包定义的最小性</a:t>
                  </a:r>
                  <a:r>
                    <a:rPr lang="zh-CN" altLang="en-US" sz="2000" b="1">
                      <a:solidFill>
                        <a:schemeClr val="accent6">
                          <a:lumMod val="50000"/>
                        </a:schemeClr>
                      </a:solidFill>
                    </a:rPr>
                    <a:t>就有</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𝒓</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𝑹</m:t>
                          </m:r>
                        </m:e>
                      </m:d>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𝑹</m:t>
                      </m:r>
                    </m:oMath>
                  </a14:m>
                  <a:r>
                    <a:rPr lang="zh-CN" altLang="en-US" sz="2000" b="1">
                      <a:solidFill>
                        <a:schemeClr val="accent6">
                          <a:lumMod val="50000"/>
                        </a:schemeClr>
                      </a:solidFill>
                    </a:rPr>
                    <a:t>，因此这时</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𝒓</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𝑹</m:t>
                          </m:r>
                        </m:e>
                      </m:d>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𝑹</m:t>
                      </m:r>
                    </m:oMath>
                  </a14:m>
                  <a:endParaRPr lang="zh-CN" altLang="en-US" sz="2000" b="1">
                    <a:solidFill>
                      <a:schemeClr val="accent6">
                        <a:lumMod val="50000"/>
                      </a:schemeClr>
                    </a:solidFill>
                  </a:endParaRPr>
                </a:p>
              </p:txBody>
            </p:sp>
          </mc:Choice>
          <mc:Fallback>
            <p:sp>
              <p:nvSpPr>
                <p:cNvPr id="35" name="文本框 34"/>
                <p:cNvSpPr txBox="1">
                  <a:spLocks noRot="1" noChangeAspect="1" noMove="1" noResize="1" noEditPoints="1" noAdjustHandles="1" noChangeArrowheads="1" noChangeShapeType="1" noTextEdit="1"/>
                </p:cNvSpPr>
                <p:nvPr/>
              </p:nvSpPr>
              <p:spPr>
                <a:xfrm>
                  <a:off x="615819" y="3781227"/>
                  <a:ext cx="5908067" cy="2080954"/>
                </a:xfrm>
                <a:prstGeom prst="rect">
                  <a:avLst/>
                </a:prstGeom>
                <a:blipFill rotWithShape="1">
                  <a:blip r:embed="rId11"/>
                </a:blipFill>
              </p:spPr>
              <p:txBody>
                <a:bodyPr/>
                <a:lstStyle/>
                <a:p>
                  <a:r>
                    <a:rPr lang="zh-CN" altLang="en-US">
                      <a:noFill/>
                    </a:rPr>
                    <a:t> </a:t>
                  </a:r>
                </a:p>
              </p:txBody>
            </p:sp>
          </mc:Fallback>
        </mc:AlternateContent>
        <p:sp>
          <p:nvSpPr>
            <p:cNvPr id="36" name="矩形 35"/>
            <p:cNvSpPr/>
            <p:nvPr/>
          </p:nvSpPr>
          <p:spPr>
            <a:xfrm>
              <a:off x="6815241" y="2150237"/>
              <a:ext cx="4787256" cy="359232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左 36"/>
            <p:cNvSpPr/>
            <p:nvPr/>
          </p:nvSpPr>
          <p:spPr>
            <a:xfrm>
              <a:off x="6523886" y="4788812"/>
              <a:ext cx="265041" cy="657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7034539" y="5314965"/>
              <a:ext cx="1134025" cy="369332"/>
            </a:xfrm>
            <a:prstGeom prst="rect">
              <a:avLst/>
            </a:prstGeom>
            <a:solidFill>
              <a:schemeClr val="accent2">
                <a:lumMod val="20000"/>
                <a:lumOff val="80000"/>
              </a:schemeClr>
            </a:solidFill>
          </p:spPr>
          <p:txBody>
            <a:bodyPr wrap="square" rtlCol="0">
              <a:spAutoFit/>
            </a:bodyPr>
            <a:lstStyle/>
            <a:p>
              <a:pPr algn="ctr"/>
              <a:r>
                <a:rPr lang="zh-CN" altLang="en-US" b="1">
                  <a:solidFill>
                    <a:srgbClr val="C00000"/>
                  </a:solidFill>
                </a:rPr>
                <a:t>证明思路</a:t>
              </a:r>
              <a:endParaRPr lang="zh-CN" altLang="en-US" b="1">
                <a:solidFill>
                  <a:srgbClr val="C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关系闭包的定义与基本性质</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关系闭包的基本性质（二）</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272523" y="1492775"/>
                <a:ext cx="3967144" cy="2031325"/>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latin typeface="+mn-ea"/>
                  </a:rPr>
                  <a:t>闭包保持子集关系</a:t>
                </a:r>
                <a:endParaRPr lang="en-US" altLang="zh-CN" sz="2400" b="1">
                  <a:solidFill>
                    <a:srgbClr val="C00000"/>
                  </a:solidFill>
                  <a:latin typeface="+mn-ea"/>
                </a:endParaRPr>
              </a:p>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若</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𝑺</m:t>
                    </m:r>
                  </m:oMath>
                </a14:m>
                <a:r>
                  <a:rPr lang="zh-CN" altLang="en-US" sz="2400" b="1">
                    <a:solidFill>
                      <a:srgbClr val="002060"/>
                    </a:solidFill>
                    <a:latin typeface="楷体" panose="02010609060101010101" pitchFamily="49" charset="-122"/>
                    <a:ea typeface="楷体" panose="02010609060101010101" pitchFamily="49" charset="-122"/>
                  </a:rPr>
                  <a:t>，则</a:t>
                </a:r>
                <a14:m>
                  <m:oMath xmlns:m="http://schemas.openxmlformats.org/officeDocument/2006/math">
                    <m:r>
                      <a:rPr lang="en-US" altLang="zh-CN" sz="2400" b="1" i="1">
                        <a:solidFill>
                          <a:srgbClr val="002060"/>
                        </a:solidFill>
                        <a:latin typeface="Cambria Math" panose="02040503050406030204" pitchFamily="18" charset="0"/>
                        <a:ea typeface="楷体" panose="02010609060101010101" pitchFamily="49" charset="-122"/>
                      </a:rPr>
                      <m:t>𝒓</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e>
                    </m:d>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𝒓</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a:solidFill>
                          <a:srgbClr val="002060"/>
                        </a:solidFill>
                        <a:latin typeface="Cambria Math" panose="02040503050406030204" pitchFamily="18" charset="0"/>
                        <a:ea typeface="楷体" panose="02010609060101010101" pitchFamily="49" charset="-122"/>
                      </a:rPr>
                      <m:t> </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若</a:t>
                </a:r>
                <a14:m>
                  <m:oMath xmlns:m="http://schemas.openxmlformats.org/officeDocument/2006/math">
                    <m:r>
                      <a:rPr lang="en-US" altLang="zh-CN" sz="2400" b="1" i="1">
                        <a:solidFill>
                          <a:srgbClr val="002060"/>
                        </a:solidFill>
                        <a:latin typeface="Cambria Math" panose="02040503050406030204" pitchFamily="18" charset="0"/>
                        <a:ea typeface="楷体" panose="02010609060101010101" pitchFamily="49" charset="-122"/>
                      </a:rPr>
                      <m:t>𝑹</m:t>
                    </m:r>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𝑺</m:t>
                    </m:r>
                  </m:oMath>
                </a14:m>
                <a:r>
                  <a:rPr lang="zh-CN" altLang="en-US" sz="2400" b="1">
                    <a:solidFill>
                      <a:srgbClr val="002060"/>
                    </a:solidFill>
                    <a:latin typeface="楷体" panose="02010609060101010101" pitchFamily="49" charset="-122"/>
                    <a:ea typeface="楷体" panose="02010609060101010101" pitchFamily="49" charset="-122"/>
                  </a:rPr>
                  <a:t>，则</a:t>
                </a:r>
                <a14:m>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𝑺</m:t>
                        </m:r>
                      </m:e>
                    </m:d>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若</a:t>
                </a:r>
                <a14:m>
                  <m:oMath xmlns:m="http://schemas.openxmlformats.org/officeDocument/2006/math">
                    <m:r>
                      <a:rPr lang="en-US" altLang="zh-CN" sz="2400" b="1" i="1">
                        <a:solidFill>
                          <a:srgbClr val="002060"/>
                        </a:solidFill>
                        <a:latin typeface="Cambria Math" panose="02040503050406030204" pitchFamily="18" charset="0"/>
                        <a:ea typeface="楷体" panose="02010609060101010101" pitchFamily="49" charset="-122"/>
                      </a:rPr>
                      <m:t>𝑹</m:t>
                    </m:r>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𝑺</m:t>
                    </m:r>
                  </m:oMath>
                </a14:m>
                <a:r>
                  <a:rPr lang="zh-CN" altLang="en-US" sz="2400" b="1">
                    <a:solidFill>
                      <a:srgbClr val="002060"/>
                    </a:solidFill>
                    <a:latin typeface="楷体" panose="02010609060101010101" pitchFamily="49" charset="-122"/>
                    <a:ea typeface="楷体" panose="02010609060101010101" pitchFamily="49" charset="-122"/>
                  </a:rPr>
                  <a:t>，则</a:t>
                </a:r>
                <a14:m>
                  <m:oMath xmlns:m="http://schemas.openxmlformats.org/officeDocument/2006/math">
                    <m:r>
                      <a:rPr lang="en-US" altLang="zh-CN" sz="2400" b="1" i="1">
                        <a:solidFill>
                          <a:srgbClr val="002060"/>
                        </a:solidFill>
                        <a:latin typeface="Cambria Math" panose="02040503050406030204" pitchFamily="18" charset="0"/>
                        <a:ea typeface="楷体" panose="02010609060101010101" pitchFamily="49" charset="-122"/>
                      </a:rPr>
                      <m:t>𝒕</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e>
                    </m:d>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𝒕</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𝑺</m:t>
                        </m:r>
                      </m:e>
                    </m:d>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1272523" y="1492775"/>
                <a:ext cx="3967144" cy="2031325"/>
              </a:xfrm>
              <a:prstGeom prst="rect">
                <a:avLst/>
              </a:prstGeom>
              <a:blipFill rotWithShape="1">
                <a:blip r:embed="rId1"/>
                <a:stretch>
                  <a:fillRect l="-16" t="-26" r="7" b="24"/>
                </a:stretch>
              </a:blipFill>
            </p:spPr>
            <p:txBody>
              <a:bodyPr/>
              <a:lstStyle/>
              <a:p>
                <a:r>
                  <a:rPr lang="zh-CN" altLang="en-US">
                    <a:noFill/>
                  </a:rPr>
                  <a:t> </a:t>
                </a:r>
              </a:p>
            </p:txBody>
          </p:sp>
        </mc:Fallback>
      </mc:AlternateContent>
      <p:grpSp>
        <p:nvGrpSpPr>
          <p:cNvPr id="18" name="组合 17"/>
          <p:cNvGrpSpPr/>
          <p:nvPr/>
        </p:nvGrpSpPr>
        <p:grpSpPr>
          <a:xfrm>
            <a:off x="566760" y="1123376"/>
            <a:ext cx="11048894" cy="4854445"/>
            <a:chOff x="566760" y="1123376"/>
            <a:chExt cx="11048894" cy="4854445"/>
          </a:xfrm>
        </p:grpSpPr>
        <mc:AlternateContent xmlns:mc="http://schemas.openxmlformats.org/markup-compatibility/2006">
          <mc:Choice xmlns:a14="http://schemas.microsoft.com/office/drawing/2010/main" Requires="a14">
            <p:sp>
              <p:nvSpPr>
                <p:cNvPr id="12" name="文本框 11"/>
                <p:cNvSpPr txBox="1"/>
                <p:nvPr/>
              </p:nvSpPr>
              <p:spPr>
                <a:xfrm>
                  <a:off x="8467879" y="1123376"/>
                  <a:ext cx="1965491" cy="707886"/>
                </a:xfrm>
                <a:prstGeom prst="rect">
                  <a:avLst/>
                </a:prstGeom>
                <a:solidFill>
                  <a:schemeClr val="accent2">
                    <a:lumMod val="20000"/>
                    <a:lumOff val="80000"/>
                  </a:schemeClr>
                </a:solidFill>
              </p:spPr>
              <p:txBody>
                <a:bodyPr wrap="square" rtlCol="0">
                  <a:spAutoFit/>
                </a:bodyPr>
                <a:lstStyle/>
                <a:p>
                  <a:pPr algn="ctr"/>
                  <a:r>
                    <a:rPr lang="zh-CN" altLang="en-US" sz="2000" b="1">
                      <a:solidFill>
                        <a:schemeClr val="accent2">
                          <a:lumMod val="50000"/>
                        </a:schemeClr>
                      </a:solidFill>
                    </a:rPr>
                    <a:t>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chemeClr val="accent2">
                          <a:lumMod val="50000"/>
                        </a:schemeClr>
                      </a:solidFill>
                    </a:rPr>
                    <a:t>都是非空集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r>
                    <a:rPr lang="zh-CN" altLang="en-US" sz="2000" b="1">
                      <a:solidFill>
                        <a:schemeClr val="accent2">
                          <a:lumMod val="50000"/>
                        </a:schemeClr>
                      </a:solidFill>
                    </a:rPr>
                    <a:t>上的关系</a:t>
                  </a:r>
                  <a:endParaRPr lang="zh-CN" altLang="en-US" sz="2000"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8467879" y="1123376"/>
                  <a:ext cx="1965491" cy="707886"/>
                </a:xfrm>
                <a:prstGeom prst="rect">
                  <a:avLst/>
                </a:prstGeom>
                <a:blipFill rotWithShape="1">
                  <a:blip r:embed="rId2"/>
                </a:blipFill>
              </p:spPr>
              <p:txBody>
                <a:bodyPr/>
                <a:lstStyle/>
                <a:p>
                  <a:r>
                    <a:rPr lang="zh-CN" altLang="en-US">
                      <a:noFill/>
                    </a:rPr>
                    <a:t> </a:t>
                  </a:r>
                </a:p>
              </p:txBody>
            </p:sp>
          </mc:Fallback>
        </mc:AlternateContent>
        <p:grpSp>
          <p:nvGrpSpPr>
            <p:cNvPr id="34" name="组合 33"/>
            <p:cNvGrpSpPr/>
            <p:nvPr/>
          </p:nvGrpSpPr>
          <p:grpSpPr>
            <a:xfrm>
              <a:off x="6905505" y="2407827"/>
              <a:ext cx="4637786" cy="3430382"/>
              <a:chOff x="6374484" y="2170877"/>
              <a:chExt cx="4637786" cy="3430382"/>
            </a:xfrm>
          </p:grpSpPr>
          <mc:AlternateContent xmlns:mc="http://schemas.openxmlformats.org/markup-compatibility/2006">
            <mc:Choice xmlns:a14="http://schemas.microsoft.com/office/drawing/2010/main" Requires="a14">
              <p:sp>
                <p:nvSpPr>
                  <p:cNvPr id="3" name="文本框 2"/>
                  <p:cNvSpPr txBox="1"/>
                  <p:nvPr/>
                </p:nvSpPr>
                <p:spPr>
                  <a:xfrm>
                    <a:off x="6604729" y="2170877"/>
                    <a:ext cx="3249739" cy="39878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cs typeface="Cambria Math" panose="02040503050406030204" pitchFamily="18" charset="0"/>
                            </a:rPr>
                            <m:t>→</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oMath>
                      </m:oMathPara>
                    </a14:m>
                    <a:endParaRPr lang="zh-CN" altLang="en-US" sz="2000" b="1">
                      <a:solidFill>
                        <a:srgbClr val="002060"/>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6604729" y="2170877"/>
                    <a:ext cx="3249739" cy="39878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7428864" y="3087095"/>
                    <a:ext cx="1626325"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oMath>
                      </m:oMathPara>
                    </a14:m>
                    <a:endParaRPr lang="zh-CN" altLang="en-US" sz="2000" b="1">
                      <a:solidFill>
                        <a:srgbClr val="002060"/>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7428864" y="3087095"/>
                    <a:ext cx="1626325" cy="40011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6374484" y="3972396"/>
                    <a:ext cx="1963657" cy="400110"/>
                  </a:xfrm>
                  <a:prstGeom prst="rect">
                    <a:avLst/>
                  </a:prstGeom>
                  <a:solidFill>
                    <a:schemeClr val="accent6">
                      <a:lumMod val="20000"/>
                      <a:lumOff val="80000"/>
                    </a:schemeClr>
                  </a:solidFill>
                </p:spPr>
                <p:txBody>
                  <a:bodyPr wrap="square"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rPr>
                      <a:t>是自反关系</a:t>
                    </a:r>
                    <a:endParaRPr lang="zh-CN" altLang="en-US" sz="2000" b="1">
                      <a:solidFill>
                        <a:srgbClr val="002060"/>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6374484" y="3972396"/>
                    <a:ext cx="1963657" cy="40011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8815077" y="3957804"/>
                    <a:ext cx="1381469"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oMath>
                      </m:oMathPara>
                    </a14:m>
                    <a:endParaRPr lang="zh-CN" altLang="en-US" sz="2000" b="1">
                      <a:solidFill>
                        <a:srgbClr val="002060"/>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8815077" y="3957804"/>
                    <a:ext cx="1381469" cy="400110"/>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8086706" y="4895163"/>
                    <a:ext cx="1065535" cy="400110"/>
                  </a:xfrm>
                  <a:prstGeom prst="rect">
                    <a:avLst/>
                  </a:prstGeom>
                  <a:solidFill>
                    <a:schemeClr val="accent6">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oMath>
                      </m:oMathPara>
                    </a14:m>
                    <a:endParaRPr lang="zh-CN" altLang="en-US" sz="2000" b="1">
                      <a:solidFill>
                        <a:srgbClr val="002060"/>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8086706" y="4895163"/>
                    <a:ext cx="1065535" cy="400110"/>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9782776" y="4895163"/>
                    <a:ext cx="1229494" cy="400110"/>
                  </a:xfrm>
                  <a:prstGeom prst="rect">
                    <a:avLst/>
                  </a:prstGeom>
                  <a:solidFill>
                    <a:schemeClr val="accent6">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oMath>
                      </m:oMathPara>
                    </a14:m>
                    <a:endParaRPr lang="zh-CN" altLang="en-US" sz="2000" b="1">
                      <a:solidFill>
                        <a:srgbClr val="002060"/>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9782776" y="4895163"/>
                    <a:ext cx="1229494" cy="400110"/>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8991050" y="2600049"/>
                    <a:ext cx="1276214" cy="548548"/>
                  </a:xfrm>
                  <a:prstGeom prst="rect">
                    <a:avLst/>
                  </a:prstGeom>
                  <a:solidFill>
                    <a:schemeClr val="accent4">
                      <a:lumMod val="20000"/>
                      <a:lumOff val="80000"/>
                    </a:schemeClr>
                  </a:solidFill>
                </p:spPr>
                <p:txBody>
                  <a:bodyPr wrap="square" lIns="0" tIns="0" rIns="0" bIns="0" rtlCol="0">
                    <a:spAutoFit/>
                  </a:bodyPr>
                  <a:lstStyle/>
                  <a:p>
                    <a:pPr algn="ctr">
                      <a:lnSpc>
                        <a:spcPts val="2200"/>
                      </a:lnSpc>
                    </a:pPr>
                    <a:r>
                      <a:rPr lang="zh-CN" altLang="en-US" sz="1600" b="1">
                        <a:solidFill>
                          <a:schemeClr val="accent2">
                            <a:lumMod val="50000"/>
                          </a:schemeClr>
                        </a:solidFill>
                      </a:rPr>
                      <a:t>以</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𝑹</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𝑺</m:t>
                        </m:r>
                      </m:oMath>
                    </a14:m>
                    <a:r>
                      <a:rPr lang="zh-CN" altLang="en-US" sz="1600" b="1">
                        <a:solidFill>
                          <a:schemeClr val="accent2">
                            <a:lumMod val="50000"/>
                          </a:schemeClr>
                        </a:solidFill>
                      </a:rPr>
                      <a:t>为附加前提</a:t>
                    </a:r>
                    <a:endParaRPr lang="zh-CN" altLang="en-US" sz="1600" b="1">
                      <a:solidFill>
                        <a:schemeClr val="accent2">
                          <a:lumMod val="50000"/>
                        </a:schemeClr>
                      </a:solidFill>
                    </a:endParaRPr>
                  </a:p>
                </p:txBody>
              </p:sp>
            </mc:Choice>
            <mc:Fallback>
              <p:sp>
                <p:nvSpPr>
                  <p:cNvPr id="16" name="文本框 15"/>
                  <p:cNvSpPr txBox="1">
                    <a:spLocks noRot="1" noChangeAspect="1" noMove="1" noResize="1" noEditPoints="1" noAdjustHandles="1" noChangeArrowheads="1" noChangeShapeType="1" noTextEdit="1"/>
                  </p:cNvSpPr>
                  <p:nvPr/>
                </p:nvSpPr>
                <p:spPr>
                  <a:xfrm>
                    <a:off x="8991050" y="2600049"/>
                    <a:ext cx="1276214" cy="548548"/>
                  </a:xfrm>
                  <a:prstGeom prst="rect">
                    <a:avLst/>
                  </a:prstGeom>
                  <a:blipFill rotWithShape="1">
                    <a:blip r:embed="rId9"/>
                  </a:blipFill>
                </p:spPr>
                <p:txBody>
                  <a:bodyPr/>
                  <a:lstStyle/>
                  <a:p>
                    <a:r>
                      <a:rPr lang="zh-CN" altLang="en-US">
                        <a:noFill/>
                      </a:rPr>
                      <a:t> </a:t>
                    </a:r>
                  </a:p>
                </p:txBody>
              </p:sp>
            </mc:Fallback>
          </mc:AlternateContent>
          <p:cxnSp>
            <p:nvCxnSpPr>
              <p:cNvPr id="19" name="直接箭头连接符 18"/>
              <p:cNvCxnSpPr>
                <a:stCxn id="3" idx="2"/>
                <a:endCxn id="4" idx="0"/>
              </p:cNvCxnSpPr>
              <p:nvPr/>
            </p:nvCxnSpPr>
            <p:spPr>
              <a:xfrm>
                <a:off x="8229599" y="2569717"/>
                <a:ext cx="12700" cy="517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箭头: 左 20"/>
              <p:cNvSpPr/>
              <p:nvPr/>
            </p:nvSpPr>
            <p:spPr>
              <a:xfrm>
                <a:off x="8315122" y="2854476"/>
                <a:ext cx="605210" cy="4571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cxnSp>
            <p:nvCxnSpPr>
              <p:cNvPr id="23" name="直接箭头连接符 22"/>
              <p:cNvCxnSpPr>
                <a:stCxn id="4" idx="2"/>
                <a:endCxn id="6" idx="0"/>
              </p:cNvCxnSpPr>
              <p:nvPr/>
            </p:nvCxnSpPr>
            <p:spPr>
              <a:xfrm flipH="1">
                <a:off x="7356313" y="3487205"/>
                <a:ext cx="885714" cy="485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4" idx="2"/>
                <a:endCxn id="13" idx="0"/>
              </p:cNvCxnSpPr>
              <p:nvPr/>
            </p:nvCxnSpPr>
            <p:spPr>
              <a:xfrm>
                <a:off x="8242027" y="3487205"/>
                <a:ext cx="1263785" cy="470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7" name="文本框 26"/>
                  <p:cNvSpPr txBox="1"/>
                  <p:nvPr/>
                </p:nvSpPr>
                <p:spPr>
                  <a:xfrm>
                    <a:off x="6794801" y="4403423"/>
                    <a:ext cx="1097087"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𝒓</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𝑺</m:t>
                        </m:r>
                        <m:r>
                          <a:rPr lang="en-US" altLang="zh-CN" sz="1600" b="1" i="1" smtClean="0">
                            <a:solidFill>
                              <a:schemeClr val="accent2">
                                <a:lumMod val="50000"/>
                              </a:schemeClr>
                            </a:solidFill>
                            <a:latin typeface="Cambria Math" panose="02040503050406030204" pitchFamily="18" charset="0"/>
                          </a:rPr>
                          <m:t>)</m:t>
                        </m:r>
                      </m:oMath>
                    </a14:m>
                    <a:r>
                      <a:rPr lang="zh-CN" altLang="en-US" sz="1600" b="1">
                        <a:solidFill>
                          <a:schemeClr val="accent2">
                            <a:lumMod val="50000"/>
                          </a:schemeClr>
                        </a:solidFill>
                      </a:rPr>
                      <a:t>的定义</a:t>
                    </a:r>
                    <a:endParaRPr lang="zh-CN" altLang="en-US" sz="1600" b="1">
                      <a:solidFill>
                        <a:schemeClr val="accent2">
                          <a:lumMod val="50000"/>
                        </a:schemeClr>
                      </a:solidFill>
                    </a:endParaRPr>
                  </a:p>
                </p:txBody>
              </p:sp>
            </mc:Choice>
            <mc:Fallback>
              <p:sp>
                <p:nvSpPr>
                  <p:cNvPr id="27" name="文本框 26"/>
                  <p:cNvSpPr txBox="1">
                    <a:spLocks noRot="1" noChangeAspect="1" noMove="1" noResize="1" noEditPoints="1" noAdjustHandles="1" noChangeArrowheads="1" noChangeShapeType="1" noTextEdit="1"/>
                  </p:cNvSpPr>
                  <p:nvPr/>
                </p:nvSpPr>
                <p:spPr>
                  <a:xfrm>
                    <a:off x="6794801" y="4403423"/>
                    <a:ext cx="1097087" cy="285656"/>
                  </a:xfrm>
                  <a:prstGeom prst="rect">
                    <a:avLst/>
                  </a:prstGeom>
                  <a:blipFill rotWithShape="1">
                    <a:blip r:embed="rId10"/>
                  </a:blipFill>
                </p:spPr>
                <p:txBody>
                  <a:bodyPr/>
                  <a:lstStyle/>
                  <a:p>
                    <a:r>
                      <a:rPr lang="zh-CN" altLang="en-US">
                        <a:noFill/>
                      </a:rPr>
                      <a:t> </a:t>
                    </a:r>
                  </a:p>
                </p:txBody>
              </p:sp>
            </mc:Fallback>
          </mc:AlternateContent>
          <p:cxnSp>
            <p:nvCxnSpPr>
              <p:cNvPr id="29" name="直接箭头连接符 28"/>
              <p:cNvCxnSpPr>
                <a:stCxn id="13" idx="2"/>
                <a:endCxn id="14" idx="0"/>
              </p:cNvCxnSpPr>
              <p:nvPr/>
            </p:nvCxnSpPr>
            <p:spPr>
              <a:xfrm flipH="1">
                <a:off x="8619474" y="4357914"/>
                <a:ext cx="886338" cy="537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13" idx="2"/>
                <a:endCxn id="15" idx="0"/>
              </p:cNvCxnSpPr>
              <p:nvPr/>
            </p:nvCxnSpPr>
            <p:spPr>
              <a:xfrm>
                <a:off x="9505812" y="4357914"/>
                <a:ext cx="891711" cy="537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文本框 31"/>
                  <p:cNvSpPr txBox="1"/>
                  <p:nvPr/>
                </p:nvSpPr>
                <p:spPr>
                  <a:xfrm>
                    <a:off x="7667167" y="3528023"/>
                    <a:ext cx="1265593" cy="284886"/>
                  </a:xfrm>
                  <a:prstGeom prst="rect">
                    <a:avLst/>
                  </a:prstGeom>
                  <a:solidFill>
                    <a:schemeClr val="accent4">
                      <a:lumMod val="20000"/>
                      <a:lumOff val="80000"/>
                    </a:schemeClr>
                  </a:solidFill>
                </p:spPr>
                <p:txBody>
                  <a:bodyPr wrap="square" lIns="0" tIns="0" rIns="0" bIns="0" rtlCol="0">
                    <a:spAutoFit/>
                  </a:bodyPr>
                  <a:lstStyle/>
                  <a:p>
                    <a:pPr algn="ctr">
                      <a:lnSpc>
                        <a:spcPts val="2400"/>
                      </a:lnSpc>
                    </a:pP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𝒓</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𝑹</m:t>
                        </m:r>
                        <m:r>
                          <a:rPr lang="en-US" altLang="zh-CN" sz="1600" b="1" i="1" smtClean="0">
                            <a:solidFill>
                              <a:schemeClr val="accent2">
                                <a:lumMod val="50000"/>
                              </a:schemeClr>
                            </a:solidFill>
                            <a:latin typeface="Cambria Math" panose="02040503050406030204" pitchFamily="18" charset="0"/>
                          </a:rPr>
                          <m:t>)</m:t>
                        </m:r>
                      </m:oMath>
                    </a14:m>
                    <a:r>
                      <a:rPr lang="zh-CN" altLang="en-US" sz="1600" b="1">
                        <a:solidFill>
                          <a:schemeClr val="accent2">
                            <a:lumMod val="50000"/>
                          </a:schemeClr>
                        </a:solidFill>
                      </a:rPr>
                      <a:t>的最小性</a:t>
                    </a:r>
                    <a:endParaRPr lang="zh-CN" altLang="en-US" sz="1600" b="1">
                      <a:solidFill>
                        <a:schemeClr val="accent2">
                          <a:lumMod val="50000"/>
                        </a:schemeClr>
                      </a:solidFill>
                    </a:endParaRPr>
                  </a:p>
                </p:txBody>
              </p:sp>
            </mc:Choice>
            <mc:Fallback>
              <p:sp>
                <p:nvSpPr>
                  <p:cNvPr id="32" name="文本框 31"/>
                  <p:cNvSpPr txBox="1">
                    <a:spLocks noRot="1" noChangeAspect="1" noMove="1" noResize="1" noEditPoints="1" noAdjustHandles="1" noChangeArrowheads="1" noChangeShapeType="1" noTextEdit="1"/>
                  </p:cNvSpPr>
                  <p:nvPr/>
                </p:nvSpPr>
                <p:spPr>
                  <a:xfrm>
                    <a:off x="7667167" y="3528023"/>
                    <a:ext cx="1265593" cy="284886"/>
                  </a:xfrm>
                  <a:prstGeom prst="rect">
                    <a:avLst/>
                  </a:prstGeom>
                  <a:blipFill rotWithShape="1">
                    <a:blip r:embed="rId11"/>
                  </a:blipFill>
                </p:spPr>
                <p:txBody>
                  <a:bodyPr/>
                  <a:lstStyle/>
                  <a:p>
                    <a:r>
                      <a:rPr lang="zh-CN" altLang="en-US">
                        <a:noFill/>
                      </a:rPr>
                      <a:t> </a:t>
                    </a:r>
                  </a:p>
                </p:txBody>
              </p:sp>
            </mc:Fallback>
          </mc:AlternateContent>
          <p:sp>
            <p:nvSpPr>
              <p:cNvPr id="33" name="文本框 32"/>
              <p:cNvSpPr txBox="1"/>
              <p:nvPr/>
            </p:nvSpPr>
            <p:spPr>
              <a:xfrm>
                <a:off x="8185571" y="5315603"/>
                <a:ext cx="869618"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附加前提</a:t>
                </a:r>
                <a:endParaRPr lang="zh-CN" altLang="en-US" sz="1600" b="1">
                  <a:solidFill>
                    <a:schemeClr val="accent2">
                      <a:lumMod val="50000"/>
                    </a:schemeClr>
                  </a:solidFill>
                </a:endParaRPr>
              </a:p>
            </p:txBody>
          </p:sp>
        </p:grpSp>
        <mc:AlternateContent xmlns:mc="http://schemas.openxmlformats.org/markup-compatibility/2006">
          <mc:Choice xmlns:a14="http://schemas.microsoft.com/office/drawing/2010/main" Requires="a14">
            <p:sp>
              <p:nvSpPr>
                <p:cNvPr id="35" name="文本框 34"/>
                <p:cNvSpPr txBox="1"/>
                <p:nvPr/>
              </p:nvSpPr>
              <p:spPr>
                <a:xfrm>
                  <a:off x="566760" y="4209346"/>
                  <a:ext cx="5793826" cy="1768475"/>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dirty="0">
                      <a:solidFill>
                        <a:srgbClr val="C00000"/>
                      </a:solidFill>
                    </a:rPr>
                    <a:t>证明</a:t>
                  </a:r>
                  <a14:m>
                    <m:oMath xmlns:m="http://schemas.openxmlformats.org/officeDocument/2006/math">
                      <m:r>
                        <a:rPr lang="en-US" altLang="zh-CN" sz="2400" b="1" i="1" smtClean="0">
                          <a:solidFill>
                            <a:srgbClr val="C00000"/>
                          </a:solidFill>
                          <a:latin typeface="Cambria Math" panose="02040503050406030204" pitchFamily="18" charset="0"/>
                        </a:rPr>
                        <m:t>𝑹</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𝑺</m:t>
                      </m:r>
                    </m:oMath>
                  </a14:m>
                  <a:r>
                    <a:rPr lang="zh-CN" altLang="en-US" sz="2400" b="1" dirty="0">
                      <a:solidFill>
                        <a:srgbClr val="C00000"/>
                      </a:solidFill>
                    </a:rPr>
                    <a:t>蕴涵</a:t>
                  </a:r>
                  <a14:m>
                    <m:oMath xmlns:m="http://schemas.openxmlformats.org/officeDocument/2006/math">
                      <m:r>
                        <a:rPr lang="en-US" altLang="zh-CN" sz="2400" b="1" i="1" smtClean="0">
                          <a:solidFill>
                            <a:srgbClr val="C00000"/>
                          </a:solidFill>
                          <a:latin typeface="Cambria Math" panose="02040503050406030204" pitchFamily="18" charset="0"/>
                        </a:rPr>
                        <m:t>𝒓</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𝑹</m:t>
                          </m:r>
                        </m:e>
                      </m:d>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𝒓</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𝑺</m:t>
                      </m:r>
                      <m:r>
                        <a:rPr lang="en-US" altLang="zh-CN" sz="2400" b="1" i="1" smtClean="0">
                          <a:solidFill>
                            <a:srgbClr val="C00000"/>
                          </a:solidFill>
                          <a:latin typeface="Cambria Math" panose="02040503050406030204" pitchFamily="18" charset="0"/>
                        </a:rPr>
                        <m:t>)</m:t>
                      </m:r>
                    </m:oMath>
                  </a14:m>
                  <a:endParaRPr lang="en-US" altLang="zh-CN" sz="2400" b="1" dirty="0">
                    <a:solidFill>
                      <a:srgbClr val="C00000"/>
                    </a:solidFill>
                  </a:endParaRPr>
                </a:p>
                <a:p>
                  <a:pPr>
                    <a:lnSpc>
                      <a:spcPts val="3000"/>
                    </a:lnSpc>
                    <a:spcBef>
                      <a:spcPts val="600"/>
                    </a:spcBef>
                  </a:pPr>
                  <a:r>
                    <a:rPr lang="zh-CN" altLang="en-US" sz="2000" b="1" dirty="0">
                      <a:solidFill>
                        <a:srgbClr val="002060"/>
                      </a:solidFill>
                      <a:latin typeface="楷体" panose="02010609060101010101" pitchFamily="49" charset="-122"/>
                      <a:ea typeface="楷体" panose="02010609060101010101" pitchFamily="49" charset="-122"/>
                    </a:rPr>
                    <a:t>显然当</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oMath>
                  </a14:m>
                  <a:r>
                    <a:rPr lang="zh-CN" altLang="en-US" sz="2000" b="1" dirty="0">
                      <a:solidFill>
                        <a:srgbClr val="002060"/>
                      </a:solidFill>
                      <a:latin typeface="楷体" panose="02010609060101010101" pitchFamily="49" charset="-122"/>
                      <a:ea typeface="楷体" panose="02010609060101010101" pitchFamily="49" charset="-122"/>
                    </a:rPr>
                    <a:t>时，由</a:t>
                  </a:r>
                  <a14:m>
                    <m:oMath xmlns:m="http://schemas.openxmlformats.org/officeDocument/2006/math">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𝑹</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𝒓</m:t>
                      </m:r>
                      <m:d>
                        <m:dPr>
                          <m:ctrlPr>
                            <a:rPr lang="en-US" altLang="zh-CN" sz="2000" b="1" i="1" smtClean="0">
                              <a:solidFill>
                                <a:srgbClr val="002060"/>
                              </a:solidFill>
                              <a:latin typeface="Cambria Math" panose="02040503050406030204" pitchFamily="18" charset="0"/>
                              <a:ea typeface="楷体" panose="02010609060101010101" pitchFamily="49" charset="-122"/>
                            </a:rPr>
                          </m:ctrlPr>
                        </m:dPr>
                        <m:e>
                          <m:r>
                            <a:rPr lang="en-US" altLang="zh-CN" sz="2000" b="1" i="1" smtClean="0">
                              <a:solidFill>
                                <a:srgbClr val="002060"/>
                              </a:solidFill>
                              <a:latin typeface="Cambria Math" panose="02040503050406030204" pitchFamily="18" charset="0"/>
                              <a:ea typeface="楷体" panose="02010609060101010101" pitchFamily="49" charset="-122"/>
                            </a:rPr>
                            <m:t>𝑺</m:t>
                          </m:r>
                        </m:e>
                      </m:d>
                    </m:oMath>
                  </a14:m>
                  <a:r>
                    <a:rPr lang="zh-CN" altLang="en-US" sz="2000" b="1" dirty="0">
                      <a:solidFill>
                        <a:srgbClr val="002060"/>
                      </a:solidFill>
                      <a:latin typeface="楷体" panose="02010609060101010101" pitchFamily="49" charset="-122"/>
                      <a:ea typeface="楷体" panose="02010609060101010101" pitchFamily="49" charset="-122"/>
                    </a:rPr>
                    <a:t>，且</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𝒓</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𝑺</m:t>
                      </m:r>
                      <m:r>
                        <a:rPr lang="en-US" altLang="zh-CN" sz="2000" b="1" i="1" smtClean="0">
                          <a:solidFill>
                            <a:srgbClr val="002060"/>
                          </a:solidFill>
                          <a:latin typeface="Cambria Math" panose="02040503050406030204" pitchFamily="18" charset="0"/>
                          <a:ea typeface="楷体" panose="02010609060101010101" pitchFamily="49" charset="-122"/>
                        </a:rPr>
                        <m:t>)</m:t>
                      </m:r>
                    </m:oMath>
                  </a14:m>
                  <a:r>
                    <a:rPr lang="zh-CN" altLang="en-US" sz="2000" b="1" dirty="0">
                      <a:solidFill>
                        <a:srgbClr val="002060"/>
                      </a:solidFill>
                      <a:latin typeface="楷体" panose="02010609060101010101" pitchFamily="49" charset="-122"/>
                      <a:ea typeface="楷体" panose="02010609060101010101" pitchFamily="49" charset="-122"/>
                    </a:rPr>
                    <a:t>是自反关系，因此由关系闭包定义的最小性</a:t>
                  </a:r>
                  <a:r>
                    <a:rPr lang="en-US" altLang="zh-CN" sz="2000" b="1" dirty="0">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𝒓</m:t>
                      </m:r>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smtClean="0">
                          <a:solidFill>
                            <a:srgbClr val="002060"/>
                          </a:solidFill>
                          <a:latin typeface="Cambria Math" panose="02040503050406030204" pitchFamily="18" charset="0"/>
                          <a:ea typeface="楷体" panose="02010609060101010101" pitchFamily="49" charset="-122"/>
                        </a:rPr>
                        <m:t>𝑹</m:t>
                      </m:r>
                      <m:r>
                        <a:rPr lang="en-US" altLang="zh-CN" sz="2000" b="1" i="1" smtClean="0">
                          <a:solidFill>
                            <a:srgbClr val="002060"/>
                          </a:solidFill>
                          <a:latin typeface="Cambria Math" panose="02040503050406030204" pitchFamily="18" charset="0"/>
                          <a:ea typeface="楷体" panose="02010609060101010101" pitchFamily="49" charset="-122"/>
                        </a:rPr>
                        <m:t>)</m:t>
                      </m:r>
                    </m:oMath>
                  </a14:m>
                  <a:r>
                    <a:rPr lang="zh-CN" altLang="en-US" sz="2000" b="1" dirty="0">
                      <a:solidFill>
                        <a:srgbClr val="002060"/>
                      </a:solidFill>
                      <a:latin typeface="楷体" panose="02010609060101010101" pitchFamily="49" charset="-122"/>
                      <a:ea typeface="楷体" panose="02010609060101010101" pitchFamily="49" charset="-122"/>
                    </a:rPr>
                    <a:t>是包含</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𝑹</m:t>
                      </m:r>
                    </m:oMath>
                  </a14:m>
                  <a:r>
                    <a:rPr lang="zh-CN" altLang="en-US" sz="2000" b="1" dirty="0">
                      <a:solidFill>
                        <a:srgbClr val="002060"/>
                      </a:solidFill>
                      <a:latin typeface="楷体" panose="02010609060101010101" pitchFamily="49" charset="-122"/>
                      <a:ea typeface="楷体" panose="02010609060101010101" pitchFamily="49" charset="-122"/>
                    </a:rPr>
                    <a:t>的最小自反关系，即有</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𝒓</m:t>
                      </m:r>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a:solidFill>
                                <a:srgbClr val="002060"/>
                              </a:solidFill>
                              <a:latin typeface="Cambria Math" panose="02040503050406030204" pitchFamily="18" charset="0"/>
                              <a:ea typeface="楷体" panose="02010609060101010101" pitchFamily="49" charset="-122"/>
                            </a:rPr>
                            <m:t>𝑹</m:t>
                          </m:r>
                        </m:e>
                      </m:d>
                      <m:r>
                        <a:rPr lang="en-US" altLang="zh-CN" sz="2000" b="1">
                          <a:solidFill>
                            <a:srgbClr val="002060"/>
                          </a:solidFill>
                          <a:latin typeface="Cambria Math" panose="02040503050406030204" pitchFamily="18" charset="0"/>
                          <a:ea typeface="楷体" panose="02010609060101010101" pitchFamily="49" charset="-122"/>
                        </a:rPr>
                        <m:t>⊆</m:t>
                      </m:r>
                      <m:r>
                        <a:rPr lang="en-US" altLang="zh-CN" sz="2000" b="1">
                          <a:solidFill>
                            <a:srgbClr val="002060"/>
                          </a:solidFill>
                          <a:latin typeface="Cambria Math" panose="02040503050406030204" pitchFamily="18" charset="0"/>
                          <a:ea typeface="楷体" panose="02010609060101010101" pitchFamily="49" charset="-122"/>
                        </a:rPr>
                        <m:t>𝒓</m:t>
                      </m:r>
                      <m:r>
                        <a:rPr lang="en-US" altLang="zh-CN" sz="2000" b="1">
                          <a:solidFill>
                            <a:srgbClr val="002060"/>
                          </a:solidFill>
                          <a:latin typeface="Cambria Math" panose="02040503050406030204" pitchFamily="18" charset="0"/>
                          <a:ea typeface="楷体" panose="02010609060101010101" pitchFamily="49" charset="-122"/>
                        </a:rPr>
                        <m:t>(</m:t>
                      </m:r>
                      <m:r>
                        <m:rPr>
                          <m:sty m:val="p"/>
                        </m:rPr>
                        <a:rPr lang="en-US" altLang="zh-CN" sz="2000" b="1" i="1">
                          <a:solidFill>
                            <a:srgbClr val="002060"/>
                          </a:solidFill>
                          <a:latin typeface="Cambria Math" panose="02040503050406030204" pitchFamily="18" charset="0"/>
                          <a:ea typeface="楷体" panose="02010609060101010101" pitchFamily="49" charset="-122"/>
                        </a:rPr>
                        <m:t>S</m:t>
                      </m:r>
                      <m:r>
                        <a:rPr lang="en-US" altLang="zh-CN" sz="2000" b="1">
                          <a:solidFill>
                            <a:srgbClr val="002060"/>
                          </a:solidFill>
                          <a:latin typeface="Cambria Math" panose="02040503050406030204" pitchFamily="18" charset="0"/>
                          <a:ea typeface="楷体" panose="02010609060101010101" pitchFamily="49" charset="-122"/>
                        </a:rPr>
                        <m:t>)</m:t>
                      </m:r>
                    </m:oMath>
                  </a14:m>
                  <a:endParaRPr lang="zh-CN" altLang="en-US" sz="2000" b="1" dirty="0">
                    <a:solidFill>
                      <a:srgbClr val="002060"/>
                    </a:solidFill>
                    <a:latin typeface="楷体" panose="02010609060101010101" pitchFamily="49" charset="-122"/>
                    <a:ea typeface="楷体" panose="02010609060101010101" pitchFamily="49" charset="-122"/>
                  </a:endParaRPr>
                </a:p>
              </p:txBody>
            </p:sp>
          </mc:Choice>
          <mc:Fallback>
            <p:sp>
              <p:nvSpPr>
                <p:cNvPr id="35" name="文本框 34"/>
                <p:cNvSpPr txBox="1">
                  <a:spLocks noRot="1" noChangeAspect="1" noMove="1" noResize="1" noEditPoints="1" noAdjustHandles="1" noChangeArrowheads="1" noChangeShapeType="1" noTextEdit="1"/>
                </p:cNvSpPr>
                <p:nvPr/>
              </p:nvSpPr>
              <p:spPr>
                <a:xfrm>
                  <a:off x="566760" y="4209346"/>
                  <a:ext cx="5793826" cy="1768475"/>
                </a:xfrm>
                <a:prstGeom prst="rect">
                  <a:avLst/>
                </a:prstGeom>
                <a:blipFill rotWithShape="1">
                  <a:blip r:embed="rId12"/>
                </a:blipFill>
              </p:spPr>
              <p:txBody>
                <a:bodyPr/>
                <a:lstStyle/>
                <a:p>
                  <a:r>
                    <a:rPr lang="zh-CN" altLang="en-US">
                      <a:noFill/>
                    </a:rPr>
                    <a:t> </a:t>
                  </a:r>
                </a:p>
              </p:txBody>
            </p:sp>
          </mc:Fallback>
        </mc:AlternateContent>
        <p:sp>
          <p:nvSpPr>
            <p:cNvPr id="36" name="矩形 35"/>
            <p:cNvSpPr/>
            <p:nvPr/>
          </p:nvSpPr>
          <p:spPr>
            <a:xfrm>
              <a:off x="6828398" y="2304290"/>
              <a:ext cx="4787256" cy="359232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左 36"/>
            <p:cNvSpPr/>
            <p:nvPr/>
          </p:nvSpPr>
          <p:spPr>
            <a:xfrm>
              <a:off x="6360586" y="5040505"/>
              <a:ext cx="427351" cy="91608"/>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7047696" y="5469018"/>
              <a:ext cx="1134025" cy="369332"/>
            </a:xfrm>
            <a:prstGeom prst="rect">
              <a:avLst/>
            </a:prstGeom>
            <a:solidFill>
              <a:schemeClr val="accent2">
                <a:lumMod val="20000"/>
                <a:lumOff val="80000"/>
              </a:schemeClr>
            </a:solidFill>
          </p:spPr>
          <p:txBody>
            <a:bodyPr wrap="square" rtlCol="0">
              <a:spAutoFit/>
            </a:bodyPr>
            <a:lstStyle/>
            <a:p>
              <a:pPr algn="ctr"/>
              <a:r>
                <a:rPr lang="zh-CN" altLang="en-US" b="1">
                  <a:solidFill>
                    <a:srgbClr val="C00000"/>
                  </a:solidFill>
                </a:rPr>
                <a:t>证明思路</a:t>
              </a:r>
              <a:endParaRPr lang="zh-CN" altLang="en-US" b="1">
                <a:solidFill>
                  <a:srgbClr val="C00000"/>
                </a:solidFill>
              </a:endParaRPr>
            </a:p>
          </p:txBody>
        </p:sp>
        <mc:AlternateContent xmlns:mc="http://schemas.openxmlformats.org/markup-compatibility/2006">
          <mc:Choice xmlns:a14="http://schemas.microsoft.com/office/drawing/2010/main" Requires="a14">
            <p:sp>
              <p:nvSpPr>
                <p:cNvPr id="56" name="文本框 55"/>
                <p:cNvSpPr txBox="1"/>
                <p:nvPr/>
              </p:nvSpPr>
              <p:spPr>
                <a:xfrm>
                  <a:off x="10380000" y="5552553"/>
                  <a:ext cx="1097087"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𝒓</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𝑺</m:t>
                      </m:r>
                      <m:r>
                        <a:rPr lang="en-US" altLang="zh-CN" sz="1600" b="1" i="1" smtClean="0">
                          <a:solidFill>
                            <a:schemeClr val="accent2">
                              <a:lumMod val="50000"/>
                            </a:schemeClr>
                          </a:solidFill>
                          <a:latin typeface="Cambria Math" panose="02040503050406030204" pitchFamily="18" charset="0"/>
                        </a:rPr>
                        <m:t>)</m:t>
                      </m:r>
                    </m:oMath>
                  </a14:m>
                  <a:r>
                    <a:rPr lang="zh-CN" altLang="en-US" sz="1600" b="1">
                      <a:solidFill>
                        <a:schemeClr val="accent2">
                          <a:lumMod val="50000"/>
                        </a:schemeClr>
                      </a:solidFill>
                    </a:rPr>
                    <a:t>的定义</a:t>
                  </a:r>
                  <a:endParaRPr lang="zh-CN" altLang="en-US" sz="1600" b="1">
                    <a:solidFill>
                      <a:schemeClr val="accent2">
                        <a:lumMod val="50000"/>
                      </a:schemeClr>
                    </a:solidFill>
                  </a:endParaRPr>
                </a:p>
              </p:txBody>
            </p:sp>
          </mc:Choice>
          <mc:Fallback>
            <p:sp>
              <p:nvSpPr>
                <p:cNvPr id="56" name="文本框 55"/>
                <p:cNvSpPr txBox="1">
                  <a:spLocks noRot="1" noChangeAspect="1" noMove="1" noResize="1" noEditPoints="1" noAdjustHandles="1" noChangeArrowheads="1" noChangeShapeType="1" noTextEdit="1"/>
                </p:cNvSpPr>
                <p:nvPr/>
              </p:nvSpPr>
              <p:spPr>
                <a:xfrm>
                  <a:off x="10380000" y="5552553"/>
                  <a:ext cx="1097087" cy="285656"/>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7" name="文本框 56"/>
                <p:cNvSpPr txBox="1"/>
                <p:nvPr/>
              </p:nvSpPr>
              <p:spPr>
                <a:xfrm>
                  <a:off x="9403112" y="4634617"/>
                  <a:ext cx="1265593" cy="284886"/>
                </a:xfrm>
                <a:prstGeom prst="rect">
                  <a:avLst/>
                </a:prstGeom>
                <a:solidFill>
                  <a:schemeClr val="accent4">
                    <a:lumMod val="20000"/>
                    <a:lumOff val="80000"/>
                  </a:schemeClr>
                </a:solidFill>
              </p:spPr>
              <p:txBody>
                <a:bodyPr wrap="square" lIns="0" tIns="0" rIns="0" bIns="0" rtlCol="0">
                  <a:spAutoFit/>
                </a:bodyPr>
                <a:lstStyle/>
                <a:p>
                  <a:pPr algn="ctr">
                    <a:lnSpc>
                      <a:spcPts val="2400"/>
                    </a:lnSpc>
                  </a:pP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oMath>
                  </a14:m>
                  <a:r>
                    <a:rPr lang="zh-CN" altLang="en-US" sz="1600" b="1">
                      <a:solidFill>
                        <a:schemeClr val="accent2">
                          <a:lumMod val="50000"/>
                        </a:schemeClr>
                      </a:solidFill>
                    </a:rPr>
                    <a:t>的传递性</a:t>
                  </a:r>
                  <a:endParaRPr lang="zh-CN" altLang="en-US" sz="1600" b="1">
                    <a:solidFill>
                      <a:schemeClr val="accent2">
                        <a:lumMod val="50000"/>
                      </a:schemeClr>
                    </a:solidFill>
                  </a:endParaRPr>
                </a:p>
              </p:txBody>
            </p:sp>
          </mc:Choice>
          <mc:Fallback>
            <p:sp>
              <p:nvSpPr>
                <p:cNvPr id="57" name="文本框 56"/>
                <p:cNvSpPr txBox="1">
                  <a:spLocks noRot="1" noChangeAspect="1" noMove="1" noResize="1" noEditPoints="1" noAdjustHandles="1" noChangeArrowheads="1" noChangeShapeType="1" noTextEdit="1"/>
                </p:cNvSpPr>
                <p:nvPr/>
              </p:nvSpPr>
              <p:spPr>
                <a:xfrm>
                  <a:off x="9403112" y="4634617"/>
                  <a:ext cx="1265593" cy="284886"/>
                </a:xfrm>
                <a:prstGeom prst="rect">
                  <a:avLst/>
                </a:prstGeom>
                <a:blipFill rotWithShape="1">
                  <a:blip r:embed="rId13"/>
                </a:blipFill>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关系闭包的定义与基本性质</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关系闭包性质证明举例</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759486" y="1578931"/>
                <a:ext cx="10673025" cy="984885"/>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400" b="1" dirty="0">
                    <a:solidFill>
                      <a:srgbClr val="C00000"/>
                    </a:solidFill>
                    <a:latin typeface="+mn-ea"/>
                  </a:rPr>
                  <a:t>关系闭包与关系并</a:t>
                </a:r>
                <a:endParaRPr lang="en-US" altLang="zh-CN" sz="2400" b="1" dirty="0">
                  <a:solidFill>
                    <a:srgbClr val="C00000"/>
                  </a:solidFill>
                  <a:latin typeface="+mn-ea"/>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𝒓</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𝒓</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𝒓</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          </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e>
                      </m:d>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         </m:t>
                      </m:r>
                      <m:r>
                        <a:rPr lang="en-US" altLang="zh-CN" sz="2400" b="1" i="1" smtClean="0">
                          <a:solidFill>
                            <a:srgbClr val="002060"/>
                          </a:solidFill>
                          <a:latin typeface="Cambria Math" panose="02040503050406030204" pitchFamily="18" charset="0"/>
                          <a:ea typeface="楷体" panose="02010609060101010101" pitchFamily="49" charset="-122"/>
                        </a:rPr>
                        <m:t>𝒕</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𝒕</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𝒕</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𝑺</m:t>
                          </m:r>
                        </m:e>
                      </m:d>
                    </m:oMath>
                  </m:oMathPara>
                </a14:m>
                <a:endParaRPr lang="en-US" altLang="zh-CN" sz="2400" b="1" dirty="0">
                  <a:solidFill>
                    <a:srgbClr val="002060"/>
                  </a:solidFill>
                  <a:latin typeface="楷体" panose="02010609060101010101" pitchFamily="49" charset="-122"/>
                  <a:ea typeface="楷体" panose="02010609060101010101" pitchFamily="49"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759486" y="1578931"/>
                <a:ext cx="10673025" cy="984885"/>
              </a:xfrm>
              <a:prstGeom prst="rect">
                <a:avLst/>
              </a:prstGeom>
              <a:blipFill rotWithShape="1">
                <a:blip r:embed="rId1"/>
                <a:stretch>
                  <a:fillRect t="-33" r="6"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59486" y="1076268"/>
                <a:ext cx="4182417" cy="400110"/>
              </a:xfrm>
              <a:prstGeom prst="rect">
                <a:avLst/>
              </a:prstGeom>
              <a:solidFill>
                <a:schemeClr val="accent2">
                  <a:lumMod val="20000"/>
                  <a:lumOff val="80000"/>
                </a:schemeClr>
              </a:solidFill>
            </p:spPr>
            <p:txBody>
              <a:bodyPr wrap="square" rtlCol="0">
                <a:spAutoFit/>
              </a:bodyPr>
              <a:lstStyle/>
              <a:p>
                <a:pPr algn="ctr"/>
                <a:r>
                  <a:rPr lang="zh-CN" altLang="en-US" sz="2000" b="1">
                    <a:solidFill>
                      <a:schemeClr val="accent2">
                        <a:lumMod val="50000"/>
                      </a:schemeClr>
                    </a:solidFill>
                  </a:rPr>
                  <a:t>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chemeClr val="accent2">
                        <a:lumMod val="50000"/>
                      </a:schemeClr>
                    </a:solidFill>
                  </a:rPr>
                  <a:t>都是非空集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r>
                  <a:rPr lang="zh-CN" altLang="en-US" sz="2000" b="1">
                    <a:solidFill>
                      <a:schemeClr val="accent2">
                        <a:lumMod val="50000"/>
                      </a:schemeClr>
                    </a:solidFill>
                  </a:rPr>
                  <a:t>上的关系</a:t>
                </a:r>
                <a:endParaRPr lang="zh-CN" altLang="en-US" sz="2000"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759486" y="1076268"/>
                <a:ext cx="4182417" cy="400110"/>
              </a:xfrm>
              <a:prstGeom prst="rect">
                <a:avLst/>
              </a:prstGeom>
              <a:blipFill rotWithShape="1">
                <a:blip r:embed="rId2"/>
                <a:stretch>
                  <a:fillRect l="-1" t="-144" r="8" b="1"/>
                </a:stretch>
              </a:blipFill>
            </p:spPr>
            <p:txBody>
              <a:bodyPr/>
              <a:lstStyle/>
              <a:p>
                <a:r>
                  <a:rPr lang="zh-CN" altLang="en-US">
                    <a:noFill/>
                  </a:rPr>
                  <a:t> </a:t>
                </a:r>
              </a:p>
            </p:txBody>
          </p:sp>
        </mc:Fallback>
      </mc:AlternateContent>
      <p:grpSp>
        <p:nvGrpSpPr>
          <p:cNvPr id="119" name="组合 118"/>
          <p:cNvGrpSpPr/>
          <p:nvPr/>
        </p:nvGrpSpPr>
        <p:grpSpPr>
          <a:xfrm>
            <a:off x="681961" y="2666369"/>
            <a:ext cx="10828073" cy="3605111"/>
            <a:chOff x="703892" y="2664121"/>
            <a:chExt cx="10828073" cy="3605111"/>
          </a:xfrm>
        </p:grpSpPr>
        <p:grpSp>
          <p:nvGrpSpPr>
            <p:cNvPr id="103" name="组合 102"/>
            <p:cNvGrpSpPr/>
            <p:nvPr/>
          </p:nvGrpSpPr>
          <p:grpSpPr>
            <a:xfrm>
              <a:off x="844681" y="2907748"/>
              <a:ext cx="10502633" cy="2973423"/>
              <a:chOff x="627259" y="2834809"/>
              <a:chExt cx="10502633" cy="2973423"/>
            </a:xfrm>
          </p:grpSpPr>
          <mc:AlternateContent xmlns:mc="http://schemas.openxmlformats.org/markup-compatibility/2006">
            <mc:Choice xmlns:a14="http://schemas.microsoft.com/office/drawing/2010/main" Requires="a14">
              <p:sp>
                <p:nvSpPr>
                  <p:cNvPr id="2" name="文本框 1"/>
                  <p:cNvSpPr txBox="1"/>
                  <p:nvPr/>
                </p:nvSpPr>
                <p:spPr>
                  <a:xfrm>
                    <a:off x="4856282" y="2834809"/>
                    <a:ext cx="3006336"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4856282" y="2834809"/>
                    <a:ext cx="3006336" cy="400110"/>
                  </a:xfrm>
                  <a:prstGeom prst="rect">
                    <a:avLst/>
                  </a:prstGeom>
                  <a:blipFill rotWithShape="1">
                    <a:blip r:embed="rId3"/>
                  </a:blipFill>
                </p:spPr>
                <p:txBody>
                  <a:bodyPr/>
                  <a:lstStyle/>
                  <a:p>
                    <a:r>
                      <a:rPr lang="zh-CN" altLang="en-US">
                        <a:noFill/>
                      </a:rPr>
                      <a:t> </a:t>
                    </a:r>
                  </a:p>
                </p:txBody>
              </p:sp>
            </mc:Fallback>
          </mc:AlternateContent>
          <p:grpSp>
            <p:nvGrpSpPr>
              <p:cNvPr id="99" name="组合 98"/>
              <p:cNvGrpSpPr/>
              <p:nvPr/>
            </p:nvGrpSpPr>
            <p:grpSpPr>
              <a:xfrm>
                <a:off x="796487" y="4436742"/>
                <a:ext cx="5756851" cy="400798"/>
                <a:chOff x="796487" y="4436742"/>
                <a:chExt cx="5756851" cy="400798"/>
              </a:xfrm>
            </p:grpSpPr>
            <mc:AlternateContent xmlns:mc="http://schemas.openxmlformats.org/markup-compatibility/2006">
              <mc:Choice xmlns:a14="http://schemas.microsoft.com/office/drawing/2010/main" Requires="a14">
                <p:sp>
                  <p:nvSpPr>
                    <p:cNvPr id="3" name="文本框 2"/>
                    <p:cNvSpPr txBox="1"/>
                    <p:nvPr/>
                  </p:nvSpPr>
                  <p:spPr>
                    <a:xfrm>
                      <a:off x="796487" y="4437430"/>
                      <a:ext cx="2515253"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𝒓</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𝑺</m:t>
                                </m:r>
                              </m:e>
                            </m:d>
                          </m:oMath>
                        </m:oMathPara>
                      </a14:m>
                      <a:endParaRPr lang="zh-CN" altLang="en-US" sz="2000" b="1" dirty="0">
                        <a:solidFill>
                          <a:srgbClr val="002060"/>
                        </a:solidFill>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796487" y="4437430"/>
                      <a:ext cx="2515253" cy="40011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3959927" y="4436742"/>
                      <a:ext cx="2593411" cy="400110"/>
                    </a:xfrm>
                    <a:prstGeom prst="rect">
                      <a:avLst/>
                    </a:prstGeom>
                    <a:solidFill>
                      <a:schemeClr val="accent2">
                        <a:lumMod val="20000"/>
                        <a:lumOff val="80000"/>
                      </a:schemeClr>
                    </a:solidFill>
                  </p:spPr>
                  <p:txBody>
                    <a:bodyPr wrap="square"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是自反的</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3959927" y="4436742"/>
                      <a:ext cx="2593411" cy="400110"/>
                    </a:xfrm>
                    <a:prstGeom prst="rect">
                      <a:avLst/>
                    </a:prstGeom>
                    <a:blipFill rotWithShape="1">
                      <a:blip r:embed="rId5"/>
                    </a:blipFill>
                  </p:spPr>
                  <p:txBody>
                    <a:bodyPr/>
                    <a:lstStyle/>
                    <a:p>
                      <a:r>
                        <a:rPr lang="zh-CN" altLang="en-US">
                          <a:noFill/>
                        </a:rPr>
                        <a:t> </a:t>
                      </a:r>
                    </a:p>
                  </p:txBody>
                </p:sp>
              </mc:Fallback>
            </mc:AlternateContent>
          </p:grpSp>
          <p:grpSp>
            <p:nvGrpSpPr>
              <p:cNvPr id="90" name="组合 89"/>
              <p:cNvGrpSpPr/>
              <p:nvPr/>
            </p:nvGrpSpPr>
            <p:grpSpPr>
              <a:xfrm>
                <a:off x="2313795" y="3556441"/>
                <a:ext cx="8163533" cy="400110"/>
                <a:chOff x="2313795" y="3556441"/>
                <a:chExt cx="8163533" cy="400110"/>
              </a:xfrm>
            </p:grpSpPr>
            <mc:AlternateContent xmlns:mc="http://schemas.openxmlformats.org/markup-compatibility/2006">
              <mc:Choice xmlns:a14="http://schemas.microsoft.com/office/drawing/2010/main" Requires="a14">
                <p:sp>
                  <p:nvSpPr>
                    <p:cNvPr id="6" name="文本框 5"/>
                    <p:cNvSpPr txBox="1"/>
                    <p:nvPr/>
                  </p:nvSpPr>
                  <p:spPr>
                    <a:xfrm>
                      <a:off x="2313795" y="3556441"/>
                      <a:ext cx="2797634"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6" name="文本框 5"/>
                    <p:cNvSpPr txBox="1">
                      <a:spLocks noRot="1" noChangeAspect="1" noMove="1" noResize="1" noEditPoints="1" noAdjustHandles="1" noChangeArrowheads="1" noChangeShapeType="1" noTextEdit="1"/>
                    </p:cNvSpPr>
                    <p:nvPr/>
                  </p:nvSpPr>
                  <p:spPr>
                    <a:xfrm>
                      <a:off x="2313795" y="3556441"/>
                      <a:ext cx="2797634" cy="400110"/>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7679694" y="3556441"/>
                      <a:ext cx="2797634"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13" name="文本框 12"/>
                    <p:cNvSpPr txBox="1">
                      <a:spLocks noRot="1" noChangeAspect="1" noMove="1" noResize="1" noEditPoints="1" noAdjustHandles="1" noChangeArrowheads="1" noChangeShapeType="1" noTextEdit="1"/>
                    </p:cNvSpPr>
                    <p:nvPr/>
                  </p:nvSpPr>
                  <p:spPr>
                    <a:xfrm>
                      <a:off x="7679694" y="3556441"/>
                      <a:ext cx="2797634" cy="400110"/>
                    </a:xfrm>
                    <a:prstGeom prst="rect">
                      <a:avLst/>
                    </a:prstGeom>
                    <a:blipFill rotWithShape="1">
                      <a:blip r:embed="rId7"/>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4" name="文本框 13"/>
                  <p:cNvSpPr txBox="1"/>
                  <p:nvPr/>
                </p:nvSpPr>
                <p:spPr>
                  <a:xfrm>
                    <a:off x="6988675" y="4433327"/>
                    <a:ext cx="2015174"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14" name="文本框 13"/>
                  <p:cNvSpPr txBox="1">
                    <a:spLocks noRot="1" noChangeAspect="1" noMove="1" noResize="1" noEditPoints="1" noAdjustHandles="1" noChangeArrowheads="1" noChangeShapeType="1" noTextEdit="1"/>
                  </p:cNvSpPr>
                  <p:nvPr/>
                </p:nvSpPr>
                <p:spPr>
                  <a:xfrm>
                    <a:off x="6988675" y="4433327"/>
                    <a:ext cx="2015174" cy="400110"/>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627259" y="5407483"/>
                    <a:ext cx="1279729"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15" name="文本框 14"/>
                  <p:cNvSpPr txBox="1">
                    <a:spLocks noRot="1" noChangeAspect="1" noMove="1" noResize="1" noEditPoints="1" noAdjustHandles="1" noChangeArrowheads="1" noChangeShapeType="1" noTextEdit="1"/>
                  </p:cNvSpPr>
                  <p:nvPr/>
                </p:nvSpPr>
                <p:spPr>
                  <a:xfrm>
                    <a:off x="627259" y="5407483"/>
                    <a:ext cx="1279729" cy="400110"/>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1978145" y="5407483"/>
                    <a:ext cx="1203849"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oMath>
                      </m:oMathPara>
                    </a14:m>
                    <a:endParaRPr lang="zh-CN" altLang="en-US" sz="2000" b="1" dirty="0">
                      <a:solidFill>
                        <a:srgbClr val="002060"/>
                      </a:solidFill>
                      <a:latin typeface="楷体" panose="02010609060101010101" pitchFamily="49" charset="-122"/>
                      <a:ea typeface="楷体" panose="02010609060101010101" pitchFamily="49" charset="-122"/>
                    </a:endParaRPr>
                  </a:p>
                </p:txBody>
              </p:sp>
            </mc:Choice>
            <mc:Fallback>
              <p:sp>
                <p:nvSpPr>
                  <p:cNvPr id="18" name="文本框 17"/>
                  <p:cNvSpPr txBox="1">
                    <a:spLocks noRot="1" noChangeAspect="1" noMove="1" noResize="1" noEditPoints="1" noAdjustHandles="1" noChangeArrowheads="1" noChangeShapeType="1" noTextEdit="1"/>
                  </p:cNvSpPr>
                  <p:nvPr/>
                </p:nvSpPr>
                <p:spPr>
                  <a:xfrm>
                    <a:off x="1978145" y="5407483"/>
                    <a:ext cx="1203849" cy="400110"/>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3253151" y="5407483"/>
                    <a:ext cx="1989440" cy="400110"/>
                  </a:xfrm>
                  <a:prstGeom prst="rect">
                    <a:avLst/>
                  </a:prstGeom>
                  <a:solidFill>
                    <a:schemeClr val="accent2">
                      <a:lumMod val="20000"/>
                      <a:lumOff val="80000"/>
                    </a:schemeClr>
                  </a:solidFill>
                </p:spPr>
                <p:txBody>
                  <a:bodyPr wrap="square" rtlCol="0">
                    <a:spAutoFit/>
                  </a:bodyPr>
                  <a:lstStyle/>
                  <a:p>
                    <a:pPr algn="ctr"/>
                    <a14:m>
                      <m:oMath xmlns:m="http://schemas.openxmlformats.org/officeDocument/2006/math">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是自反关系</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3253151" y="5407483"/>
                    <a:ext cx="1989440" cy="400110"/>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5298946" y="5408122"/>
                    <a:ext cx="1989440" cy="400110"/>
                  </a:xfrm>
                  <a:prstGeom prst="rect">
                    <a:avLst/>
                  </a:prstGeom>
                  <a:solidFill>
                    <a:schemeClr val="accent2">
                      <a:lumMod val="20000"/>
                      <a:lumOff val="80000"/>
                    </a:schemeClr>
                  </a:solidFill>
                </p:spPr>
                <p:txBody>
                  <a:bodyPr wrap="square" rtlCol="0">
                    <a:spAutoFit/>
                  </a:bodyPr>
                  <a:lstStyle/>
                  <a:p>
                    <a:pPr algn="ctr"/>
                    <a14:m>
                      <m:oMath xmlns:m="http://schemas.openxmlformats.org/officeDocument/2006/math">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是自反关系</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19" name="文本框 18"/>
                  <p:cNvSpPr txBox="1">
                    <a:spLocks noRot="1" noChangeAspect="1" noMove="1" noResize="1" noEditPoints="1" noAdjustHandles="1" noChangeArrowheads="1" noChangeShapeType="1" noTextEdit="1"/>
                  </p:cNvSpPr>
                  <p:nvPr/>
                </p:nvSpPr>
                <p:spPr>
                  <a:xfrm>
                    <a:off x="5298946" y="5408122"/>
                    <a:ext cx="1989440" cy="400110"/>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9114718" y="4443629"/>
                    <a:ext cx="2015174"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0" name="文本框 19"/>
                  <p:cNvSpPr txBox="1">
                    <a:spLocks noRot="1" noChangeAspect="1" noMove="1" noResize="1" noEditPoints="1" noAdjustHandles="1" noChangeArrowheads="1" noChangeShapeType="1" noTextEdit="1"/>
                  </p:cNvSpPr>
                  <p:nvPr/>
                </p:nvSpPr>
                <p:spPr>
                  <a:xfrm>
                    <a:off x="9114718" y="4443629"/>
                    <a:ext cx="2015174" cy="400110"/>
                  </a:xfrm>
                  <a:prstGeom prst="rect">
                    <a:avLst/>
                  </a:prstGeom>
                  <a:blipFill rotWithShape="1">
                    <a:blip r:embed="rId1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7359543" y="5407483"/>
                    <a:ext cx="1305128"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1" name="文本框 20"/>
                  <p:cNvSpPr txBox="1">
                    <a:spLocks noRot="1" noChangeAspect="1" noMove="1" noResize="1" noEditPoints="1" noAdjustHandles="1" noChangeArrowheads="1" noChangeShapeType="1" noTextEdit="1"/>
                  </p:cNvSpPr>
                  <p:nvPr/>
                </p:nvSpPr>
                <p:spPr>
                  <a:xfrm>
                    <a:off x="7359543" y="5407483"/>
                    <a:ext cx="1305128" cy="400110"/>
                  </a:xfrm>
                  <a:prstGeom prst="rect">
                    <a:avLst/>
                  </a:prstGeom>
                  <a:blipFill rotWithShape="1">
                    <a:blip r:embed="rId1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9469741" y="5390036"/>
                    <a:ext cx="1305128"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oMath>
                      </m:oMathPara>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2" name="文本框 21"/>
                  <p:cNvSpPr txBox="1">
                    <a:spLocks noRot="1" noChangeAspect="1" noMove="1" noResize="1" noEditPoints="1" noAdjustHandles="1" noChangeArrowheads="1" noChangeShapeType="1" noTextEdit="1"/>
                  </p:cNvSpPr>
                  <p:nvPr/>
                </p:nvSpPr>
                <p:spPr>
                  <a:xfrm>
                    <a:off x="9469741" y="5390036"/>
                    <a:ext cx="1305128" cy="400110"/>
                  </a:xfrm>
                  <a:prstGeom prst="rect">
                    <a:avLst/>
                  </a:prstGeom>
                  <a:blipFill rotWithShape="1">
                    <a:blip r:embed="rId15"/>
                  </a:blipFill>
                </p:spPr>
                <p:txBody>
                  <a:bodyPr/>
                  <a:lstStyle/>
                  <a:p>
                    <a:r>
                      <a:rPr lang="zh-CN" altLang="en-US">
                        <a:noFill/>
                      </a:rPr>
                      <a:t> </a:t>
                    </a:r>
                  </a:p>
                </p:txBody>
              </p:sp>
            </mc:Fallback>
          </mc:AlternateContent>
          <p:cxnSp>
            <p:nvCxnSpPr>
              <p:cNvPr id="24" name="直接箭头连接符 23"/>
              <p:cNvCxnSpPr>
                <a:stCxn id="2" idx="2"/>
                <a:endCxn id="6" idx="0"/>
              </p:cNvCxnSpPr>
              <p:nvPr/>
            </p:nvCxnSpPr>
            <p:spPr>
              <a:xfrm flipH="1">
                <a:off x="3712612" y="3234919"/>
                <a:ext cx="2646838" cy="321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 idx="2"/>
                <a:endCxn id="13" idx="0"/>
              </p:cNvCxnSpPr>
              <p:nvPr/>
            </p:nvCxnSpPr>
            <p:spPr>
              <a:xfrm>
                <a:off x="6359450" y="3234919"/>
                <a:ext cx="2719061" cy="321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6" idx="2"/>
                <a:endCxn id="3" idx="0"/>
              </p:cNvCxnSpPr>
              <p:nvPr/>
            </p:nvCxnSpPr>
            <p:spPr>
              <a:xfrm flipH="1">
                <a:off x="2054114" y="3956551"/>
                <a:ext cx="1658498" cy="480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6" idx="2"/>
                <a:endCxn id="4" idx="0"/>
              </p:cNvCxnSpPr>
              <p:nvPr/>
            </p:nvCxnSpPr>
            <p:spPr>
              <a:xfrm>
                <a:off x="3712612" y="3956551"/>
                <a:ext cx="1544021" cy="480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3" idx="2"/>
                <a:endCxn id="15" idx="0"/>
              </p:cNvCxnSpPr>
              <p:nvPr/>
            </p:nvCxnSpPr>
            <p:spPr>
              <a:xfrm flipH="1">
                <a:off x="1267124" y="4837540"/>
                <a:ext cx="786990" cy="5699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3" idx="2"/>
                <a:endCxn id="18" idx="0"/>
              </p:cNvCxnSpPr>
              <p:nvPr/>
            </p:nvCxnSpPr>
            <p:spPr>
              <a:xfrm>
                <a:off x="2054114" y="4837540"/>
                <a:ext cx="525956" cy="5699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4" idx="2"/>
                <a:endCxn id="16" idx="0"/>
              </p:cNvCxnSpPr>
              <p:nvPr/>
            </p:nvCxnSpPr>
            <p:spPr>
              <a:xfrm flipH="1">
                <a:off x="4247871" y="4836852"/>
                <a:ext cx="1008762" cy="5706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4" idx="2"/>
                <a:endCxn id="19" idx="0"/>
              </p:cNvCxnSpPr>
              <p:nvPr/>
            </p:nvCxnSpPr>
            <p:spPr>
              <a:xfrm>
                <a:off x="5256633" y="4836852"/>
                <a:ext cx="1037033" cy="5712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13" idx="2"/>
                <a:endCxn id="14" idx="0"/>
              </p:cNvCxnSpPr>
              <p:nvPr/>
            </p:nvCxnSpPr>
            <p:spPr>
              <a:xfrm flipH="1">
                <a:off x="7996262" y="3956551"/>
                <a:ext cx="1082249" cy="4767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13" idx="2"/>
                <a:endCxn id="20" idx="0"/>
              </p:cNvCxnSpPr>
              <p:nvPr/>
            </p:nvCxnSpPr>
            <p:spPr>
              <a:xfrm>
                <a:off x="9078511" y="3956551"/>
                <a:ext cx="1043794" cy="487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14" idx="2"/>
                <a:endCxn id="21" idx="0"/>
              </p:cNvCxnSpPr>
              <p:nvPr/>
            </p:nvCxnSpPr>
            <p:spPr>
              <a:xfrm>
                <a:off x="7996262" y="4833437"/>
                <a:ext cx="15845" cy="5740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20" idx="2"/>
                <a:endCxn id="22" idx="0"/>
              </p:cNvCxnSpPr>
              <p:nvPr/>
            </p:nvCxnSpPr>
            <p:spPr>
              <a:xfrm>
                <a:off x="10122305" y="4843739"/>
                <a:ext cx="0" cy="5462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4" name="文本框 103"/>
            <p:cNvSpPr txBox="1"/>
            <p:nvPr/>
          </p:nvSpPr>
          <p:spPr>
            <a:xfrm>
              <a:off x="916996" y="5907537"/>
              <a:ext cx="1135098"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闭包的定义</a:t>
              </a:r>
              <a:endParaRPr lang="zh-CN" altLang="en-US" sz="1600" b="1">
                <a:solidFill>
                  <a:schemeClr val="accent2">
                    <a:lumMod val="50000"/>
                  </a:schemeClr>
                </a:solidFill>
              </a:endParaRPr>
            </a:p>
          </p:txBody>
        </p:sp>
        <p:sp>
          <p:nvSpPr>
            <p:cNvPr id="105" name="文本框 104"/>
            <p:cNvSpPr txBox="1"/>
            <p:nvPr/>
          </p:nvSpPr>
          <p:spPr>
            <a:xfrm>
              <a:off x="2229942" y="5907537"/>
              <a:ext cx="1135098"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闭包的定义</a:t>
              </a:r>
              <a:endParaRPr lang="zh-CN" altLang="en-US" sz="1600" b="1">
                <a:solidFill>
                  <a:schemeClr val="accent2">
                    <a:lumMod val="50000"/>
                  </a:schemeClr>
                </a:solidFill>
              </a:endParaRPr>
            </a:p>
          </p:txBody>
        </p:sp>
        <p:sp>
          <p:nvSpPr>
            <p:cNvPr id="106" name="文本框 105"/>
            <p:cNvSpPr txBox="1"/>
            <p:nvPr/>
          </p:nvSpPr>
          <p:spPr>
            <a:xfrm>
              <a:off x="3897744" y="5899593"/>
              <a:ext cx="1135098"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闭包的定义</a:t>
              </a:r>
              <a:endParaRPr lang="zh-CN" altLang="en-US" sz="1600" b="1">
                <a:solidFill>
                  <a:schemeClr val="accent2">
                    <a:lumMod val="50000"/>
                  </a:schemeClr>
                </a:solidFill>
              </a:endParaRPr>
            </a:p>
          </p:txBody>
        </p:sp>
        <p:sp>
          <p:nvSpPr>
            <p:cNvPr id="107" name="文本框 106"/>
            <p:cNvSpPr txBox="1"/>
            <p:nvPr/>
          </p:nvSpPr>
          <p:spPr>
            <a:xfrm>
              <a:off x="5943539" y="5907537"/>
              <a:ext cx="1135098"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闭包的定义</a:t>
              </a:r>
              <a:endParaRPr lang="zh-CN" altLang="en-US" sz="1600" b="1">
                <a:solidFill>
                  <a:schemeClr val="accent2">
                    <a:lumMod val="50000"/>
                  </a:schemeClr>
                </a:solidFill>
              </a:endParaRPr>
            </a:p>
          </p:txBody>
        </p:sp>
        <p:sp>
          <p:nvSpPr>
            <p:cNvPr id="108" name="文本框 107"/>
            <p:cNvSpPr txBox="1"/>
            <p:nvPr/>
          </p:nvSpPr>
          <p:spPr>
            <a:xfrm>
              <a:off x="7661980" y="5907902"/>
              <a:ext cx="1135098"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集合并性质</a:t>
              </a:r>
              <a:endParaRPr lang="zh-CN" altLang="en-US" sz="1600" b="1">
                <a:solidFill>
                  <a:schemeClr val="accent2">
                    <a:lumMod val="50000"/>
                  </a:schemeClr>
                </a:solidFill>
              </a:endParaRPr>
            </a:p>
          </p:txBody>
        </p:sp>
        <p:sp>
          <p:nvSpPr>
            <p:cNvPr id="109" name="文本框 108"/>
            <p:cNvSpPr txBox="1"/>
            <p:nvPr/>
          </p:nvSpPr>
          <p:spPr>
            <a:xfrm>
              <a:off x="9772178" y="5891732"/>
              <a:ext cx="1135098"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集合并性质</a:t>
              </a:r>
              <a:endParaRPr lang="zh-CN" altLang="en-US" sz="1600" b="1">
                <a:solidFill>
                  <a:schemeClr val="accent2">
                    <a:lumMod val="50000"/>
                  </a:schemeClr>
                </a:solidFill>
              </a:endParaRPr>
            </a:p>
          </p:txBody>
        </p:sp>
        <p:sp>
          <p:nvSpPr>
            <p:cNvPr id="110" name="文本框 109"/>
            <p:cNvSpPr txBox="1"/>
            <p:nvPr/>
          </p:nvSpPr>
          <p:spPr>
            <a:xfrm>
              <a:off x="1284722" y="5025741"/>
              <a:ext cx="1834407"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集合并保持子集关系</a:t>
              </a:r>
              <a:endParaRPr lang="zh-CN" altLang="en-US" sz="1600" b="1">
                <a:solidFill>
                  <a:schemeClr val="accent2">
                    <a:lumMod val="50000"/>
                  </a:schemeClr>
                </a:solidFill>
              </a:endParaRPr>
            </a:p>
          </p:txBody>
        </p:sp>
        <p:sp>
          <p:nvSpPr>
            <p:cNvPr id="111" name="文本框 110"/>
            <p:cNvSpPr txBox="1"/>
            <p:nvPr/>
          </p:nvSpPr>
          <p:spPr>
            <a:xfrm>
              <a:off x="4376357" y="5025741"/>
              <a:ext cx="2280022"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rgbClr val="C00000"/>
                  </a:solidFill>
                </a:rPr>
                <a:t>自反关系的并是自反关系</a:t>
              </a:r>
              <a:endParaRPr lang="zh-CN" altLang="en-US" sz="1600" b="1">
                <a:solidFill>
                  <a:srgbClr val="C00000"/>
                </a:solidFill>
              </a:endParaRPr>
            </a:p>
          </p:txBody>
        </p:sp>
        <p:sp>
          <p:nvSpPr>
            <p:cNvPr id="112" name="文本框 111"/>
            <p:cNvSpPr txBox="1"/>
            <p:nvPr/>
          </p:nvSpPr>
          <p:spPr>
            <a:xfrm>
              <a:off x="7372327" y="5027211"/>
              <a:ext cx="1711019"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闭包保持子集关系</a:t>
              </a:r>
              <a:endParaRPr lang="zh-CN" altLang="en-US" sz="1600" b="1">
                <a:solidFill>
                  <a:schemeClr val="accent2">
                    <a:lumMod val="50000"/>
                  </a:schemeClr>
                </a:solidFill>
              </a:endParaRPr>
            </a:p>
          </p:txBody>
        </p:sp>
        <p:sp>
          <p:nvSpPr>
            <p:cNvPr id="113" name="文本框 112"/>
            <p:cNvSpPr txBox="1"/>
            <p:nvPr/>
          </p:nvSpPr>
          <p:spPr>
            <a:xfrm>
              <a:off x="9484217" y="5023196"/>
              <a:ext cx="1711019"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闭包保持子集关系</a:t>
              </a:r>
              <a:endParaRPr lang="zh-CN" altLang="en-US" sz="1600" b="1">
                <a:solidFill>
                  <a:schemeClr val="accent2">
                    <a:lumMod val="50000"/>
                  </a:schemeClr>
                </a:solidFill>
              </a:endParaRPr>
            </a:p>
          </p:txBody>
        </p:sp>
        <p:sp>
          <p:nvSpPr>
            <p:cNvPr id="114" name="文本框 113"/>
            <p:cNvSpPr txBox="1"/>
            <p:nvPr/>
          </p:nvSpPr>
          <p:spPr>
            <a:xfrm>
              <a:off x="3089671" y="4122444"/>
              <a:ext cx="1680725"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关系闭包的最小性</a:t>
              </a:r>
              <a:endParaRPr lang="zh-CN" altLang="en-US" sz="1600" b="1">
                <a:solidFill>
                  <a:schemeClr val="accent2">
                    <a:lumMod val="50000"/>
                  </a:schemeClr>
                </a:solidFill>
              </a:endParaRPr>
            </a:p>
          </p:txBody>
        </p:sp>
        <p:sp>
          <p:nvSpPr>
            <p:cNvPr id="115" name="文本框 114"/>
            <p:cNvSpPr txBox="1"/>
            <p:nvPr/>
          </p:nvSpPr>
          <p:spPr>
            <a:xfrm>
              <a:off x="8728384" y="4125408"/>
              <a:ext cx="1135098"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集合并性质</a:t>
              </a:r>
              <a:endParaRPr lang="zh-CN" altLang="en-US" sz="1600" b="1">
                <a:solidFill>
                  <a:schemeClr val="accent2">
                    <a:lumMod val="50000"/>
                  </a:schemeClr>
                </a:solidFill>
              </a:endParaRPr>
            </a:p>
          </p:txBody>
        </p:sp>
        <mc:AlternateContent xmlns:mc="http://schemas.openxmlformats.org/markup-compatibility/2006">
          <mc:Choice xmlns:a14="http://schemas.microsoft.com/office/drawing/2010/main" Requires="a14">
            <p:sp>
              <p:nvSpPr>
                <p:cNvPr id="116" name="文本框 115"/>
                <p:cNvSpPr txBox="1"/>
                <p:nvPr/>
              </p:nvSpPr>
              <p:spPr>
                <a:xfrm>
                  <a:off x="9221271" y="2722944"/>
                  <a:ext cx="2135353" cy="830997"/>
                </a:xfrm>
                <a:prstGeom prst="rect">
                  <a:avLst/>
                </a:prstGeom>
                <a:solidFill>
                  <a:schemeClr val="accent4">
                    <a:lumMod val="20000"/>
                    <a:lumOff val="80000"/>
                  </a:schemeClr>
                </a:solidFill>
              </p:spPr>
              <p:txBody>
                <a:bodyPr wrap="square" lIns="0" tIns="0" rIns="0" bIns="0" rtlCol="0">
                  <a:spAutoFit/>
                </a:bodyPr>
                <a:lstStyle/>
                <a:p>
                  <a:pPr algn="ctr"/>
                  <a:r>
                    <a:rPr lang="zh-CN" altLang="en-US" b="1">
                      <a:solidFill>
                        <a:srgbClr val="C00000"/>
                      </a:solidFill>
                    </a:rPr>
                    <a:t>集合并性质</a:t>
                  </a:r>
                  <a:endParaRPr lang="en-US" altLang="zh-CN" b="1">
                    <a:solidFill>
                      <a:srgbClr val="C00000"/>
                    </a:solidFill>
                  </a:endParaRPr>
                </a:p>
                <a:p>
                  <a:pPr algn="ctr"/>
                  <a14:m>
                    <m:oMath xmlns:m="http://schemas.openxmlformats.org/officeDocument/2006/math">
                      <m:r>
                        <a:rPr lang="en-US" altLang="zh-CN" b="1" i="1" smtClean="0">
                          <a:solidFill>
                            <a:srgbClr val="C00000"/>
                          </a:solidFill>
                          <a:latin typeface="Cambria Math" panose="02040503050406030204" pitchFamily="18" charset="0"/>
                        </a:rPr>
                        <m:t>𝑨</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𝑩</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𝑪</m:t>
                      </m:r>
                    </m:oMath>
                  </a14:m>
                  <a:r>
                    <a:rPr lang="zh-CN" altLang="en-US" b="1">
                      <a:solidFill>
                        <a:srgbClr val="C00000"/>
                      </a:solidFill>
                    </a:rPr>
                    <a:t>当且仅当</a:t>
                  </a:r>
                  <a14:m>
                    <m:oMath xmlns:m="http://schemas.openxmlformats.org/officeDocument/2006/math">
                      <m:r>
                        <a:rPr lang="en-US" altLang="zh-CN" b="1" i="1" smtClean="0">
                          <a:solidFill>
                            <a:srgbClr val="C00000"/>
                          </a:solidFill>
                          <a:latin typeface="Cambria Math" panose="02040503050406030204" pitchFamily="18" charset="0"/>
                        </a:rPr>
                        <m:t>𝑨</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𝑪</m:t>
                      </m:r>
                    </m:oMath>
                  </a14:m>
                  <a:r>
                    <a:rPr lang="zh-CN" altLang="en-US" b="1">
                      <a:solidFill>
                        <a:srgbClr val="C00000"/>
                      </a:solidFill>
                    </a:rPr>
                    <a:t>且</a:t>
                  </a:r>
                  <a14:m>
                    <m:oMath xmlns:m="http://schemas.openxmlformats.org/officeDocument/2006/math">
                      <m:r>
                        <a:rPr lang="en-US" altLang="zh-CN" b="1" i="1" smtClean="0">
                          <a:solidFill>
                            <a:srgbClr val="C00000"/>
                          </a:solidFill>
                          <a:latin typeface="Cambria Math" panose="02040503050406030204" pitchFamily="18" charset="0"/>
                        </a:rPr>
                        <m:t>𝑩</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𝑪</m:t>
                      </m:r>
                    </m:oMath>
                  </a14:m>
                  <a:endParaRPr lang="zh-CN" altLang="en-US" b="1">
                    <a:solidFill>
                      <a:srgbClr val="C00000"/>
                    </a:solidFill>
                  </a:endParaRPr>
                </a:p>
              </p:txBody>
            </p:sp>
          </mc:Choice>
          <mc:Fallback>
            <p:sp>
              <p:nvSpPr>
                <p:cNvPr id="116" name="文本框 115"/>
                <p:cNvSpPr txBox="1">
                  <a:spLocks noRot="1" noChangeAspect="1" noMove="1" noResize="1" noEditPoints="1" noAdjustHandles="1" noChangeArrowheads="1" noChangeShapeType="1" noTextEdit="1"/>
                </p:cNvSpPr>
                <p:nvPr/>
              </p:nvSpPr>
              <p:spPr>
                <a:xfrm>
                  <a:off x="9221271" y="2722944"/>
                  <a:ext cx="2135353" cy="830997"/>
                </a:xfrm>
                <a:prstGeom prst="rect">
                  <a:avLst/>
                </a:prstGeom>
                <a:blipFill rotWithShape="1">
                  <a:blip r:embed="rId16"/>
                </a:blipFill>
              </p:spPr>
              <p:txBody>
                <a:bodyPr/>
                <a:lstStyle/>
                <a:p>
                  <a:r>
                    <a:rPr lang="zh-CN" altLang="en-US">
                      <a:noFill/>
                    </a:rPr>
                    <a:t> </a:t>
                  </a:r>
                </a:p>
              </p:txBody>
            </p:sp>
          </mc:Fallback>
        </mc:AlternateContent>
        <p:sp>
          <p:nvSpPr>
            <p:cNvPr id="117" name="文本框 116"/>
            <p:cNvSpPr txBox="1"/>
            <p:nvPr/>
          </p:nvSpPr>
          <p:spPr>
            <a:xfrm>
              <a:off x="844681" y="2764515"/>
              <a:ext cx="1134025" cy="369332"/>
            </a:xfrm>
            <a:prstGeom prst="rect">
              <a:avLst/>
            </a:prstGeom>
            <a:solidFill>
              <a:schemeClr val="accent2">
                <a:lumMod val="20000"/>
                <a:lumOff val="80000"/>
              </a:schemeClr>
            </a:solidFill>
          </p:spPr>
          <p:txBody>
            <a:bodyPr wrap="square" rtlCol="0">
              <a:spAutoFit/>
            </a:bodyPr>
            <a:lstStyle/>
            <a:p>
              <a:pPr algn="ctr"/>
              <a:r>
                <a:rPr lang="zh-CN" altLang="en-US" b="1">
                  <a:solidFill>
                    <a:srgbClr val="C00000"/>
                  </a:solidFill>
                </a:rPr>
                <a:t>证明思路</a:t>
              </a:r>
              <a:endParaRPr lang="zh-CN" altLang="en-US" b="1">
                <a:solidFill>
                  <a:srgbClr val="C00000"/>
                </a:solidFill>
              </a:endParaRPr>
            </a:p>
          </p:txBody>
        </p:sp>
        <p:sp>
          <p:nvSpPr>
            <p:cNvPr id="118" name="矩形: 圆角 117"/>
            <p:cNvSpPr/>
            <p:nvPr/>
          </p:nvSpPr>
          <p:spPr>
            <a:xfrm>
              <a:off x="703892" y="2664121"/>
              <a:ext cx="10828073" cy="3605111"/>
            </a:xfrm>
            <a:prstGeom prst="roundRect">
              <a:avLst>
                <a:gd name="adj" fmla="val 7178"/>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关系闭包的定义与基本性质</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关系闭包性质证明练习</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759486" y="1578931"/>
                <a:ext cx="10673025" cy="984885"/>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latin typeface="+mn-ea"/>
                  </a:rPr>
                  <a:t>关系闭包与关系并</a:t>
                </a:r>
                <a:endParaRPr lang="en-US" altLang="zh-CN" sz="2400" b="1">
                  <a:solidFill>
                    <a:srgbClr val="C00000"/>
                  </a:solidFill>
                  <a:latin typeface="+mn-ea"/>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𝒓</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𝒓</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𝒓</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          </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e>
                      </m:d>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         </m:t>
                      </m:r>
                      <m:r>
                        <a:rPr lang="en-US" altLang="zh-CN" sz="2400" b="1" i="1" smtClean="0">
                          <a:solidFill>
                            <a:srgbClr val="002060"/>
                          </a:solidFill>
                          <a:latin typeface="Cambria Math" panose="02040503050406030204" pitchFamily="18" charset="0"/>
                          <a:ea typeface="楷体" panose="02010609060101010101" pitchFamily="49" charset="-122"/>
                        </a:rPr>
                        <m:t>𝒕</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𝒕</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𝒕</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𝑺</m:t>
                          </m:r>
                        </m:e>
                      </m:d>
                    </m:oMath>
                  </m:oMathPara>
                </a14:m>
                <a:endParaRPr lang="en-US" altLang="zh-CN" sz="2400" b="1">
                  <a:solidFill>
                    <a:srgbClr val="002060"/>
                  </a:solidFill>
                  <a:latin typeface="楷体" panose="02010609060101010101" pitchFamily="49" charset="-122"/>
                  <a:ea typeface="楷体" panose="02010609060101010101" pitchFamily="49"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759486" y="1578931"/>
                <a:ext cx="10673025" cy="984885"/>
              </a:xfrm>
              <a:prstGeom prst="rect">
                <a:avLst/>
              </a:prstGeom>
              <a:blipFill rotWithShape="1">
                <a:blip r:embed="rId1"/>
                <a:stretch>
                  <a:fillRect t="-33" r="6"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59486" y="1076268"/>
                <a:ext cx="4182417" cy="400110"/>
              </a:xfrm>
              <a:prstGeom prst="rect">
                <a:avLst/>
              </a:prstGeom>
              <a:solidFill>
                <a:schemeClr val="accent2">
                  <a:lumMod val="20000"/>
                  <a:lumOff val="80000"/>
                </a:schemeClr>
              </a:solidFill>
            </p:spPr>
            <p:txBody>
              <a:bodyPr wrap="square" rtlCol="0">
                <a:spAutoFit/>
              </a:bodyPr>
              <a:lstStyle/>
              <a:p>
                <a:pPr algn="ctr"/>
                <a:r>
                  <a:rPr lang="zh-CN" altLang="en-US" sz="2000" b="1">
                    <a:solidFill>
                      <a:schemeClr val="accent2">
                        <a:lumMod val="50000"/>
                      </a:schemeClr>
                    </a:solidFill>
                  </a:rPr>
                  <a:t>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chemeClr val="accent2">
                        <a:lumMod val="50000"/>
                      </a:schemeClr>
                    </a:solidFill>
                  </a:rPr>
                  <a:t>都是非空集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r>
                  <a:rPr lang="zh-CN" altLang="en-US" sz="2000" b="1">
                    <a:solidFill>
                      <a:schemeClr val="accent2">
                        <a:lumMod val="50000"/>
                      </a:schemeClr>
                    </a:solidFill>
                  </a:rPr>
                  <a:t>上的关系</a:t>
                </a:r>
                <a:endParaRPr lang="zh-CN" altLang="en-US" sz="2000"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759486" y="1076268"/>
                <a:ext cx="4182417" cy="400110"/>
              </a:xfrm>
              <a:prstGeom prst="rect">
                <a:avLst/>
              </a:prstGeom>
              <a:blipFill rotWithShape="1">
                <a:blip r:embed="rId2"/>
                <a:stretch>
                  <a:fillRect l="-1" t="-144" r="8"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501053" y="2794777"/>
                <a:ext cx="11189887" cy="2574487"/>
              </a:xfrm>
              <a:prstGeom prst="rect">
                <a:avLst/>
              </a:prstGeom>
              <a:solidFill>
                <a:schemeClr val="accent6">
                  <a:lumMod val="20000"/>
                  <a:lumOff val="80000"/>
                  <a:alpha val="50000"/>
                </a:schemeClr>
              </a:solidFill>
            </p:spPr>
            <p:txBody>
              <a:bodyPr wrap="square" rtlCol="0">
                <a:spAutoFit/>
              </a:bodyPr>
              <a:lstStyle/>
              <a:p>
                <a:pPr algn="ctr">
                  <a:spcBef>
                    <a:spcPts val="900"/>
                  </a:spcBef>
                </a:pPr>
                <a:r>
                  <a:rPr lang="zh-CN" altLang="en-US" sz="2400" b="1">
                    <a:solidFill>
                      <a:srgbClr val="C00000"/>
                    </a:solidFill>
                  </a:rPr>
                  <a:t>证明</a:t>
                </a:r>
                <a14:m>
                  <m:oMath xmlns:m="http://schemas.openxmlformats.org/officeDocument/2006/math">
                    <m:r>
                      <a:rPr lang="en-US" altLang="zh-CN" sz="2400" b="1" i="1" smtClean="0">
                        <a:solidFill>
                          <a:srgbClr val="C00000"/>
                        </a:solidFill>
                        <a:latin typeface="Cambria Math" panose="02040503050406030204" pitchFamily="18" charset="0"/>
                      </a:rPr>
                      <m:t>𝒔</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𝑹</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𝑺</m:t>
                        </m:r>
                      </m:e>
                    </m:d>
                    <m:r>
                      <a:rPr lang="en-US" altLang="zh-CN" sz="2400" b="1" i="1" smtClean="0">
                        <a:solidFill>
                          <a:srgbClr val="C0000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𝒔</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𝑹</m:t>
                        </m:r>
                      </m:e>
                    </m:d>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𝒔</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𝑺</m:t>
                        </m:r>
                      </m:e>
                    </m:d>
                  </m:oMath>
                </a14:m>
                <a:endParaRPr lang="en-US" altLang="zh-CN" sz="2400" b="1">
                  <a:solidFill>
                    <a:srgbClr val="C00000"/>
                  </a:solidFill>
                </a:endParaRPr>
              </a:p>
              <a:p>
                <a:pPr marL="342900" indent="-342900">
                  <a:lnSpc>
                    <a:spcPts val="3000"/>
                  </a:lnSpc>
                  <a:spcBef>
                    <a:spcPts val="900"/>
                  </a:spcBef>
                  <a:buFont typeface="Arial" panose="020B0604020202020204" pitchFamily="34" charset="0"/>
                  <a:buChar char="•"/>
                </a:pPr>
                <a:r>
                  <a:rPr lang="zh-CN" altLang="en-US" sz="2000" b="1">
                    <a:solidFill>
                      <a:srgbClr val="C00000"/>
                    </a:solidFill>
                  </a:rPr>
                  <a:t>证明</a:t>
                </a:r>
                <a14:m>
                  <m:oMath xmlns:m="http://schemas.openxmlformats.org/officeDocument/2006/math">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𝑺</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𝑺</m:t>
                        </m:r>
                      </m:e>
                    </m:d>
                  </m:oMath>
                </a14:m>
                <a:r>
                  <a:rPr lang="zh-CN" altLang="en-US" sz="2000" b="1"/>
                  <a:t>：</a:t>
                </a:r>
                <a:r>
                  <a:rPr lang="zh-CN" altLang="en-US" sz="2000" b="1">
                    <a:solidFill>
                      <a:srgbClr val="002060"/>
                    </a:solidFill>
                    <a:latin typeface="楷体" panose="02010609060101010101" pitchFamily="49" charset="-122"/>
                    <a:ea typeface="楷体" panose="02010609060101010101" pitchFamily="49" charset="-122"/>
                  </a:rPr>
                  <a:t>因为</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，由         </a:t>
                </a:r>
                <a:r>
                  <a:rPr lang="en-US" altLang="zh-CN" sz="2000" b="1">
                    <a:solidFill>
                      <a:srgbClr val="C00000"/>
                    </a:solidFill>
                    <a:latin typeface="+mn-ea"/>
                  </a:rPr>
                  <a:t>(1)              </a:t>
                </a:r>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𝑹</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𝒔</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𝑹</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，同理有</a:t>
                </a:r>
                <a14:m>
                  <m:oMath xmlns:m="http://schemas.openxmlformats.org/officeDocument/2006/math">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，从而由     </a:t>
                </a:r>
                <a:r>
                  <a:rPr lang="en-US" altLang="zh-CN" sz="2000" b="1">
                    <a:solidFill>
                      <a:srgbClr val="C00000"/>
                    </a:solidFill>
                    <a:latin typeface="+mn-ea"/>
                  </a:rPr>
                  <a:t>(2)         </a:t>
                </a:r>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a:t>
                </a:r>
                <a:endParaRPr lang="zh-CN" altLang="en-US" sz="2000" b="1">
                  <a:solidFill>
                    <a:srgbClr val="002060"/>
                  </a:solidFill>
                  <a:latin typeface="楷体" panose="02010609060101010101" pitchFamily="49" charset="-122"/>
                  <a:ea typeface="楷体" panose="02010609060101010101" pitchFamily="49" charset="-122"/>
                </a:endParaRPr>
              </a:p>
              <a:p>
                <a:pPr marL="342900" indent="-342900">
                  <a:lnSpc>
                    <a:spcPts val="3000"/>
                  </a:lnSpc>
                  <a:spcBef>
                    <a:spcPts val="900"/>
                  </a:spcBef>
                  <a:buFont typeface="Arial" panose="020B0604020202020204" pitchFamily="34" charset="0"/>
                  <a:buChar char="•"/>
                </a:pPr>
                <a:r>
                  <a:rPr lang="zh-CN" altLang="en-US" sz="2000" b="1">
                    <a:solidFill>
                      <a:srgbClr val="C00000"/>
                    </a:solidFill>
                  </a:rPr>
                  <a:t>证明</a:t>
                </a:r>
                <a14:m>
                  <m:oMath xmlns:m="http://schemas.openxmlformats.org/officeDocument/2006/math">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𝑺</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𝑺</m:t>
                        </m:r>
                      </m:e>
                    </m:d>
                  </m:oMath>
                </a14:m>
                <a:r>
                  <a:rPr lang="zh-CN" altLang="en-US" sz="2000" b="1"/>
                  <a:t>：</a:t>
                </a:r>
                <a:r>
                  <a:rPr lang="zh-CN" altLang="en-US" sz="2000" b="1">
                    <a:solidFill>
                      <a:srgbClr val="002060"/>
                    </a:solidFill>
                    <a:latin typeface="楷体" panose="02010609060101010101" pitchFamily="49" charset="-122"/>
                    <a:ea typeface="楷体" panose="02010609060101010101" pitchFamily="49" charset="-122"/>
                  </a:rPr>
                  <a:t>根据    </a:t>
                </a:r>
                <a:r>
                  <a:rPr lang="en-US" altLang="zh-CN" sz="2000" b="1">
                    <a:solidFill>
                      <a:srgbClr val="C00000"/>
                    </a:solidFill>
                    <a:latin typeface="+mn-ea"/>
                  </a:rPr>
                  <a:t>(3)      </a:t>
                </a:r>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，由        </a:t>
                </a:r>
                <a:r>
                  <a:rPr lang="en-US" altLang="zh-CN" sz="2000" b="1">
                    <a:solidFill>
                      <a:srgbClr val="C00000"/>
                    </a:solidFill>
                    <a:latin typeface="+mn-ea"/>
                  </a:rPr>
                  <a:t>(4)             </a:t>
                </a:r>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。另一方面</a:t>
                </a:r>
                <a14:m>
                  <m:oMath xmlns:m="http://schemas.openxmlformats.org/officeDocument/2006/math">
                    <m:r>
                      <a:rPr lang="en-US" altLang="zh-CN" sz="2000" b="1" i="1" smtClean="0">
                        <a:solidFill>
                          <a:srgbClr val="002060"/>
                        </a:solidFill>
                        <a:latin typeface="Cambria Math" panose="02040503050406030204" pitchFamily="18" charset="0"/>
                      </a:rPr>
                      <m:t>𝒔</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rPr>
                      <m:t>𝒔</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都是对称关系，由            </a:t>
                </a:r>
                <a:r>
                  <a:rPr lang="en-US" altLang="zh-CN" sz="2000" b="1" i="0">
                    <a:solidFill>
                      <a:srgbClr val="C00000"/>
                    </a:solidFill>
                    <a:latin typeface="+mn-ea"/>
                  </a:rPr>
                  <a:t>(5)</a:t>
                </a:r>
                <a:r>
                  <a:rPr lang="zh-CN" altLang="en-US" sz="2000" b="1" i="0">
                    <a:solidFill>
                      <a:srgbClr val="C00000"/>
                    </a:solidFill>
                    <a:latin typeface="+mn-ea"/>
                  </a:rPr>
                  <a:t>                     </a:t>
                </a:r>
                <a:r>
                  <a:rPr lang="zh-CN" altLang="en-US" sz="2000" b="1">
                    <a:solidFill>
                      <a:srgbClr val="002060"/>
                    </a:solidFill>
                    <a:latin typeface="楷体" panose="02010609060101010101" pitchFamily="49" charset="-122"/>
                    <a:ea typeface="楷体" panose="02010609060101010101" pitchFamily="49" charset="-122"/>
                  </a:rPr>
                  <a:t>可得</a:t>
                </a:r>
                <a14:m>
                  <m:oMath xmlns:m="http://schemas.openxmlformats.org/officeDocument/2006/math">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也是对称关系，从而由       </a:t>
                </a:r>
                <a:r>
                  <a:rPr lang="en-US" altLang="zh-CN" sz="2000" b="1">
                    <a:solidFill>
                      <a:srgbClr val="C00000"/>
                    </a:solidFill>
                    <a:latin typeface="+mn-ea"/>
                  </a:rPr>
                  <a:t>(6)            </a:t>
                </a:r>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a:t>
                </a:r>
                <a:endParaRPr lang="zh-CN" altLang="en-US" sz="2000" b="1">
                  <a:latin typeface="楷体" panose="02010609060101010101" pitchFamily="49" charset="-122"/>
                  <a:ea typeface="楷体" panose="02010609060101010101" pitchFamily="49" charset="-122"/>
                </a:endParaRPr>
              </a:p>
            </p:txBody>
          </p:sp>
        </mc:Choice>
        <mc:Fallback>
          <p:sp>
            <p:nvSpPr>
              <p:cNvPr id="23" name="文本框 22"/>
              <p:cNvSpPr txBox="1">
                <a:spLocks noRot="1" noChangeAspect="1" noMove="1" noResize="1" noEditPoints="1" noAdjustHandles="1" noChangeArrowheads="1" noChangeShapeType="1" noTextEdit="1"/>
              </p:cNvSpPr>
              <p:nvPr/>
            </p:nvSpPr>
            <p:spPr>
              <a:xfrm>
                <a:off x="501053" y="2794777"/>
                <a:ext cx="11189887" cy="2574487"/>
              </a:xfrm>
              <a:prstGeom prst="rect">
                <a:avLst/>
              </a:prstGeom>
              <a:blipFill rotWithShape="1">
                <a:blip r:embed="rId3"/>
                <a:stretch>
                  <a:fillRect t="-6" r="5" b="13"/>
                </a:stretch>
              </a:blipFill>
            </p:spPr>
            <p:txBody>
              <a:bodyPr/>
              <a:lstStyle/>
              <a:p>
                <a:r>
                  <a:rPr lang="zh-CN" altLang="en-US">
                    <a:noFill/>
                  </a:rPr>
                  <a:t> </a:t>
                </a:r>
              </a:p>
            </p:txBody>
          </p:sp>
        </mc:Fallback>
      </mc:AlternateContent>
      <p:graphicFrame>
        <p:nvGraphicFramePr>
          <p:cNvPr id="55" name="表格 54"/>
          <p:cNvGraphicFramePr>
            <a:graphicFrameLocks noGrp="1"/>
          </p:cNvGraphicFramePr>
          <p:nvPr/>
        </p:nvGraphicFramePr>
        <p:xfrm>
          <a:off x="1333776" y="5530711"/>
          <a:ext cx="9524443" cy="792480"/>
        </p:xfrm>
        <a:graphic>
          <a:graphicData uri="http://schemas.openxmlformats.org/drawingml/2006/table">
            <a:tbl>
              <a:tblPr firstRow="1" bandRow="1">
                <a:tableStyleId>{5C22544A-7EE6-4342-B048-85BDC9FD1C3A}</a:tableStyleId>
              </a:tblPr>
              <a:tblGrid>
                <a:gridCol w="2314498"/>
                <a:gridCol w="3269473"/>
                <a:gridCol w="3940472"/>
              </a:tblGrid>
              <a:tr h="370840">
                <a:tc>
                  <a:txBody>
                    <a:bodyPr/>
                    <a:lstStyle/>
                    <a:p>
                      <a:pPr algn="l"/>
                      <a:r>
                        <a:rPr lang="en-US" altLang="zh-CN" sz="2000" b="1">
                          <a:solidFill>
                            <a:schemeClr val="accent2">
                              <a:lumMod val="50000"/>
                            </a:schemeClr>
                          </a:solidFill>
                        </a:rPr>
                        <a:t>A.  </a:t>
                      </a:r>
                      <a:r>
                        <a:rPr lang="zh-CN" altLang="en-US" sz="2000" b="1">
                          <a:solidFill>
                            <a:schemeClr val="accent2">
                              <a:lumMod val="50000"/>
                            </a:schemeClr>
                          </a:solidFill>
                        </a:rPr>
                        <a:t>闭包的定义</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B.  </a:t>
                      </a:r>
                      <a:r>
                        <a:rPr lang="zh-CN" altLang="en-US" sz="2000" b="1">
                          <a:solidFill>
                            <a:schemeClr val="accent2">
                              <a:lumMod val="50000"/>
                            </a:schemeClr>
                          </a:solidFill>
                        </a:rPr>
                        <a:t>关系闭包保持子集关系</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C. </a:t>
                      </a:r>
                      <a:r>
                        <a:rPr lang="zh-CN" altLang="en-US" sz="2000" b="1">
                          <a:solidFill>
                            <a:schemeClr val="accent2">
                              <a:lumMod val="50000"/>
                            </a:schemeClr>
                          </a:solidFill>
                        </a:rPr>
                        <a:t>关系闭包的最小性</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r>
              <a:tr h="370840">
                <a:tc>
                  <a:txBody>
                    <a:bodyPr/>
                    <a:lstStyle/>
                    <a:p>
                      <a:pPr algn="l"/>
                      <a:r>
                        <a:rPr lang="en-US" altLang="zh-CN" sz="2000" b="1">
                          <a:solidFill>
                            <a:schemeClr val="accent2">
                              <a:lumMod val="50000"/>
                            </a:schemeClr>
                          </a:solidFill>
                        </a:rPr>
                        <a:t>D.  </a:t>
                      </a:r>
                      <a:r>
                        <a:rPr lang="zh-CN" altLang="en-US" sz="2000" b="1">
                          <a:solidFill>
                            <a:schemeClr val="accent2">
                              <a:lumMod val="50000"/>
                            </a:schemeClr>
                          </a:solidFill>
                        </a:rPr>
                        <a:t>集合并的性质</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E.  </a:t>
                      </a:r>
                      <a:r>
                        <a:rPr lang="zh-CN" altLang="en-US" sz="2000" b="1">
                          <a:solidFill>
                            <a:schemeClr val="accent2">
                              <a:lumMod val="50000"/>
                            </a:schemeClr>
                          </a:solidFill>
                        </a:rPr>
                        <a:t>集合并保持子集关系</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F.  </a:t>
                      </a:r>
                      <a:r>
                        <a:rPr lang="zh-CN" altLang="en-US" sz="2000" b="1">
                          <a:solidFill>
                            <a:schemeClr val="accent2">
                              <a:lumMod val="50000"/>
                            </a:schemeClr>
                          </a:solidFill>
                        </a:rPr>
                        <a:t>对称关系的并仍然是对称关系</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r>
            </a:tbl>
          </a:graphicData>
        </a:graphic>
      </p:graphicFrame>
      <mc:AlternateContent xmlns:mc="http://schemas.openxmlformats.org/markup-compatibility/2006">
        <mc:Choice xmlns:a14="http://schemas.microsoft.com/office/drawing/2010/main" Requires="a14">
          <p:sp>
            <p:nvSpPr>
              <p:cNvPr id="27" name="矩形 26"/>
              <p:cNvSpPr/>
              <p:nvPr/>
            </p:nvSpPr>
            <p:spPr>
              <a:xfrm>
                <a:off x="7986804" y="2635130"/>
                <a:ext cx="3893817" cy="692626"/>
              </a:xfrm>
              <a:prstGeom prst="rect">
                <a:avLst/>
              </a:prstGeom>
              <a:solidFill>
                <a:schemeClr val="accent4">
                  <a:lumMod val="20000"/>
                  <a:lumOff val="80000"/>
                </a:schemeClr>
              </a:solidFill>
            </p:spPr>
            <p:txBody>
              <a:bodyPr wrap="square">
                <a:spAutoFit/>
              </a:bodyPr>
              <a:lstStyle/>
              <a:p>
                <a:pPr>
                  <a:lnSpc>
                    <a:spcPts val="2400"/>
                  </a:lnSpc>
                </a:pPr>
                <a:r>
                  <a:rPr lang="zh-CN" altLang="en-US" b="1">
                    <a:solidFill>
                      <a:schemeClr val="accent2">
                        <a:lumMod val="50000"/>
                      </a:schemeClr>
                    </a:solidFill>
                  </a:rPr>
                  <a:t>根据证明</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𝒓</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𝑺</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𝒓</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𝑹</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𝒓</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𝑺</m:t>
                        </m:r>
                      </m:e>
                    </m:d>
                  </m:oMath>
                </a14:m>
                <a:r>
                  <a:rPr lang="zh-CN" altLang="en-US" b="1">
                    <a:solidFill>
                      <a:schemeClr val="accent2">
                        <a:lumMod val="50000"/>
                      </a:schemeClr>
                    </a:solidFill>
                  </a:rPr>
                  <a:t>的思路，使用下面选项字母填空补全证明</a:t>
                </a:r>
                <a:endParaRPr lang="zh-CN" altLang="en-US"/>
              </a:p>
            </p:txBody>
          </p:sp>
        </mc:Choice>
        <mc:Fallback>
          <p:sp>
            <p:nvSpPr>
              <p:cNvPr id="27" name="矩形 26"/>
              <p:cNvSpPr>
                <a:spLocks noRot="1" noChangeAspect="1" noMove="1" noResize="1" noEditPoints="1" noAdjustHandles="1" noChangeArrowheads="1" noChangeShapeType="1" noTextEdit="1"/>
              </p:cNvSpPr>
              <p:nvPr/>
            </p:nvSpPr>
            <p:spPr>
              <a:xfrm>
                <a:off x="7986804" y="2635130"/>
                <a:ext cx="3893817" cy="692626"/>
              </a:xfrm>
              <a:prstGeom prst="rect">
                <a:avLst/>
              </a:prstGeom>
              <a:blipFill rotWithShape="1">
                <a:blip r:embed="rId4"/>
                <a:stretch>
                  <a:fillRect l="-11" t="-74" r="10" b="51"/>
                </a:stretch>
              </a:blipFill>
            </p:spPr>
            <p:txBody>
              <a:bodyPr/>
              <a:lstStyle/>
              <a:p>
                <a:r>
                  <a:rPr lang="zh-CN" altLang="en-US">
                    <a:noFill/>
                  </a:rPr>
                  <a:t> </a:t>
                </a:r>
              </a:p>
            </p:txBody>
          </p:sp>
        </mc:Fallback>
      </mc:AlternateContent>
      <p:cxnSp>
        <p:nvCxnSpPr>
          <p:cNvPr id="30" name="直接连接符 29"/>
          <p:cNvCxnSpPr/>
          <p:nvPr/>
        </p:nvCxnSpPr>
        <p:spPr>
          <a:xfrm>
            <a:off x="6400800" y="3677335"/>
            <a:ext cx="2539269"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9026685" y="4553361"/>
            <a:ext cx="2327663"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4770449" y="5296722"/>
            <a:ext cx="2097419"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4211284" y="4046822"/>
            <a:ext cx="1607874"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7670434" y="4921752"/>
            <a:ext cx="3387885"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4770449" y="4553361"/>
            <a:ext cx="1268538" cy="1096"/>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关系闭包的定义与基本性质</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关系闭包性质证明练习</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759486" y="1578931"/>
                <a:ext cx="10673025" cy="984885"/>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latin typeface="+mn-ea"/>
                  </a:rPr>
                  <a:t>关系闭包与关系并</a:t>
                </a:r>
                <a:endParaRPr lang="en-US" altLang="zh-CN" sz="2400" b="1">
                  <a:solidFill>
                    <a:srgbClr val="C00000"/>
                  </a:solidFill>
                  <a:latin typeface="+mn-ea"/>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𝒓</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𝒓</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𝒓</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          </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e>
                      </m:d>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         </m:t>
                      </m:r>
                      <m:r>
                        <a:rPr lang="en-US" altLang="zh-CN" sz="2400" b="1" i="1" smtClean="0">
                          <a:solidFill>
                            <a:srgbClr val="002060"/>
                          </a:solidFill>
                          <a:latin typeface="Cambria Math" panose="02040503050406030204" pitchFamily="18" charset="0"/>
                          <a:ea typeface="楷体" panose="02010609060101010101" pitchFamily="49" charset="-122"/>
                        </a:rPr>
                        <m:t>𝒕</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𝒕</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𝒕</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𝑺</m:t>
                          </m:r>
                        </m:e>
                      </m:d>
                    </m:oMath>
                  </m:oMathPara>
                </a14:m>
                <a:endParaRPr lang="en-US" altLang="zh-CN" sz="2400" b="1">
                  <a:solidFill>
                    <a:srgbClr val="002060"/>
                  </a:solidFill>
                  <a:latin typeface="楷体" panose="02010609060101010101" pitchFamily="49" charset="-122"/>
                  <a:ea typeface="楷体" panose="02010609060101010101" pitchFamily="49"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759486" y="1578931"/>
                <a:ext cx="10673025" cy="984885"/>
              </a:xfrm>
              <a:prstGeom prst="rect">
                <a:avLst/>
              </a:prstGeom>
              <a:blipFill rotWithShape="1">
                <a:blip r:embed="rId1"/>
                <a:stretch>
                  <a:fillRect t="-33" r="6"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59486" y="1076268"/>
                <a:ext cx="4182417" cy="400110"/>
              </a:xfrm>
              <a:prstGeom prst="rect">
                <a:avLst/>
              </a:prstGeom>
              <a:solidFill>
                <a:schemeClr val="accent2">
                  <a:lumMod val="20000"/>
                  <a:lumOff val="80000"/>
                </a:schemeClr>
              </a:solidFill>
            </p:spPr>
            <p:txBody>
              <a:bodyPr wrap="square" rtlCol="0">
                <a:spAutoFit/>
              </a:bodyPr>
              <a:lstStyle/>
              <a:p>
                <a:pPr algn="ctr"/>
                <a:r>
                  <a:rPr lang="zh-CN" altLang="en-US" sz="2000" b="1">
                    <a:solidFill>
                      <a:schemeClr val="accent2">
                        <a:lumMod val="50000"/>
                      </a:schemeClr>
                    </a:solidFill>
                  </a:rPr>
                  <a:t>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chemeClr val="accent2">
                        <a:lumMod val="50000"/>
                      </a:schemeClr>
                    </a:solidFill>
                  </a:rPr>
                  <a:t>都是非空集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r>
                  <a:rPr lang="zh-CN" altLang="en-US" sz="2000" b="1">
                    <a:solidFill>
                      <a:schemeClr val="accent2">
                        <a:lumMod val="50000"/>
                      </a:schemeClr>
                    </a:solidFill>
                  </a:rPr>
                  <a:t>上的关系</a:t>
                </a:r>
                <a:endParaRPr lang="zh-CN" altLang="en-US" sz="2000"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759486" y="1076268"/>
                <a:ext cx="4182417" cy="400110"/>
              </a:xfrm>
              <a:prstGeom prst="rect">
                <a:avLst/>
              </a:prstGeom>
              <a:blipFill rotWithShape="1">
                <a:blip r:embed="rId2"/>
                <a:stretch>
                  <a:fillRect l="-1" t="-144" r="8"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501053" y="2794777"/>
                <a:ext cx="11189887" cy="2574487"/>
              </a:xfrm>
              <a:prstGeom prst="rect">
                <a:avLst/>
              </a:prstGeom>
              <a:solidFill>
                <a:schemeClr val="accent6">
                  <a:lumMod val="20000"/>
                  <a:lumOff val="80000"/>
                  <a:alpha val="50000"/>
                </a:schemeClr>
              </a:solidFill>
            </p:spPr>
            <p:txBody>
              <a:bodyPr wrap="square" rtlCol="0">
                <a:spAutoFit/>
              </a:bodyPr>
              <a:lstStyle/>
              <a:p>
                <a:pPr algn="ctr">
                  <a:spcBef>
                    <a:spcPts val="900"/>
                  </a:spcBef>
                </a:pPr>
                <a:r>
                  <a:rPr lang="zh-CN" altLang="en-US" sz="2400" b="1">
                    <a:solidFill>
                      <a:srgbClr val="C00000"/>
                    </a:solidFill>
                  </a:rPr>
                  <a:t>证明</a:t>
                </a:r>
                <a14:m>
                  <m:oMath xmlns:m="http://schemas.openxmlformats.org/officeDocument/2006/math">
                    <m:r>
                      <a:rPr lang="en-US" altLang="zh-CN" sz="2400" b="1" i="1" smtClean="0">
                        <a:solidFill>
                          <a:srgbClr val="C00000"/>
                        </a:solidFill>
                        <a:latin typeface="Cambria Math" panose="02040503050406030204" pitchFamily="18" charset="0"/>
                      </a:rPr>
                      <m:t>𝒔</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𝑹</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𝑺</m:t>
                        </m:r>
                      </m:e>
                    </m:d>
                    <m:r>
                      <a:rPr lang="en-US" altLang="zh-CN" sz="2400" b="1" i="1" smtClean="0">
                        <a:solidFill>
                          <a:srgbClr val="C0000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𝒔</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𝑹</m:t>
                        </m:r>
                      </m:e>
                    </m:d>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𝒔</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𝑺</m:t>
                        </m:r>
                      </m:e>
                    </m:d>
                  </m:oMath>
                </a14:m>
                <a:endParaRPr lang="en-US" altLang="zh-CN" sz="2400" b="1">
                  <a:solidFill>
                    <a:srgbClr val="C00000"/>
                  </a:solidFill>
                </a:endParaRPr>
              </a:p>
              <a:p>
                <a:pPr marL="342900" indent="-342900">
                  <a:lnSpc>
                    <a:spcPts val="3000"/>
                  </a:lnSpc>
                  <a:spcBef>
                    <a:spcPts val="900"/>
                  </a:spcBef>
                  <a:buFont typeface="Arial" panose="020B0604020202020204" pitchFamily="34" charset="0"/>
                  <a:buChar char="•"/>
                </a:pPr>
                <a:r>
                  <a:rPr lang="zh-CN" altLang="en-US" sz="2000" b="1">
                    <a:solidFill>
                      <a:srgbClr val="C00000"/>
                    </a:solidFill>
                  </a:rPr>
                  <a:t>证明</a:t>
                </a:r>
                <a14:m>
                  <m:oMath xmlns:m="http://schemas.openxmlformats.org/officeDocument/2006/math">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𝑺</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𝑺</m:t>
                        </m:r>
                      </m:e>
                    </m:d>
                  </m:oMath>
                </a14:m>
                <a:r>
                  <a:rPr lang="zh-CN" altLang="en-US" sz="2000" b="1"/>
                  <a:t>：</a:t>
                </a:r>
                <a:r>
                  <a:rPr lang="zh-CN" altLang="en-US" sz="2000" b="1">
                    <a:solidFill>
                      <a:srgbClr val="002060"/>
                    </a:solidFill>
                    <a:latin typeface="楷体" panose="02010609060101010101" pitchFamily="49" charset="-122"/>
                    <a:ea typeface="楷体" panose="02010609060101010101" pitchFamily="49" charset="-122"/>
                  </a:rPr>
                  <a:t>因为</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，由</a:t>
                </a:r>
                <a:r>
                  <a:rPr lang="zh-CN" altLang="en-US" sz="2000" b="1">
                    <a:solidFill>
                      <a:srgbClr val="C00000"/>
                    </a:solidFill>
                    <a:latin typeface="+mn-ea"/>
                  </a:rPr>
                  <a:t>关系闭包保持子集关系</a:t>
                </a:r>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𝑹</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𝒔</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𝑹</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，同理有</a:t>
                </a:r>
                <a14:m>
                  <m:oMath xmlns:m="http://schemas.openxmlformats.org/officeDocument/2006/math">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，从而由</a:t>
                </a:r>
                <a:r>
                  <a:rPr lang="zh-CN" altLang="en-US" sz="2000" b="1">
                    <a:solidFill>
                      <a:srgbClr val="C00000"/>
                    </a:solidFill>
                    <a:latin typeface="+mn-ea"/>
                  </a:rPr>
                  <a:t>集合并的性质</a:t>
                </a:r>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a:t>
                </a:r>
                <a:endParaRPr lang="zh-CN" altLang="en-US" sz="2000" b="1">
                  <a:solidFill>
                    <a:srgbClr val="002060"/>
                  </a:solidFill>
                  <a:latin typeface="楷体" panose="02010609060101010101" pitchFamily="49" charset="-122"/>
                  <a:ea typeface="楷体" panose="02010609060101010101" pitchFamily="49" charset="-122"/>
                </a:endParaRPr>
              </a:p>
              <a:p>
                <a:pPr marL="342900" indent="-342900">
                  <a:lnSpc>
                    <a:spcPts val="3000"/>
                  </a:lnSpc>
                  <a:spcBef>
                    <a:spcPts val="900"/>
                  </a:spcBef>
                  <a:buFont typeface="Arial" panose="020B0604020202020204" pitchFamily="34" charset="0"/>
                  <a:buChar char="•"/>
                </a:pPr>
                <a:r>
                  <a:rPr lang="zh-CN" altLang="en-US" sz="2000" b="1">
                    <a:solidFill>
                      <a:srgbClr val="C00000"/>
                    </a:solidFill>
                  </a:rPr>
                  <a:t>证明</a:t>
                </a:r>
                <a14:m>
                  <m:oMath xmlns:m="http://schemas.openxmlformats.org/officeDocument/2006/math">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𝑺</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𝒔</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𝑺</m:t>
                        </m:r>
                      </m:e>
                    </m:d>
                  </m:oMath>
                </a14:m>
                <a:r>
                  <a:rPr lang="zh-CN" altLang="en-US" sz="2000" b="1"/>
                  <a:t>：</a:t>
                </a:r>
                <a:r>
                  <a:rPr lang="zh-CN" altLang="en-US" sz="2000" b="1">
                    <a:solidFill>
                      <a:srgbClr val="002060"/>
                    </a:solidFill>
                    <a:latin typeface="楷体" panose="02010609060101010101" pitchFamily="49" charset="-122"/>
                    <a:ea typeface="楷体" panose="02010609060101010101" pitchFamily="49" charset="-122"/>
                  </a:rPr>
                  <a:t>根据</a:t>
                </a:r>
                <a:r>
                  <a:rPr lang="zh-CN" altLang="en-US" sz="2000" b="1">
                    <a:solidFill>
                      <a:srgbClr val="C00000"/>
                    </a:solidFill>
                    <a:latin typeface="+mn-ea"/>
                  </a:rPr>
                  <a:t>闭包的定义</a:t>
                </a:r>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，由</a:t>
                </a:r>
                <a:r>
                  <a:rPr lang="zh-CN" altLang="en-US" sz="2000" b="1">
                    <a:solidFill>
                      <a:srgbClr val="C00000"/>
                    </a:solidFill>
                    <a:latin typeface="+mn-ea"/>
                  </a:rPr>
                  <a:t>集合并保持子集关系</a:t>
                </a:r>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。另一方面</a:t>
                </a:r>
                <a14:m>
                  <m:oMath xmlns:m="http://schemas.openxmlformats.org/officeDocument/2006/math">
                    <m:r>
                      <a:rPr lang="en-US" altLang="zh-CN" sz="2000" b="1" i="1" smtClean="0">
                        <a:solidFill>
                          <a:srgbClr val="002060"/>
                        </a:solidFill>
                        <a:latin typeface="Cambria Math" panose="02040503050406030204" pitchFamily="18" charset="0"/>
                      </a:rPr>
                      <m:t>𝒔</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和</a:t>
                </a:r>
                <a14:m>
                  <m:oMath xmlns:m="http://schemas.openxmlformats.org/officeDocument/2006/math">
                    <m:r>
                      <a:rPr lang="en-US" altLang="zh-CN" sz="2000" b="1" i="1" smtClean="0">
                        <a:solidFill>
                          <a:srgbClr val="002060"/>
                        </a:solidFill>
                        <a:latin typeface="Cambria Math" panose="02040503050406030204" pitchFamily="18" charset="0"/>
                      </a:rPr>
                      <m:t>𝒔</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都是对称关系，由</a:t>
                </a:r>
                <a:r>
                  <a:rPr lang="zh-CN" altLang="en-US" sz="2000" b="1" i="0">
                    <a:solidFill>
                      <a:srgbClr val="C00000"/>
                    </a:solidFill>
                    <a:latin typeface="+mj-lt"/>
                  </a:rPr>
                  <a:t>对称关</a:t>
                </a:r>
                <a:r>
                  <a:rPr lang="zh-CN" altLang="en-US" sz="2000" b="1">
                    <a:solidFill>
                      <a:srgbClr val="C00000"/>
                    </a:solidFill>
                    <a:latin typeface="+mn-ea"/>
                  </a:rPr>
                  <a:t>系的并仍然是对称关系</a:t>
                </a:r>
                <a:r>
                  <a:rPr lang="zh-CN" altLang="en-US" sz="2000" b="1">
                    <a:solidFill>
                      <a:srgbClr val="002060"/>
                    </a:solidFill>
                    <a:latin typeface="楷体" panose="02010609060101010101" pitchFamily="49" charset="-122"/>
                    <a:ea typeface="楷体" panose="02010609060101010101" pitchFamily="49" charset="-122"/>
                  </a:rPr>
                  <a:t>可得</a:t>
                </a:r>
                <a14:m>
                  <m:oMath xmlns:m="http://schemas.openxmlformats.org/officeDocument/2006/math">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也是对称关系，从而由</a:t>
                </a:r>
                <a:r>
                  <a:rPr lang="zh-CN" altLang="en-US" sz="2000" b="1">
                    <a:solidFill>
                      <a:srgbClr val="C00000"/>
                    </a:solidFill>
                    <a:latin typeface="+mj-lt"/>
                  </a:rPr>
                  <a:t>关系闭包的最小性</a:t>
                </a:r>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a:t>
                </a:r>
                <a:endParaRPr lang="zh-CN" altLang="en-US" sz="2000" b="1">
                  <a:latin typeface="楷体" panose="02010609060101010101" pitchFamily="49" charset="-122"/>
                  <a:ea typeface="楷体" panose="02010609060101010101" pitchFamily="49" charset="-122"/>
                </a:endParaRPr>
              </a:p>
            </p:txBody>
          </p:sp>
        </mc:Choice>
        <mc:Fallback>
          <p:sp>
            <p:nvSpPr>
              <p:cNvPr id="23" name="文本框 22"/>
              <p:cNvSpPr txBox="1">
                <a:spLocks noRot="1" noChangeAspect="1" noMove="1" noResize="1" noEditPoints="1" noAdjustHandles="1" noChangeArrowheads="1" noChangeShapeType="1" noTextEdit="1"/>
              </p:cNvSpPr>
              <p:nvPr/>
            </p:nvSpPr>
            <p:spPr>
              <a:xfrm>
                <a:off x="501053" y="2794777"/>
                <a:ext cx="11189887" cy="2574487"/>
              </a:xfrm>
              <a:prstGeom prst="rect">
                <a:avLst/>
              </a:prstGeom>
              <a:blipFill rotWithShape="1">
                <a:blip r:embed="rId3"/>
                <a:stretch>
                  <a:fillRect t="-6" r="5" b="13"/>
                </a:stretch>
              </a:blipFill>
            </p:spPr>
            <p:txBody>
              <a:bodyPr/>
              <a:lstStyle/>
              <a:p>
                <a:r>
                  <a:rPr lang="zh-CN" altLang="en-US">
                    <a:noFill/>
                  </a:rPr>
                  <a:t> </a:t>
                </a:r>
              </a:p>
            </p:txBody>
          </p:sp>
        </mc:Fallback>
      </mc:AlternateContent>
      <p:graphicFrame>
        <p:nvGraphicFramePr>
          <p:cNvPr id="55" name="表格 54"/>
          <p:cNvGraphicFramePr>
            <a:graphicFrameLocks noGrp="1"/>
          </p:cNvGraphicFramePr>
          <p:nvPr/>
        </p:nvGraphicFramePr>
        <p:xfrm>
          <a:off x="1333776" y="5530711"/>
          <a:ext cx="9524443" cy="792480"/>
        </p:xfrm>
        <a:graphic>
          <a:graphicData uri="http://schemas.openxmlformats.org/drawingml/2006/table">
            <a:tbl>
              <a:tblPr firstRow="1" bandRow="1">
                <a:tableStyleId>{5C22544A-7EE6-4342-B048-85BDC9FD1C3A}</a:tableStyleId>
              </a:tblPr>
              <a:tblGrid>
                <a:gridCol w="2314498"/>
                <a:gridCol w="3269473"/>
                <a:gridCol w="3940472"/>
              </a:tblGrid>
              <a:tr h="370840">
                <a:tc>
                  <a:txBody>
                    <a:bodyPr/>
                    <a:lstStyle/>
                    <a:p>
                      <a:pPr algn="l"/>
                      <a:r>
                        <a:rPr lang="en-US" altLang="zh-CN" sz="2000" b="1">
                          <a:solidFill>
                            <a:schemeClr val="accent2">
                              <a:lumMod val="50000"/>
                            </a:schemeClr>
                          </a:solidFill>
                        </a:rPr>
                        <a:t>A.  </a:t>
                      </a:r>
                      <a:r>
                        <a:rPr lang="zh-CN" altLang="en-US" sz="2000" b="1">
                          <a:solidFill>
                            <a:schemeClr val="accent2">
                              <a:lumMod val="50000"/>
                            </a:schemeClr>
                          </a:solidFill>
                        </a:rPr>
                        <a:t>闭包的定义</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B.  </a:t>
                      </a:r>
                      <a:r>
                        <a:rPr lang="zh-CN" altLang="en-US" sz="2000" b="1">
                          <a:solidFill>
                            <a:schemeClr val="accent2">
                              <a:lumMod val="50000"/>
                            </a:schemeClr>
                          </a:solidFill>
                        </a:rPr>
                        <a:t>关系闭包保持子集关系</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C. </a:t>
                      </a:r>
                      <a:r>
                        <a:rPr lang="zh-CN" altLang="en-US" sz="2000" b="1">
                          <a:solidFill>
                            <a:schemeClr val="accent2">
                              <a:lumMod val="50000"/>
                            </a:schemeClr>
                          </a:solidFill>
                        </a:rPr>
                        <a:t>关系闭包的最小性</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r>
              <a:tr h="370840">
                <a:tc>
                  <a:txBody>
                    <a:bodyPr/>
                    <a:lstStyle/>
                    <a:p>
                      <a:pPr algn="l"/>
                      <a:r>
                        <a:rPr lang="en-US" altLang="zh-CN" sz="2000" b="1">
                          <a:solidFill>
                            <a:schemeClr val="accent2">
                              <a:lumMod val="50000"/>
                            </a:schemeClr>
                          </a:solidFill>
                        </a:rPr>
                        <a:t>D.  </a:t>
                      </a:r>
                      <a:r>
                        <a:rPr lang="zh-CN" altLang="en-US" sz="2000" b="1">
                          <a:solidFill>
                            <a:schemeClr val="accent2">
                              <a:lumMod val="50000"/>
                            </a:schemeClr>
                          </a:solidFill>
                        </a:rPr>
                        <a:t>集合并的性质</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E.  </a:t>
                      </a:r>
                      <a:r>
                        <a:rPr lang="zh-CN" altLang="en-US" sz="2000" b="1">
                          <a:solidFill>
                            <a:schemeClr val="accent2">
                              <a:lumMod val="50000"/>
                            </a:schemeClr>
                          </a:solidFill>
                        </a:rPr>
                        <a:t>集合并保持子集关系</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F.  </a:t>
                      </a:r>
                      <a:r>
                        <a:rPr lang="zh-CN" altLang="en-US" sz="2000" b="1">
                          <a:solidFill>
                            <a:schemeClr val="accent2">
                              <a:lumMod val="50000"/>
                            </a:schemeClr>
                          </a:solidFill>
                        </a:rPr>
                        <a:t>对称关系的并仍然是对称关系</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r>
            </a:tbl>
          </a:graphicData>
        </a:graphic>
      </p:graphicFrame>
      <p:cxnSp>
        <p:nvCxnSpPr>
          <p:cNvPr id="30" name="直接连接符 29"/>
          <p:cNvCxnSpPr/>
          <p:nvPr/>
        </p:nvCxnSpPr>
        <p:spPr>
          <a:xfrm>
            <a:off x="6400800" y="3677335"/>
            <a:ext cx="2539269"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9026685" y="4553361"/>
            <a:ext cx="2327663"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4770449" y="5296722"/>
            <a:ext cx="2097419"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4211284" y="4046822"/>
            <a:ext cx="1607874"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7670434" y="4921752"/>
            <a:ext cx="3387885" cy="0"/>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4770449" y="4553361"/>
            <a:ext cx="1268538" cy="1096"/>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71" name="文本框 70"/>
          <p:cNvSpPr txBox="1"/>
          <p:nvPr/>
        </p:nvSpPr>
        <p:spPr>
          <a:xfrm>
            <a:off x="8862224" y="3097557"/>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B</a:t>
            </a:r>
            <a:endParaRPr lang="zh-CN" altLang="en-US" b="1">
              <a:solidFill>
                <a:srgbClr val="C00000"/>
              </a:solidFill>
            </a:endParaRPr>
          </a:p>
        </p:txBody>
      </p:sp>
      <p:sp>
        <p:nvSpPr>
          <p:cNvPr id="72" name="文本框 71"/>
          <p:cNvSpPr txBox="1"/>
          <p:nvPr/>
        </p:nvSpPr>
        <p:spPr>
          <a:xfrm>
            <a:off x="3888556" y="4021178"/>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D</a:t>
            </a:r>
            <a:endParaRPr lang="zh-CN" altLang="en-US" b="1">
              <a:solidFill>
                <a:srgbClr val="C00000"/>
              </a:solidFill>
            </a:endParaRPr>
          </a:p>
        </p:txBody>
      </p:sp>
      <p:sp>
        <p:nvSpPr>
          <p:cNvPr id="73" name="文本框 72"/>
          <p:cNvSpPr txBox="1"/>
          <p:nvPr/>
        </p:nvSpPr>
        <p:spPr>
          <a:xfrm>
            <a:off x="5977425" y="4004186"/>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A</a:t>
            </a:r>
            <a:endParaRPr lang="zh-CN" altLang="en-US" b="1">
              <a:solidFill>
                <a:srgbClr val="C00000"/>
              </a:solidFill>
            </a:endParaRPr>
          </a:p>
        </p:txBody>
      </p:sp>
      <p:sp>
        <p:nvSpPr>
          <p:cNvPr id="74" name="文本框 73"/>
          <p:cNvSpPr txBox="1"/>
          <p:nvPr/>
        </p:nvSpPr>
        <p:spPr>
          <a:xfrm>
            <a:off x="11268050" y="4004185"/>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E</a:t>
            </a:r>
            <a:endParaRPr lang="zh-CN" altLang="en-US" b="1">
              <a:solidFill>
                <a:srgbClr val="C00000"/>
              </a:solidFill>
            </a:endParaRPr>
          </a:p>
        </p:txBody>
      </p:sp>
      <p:sp>
        <p:nvSpPr>
          <p:cNvPr id="75" name="文本框 74"/>
          <p:cNvSpPr txBox="1"/>
          <p:nvPr/>
        </p:nvSpPr>
        <p:spPr>
          <a:xfrm>
            <a:off x="11025427" y="4921752"/>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F</a:t>
            </a:r>
            <a:endParaRPr lang="zh-CN" altLang="en-US" b="1">
              <a:solidFill>
                <a:srgbClr val="C00000"/>
              </a:solidFill>
            </a:endParaRPr>
          </a:p>
        </p:txBody>
      </p:sp>
      <p:sp>
        <p:nvSpPr>
          <p:cNvPr id="76" name="文本框 75"/>
          <p:cNvSpPr txBox="1"/>
          <p:nvPr/>
        </p:nvSpPr>
        <p:spPr>
          <a:xfrm>
            <a:off x="6867868" y="5286604"/>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C</a:t>
            </a:r>
            <a:endParaRPr lang="zh-CN" altLang="en-US" b="1">
              <a:solidFill>
                <a:srgbClr val="C00000"/>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关系闭包的定义与基本性质</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关系闭包性质说明举例</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759486" y="1578931"/>
                <a:ext cx="10673025" cy="984885"/>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latin typeface="+mn-ea"/>
                  </a:rPr>
                  <a:t>关系闭包与关系并</a:t>
                </a:r>
                <a:endParaRPr lang="en-US" altLang="zh-CN" sz="2400" b="1">
                  <a:solidFill>
                    <a:srgbClr val="C00000"/>
                  </a:solidFill>
                  <a:latin typeface="+mn-ea"/>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ea typeface="楷体" panose="02010609060101010101" pitchFamily="49" charset="-122"/>
                        </a:rPr>
                        <m:t>𝒓</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𝒓</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𝒓</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          </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e>
                      </m:d>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𝒔</m:t>
                      </m:r>
                      <m:d>
                        <m:dPr>
                          <m:ctrlPr>
                            <a:rPr lang="en-US" altLang="zh-CN" sz="2400" b="1" i="1" smtClean="0">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         </m:t>
                      </m:r>
                      <m:r>
                        <a:rPr lang="en-US" altLang="zh-CN" sz="2400" b="1" i="1" smtClean="0">
                          <a:solidFill>
                            <a:srgbClr val="002060"/>
                          </a:solidFill>
                          <a:latin typeface="Cambria Math" panose="02040503050406030204" pitchFamily="18" charset="0"/>
                          <a:ea typeface="楷体" panose="02010609060101010101" pitchFamily="49" charset="-122"/>
                        </a:rPr>
                        <m:t>𝒕</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𝒕</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a:solidFill>
                                <a:srgbClr val="002060"/>
                              </a:solidFill>
                              <a:latin typeface="Cambria Math" panose="02040503050406030204" pitchFamily="18" charset="0"/>
                              <a:ea typeface="楷体" panose="02010609060101010101" pitchFamily="49" charset="-122"/>
                            </a:rPr>
                            <m:t>𝑺</m:t>
                          </m:r>
                        </m:e>
                      </m:d>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𝒕</m:t>
                      </m:r>
                      <m:d>
                        <m:dPr>
                          <m:ctrlPr>
                            <a:rPr lang="en-US" altLang="zh-CN" sz="2400" b="1" i="1">
                              <a:solidFill>
                                <a:srgbClr val="002060"/>
                              </a:solidFill>
                              <a:latin typeface="Cambria Math" panose="02040503050406030204" pitchFamily="18" charset="0"/>
                              <a:ea typeface="楷体" panose="02010609060101010101" pitchFamily="49" charset="-122"/>
                            </a:rPr>
                          </m:ctrlPr>
                        </m:dPr>
                        <m:e>
                          <m:r>
                            <a:rPr lang="en-US" altLang="zh-CN" sz="2400" b="1" i="1" smtClean="0">
                              <a:solidFill>
                                <a:srgbClr val="002060"/>
                              </a:solidFill>
                              <a:latin typeface="Cambria Math" panose="02040503050406030204" pitchFamily="18" charset="0"/>
                              <a:ea typeface="楷体" panose="02010609060101010101" pitchFamily="49" charset="-122"/>
                            </a:rPr>
                            <m:t>𝑹</m:t>
                          </m:r>
                          <m:r>
                            <a:rPr lang="en-US" altLang="zh-CN" sz="2400" b="1" i="1" smtClean="0">
                              <a:solidFill>
                                <a:srgbClr val="002060"/>
                              </a:solidFill>
                              <a:latin typeface="Cambria Math" panose="02040503050406030204" pitchFamily="18" charset="0"/>
                              <a:ea typeface="楷体" panose="02010609060101010101" pitchFamily="49" charset="-122"/>
                            </a:rPr>
                            <m:t>∪</m:t>
                          </m:r>
                          <m:r>
                            <a:rPr lang="en-US" altLang="zh-CN" sz="2400" b="1" i="1" smtClean="0">
                              <a:solidFill>
                                <a:srgbClr val="002060"/>
                              </a:solidFill>
                              <a:latin typeface="Cambria Math" panose="02040503050406030204" pitchFamily="18" charset="0"/>
                              <a:ea typeface="楷体" panose="02010609060101010101" pitchFamily="49" charset="-122"/>
                            </a:rPr>
                            <m:t>𝑺</m:t>
                          </m:r>
                        </m:e>
                      </m:d>
                    </m:oMath>
                  </m:oMathPara>
                </a14:m>
                <a:endParaRPr lang="en-US" altLang="zh-CN" sz="2400" b="1">
                  <a:solidFill>
                    <a:srgbClr val="002060"/>
                  </a:solidFill>
                  <a:latin typeface="楷体" panose="02010609060101010101" pitchFamily="49" charset="-122"/>
                  <a:ea typeface="楷体" panose="02010609060101010101" pitchFamily="49"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759486" y="1578931"/>
                <a:ext cx="10673025" cy="984885"/>
              </a:xfrm>
              <a:prstGeom prst="rect">
                <a:avLst/>
              </a:prstGeom>
              <a:blipFill rotWithShape="1">
                <a:blip r:embed="rId1"/>
                <a:stretch>
                  <a:fillRect t="-33" r="6" b="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59486" y="1076268"/>
                <a:ext cx="4182417" cy="400110"/>
              </a:xfrm>
              <a:prstGeom prst="rect">
                <a:avLst/>
              </a:prstGeom>
              <a:solidFill>
                <a:schemeClr val="accent2">
                  <a:lumMod val="20000"/>
                  <a:lumOff val="80000"/>
                </a:schemeClr>
              </a:solidFill>
            </p:spPr>
            <p:txBody>
              <a:bodyPr wrap="square" rtlCol="0">
                <a:spAutoFit/>
              </a:bodyPr>
              <a:lstStyle/>
              <a:p>
                <a:pPr algn="ctr"/>
                <a:r>
                  <a:rPr lang="zh-CN" altLang="en-US" sz="2000" b="1">
                    <a:solidFill>
                      <a:schemeClr val="accent2">
                        <a:lumMod val="50000"/>
                      </a:schemeClr>
                    </a:solidFill>
                  </a:rPr>
                  <a:t>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𝑺</m:t>
                    </m:r>
                  </m:oMath>
                </a14:m>
                <a:r>
                  <a:rPr lang="zh-CN" altLang="en-US" sz="2000" b="1">
                    <a:solidFill>
                      <a:schemeClr val="accent2">
                        <a:lumMod val="50000"/>
                      </a:schemeClr>
                    </a:solidFill>
                  </a:rPr>
                  <a:t>都是非空集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r>
                  <a:rPr lang="zh-CN" altLang="en-US" sz="2000" b="1">
                    <a:solidFill>
                      <a:schemeClr val="accent2">
                        <a:lumMod val="50000"/>
                      </a:schemeClr>
                    </a:solidFill>
                  </a:rPr>
                  <a:t>上的关系</a:t>
                </a:r>
                <a:endParaRPr lang="zh-CN" altLang="en-US" sz="2000"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759486" y="1076268"/>
                <a:ext cx="4182417" cy="400110"/>
              </a:xfrm>
              <a:prstGeom prst="rect">
                <a:avLst/>
              </a:prstGeom>
              <a:blipFill rotWithShape="1">
                <a:blip r:embed="rId2"/>
                <a:stretch>
                  <a:fillRect l="-1" t="-144" r="8"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 name="文本框 22"/>
              <p:cNvSpPr txBox="1"/>
              <p:nvPr/>
            </p:nvSpPr>
            <p:spPr>
              <a:xfrm>
                <a:off x="759485" y="2822141"/>
                <a:ext cx="10417245" cy="833177"/>
              </a:xfrm>
              <a:prstGeom prst="rect">
                <a:avLst/>
              </a:prstGeom>
              <a:solidFill>
                <a:schemeClr val="accent6">
                  <a:lumMod val="20000"/>
                  <a:lumOff val="80000"/>
                  <a:alpha val="50000"/>
                </a:schemeClr>
              </a:solidFill>
            </p:spPr>
            <p:txBody>
              <a:bodyPr wrap="square" rtlCol="0">
                <a:spAutoFit/>
              </a:bodyPr>
              <a:lstStyle/>
              <a:p>
                <a:pPr marL="342900" indent="-342900">
                  <a:lnSpc>
                    <a:spcPts val="3000"/>
                  </a:lnSpc>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证明</a:t>
                </a:r>
                <a14:m>
                  <m:oMath xmlns:m="http://schemas.openxmlformats.org/officeDocument/2006/math">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的思路与前面相同，由</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及关系闭包保持子集关系有</a:t>
                </a:r>
                <a14:m>
                  <m:oMath xmlns:m="http://schemas.openxmlformats.org/officeDocument/2006/math">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，同理有</a:t>
                </a:r>
                <a14:m>
                  <m:oMath xmlns:m="http://schemas.openxmlformats.org/officeDocument/2006/math">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e>
                    </m:d>
                  </m:oMath>
                </a14:m>
                <a:r>
                  <a:rPr lang="zh-CN" altLang="en-US" sz="2000" b="1">
                    <a:solidFill>
                      <a:srgbClr val="002060"/>
                    </a:solidFill>
                    <a:latin typeface="楷体" panose="02010609060101010101" pitchFamily="49" charset="-122"/>
                    <a:ea typeface="楷体" panose="02010609060101010101" pitchFamily="49" charset="-122"/>
                  </a:rPr>
                  <a:t>，从而由集合并的性质有</a:t>
                </a:r>
                <a14:m>
                  <m:oMath xmlns:m="http://schemas.openxmlformats.org/officeDocument/2006/math">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𝑺</m:t>
                        </m:r>
                      </m:e>
                    </m:d>
                  </m:oMath>
                </a14:m>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3" name="文本框 22"/>
              <p:cNvSpPr txBox="1">
                <a:spLocks noRot="1" noChangeAspect="1" noMove="1" noResize="1" noEditPoints="1" noAdjustHandles="1" noChangeArrowheads="1" noChangeShapeType="1" noTextEdit="1"/>
              </p:cNvSpPr>
              <p:nvPr/>
            </p:nvSpPr>
            <p:spPr>
              <a:xfrm>
                <a:off x="759485" y="2822141"/>
                <a:ext cx="10417245" cy="833177"/>
              </a:xfrm>
              <a:prstGeom prst="rect">
                <a:avLst/>
              </a:prstGeom>
              <a:blipFill rotWithShape="1">
                <a:blip r:embed="rId3"/>
                <a:stretch>
                  <a:fillRect t="-24" r="1" b="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文本框 24"/>
              <p:cNvSpPr txBox="1"/>
              <p:nvPr/>
            </p:nvSpPr>
            <p:spPr>
              <a:xfrm>
                <a:off x="759485" y="3842627"/>
                <a:ext cx="7470115" cy="400110"/>
              </a:xfrm>
              <a:prstGeom prst="rect">
                <a:avLst/>
              </a:prstGeom>
              <a:solidFill>
                <a:schemeClr val="accent4">
                  <a:lumMod val="20000"/>
                  <a:lumOff val="80000"/>
                </a:schemeClr>
              </a:solidFill>
            </p:spPr>
            <p:txBody>
              <a:bodyPr wrap="square" rtlCol="0">
                <a:spAutoFit/>
              </a:bodyPr>
              <a:lstStyle/>
              <a:p>
                <a:pPr marL="342900" indent="-342900">
                  <a:buFont typeface="Arial" panose="020B0604020202020204" pitchFamily="34" charset="0"/>
                  <a:buChar char="•"/>
                </a:pPr>
                <a:r>
                  <a:rPr lang="zh-CN" altLang="en-US" sz="2000" b="1">
                    <a:solidFill>
                      <a:schemeClr val="accent2">
                        <a:lumMod val="50000"/>
                      </a:schemeClr>
                    </a:solidFill>
                  </a:rPr>
                  <a:t>为什么不能利用与前面类似思路证明</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𝒕</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𝒕</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𝒕</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𝑺</m:t>
                        </m:r>
                      </m:e>
                    </m:d>
                  </m:oMath>
                </a14:m>
                <a:r>
                  <a:rPr lang="zh-CN" altLang="en-US" sz="2000" b="1">
                    <a:solidFill>
                      <a:schemeClr val="accent2">
                        <a:lumMod val="50000"/>
                      </a:schemeClr>
                    </a:solidFill>
                  </a:rPr>
                  <a:t>？</a:t>
                </a:r>
                <a:endParaRPr lang="zh-CN" altLang="en-US" sz="2000" b="1">
                  <a:solidFill>
                    <a:schemeClr val="accent2">
                      <a:lumMod val="50000"/>
                    </a:schemeClr>
                  </a:solidFill>
                </a:endParaRPr>
              </a:p>
            </p:txBody>
          </p:sp>
        </mc:Choice>
        <mc:Fallback>
          <p:sp>
            <p:nvSpPr>
              <p:cNvPr id="25" name="文本框 24"/>
              <p:cNvSpPr txBox="1">
                <a:spLocks noRot="1" noChangeAspect="1" noMove="1" noResize="1" noEditPoints="1" noAdjustHandles="1" noChangeArrowheads="1" noChangeShapeType="1" noTextEdit="1"/>
              </p:cNvSpPr>
              <p:nvPr/>
            </p:nvSpPr>
            <p:spPr>
              <a:xfrm>
                <a:off x="759485" y="3842627"/>
                <a:ext cx="7470115" cy="400110"/>
              </a:xfrm>
              <a:prstGeom prst="rect">
                <a:avLst/>
              </a:prstGeom>
              <a:blipFill rotWithShape="1">
                <a:blip r:embed="rId4"/>
                <a:stretch>
                  <a:fillRect t="-60" b="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文本框 26"/>
              <p:cNvSpPr txBox="1"/>
              <p:nvPr/>
            </p:nvSpPr>
            <p:spPr>
              <a:xfrm>
                <a:off x="759486" y="4443933"/>
                <a:ext cx="7470114" cy="1785104"/>
              </a:xfrm>
              <a:prstGeom prst="rect">
                <a:avLst/>
              </a:prstGeom>
              <a:solidFill>
                <a:schemeClr val="accent6">
                  <a:lumMod val="20000"/>
                  <a:lumOff val="80000"/>
                  <a:alpha val="50000"/>
                </a:schemeClr>
              </a:solidFill>
            </p:spPr>
            <p:txBody>
              <a:bodyPr wrap="square" rtlCol="0">
                <a:spAutoFit/>
              </a:bodyPr>
              <a:lstStyle/>
              <a:p>
                <a:pPr algn="ctr">
                  <a:spcBef>
                    <a:spcPts val="600"/>
                  </a:spcBef>
                  <a:spcAft>
                    <a:spcPts val="600"/>
                  </a:spcAft>
                </a:pPr>
                <a:r>
                  <a:rPr lang="zh-CN" altLang="en-US" sz="2000" b="1">
                    <a:solidFill>
                      <a:srgbClr val="C00000"/>
                    </a:solidFill>
                  </a:rPr>
                  <a:t>举例说明没有</a:t>
                </a:r>
                <a14:m>
                  <m:oMath xmlns:m="http://schemas.openxmlformats.org/officeDocument/2006/math">
                    <m:r>
                      <a:rPr lang="en-US" altLang="zh-CN" sz="2000" b="1" i="1">
                        <a:solidFill>
                          <a:srgbClr val="C00000"/>
                        </a:solidFill>
                        <a:latin typeface="Cambria Math" panose="02040503050406030204" pitchFamily="18" charset="0"/>
                      </a:rPr>
                      <m:t>𝒕</m:t>
                    </m:r>
                    <m:d>
                      <m:dPr>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𝑹</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𝑺</m:t>
                        </m:r>
                      </m:e>
                    </m:d>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𝒕</m:t>
                    </m:r>
                    <m:d>
                      <m:dPr>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𝑹</m:t>
                        </m:r>
                      </m:e>
                    </m:d>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𝒕</m:t>
                    </m:r>
                    <m:d>
                      <m:dPr>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𝑺</m:t>
                        </m:r>
                      </m:e>
                    </m:d>
                  </m:oMath>
                </a14:m>
                <a:endParaRPr lang="en-US" altLang="zh-CN" sz="2000" b="1">
                  <a:solidFill>
                    <a:srgbClr val="C00000"/>
                  </a:solidFill>
                </a:endParaRPr>
              </a:p>
              <a:p>
                <a:pPr>
                  <a:spcBef>
                    <a:spcPts val="600"/>
                  </a:spcBef>
                  <a:spcAft>
                    <a:spcPts val="600"/>
                  </a:spcAft>
                </a:pP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 = </m:t>
                    </m:r>
                    <m:r>
                      <m:rPr>
                        <m:lit/>
                      </m:rP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𝟐</m:t>
                    </m:r>
                    <m:r>
                      <m:rPr>
                        <m:lit/>
                      </m:rPr>
                      <a:rPr lang="en-US" altLang="zh-CN" sz="2000" b="1" i="1">
                        <a:solidFill>
                          <a:srgbClr val="002060"/>
                        </a:solidFill>
                        <a:latin typeface="Cambria Math" panose="02040503050406030204" pitchFamily="18" charset="0"/>
                      </a:rPr>
                      <m:t>}</m:t>
                    </m:r>
                    <m:r>
                      <a:rPr lang="zh-CN" altLang="en-US"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a:solidFill>
                          <a:srgbClr val="002060"/>
                        </a:solidFill>
                        <a:latin typeface="Cambria Math" panose="02040503050406030204" pitchFamily="18" charset="0"/>
                      </a:rPr>
                      <m:t>=</m:t>
                    </m:r>
                    <m:r>
                      <m:rPr>
                        <m:lit/>
                      </m:rPr>
                      <a:rPr lang="en-US" altLang="zh-CN" sz="2000" b="1" i="1">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𝟏</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𝟐</m:t>
                        </m:r>
                      </m:e>
                    </m:d>
                    <m:r>
                      <m:rPr>
                        <m:lit/>
                      </m:rP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𝑺</m:t>
                    </m:r>
                    <m:r>
                      <a:rPr lang="en-US" altLang="zh-CN" sz="2000" b="1" i="1">
                        <a:solidFill>
                          <a:srgbClr val="002060"/>
                        </a:solidFill>
                        <a:latin typeface="Cambria Math" panose="02040503050406030204" pitchFamily="18" charset="0"/>
                      </a:rPr>
                      <m:t> = </m:t>
                    </m:r>
                    <m:r>
                      <m:rPr>
                        <m:lit/>
                      </m:rPr>
                      <a:rPr lang="en-US" altLang="zh-CN" sz="2000" b="1" i="1">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𝟏</m:t>
                        </m:r>
                      </m:e>
                    </m:d>
                    <m:r>
                      <m:rPr>
                        <m:lit/>
                      </m:rPr>
                      <a:rPr lang="en-US" altLang="zh-CN" sz="2000" b="1" i="1">
                        <a:solidFill>
                          <a:srgbClr val="002060"/>
                        </a:solidFill>
                        <a:latin typeface="Cambria Math" panose="02040503050406030204" pitchFamily="18" charset="0"/>
                      </a:rPr>
                      <m:t>}</m:t>
                    </m:r>
                  </m:oMath>
                </a14:m>
                <a:r>
                  <a:rPr lang="zh-CN" altLang="en-US" sz="2000" b="1">
                    <a:solidFill>
                      <a:srgbClr val="002060"/>
                    </a:solidFill>
                  </a:rPr>
                  <a:t>，则</a:t>
                </a:r>
                <a:endParaRPr lang="zh-CN" altLang="en-US" sz="2000" b="1">
                  <a:solidFill>
                    <a:srgbClr val="002060"/>
                  </a:solidFill>
                </a:endParaRP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𝑺</m:t>
                        </m:r>
                      </m:e>
                    </m:d>
                    <m:r>
                      <a:rPr lang="en-US" altLang="zh-CN" sz="2000" b="1" i="1" smtClean="0">
                        <a:solidFill>
                          <a:srgbClr val="002060"/>
                        </a:solidFill>
                        <a:latin typeface="Cambria Math" panose="02040503050406030204" pitchFamily="18" charset="0"/>
                      </a:rPr>
                      <m:t>=</m:t>
                    </m:r>
                    <m:r>
                      <m:rPr>
                        <m:lit/>
                      </m:rPr>
                      <a:rPr lang="en-US" altLang="zh-CN" sz="2000" b="1" i="1">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𝟏</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𝟐</m:t>
                        </m:r>
                      </m:e>
                    </m:d>
                    <m:r>
                      <a:rPr lang="en-US" altLang="zh-CN" sz="2000" b="1" i="1">
                        <a:solidFill>
                          <a:srgbClr val="002060"/>
                        </a:solidFill>
                        <a:latin typeface="Cambria Math" panose="02040503050406030204" pitchFamily="18" charset="0"/>
                      </a:rPr>
                      <m:t>, </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𝟏</m:t>
                        </m:r>
                      </m:e>
                    </m:d>
                    <m:r>
                      <m:rPr>
                        <m:lit/>
                      </m:rPr>
                      <a:rPr lang="en-US" altLang="zh-CN" sz="2000" b="1" i="1">
                        <a:solidFill>
                          <a:srgbClr val="002060"/>
                        </a:solidFill>
                        <a:latin typeface="Cambria Math" panose="02040503050406030204" pitchFamily="18" charset="0"/>
                      </a:rPr>
                      <m:t>}</m:t>
                    </m:r>
                  </m:oMath>
                </a14:m>
                <a:endParaRPr lang="en-US" altLang="zh-CN" sz="2000" b="1">
                  <a:solidFill>
                    <a:srgbClr val="002060"/>
                  </a:solidFill>
                </a:endParaRPr>
              </a:p>
              <a:p>
                <a:pPr marL="342900" indent="-34290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 =</m:t>
                    </m:r>
                    <m:r>
                      <m:rPr>
                        <m:lit/>
                      </m:rPr>
                      <a:rPr lang="en-US" altLang="zh-CN" sz="2000" b="1" i="1">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𝟏</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𝟐</m:t>
                        </m:r>
                      </m:e>
                    </m:d>
                    <m:r>
                      <a:rPr lang="en-US" altLang="zh-CN" sz="2000" b="1" i="1">
                        <a:solidFill>
                          <a:srgbClr val="002060"/>
                        </a:solidFill>
                        <a:latin typeface="Cambria Math" panose="02040503050406030204" pitchFamily="18" charset="0"/>
                      </a:rPr>
                      <m:t>, </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𝟏</m:t>
                        </m:r>
                      </m:e>
                    </m:d>
                    <m:r>
                      <m:rPr>
                        <m:lit/>
                      </m:rP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𝒕</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𝑹</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𝑺</m:t>
                        </m:r>
                      </m:e>
                    </m:d>
                    <m:r>
                      <a:rPr lang="en-US" altLang="zh-CN" sz="2000" b="1" i="1">
                        <a:solidFill>
                          <a:srgbClr val="002060"/>
                        </a:solidFill>
                        <a:latin typeface="Cambria Math" panose="02040503050406030204" pitchFamily="18" charset="0"/>
                      </a:rPr>
                      <m:t>=</m:t>
                    </m:r>
                    <m:r>
                      <m:rPr>
                        <m:lit/>
                      </m:rPr>
                      <a:rPr lang="en-US" altLang="zh-CN" sz="2000" b="1" i="1">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𝟏</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𝟐</m:t>
                        </m:r>
                      </m:e>
                    </m:d>
                    <m:r>
                      <a:rPr lang="en-US" altLang="zh-CN" sz="2000" b="1" i="1">
                        <a:solidFill>
                          <a:srgbClr val="002060"/>
                        </a:solidFill>
                        <a:latin typeface="Cambria Math" panose="02040503050406030204" pitchFamily="18" charset="0"/>
                      </a:rPr>
                      <m:t>, </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𝟏</m:t>
                        </m:r>
                      </m:e>
                    </m:d>
                    <m:r>
                      <a:rPr lang="en-US" altLang="zh-CN" sz="2000" b="1" i="1">
                        <a:solidFill>
                          <a:srgbClr val="002060"/>
                        </a:solidFill>
                        <a:latin typeface="Cambria Math" panose="02040503050406030204" pitchFamily="18" charset="0"/>
                      </a:rPr>
                      <m:t>, </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𝟏</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𝟏</m:t>
                        </m:r>
                      </m:e>
                    </m:d>
                    <m:r>
                      <a:rPr lang="en-US" altLang="zh-CN" sz="2000" b="1" i="1">
                        <a:solidFill>
                          <a:srgbClr val="002060"/>
                        </a:solidFill>
                        <a:latin typeface="Cambria Math" panose="02040503050406030204" pitchFamily="18" charset="0"/>
                      </a:rPr>
                      <m:t>, </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𝟐</m:t>
                        </m:r>
                      </m:e>
                    </m:d>
                    <m:r>
                      <m:rPr>
                        <m:lit/>
                      </m:rPr>
                      <a:rPr lang="en-US" altLang="zh-CN" sz="2000" b="1" i="1">
                        <a:solidFill>
                          <a:srgbClr val="002060"/>
                        </a:solidFill>
                        <a:latin typeface="Cambria Math" panose="02040503050406030204" pitchFamily="18" charset="0"/>
                      </a:rPr>
                      <m:t>}</m:t>
                    </m:r>
                  </m:oMath>
                </a14:m>
                <a:endParaRPr lang="zh-CN" altLang="en-US" sz="2000" b="1">
                  <a:solidFill>
                    <a:srgbClr val="002060"/>
                  </a:solidFill>
                </a:endParaRPr>
              </a:p>
            </p:txBody>
          </p:sp>
        </mc:Choice>
        <mc:Fallback>
          <p:sp>
            <p:nvSpPr>
              <p:cNvPr id="27" name="文本框 26"/>
              <p:cNvSpPr txBox="1">
                <a:spLocks noRot="1" noChangeAspect="1" noMove="1" noResize="1" noEditPoints="1" noAdjustHandles="1" noChangeArrowheads="1" noChangeShapeType="1" noTextEdit="1"/>
              </p:cNvSpPr>
              <p:nvPr/>
            </p:nvSpPr>
            <p:spPr>
              <a:xfrm>
                <a:off x="759486" y="4443933"/>
                <a:ext cx="7470114" cy="1785104"/>
              </a:xfrm>
              <a:prstGeom prst="rect">
                <a:avLst/>
              </a:prstGeom>
              <a:blipFill rotWithShape="1">
                <a:blip r:embed="rId5"/>
                <a:stretch>
                  <a:fillRect t="-11" b="-135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7" name="文本框 56"/>
              <p:cNvSpPr txBox="1"/>
              <p:nvPr/>
            </p:nvSpPr>
            <p:spPr>
              <a:xfrm>
                <a:off x="8458752" y="3842627"/>
                <a:ext cx="2973759" cy="999504"/>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举例时应充分运用离散化思维，尽可能地思考简单的集合</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oMath>
                </a14:m>
                <a:r>
                  <a:rPr lang="zh-CN" altLang="en-US" b="1">
                    <a:solidFill>
                      <a:schemeClr val="accent2">
                        <a:lumMod val="50000"/>
                      </a:schemeClr>
                    </a:solidFill>
                  </a:rPr>
                  <a:t>和简单的关系</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𝑹</m:t>
                    </m:r>
                  </m:oMath>
                </a14:m>
                <a:r>
                  <a:rPr lang="zh-CN" altLang="en-US" b="1">
                    <a:solidFill>
                      <a:schemeClr val="accent2">
                        <a:lumMod val="50000"/>
                      </a:schemeClr>
                    </a:solidFill>
                  </a:rPr>
                  <a:t>和</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𝑺</m:t>
                    </m:r>
                  </m:oMath>
                </a14:m>
                <a:endParaRPr lang="zh-CN" altLang="en-US" b="1">
                  <a:solidFill>
                    <a:schemeClr val="accent2">
                      <a:lumMod val="50000"/>
                    </a:schemeClr>
                  </a:solidFill>
                </a:endParaRPr>
              </a:p>
            </p:txBody>
          </p:sp>
        </mc:Choice>
        <mc:Fallback>
          <p:sp>
            <p:nvSpPr>
              <p:cNvPr id="57" name="文本框 56"/>
              <p:cNvSpPr txBox="1">
                <a:spLocks noRot="1" noChangeAspect="1" noMove="1" noResize="1" noEditPoints="1" noAdjustHandles="1" noChangeArrowheads="1" noChangeShapeType="1" noTextEdit="1"/>
              </p:cNvSpPr>
              <p:nvPr/>
            </p:nvSpPr>
            <p:spPr>
              <a:xfrm>
                <a:off x="8458752" y="3842627"/>
                <a:ext cx="2973759" cy="999504"/>
              </a:xfrm>
              <a:prstGeom prst="rect">
                <a:avLst/>
              </a:prstGeom>
              <a:blipFill rotWithShape="1">
                <a:blip r:embed="rId6"/>
                <a:stretch>
                  <a:fillRect l="-19" t="-24" r="20"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文本框 27"/>
              <p:cNvSpPr txBox="1"/>
              <p:nvPr/>
            </p:nvSpPr>
            <p:spPr>
              <a:xfrm>
                <a:off x="8458751" y="5185045"/>
                <a:ext cx="2973759" cy="1000402"/>
              </a:xfrm>
              <a:prstGeom prst="rect">
                <a:avLst/>
              </a:prstGeom>
              <a:solidFill>
                <a:schemeClr val="accent2">
                  <a:lumMod val="20000"/>
                  <a:lumOff val="80000"/>
                </a:schemeClr>
              </a:solidFill>
            </p:spPr>
            <p:txBody>
              <a:bodyPr wrap="square" rtlCol="0">
                <a:spAutoFit/>
              </a:bodyPr>
              <a:lstStyle/>
              <a:p>
                <a:pPr>
                  <a:lnSpc>
                    <a:spcPts val="2400"/>
                  </a:lnSpc>
                </a:pPr>
                <a:r>
                  <a:rPr lang="zh-CN" altLang="en-US" b="1">
                    <a:solidFill>
                      <a:schemeClr val="accent4">
                        <a:lumMod val="50000"/>
                      </a:schemeClr>
                    </a:solidFill>
                  </a:rPr>
                  <a:t>举例时应</a:t>
                </a:r>
                <a:r>
                  <a:rPr lang="zh-CN" altLang="en-US" b="1">
                    <a:solidFill>
                      <a:srgbClr val="C00000"/>
                    </a:solidFill>
                  </a:rPr>
                  <a:t>做好相关的计算</a:t>
                </a:r>
                <a:r>
                  <a:rPr lang="zh-CN" altLang="en-US" b="1">
                    <a:solidFill>
                      <a:schemeClr val="accent4">
                        <a:lumMod val="50000"/>
                      </a:schemeClr>
                    </a:solidFill>
                  </a:rPr>
                  <a:t>以更好地展示结果，不能只给出</a:t>
                </a:r>
                <a14:m>
                  <m:oMath xmlns:m="http://schemas.openxmlformats.org/officeDocument/2006/math">
                    <m:r>
                      <a:rPr lang="en-US" altLang="zh-CN" b="1" i="1" smtClean="0">
                        <a:solidFill>
                          <a:schemeClr val="accent4">
                            <a:lumMod val="50000"/>
                          </a:schemeClr>
                        </a:solidFill>
                        <a:latin typeface="Cambria Math" panose="02040503050406030204" pitchFamily="18" charset="0"/>
                      </a:rPr>
                      <m:t>𝑨</m:t>
                    </m:r>
                    <m:r>
                      <a:rPr lang="en-US" altLang="zh-CN" b="1" i="1" smtClean="0">
                        <a:solidFill>
                          <a:schemeClr val="accent4">
                            <a:lumMod val="50000"/>
                          </a:schemeClr>
                        </a:solidFill>
                        <a:latin typeface="Cambria Math" panose="02040503050406030204" pitchFamily="18" charset="0"/>
                      </a:rPr>
                      <m:t>, </m:t>
                    </m:r>
                    <m:r>
                      <a:rPr lang="en-US" altLang="zh-CN" b="1" i="1" smtClean="0">
                        <a:solidFill>
                          <a:schemeClr val="accent4">
                            <a:lumMod val="50000"/>
                          </a:schemeClr>
                        </a:solidFill>
                        <a:latin typeface="Cambria Math" panose="02040503050406030204" pitchFamily="18" charset="0"/>
                      </a:rPr>
                      <m:t>𝑹</m:t>
                    </m:r>
                    <m:r>
                      <a:rPr lang="en-US" altLang="zh-CN" b="1" i="1" smtClean="0">
                        <a:solidFill>
                          <a:schemeClr val="accent4">
                            <a:lumMod val="50000"/>
                          </a:schemeClr>
                        </a:solidFill>
                        <a:latin typeface="Cambria Math" panose="02040503050406030204" pitchFamily="18" charset="0"/>
                      </a:rPr>
                      <m:t>, </m:t>
                    </m:r>
                    <m:r>
                      <a:rPr lang="en-US" altLang="zh-CN" b="1" i="1" smtClean="0">
                        <a:solidFill>
                          <a:schemeClr val="accent4">
                            <a:lumMod val="50000"/>
                          </a:schemeClr>
                        </a:solidFill>
                        <a:latin typeface="Cambria Math" panose="02040503050406030204" pitchFamily="18" charset="0"/>
                      </a:rPr>
                      <m:t>𝑺</m:t>
                    </m:r>
                  </m:oMath>
                </a14:m>
                <a:r>
                  <a:rPr lang="zh-CN" altLang="en-US" b="1">
                    <a:solidFill>
                      <a:schemeClr val="accent4">
                        <a:lumMod val="50000"/>
                      </a:schemeClr>
                    </a:solidFill>
                  </a:rPr>
                  <a:t>作为例子。</a:t>
                </a:r>
                <a:endParaRPr lang="zh-CN" altLang="en-US" b="1">
                  <a:solidFill>
                    <a:schemeClr val="accent4">
                      <a:lumMod val="50000"/>
                    </a:schemeClr>
                  </a:solidFill>
                </a:endParaRPr>
              </a:p>
            </p:txBody>
          </p:sp>
        </mc:Choice>
        <mc:Fallback>
          <p:sp>
            <p:nvSpPr>
              <p:cNvPr id="28" name="文本框 27"/>
              <p:cNvSpPr txBox="1">
                <a:spLocks noRot="1" noChangeAspect="1" noMove="1" noResize="1" noEditPoints="1" noAdjustHandles="1" noChangeArrowheads="1" noChangeShapeType="1" noTextEdit="1"/>
              </p:cNvSpPr>
              <p:nvPr/>
            </p:nvSpPr>
            <p:spPr>
              <a:xfrm>
                <a:off x="8458751" y="5185045"/>
                <a:ext cx="2973759" cy="1000402"/>
              </a:xfrm>
              <a:prstGeom prst="rect">
                <a:avLst/>
              </a:prstGeom>
              <a:blipFill rotWithShape="1">
                <a:blip r:embed="rId7"/>
                <a:stretch>
                  <a:fillRect l="-19" t="-27" r="20" b="55"/>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2" name="文本框 1"/>
          <p:cNvSpPr txBox="1"/>
          <p:nvPr/>
        </p:nvSpPr>
        <p:spPr>
          <a:xfrm>
            <a:off x="1107232" y="1448010"/>
            <a:ext cx="5281127" cy="3874715"/>
          </a:xfrm>
          <a:prstGeom prst="rect">
            <a:avLst/>
          </a:prstGeom>
          <a:noFill/>
        </p:spPr>
        <p:txBody>
          <a:bodyPr wrap="square" rtlCol="0">
            <a:spAutoFit/>
          </a:bodyPr>
          <a:lstStyle/>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关系闭包的定义与基本性质</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自反闭包和对称闭包的计算</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传递闭包的计算</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en-US" altLang="zh-CN" sz="3200">
                <a:solidFill>
                  <a:schemeClr val="bg2">
                    <a:lumMod val="90000"/>
                  </a:schemeClr>
                </a:solidFill>
                <a:latin typeface="Arial" panose="020B0604020202020204" pitchFamily="34" charset="0"/>
                <a:ea typeface="仿宋" panose="02010609060101010101" pitchFamily="49" charset="-122"/>
                <a:cs typeface="Arial" panose="020B0604020202020204" pitchFamily="34" charset="0"/>
              </a:rPr>
              <a:t>Warshall</a:t>
            </a:r>
            <a:r>
              <a:rPr lang="zh-CN" altLang="en-US" sz="3200" b="1">
                <a:solidFill>
                  <a:schemeClr val="bg2">
                    <a:lumMod val="90000"/>
                  </a:schemeClr>
                </a:solidFill>
                <a:latin typeface="仿宋" panose="02010609060101010101" pitchFamily="49" charset="-122"/>
                <a:ea typeface="仿宋" panose="02010609060101010101" pitchFamily="49" charset="-122"/>
              </a:rPr>
              <a:t>算法</a:t>
            </a:r>
            <a:endParaRPr lang="en-US" altLang="zh-CN" sz="3200" b="1">
              <a:solidFill>
                <a:schemeClr val="bg2">
                  <a:lumMod val="9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自反闭包和对称闭包的计算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自反闭包和对称闭包的计算公式</a:t>
            </a:r>
            <a:endParaRPr lang="zh-CN" altLang="en-US"/>
          </a:p>
        </p:txBody>
      </p:sp>
      <p:sp>
        <p:nvSpPr>
          <p:cNvPr id="2" name="文本框 1"/>
          <p:cNvSpPr txBox="1"/>
          <p:nvPr/>
        </p:nvSpPr>
        <p:spPr>
          <a:xfrm>
            <a:off x="1130938" y="1256774"/>
            <a:ext cx="9930123" cy="923330"/>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rPr>
              <a:t>关系闭包是包含关系且具有某性质的最小关系</a:t>
            </a:r>
            <a:endParaRPr lang="zh-CN" altLang="en-US" sz="2400" b="1">
              <a:solidFill>
                <a:schemeClr val="accent2">
                  <a:lumMod val="50000"/>
                </a:schemeClr>
              </a:solidFill>
            </a:endParaRPr>
          </a:p>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当关系不具有某性质时，可</a:t>
            </a:r>
            <a:r>
              <a:rPr lang="zh-CN" altLang="en-US" sz="2000" b="1">
                <a:solidFill>
                  <a:srgbClr val="C00000"/>
                </a:solidFill>
                <a:latin typeface="+mn-ea"/>
              </a:rPr>
              <a:t>添加最少有序对</a:t>
            </a:r>
            <a:r>
              <a:rPr lang="zh-CN" altLang="en-US" sz="2000" b="1">
                <a:solidFill>
                  <a:srgbClr val="002060"/>
                </a:solidFill>
                <a:latin typeface="楷体" panose="02010609060101010101" pitchFamily="49" charset="-122"/>
                <a:ea typeface="楷体" panose="02010609060101010101" pitchFamily="49" charset="-122"/>
              </a:rPr>
              <a:t>使得其具有该性质，就可得到该关系的闭包</a:t>
            </a:r>
            <a:endParaRPr lang="zh-CN" altLang="en-US" sz="2000" b="1">
              <a:solidFill>
                <a:srgbClr val="002060"/>
              </a:solidFill>
              <a:latin typeface="楷体" panose="02010609060101010101" pitchFamily="49" charset="-122"/>
              <a:ea typeface="楷体" panose="02010609060101010101" pitchFamily="49" charset="-122"/>
            </a:endParaRPr>
          </a:p>
        </p:txBody>
      </p:sp>
      <p:grpSp>
        <p:nvGrpSpPr>
          <p:cNvPr id="25" name="组合 24"/>
          <p:cNvGrpSpPr/>
          <p:nvPr/>
        </p:nvGrpSpPr>
        <p:grpSpPr>
          <a:xfrm>
            <a:off x="1130938" y="2554964"/>
            <a:ext cx="9632832" cy="834139"/>
            <a:chOff x="1130939" y="2594861"/>
            <a:chExt cx="9632832" cy="834139"/>
          </a:xfrm>
        </p:grpSpPr>
        <p:sp>
          <p:nvSpPr>
            <p:cNvPr id="3" name="文本框 2"/>
            <p:cNvSpPr txBox="1"/>
            <p:nvPr/>
          </p:nvSpPr>
          <p:spPr>
            <a:xfrm>
              <a:off x="1130939" y="2594861"/>
              <a:ext cx="2518821" cy="834139"/>
            </a:xfrm>
            <a:prstGeom prst="rect">
              <a:avLst/>
            </a:prstGeom>
            <a:solidFill>
              <a:schemeClr val="accent4">
                <a:lumMod val="20000"/>
                <a:lumOff val="80000"/>
              </a:schemeClr>
            </a:solidFill>
          </p:spPr>
          <p:txBody>
            <a:bodyPr wrap="square" rtlCol="0">
              <a:spAutoFit/>
            </a:bodyPr>
            <a:lstStyle/>
            <a:p>
              <a:pPr algn="ctr">
                <a:lnSpc>
                  <a:spcPts val="3000"/>
                </a:lnSpc>
              </a:pPr>
              <a:r>
                <a:rPr lang="zh-CN" altLang="en-US" sz="2000" b="1">
                  <a:solidFill>
                    <a:schemeClr val="accent2">
                      <a:lumMod val="50000"/>
                    </a:schemeClr>
                  </a:solidFill>
                </a:rPr>
                <a:t>关系是自反的当且仅当它包含恒等关系</a:t>
              </a:r>
              <a:endParaRPr lang="zh-CN" altLang="en-US" sz="2000" b="1">
                <a:solidFill>
                  <a:schemeClr val="accent2">
                    <a:lumMod val="50000"/>
                  </a:schemeClr>
                </a:solidFill>
              </a:endParaRPr>
            </a:p>
          </p:txBody>
        </p:sp>
        <p:sp>
          <p:nvSpPr>
            <p:cNvPr id="4" name="文本框 3"/>
            <p:cNvSpPr txBox="1"/>
            <p:nvPr/>
          </p:nvSpPr>
          <p:spPr>
            <a:xfrm>
              <a:off x="4326761" y="2594861"/>
              <a:ext cx="3538477" cy="834139"/>
            </a:xfrm>
            <a:prstGeom prst="rect">
              <a:avLst/>
            </a:prstGeom>
            <a:solidFill>
              <a:schemeClr val="accent5">
                <a:lumMod val="20000"/>
                <a:lumOff val="80000"/>
              </a:schemeClr>
            </a:solidFill>
          </p:spPr>
          <p:txBody>
            <a:bodyPr wrap="square" rtlCol="0">
              <a:spAutoFit/>
            </a:bodyPr>
            <a:lstStyle/>
            <a:p>
              <a:pPr algn="ctr">
                <a:lnSpc>
                  <a:spcPts val="3000"/>
                </a:lnSpc>
              </a:pPr>
              <a:r>
                <a:rPr lang="zh-CN" altLang="en-US" sz="2000" b="1">
                  <a:solidFill>
                    <a:srgbClr val="002060"/>
                  </a:solidFill>
                  <a:latin typeface="楷体" panose="02010609060101010101" pitchFamily="49" charset="-122"/>
                  <a:ea typeface="楷体" panose="02010609060101010101" pitchFamily="49" charset="-122"/>
                </a:rPr>
                <a:t>将</a:t>
              </a:r>
              <a:r>
                <a:rPr lang="zh-CN" altLang="en-US" sz="2000" b="1">
                  <a:solidFill>
                    <a:srgbClr val="C00000"/>
                  </a:solidFill>
                  <a:latin typeface="+mn-ea"/>
                </a:rPr>
                <a:t>恒等关系中的有序对</a:t>
              </a:r>
              <a:r>
                <a:rPr lang="zh-CN" altLang="en-US" sz="2000" b="1">
                  <a:solidFill>
                    <a:srgbClr val="002060"/>
                  </a:solidFill>
                  <a:latin typeface="楷体" panose="02010609060101010101" pitchFamily="49" charset="-122"/>
                  <a:ea typeface="楷体" panose="02010609060101010101" pitchFamily="49" charset="-122"/>
                </a:rPr>
                <a:t>添加到关系可得到该关系的自反闭包</a:t>
              </a:r>
              <a:endParaRPr lang="zh-CN" altLang="en-US" sz="2000" b="1">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6" name="文本框 5"/>
                <p:cNvSpPr txBox="1"/>
                <p:nvPr/>
              </p:nvSpPr>
              <p:spPr>
                <a:xfrm>
                  <a:off x="8827908" y="2773404"/>
                  <a:ext cx="1935863" cy="477054"/>
                </a:xfrm>
                <a:prstGeom prst="rect">
                  <a:avLst/>
                </a:prstGeom>
                <a:solidFill>
                  <a:schemeClr val="accent2">
                    <a:lumMod val="20000"/>
                    <a:lumOff val="80000"/>
                  </a:schemeClr>
                </a:solidFill>
              </p:spPr>
              <p:txBody>
                <a:bodyPr wrap="square" rtlCol="0">
                  <a:spAutoFit/>
                </a:bodyPr>
                <a:lstStyle/>
                <a:p>
                  <a:pPr>
                    <a:lnSpc>
                      <a:spcPts val="3000"/>
                    </a:lnSpc>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𝒓</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e>
                        </m:d>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0" smtClean="0">
                                <a:solidFill>
                                  <a:schemeClr val="accent2">
                                    <a:lumMod val="50000"/>
                                  </a:schemeClr>
                                </a:solidFill>
                                <a:latin typeface="Cambria Math" panose="02040503050406030204" pitchFamily="18" charset="0"/>
                              </a:rPr>
                              <m:t>𝚫</m:t>
                            </m:r>
                          </m:e>
                          <m:sub>
                            <m:r>
                              <a:rPr lang="en-US" altLang="zh-CN" sz="2000" b="1" i="1" smtClean="0">
                                <a:solidFill>
                                  <a:schemeClr val="accent2">
                                    <a:lumMod val="50000"/>
                                  </a:schemeClr>
                                </a:solidFill>
                                <a:latin typeface="Cambria Math" panose="02040503050406030204" pitchFamily="18" charset="0"/>
                              </a:rPr>
                              <m:t>𝑨</m:t>
                            </m:r>
                          </m:sub>
                        </m:sSub>
                      </m:oMath>
                    </m:oMathPara>
                  </a14:m>
                  <a:endParaRPr lang="zh-CN" altLang="en-US" sz="2000" b="1">
                    <a:solidFill>
                      <a:schemeClr val="accent2">
                        <a:lumMod val="50000"/>
                      </a:schemeClr>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8827908" y="2773404"/>
                  <a:ext cx="1935863" cy="477054"/>
                </a:xfrm>
                <a:prstGeom prst="rect">
                  <a:avLst/>
                </a:prstGeom>
                <a:blipFill rotWithShape="1">
                  <a:blip r:embed="rId1"/>
                </a:blipFill>
              </p:spPr>
              <p:txBody>
                <a:bodyPr/>
                <a:lstStyle/>
                <a:p>
                  <a:r>
                    <a:rPr lang="zh-CN" altLang="en-US">
                      <a:noFill/>
                    </a:rPr>
                    <a:t> </a:t>
                  </a:r>
                </a:p>
              </p:txBody>
            </p:sp>
          </mc:Fallback>
        </mc:AlternateContent>
        <p:sp>
          <p:nvSpPr>
            <p:cNvPr id="18" name="箭头: 右 17"/>
            <p:cNvSpPr/>
            <p:nvPr/>
          </p:nvSpPr>
          <p:spPr>
            <a:xfrm>
              <a:off x="3649760" y="2950760"/>
              <a:ext cx="677001" cy="1223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右 18"/>
            <p:cNvSpPr/>
            <p:nvPr/>
          </p:nvSpPr>
          <p:spPr>
            <a:xfrm>
              <a:off x="7865238" y="2969721"/>
              <a:ext cx="962670" cy="1033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nvGrpSpPr>
        <p:grpSpPr>
          <a:xfrm>
            <a:off x="1130938" y="3663994"/>
            <a:ext cx="9710293" cy="834139"/>
            <a:chOff x="1130938" y="3934631"/>
            <a:chExt cx="9710293" cy="834139"/>
          </a:xfrm>
        </p:grpSpPr>
        <p:sp>
          <p:nvSpPr>
            <p:cNvPr id="20" name="文本框 19"/>
            <p:cNvSpPr txBox="1"/>
            <p:nvPr/>
          </p:nvSpPr>
          <p:spPr>
            <a:xfrm>
              <a:off x="1130938" y="3934631"/>
              <a:ext cx="2518821" cy="834139"/>
            </a:xfrm>
            <a:prstGeom prst="rect">
              <a:avLst/>
            </a:prstGeom>
            <a:solidFill>
              <a:schemeClr val="accent4">
                <a:lumMod val="20000"/>
                <a:lumOff val="80000"/>
              </a:schemeClr>
            </a:solidFill>
          </p:spPr>
          <p:txBody>
            <a:bodyPr wrap="square" rtlCol="0">
              <a:spAutoFit/>
            </a:bodyPr>
            <a:lstStyle/>
            <a:p>
              <a:pPr algn="ctr">
                <a:lnSpc>
                  <a:spcPts val="3000"/>
                </a:lnSpc>
              </a:pPr>
              <a:r>
                <a:rPr lang="zh-CN" altLang="en-US" sz="2000" b="1">
                  <a:solidFill>
                    <a:schemeClr val="accent2">
                      <a:lumMod val="50000"/>
                    </a:schemeClr>
                  </a:solidFill>
                </a:rPr>
                <a:t>关系是对称的当且仅当它等于它的逆</a:t>
              </a:r>
              <a:endParaRPr lang="zh-CN" altLang="en-US" sz="2000" b="1">
                <a:solidFill>
                  <a:schemeClr val="accent2">
                    <a:lumMod val="50000"/>
                  </a:schemeClr>
                </a:solidFill>
              </a:endParaRPr>
            </a:p>
          </p:txBody>
        </p:sp>
        <p:sp>
          <p:nvSpPr>
            <p:cNvPr id="21" name="文本框 20"/>
            <p:cNvSpPr txBox="1"/>
            <p:nvPr/>
          </p:nvSpPr>
          <p:spPr>
            <a:xfrm>
              <a:off x="4326760" y="3934631"/>
              <a:ext cx="3538477" cy="834139"/>
            </a:xfrm>
            <a:prstGeom prst="rect">
              <a:avLst/>
            </a:prstGeom>
            <a:solidFill>
              <a:schemeClr val="accent5">
                <a:lumMod val="20000"/>
                <a:lumOff val="80000"/>
              </a:schemeClr>
            </a:solidFill>
          </p:spPr>
          <p:txBody>
            <a:bodyPr wrap="square" rtlCol="0">
              <a:spAutoFit/>
            </a:bodyPr>
            <a:lstStyle/>
            <a:p>
              <a:pPr algn="ctr">
                <a:lnSpc>
                  <a:spcPts val="3000"/>
                </a:lnSpc>
              </a:pPr>
              <a:r>
                <a:rPr lang="zh-CN" altLang="en-US" sz="2000" b="1">
                  <a:solidFill>
                    <a:srgbClr val="002060"/>
                  </a:solidFill>
                  <a:latin typeface="楷体" panose="02010609060101010101" pitchFamily="49" charset="-122"/>
                  <a:ea typeface="楷体" panose="02010609060101010101" pitchFamily="49" charset="-122"/>
                </a:rPr>
                <a:t>将</a:t>
              </a:r>
              <a:r>
                <a:rPr lang="zh-CN" altLang="en-US" sz="2000" b="1">
                  <a:solidFill>
                    <a:srgbClr val="C00000"/>
                  </a:solidFill>
                  <a:latin typeface="+mn-ea"/>
                </a:rPr>
                <a:t>它的逆关系的有序对</a:t>
              </a:r>
              <a:r>
                <a:rPr lang="zh-CN" altLang="en-US" sz="2000" b="1">
                  <a:solidFill>
                    <a:srgbClr val="002060"/>
                  </a:solidFill>
                  <a:latin typeface="楷体" panose="02010609060101010101" pitchFamily="49" charset="-122"/>
                  <a:ea typeface="楷体" panose="02010609060101010101" pitchFamily="49" charset="-122"/>
                </a:rPr>
                <a:t>添加到关系可得到该关系的对称闭包</a:t>
              </a:r>
              <a:endParaRPr lang="zh-CN" altLang="en-US" sz="2000" b="1">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22" name="文本框 21"/>
                <p:cNvSpPr txBox="1"/>
                <p:nvPr/>
              </p:nvSpPr>
              <p:spPr>
                <a:xfrm>
                  <a:off x="8827907" y="4113174"/>
                  <a:ext cx="2013324" cy="477054"/>
                </a:xfrm>
                <a:prstGeom prst="rect">
                  <a:avLst/>
                </a:prstGeom>
                <a:solidFill>
                  <a:schemeClr val="accent2">
                    <a:lumMod val="20000"/>
                    <a:lumOff val="80000"/>
                  </a:schemeClr>
                </a:solidFill>
              </p:spPr>
              <p:txBody>
                <a:bodyPr wrap="square" rtlCol="0">
                  <a:spAutoFit/>
                </a:bodyPr>
                <a:lstStyle/>
                <a:p>
                  <a:pPr>
                    <a:lnSpc>
                      <a:spcPts val="3000"/>
                    </a:lnSpc>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𝒔</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e>
                        </m:d>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𝑹</m:t>
                            </m:r>
                          </m:e>
                          <m:sup>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sup>
                        </m:sSup>
                      </m:oMath>
                    </m:oMathPara>
                  </a14:m>
                  <a:endParaRPr lang="zh-CN" altLang="en-US" sz="2000" b="1">
                    <a:solidFill>
                      <a:schemeClr val="accent2">
                        <a:lumMod val="50000"/>
                      </a:schemeClr>
                    </a:solidFill>
                  </a:endParaRPr>
                </a:p>
              </p:txBody>
            </p:sp>
          </mc:Choice>
          <mc:Fallback>
            <p:sp>
              <p:nvSpPr>
                <p:cNvPr id="22" name="文本框 21"/>
                <p:cNvSpPr txBox="1">
                  <a:spLocks noRot="1" noChangeAspect="1" noMove="1" noResize="1" noEditPoints="1" noAdjustHandles="1" noChangeArrowheads="1" noChangeShapeType="1" noTextEdit="1"/>
                </p:cNvSpPr>
                <p:nvPr/>
              </p:nvSpPr>
              <p:spPr>
                <a:xfrm>
                  <a:off x="8827907" y="4113174"/>
                  <a:ext cx="2013324" cy="477054"/>
                </a:xfrm>
                <a:prstGeom prst="rect">
                  <a:avLst/>
                </a:prstGeom>
                <a:blipFill rotWithShape="1">
                  <a:blip r:embed="rId2"/>
                </a:blipFill>
              </p:spPr>
              <p:txBody>
                <a:bodyPr/>
                <a:lstStyle/>
                <a:p>
                  <a:r>
                    <a:rPr lang="zh-CN" altLang="en-US">
                      <a:noFill/>
                    </a:rPr>
                    <a:t> </a:t>
                  </a:r>
                </a:p>
              </p:txBody>
            </p:sp>
          </mc:Fallback>
        </mc:AlternateContent>
        <p:sp>
          <p:nvSpPr>
            <p:cNvPr id="23" name="箭头: 右 22"/>
            <p:cNvSpPr/>
            <p:nvPr/>
          </p:nvSpPr>
          <p:spPr>
            <a:xfrm>
              <a:off x="3649759" y="4290530"/>
              <a:ext cx="677001" cy="1223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p:cNvSpPr/>
            <p:nvPr/>
          </p:nvSpPr>
          <p:spPr>
            <a:xfrm>
              <a:off x="7865237" y="4309491"/>
              <a:ext cx="962670" cy="1033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27" name="文本框 26"/>
              <p:cNvSpPr txBox="1"/>
              <p:nvPr/>
            </p:nvSpPr>
            <p:spPr>
              <a:xfrm>
                <a:off x="2204864" y="4791987"/>
                <a:ext cx="7782267" cy="1323439"/>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集合</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smtClean="0">
                        <a:solidFill>
                          <a:srgbClr val="002060"/>
                        </a:solidFill>
                        <a:latin typeface="Cambria Math" panose="02040503050406030204" pitchFamily="18" charset="0"/>
                      </a:rPr>
                      <m:t>=</m:t>
                    </m:r>
                    <m:r>
                      <m:rPr>
                        <m:lit/>
                      </m:rP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𝟑</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𝟒</m:t>
                    </m:r>
                    <m:r>
                      <m:rPr>
                        <m:lit/>
                      </m:rP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𝑹</m:t>
                    </m:r>
                    <m:r>
                      <a:rPr lang="en-US" altLang="zh-CN" sz="2000" b="1" i="1">
                        <a:solidFill>
                          <a:srgbClr val="002060"/>
                        </a:solidFill>
                        <a:latin typeface="Cambria Math" panose="02040503050406030204" pitchFamily="18" charset="0"/>
                      </a:rPr>
                      <m:t>=</m:t>
                    </m:r>
                    <m:r>
                      <m:rPr>
                        <m:lit/>
                      </m:rP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 </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𝟐</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𝟏</m:t>
                        </m:r>
                      </m:e>
                    </m:d>
                    <m:r>
                      <a:rPr lang="en-US" altLang="zh-CN" sz="2000" b="1" i="1">
                        <a:solidFill>
                          <a:srgbClr val="002060"/>
                        </a:solidFill>
                        <a:latin typeface="Cambria Math" panose="02040503050406030204" pitchFamily="18" charset="0"/>
                      </a:rPr>
                      <m:t>, </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𝟑</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𝟒</m:t>
                        </m:r>
                      </m:e>
                    </m:d>
                    <m:r>
                      <a:rPr lang="en-US" altLang="zh-CN" sz="2000" b="1" i="1">
                        <a:solidFill>
                          <a:srgbClr val="002060"/>
                        </a:solidFill>
                        <a:latin typeface="Cambria Math" panose="02040503050406030204" pitchFamily="18" charset="0"/>
                      </a:rPr>
                      <m:t>, </m:t>
                    </m:r>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𝟑</m:t>
                        </m:r>
                        <m:r>
                          <a:rPr lang="en-US" altLang="zh-CN" sz="2000" b="1" i="1">
                            <a:solidFill>
                              <a:srgbClr val="002060"/>
                            </a:solidFill>
                            <a:latin typeface="Cambria Math" panose="02040503050406030204" pitchFamily="18" charset="0"/>
                          </a:rPr>
                          <m:t>, </m:t>
                        </m:r>
                        <m:r>
                          <a:rPr lang="en-US" altLang="zh-CN" sz="2000" b="1" i="1">
                            <a:solidFill>
                              <a:srgbClr val="002060"/>
                            </a:solidFill>
                            <a:latin typeface="Cambria Math" panose="02040503050406030204" pitchFamily="18" charset="0"/>
                          </a:rPr>
                          <m:t>𝟑</m:t>
                        </m:r>
                      </m:e>
                    </m:d>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 </m:t>
                    </m:r>
                    <m:d>
                      <m:dPr>
                        <m:begChr m:val="⟨"/>
                        <m:endChr m:val="⟩"/>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𝟐</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𝟒</m:t>
                        </m:r>
                      </m:e>
                    </m:d>
                    <m:r>
                      <a:rPr lang="en-US" altLang="zh-CN" sz="2000" b="1" i="1" smtClean="0">
                        <a:solidFill>
                          <a:srgbClr val="002060"/>
                        </a:solidFill>
                        <a:latin typeface="Cambria Math" panose="02040503050406030204" pitchFamily="18" charset="0"/>
                      </a:rPr>
                      <m:t>, </m:t>
                    </m:r>
                    <m:d>
                      <m:dPr>
                        <m:begChr m:val="⟨"/>
                        <m:endChr m:val="⟩"/>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𝟒</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𝟏</m:t>
                        </m:r>
                      </m:e>
                    </m:d>
                    <m:r>
                      <a:rPr lang="en-US" altLang="zh-CN" sz="2000" b="1" i="1" smtClean="0">
                        <a:solidFill>
                          <a:srgbClr val="002060"/>
                        </a:solidFill>
                        <a:latin typeface="Cambria Math" panose="02040503050406030204" pitchFamily="18" charset="0"/>
                      </a:rPr>
                      <m:t>, </m:t>
                    </m:r>
                    <m:d>
                      <m:dPr>
                        <m:begChr m:val="⟨"/>
                        <m:endChr m:val="⟩"/>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𝟏</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𝟒</m:t>
                        </m:r>
                      </m:e>
                    </m:d>
                    <m:r>
                      <m:rPr>
                        <m:lit/>
                      </m:rPr>
                      <a:rPr lang="en-US" altLang="zh-CN" sz="2000" b="1" i="1">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，则 </a:t>
                </a:r>
                <a:endParaRPr lang="zh-CN" altLang="en-US" sz="2000"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𝒓</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e>
                    </m:d>
                    <m:r>
                      <a:rPr lang="en-US" altLang="zh-CN" sz="2000" b="1" i="1">
                        <a:solidFill>
                          <a:schemeClr val="accent2">
                            <a:lumMod val="50000"/>
                          </a:schemeClr>
                        </a:solidFill>
                        <a:latin typeface="Cambria Math" panose="02040503050406030204" pitchFamily="18" charset="0"/>
                      </a:rPr>
                      <m:t>= </m:t>
                    </m:r>
                    <m:r>
                      <m:rPr>
                        <m:lit/>
                      </m:rP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𝟏</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𝟑</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𝟒</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𝟏</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smtClean="0">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𝟏</m:t>
                        </m:r>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𝟏</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smtClean="0">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𝟐</m:t>
                        </m:r>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𝟐</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smtClean="0">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𝟒</m:t>
                        </m:r>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𝟒</m:t>
                        </m:r>
                      </m:e>
                    </m:d>
                    <m:r>
                      <m:rPr>
                        <m:lit/>
                      </m:rPr>
                      <a:rPr lang="en-US" altLang="zh-CN" sz="2000" b="1" i="1" smtClean="0">
                        <a:solidFill>
                          <a:schemeClr val="accent2">
                            <a:lumMod val="50000"/>
                          </a:schemeClr>
                        </a:solidFill>
                        <a:latin typeface="Cambria Math" panose="02040503050406030204" pitchFamily="18" charset="0"/>
                      </a:rPr>
                      <m:t>}</m:t>
                    </m:r>
                  </m:oMath>
                </a14:m>
                <a:endParaRPr lang="en-US" altLang="zh-CN" sz="2000" b="1">
                  <a:solidFill>
                    <a:schemeClr val="accent2">
                      <a:lumMod val="50000"/>
                    </a:schemeClr>
                  </a:solidFill>
                </a:endParaRPr>
              </a:p>
              <a:p>
                <a:pPr marL="285750" indent="-285750">
                  <a:spcBef>
                    <a:spcPts val="600"/>
                  </a:spcBef>
                  <a:spcAft>
                    <a:spcPts val="600"/>
                  </a:spcAft>
                  <a:buFont typeface="Arial" panose="020B0604020202020204" pitchFamily="34" charset="0"/>
                  <a:buChar char="•"/>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𝒔</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e>
                    </m:d>
                    <m:r>
                      <a:rPr lang="en-US" altLang="zh-CN" sz="2000" b="1" i="1">
                        <a:solidFill>
                          <a:schemeClr val="accent2">
                            <a:lumMod val="50000"/>
                          </a:schemeClr>
                        </a:solidFill>
                        <a:latin typeface="Cambria Math" panose="02040503050406030204" pitchFamily="18" charset="0"/>
                      </a:rPr>
                      <m:t>= </m:t>
                    </m:r>
                    <m:r>
                      <m:rPr>
                        <m:lit/>
                      </m:rPr>
                      <a:rPr lang="en-US" altLang="zh-CN" sz="2000" b="1" i="1" smtClean="0">
                        <a:solidFill>
                          <a:schemeClr val="accent2">
                            <a:lumMod val="50000"/>
                          </a:schemeClr>
                        </a:solidFill>
                        <a:latin typeface="Cambria Math" panose="02040503050406030204" pitchFamily="18" charset="0"/>
                      </a:rPr>
                      <m:t>{</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𝟏</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𝟑</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𝟑</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𝟐</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𝟒</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𝟏</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𝟏</m:t>
                        </m:r>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𝟒</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smtClean="0">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𝟏</m:t>
                        </m:r>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𝟐</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smtClean="0">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𝟒</m:t>
                        </m:r>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𝟑</m:t>
                        </m:r>
                      </m:e>
                    </m:d>
                    <m:r>
                      <a:rPr lang="en-US" altLang="zh-CN" sz="2000" b="1" i="1">
                        <a:solidFill>
                          <a:schemeClr val="accent2">
                            <a:lumMod val="50000"/>
                          </a:schemeClr>
                        </a:solidFill>
                        <a:latin typeface="Cambria Math" panose="02040503050406030204" pitchFamily="18" charset="0"/>
                      </a:rPr>
                      <m:t>, </m:t>
                    </m:r>
                    <m:d>
                      <m:dPr>
                        <m:begChr m:val="⟨"/>
                        <m:endChr m:val="⟩"/>
                        <m:ctrlPr>
                          <a:rPr lang="en-US" altLang="zh-CN" sz="2000" b="1" i="1" smtClean="0">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𝟒</m:t>
                        </m:r>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𝟐</m:t>
                        </m:r>
                      </m:e>
                    </m:d>
                    <m:r>
                      <m:rPr>
                        <m:lit/>
                      </m:rPr>
                      <a:rPr lang="en-US" altLang="zh-CN" sz="2000" b="1" i="1" smtClean="0">
                        <a:solidFill>
                          <a:schemeClr val="accent2">
                            <a:lumMod val="50000"/>
                          </a:schemeClr>
                        </a:solidFill>
                        <a:latin typeface="Cambria Math" panose="02040503050406030204" pitchFamily="18" charset="0"/>
                      </a:rPr>
                      <m:t>}</m:t>
                    </m:r>
                  </m:oMath>
                </a14:m>
                <a:endParaRPr lang="zh-CN" altLang="en-US" sz="2000" b="1">
                  <a:solidFill>
                    <a:schemeClr val="accent2">
                      <a:lumMod val="50000"/>
                    </a:schemeClr>
                  </a:solidFill>
                </a:endParaRPr>
              </a:p>
            </p:txBody>
          </p:sp>
        </mc:Choice>
        <mc:Fallback>
          <p:sp>
            <p:nvSpPr>
              <p:cNvPr id="27" name="文本框 26"/>
              <p:cNvSpPr txBox="1">
                <a:spLocks noRot="1" noChangeAspect="1" noMove="1" noResize="1" noEditPoints="1" noAdjustHandles="1" noChangeArrowheads="1" noChangeShapeType="1" noTextEdit="1"/>
              </p:cNvSpPr>
              <p:nvPr/>
            </p:nvSpPr>
            <p:spPr>
              <a:xfrm>
                <a:off x="2204864" y="4791987"/>
                <a:ext cx="7782267" cy="1323439"/>
              </a:xfrm>
              <a:prstGeom prst="rect">
                <a:avLst/>
              </a:prstGeom>
              <a:blipFill rotWithShape="1">
                <a:blip r:embed="rId3"/>
                <a:stretch>
                  <a:fillRect l="-2" t="-21" r="6" b="-64650"/>
                </a:stretch>
              </a:blipFill>
            </p:spPr>
            <p:txBody>
              <a:bodyPr/>
              <a:lstStyle/>
              <a:p>
                <a:r>
                  <a:rPr lang="zh-CN" altLang="en-US">
                    <a:noFill/>
                  </a:rPr>
                  <a:t> </a:t>
                </a:r>
              </a:p>
            </p:txBody>
          </p:sp>
        </mc:Fallback>
      </mc:AlternateContent>
      <p:sp>
        <p:nvSpPr>
          <p:cNvPr id="11" name="文本框 10"/>
          <p:cNvSpPr txBox="1"/>
          <p:nvPr/>
        </p:nvSpPr>
        <p:spPr>
          <a:xfrm>
            <a:off x="10090355" y="4453738"/>
            <a:ext cx="1501751" cy="646331"/>
          </a:xfrm>
          <a:prstGeom prst="rect">
            <a:avLst/>
          </a:prstGeom>
          <a:solidFill>
            <a:schemeClr val="accent2">
              <a:lumMod val="20000"/>
              <a:lumOff val="80000"/>
            </a:schemeClr>
          </a:solidFill>
        </p:spPr>
        <p:txBody>
          <a:bodyPr wrap="square" rtlCol="0">
            <a:spAutoFit/>
          </a:bodyPr>
          <a:lstStyle/>
          <a:p>
            <a:pPr algn="ctr"/>
            <a:r>
              <a:rPr lang="zh-CN" altLang="en-US" b="1">
                <a:solidFill>
                  <a:schemeClr val="accent2">
                    <a:lumMod val="50000"/>
                  </a:schemeClr>
                </a:solidFill>
              </a:rPr>
              <a:t>如何证明这些计算公式？</a:t>
            </a:r>
            <a:endParaRPr lang="zh-CN" altLang="en-US" b="1">
              <a:solidFill>
                <a:schemeClr val="accent2">
                  <a:lumMod val="50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自反闭包和对称闭包的计算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自反闭包和对称闭包计算公式的证明</a:t>
            </a:r>
            <a:r>
              <a:rPr lang="en-US" altLang="zh-CN"/>
              <a:t>*</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401747" y="1220642"/>
                <a:ext cx="5041242" cy="993221"/>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自反闭包和对称闭包的计算公式</a:t>
                </a:r>
                <a:endParaRPr lang="en-US" altLang="zh-CN" sz="2400" b="1">
                  <a:solidFill>
                    <a:srgbClr val="C00000"/>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chemeClr val="accent2">
                              <a:lumMod val="50000"/>
                            </a:schemeClr>
                          </a:solidFill>
                          <a:latin typeface="Cambria Math" panose="02040503050406030204" pitchFamily="18" charset="0"/>
                        </a:rPr>
                        <m:t>𝒓</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𝑹</m:t>
                          </m:r>
                        </m:e>
                      </m:d>
                      <m:r>
                        <a:rPr lang="en-US" altLang="zh-CN" sz="2400" b="1" i="1" smtClean="0">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sSub>
                        <m:sSubPr>
                          <m:ctrlPr>
                            <a:rPr lang="en-US" altLang="zh-CN" sz="2400" b="1" i="1" smtClean="0">
                              <a:solidFill>
                                <a:schemeClr val="accent2">
                                  <a:lumMod val="50000"/>
                                </a:schemeClr>
                              </a:solidFill>
                              <a:latin typeface="Cambria Math" panose="02040503050406030204" pitchFamily="18" charset="0"/>
                            </a:rPr>
                          </m:ctrlPr>
                        </m:sSubPr>
                        <m:e>
                          <m:r>
                            <a:rPr lang="en-US" altLang="zh-CN" sz="2400" b="1" i="0" smtClean="0">
                              <a:solidFill>
                                <a:schemeClr val="accent2">
                                  <a:lumMod val="50000"/>
                                </a:schemeClr>
                              </a:solidFill>
                              <a:latin typeface="Cambria Math" panose="02040503050406030204" pitchFamily="18" charset="0"/>
                            </a:rPr>
                            <m:t>𝚫</m:t>
                          </m:r>
                        </m:e>
                        <m:sub>
                          <m:r>
                            <a:rPr lang="en-US" altLang="zh-CN" sz="2400" b="1" i="1" smtClean="0">
                              <a:solidFill>
                                <a:schemeClr val="accent2">
                                  <a:lumMod val="50000"/>
                                </a:schemeClr>
                              </a:solidFill>
                              <a:latin typeface="Cambria Math" panose="02040503050406030204" pitchFamily="18" charset="0"/>
                            </a:rPr>
                            <m:t>𝑨</m:t>
                          </m:r>
                        </m:sub>
                      </m:sSub>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𝒔</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𝑹</m:t>
                          </m:r>
                        </m:e>
                      </m:d>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sSup>
                        <m:sSupPr>
                          <m:ctrlPr>
                            <a:rPr lang="en-US" altLang="zh-CN" sz="2400" b="1" i="1" smtClean="0">
                              <a:solidFill>
                                <a:schemeClr val="accent2">
                                  <a:lumMod val="50000"/>
                                </a:schemeClr>
                              </a:solidFill>
                              <a:latin typeface="Cambria Math" panose="02040503050406030204" pitchFamily="18" charset="0"/>
                            </a:rPr>
                          </m:ctrlPr>
                        </m:sSupPr>
                        <m:e>
                          <m:r>
                            <a:rPr lang="en-US" altLang="zh-CN" sz="2400" b="1" i="1" smtClean="0">
                              <a:solidFill>
                                <a:schemeClr val="accent2">
                                  <a:lumMod val="50000"/>
                                </a:schemeClr>
                              </a:solidFill>
                              <a:latin typeface="Cambria Math" panose="02040503050406030204" pitchFamily="18" charset="0"/>
                            </a:rPr>
                            <m:t>𝑹</m:t>
                          </m:r>
                        </m:e>
                        <m:sup>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sup>
                      </m:sSup>
                    </m:oMath>
                  </m:oMathPara>
                </a14:m>
                <a:endParaRPr lang="zh-CN" altLang="en-US" sz="2400" b="1">
                  <a:solidFill>
                    <a:schemeClr val="accent2">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401747" y="1220642"/>
                <a:ext cx="5041242" cy="993221"/>
              </a:xfrm>
              <a:prstGeom prst="rect">
                <a:avLst/>
              </a:prstGeom>
              <a:blipFill rotWithShape="1">
                <a:blip r:embed="rId1"/>
                <a:stretch>
                  <a:fillRect l="-8" t="-17" r="8" b="25"/>
                </a:stretch>
              </a:blipFill>
            </p:spPr>
            <p:txBody>
              <a:bodyPr/>
              <a:lstStyle/>
              <a:p>
                <a:r>
                  <a:rPr lang="zh-CN" altLang="en-US">
                    <a:noFill/>
                  </a:rPr>
                  <a:t> </a:t>
                </a:r>
              </a:p>
            </p:txBody>
          </p:sp>
        </mc:Fallback>
      </mc:AlternateContent>
      <p:grpSp>
        <p:nvGrpSpPr>
          <p:cNvPr id="53" name="组合 52"/>
          <p:cNvGrpSpPr/>
          <p:nvPr/>
        </p:nvGrpSpPr>
        <p:grpSpPr>
          <a:xfrm>
            <a:off x="229767" y="2510891"/>
            <a:ext cx="5776937" cy="3444810"/>
            <a:chOff x="556244" y="2509281"/>
            <a:chExt cx="5776937" cy="3444810"/>
          </a:xfrm>
        </p:grpSpPr>
        <mc:AlternateContent xmlns:mc="http://schemas.openxmlformats.org/markup-compatibility/2006">
          <mc:Choice xmlns:a14="http://schemas.microsoft.com/office/drawing/2010/main" Requires="a14">
            <p:sp>
              <p:nvSpPr>
                <p:cNvPr id="11" name="文本框 10"/>
                <p:cNvSpPr txBox="1"/>
                <p:nvPr/>
              </p:nvSpPr>
              <p:spPr>
                <a:xfrm>
                  <a:off x="2563016" y="2509281"/>
                  <a:ext cx="1905178"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0" smtClean="0">
                                <a:solidFill>
                                  <a:srgbClr val="002060"/>
                                </a:solidFill>
                                <a:latin typeface="Cambria Math" panose="02040503050406030204" pitchFamily="18" charset="0"/>
                              </a:rPr>
                              <m:t>𝚫</m:t>
                            </m:r>
                          </m:e>
                          <m:sub>
                            <m:r>
                              <a:rPr lang="en-US" altLang="zh-CN" sz="2000" b="1" i="1" smtClean="0">
                                <a:solidFill>
                                  <a:srgbClr val="002060"/>
                                </a:solidFill>
                                <a:latin typeface="Cambria Math" panose="02040503050406030204" pitchFamily="18" charset="0"/>
                              </a:rPr>
                              <m:t>𝑨</m:t>
                            </m:r>
                          </m:sub>
                        </m:sSub>
                      </m:oMath>
                    </m:oMathPara>
                  </a14:m>
                  <a:endParaRPr lang="zh-CN" altLang="en-US" sz="2000" b="1">
                    <a:solidFill>
                      <a:srgbClr val="002060"/>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2563016" y="2509281"/>
                  <a:ext cx="1905178" cy="400110"/>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556244" y="4418894"/>
                  <a:ext cx="1266694"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oMath>
                    </m:oMathPara>
                  </a14:m>
                  <a:endParaRPr lang="en-US" altLang="zh-CN" sz="2000" b="1">
                    <a:solidFill>
                      <a:srgbClr val="002060"/>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556244" y="4418894"/>
                  <a:ext cx="1266694" cy="40011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1002747" y="3397815"/>
                  <a:ext cx="1821003"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0" smtClean="0">
                                <a:solidFill>
                                  <a:srgbClr val="002060"/>
                                </a:solidFill>
                                <a:latin typeface="Cambria Math" panose="02040503050406030204" pitchFamily="18" charset="0"/>
                              </a:rPr>
                              <m:t>𝚫</m:t>
                            </m:r>
                          </m:e>
                          <m:sub>
                            <m:r>
                              <a:rPr lang="en-US" altLang="zh-CN" sz="2000" b="1" i="1" smtClean="0">
                                <a:solidFill>
                                  <a:srgbClr val="002060"/>
                                </a:solidFill>
                                <a:latin typeface="Cambria Math" panose="02040503050406030204" pitchFamily="18" charset="0"/>
                              </a:rPr>
                              <m:t>𝑨</m:t>
                            </m:r>
                          </m:sub>
                        </m:sSub>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oMath>
                    </m:oMathPara>
                  </a14:m>
                  <a:endParaRPr lang="en-US" altLang="zh-CN" sz="2000" b="1">
                    <a:solidFill>
                      <a:srgbClr val="002060"/>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1002747" y="3397815"/>
                  <a:ext cx="1821003" cy="40011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1898894" y="4426507"/>
                  <a:ext cx="1463538"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0" smtClean="0">
                                <a:solidFill>
                                  <a:srgbClr val="002060"/>
                                </a:solidFill>
                                <a:latin typeface="Cambria Math" panose="02040503050406030204" pitchFamily="18" charset="0"/>
                              </a:rPr>
                              <m:t>𝚫</m:t>
                            </m:r>
                          </m:e>
                          <m:sub>
                            <m:r>
                              <a:rPr lang="en-US" altLang="zh-CN" sz="2000" b="1" i="1" smtClean="0">
                                <a:solidFill>
                                  <a:srgbClr val="002060"/>
                                </a:solidFill>
                                <a:latin typeface="Cambria Math" panose="02040503050406030204" pitchFamily="18" charset="0"/>
                              </a:rPr>
                              <m:t>𝑨</m:t>
                            </m:r>
                          </m:sub>
                        </m:sSub>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oMath>
                    </m:oMathPara>
                  </a14:m>
                  <a:endParaRPr lang="en-US" altLang="zh-CN" sz="2000" b="1">
                    <a:solidFill>
                      <a:srgbClr val="002060"/>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1898894" y="4426507"/>
                  <a:ext cx="1463538" cy="40011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4053017" y="3397815"/>
                  <a:ext cx="1821003"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0" smtClean="0">
                                <a:solidFill>
                                  <a:srgbClr val="002060"/>
                                </a:solidFill>
                                <a:latin typeface="Cambria Math" panose="02040503050406030204" pitchFamily="18" charset="0"/>
                              </a:rPr>
                              <m:t>𝚫</m:t>
                            </m:r>
                          </m:e>
                          <m:sub>
                            <m:r>
                              <a:rPr lang="en-US" altLang="zh-CN" sz="2000" b="1" i="1" smtClean="0">
                                <a:solidFill>
                                  <a:srgbClr val="002060"/>
                                </a:solidFill>
                                <a:latin typeface="Cambria Math" panose="02040503050406030204" pitchFamily="18" charset="0"/>
                              </a:rPr>
                              <m:t>𝑨</m:t>
                            </m:r>
                          </m:sub>
                        </m:sSub>
                      </m:oMath>
                    </m:oMathPara>
                  </a14:m>
                  <a:endParaRPr lang="zh-CN" altLang="en-US" sz="2000" b="1">
                    <a:solidFill>
                      <a:srgbClr val="002060"/>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4053017" y="3397815"/>
                  <a:ext cx="1821003" cy="400110"/>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3461733" y="4426507"/>
                  <a:ext cx="1463538"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0" smtClean="0">
                                <a:solidFill>
                                  <a:srgbClr val="002060"/>
                                </a:solidFill>
                                <a:latin typeface="Cambria Math" panose="02040503050406030204" pitchFamily="18" charset="0"/>
                              </a:rPr>
                              <m:t>𝚫</m:t>
                            </m:r>
                          </m:e>
                          <m:sub>
                            <m:r>
                              <a:rPr lang="en-US" altLang="zh-CN" sz="2000" b="1" i="1" smtClean="0">
                                <a:solidFill>
                                  <a:srgbClr val="002060"/>
                                </a:solidFill>
                                <a:latin typeface="Cambria Math" panose="02040503050406030204" pitchFamily="18" charset="0"/>
                              </a:rPr>
                              <m:t>𝑨</m:t>
                            </m:r>
                          </m:sub>
                        </m:sSub>
                      </m:oMath>
                    </m:oMathPara>
                  </a14:m>
                  <a:endParaRPr lang="zh-CN" altLang="en-US" sz="2000" b="1">
                    <a:solidFill>
                      <a:srgbClr val="002060"/>
                    </a:solidFill>
                  </a:endParaRPr>
                </a:p>
              </p:txBody>
            </p:sp>
          </mc:Choice>
          <mc:Fallback>
            <p:sp>
              <p:nvSpPr>
                <p:cNvPr id="16" name="文本框 15"/>
                <p:cNvSpPr txBox="1">
                  <a:spLocks noRot="1" noChangeAspect="1" noMove="1" noResize="1" noEditPoints="1" noAdjustHandles="1" noChangeArrowheads="1" noChangeShapeType="1" noTextEdit="1"/>
                </p:cNvSpPr>
                <p:nvPr/>
              </p:nvSpPr>
              <p:spPr>
                <a:xfrm>
                  <a:off x="3461733" y="4426507"/>
                  <a:ext cx="1463538" cy="400110"/>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5035294" y="4426507"/>
                  <a:ext cx="1226114" cy="707886"/>
                </a:xfrm>
                <a:prstGeom prst="rect">
                  <a:avLst/>
                </a:prstGeom>
                <a:solidFill>
                  <a:schemeClr val="accent2">
                    <a:lumMod val="20000"/>
                    <a:lumOff val="80000"/>
                  </a:schemeClr>
                </a:solidFill>
              </p:spPr>
              <p:txBody>
                <a:bodyPr wrap="square" rtlCol="0">
                  <a:spAutoFit/>
                </a:bodyPr>
                <a:lstStyle/>
                <a:p>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0" smtClean="0">
                              <a:solidFill>
                                <a:srgbClr val="002060"/>
                              </a:solidFill>
                              <a:latin typeface="Cambria Math" panose="02040503050406030204" pitchFamily="18" charset="0"/>
                            </a:rPr>
                            <m:t>𝚫</m:t>
                          </m:r>
                        </m:e>
                        <m:sub>
                          <m:r>
                            <a:rPr lang="en-US" altLang="zh-CN" sz="2000" b="1" i="1" smtClean="0">
                              <a:solidFill>
                                <a:srgbClr val="002060"/>
                              </a:solidFill>
                              <a:latin typeface="Cambria Math" panose="02040503050406030204" pitchFamily="18" charset="0"/>
                            </a:rPr>
                            <m:t>𝑨</m:t>
                          </m:r>
                        </m:sub>
                      </m:sSub>
                    </m:oMath>
                  </a14:m>
                  <a:r>
                    <a:rPr lang="zh-CN" altLang="en-US" sz="2000" b="1">
                      <a:solidFill>
                        <a:srgbClr val="002060"/>
                      </a:solidFill>
                    </a:rPr>
                    <a:t>是自反关系</a:t>
                  </a:r>
                  <a:endParaRPr lang="zh-CN" altLang="en-US" sz="2000" b="1">
                    <a:solidFill>
                      <a:srgbClr val="002060"/>
                    </a:solidFill>
                  </a:endParaRPr>
                </a:p>
              </p:txBody>
            </p:sp>
          </mc:Choice>
          <mc:Fallback>
            <p:sp>
              <p:nvSpPr>
                <p:cNvPr id="18" name="文本框 17"/>
                <p:cNvSpPr txBox="1">
                  <a:spLocks noRot="1" noChangeAspect="1" noMove="1" noResize="1" noEditPoints="1" noAdjustHandles="1" noChangeArrowheads="1" noChangeShapeType="1" noTextEdit="1"/>
                </p:cNvSpPr>
                <p:nvPr/>
              </p:nvSpPr>
              <p:spPr>
                <a:xfrm>
                  <a:off x="5035294" y="4426507"/>
                  <a:ext cx="1226114" cy="707886"/>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4963518" y="5553981"/>
                  <a:ext cx="1369663"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0" smtClean="0">
                                <a:solidFill>
                                  <a:srgbClr val="002060"/>
                                </a:solidFill>
                                <a:latin typeface="Cambria Math" panose="02040503050406030204" pitchFamily="18" charset="0"/>
                              </a:rPr>
                              <m:t>𝚫</m:t>
                            </m:r>
                          </m:e>
                          <m:sub>
                            <m:r>
                              <a:rPr lang="en-US" altLang="zh-CN" sz="2000" b="1" i="1" smtClean="0">
                                <a:solidFill>
                                  <a:srgbClr val="002060"/>
                                </a:solidFill>
                                <a:latin typeface="Cambria Math" panose="02040503050406030204" pitchFamily="18" charset="0"/>
                              </a:rPr>
                              <m:t>𝑨</m:t>
                            </m:r>
                          </m:sub>
                        </m:sSub>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𝒓</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oMath>
                    </m:oMathPara>
                  </a14:m>
                  <a:endParaRPr lang="en-US" altLang="zh-CN" sz="2000" b="1">
                    <a:solidFill>
                      <a:srgbClr val="002060"/>
                    </a:solidFill>
                  </a:endParaRPr>
                </a:p>
              </p:txBody>
            </p:sp>
          </mc:Choice>
          <mc:Fallback>
            <p:sp>
              <p:nvSpPr>
                <p:cNvPr id="19" name="文本框 18"/>
                <p:cNvSpPr txBox="1">
                  <a:spLocks noRot="1" noChangeAspect="1" noMove="1" noResize="1" noEditPoints="1" noAdjustHandles="1" noChangeArrowheads="1" noChangeShapeType="1" noTextEdit="1"/>
                </p:cNvSpPr>
                <p:nvPr/>
              </p:nvSpPr>
              <p:spPr>
                <a:xfrm>
                  <a:off x="4963518" y="5553981"/>
                  <a:ext cx="1369663" cy="400110"/>
                </a:xfrm>
                <a:prstGeom prst="rect">
                  <a:avLst/>
                </a:prstGeom>
                <a:blipFill rotWithShape="1">
                  <a:blip r:embed="rId9"/>
                </a:blipFill>
              </p:spPr>
              <p:txBody>
                <a:bodyPr/>
                <a:lstStyle/>
                <a:p>
                  <a:r>
                    <a:rPr lang="zh-CN" altLang="en-US">
                      <a:noFill/>
                    </a:rPr>
                    <a:t> </a:t>
                  </a:r>
                </a:p>
              </p:txBody>
            </p:sp>
          </mc:Fallback>
        </mc:AlternateContent>
        <p:cxnSp>
          <p:nvCxnSpPr>
            <p:cNvPr id="4" name="直接箭头连接符 3"/>
            <p:cNvCxnSpPr>
              <a:stCxn id="11" idx="2"/>
              <a:endCxn id="13" idx="0"/>
            </p:cNvCxnSpPr>
            <p:nvPr/>
          </p:nvCxnSpPr>
          <p:spPr>
            <a:xfrm flipH="1">
              <a:off x="1913249" y="2909391"/>
              <a:ext cx="1602356" cy="488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1" idx="2"/>
              <a:endCxn id="15" idx="0"/>
            </p:cNvCxnSpPr>
            <p:nvPr/>
          </p:nvCxnSpPr>
          <p:spPr>
            <a:xfrm>
              <a:off x="3515605" y="2909391"/>
              <a:ext cx="1447914" cy="488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3" idx="2"/>
              <a:endCxn id="12" idx="0"/>
            </p:cNvCxnSpPr>
            <p:nvPr/>
          </p:nvCxnSpPr>
          <p:spPr>
            <a:xfrm flipH="1">
              <a:off x="1189591" y="3797925"/>
              <a:ext cx="723658" cy="6209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13" idx="2"/>
              <a:endCxn id="14" idx="0"/>
            </p:cNvCxnSpPr>
            <p:nvPr/>
          </p:nvCxnSpPr>
          <p:spPr>
            <a:xfrm>
              <a:off x="1913249" y="3797925"/>
              <a:ext cx="717414" cy="6285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15" idx="2"/>
              <a:endCxn id="16" idx="0"/>
            </p:cNvCxnSpPr>
            <p:nvPr/>
          </p:nvCxnSpPr>
          <p:spPr>
            <a:xfrm flipH="1">
              <a:off x="4193502" y="3797925"/>
              <a:ext cx="770017" cy="6285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5" idx="2"/>
              <a:endCxn id="18" idx="0"/>
            </p:cNvCxnSpPr>
            <p:nvPr/>
          </p:nvCxnSpPr>
          <p:spPr>
            <a:xfrm>
              <a:off x="4963519" y="3797925"/>
              <a:ext cx="684832" cy="6285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stCxn id="18" idx="2"/>
              <a:endCxn id="19" idx="0"/>
            </p:cNvCxnSpPr>
            <p:nvPr/>
          </p:nvCxnSpPr>
          <p:spPr>
            <a:xfrm flipH="1">
              <a:off x="5648350" y="5134393"/>
              <a:ext cx="1" cy="419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4123155" y="3857569"/>
              <a:ext cx="1680725"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关系闭包的最小性</a:t>
              </a:r>
              <a:endParaRPr lang="zh-CN" altLang="en-US" sz="1600" b="1">
                <a:solidFill>
                  <a:schemeClr val="accent2">
                    <a:lumMod val="50000"/>
                  </a:schemeClr>
                </a:solidFill>
              </a:endParaRPr>
            </a:p>
          </p:txBody>
        </p:sp>
        <p:sp>
          <p:nvSpPr>
            <p:cNvPr id="47" name="文本框 46"/>
            <p:cNvSpPr txBox="1"/>
            <p:nvPr/>
          </p:nvSpPr>
          <p:spPr>
            <a:xfrm>
              <a:off x="1298580" y="3855152"/>
              <a:ext cx="1135098"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集合并性质</a:t>
              </a:r>
              <a:endParaRPr lang="zh-CN" altLang="en-US" sz="1600" b="1">
                <a:solidFill>
                  <a:schemeClr val="accent2">
                    <a:lumMod val="50000"/>
                  </a:schemeClr>
                </a:solidFill>
              </a:endParaRPr>
            </a:p>
          </p:txBody>
        </p:sp>
        <mc:AlternateContent xmlns:mc="http://schemas.openxmlformats.org/markup-compatibility/2006">
          <mc:Choice xmlns:a14="http://schemas.microsoft.com/office/drawing/2010/main" Requires="a14">
            <p:sp>
              <p:nvSpPr>
                <p:cNvPr id="48" name="文本框 47"/>
                <p:cNvSpPr txBox="1"/>
                <p:nvPr/>
              </p:nvSpPr>
              <p:spPr>
                <a:xfrm>
                  <a:off x="2012481" y="5246205"/>
                  <a:ext cx="1236364" cy="707886"/>
                </a:xfrm>
                <a:prstGeom prst="rect">
                  <a:avLst/>
                </a:prstGeom>
                <a:solidFill>
                  <a:schemeClr val="accent2">
                    <a:lumMod val="20000"/>
                    <a:lumOff val="80000"/>
                  </a:schemeClr>
                </a:solidFill>
              </p:spPr>
              <p:txBody>
                <a:bodyPr wrap="square" rtlCol="0">
                  <a:spAutoFit/>
                </a:bodyPr>
                <a:lstStyle/>
                <a:p>
                  <a:pPr algn="ctr"/>
                  <a14:m>
                    <m:oMath xmlns:m="http://schemas.openxmlformats.org/officeDocument/2006/math">
                      <m:r>
                        <a:rPr lang="en-US" altLang="zh-CN" sz="2000" b="1" i="1" smtClean="0">
                          <a:solidFill>
                            <a:srgbClr val="002060"/>
                          </a:solidFill>
                          <a:latin typeface="Cambria Math" panose="02040503050406030204" pitchFamily="18" charset="0"/>
                        </a:rPr>
                        <m:t>𝒓</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 </m:t>
                      </m:r>
                    </m:oMath>
                  </a14:m>
                  <a:r>
                    <a:rPr lang="zh-CN" altLang="en-US" sz="2000" b="1">
                      <a:solidFill>
                        <a:srgbClr val="002060"/>
                      </a:solidFill>
                    </a:rPr>
                    <a:t>是自反关系</a:t>
                  </a:r>
                  <a:endParaRPr lang="zh-CN" altLang="en-US" sz="2000" b="1">
                    <a:solidFill>
                      <a:srgbClr val="002060"/>
                    </a:solidFill>
                  </a:endParaRPr>
                </a:p>
              </p:txBody>
            </p:sp>
          </mc:Choice>
          <mc:Fallback>
            <p:sp>
              <p:nvSpPr>
                <p:cNvPr id="48" name="文本框 47"/>
                <p:cNvSpPr txBox="1">
                  <a:spLocks noRot="1" noChangeAspect="1" noMove="1" noResize="1" noEditPoints="1" noAdjustHandles="1" noChangeArrowheads="1" noChangeShapeType="1" noTextEdit="1"/>
                </p:cNvSpPr>
                <p:nvPr/>
              </p:nvSpPr>
              <p:spPr>
                <a:xfrm>
                  <a:off x="2012481" y="5246205"/>
                  <a:ext cx="1236364" cy="707886"/>
                </a:xfrm>
                <a:prstGeom prst="rect">
                  <a:avLst/>
                </a:prstGeom>
                <a:blipFill rotWithShape="1">
                  <a:blip r:embed="rId10"/>
                </a:blipFill>
              </p:spPr>
              <p:txBody>
                <a:bodyPr/>
                <a:lstStyle/>
                <a:p>
                  <a:r>
                    <a:rPr lang="zh-CN" altLang="en-US">
                      <a:noFill/>
                    </a:rPr>
                    <a:t> </a:t>
                  </a:r>
                </a:p>
              </p:txBody>
            </p:sp>
          </mc:Fallback>
        </mc:AlternateContent>
        <p:cxnSp>
          <p:nvCxnSpPr>
            <p:cNvPr id="50" name="直接箭头连接符 49"/>
            <p:cNvCxnSpPr>
              <a:stCxn id="14" idx="2"/>
              <a:endCxn id="48" idx="0"/>
            </p:cNvCxnSpPr>
            <p:nvPr/>
          </p:nvCxnSpPr>
          <p:spPr>
            <a:xfrm>
              <a:off x="2630663" y="4826617"/>
              <a:ext cx="0" cy="4195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81" name="组合 80"/>
          <p:cNvGrpSpPr/>
          <p:nvPr/>
        </p:nvGrpSpPr>
        <p:grpSpPr>
          <a:xfrm>
            <a:off x="6160599" y="2510891"/>
            <a:ext cx="5808662" cy="3443200"/>
            <a:chOff x="556244" y="2509281"/>
            <a:chExt cx="5808662" cy="3443200"/>
          </a:xfrm>
        </p:grpSpPr>
        <mc:AlternateContent xmlns:mc="http://schemas.openxmlformats.org/markup-compatibility/2006">
          <mc:Choice xmlns:a14="http://schemas.microsoft.com/office/drawing/2010/main" Requires="a14">
            <p:sp>
              <p:nvSpPr>
                <p:cNvPr id="82" name="文本框 81"/>
                <p:cNvSpPr txBox="1"/>
                <p:nvPr/>
              </p:nvSpPr>
              <p:spPr>
                <a:xfrm>
                  <a:off x="2433678" y="2509281"/>
                  <a:ext cx="2068185" cy="407099"/>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sup>
                        </m:sSup>
                      </m:oMath>
                    </m:oMathPara>
                  </a14:m>
                  <a:endParaRPr lang="zh-CN" altLang="en-US" sz="2000" b="1">
                    <a:solidFill>
                      <a:srgbClr val="002060"/>
                    </a:solidFill>
                  </a:endParaRPr>
                </a:p>
              </p:txBody>
            </p:sp>
          </mc:Choice>
          <mc:Fallback>
            <p:sp>
              <p:nvSpPr>
                <p:cNvPr id="82" name="文本框 81"/>
                <p:cNvSpPr txBox="1">
                  <a:spLocks noRot="1" noChangeAspect="1" noMove="1" noResize="1" noEditPoints="1" noAdjustHandles="1" noChangeArrowheads="1" noChangeShapeType="1" noTextEdit="1"/>
                </p:cNvSpPr>
                <p:nvPr/>
              </p:nvSpPr>
              <p:spPr>
                <a:xfrm>
                  <a:off x="2433678" y="2509281"/>
                  <a:ext cx="2068185" cy="407099"/>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3" name="文本框 82"/>
                <p:cNvSpPr txBox="1"/>
                <p:nvPr/>
              </p:nvSpPr>
              <p:spPr>
                <a:xfrm>
                  <a:off x="556244" y="4418894"/>
                  <a:ext cx="1266694" cy="400110"/>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oMath>
                    </m:oMathPara>
                  </a14:m>
                  <a:endParaRPr lang="en-US" altLang="zh-CN" sz="2000" b="1">
                    <a:solidFill>
                      <a:srgbClr val="002060"/>
                    </a:solidFill>
                  </a:endParaRPr>
                </a:p>
              </p:txBody>
            </p:sp>
          </mc:Choice>
          <mc:Fallback>
            <p:sp>
              <p:nvSpPr>
                <p:cNvPr id="83" name="文本框 82"/>
                <p:cNvSpPr txBox="1">
                  <a:spLocks noRot="1" noChangeAspect="1" noMove="1" noResize="1" noEditPoints="1" noAdjustHandles="1" noChangeArrowheads="1" noChangeShapeType="1" noTextEdit="1"/>
                </p:cNvSpPr>
                <p:nvPr/>
              </p:nvSpPr>
              <p:spPr>
                <a:xfrm>
                  <a:off x="556244" y="4418894"/>
                  <a:ext cx="1266694" cy="400110"/>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4" name="文本框 83"/>
                <p:cNvSpPr txBox="1"/>
                <p:nvPr/>
              </p:nvSpPr>
              <p:spPr>
                <a:xfrm>
                  <a:off x="927856" y="3397815"/>
                  <a:ext cx="1988799" cy="407099"/>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sup>
                        </m:s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oMath>
                    </m:oMathPara>
                  </a14:m>
                  <a:endParaRPr lang="en-US" altLang="zh-CN" sz="2000" b="1">
                    <a:solidFill>
                      <a:srgbClr val="002060"/>
                    </a:solidFill>
                  </a:endParaRPr>
                </a:p>
              </p:txBody>
            </p:sp>
          </mc:Choice>
          <mc:Fallback>
            <p:sp>
              <p:nvSpPr>
                <p:cNvPr id="84" name="文本框 83"/>
                <p:cNvSpPr txBox="1">
                  <a:spLocks noRot="1" noChangeAspect="1" noMove="1" noResize="1" noEditPoints="1" noAdjustHandles="1" noChangeArrowheads="1" noChangeShapeType="1" noTextEdit="1"/>
                </p:cNvSpPr>
                <p:nvPr/>
              </p:nvSpPr>
              <p:spPr>
                <a:xfrm>
                  <a:off x="927856" y="3397815"/>
                  <a:ext cx="1988799" cy="407099"/>
                </a:xfrm>
                <a:prstGeom prst="rect">
                  <a:avLst/>
                </a:prstGeom>
                <a:blipFill rotWithShape="1">
                  <a:blip r:embed="rId1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5" name="文本框 84"/>
                <p:cNvSpPr txBox="1"/>
                <p:nvPr/>
              </p:nvSpPr>
              <p:spPr>
                <a:xfrm>
                  <a:off x="1872083" y="4426507"/>
                  <a:ext cx="1463538" cy="407099"/>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sup>
                        </m:s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oMath>
                    </m:oMathPara>
                  </a14:m>
                  <a:endParaRPr lang="en-US" altLang="zh-CN" sz="2000" b="1">
                    <a:solidFill>
                      <a:srgbClr val="002060"/>
                    </a:solidFill>
                  </a:endParaRPr>
                </a:p>
              </p:txBody>
            </p:sp>
          </mc:Choice>
          <mc:Fallback>
            <p:sp>
              <p:nvSpPr>
                <p:cNvPr id="85" name="文本框 84"/>
                <p:cNvSpPr txBox="1">
                  <a:spLocks noRot="1" noChangeAspect="1" noMove="1" noResize="1" noEditPoints="1" noAdjustHandles="1" noChangeArrowheads="1" noChangeShapeType="1" noTextEdit="1"/>
                </p:cNvSpPr>
                <p:nvPr/>
              </p:nvSpPr>
              <p:spPr>
                <a:xfrm>
                  <a:off x="1872083" y="4426507"/>
                  <a:ext cx="1463538" cy="407099"/>
                </a:xfrm>
                <a:prstGeom prst="rect">
                  <a:avLst/>
                </a:prstGeom>
                <a:blipFill rotWithShape="1">
                  <a:blip r:embed="rId1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6" name="文本框 85"/>
                <p:cNvSpPr txBox="1"/>
                <p:nvPr/>
              </p:nvSpPr>
              <p:spPr>
                <a:xfrm>
                  <a:off x="3983256" y="3397815"/>
                  <a:ext cx="1928119" cy="407099"/>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𝒔</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sup>
                        </m:sSup>
                      </m:oMath>
                    </m:oMathPara>
                  </a14:m>
                  <a:endParaRPr lang="zh-CN" altLang="en-US" sz="2000" b="1">
                    <a:solidFill>
                      <a:srgbClr val="002060"/>
                    </a:solidFill>
                  </a:endParaRPr>
                </a:p>
              </p:txBody>
            </p:sp>
          </mc:Choice>
          <mc:Fallback>
            <p:sp>
              <p:nvSpPr>
                <p:cNvPr id="86" name="文本框 85"/>
                <p:cNvSpPr txBox="1">
                  <a:spLocks noRot="1" noChangeAspect="1" noMove="1" noResize="1" noEditPoints="1" noAdjustHandles="1" noChangeArrowheads="1" noChangeShapeType="1" noTextEdit="1"/>
                </p:cNvSpPr>
                <p:nvPr/>
              </p:nvSpPr>
              <p:spPr>
                <a:xfrm>
                  <a:off x="3983256" y="3397815"/>
                  <a:ext cx="1928119" cy="407099"/>
                </a:xfrm>
                <a:prstGeom prst="rect">
                  <a:avLst/>
                </a:prstGeom>
                <a:blipFill rotWithShape="1">
                  <a:blip r:embed="rId1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7" name="文本框 86"/>
                <p:cNvSpPr txBox="1"/>
                <p:nvPr/>
              </p:nvSpPr>
              <p:spPr>
                <a:xfrm>
                  <a:off x="3370467" y="4426507"/>
                  <a:ext cx="1644761" cy="407099"/>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sup>
                        </m:sSup>
                      </m:oMath>
                    </m:oMathPara>
                  </a14:m>
                  <a:endParaRPr lang="zh-CN" altLang="en-US" sz="2000" b="1">
                    <a:solidFill>
                      <a:srgbClr val="002060"/>
                    </a:solidFill>
                  </a:endParaRPr>
                </a:p>
              </p:txBody>
            </p:sp>
          </mc:Choice>
          <mc:Fallback>
            <p:sp>
              <p:nvSpPr>
                <p:cNvPr id="87" name="文本框 86"/>
                <p:cNvSpPr txBox="1">
                  <a:spLocks noRot="1" noChangeAspect="1" noMove="1" noResize="1" noEditPoints="1" noAdjustHandles="1" noChangeArrowheads="1" noChangeShapeType="1" noTextEdit="1"/>
                </p:cNvSpPr>
                <p:nvPr/>
              </p:nvSpPr>
              <p:spPr>
                <a:xfrm>
                  <a:off x="3370467" y="4426507"/>
                  <a:ext cx="1644761" cy="407099"/>
                </a:xfrm>
                <a:prstGeom prst="rect">
                  <a:avLst/>
                </a:prstGeom>
                <a:blipFill rotWithShape="1">
                  <a:blip r:embed="rId1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8" name="文本框 87"/>
                <p:cNvSpPr txBox="1"/>
                <p:nvPr/>
              </p:nvSpPr>
              <p:spPr>
                <a:xfrm>
                  <a:off x="5075171" y="4426507"/>
                  <a:ext cx="1272956" cy="652551"/>
                </a:xfrm>
                <a:prstGeom prst="rect">
                  <a:avLst/>
                </a:prstGeom>
                <a:solidFill>
                  <a:schemeClr val="accent2">
                    <a:lumMod val="20000"/>
                    <a:lumOff val="80000"/>
                  </a:schemeClr>
                </a:solidFill>
              </p:spPr>
              <p:txBody>
                <a:bodyPr wrap="square" rtlCol="0">
                  <a:spAutoFit/>
                </a:bodyPr>
                <a:lstStyle/>
                <a:p>
                  <a:pPr algn="ctr"/>
                  <a14:m>
                    <m:oMath xmlns:m="http://schemas.openxmlformats.org/officeDocument/2006/math">
                      <m:r>
                        <a:rPr lang="en-US" altLang="zh-CN" b="1" i="1" smtClean="0">
                          <a:solidFill>
                            <a:srgbClr val="002060"/>
                          </a:solidFill>
                          <a:latin typeface="Cambria Math" panose="02040503050406030204" pitchFamily="18" charset="0"/>
                        </a:rPr>
                        <m:t>𝑹</m:t>
                      </m:r>
                      <m:r>
                        <a:rPr lang="en-US" altLang="zh-CN" b="1" i="1" smtClean="0">
                          <a:solidFill>
                            <a:srgbClr val="002060"/>
                          </a:solidFill>
                          <a:latin typeface="Cambria Math" panose="02040503050406030204" pitchFamily="18" charset="0"/>
                        </a:rPr>
                        <m:t>∪</m:t>
                      </m:r>
                      <m:sSup>
                        <m:sSupPr>
                          <m:ctrlPr>
                            <a:rPr lang="en-US" altLang="zh-CN" b="1" i="1" smtClean="0">
                              <a:solidFill>
                                <a:srgbClr val="002060"/>
                              </a:solidFill>
                              <a:latin typeface="Cambria Math" panose="02040503050406030204" pitchFamily="18" charset="0"/>
                            </a:rPr>
                          </m:ctrlPr>
                        </m:sSupPr>
                        <m:e>
                          <m:r>
                            <a:rPr lang="en-US" altLang="zh-CN" b="1" i="1" smtClean="0">
                              <a:solidFill>
                                <a:srgbClr val="002060"/>
                              </a:solidFill>
                              <a:latin typeface="Cambria Math" panose="02040503050406030204" pitchFamily="18" charset="0"/>
                            </a:rPr>
                            <m:t>𝑹</m:t>
                          </m:r>
                        </m:e>
                        <m:sup>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sup>
                      </m:sSup>
                    </m:oMath>
                  </a14:m>
                  <a:r>
                    <a:rPr lang="zh-CN" altLang="en-US" b="1">
                      <a:solidFill>
                        <a:srgbClr val="002060"/>
                      </a:solidFill>
                    </a:rPr>
                    <a:t>是对称关系</a:t>
                  </a:r>
                  <a:endParaRPr lang="zh-CN" altLang="en-US" b="1">
                    <a:solidFill>
                      <a:srgbClr val="002060"/>
                    </a:solidFill>
                  </a:endParaRPr>
                </a:p>
              </p:txBody>
            </p:sp>
          </mc:Choice>
          <mc:Fallback>
            <p:sp>
              <p:nvSpPr>
                <p:cNvPr id="88" name="文本框 87"/>
                <p:cNvSpPr txBox="1">
                  <a:spLocks noRot="1" noChangeAspect="1" noMove="1" noResize="1" noEditPoints="1" noAdjustHandles="1" noChangeArrowheads="1" noChangeShapeType="1" noTextEdit="1"/>
                </p:cNvSpPr>
                <p:nvPr/>
              </p:nvSpPr>
              <p:spPr>
                <a:xfrm>
                  <a:off x="5075171" y="4426507"/>
                  <a:ext cx="1272956" cy="652551"/>
                </a:xfrm>
                <a:prstGeom prst="rect">
                  <a:avLst/>
                </a:prstGeom>
                <a:blipFill rotWithShape="1">
                  <a:blip r:embed="rId1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9" name="文本框 88"/>
                <p:cNvSpPr txBox="1"/>
                <p:nvPr/>
              </p:nvSpPr>
              <p:spPr>
                <a:xfrm>
                  <a:off x="3438376" y="5467285"/>
                  <a:ext cx="2926530" cy="466731"/>
                </a:xfrm>
                <a:prstGeom prst="rect">
                  <a:avLst/>
                </a:prstGeom>
                <a:solidFill>
                  <a:schemeClr val="accent2">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sSup>
                          <m:sSupPr>
                            <m:ctrlPr>
                              <a:rPr lang="en-US" altLang="zh-CN" b="1" i="1" smtClean="0">
                                <a:solidFill>
                                  <a:srgbClr val="002060"/>
                                </a:solidFill>
                                <a:latin typeface="Cambria Math" panose="02040503050406030204" pitchFamily="18" charset="0"/>
                              </a:rPr>
                            </m:ctrlPr>
                          </m:sSupPr>
                          <m:e>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𝑹</m:t>
                                </m:r>
                                <m:r>
                                  <a:rPr lang="en-US" altLang="zh-CN" b="1" i="1" smtClean="0">
                                    <a:solidFill>
                                      <a:srgbClr val="002060"/>
                                    </a:solidFill>
                                    <a:latin typeface="Cambria Math" panose="02040503050406030204" pitchFamily="18" charset="0"/>
                                  </a:rPr>
                                  <m:t>∪</m:t>
                                </m:r>
                                <m:sSup>
                                  <m:sSupPr>
                                    <m:ctrlPr>
                                      <a:rPr lang="en-US" altLang="zh-CN" b="1" i="1" smtClean="0">
                                        <a:solidFill>
                                          <a:srgbClr val="002060"/>
                                        </a:solidFill>
                                        <a:latin typeface="Cambria Math" panose="02040503050406030204" pitchFamily="18" charset="0"/>
                                      </a:rPr>
                                    </m:ctrlPr>
                                  </m:sSupPr>
                                  <m:e>
                                    <m:r>
                                      <a:rPr lang="en-US" altLang="zh-CN" b="1" i="1" smtClean="0">
                                        <a:solidFill>
                                          <a:srgbClr val="002060"/>
                                        </a:solidFill>
                                        <a:latin typeface="Cambria Math" panose="02040503050406030204" pitchFamily="18" charset="0"/>
                                      </a:rPr>
                                      <m:t>𝑹</m:t>
                                    </m:r>
                                  </m:e>
                                  <m:sup>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sup>
                                </m:sSup>
                              </m:e>
                            </m:d>
                          </m:e>
                          <m:sup>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sup>
                        </m:sSup>
                        <m:r>
                          <a:rPr lang="en-US" altLang="zh-CN" b="1" i="1" smtClean="0">
                            <a:solidFill>
                              <a:srgbClr val="002060"/>
                            </a:solidFill>
                            <a:latin typeface="Cambria Math" panose="02040503050406030204" pitchFamily="18" charset="0"/>
                          </a:rPr>
                          <m:t>=</m:t>
                        </m:r>
                        <m:sSup>
                          <m:sSupPr>
                            <m:ctrlPr>
                              <a:rPr lang="en-US" altLang="zh-CN" b="1" i="1" smtClean="0">
                                <a:solidFill>
                                  <a:srgbClr val="002060"/>
                                </a:solidFill>
                                <a:latin typeface="Cambria Math" panose="02040503050406030204" pitchFamily="18" charset="0"/>
                              </a:rPr>
                            </m:ctrlPr>
                          </m:sSupPr>
                          <m:e>
                            <m:r>
                              <a:rPr lang="en-US" altLang="zh-CN" b="1" i="1" smtClean="0">
                                <a:solidFill>
                                  <a:srgbClr val="002060"/>
                                </a:solidFill>
                                <a:latin typeface="Cambria Math" panose="02040503050406030204" pitchFamily="18" charset="0"/>
                              </a:rPr>
                              <m:t>𝑹</m:t>
                            </m:r>
                          </m:e>
                          <m:sup>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sup>
                        </m:sSup>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𝑹</m:t>
                        </m:r>
                      </m:oMath>
                    </m:oMathPara>
                  </a14:m>
                  <a:endParaRPr lang="en-US" altLang="zh-CN" sz="2000" b="1">
                    <a:solidFill>
                      <a:srgbClr val="002060"/>
                    </a:solidFill>
                  </a:endParaRPr>
                </a:p>
              </p:txBody>
            </p:sp>
          </mc:Choice>
          <mc:Fallback>
            <p:sp>
              <p:nvSpPr>
                <p:cNvPr id="89" name="文本框 88"/>
                <p:cNvSpPr txBox="1">
                  <a:spLocks noRot="1" noChangeAspect="1" noMove="1" noResize="1" noEditPoints="1" noAdjustHandles="1" noChangeArrowheads="1" noChangeShapeType="1" noTextEdit="1"/>
                </p:cNvSpPr>
                <p:nvPr/>
              </p:nvSpPr>
              <p:spPr>
                <a:xfrm>
                  <a:off x="3438376" y="5467285"/>
                  <a:ext cx="2926530" cy="466731"/>
                </a:xfrm>
                <a:prstGeom prst="rect">
                  <a:avLst/>
                </a:prstGeom>
                <a:blipFill rotWithShape="1">
                  <a:blip r:embed="rId18"/>
                </a:blipFill>
              </p:spPr>
              <p:txBody>
                <a:bodyPr/>
                <a:lstStyle/>
                <a:p>
                  <a:r>
                    <a:rPr lang="zh-CN" altLang="en-US">
                      <a:noFill/>
                    </a:rPr>
                    <a:t> </a:t>
                  </a:r>
                </a:p>
              </p:txBody>
            </p:sp>
          </mc:Fallback>
        </mc:AlternateContent>
        <p:cxnSp>
          <p:nvCxnSpPr>
            <p:cNvPr id="90" name="直接箭头连接符 89"/>
            <p:cNvCxnSpPr>
              <a:stCxn id="82" idx="2"/>
              <a:endCxn id="84" idx="0"/>
            </p:cNvCxnSpPr>
            <p:nvPr/>
          </p:nvCxnSpPr>
          <p:spPr>
            <a:xfrm flipH="1">
              <a:off x="1922256" y="2916380"/>
              <a:ext cx="1545515" cy="4814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stCxn id="82" idx="2"/>
              <a:endCxn id="86" idx="0"/>
            </p:cNvCxnSpPr>
            <p:nvPr/>
          </p:nvCxnSpPr>
          <p:spPr>
            <a:xfrm>
              <a:off x="3467771" y="2916380"/>
              <a:ext cx="1479545" cy="4814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stCxn id="84" idx="2"/>
              <a:endCxn id="83" idx="0"/>
            </p:cNvCxnSpPr>
            <p:nvPr/>
          </p:nvCxnSpPr>
          <p:spPr>
            <a:xfrm flipH="1">
              <a:off x="1189591" y="3804914"/>
              <a:ext cx="732665" cy="613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a:stCxn id="84" idx="2"/>
              <a:endCxn id="85" idx="0"/>
            </p:cNvCxnSpPr>
            <p:nvPr/>
          </p:nvCxnSpPr>
          <p:spPr>
            <a:xfrm>
              <a:off x="1922256" y="3804914"/>
              <a:ext cx="681596" cy="621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86" idx="2"/>
              <a:endCxn id="87" idx="0"/>
            </p:cNvCxnSpPr>
            <p:nvPr/>
          </p:nvCxnSpPr>
          <p:spPr>
            <a:xfrm flipH="1">
              <a:off x="4192848" y="3804914"/>
              <a:ext cx="754468" cy="621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stCxn id="86" idx="2"/>
              <a:endCxn id="88" idx="0"/>
            </p:cNvCxnSpPr>
            <p:nvPr/>
          </p:nvCxnSpPr>
          <p:spPr>
            <a:xfrm>
              <a:off x="4947316" y="3804914"/>
              <a:ext cx="764333" cy="6215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a:stCxn id="88" idx="2"/>
              <a:endCxn id="89" idx="0"/>
            </p:cNvCxnSpPr>
            <p:nvPr/>
          </p:nvCxnSpPr>
          <p:spPr>
            <a:xfrm flipH="1">
              <a:off x="4901641" y="5079058"/>
              <a:ext cx="810008" cy="388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7" name="文本框 96"/>
            <p:cNvSpPr txBox="1"/>
            <p:nvPr/>
          </p:nvSpPr>
          <p:spPr>
            <a:xfrm>
              <a:off x="4106952" y="3857889"/>
              <a:ext cx="1680725"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关系闭包的最小性</a:t>
              </a:r>
              <a:endParaRPr lang="zh-CN" altLang="en-US" sz="1600" b="1">
                <a:solidFill>
                  <a:schemeClr val="accent2">
                    <a:lumMod val="50000"/>
                  </a:schemeClr>
                </a:solidFill>
              </a:endParaRPr>
            </a:p>
          </p:txBody>
        </p:sp>
        <p:sp>
          <p:nvSpPr>
            <p:cNvPr id="98" name="文本框 97"/>
            <p:cNvSpPr txBox="1"/>
            <p:nvPr/>
          </p:nvSpPr>
          <p:spPr>
            <a:xfrm>
              <a:off x="1350024" y="3855152"/>
              <a:ext cx="1135098"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集合并性质</a:t>
              </a:r>
              <a:endParaRPr lang="zh-CN" altLang="en-US" sz="1600" b="1">
                <a:solidFill>
                  <a:schemeClr val="accent2">
                    <a:lumMod val="50000"/>
                  </a:schemeClr>
                </a:solidFill>
              </a:endParaRPr>
            </a:p>
          </p:txBody>
        </p:sp>
        <mc:AlternateContent xmlns:mc="http://schemas.openxmlformats.org/markup-compatibility/2006">
          <mc:Choice xmlns:a14="http://schemas.microsoft.com/office/drawing/2010/main" Requires="a14">
            <p:sp>
              <p:nvSpPr>
                <p:cNvPr id="99" name="文本框 98"/>
                <p:cNvSpPr txBox="1"/>
                <p:nvPr/>
              </p:nvSpPr>
              <p:spPr>
                <a:xfrm>
                  <a:off x="1985670" y="5552371"/>
                  <a:ext cx="1236364" cy="400110"/>
                </a:xfrm>
                <a:prstGeom prst="rect">
                  <a:avLst/>
                </a:prstGeom>
                <a:solidFill>
                  <a:schemeClr val="accent2">
                    <a:lumMod val="20000"/>
                    <a:lumOff val="80000"/>
                  </a:schemeClr>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𝒔</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oMath>
                    </m:oMathPara>
                  </a14:m>
                  <a:endParaRPr lang="zh-CN" altLang="en-US" sz="2000" b="1">
                    <a:solidFill>
                      <a:srgbClr val="002060"/>
                    </a:solidFill>
                  </a:endParaRPr>
                </a:p>
              </p:txBody>
            </p:sp>
          </mc:Choice>
          <mc:Fallback>
            <p:sp>
              <p:nvSpPr>
                <p:cNvPr id="99" name="文本框 98"/>
                <p:cNvSpPr txBox="1">
                  <a:spLocks noRot="1" noChangeAspect="1" noMove="1" noResize="1" noEditPoints="1" noAdjustHandles="1" noChangeArrowheads="1" noChangeShapeType="1" noTextEdit="1"/>
                </p:cNvSpPr>
                <p:nvPr/>
              </p:nvSpPr>
              <p:spPr>
                <a:xfrm>
                  <a:off x="1985670" y="5552371"/>
                  <a:ext cx="1236364" cy="400110"/>
                </a:xfrm>
                <a:prstGeom prst="rect">
                  <a:avLst/>
                </a:prstGeom>
                <a:blipFill rotWithShape="1">
                  <a:blip r:embed="rId19"/>
                </a:blipFill>
              </p:spPr>
              <p:txBody>
                <a:bodyPr/>
                <a:lstStyle/>
                <a:p>
                  <a:r>
                    <a:rPr lang="zh-CN" altLang="en-US">
                      <a:noFill/>
                    </a:rPr>
                    <a:t> </a:t>
                  </a:r>
                </a:p>
              </p:txBody>
            </p:sp>
          </mc:Fallback>
        </mc:AlternateContent>
        <p:cxnSp>
          <p:nvCxnSpPr>
            <p:cNvPr id="100" name="直接箭头连接符 99"/>
            <p:cNvCxnSpPr>
              <a:stCxn id="85" idx="2"/>
              <a:endCxn id="99" idx="0"/>
            </p:cNvCxnSpPr>
            <p:nvPr/>
          </p:nvCxnSpPr>
          <p:spPr>
            <a:xfrm>
              <a:off x="2603852" y="4833606"/>
              <a:ext cx="0" cy="718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51" name="文本框 150"/>
          <p:cNvSpPr txBox="1"/>
          <p:nvPr/>
        </p:nvSpPr>
        <p:spPr>
          <a:xfrm>
            <a:off x="7220329" y="4885454"/>
            <a:ext cx="1975756" cy="28565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sz="1600" b="1">
                <a:solidFill>
                  <a:schemeClr val="accent2">
                    <a:lumMod val="50000"/>
                  </a:schemeClr>
                </a:solidFill>
              </a:rPr>
              <a:t>关系逆保持子集关系</a:t>
            </a:r>
            <a:endParaRPr lang="zh-CN" altLang="en-US" sz="1600" b="1">
              <a:solidFill>
                <a:schemeClr val="accent2">
                  <a:lumMod val="50000"/>
                </a:schemeClr>
              </a:solidFill>
            </a:endParaRPr>
          </a:p>
        </p:txBody>
      </p:sp>
      <mc:AlternateContent xmlns:mc="http://schemas.openxmlformats.org/markup-compatibility/2006">
        <mc:Choice xmlns:a14="http://schemas.microsoft.com/office/drawing/2010/main" Requires="a14">
          <p:sp>
            <p:nvSpPr>
              <p:cNvPr id="152" name="文本框 151"/>
              <p:cNvSpPr txBox="1"/>
              <p:nvPr/>
            </p:nvSpPr>
            <p:spPr>
              <a:xfrm>
                <a:off x="5670410" y="1167666"/>
                <a:ext cx="4071418" cy="1103892"/>
              </a:xfrm>
              <a:prstGeom prst="rect">
                <a:avLst/>
              </a:prstGeom>
              <a:solidFill>
                <a:schemeClr val="accent4">
                  <a:lumMod val="20000"/>
                  <a:lumOff val="80000"/>
                </a:schemeClr>
              </a:solidFill>
            </p:spPr>
            <p:txBody>
              <a:bodyPr wrap="square" rtlCol="0">
                <a:spAutoFit/>
              </a:bodyPr>
              <a:lstStyle/>
              <a:p>
                <a:pPr>
                  <a:spcBef>
                    <a:spcPts val="300"/>
                  </a:spcBef>
                </a:pPr>
                <a14:m>
                  <m:oMath xmlns:m="http://schemas.openxmlformats.org/officeDocument/2006/math">
                    <m:r>
                      <a:rPr lang="en-US" altLang="zh-CN" b="1" i="1" smtClean="0">
                        <a:solidFill>
                          <a:srgbClr val="C00000"/>
                        </a:solidFill>
                        <a:latin typeface="Cambria Math" panose="02040503050406030204" pitchFamily="18" charset="0"/>
                      </a:rPr>
                      <m:t>𝑹</m:t>
                    </m:r>
                  </m:oMath>
                </a14:m>
                <a:r>
                  <a:rPr lang="zh-CN" altLang="en-US" b="1">
                    <a:solidFill>
                      <a:srgbClr val="C00000"/>
                    </a:solidFill>
                  </a:rPr>
                  <a:t>是自反关系当且仅当</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0" smtClean="0">
                            <a:solidFill>
                              <a:srgbClr val="C00000"/>
                            </a:solidFill>
                            <a:latin typeface="Cambria Math" panose="02040503050406030204" pitchFamily="18" charset="0"/>
                          </a:rPr>
                          <m:t>𝚫</m:t>
                        </m:r>
                      </m:e>
                      <m:sub>
                        <m:r>
                          <a:rPr lang="en-US" altLang="zh-CN" b="1" i="1" smtClean="0">
                            <a:solidFill>
                              <a:srgbClr val="C00000"/>
                            </a:solidFill>
                            <a:latin typeface="Cambria Math" panose="02040503050406030204" pitchFamily="18" charset="0"/>
                          </a:rPr>
                          <m:t>𝑨</m:t>
                        </m:r>
                      </m:sub>
                    </m:sSub>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𝑹</m:t>
                    </m:r>
                  </m:oMath>
                </a14:m>
                <a:endParaRPr lang="en-US" altLang="zh-CN" b="1">
                  <a:solidFill>
                    <a:srgbClr val="C00000"/>
                  </a:solidFill>
                </a:endParaRPr>
              </a:p>
              <a:p>
                <a:pPr>
                  <a:spcBef>
                    <a:spcPts val="300"/>
                  </a:spcBef>
                </a:pPr>
                <a14:m>
                  <m:oMath xmlns:m="http://schemas.openxmlformats.org/officeDocument/2006/math">
                    <m:r>
                      <a:rPr lang="en-US" altLang="zh-CN" b="1" i="1" smtClean="0">
                        <a:solidFill>
                          <a:srgbClr val="C00000"/>
                        </a:solidFill>
                        <a:latin typeface="Cambria Math" panose="02040503050406030204" pitchFamily="18" charset="0"/>
                      </a:rPr>
                      <m:t>𝑹</m:t>
                    </m:r>
                  </m:oMath>
                </a14:m>
                <a:r>
                  <a:rPr lang="zh-CN" altLang="en-US" b="1">
                    <a:solidFill>
                      <a:srgbClr val="C00000"/>
                    </a:solidFill>
                  </a:rPr>
                  <a:t>是对称关系当且仅当</a:t>
                </a:r>
                <a14:m>
                  <m:oMath xmlns:m="http://schemas.openxmlformats.org/officeDocument/2006/math">
                    <m:r>
                      <a:rPr lang="en-US" altLang="zh-CN" b="1" i="1" smtClean="0">
                        <a:solidFill>
                          <a:srgbClr val="C00000"/>
                        </a:solidFill>
                        <a:latin typeface="Cambria Math" panose="02040503050406030204" pitchFamily="18" charset="0"/>
                      </a:rPr>
                      <m:t>𝑹</m:t>
                    </m:r>
                    <m:r>
                      <a:rPr lang="en-US" altLang="zh-CN" b="1" i="1" smtClean="0">
                        <a:solidFill>
                          <a:srgbClr val="C00000"/>
                        </a:solidFill>
                        <a:latin typeface="Cambria Math" panose="02040503050406030204" pitchFamily="18" charset="0"/>
                      </a:rPr>
                      <m:t> = </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𝑹</m:t>
                        </m:r>
                      </m:e>
                      <m:sup>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oMath>
                </a14:m>
                <a:endParaRPr lang="en-US" altLang="zh-CN" b="1">
                  <a:solidFill>
                    <a:srgbClr val="C00000"/>
                  </a:solidFill>
                </a:endParaRPr>
              </a:p>
              <a:p>
                <a14:m>
                  <m:oMath xmlns:m="http://schemas.openxmlformats.org/officeDocument/2006/math">
                    <m:sSup>
                      <m:sSupPr>
                        <m:ctrlPr>
                          <a:rPr lang="en-US" altLang="zh-CN" b="1" i="1" smtClean="0">
                            <a:solidFill>
                              <a:srgbClr val="C00000"/>
                            </a:solidFill>
                            <a:latin typeface="Cambria Math" panose="02040503050406030204" pitchFamily="18" charset="0"/>
                          </a:rPr>
                        </m:ctrlPr>
                      </m:sSupPr>
                      <m:e>
                        <m:d>
                          <m:dPr>
                            <m:ctrlPr>
                              <a:rPr lang="en-US" altLang="zh-CN" b="1" i="1" smtClean="0">
                                <a:solidFill>
                                  <a:srgbClr val="C00000"/>
                                </a:solidFill>
                                <a:latin typeface="Cambria Math" panose="02040503050406030204" pitchFamily="18" charset="0"/>
                              </a:rPr>
                            </m:ctrlPr>
                          </m:dPr>
                          <m:e>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𝑹</m:t>
                                </m:r>
                              </m:e>
                              <m:sup>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e>
                        </m:d>
                      </m:e>
                      <m:sup>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𝑹</m:t>
                    </m:r>
                  </m:oMath>
                </a14:m>
                <a:r>
                  <a:rPr lang="en-US" altLang="zh-CN" b="1">
                    <a:solidFill>
                      <a:srgbClr val="C00000"/>
                    </a:solidFill>
                  </a:rPr>
                  <a:t>     </a:t>
                </a:r>
                <a14:m>
                  <m:oMath xmlns:m="http://schemas.openxmlformats.org/officeDocument/2006/math">
                    <m:sSup>
                      <m:sSupPr>
                        <m:ctrlPr>
                          <a:rPr lang="en-US" altLang="zh-CN" b="1" i="1" smtClean="0">
                            <a:solidFill>
                              <a:srgbClr val="C00000"/>
                            </a:solidFill>
                            <a:latin typeface="Cambria Math" panose="02040503050406030204" pitchFamily="18" charset="0"/>
                          </a:rPr>
                        </m:ctrlPr>
                      </m:sSupPr>
                      <m:e>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𝑹</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𝑺</m:t>
                            </m:r>
                          </m:e>
                        </m:d>
                      </m:e>
                      <m:sup>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𝑹</m:t>
                        </m:r>
                      </m:e>
                      <m:sup>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𝑺</m:t>
                        </m:r>
                      </m:e>
                      <m:sup>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p>
                    </m:sSup>
                  </m:oMath>
                </a14:m>
                <a:endParaRPr lang="zh-CN" altLang="en-US" b="1">
                  <a:solidFill>
                    <a:srgbClr val="C00000"/>
                  </a:solidFill>
                </a:endParaRPr>
              </a:p>
            </p:txBody>
          </p:sp>
        </mc:Choice>
        <mc:Fallback>
          <p:sp>
            <p:nvSpPr>
              <p:cNvPr id="152" name="文本框 151"/>
              <p:cNvSpPr txBox="1">
                <a:spLocks noRot="1" noChangeAspect="1" noMove="1" noResize="1" noEditPoints="1" noAdjustHandles="1" noChangeArrowheads="1" noChangeShapeType="1" noTextEdit="1"/>
              </p:cNvSpPr>
              <p:nvPr/>
            </p:nvSpPr>
            <p:spPr>
              <a:xfrm>
                <a:off x="5670410" y="1167666"/>
                <a:ext cx="4071418" cy="1103892"/>
              </a:xfrm>
              <a:prstGeom prst="rect">
                <a:avLst/>
              </a:prstGeom>
              <a:blipFill rotWithShape="1">
                <a:blip r:embed="rId20"/>
                <a:stretch>
                  <a:fillRect l="-12" t="-49" r="7" b="15"/>
                </a:stretch>
              </a:blipFill>
            </p:spPr>
            <p:txBody>
              <a:bodyPr/>
              <a:lstStyle/>
              <a:p>
                <a:r>
                  <a:rPr lang="zh-CN" altLang="en-US">
                    <a:noFill/>
                  </a:rPr>
                  <a:t> </a:t>
                </a:r>
              </a:p>
            </p:txBody>
          </p:sp>
        </mc:Fallback>
      </mc:AlternateContent>
      <p:sp>
        <p:nvSpPr>
          <p:cNvPr id="153" name="矩形: 圆角 152"/>
          <p:cNvSpPr/>
          <p:nvPr/>
        </p:nvSpPr>
        <p:spPr>
          <a:xfrm>
            <a:off x="173535" y="2425139"/>
            <a:ext cx="5868333" cy="3638880"/>
          </a:xfrm>
          <a:prstGeom prst="roundRect">
            <a:avLst>
              <a:gd name="adj" fmla="val 4802"/>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圆角 153"/>
          <p:cNvSpPr/>
          <p:nvPr/>
        </p:nvSpPr>
        <p:spPr>
          <a:xfrm>
            <a:off x="6117297" y="2425139"/>
            <a:ext cx="5901168" cy="3638880"/>
          </a:xfrm>
          <a:prstGeom prst="roundRect">
            <a:avLst>
              <a:gd name="adj" fmla="val 4802"/>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文本框 154"/>
          <p:cNvSpPr txBox="1"/>
          <p:nvPr/>
        </p:nvSpPr>
        <p:spPr>
          <a:xfrm>
            <a:off x="9969250" y="1396447"/>
            <a:ext cx="1821003" cy="646331"/>
          </a:xfrm>
          <a:prstGeom prst="rect">
            <a:avLst/>
          </a:prstGeom>
          <a:solidFill>
            <a:schemeClr val="accent4">
              <a:lumMod val="40000"/>
              <a:lumOff val="60000"/>
            </a:schemeClr>
          </a:solidFill>
        </p:spPr>
        <p:txBody>
          <a:bodyPr wrap="square" rtlCol="0">
            <a:spAutoFit/>
          </a:bodyPr>
          <a:lstStyle/>
          <a:p>
            <a:r>
              <a:rPr lang="zh-CN" altLang="en-US" b="1">
                <a:solidFill>
                  <a:srgbClr val="002060"/>
                </a:solidFill>
              </a:rPr>
              <a:t>自行根据证明思路写出完整证明</a:t>
            </a:r>
            <a:endParaRPr lang="zh-CN" altLang="en-US" b="1">
              <a:solidFill>
                <a:srgbClr val="002060"/>
              </a:solidFill>
            </a:endParaRPr>
          </a:p>
        </p:txBody>
      </p:sp>
      <p:sp>
        <p:nvSpPr>
          <p:cNvPr id="156" name="文本框 155"/>
          <p:cNvSpPr txBox="1"/>
          <p:nvPr/>
        </p:nvSpPr>
        <p:spPr>
          <a:xfrm>
            <a:off x="5512570" y="2610505"/>
            <a:ext cx="1134025" cy="369332"/>
          </a:xfrm>
          <a:prstGeom prst="rect">
            <a:avLst/>
          </a:prstGeom>
          <a:solidFill>
            <a:schemeClr val="accent2">
              <a:lumMod val="20000"/>
              <a:lumOff val="80000"/>
            </a:schemeClr>
          </a:solidFill>
        </p:spPr>
        <p:txBody>
          <a:bodyPr wrap="square" rtlCol="0">
            <a:spAutoFit/>
          </a:bodyPr>
          <a:lstStyle/>
          <a:p>
            <a:pPr algn="ctr"/>
            <a:r>
              <a:rPr lang="zh-CN" altLang="en-US" b="1">
                <a:solidFill>
                  <a:srgbClr val="C00000"/>
                </a:solidFill>
              </a:rPr>
              <a:t>证明思路</a:t>
            </a:r>
            <a:endParaRPr lang="zh-CN" altLang="en-US" b="1">
              <a:solidFill>
                <a:srgbClr val="C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2" name="文本框 1"/>
          <p:cNvSpPr txBox="1"/>
          <p:nvPr/>
        </p:nvSpPr>
        <p:spPr>
          <a:xfrm>
            <a:off x="1107232" y="1448010"/>
            <a:ext cx="5281127" cy="3874715"/>
          </a:xfrm>
          <a:prstGeom prst="rect">
            <a:avLst/>
          </a:prstGeom>
          <a:noFill/>
        </p:spPr>
        <p:txBody>
          <a:bodyPr wrap="square" rtlCol="0">
            <a:spAutoFit/>
          </a:bodyPr>
          <a:lstStyle/>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关系闭包的定义与基本性质</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自反闭包和对称闭包的计算</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传递闭包的计算</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00000"/>
              </a:lnSpc>
            </a:pPr>
            <a:r>
              <a:rPr lang="en-US" altLang="zh-CN" sz="3200">
                <a:solidFill>
                  <a:schemeClr val="bg2">
                    <a:lumMod val="90000"/>
                  </a:schemeClr>
                </a:solidFill>
                <a:latin typeface="Arial" panose="020B0604020202020204" pitchFamily="34" charset="0"/>
                <a:ea typeface="仿宋" panose="02010609060101010101" pitchFamily="49" charset="-122"/>
                <a:cs typeface="Arial" panose="020B0604020202020204" pitchFamily="34" charset="0"/>
              </a:rPr>
              <a:t>Warshall</a:t>
            </a:r>
            <a:r>
              <a:rPr lang="zh-CN" altLang="en-US" sz="3200" b="1">
                <a:solidFill>
                  <a:schemeClr val="bg2">
                    <a:lumMod val="90000"/>
                  </a:schemeClr>
                </a:solidFill>
                <a:latin typeface="仿宋" panose="02010609060101010101" pitchFamily="49" charset="-122"/>
                <a:ea typeface="仿宋" panose="02010609060101010101" pitchFamily="49" charset="-122"/>
              </a:rPr>
              <a:t>算法</a:t>
            </a:r>
            <a:endParaRPr lang="en-US" altLang="zh-CN" sz="3200" b="1">
              <a:solidFill>
                <a:schemeClr val="bg2">
                  <a:lumMod val="9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生活中关系传递闭包的计算举例（一）</a:t>
            </a:r>
            <a:endParaRPr lang="zh-CN" altLang="en-US"/>
          </a:p>
        </p:txBody>
      </p:sp>
      <p:sp>
        <p:nvSpPr>
          <p:cNvPr id="11" name="文本框 10"/>
          <p:cNvSpPr txBox="1"/>
          <p:nvPr/>
        </p:nvSpPr>
        <p:spPr>
          <a:xfrm>
            <a:off x="876794" y="1234961"/>
            <a:ext cx="10438410" cy="923330"/>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rPr>
              <a:t>关系的传递闭包是包含这个关系的最小传递关系</a:t>
            </a:r>
            <a:endParaRPr lang="zh-CN" altLang="en-US" sz="2400" b="1">
              <a:solidFill>
                <a:schemeClr val="accent2">
                  <a:lumMod val="50000"/>
                </a:schemeClr>
              </a:solidFill>
            </a:endParaRPr>
          </a:p>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当一个关系不具有传递性时，可</a:t>
            </a:r>
            <a:r>
              <a:rPr lang="zh-CN" altLang="en-US" sz="2000" b="1">
                <a:solidFill>
                  <a:srgbClr val="C00000"/>
                </a:solidFill>
                <a:latin typeface="+mn-ea"/>
              </a:rPr>
              <a:t>添加最少有序对</a:t>
            </a:r>
            <a:r>
              <a:rPr lang="zh-CN" altLang="en-US" sz="2000" b="1">
                <a:solidFill>
                  <a:srgbClr val="002060"/>
                </a:solidFill>
                <a:latin typeface="楷体" panose="02010609060101010101" pitchFamily="49" charset="-122"/>
                <a:ea typeface="楷体" panose="02010609060101010101" pitchFamily="49" charset="-122"/>
              </a:rPr>
              <a:t>使得其具有传递性，从而得到它的传递闭包</a:t>
            </a:r>
            <a:endParaRPr lang="zh-CN" altLang="en-US" sz="2000" b="1">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2" name="文本框 1"/>
              <p:cNvSpPr txBox="1"/>
              <p:nvPr/>
            </p:nvSpPr>
            <p:spPr>
              <a:xfrm>
                <a:off x="875978" y="2375607"/>
                <a:ext cx="10016729" cy="400110"/>
              </a:xfrm>
              <a:prstGeom prst="rect">
                <a:avLst/>
              </a:prstGeom>
              <a:solidFill>
                <a:schemeClr val="accent6">
                  <a:lumMod val="20000"/>
                  <a:lumOff val="8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是所有人构成的集合，关系</a:t>
                </a:r>
                <a14:m>
                  <m:oMath xmlns:m="http://schemas.openxmlformats.org/officeDocument/2006/math">
                    <m:r>
                      <a:rPr lang="en-US" altLang="zh-CN" sz="2000" b="1" i="1" smtClean="0">
                        <a:solidFill>
                          <a:srgbClr val="002060"/>
                        </a:solidFill>
                        <a:latin typeface="Cambria Math" panose="02040503050406030204" pitchFamily="18" charset="0"/>
                      </a:rPr>
                      <m:t>𝑹</m:t>
                    </m:r>
                  </m:oMath>
                </a14:m>
                <a:r>
                  <a:rPr lang="zh-CN" altLang="en-US" sz="2000" b="1">
                    <a:solidFill>
                      <a:srgbClr val="002060"/>
                    </a:solidFill>
                    <a:latin typeface="楷体" panose="02010609060101010101" pitchFamily="49" charset="-122"/>
                    <a:ea typeface="楷体" panose="02010609060101010101" pitchFamily="49" charset="-122"/>
                  </a:rPr>
                  <a:t>是“</a:t>
                </a:r>
                <a:r>
                  <a:rPr lang="zh-CN" altLang="en-US" sz="2000" b="1">
                    <a:solidFill>
                      <a:srgbClr val="C00000"/>
                    </a:solidFill>
                    <a:latin typeface="楷体" panose="02010609060101010101" pitchFamily="49" charset="-122"/>
                    <a:ea typeface="楷体" panose="02010609060101010101" pitchFamily="49" charset="-122"/>
                  </a:rPr>
                  <a:t>能直接联系到</a:t>
                </a:r>
                <a:r>
                  <a:rPr lang="zh-CN" altLang="en-US" sz="2000" b="1">
                    <a:solidFill>
                      <a:srgbClr val="002060"/>
                    </a:solidFill>
                    <a:latin typeface="楷体" panose="02010609060101010101" pitchFamily="49" charset="-122"/>
                    <a:ea typeface="楷体" panose="02010609060101010101" pitchFamily="49" charset="-122"/>
                  </a:rPr>
                  <a:t>”这个关系，考虑</a:t>
                </a:r>
                <a14:m>
                  <m:oMath xmlns:m="http://schemas.openxmlformats.org/officeDocument/2006/math">
                    <m:r>
                      <a:rPr lang="en-US" altLang="zh-CN" sz="2000" b="1" i="1" smtClean="0">
                        <a:solidFill>
                          <a:srgbClr val="002060"/>
                        </a:solidFill>
                        <a:latin typeface="Cambria Math" panose="02040503050406030204" pitchFamily="18" charset="0"/>
                      </a:rPr>
                      <m:t>𝒕</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应该是什么？</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875978" y="2375607"/>
                <a:ext cx="10016729" cy="400110"/>
              </a:xfrm>
              <a:prstGeom prst="rect">
                <a:avLst/>
              </a:prstGeom>
              <a:blipFill rotWithShape="1">
                <a:blip r:embed="rId1"/>
                <a:stretch>
                  <a:fillRect l="-3" t="-18" r="6" b="33"/>
                </a:stretch>
              </a:blipFill>
            </p:spPr>
            <p:txBody>
              <a:bodyPr/>
              <a:lstStyle/>
              <a:p>
                <a:r>
                  <a:rPr lang="zh-CN" altLang="en-US">
                    <a:noFill/>
                  </a:rPr>
                  <a:t> </a:t>
                </a:r>
              </a:p>
            </p:txBody>
          </p:sp>
        </mc:Fallback>
      </mc:AlternateContent>
      <p:grpSp>
        <p:nvGrpSpPr>
          <p:cNvPr id="4" name="组合 3"/>
          <p:cNvGrpSpPr/>
          <p:nvPr/>
        </p:nvGrpSpPr>
        <p:grpSpPr>
          <a:xfrm>
            <a:off x="875978" y="2876115"/>
            <a:ext cx="10742493" cy="3510342"/>
            <a:chOff x="875978" y="2876115"/>
            <a:chExt cx="10742493" cy="3510342"/>
          </a:xfrm>
        </p:grpSpPr>
        <p:sp>
          <p:nvSpPr>
            <p:cNvPr id="45" name="矩形: 圆角 44"/>
            <p:cNvSpPr/>
            <p:nvPr/>
          </p:nvSpPr>
          <p:spPr>
            <a:xfrm>
              <a:off x="994493" y="2876115"/>
              <a:ext cx="8536625" cy="2432497"/>
            </a:xfrm>
            <a:prstGeom prst="roundRect">
              <a:avLst>
                <a:gd name="adj" fmla="val 8435"/>
              </a:avLst>
            </a:prstGeom>
            <a:solidFill>
              <a:schemeClr val="bg1">
                <a:lumMod val="95000"/>
                <a:alpha val="50000"/>
              </a:schemeClr>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p:cNvGrpSpPr/>
            <p:nvPr/>
          </p:nvGrpSpPr>
          <p:grpSpPr>
            <a:xfrm>
              <a:off x="1112581" y="2922116"/>
              <a:ext cx="8308509" cy="2386496"/>
              <a:chOff x="1112581" y="2906662"/>
              <a:chExt cx="8308509" cy="2386496"/>
            </a:xfrm>
          </p:grpSpPr>
          <mc:AlternateContent xmlns:mc="http://schemas.openxmlformats.org/markup-compatibility/2006">
            <mc:Choice xmlns:a14="http://schemas.microsoft.com/office/drawing/2010/main" Requires="a14">
              <p:sp>
                <p:nvSpPr>
                  <p:cNvPr id="3" name="文本框 2"/>
                  <p:cNvSpPr txBox="1"/>
                  <p:nvPr/>
                </p:nvSpPr>
                <p:spPr>
                  <a:xfrm>
                    <a:off x="1112581" y="3075708"/>
                    <a:ext cx="1874221" cy="646331"/>
                  </a:xfrm>
                  <a:prstGeom prst="rect">
                    <a:avLst/>
                  </a:prstGeom>
                  <a:solidFill>
                    <a:schemeClr val="accent6">
                      <a:lumMod val="20000"/>
                      <a:lumOff val="80000"/>
                      <a:alpha val="25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𝒂</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𝒃</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𝑹</m:t>
                          </m:r>
                        </m:oMath>
                      </m:oMathPara>
                    </a14:m>
                    <a:endParaRPr lang="en-US" altLang="zh-CN" b="1">
                      <a:solidFill>
                        <a:srgbClr val="002060"/>
                      </a:solidFill>
                      <a:latin typeface="楷体" panose="02010609060101010101" pitchFamily="49" charset="-122"/>
                      <a:ea typeface="楷体" panose="02010609060101010101" pitchFamily="49" charset="-122"/>
                    </a:endParaRPr>
                  </a:p>
                  <a:p>
                    <a14:m>
                      <m:oMath xmlns:m="http://schemas.openxmlformats.org/officeDocument/2006/math">
                        <m:r>
                          <a:rPr lang="en-US" altLang="zh-CN" b="1" i="1" smtClean="0">
                            <a:solidFill>
                              <a:srgbClr val="002060"/>
                            </a:solidFill>
                            <a:latin typeface="Cambria Math" panose="02040503050406030204" pitchFamily="18" charset="0"/>
                          </a:rPr>
                          <m:t>𝒂</m:t>
                        </m:r>
                      </m:oMath>
                    </a14:m>
                    <a:r>
                      <a:rPr lang="zh-CN" altLang="en-US" b="1">
                        <a:solidFill>
                          <a:srgbClr val="002060"/>
                        </a:solidFill>
                        <a:latin typeface="楷体" panose="02010609060101010101" pitchFamily="49" charset="-122"/>
                        <a:ea typeface="楷体" panose="02010609060101010101" pitchFamily="49" charset="-122"/>
                      </a:rPr>
                      <a:t>能直接联系到</a:t>
                    </a:r>
                    <a14:m>
                      <m:oMath xmlns:m="http://schemas.openxmlformats.org/officeDocument/2006/math">
                        <m:r>
                          <a:rPr lang="en-US" altLang="zh-CN" b="1" i="1" smtClean="0">
                            <a:solidFill>
                              <a:srgbClr val="002060"/>
                            </a:solidFill>
                            <a:latin typeface="Cambria Math" panose="02040503050406030204" pitchFamily="18" charset="0"/>
                          </a:rPr>
                          <m:t>𝒃</m:t>
                        </m:r>
                      </m:oMath>
                    </a14:m>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1112581" y="3075708"/>
                    <a:ext cx="1874221" cy="646331"/>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145969" y="3851563"/>
                    <a:ext cx="1822862" cy="646331"/>
                  </a:xfrm>
                  <a:prstGeom prst="rect">
                    <a:avLst/>
                  </a:prstGeom>
                  <a:solidFill>
                    <a:schemeClr val="accent6">
                      <a:lumMod val="20000"/>
                      <a:lumOff val="80000"/>
                      <a:alpha val="25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𝒃</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𝒄</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𝑹</m:t>
                          </m:r>
                        </m:oMath>
                      </m:oMathPara>
                    </a14:m>
                    <a:endParaRPr lang="en-US" altLang="zh-CN" b="1">
                      <a:solidFill>
                        <a:srgbClr val="002060"/>
                      </a:solidFill>
                      <a:latin typeface="楷体" panose="02010609060101010101" pitchFamily="49" charset="-122"/>
                      <a:ea typeface="楷体" panose="02010609060101010101" pitchFamily="49" charset="-122"/>
                    </a:endParaRPr>
                  </a:p>
                  <a:p>
                    <a14:m>
                      <m:oMath xmlns:m="http://schemas.openxmlformats.org/officeDocument/2006/math">
                        <m:r>
                          <a:rPr lang="en-US" altLang="zh-CN" b="1" i="1" smtClean="0">
                            <a:solidFill>
                              <a:srgbClr val="002060"/>
                            </a:solidFill>
                            <a:latin typeface="Cambria Math" panose="02040503050406030204" pitchFamily="18" charset="0"/>
                          </a:rPr>
                          <m:t>𝒃</m:t>
                        </m:r>
                      </m:oMath>
                    </a14:m>
                    <a:r>
                      <a:rPr lang="zh-CN" altLang="en-US" b="1">
                        <a:solidFill>
                          <a:srgbClr val="002060"/>
                        </a:solidFill>
                        <a:latin typeface="楷体" panose="02010609060101010101" pitchFamily="49" charset="-122"/>
                        <a:ea typeface="楷体" panose="02010609060101010101" pitchFamily="49" charset="-122"/>
                      </a:rPr>
                      <a:t>能直接联系到</a:t>
                    </a:r>
                    <a14:m>
                      <m:oMath xmlns:m="http://schemas.openxmlformats.org/officeDocument/2006/math">
                        <m:r>
                          <a:rPr lang="en-US" altLang="zh-CN" b="1" i="1" smtClean="0">
                            <a:solidFill>
                              <a:srgbClr val="002060"/>
                            </a:solidFill>
                            <a:latin typeface="Cambria Math" panose="02040503050406030204" pitchFamily="18" charset="0"/>
                          </a:rPr>
                          <m:t>𝒄</m:t>
                        </m:r>
                      </m:oMath>
                    </a14:m>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1145969" y="3851563"/>
                    <a:ext cx="1822862" cy="646331"/>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3845627" y="3214208"/>
                    <a:ext cx="1432955" cy="369332"/>
                  </a:xfrm>
                  <a:prstGeom prst="rect">
                    <a:avLst/>
                  </a:prstGeom>
                  <a:solidFill>
                    <a:schemeClr val="accent6">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𝒃</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𝒕</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oMath>
                      </m:oMathPara>
                    </a14:m>
                    <a:endParaRPr lang="en-US" altLang="zh-CN"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13" name="文本框 12"/>
                  <p:cNvSpPr txBox="1">
                    <a:spLocks noRot="1" noChangeAspect="1" noMove="1" noResize="1" noEditPoints="1" noAdjustHandles="1" noChangeArrowheads="1" noChangeShapeType="1" noTextEdit="1"/>
                  </p:cNvSpPr>
                  <p:nvPr/>
                </p:nvSpPr>
                <p:spPr>
                  <a:xfrm>
                    <a:off x="3845627" y="3214208"/>
                    <a:ext cx="1432955" cy="369332"/>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3815938" y="3985337"/>
                    <a:ext cx="1492332" cy="369332"/>
                  </a:xfrm>
                  <a:prstGeom prst="rect">
                    <a:avLst/>
                  </a:prstGeom>
                  <a:solidFill>
                    <a:schemeClr val="accent6">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𝒄</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𝒕</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oMath>
                      </m:oMathPara>
                    </a14:m>
                    <a:endParaRPr lang="en-US" altLang="zh-CN"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14" name="文本框 13"/>
                  <p:cNvSpPr txBox="1">
                    <a:spLocks noRot="1" noChangeAspect="1" noMove="1" noResize="1" noEditPoints="1" noAdjustHandles="1" noChangeArrowheads="1" noChangeShapeType="1" noTextEdit="1"/>
                  </p:cNvSpPr>
                  <p:nvPr/>
                </p:nvSpPr>
                <p:spPr>
                  <a:xfrm>
                    <a:off x="3815938" y="3985337"/>
                    <a:ext cx="1492332" cy="369332"/>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5892141" y="3576805"/>
                    <a:ext cx="1440872" cy="369332"/>
                  </a:xfrm>
                  <a:prstGeom prst="rect">
                    <a:avLst/>
                  </a:prstGeom>
                  <a:solidFill>
                    <a:schemeClr val="accent6">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𝒄</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𝒕</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oMath>
                      </m:oMathPara>
                    </a14:m>
                    <a:endParaRPr lang="en-US" altLang="zh-CN"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15" name="文本框 14"/>
                  <p:cNvSpPr txBox="1">
                    <a:spLocks noRot="1" noChangeAspect="1" noMove="1" noResize="1" noEditPoints="1" noAdjustHandles="1" noChangeArrowheads="1" noChangeShapeType="1" noTextEdit="1"/>
                  </p:cNvSpPr>
                  <p:nvPr/>
                </p:nvSpPr>
                <p:spPr>
                  <a:xfrm>
                    <a:off x="5892141" y="3576805"/>
                    <a:ext cx="1440872" cy="36933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1112581" y="4646827"/>
                    <a:ext cx="1856250" cy="646331"/>
                  </a:xfrm>
                  <a:prstGeom prst="rect">
                    <a:avLst/>
                  </a:prstGeom>
                  <a:solidFill>
                    <a:schemeClr val="accent6">
                      <a:lumMod val="20000"/>
                      <a:lumOff val="80000"/>
                      <a:alpha val="25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𝒄</m:t>
                              </m:r>
                              <m:r>
                                <a:rPr lang="en-US" altLang="zh-CN" b="1" i="1" smtClean="0">
                                  <a:solidFill>
                                    <a:srgbClr val="002060"/>
                                  </a:solidFill>
                                  <a:latin typeface="Cambria Math" panose="02040503050406030204" pitchFamily="18" charset="0"/>
                                </a:rPr>
                                <m:t>, </m:t>
                              </m:r>
                              <m:r>
                                <a:rPr lang="en-US" altLang="zh-CN" b="1" i="1" smtClean="0">
                                  <a:solidFill>
                                    <a:srgbClr val="002060"/>
                                  </a:solidFill>
                                  <a:latin typeface="Cambria Math" panose="02040503050406030204" pitchFamily="18" charset="0"/>
                                </a:rPr>
                                <m:t>𝒅</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𝑹</m:t>
                          </m:r>
                        </m:oMath>
                      </m:oMathPara>
                    </a14:m>
                    <a:endParaRPr lang="en-US" altLang="zh-CN" b="1">
                      <a:solidFill>
                        <a:srgbClr val="002060"/>
                      </a:solidFill>
                      <a:latin typeface="楷体" panose="02010609060101010101" pitchFamily="49" charset="-122"/>
                      <a:ea typeface="楷体" panose="02010609060101010101" pitchFamily="49" charset="-122"/>
                    </a:endParaRPr>
                  </a:p>
                  <a:p>
                    <a14:m>
                      <m:oMath xmlns:m="http://schemas.openxmlformats.org/officeDocument/2006/math">
                        <m:r>
                          <a:rPr lang="en-US" altLang="zh-CN" b="1" i="1" smtClean="0">
                            <a:solidFill>
                              <a:srgbClr val="002060"/>
                            </a:solidFill>
                            <a:latin typeface="Cambria Math" panose="02040503050406030204" pitchFamily="18" charset="0"/>
                          </a:rPr>
                          <m:t>𝒄</m:t>
                        </m:r>
                      </m:oMath>
                    </a14:m>
                    <a:r>
                      <a:rPr lang="zh-CN" altLang="en-US" b="1">
                        <a:solidFill>
                          <a:srgbClr val="002060"/>
                        </a:solidFill>
                        <a:latin typeface="楷体" panose="02010609060101010101" pitchFamily="49" charset="-122"/>
                        <a:ea typeface="楷体" panose="02010609060101010101" pitchFamily="49" charset="-122"/>
                      </a:rPr>
                      <a:t>能直接联系到</a:t>
                    </a:r>
                    <a14:m>
                      <m:oMath xmlns:m="http://schemas.openxmlformats.org/officeDocument/2006/math">
                        <m:r>
                          <a:rPr lang="en-US" altLang="zh-CN" b="1" i="1" smtClean="0">
                            <a:solidFill>
                              <a:srgbClr val="002060"/>
                            </a:solidFill>
                            <a:latin typeface="Cambria Math" panose="02040503050406030204" pitchFamily="18" charset="0"/>
                          </a:rPr>
                          <m:t>𝒅</m:t>
                        </m:r>
                      </m:oMath>
                    </a14:m>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1112581" y="4646827"/>
                    <a:ext cx="1856250" cy="646331"/>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3817918" y="4785327"/>
                    <a:ext cx="1492332" cy="369332"/>
                  </a:xfrm>
                  <a:prstGeom prst="rect">
                    <a:avLst/>
                  </a:prstGeom>
                  <a:solidFill>
                    <a:schemeClr val="accent6">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𝒄</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𝒅</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𝒕</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oMath>
                      </m:oMathPara>
                    </a14:m>
                    <a:endParaRPr lang="en-US" altLang="zh-CN"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18" name="文本框 17"/>
                  <p:cNvSpPr txBox="1">
                    <a:spLocks noRot="1" noChangeAspect="1" noMove="1" noResize="1" noEditPoints="1" noAdjustHandles="1" noChangeArrowheads="1" noChangeShapeType="1" noTextEdit="1"/>
                  </p:cNvSpPr>
                  <p:nvPr/>
                </p:nvSpPr>
                <p:spPr>
                  <a:xfrm>
                    <a:off x="3817918" y="4785327"/>
                    <a:ext cx="1492332" cy="369332"/>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5892141" y="4397155"/>
                    <a:ext cx="1440872" cy="369332"/>
                  </a:xfrm>
                  <a:prstGeom prst="rect">
                    <a:avLst/>
                  </a:prstGeom>
                  <a:solidFill>
                    <a:schemeClr val="accent6">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𝒃</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𝒅</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𝒕</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oMath>
                      </m:oMathPara>
                    </a14:m>
                    <a:endParaRPr lang="en-US" altLang="zh-CN"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19" name="文本框 18"/>
                  <p:cNvSpPr txBox="1">
                    <a:spLocks noRot="1" noChangeAspect="1" noMove="1" noResize="1" noEditPoints="1" noAdjustHandles="1" noChangeArrowheads="1" noChangeShapeType="1" noTextEdit="1"/>
                  </p:cNvSpPr>
                  <p:nvPr/>
                </p:nvSpPr>
                <p:spPr>
                  <a:xfrm>
                    <a:off x="5892141" y="4397155"/>
                    <a:ext cx="1440872" cy="369332"/>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7980218" y="4785327"/>
                    <a:ext cx="1440872" cy="369332"/>
                  </a:xfrm>
                  <a:prstGeom prst="rect">
                    <a:avLst/>
                  </a:prstGeom>
                  <a:solidFill>
                    <a:schemeClr val="accent6">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𝒅</m:t>
                              </m:r>
                            </m:e>
                          </m:d>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𝒕</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oMath>
                      </m:oMathPara>
                    </a14:m>
                    <a:endParaRPr lang="en-US" altLang="zh-CN"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20" name="文本框 19"/>
                  <p:cNvSpPr txBox="1">
                    <a:spLocks noRot="1" noChangeAspect="1" noMove="1" noResize="1" noEditPoints="1" noAdjustHandles="1" noChangeArrowheads="1" noChangeShapeType="1" noTextEdit="1"/>
                  </p:cNvSpPr>
                  <p:nvPr/>
                </p:nvSpPr>
                <p:spPr>
                  <a:xfrm>
                    <a:off x="7980218" y="4785327"/>
                    <a:ext cx="1440872" cy="369332"/>
                  </a:xfrm>
                  <a:prstGeom prst="rect">
                    <a:avLst/>
                  </a:prstGeom>
                  <a:blipFill rotWithShape="1">
                    <a:blip r:embed="rId10"/>
                  </a:blipFill>
                </p:spPr>
                <p:txBody>
                  <a:bodyPr/>
                  <a:lstStyle/>
                  <a:p>
                    <a:r>
                      <a:rPr lang="zh-CN" altLang="en-US">
                        <a:noFill/>
                      </a:rPr>
                      <a:t> </a:t>
                    </a:r>
                  </a:p>
                </p:txBody>
              </p:sp>
            </mc:Fallback>
          </mc:AlternateContent>
          <p:cxnSp>
            <p:nvCxnSpPr>
              <p:cNvPr id="6" name="直接箭头连接符 5"/>
              <p:cNvCxnSpPr>
                <a:stCxn id="3" idx="3"/>
                <a:endCxn id="13" idx="1"/>
              </p:cNvCxnSpPr>
              <p:nvPr/>
            </p:nvCxnSpPr>
            <p:spPr>
              <a:xfrm>
                <a:off x="2986802" y="3398874"/>
                <a:ext cx="8588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a:stCxn id="12" idx="3"/>
                <a:endCxn id="14" idx="1"/>
              </p:cNvCxnSpPr>
              <p:nvPr/>
            </p:nvCxnSpPr>
            <p:spPr>
              <a:xfrm flipV="1">
                <a:off x="2968831" y="4170003"/>
                <a:ext cx="847107" cy="4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16" idx="3"/>
                <a:endCxn id="18" idx="1"/>
              </p:cNvCxnSpPr>
              <p:nvPr/>
            </p:nvCxnSpPr>
            <p:spPr>
              <a:xfrm>
                <a:off x="2968831" y="4969993"/>
                <a:ext cx="8490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5" name="文本框 24"/>
                  <p:cNvSpPr txBox="1"/>
                  <p:nvPr/>
                </p:nvSpPr>
                <p:spPr>
                  <a:xfrm>
                    <a:off x="3937928" y="2906662"/>
                    <a:ext cx="1148006" cy="276999"/>
                  </a:xfrm>
                  <a:prstGeom prst="rect">
                    <a:avLst/>
                  </a:prstGeom>
                  <a:solidFill>
                    <a:schemeClr val="accent4">
                      <a:lumMod val="20000"/>
                      <a:lumOff val="80000"/>
                    </a:schemeClr>
                  </a:solid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𝒕</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𝑹</m:t>
                              </m:r>
                            </m:e>
                          </m:d>
                        </m:oMath>
                      </m:oMathPara>
                    </a14:m>
                    <a:endParaRPr lang="zh-CN" altLang="en-US" b="1">
                      <a:solidFill>
                        <a:schemeClr val="accent2">
                          <a:lumMod val="50000"/>
                        </a:schemeClr>
                      </a:solidFill>
                    </a:endParaRPr>
                  </a:p>
                </p:txBody>
              </p:sp>
            </mc:Choice>
            <mc:Fallback>
              <p:sp>
                <p:nvSpPr>
                  <p:cNvPr id="25" name="文本框 24"/>
                  <p:cNvSpPr txBox="1">
                    <a:spLocks noRot="1" noChangeAspect="1" noMove="1" noResize="1" noEditPoints="1" noAdjustHandles="1" noChangeArrowheads="1" noChangeShapeType="1" noTextEdit="1"/>
                  </p:cNvSpPr>
                  <p:nvPr/>
                </p:nvSpPr>
                <p:spPr>
                  <a:xfrm>
                    <a:off x="3937928" y="2906662"/>
                    <a:ext cx="1148006" cy="276999"/>
                  </a:xfrm>
                  <a:prstGeom prst="rect">
                    <a:avLst/>
                  </a:prstGeom>
                  <a:blipFill rotWithShape="1">
                    <a:blip r:embed="rId11"/>
                  </a:blipFill>
                </p:spPr>
                <p:txBody>
                  <a:bodyPr/>
                  <a:lstStyle/>
                  <a:p>
                    <a:r>
                      <a:rPr lang="zh-CN" altLang="en-US">
                        <a:noFill/>
                      </a:rPr>
                      <a:t> </a:t>
                    </a:r>
                  </a:p>
                </p:txBody>
              </p:sp>
            </mc:Fallback>
          </mc:AlternateContent>
          <p:cxnSp>
            <p:nvCxnSpPr>
              <p:cNvPr id="27" name="直接箭头连接符 26"/>
              <p:cNvCxnSpPr>
                <a:stCxn id="13" idx="3"/>
                <a:endCxn id="15" idx="1"/>
              </p:cNvCxnSpPr>
              <p:nvPr/>
            </p:nvCxnSpPr>
            <p:spPr>
              <a:xfrm>
                <a:off x="5278582" y="3398874"/>
                <a:ext cx="613559" cy="3625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4" idx="3"/>
                <a:endCxn id="15" idx="1"/>
              </p:cNvCxnSpPr>
              <p:nvPr/>
            </p:nvCxnSpPr>
            <p:spPr>
              <a:xfrm flipV="1">
                <a:off x="5308270" y="3761471"/>
                <a:ext cx="583871" cy="408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4" idx="3"/>
                <a:endCxn id="19" idx="1"/>
              </p:cNvCxnSpPr>
              <p:nvPr/>
            </p:nvCxnSpPr>
            <p:spPr>
              <a:xfrm>
                <a:off x="5308270" y="4170003"/>
                <a:ext cx="583871" cy="4118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18" idx="3"/>
                <a:endCxn id="19" idx="1"/>
              </p:cNvCxnSpPr>
              <p:nvPr/>
            </p:nvCxnSpPr>
            <p:spPr>
              <a:xfrm flipV="1">
                <a:off x="5310250" y="4581821"/>
                <a:ext cx="581891" cy="388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15" idx="3"/>
                <a:endCxn id="20" idx="1"/>
              </p:cNvCxnSpPr>
              <p:nvPr/>
            </p:nvCxnSpPr>
            <p:spPr>
              <a:xfrm>
                <a:off x="7333013" y="3761471"/>
                <a:ext cx="647205" cy="1208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18" idx="3"/>
                <a:endCxn id="20" idx="1"/>
              </p:cNvCxnSpPr>
              <p:nvPr/>
            </p:nvCxnSpPr>
            <p:spPr>
              <a:xfrm>
                <a:off x="5310250" y="4969993"/>
                <a:ext cx="26699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0" name="文本框 39"/>
                  <p:cNvSpPr txBox="1"/>
                  <p:nvPr/>
                </p:nvSpPr>
                <p:spPr>
                  <a:xfrm>
                    <a:off x="5892141" y="3085649"/>
                    <a:ext cx="1432956" cy="276999"/>
                  </a:xfrm>
                  <a:prstGeom prst="rect">
                    <a:avLst/>
                  </a:prstGeom>
                  <a:solidFill>
                    <a:schemeClr val="accent4">
                      <a:lumMod val="20000"/>
                      <a:lumOff val="80000"/>
                    </a:schemeClr>
                  </a:solidFill>
                </p:spPr>
                <p:txBody>
                  <a:bodyPr wrap="square" lIns="0" tIns="0" rIns="0" bIns="0" rtlCol="0">
                    <a:spAutoFit/>
                  </a:bodyPr>
                  <a:lstStyle/>
                  <a:p>
                    <a14:m>
                      <m:oMath xmlns:m="http://schemas.openxmlformats.org/officeDocument/2006/math">
                        <m:r>
                          <a:rPr lang="en-US" altLang="zh-CN" b="1" i="1" smtClean="0">
                            <a:solidFill>
                              <a:schemeClr val="accent2">
                                <a:lumMod val="50000"/>
                              </a:schemeClr>
                            </a:solidFill>
                            <a:latin typeface="Cambria Math" panose="02040503050406030204" pitchFamily="18" charset="0"/>
                          </a:rPr>
                          <m:t>𝒕</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𝑹</m:t>
                            </m:r>
                          </m:e>
                        </m:d>
                      </m:oMath>
                    </a14:m>
                    <a:r>
                      <a:rPr lang="zh-CN" altLang="en-US" b="1">
                        <a:solidFill>
                          <a:schemeClr val="accent2">
                            <a:lumMod val="50000"/>
                          </a:schemeClr>
                        </a:solidFill>
                      </a:rPr>
                      <a:t>的传递性</a:t>
                    </a:r>
                    <a:endParaRPr lang="zh-CN" altLang="en-US" b="1">
                      <a:solidFill>
                        <a:schemeClr val="accent2">
                          <a:lumMod val="50000"/>
                        </a:schemeClr>
                      </a:solidFill>
                    </a:endParaRPr>
                  </a:p>
                </p:txBody>
              </p:sp>
            </mc:Choice>
            <mc:Fallback>
              <p:sp>
                <p:nvSpPr>
                  <p:cNvPr id="40" name="文本框 39"/>
                  <p:cNvSpPr txBox="1">
                    <a:spLocks noRot="1" noChangeAspect="1" noMove="1" noResize="1" noEditPoints="1" noAdjustHandles="1" noChangeArrowheads="1" noChangeShapeType="1" noTextEdit="1"/>
                  </p:cNvSpPr>
                  <p:nvPr/>
                </p:nvSpPr>
                <p:spPr>
                  <a:xfrm>
                    <a:off x="5892141" y="3085649"/>
                    <a:ext cx="1432956" cy="276999"/>
                  </a:xfrm>
                  <a:prstGeom prst="rect">
                    <a:avLst/>
                  </a:prstGeom>
                  <a:blipFill rotWithShape="1">
                    <a:blip r:embed="rId12"/>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41" name="文本框 40"/>
                <p:cNvSpPr txBox="1"/>
                <p:nvPr/>
              </p:nvSpPr>
              <p:spPr>
                <a:xfrm>
                  <a:off x="8183921" y="3237741"/>
                  <a:ext cx="3434550" cy="999504"/>
                </a:xfrm>
                <a:prstGeom prst="rect">
                  <a:avLst/>
                </a:prstGeom>
                <a:solidFill>
                  <a:schemeClr val="accent2">
                    <a:lumMod val="20000"/>
                    <a:lumOff val="80000"/>
                  </a:schemeClr>
                </a:solidFill>
              </p:spPr>
              <p:txBody>
                <a:bodyPr wrap="square" rtlCol="0">
                  <a:spAutoFit/>
                </a:bodyPr>
                <a:lstStyle/>
                <a:p>
                  <a:pPr algn="ctr">
                    <a:lnSpc>
                      <a:spcPts val="2400"/>
                    </a:lnSpc>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oMath>
                  </a14:m>
                  <a:r>
                    <a:rPr lang="en-US" altLang="zh-CN" b="1">
                      <a:solidFill>
                        <a:schemeClr val="accent2">
                          <a:lumMod val="50000"/>
                        </a:schemeClr>
                      </a:solidFill>
                    </a:rPr>
                    <a:t> </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𝒕</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 是“</a:t>
                  </a:r>
                  <a:r>
                    <a:rPr lang="zh-CN" altLang="en-US" b="1">
                      <a:solidFill>
                        <a:srgbClr val="C00000"/>
                      </a:solidFill>
                    </a:rPr>
                    <a:t>可以联系到</a:t>
                  </a:r>
                  <a:r>
                    <a:rPr lang="zh-CN" altLang="en-US" b="1">
                      <a:solidFill>
                        <a:schemeClr val="accent2">
                          <a:lumMod val="50000"/>
                        </a:schemeClr>
                      </a:solidFill>
                    </a:rPr>
                    <a:t>”关系：</a:t>
                  </a:r>
                  <a:endParaRPr lang="en-US" altLang="zh-CN" b="1">
                    <a:solidFill>
                      <a:schemeClr val="accent2">
                        <a:lumMod val="50000"/>
                      </a:schemeClr>
                    </a:solidFill>
                  </a:endParaRPr>
                </a:p>
                <a:p>
                  <a:pPr algn="ctr">
                    <a:lnSpc>
                      <a:spcPts val="2400"/>
                    </a:lnSpc>
                  </a:pPr>
                  <a:r>
                    <a:rPr lang="zh-CN" altLang="en-US" b="1">
                      <a:solidFill>
                        <a:schemeClr val="accent2">
                          <a:lumMod val="50000"/>
                        </a:schemeClr>
                      </a:solidFill>
                    </a:rPr>
                    <a:t>如果</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和</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a14:m>
                  <a:r>
                    <a:rPr lang="zh-CN" altLang="en-US" b="1">
                      <a:solidFill>
                        <a:schemeClr val="accent2">
                          <a:lumMod val="50000"/>
                        </a:schemeClr>
                      </a:solidFill>
                    </a:rPr>
                    <a:t>间存在若干中间能直接联系到的人，则</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可以联系到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a14:m>
                  <a:endParaRPr lang="zh-CN" altLang="en-US" b="1">
                    <a:solidFill>
                      <a:schemeClr val="accent2">
                        <a:lumMod val="50000"/>
                      </a:schemeClr>
                    </a:solidFill>
                  </a:endParaRPr>
                </a:p>
              </p:txBody>
            </p:sp>
          </mc:Choice>
          <mc:Fallback>
            <p:sp>
              <p:nvSpPr>
                <p:cNvPr id="41" name="文本框 40"/>
                <p:cNvSpPr txBox="1">
                  <a:spLocks noRot="1" noChangeAspect="1" noMove="1" noResize="1" noEditPoints="1" noAdjustHandles="1" noChangeArrowheads="1" noChangeShapeType="1" noTextEdit="1"/>
                </p:cNvSpPr>
                <p:nvPr/>
              </p:nvSpPr>
              <p:spPr>
                <a:xfrm>
                  <a:off x="8183921" y="3237741"/>
                  <a:ext cx="3434550" cy="999504"/>
                </a:xfrm>
                <a:prstGeom prst="rect">
                  <a:avLst/>
                </a:prstGeom>
                <a:blipFill rotWithShape="1">
                  <a:blip r:embed="rId1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文本框 41"/>
                <p:cNvSpPr txBox="1"/>
                <p:nvPr/>
              </p:nvSpPr>
              <p:spPr>
                <a:xfrm>
                  <a:off x="8295990" y="5386055"/>
                  <a:ext cx="3210412" cy="1000402"/>
                </a:xfrm>
                <a:prstGeom prst="rect">
                  <a:avLst/>
                </a:prstGeom>
                <a:solidFill>
                  <a:schemeClr val="accent2">
                    <a:lumMod val="20000"/>
                    <a:lumOff val="80000"/>
                  </a:schemeClr>
                </a:solidFill>
              </p:spPr>
              <p:txBody>
                <a:bodyPr wrap="square" rtlCol="0">
                  <a:spAutoFit/>
                </a:bodyPr>
                <a:lstStyle/>
                <a:p>
                  <a:pPr algn="ctr">
                    <a:lnSpc>
                      <a:spcPts val="2400"/>
                    </a:lnSpc>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𝒕</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 的</a:t>
                  </a:r>
                  <a:r>
                    <a:rPr lang="zh-CN" altLang="en-US" b="1">
                      <a:solidFill>
                        <a:srgbClr val="C00000"/>
                      </a:solidFill>
                    </a:rPr>
                    <a:t>最小性</a:t>
                  </a:r>
                  <a:r>
                    <a:rPr lang="zh-CN" altLang="en-US" b="1">
                      <a:solidFill>
                        <a:schemeClr val="accent2">
                          <a:lumMod val="50000"/>
                        </a:schemeClr>
                      </a:solidFill>
                    </a:rPr>
                    <a:t>：</a:t>
                  </a:r>
                  <a:endParaRPr lang="en-US" altLang="zh-CN" b="1">
                    <a:solidFill>
                      <a:schemeClr val="accent2">
                        <a:lumMod val="50000"/>
                      </a:schemeClr>
                    </a:solidFill>
                  </a:endParaRPr>
                </a:p>
                <a:p>
                  <a:pPr algn="ctr">
                    <a:lnSpc>
                      <a:spcPts val="2400"/>
                    </a:lnSpc>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要可以联系到</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a14:m>
                  <a:r>
                    <a:rPr lang="zh-CN" altLang="en-US" b="1">
                      <a:solidFill>
                        <a:schemeClr val="accent2">
                          <a:lumMod val="50000"/>
                        </a:schemeClr>
                      </a:solidFill>
                    </a:rPr>
                    <a:t>，则必须存在若干中间能直接联系到的人</a:t>
                  </a:r>
                  <a:endParaRPr lang="zh-CN" altLang="en-US" b="1">
                    <a:solidFill>
                      <a:schemeClr val="accent2">
                        <a:lumMod val="50000"/>
                      </a:schemeClr>
                    </a:solidFill>
                  </a:endParaRPr>
                </a:p>
              </p:txBody>
            </p:sp>
          </mc:Choice>
          <mc:Fallback>
            <p:sp>
              <p:nvSpPr>
                <p:cNvPr id="42" name="文本框 41"/>
                <p:cNvSpPr txBox="1">
                  <a:spLocks noRot="1" noChangeAspect="1" noMove="1" noResize="1" noEditPoints="1" noAdjustHandles="1" noChangeArrowheads="1" noChangeShapeType="1" noTextEdit="1"/>
                </p:cNvSpPr>
                <p:nvPr/>
              </p:nvSpPr>
              <p:spPr>
                <a:xfrm>
                  <a:off x="8295990" y="5386055"/>
                  <a:ext cx="3210412" cy="1000402"/>
                </a:xfrm>
                <a:prstGeom prst="rect">
                  <a:avLst/>
                </a:prstGeom>
                <a:blipFill rotWithShape="1">
                  <a:blip r:embed="rId1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p:cNvSpPr txBox="1"/>
                <p:nvPr/>
              </p:nvSpPr>
              <p:spPr>
                <a:xfrm>
                  <a:off x="875978" y="5520669"/>
                  <a:ext cx="6354078" cy="691728"/>
                </a:xfrm>
                <a:prstGeom prst="rect">
                  <a:avLst/>
                </a:prstGeom>
                <a:solidFill>
                  <a:schemeClr val="accent2">
                    <a:lumMod val="20000"/>
                    <a:lumOff val="80000"/>
                  </a:schemeClr>
                </a:solidFill>
              </p:spPr>
              <p:txBody>
                <a:bodyPr wrap="square" rtlCol="0">
                  <a:spAutoFit/>
                </a:bodyPr>
                <a:lstStyle/>
                <a:p>
                  <a:pPr algn="ctr">
                    <a:lnSpc>
                      <a:spcPts val="2400"/>
                    </a:lnSpc>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 </a:t>
                  </a:r>
                  <a:r>
                    <a:rPr lang="zh-CN" altLang="en-US" b="1">
                      <a:solidFill>
                        <a:srgbClr val="C00000"/>
                      </a:solidFill>
                    </a:rPr>
                    <a:t>对任意</a:t>
                  </a:r>
                  <a14:m>
                    <m:oMath xmlns:m="http://schemas.openxmlformats.org/officeDocument/2006/math">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𝒚</m:t>
                      </m:r>
                    </m:oMath>
                  </a14:m>
                  <a:r>
                    <a:rPr lang="zh-CN" altLang="en-US" b="1">
                      <a:solidFill>
                        <a:srgbClr val="C00000"/>
                      </a:solidFill>
                    </a:rPr>
                    <a:t>，</a:t>
                  </a:r>
                  <a14:m>
                    <m:oMath xmlns:m="http://schemas.openxmlformats.org/officeDocument/2006/math">
                      <m:d>
                        <m:dPr>
                          <m:begChr m:val="⟨"/>
                          <m:endChr m:val="⟩"/>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𝒚</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𝒕</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𝑹</m:t>
                          </m:r>
                        </m:e>
                      </m:d>
                    </m:oMath>
                  </a14:m>
                  <a:r>
                    <a:rPr lang="zh-CN" altLang="en-US" b="1">
                      <a:solidFill>
                        <a:srgbClr val="C00000"/>
                      </a:solidFill>
                    </a:rPr>
                    <a:t>当且仅当</a:t>
                  </a:r>
                  <a14:m>
                    <m:oMath xmlns:m="http://schemas.openxmlformats.org/officeDocument/2006/math">
                      <m:d>
                        <m:dPr>
                          <m:begChr m:val="⟨"/>
                          <m:endChr m:val="⟩"/>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𝒚</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𝑹</m:t>
                      </m:r>
                    </m:oMath>
                  </a14:m>
                  <a:r>
                    <a:rPr lang="zh-CN" altLang="en-US" b="1">
                      <a:solidFill>
                        <a:srgbClr val="C00000"/>
                      </a:solidFill>
                    </a:rPr>
                    <a:t>，或者存在</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 ⋯,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𝒌</m:t>
                          </m:r>
                        </m:sub>
                      </m:sSub>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𝒌</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e>
                      </m:d>
                    </m:oMath>
                  </a14:m>
                  <a:r>
                    <a:rPr lang="zh-CN" altLang="en-US" b="1">
                      <a:solidFill>
                        <a:srgbClr val="C00000"/>
                      </a:solidFill>
                    </a:rPr>
                    <a:t>使得</a:t>
                  </a:r>
                  <a14:m>
                    <m:oMath xmlns:m="http://schemas.openxmlformats.org/officeDocument/2006/math">
                      <m:d>
                        <m:dPr>
                          <m:begChr m:val="⟨"/>
                          <m:endChr m:val="⟩"/>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𝟏</m:t>
                              </m:r>
                            </m:sub>
                          </m:sSub>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𝑹</m:t>
                      </m:r>
                      <m:r>
                        <a:rPr lang="zh-CN" altLang="en-US" b="1" i="1" smtClean="0">
                          <a:solidFill>
                            <a:srgbClr val="C00000"/>
                          </a:solidFill>
                          <a:latin typeface="Cambria Math" panose="02040503050406030204" pitchFamily="18" charset="0"/>
                        </a:rPr>
                        <m:t>，</m:t>
                      </m:r>
                      <m:d>
                        <m:dPr>
                          <m:begChr m:val="⟨"/>
                          <m:endChr m:val="⟩"/>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𝟐</m:t>
                              </m:r>
                            </m:sub>
                          </m:sSub>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𝑹</m:t>
                      </m:r>
                      <m:r>
                        <a:rPr lang="en-US" altLang="zh-CN" b="1" i="1" smtClean="0">
                          <a:solidFill>
                            <a:srgbClr val="C00000"/>
                          </a:solidFill>
                          <a:latin typeface="Cambria Math" panose="02040503050406030204" pitchFamily="18" charset="0"/>
                        </a:rPr>
                        <m:t>, ⋯, </m:t>
                      </m:r>
                      <m:d>
                        <m:dPr>
                          <m:begChr m:val="⟨"/>
                          <m:endChr m:val="⟩"/>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𝒌</m:t>
                              </m:r>
                            </m:sub>
                          </m:sSub>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𝒚</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𝑹</m:t>
                      </m:r>
                    </m:oMath>
                  </a14:m>
                  <a:r>
                    <a:rPr lang="zh-CN" altLang="en-US" b="1">
                      <a:solidFill>
                        <a:srgbClr val="C00000"/>
                      </a:solidFill>
                    </a:rPr>
                    <a:t>。</a:t>
                  </a:r>
                  <a:endParaRPr lang="zh-CN" altLang="en-US" b="1">
                    <a:solidFill>
                      <a:schemeClr val="accent2">
                        <a:lumMod val="50000"/>
                      </a:schemeClr>
                    </a:solidFill>
                  </a:endParaRPr>
                </a:p>
              </p:txBody>
            </p:sp>
          </mc:Choice>
          <mc:Fallback>
            <p:sp>
              <p:nvSpPr>
                <p:cNvPr id="43" name="文本框 42"/>
                <p:cNvSpPr txBox="1">
                  <a:spLocks noRot="1" noChangeAspect="1" noMove="1" noResize="1" noEditPoints="1" noAdjustHandles="1" noChangeArrowheads="1" noChangeShapeType="1" noTextEdit="1"/>
                </p:cNvSpPr>
                <p:nvPr/>
              </p:nvSpPr>
              <p:spPr>
                <a:xfrm>
                  <a:off x="875978" y="5520669"/>
                  <a:ext cx="6354078" cy="691728"/>
                </a:xfrm>
                <a:prstGeom prst="rect">
                  <a:avLst/>
                </a:prstGeom>
                <a:blipFill rotWithShape="1">
                  <a:blip r:embed="rId15"/>
                </a:blipFill>
              </p:spPr>
              <p:txBody>
                <a:bodyPr/>
                <a:lstStyle/>
                <a:p>
                  <a:r>
                    <a:rPr lang="zh-CN" altLang="en-US">
                      <a:noFill/>
                    </a:rPr>
                    <a:t> </a:t>
                  </a:r>
                </a:p>
              </p:txBody>
            </p:sp>
          </mc:Fallback>
        </mc:AlternateContent>
        <p:sp>
          <p:nvSpPr>
            <p:cNvPr id="46" name="箭头: 下 45"/>
            <p:cNvSpPr/>
            <p:nvPr/>
          </p:nvSpPr>
          <p:spPr>
            <a:xfrm>
              <a:off x="9871161" y="4237245"/>
              <a:ext cx="60070" cy="114881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箭头: 左 46"/>
            <p:cNvSpPr/>
            <p:nvPr/>
          </p:nvSpPr>
          <p:spPr>
            <a:xfrm>
              <a:off x="7230056" y="5805798"/>
              <a:ext cx="1065934" cy="14578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传递闭包计算过程的直观展示</a:t>
            </a:r>
            <a:endParaRPr lang="zh-CN" altLang="en-US"/>
          </a:p>
        </p:txBody>
      </p:sp>
      <p:grpSp>
        <p:nvGrpSpPr>
          <p:cNvPr id="11" name="组合 10"/>
          <p:cNvGrpSpPr/>
          <p:nvPr/>
        </p:nvGrpSpPr>
        <p:grpSpPr>
          <a:xfrm>
            <a:off x="2254816" y="907185"/>
            <a:ext cx="9411286" cy="5490548"/>
            <a:chOff x="1607394" y="484784"/>
            <a:chExt cx="9411286" cy="5490548"/>
          </a:xfrm>
        </p:grpSpPr>
        <p:sp>
          <p:nvSpPr>
            <p:cNvPr id="12" name="椭圆 11"/>
            <p:cNvSpPr/>
            <p:nvPr/>
          </p:nvSpPr>
          <p:spPr>
            <a:xfrm>
              <a:off x="7526425" y="185302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文本框 12"/>
            <p:cNvSpPr txBox="1"/>
            <p:nvPr/>
          </p:nvSpPr>
          <p:spPr>
            <a:xfrm>
              <a:off x="7492011" y="1954170"/>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李白</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p:cNvSpPr/>
            <p:nvPr/>
          </p:nvSpPr>
          <p:spPr>
            <a:xfrm>
              <a:off x="9128446" y="2275840"/>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文本框 14"/>
            <p:cNvSpPr txBox="1"/>
            <p:nvPr/>
          </p:nvSpPr>
          <p:spPr>
            <a:xfrm>
              <a:off x="9062001" y="2382045"/>
              <a:ext cx="6429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孟浩然</a:t>
              </a:r>
              <a:endPar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p:cNvSpPr/>
            <p:nvPr/>
          </p:nvSpPr>
          <p:spPr>
            <a:xfrm>
              <a:off x="7064253" y="3116184"/>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文本框 17"/>
            <p:cNvSpPr txBox="1"/>
            <p:nvPr/>
          </p:nvSpPr>
          <p:spPr>
            <a:xfrm>
              <a:off x="7029839" y="3217332"/>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杜甫</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椭圆 18"/>
            <p:cNvSpPr/>
            <p:nvPr/>
          </p:nvSpPr>
          <p:spPr>
            <a:xfrm>
              <a:off x="7567128" y="4253248"/>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文本框 19"/>
            <p:cNvSpPr txBox="1"/>
            <p:nvPr/>
          </p:nvSpPr>
          <p:spPr>
            <a:xfrm>
              <a:off x="7532714" y="4354396"/>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高适</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椭圆 20"/>
            <p:cNvSpPr/>
            <p:nvPr/>
          </p:nvSpPr>
          <p:spPr>
            <a:xfrm>
              <a:off x="8798928" y="113113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文本框 21"/>
            <p:cNvSpPr txBox="1"/>
            <p:nvPr/>
          </p:nvSpPr>
          <p:spPr>
            <a:xfrm>
              <a:off x="8786862" y="1245433"/>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张旭</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椭圆 22"/>
            <p:cNvSpPr/>
            <p:nvPr/>
          </p:nvSpPr>
          <p:spPr>
            <a:xfrm>
              <a:off x="5577739" y="406257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文本框 23"/>
            <p:cNvSpPr txBox="1"/>
            <p:nvPr/>
          </p:nvSpPr>
          <p:spPr>
            <a:xfrm>
              <a:off x="5543325" y="4163720"/>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严武</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25" name="组合 24"/>
            <p:cNvGrpSpPr/>
            <p:nvPr/>
          </p:nvGrpSpPr>
          <p:grpSpPr>
            <a:xfrm>
              <a:off x="6526666" y="1386169"/>
              <a:ext cx="578901" cy="510074"/>
              <a:chOff x="5414662" y="261257"/>
              <a:chExt cx="578901" cy="510074"/>
            </a:xfrm>
          </p:grpSpPr>
          <p:sp>
            <p:nvSpPr>
              <p:cNvPr id="112" name="椭圆 111"/>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3" name="文本框 112"/>
              <p:cNvSpPr txBox="1"/>
              <p:nvPr/>
            </p:nvSpPr>
            <p:spPr>
              <a:xfrm>
                <a:off x="5414662" y="362405"/>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苏颋</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26" name="组合 25"/>
            <p:cNvGrpSpPr/>
            <p:nvPr/>
          </p:nvGrpSpPr>
          <p:grpSpPr>
            <a:xfrm>
              <a:off x="5723664" y="484784"/>
              <a:ext cx="578901" cy="510074"/>
              <a:chOff x="5414662" y="261257"/>
              <a:chExt cx="578901" cy="510074"/>
            </a:xfrm>
          </p:grpSpPr>
          <p:sp>
            <p:nvSpPr>
              <p:cNvPr id="110" name="椭圆 109"/>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1" name="文本框 110"/>
              <p:cNvSpPr txBox="1"/>
              <p:nvPr/>
            </p:nvSpPr>
            <p:spPr>
              <a:xfrm>
                <a:off x="5414662" y="362405"/>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张说</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7" name="椭圆 26"/>
            <p:cNvSpPr/>
            <p:nvPr/>
          </p:nvSpPr>
          <p:spPr>
            <a:xfrm>
              <a:off x="5116357" y="3090054"/>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8" name="文本框 27"/>
            <p:cNvSpPr txBox="1"/>
            <p:nvPr/>
          </p:nvSpPr>
          <p:spPr>
            <a:xfrm>
              <a:off x="5081943" y="3191202"/>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岑参</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9" name="椭圆 28"/>
            <p:cNvSpPr/>
            <p:nvPr/>
          </p:nvSpPr>
          <p:spPr>
            <a:xfrm>
              <a:off x="1641808" y="2565919"/>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0" name="文本框 29"/>
            <p:cNvSpPr txBox="1"/>
            <p:nvPr/>
          </p:nvSpPr>
          <p:spPr>
            <a:xfrm>
              <a:off x="1607394" y="2667067"/>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张谓</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31" name="组合 30"/>
            <p:cNvGrpSpPr/>
            <p:nvPr/>
          </p:nvGrpSpPr>
          <p:grpSpPr>
            <a:xfrm>
              <a:off x="3472701" y="5465258"/>
              <a:ext cx="578901" cy="510074"/>
              <a:chOff x="5414662" y="261257"/>
              <a:chExt cx="578901" cy="510074"/>
            </a:xfrm>
          </p:grpSpPr>
          <p:sp>
            <p:nvSpPr>
              <p:cNvPr id="108" name="椭圆 107"/>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9" name="文本框 108"/>
              <p:cNvSpPr txBox="1"/>
              <p:nvPr/>
            </p:nvSpPr>
            <p:spPr>
              <a:xfrm>
                <a:off x="5414662" y="362405"/>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张继</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32" name="组合 31"/>
            <p:cNvGrpSpPr/>
            <p:nvPr/>
          </p:nvGrpSpPr>
          <p:grpSpPr>
            <a:xfrm>
              <a:off x="8648130" y="4802908"/>
              <a:ext cx="578901" cy="510074"/>
              <a:chOff x="5414662" y="261257"/>
              <a:chExt cx="578901" cy="510074"/>
            </a:xfrm>
          </p:grpSpPr>
          <p:sp>
            <p:nvSpPr>
              <p:cNvPr id="106" name="椭圆 105"/>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7" name="文本框 106"/>
              <p:cNvSpPr txBox="1"/>
              <p:nvPr/>
            </p:nvSpPr>
            <p:spPr>
              <a:xfrm>
                <a:off x="5414662" y="362405"/>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钱起</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33" name="组合 32"/>
            <p:cNvGrpSpPr/>
            <p:nvPr/>
          </p:nvGrpSpPr>
          <p:grpSpPr>
            <a:xfrm>
              <a:off x="4632927" y="4942423"/>
              <a:ext cx="578901" cy="510074"/>
              <a:chOff x="5414662" y="261257"/>
              <a:chExt cx="578901" cy="510074"/>
            </a:xfrm>
          </p:grpSpPr>
          <p:sp>
            <p:nvSpPr>
              <p:cNvPr id="104" name="椭圆 103"/>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5" name="文本框 104"/>
              <p:cNvSpPr txBox="1"/>
              <p:nvPr/>
            </p:nvSpPr>
            <p:spPr>
              <a:xfrm>
                <a:off x="5414662" y="362405"/>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韩翃</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34" name="椭圆 33"/>
            <p:cNvSpPr/>
            <p:nvPr/>
          </p:nvSpPr>
          <p:spPr>
            <a:xfrm>
              <a:off x="6433337" y="503877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5" name="文本框 34"/>
            <p:cNvSpPr txBox="1"/>
            <p:nvPr/>
          </p:nvSpPr>
          <p:spPr>
            <a:xfrm>
              <a:off x="6398923" y="5139920"/>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薛稷</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6" name="椭圆 35"/>
            <p:cNvSpPr/>
            <p:nvPr/>
          </p:nvSpPr>
          <p:spPr>
            <a:xfrm>
              <a:off x="9945261" y="3249473"/>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7" name="文本框 36"/>
            <p:cNvSpPr txBox="1"/>
            <p:nvPr/>
          </p:nvSpPr>
          <p:spPr>
            <a:xfrm>
              <a:off x="9910847" y="3350621"/>
              <a:ext cx="578901"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王维</a:t>
              </a:r>
              <a:endParaRPr kumimoji="0" lang="zh-CN" altLang="en-US" sz="14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38" name="组合 37"/>
            <p:cNvGrpSpPr/>
            <p:nvPr/>
          </p:nvGrpSpPr>
          <p:grpSpPr>
            <a:xfrm>
              <a:off x="2677899" y="1725062"/>
              <a:ext cx="642964" cy="510074"/>
              <a:chOff x="5382631" y="261257"/>
              <a:chExt cx="642964" cy="510074"/>
            </a:xfrm>
          </p:grpSpPr>
          <p:sp>
            <p:nvSpPr>
              <p:cNvPr id="102" name="椭圆 101"/>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3" name="文本框 102"/>
              <p:cNvSpPr txBox="1"/>
              <p:nvPr/>
            </p:nvSpPr>
            <p:spPr>
              <a:xfrm>
                <a:off x="5382631" y="367462"/>
                <a:ext cx="6429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刘方平</a:t>
                </a:r>
                <a:endPar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39" name="椭圆 38"/>
            <p:cNvSpPr/>
            <p:nvPr/>
          </p:nvSpPr>
          <p:spPr>
            <a:xfrm>
              <a:off x="2744344" y="460661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0" name="文本框 39"/>
            <p:cNvSpPr txBox="1"/>
            <p:nvPr/>
          </p:nvSpPr>
          <p:spPr>
            <a:xfrm>
              <a:off x="2677899" y="4712817"/>
              <a:ext cx="6429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皇甫冉</a:t>
              </a:r>
              <a:endPar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1" name="椭圆 40"/>
            <p:cNvSpPr/>
            <p:nvPr/>
          </p:nvSpPr>
          <p:spPr>
            <a:xfrm>
              <a:off x="8463860" y="3152358"/>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2" name="文本框 41"/>
            <p:cNvSpPr txBox="1"/>
            <p:nvPr/>
          </p:nvSpPr>
          <p:spPr>
            <a:xfrm>
              <a:off x="8397595" y="3227511"/>
              <a:ext cx="6429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王昌龄</a:t>
              </a:r>
              <a:endPar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nvGrpSpPr>
            <p:cNvPr id="43" name="组合 42"/>
            <p:cNvGrpSpPr/>
            <p:nvPr/>
          </p:nvGrpSpPr>
          <p:grpSpPr>
            <a:xfrm>
              <a:off x="10375716" y="4657117"/>
              <a:ext cx="642964" cy="510074"/>
              <a:chOff x="5382631" y="261257"/>
              <a:chExt cx="642964" cy="510074"/>
            </a:xfrm>
          </p:grpSpPr>
          <p:sp>
            <p:nvSpPr>
              <p:cNvPr id="100" name="椭圆 99"/>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1" name="文本框 100"/>
              <p:cNvSpPr txBox="1"/>
              <p:nvPr/>
            </p:nvSpPr>
            <p:spPr>
              <a:xfrm>
                <a:off x="5382631" y="367462"/>
                <a:ext cx="6429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储光义</a:t>
                </a:r>
                <a:endPar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44" name="组合 43"/>
            <p:cNvGrpSpPr/>
            <p:nvPr/>
          </p:nvGrpSpPr>
          <p:grpSpPr>
            <a:xfrm>
              <a:off x="2853183" y="3075993"/>
              <a:ext cx="642964" cy="510074"/>
              <a:chOff x="5382631" y="261257"/>
              <a:chExt cx="642964" cy="510074"/>
            </a:xfrm>
          </p:grpSpPr>
          <p:sp>
            <p:nvSpPr>
              <p:cNvPr id="98" name="椭圆 97"/>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9" name="文本框 98"/>
              <p:cNvSpPr txBox="1"/>
              <p:nvPr/>
            </p:nvSpPr>
            <p:spPr>
              <a:xfrm>
                <a:off x="5382631" y="367462"/>
                <a:ext cx="6429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刘长卿</a:t>
                </a:r>
                <a:endPar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45" name="椭圆 44"/>
            <p:cNvSpPr/>
            <p:nvPr/>
          </p:nvSpPr>
          <p:spPr>
            <a:xfrm>
              <a:off x="5202760" y="1603225"/>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6" name="文本框 45"/>
            <p:cNvSpPr txBox="1"/>
            <p:nvPr/>
          </p:nvSpPr>
          <p:spPr>
            <a:xfrm>
              <a:off x="5136315" y="1709430"/>
              <a:ext cx="6429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张九龄</a:t>
              </a:r>
              <a:endPar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7" name="椭圆 46"/>
            <p:cNvSpPr/>
            <p:nvPr/>
          </p:nvSpPr>
          <p:spPr>
            <a:xfrm>
              <a:off x="10162527" y="1357985"/>
              <a:ext cx="510075" cy="538258"/>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8" name="文本框 47"/>
            <p:cNvSpPr txBox="1"/>
            <p:nvPr/>
          </p:nvSpPr>
          <p:spPr>
            <a:xfrm>
              <a:off x="10096082" y="1470058"/>
              <a:ext cx="6429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崔国辅</a:t>
              </a:r>
              <a:endPar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9" name="椭圆 48"/>
            <p:cNvSpPr/>
            <p:nvPr/>
          </p:nvSpPr>
          <p:spPr>
            <a:xfrm>
              <a:off x="4163036" y="3575199"/>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0" name="文本框 49"/>
            <p:cNvSpPr txBox="1"/>
            <p:nvPr/>
          </p:nvSpPr>
          <p:spPr>
            <a:xfrm>
              <a:off x="4096591" y="3681404"/>
              <a:ext cx="6429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李嘉祐</a:t>
              </a:r>
              <a:endPar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1" name="椭圆 50"/>
            <p:cNvSpPr/>
            <p:nvPr/>
          </p:nvSpPr>
          <p:spPr>
            <a:xfrm>
              <a:off x="7453814" y="596425"/>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2" name="文本框 51"/>
            <p:cNvSpPr txBox="1"/>
            <p:nvPr/>
          </p:nvSpPr>
          <p:spPr>
            <a:xfrm>
              <a:off x="7387369" y="702630"/>
              <a:ext cx="6429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rPr>
                <a:t>贺知章</a:t>
              </a:r>
              <a:endParaRPr kumimoji="0" lang="zh-CN" altLang="en-US" sz="1200" b="1"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53" name="直接箭头连接符 52"/>
            <p:cNvCxnSpPr>
              <a:stCxn id="52" idx="1"/>
              <a:endCxn id="111" idx="3"/>
            </p:cNvCxnSpPr>
            <p:nvPr/>
          </p:nvCxnSpPr>
          <p:spPr>
            <a:xfrm flipH="1" flipV="1">
              <a:off x="6302565" y="739821"/>
              <a:ext cx="1084804" cy="101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112" idx="1"/>
            </p:cNvCxnSpPr>
            <p:nvPr/>
          </p:nvCxnSpPr>
          <p:spPr>
            <a:xfrm flipH="1" flipV="1">
              <a:off x="6219325" y="957646"/>
              <a:ext cx="416454" cy="503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7043753" y="1778323"/>
              <a:ext cx="509179" cy="21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a:stCxn id="110" idx="3"/>
              <a:endCxn id="45" idx="0"/>
            </p:cNvCxnSpPr>
            <p:nvPr/>
          </p:nvCxnSpPr>
          <p:spPr>
            <a:xfrm flipH="1">
              <a:off x="5457798" y="920159"/>
              <a:ext cx="374979" cy="683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12" idx="0"/>
              <a:endCxn id="51" idx="4"/>
            </p:cNvCxnSpPr>
            <p:nvPr/>
          </p:nvCxnSpPr>
          <p:spPr>
            <a:xfrm flipH="1" flipV="1">
              <a:off x="7708852" y="1106499"/>
              <a:ext cx="72611" cy="7465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stCxn id="12" idx="7"/>
              <a:endCxn id="22" idx="1"/>
            </p:cNvCxnSpPr>
            <p:nvPr/>
          </p:nvCxnSpPr>
          <p:spPr>
            <a:xfrm flipV="1">
              <a:off x="7961801" y="1399322"/>
              <a:ext cx="825061" cy="528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a:stCxn id="13" idx="3"/>
              <a:endCxn id="14" idx="1"/>
            </p:cNvCxnSpPr>
            <p:nvPr/>
          </p:nvCxnSpPr>
          <p:spPr>
            <a:xfrm>
              <a:off x="8070912" y="2108059"/>
              <a:ext cx="1132233" cy="242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12" idx="3"/>
              <a:endCxn id="16" idx="0"/>
            </p:cNvCxnSpPr>
            <p:nvPr/>
          </p:nvCxnSpPr>
          <p:spPr>
            <a:xfrm flipH="1">
              <a:off x="7319291" y="2288397"/>
              <a:ext cx="281833" cy="827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16" idx="7"/>
              <a:endCxn id="12" idx="4"/>
            </p:cNvCxnSpPr>
            <p:nvPr/>
          </p:nvCxnSpPr>
          <p:spPr>
            <a:xfrm flipV="1">
              <a:off x="7499629" y="2363096"/>
              <a:ext cx="281834" cy="827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16" idx="7"/>
              <a:endCxn id="21" idx="3"/>
            </p:cNvCxnSpPr>
            <p:nvPr/>
          </p:nvCxnSpPr>
          <p:spPr>
            <a:xfrm flipV="1">
              <a:off x="7499629" y="1566507"/>
              <a:ext cx="1373998" cy="1624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a:endCxn id="15" idx="1"/>
            </p:cNvCxnSpPr>
            <p:nvPr/>
          </p:nvCxnSpPr>
          <p:spPr>
            <a:xfrm flipV="1">
              <a:off x="7608740" y="2520545"/>
              <a:ext cx="1453261" cy="7270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a:stCxn id="14" idx="7"/>
              <a:endCxn id="47" idx="3"/>
            </p:cNvCxnSpPr>
            <p:nvPr/>
          </p:nvCxnSpPr>
          <p:spPr>
            <a:xfrm flipV="1">
              <a:off x="9563822" y="1817417"/>
              <a:ext cx="673404" cy="53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a:stCxn id="18" idx="3"/>
              <a:endCxn id="42" idx="1"/>
            </p:cNvCxnSpPr>
            <p:nvPr/>
          </p:nvCxnSpPr>
          <p:spPr>
            <a:xfrm flipV="1">
              <a:off x="7608740" y="3366011"/>
              <a:ext cx="788855" cy="5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stCxn id="42" idx="3"/>
              <a:endCxn id="36" idx="1"/>
            </p:cNvCxnSpPr>
            <p:nvPr/>
          </p:nvCxnSpPr>
          <p:spPr>
            <a:xfrm flipV="1">
              <a:off x="9040559" y="3324172"/>
              <a:ext cx="979401" cy="41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a:stCxn id="100" idx="0"/>
              <a:endCxn id="36" idx="5"/>
            </p:cNvCxnSpPr>
            <p:nvPr/>
          </p:nvCxnSpPr>
          <p:spPr>
            <a:xfrm flipH="1" flipV="1">
              <a:off x="10380637" y="3684848"/>
              <a:ext cx="316562" cy="972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stCxn id="36" idx="4"/>
            </p:cNvCxnSpPr>
            <p:nvPr/>
          </p:nvCxnSpPr>
          <p:spPr>
            <a:xfrm flipH="1">
              <a:off x="9113068" y="3759547"/>
              <a:ext cx="1087231" cy="1142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a:stCxn id="107" idx="3"/>
              <a:endCxn id="101" idx="1"/>
            </p:cNvCxnSpPr>
            <p:nvPr/>
          </p:nvCxnSpPr>
          <p:spPr>
            <a:xfrm flipV="1">
              <a:off x="9227031" y="4901822"/>
              <a:ext cx="1148685" cy="156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a:stCxn id="106" idx="1"/>
            </p:cNvCxnSpPr>
            <p:nvPr/>
          </p:nvCxnSpPr>
          <p:spPr>
            <a:xfrm flipH="1" flipV="1">
              <a:off x="7570589" y="3494751"/>
              <a:ext cx="1186654" cy="1382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a:stCxn id="41" idx="3"/>
              <a:endCxn id="19" idx="0"/>
            </p:cNvCxnSpPr>
            <p:nvPr/>
          </p:nvCxnSpPr>
          <p:spPr>
            <a:xfrm flipH="1">
              <a:off x="7822166" y="3587733"/>
              <a:ext cx="716393" cy="665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endCxn id="41" idx="4"/>
            </p:cNvCxnSpPr>
            <p:nvPr/>
          </p:nvCxnSpPr>
          <p:spPr>
            <a:xfrm flipV="1">
              <a:off x="8037521" y="3662432"/>
              <a:ext cx="681377" cy="691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16" idx="5"/>
              <a:endCxn id="19" idx="0"/>
            </p:cNvCxnSpPr>
            <p:nvPr/>
          </p:nvCxnSpPr>
          <p:spPr>
            <a:xfrm>
              <a:off x="7499629" y="3551559"/>
              <a:ext cx="322537" cy="701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stCxn id="19" idx="1"/>
              <a:endCxn id="16" idx="4"/>
            </p:cNvCxnSpPr>
            <p:nvPr/>
          </p:nvCxnSpPr>
          <p:spPr>
            <a:xfrm flipH="1" flipV="1">
              <a:off x="7319291" y="3626258"/>
              <a:ext cx="322536" cy="701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a:stCxn id="16" idx="3"/>
              <a:endCxn id="24" idx="3"/>
            </p:cNvCxnSpPr>
            <p:nvPr/>
          </p:nvCxnSpPr>
          <p:spPr>
            <a:xfrm flipH="1">
              <a:off x="6122226" y="3551559"/>
              <a:ext cx="1016726" cy="766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a:stCxn id="23" idx="7"/>
            </p:cNvCxnSpPr>
            <p:nvPr/>
          </p:nvCxnSpPr>
          <p:spPr>
            <a:xfrm flipV="1">
              <a:off x="6013115" y="3494749"/>
              <a:ext cx="1058040" cy="642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p:nvPr/>
          </p:nvCxnSpPr>
          <p:spPr>
            <a:xfrm flipH="1" flipV="1">
              <a:off x="5624081" y="3227057"/>
              <a:ext cx="1479285" cy="20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28" idx="3"/>
              <a:endCxn id="18" idx="1"/>
            </p:cNvCxnSpPr>
            <p:nvPr/>
          </p:nvCxnSpPr>
          <p:spPr>
            <a:xfrm>
              <a:off x="5660844" y="3345091"/>
              <a:ext cx="1368995" cy="26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a:stCxn id="37" idx="1"/>
            </p:cNvCxnSpPr>
            <p:nvPr/>
          </p:nvCxnSpPr>
          <p:spPr>
            <a:xfrm flipH="1">
              <a:off x="9004959" y="3504510"/>
              <a:ext cx="905888" cy="47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a:stCxn id="14" idx="3"/>
              <a:endCxn id="41" idx="0"/>
            </p:cNvCxnSpPr>
            <p:nvPr/>
          </p:nvCxnSpPr>
          <p:spPr>
            <a:xfrm flipH="1">
              <a:off x="8718898" y="2711215"/>
              <a:ext cx="484247" cy="441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a:stCxn id="36" idx="0"/>
              <a:endCxn id="14" idx="5"/>
            </p:cNvCxnSpPr>
            <p:nvPr/>
          </p:nvCxnSpPr>
          <p:spPr>
            <a:xfrm flipH="1" flipV="1">
              <a:off x="9563822" y="2711215"/>
              <a:ext cx="636477" cy="538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stCxn id="16" idx="3"/>
              <a:endCxn id="34" idx="0"/>
            </p:cNvCxnSpPr>
            <p:nvPr/>
          </p:nvCxnSpPr>
          <p:spPr>
            <a:xfrm flipH="1">
              <a:off x="6688375" y="3551559"/>
              <a:ext cx="450577" cy="14872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a:stCxn id="12" idx="5"/>
              <a:endCxn id="41" idx="1"/>
            </p:cNvCxnSpPr>
            <p:nvPr/>
          </p:nvCxnSpPr>
          <p:spPr>
            <a:xfrm>
              <a:off x="7961801" y="2288397"/>
              <a:ext cx="576758" cy="938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flipH="1">
              <a:off x="4656979" y="3429000"/>
              <a:ext cx="499952" cy="243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a:endCxn id="99" idx="3"/>
            </p:cNvCxnSpPr>
            <p:nvPr/>
          </p:nvCxnSpPr>
          <p:spPr>
            <a:xfrm flipH="1" flipV="1">
              <a:off x="3496147" y="3320698"/>
              <a:ext cx="681094" cy="303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直接箭头连接符 85"/>
            <p:cNvCxnSpPr>
              <a:endCxn id="50" idx="1"/>
            </p:cNvCxnSpPr>
            <p:nvPr/>
          </p:nvCxnSpPr>
          <p:spPr>
            <a:xfrm>
              <a:off x="3427714" y="3525109"/>
              <a:ext cx="668877" cy="294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stCxn id="98" idx="0"/>
              <a:endCxn id="102" idx="4"/>
            </p:cNvCxnSpPr>
            <p:nvPr/>
          </p:nvCxnSpPr>
          <p:spPr>
            <a:xfrm flipH="1" flipV="1">
              <a:off x="2999382" y="2235136"/>
              <a:ext cx="175284" cy="840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a:stCxn id="98" idx="1"/>
              <a:endCxn id="30" idx="3"/>
            </p:cNvCxnSpPr>
            <p:nvPr/>
          </p:nvCxnSpPr>
          <p:spPr>
            <a:xfrm flipH="1" flipV="1">
              <a:off x="2186295" y="2820956"/>
              <a:ext cx="808032" cy="329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stCxn id="29" idx="5"/>
              <a:endCxn id="99" idx="1"/>
            </p:cNvCxnSpPr>
            <p:nvPr/>
          </p:nvCxnSpPr>
          <p:spPr>
            <a:xfrm>
              <a:off x="2077184" y="3001294"/>
              <a:ext cx="775999" cy="319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p:cNvCxnSpPr>
              <a:stCxn id="98" idx="3"/>
              <a:endCxn id="39" idx="0"/>
            </p:cNvCxnSpPr>
            <p:nvPr/>
          </p:nvCxnSpPr>
          <p:spPr>
            <a:xfrm>
              <a:off x="2994327" y="3511368"/>
              <a:ext cx="5055" cy="1095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p:cNvCxnSpPr>
              <a:stCxn id="39" idx="7"/>
              <a:endCxn id="98" idx="4"/>
            </p:cNvCxnSpPr>
            <p:nvPr/>
          </p:nvCxnSpPr>
          <p:spPr>
            <a:xfrm flipH="1" flipV="1">
              <a:off x="3174666" y="3586067"/>
              <a:ext cx="5054" cy="1095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a:stCxn id="49" idx="3"/>
              <a:endCxn id="40" idx="3"/>
            </p:cNvCxnSpPr>
            <p:nvPr/>
          </p:nvCxnSpPr>
          <p:spPr>
            <a:xfrm flipH="1">
              <a:off x="3320863" y="4010574"/>
              <a:ext cx="916872" cy="840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p:cNvCxnSpPr/>
            <p:nvPr/>
          </p:nvCxnSpPr>
          <p:spPr>
            <a:xfrm>
              <a:off x="3116060" y="5167191"/>
              <a:ext cx="463500" cy="399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a:stCxn id="108" idx="0"/>
            </p:cNvCxnSpPr>
            <p:nvPr/>
          </p:nvCxnSpPr>
          <p:spPr>
            <a:xfrm flipH="1" flipV="1">
              <a:off x="3240975" y="5038774"/>
              <a:ext cx="521178" cy="426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a:stCxn id="108" idx="7"/>
              <a:endCxn id="105" idx="1"/>
            </p:cNvCxnSpPr>
            <p:nvPr/>
          </p:nvCxnSpPr>
          <p:spPr>
            <a:xfrm flipV="1">
              <a:off x="3942491" y="5197460"/>
              <a:ext cx="690436" cy="342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a:stCxn id="104" idx="3"/>
              <a:endCxn id="109" idx="3"/>
            </p:cNvCxnSpPr>
            <p:nvPr/>
          </p:nvCxnSpPr>
          <p:spPr>
            <a:xfrm flipH="1">
              <a:off x="4051602" y="5377798"/>
              <a:ext cx="690438" cy="342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p:cNvCxnSpPr>
              <a:stCxn id="45" idx="7"/>
              <a:endCxn id="110" idx="4"/>
            </p:cNvCxnSpPr>
            <p:nvPr/>
          </p:nvCxnSpPr>
          <p:spPr>
            <a:xfrm flipV="1">
              <a:off x="5638136" y="994858"/>
              <a:ext cx="374980" cy="683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 name="文本框 1"/>
          <p:cNvSpPr txBox="1"/>
          <p:nvPr/>
        </p:nvSpPr>
        <p:spPr>
          <a:xfrm>
            <a:off x="293676" y="1441682"/>
            <a:ext cx="1742745" cy="1000402"/>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假设这是中唐诗人间“能直接联系到”关系图</a:t>
            </a:r>
            <a:endParaRPr lang="zh-CN" altLang="en-US" b="1">
              <a:solidFill>
                <a:schemeClr val="accent2">
                  <a:lumMod val="50000"/>
                </a:schemeClr>
              </a:solidFill>
            </a:endParaRPr>
          </a:p>
        </p:txBody>
      </p:sp>
      <p:grpSp>
        <p:nvGrpSpPr>
          <p:cNvPr id="216" name="组合 215"/>
          <p:cNvGrpSpPr/>
          <p:nvPr/>
        </p:nvGrpSpPr>
        <p:grpSpPr>
          <a:xfrm>
            <a:off x="2254816" y="904184"/>
            <a:ext cx="9411286" cy="5490548"/>
            <a:chOff x="1607394" y="484784"/>
            <a:chExt cx="9411286" cy="5490548"/>
          </a:xfrm>
        </p:grpSpPr>
        <p:sp>
          <p:nvSpPr>
            <p:cNvPr id="217" name="椭圆 216"/>
            <p:cNvSpPr/>
            <p:nvPr/>
          </p:nvSpPr>
          <p:spPr>
            <a:xfrm>
              <a:off x="7526425" y="185302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18" name="文本框 217"/>
            <p:cNvSpPr txBox="1"/>
            <p:nvPr/>
          </p:nvSpPr>
          <p:spPr>
            <a:xfrm>
              <a:off x="7492011" y="1954170"/>
              <a:ext cx="578901" cy="307777"/>
            </a:xfrm>
            <a:prstGeom prst="rect">
              <a:avLst/>
            </a:prstGeom>
            <a:noFill/>
          </p:spPr>
          <p:txBody>
            <a:bodyPr wrap="square" rtlCol="0">
              <a:spAutoFit/>
            </a:bodyPr>
            <a:lstStyle/>
            <a:p>
              <a:r>
                <a:rPr lang="zh-CN" altLang="en-US" sz="1400" b="1">
                  <a:solidFill>
                    <a:schemeClr val="bg1"/>
                  </a:solidFill>
                </a:rPr>
                <a:t>李白</a:t>
              </a:r>
              <a:endParaRPr lang="zh-CN" altLang="en-US" sz="1400" b="1">
                <a:solidFill>
                  <a:schemeClr val="bg1"/>
                </a:solidFill>
              </a:endParaRPr>
            </a:p>
          </p:txBody>
        </p:sp>
        <p:sp>
          <p:nvSpPr>
            <p:cNvPr id="219" name="椭圆 218"/>
            <p:cNvSpPr/>
            <p:nvPr/>
          </p:nvSpPr>
          <p:spPr>
            <a:xfrm>
              <a:off x="9128446" y="2275840"/>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20" name="文本框 219"/>
            <p:cNvSpPr txBox="1"/>
            <p:nvPr/>
          </p:nvSpPr>
          <p:spPr>
            <a:xfrm>
              <a:off x="9062001" y="2382045"/>
              <a:ext cx="642964" cy="276999"/>
            </a:xfrm>
            <a:prstGeom prst="rect">
              <a:avLst/>
            </a:prstGeom>
            <a:noFill/>
          </p:spPr>
          <p:txBody>
            <a:bodyPr wrap="square" rtlCol="0">
              <a:spAutoFit/>
            </a:bodyPr>
            <a:lstStyle/>
            <a:p>
              <a:r>
                <a:rPr lang="zh-CN" altLang="en-US" sz="1200" b="1">
                  <a:solidFill>
                    <a:schemeClr val="bg1"/>
                  </a:solidFill>
                </a:rPr>
                <a:t>孟浩然</a:t>
              </a:r>
              <a:endParaRPr lang="zh-CN" altLang="en-US" sz="1200" b="1">
                <a:solidFill>
                  <a:schemeClr val="bg1"/>
                </a:solidFill>
              </a:endParaRPr>
            </a:p>
          </p:txBody>
        </p:sp>
        <p:sp>
          <p:nvSpPr>
            <p:cNvPr id="221" name="椭圆 220"/>
            <p:cNvSpPr/>
            <p:nvPr/>
          </p:nvSpPr>
          <p:spPr>
            <a:xfrm>
              <a:off x="7064253" y="3116184"/>
              <a:ext cx="510075" cy="510074"/>
            </a:xfrm>
            <a:prstGeom prst="ellipse">
              <a:avLst/>
            </a:prstGeom>
            <a:solidFill>
              <a:srgbClr val="FFC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22" name="文本框 221"/>
            <p:cNvSpPr txBox="1"/>
            <p:nvPr/>
          </p:nvSpPr>
          <p:spPr>
            <a:xfrm>
              <a:off x="7029839" y="3217332"/>
              <a:ext cx="578901" cy="307777"/>
            </a:xfrm>
            <a:prstGeom prst="rect">
              <a:avLst/>
            </a:prstGeom>
            <a:noFill/>
          </p:spPr>
          <p:txBody>
            <a:bodyPr wrap="square" rtlCol="0">
              <a:spAutoFit/>
            </a:bodyPr>
            <a:lstStyle/>
            <a:p>
              <a:r>
                <a:rPr lang="zh-CN" altLang="en-US" sz="1400" b="1">
                  <a:solidFill>
                    <a:schemeClr val="bg1"/>
                  </a:solidFill>
                </a:rPr>
                <a:t>杜甫</a:t>
              </a:r>
              <a:endParaRPr lang="zh-CN" altLang="en-US" sz="1400" b="1">
                <a:solidFill>
                  <a:schemeClr val="bg1"/>
                </a:solidFill>
              </a:endParaRPr>
            </a:p>
          </p:txBody>
        </p:sp>
        <p:sp>
          <p:nvSpPr>
            <p:cNvPr id="223" name="椭圆 222"/>
            <p:cNvSpPr/>
            <p:nvPr/>
          </p:nvSpPr>
          <p:spPr>
            <a:xfrm>
              <a:off x="7567128" y="4253248"/>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24" name="文本框 223"/>
            <p:cNvSpPr txBox="1"/>
            <p:nvPr/>
          </p:nvSpPr>
          <p:spPr>
            <a:xfrm>
              <a:off x="7532714" y="4354396"/>
              <a:ext cx="578901" cy="307777"/>
            </a:xfrm>
            <a:prstGeom prst="rect">
              <a:avLst/>
            </a:prstGeom>
            <a:noFill/>
          </p:spPr>
          <p:txBody>
            <a:bodyPr wrap="square" rtlCol="0">
              <a:spAutoFit/>
            </a:bodyPr>
            <a:lstStyle/>
            <a:p>
              <a:r>
                <a:rPr lang="zh-CN" altLang="en-US" sz="1400" b="1">
                  <a:solidFill>
                    <a:schemeClr val="bg1"/>
                  </a:solidFill>
                </a:rPr>
                <a:t>高适</a:t>
              </a:r>
              <a:endParaRPr lang="zh-CN" altLang="en-US" sz="1400" b="1">
                <a:solidFill>
                  <a:schemeClr val="bg1"/>
                </a:solidFill>
              </a:endParaRPr>
            </a:p>
          </p:txBody>
        </p:sp>
        <p:sp>
          <p:nvSpPr>
            <p:cNvPr id="225" name="椭圆 224"/>
            <p:cNvSpPr/>
            <p:nvPr/>
          </p:nvSpPr>
          <p:spPr>
            <a:xfrm>
              <a:off x="8798928" y="113113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26" name="文本框 225"/>
            <p:cNvSpPr txBox="1"/>
            <p:nvPr/>
          </p:nvSpPr>
          <p:spPr>
            <a:xfrm>
              <a:off x="8786862" y="1245433"/>
              <a:ext cx="578901" cy="307777"/>
            </a:xfrm>
            <a:prstGeom prst="rect">
              <a:avLst/>
            </a:prstGeom>
            <a:noFill/>
          </p:spPr>
          <p:txBody>
            <a:bodyPr wrap="square" rtlCol="0">
              <a:spAutoFit/>
            </a:bodyPr>
            <a:lstStyle/>
            <a:p>
              <a:r>
                <a:rPr lang="zh-CN" altLang="en-US" sz="1400" b="1">
                  <a:solidFill>
                    <a:schemeClr val="bg1"/>
                  </a:solidFill>
                </a:rPr>
                <a:t>张旭</a:t>
              </a:r>
              <a:endParaRPr lang="zh-CN" altLang="en-US" sz="1400" b="1">
                <a:solidFill>
                  <a:schemeClr val="bg1"/>
                </a:solidFill>
              </a:endParaRPr>
            </a:p>
          </p:txBody>
        </p:sp>
        <p:sp>
          <p:nvSpPr>
            <p:cNvPr id="227" name="椭圆 226"/>
            <p:cNvSpPr/>
            <p:nvPr/>
          </p:nvSpPr>
          <p:spPr>
            <a:xfrm>
              <a:off x="5577739" y="406257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28" name="文本框 227"/>
            <p:cNvSpPr txBox="1"/>
            <p:nvPr/>
          </p:nvSpPr>
          <p:spPr>
            <a:xfrm>
              <a:off x="5543325" y="4163720"/>
              <a:ext cx="578901" cy="307777"/>
            </a:xfrm>
            <a:prstGeom prst="rect">
              <a:avLst/>
            </a:prstGeom>
            <a:noFill/>
          </p:spPr>
          <p:txBody>
            <a:bodyPr wrap="square" rtlCol="0">
              <a:spAutoFit/>
            </a:bodyPr>
            <a:lstStyle/>
            <a:p>
              <a:r>
                <a:rPr lang="zh-CN" altLang="en-US" sz="1400" b="1">
                  <a:solidFill>
                    <a:schemeClr val="bg1"/>
                  </a:solidFill>
                </a:rPr>
                <a:t>严武</a:t>
              </a:r>
              <a:endParaRPr lang="zh-CN" altLang="en-US" sz="1400" b="1">
                <a:solidFill>
                  <a:schemeClr val="bg1"/>
                </a:solidFill>
              </a:endParaRPr>
            </a:p>
          </p:txBody>
        </p:sp>
        <p:grpSp>
          <p:nvGrpSpPr>
            <p:cNvPr id="229" name="组合 228"/>
            <p:cNvGrpSpPr/>
            <p:nvPr/>
          </p:nvGrpSpPr>
          <p:grpSpPr>
            <a:xfrm>
              <a:off x="6526666" y="1386169"/>
              <a:ext cx="578901" cy="510074"/>
              <a:chOff x="5414662" y="261257"/>
              <a:chExt cx="578901" cy="510074"/>
            </a:xfrm>
          </p:grpSpPr>
          <p:sp>
            <p:nvSpPr>
              <p:cNvPr id="316" name="椭圆 315"/>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17" name="文本框 316"/>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苏颋</a:t>
                </a:r>
                <a:endParaRPr lang="zh-CN" altLang="en-US" sz="1400" b="1">
                  <a:solidFill>
                    <a:schemeClr val="bg1"/>
                  </a:solidFill>
                </a:endParaRPr>
              </a:p>
            </p:txBody>
          </p:sp>
        </p:grpSp>
        <p:grpSp>
          <p:nvGrpSpPr>
            <p:cNvPr id="230" name="组合 229"/>
            <p:cNvGrpSpPr/>
            <p:nvPr/>
          </p:nvGrpSpPr>
          <p:grpSpPr>
            <a:xfrm>
              <a:off x="5723664" y="484784"/>
              <a:ext cx="578901" cy="510074"/>
              <a:chOff x="5414662" y="261257"/>
              <a:chExt cx="578901" cy="510074"/>
            </a:xfrm>
          </p:grpSpPr>
          <p:sp>
            <p:nvSpPr>
              <p:cNvPr id="314" name="椭圆 313"/>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15" name="文本框 314"/>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张说</a:t>
                </a:r>
                <a:endParaRPr lang="zh-CN" altLang="en-US" sz="1400" b="1">
                  <a:solidFill>
                    <a:schemeClr val="bg1"/>
                  </a:solidFill>
                </a:endParaRPr>
              </a:p>
            </p:txBody>
          </p:sp>
        </p:grpSp>
        <p:sp>
          <p:nvSpPr>
            <p:cNvPr id="231" name="椭圆 230"/>
            <p:cNvSpPr/>
            <p:nvPr/>
          </p:nvSpPr>
          <p:spPr>
            <a:xfrm>
              <a:off x="5116357" y="3090054"/>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32" name="文本框 231"/>
            <p:cNvSpPr txBox="1"/>
            <p:nvPr/>
          </p:nvSpPr>
          <p:spPr>
            <a:xfrm>
              <a:off x="5081943" y="3191202"/>
              <a:ext cx="578901" cy="307777"/>
            </a:xfrm>
            <a:prstGeom prst="rect">
              <a:avLst/>
            </a:prstGeom>
            <a:noFill/>
          </p:spPr>
          <p:txBody>
            <a:bodyPr wrap="square" rtlCol="0">
              <a:spAutoFit/>
            </a:bodyPr>
            <a:lstStyle/>
            <a:p>
              <a:r>
                <a:rPr lang="zh-CN" altLang="en-US" sz="1400" b="1">
                  <a:solidFill>
                    <a:schemeClr val="bg1"/>
                  </a:solidFill>
                </a:rPr>
                <a:t>岑参</a:t>
              </a:r>
              <a:endParaRPr lang="zh-CN" altLang="en-US" sz="1400" b="1">
                <a:solidFill>
                  <a:schemeClr val="bg1"/>
                </a:solidFill>
              </a:endParaRPr>
            </a:p>
          </p:txBody>
        </p:sp>
        <p:sp>
          <p:nvSpPr>
            <p:cNvPr id="233" name="椭圆 232"/>
            <p:cNvSpPr/>
            <p:nvPr/>
          </p:nvSpPr>
          <p:spPr>
            <a:xfrm>
              <a:off x="1641808" y="2565919"/>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34" name="文本框 233"/>
            <p:cNvSpPr txBox="1"/>
            <p:nvPr/>
          </p:nvSpPr>
          <p:spPr>
            <a:xfrm>
              <a:off x="1607394" y="2667067"/>
              <a:ext cx="578901" cy="307777"/>
            </a:xfrm>
            <a:prstGeom prst="rect">
              <a:avLst/>
            </a:prstGeom>
            <a:noFill/>
          </p:spPr>
          <p:txBody>
            <a:bodyPr wrap="square" rtlCol="0">
              <a:spAutoFit/>
            </a:bodyPr>
            <a:lstStyle/>
            <a:p>
              <a:r>
                <a:rPr lang="zh-CN" altLang="en-US" sz="1400" b="1">
                  <a:solidFill>
                    <a:schemeClr val="bg1"/>
                  </a:solidFill>
                </a:rPr>
                <a:t>张谓</a:t>
              </a:r>
              <a:endParaRPr lang="zh-CN" altLang="en-US" sz="1400" b="1">
                <a:solidFill>
                  <a:schemeClr val="bg1"/>
                </a:solidFill>
              </a:endParaRPr>
            </a:p>
          </p:txBody>
        </p:sp>
        <p:grpSp>
          <p:nvGrpSpPr>
            <p:cNvPr id="235" name="组合 234"/>
            <p:cNvGrpSpPr/>
            <p:nvPr/>
          </p:nvGrpSpPr>
          <p:grpSpPr>
            <a:xfrm>
              <a:off x="3472701" y="5465258"/>
              <a:ext cx="578901" cy="510074"/>
              <a:chOff x="5414662" y="261257"/>
              <a:chExt cx="578901" cy="510074"/>
            </a:xfrm>
          </p:grpSpPr>
          <p:sp>
            <p:nvSpPr>
              <p:cNvPr id="312" name="椭圆 311"/>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13" name="文本框 312"/>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张继</a:t>
                </a:r>
                <a:endParaRPr lang="zh-CN" altLang="en-US" sz="1400" b="1">
                  <a:solidFill>
                    <a:schemeClr val="bg1"/>
                  </a:solidFill>
                </a:endParaRPr>
              </a:p>
            </p:txBody>
          </p:sp>
        </p:grpSp>
        <p:grpSp>
          <p:nvGrpSpPr>
            <p:cNvPr id="236" name="组合 235"/>
            <p:cNvGrpSpPr/>
            <p:nvPr/>
          </p:nvGrpSpPr>
          <p:grpSpPr>
            <a:xfrm>
              <a:off x="8648130" y="4802908"/>
              <a:ext cx="578901" cy="510074"/>
              <a:chOff x="5414662" y="261257"/>
              <a:chExt cx="578901" cy="510074"/>
            </a:xfrm>
          </p:grpSpPr>
          <p:sp>
            <p:nvSpPr>
              <p:cNvPr id="310" name="椭圆 309"/>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11" name="文本框 310"/>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钱起</a:t>
                </a:r>
                <a:endParaRPr lang="zh-CN" altLang="en-US" sz="1400" b="1">
                  <a:solidFill>
                    <a:schemeClr val="bg1"/>
                  </a:solidFill>
                </a:endParaRPr>
              </a:p>
            </p:txBody>
          </p:sp>
        </p:grpSp>
        <p:grpSp>
          <p:nvGrpSpPr>
            <p:cNvPr id="237" name="组合 236"/>
            <p:cNvGrpSpPr/>
            <p:nvPr/>
          </p:nvGrpSpPr>
          <p:grpSpPr>
            <a:xfrm>
              <a:off x="4632927" y="4942423"/>
              <a:ext cx="578901" cy="510074"/>
              <a:chOff x="5414662" y="261257"/>
              <a:chExt cx="578901" cy="510074"/>
            </a:xfrm>
          </p:grpSpPr>
          <p:sp>
            <p:nvSpPr>
              <p:cNvPr id="308" name="椭圆 307"/>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09" name="文本框 308"/>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韩翃</a:t>
                </a:r>
                <a:endParaRPr lang="zh-CN" altLang="en-US" sz="1400" b="1">
                  <a:solidFill>
                    <a:schemeClr val="bg1"/>
                  </a:solidFill>
                </a:endParaRPr>
              </a:p>
            </p:txBody>
          </p:sp>
        </p:grpSp>
        <p:sp>
          <p:nvSpPr>
            <p:cNvPr id="238" name="椭圆 237"/>
            <p:cNvSpPr/>
            <p:nvPr/>
          </p:nvSpPr>
          <p:spPr>
            <a:xfrm>
              <a:off x="6433337" y="503877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39" name="文本框 238"/>
            <p:cNvSpPr txBox="1"/>
            <p:nvPr/>
          </p:nvSpPr>
          <p:spPr>
            <a:xfrm>
              <a:off x="6398923" y="5139920"/>
              <a:ext cx="578901" cy="307777"/>
            </a:xfrm>
            <a:prstGeom prst="rect">
              <a:avLst/>
            </a:prstGeom>
            <a:noFill/>
          </p:spPr>
          <p:txBody>
            <a:bodyPr wrap="square" rtlCol="0">
              <a:spAutoFit/>
            </a:bodyPr>
            <a:lstStyle/>
            <a:p>
              <a:r>
                <a:rPr lang="zh-CN" altLang="en-US" sz="1400" b="1">
                  <a:solidFill>
                    <a:schemeClr val="bg1"/>
                  </a:solidFill>
                </a:rPr>
                <a:t>薛稷</a:t>
              </a:r>
              <a:endParaRPr lang="zh-CN" altLang="en-US" sz="1400" b="1">
                <a:solidFill>
                  <a:schemeClr val="bg1"/>
                </a:solidFill>
              </a:endParaRPr>
            </a:p>
          </p:txBody>
        </p:sp>
        <p:sp>
          <p:nvSpPr>
            <p:cNvPr id="240" name="椭圆 239"/>
            <p:cNvSpPr/>
            <p:nvPr/>
          </p:nvSpPr>
          <p:spPr>
            <a:xfrm>
              <a:off x="9945261" y="3249473"/>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41" name="文本框 240"/>
            <p:cNvSpPr txBox="1"/>
            <p:nvPr/>
          </p:nvSpPr>
          <p:spPr>
            <a:xfrm>
              <a:off x="9910847" y="3350621"/>
              <a:ext cx="578901" cy="307777"/>
            </a:xfrm>
            <a:prstGeom prst="rect">
              <a:avLst/>
            </a:prstGeom>
            <a:noFill/>
          </p:spPr>
          <p:txBody>
            <a:bodyPr wrap="square" rtlCol="0">
              <a:spAutoFit/>
            </a:bodyPr>
            <a:lstStyle/>
            <a:p>
              <a:r>
                <a:rPr lang="zh-CN" altLang="en-US" sz="1400" b="1">
                  <a:solidFill>
                    <a:schemeClr val="bg1"/>
                  </a:solidFill>
                </a:rPr>
                <a:t>王维</a:t>
              </a:r>
              <a:endParaRPr lang="zh-CN" altLang="en-US" sz="1400" b="1">
                <a:solidFill>
                  <a:schemeClr val="bg1"/>
                </a:solidFill>
              </a:endParaRPr>
            </a:p>
          </p:txBody>
        </p:sp>
        <p:grpSp>
          <p:nvGrpSpPr>
            <p:cNvPr id="242" name="组合 241"/>
            <p:cNvGrpSpPr/>
            <p:nvPr/>
          </p:nvGrpSpPr>
          <p:grpSpPr>
            <a:xfrm>
              <a:off x="2677899" y="1725062"/>
              <a:ext cx="642964" cy="510074"/>
              <a:chOff x="5382631" y="261257"/>
              <a:chExt cx="642964" cy="510074"/>
            </a:xfrm>
          </p:grpSpPr>
          <p:sp>
            <p:nvSpPr>
              <p:cNvPr id="306" name="椭圆 305"/>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07" name="文本框 306"/>
              <p:cNvSpPr txBox="1"/>
              <p:nvPr/>
            </p:nvSpPr>
            <p:spPr>
              <a:xfrm>
                <a:off x="5382631" y="367462"/>
                <a:ext cx="642964" cy="276999"/>
              </a:xfrm>
              <a:prstGeom prst="rect">
                <a:avLst/>
              </a:prstGeom>
              <a:noFill/>
            </p:spPr>
            <p:txBody>
              <a:bodyPr wrap="square" rtlCol="0">
                <a:spAutoFit/>
              </a:bodyPr>
              <a:lstStyle/>
              <a:p>
                <a:r>
                  <a:rPr lang="zh-CN" altLang="en-US" sz="1200" b="1">
                    <a:solidFill>
                      <a:schemeClr val="bg1"/>
                    </a:solidFill>
                  </a:rPr>
                  <a:t>刘方平</a:t>
                </a:r>
                <a:endParaRPr lang="zh-CN" altLang="en-US" sz="1200" b="1">
                  <a:solidFill>
                    <a:schemeClr val="bg1"/>
                  </a:solidFill>
                </a:endParaRPr>
              </a:p>
            </p:txBody>
          </p:sp>
        </p:grpSp>
        <p:sp>
          <p:nvSpPr>
            <p:cNvPr id="243" name="椭圆 242"/>
            <p:cNvSpPr/>
            <p:nvPr/>
          </p:nvSpPr>
          <p:spPr>
            <a:xfrm>
              <a:off x="2744344" y="460661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44" name="文本框 243"/>
            <p:cNvSpPr txBox="1"/>
            <p:nvPr/>
          </p:nvSpPr>
          <p:spPr>
            <a:xfrm>
              <a:off x="2677899" y="4712817"/>
              <a:ext cx="642964" cy="276999"/>
            </a:xfrm>
            <a:prstGeom prst="rect">
              <a:avLst/>
            </a:prstGeom>
            <a:noFill/>
          </p:spPr>
          <p:txBody>
            <a:bodyPr wrap="square" rtlCol="0">
              <a:spAutoFit/>
            </a:bodyPr>
            <a:lstStyle/>
            <a:p>
              <a:r>
                <a:rPr lang="zh-CN" altLang="en-US" sz="1200" b="1">
                  <a:solidFill>
                    <a:schemeClr val="bg1"/>
                  </a:solidFill>
                </a:rPr>
                <a:t>皇甫冉</a:t>
              </a:r>
              <a:endParaRPr lang="zh-CN" altLang="en-US" sz="1200" b="1">
                <a:solidFill>
                  <a:schemeClr val="bg1"/>
                </a:solidFill>
              </a:endParaRPr>
            </a:p>
          </p:txBody>
        </p:sp>
        <p:sp>
          <p:nvSpPr>
            <p:cNvPr id="245" name="椭圆 244"/>
            <p:cNvSpPr/>
            <p:nvPr/>
          </p:nvSpPr>
          <p:spPr>
            <a:xfrm>
              <a:off x="8463860" y="3152358"/>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46" name="文本框 245"/>
            <p:cNvSpPr txBox="1"/>
            <p:nvPr/>
          </p:nvSpPr>
          <p:spPr>
            <a:xfrm>
              <a:off x="8397595" y="3227511"/>
              <a:ext cx="642964" cy="276999"/>
            </a:xfrm>
            <a:prstGeom prst="rect">
              <a:avLst/>
            </a:prstGeom>
            <a:noFill/>
          </p:spPr>
          <p:txBody>
            <a:bodyPr wrap="square" rtlCol="0">
              <a:spAutoFit/>
            </a:bodyPr>
            <a:lstStyle/>
            <a:p>
              <a:r>
                <a:rPr lang="zh-CN" altLang="en-US" sz="1200" b="1">
                  <a:solidFill>
                    <a:schemeClr val="bg1"/>
                  </a:solidFill>
                </a:rPr>
                <a:t>王昌龄</a:t>
              </a:r>
              <a:endParaRPr lang="zh-CN" altLang="en-US" sz="1200" b="1">
                <a:solidFill>
                  <a:schemeClr val="bg1"/>
                </a:solidFill>
              </a:endParaRPr>
            </a:p>
          </p:txBody>
        </p:sp>
        <p:grpSp>
          <p:nvGrpSpPr>
            <p:cNvPr id="247" name="组合 246"/>
            <p:cNvGrpSpPr/>
            <p:nvPr/>
          </p:nvGrpSpPr>
          <p:grpSpPr>
            <a:xfrm>
              <a:off x="10375716" y="4657117"/>
              <a:ext cx="642964" cy="510074"/>
              <a:chOff x="5382631" y="261257"/>
              <a:chExt cx="642964" cy="510074"/>
            </a:xfrm>
          </p:grpSpPr>
          <p:sp>
            <p:nvSpPr>
              <p:cNvPr id="304" name="椭圆 303"/>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05" name="文本框 304"/>
              <p:cNvSpPr txBox="1"/>
              <p:nvPr/>
            </p:nvSpPr>
            <p:spPr>
              <a:xfrm>
                <a:off x="5382631" y="367462"/>
                <a:ext cx="642964" cy="276999"/>
              </a:xfrm>
              <a:prstGeom prst="rect">
                <a:avLst/>
              </a:prstGeom>
              <a:noFill/>
            </p:spPr>
            <p:txBody>
              <a:bodyPr wrap="square" rtlCol="0">
                <a:spAutoFit/>
              </a:bodyPr>
              <a:lstStyle/>
              <a:p>
                <a:r>
                  <a:rPr lang="zh-CN" altLang="en-US" sz="1200" b="1">
                    <a:solidFill>
                      <a:schemeClr val="bg1"/>
                    </a:solidFill>
                  </a:rPr>
                  <a:t>储光义</a:t>
                </a:r>
                <a:endParaRPr lang="zh-CN" altLang="en-US" sz="1200" b="1">
                  <a:solidFill>
                    <a:schemeClr val="bg1"/>
                  </a:solidFill>
                </a:endParaRPr>
              </a:p>
            </p:txBody>
          </p:sp>
        </p:grpSp>
        <p:grpSp>
          <p:nvGrpSpPr>
            <p:cNvPr id="248" name="组合 247"/>
            <p:cNvGrpSpPr/>
            <p:nvPr/>
          </p:nvGrpSpPr>
          <p:grpSpPr>
            <a:xfrm>
              <a:off x="2853183" y="3075993"/>
              <a:ext cx="642964" cy="510074"/>
              <a:chOff x="5382631" y="261257"/>
              <a:chExt cx="642964" cy="510074"/>
            </a:xfrm>
          </p:grpSpPr>
          <p:sp>
            <p:nvSpPr>
              <p:cNvPr id="302" name="椭圆 301"/>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03" name="文本框 302"/>
              <p:cNvSpPr txBox="1"/>
              <p:nvPr/>
            </p:nvSpPr>
            <p:spPr>
              <a:xfrm>
                <a:off x="5382631" y="367462"/>
                <a:ext cx="642964" cy="276999"/>
              </a:xfrm>
              <a:prstGeom prst="rect">
                <a:avLst/>
              </a:prstGeom>
              <a:noFill/>
            </p:spPr>
            <p:txBody>
              <a:bodyPr wrap="square" rtlCol="0">
                <a:spAutoFit/>
              </a:bodyPr>
              <a:lstStyle/>
              <a:p>
                <a:r>
                  <a:rPr lang="zh-CN" altLang="en-US" sz="1200" b="1">
                    <a:solidFill>
                      <a:schemeClr val="bg1"/>
                    </a:solidFill>
                  </a:rPr>
                  <a:t>刘长卿</a:t>
                </a:r>
                <a:endParaRPr lang="zh-CN" altLang="en-US" sz="1200" b="1">
                  <a:solidFill>
                    <a:schemeClr val="bg1"/>
                  </a:solidFill>
                </a:endParaRPr>
              </a:p>
            </p:txBody>
          </p:sp>
        </p:grpSp>
        <p:sp>
          <p:nvSpPr>
            <p:cNvPr id="249" name="椭圆 248"/>
            <p:cNvSpPr/>
            <p:nvPr/>
          </p:nvSpPr>
          <p:spPr>
            <a:xfrm>
              <a:off x="5202760" y="1603225"/>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50" name="文本框 249"/>
            <p:cNvSpPr txBox="1"/>
            <p:nvPr/>
          </p:nvSpPr>
          <p:spPr>
            <a:xfrm>
              <a:off x="5136315" y="1709430"/>
              <a:ext cx="642964" cy="276999"/>
            </a:xfrm>
            <a:prstGeom prst="rect">
              <a:avLst/>
            </a:prstGeom>
            <a:noFill/>
          </p:spPr>
          <p:txBody>
            <a:bodyPr wrap="square" rtlCol="0">
              <a:spAutoFit/>
            </a:bodyPr>
            <a:lstStyle/>
            <a:p>
              <a:r>
                <a:rPr lang="zh-CN" altLang="en-US" sz="1200" b="1">
                  <a:solidFill>
                    <a:schemeClr val="bg1"/>
                  </a:solidFill>
                </a:rPr>
                <a:t>张九龄</a:t>
              </a:r>
              <a:endParaRPr lang="zh-CN" altLang="en-US" sz="1200" b="1">
                <a:solidFill>
                  <a:schemeClr val="bg1"/>
                </a:solidFill>
              </a:endParaRPr>
            </a:p>
          </p:txBody>
        </p:sp>
        <p:sp>
          <p:nvSpPr>
            <p:cNvPr id="251" name="椭圆 250"/>
            <p:cNvSpPr/>
            <p:nvPr/>
          </p:nvSpPr>
          <p:spPr>
            <a:xfrm>
              <a:off x="10162527" y="1357985"/>
              <a:ext cx="510075" cy="538258"/>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52" name="文本框 251"/>
            <p:cNvSpPr txBox="1"/>
            <p:nvPr/>
          </p:nvSpPr>
          <p:spPr>
            <a:xfrm>
              <a:off x="10096082" y="1470058"/>
              <a:ext cx="642964" cy="276999"/>
            </a:xfrm>
            <a:prstGeom prst="rect">
              <a:avLst/>
            </a:prstGeom>
            <a:noFill/>
          </p:spPr>
          <p:txBody>
            <a:bodyPr wrap="square" rtlCol="0">
              <a:spAutoFit/>
            </a:bodyPr>
            <a:lstStyle/>
            <a:p>
              <a:r>
                <a:rPr lang="zh-CN" altLang="en-US" sz="1200" b="1">
                  <a:solidFill>
                    <a:schemeClr val="bg1"/>
                  </a:solidFill>
                </a:rPr>
                <a:t>崔国辅</a:t>
              </a:r>
              <a:endParaRPr lang="zh-CN" altLang="en-US" sz="1200" b="1">
                <a:solidFill>
                  <a:schemeClr val="bg1"/>
                </a:solidFill>
              </a:endParaRPr>
            </a:p>
          </p:txBody>
        </p:sp>
        <p:sp>
          <p:nvSpPr>
            <p:cNvPr id="253" name="椭圆 252"/>
            <p:cNvSpPr/>
            <p:nvPr/>
          </p:nvSpPr>
          <p:spPr>
            <a:xfrm>
              <a:off x="4163036" y="3575199"/>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54" name="文本框 253"/>
            <p:cNvSpPr txBox="1"/>
            <p:nvPr/>
          </p:nvSpPr>
          <p:spPr>
            <a:xfrm>
              <a:off x="4096591" y="3681404"/>
              <a:ext cx="642964" cy="276999"/>
            </a:xfrm>
            <a:prstGeom prst="rect">
              <a:avLst/>
            </a:prstGeom>
            <a:noFill/>
          </p:spPr>
          <p:txBody>
            <a:bodyPr wrap="square" rtlCol="0">
              <a:spAutoFit/>
            </a:bodyPr>
            <a:lstStyle/>
            <a:p>
              <a:r>
                <a:rPr lang="zh-CN" altLang="en-US" sz="1200" b="1">
                  <a:solidFill>
                    <a:schemeClr val="bg1"/>
                  </a:solidFill>
                </a:rPr>
                <a:t>李嘉祐</a:t>
              </a:r>
              <a:endParaRPr lang="zh-CN" altLang="en-US" sz="1200" b="1">
                <a:solidFill>
                  <a:schemeClr val="bg1"/>
                </a:solidFill>
              </a:endParaRPr>
            </a:p>
          </p:txBody>
        </p:sp>
        <p:sp>
          <p:nvSpPr>
            <p:cNvPr id="255" name="椭圆 254"/>
            <p:cNvSpPr/>
            <p:nvPr/>
          </p:nvSpPr>
          <p:spPr>
            <a:xfrm>
              <a:off x="7453814" y="596425"/>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256" name="文本框 255"/>
            <p:cNvSpPr txBox="1"/>
            <p:nvPr/>
          </p:nvSpPr>
          <p:spPr>
            <a:xfrm>
              <a:off x="7387369" y="702630"/>
              <a:ext cx="642964" cy="276999"/>
            </a:xfrm>
            <a:prstGeom prst="rect">
              <a:avLst/>
            </a:prstGeom>
            <a:noFill/>
          </p:spPr>
          <p:txBody>
            <a:bodyPr wrap="square" rtlCol="0">
              <a:spAutoFit/>
            </a:bodyPr>
            <a:lstStyle/>
            <a:p>
              <a:r>
                <a:rPr lang="zh-CN" altLang="en-US" sz="1200" b="1">
                  <a:solidFill>
                    <a:schemeClr val="bg1"/>
                  </a:solidFill>
                </a:rPr>
                <a:t>贺知章</a:t>
              </a:r>
              <a:endParaRPr lang="zh-CN" altLang="en-US" sz="1200" b="1">
                <a:solidFill>
                  <a:schemeClr val="bg1"/>
                </a:solidFill>
              </a:endParaRPr>
            </a:p>
          </p:txBody>
        </p:sp>
        <p:cxnSp>
          <p:nvCxnSpPr>
            <p:cNvPr id="257" name="直接箭头连接符 256"/>
            <p:cNvCxnSpPr>
              <a:stCxn id="256" idx="1"/>
              <a:endCxn id="315" idx="3"/>
            </p:cNvCxnSpPr>
            <p:nvPr/>
          </p:nvCxnSpPr>
          <p:spPr>
            <a:xfrm flipH="1" flipV="1">
              <a:off x="6302565" y="739821"/>
              <a:ext cx="1084804" cy="101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8" name="直接箭头连接符 257"/>
            <p:cNvCxnSpPr>
              <a:stCxn id="316" idx="1"/>
            </p:cNvCxnSpPr>
            <p:nvPr/>
          </p:nvCxnSpPr>
          <p:spPr>
            <a:xfrm flipH="1" flipV="1">
              <a:off x="6219325" y="957646"/>
              <a:ext cx="416454" cy="503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9" name="直接箭头连接符 258"/>
            <p:cNvCxnSpPr/>
            <p:nvPr/>
          </p:nvCxnSpPr>
          <p:spPr>
            <a:xfrm>
              <a:off x="7043753" y="1778323"/>
              <a:ext cx="509179" cy="21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0" name="直接箭头连接符 259"/>
            <p:cNvCxnSpPr>
              <a:stCxn id="314" idx="3"/>
              <a:endCxn id="249" idx="0"/>
            </p:cNvCxnSpPr>
            <p:nvPr/>
          </p:nvCxnSpPr>
          <p:spPr>
            <a:xfrm flipH="1">
              <a:off x="5457798" y="920159"/>
              <a:ext cx="374979" cy="683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1" name="直接箭头连接符 260"/>
            <p:cNvCxnSpPr>
              <a:stCxn id="217" idx="0"/>
              <a:endCxn id="255" idx="4"/>
            </p:cNvCxnSpPr>
            <p:nvPr/>
          </p:nvCxnSpPr>
          <p:spPr>
            <a:xfrm flipH="1" flipV="1">
              <a:off x="7708852" y="1106499"/>
              <a:ext cx="72611" cy="7465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2" name="直接箭头连接符 261"/>
            <p:cNvCxnSpPr>
              <a:stCxn id="217" idx="7"/>
              <a:endCxn id="226" idx="1"/>
            </p:cNvCxnSpPr>
            <p:nvPr/>
          </p:nvCxnSpPr>
          <p:spPr>
            <a:xfrm flipV="1">
              <a:off x="7961801" y="1399322"/>
              <a:ext cx="825061" cy="528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3" name="直接箭头连接符 262"/>
            <p:cNvCxnSpPr>
              <a:stCxn id="218" idx="3"/>
              <a:endCxn id="219" idx="1"/>
            </p:cNvCxnSpPr>
            <p:nvPr/>
          </p:nvCxnSpPr>
          <p:spPr>
            <a:xfrm>
              <a:off x="8070912" y="2108059"/>
              <a:ext cx="1132233" cy="242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4" name="直接箭头连接符 263"/>
            <p:cNvCxnSpPr>
              <a:stCxn id="217" idx="3"/>
              <a:endCxn id="221" idx="0"/>
            </p:cNvCxnSpPr>
            <p:nvPr/>
          </p:nvCxnSpPr>
          <p:spPr>
            <a:xfrm flipH="1">
              <a:off x="7319291" y="2288397"/>
              <a:ext cx="281833" cy="827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5" name="直接箭头连接符 264"/>
            <p:cNvCxnSpPr>
              <a:stCxn id="221" idx="7"/>
              <a:endCxn id="217" idx="4"/>
            </p:cNvCxnSpPr>
            <p:nvPr/>
          </p:nvCxnSpPr>
          <p:spPr>
            <a:xfrm flipV="1">
              <a:off x="7499629" y="2363096"/>
              <a:ext cx="281834" cy="827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6" name="直接箭头连接符 265"/>
            <p:cNvCxnSpPr>
              <a:stCxn id="221" idx="7"/>
              <a:endCxn id="225" idx="3"/>
            </p:cNvCxnSpPr>
            <p:nvPr/>
          </p:nvCxnSpPr>
          <p:spPr>
            <a:xfrm flipV="1">
              <a:off x="7499629" y="1566507"/>
              <a:ext cx="1373998" cy="1624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7" name="直接箭头连接符 266"/>
            <p:cNvCxnSpPr>
              <a:endCxn id="220" idx="1"/>
            </p:cNvCxnSpPr>
            <p:nvPr/>
          </p:nvCxnSpPr>
          <p:spPr>
            <a:xfrm flipV="1">
              <a:off x="7608740" y="2520545"/>
              <a:ext cx="1453261" cy="7270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8" name="直接箭头连接符 267"/>
            <p:cNvCxnSpPr>
              <a:stCxn id="219" idx="7"/>
              <a:endCxn id="251" idx="3"/>
            </p:cNvCxnSpPr>
            <p:nvPr/>
          </p:nvCxnSpPr>
          <p:spPr>
            <a:xfrm flipV="1">
              <a:off x="9563822" y="1817417"/>
              <a:ext cx="673404" cy="53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9" name="直接箭头连接符 268"/>
            <p:cNvCxnSpPr>
              <a:stCxn id="222" idx="3"/>
              <a:endCxn id="246" idx="1"/>
            </p:cNvCxnSpPr>
            <p:nvPr/>
          </p:nvCxnSpPr>
          <p:spPr>
            <a:xfrm flipV="1">
              <a:off x="7608740" y="3366011"/>
              <a:ext cx="788855" cy="5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0" name="直接箭头连接符 269"/>
            <p:cNvCxnSpPr>
              <a:stCxn id="246" idx="3"/>
              <a:endCxn id="240" idx="1"/>
            </p:cNvCxnSpPr>
            <p:nvPr/>
          </p:nvCxnSpPr>
          <p:spPr>
            <a:xfrm flipV="1">
              <a:off x="9040559" y="3324172"/>
              <a:ext cx="979401" cy="41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1" name="直接箭头连接符 270"/>
            <p:cNvCxnSpPr>
              <a:stCxn id="304" idx="0"/>
              <a:endCxn id="240" idx="5"/>
            </p:cNvCxnSpPr>
            <p:nvPr/>
          </p:nvCxnSpPr>
          <p:spPr>
            <a:xfrm flipH="1" flipV="1">
              <a:off x="10380637" y="3684848"/>
              <a:ext cx="316562" cy="972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2" name="直接箭头连接符 271"/>
            <p:cNvCxnSpPr>
              <a:stCxn id="240" idx="4"/>
            </p:cNvCxnSpPr>
            <p:nvPr/>
          </p:nvCxnSpPr>
          <p:spPr>
            <a:xfrm flipH="1">
              <a:off x="9113068" y="3759547"/>
              <a:ext cx="1087231" cy="1142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3" name="直接箭头连接符 272"/>
            <p:cNvCxnSpPr>
              <a:stCxn id="311" idx="3"/>
              <a:endCxn id="305" idx="1"/>
            </p:cNvCxnSpPr>
            <p:nvPr/>
          </p:nvCxnSpPr>
          <p:spPr>
            <a:xfrm flipV="1">
              <a:off x="9227031" y="4901822"/>
              <a:ext cx="1148685" cy="156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4" name="直接箭头连接符 273"/>
            <p:cNvCxnSpPr>
              <a:stCxn id="310" idx="1"/>
            </p:cNvCxnSpPr>
            <p:nvPr/>
          </p:nvCxnSpPr>
          <p:spPr>
            <a:xfrm flipH="1" flipV="1">
              <a:off x="7570589" y="3494751"/>
              <a:ext cx="1186654" cy="1382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5" name="直接箭头连接符 274"/>
            <p:cNvCxnSpPr>
              <a:stCxn id="245" idx="3"/>
              <a:endCxn id="223" idx="0"/>
            </p:cNvCxnSpPr>
            <p:nvPr/>
          </p:nvCxnSpPr>
          <p:spPr>
            <a:xfrm flipH="1">
              <a:off x="7822166" y="3587733"/>
              <a:ext cx="716393" cy="665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6" name="直接箭头连接符 275"/>
            <p:cNvCxnSpPr>
              <a:endCxn id="245" idx="4"/>
            </p:cNvCxnSpPr>
            <p:nvPr/>
          </p:nvCxnSpPr>
          <p:spPr>
            <a:xfrm flipV="1">
              <a:off x="8037521" y="3662432"/>
              <a:ext cx="681377" cy="691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7" name="直接箭头连接符 276"/>
            <p:cNvCxnSpPr>
              <a:stCxn id="221" idx="5"/>
              <a:endCxn id="223" idx="0"/>
            </p:cNvCxnSpPr>
            <p:nvPr/>
          </p:nvCxnSpPr>
          <p:spPr>
            <a:xfrm>
              <a:off x="7499629" y="3551559"/>
              <a:ext cx="322537" cy="701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8" name="直接箭头连接符 277"/>
            <p:cNvCxnSpPr>
              <a:stCxn id="223" idx="1"/>
              <a:endCxn id="221" idx="4"/>
            </p:cNvCxnSpPr>
            <p:nvPr/>
          </p:nvCxnSpPr>
          <p:spPr>
            <a:xfrm flipH="1" flipV="1">
              <a:off x="7319291" y="3626258"/>
              <a:ext cx="322536" cy="701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9" name="直接箭头连接符 278"/>
            <p:cNvCxnSpPr>
              <a:stCxn id="221" idx="3"/>
              <a:endCxn id="228" idx="3"/>
            </p:cNvCxnSpPr>
            <p:nvPr/>
          </p:nvCxnSpPr>
          <p:spPr>
            <a:xfrm flipH="1">
              <a:off x="6122226" y="3551559"/>
              <a:ext cx="1016726" cy="766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0" name="直接箭头连接符 279"/>
            <p:cNvCxnSpPr>
              <a:stCxn id="227" idx="7"/>
            </p:cNvCxnSpPr>
            <p:nvPr/>
          </p:nvCxnSpPr>
          <p:spPr>
            <a:xfrm flipV="1">
              <a:off x="6013115" y="3494749"/>
              <a:ext cx="1058040" cy="642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1" name="直接箭头连接符 280"/>
            <p:cNvCxnSpPr/>
            <p:nvPr/>
          </p:nvCxnSpPr>
          <p:spPr>
            <a:xfrm flipH="1" flipV="1">
              <a:off x="5624081" y="3227057"/>
              <a:ext cx="1479285" cy="20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2" name="直接箭头连接符 281"/>
            <p:cNvCxnSpPr>
              <a:stCxn id="232" idx="3"/>
              <a:endCxn id="222" idx="1"/>
            </p:cNvCxnSpPr>
            <p:nvPr/>
          </p:nvCxnSpPr>
          <p:spPr>
            <a:xfrm>
              <a:off x="5660844" y="3345091"/>
              <a:ext cx="1368995" cy="26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3" name="直接箭头连接符 282"/>
            <p:cNvCxnSpPr>
              <a:stCxn id="241" idx="1"/>
            </p:cNvCxnSpPr>
            <p:nvPr/>
          </p:nvCxnSpPr>
          <p:spPr>
            <a:xfrm flipH="1">
              <a:off x="9004959" y="3504510"/>
              <a:ext cx="905888" cy="47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4" name="直接箭头连接符 283"/>
            <p:cNvCxnSpPr>
              <a:stCxn id="219" idx="3"/>
              <a:endCxn id="245" idx="0"/>
            </p:cNvCxnSpPr>
            <p:nvPr/>
          </p:nvCxnSpPr>
          <p:spPr>
            <a:xfrm flipH="1">
              <a:off x="8718898" y="2711215"/>
              <a:ext cx="484247" cy="441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5" name="直接箭头连接符 284"/>
            <p:cNvCxnSpPr>
              <a:stCxn id="240" idx="0"/>
              <a:endCxn id="219" idx="5"/>
            </p:cNvCxnSpPr>
            <p:nvPr/>
          </p:nvCxnSpPr>
          <p:spPr>
            <a:xfrm flipH="1" flipV="1">
              <a:off x="9563822" y="2711215"/>
              <a:ext cx="636477" cy="538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6" name="直接箭头连接符 285"/>
            <p:cNvCxnSpPr>
              <a:stCxn id="221" idx="3"/>
              <a:endCxn id="238" idx="0"/>
            </p:cNvCxnSpPr>
            <p:nvPr/>
          </p:nvCxnSpPr>
          <p:spPr>
            <a:xfrm flipH="1">
              <a:off x="6688375" y="3551559"/>
              <a:ext cx="450577" cy="14872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7" name="直接箭头连接符 286"/>
            <p:cNvCxnSpPr>
              <a:stCxn id="217" idx="5"/>
              <a:endCxn id="245" idx="1"/>
            </p:cNvCxnSpPr>
            <p:nvPr/>
          </p:nvCxnSpPr>
          <p:spPr>
            <a:xfrm>
              <a:off x="7961801" y="2288397"/>
              <a:ext cx="576758" cy="938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8" name="直接箭头连接符 287"/>
            <p:cNvCxnSpPr/>
            <p:nvPr/>
          </p:nvCxnSpPr>
          <p:spPr>
            <a:xfrm flipH="1">
              <a:off x="4656979" y="3429000"/>
              <a:ext cx="499952" cy="243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9" name="直接箭头连接符 288"/>
            <p:cNvCxnSpPr>
              <a:endCxn id="303" idx="3"/>
            </p:cNvCxnSpPr>
            <p:nvPr/>
          </p:nvCxnSpPr>
          <p:spPr>
            <a:xfrm flipH="1" flipV="1">
              <a:off x="3496147" y="3320698"/>
              <a:ext cx="681094" cy="303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0" name="直接箭头连接符 289"/>
            <p:cNvCxnSpPr>
              <a:endCxn id="254" idx="1"/>
            </p:cNvCxnSpPr>
            <p:nvPr/>
          </p:nvCxnSpPr>
          <p:spPr>
            <a:xfrm>
              <a:off x="3427714" y="3525109"/>
              <a:ext cx="668877" cy="294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1" name="直接箭头连接符 290"/>
            <p:cNvCxnSpPr>
              <a:stCxn id="302" idx="0"/>
              <a:endCxn id="306" idx="4"/>
            </p:cNvCxnSpPr>
            <p:nvPr/>
          </p:nvCxnSpPr>
          <p:spPr>
            <a:xfrm flipH="1" flipV="1">
              <a:off x="2999382" y="2235136"/>
              <a:ext cx="175284" cy="840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2" name="直接箭头连接符 291"/>
            <p:cNvCxnSpPr>
              <a:stCxn id="302" idx="1"/>
              <a:endCxn id="234" idx="3"/>
            </p:cNvCxnSpPr>
            <p:nvPr/>
          </p:nvCxnSpPr>
          <p:spPr>
            <a:xfrm flipH="1" flipV="1">
              <a:off x="2186295" y="2820956"/>
              <a:ext cx="808032" cy="329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3" name="直接箭头连接符 292"/>
            <p:cNvCxnSpPr>
              <a:stCxn id="233" idx="5"/>
              <a:endCxn id="303" idx="1"/>
            </p:cNvCxnSpPr>
            <p:nvPr/>
          </p:nvCxnSpPr>
          <p:spPr>
            <a:xfrm>
              <a:off x="2077184" y="3001294"/>
              <a:ext cx="775999" cy="319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4" name="直接箭头连接符 293"/>
            <p:cNvCxnSpPr>
              <a:stCxn id="302" idx="3"/>
              <a:endCxn id="243" idx="0"/>
            </p:cNvCxnSpPr>
            <p:nvPr/>
          </p:nvCxnSpPr>
          <p:spPr>
            <a:xfrm>
              <a:off x="2994327" y="3511368"/>
              <a:ext cx="5055" cy="1095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5" name="直接箭头连接符 294"/>
            <p:cNvCxnSpPr>
              <a:stCxn id="243" idx="7"/>
              <a:endCxn id="302" idx="4"/>
            </p:cNvCxnSpPr>
            <p:nvPr/>
          </p:nvCxnSpPr>
          <p:spPr>
            <a:xfrm flipH="1" flipV="1">
              <a:off x="3174666" y="3586067"/>
              <a:ext cx="5054" cy="1095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6" name="直接箭头连接符 295"/>
            <p:cNvCxnSpPr>
              <a:stCxn id="253" idx="3"/>
              <a:endCxn id="244" idx="3"/>
            </p:cNvCxnSpPr>
            <p:nvPr/>
          </p:nvCxnSpPr>
          <p:spPr>
            <a:xfrm flipH="1">
              <a:off x="3320863" y="4010574"/>
              <a:ext cx="916872" cy="840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7" name="直接箭头连接符 296"/>
            <p:cNvCxnSpPr/>
            <p:nvPr/>
          </p:nvCxnSpPr>
          <p:spPr>
            <a:xfrm>
              <a:off x="3116060" y="5167191"/>
              <a:ext cx="463500" cy="399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8" name="直接箭头连接符 297"/>
            <p:cNvCxnSpPr>
              <a:stCxn id="312" idx="0"/>
            </p:cNvCxnSpPr>
            <p:nvPr/>
          </p:nvCxnSpPr>
          <p:spPr>
            <a:xfrm flipH="1" flipV="1">
              <a:off x="3240975" y="5038774"/>
              <a:ext cx="521178" cy="426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9" name="直接箭头连接符 298"/>
            <p:cNvCxnSpPr>
              <a:stCxn id="312" idx="7"/>
              <a:endCxn id="309" idx="1"/>
            </p:cNvCxnSpPr>
            <p:nvPr/>
          </p:nvCxnSpPr>
          <p:spPr>
            <a:xfrm flipV="1">
              <a:off x="3942491" y="5197460"/>
              <a:ext cx="690436" cy="342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0" name="直接箭头连接符 299"/>
            <p:cNvCxnSpPr>
              <a:stCxn id="308" idx="3"/>
              <a:endCxn id="313" idx="3"/>
            </p:cNvCxnSpPr>
            <p:nvPr/>
          </p:nvCxnSpPr>
          <p:spPr>
            <a:xfrm flipH="1">
              <a:off x="4051602" y="5377798"/>
              <a:ext cx="690438" cy="342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1" name="直接箭头连接符 300"/>
            <p:cNvCxnSpPr>
              <a:stCxn id="249" idx="7"/>
              <a:endCxn id="314" idx="4"/>
            </p:cNvCxnSpPr>
            <p:nvPr/>
          </p:nvCxnSpPr>
          <p:spPr>
            <a:xfrm flipV="1">
              <a:off x="5638136" y="994858"/>
              <a:ext cx="374980" cy="683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3" name="文本框 2"/>
          <p:cNvSpPr txBox="1"/>
          <p:nvPr/>
        </p:nvSpPr>
        <p:spPr>
          <a:xfrm>
            <a:off x="333279" y="2755417"/>
            <a:ext cx="1659906" cy="369332"/>
          </a:xfrm>
          <a:prstGeom prst="rect">
            <a:avLst/>
          </a:prstGeom>
          <a:solidFill>
            <a:schemeClr val="accent2">
              <a:lumMod val="20000"/>
              <a:lumOff val="80000"/>
            </a:schemeClr>
          </a:solidFill>
        </p:spPr>
        <p:txBody>
          <a:bodyPr wrap="square" rtlCol="0">
            <a:spAutoFit/>
          </a:bodyPr>
          <a:lstStyle/>
          <a:p>
            <a:r>
              <a:rPr lang="zh-CN" altLang="en-US" b="1">
                <a:solidFill>
                  <a:schemeClr val="accent2">
                    <a:lumMod val="50000"/>
                  </a:schemeClr>
                </a:solidFill>
              </a:rPr>
              <a:t>以杜甫为中心</a:t>
            </a:r>
            <a:endParaRPr lang="zh-CN" altLang="en-US" b="1">
              <a:solidFill>
                <a:schemeClr val="accent2">
                  <a:lumMod val="50000"/>
                </a:schemeClr>
              </a:solidFill>
            </a:endParaRPr>
          </a:p>
        </p:txBody>
      </p:sp>
      <p:grpSp>
        <p:nvGrpSpPr>
          <p:cNvPr id="318" name="组合 317"/>
          <p:cNvGrpSpPr/>
          <p:nvPr/>
        </p:nvGrpSpPr>
        <p:grpSpPr>
          <a:xfrm>
            <a:off x="2245092" y="904184"/>
            <a:ext cx="9411286" cy="5490548"/>
            <a:chOff x="1607394" y="484784"/>
            <a:chExt cx="9411286" cy="5490548"/>
          </a:xfrm>
        </p:grpSpPr>
        <p:sp>
          <p:nvSpPr>
            <p:cNvPr id="319" name="椭圆 318"/>
            <p:cNvSpPr/>
            <p:nvPr/>
          </p:nvSpPr>
          <p:spPr>
            <a:xfrm>
              <a:off x="7526425" y="1853022"/>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20" name="文本框 319"/>
            <p:cNvSpPr txBox="1"/>
            <p:nvPr/>
          </p:nvSpPr>
          <p:spPr>
            <a:xfrm>
              <a:off x="7492011" y="1954170"/>
              <a:ext cx="578901" cy="307777"/>
            </a:xfrm>
            <a:prstGeom prst="rect">
              <a:avLst/>
            </a:prstGeom>
            <a:noFill/>
          </p:spPr>
          <p:txBody>
            <a:bodyPr wrap="square" rtlCol="0">
              <a:spAutoFit/>
            </a:bodyPr>
            <a:lstStyle/>
            <a:p>
              <a:r>
                <a:rPr lang="zh-CN" altLang="en-US" sz="1400" b="1">
                  <a:solidFill>
                    <a:schemeClr val="bg1"/>
                  </a:solidFill>
                </a:rPr>
                <a:t>李白</a:t>
              </a:r>
              <a:endParaRPr lang="zh-CN" altLang="en-US" sz="1400" b="1">
                <a:solidFill>
                  <a:schemeClr val="bg1"/>
                </a:solidFill>
              </a:endParaRPr>
            </a:p>
          </p:txBody>
        </p:sp>
        <p:sp>
          <p:nvSpPr>
            <p:cNvPr id="321" name="椭圆 320"/>
            <p:cNvSpPr/>
            <p:nvPr/>
          </p:nvSpPr>
          <p:spPr>
            <a:xfrm>
              <a:off x="9128446" y="2275840"/>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22" name="文本框 321"/>
            <p:cNvSpPr txBox="1"/>
            <p:nvPr/>
          </p:nvSpPr>
          <p:spPr>
            <a:xfrm>
              <a:off x="9062001" y="2382045"/>
              <a:ext cx="642964" cy="276999"/>
            </a:xfrm>
            <a:prstGeom prst="rect">
              <a:avLst/>
            </a:prstGeom>
            <a:noFill/>
          </p:spPr>
          <p:txBody>
            <a:bodyPr wrap="square" rtlCol="0">
              <a:spAutoFit/>
            </a:bodyPr>
            <a:lstStyle/>
            <a:p>
              <a:r>
                <a:rPr lang="zh-CN" altLang="en-US" sz="1200" b="1">
                  <a:solidFill>
                    <a:schemeClr val="bg1"/>
                  </a:solidFill>
                </a:rPr>
                <a:t>孟浩然</a:t>
              </a:r>
              <a:endParaRPr lang="zh-CN" altLang="en-US" sz="1200" b="1">
                <a:solidFill>
                  <a:schemeClr val="bg1"/>
                </a:solidFill>
              </a:endParaRPr>
            </a:p>
          </p:txBody>
        </p:sp>
        <p:sp>
          <p:nvSpPr>
            <p:cNvPr id="323" name="椭圆 322"/>
            <p:cNvSpPr/>
            <p:nvPr/>
          </p:nvSpPr>
          <p:spPr>
            <a:xfrm>
              <a:off x="7064253" y="3116184"/>
              <a:ext cx="510075" cy="510074"/>
            </a:xfrm>
            <a:prstGeom prst="ellipse">
              <a:avLst/>
            </a:prstGeom>
            <a:solidFill>
              <a:srgbClr val="FFC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24" name="文本框 323"/>
            <p:cNvSpPr txBox="1"/>
            <p:nvPr/>
          </p:nvSpPr>
          <p:spPr>
            <a:xfrm>
              <a:off x="7029839" y="3217332"/>
              <a:ext cx="578901" cy="307777"/>
            </a:xfrm>
            <a:prstGeom prst="rect">
              <a:avLst/>
            </a:prstGeom>
            <a:noFill/>
          </p:spPr>
          <p:txBody>
            <a:bodyPr wrap="square" rtlCol="0">
              <a:spAutoFit/>
            </a:bodyPr>
            <a:lstStyle/>
            <a:p>
              <a:r>
                <a:rPr lang="zh-CN" altLang="en-US" sz="1400" b="1">
                  <a:solidFill>
                    <a:schemeClr val="bg1"/>
                  </a:solidFill>
                </a:rPr>
                <a:t>杜甫</a:t>
              </a:r>
              <a:endParaRPr lang="zh-CN" altLang="en-US" sz="1400" b="1">
                <a:solidFill>
                  <a:schemeClr val="bg1"/>
                </a:solidFill>
              </a:endParaRPr>
            </a:p>
          </p:txBody>
        </p:sp>
        <p:sp>
          <p:nvSpPr>
            <p:cNvPr id="325" name="椭圆 324"/>
            <p:cNvSpPr/>
            <p:nvPr/>
          </p:nvSpPr>
          <p:spPr>
            <a:xfrm>
              <a:off x="7567128" y="4253248"/>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26" name="文本框 325"/>
            <p:cNvSpPr txBox="1"/>
            <p:nvPr/>
          </p:nvSpPr>
          <p:spPr>
            <a:xfrm>
              <a:off x="7532714" y="4354396"/>
              <a:ext cx="578901" cy="307777"/>
            </a:xfrm>
            <a:prstGeom prst="rect">
              <a:avLst/>
            </a:prstGeom>
            <a:noFill/>
          </p:spPr>
          <p:txBody>
            <a:bodyPr wrap="square" rtlCol="0">
              <a:spAutoFit/>
            </a:bodyPr>
            <a:lstStyle/>
            <a:p>
              <a:r>
                <a:rPr lang="zh-CN" altLang="en-US" sz="1400" b="1">
                  <a:solidFill>
                    <a:schemeClr val="bg1"/>
                  </a:solidFill>
                </a:rPr>
                <a:t>高适</a:t>
              </a:r>
              <a:endParaRPr lang="zh-CN" altLang="en-US" sz="1400" b="1">
                <a:solidFill>
                  <a:schemeClr val="bg1"/>
                </a:solidFill>
              </a:endParaRPr>
            </a:p>
          </p:txBody>
        </p:sp>
        <p:sp>
          <p:nvSpPr>
            <p:cNvPr id="327" name="椭圆 326"/>
            <p:cNvSpPr/>
            <p:nvPr/>
          </p:nvSpPr>
          <p:spPr>
            <a:xfrm>
              <a:off x="8798928" y="1131132"/>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28" name="文本框 327"/>
            <p:cNvSpPr txBox="1"/>
            <p:nvPr/>
          </p:nvSpPr>
          <p:spPr>
            <a:xfrm>
              <a:off x="8786862" y="1245433"/>
              <a:ext cx="578901" cy="307777"/>
            </a:xfrm>
            <a:prstGeom prst="rect">
              <a:avLst/>
            </a:prstGeom>
            <a:noFill/>
          </p:spPr>
          <p:txBody>
            <a:bodyPr wrap="square" rtlCol="0">
              <a:spAutoFit/>
            </a:bodyPr>
            <a:lstStyle/>
            <a:p>
              <a:r>
                <a:rPr lang="zh-CN" altLang="en-US" sz="1400" b="1">
                  <a:solidFill>
                    <a:schemeClr val="bg1"/>
                  </a:solidFill>
                </a:rPr>
                <a:t>张旭</a:t>
              </a:r>
              <a:endParaRPr lang="zh-CN" altLang="en-US" sz="1400" b="1">
                <a:solidFill>
                  <a:schemeClr val="bg1"/>
                </a:solidFill>
              </a:endParaRPr>
            </a:p>
          </p:txBody>
        </p:sp>
        <p:sp>
          <p:nvSpPr>
            <p:cNvPr id="329" name="椭圆 328"/>
            <p:cNvSpPr/>
            <p:nvPr/>
          </p:nvSpPr>
          <p:spPr>
            <a:xfrm>
              <a:off x="5577739" y="4062572"/>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30" name="文本框 329"/>
            <p:cNvSpPr txBox="1"/>
            <p:nvPr/>
          </p:nvSpPr>
          <p:spPr>
            <a:xfrm>
              <a:off x="5543325" y="4163720"/>
              <a:ext cx="578901" cy="307777"/>
            </a:xfrm>
            <a:prstGeom prst="rect">
              <a:avLst/>
            </a:prstGeom>
            <a:noFill/>
          </p:spPr>
          <p:txBody>
            <a:bodyPr wrap="square" rtlCol="0">
              <a:spAutoFit/>
            </a:bodyPr>
            <a:lstStyle/>
            <a:p>
              <a:r>
                <a:rPr lang="zh-CN" altLang="en-US" sz="1400" b="1">
                  <a:solidFill>
                    <a:schemeClr val="bg1"/>
                  </a:solidFill>
                </a:rPr>
                <a:t>严武</a:t>
              </a:r>
              <a:endParaRPr lang="zh-CN" altLang="en-US" sz="1400" b="1">
                <a:solidFill>
                  <a:schemeClr val="bg1"/>
                </a:solidFill>
              </a:endParaRPr>
            </a:p>
          </p:txBody>
        </p:sp>
        <p:grpSp>
          <p:nvGrpSpPr>
            <p:cNvPr id="331" name="组合 330"/>
            <p:cNvGrpSpPr/>
            <p:nvPr/>
          </p:nvGrpSpPr>
          <p:grpSpPr>
            <a:xfrm>
              <a:off x="6526666" y="1386169"/>
              <a:ext cx="578901" cy="510074"/>
              <a:chOff x="5414662" y="261257"/>
              <a:chExt cx="578901" cy="510074"/>
            </a:xfrm>
          </p:grpSpPr>
          <p:sp>
            <p:nvSpPr>
              <p:cNvPr id="418" name="椭圆 417"/>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19" name="文本框 418"/>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苏颋</a:t>
                </a:r>
                <a:endParaRPr lang="zh-CN" altLang="en-US" sz="1400" b="1">
                  <a:solidFill>
                    <a:schemeClr val="bg1"/>
                  </a:solidFill>
                </a:endParaRPr>
              </a:p>
            </p:txBody>
          </p:sp>
        </p:grpSp>
        <p:grpSp>
          <p:nvGrpSpPr>
            <p:cNvPr id="332" name="组合 331"/>
            <p:cNvGrpSpPr/>
            <p:nvPr/>
          </p:nvGrpSpPr>
          <p:grpSpPr>
            <a:xfrm>
              <a:off x="5723664" y="484784"/>
              <a:ext cx="578901" cy="510074"/>
              <a:chOff x="5414662" y="261257"/>
              <a:chExt cx="578901" cy="510074"/>
            </a:xfrm>
          </p:grpSpPr>
          <p:sp>
            <p:nvSpPr>
              <p:cNvPr id="416" name="椭圆 415"/>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17" name="文本框 416"/>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张说</a:t>
                </a:r>
                <a:endParaRPr lang="zh-CN" altLang="en-US" sz="1400" b="1">
                  <a:solidFill>
                    <a:schemeClr val="bg1"/>
                  </a:solidFill>
                </a:endParaRPr>
              </a:p>
            </p:txBody>
          </p:sp>
        </p:grpSp>
        <p:sp>
          <p:nvSpPr>
            <p:cNvPr id="333" name="椭圆 332"/>
            <p:cNvSpPr/>
            <p:nvPr/>
          </p:nvSpPr>
          <p:spPr>
            <a:xfrm>
              <a:off x="5116357" y="3090054"/>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34" name="文本框 333"/>
            <p:cNvSpPr txBox="1"/>
            <p:nvPr/>
          </p:nvSpPr>
          <p:spPr>
            <a:xfrm>
              <a:off x="5081943" y="3191202"/>
              <a:ext cx="578901" cy="307777"/>
            </a:xfrm>
            <a:prstGeom prst="rect">
              <a:avLst/>
            </a:prstGeom>
            <a:noFill/>
          </p:spPr>
          <p:txBody>
            <a:bodyPr wrap="square" rtlCol="0">
              <a:spAutoFit/>
            </a:bodyPr>
            <a:lstStyle/>
            <a:p>
              <a:r>
                <a:rPr lang="zh-CN" altLang="en-US" sz="1400" b="1">
                  <a:solidFill>
                    <a:schemeClr val="bg1"/>
                  </a:solidFill>
                </a:rPr>
                <a:t>岑参</a:t>
              </a:r>
              <a:endParaRPr lang="zh-CN" altLang="en-US" sz="1400" b="1">
                <a:solidFill>
                  <a:schemeClr val="bg1"/>
                </a:solidFill>
              </a:endParaRPr>
            </a:p>
          </p:txBody>
        </p:sp>
        <p:sp>
          <p:nvSpPr>
            <p:cNvPr id="335" name="椭圆 334"/>
            <p:cNvSpPr/>
            <p:nvPr/>
          </p:nvSpPr>
          <p:spPr>
            <a:xfrm>
              <a:off x="1641808" y="2565919"/>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36" name="文本框 335"/>
            <p:cNvSpPr txBox="1"/>
            <p:nvPr/>
          </p:nvSpPr>
          <p:spPr>
            <a:xfrm>
              <a:off x="1607394" y="2667067"/>
              <a:ext cx="578901" cy="307777"/>
            </a:xfrm>
            <a:prstGeom prst="rect">
              <a:avLst/>
            </a:prstGeom>
            <a:noFill/>
          </p:spPr>
          <p:txBody>
            <a:bodyPr wrap="square" rtlCol="0">
              <a:spAutoFit/>
            </a:bodyPr>
            <a:lstStyle/>
            <a:p>
              <a:r>
                <a:rPr lang="zh-CN" altLang="en-US" sz="1400" b="1">
                  <a:solidFill>
                    <a:schemeClr val="bg1"/>
                  </a:solidFill>
                </a:rPr>
                <a:t>张谓</a:t>
              </a:r>
              <a:endParaRPr lang="zh-CN" altLang="en-US" sz="1400" b="1">
                <a:solidFill>
                  <a:schemeClr val="bg1"/>
                </a:solidFill>
              </a:endParaRPr>
            </a:p>
          </p:txBody>
        </p:sp>
        <p:grpSp>
          <p:nvGrpSpPr>
            <p:cNvPr id="337" name="组合 336"/>
            <p:cNvGrpSpPr/>
            <p:nvPr/>
          </p:nvGrpSpPr>
          <p:grpSpPr>
            <a:xfrm>
              <a:off x="3472701" y="5465258"/>
              <a:ext cx="578901" cy="510074"/>
              <a:chOff x="5414662" y="261257"/>
              <a:chExt cx="578901" cy="510074"/>
            </a:xfrm>
          </p:grpSpPr>
          <p:sp>
            <p:nvSpPr>
              <p:cNvPr id="414" name="椭圆 413"/>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15" name="文本框 414"/>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张继</a:t>
                </a:r>
                <a:endParaRPr lang="zh-CN" altLang="en-US" sz="1400" b="1">
                  <a:solidFill>
                    <a:schemeClr val="bg1"/>
                  </a:solidFill>
                </a:endParaRPr>
              </a:p>
            </p:txBody>
          </p:sp>
        </p:grpSp>
        <p:grpSp>
          <p:nvGrpSpPr>
            <p:cNvPr id="338" name="组合 337"/>
            <p:cNvGrpSpPr/>
            <p:nvPr/>
          </p:nvGrpSpPr>
          <p:grpSpPr>
            <a:xfrm>
              <a:off x="8648130" y="4802908"/>
              <a:ext cx="578901" cy="510074"/>
              <a:chOff x="5414662" y="261257"/>
              <a:chExt cx="578901" cy="510074"/>
            </a:xfrm>
          </p:grpSpPr>
          <p:sp>
            <p:nvSpPr>
              <p:cNvPr id="412" name="椭圆 411"/>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13" name="文本框 412"/>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钱起</a:t>
                </a:r>
                <a:endParaRPr lang="zh-CN" altLang="en-US" sz="1400" b="1">
                  <a:solidFill>
                    <a:schemeClr val="bg1"/>
                  </a:solidFill>
                </a:endParaRPr>
              </a:p>
            </p:txBody>
          </p:sp>
        </p:grpSp>
        <p:grpSp>
          <p:nvGrpSpPr>
            <p:cNvPr id="339" name="组合 338"/>
            <p:cNvGrpSpPr/>
            <p:nvPr/>
          </p:nvGrpSpPr>
          <p:grpSpPr>
            <a:xfrm>
              <a:off x="4632927" y="4942423"/>
              <a:ext cx="578901" cy="510074"/>
              <a:chOff x="5414662" y="261257"/>
              <a:chExt cx="578901" cy="510074"/>
            </a:xfrm>
          </p:grpSpPr>
          <p:sp>
            <p:nvSpPr>
              <p:cNvPr id="410" name="椭圆 409"/>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11" name="文本框 410"/>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韩翃</a:t>
                </a:r>
                <a:endParaRPr lang="zh-CN" altLang="en-US" sz="1400" b="1">
                  <a:solidFill>
                    <a:schemeClr val="bg1"/>
                  </a:solidFill>
                </a:endParaRPr>
              </a:p>
            </p:txBody>
          </p:sp>
        </p:grpSp>
        <p:sp>
          <p:nvSpPr>
            <p:cNvPr id="340" name="椭圆 339"/>
            <p:cNvSpPr/>
            <p:nvPr/>
          </p:nvSpPr>
          <p:spPr>
            <a:xfrm>
              <a:off x="6433337" y="5038772"/>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41" name="文本框 340"/>
            <p:cNvSpPr txBox="1"/>
            <p:nvPr/>
          </p:nvSpPr>
          <p:spPr>
            <a:xfrm>
              <a:off x="6398923" y="5139920"/>
              <a:ext cx="578901" cy="307777"/>
            </a:xfrm>
            <a:prstGeom prst="rect">
              <a:avLst/>
            </a:prstGeom>
            <a:noFill/>
          </p:spPr>
          <p:txBody>
            <a:bodyPr wrap="square" rtlCol="0">
              <a:spAutoFit/>
            </a:bodyPr>
            <a:lstStyle/>
            <a:p>
              <a:r>
                <a:rPr lang="zh-CN" altLang="en-US" sz="1400" b="1">
                  <a:solidFill>
                    <a:schemeClr val="bg1"/>
                  </a:solidFill>
                </a:rPr>
                <a:t>薛稷</a:t>
              </a:r>
              <a:endParaRPr lang="zh-CN" altLang="en-US" sz="1400" b="1">
                <a:solidFill>
                  <a:schemeClr val="bg1"/>
                </a:solidFill>
              </a:endParaRPr>
            </a:p>
          </p:txBody>
        </p:sp>
        <p:sp>
          <p:nvSpPr>
            <p:cNvPr id="342" name="椭圆 341"/>
            <p:cNvSpPr/>
            <p:nvPr/>
          </p:nvSpPr>
          <p:spPr>
            <a:xfrm>
              <a:off x="9945261" y="3249473"/>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43" name="文本框 342"/>
            <p:cNvSpPr txBox="1"/>
            <p:nvPr/>
          </p:nvSpPr>
          <p:spPr>
            <a:xfrm>
              <a:off x="9910847" y="3350621"/>
              <a:ext cx="578901" cy="307777"/>
            </a:xfrm>
            <a:prstGeom prst="rect">
              <a:avLst/>
            </a:prstGeom>
            <a:noFill/>
          </p:spPr>
          <p:txBody>
            <a:bodyPr wrap="square" rtlCol="0">
              <a:spAutoFit/>
            </a:bodyPr>
            <a:lstStyle/>
            <a:p>
              <a:r>
                <a:rPr lang="zh-CN" altLang="en-US" sz="1400" b="1">
                  <a:solidFill>
                    <a:schemeClr val="bg1"/>
                  </a:solidFill>
                </a:rPr>
                <a:t>王维</a:t>
              </a:r>
              <a:endParaRPr lang="zh-CN" altLang="en-US" sz="1400" b="1">
                <a:solidFill>
                  <a:schemeClr val="bg1"/>
                </a:solidFill>
              </a:endParaRPr>
            </a:p>
          </p:txBody>
        </p:sp>
        <p:grpSp>
          <p:nvGrpSpPr>
            <p:cNvPr id="344" name="组合 343"/>
            <p:cNvGrpSpPr/>
            <p:nvPr/>
          </p:nvGrpSpPr>
          <p:grpSpPr>
            <a:xfrm>
              <a:off x="2677899" y="1725062"/>
              <a:ext cx="642964" cy="510074"/>
              <a:chOff x="5382631" y="261257"/>
              <a:chExt cx="642964" cy="510074"/>
            </a:xfrm>
          </p:grpSpPr>
          <p:sp>
            <p:nvSpPr>
              <p:cNvPr id="408" name="椭圆 407"/>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09" name="文本框 408"/>
              <p:cNvSpPr txBox="1"/>
              <p:nvPr/>
            </p:nvSpPr>
            <p:spPr>
              <a:xfrm>
                <a:off x="5382631" y="367462"/>
                <a:ext cx="642964" cy="276999"/>
              </a:xfrm>
              <a:prstGeom prst="rect">
                <a:avLst/>
              </a:prstGeom>
              <a:noFill/>
            </p:spPr>
            <p:txBody>
              <a:bodyPr wrap="square" rtlCol="0">
                <a:spAutoFit/>
              </a:bodyPr>
              <a:lstStyle/>
              <a:p>
                <a:r>
                  <a:rPr lang="zh-CN" altLang="en-US" sz="1200" b="1">
                    <a:solidFill>
                      <a:schemeClr val="bg1"/>
                    </a:solidFill>
                  </a:rPr>
                  <a:t>刘方平</a:t>
                </a:r>
                <a:endParaRPr lang="zh-CN" altLang="en-US" sz="1200" b="1">
                  <a:solidFill>
                    <a:schemeClr val="bg1"/>
                  </a:solidFill>
                </a:endParaRPr>
              </a:p>
            </p:txBody>
          </p:sp>
        </p:grpSp>
        <p:sp>
          <p:nvSpPr>
            <p:cNvPr id="345" name="椭圆 344"/>
            <p:cNvSpPr/>
            <p:nvPr/>
          </p:nvSpPr>
          <p:spPr>
            <a:xfrm>
              <a:off x="2744344" y="460661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46" name="文本框 345"/>
            <p:cNvSpPr txBox="1"/>
            <p:nvPr/>
          </p:nvSpPr>
          <p:spPr>
            <a:xfrm>
              <a:off x="2677899" y="4712817"/>
              <a:ext cx="642964" cy="276999"/>
            </a:xfrm>
            <a:prstGeom prst="rect">
              <a:avLst/>
            </a:prstGeom>
            <a:noFill/>
          </p:spPr>
          <p:txBody>
            <a:bodyPr wrap="square" rtlCol="0">
              <a:spAutoFit/>
            </a:bodyPr>
            <a:lstStyle/>
            <a:p>
              <a:r>
                <a:rPr lang="zh-CN" altLang="en-US" sz="1200" b="1">
                  <a:solidFill>
                    <a:schemeClr val="bg1"/>
                  </a:solidFill>
                </a:rPr>
                <a:t>皇甫冉</a:t>
              </a:r>
              <a:endParaRPr lang="zh-CN" altLang="en-US" sz="1200" b="1">
                <a:solidFill>
                  <a:schemeClr val="bg1"/>
                </a:solidFill>
              </a:endParaRPr>
            </a:p>
          </p:txBody>
        </p:sp>
        <p:sp>
          <p:nvSpPr>
            <p:cNvPr id="347" name="椭圆 346"/>
            <p:cNvSpPr/>
            <p:nvPr/>
          </p:nvSpPr>
          <p:spPr>
            <a:xfrm>
              <a:off x="8463860" y="3152358"/>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48" name="文本框 347"/>
            <p:cNvSpPr txBox="1"/>
            <p:nvPr/>
          </p:nvSpPr>
          <p:spPr>
            <a:xfrm>
              <a:off x="8397595" y="3227511"/>
              <a:ext cx="642964" cy="276999"/>
            </a:xfrm>
            <a:prstGeom prst="rect">
              <a:avLst/>
            </a:prstGeom>
            <a:noFill/>
          </p:spPr>
          <p:txBody>
            <a:bodyPr wrap="square" rtlCol="0">
              <a:spAutoFit/>
            </a:bodyPr>
            <a:lstStyle/>
            <a:p>
              <a:r>
                <a:rPr lang="zh-CN" altLang="en-US" sz="1200" b="1">
                  <a:solidFill>
                    <a:schemeClr val="bg1"/>
                  </a:solidFill>
                </a:rPr>
                <a:t>王昌龄</a:t>
              </a:r>
              <a:endParaRPr lang="zh-CN" altLang="en-US" sz="1200" b="1">
                <a:solidFill>
                  <a:schemeClr val="bg1"/>
                </a:solidFill>
              </a:endParaRPr>
            </a:p>
          </p:txBody>
        </p:sp>
        <p:grpSp>
          <p:nvGrpSpPr>
            <p:cNvPr id="349" name="组合 348"/>
            <p:cNvGrpSpPr/>
            <p:nvPr/>
          </p:nvGrpSpPr>
          <p:grpSpPr>
            <a:xfrm>
              <a:off x="10375716" y="4657117"/>
              <a:ext cx="642964" cy="510074"/>
              <a:chOff x="5382631" y="261257"/>
              <a:chExt cx="642964" cy="510074"/>
            </a:xfrm>
          </p:grpSpPr>
          <p:sp>
            <p:nvSpPr>
              <p:cNvPr id="406" name="椭圆 405"/>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07" name="文本框 406"/>
              <p:cNvSpPr txBox="1"/>
              <p:nvPr/>
            </p:nvSpPr>
            <p:spPr>
              <a:xfrm>
                <a:off x="5382631" y="367462"/>
                <a:ext cx="642964" cy="276999"/>
              </a:xfrm>
              <a:prstGeom prst="rect">
                <a:avLst/>
              </a:prstGeom>
              <a:noFill/>
            </p:spPr>
            <p:txBody>
              <a:bodyPr wrap="square" rtlCol="0">
                <a:spAutoFit/>
              </a:bodyPr>
              <a:lstStyle/>
              <a:p>
                <a:r>
                  <a:rPr lang="zh-CN" altLang="en-US" sz="1200" b="1">
                    <a:solidFill>
                      <a:schemeClr val="bg1"/>
                    </a:solidFill>
                  </a:rPr>
                  <a:t>储光义</a:t>
                </a:r>
                <a:endParaRPr lang="zh-CN" altLang="en-US" sz="1200" b="1">
                  <a:solidFill>
                    <a:schemeClr val="bg1"/>
                  </a:solidFill>
                </a:endParaRPr>
              </a:p>
            </p:txBody>
          </p:sp>
        </p:grpSp>
        <p:grpSp>
          <p:nvGrpSpPr>
            <p:cNvPr id="350" name="组合 349"/>
            <p:cNvGrpSpPr/>
            <p:nvPr/>
          </p:nvGrpSpPr>
          <p:grpSpPr>
            <a:xfrm>
              <a:off x="2853183" y="3075993"/>
              <a:ext cx="642964" cy="510074"/>
              <a:chOff x="5382631" y="261257"/>
              <a:chExt cx="642964" cy="510074"/>
            </a:xfrm>
          </p:grpSpPr>
          <p:sp>
            <p:nvSpPr>
              <p:cNvPr id="404" name="椭圆 403"/>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05" name="文本框 404"/>
              <p:cNvSpPr txBox="1"/>
              <p:nvPr/>
            </p:nvSpPr>
            <p:spPr>
              <a:xfrm>
                <a:off x="5382631" y="367462"/>
                <a:ext cx="642964" cy="276999"/>
              </a:xfrm>
              <a:prstGeom prst="rect">
                <a:avLst/>
              </a:prstGeom>
              <a:noFill/>
            </p:spPr>
            <p:txBody>
              <a:bodyPr wrap="square" rtlCol="0">
                <a:spAutoFit/>
              </a:bodyPr>
              <a:lstStyle/>
              <a:p>
                <a:r>
                  <a:rPr lang="zh-CN" altLang="en-US" sz="1200" b="1">
                    <a:solidFill>
                      <a:schemeClr val="bg1"/>
                    </a:solidFill>
                  </a:rPr>
                  <a:t>刘长卿</a:t>
                </a:r>
                <a:endParaRPr lang="zh-CN" altLang="en-US" sz="1200" b="1">
                  <a:solidFill>
                    <a:schemeClr val="bg1"/>
                  </a:solidFill>
                </a:endParaRPr>
              </a:p>
            </p:txBody>
          </p:sp>
        </p:grpSp>
        <p:sp>
          <p:nvSpPr>
            <p:cNvPr id="351" name="椭圆 350"/>
            <p:cNvSpPr/>
            <p:nvPr/>
          </p:nvSpPr>
          <p:spPr>
            <a:xfrm>
              <a:off x="5202760" y="1603225"/>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52" name="文本框 351"/>
            <p:cNvSpPr txBox="1"/>
            <p:nvPr/>
          </p:nvSpPr>
          <p:spPr>
            <a:xfrm>
              <a:off x="5136315" y="1709430"/>
              <a:ext cx="642964" cy="276999"/>
            </a:xfrm>
            <a:prstGeom prst="rect">
              <a:avLst/>
            </a:prstGeom>
            <a:noFill/>
          </p:spPr>
          <p:txBody>
            <a:bodyPr wrap="square" rtlCol="0">
              <a:spAutoFit/>
            </a:bodyPr>
            <a:lstStyle/>
            <a:p>
              <a:r>
                <a:rPr lang="zh-CN" altLang="en-US" sz="1200" b="1">
                  <a:solidFill>
                    <a:schemeClr val="bg1"/>
                  </a:solidFill>
                </a:rPr>
                <a:t>张九龄</a:t>
              </a:r>
              <a:endParaRPr lang="zh-CN" altLang="en-US" sz="1200" b="1">
                <a:solidFill>
                  <a:schemeClr val="bg1"/>
                </a:solidFill>
              </a:endParaRPr>
            </a:p>
          </p:txBody>
        </p:sp>
        <p:sp>
          <p:nvSpPr>
            <p:cNvPr id="353" name="椭圆 352"/>
            <p:cNvSpPr/>
            <p:nvPr/>
          </p:nvSpPr>
          <p:spPr>
            <a:xfrm>
              <a:off x="10162527" y="1357985"/>
              <a:ext cx="510075" cy="538258"/>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54" name="文本框 353"/>
            <p:cNvSpPr txBox="1"/>
            <p:nvPr/>
          </p:nvSpPr>
          <p:spPr>
            <a:xfrm>
              <a:off x="10096082" y="1470058"/>
              <a:ext cx="642964" cy="276999"/>
            </a:xfrm>
            <a:prstGeom prst="rect">
              <a:avLst/>
            </a:prstGeom>
            <a:noFill/>
          </p:spPr>
          <p:txBody>
            <a:bodyPr wrap="square" rtlCol="0">
              <a:spAutoFit/>
            </a:bodyPr>
            <a:lstStyle/>
            <a:p>
              <a:r>
                <a:rPr lang="zh-CN" altLang="en-US" sz="1200" b="1">
                  <a:solidFill>
                    <a:schemeClr val="bg1"/>
                  </a:solidFill>
                </a:rPr>
                <a:t>崔国辅</a:t>
              </a:r>
              <a:endParaRPr lang="zh-CN" altLang="en-US" sz="1200" b="1">
                <a:solidFill>
                  <a:schemeClr val="bg1"/>
                </a:solidFill>
              </a:endParaRPr>
            </a:p>
          </p:txBody>
        </p:sp>
        <p:sp>
          <p:nvSpPr>
            <p:cNvPr id="355" name="椭圆 354"/>
            <p:cNvSpPr/>
            <p:nvPr/>
          </p:nvSpPr>
          <p:spPr>
            <a:xfrm>
              <a:off x="4163036" y="3575199"/>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56" name="文本框 355"/>
            <p:cNvSpPr txBox="1"/>
            <p:nvPr/>
          </p:nvSpPr>
          <p:spPr>
            <a:xfrm>
              <a:off x="4096591" y="3681404"/>
              <a:ext cx="642964" cy="276999"/>
            </a:xfrm>
            <a:prstGeom prst="rect">
              <a:avLst/>
            </a:prstGeom>
            <a:noFill/>
          </p:spPr>
          <p:txBody>
            <a:bodyPr wrap="square" rtlCol="0">
              <a:spAutoFit/>
            </a:bodyPr>
            <a:lstStyle/>
            <a:p>
              <a:r>
                <a:rPr lang="zh-CN" altLang="en-US" sz="1200" b="1">
                  <a:solidFill>
                    <a:schemeClr val="bg1"/>
                  </a:solidFill>
                </a:rPr>
                <a:t>李嘉祐</a:t>
              </a:r>
              <a:endParaRPr lang="zh-CN" altLang="en-US" sz="1200" b="1">
                <a:solidFill>
                  <a:schemeClr val="bg1"/>
                </a:solidFill>
              </a:endParaRPr>
            </a:p>
          </p:txBody>
        </p:sp>
        <p:sp>
          <p:nvSpPr>
            <p:cNvPr id="357" name="椭圆 356"/>
            <p:cNvSpPr/>
            <p:nvPr/>
          </p:nvSpPr>
          <p:spPr>
            <a:xfrm>
              <a:off x="7453814" y="596425"/>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358" name="文本框 357"/>
            <p:cNvSpPr txBox="1"/>
            <p:nvPr/>
          </p:nvSpPr>
          <p:spPr>
            <a:xfrm>
              <a:off x="7387369" y="702630"/>
              <a:ext cx="642964" cy="276999"/>
            </a:xfrm>
            <a:prstGeom prst="rect">
              <a:avLst/>
            </a:prstGeom>
            <a:noFill/>
          </p:spPr>
          <p:txBody>
            <a:bodyPr wrap="square" rtlCol="0">
              <a:spAutoFit/>
            </a:bodyPr>
            <a:lstStyle/>
            <a:p>
              <a:r>
                <a:rPr lang="zh-CN" altLang="en-US" sz="1200" b="1">
                  <a:solidFill>
                    <a:schemeClr val="bg1"/>
                  </a:solidFill>
                </a:rPr>
                <a:t>贺知章</a:t>
              </a:r>
              <a:endParaRPr lang="zh-CN" altLang="en-US" sz="1200" b="1">
                <a:solidFill>
                  <a:schemeClr val="bg1"/>
                </a:solidFill>
              </a:endParaRPr>
            </a:p>
          </p:txBody>
        </p:sp>
        <p:cxnSp>
          <p:nvCxnSpPr>
            <p:cNvPr id="359" name="直接箭头连接符 358"/>
            <p:cNvCxnSpPr>
              <a:stCxn id="358" idx="1"/>
              <a:endCxn id="417" idx="3"/>
            </p:cNvCxnSpPr>
            <p:nvPr/>
          </p:nvCxnSpPr>
          <p:spPr>
            <a:xfrm flipH="1" flipV="1">
              <a:off x="6302565" y="739821"/>
              <a:ext cx="1084804" cy="101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0" name="直接箭头连接符 359"/>
            <p:cNvCxnSpPr>
              <a:stCxn id="418" idx="1"/>
            </p:cNvCxnSpPr>
            <p:nvPr/>
          </p:nvCxnSpPr>
          <p:spPr>
            <a:xfrm flipH="1" flipV="1">
              <a:off x="6219325" y="957646"/>
              <a:ext cx="416454" cy="503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1" name="直接箭头连接符 360"/>
            <p:cNvCxnSpPr/>
            <p:nvPr/>
          </p:nvCxnSpPr>
          <p:spPr>
            <a:xfrm>
              <a:off x="7043753" y="1778323"/>
              <a:ext cx="509179" cy="21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2" name="直接箭头连接符 361"/>
            <p:cNvCxnSpPr>
              <a:stCxn id="416" idx="3"/>
              <a:endCxn id="351" idx="0"/>
            </p:cNvCxnSpPr>
            <p:nvPr/>
          </p:nvCxnSpPr>
          <p:spPr>
            <a:xfrm flipH="1">
              <a:off x="5457798" y="920159"/>
              <a:ext cx="374979" cy="683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3" name="直接箭头连接符 362"/>
            <p:cNvCxnSpPr>
              <a:stCxn id="319" idx="0"/>
              <a:endCxn id="357" idx="4"/>
            </p:cNvCxnSpPr>
            <p:nvPr/>
          </p:nvCxnSpPr>
          <p:spPr>
            <a:xfrm flipH="1" flipV="1">
              <a:off x="7708852" y="1106499"/>
              <a:ext cx="72611" cy="7465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4" name="直接箭头连接符 363"/>
            <p:cNvCxnSpPr>
              <a:stCxn id="319" idx="7"/>
              <a:endCxn id="328" idx="1"/>
            </p:cNvCxnSpPr>
            <p:nvPr/>
          </p:nvCxnSpPr>
          <p:spPr>
            <a:xfrm flipV="1">
              <a:off x="7961801" y="1399322"/>
              <a:ext cx="825061" cy="5283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5" name="直接箭头连接符 364"/>
            <p:cNvCxnSpPr>
              <a:stCxn id="320" idx="3"/>
              <a:endCxn id="321" idx="1"/>
            </p:cNvCxnSpPr>
            <p:nvPr/>
          </p:nvCxnSpPr>
          <p:spPr>
            <a:xfrm>
              <a:off x="8070912" y="2108059"/>
              <a:ext cx="1132233" cy="242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6" name="直接箭头连接符 365"/>
            <p:cNvCxnSpPr>
              <a:stCxn id="319" idx="3"/>
              <a:endCxn id="323" idx="0"/>
            </p:cNvCxnSpPr>
            <p:nvPr/>
          </p:nvCxnSpPr>
          <p:spPr>
            <a:xfrm flipH="1">
              <a:off x="7319291" y="2288397"/>
              <a:ext cx="281833" cy="827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7" name="直接箭头连接符 366"/>
            <p:cNvCxnSpPr>
              <a:stCxn id="323" idx="7"/>
              <a:endCxn id="319" idx="4"/>
            </p:cNvCxnSpPr>
            <p:nvPr/>
          </p:nvCxnSpPr>
          <p:spPr>
            <a:xfrm flipV="1">
              <a:off x="7499629" y="2363096"/>
              <a:ext cx="281834" cy="82778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8" name="直接箭头连接符 367"/>
            <p:cNvCxnSpPr>
              <a:stCxn id="323" idx="7"/>
              <a:endCxn id="327" idx="3"/>
            </p:cNvCxnSpPr>
            <p:nvPr/>
          </p:nvCxnSpPr>
          <p:spPr>
            <a:xfrm flipV="1">
              <a:off x="7499629" y="1566507"/>
              <a:ext cx="1373998" cy="162437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9" name="直接箭头连接符 368"/>
            <p:cNvCxnSpPr>
              <a:endCxn id="322" idx="1"/>
            </p:cNvCxnSpPr>
            <p:nvPr/>
          </p:nvCxnSpPr>
          <p:spPr>
            <a:xfrm flipV="1">
              <a:off x="7608740" y="2520545"/>
              <a:ext cx="1453261" cy="72704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70" name="直接箭头连接符 369"/>
            <p:cNvCxnSpPr>
              <a:stCxn id="321" idx="7"/>
              <a:endCxn id="353" idx="3"/>
            </p:cNvCxnSpPr>
            <p:nvPr/>
          </p:nvCxnSpPr>
          <p:spPr>
            <a:xfrm flipV="1">
              <a:off x="9563822" y="1817417"/>
              <a:ext cx="673404" cy="53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1" name="直接箭头连接符 370"/>
            <p:cNvCxnSpPr>
              <a:stCxn id="324" idx="3"/>
              <a:endCxn id="348" idx="1"/>
            </p:cNvCxnSpPr>
            <p:nvPr/>
          </p:nvCxnSpPr>
          <p:spPr>
            <a:xfrm flipV="1">
              <a:off x="7608740" y="3366011"/>
              <a:ext cx="788855" cy="521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72" name="直接箭头连接符 371"/>
            <p:cNvCxnSpPr>
              <a:stCxn id="348" idx="3"/>
              <a:endCxn id="342" idx="1"/>
            </p:cNvCxnSpPr>
            <p:nvPr/>
          </p:nvCxnSpPr>
          <p:spPr>
            <a:xfrm flipV="1">
              <a:off x="9040559" y="3324172"/>
              <a:ext cx="979401" cy="41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3" name="直接箭头连接符 372"/>
            <p:cNvCxnSpPr>
              <a:stCxn id="406" idx="0"/>
              <a:endCxn id="342" idx="5"/>
            </p:cNvCxnSpPr>
            <p:nvPr/>
          </p:nvCxnSpPr>
          <p:spPr>
            <a:xfrm flipH="1" flipV="1">
              <a:off x="10380637" y="3684848"/>
              <a:ext cx="316562" cy="972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4" name="直接箭头连接符 373"/>
            <p:cNvCxnSpPr>
              <a:stCxn id="342" idx="4"/>
            </p:cNvCxnSpPr>
            <p:nvPr/>
          </p:nvCxnSpPr>
          <p:spPr>
            <a:xfrm flipH="1">
              <a:off x="9113068" y="3759547"/>
              <a:ext cx="1087231" cy="1142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5" name="直接箭头连接符 374"/>
            <p:cNvCxnSpPr>
              <a:stCxn id="413" idx="3"/>
              <a:endCxn id="407" idx="1"/>
            </p:cNvCxnSpPr>
            <p:nvPr/>
          </p:nvCxnSpPr>
          <p:spPr>
            <a:xfrm flipV="1">
              <a:off x="9227031" y="4901822"/>
              <a:ext cx="1148685" cy="156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6" name="直接箭头连接符 375"/>
            <p:cNvCxnSpPr>
              <a:stCxn id="412" idx="1"/>
            </p:cNvCxnSpPr>
            <p:nvPr/>
          </p:nvCxnSpPr>
          <p:spPr>
            <a:xfrm flipH="1" flipV="1">
              <a:off x="7570589" y="3494751"/>
              <a:ext cx="1186654" cy="1382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7" name="直接箭头连接符 376"/>
            <p:cNvCxnSpPr>
              <a:stCxn id="347" idx="3"/>
              <a:endCxn id="325" idx="0"/>
            </p:cNvCxnSpPr>
            <p:nvPr/>
          </p:nvCxnSpPr>
          <p:spPr>
            <a:xfrm flipH="1">
              <a:off x="7822166" y="3587733"/>
              <a:ext cx="716393" cy="6655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8" name="直接箭头连接符 377"/>
            <p:cNvCxnSpPr>
              <a:endCxn id="347" idx="4"/>
            </p:cNvCxnSpPr>
            <p:nvPr/>
          </p:nvCxnSpPr>
          <p:spPr>
            <a:xfrm flipV="1">
              <a:off x="8037521" y="3662432"/>
              <a:ext cx="681377" cy="6919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9" name="直接箭头连接符 378"/>
            <p:cNvCxnSpPr>
              <a:stCxn id="323" idx="5"/>
              <a:endCxn id="325" idx="0"/>
            </p:cNvCxnSpPr>
            <p:nvPr/>
          </p:nvCxnSpPr>
          <p:spPr>
            <a:xfrm>
              <a:off x="7499629" y="3551559"/>
              <a:ext cx="322537" cy="70168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0" name="直接箭头连接符 379"/>
            <p:cNvCxnSpPr>
              <a:stCxn id="325" idx="1"/>
              <a:endCxn id="323" idx="4"/>
            </p:cNvCxnSpPr>
            <p:nvPr/>
          </p:nvCxnSpPr>
          <p:spPr>
            <a:xfrm flipH="1" flipV="1">
              <a:off x="7319291" y="3626258"/>
              <a:ext cx="322536" cy="7016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1" name="直接箭头连接符 380"/>
            <p:cNvCxnSpPr>
              <a:stCxn id="323" idx="3"/>
              <a:endCxn id="330" idx="3"/>
            </p:cNvCxnSpPr>
            <p:nvPr/>
          </p:nvCxnSpPr>
          <p:spPr>
            <a:xfrm flipH="1">
              <a:off x="6122226" y="3551559"/>
              <a:ext cx="1016726" cy="7660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2" name="直接箭头连接符 381"/>
            <p:cNvCxnSpPr>
              <a:stCxn id="329" idx="7"/>
            </p:cNvCxnSpPr>
            <p:nvPr/>
          </p:nvCxnSpPr>
          <p:spPr>
            <a:xfrm flipV="1">
              <a:off x="6013115" y="3494749"/>
              <a:ext cx="1058040" cy="642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3" name="直接箭头连接符 382"/>
            <p:cNvCxnSpPr/>
            <p:nvPr/>
          </p:nvCxnSpPr>
          <p:spPr>
            <a:xfrm flipH="1" flipV="1">
              <a:off x="5624081" y="3227057"/>
              <a:ext cx="1479285" cy="2053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4" name="直接箭头连接符 383"/>
            <p:cNvCxnSpPr>
              <a:stCxn id="334" idx="3"/>
              <a:endCxn id="324" idx="1"/>
            </p:cNvCxnSpPr>
            <p:nvPr/>
          </p:nvCxnSpPr>
          <p:spPr>
            <a:xfrm>
              <a:off x="5660844" y="3345091"/>
              <a:ext cx="1368995" cy="261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5" name="直接箭头连接符 384"/>
            <p:cNvCxnSpPr>
              <a:stCxn id="343" idx="1"/>
            </p:cNvCxnSpPr>
            <p:nvPr/>
          </p:nvCxnSpPr>
          <p:spPr>
            <a:xfrm flipH="1">
              <a:off x="9004959" y="3504510"/>
              <a:ext cx="905888" cy="47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6" name="直接箭头连接符 385"/>
            <p:cNvCxnSpPr>
              <a:stCxn id="321" idx="3"/>
              <a:endCxn id="347" idx="0"/>
            </p:cNvCxnSpPr>
            <p:nvPr/>
          </p:nvCxnSpPr>
          <p:spPr>
            <a:xfrm flipH="1">
              <a:off x="8718898" y="2711215"/>
              <a:ext cx="484247" cy="441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7" name="直接箭头连接符 386"/>
            <p:cNvCxnSpPr>
              <a:stCxn id="342" idx="0"/>
              <a:endCxn id="321" idx="5"/>
            </p:cNvCxnSpPr>
            <p:nvPr/>
          </p:nvCxnSpPr>
          <p:spPr>
            <a:xfrm flipH="1" flipV="1">
              <a:off x="9563822" y="2711215"/>
              <a:ext cx="636477" cy="538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8" name="直接箭头连接符 387"/>
            <p:cNvCxnSpPr>
              <a:stCxn id="323" idx="3"/>
              <a:endCxn id="340" idx="0"/>
            </p:cNvCxnSpPr>
            <p:nvPr/>
          </p:nvCxnSpPr>
          <p:spPr>
            <a:xfrm flipH="1">
              <a:off x="6688375" y="3551559"/>
              <a:ext cx="450577" cy="148721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89" name="直接箭头连接符 388"/>
            <p:cNvCxnSpPr>
              <a:stCxn id="319" idx="5"/>
              <a:endCxn id="347" idx="1"/>
            </p:cNvCxnSpPr>
            <p:nvPr/>
          </p:nvCxnSpPr>
          <p:spPr>
            <a:xfrm>
              <a:off x="7961801" y="2288397"/>
              <a:ext cx="576758" cy="938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0" name="直接箭头连接符 389"/>
            <p:cNvCxnSpPr/>
            <p:nvPr/>
          </p:nvCxnSpPr>
          <p:spPr>
            <a:xfrm flipH="1">
              <a:off x="4656979" y="3429000"/>
              <a:ext cx="499952" cy="2435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1" name="直接箭头连接符 390"/>
            <p:cNvCxnSpPr>
              <a:endCxn id="405" idx="3"/>
            </p:cNvCxnSpPr>
            <p:nvPr/>
          </p:nvCxnSpPr>
          <p:spPr>
            <a:xfrm flipH="1" flipV="1">
              <a:off x="3496147" y="3320698"/>
              <a:ext cx="681094" cy="303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2" name="直接箭头连接符 391"/>
            <p:cNvCxnSpPr>
              <a:endCxn id="356" idx="1"/>
            </p:cNvCxnSpPr>
            <p:nvPr/>
          </p:nvCxnSpPr>
          <p:spPr>
            <a:xfrm>
              <a:off x="3427714" y="3525109"/>
              <a:ext cx="668877" cy="294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3" name="直接箭头连接符 392"/>
            <p:cNvCxnSpPr>
              <a:stCxn id="404" idx="0"/>
              <a:endCxn id="408" idx="4"/>
            </p:cNvCxnSpPr>
            <p:nvPr/>
          </p:nvCxnSpPr>
          <p:spPr>
            <a:xfrm flipH="1" flipV="1">
              <a:off x="2999382" y="2235136"/>
              <a:ext cx="175284" cy="840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4" name="直接箭头连接符 393"/>
            <p:cNvCxnSpPr>
              <a:stCxn id="404" idx="1"/>
              <a:endCxn id="336" idx="3"/>
            </p:cNvCxnSpPr>
            <p:nvPr/>
          </p:nvCxnSpPr>
          <p:spPr>
            <a:xfrm flipH="1" flipV="1">
              <a:off x="2186295" y="2820956"/>
              <a:ext cx="808032" cy="329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5" name="直接箭头连接符 394"/>
            <p:cNvCxnSpPr>
              <a:stCxn id="335" idx="5"/>
              <a:endCxn id="405" idx="1"/>
            </p:cNvCxnSpPr>
            <p:nvPr/>
          </p:nvCxnSpPr>
          <p:spPr>
            <a:xfrm>
              <a:off x="2077184" y="3001294"/>
              <a:ext cx="775999" cy="319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6" name="直接箭头连接符 395"/>
            <p:cNvCxnSpPr>
              <a:stCxn id="404" idx="3"/>
              <a:endCxn id="345" idx="0"/>
            </p:cNvCxnSpPr>
            <p:nvPr/>
          </p:nvCxnSpPr>
          <p:spPr>
            <a:xfrm>
              <a:off x="2994327" y="3511368"/>
              <a:ext cx="5055" cy="1095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7" name="直接箭头连接符 396"/>
            <p:cNvCxnSpPr>
              <a:stCxn id="345" idx="7"/>
              <a:endCxn id="404" idx="4"/>
            </p:cNvCxnSpPr>
            <p:nvPr/>
          </p:nvCxnSpPr>
          <p:spPr>
            <a:xfrm flipH="1" flipV="1">
              <a:off x="3174666" y="3586067"/>
              <a:ext cx="5054" cy="1095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8" name="直接箭头连接符 397"/>
            <p:cNvCxnSpPr>
              <a:stCxn id="355" idx="3"/>
              <a:endCxn id="346" idx="3"/>
            </p:cNvCxnSpPr>
            <p:nvPr/>
          </p:nvCxnSpPr>
          <p:spPr>
            <a:xfrm flipH="1">
              <a:off x="3320863" y="4010574"/>
              <a:ext cx="916872" cy="840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9" name="直接箭头连接符 398"/>
            <p:cNvCxnSpPr/>
            <p:nvPr/>
          </p:nvCxnSpPr>
          <p:spPr>
            <a:xfrm>
              <a:off x="3116060" y="5167191"/>
              <a:ext cx="463500" cy="399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0" name="直接箭头连接符 399"/>
            <p:cNvCxnSpPr>
              <a:stCxn id="414" idx="0"/>
            </p:cNvCxnSpPr>
            <p:nvPr/>
          </p:nvCxnSpPr>
          <p:spPr>
            <a:xfrm flipH="1" flipV="1">
              <a:off x="3240975" y="5038774"/>
              <a:ext cx="521178" cy="426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1" name="直接箭头连接符 400"/>
            <p:cNvCxnSpPr>
              <a:stCxn id="414" idx="7"/>
              <a:endCxn id="411" idx="1"/>
            </p:cNvCxnSpPr>
            <p:nvPr/>
          </p:nvCxnSpPr>
          <p:spPr>
            <a:xfrm flipV="1">
              <a:off x="3942491" y="5197460"/>
              <a:ext cx="690436" cy="342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2" name="直接箭头连接符 401"/>
            <p:cNvCxnSpPr>
              <a:stCxn id="410" idx="3"/>
              <a:endCxn id="415" idx="3"/>
            </p:cNvCxnSpPr>
            <p:nvPr/>
          </p:nvCxnSpPr>
          <p:spPr>
            <a:xfrm flipH="1">
              <a:off x="4051602" y="5377798"/>
              <a:ext cx="690438" cy="342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3" name="直接箭头连接符 402"/>
            <p:cNvCxnSpPr>
              <a:stCxn id="351" idx="7"/>
              <a:endCxn id="416" idx="4"/>
            </p:cNvCxnSpPr>
            <p:nvPr/>
          </p:nvCxnSpPr>
          <p:spPr>
            <a:xfrm flipV="1">
              <a:off x="5638136" y="994858"/>
              <a:ext cx="374980" cy="683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373283" y="3482844"/>
            <a:ext cx="1584470" cy="1000402"/>
          </a:xfrm>
          <a:prstGeom prst="rect">
            <a:avLst/>
          </a:prstGeom>
          <a:solidFill>
            <a:schemeClr val="accent6">
              <a:lumMod val="20000"/>
              <a:lumOff val="80000"/>
            </a:schemeClr>
          </a:solidFill>
        </p:spPr>
        <p:txBody>
          <a:bodyPr wrap="square" rtlCol="0">
            <a:spAutoFit/>
          </a:bodyPr>
          <a:lstStyle/>
          <a:p>
            <a:pPr>
              <a:lnSpc>
                <a:spcPts val="2400"/>
              </a:lnSpc>
            </a:pPr>
            <a:r>
              <a:rPr lang="zh-CN" altLang="en-US" b="1">
                <a:solidFill>
                  <a:schemeClr val="accent6">
                    <a:lumMod val="50000"/>
                  </a:schemeClr>
                </a:solidFill>
              </a:rPr>
              <a:t>绿色</a:t>
            </a:r>
            <a:r>
              <a:rPr lang="zh-CN" altLang="en-US" b="1">
                <a:solidFill>
                  <a:schemeClr val="accent2">
                    <a:lumMod val="50000"/>
                  </a:schemeClr>
                </a:solidFill>
              </a:rPr>
              <a:t>标出杜甫能直接联系到的诗人</a:t>
            </a:r>
            <a:endParaRPr lang="zh-CN" altLang="en-US" b="1">
              <a:solidFill>
                <a:schemeClr val="accent2">
                  <a:lumMod val="50000"/>
                </a:schemeClr>
              </a:solidFill>
            </a:endParaRPr>
          </a:p>
        </p:txBody>
      </p:sp>
      <p:grpSp>
        <p:nvGrpSpPr>
          <p:cNvPr id="420" name="组合 419"/>
          <p:cNvGrpSpPr/>
          <p:nvPr/>
        </p:nvGrpSpPr>
        <p:grpSpPr>
          <a:xfrm>
            <a:off x="2254816" y="904184"/>
            <a:ext cx="9411286" cy="5490548"/>
            <a:chOff x="1607394" y="484784"/>
            <a:chExt cx="9411286" cy="5490548"/>
          </a:xfrm>
        </p:grpSpPr>
        <p:sp>
          <p:nvSpPr>
            <p:cNvPr id="421" name="椭圆 420"/>
            <p:cNvSpPr/>
            <p:nvPr/>
          </p:nvSpPr>
          <p:spPr>
            <a:xfrm>
              <a:off x="7526425" y="185302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22" name="文本框 421"/>
            <p:cNvSpPr txBox="1"/>
            <p:nvPr/>
          </p:nvSpPr>
          <p:spPr>
            <a:xfrm>
              <a:off x="7492011" y="1954170"/>
              <a:ext cx="578901" cy="307777"/>
            </a:xfrm>
            <a:prstGeom prst="rect">
              <a:avLst/>
            </a:prstGeom>
            <a:noFill/>
          </p:spPr>
          <p:txBody>
            <a:bodyPr wrap="square" rtlCol="0">
              <a:spAutoFit/>
            </a:bodyPr>
            <a:lstStyle/>
            <a:p>
              <a:r>
                <a:rPr lang="zh-CN" altLang="en-US" sz="1400" b="1">
                  <a:solidFill>
                    <a:schemeClr val="bg1"/>
                  </a:solidFill>
                </a:rPr>
                <a:t>李白</a:t>
              </a:r>
              <a:endParaRPr lang="zh-CN" altLang="en-US" sz="1400" b="1">
                <a:solidFill>
                  <a:schemeClr val="bg1"/>
                </a:solidFill>
              </a:endParaRPr>
            </a:p>
          </p:txBody>
        </p:sp>
        <p:sp>
          <p:nvSpPr>
            <p:cNvPr id="423" name="椭圆 422"/>
            <p:cNvSpPr/>
            <p:nvPr/>
          </p:nvSpPr>
          <p:spPr>
            <a:xfrm>
              <a:off x="9128446" y="2275840"/>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24" name="文本框 423"/>
            <p:cNvSpPr txBox="1"/>
            <p:nvPr/>
          </p:nvSpPr>
          <p:spPr>
            <a:xfrm>
              <a:off x="9062001" y="2382045"/>
              <a:ext cx="642964" cy="276999"/>
            </a:xfrm>
            <a:prstGeom prst="rect">
              <a:avLst/>
            </a:prstGeom>
            <a:noFill/>
          </p:spPr>
          <p:txBody>
            <a:bodyPr wrap="square" rtlCol="0">
              <a:spAutoFit/>
            </a:bodyPr>
            <a:lstStyle/>
            <a:p>
              <a:r>
                <a:rPr lang="zh-CN" altLang="en-US" sz="1200" b="1">
                  <a:solidFill>
                    <a:schemeClr val="bg1"/>
                  </a:solidFill>
                </a:rPr>
                <a:t>孟浩然</a:t>
              </a:r>
              <a:endParaRPr lang="zh-CN" altLang="en-US" sz="1200" b="1">
                <a:solidFill>
                  <a:schemeClr val="bg1"/>
                </a:solidFill>
              </a:endParaRPr>
            </a:p>
          </p:txBody>
        </p:sp>
        <p:sp>
          <p:nvSpPr>
            <p:cNvPr id="425" name="椭圆 424"/>
            <p:cNvSpPr/>
            <p:nvPr/>
          </p:nvSpPr>
          <p:spPr>
            <a:xfrm>
              <a:off x="7064253" y="3116184"/>
              <a:ext cx="510075" cy="510074"/>
            </a:xfrm>
            <a:prstGeom prst="ellipse">
              <a:avLst/>
            </a:prstGeom>
            <a:solidFill>
              <a:srgbClr val="FFC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26" name="文本框 425"/>
            <p:cNvSpPr txBox="1"/>
            <p:nvPr/>
          </p:nvSpPr>
          <p:spPr>
            <a:xfrm>
              <a:off x="7029839" y="3217332"/>
              <a:ext cx="578901" cy="307777"/>
            </a:xfrm>
            <a:prstGeom prst="rect">
              <a:avLst/>
            </a:prstGeom>
            <a:noFill/>
          </p:spPr>
          <p:txBody>
            <a:bodyPr wrap="square" rtlCol="0">
              <a:spAutoFit/>
            </a:bodyPr>
            <a:lstStyle/>
            <a:p>
              <a:r>
                <a:rPr lang="zh-CN" altLang="en-US" sz="1400" b="1">
                  <a:solidFill>
                    <a:schemeClr val="bg1"/>
                  </a:solidFill>
                </a:rPr>
                <a:t>杜甫</a:t>
              </a:r>
              <a:endParaRPr lang="zh-CN" altLang="en-US" sz="1400" b="1">
                <a:solidFill>
                  <a:schemeClr val="bg1"/>
                </a:solidFill>
              </a:endParaRPr>
            </a:p>
          </p:txBody>
        </p:sp>
        <p:sp>
          <p:nvSpPr>
            <p:cNvPr id="427" name="椭圆 426"/>
            <p:cNvSpPr/>
            <p:nvPr/>
          </p:nvSpPr>
          <p:spPr>
            <a:xfrm>
              <a:off x="7567128" y="4253248"/>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28" name="文本框 427"/>
            <p:cNvSpPr txBox="1"/>
            <p:nvPr/>
          </p:nvSpPr>
          <p:spPr>
            <a:xfrm>
              <a:off x="7532714" y="4354396"/>
              <a:ext cx="578901" cy="307777"/>
            </a:xfrm>
            <a:prstGeom prst="rect">
              <a:avLst/>
            </a:prstGeom>
            <a:noFill/>
          </p:spPr>
          <p:txBody>
            <a:bodyPr wrap="square" rtlCol="0">
              <a:spAutoFit/>
            </a:bodyPr>
            <a:lstStyle/>
            <a:p>
              <a:r>
                <a:rPr lang="zh-CN" altLang="en-US" sz="1400" b="1">
                  <a:solidFill>
                    <a:schemeClr val="bg1"/>
                  </a:solidFill>
                </a:rPr>
                <a:t>高适</a:t>
              </a:r>
              <a:endParaRPr lang="zh-CN" altLang="en-US" sz="1400" b="1">
                <a:solidFill>
                  <a:schemeClr val="bg1"/>
                </a:solidFill>
              </a:endParaRPr>
            </a:p>
          </p:txBody>
        </p:sp>
        <p:sp>
          <p:nvSpPr>
            <p:cNvPr id="429" name="椭圆 428"/>
            <p:cNvSpPr/>
            <p:nvPr/>
          </p:nvSpPr>
          <p:spPr>
            <a:xfrm>
              <a:off x="8798928" y="1131132"/>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30" name="文本框 429"/>
            <p:cNvSpPr txBox="1"/>
            <p:nvPr/>
          </p:nvSpPr>
          <p:spPr>
            <a:xfrm>
              <a:off x="8786862" y="1245433"/>
              <a:ext cx="578901" cy="307777"/>
            </a:xfrm>
            <a:prstGeom prst="rect">
              <a:avLst/>
            </a:prstGeom>
            <a:noFill/>
          </p:spPr>
          <p:txBody>
            <a:bodyPr wrap="square" rtlCol="0">
              <a:spAutoFit/>
            </a:bodyPr>
            <a:lstStyle/>
            <a:p>
              <a:r>
                <a:rPr lang="zh-CN" altLang="en-US" sz="1400" b="1">
                  <a:solidFill>
                    <a:schemeClr val="bg1"/>
                  </a:solidFill>
                </a:rPr>
                <a:t>张旭</a:t>
              </a:r>
              <a:endParaRPr lang="zh-CN" altLang="en-US" sz="1400" b="1">
                <a:solidFill>
                  <a:schemeClr val="bg1"/>
                </a:solidFill>
              </a:endParaRPr>
            </a:p>
          </p:txBody>
        </p:sp>
        <p:sp>
          <p:nvSpPr>
            <p:cNvPr id="431" name="椭圆 430"/>
            <p:cNvSpPr/>
            <p:nvPr/>
          </p:nvSpPr>
          <p:spPr>
            <a:xfrm>
              <a:off x="5577739" y="406257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32" name="文本框 431"/>
            <p:cNvSpPr txBox="1"/>
            <p:nvPr/>
          </p:nvSpPr>
          <p:spPr>
            <a:xfrm>
              <a:off x="5543325" y="4163720"/>
              <a:ext cx="578901" cy="307777"/>
            </a:xfrm>
            <a:prstGeom prst="rect">
              <a:avLst/>
            </a:prstGeom>
            <a:noFill/>
          </p:spPr>
          <p:txBody>
            <a:bodyPr wrap="square" rtlCol="0">
              <a:spAutoFit/>
            </a:bodyPr>
            <a:lstStyle/>
            <a:p>
              <a:r>
                <a:rPr lang="zh-CN" altLang="en-US" sz="1400" b="1">
                  <a:solidFill>
                    <a:schemeClr val="bg1"/>
                  </a:solidFill>
                </a:rPr>
                <a:t>严武</a:t>
              </a:r>
              <a:endParaRPr lang="zh-CN" altLang="en-US" sz="1400" b="1">
                <a:solidFill>
                  <a:schemeClr val="bg1"/>
                </a:solidFill>
              </a:endParaRPr>
            </a:p>
          </p:txBody>
        </p:sp>
        <p:grpSp>
          <p:nvGrpSpPr>
            <p:cNvPr id="433" name="组合 432"/>
            <p:cNvGrpSpPr/>
            <p:nvPr/>
          </p:nvGrpSpPr>
          <p:grpSpPr>
            <a:xfrm>
              <a:off x="6526666" y="1386169"/>
              <a:ext cx="578901" cy="510074"/>
              <a:chOff x="5414662" y="261257"/>
              <a:chExt cx="578901" cy="510074"/>
            </a:xfrm>
          </p:grpSpPr>
          <p:sp>
            <p:nvSpPr>
              <p:cNvPr id="520" name="椭圆 519"/>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21" name="文本框 520"/>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苏颋</a:t>
                </a:r>
                <a:endParaRPr lang="zh-CN" altLang="en-US" sz="1400" b="1">
                  <a:solidFill>
                    <a:schemeClr val="bg1"/>
                  </a:solidFill>
                </a:endParaRPr>
              </a:p>
            </p:txBody>
          </p:sp>
        </p:grpSp>
        <p:grpSp>
          <p:nvGrpSpPr>
            <p:cNvPr id="434" name="组合 433"/>
            <p:cNvGrpSpPr/>
            <p:nvPr/>
          </p:nvGrpSpPr>
          <p:grpSpPr>
            <a:xfrm>
              <a:off x="5723664" y="484784"/>
              <a:ext cx="578901" cy="510074"/>
              <a:chOff x="5414662" y="261257"/>
              <a:chExt cx="578901" cy="510074"/>
            </a:xfrm>
          </p:grpSpPr>
          <p:sp>
            <p:nvSpPr>
              <p:cNvPr id="518" name="椭圆 517"/>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19" name="文本框 518"/>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张说</a:t>
                </a:r>
                <a:endParaRPr lang="zh-CN" altLang="en-US" sz="1400" b="1">
                  <a:solidFill>
                    <a:schemeClr val="bg1"/>
                  </a:solidFill>
                </a:endParaRPr>
              </a:p>
            </p:txBody>
          </p:sp>
        </p:grpSp>
        <p:sp>
          <p:nvSpPr>
            <p:cNvPr id="435" name="椭圆 434"/>
            <p:cNvSpPr/>
            <p:nvPr/>
          </p:nvSpPr>
          <p:spPr>
            <a:xfrm>
              <a:off x="5116357" y="3090054"/>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36" name="文本框 435"/>
            <p:cNvSpPr txBox="1"/>
            <p:nvPr/>
          </p:nvSpPr>
          <p:spPr>
            <a:xfrm>
              <a:off x="5081943" y="3191202"/>
              <a:ext cx="578901" cy="307777"/>
            </a:xfrm>
            <a:prstGeom prst="rect">
              <a:avLst/>
            </a:prstGeom>
            <a:noFill/>
          </p:spPr>
          <p:txBody>
            <a:bodyPr wrap="square" rtlCol="0">
              <a:spAutoFit/>
            </a:bodyPr>
            <a:lstStyle/>
            <a:p>
              <a:r>
                <a:rPr lang="zh-CN" altLang="en-US" sz="1400" b="1">
                  <a:solidFill>
                    <a:schemeClr val="bg1"/>
                  </a:solidFill>
                </a:rPr>
                <a:t>岑参</a:t>
              </a:r>
              <a:endParaRPr lang="zh-CN" altLang="en-US" sz="1400" b="1">
                <a:solidFill>
                  <a:schemeClr val="bg1"/>
                </a:solidFill>
              </a:endParaRPr>
            </a:p>
          </p:txBody>
        </p:sp>
        <p:sp>
          <p:nvSpPr>
            <p:cNvPr id="437" name="椭圆 436"/>
            <p:cNvSpPr/>
            <p:nvPr/>
          </p:nvSpPr>
          <p:spPr>
            <a:xfrm>
              <a:off x="1641808" y="2565919"/>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38" name="文本框 437"/>
            <p:cNvSpPr txBox="1"/>
            <p:nvPr/>
          </p:nvSpPr>
          <p:spPr>
            <a:xfrm>
              <a:off x="1607394" y="2667067"/>
              <a:ext cx="578901" cy="307777"/>
            </a:xfrm>
            <a:prstGeom prst="rect">
              <a:avLst/>
            </a:prstGeom>
            <a:noFill/>
          </p:spPr>
          <p:txBody>
            <a:bodyPr wrap="square" rtlCol="0">
              <a:spAutoFit/>
            </a:bodyPr>
            <a:lstStyle/>
            <a:p>
              <a:r>
                <a:rPr lang="zh-CN" altLang="en-US" sz="1400" b="1">
                  <a:solidFill>
                    <a:schemeClr val="bg1"/>
                  </a:solidFill>
                </a:rPr>
                <a:t>张谓</a:t>
              </a:r>
              <a:endParaRPr lang="zh-CN" altLang="en-US" sz="1400" b="1">
                <a:solidFill>
                  <a:schemeClr val="bg1"/>
                </a:solidFill>
              </a:endParaRPr>
            </a:p>
          </p:txBody>
        </p:sp>
        <p:grpSp>
          <p:nvGrpSpPr>
            <p:cNvPr id="439" name="组合 438"/>
            <p:cNvGrpSpPr/>
            <p:nvPr/>
          </p:nvGrpSpPr>
          <p:grpSpPr>
            <a:xfrm>
              <a:off x="3472701" y="5465258"/>
              <a:ext cx="578901" cy="510074"/>
              <a:chOff x="5414662" y="261257"/>
              <a:chExt cx="578901" cy="510074"/>
            </a:xfrm>
          </p:grpSpPr>
          <p:sp>
            <p:nvSpPr>
              <p:cNvPr id="516" name="椭圆 515"/>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17" name="文本框 516"/>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张继</a:t>
                </a:r>
                <a:endParaRPr lang="zh-CN" altLang="en-US" sz="1400" b="1">
                  <a:solidFill>
                    <a:schemeClr val="bg1"/>
                  </a:solidFill>
                </a:endParaRPr>
              </a:p>
            </p:txBody>
          </p:sp>
        </p:grpSp>
        <p:grpSp>
          <p:nvGrpSpPr>
            <p:cNvPr id="440" name="组合 439"/>
            <p:cNvGrpSpPr/>
            <p:nvPr/>
          </p:nvGrpSpPr>
          <p:grpSpPr>
            <a:xfrm>
              <a:off x="8648130" y="4802908"/>
              <a:ext cx="578901" cy="510074"/>
              <a:chOff x="5414662" y="261257"/>
              <a:chExt cx="578901" cy="510074"/>
            </a:xfrm>
          </p:grpSpPr>
          <p:sp>
            <p:nvSpPr>
              <p:cNvPr id="514" name="椭圆 513"/>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15" name="文本框 514"/>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钱起</a:t>
                </a:r>
                <a:endParaRPr lang="zh-CN" altLang="en-US" sz="1400" b="1">
                  <a:solidFill>
                    <a:schemeClr val="bg1"/>
                  </a:solidFill>
                </a:endParaRPr>
              </a:p>
            </p:txBody>
          </p:sp>
        </p:grpSp>
        <p:grpSp>
          <p:nvGrpSpPr>
            <p:cNvPr id="441" name="组合 440"/>
            <p:cNvGrpSpPr/>
            <p:nvPr/>
          </p:nvGrpSpPr>
          <p:grpSpPr>
            <a:xfrm>
              <a:off x="4632927" y="4942423"/>
              <a:ext cx="578901" cy="510074"/>
              <a:chOff x="5414662" y="261257"/>
              <a:chExt cx="578901" cy="510074"/>
            </a:xfrm>
          </p:grpSpPr>
          <p:sp>
            <p:nvSpPr>
              <p:cNvPr id="512" name="椭圆 511"/>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13" name="文本框 512"/>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韩翃</a:t>
                </a:r>
                <a:endParaRPr lang="zh-CN" altLang="en-US" sz="1400" b="1">
                  <a:solidFill>
                    <a:schemeClr val="bg1"/>
                  </a:solidFill>
                </a:endParaRPr>
              </a:p>
            </p:txBody>
          </p:sp>
        </p:grpSp>
        <p:sp>
          <p:nvSpPr>
            <p:cNvPr id="442" name="椭圆 441"/>
            <p:cNvSpPr/>
            <p:nvPr/>
          </p:nvSpPr>
          <p:spPr>
            <a:xfrm>
              <a:off x="6433337" y="503877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43" name="文本框 442"/>
            <p:cNvSpPr txBox="1"/>
            <p:nvPr/>
          </p:nvSpPr>
          <p:spPr>
            <a:xfrm>
              <a:off x="6398923" y="5139920"/>
              <a:ext cx="578901" cy="307777"/>
            </a:xfrm>
            <a:prstGeom prst="rect">
              <a:avLst/>
            </a:prstGeom>
            <a:noFill/>
          </p:spPr>
          <p:txBody>
            <a:bodyPr wrap="square" rtlCol="0">
              <a:spAutoFit/>
            </a:bodyPr>
            <a:lstStyle/>
            <a:p>
              <a:r>
                <a:rPr lang="zh-CN" altLang="en-US" sz="1400" b="1">
                  <a:solidFill>
                    <a:schemeClr val="bg1"/>
                  </a:solidFill>
                </a:rPr>
                <a:t>薛稷</a:t>
              </a:r>
              <a:endParaRPr lang="zh-CN" altLang="en-US" sz="1400" b="1">
                <a:solidFill>
                  <a:schemeClr val="bg1"/>
                </a:solidFill>
              </a:endParaRPr>
            </a:p>
          </p:txBody>
        </p:sp>
        <p:sp>
          <p:nvSpPr>
            <p:cNvPr id="444" name="椭圆 443"/>
            <p:cNvSpPr/>
            <p:nvPr/>
          </p:nvSpPr>
          <p:spPr>
            <a:xfrm>
              <a:off x="9945261" y="3249473"/>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45" name="文本框 444"/>
            <p:cNvSpPr txBox="1"/>
            <p:nvPr/>
          </p:nvSpPr>
          <p:spPr>
            <a:xfrm>
              <a:off x="9910847" y="3350621"/>
              <a:ext cx="578901" cy="307777"/>
            </a:xfrm>
            <a:prstGeom prst="rect">
              <a:avLst/>
            </a:prstGeom>
            <a:noFill/>
          </p:spPr>
          <p:txBody>
            <a:bodyPr wrap="square" rtlCol="0">
              <a:spAutoFit/>
            </a:bodyPr>
            <a:lstStyle/>
            <a:p>
              <a:r>
                <a:rPr lang="zh-CN" altLang="en-US" sz="1400" b="1">
                  <a:solidFill>
                    <a:schemeClr val="bg1"/>
                  </a:solidFill>
                </a:rPr>
                <a:t>王维</a:t>
              </a:r>
              <a:endParaRPr lang="zh-CN" altLang="en-US" sz="1400" b="1">
                <a:solidFill>
                  <a:schemeClr val="bg1"/>
                </a:solidFill>
              </a:endParaRPr>
            </a:p>
          </p:txBody>
        </p:sp>
        <p:grpSp>
          <p:nvGrpSpPr>
            <p:cNvPr id="446" name="组合 445"/>
            <p:cNvGrpSpPr/>
            <p:nvPr/>
          </p:nvGrpSpPr>
          <p:grpSpPr>
            <a:xfrm>
              <a:off x="2677899" y="1725062"/>
              <a:ext cx="642964" cy="510074"/>
              <a:chOff x="5382631" y="261257"/>
              <a:chExt cx="642964" cy="510074"/>
            </a:xfrm>
          </p:grpSpPr>
          <p:sp>
            <p:nvSpPr>
              <p:cNvPr id="510" name="椭圆 509"/>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11" name="文本框 510"/>
              <p:cNvSpPr txBox="1"/>
              <p:nvPr/>
            </p:nvSpPr>
            <p:spPr>
              <a:xfrm>
                <a:off x="5382631" y="367462"/>
                <a:ext cx="642964" cy="276999"/>
              </a:xfrm>
              <a:prstGeom prst="rect">
                <a:avLst/>
              </a:prstGeom>
              <a:noFill/>
            </p:spPr>
            <p:txBody>
              <a:bodyPr wrap="square" rtlCol="0">
                <a:spAutoFit/>
              </a:bodyPr>
              <a:lstStyle/>
              <a:p>
                <a:r>
                  <a:rPr lang="zh-CN" altLang="en-US" sz="1200" b="1">
                    <a:solidFill>
                      <a:schemeClr val="bg1"/>
                    </a:solidFill>
                  </a:rPr>
                  <a:t>刘方平</a:t>
                </a:r>
                <a:endParaRPr lang="zh-CN" altLang="en-US" sz="1200" b="1">
                  <a:solidFill>
                    <a:schemeClr val="bg1"/>
                  </a:solidFill>
                </a:endParaRPr>
              </a:p>
            </p:txBody>
          </p:sp>
        </p:grpSp>
        <p:sp>
          <p:nvSpPr>
            <p:cNvPr id="447" name="椭圆 446"/>
            <p:cNvSpPr/>
            <p:nvPr/>
          </p:nvSpPr>
          <p:spPr>
            <a:xfrm>
              <a:off x="2744344" y="460661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48" name="文本框 447"/>
            <p:cNvSpPr txBox="1"/>
            <p:nvPr/>
          </p:nvSpPr>
          <p:spPr>
            <a:xfrm>
              <a:off x="2677899" y="4712817"/>
              <a:ext cx="642964" cy="276999"/>
            </a:xfrm>
            <a:prstGeom prst="rect">
              <a:avLst/>
            </a:prstGeom>
            <a:noFill/>
          </p:spPr>
          <p:txBody>
            <a:bodyPr wrap="square" rtlCol="0">
              <a:spAutoFit/>
            </a:bodyPr>
            <a:lstStyle/>
            <a:p>
              <a:r>
                <a:rPr lang="zh-CN" altLang="en-US" sz="1200" b="1">
                  <a:solidFill>
                    <a:schemeClr val="bg1"/>
                  </a:solidFill>
                </a:rPr>
                <a:t>皇甫冉</a:t>
              </a:r>
              <a:endParaRPr lang="zh-CN" altLang="en-US" sz="1200" b="1">
                <a:solidFill>
                  <a:schemeClr val="bg1"/>
                </a:solidFill>
              </a:endParaRPr>
            </a:p>
          </p:txBody>
        </p:sp>
        <p:sp>
          <p:nvSpPr>
            <p:cNvPr id="449" name="椭圆 448"/>
            <p:cNvSpPr/>
            <p:nvPr/>
          </p:nvSpPr>
          <p:spPr>
            <a:xfrm>
              <a:off x="8463860" y="3152358"/>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50" name="文本框 449"/>
            <p:cNvSpPr txBox="1"/>
            <p:nvPr/>
          </p:nvSpPr>
          <p:spPr>
            <a:xfrm>
              <a:off x="8397595" y="3227511"/>
              <a:ext cx="642964" cy="276999"/>
            </a:xfrm>
            <a:prstGeom prst="rect">
              <a:avLst/>
            </a:prstGeom>
            <a:noFill/>
          </p:spPr>
          <p:txBody>
            <a:bodyPr wrap="square" rtlCol="0">
              <a:spAutoFit/>
            </a:bodyPr>
            <a:lstStyle/>
            <a:p>
              <a:r>
                <a:rPr lang="zh-CN" altLang="en-US" sz="1200" b="1">
                  <a:solidFill>
                    <a:schemeClr val="bg1"/>
                  </a:solidFill>
                </a:rPr>
                <a:t>王昌龄</a:t>
              </a:r>
              <a:endParaRPr lang="zh-CN" altLang="en-US" sz="1200" b="1">
                <a:solidFill>
                  <a:schemeClr val="bg1"/>
                </a:solidFill>
              </a:endParaRPr>
            </a:p>
          </p:txBody>
        </p:sp>
        <p:grpSp>
          <p:nvGrpSpPr>
            <p:cNvPr id="451" name="组合 450"/>
            <p:cNvGrpSpPr/>
            <p:nvPr/>
          </p:nvGrpSpPr>
          <p:grpSpPr>
            <a:xfrm>
              <a:off x="10375716" y="4657117"/>
              <a:ext cx="642964" cy="510074"/>
              <a:chOff x="5382631" y="261257"/>
              <a:chExt cx="642964" cy="510074"/>
            </a:xfrm>
          </p:grpSpPr>
          <p:sp>
            <p:nvSpPr>
              <p:cNvPr id="508" name="椭圆 507"/>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09" name="文本框 508"/>
              <p:cNvSpPr txBox="1"/>
              <p:nvPr/>
            </p:nvSpPr>
            <p:spPr>
              <a:xfrm>
                <a:off x="5382631" y="367462"/>
                <a:ext cx="642964" cy="276999"/>
              </a:xfrm>
              <a:prstGeom prst="rect">
                <a:avLst/>
              </a:prstGeom>
              <a:noFill/>
            </p:spPr>
            <p:txBody>
              <a:bodyPr wrap="square" rtlCol="0">
                <a:spAutoFit/>
              </a:bodyPr>
              <a:lstStyle/>
              <a:p>
                <a:r>
                  <a:rPr lang="zh-CN" altLang="en-US" sz="1200" b="1">
                    <a:solidFill>
                      <a:schemeClr val="bg1"/>
                    </a:solidFill>
                  </a:rPr>
                  <a:t>储光义</a:t>
                </a:r>
                <a:endParaRPr lang="zh-CN" altLang="en-US" sz="1200" b="1">
                  <a:solidFill>
                    <a:schemeClr val="bg1"/>
                  </a:solidFill>
                </a:endParaRPr>
              </a:p>
            </p:txBody>
          </p:sp>
        </p:grpSp>
        <p:grpSp>
          <p:nvGrpSpPr>
            <p:cNvPr id="452" name="组合 451"/>
            <p:cNvGrpSpPr/>
            <p:nvPr/>
          </p:nvGrpSpPr>
          <p:grpSpPr>
            <a:xfrm>
              <a:off x="2853183" y="3075993"/>
              <a:ext cx="642964" cy="510074"/>
              <a:chOff x="5382631" y="261257"/>
              <a:chExt cx="642964" cy="510074"/>
            </a:xfrm>
          </p:grpSpPr>
          <p:sp>
            <p:nvSpPr>
              <p:cNvPr id="506" name="椭圆 505"/>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07" name="文本框 506"/>
              <p:cNvSpPr txBox="1"/>
              <p:nvPr/>
            </p:nvSpPr>
            <p:spPr>
              <a:xfrm>
                <a:off x="5382631" y="367462"/>
                <a:ext cx="642964" cy="276999"/>
              </a:xfrm>
              <a:prstGeom prst="rect">
                <a:avLst/>
              </a:prstGeom>
              <a:noFill/>
            </p:spPr>
            <p:txBody>
              <a:bodyPr wrap="square" rtlCol="0">
                <a:spAutoFit/>
              </a:bodyPr>
              <a:lstStyle/>
              <a:p>
                <a:r>
                  <a:rPr lang="zh-CN" altLang="en-US" sz="1200" b="1">
                    <a:solidFill>
                      <a:schemeClr val="bg1"/>
                    </a:solidFill>
                  </a:rPr>
                  <a:t>刘长卿</a:t>
                </a:r>
                <a:endParaRPr lang="zh-CN" altLang="en-US" sz="1200" b="1">
                  <a:solidFill>
                    <a:schemeClr val="bg1"/>
                  </a:solidFill>
                </a:endParaRPr>
              </a:p>
            </p:txBody>
          </p:sp>
        </p:grpSp>
        <p:sp>
          <p:nvSpPr>
            <p:cNvPr id="453" name="椭圆 452"/>
            <p:cNvSpPr/>
            <p:nvPr/>
          </p:nvSpPr>
          <p:spPr>
            <a:xfrm>
              <a:off x="5202760" y="1603225"/>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54" name="文本框 453"/>
            <p:cNvSpPr txBox="1"/>
            <p:nvPr/>
          </p:nvSpPr>
          <p:spPr>
            <a:xfrm>
              <a:off x="5136315" y="1709430"/>
              <a:ext cx="642964" cy="276999"/>
            </a:xfrm>
            <a:prstGeom prst="rect">
              <a:avLst/>
            </a:prstGeom>
            <a:noFill/>
          </p:spPr>
          <p:txBody>
            <a:bodyPr wrap="square" rtlCol="0">
              <a:spAutoFit/>
            </a:bodyPr>
            <a:lstStyle/>
            <a:p>
              <a:r>
                <a:rPr lang="zh-CN" altLang="en-US" sz="1200" b="1">
                  <a:solidFill>
                    <a:schemeClr val="bg1"/>
                  </a:solidFill>
                </a:rPr>
                <a:t>张九龄</a:t>
              </a:r>
              <a:endParaRPr lang="zh-CN" altLang="en-US" sz="1200" b="1">
                <a:solidFill>
                  <a:schemeClr val="bg1"/>
                </a:solidFill>
              </a:endParaRPr>
            </a:p>
          </p:txBody>
        </p:sp>
        <p:sp>
          <p:nvSpPr>
            <p:cNvPr id="455" name="椭圆 454"/>
            <p:cNvSpPr/>
            <p:nvPr/>
          </p:nvSpPr>
          <p:spPr>
            <a:xfrm>
              <a:off x="10162527" y="1357985"/>
              <a:ext cx="510075" cy="538258"/>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56" name="文本框 455"/>
            <p:cNvSpPr txBox="1"/>
            <p:nvPr/>
          </p:nvSpPr>
          <p:spPr>
            <a:xfrm>
              <a:off x="10096082" y="1470058"/>
              <a:ext cx="642964" cy="276999"/>
            </a:xfrm>
            <a:prstGeom prst="rect">
              <a:avLst/>
            </a:prstGeom>
            <a:noFill/>
          </p:spPr>
          <p:txBody>
            <a:bodyPr wrap="square" rtlCol="0">
              <a:spAutoFit/>
            </a:bodyPr>
            <a:lstStyle/>
            <a:p>
              <a:r>
                <a:rPr lang="zh-CN" altLang="en-US" sz="1200" b="1">
                  <a:solidFill>
                    <a:schemeClr val="bg1"/>
                  </a:solidFill>
                </a:rPr>
                <a:t>崔国辅</a:t>
              </a:r>
              <a:endParaRPr lang="zh-CN" altLang="en-US" sz="1200" b="1">
                <a:solidFill>
                  <a:schemeClr val="bg1"/>
                </a:solidFill>
              </a:endParaRPr>
            </a:p>
          </p:txBody>
        </p:sp>
        <p:sp>
          <p:nvSpPr>
            <p:cNvPr id="457" name="椭圆 456"/>
            <p:cNvSpPr/>
            <p:nvPr/>
          </p:nvSpPr>
          <p:spPr>
            <a:xfrm>
              <a:off x="4163036" y="3575199"/>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58" name="文本框 457"/>
            <p:cNvSpPr txBox="1"/>
            <p:nvPr/>
          </p:nvSpPr>
          <p:spPr>
            <a:xfrm>
              <a:off x="4096591" y="3681404"/>
              <a:ext cx="642964" cy="276999"/>
            </a:xfrm>
            <a:prstGeom prst="rect">
              <a:avLst/>
            </a:prstGeom>
            <a:noFill/>
          </p:spPr>
          <p:txBody>
            <a:bodyPr wrap="square" rtlCol="0">
              <a:spAutoFit/>
            </a:bodyPr>
            <a:lstStyle/>
            <a:p>
              <a:r>
                <a:rPr lang="zh-CN" altLang="en-US" sz="1200" b="1">
                  <a:solidFill>
                    <a:schemeClr val="bg1"/>
                  </a:solidFill>
                </a:rPr>
                <a:t>李嘉祐</a:t>
              </a:r>
              <a:endParaRPr lang="zh-CN" altLang="en-US" sz="1200" b="1">
                <a:solidFill>
                  <a:schemeClr val="bg1"/>
                </a:solidFill>
              </a:endParaRPr>
            </a:p>
          </p:txBody>
        </p:sp>
        <p:sp>
          <p:nvSpPr>
            <p:cNvPr id="459" name="椭圆 458"/>
            <p:cNvSpPr/>
            <p:nvPr/>
          </p:nvSpPr>
          <p:spPr>
            <a:xfrm>
              <a:off x="7453814" y="596425"/>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460" name="文本框 459"/>
            <p:cNvSpPr txBox="1"/>
            <p:nvPr/>
          </p:nvSpPr>
          <p:spPr>
            <a:xfrm>
              <a:off x="7387369" y="702630"/>
              <a:ext cx="642964" cy="276999"/>
            </a:xfrm>
            <a:prstGeom prst="rect">
              <a:avLst/>
            </a:prstGeom>
            <a:noFill/>
          </p:spPr>
          <p:txBody>
            <a:bodyPr wrap="square" rtlCol="0">
              <a:spAutoFit/>
            </a:bodyPr>
            <a:lstStyle/>
            <a:p>
              <a:r>
                <a:rPr lang="zh-CN" altLang="en-US" sz="1200" b="1">
                  <a:solidFill>
                    <a:schemeClr val="bg1"/>
                  </a:solidFill>
                </a:rPr>
                <a:t>贺知章</a:t>
              </a:r>
              <a:endParaRPr lang="zh-CN" altLang="en-US" sz="1200" b="1">
                <a:solidFill>
                  <a:schemeClr val="bg1"/>
                </a:solidFill>
              </a:endParaRPr>
            </a:p>
          </p:txBody>
        </p:sp>
        <p:cxnSp>
          <p:nvCxnSpPr>
            <p:cNvPr id="461" name="直接箭头连接符 460"/>
            <p:cNvCxnSpPr>
              <a:stCxn id="460" idx="1"/>
              <a:endCxn id="519" idx="3"/>
            </p:cNvCxnSpPr>
            <p:nvPr/>
          </p:nvCxnSpPr>
          <p:spPr>
            <a:xfrm flipH="1" flipV="1">
              <a:off x="6302565" y="739821"/>
              <a:ext cx="1084804" cy="101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2" name="直接箭头连接符 461"/>
            <p:cNvCxnSpPr>
              <a:stCxn id="520" idx="1"/>
            </p:cNvCxnSpPr>
            <p:nvPr/>
          </p:nvCxnSpPr>
          <p:spPr>
            <a:xfrm flipH="1" flipV="1">
              <a:off x="6219325" y="957646"/>
              <a:ext cx="416454" cy="503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3" name="直接箭头连接符 462"/>
            <p:cNvCxnSpPr/>
            <p:nvPr/>
          </p:nvCxnSpPr>
          <p:spPr>
            <a:xfrm>
              <a:off x="7043753" y="1778323"/>
              <a:ext cx="509179" cy="21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4" name="直接箭头连接符 463"/>
            <p:cNvCxnSpPr>
              <a:stCxn id="518" idx="3"/>
              <a:endCxn id="453" idx="0"/>
            </p:cNvCxnSpPr>
            <p:nvPr/>
          </p:nvCxnSpPr>
          <p:spPr>
            <a:xfrm flipH="1">
              <a:off x="5457798" y="920159"/>
              <a:ext cx="374979" cy="683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5" name="直接箭头连接符 464"/>
            <p:cNvCxnSpPr>
              <a:stCxn id="421" idx="0"/>
              <a:endCxn id="459" idx="4"/>
            </p:cNvCxnSpPr>
            <p:nvPr/>
          </p:nvCxnSpPr>
          <p:spPr>
            <a:xfrm flipH="1" flipV="1">
              <a:off x="7708852" y="1106499"/>
              <a:ext cx="72611" cy="74652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6" name="直接箭头连接符 465"/>
            <p:cNvCxnSpPr>
              <a:stCxn id="421" idx="7"/>
              <a:endCxn id="430" idx="1"/>
            </p:cNvCxnSpPr>
            <p:nvPr/>
          </p:nvCxnSpPr>
          <p:spPr>
            <a:xfrm flipV="1">
              <a:off x="7961801" y="1399322"/>
              <a:ext cx="825061" cy="52839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7" name="直接箭头连接符 466"/>
            <p:cNvCxnSpPr>
              <a:stCxn id="422" idx="3"/>
              <a:endCxn id="423" idx="1"/>
            </p:cNvCxnSpPr>
            <p:nvPr/>
          </p:nvCxnSpPr>
          <p:spPr>
            <a:xfrm>
              <a:off x="8070912" y="2108059"/>
              <a:ext cx="1132233" cy="24248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直接箭头连接符 467"/>
            <p:cNvCxnSpPr>
              <a:stCxn id="421" idx="3"/>
              <a:endCxn id="425" idx="0"/>
            </p:cNvCxnSpPr>
            <p:nvPr/>
          </p:nvCxnSpPr>
          <p:spPr>
            <a:xfrm flipH="1">
              <a:off x="7319291" y="2288397"/>
              <a:ext cx="281833" cy="82778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9" name="直接箭头连接符 468"/>
            <p:cNvCxnSpPr>
              <a:stCxn id="425" idx="7"/>
              <a:endCxn id="421" idx="4"/>
            </p:cNvCxnSpPr>
            <p:nvPr/>
          </p:nvCxnSpPr>
          <p:spPr>
            <a:xfrm flipV="1">
              <a:off x="7499629" y="2363096"/>
              <a:ext cx="281834" cy="82778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70" name="直接箭头连接符 469"/>
            <p:cNvCxnSpPr>
              <a:stCxn id="425" idx="7"/>
              <a:endCxn id="429" idx="3"/>
            </p:cNvCxnSpPr>
            <p:nvPr/>
          </p:nvCxnSpPr>
          <p:spPr>
            <a:xfrm flipV="1">
              <a:off x="7499629" y="1566507"/>
              <a:ext cx="1373998" cy="1624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1" name="直接箭头连接符 470"/>
            <p:cNvCxnSpPr>
              <a:endCxn id="424" idx="1"/>
            </p:cNvCxnSpPr>
            <p:nvPr/>
          </p:nvCxnSpPr>
          <p:spPr>
            <a:xfrm flipV="1">
              <a:off x="7608740" y="2520545"/>
              <a:ext cx="1453261" cy="72704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72" name="直接箭头连接符 471"/>
            <p:cNvCxnSpPr>
              <a:stCxn id="423" idx="7"/>
              <a:endCxn id="455" idx="3"/>
            </p:cNvCxnSpPr>
            <p:nvPr/>
          </p:nvCxnSpPr>
          <p:spPr>
            <a:xfrm flipV="1">
              <a:off x="9563822" y="1817417"/>
              <a:ext cx="673404" cy="53312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73" name="直接箭头连接符 472"/>
            <p:cNvCxnSpPr>
              <a:stCxn id="426" idx="3"/>
              <a:endCxn id="450" idx="1"/>
            </p:cNvCxnSpPr>
            <p:nvPr/>
          </p:nvCxnSpPr>
          <p:spPr>
            <a:xfrm flipV="1">
              <a:off x="7608740" y="3366011"/>
              <a:ext cx="788855" cy="521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74" name="直接箭头连接符 473"/>
            <p:cNvCxnSpPr>
              <a:stCxn id="450" idx="3"/>
              <a:endCxn id="444" idx="1"/>
            </p:cNvCxnSpPr>
            <p:nvPr/>
          </p:nvCxnSpPr>
          <p:spPr>
            <a:xfrm flipV="1">
              <a:off x="9040559" y="3324172"/>
              <a:ext cx="979401" cy="4183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75" name="直接箭头连接符 474"/>
            <p:cNvCxnSpPr>
              <a:stCxn id="508" idx="0"/>
              <a:endCxn id="444" idx="5"/>
            </p:cNvCxnSpPr>
            <p:nvPr/>
          </p:nvCxnSpPr>
          <p:spPr>
            <a:xfrm flipH="1" flipV="1">
              <a:off x="10380637" y="3684848"/>
              <a:ext cx="316562" cy="972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6" name="直接箭头连接符 475"/>
            <p:cNvCxnSpPr>
              <a:stCxn id="444" idx="4"/>
            </p:cNvCxnSpPr>
            <p:nvPr/>
          </p:nvCxnSpPr>
          <p:spPr>
            <a:xfrm flipH="1">
              <a:off x="9113068" y="3759547"/>
              <a:ext cx="1087231" cy="1142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7" name="直接箭头连接符 476"/>
            <p:cNvCxnSpPr>
              <a:stCxn id="515" idx="3"/>
              <a:endCxn id="509" idx="1"/>
            </p:cNvCxnSpPr>
            <p:nvPr/>
          </p:nvCxnSpPr>
          <p:spPr>
            <a:xfrm flipV="1">
              <a:off x="9227031" y="4901822"/>
              <a:ext cx="1148685" cy="156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8" name="直接箭头连接符 477"/>
            <p:cNvCxnSpPr>
              <a:stCxn id="514" idx="1"/>
            </p:cNvCxnSpPr>
            <p:nvPr/>
          </p:nvCxnSpPr>
          <p:spPr>
            <a:xfrm flipH="1" flipV="1">
              <a:off x="7570589" y="3494751"/>
              <a:ext cx="1186654" cy="1382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9" name="直接箭头连接符 478"/>
            <p:cNvCxnSpPr>
              <a:stCxn id="449" idx="3"/>
              <a:endCxn id="427" idx="0"/>
            </p:cNvCxnSpPr>
            <p:nvPr/>
          </p:nvCxnSpPr>
          <p:spPr>
            <a:xfrm flipH="1">
              <a:off x="7822166" y="3587733"/>
              <a:ext cx="716393" cy="66551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0" name="直接箭头连接符 479"/>
            <p:cNvCxnSpPr>
              <a:endCxn id="449" idx="4"/>
            </p:cNvCxnSpPr>
            <p:nvPr/>
          </p:nvCxnSpPr>
          <p:spPr>
            <a:xfrm flipV="1">
              <a:off x="8037521" y="3662432"/>
              <a:ext cx="681377" cy="69196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1" name="直接箭头连接符 480"/>
            <p:cNvCxnSpPr>
              <a:stCxn id="425" idx="5"/>
              <a:endCxn id="427" idx="0"/>
            </p:cNvCxnSpPr>
            <p:nvPr/>
          </p:nvCxnSpPr>
          <p:spPr>
            <a:xfrm>
              <a:off x="7499629" y="3551559"/>
              <a:ext cx="322537" cy="70168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2" name="直接箭头连接符 481"/>
            <p:cNvCxnSpPr>
              <a:stCxn id="427" idx="1"/>
              <a:endCxn id="425" idx="4"/>
            </p:cNvCxnSpPr>
            <p:nvPr/>
          </p:nvCxnSpPr>
          <p:spPr>
            <a:xfrm flipH="1" flipV="1">
              <a:off x="7319291" y="3626258"/>
              <a:ext cx="322536" cy="70168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3" name="直接箭头连接符 482"/>
            <p:cNvCxnSpPr>
              <a:stCxn id="425" idx="3"/>
              <a:endCxn id="432" idx="3"/>
            </p:cNvCxnSpPr>
            <p:nvPr/>
          </p:nvCxnSpPr>
          <p:spPr>
            <a:xfrm flipH="1">
              <a:off x="6122226" y="3551559"/>
              <a:ext cx="1016726" cy="7660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4" name="直接箭头连接符 483"/>
            <p:cNvCxnSpPr>
              <a:stCxn id="431" idx="7"/>
            </p:cNvCxnSpPr>
            <p:nvPr/>
          </p:nvCxnSpPr>
          <p:spPr>
            <a:xfrm flipV="1">
              <a:off x="6013115" y="3494749"/>
              <a:ext cx="1058040" cy="64252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直接箭头连接符 484"/>
            <p:cNvCxnSpPr/>
            <p:nvPr/>
          </p:nvCxnSpPr>
          <p:spPr>
            <a:xfrm flipH="1" flipV="1">
              <a:off x="5624081" y="3227057"/>
              <a:ext cx="1479285" cy="2053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6" name="直接箭头连接符 485"/>
            <p:cNvCxnSpPr>
              <a:stCxn id="436" idx="3"/>
              <a:endCxn id="426" idx="1"/>
            </p:cNvCxnSpPr>
            <p:nvPr/>
          </p:nvCxnSpPr>
          <p:spPr>
            <a:xfrm>
              <a:off x="5660844" y="3345091"/>
              <a:ext cx="1368995" cy="2613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7" name="直接箭头连接符 486"/>
            <p:cNvCxnSpPr>
              <a:stCxn id="445" idx="1"/>
            </p:cNvCxnSpPr>
            <p:nvPr/>
          </p:nvCxnSpPr>
          <p:spPr>
            <a:xfrm flipH="1">
              <a:off x="9004959" y="3504510"/>
              <a:ext cx="905888" cy="47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8" name="直接箭头连接符 487"/>
            <p:cNvCxnSpPr>
              <a:stCxn id="423" idx="3"/>
              <a:endCxn id="449" idx="0"/>
            </p:cNvCxnSpPr>
            <p:nvPr/>
          </p:nvCxnSpPr>
          <p:spPr>
            <a:xfrm flipH="1">
              <a:off x="8718898" y="2711215"/>
              <a:ext cx="484247" cy="44114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89" name="直接箭头连接符 488"/>
            <p:cNvCxnSpPr>
              <a:stCxn id="444" idx="0"/>
              <a:endCxn id="423" idx="5"/>
            </p:cNvCxnSpPr>
            <p:nvPr/>
          </p:nvCxnSpPr>
          <p:spPr>
            <a:xfrm flipH="1" flipV="1">
              <a:off x="9563822" y="2711215"/>
              <a:ext cx="636477" cy="5382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0" name="直接箭头连接符 489"/>
            <p:cNvCxnSpPr>
              <a:stCxn id="425" idx="3"/>
              <a:endCxn id="442" idx="0"/>
            </p:cNvCxnSpPr>
            <p:nvPr/>
          </p:nvCxnSpPr>
          <p:spPr>
            <a:xfrm flipH="1">
              <a:off x="6688375" y="3551559"/>
              <a:ext cx="450577" cy="14872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1" name="直接箭头连接符 490"/>
            <p:cNvCxnSpPr>
              <a:stCxn id="421" idx="5"/>
              <a:endCxn id="449" idx="1"/>
            </p:cNvCxnSpPr>
            <p:nvPr/>
          </p:nvCxnSpPr>
          <p:spPr>
            <a:xfrm>
              <a:off x="7961801" y="2288397"/>
              <a:ext cx="576758" cy="93866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92" name="直接箭头连接符 491"/>
            <p:cNvCxnSpPr/>
            <p:nvPr/>
          </p:nvCxnSpPr>
          <p:spPr>
            <a:xfrm flipH="1">
              <a:off x="4656979" y="3429000"/>
              <a:ext cx="499952" cy="24350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93" name="直接箭头连接符 492"/>
            <p:cNvCxnSpPr>
              <a:endCxn id="507" idx="3"/>
            </p:cNvCxnSpPr>
            <p:nvPr/>
          </p:nvCxnSpPr>
          <p:spPr>
            <a:xfrm flipH="1" flipV="1">
              <a:off x="3496147" y="3320698"/>
              <a:ext cx="681094" cy="303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4" name="直接箭头连接符 493"/>
            <p:cNvCxnSpPr>
              <a:endCxn id="458" idx="1"/>
            </p:cNvCxnSpPr>
            <p:nvPr/>
          </p:nvCxnSpPr>
          <p:spPr>
            <a:xfrm>
              <a:off x="3427714" y="3525109"/>
              <a:ext cx="668877" cy="294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5" name="直接箭头连接符 494"/>
            <p:cNvCxnSpPr>
              <a:stCxn id="506" idx="0"/>
              <a:endCxn id="510" idx="4"/>
            </p:cNvCxnSpPr>
            <p:nvPr/>
          </p:nvCxnSpPr>
          <p:spPr>
            <a:xfrm flipH="1" flipV="1">
              <a:off x="2999382" y="2235136"/>
              <a:ext cx="175284" cy="840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6" name="直接箭头连接符 495"/>
            <p:cNvCxnSpPr>
              <a:stCxn id="506" idx="1"/>
              <a:endCxn id="438" idx="3"/>
            </p:cNvCxnSpPr>
            <p:nvPr/>
          </p:nvCxnSpPr>
          <p:spPr>
            <a:xfrm flipH="1" flipV="1">
              <a:off x="2186295" y="2820956"/>
              <a:ext cx="808032" cy="329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7" name="直接箭头连接符 496"/>
            <p:cNvCxnSpPr>
              <a:stCxn id="437" idx="5"/>
              <a:endCxn id="507" idx="1"/>
            </p:cNvCxnSpPr>
            <p:nvPr/>
          </p:nvCxnSpPr>
          <p:spPr>
            <a:xfrm>
              <a:off x="2077184" y="3001294"/>
              <a:ext cx="775999" cy="319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8" name="直接箭头连接符 497"/>
            <p:cNvCxnSpPr>
              <a:stCxn id="506" idx="3"/>
              <a:endCxn id="447" idx="0"/>
            </p:cNvCxnSpPr>
            <p:nvPr/>
          </p:nvCxnSpPr>
          <p:spPr>
            <a:xfrm>
              <a:off x="2994327" y="3511368"/>
              <a:ext cx="5055" cy="1095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9" name="直接箭头连接符 498"/>
            <p:cNvCxnSpPr>
              <a:stCxn id="447" idx="7"/>
              <a:endCxn id="506" idx="4"/>
            </p:cNvCxnSpPr>
            <p:nvPr/>
          </p:nvCxnSpPr>
          <p:spPr>
            <a:xfrm flipH="1" flipV="1">
              <a:off x="3174666" y="3586067"/>
              <a:ext cx="5054" cy="1095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0" name="直接箭头连接符 499"/>
            <p:cNvCxnSpPr>
              <a:stCxn id="457" idx="3"/>
              <a:endCxn id="448" idx="3"/>
            </p:cNvCxnSpPr>
            <p:nvPr/>
          </p:nvCxnSpPr>
          <p:spPr>
            <a:xfrm flipH="1">
              <a:off x="3320863" y="4010574"/>
              <a:ext cx="916872" cy="840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1" name="直接箭头连接符 500"/>
            <p:cNvCxnSpPr/>
            <p:nvPr/>
          </p:nvCxnSpPr>
          <p:spPr>
            <a:xfrm>
              <a:off x="3116060" y="5167191"/>
              <a:ext cx="463500" cy="399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2" name="直接箭头连接符 501"/>
            <p:cNvCxnSpPr>
              <a:stCxn id="516" idx="0"/>
            </p:cNvCxnSpPr>
            <p:nvPr/>
          </p:nvCxnSpPr>
          <p:spPr>
            <a:xfrm flipH="1" flipV="1">
              <a:off x="3240975" y="5038774"/>
              <a:ext cx="521178" cy="426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3" name="直接箭头连接符 502"/>
            <p:cNvCxnSpPr>
              <a:stCxn id="516" idx="7"/>
              <a:endCxn id="513" idx="1"/>
            </p:cNvCxnSpPr>
            <p:nvPr/>
          </p:nvCxnSpPr>
          <p:spPr>
            <a:xfrm flipV="1">
              <a:off x="3942491" y="5197460"/>
              <a:ext cx="690436" cy="342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4" name="直接箭头连接符 503"/>
            <p:cNvCxnSpPr>
              <a:stCxn id="512" idx="3"/>
              <a:endCxn id="517" idx="3"/>
            </p:cNvCxnSpPr>
            <p:nvPr/>
          </p:nvCxnSpPr>
          <p:spPr>
            <a:xfrm flipH="1">
              <a:off x="4051602" y="5377798"/>
              <a:ext cx="690438" cy="342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5" name="直接箭头连接符 504"/>
            <p:cNvCxnSpPr>
              <a:stCxn id="453" idx="7"/>
              <a:endCxn id="518" idx="4"/>
            </p:cNvCxnSpPr>
            <p:nvPr/>
          </p:nvCxnSpPr>
          <p:spPr>
            <a:xfrm flipV="1">
              <a:off x="5638136" y="994858"/>
              <a:ext cx="374980" cy="683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522" name="文本框 521"/>
          <p:cNvSpPr txBox="1"/>
          <p:nvPr/>
        </p:nvSpPr>
        <p:spPr>
          <a:xfrm>
            <a:off x="377952" y="3477988"/>
            <a:ext cx="1584470" cy="1308179"/>
          </a:xfrm>
          <a:prstGeom prst="rect">
            <a:avLst/>
          </a:prstGeom>
          <a:solidFill>
            <a:schemeClr val="accent6">
              <a:lumMod val="20000"/>
              <a:lumOff val="80000"/>
            </a:schemeClr>
          </a:solidFill>
        </p:spPr>
        <p:txBody>
          <a:bodyPr wrap="square" rtlCol="0">
            <a:spAutoFit/>
          </a:bodyPr>
          <a:lstStyle/>
          <a:p>
            <a:pPr>
              <a:lnSpc>
                <a:spcPts val="2400"/>
              </a:lnSpc>
            </a:pPr>
            <a:r>
              <a:rPr lang="zh-CN" altLang="en-US" b="1">
                <a:solidFill>
                  <a:schemeClr val="accent6">
                    <a:lumMod val="50000"/>
                  </a:schemeClr>
                </a:solidFill>
              </a:rPr>
              <a:t>绿色</a:t>
            </a:r>
            <a:r>
              <a:rPr lang="zh-CN" altLang="en-US" b="1">
                <a:solidFill>
                  <a:schemeClr val="accent2">
                    <a:lumMod val="50000"/>
                  </a:schemeClr>
                </a:solidFill>
              </a:rPr>
              <a:t>标出杜甫经过</a:t>
            </a:r>
            <a:r>
              <a:rPr lang="zh-CN" altLang="en-US" b="1">
                <a:solidFill>
                  <a:srgbClr val="C00000"/>
                </a:solidFill>
              </a:rPr>
              <a:t>一个中间人</a:t>
            </a:r>
            <a:r>
              <a:rPr lang="zh-CN" altLang="en-US" b="1">
                <a:solidFill>
                  <a:schemeClr val="accent2">
                    <a:lumMod val="50000"/>
                  </a:schemeClr>
                </a:solidFill>
              </a:rPr>
              <a:t>可以联系到的诗人</a:t>
            </a:r>
            <a:endParaRPr lang="zh-CN" altLang="en-US" b="1">
              <a:solidFill>
                <a:schemeClr val="accent2">
                  <a:lumMod val="50000"/>
                </a:schemeClr>
              </a:solidFill>
            </a:endParaRPr>
          </a:p>
        </p:txBody>
      </p:sp>
      <p:grpSp>
        <p:nvGrpSpPr>
          <p:cNvPr id="523" name="组合 522"/>
          <p:cNvGrpSpPr/>
          <p:nvPr/>
        </p:nvGrpSpPr>
        <p:grpSpPr>
          <a:xfrm>
            <a:off x="2247359" y="904184"/>
            <a:ext cx="9411286" cy="5490548"/>
            <a:chOff x="1607394" y="484784"/>
            <a:chExt cx="9411286" cy="5490548"/>
          </a:xfrm>
        </p:grpSpPr>
        <p:sp>
          <p:nvSpPr>
            <p:cNvPr id="524" name="椭圆 523"/>
            <p:cNvSpPr/>
            <p:nvPr/>
          </p:nvSpPr>
          <p:spPr>
            <a:xfrm>
              <a:off x="7526425" y="1853022"/>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25" name="文本框 524"/>
            <p:cNvSpPr txBox="1"/>
            <p:nvPr/>
          </p:nvSpPr>
          <p:spPr>
            <a:xfrm>
              <a:off x="7492011" y="1954170"/>
              <a:ext cx="578901" cy="307777"/>
            </a:xfrm>
            <a:prstGeom prst="rect">
              <a:avLst/>
            </a:prstGeom>
            <a:noFill/>
          </p:spPr>
          <p:txBody>
            <a:bodyPr wrap="square" rtlCol="0">
              <a:spAutoFit/>
            </a:bodyPr>
            <a:lstStyle/>
            <a:p>
              <a:r>
                <a:rPr lang="zh-CN" altLang="en-US" sz="1400" b="1">
                  <a:solidFill>
                    <a:schemeClr val="bg1"/>
                  </a:solidFill>
                </a:rPr>
                <a:t>李白</a:t>
              </a:r>
              <a:endParaRPr lang="zh-CN" altLang="en-US" sz="1400" b="1">
                <a:solidFill>
                  <a:schemeClr val="bg1"/>
                </a:solidFill>
              </a:endParaRPr>
            </a:p>
          </p:txBody>
        </p:sp>
        <p:sp>
          <p:nvSpPr>
            <p:cNvPr id="526" name="椭圆 525"/>
            <p:cNvSpPr/>
            <p:nvPr/>
          </p:nvSpPr>
          <p:spPr>
            <a:xfrm>
              <a:off x="9128446" y="2275840"/>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27" name="文本框 526"/>
            <p:cNvSpPr txBox="1"/>
            <p:nvPr/>
          </p:nvSpPr>
          <p:spPr>
            <a:xfrm>
              <a:off x="9062001" y="2382045"/>
              <a:ext cx="642964" cy="276999"/>
            </a:xfrm>
            <a:prstGeom prst="rect">
              <a:avLst/>
            </a:prstGeom>
            <a:noFill/>
          </p:spPr>
          <p:txBody>
            <a:bodyPr wrap="square" rtlCol="0">
              <a:spAutoFit/>
            </a:bodyPr>
            <a:lstStyle/>
            <a:p>
              <a:r>
                <a:rPr lang="zh-CN" altLang="en-US" sz="1200" b="1">
                  <a:solidFill>
                    <a:schemeClr val="bg1"/>
                  </a:solidFill>
                </a:rPr>
                <a:t>孟浩然</a:t>
              </a:r>
              <a:endParaRPr lang="zh-CN" altLang="en-US" sz="1200" b="1">
                <a:solidFill>
                  <a:schemeClr val="bg1"/>
                </a:solidFill>
              </a:endParaRPr>
            </a:p>
          </p:txBody>
        </p:sp>
        <p:sp>
          <p:nvSpPr>
            <p:cNvPr id="528" name="椭圆 527"/>
            <p:cNvSpPr/>
            <p:nvPr/>
          </p:nvSpPr>
          <p:spPr>
            <a:xfrm>
              <a:off x="7064253" y="3116184"/>
              <a:ext cx="510075" cy="510074"/>
            </a:xfrm>
            <a:prstGeom prst="ellipse">
              <a:avLst/>
            </a:prstGeom>
            <a:solidFill>
              <a:srgbClr val="FFC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29" name="文本框 528"/>
            <p:cNvSpPr txBox="1"/>
            <p:nvPr/>
          </p:nvSpPr>
          <p:spPr>
            <a:xfrm>
              <a:off x="7029839" y="3217332"/>
              <a:ext cx="578901" cy="307777"/>
            </a:xfrm>
            <a:prstGeom prst="rect">
              <a:avLst/>
            </a:prstGeom>
            <a:noFill/>
          </p:spPr>
          <p:txBody>
            <a:bodyPr wrap="square" rtlCol="0">
              <a:spAutoFit/>
            </a:bodyPr>
            <a:lstStyle/>
            <a:p>
              <a:r>
                <a:rPr lang="zh-CN" altLang="en-US" sz="1400" b="1">
                  <a:solidFill>
                    <a:schemeClr val="bg1"/>
                  </a:solidFill>
                </a:rPr>
                <a:t>杜甫</a:t>
              </a:r>
              <a:endParaRPr lang="zh-CN" altLang="en-US" sz="1400" b="1">
                <a:solidFill>
                  <a:schemeClr val="bg1"/>
                </a:solidFill>
              </a:endParaRPr>
            </a:p>
          </p:txBody>
        </p:sp>
        <p:sp>
          <p:nvSpPr>
            <p:cNvPr id="530" name="椭圆 529"/>
            <p:cNvSpPr/>
            <p:nvPr/>
          </p:nvSpPr>
          <p:spPr>
            <a:xfrm>
              <a:off x="7567128" y="4253248"/>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31" name="文本框 530"/>
            <p:cNvSpPr txBox="1"/>
            <p:nvPr/>
          </p:nvSpPr>
          <p:spPr>
            <a:xfrm>
              <a:off x="7532714" y="4354396"/>
              <a:ext cx="578901" cy="307777"/>
            </a:xfrm>
            <a:prstGeom prst="rect">
              <a:avLst/>
            </a:prstGeom>
            <a:noFill/>
          </p:spPr>
          <p:txBody>
            <a:bodyPr wrap="square" rtlCol="0">
              <a:spAutoFit/>
            </a:bodyPr>
            <a:lstStyle/>
            <a:p>
              <a:r>
                <a:rPr lang="zh-CN" altLang="en-US" sz="1400" b="1">
                  <a:solidFill>
                    <a:schemeClr val="bg1"/>
                  </a:solidFill>
                </a:rPr>
                <a:t>高适</a:t>
              </a:r>
              <a:endParaRPr lang="zh-CN" altLang="en-US" sz="1400" b="1">
                <a:solidFill>
                  <a:schemeClr val="bg1"/>
                </a:solidFill>
              </a:endParaRPr>
            </a:p>
          </p:txBody>
        </p:sp>
        <p:sp>
          <p:nvSpPr>
            <p:cNvPr id="532" name="椭圆 531"/>
            <p:cNvSpPr/>
            <p:nvPr/>
          </p:nvSpPr>
          <p:spPr>
            <a:xfrm>
              <a:off x="8798928" y="113113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33" name="文本框 532"/>
            <p:cNvSpPr txBox="1"/>
            <p:nvPr/>
          </p:nvSpPr>
          <p:spPr>
            <a:xfrm>
              <a:off x="8786862" y="1245433"/>
              <a:ext cx="578901" cy="307777"/>
            </a:xfrm>
            <a:prstGeom prst="rect">
              <a:avLst/>
            </a:prstGeom>
            <a:noFill/>
          </p:spPr>
          <p:txBody>
            <a:bodyPr wrap="square" rtlCol="0">
              <a:spAutoFit/>
            </a:bodyPr>
            <a:lstStyle/>
            <a:p>
              <a:r>
                <a:rPr lang="zh-CN" altLang="en-US" sz="1400" b="1">
                  <a:solidFill>
                    <a:schemeClr val="bg1"/>
                  </a:solidFill>
                </a:rPr>
                <a:t>张旭</a:t>
              </a:r>
              <a:endParaRPr lang="zh-CN" altLang="en-US" sz="1400" b="1">
                <a:solidFill>
                  <a:schemeClr val="bg1"/>
                </a:solidFill>
              </a:endParaRPr>
            </a:p>
          </p:txBody>
        </p:sp>
        <p:sp>
          <p:nvSpPr>
            <p:cNvPr id="534" name="椭圆 533"/>
            <p:cNvSpPr/>
            <p:nvPr/>
          </p:nvSpPr>
          <p:spPr>
            <a:xfrm>
              <a:off x="5577739" y="4062572"/>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35" name="文本框 534"/>
            <p:cNvSpPr txBox="1"/>
            <p:nvPr/>
          </p:nvSpPr>
          <p:spPr>
            <a:xfrm>
              <a:off x="5543325" y="4163720"/>
              <a:ext cx="578901" cy="307777"/>
            </a:xfrm>
            <a:prstGeom prst="rect">
              <a:avLst/>
            </a:prstGeom>
            <a:noFill/>
          </p:spPr>
          <p:txBody>
            <a:bodyPr wrap="square" rtlCol="0">
              <a:spAutoFit/>
            </a:bodyPr>
            <a:lstStyle/>
            <a:p>
              <a:r>
                <a:rPr lang="zh-CN" altLang="en-US" sz="1400" b="1">
                  <a:solidFill>
                    <a:schemeClr val="bg1"/>
                  </a:solidFill>
                </a:rPr>
                <a:t>严武</a:t>
              </a:r>
              <a:endParaRPr lang="zh-CN" altLang="en-US" sz="1400" b="1">
                <a:solidFill>
                  <a:schemeClr val="bg1"/>
                </a:solidFill>
              </a:endParaRPr>
            </a:p>
          </p:txBody>
        </p:sp>
        <p:grpSp>
          <p:nvGrpSpPr>
            <p:cNvPr id="536" name="组合 535"/>
            <p:cNvGrpSpPr/>
            <p:nvPr/>
          </p:nvGrpSpPr>
          <p:grpSpPr>
            <a:xfrm>
              <a:off x="6526666" y="1386169"/>
              <a:ext cx="578901" cy="510074"/>
              <a:chOff x="5414662" y="261257"/>
              <a:chExt cx="578901" cy="510074"/>
            </a:xfrm>
          </p:grpSpPr>
          <p:sp>
            <p:nvSpPr>
              <p:cNvPr id="620" name="椭圆 619"/>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21" name="文本框 620"/>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苏颋</a:t>
                </a:r>
                <a:endParaRPr lang="zh-CN" altLang="en-US" sz="1400" b="1">
                  <a:solidFill>
                    <a:schemeClr val="bg1"/>
                  </a:solidFill>
                </a:endParaRPr>
              </a:p>
            </p:txBody>
          </p:sp>
        </p:grpSp>
        <p:sp>
          <p:nvSpPr>
            <p:cNvPr id="537" name="椭圆 536"/>
            <p:cNvSpPr/>
            <p:nvPr/>
          </p:nvSpPr>
          <p:spPr>
            <a:xfrm>
              <a:off x="5758078" y="484784"/>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38" name="文本框 537"/>
            <p:cNvSpPr txBox="1"/>
            <p:nvPr/>
          </p:nvSpPr>
          <p:spPr>
            <a:xfrm>
              <a:off x="5723664" y="585932"/>
              <a:ext cx="578901" cy="307777"/>
            </a:xfrm>
            <a:prstGeom prst="rect">
              <a:avLst/>
            </a:prstGeom>
            <a:noFill/>
          </p:spPr>
          <p:txBody>
            <a:bodyPr wrap="square" rtlCol="0">
              <a:spAutoFit/>
            </a:bodyPr>
            <a:lstStyle/>
            <a:p>
              <a:r>
                <a:rPr lang="zh-CN" altLang="en-US" sz="1400" b="1">
                  <a:solidFill>
                    <a:schemeClr val="bg1"/>
                  </a:solidFill>
                </a:rPr>
                <a:t>张说</a:t>
              </a:r>
              <a:endParaRPr lang="zh-CN" altLang="en-US" sz="1400" b="1">
                <a:solidFill>
                  <a:schemeClr val="bg1"/>
                </a:solidFill>
              </a:endParaRPr>
            </a:p>
          </p:txBody>
        </p:sp>
        <p:sp>
          <p:nvSpPr>
            <p:cNvPr id="539" name="椭圆 538"/>
            <p:cNvSpPr/>
            <p:nvPr/>
          </p:nvSpPr>
          <p:spPr>
            <a:xfrm>
              <a:off x="5116357" y="3090054"/>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40" name="文本框 539"/>
            <p:cNvSpPr txBox="1"/>
            <p:nvPr/>
          </p:nvSpPr>
          <p:spPr>
            <a:xfrm>
              <a:off x="5081943" y="3191202"/>
              <a:ext cx="578901" cy="307777"/>
            </a:xfrm>
            <a:prstGeom prst="rect">
              <a:avLst/>
            </a:prstGeom>
            <a:noFill/>
          </p:spPr>
          <p:txBody>
            <a:bodyPr wrap="square" rtlCol="0">
              <a:spAutoFit/>
            </a:bodyPr>
            <a:lstStyle/>
            <a:p>
              <a:r>
                <a:rPr lang="zh-CN" altLang="en-US" sz="1400" b="1">
                  <a:solidFill>
                    <a:schemeClr val="bg1"/>
                  </a:solidFill>
                </a:rPr>
                <a:t>岑参</a:t>
              </a:r>
              <a:endParaRPr lang="zh-CN" altLang="en-US" sz="1400" b="1">
                <a:solidFill>
                  <a:schemeClr val="bg1"/>
                </a:solidFill>
              </a:endParaRPr>
            </a:p>
          </p:txBody>
        </p:sp>
        <p:sp>
          <p:nvSpPr>
            <p:cNvPr id="541" name="椭圆 540"/>
            <p:cNvSpPr/>
            <p:nvPr/>
          </p:nvSpPr>
          <p:spPr>
            <a:xfrm>
              <a:off x="1641808" y="2565919"/>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42" name="文本框 541"/>
            <p:cNvSpPr txBox="1"/>
            <p:nvPr/>
          </p:nvSpPr>
          <p:spPr>
            <a:xfrm>
              <a:off x="1607394" y="2667067"/>
              <a:ext cx="578901" cy="307777"/>
            </a:xfrm>
            <a:prstGeom prst="rect">
              <a:avLst/>
            </a:prstGeom>
            <a:noFill/>
          </p:spPr>
          <p:txBody>
            <a:bodyPr wrap="square" rtlCol="0">
              <a:spAutoFit/>
            </a:bodyPr>
            <a:lstStyle/>
            <a:p>
              <a:r>
                <a:rPr lang="zh-CN" altLang="en-US" sz="1400" b="1">
                  <a:solidFill>
                    <a:schemeClr val="bg1"/>
                  </a:solidFill>
                </a:rPr>
                <a:t>张谓</a:t>
              </a:r>
              <a:endParaRPr lang="zh-CN" altLang="en-US" sz="1400" b="1">
                <a:solidFill>
                  <a:schemeClr val="bg1"/>
                </a:solidFill>
              </a:endParaRPr>
            </a:p>
          </p:txBody>
        </p:sp>
        <p:grpSp>
          <p:nvGrpSpPr>
            <p:cNvPr id="543" name="组合 542"/>
            <p:cNvGrpSpPr/>
            <p:nvPr/>
          </p:nvGrpSpPr>
          <p:grpSpPr>
            <a:xfrm>
              <a:off x="3472701" y="5465258"/>
              <a:ext cx="578901" cy="510074"/>
              <a:chOff x="5414662" y="261257"/>
              <a:chExt cx="578901" cy="510074"/>
            </a:xfrm>
          </p:grpSpPr>
          <p:sp>
            <p:nvSpPr>
              <p:cNvPr id="618" name="椭圆 617"/>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19" name="文本框 618"/>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张继</a:t>
                </a:r>
                <a:endParaRPr lang="zh-CN" altLang="en-US" sz="1400" b="1">
                  <a:solidFill>
                    <a:schemeClr val="bg1"/>
                  </a:solidFill>
                </a:endParaRPr>
              </a:p>
            </p:txBody>
          </p:sp>
        </p:grpSp>
        <p:sp>
          <p:nvSpPr>
            <p:cNvPr id="544" name="椭圆 543"/>
            <p:cNvSpPr/>
            <p:nvPr/>
          </p:nvSpPr>
          <p:spPr>
            <a:xfrm>
              <a:off x="8682544" y="4802908"/>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45" name="文本框 544"/>
            <p:cNvSpPr txBox="1"/>
            <p:nvPr/>
          </p:nvSpPr>
          <p:spPr>
            <a:xfrm>
              <a:off x="8648130" y="4904056"/>
              <a:ext cx="578901" cy="307777"/>
            </a:xfrm>
            <a:prstGeom prst="rect">
              <a:avLst/>
            </a:prstGeom>
            <a:noFill/>
          </p:spPr>
          <p:txBody>
            <a:bodyPr wrap="square" rtlCol="0">
              <a:spAutoFit/>
            </a:bodyPr>
            <a:lstStyle/>
            <a:p>
              <a:r>
                <a:rPr lang="zh-CN" altLang="en-US" sz="1400" b="1">
                  <a:solidFill>
                    <a:schemeClr val="bg1"/>
                  </a:solidFill>
                </a:rPr>
                <a:t>钱起</a:t>
              </a:r>
              <a:endParaRPr lang="zh-CN" altLang="en-US" sz="1400" b="1">
                <a:solidFill>
                  <a:schemeClr val="bg1"/>
                </a:solidFill>
              </a:endParaRPr>
            </a:p>
          </p:txBody>
        </p:sp>
        <p:grpSp>
          <p:nvGrpSpPr>
            <p:cNvPr id="546" name="组合 545"/>
            <p:cNvGrpSpPr/>
            <p:nvPr/>
          </p:nvGrpSpPr>
          <p:grpSpPr>
            <a:xfrm>
              <a:off x="4632927" y="4942423"/>
              <a:ext cx="578901" cy="510074"/>
              <a:chOff x="5414662" y="261257"/>
              <a:chExt cx="578901" cy="510074"/>
            </a:xfrm>
          </p:grpSpPr>
          <p:sp>
            <p:nvSpPr>
              <p:cNvPr id="616" name="椭圆 615"/>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17" name="文本框 616"/>
              <p:cNvSpPr txBox="1"/>
              <p:nvPr/>
            </p:nvSpPr>
            <p:spPr>
              <a:xfrm>
                <a:off x="5414662" y="362405"/>
                <a:ext cx="578901" cy="307777"/>
              </a:xfrm>
              <a:prstGeom prst="rect">
                <a:avLst/>
              </a:prstGeom>
              <a:noFill/>
            </p:spPr>
            <p:txBody>
              <a:bodyPr wrap="square" rtlCol="0">
                <a:spAutoFit/>
              </a:bodyPr>
              <a:lstStyle/>
              <a:p>
                <a:r>
                  <a:rPr lang="zh-CN" altLang="en-US" sz="1400" b="1">
                    <a:solidFill>
                      <a:schemeClr val="bg1"/>
                    </a:solidFill>
                  </a:rPr>
                  <a:t>韩翃</a:t>
                </a:r>
                <a:endParaRPr lang="zh-CN" altLang="en-US" sz="1400" b="1">
                  <a:solidFill>
                    <a:schemeClr val="bg1"/>
                  </a:solidFill>
                </a:endParaRPr>
              </a:p>
            </p:txBody>
          </p:sp>
        </p:grpSp>
        <p:sp>
          <p:nvSpPr>
            <p:cNvPr id="547" name="椭圆 546"/>
            <p:cNvSpPr/>
            <p:nvPr/>
          </p:nvSpPr>
          <p:spPr>
            <a:xfrm>
              <a:off x="6433337" y="5038772"/>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48" name="文本框 547"/>
            <p:cNvSpPr txBox="1"/>
            <p:nvPr/>
          </p:nvSpPr>
          <p:spPr>
            <a:xfrm>
              <a:off x="6398923" y="5139920"/>
              <a:ext cx="578901" cy="307777"/>
            </a:xfrm>
            <a:prstGeom prst="rect">
              <a:avLst/>
            </a:prstGeom>
            <a:noFill/>
          </p:spPr>
          <p:txBody>
            <a:bodyPr wrap="square" rtlCol="0">
              <a:spAutoFit/>
            </a:bodyPr>
            <a:lstStyle/>
            <a:p>
              <a:r>
                <a:rPr lang="zh-CN" altLang="en-US" sz="1400" b="1">
                  <a:solidFill>
                    <a:schemeClr val="bg1"/>
                  </a:solidFill>
                </a:rPr>
                <a:t>薛稷</a:t>
              </a:r>
              <a:endParaRPr lang="zh-CN" altLang="en-US" sz="1400" b="1">
                <a:solidFill>
                  <a:schemeClr val="bg1"/>
                </a:solidFill>
              </a:endParaRPr>
            </a:p>
          </p:txBody>
        </p:sp>
        <p:sp>
          <p:nvSpPr>
            <p:cNvPr id="549" name="椭圆 548"/>
            <p:cNvSpPr/>
            <p:nvPr/>
          </p:nvSpPr>
          <p:spPr>
            <a:xfrm>
              <a:off x="9945261" y="3249473"/>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50" name="文本框 549"/>
            <p:cNvSpPr txBox="1"/>
            <p:nvPr/>
          </p:nvSpPr>
          <p:spPr>
            <a:xfrm>
              <a:off x="9910847" y="3350621"/>
              <a:ext cx="578901" cy="307777"/>
            </a:xfrm>
            <a:prstGeom prst="rect">
              <a:avLst/>
            </a:prstGeom>
            <a:noFill/>
          </p:spPr>
          <p:txBody>
            <a:bodyPr wrap="square" rtlCol="0">
              <a:spAutoFit/>
            </a:bodyPr>
            <a:lstStyle/>
            <a:p>
              <a:r>
                <a:rPr lang="zh-CN" altLang="en-US" sz="1400" b="1">
                  <a:solidFill>
                    <a:schemeClr val="bg1"/>
                  </a:solidFill>
                </a:rPr>
                <a:t>王维</a:t>
              </a:r>
              <a:endParaRPr lang="zh-CN" altLang="en-US" sz="1400" b="1">
                <a:solidFill>
                  <a:schemeClr val="bg1"/>
                </a:solidFill>
              </a:endParaRPr>
            </a:p>
          </p:txBody>
        </p:sp>
        <p:grpSp>
          <p:nvGrpSpPr>
            <p:cNvPr id="551" name="组合 550"/>
            <p:cNvGrpSpPr/>
            <p:nvPr/>
          </p:nvGrpSpPr>
          <p:grpSpPr>
            <a:xfrm>
              <a:off x="2677899" y="1725062"/>
              <a:ext cx="642964" cy="510074"/>
              <a:chOff x="5382631" y="261257"/>
              <a:chExt cx="642964" cy="510074"/>
            </a:xfrm>
          </p:grpSpPr>
          <p:sp>
            <p:nvSpPr>
              <p:cNvPr id="614" name="椭圆 613"/>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15" name="文本框 614"/>
              <p:cNvSpPr txBox="1"/>
              <p:nvPr/>
            </p:nvSpPr>
            <p:spPr>
              <a:xfrm>
                <a:off x="5382631" y="367462"/>
                <a:ext cx="642964" cy="276999"/>
              </a:xfrm>
              <a:prstGeom prst="rect">
                <a:avLst/>
              </a:prstGeom>
              <a:noFill/>
            </p:spPr>
            <p:txBody>
              <a:bodyPr wrap="square" rtlCol="0">
                <a:spAutoFit/>
              </a:bodyPr>
              <a:lstStyle/>
              <a:p>
                <a:r>
                  <a:rPr lang="zh-CN" altLang="en-US" sz="1200" b="1">
                    <a:solidFill>
                      <a:schemeClr val="bg1"/>
                    </a:solidFill>
                  </a:rPr>
                  <a:t>刘方平</a:t>
                </a:r>
                <a:endParaRPr lang="zh-CN" altLang="en-US" sz="1200" b="1">
                  <a:solidFill>
                    <a:schemeClr val="bg1"/>
                  </a:solidFill>
                </a:endParaRPr>
              </a:p>
            </p:txBody>
          </p:sp>
        </p:grpSp>
        <p:sp>
          <p:nvSpPr>
            <p:cNvPr id="552" name="椭圆 551"/>
            <p:cNvSpPr/>
            <p:nvPr/>
          </p:nvSpPr>
          <p:spPr>
            <a:xfrm>
              <a:off x="2744344" y="4606612"/>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53" name="文本框 552"/>
            <p:cNvSpPr txBox="1"/>
            <p:nvPr/>
          </p:nvSpPr>
          <p:spPr>
            <a:xfrm>
              <a:off x="2677899" y="4712817"/>
              <a:ext cx="642964" cy="276999"/>
            </a:xfrm>
            <a:prstGeom prst="rect">
              <a:avLst/>
            </a:prstGeom>
            <a:noFill/>
          </p:spPr>
          <p:txBody>
            <a:bodyPr wrap="square" rtlCol="0">
              <a:spAutoFit/>
            </a:bodyPr>
            <a:lstStyle/>
            <a:p>
              <a:r>
                <a:rPr lang="zh-CN" altLang="en-US" sz="1200" b="1">
                  <a:solidFill>
                    <a:schemeClr val="bg1"/>
                  </a:solidFill>
                </a:rPr>
                <a:t>皇甫冉</a:t>
              </a:r>
              <a:endParaRPr lang="zh-CN" altLang="en-US" sz="1200" b="1">
                <a:solidFill>
                  <a:schemeClr val="bg1"/>
                </a:solidFill>
              </a:endParaRPr>
            </a:p>
          </p:txBody>
        </p:sp>
        <p:sp>
          <p:nvSpPr>
            <p:cNvPr id="554" name="椭圆 553"/>
            <p:cNvSpPr/>
            <p:nvPr/>
          </p:nvSpPr>
          <p:spPr>
            <a:xfrm>
              <a:off x="8463860" y="3152358"/>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55" name="文本框 554"/>
            <p:cNvSpPr txBox="1"/>
            <p:nvPr/>
          </p:nvSpPr>
          <p:spPr>
            <a:xfrm>
              <a:off x="8397595" y="3227511"/>
              <a:ext cx="642964" cy="276999"/>
            </a:xfrm>
            <a:prstGeom prst="rect">
              <a:avLst/>
            </a:prstGeom>
            <a:noFill/>
          </p:spPr>
          <p:txBody>
            <a:bodyPr wrap="square" rtlCol="0">
              <a:spAutoFit/>
            </a:bodyPr>
            <a:lstStyle/>
            <a:p>
              <a:r>
                <a:rPr lang="zh-CN" altLang="en-US" sz="1200" b="1">
                  <a:solidFill>
                    <a:schemeClr val="bg1"/>
                  </a:solidFill>
                </a:rPr>
                <a:t>王昌龄</a:t>
              </a:r>
              <a:endParaRPr lang="zh-CN" altLang="en-US" sz="1200" b="1">
                <a:solidFill>
                  <a:schemeClr val="bg1"/>
                </a:solidFill>
              </a:endParaRPr>
            </a:p>
          </p:txBody>
        </p:sp>
        <p:grpSp>
          <p:nvGrpSpPr>
            <p:cNvPr id="556" name="组合 555"/>
            <p:cNvGrpSpPr/>
            <p:nvPr/>
          </p:nvGrpSpPr>
          <p:grpSpPr>
            <a:xfrm>
              <a:off x="10375716" y="4657117"/>
              <a:ext cx="642964" cy="510074"/>
              <a:chOff x="5382631" y="261257"/>
              <a:chExt cx="642964" cy="510074"/>
            </a:xfrm>
          </p:grpSpPr>
          <p:sp>
            <p:nvSpPr>
              <p:cNvPr id="612" name="椭圆 611"/>
              <p:cNvSpPr/>
              <p:nvPr/>
            </p:nvSpPr>
            <p:spPr>
              <a:xfrm>
                <a:off x="5449076" y="261257"/>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613" name="文本框 612"/>
              <p:cNvSpPr txBox="1"/>
              <p:nvPr/>
            </p:nvSpPr>
            <p:spPr>
              <a:xfrm>
                <a:off x="5382631" y="367462"/>
                <a:ext cx="642964" cy="276999"/>
              </a:xfrm>
              <a:prstGeom prst="rect">
                <a:avLst/>
              </a:prstGeom>
              <a:noFill/>
            </p:spPr>
            <p:txBody>
              <a:bodyPr wrap="square" rtlCol="0">
                <a:spAutoFit/>
              </a:bodyPr>
              <a:lstStyle/>
              <a:p>
                <a:r>
                  <a:rPr lang="zh-CN" altLang="en-US" sz="1200" b="1">
                    <a:solidFill>
                      <a:schemeClr val="bg1"/>
                    </a:solidFill>
                  </a:rPr>
                  <a:t>储光义</a:t>
                </a:r>
                <a:endParaRPr lang="zh-CN" altLang="en-US" sz="1200" b="1">
                  <a:solidFill>
                    <a:schemeClr val="bg1"/>
                  </a:solidFill>
                </a:endParaRPr>
              </a:p>
            </p:txBody>
          </p:sp>
        </p:grpSp>
        <p:sp>
          <p:nvSpPr>
            <p:cNvPr id="557" name="椭圆 556"/>
            <p:cNvSpPr/>
            <p:nvPr/>
          </p:nvSpPr>
          <p:spPr>
            <a:xfrm>
              <a:off x="2919628" y="3075993"/>
              <a:ext cx="510075" cy="510074"/>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58" name="文本框 557"/>
            <p:cNvSpPr txBox="1"/>
            <p:nvPr/>
          </p:nvSpPr>
          <p:spPr>
            <a:xfrm>
              <a:off x="2853183" y="3182198"/>
              <a:ext cx="642964" cy="276999"/>
            </a:xfrm>
            <a:prstGeom prst="rect">
              <a:avLst/>
            </a:prstGeom>
            <a:noFill/>
          </p:spPr>
          <p:txBody>
            <a:bodyPr wrap="square" rtlCol="0">
              <a:spAutoFit/>
            </a:bodyPr>
            <a:lstStyle/>
            <a:p>
              <a:r>
                <a:rPr lang="zh-CN" altLang="en-US" sz="1200" b="1">
                  <a:solidFill>
                    <a:schemeClr val="bg1"/>
                  </a:solidFill>
                </a:rPr>
                <a:t>刘长卿</a:t>
              </a:r>
              <a:endParaRPr lang="zh-CN" altLang="en-US" sz="1200" b="1">
                <a:solidFill>
                  <a:schemeClr val="bg1"/>
                </a:solidFill>
              </a:endParaRPr>
            </a:p>
          </p:txBody>
        </p:sp>
        <p:sp>
          <p:nvSpPr>
            <p:cNvPr id="559" name="椭圆 558"/>
            <p:cNvSpPr/>
            <p:nvPr/>
          </p:nvSpPr>
          <p:spPr>
            <a:xfrm>
              <a:off x="5202760" y="1603225"/>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60" name="文本框 559"/>
            <p:cNvSpPr txBox="1"/>
            <p:nvPr/>
          </p:nvSpPr>
          <p:spPr>
            <a:xfrm>
              <a:off x="5136315" y="1709430"/>
              <a:ext cx="642964" cy="276999"/>
            </a:xfrm>
            <a:prstGeom prst="rect">
              <a:avLst/>
            </a:prstGeom>
            <a:noFill/>
          </p:spPr>
          <p:txBody>
            <a:bodyPr wrap="square" rtlCol="0">
              <a:spAutoFit/>
            </a:bodyPr>
            <a:lstStyle/>
            <a:p>
              <a:r>
                <a:rPr lang="zh-CN" altLang="en-US" sz="1200" b="1">
                  <a:solidFill>
                    <a:schemeClr val="bg1"/>
                  </a:solidFill>
                </a:rPr>
                <a:t>张九龄</a:t>
              </a:r>
              <a:endParaRPr lang="zh-CN" altLang="en-US" sz="1200" b="1">
                <a:solidFill>
                  <a:schemeClr val="bg1"/>
                </a:solidFill>
              </a:endParaRPr>
            </a:p>
          </p:txBody>
        </p:sp>
        <p:sp>
          <p:nvSpPr>
            <p:cNvPr id="561" name="椭圆 560"/>
            <p:cNvSpPr/>
            <p:nvPr/>
          </p:nvSpPr>
          <p:spPr>
            <a:xfrm>
              <a:off x="10162527" y="1357985"/>
              <a:ext cx="510075" cy="538258"/>
            </a:xfrm>
            <a:prstGeom prst="ellipse">
              <a:avLst/>
            </a:prstGeom>
            <a:solidFill>
              <a:srgbClr val="00B05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62" name="文本框 561"/>
            <p:cNvSpPr txBox="1"/>
            <p:nvPr/>
          </p:nvSpPr>
          <p:spPr>
            <a:xfrm>
              <a:off x="10096082" y="1470058"/>
              <a:ext cx="642964" cy="276999"/>
            </a:xfrm>
            <a:prstGeom prst="rect">
              <a:avLst/>
            </a:prstGeom>
            <a:noFill/>
          </p:spPr>
          <p:txBody>
            <a:bodyPr wrap="square" rtlCol="0">
              <a:spAutoFit/>
            </a:bodyPr>
            <a:lstStyle/>
            <a:p>
              <a:r>
                <a:rPr lang="zh-CN" altLang="en-US" sz="1200" b="1">
                  <a:solidFill>
                    <a:schemeClr val="bg1"/>
                  </a:solidFill>
                </a:rPr>
                <a:t>崔国辅</a:t>
              </a:r>
              <a:endParaRPr lang="zh-CN" altLang="en-US" sz="1200" b="1">
                <a:solidFill>
                  <a:schemeClr val="bg1"/>
                </a:solidFill>
              </a:endParaRPr>
            </a:p>
          </p:txBody>
        </p:sp>
        <p:sp>
          <p:nvSpPr>
            <p:cNvPr id="563" name="椭圆 562"/>
            <p:cNvSpPr/>
            <p:nvPr/>
          </p:nvSpPr>
          <p:spPr>
            <a:xfrm>
              <a:off x="4163036" y="3575199"/>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64" name="文本框 563"/>
            <p:cNvSpPr txBox="1"/>
            <p:nvPr/>
          </p:nvSpPr>
          <p:spPr>
            <a:xfrm>
              <a:off x="4096591" y="3681404"/>
              <a:ext cx="642964" cy="276999"/>
            </a:xfrm>
            <a:prstGeom prst="rect">
              <a:avLst/>
            </a:prstGeom>
            <a:noFill/>
          </p:spPr>
          <p:txBody>
            <a:bodyPr wrap="square" rtlCol="0">
              <a:spAutoFit/>
            </a:bodyPr>
            <a:lstStyle/>
            <a:p>
              <a:r>
                <a:rPr lang="zh-CN" altLang="en-US" sz="1200" b="1">
                  <a:solidFill>
                    <a:schemeClr val="bg1"/>
                  </a:solidFill>
                </a:rPr>
                <a:t>李嘉祐</a:t>
              </a:r>
              <a:endParaRPr lang="zh-CN" altLang="en-US" sz="1200" b="1">
                <a:solidFill>
                  <a:schemeClr val="bg1"/>
                </a:solidFill>
              </a:endParaRPr>
            </a:p>
          </p:txBody>
        </p:sp>
        <p:sp>
          <p:nvSpPr>
            <p:cNvPr id="565" name="椭圆 564"/>
            <p:cNvSpPr/>
            <p:nvPr/>
          </p:nvSpPr>
          <p:spPr>
            <a:xfrm>
              <a:off x="7453814" y="596425"/>
              <a:ext cx="510075" cy="510074"/>
            </a:xfrm>
            <a:prstGeom prst="ellipse">
              <a:avLst/>
            </a:prstGeom>
            <a:solidFill>
              <a:srgbClr val="C00000">
                <a:alpha val="85000"/>
              </a:srgb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566" name="文本框 565"/>
            <p:cNvSpPr txBox="1"/>
            <p:nvPr/>
          </p:nvSpPr>
          <p:spPr>
            <a:xfrm>
              <a:off x="7387369" y="702630"/>
              <a:ext cx="642964" cy="276999"/>
            </a:xfrm>
            <a:prstGeom prst="rect">
              <a:avLst/>
            </a:prstGeom>
            <a:noFill/>
          </p:spPr>
          <p:txBody>
            <a:bodyPr wrap="square" rtlCol="0">
              <a:spAutoFit/>
            </a:bodyPr>
            <a:lstStyle/>
            <a:p>
              <a:r>
                <a:rPr lang="zh-CN" altLang="en-US" sz="1200" b="1">
                  <a:solidFill>
                    <a:schemeClr val="bg1"/>
                  </a:solidFill>
                </a:rPr>
                <a:t>贺知章</a:t>
              </a:r>
              <a:endParaRPr lang="zh-CN" altLang="en-US" sz="1200" b="1">
                <a:solidFill>
                  <a:schemeClr val="bg1"/>
                </a:solidFill>
              </a:endParaRPr>
            </a:p>
          </p:txBody>
        </p:sp>
        <p:cxnSp>
          <p:nvCxnSpPr>
            <p:cNvPr id="567" name="直接箭头连接符 566"/>
            <p:cNvCxnSpPr>
              <a:stCxn id="566" idx="1"/>
              <a:endCxn id="538" idx="3"/>
            </p:cNvCxnSpPr>
            <p:nvPr/>
          </p:nvCxnSpPr>
          <p:spPr>
            <a:xfrm flipH="1" flipV="1">
              <a:off x="6302565" y="739821"/>
              <a:ext cx="1084804" cy="10130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68" name="直接箭头连接符 567"/>
            <p:cNvCxnSpPr>
              <a:stCxn id="620" idx="1"/>
            </p:cNvCxnSpPr>
            <p:nvPr/>
          </p:nvCxnSpPr>
          <p:spPr>
            <a:xfrm flipH="1" flipV="1">
              <a:off x="6219325" y="957646"/>
              <a:ext cx="416454" cy="503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9" name="直接箭头连接符 568"/>
            <p:cNvCxnSpPr/>
            <p:nvPr/>
          </p:nvCxnSpPr>
          <p:spPr>
            <a:xfrm>
              <a:off x="7043753" y="1778323"/>
              <a:ext cx="509179" cy="21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0" name="直接箭头连接符 569"/>
            <p:cNvCxnSpPr>
              <a:stCxn id="537" idx="3"/>
              <a:endCxn id="559" idx="0"/>
            </p:cNvCxnSpPr>
            <p:nvPr/>
          </p:nvCxnSpPr>
          <p:spPr>
            <a:xfrm flipH="1">
              <a:off x="5457798" y="920159"/>
              <a:ext cx="374979" cy="683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1" name="直接箭头连接符 570"/>
            <p:cNvCxnSpPr>
              <a:stCxn id="524" idx="0"/>
              <a:endCxn id="565" idx="4"/>
            </p:cNvCxnSpPr>
            <p:nvPr/>
          </p:nvCxnSpPr>
          <p:spPr>
            <a:xfrm flipH="1" flipV="1">
              <a:off x="7708852" y="1106499"/>
              <a:ext cx="72611" cy="74652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2" name="直接箭头连接符 571"/>
            <p:cNvCxnSpPr>
              <a:stCxn id="524" idx="7"/>
              <a:endCxn id="533" idx="1"/>
            </p:cNvCxnSpPr>
            <p:nvPr/>
          </p:nvCxnSpPr>
          <p:spPr>
            <a:xfrm flipV="1">
              <a:off x="7961801" y="1399322"/>
              <a:ext cx="825061" cy="528399"/>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73" name="直接箭头连接符 572"/>
            <p:cNvCxnSpPr>
              <a:stCxn id="525" idx="3"/>
              <a:endCxn id="526" idx="1"/>
            </p:cNvCxnSpPr>
            <p:nvPr/>
          </p:nvCxnSpPr>
          <p:spPr>
            <a:xfrm>
              <a:off x="8070912" y="2108059"/>
              <a:ext cx="1132233" cy="24248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4" name="直接箭头连接符 573"/>
            <p:cNvCxnSpPr>
              <a:stCxn id="524" idx="3"/>
              <a:endCxn id="528" idx="0"/>
            </p:cNvCxnSpPr>
            <p:nvPr/>
          </p:nvCxnSpPr>
          <p:spPr>
            <a:xfrm flipH="1">
              <a:off x="7319291" y="2288397"/>
              <a:ext cx="281833" cy="82778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5" name="直接箭头连接符 574"/>
            <p:cNvCxnSpPr>
              <a:stCxn id="528" idx="7"/>
              <a:endCxn id="524" idx="4"/>
            </p:cNvCxnSpPr>
            <p:nvPr/>
          </p:nvCxnSpPr>
          <p:spPr>
            <a:xfrm flipV="1">
              <a:off x="7499629" y="2363096"/>
              <a:ext cx="281834" cy="82778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6" name="直接箭头连接符 575"/>
            <p:cNvCxnSpPr>
              <a:stCxn id="528" idx="7"/>
              <a:endCxn id="532" idx="3"/>
            </p:cNvCxnSpPr>
            <p:nvPr/>
          </p:nvCxnSpPr>
          <p:spPr>
            <a:xfrm flipV="1">
              <a:off x="7499629" y="1566507"/>
              <a:ext cx="1373998" cy="1624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7" name="直接箭头连接符 576"/>
            <p:cNvCxnSpPr>
              <a:endCxn id="527" idx="1"/>
            </p:cNvCxnSpPr>
            <p:nvPr/>
          </p:nvCxnSpPr>
          <p:spPr>
            <a:xfrm flipV="1">
              <a:off x="7608740" y="2520545"/>
              <a:ext cx="1453261" cy="72704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8" name="直接箭头连接符 577"/>
            <p:cNvCxnSpPr>
              <a:stCxn id="526" idx="7"/>
              <a:endCxn id="561" idx="3"/>
            </p:cNvCxnSpPr>
            <p:nvPr/>
          </p:nvCxnSpPr>
          <p:spPr>
            <a:xfrm flipV="1">
              <a:off x="9563822" y="1817417"/>
              <a:ext cx="673404" cy="53312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9" name="直接箭头连接符 578"/>
            <p:cNvCxnSpPr>
              <a:stCxn id="529" idx="3"/>
              <a:endCxn id="555" idx="1"/>
            </p:cNvCxnSpPr>
            <p:nvPr/>
          </p:nvCxnSpPr>
          <p:spPr>
            <a:xfrm flipV="1">
              <a:off x="7608740" y="3366011"/>
              <a:ext cx="788855" cy="521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0" name="直接箭头连接符 579"/>
            <p:cNvCxnSpPr>
              <a:stCxn id="555" idx="3"/>
              <a:endCxn id="549" idx="1"/>
            </p:cNvCxnSpPr>
            <p:nvPr/>
          </p:nvCxnSpPr>
          <p:spPr>
            <a:xfrm flipV="1">
              <a:off x="9040559" y="3324172"/>
              <a:ext cx="979401" cy="4183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1" name="直接箭头连接符 580"/>
            <p:cNvCxnSpPr>
              <a:stCxn id="612" idx="0"/>
              <a:endCxn id="549" idx="5"/>
            </p:cNvCxnSpPr>
            <p:nvPr/>
          </p:nvCxnSpPr>
          <p:spPr>
            <a:xfrm flipH="1" flipV="1">
              <a:off x="10380637" y="3684848"/>
              <a:ext cx="316562" cy="972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2" name="直接箭头连接符 581"/>
            <p:cNvCxnSpPr>
              <a:stCxn id="549" idx="4"/>
            </p:cNvCxnSpPr>
            <p:nvPr/>
          </p:nvCxnSpPr>
          <p:spPr>
            <a:xfrm flipH="1">
              <a:off x="9113068" y="3759547"/>
              <a:ext cx="1087231" cy="114227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3" name="直接箭头连接符 582"/>
            <p:cNvCxnSpPr>
              <a:stCxn id="545" idx="3"/>
              <a:endCxn id="613" idx="1"/>
            </p:cNvCxnSpPr>
            <p:nvPr/>
          </p:nvCxnSpPr>
          <p:spPr>
            <a:xfrm flipV="1">
              <a:off x="9227031" y="4901822"/>
              <a:ext cx="1148685" cy="156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4" name="直接箭头连接符 583"/>
            <p:cNvCxnSpPr>
              <a:stCxn id="544" idx="1"/>
            </p:cNvCxnSpPr>
            <p:nvPr/>
          </p:nvCxnSpPr>
          <p:spPr>
            <a:xfrm flipH="1" flipV="1">
              <a:off x="7570589" y="3494751"/>
              <a:ext cx="1186654" cy="1382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5" name="直接箭头连接符 584"/>
            <p:cNvCxnSpPr>
              <a:stCxn id="554" idx="3"/>
              <a:endCxn id="530" idx="0"/>
            </p:cNvCxnSpPr>
            <p:nvPr/>
          </p:nvCxnSpPr>
          <p:spPr>
            <a:xfrm flipH="1">
              <a:off x="7822166" y="3587733"/>
              <a:ext cx="716393" cy="66551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6" name="直接箭头连接符 585"/>
            <p:cNvCxnSpPr>
              <a:endCxn id="554" idx="4"/>
            </p:cNvCxnSpPr>
            <p:nvPr/>
          </p:nvCxnSpPr>
          <p:spPr>
            <a:xfrm flipV="1">
              <a:off x="8037521" y="3662432"/>
              <a:ext cx="681377" cy="69196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7" name="直接箭头连接符 586"/>
            <p:cNvCxnSpPr>
              <a:stCxn id="528" idx="5"/>
              <a:endCxn id="530" idx="0"/>
            </p:cNvCxnSpPr>
            <p:nvPr/>
          </p:nvCxnSpPr>
          <p:spPr>
            <a:xfrm>
              <a:off x="7499629" y="3551559"/>
              <a:ext cx="322537" cy="70168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8" name="直接箭头连接符 587"/>
            <p:cNvCxnSpPr>
              <a:stCxn id="530" idx="1"/>
              <a:endCxn id="528" idx="4"/>
            </p:cNvCxnSpPr>
            <p:nvPr/>
          </p:nvCxnSpPr>
          <p:spPr>
            <a:xfrm flipH="1" flipV="1">
              <a:off x="7319291" y="3626258"/>
              <a:ext cx="322536" cy="70168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9" name="直接箭头连接符 588"/>
            <p:cNvCxnSpPr>
              <a:stCxn id="528" idx="3"/>
              <a:endCxn id="535" idx="3"/>
            </p:cNvCxnSpPr>
            <p:nvPr/>
          </p:nvCxnSpPr>
          <p:spPr>
            <a:xfrm flipH="1">
              <a:off x="6122226" y="3551559"/>
              <a:ext cx="1016726" cy="7660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0" name="直接箭头连接符 589"/>
            <p:cNvCxnSpPr>
              <a:stCxn id="534" idx="7"/>
            </p:cNvCxnSpPr>
            <p:nvPr/>
          </p:nvCxnSpPr>
          <p:spPr>
            <a:xfrm flipV="1">
              <a:off x="6013115" y="3494749"/>
              <a:ext cx="1058040" cy="64252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1" name="直接箭头连接符 590"/>
            <p:cNvCxnSpPr/>
            <p:nvPr/>
          </p:nvCxnSpPr>
          <p:spPr>
            <a:xfrm flipH="1" flipV="1">
              <a:off x="5624081" y="3227057"/>
              <a:ext cx="1479285" cy="2053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2" name="直接箭头连接符 591"/>
            <p:cNvCxnSpPr>
              <a:stCxn id="540" idx="3"/>
              <a:endCxn id="529" idx="1"/>
            </p:cNvCxnSpPr>
            <p:nvPr/>
          </p:nvCxnSpPr>
          <p:spPr>
            <a:xfrm>
              <a:off x="5660844" y="3345091"/>
              <a:ext cx="1368995" cy="2613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3" name="直接箭头连接符 592"/>
            <p:cNvCxnSpPr>
              <a:stCxn id="550" idx="1"/>
            </p:cNvCxnSpPr>
            <p:nvPr/>
          </p:nvCxnSpPr>
          <p:spPr>
            <a:xfrm flipH="1">
              <a:off x="9004959" y="3504510"/>
              <a:ext cx="905888" cy="4704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4" name="直接箭头连接符 593"/>
            <p:cNvCxnSpPr>
              <a:stCxn id="526" idx="3"/>
              <a:endCxn id="554" idx="0"/>
            </p:cNvCxnSpPr>
            <p:nvPr/>
          </p:nvCxnSpPr>
          <p:spPr>
            <a:xfrm flipH="1">
              <a:off x="8718898" y="2711215"/>
              <a:ext cx="484247" cy="44114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5" name="直接箭头连接符 594"/>
            <p:cNvCxnSpPr>
              <a:stCxn id="549" idx="0"/>
              <a:endCxn id="526" idx="5"/>
            </p:cNvCxnSpPr>
            <p:nvPr/>
          </p:nvCxnSpPr>
          <p:spPr>
            <a:xfrm flipH="1" flipV="1">
              <a:off x="9563822" y="2711215"/>
              <a:ext cx="636477" cy="53825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6" name="直接箭头连接符 595"/>
            <p:cNvCxnSpPr>
              <a:stCxn id="528" idx="3"/>
              <a:endCxn id="547" idx="0"/>
            </p:cNvCxnSpPr>
            <p:nvPr/>
          </p:nvCxnSpPr>
          <p:spPr>
            <a:xfrm flipH="1">
              <a:off x="6688375" y="3551559"/>
              <a:ext cx="450577" cy="14872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7" name="直接箭头连接符 596"/>
            <p:cNvCxnSpPr>
              <a:stCxn id="524" idx="5"/>
              <a:endCxn id="554" idx="1"/>
            </p:cNvCxnSpPr>
            <p:nvPr/>
          </p:nvCxnSpPr>
          <p:spPr>
            <a:xfrm>
              <a:off x="7961801" y="2288397"/>
              <a:ext cx="576758" cy="93866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8" name="直接箭头连接符 597"/>
            <p:cNvCxnSpPr/>
            <p:nvPr/>
          </p:nvCxnSpPr>
          <p:spPr>
            <a:xfrm flipH="1">
              <a:off x="4656979" y="3429000"/>
              <a:ext cx="499952" cy="24350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9" name="直接箭头连接符 598"/>
            <p:cNvCxnSpPr>
              <a:endCxn id="558" idx="3"/>
            </p:cNvCxnSpPr>
            <p:nvPr/>
          </p:nvCxnSpPr>
          <p:spPr>
            <a:xfrm flipH="1" flipV="1">
              <a:off x="3496147" y="3320698"/>
              <a:ext cx="681094" cy="30363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00" name="直接箭头连接符 599"/>
            <p:cNvCxnSpPr>
              <a:endCxn id="564" idx="1"/>
            </p:cNvCxnSpPr>
            <p:nvPr/>
          </p:nvCxnSpPr>
          <p:spPr>
            <a:xfrm>
              <a:off x="3427714" y="3525109"/>
              <a:ext cx="668877" cy="2947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1" name="直接箭头连接符 600"/>
            <p:cNvCxnSpPr>
              <a:stCxn id="557" idx="0"/>
              <a:endCxn id="614" idx="4"/>
            </p:cNvCxnSpPr>
            <p:nvPr/>
          </p:nvCxnSpPr>
          <p:spPr>
            <a:xfrm flipH="1" flipV="1">
              <a:off x="2999382" y="2235136"/>
              <a:ext cx="175284" cy="840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2" name="直接箭头连接符 601"/>
            <p:cNvCxnSpPr>
              <a:stCxn id="557" idx="1"/>
              <a:endCxn id="542" idx="3"/>
            </p:cNvCxnSpPr>
            <p:nvPr/>
          </p:nvCxnSpPr>
          <p:spPr>
            <a:xfrm flipH="1" flipV="1">
              <a:off x="2186295" y="2820956"/>
              <a:ext cx="808032" cy="329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3" name="直接箭头连接符 602"/>
            <p:cNvCxnSpPr>
              <a:stCxn id="541" idx="5"/>
              <a:endCxn id="558" idx="1"/>
            </p:cNvCxnSpPr>
            <p:nvPr/>
          </p:nvCxnSpPr>
          <p:spPr>
            <a:xfrm>
              <a:off x="2077184" y="3001294"/>
              <a:ext cx="775999" cy="319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4" name="直接箭头连接符 603"/>
            <p:cNvCxnSpPr>
              <a:stCxn id="557" idx="3"/>
              <a:endCxn id="552" idx="0"/>
            </p:cNvCxnSpPr>
            <p:nvPr/>
          </p:nvCxnSpPr>
          <p:spPr>
            <a:xfrm>
              <a:off x="2994327" y="3511368"/>
              <a:ext cx="5055" cy="1095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5" name="直接箭头连接符 604"/>
            <p:cNvCxnSpPr>
              <a:stCxn id="552" idx="7"/>
              <a:endCxn id="557" idx="4"/>
            </p:cNvCxnSpPr>
            <p:nvPr/>
          </p:nvCxnSpPr>
          <p:spPr>
            <a:xfrm flipH="1" flipV="1">
              <a:off x="3174666" y="3586067"/>
              <a:ext cx="5054" cy="1095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6" name="直接箭头连接符 605"/>
            <p:cNvCxnSpPr>
              <a:stCxn id="563" idx="3"/>
              <a:endCxn id="553" idx="3"/>
            </p:cNvCxnSpPr>
            <p:nvPr/>
          </p:nvCxnSpPr>
          <p:spPr>
            <a:xfrm flipH="1">
              <a:off x="3320863" y="4010574"/>
              <a:ext cx="916872" cy="84074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07" name="直接箭头连接符 606"/>
            <p:cNvCxnSpPr/>
            <p:nvPr/>
          </p:nvCxnSpPr>
          <p:spPr>
            <a:xfrm>
              <a:off x="3116060" y="5167191"/>
              <a:ext cx="463500" cy="3992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8" name="直接箭头连接符 607"/>
            <p:cNvCxnSpPr>
              <a:stCxn id="618" idx="0"/>
            </p:cNvCxnSpPr>
            <p:nvPr/>
          </p:nvCxnSpPr>
          <p:spPr>
            <a:xfrm flipH="1" flipV="1">
              <a:off x="3240975" y="5038774"/>
              <a:ext cx="521178" cy="4264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9" name="直接箭头连接符 608"/>
            <p:cNvCxnSpPr>
              <a:stCxn id="618" idx="7"/>
              <a:endCxn id="617" idx="1"/>
            </p:cNvCxnSpPr>
            <p:nvPr/>
          </p:nvCxnSpPr>
          <p:spPr>
            <a:xfrm flipV="1">
              <a:off x="3942491" y="5197460"/>
              <a:ext cx="690436" cy="342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0" name="直接箭头连接符 609"/>
            <p:cNvCxnSpPr>
              <a:stCxn id="616" idx="3"/>
              <a:endCxn id="619" idx="3"/>
            </p:cNvCxnSpPr>
            <p:nvPr/>
          </p:nvCxnSpPr>
          <p:spPr>
            <a:xfrm flipH="1">
              <a:off x="4051602" y="5377798"/>
              <a:ext cx="690438" cy="342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1" name="直接箭头连接符 610"/>
            <p:cNvCxnSpPr>
              <a:stCxn id="559" idx="7"/>
              <a:endCxn id="537" idx="4"/>
            </p:cNvCxnSpPr>
            <p:nvPr/>
          </p:nvCxnSpPr>
          <p:spPr>
            <a:xfrm flipV="1">
              <a:off x="5638136" y="994858"/>
              <a:ext cx="374980" cy="6830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622" name="文本框 621"/>
          <p:cNvSpPr txBox="1"/>
          <p:nvPr/>
        </p:nvSpPr>
        <p:spPr>
          <a:xfrm>
            <a:off x="363733" y="3477987"/>
            <a:ext cx="1584470" cy="1308179"/>
          </a:xfrm>
          <a:prstGeom prst="rect">
            <a:avLst/>
          </a:prstGeom>
          <a:solidFill>
            <a:schemeClr val="accent6">
              <a:lumMod val="20000"/>
              <a:lumOff val="80000"/>
            </a:schemeClr>
          </a:solidFill>
        </p:spPr>
        <p:txBody>
          <a:bodyPr wrap="square" rtlCol="0">
            <a:spAutoFit/>
          </a:bodyPr>
          <a:lstStyle/>
          <a:p>
            <a:pPr>
              <a:lnSpc>
                <a:spcPts val="2400"/>
              </a:lnSpc>
            </a:pPr>
            <a:r>
              <a:rPr lang="zh-CN" altLang="en-US" b="1">
                <a:solidFill>
                  <a:schemeClr val="accent6">
                    <a:lumMod val="50000"/>
                  </a:schemeClr>
                </a:solidFill>
              </a:rPr>
              <a:t>绿色</a:t>
            </a:r>
            <a:r>
              <a:rPr lang="zh-CN" altLang="en-US" b="1">
                <a:solidFill>
                  <a:schemeClr val="accent2">
                    <a:lumMod val="50000"/>
                  </a:schemeClr>
                </a:solidFill>
              </a:rPr>
              <a:t>标出杜甫经过</a:t>
            </a:r>
            <a:r>
              <a:rPr lang="zh-CN" altLang="en-US" b="1">
                <a:solidFill>
                  <a:srgbClr val="C00000"/>
                </a:solidFill>
              </a:rPr>
              <a:t>两个中间人</a:t>
            </a:r>
            <a:r>
              <a:rPr lang="zh-CN" altLang="en-US" b="1">
                <a:solidFill>
                  <a:schemeClr val="accent2">
                    <a:lumMod val="50000"/>
                  </a:schemeClr>
                </a:solidFill>
              </a:rPr>
              <a:t>可以联系到的诗人</a:t>
            </a:r>
            <a:endParaRPr lang="zh-CN" altLang="en-US" b="1">
              <a:solidFill>
                <a:schemeClr val="accent2">
                  <a:lumMod val="50000"/>
                </a:schemeClr>
              </a:solidFill>
            </a:endParaRPr>
          </a:p>
        </p:txBody>
      </p:sp>
      <p:sp>
        <p:nvSpPr>
          <p:cNvPr id="6" name="文本框 5"/>
          <p:cNvSpPr txBox="1"/>
          <p:nvPr/>
        </p:nvSpPr>
        <p:spPr>
          <a:xfrm>
            <a:off x="3425533" y="2746281"/>
            <a:ext cx="5342034" cy="737510"/>
          </a:xfrm>
          <a:prstGeom prst="rect">
            <a:avLst/>
          </a:prstGeom>
          <a:solidFill>
            <a:schemeClr val="accent4">
              <a:lumMod val="20000"/>
              <a:lumOff val="80000"/>
            </a:schemeClr>
          </a:solidFill>
        </p:spPr>
        <p:txBody>
          <a:bodyPr wrap="square" rtlCol="0">
            <a:spAutoFit/>
          </a:bodyPr>
          <a:lstStyle/>
          <a:p>
            <a:pPr algn="ctr">
              <a:lnSpc>
                <a:spcPts val="2600"/>
              </a:lnSpc>
            </a:pPr>
            <a:r>
              <a:rPr lang="zh-CN" altLang="en-US" b="1">
                <a:solidFill>
                  <a:srgbClr val="002060"/>
                </a:solidFill>
              </a:rPr>
              <a:t>复杂网络的“六度分隔理论”（</a:t>
            </a:r>
            <a:r>
              <a:rPr lang="zh-CN" altLang="en-US" b="1">
                <a:solidFill>
                  <a:srgbClr val="C00000"/>
                </a:solidFill>
              </a:rPr>
              <a:t>小世界理论</a:t>
            </a:r>
            <a:r>
              <a:rPr lang="zh-CN" altLang="en-US" b="1">
                <a:solidFill>
                  <a:srgbClr val="002060"/>
                </a:solidFill>
              </a:rPr>
              <a:t>）</a:t>
            </a:r>
            <a:endParaRPr lang="en-US" altLang="zh-CN" b="1">
              <a:solidFill>
                <a:srgbClr val="002060"/>
              </a:solidFill>
            </a:endParaRPr>
          </a:p>
          <a:p>
            <a:pPr algn="ctr">
              <a:lnSpc>
                <a:spcPts val="2600"/>
              </a:lnSpc>
            </a:pPr>
            <a:r>
              <a:rPr lang="zh-CN" altLang="en-US" b="1">
                <a:solidFill>
                  <a:srgbClr val="002060"/>
                </a:solidFill>
              </a:rPr>
              <a:t>你最多通过</a:t>
            </a:r>
            <a:r>
              <a:rPr lang="en-US" altLang="zh-CN" b="1">
                <a:solidFill>
                  <a:srgbClr val="002060"/>
                </a:solidFill>
              </a:rPr>
              <a:t>5</a:t>
            </a:r>
            <a:r>
              <a:rPr lang="zh-CN" altLang="en-US" b="1">
                <a:solidFill>
                  <a:srgbClr val="002060"/>
                </a:solidFill>
              </a:rPr>
              <a:t>个中间人就可联系到世界上任何一个人</a:t>
            </a:r>
            <a:endParaRPr lang="zh-CN" altLang="en-US" b="1">
              <a:solidFill>
                <a:srgbClr val="00206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22" grpId="0" animBg="1"/>
      <p:bldP spid="622"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生活中关系传递闭包的计算举例（二）</a:t>
            </a:r>
            <a:endParaRPr lang="zh-CN" altLang="en-US"/>
          </a:p>
        </p:txBody>
      </p:sp>
      <p:sp>
        <p:nvSpPr>
          <p:cNvPr id="11" name="文本框 10"/>
          <p:cNvSpPr txBox="1"/>
          <p:nvPr/>
        </p:nvSpPr>
        <p:spPr>
          <a:xfrm>
            <a:off x="876794" y="1234961"/>
            <a:ext cx="10438410" cy="923330"/>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rPr>
              <a:t>关系的传递闭包是包含这个关系的最小传递关系</a:t>
            </a:r>
            <a:endParaRPr lang="zh-CN" altLang="en-US" sz="2400" b="1">
              <a:solidFill>
                <a:schemeClr val="accent2">
                  <a:lumMod val="50000"/>
                </a:schemeClr>
              </a:solidFill>
            </a:endParaRPr>
          </a:p>
          <a:p>
            <a:pPr algn="ct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当一个关系不具有传递性时，可</a:t>
            </a:r>
            <a:r>
              <a:rPr lang="zh-CN" altLang="en-US" sz="2000" b="1">
                <a:solidFill>
                  <a:srgbClr val="C00000"/>
                </a:solidFill>
                <a:latin typeface="+mn-ea"/>
              </a:rPr>
              <a:t>添加最少有序对</a:t>
            </a:r>
            <a:r>
              <a:rPr lang="zh-CN" altLang="en-US" sz="2000" b="1">
                <a:solidFill>
                  <a:srgbClr val="002060"/>
                </a:solidFill>
                <a:latin typeface="楷体" panose="02010609060101010101" pitchFamily="49" charset="-122"/>
                <a:ea typeface="楷体" panose="02010609060101010101" pitchFamily="49" charset="-122"/>
              </a:rPr>
              <a:t>使得其具有传递性，从而得到它的传递闭包</a:t>
            </a:r>
            <a:endParaRPr lang="zh-CN" altLang="en-US" sz="2000" b="1">
              <a:solidFill>
                <a:srgbClr val="002060"/>
              </a:solidFill>
              <a:latin typeface="楷体" panose="02010609060101010101" pitchFamily="49" charset="-122"/>
              <a:ea typeface="楷体" panose="02010609060101010101" pitchFamily="49" charset="-122"/>
            </a:endParaRPr>
          </a:p>
        </p:txBody>
      </p:sp>
      <mc:AlternateContent xmlns:mc="http://schemas.openxmlformats.org/markup-compatibility/2006">
        <mc:Choice xmlns:a14="http://schemas.microsoft.com/office/drawing/2010/main" Requires="a14">
          <p:sp>
            <p:nvSpPr>
              <p:cNvPr id="2" name="文本框 1"/>
              <p:cNvSpPr txBox="1"/>
              <p:nvPr/>
            </p:nvSpPr>
            <p:spPr>
              <a:xfrm>
                <a:off x="875978" y="2514119"/>
                <a:ext cx="10016729" cy="400110"/>
              </a:xfrm>
              <a:prstGeom prst="rect">
                <a:avLst/>
              </a:prstGeom>
              <a:solidFill>
                <a:schemeClr val="accent6">
                  <a:lumMod val="20000"/>
                  <a:lumOff val="80000"/>
                </a:schemeClr>
              </a:solidFill>
            </p:spPr>
            <p:txBody>
              <a:bodyPr wrap="square" rtlCol="0">
                <a:spAutoFit/>
              </a:bodyPr>
              <a:lstStyle/>
              <a:p>
                <a:r>
                  <a:rPr lang="zh-CN" altLang="en-US" sz="2000" b="1" dirty="0">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dirty="0">
                    <a:solidFill>
                      <a:srgbClr val="002060"/>
                    </a:solidFill>
                    <a:latin typeface="楷体" panose="02010609060101010101" pitchFamily="49" charset="-122"/>
                    <a:ea typeface="楷体" panose="02010609060101010101" pitchFamily="49" charset="-122"/>
                  </a:rPr>
                  <a:t>是所有人构成的集合，关系</a:t>
                </a:r>
                <a14:m>
                  <m:oMath xmlns:m="http://schemas.openxmlformats.org/officeDocument/2006/math">
                    <m:r>
                      <a:rPr lang="en-US" altLang="zh-CN" sz="2000" b="1" i="1" smtClean="0">
                        <a:solidFill>
                          <a:srgbClr val="002060"/>
                        </a:solidFill>
                        <a:latin typeface="Cambria Math" panose="02040503050406030204" pitchFamily="18" charset="0"/>
                      </a:rPr>
                      <m:t>𝑹</m:t>
                    </m:r>
                  </m:oMath>
                </a14:m>
                <a:r>
                  <a:rPr lang="zh-CN" altLang="en-US" sz="2000" b="1" dirty="0">
                    <a:solidFill>
                      <a:srgbClr val="002060"/>
                    </a:solidFill>
                    <a:latin typeface="楷体" panose="02010609060101010101" pitchFamily="49" charset="-122"/>
                    <a:ea typeface="楷体" panose="02010609060101010101" pitchFamily="49" charset="-122"/>
                  </a:rPr>
                  <a:t>是“</a:t>
                </a:r>
                <a:r>
                  <a:rPr lang="zh-CN" altLang="en-US" sz="2000" b="1" dirty="0">
                    <a:solidFill>
                      <a:srgbClr val="C00000"/>
                    </a:solidFill>
                    <a:latin typeface="楷体" panose="02010609060101010101" pitchFamily="49" charset="-122"/>
                    <a:ea typeface="楷体" panose="02010609060101010101" pitchFamily="49" charset="-122"/>
                  </a:rPr>
                  <a:t>有密切接触</a:t>
                </a:r>
                <a:r>
                  <a:rPr lang="zh-CN" altLang="en-US" sz="2000" b="1" dirty="0">
                    <a:solidFill>
                      <a:srgbClr val="002060"/>
                    </a:solidFill>
                    <a:latin typeface="楷体" panose="02010609060101010101" pitchFamily="49" charset="-122"/>
                    <a:ea typeface="楷体" panose="02010609060101010101" pitchFamily="49" charset="-122"/>
                  </a:rPr>
                  <a:t>”这个关系，它的传递闭包</a:t>
                </a:r>
                <a14:m>
                  <m:oMath xmlns:m="http://schemas.openxmlformats.org/officeDocument/2006/math">
                    <m:r>
                      <a:rPr lang="en-US" altLang="zh-CN" sz="2000" b="1" i="1" smtClean="0">
                        <a:solidFill>
                          <a:srgbClr val="002060"/>
                        </a:solidFill>
                        <a:latin typeface="Cambria Math" panose="02040503050406030204" pitchFamily="18" charset="0"/>
                      </a:rPr>
                      <m:t>𝒕</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是什么？</a:t>
                </a:r>
                <a:endParaRPr lang="zh-CN" altLang="en-US" sz="2000" b="1" dirty="0">
                  <a:solidFill>
                    <a:srgbClr val="002060"/>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875978" y="2514119"/>
                <a:ext cx="10016729" cy="400110"/>
              </a:xfrm>
              <a:prstGeom prst="rect">
                <a:avLst/>
              </a:prstGeom>
              <a:blipFill rotWithShape="1">
                <a:blip r:embed="rId1"/>
                <a:stretch>
                  <a:fillRect l="-3" t="-38" r="-1040" b="53"/>
                </a:stretch>
              </a:blipFill>
            </p:spPr>
            <p:txBody>
              <a:bodyPr/>
              <a:lstStyle/>
              <a:p>
                <a:r>
                  <a:rPr lang="zh-CN" altLang="en-US">
                    <a:noFill/>
                  </a:rPr>
                  <a:t> </a:t>
                </a:r>
              </a:p>
            </p:txBody>
          </p:sp>
        </mc:Fallback>
      </mc:AlternateContent>
      <p:grpSp>
        <p:nvGrpSpPr>
          <p:cNvPr id="6" name="组合 5"/>
          <p:cNvGrpSpPr/>
          <p:nvPr/>
        </p:nvGrpSpPr>
        <p:grpSpPr>
          <a:xfrm>
            <a:off x="333420" y="3094664"/>
            <a:ext cx="11525155" cy="3013045"/>
            <a:chOff x="333420" y="3094664"/>
            <a:chExt cx="11525155" cy="3013045"/>
          </a:xfrm>
        </p:grpSpPr>
        <mc:AlternateContent xmlns:mc="http://schemas.openxmlformats.org/markup-compatibility/2006">
          <mc:Choice xmlns:a14="http://schemas.microsoft.com/office/drawing/2010/main" Requires="a14">
            <p:sp>
              <p:nvSpPr>
                <p:cNvPr id="41" name="文本框 40"/>
                <p:cNvSpPr txBox="1"/>
                <p:nvPr/>
              </p:nvSpPr>
              <p:spPr>
                <a:xfrm>
                  <a:off x="875977" y="5147831"/>
                  <a:ext cx="9784746" cy="383951"/>
                </a:xfrm>
                <a:prstGeom prst="rect">
                  <a:avLst/>
                </a:prstGeom>
                <a:solidFill>
                  <a:schemeClr val="accent2">
                    <a:lumMod val="20000"/>
                    <a:lumOff val="80000"/>
                  </a:schemeClr>
                </a:solidFill>
              </p:spPr>
              <p:txBody>
                <a:bodyPr wrap="square" rtlCol="0">
                  <a:spAutoFit/>
                </a:bodyPr>
                <a:lstStyle/>
                <a:p>
                  <a:pPr algn="ctr">
                    <a:lnSpc>
                      <a:spcPts val="2400"/>
                    </a:lnSpc>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𝒕</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𝑹</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 是“</a:t>
                  </a:r>
                  <a:r>
                    <a:rPr lang="zh-CN" altLang="en-US" b="1">
                      <a:solidFill>
                        <a:srgbClr val="C00000"/>
                      </a:solidFill>
                    </a:rPr>
                    <a:t>可能传染病毒</a:t>
                  </a:r>
                  <a:r>
                    <a:rPr lang="zh-CN" altLang="en-US" b="1">
                      <a:solidFill>
                        <a:schemeClr val="accent2">
                          <a:lumMod val="50000"/>
                        </a:schemeClr>
                      </a:solidFill>
                    </a:rPr>
                    <a:t>”关系：如果</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和</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a14:m>
                  <a:r>
                    <a:rPr lang="zh-CN" altLang="en-US" b="1">
                      <a:solidFill>
                        <a:schemeClr val="accent2">
                          <a:lumMod val="50000"/>
                        </a:schemeClr>
                      </a:solidFill>
                    </a:rPr>
                    <a:t>间存在若干中间有密切接触的人，则</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可能传染病毒给</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a14:m>
                  <a:endParaRPr lang="zh-CN" altLang="en-US" b="1">
                    <a:solidFill>
                      <a:schemeClr val="accent2">
                        <a:lumMod val="50000"/>
                      </a:schemeClr>
                    </a:solidFill>
                  </a:endParaRPr>
                </a:p>
              </p:txBody>
            </p:sp>
          </mc:Choice>
          <mc:Fallback>
            <p:sp>
              <p:nvSpPr>
                <p:cNvPr id="41" name="文本框 40"/>
                <p:cNvSpPr txBox="1">
                  <a:spLocks noRot="1" noChangeAspect="1" noMove="1" noResize="1" noEditPoints="1" noAdjustHandles="1" noChangeArrowheads="1" noChangeShapeType="1" noTextEdit="1"/>
                </p:cNvSpPr>
                <p:nvPr/>
              </p:nvSpPr>
              <p:spPr>
                <a:xfrm>
                  <a:off x="875977" y="5147831"/>
                  <a:ext cx="9784746" cy="383951"/>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3" name="文本框 42"/>
                <p:cNvSpPr txBox="1"/>
                <p:nvPr/>
              </p:nvSpPr>
              <p:spPr>
                <a:xfrm>
                  <a:off x="333420" y="5723758"/>
                  <a:ext cx="11525155" cy="383951"/>
                </a:xfrm>
                <a:prstGeom prst="rect">
                  <a:avLst/>
                </a:prstGeom>
                <a:solidFill>
                  <a:schemeClr val="accent2">
                    <a:lumMod val="20000"/>
                    <a:lumOff val="80000"/>
                  </a:schemeClr>
                </a:solidFill>
              </p:spPr>
              <p:txBody>
                <a:bodyPr wrap="square" rtlCol="0">
                  <a:spAutoFit/>
                </a:bodyPr>
                <a:lstStyle/>
                <a:p>
                  <a:pPr algn="ctr">
                    <a:lnSpc>
                      <a:spcPts val="2400"/>
                    </a:lnSpc>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 </a:t>
                  </a:r>
                  <a14:m>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𝒚</m:t>
                      </m:r>
                    </m:oMath>
                  </a14:m>
                  <a:r>
                    <a:rPr lang="zh-CN" altLang="en-US" b="1">
                      <a:solidFill>
                        <a:srgbClr val="C00000"/>
                      </a:solidFill>
                    </a:rPr>
                    <a:t>，</a:t>
                  </a:r>
                  <a14:m>
                    <m:oMath xmlns:m="http://schemas.openxmlformats.org/officeDocument/2006/math">
                      <m:d>
                        <m:dPr>
                          <m:begChr m:val="⟨"/>
                          <m:endChr m:val="⟩"/>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𝒚</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𝒕</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𝑹</m:t>
                          </m:r>
                        </m:e>
                      </m:d>
                    </m:oMath>
                  </a14:m>
                  <a:r>
                    <a:rPr lang="zh-CN" altLang="en-US" b="1">
                      <a:solidFill>
                        <a:srgbClr val="C00000"/>
                      </a:solidFill>
                    </a:rPr>
                    <a:t>当且仅当</a:t>
                  </a:r>
                  <a14:m>
                    <m:oMath xmlns:m="http://schemas.openxmlformats.org/officeDocument/2006/math">
                      <m:d>
                        <m:dPr>
                          <m:begChr m:val="⟨"/>
                          <m:endChr m:val="⟩"/>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𝒚</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𝑹</m:t>
                      </m:r>
                    </m:oMath>
                  </a14:m>
                  <a:r>
                    <a:rPr lang="zh-CN" altLang="en-US" b="1">
                      <a:solidFill>
                        <a:srgbClr val="C00000"/>
                      </a:solidFill>
                    </a:rPr>
                    <a:t>，或者存在</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 ⋯,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𝒌</m:t>
                          </m:r>
                        </m:sub>
                      </m:sSub>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𝒌</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e>
                      </m:d>
                    </m:oMath>
                  </a14:m>
                  <a:r>
                    <a:rPr lang="zh-CN" altLang="en-US" b="1">
                      <a:solidFill>
                        <a:srgbClr val="C00000"/>
                      </a:solidFill>
                    </a:rPr>
                    <a:t>使得</a:t>
                  </a:r>
                  <a14:m>
                    <m:oMath xmlns:m="http://schemas.openxmlformats.org/officeDocument/2006/math">
                      <m:d>
                        <m:dPr>
                          <m:begChr m:val="⟨"/>
                          <m:endChr m:val="⟩"/>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𝟏</m:t>
                              </m:r>
                            </m:sub>
                          </m:sSub>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𝑹</m:t>
                      </m:r>
                      <m:r>
                        <a:rPr lang="zh-CN" altLang="en-US" b="1" i="1" smtClean="0">
                          <a:solidFill>
                            <a:srgbClr val="C00000"/>
                          </a:solidFill>
                          <a:latin typeface="Cambria Math" panose="02040503050406030204" pitchFamily="18" charset="0"/>
                        </a:rPr>
                        <m:t>，</m:t>
                      </m:r>
                      <m:d>
                        <m:dPr>
                          <m:begChr m:val="⟨"/>
                          <m:endChr m:val="⟩"/>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𝟏</m:t>
                              </m:r>
                            </m:sub>
                          </m:sSub>
                          <m:r>
                            <a:rPr lang="en-US" altLang="zh-CN" b="1" i="1" smtClean="0">
                              <a:solidFill>
                                <a:srgbClr val="C00000"/>
                              </a:solidFill>
                              <a:latin typeface="Cambria Math" panose="02040503050406030204" pitchFamily="18" charset="0"/>
                            </a:rPr>
                            <m:t>, </m:t>
                          </m:r>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𝟐</m:t>
                              </m:r>
                            </m:sub>
                          </m:sSub>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𝑹</m:t>
                      </m:r>
                      <m:r>
                        <a:rPr lang="en-US" altLang="zh-CN" b="1" i="1" smtClean="0">
                          <a:solidFill>
                            <a:srgbClr val="C00000"/>
                          </a:solidFill>
                          <a:latin typeface="Cambria Math" panose="02040503050406030204" pitchFamily="18" charset="0"/>
                        </a:rPr>
                        <m:t>, ⋯, </m:t>
                      </m:r>
                      <m:d>
                        <m:dPr>
                          <m:begChr m:val="⟨"/>
                          <m:endChr m:val="⟩"/>
                          <m:ctrlPr>
                            <a:rPr lang="en-US" altLang="zh-CN" b="1" i="1" smtClean="0">
                              <a:solidFill>
                                <a:srgbClr val="C00000"/>
                              </a:solidFill>
                              <a:latin typeface="Cambria Math" panose="02040503050406030204" pitchFamily="18" charset="0"/>
                            </a:rPr>
                          </m:ctrlPr>
                        </m:dPr>
                        <m:e>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𝒂</m:t>
                              </m:r>
                            </m:e>
                            <m:sub>
                              <m:r>
                                <a:rPr lang="en-US" altLang="zh-CN" b="1" i="1" smtClean="0">
                                  <a:solidFill>
                                    <a:srgbClr val="C00000"/>
                                  </a:solidFill>
                                  <a:latin typeface="Cambria Math" panose="02040503050406030204" pitchFamily="18" charset="0"/>
                                </a:rPr>
                                <m:t>𝒌</m:t>
                              </m:r>
                            </m:sub>
                          </m:sSub>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𝒚</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𝑹</m:t>
                      </m:r>
                    </m:oMath>
                  </a14:m>
                  <a:endParaRPr lang="zh-CN" altLang="en-US" b="1">
                    <a:solidFill>
                      <a:schemeClr val="accent2">
                        <a:lumMod val="50000"/>
                      </a:schemeClr>
                    </a:solidFill>
                  </a:endParaRPr>
                </a:p>
              </p:txBody>
            </p:sp>
          </mc:Choice>
          <mc:Fallback>
            <p:sp>
              <p:nvSpPr>
                <p:cNvPr id="43" name="文本框 42"/>
                <p:cNvSpPr txBox="1">
                  <a:spLocks noRot="1" noChangeAspect="1" noMove="1" noResize="1" noEditPoints="1" noAdjustHandles="1" noChangeArrowheads="1" noChangeShapeType="1" noTextEdit="1"/>
                </p:cNvSpPr>
                <p:nvPr/>
              </p:nvSpPr>
              <p:spPr>
                <a:xfrm>
                  <a:off x="333420" y="5723758"/>
                  <a:ext cx="11525155" cy="383951"/>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875977" y="3094664"/>
                  <a:ext cx="10016729" cy="1968103"/>
                </a:xfrm>
                <a:prstGeom prst="rect">
                  <a:avLst/>
                </a:prstGeom>
                <a:solidFill>
                  <a:schemeClr val="accent6">
                    <a:lumMod val="20000"/>
                    <a:lumOff val="80000"/>
                    <a:alpha val="50000"/>
                  </a:schemeClr>
                </a:solidFill>
              </p:spPr>
              <p:txBody>
                <a:bodyPr wrap="square" rtlCol="0">
                  <a:spAutoFit/>
                </a:bodyPr>
                <a:lstStyle/>
                <a:p>
                  <a:pPr>
                    <a:spcBef>
                      <a:spcPts val="600"/>
                    </a:spcBef>
                  </a:pPr>
                  <a:r>
                    <a:rPr lang="zh-CN" altLang="en-US" sz="2000" b="1">
                      <a:solidFill>
                        <a:schemeClr val="accent6">
                          <a:lumMod val="50000"/>
                        </a:schemeClr>
                      </a:solidFill>
                    </a:rPr>
                    <a:t>新冠病毒防护时，医护人员的流行病学调查范围涉及</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𝑹</m:t>
                      </m:r>
                    </m:oMath>
                  </a14:m>
                  <a:r>
                    <a:rPr lang="zh-CN" altLang="en-US" sz="2000" b="1">
                      <a:solidFill>
                        <a:schemeClr val="accent6">
                          <a:lumMod val="50000"/>
                        </a:schemeClr>
                      </a:solidFill>
                    </a:rPr>
                    <a:t>的传递闭包</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𝒕</m:t>
                      </m:r>
                      <m:d>
                        <m:dPr>
                          <m:ctrlPr>
                            <a:rPr lang="en-US" altLang="zh-CN" sz="2000" b="1" i="1" smtClean="0">
                              <a:solidFill>
                                <a:schemeClr val="accent6">
                                  <a:lumMod val="50000"/>
                                </a:schemeClr>
                              </a:solidFill>
                              <a:latin typeface="Cambria Math" panose="02040503050406030204" pitchFamily="18" charset="0"/>
                            </a:rPr>
                          </m:ctrlPr>
                        </m:dPr>
                        <m:e>
                          <m:r>
                            <a:rPr lang="en-US" altLang="zh-CN" sz="2000" b="1" i="1">
                              <a:solidFill>
                                <a:schemeClr val="accent6">
                                  <a:lumMod val="50000"/>
                                </a:schemeClr>
                              </a:solidFill>
                              <a:latin typeface="Cambria Math" panose="02040503050406030204" pitchFamily="18" charset="0"/>
                            </a:rPr>
                            <m:t>𝑹</m:t>
                          </m:r>
                        </m:e>
                      </m:d>
                    </m:oMath>
                  </a14:m>
                  <a:endParaRPr lang="en-US" altLang="zh-CN" sz="2000" b="1">
                    <a:solidFill>
                      <a:schemeClr val="accent6">
                        <a:lumMod val="50000"/>
                      </a:schemeClr>
                    </a:solidFill>
                  </a:endParaRPr>
                </a:p>
                <a:p>
                  <a:pPr marL="342900" indent="-342900">
                    <a:lnSpc>
                      <a:spcPts val="2800"/>
                    </a:lnSpc>
                    <a:spcBef>
                      <a:spcPts val="600"/>
                    </a:spcBef>
                    <a:buFont typeface="Arial" panose="020B0604020202020204" pitchFamily="34" charset="0"/>
                    <a:buChar char="•"/>
                  </a:pPr>
                  <a:r>
                    <a:rPr lang="zh-CN" altLang="en-US" sz="2000" b="1">
                      <a:solidFill>
                        <a:schemeClr val="accent4">
                          <a:lumMod val="50000"/>
                        </a:schemeClr>
                      </a:solidFill>
                      <a:latin typeface="楷体" panose="02010609060101010101" pitchFamily="49" charset="-122"/>
                      <a:ea typeface="楷体" panose="02010609060101010101" pitchFamily="49" charset="-122"/>
                    </a:rPr>
                    <a:t>从某个人</a:t>
                  </a:r>
                  <a14:m>
                    <m:oMath xmlns:m="http://schemas.openxmlformats.org/officeDocument/2006/math">
                      <m:r>
                        <a:rPr lang="en-US" altLang="zh-CN" sz="2000" b="1" i="1" smtClean="0">
                          <a:solidFill>
                            <a:schemeClr val="accent4">
                              <a:lumMod val="50000"/>
                            </a:schemeClr>
                          </a:solidFill>
                          <a:latin typeface="Cambria Math" panose="02040503050406030204" pitchFamily="18" charset="0"/>
                        </a:rPr>
                        <m:t>𝒂</m:t>
                      </m:r>
                    </m:oMath>
                  </a14:m>
                  <a:r>
                    <a:rPr lang="zh-CN" altLang="en-US" sz="2000" b="1">
                      <a:solidFill>
                        <a:schemeClr val="accent4">
                          <a:lumMod val="50000"/>
                        </a:schemeClr>
                      </a:solidFill>
                      <a:latin typeface="楷体" panose="02010609060101010101" pitchFamily="49" charset="-122"/>
                      <a:ea typeface="楷体" panose="02010609060101010101" pitchFamily="49" charset="-122"/>
                    </a:rPr>
                    <a:t>开始，要找到所有与</a:t>
                  </a:r>
                  <a14:m>
                    <m:oMath xmlns:m="http://schemas.openxmlformats.org/officeDocument/2006/math">
                      <m:r>
                        <a:rPr lang="en-US" altLang="zh-CN" sz="2000" b="1" i="1" smtClean="0">
                          <a:solidFill>
                            <a:schemeClr val="accent4">
                              <a:lumMod val="50000"/>
                            </a:schemeClr>
                          </a:solidFill>
                          <a:latin typeface="Cambria Math" panose="02040503050406030204" pitchFamily="18" charset="0"/>
                        </a:rPr>
                        <m:t>𝒂</m:t>
                      </m:r>
                    </m:oMath>
                  </a14:m>
                  <a:r>
                    <a:rPr lang="zh-CN" altLang="en-US" sz="2000" b="1">
                      <a:solidFill>
                        <a:schemeClr val="accent4">
                          <a:lumMod val="50000"/>
                        </a:schemeClr>
                      </a:solidFill>
                      <a:latin typeface="楷体" panose="02010609060101010101" pitchFamily="49" charset="-122"/>
                      <a:ea typeface="楷体" panose="02010609060101010101" pitchFamily="49" charset="-122"/>
                    </a:rPr>
                    <a:t>有密切接触的人，对于与</a:t>
                  </a:r>
                  <a14:m>
                    <m:oMath xmlns:m="http://schemas.openxmlformats.org/officeDocument/2006/math">
                      <m:r>
                        <a:rPr lang="en-US" altLang="zh-CN" sz="2000" b="1" i="1" smtClean="0">
                          <a:solidFill>
                            <a:schemeClr val="accent4">
                              <a:lumMod val="50000"/>
                            </a:schemeClr>
                          </a:solidFill>
                          <a:latin typeface="Cambria Math" panose="02040503050406030204" pitchFamily="18" charset="0"/>
                        </a:rPr>
                        <m:t>𝒂</m:t>
                      </m:r>
                    </m:oMath>
                  </a14:m>
                  <a:r>
                    <a:rPr lang="zh-CN" altLang="en-US" sz="2000" b="1">
                      <a:solidFill>
                        <a:schemeClr val="accent4">
                          <a:lumMod val="50000"/>
                        </a:schemeClr>
                      </a:solidFill>
                      <a:latin typeface="楷体" panose="02010609060101010101" pitchFamily="49" charset="-122"/>
                      <a:ea typeface="楷体" panose="02010609060101010101" pitchFamily="49" charset="-122"/>
                    </a:rPr>
                    <a:t>有密切接触的人，又要找到与它有密切接触的所有人等等</a:t>
                  </a:r>
                  <a:endParaRPr lang="zh-CN" altLang="en-US" sz="2000" b="1">
                    <a:solidFill>
                      <a:schemeClr val="accent4">
                        <a:lumMod val="50000"/>
                      </a:schemeClr>
                    </a:solidFill>
                    <a:latin typeface="楷体" panose="02010609060101010101" pitchFamily="49" charset="-122"/>
                    <a:ea typeface="楷体" panose="02010609060101010101" pitchFamily="49" charset="-122"/>
                  </a:endParaRPr>
                </a:p>
                <a:p>
                  <a:pPr marL="342900" indent="-342900">
                    <a:lnSpc>
                      <a:spcPts val="2800"/>
                    </a:lnSpc>
                    <a:spcBef>
                      <a:spcPts val="600"/>
                    </a:spcBef>
                    <a:buFont typeface="Arial" panose="020B0604020202020204" pitchFamily="34" charset="0"/>
                    <a:buChar char="•"/>
                  </a:pPr>
                  <a:r>
                    <a:rPr lang="zh-CN" altLang="en-US" sz="2000" b="1">
                      <a:solidFill>
                        <a:schemeClr val="accent4">
                          <a:lumMod val="50000"/>
                        </a:schemeClr>
                      </a:solidFill>
                      <a:latin typeface="楷体" panose="02010609060101010101" pitchFamily="49" charset="-122"/>
                      <a:ea typeface="楷体" panose="02010609060101010101" pitchFamily="49" charset="-122"/>
                    </a:rPr>
                    <a:t>有密切接触可能构成一个病毒传播的链条：</a:t>
                  </a:r>
                  <a14:m>
                    <m:oMath xmlns:m="http://schemas.openxmlformats.org/officeDocument/2006/math">
                      <m:r>
                        <a:rPr lang="en-US" altLang="zh-CN" sz="2000" b="1" i="1" smtClean="0">
                          <a:solidFill>
                            <a:schemeClr val="accent4">
                              <a:lumMod val="50000"/>
                            </a:schemeClr>
                          </a:solidFill>
                          <a:latin typeface="Cambria Math" panose="02040503050406030204" pitchFamily="18" charset="0"/>
                        </a:rPr>
                        <m:t>𝒂</m:t>
                      </m:r>
                    </m:oMath>
                  </a14:m>
                  <a:r>
                    <a:rPr lang="zh-CN" altLang="en-US" sz="2000" b="1">
                      <a:solidFill>
                        <a:schemeClr val="accent4">
                          <a:lumMod val="50000"/>
                        </a:schemeClr>
                      </a:solidFill>
                      <a:latin typeface="楷体" panose="02010609060101010101" pitchFamily="49" charset="-122"/>
                      <a:ea typeface="楷体" panose="02010609060101010101" pitchFamily="49" charset="-122"/>
                    </a:rPr>
                    <a:t>可能传染病毒给与</a:t>
                  </a:r>
                  <a14:m>
                    <m:oMath xmlns:m="http://schemas.openxmlformats.org/officeDocument/2006/math">
                      <m:r>
                        <a:rPr lang="en-US" altLang="zh-CN" sz="2000" b="1" i="1" smtClean="0">
                          <a:solidFill>
                            <a:schemeClr val="accent4">
                              <a:lumMod val="50000"/>
                            </a:schemeClr>
                          </a:solidFill>
                          <a:latin typeface="Cambria Math" panose="02040503050406030204" pitchFamily="18" charset="0"/>
                        </a:rPr>
                        <m:t>𝒂</m:t>
                      </m:r>
                    </m:oMath>
                  </a14:m>
                  <a:r>
                    <a:rPr lang="zh-CN" altLang="en-US" sz="2000" b="1">
                      <a:solidFill>
                        <a:schemeClr val="accent4">
                          <a:lumMod val="50000"/>
                        </a:schemeClr>
                      </a:solidFill>
                      <a:latin typeface="楷体" panose="02010609060101010101" pitchFamily="49" charset="-122"/>
                      <a:ea typeface="楷体" panose="02010609060101010101" pitchFamily="49" charset="-122"/>
                    </a:rPr>
                    <a:t>有密切接触的</a:t>
                  </a:r>
                  <a14:m>
                    <m:oMath xmlns:m="http://schemas.openxmlformats.org/officeDocument/2006/math">
                      <m:r>
                        <a:rPr lang="en-US" altLang="zh-CN" sz="2000" b="1" i="1" smtClean="0">
                          <a:solidFill>
                            <a:schemeClr val="accent4">
                              <a:lumMod val="50000"/>
                            </a:schemeClr>
                          </a:solidFill>
                          <a:latin typeface="Cambria Math" panose="02040503050406030204" pitchFamily="18" charset="0"/>
                        </a:rPr>
                        <m:t>𝒃</m:t>
                      </m:r>
                    </m:oMath>
                  </a14:m>
                  <a:r>
                    <a:rPr lang="zh-CN" altLang="en-US" sz="2000" b="1">
                      <a:solidFill>
                        <a:schemeClr val="accent4">
                          <a:lumMod val="50000"/>
                        </a:schemeClr>
                      </a:solidFill>
                      <a:latin typeface="楷体" panose="02010609060101010101" pitchFamily="49" charset="-122"/>
                      <a:ea typeface="楷体" panose="02010609060101010101" pitchFamily="49" charset="-122"/>
                    </a:rPr>
                    <a:t>，进一步传染病毒给与</a:t>
                  </a:r>
                  <a14:m>
                    <m:oMath xmlns:m="http://schemas.openxmlformats.org/officeDocument/2006/math">
                      <m:r>
                        <a:rPr lang="en-US" altLang="zh-CN" sz="2000" b="1" i="1" smtClean="0">
                          <a:solidFill>
                            <a:schemeClr val="accent4">
                              <a:lumMod val="50000"/>
                            </a:schemeClr>
                          </a:solidFill>
                          <a:latin typeface="Cambria Math" panose="02040503050406030204" pitchFamily="18" charset="0"/>
                        </a:rPr>
                        <m:t>𝒃</m:t>
                      </m:r>
                    </m:oMath>
                  </a14:m>
                  <a:r>
                    <a:rPr lang="zh-CN" altLang="en-US" sz="2000" b="1">
                      <a:solidFill>
                        <a:schemeClr val="accent4">
                          <a:lumMod val="50000"/>
                        </a:schemeClr>
                      </a:solidFill>
                      <a:latin typeface="楷体" panose="02010609060101010101" pitchFamily="49" charset="-122"/>
                      <a:ea typeface="楷体" panose="02010609060101010101" pitchFamily="49" charset="-122"/>
                    </a:rPr>
                    <a:t>有密切接触的</a:t>
                  </a:r>
                  <a14:m>
                    <m:oMath xmlns:m="http://schemas.openxmlformats.org/officeDocument/2006/math">
                      <m:r>
                        <a:rPr lang="en-US" altLang="zh-CN" sz="2000" b="1" i="1" smtClean="0">
                          <a:solidFill>
                            <a:schemeClr val="accent4">
                              <a:lumMod val="50000"/>
                            </a:schemeClr>
                          </a:solidFill>
                          <a:latin typeface="Cambria Math" panose="02040503050406030204" pitchFamily="18" charset="0"/>
                        </a:rPr>
                        <m:t>𝒄</m:t>
                      </m:r>
                    </m:oMath>
                  </a14:m>
                  <a:r>
                    <a:rPr lang="zh-CN" altLang="en-US" sz="2000" b="1">
                      <a:solidFill>
                        <a:schemeClr val="accent4">
                          <a:lumMod val="50000"/>
                        </a:schemeClr>
                      </a:solidFill>
                      <a:latin typeface="楷体" panose="02010609060101010101" pitchFamily="49" charset="-122"/>
                      <a:ea typeface="楷体" panose="02010609060101010101" pitchFamily="49" charset="-122"/>
                    </a:rPr>
                    <a:t>等等</a:t>
                  </a:r>
                  <a:endParaRPr lang="zh-CN" altLang="en-US" sz="2000" b="1">
                    <a:solidFill>
                      <a:schemeClr val="accent4">
                        <a:lumMod val="50000"/>
                      </a:schemeClr>
                    </a:solidFill>
                    <a:latin typeface="楷体" panose="02010609060101010101" pitchFamily="49" charset="-122"/>
                    <a:ea typeface="楷体" panose="02010609060101010101" pitchFamily="49"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875977" y="3094664"/>
                  <a:ext cx="10016729" cy="1968103"/>
                </a:xfrm>
                <a:prstGeom prst="rect">
                  <a:avLst/>
                </a:prstGeom>
                <a:blipFill rotWithShape="1">
                  <a:blip r:embed="rId4"/>
                </a:blipFill>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传递闭包的关系图解释</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746137" y="1161854"/>
                <a:ext cx="2938161" cy="400110"/>
              </a:xfrm>
              <a:prstGeom prst="rect">
                <a:avLst/>
              </a:prstGeom>
              <a:solidFill>
                <a:schemeClr val="accent2">
                  <a:lumMod val="20000"/>
                  <a:lumOff val="80000"/>
                </a:schemeClr>
              </a:solidFill>
            </p:spPr>
            <p:txBody>
              <a:bodyPr wrap="square" rtlCol="0">
                <a:spAutoFit/>
              </a:bodyPr>
              <a:lstStyle/>
              <a:p>
                <a:pPr algn="ctr"/>
                <a:r>
                  <a:rPr lang="zh-CN" altLang="en-US" sz="2000" b="1">
                    <a:solidFill>
                      <a:schemeClr val="accent2">
                        <a:lumMod val="50000"/>
                      </a:schemeClr>
                    </a:solidFill>
                  </a:rPr>
                  <a:t>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是非空集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r>
                  <a:rPr lang="zh-CN" altLang="en-US" sz="2000" b="1">
                    <a:solidFill>
                      <a:schemeClr val="accent2">
                        <a:lumMod val="50000"/>
                      </a:schemeClr>
                    </a:solidFill>
                  </a:rPr>
                  <a:t>上的关系</a:t>
                </a:r>
                <a:endParaRPr lang="zh-CN" altLang="en-US" sz="2000" b="1">
                  <a:solidFill>
                    <a:schemeClr val="accent2">
                      <a:lumMod val="50000"/>
                    </a:schemeClr>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746137" y="1161854"/>
                <a:ext cx="2938161" cy="400110"/>
              </a:xfrm>
              <a:prstGeom prst="rect">
                <a:avLst/>
              </a:prstGeom>
              <a:blipFill rotWithShape="1">
                <a:blip r:embed="rId1"/>
                <a:stretch>
                  <a:fillRect t="-110" r="1" b="1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2291561" y="1712576"/>
                <a:ext cx="7608876" cy="784830"/>
              </a:xfrm>
              <a:prstGeom prst="rect">
                <a:avLst/>
              </a:prstGeom>
              <a:solidFill>
                <a:schemeClr val="accent2">
                  <a:lumMod val="20000"/>
                  <a:lumOff val="80000"/>
                </a:schemeClr>
              </a:solidFill>
            </p:spPr>
            <p:txBody>
              <a:bodyPr wrap="square" rtlCol="0">
                <a:spAutoFit/>
              </a:bodyPr>
              <a:lstStyle/>
              <a:p>
                <a:pPr algn="ctr">
                  <a:lnSpc>
                    <a:spcPts val="2400"/>
                  </a:lnSpc>
                  <a:spcBef>
                    <a:spcPts val="600"/>
                  </a:spcBef>
                </a:pP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𝒚</m:t>
                    </m:r>
                  </m:oMath>
                </a14:m>
                <a:r>
                  <a:rPr lang="zh-CN" altLang="en-US" sz="2000" b="1">
                    <a:solidFill>
                      <a:srgbClr val="C00000"/>
                    </a:solidFill>
                  </a:rPr>
                  <a:t>，</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𝒚</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𝒕</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e>
                    </m:d>
                  </m:oMath>
                </a14:m>
                <a:r>
                  <a:rPr lang="zh-CN" altLang="en-US" sz="2000" b="1">
                    <a:solidFill>
                      <a:srgbClr val="C00000"/>
                    </a:solidFill>
                  </a:rPr>
                  <a:t>当且仅当</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𝒚</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oMath>
                </a14:m>
                <a:r>
                  <a:rPr lang="zh-CN" altLang="en-US" sz="2000" b="1">
                    <a:solidFill>
                      <a:srgbClr val="C00000"/>
                    </a:solidFill>
                  </a:rPr>
                  <a:t>，或者</a:t>
                </a:r>
                <a:endParaRPr lang="en-US" altLang="zh-CN" sz="2000" b="1">
                  <a:solidFill>
                    <a:srgbClr val="C00000"/>
                  </a:solidFill>
                </a:endParaRPr>
              </a:p>
              <a:p>
                <a:pPr algn="ctr">
                  <a:lnSpc>
                    <a:spcPts val="2400"/>
                  </a:lnSpc>
                  <a:spcBef>
                    <a:spcPts val="600"/>
                  </a:spcBef>
                </a:pPr>
                <a:r>
                  <a:rPr lang="zh-CN" altLang="en-US" sz="2000" b="1">
                    <a:solidFill>
                      <a:srgbClr val="C00000"/>
                    </a:solidFill>
                  </a:rPr>
                  <a:t>存在</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 ⋯,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𝒌</m:t>
                        </m:r>
                      </m:sub>
                    </m:sSub>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𝒌</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e>
                    </m:d>
                  </m:oMath>
                </a14:m>
                <a:r>
                  <a:rPr lang="zh-CN" altLang="en-US" sz="2000" b="1">
                    <a:solidFill>
                      <a:srgbClr val="C00000"/>
                    </a:solidFill>
                  </a:rPr>
                  <a:t>使得</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𝟏</m:t>
                            </m:r>
                          </m:sub>
                        </m:sSub>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r>
                      <a:rPr lang="zh-CN" altLang="en-US" sz="2000" b="1" i="1" smtClean="0">
                        <a:solidFill>
                          <a:srgbClr val="C00000"/>
                        </a:solidFill>
                        <a:latin typeface="Cambria Math" panose="02040503050406030204" pitchFamily="18" charset="0"/>
                      </a:rPr>
                      <m:t>，</m:t>
                    </m:r>
                    <m:d>
                      <m:dPr>
                        <m:begChr m:val="⟨"/>
                        <m:endChr m:val="⟩"/>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𝟐</m:t>
                            </m:r>
                          </m:sub>
                        </m:sSub>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r>
                      <a:rPr lang="en-US" altLang="zh-CN" sz="2000" b="1" i="1" smtClean="0">
                        <a:solidFill>
                          <a:srgbClr val="C00000"/>
                        </a:solidFill>
                        <a:latin typeface="Cambria Math" panose="02040503050406030204" pitchFamily="18" charset="0"/>
                      </a:rPr>
                      <m:t>, ⋯, </m:t>
                    </m:r>
                    <m:d>
                      <m:dPr>
                        <m:begChr m:val="⟨"/>
                        <m:endChr m:val="⟩"/>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𝒌</m:t>
                            </m:r>
                          </m:sub>
                        </m:sSub>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𝒚</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oMath>
                </a14:m>
                <a:endParaRPr lang="zh-CN" altLang="en-US" sz="2000"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2291561" y="1712576"/>
                <a:ext cx="7608876" cy="784830"/>
              </a:xfrm>
              <a:prstGeom prst="rect">
                <a:avLst/>
              </a:prstGeom>
              <a:blipFill rotWithShape="1">
                <a:blip r:embed="rId2"/>
                <a:stretch>
                  <a:fillRect l="-6" t="-78" r="2" b="-319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7467890" y="1161854"/>
                <a:ext cx="3977973"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下面公式中个体变量的论域都是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endParaRPr lang="zh-CN" altLang="en-US" sz="2000" b="1">
                  <a:solidFill>
                    <a:schemeClr val="accent2">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7467890" y="1161854"/>
                <a:ext cx="3977973" cy="400110"/>
              </a:xfrm>
              <a:prstGeom prst="rect">
                <a:avLst/>
              </a:prstGeom>
              <a:blipFill rotWithShape="1">
                <a:blip r:embed="rId3"/>
                <a:stretch>
                  <a:fillRect l="-7" t="-110" r="16" b="125"/>
                </a:stretch>
              </a:blipFill>
            </p:spPr>
            <p:txBody>
              <a:bodyPr/>
              <a:lstStyle/>
              <a:p>
                <a:r>
                  <a:rPr lang="zh-CN" altLang="en-US">
                    <a:noFill/>
                  </a:rPr>
                  <a:t> </a:t>
                </a:r>
              </a:p>
            </p:txBody>
          </p:sp>
        </mc:Fallback>
      </mc:AlternateContent>
      <p:grpSp>
        <p:nvGrpSpPr>
          <p:cNvPr id="28" name="组合 27"/>
          <p:cNvGrpSpPr/>
          <p:nvPr/>
        </p:nvGrpSpPr>
        <p:grpSpPr>
          <a:xfrm>
            <a:off x="822069" y="2697569"/>
            <a:ext cx="10547860" cy="2544832"/>
            <a:chOff x="945548" y="2834777"/>
            <a:chExt cx="10547860" cy="2544832"/>
          </a:xfrm>
        </p:grpSpPr>
        <p:sp>
          <p:nvSpPr>
            <p:cNvPr id="27" name="矩形: 圆角 26"/>
            <p:cNvSpPr/>
            <p:nvPr/>
          </p:nvSpPr>
          <p:spPr>
            <a:xfrm>
              <a:off x="945548" y="2834777"/>
              <a:ext cx="10547860" cy="2544832"/>
            </a:xfrm>
            <a:prstGeom prst="roundRect">
              <a:avLst>
                <a:gd name="adj" fmla="val 5104"/>
              </a:avLst>
            </a:prstGeom>
            <a:noFill/>
            <a:ln>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 name="文本框 3"/>
                <p:cNvSpPr txBox="1"/>
                <p:nvPr/>
              </p:nvSpPr>
              <p:spPr>
                <a:xfrm>
                  <a:off x="9463551" y="2904881"/>
                  <a:ext cx="1923065" cy="400110"/>
                </a:xfrm>
                <a:prstGeom prst="rect">
                  <a:avLst/>
                </a:prstGeom>
                <a:solidFill>
                  <a:schemeClr val="accent4">
                    <a:lumMod val="20000"/>
                    <a:lumOff val="80000"/>
                  </a:schemeClr>
                </a:solidFill>
              </p:spPr>
              <p:txBody>
                <a:bodyPr wrap="square" rtlCol="0">
                  <a:spAutoFit/>
                </a:bodyPr>
                <a:lstStyle/>
                <a:p>
                  <a:pPr algn="ctr"/>
                  <a:r>
                    <a:rPr lang="zh-CN" altLang="en-US" sz="2000" b="1">
                      <a:solidFill>
                        <a:schemeClr val="accent2">
                          <a:lumMod val="50000"/>
                        </a:schemeClr>
                      </a:solidFill>
                    </a:rPr>
                    <a:t>在</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的关系图中</a:t>
                  </a:r>
                  <a:endParaRPr lang="zh-CN" altLang="en-US" sz="2000" b="1">
                    <a:solidFill>
                      <a:schemeClr val="accent2">
                        <a:lumMod val="50000"/>
                      </a:schemeClr>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9463551" y="2904881"/>
                  <a:ext cx="1923065" cy="40011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034538" y="2911113"/>
                  <a:ext cx="1254798"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𝒚</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oMath>
                    </m:oMathPara>
                  </a14:m>
                  <a:endParaRPr lang="zh-CN" altLang="en-US" sz="2000">
                    <a:solidFill>
                      <a:srgbClr val="002060"/>
                    </a:solidFill>
                  </a:endParaRPr>
                </a:p>
              </p:txBody>
            </p:sp>
          </mc:Choice>
          <mc:Fallback>
            <p:sp>
              <p:nvSpPr>
                <p:cNvPr id="6" name="文本框 5"/>
                <p:cNvSpPr txBox="1">
                  <a:spLocks noRot="1" noChangeAspect="1" noMove="1" noResize="1" noEditPoints="1" noAdjustHandles="1" noChangeArrowheads="1" noChangeShapeType="1" noTextEdit="1"/>
                </p:cNvSpPr>
                <p:nvPr/>
              </p:nvSpPr>
              <p:spPr>
                <a:xfrm>
                  <a:off x="1034538" y="2911113"/>
                  <a:ext cx="1254798" cy="40011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7407539" y="2911113"/>
                  <a:ext cx="1789857" cy="400110"/>
                </a:xfrm>
                <a:prstGeom prst="rect">
                  <a:avLst/>
                </a:prstGeom>
                <a:solidFill>
                  <a:schemeClr val="accent4">
                    <a:lumMod val="20000"/>
                    <a:lumOff val="80000"/>
                    <a:alpha val="50000"/>
                  </a:schemeClr>
                </a:solidFill>
              </p:spPr>
              <p:txBody>
                <a:bodyPr wrap="square" rtlCol="0">
                  <a:spAutoFit/>
                </a:bodyPr>
                <a:lstStyle/>
                <a:p>
                  <a14:m>
                    <m:oMath xmlns:m="http://schemas.openxmlformats.org/officeDocument/2006/math">
                      <m:r>
                        <a:rPr lang="en-US" altLang="zh-CN" sz="2000" b="1" i="1" smtClean="0">
                          <a:latin typeface="Cambria Math" panose="02040503050406030204" pitchFamily="18" charset="0"/>
                        </a:rPr>
                        <m:t>𝒙</m:t>
                      </m:r>
                    </m:oMath>
                  </a14:m>
                  <a:r>
                    <a:rPr lang="zh-CN" altLang="en-US" sz="2000" b="1">
                      <a:latin typeface="楷体" panose="02010609060101010101" pitchFamily="49" charset="-122"/>
                      <a:ea typeface="楷体" panose="02010609060101010101" pitchFamily="49" charset="-122"/>
                    </a:rPr>
                    <a:t>到</a:t>
                  </a:r>
                  <a14:m>
                    <m:oMath xmlns:m="http://schemas.openxmlformats.org/officeDocument/2006/math">
                      <m:r>
                        <a:rPr lang="en-US" altLang="zh-CN" sz="2000" b="1" i="1" smtClean="0">
                          <a:latin typeface="Cambria Math" panose="02040503050406030204" pitchFamily="18" charset="0"/>
                        </a:rPr>
                        <m:t>𝒚</m:t>
                      </m:r>
                    </m:oMath>
                  </a14:m>
                  <a:r>
                    <a:rPr lang="zh-CN" altLang="en-US" sz="2000" b="1">
                      <a:latin typeface="楷体" panose="02010609060101010101" pitchFamily="49" charset="-122"/>
                      <a:ea typeface="楷体" panose="02010609060101010101" pitchFamily="49" charset="-122"/>
                    </a:rPr>
                    <a:t>有有向边</a:t>
                  </a:r>
                  <a:endParaRPr lang="zh-CN" altLang="en-US" sz="2000" b="1">
                    <a:latin typeface="楷体" panose="02010609060101010101" pitchFamily="49" charset="-122"/>
                    <a:ea typeface="楷体" panose="02010609060101010101" pitchFamily="49" charset="-122"/>
                  </a:endParaRPr>
                </a:p>
              </p:txBody>
            </p:sp>
          </mc:Choice>
          <mc:Fallback>
            <p:sp>
              <p:nvSpPr>
                <p:cNvPr id="13" name="文本框 12"/>
                <p:cNvSpPr txBox="1">
                  <a:spLocks noRot="1" noChangeAspect="1" noMove="1" noResize="1" noEditPoints="1" noAdjustHandles="1" noChangeArrowheads="1" noChangeShapeType="1" noTextEdit="1"/>
                </p:cNvSpPr>
                <p:nvPr/>
              </p:nvSpPr>
              <p:spPr>
                <a:xfrm>
                  <a:off x="7407539" y="2911113"/>
                  <a:ext cx="1789857" cy="400110"/>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1034538" y="3444228"/>
                  <a:ext cx="3377274"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oMath>
                    </m:oMathPara>
                  </a14:m>
                  <a:endParaRPr lang="zh-CN" altLang="en-US" sz="2000">
                    <a:solidFill>
                      <a:srgbClr val="002060"/>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1034538" y="3444228"/>
                  <a:ext cx="3377274" cy="400110"/>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7403088" y="3445853"/>
                  <a:ext cx="3215966" cy="400110"/>
                </a:xfrm>
                <a:prstGeom prst="rect">
                  <a:avLst/>
                </a:prstGeom>
                <a:solidFill>
                  <a:schemeClr val="accent4">
                    <a:lumMod val="20000"/>
                    <a:lumOff val="80000"/>
                    <a:alpha val="50000"/>
                  </a:schemeClr>
                </a:solidFill>
              </p:spPr>
              <p:txBody>
                <a:bodyPr wrap="square" rtlCol="0">
                  <a:spAutoFit/>
                </a:bodyPr>
                <a:lstStyle/>
                <a:p>
                  <a14:m>
                    <m:oMath xmlns:m="http://schemas.openxmlformats.org/officeDocument/2006/math">
                      <m:r>
                        <a:rPr lang="en-US" altLang="zh-CN" sz="2000" b="1" i="1" smtClean="0">
                          <a:latin typeface="Cambria Math" panose="02040503050406030204" pitchFamily="18" charset="0"/>
                        </a:rPr>
                        <m:t>𝒙</m:t>
                      </m:r>
                    </m:oMath>
                  </a14:m>
                  <a:r>
                    <a:rPr lang="zh-CN" altLang="en-US" sz="2000" b="1">
                      <a:latin typeface="楷体" panose="02010609060101010101" pitchFamily="49" charset="-122"/>
                      <a:ea typeface="楷体" panose="02010609060101010101" pitchFamily="49" charset="-122"/>
                    </a:rPr>
                    <a:t>到</a:t>
                  </a:r>
                  <a14:m>
                    <m:oMath xmlns:m="http://schemas.openxmlformats.org/officeDocument/2006/math">
                      <m:r>
                        <a:rPr lang="en-US" altLang="zh-CN" sz="2000" b="1" i="1" smtClean="0">
                          <a:latin typeface="Cambria Math" panose="02040503050406030204" pitchFamily="18" charset="0"/>
                        </a:rPr>
                        <m:t>𝒚</m:t>
                      </m:r>
                    </m:oMath>
                  </a14:m>
                  <a:r>
                    <a:rPr lang="zh-CN" altLang="en-US" sz="2000" b="1">
                      <a:latin typeface="楷体" panose="02010609060101010101" pitchFamily="49" charset="-122"/>
                      <a:ea typeface="楷体" panose="02010609060101010101" pitchFamily="49" charset="-122"/>
                    </a:rPr>
                    <a:t>有长度为</a:t>
                  </a:r>
                  <a14:m>
                    <m:oMath xmlns:m="http://schemas.openxmlformats.org/officeDocument/2006/math">
                      <m:r>
                        <a:rPr lang="en-US" altLang="zh-CN" sz="2000" b="1" i="1" smtClean="0">
                          <a:latin typeface="Cambria Math" panose="02040503050406030204" pitchFamily="18" charset="0"/>
                        </a:rPr>
                        <m:t>𝟐</m:t>
                      </m:r>
                    </m:oMath>
                  </a14:m>
                  <a:r>
                    <a:rPr lang="zh-CN" altLang="en-US" sz="2000" b="1">
                      <a:latin typeface="楷体" panose="02010609060101010101" pitchFamily="49" charset="-122"/>
                      <a:ea typeface="楷体" panose="02010609060101010101" pitchFamily="49" charset="-122"/>
                    </a:rPr>
                    <a:t>的有向通路</a:t>
                  </a:r>
                  <a:endParaRPr lang="zh-CN" altLang="en-US" sz="2000" b="1">
                    <a:latin typeface="楷体" panose="02010609060101010101" pitchFamily="49" charset="-122"/>
                    <a:ea typeface="楷体" panose="02010609060101010101" pitchFamily="49"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7403088" y="3445853"/>
                  <a:ext cx="3215966" cy="400110"/>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1034538" y="3977343"/>
                  <a:ext cx="5166026"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oMath>
                    </m:oMathPara>
                  </a14:m>
                  <a:endParaRPr lang="zh-CN" altLang="en-US" sz="2000">
                    <a:solidFill>
                      <a:srgbClr val="002060"/>
                    </a:solidFill>
                  </a:endParaRPr>
                </a:p>
              </p:txBody>
            </p:sp>
          </mc:Choice>
          <mc:Fallback>
            <p:sp>
              <p:nvSpPr>
                <p:cNvPr id="18" name="文本框 17"/>
                <p:cNvSpPr txBox="1">
                  <a:spLocks noRot="1" noChangeAspect="1" noMove="1" noResize="1" noEditPoints="1" noAdjustHandles="1" noChangeArrowheads="1" noChangeShapeType="1" noTextEdit="1"/>
                </p:cNvSpPr>
                <p:nvPr/>
              </p:nvSpPr>
              <p:spPr>
                <a:xfrm>
                  <a:off x="1034538" y="3977343"/>
                  <a:ext cx="5166026" cy="400110"/>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7403087" y="3977343"/>
                  <a:ext cx="3215966" cy="400110"/>
                </a:xfrm>
                <a:prstGeom prst="rect">
                  <a:avLst/>
                </a:prstGeom>
                <a:solidFill>
                  <a:schemeClr val="accent4">
                    <a:lumMod val="20000"/>
                    <a:lumOff val="80000"/>
                    <a:alpha val="50000"/>
                  </a:schemeClr>
                </a:solidFill>
              </p:spPr>
              <p:txBody>
                <a:bodyPr wrap="square" rtlCol="0">
                  <a:spAutoFit/>
                </a:bodyPr>
                <a:lstStyle/>
                <a:p>
                  <a14:m>
                    <m:oMath xmlns:m="http://schemas.openxmlformats.org/officeDocument/2006/math">
                      <m:r>
                        <a:rPr lang="en-US" altLang="zh-CN" sz="2000" b="1" i="1" smtClean="0">
                          <a:latin typeface="Cambria Math" panose="02040503050406030204" pitchFamily="18" charset="0"/>
                        </a:rPr>
                        <m:t>𝒙</m:t>
                      </m:r>
                    </m:oMath>
                  </a14:m>
                  <a:r>
                    <a:rPr lang="zh-CN" altLang="en-US" sz="2000" b="1">
                      <a:latin typeface="楷体" panose="02010609060101010101" pitchFamily="49" charset="-122"/>
                      <a:ea typeface="楷体" panose="02010609060101010101" pitchFamily="49" charset="-122"/>
                    </a:rPr>
                    <a:t>到</a:t>
                  </a:r>
                  <a14:m>
                    <m:oMath xmlns:m="http://schemas.openxmlformats.org/officeDocument/2006/math">
                      <m:r>
                        <a:rPr lang="en-US" altLang="zh-CN" sz="2000" b="1" i="1" smtClean="0">
                          <a:latin typeface="Cambria Math" panose="02040503050406030204" pitchFamily="18" charset="0"/>
                        </a:rPr>
                        <m:t>𝒚</m:t>
                      </m:r>
                    </m:oMath>
                  </a14:m>
                  <a:r>
                    <a:rPr lang="zh-CN" altLang="en-US" sz="2000" b="1">
                      <a:latin typeface="楷体" panose="02010609060101010101" pitchFamily="49" charset="-122"/>
                      <a:ea typeface="楷体" panose="02010609060101010101" pitchFamily="49" charset="-122"/>
                    </a:rPr>
                    <a:t>有长度为</a:t>
                  </a:r>
                  <a14:m>
                    <m:oMath xmlns:m="http://schemas.openxmlformats.org/officeDocument/2006/math">
                      <m:r>
                        <a:rPr lang="en-US" altLang="zh-CN" sz="2000" b="1" i="1" smtClean="0">
                          <a:latin typeface="Cambria Math" panose="02040503050406030204" pitchFamily="18" charset="0"/>
                        </a:rPr>
                        <m:t>𝟑</m:t>
                      </m:r>
                    </m:oMath>
                  </a14:m>
                  <a:r>
                    <a:rPr lang="zh-CN" altLang="en-US" sz="2000" b="1">
                      <a:latin typeface="楷体" panose="02010609060101010101" pitchFamily="49" charset="-122"/>
                      <a:ea typeface="楷体" panose="02010609060101010101" pitchFamily="49" charset="-122"/>
                    </a:rPr>
                    <a:t>的有向通路</a:t>
                  </a:r>
                  <a:endParaRPr lang="zh-CN" altLang="en-US" sz="2000" b="1">
                    <a:latin typeface="楷体" panose="02010609060101010101" pitchFamily="49" charset="-122"/>
                    <a:ea typeface="楷体" panose="02010609060101010101" pitchFamily="49" charset="-122"/>
                  </a:endParaRPr>
                </a:p>
              </p:txBody>
            </p:sp>
          </mc:Choice>
          <mc:Fallback>
            <p:sp>
              <p:nvSpPr>
                <p:cNvPr id="19" name="文本框 18"/>
                <p:cNvSpPr txBox="1">
                  <a:spLocks noRot="1" noChangeAspect="1" noMove="1" noResize="1" noEditPoints="1" noAdjustHandles="1" noChangeArrowheads="1" noChangeShapeType="1" noTextEdit="1"/>
                </p:cNvSpPr>
                <p:nvPr/>
              </p:nvSpPr>
              <p:spPr>
                <a:xfrm>
                  <a:off x="7403087" y="3977343"/>
                  <a:ext cx="3215966" cy="400110"/>
                </a:xfrm>
                <a:prstGeom prst="rect">
                  <a:avLst/>
                </a:prstGeom>
                <a:blipFill rotWithShape="1">
                  <a:blip r:embed="rId10"/>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3450692" y="4440439"/>
                  <a:ext cx="467211"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rPr>
                          <m:t>⋮</m:t>
                        </m:r>
                      </m:oMath>
                    </m:oMathPara>
                  </a14:m>
                  <a:endParaRPr lang="zh-CN" altLang="en-US" sz="2000"/>
                </a:p>
              </p:txBody>
            </p:sp>
          </mc:Choice>
          <mc:Fallback>
            <p:sp>
              <p:nvSpPr>
                <p:cNvPr id="14" name="文本框 13"/>
                <p:cNvSpPr txBox="1">
                  <a:spLocks noRot="1" noChangeAspect="1" noMove="1" noResize="1" noEditPoints="1" noAdjustHandles="1" noChangeArrowheads="1" noChangeShapeType="1" noTextEdit="1"/>
                </p:cNvSpPr>
                <p:nvPr/>
              </p:nvSpPr>
              <p:spPr>
                <a:xfrm>
                  <a:off x="3450692" y="4440439"/>
                  <a:ext cx="467211" cy="400110"/>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8908788" y="4440439"/>
                  <a:ext cx="470423" cy="400110"/>
                </a:xfrm>
                <a:prstGeom prst="rect">
                  <a:avLst/>
                </a:prstGeom>
                <a:solidFill>
                  <a:schemeClr val="accent4">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C00000"/>
                            </a:solidFill>
                            <a:latin typeface="Cambria Math" panose="02040503050406030204" pitchFamily="18" charset="0"/>
                          </a:rPr>
                          <m:t>⋮</m:t>
                        </m:r>
                      </m:oMath>
                    </m:oMathPara>
                  </a14:m>
                  <a:endParaRPr lang="zh-CN" altLang="en-US" sz="2000" b="1">
                    <a:solidFill>
                      <a:srgbClr val="C00000"/>
                    </a:solidFill>
                    <a:latin typeface="楷体" panose="02010609060101010101" pitchFamily="49" charset="-122"/>
                    <a:ea typeface="楷体" panose="02010609060101010101" pitchFamily="49" charset="-122"/>
                  </a:endParaRPr>
                </a:p>
              </p:txBody>
            </p:sp>
          </mc:Choice>
          <mc:Fallback>
            <p:sp>
              <p:nvSpPr>
                <p:cNvPr id="20" name="文本框 19"/>
                <p:cNvSpPr txBox="1">
                  <a:spLocks noRot="1" noChangeAspect="1" noMove="1" noResize="1" noEditPoints="1" noAdjustHandles="1" noChangeArrowheads="1" noChangeShapeType="1" noTextEdit="1"/>
                </p:cNvSpPr>
                <p:nvPr/>
              </p:nvSpPr>
              <p:spPr>
                <a:xfrm>
                  <a:off x="8908788" y="4440439"/>
                  <a:ext cx="470423" cy="400110"/>
                </a:xfrm>
                <a:prstGeom prst="rect">
                  <a:avLst/>
                </a:prstGeom>
                <a:blipFill rotWithShape="1">
                  <a:blip r:embed="rId1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1034537" y="4898278"/>
                  <a:ext cx="6053729"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𝒌</m:t>
                            </m:r>
                          </m:sub>
                        </m:sSub>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𝒌</m:t>
                                </m:r>
                              </m:sub>
                            </m:sSub>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oMath>
                    </m:oMathPara>
                  </a14:m>
                  <a:endParaRPr lang="zh-CN" altLang="en-US" sz="2000">
                    <a:solidFill>
                      <a:srgbClr val="002060"/>
                    </a:solidFill>
                  </a:endParaRPr>
                </a:p>
              </p:txBody>
            </p:sp>
          </mc:Choice>
          <mc:Fallback>
            <p:sp>
              <p:nvSpPr>
                <p:cNvPr id="21" name="文本框 20"/>
                <p:cNvSpPr txBox="1">
                  <a:spLocks noRot="1" noChangeAspect="1" noMove="1" noResize="1" noEditPoints="1" noAdjustHandles="1" noChangeArrowheads="1" noChangeShapeType="1" noTextEdit="1"/>
                </p:cNvSpPr>
                <p:nvPr/>
              </p:nvSpPr>
              <p:spPr>
                <a:xfrm>
                  <a:off x="1034537" y="4898278"/>
                  <a:ext cx="6053729" cy="400110"/>
                </a:xfrm>
                <a:prstGeom prst="rect">
                  <a:avLst/>
                </a:prstGeom>
                <a:blipFill rotWithShape="1">
                  <a:blip r:embed="rId1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2" name="文本框 21"/>
                <p:cNvSpPr txBox="1"/>
                <p:nvPr/>
              </p:nvSpPr>
              <p:spPr>
                <a:xfrm>
                  <a:off x="7403086" y="4898278"/>
                  <a:ext cx="3683180" cy="400110"/>
                </a:xfrm>
                <a:prstGeom prst="rect">
                  <a:avLst/>
                </a:prstGeom>
                <a:solidFill>
                  <a:schemeClr val="accent4">
                    <a:lumMod val="20000"/>
                    <a:lumOff val="80000"/>
                    <a:alpha val="50000"/>
                  </a:schemeClr>
                </a:solidFill>
              </p:spPr>
              <p:txBody>
                <a:bodyPr wrap="square" rtlCol="0">
                  <a:spAutoFit/>
                </a:bodyPr>
                <a:lstStyle/>
                <a:p>
                  <a14:m>
                    <m:oMath xmlns:m="http://schemas.openxmlformats.org/officeDocument/2006/math">
                      <m:r>
                        <a:rPr lang="en-US" altLang="zh-CN" sz="2000" b="1" i="1" smtClean="0">
                          <a:latin typeface="Cambria Math" panose="02040503050406030204" pitchFamily="18" charset="0"/>
                        </a:rPr>
                        <m:t>𝒙</m:t>
                      </m:r>
                    </m:oMath>
                  </a14:m>
                  <a:r>
                    <a:rPr lang="zh-CN" altLang="en-US" sz="2000" b="1">
                      <a:latin typeface="楷体" panose="02010609060101010101" pitchFamily="49" charset="-122"/>
                      <a:ea typeface="楷体" panose="02010609060101010101" pitchFamily="49" charset="-122"/>
                    </a:rPr>
                    <a:t>到</a:t>
                  </a:r>
                  <a14:m>
                    <m:oMath xmlns:m="http://schemas.openxmlformats.org/officeDocument/2006/math">
                      <m:r>
                        <a:rPr lang="en-US" altLang="zh-CN" sz="2000" b="1" i="1" smtClean="0">
                          <a:latin typeface="Cambria Math" panose="02040503050406030204" pitchFamily="18" charset="0"/>
                        </a:rPr>
                        <m:t>𝒚</m:t>
                      </m:r>
                    </m:oMath>
                  </a14:m>
                  <a:r>
                    <a:rPr lang="zh-CN" altLang="en-US" sz="2000" b="1">
                      <a:latin typeface="楷体" panose="02010609060101010101" pitchFamily="49" charset="-122"/>
                      <a:ea typeface="楷体" panose="02010609060101010101" pitchFamily="49" charset="-122"/>
                    </a:rPr>
                    <a:t>有长度为</a:t>
                  </a:r>
                  <a14:m>
                    <m:oMath xmlns:m="http://schemas.openxmlformats.org/officeDocument/2006/math">
                      <m:r>
                        <a:rPr lang="en-US" altLang="zh-CN" sz="2000" b="1" i="1" smtClean="0">
                          <a:latin typeface="Cambria Math" panose="02040503050406030204" pitchFamily="18" charset="0"/>
                        </a:rPr>
                        <m:t>𝒌</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𝟏</m:t>
                      </m:r>
                    </m:oMath>
                  </a14:m>
                  <a:r>
                    <a:rPr lang="zh-CN" altLang="en-US" sz="2000" b="1">
                      <a:latin typeface="楷体" panose="02010609060101010101" pitchFamily="49" charset="-122"/>
                      <a:ea typeface="楷体" panose="02010609060101010101" pitchFamily="49" charset="-122"/>
                    </a:rPr>
                    <a:t>的有向通路</a:t>
                  </a:r>
                  <a:endParaRPr lang="zh-CN" altLang="en-US" sz="2000" b="1">
                    <a:latin typeface="楷体" panose="02010609060101010101" pitchFamily="49" charset="-122"/>
                    <a:ea typeface="楷体" panose="02010609060101010101" pitchFamily="49" charset="-122"/>
                  </a:endParaRPr>
                </a:p>
              </p:txBody>
            </p:sp>
          </mc:Choice>
          <mc:Fallback>
            <p:sp>
              <p:nvSpPr>
                <p:cNvPr id="22" name="文本框 21"/>
                <p:cNvSpPr txBox="1">
                  <a:spLocks noRot="1" noChangeAspect="1" noMove="1" noResize="1" noEditPoints="1" noAdjustHandles="1" noChangeArrowheads="1" noChangeShapeType="1" noTextEdit="1"/>
                </p:cNvSpPr>
                <p:nvPr/>
              </p:nvSpPr>
              <p:spPr>
                <a:xfrm>
                  <a:off x="7403086" y="4898278"/>
                  <a:ext cx="3683180" cy="400110"/>
                </a:xfrm>
                <a:prstGeom prst="rect">
                  <a:avLst/>
                </a:prstGeom>
                <a:blipFill rotWithShape="1">
                  <a:blip r:embed="rId14"/>
                </a:blipFill>
              </p:spPr>
              <p:txBody>
                <a:bodyPr/>
                <a:lstStyle/>
                <a:p>
                  <a:r>
                    <a:rPr lang="zh-CN" altLang="en-US">
                      <a:noFill/>
                    </a:rPr>
                    <a:t> </a:t>
                  </a:r>
                </a:p>
              </p:txBody>
            </p:sp>
          </mc:Fallback>
        </mc:AlternateContent>
        <p:sp>
          <p:nvSpPr>
            <p:cNvPr id="23" name="箭头: 右 22"/>
            <p:cNvSpPr/>
            <p:nvPr/>
          </p:nvSpPr>
          <p:spPr>
            <a:xfrm>
              <a:off x="2289336" y="3111168"/>
              <a:ext cx="511375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p:cNvSpPr/>
            <p:nvPr/>
          </p:nvSpPr>
          <p:spPr>
            <a:xfrm>
              <a:off x="4411812" y="3639479"/>
              <a:ext cx="2991274"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右 24"/>
            <p:cNvSpPr/>
            <p:nvPr/>
          </p:nvSpPr>
          <p:spPr>
            <a:xfrm>
              <a:off x="6200564" y="4170724"/>
              <a:ext cx="1202522"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p:cNvSpPr/>
            <p:nvPr/>
          </p:nvSpPr>
          <p:spPr>
            <a:xfrm>
              <a:off x="7088266" y="5086900"/>
              <a:ext cx="314820"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29" name="文本框 28"/>
              <p:cNvSpPr txBox="1"/>
              <p:nvPr/>
            </p:nvSpPr>
            <p:spPr>
              <a:xfrm>
                <a:off x="2084396" y="5477574"/>
                <a:ext cx="8081096" cy="400110"/>
              </a:xfrm>
              <a:prstGeom prst="rect">
                <a:avLst/>
              </a:prstGeom>
              <a:solidFill>
                <a:schemeClr val="accent4">
                  <a:lumMod val="20000"/>
                  <a:lumOff val="80000"/>
                </a:schemeClr>
              </a:solidFill>
            </p:spPr>
            <p:txBody>
              <a:bodyPr wrap="square" rtlCol="0">
                <a:spAutoFit/>
              </a:bodyPr>
              <a:lstStyle/>
              <a:p>
                <a:pPr>
                  <a:spcBef>
                    <a:spcPts val="600"/>
                  </a:spcBef>
                </a:pPr>
                <a:r>
                  <a:rPr lang="zh-CN" altLang="en-US" sz="2000" b="1" dirty="0">
                    <a:solidFill>
                      <a:schemeClr val="accent2">
                        <a:lumMod val="50000"/>
                      </a:schemeClr>
                    </a:solidFill>
                  </a:rPr>
                  <a:t>从</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dirty="0">
                    <a:solidFill>
                      <a:schemeClr val="accent2">
                        <a:lumMod val="50000"/>
                      </a:schemeClr>
                    </a:solidFill>
                  </a:rPr>
                  <a:t>的关系图角度看，</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𝒚</m:t>
                        </m:r>
                      </m:e>
                    </m:d>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𝒕</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𝑹</m:t>
                        </m:r>
                      </m:e>
                    </m:d>
                  </m:oMath>
                </a14:m>
                <a:r>
                  <a:rPr lang="zh-CN" altLang="en-US" sz="2000" b="1" dirty="0">
                    <a:solidFill>
                      <a:schemeClr val="accent2">
                        <a:lumMod val="50000"/>
                      </a:schemeClr>
                    </a:solidFill>
                  </a:rPr>
                  <a:t>当且仅当</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oMath>
                </a14:m>
                <a:r>
                  <a:rPr lang="zh-CN" altLang="en-US" sz="2000" b="1" dirty="0">
                    <a:solidFill>
                      <a:schemeClr val="accent2">
                        <a:lumMod val="50000"/>
                      </a:schemeClr>
                    </a:solidFill>
                  </a:rPr>
                  <a:t>到</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𝒚</m:t>
                    </m:r>
                  </m:oMath>
                </a14:m>
                <a:r>
                  <a:rPr lang="zh-CN" altLang="en-US" sz="2000" b="1" dirty="0">
                    <a:solidFill>
                      <a:schemeClr val="accent2">
                        <a:lumMod val="50000"/>
                      </a:schemeClr>
                    </a:solidFill>
                  </a:rPr>
                  <a:t>有有向通路</a:t>
                </a:r>
                <a:endParaRPr lang="zh-CN" altLang="en-US" sz="2000" b="1" dirty="0">
                  <a:solidFill>
                    <a:schemeClr val="accent2">
                      <a:lumMod val="50000"/>
                    </a:schemeClr>
                  </a:solidFill>
                </a:endParaRPr>
              </a:p>
            </p:txBody>
          </p:sp>
        </mc:Choice>
        <mc:Fallback>
          <p:sp>
            <p:nvSpPr>
              <p:cNvPr id="29" name="文本框 28"/>
              <p:cNvSpPr txBox="1">
                <a:spLocks noRot="1" noChangeAspect="1" noMove="1" noResize="1" noEditPoints="1" noAdjustHandles="1" noChangeArrowheads="1" noChangeShapeType="1" noTextEdit="1"/>
              </p:cNvSpPr>
              <p:nvPr/>
            </p:nvSpPr>
            <p:spPr>
              <a:xfrm>
                <a:off x="2084396" y="5477574"/>
                <a:ext cx="8081096" cy="400110"/>
              </a:xfrm>
              <a:prstGeom prst="rect">
                <a:avLst/>
              </a:prstGeom>
              <a:blipFill rotWithShape="1">
                <a:blip r:embed="rId15"/>
                <a:stretch>
                  <a:fillRect l="-4" t="-16" r="5" b="31"/>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传递闭包计算公式的引入</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746137" y="1161854"/>
                <a:ext cx="2938161" cy="400110"/>
              </a:xfrm>
              <a:prstGeom prst="rect">
                <a:avLst/>
              </a:prstGeom>
              <a:solidFill>
                <a:schemeClr val="accent2">
                  <a:lumMod val="20000"/>
                  <a:lumOff val="80000"/>
                </a:schemeClr>
              </a:solidFill>
            </p:spPr>
            <p:txBody>
              <a:bodyPr wrap="square" rtlCol="0">
                <a:spAutoFit/>
              </a:bodyPr>
              <a:lstStyle/>
              <a:p>
                <a:pPr algn="ctr"/>
                <a:r>
                  <a:rPr lang="zh-CN" altLang="en-US" sz="2000" b="1">
                    <a:solidFill>
                      <a:schemeClr val="accent2">
                        <a:lumMod val="50000"/>
                      </a:schemeClr>
                    </a:solidFill>
                  </a:rPr>
                  <a:t>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是非空集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r>
                  <a:rPr lang="zh-CN" altLang="en-US" sz="2000" b="1">
                    <a:solidFill>
                      <a:schemeClr val="accent2">
                        <a:lumMod val="50000"/>
                      </a:schemeClr>
                    </a:solidFill>
                  </a:rPr>
                  <a:t>上的关系</a:t>
                </a:r>
                <a:endParaRPr lang="zh-CN" altLang="en-US" sz="2000" b="1">
                  <a:solidFill>
                    <a:schemeClr val="accent2">
                      <a:lumMod val="50000"/>
                    </a:schemeClr>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746137" y="1161854"/>
                <a:ext cx="2938161" cy="400110"/>
              </a:xfrm>
              <a:prstGeom prst="rect">
                <a:avLst/>
              </a:prstGeom>
              <a:blipFill rotWithShape="1">
                <a:blip r:embed="rId1"/>
                <a:stretch>
                  <a:fillRect t="-110" r="1" b="1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2291561" y="1712576"/>
                <a:ext cx="7608876" cy="784830"/>
              </a:xfrm>
              <a:prstGeom prst="rect">
                <a:avLst/>
              </a:prstGeom>
              <a:solidFill>
                <a:schemeClr val="accent2">
                  <a:lumMod val="20000"/>
                  <a:lumOff val="80000"/>
                </a:schemeClr>
              </a:solidFill>
            </p:spPr>
            <p:txBody>
              <a:bodyPr wrap="square" rtlCol="0">
                <a:spAutoFit/>
              </a:bodyPr>
              <a:lstStyle/>
              <a:p>
                <a:pPr algn="ctr">
                  <a:lnSpc>
                    <a:spcPts val="2400"/>
                  </a:lnSpc>
                  <a:spcBef>
                    <a:spcPts val="600"/>
                  </a:spcBef>
                </a:pP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𝒚</m:t>
                    </m:r>
                  </m:oMath>
                </a14:m>
                <a:r>
                  <a:rPr lang="zh-CN" altLang="en-US" sz="2000" b="1">
                    <a:solidFill>
                      <a:srgbClr val="C00000"/>
                    </a:solidFill>
                  </a:rPr>
                  <a:t>，</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𝒚</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𝒕</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e>
                    </m:d>
                  </m:oMath>
                </a14:m>
                <a:r>
                  <a:rPr lang="zh-CN" altLang="en-US" sz="2000" b="1">
                    <a:solidFill>
                      <a:srgbClr val="C00000"/>
                    </a:solidFill>
                  </a:rPr>
                  <a:t>当且仅当</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𝒚</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oMath>
                </a14:m>
                <a:r>
                  <a:rPr lang="zh-CN" altLang="en-US" sz="2000" b="1">
                    <a:solidFill>
                      <a:srgbClr val="C00000"/>
                    </a:solidFill>
                  </a:rPr>
                  <a:t>，或者</a:t>
                </a:r>
                <a:endParaRPr lang="en-US" altLang="zh-CN" sz="2000" b="1">
                  <a:solidFill>
                    <a:srgbClr val="C00000"/>
                  </a:solidFill>
                </a:endParaRPr>
              </a:p>
              <a:p>
                <a:pPr algn="ctr">
                  <a:lnSpc>
                    <a:spcPts val="2400"/>
                  </a:lnSpc>
                  <a:spcBef>
                    <a:spcPts val="600"/>
                  </a:spcBef>
                </a:pPr>
                <a:r>
                  <a:rPr lang="zh-CN" altLang="en-US" sz="2000" b="1">
                    <a:solidFill>
                      <a:srgbClr val="C00000"/>
                    </a:solidFill>
                  </a:rPr>
                  <a:t>存在</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 ⋯,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𝒌</m:t>
                        </m:r>
                      </m:sub>
                    </m:sSub>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𝒌</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e>
                    </m:d>
                  </m:oMath>
                </a14:m>
                <a:r>
                  <a:rPr lang="zh-CN" altLang="en-US" sz="2000" b="1">
                    <a:solidFill>
                      <a:srgbClr val="C00000"/>
                    </a:solidFill>
                  </a:rPr>
                  <a:t>使得</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𝟏</m:t>
                            </m:r>
                          </m:sub>
                        </m:sSub>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r>
                      <a:rPr lang="zh-CN" altLang="en-US" sz="2000" b="1" i="1" smtClean="0">
                        <a:solidFill>
                          <a:srgbClr val="C00000"/>
                        </a:solidFill>
                        <a:latin typeface="Cambria Math" panose="02040503050406030204" pitchFamily="18" charset="0"/>
                      </a:rPr>
                      <m:t>，</m:t>
                    </m:r>
                    <m:d>
                      <m:dPr>
                        <m:begChr m:val="⟨"/>
                        <m:endChr m:val="⟩"/>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𝟐</m:t>
                            </m:r>
                          </m:sub>
                        </m:sSub>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r>
                      <a:rPr lang="en-US" altLang="zh-CN" sz="2000" b="1" i="1" smtClean="0">
                        <a:solidFill>
                          <a:srgbClr val="C00000"/>
                        </a:solidFill>
                        <a:latin typeface="Cambria Math" panose="02040503050406030204" pitchFamily="18" charset="0"/>
                      </a:rPr>
                      <m:t>, ⋯, </m:t>
                    </m:r>
                    <m:d>
                      <m:dPr>
                        <m:begChr m:val="⟨"/>
                        <m:endChr m:val="⟩"/>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𝒌</m:t>
                            </m:r>
                          </m:sub>
                        </m:sSub>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𝒚</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oMath>
                </a14:m>
                <a:endParaRPr lang="zh-CN" altLang="en-US" sz="2000"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2291561" y="1712576"/>
                <a:ext cx="7608876" cy="784830"/>
              </a:xfrm>
              <a:prstGeom prst="rect">
                <a:avLst/>
              </a:prstGeom>
              <a:blipFill rotWithShape="1">
                <a:blip r:embed="rId2"/>
                <a:stretch>
                  <a:fillRect l="-6" t="-78" r="2" b="-319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7467890" y="1161854"/>
                <a:ext cx="3977973"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下面公式中个体变量的论域都是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endParaRPr lang="zh-CN" altLang="en-US" sz="2000" b="1">
                  <a:solidFill>
                    <a:schemeClr val="accent2">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7467890" y="1161854"/>
                <a:ext cx="3977973" cy="400110"/>
              </a:xfrm>
              <a:prstGeom prst="rect">
                <a:avLst/>
              </a:prstGeom>
              <a:blipFill rotWithShape="1">
                <a:blip r:embed="rId3"/>
                <a:stretch>
                  <a:fillRect l="-7" t="-110" r="16" b="125"/>
                </a:stretch>
              </a:blipFill>
            </p:spPr>
            <p:txBody>
              <a:bodyPr/>
              <a:lstStyle/>
              <a:p>
                <a:r>
                  <a:rPr lang="zh-CN" altLang="en-US">
                    <a:noFill/>
                  </a:rPr>
                  <a:t> </a:t>
                </a:r>
              </a:p>
            </p:txBody>
          </p:sp>
        </mc:Fallback>
      </mc:AlternateContent>
      <p:sp>
        <p:nvSpPr>
          <p:cNvPr id="27" name="矩形: 圆角 26"/>
          <p:cNvSpPr/>
          <p:nvPr/>
        </p:nvSpPr>
        <p:spPr>
          <a:xfrm>
            <a:off x="822069" y="2697569"/>
            <a:ext cx="10547860" cy="2098816"/>
          </a:xfrm>
          <a:prstGeom prst="roundRect">
            <a:avLst>
              <a:gd name="adj" fmla="val 5104"/>
            </a:avLst>
          </a:prstGeom>
          <a:noFill/>
          <a:ln>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5" name="文本框 14"/>
              <p:cNvSpPr txBox="1"/>
              <p:nvPr/>
            </p:nvSpPr>
            <p:spPr>
              <a:xfrm>
                <a:off x="917734" y="2842861"/>
                <a:ext cx="3377274"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oMath>
                  </m:oMathPara>
                </a14:m>
                <a:endParaRPr lang="zh-CN" altLang="en-US" sz="2000">
                  <a:solidFill>
                    <a:srgbClr val="002060"/>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917734" y="2842861"/>
                <a:ext cx="3377274" cy="400110"/>
              </a:xfrm>
              <a:prstGeom prst="rect">
                <a:avLst/>
              </a:prstGeom>
              <a:blipFill rotWithShape="1">
                <a:blip r:embed="rId4"/>
                <a:stretch>
                  <a:fillRect l="-5" t="-150" r="15" b="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7722343" y="2844486"/>
                <a:ext cx="1661938" cy="400110"/>
              </a:xfrm>
              <a:prstGeom prst="rect">
                <a:avLst/>
              </a:prstGeom>
              <a:solidFill>
                <a:schemeClr val="accent4">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𝒙</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𝒚</m:t>
                          </m:r>
                        </m:e>
                      </m:d>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𝑹</m:t>
                      </m:r>
                    </m:oMath>
                  </m:oMathPara>
                </a14:m>
                <a:endParaRPr lang="zh-CN" altLang="en-US" sz="2000" b="1">
                  <a:latin typeface="楷体" panose="02010609060101010101" pitchFamily="49" charset="-122"/>
                  <a:ea typeface="楷体" panose="02010609060101010101" pitchFamily="49"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7722343" y="2844486"/>
                <a:ext cx="1661938" cy="400110"/>
              </a:xfrm>
              <a:prstGeom prst="rect">
                <a:avLst/>
              </a:prstGeom>
              <a:blipFill rotWithShape="1">
                <a:blip r:embed="rId5"/>
                <a:stretch>
                  <a:fillRect l="-6" t="-80" r="15" b="9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917734" y="3375976"/>
                <a:ext cx="5166026"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oMath>
                  </m:oMathPara>
                </a14:m>
                <a:endParaRPr lang="zh-CN" altLang="en-US" sz="2000">
                  <a:solidFill>
                    <a:srgbClr val="002060"/>
                  </a:solidFill>
                </a:endParaRPr>
              </a:p>
            </p:txBody>
          </p:sp>
        </mc:Choice>
        <mc:Fallback>
          <p:sp>
            <p:nvSpPr>
              <p:cNvPr id="18" name="文本框 17"/>
              <p:cNvSpPr txBox="1">
                <a:spLocks noRot="1" noChangeAspect="1" noMove="1" noResize="1" noEditPoints="1" noAdjustHandles="1" noChangeArrowheads="1" noChangeShapeType="1" noTextEdit="1"/>
              </p:cNvSpPr>
              <p:nvPr/>
            </p:nvSpPr>
            <p:spPr>
              <a:xfrm>
                <a:off x="917734" y="3375976"/>
                <a:ext cx="5166026" cy="400110"/>
              </a:xfrm>
              <a:prstGeom prst="rect">
                <a:avLst/>
              </a:prstGeom>
              <a:blipFill rotWithShape="1">
                <a:blip r:embed="rId6"/>
                <a:stretch>
                  <a:fillRect l="-3" t="-79" r="9" b="9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3333888" y="3839072"/>
                <a:ext cx="467211"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rPr>
                        <m:t>⋮</m:t>
                      </m:r>
                    </m:oMath>
                  </m:oMathPara>
                </a14:m>
                <a:endParaRPr lang="zh-CN" altLang="en-US" sz="2000"/>
              </a:p>
            </p:txBody>
          </p:sp>
        </mc:Choice>
        <mc:Fallback>
          <p:sp>
            <p:nvSpPr>
              <p:cNvPr id="14" name="文本框 13"/>
              <p:cNvSpPr txBox="1">
                <a:spLocks noRot="1" noChangeAspect="1" noMove="1" noResize="1" noEditPoints="1" noAdjustHandles="1" noChangeArrowheads="1" noChangeShapeType="1" noTextEdit="1"/>
              </p:cNvSpPr>
              <p:nvPr/>
            </p:nvSpPr>
            <p:spPr>
              <a:xfrm>
                <a:off x="3333888" y="3839072"/>
                <a:ext cx="467211" cy="400110"/>
              </a:xfrm>
              <a:prstGeom prst="rect">
                <a:avLst/>
              </a:prstGeom>
              <a:blipFill rotWithShape="1">
                <a:blip r:embed="rId7"/>
                <a:stretch>
                  <a:fillRect l="-30" t="-124" r="134" b="1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8791984" y="3839072"/>
                <a:ext cx="470423" cy="400110"/>
              </a:xfrm>
              <a:prstGeom prst="rect">
                <a:avLst/>
              </a:prstGeom>
              <a:solidFill>
                <a:schemeClr val="accent4">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C00000"/>
                          </a:solidFill>
                          <a:latin typeface="Cambria Math" panose="02040503050406030204" pitchFamily="18" charset="0"/>
                        </a:rPr>
                        <m:t>⋮</m:t>
                      </m:r>
                    </m:oMath>
                  </m:oMathPara>
                </a14:m>
                <a:endParaRPr lang="zh-CN" altLang="en-US" sz="2000" b="1">
                  <a:solidFill>
                    <a:srgbClr val="C00000"/>
                  </a:solidFill>
                  <a:latin typeface="楷体" panose="02010609060101010101" pitchFamily="49" charset="-122"/>
                  <a:ea typeface="楷体" panose="02010609060101010101" pitchFamily="49" charset="-122"/>
                </a:endParaRPr>
              </a:p>
            </p:txBody>
          </p:sp>
        </mc:Choice>
        <mc:Fallback>
          <p:sp>
            <p:nvSpPr>
              <p:cNvPr id="20" name="文本框 19"/>
              <p:cNvSpPr txBox="1">
                <a:spLocks noRot="1" noChangeAspect="1" noMove="1" noResize="1" noEditPoints="1" noAdjustHandles="1" noChangeArrowheads="1" noChangeShapeType="1" noTextEdit="1"/>
              </p:cNvSpPr>
              <p:nvPr/>
            </p:nvSpPr>
            <p:spPr>
              <a:xfrm>
                <a:off x="8791984" y="3839072"/>
                <a:ext cx="470423" cy="400110"/>
              </a:xfrm>
              <a:prstGeom prst="rect">
                <a:avLst/>
              </a:prstGeom>
              <a:blipFill rotWithShape="1">
                <a:blip r:embed="rId8"/>
                <a:stretch>
                  <a:fillRect l="-87" t="-124" r="63" b="1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917733" y="4296911"/>
                <a:ext cx="6053729"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𝒌</m:t>
                          </m:r>
                        </m:sub>
                      </m:sSub>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𝒌</m:t>
                              </m:r>
                            </m:sub>
                          </m:sSub>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oMath>
                  </m:oMathPara>
                </a14:m>
                <a:endParaRPr lang="zh-CN" altLang="en-US" sz="2000">
                  <a:solidFill>
                    <a:srgbClr val="002060"/>
                  </a:solidFill>
                </a:endParaRPr>
              </a:p>
            </p:txBody>
          </p:sp>
        </mc:Choice>
        <mc:Fallback>
          <p:sp>
            <p:nvSpPr>
              <p:cNvPr id="21" name="文本框 20"/>
              <p:cNvSpPr txBox="1">
                <a:spLocks noRot="1" noChangeAspect="1" noMove="1" noResize="1" noEditPoints="1" noAdjustHandles="1" noChangeArrowheads="1" noChangeShapeType="1" noTextEdit="1"/>
              </p:cNvSpPr>
              <p:nvPr/>
            </p:nvSpPr>
            <p:spPr>
              <a:xfrm>
                <a:off x="917733" y="4296911"/>
                <a:ext cx="6053729" cy="400110"/>
              </a:xfrm>
              <a:prstGeom prst="rect">
                <a:avLst/>
              </a:prstGeom>
              <a:blipFill rotWithShape="1">
                <a:blip r:embed="rId9"/>
                <a:stretch>
                  <a:fillRect l="-3" t="-125" r="7" b="140"/>
                </a:stretch>
              </a:blipFill>
            </p:spPr>
            <p:txBody>
              <a:bodyPr/>
              <a:lstStyle/>
              <a:p>
                <a:r>
                  <a:rPr lang="zh-CN" altLang="en-US">
                    <a:noFill/>
                  </a:rPr>
                  <a:t> </a:t>
                </a:r>
              </a:p>
            </p:txBody>
          </p:sp>
        </mc:Fallback>
      </mc:AlternateContent>
      <p:sp>
        <p:nvSpPr>
          <p:cNvPr id="24" name="箭头: 右 23"/>
          <p:cNvSpPr/>
          <p:nvPr/>
        </p:nvSpPr>
        <p:spPr>
          <a:xfrm>
            <a:off x="4295008" y="3023978"/>
            <a:ext cx="3427334" cy="598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右 24"/>
          <p:cNvSpPr/>
          <p:nvPr/>
        </p:nvSpPr>
        <p:spPr>
          <a:xfrm>
            <a:off x="6083759" y="3569357"/>
            <a:ext cx="163858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p:cNvSpPr/>
          <p:nvPr/>
        </p:nvSpPr>
        <p:spPr>
          <a:xfrm>
            <a:off x="6971462" y="4485533"/>
            <a:ext cx="75087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9" name="文本框 28"/>
              <p:cNvSpPr txBox="1"/>
              <p:nvPr/>
            </p:nvSpPr>
            <p:spPr>
              <a:xfrm>
                <a:off x="498359" y="5050280"/>
                <a:ext cx="10547860" cy="921855"/>
              </a:xfrm>
              <a:prstGeom prst="rect">
                <a:avLst/>
              </a:prstGeom>
              <a:solidFill>
                <a:schemeClr val="accent4">
                  <a:lumMod val="20000"/>
                  <a:lumOff val="80000"/>
                </a:schemeClr>
              </a:solidFill>
            </p:spPr>
            <p:txBody>
              <a:bodyPr wrap="square" rtlCol="0">
                <a:spAutoFit/>
              </a:bodyPr>
              <a:lstStyle/>
              <a:p>
                <a:pPr algn="ctr">
                  <a:spcBef>
                    <a:spcPts val="600"/>
                  </a:spcBef>
                </a:pPr>
                <a:r>
                  <a:rPr lang="zh-CN" altLang="en-US" sz="2400" b="1">
                    <a:solidFill>
                      <a:srgbClr val="C00000"/>
                    </a:solidFill>
                    <a:latin typeface="+mn-ea"/>
                  </a:rPr>
                  <a:t>引入关系的幂运算</a:t>
                </a:r>
                <a14:m>
                  <m:oMath xmlns:m="http://schemas.openxmlformats.org/officeDocument/2006/math">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𝑹</m:t>
                        </m:r>
                      </m:e>
                      <m:sup>
                        <m:r>
                          <a:rPr lang="en-US" altLang="zh-CN" sz="2400" b="1" i="1" smtClean="0">
                            <a:solidFill>
                              <a:srgbClr val="C00000"/>
                            </a:solidFill>
                            <a:latin typeface="Cambria Math" panose="02040503050406030204" pitchFamily="18" charset="0"/>
                          </a:rPr>
                          <m:t>𝒏</m:t>
                        </m:r>
                      </m:sup>
                    </m:sSup>
                  </m:oMath>
                </a14:m>
                <a:endParaRPr lang="en-US" altLang="zh-CN" sz="2400" b="1">
                  <a:solidFill>
                    <a:srgbClr val="C00000"/>
                  </a:solidFill>
                  <a:latin typeface="+mn-ea"/>
                </a:endParaRPr>
              </a:p>
              <a:p>
                <a:pPr algn="ctr">
                  <a:spcBef>
                    <a:spcPts val="600"/>
                  </a:spcBef>
                </a:pPr>
                <a14:m>
                  <m:oMath xmlns:m="http://schemas.openxmlformats.org/officeDocument/2006/math">
                    <m:sSup>
                      <m:sSupPr>
                        <m:ctrlPr>
                          <a:rPr lang="en-US" altLang="zh-CN" sz="2400" b="1" i="1" smtClean="0">
                            <a:solidFill>
                              <a:schemeClr val="accent2">
                                <a:lumMod val="50000"/>
                              </a:schemeClr>
                            </a:solidFill>
                            <a:latin typeface="Cambria Math" panose="02040503050406030204" pitchFamily="18" charset="0"/>
                          </a:rPr>
                        </m:ctrlPr>
                      </m:sSupPr>
                      <m:e>
                        <m:r>
                          <a:rPr lang="en-US" altLang="zh-CN" sz="2400" b="1" i="1" smtClean="0">
                            <a:solidFill>
                              <a:schemeClr val="accent2">
                                <a:lumMod val="50000"/>
                              </a:schemeClr>
                            </a:solidFill>
                            <a:latin typeface="Cambria Math" panose="02040503050406030204" pitchFamily="18" charset="0"/>
                          </a:rPr>
                          <m:t>𝑹</m:t>
                        </m:r>
                      </m:e>
                      <m:sup>
                        <m:r>
                          <a:rPr lang="en-US" altLang="zh-CN" sz="2400" b="1" i="1" smtClean="0">
                            <a:solidFill>
                              <a:schemeClr val="accent2">
                                <a:lumMod val="50000"/>
                              </a:schemeClr>
                            </a:solidFill>
                            <a:latin typeface="Cambria Math" panose="02040503050406030204" pitchFamily="18" charset="0"/>
                          </a:rPr>
                          <m:t>𝟏</m:t>
                        </m:r>
                      </m:sup>
                    </m:sSup>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oMath>
                </a14:m>
                <a:r>
                  <a:rPr lang="en-US" altLang="zh-CN" sz="2400" b="1">
                    <a:solidFill>
                      <a:schemeClr val="accent2">
                        <a:lumMod val="50000"/>
                      </a:schemeClr>
                    </a:solidFill>
                    <a:latin typeface="+mn-ea"/>
                  </a:rPr>
                  <a:t>	</a:t>
                </a:r>
                <a14:m>
                  <m:oMath xmlns:m="http://schemas.openxmlformats.org/officeDocument/2006/math">
                    <m:sSup>
                      <m:sSupPr>
                        <m:ctrlPr>
                          <a:rPr lang="en-US" altLang="zh-CN" sz="2400" b="1" i="1" smtClean="0">
                            <a:solidFill>
                              <a:schemeClr val="accent2">
                                <a:lumMod val="50000"/>
                              </a:schemeClr>
                            </a:solidFill>
                            <a:latin typeface="Cambria Math" panose="02040503050406030204" pitchFamily="18" charset="0"/>
                          </a:rPr>
                        </m:ctrlPr>
                      </m:sSupPr>
                      <m:e>
                        <m:r>
                          <a:rPr lang="en-US" altLang="zh-CN" sz="2400" b="1" i="1" smtClean="0">
                            <a:solidFill>
                              <a:schemeClr val="accent2">
                                <a:lumMod val="50000"/>
                              </a:schemeClr>
                            </a:solidFill>
                            <a:latin typeface="Cambria Math" panose="02040503050406030204" pitchFamily="18" charset="0"/>
                          </a:rPr>
                          <m:t>𝑹</m:t>
                        </m:r>
                      </m:e>
                      <m:sup>
                        <m:r>
                          <a:rPr lang="en-US" altLang="zh-CN" sz="2400" b="1" i="1" smtClean="0">
                            <a:solidFill>
                              <a:schemeClr val="accent2">
                                <a:lumMod val="50000"/>
                              </a:schemeClr>
                            </a:solidFill>
                            <a:latin typeface="Cambria Math" panose="02040503050406030204" pitchFamily="18" charset="0"/>
                          </a:rPr>
                          <m:t>𝟐</m:t>
                        </m:r>
                      </m:sup>
                    </m:sSup>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oMath>
                </a14:m>
                <a:r>
                  <a:rPr lang="en-US" altLang="zh-CN" sz="2400" b="1">
                    <a:solidFill>
                      <a:schemeClr val="accent2">
                        <a:lumMod val="50000"/>
                      </a:schemeClr>
                    </a:solidFill>
                    <a:latin typeface="+mn-ea"/>
                  </a:rPr>
                  <a:t>	</a:t>
                </a:r>
                <a14:m>
                  <m:oMath xmlns:m="http://schemas.openxmlformats.org/officeDocument/2006/math">
                    <m:sSup>
                      <m:sSupPr>
                        <m:ctrlPr>
                          <a:rPr lang="en-US" altLang="zh-CN" sz="2400" b="1" i="1" smtClean="0">
                            <a:solidFill>
                              <a:schemeClr val="accent2">
                                <a:lumMod val="50000"/>
                              </a:schemeClr>
                            </a:solidFill>
                            <a:latin typeface="Cambria Math" panose="02040503050406030204" pitchFamily="18" charset="0"/>
                          </a:rPr>
                        </m:ctrlPr>
                      </m:sSupPr>
                      <m:e>
                        <m:r>
                          <a:rPr lang="en-US" altLang="zh-CN" sz="2400" b="1" i="1" smtClean="0">
                            <a:solidFill>
                              <a:schemeClr val="accent2">
                                <a:lumMod val="50000"/>
                              </a:schemeClr>
                            </a:solidFill>
                            <a:latin typeface="Cambria Math" panose="02040503050406030204" pitchFamily="18" charset="0"/>
                          </a:rPr>
                          <m:t>𝑹</m:t>
                        </m:r>
                      </m:e>
                      <m:sup>
                        <m:r>
                          <a:rPr lang="en-US" altLang="zh-CN" sz="2400" b="1" i="1" smtClean="0">
                            <a:solidFill>
                              <a:schemeClr val="accent2">
                                <a:lumMod val="50000"/>
                              </a:schemeClr>
                            </a:solidFill>
                            <a:latin typeface="Cambria Math" panose="02040503050406030204" pitchFamily="18" charset="0"/>
                          </a:rPr>
                          <m:t>𝟑</m:t>
                        </m:r>
                      </m:sup>
                    </m:sSup>
                    <m:r>
                      <a:rPr lang="en-US" altLang="zh-CN" sz="2400" b="1" i="1" smtClean="0">
                        <a:solidFill>
                          <a:schemeClr val="accent2">
                            <a:lumMod val="50000"/>
                          </a:schemeClr>
                        </a:solidFill>
                        <a:latin typeface="Cambria Math" panose="02040503050406030204" pitchFamily="18" charset="0"/>
                      </a:rPr>
                      <m:t>=</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oMath>
                </a14:m>
                <a:r>
                  <a:rPr lang="en-US" altLang="zh-CN" sz="2400" b="1">
                    <a:solidFill>
                      <a:schemeClr val="accent2">
                        <a:lumMod val="50000"/>
                      </a:schemeClr>
                    </a:solidFill>
                    <a:latin typeface="+mn-ea"/>
                  </a:rPr>
                  <a:t>	</a:t>
                </a:r>
                <a14:m>
                  <m:oMath xmlns:m="http://schemas.openxmlformats.org/officeDocument/2006/math">
                    <m:sSup>
                      <m:sSupPr>
                        <m:ctrlPr>
                          <a:rPr lang="en-US" altLang="zh-CN" sz="2400" b="1" i="1" smtClean="0">
                            <a:solidFill>
                              <a:schemeClr val="accent2">
                                <a:lumMod val="50000"/>
                              </a:schemeClr>
                            </a:solidFill>
                            <a:latin typeface="Cambria Math" panose="02040503050406030204" pitchFamily="18" charset="0"/>
                          </a:rPr>
                        </m:ctrlPr>
                      </m:sSupPr>
                      <m:e>
                        <m:r>
                          <a:rPr lang="en-US" altLang="zh-CN" sz="2400" b="1" i="1" smtClean="0">
                            <a:solidFill>
                              <a:schemeClr val="accent2">
                                <a:lumMod val="50000"/>
                              </a:schemeClr>
                            </a:solidFill>
                            <a:latin typeface="Cambria Math" panose="02040503050406030204" pitchFamily="18" charset="0"/>
                          </a:rPr>
                          <m:t>𝑹</m:t>
                        </m:r>
                      </m:e>
                      <m:sup>
                        <m:r>
                          <a:rPr lang="en-US" altLang="zh-CN" sz="2400" b="1" i="1" smtClean="0">
                            <a:solidFill>
                              <a:schemeClr val="accent2">
                                <a:lumMod val="50000"/>
                              </a:schemeClr>
                            </a:solidFill>
                            <a:latin typeface="Cambria Math" panose="02040503050406030204" pitchFamily="18" charset="0"/>
                          </a:rPr>
                          <m:t>𝒌</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sup>
                    </m:sSup>
                    <m:r>
                      <a:rPr lang="en-US" altLang="zh-CN" sz="2400" b="1" i="1" smtClean="0">
                        <a:solidFill>
                          <a:schemeClr val="accent2">
                            <a:lumMod val="50000"/>
                          </a:schemeClr>
                        </a:solidFill>
                        <a:latin typeface="Cambria Math" panose="02040503050406030204" pitchFamily="18" charset="0"/>
                      </a:rPr>
                      <m:t>=(⋯</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𝑹</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oMath>
                </a14:m>
                <a:endParaRPr lang="zh-CN" altLang="en-US" sz="2400" b="1">
                  <a:solidFill>
                    <a:srgbClr val="C00000"/>
                  </a:solidFill>
                  <a:latin typeface="+mn-ea"/>
                </a:endParaRPr>
              </a:p>
            </p:txBody>
          </p:sp>
        </mc:Choice>
        <mc:Fallback>
          <p:sp>
            <p:nvSpPr>
              <p:cNvPr id="29" name="文本框 28"/>
              <p:cNvSpPr txBox="1">
                <a:spLocks noRot="1" noChangeAspect="1" noMove="1" noResize="1" noEditPoints="1" noAdjustHandles="1" noChangeArrowheads="1" noChangeShapeType="1" noTextEdit="1"/>
              </p:cNvSpPr>
              <p:nvPr/>
            </p:nvSpPr>
            <p:spPr>
              <a:xfrm>
                <a:off x="498359" y="5050280"/>
                <a:ext cx="10547860" cy="921855"/>
              </a:xfrm>
              <a:prstGeom prst="rect">
                <a:avLst/>
              </a:prstGeom>
              <a:blipFill rotWithShape="1">
                <a:blip r:embed="rId10"/>
                <a:stretch>
                  <a:fillRect l="-5" t="-14" r="4" b="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7722341" y="3368757"/>
                <a:ext cx="2329385" cy="400110"/>
              </a:xfrm>
              <a:prstGeom prst="rect">
                <a:avLst/>
              </a:prstGeom>
              <a:solidFill>
                <a:schemeClr val="accent4">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𝒙</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𝒚</m:t>
                          </m:r>
                        </m:e>
                      </m:d>
                      <m:r>
                        <a:rPr lang="en-US" altLang="zh-CN" sz="2000" b="1" i="1" smtClean="0">
                          <a:latin typeface="Cambria Math" panose="02040503050406030204" pitchFamily="18" charset="0"/>
                        </a:rPr>
                        <m:t>∈</m:t>
                      </m:r>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𝑹</m:t>
                          </m:r>
                        </m:e>
                      </m:d>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𝑹</m:t>
                      </m:r>
                    </m:oMath>
                  </m:oMathPara>
                </a14:m>
                <a:endParaRPr lang="zh-CN" altLang="en-US" sz="2000" b="1">
                  <a:latin typeface="楷体" panose="02010609060101010101" pitchFamily="49" charset="-122"/>
                  <a:ea typeface="楷体" panose="02010609060101010101" pitchFamily="49" charset="-122"/>
                </a:endParaRPr>
              </a:p>
            </p:txBody>
          </p:sp>
        </mc:Choice>
        <mc:Fallback>
          <p:sp>
            <p:nvSpPr>
              <p:cNvPr id="31" name="文本框 30"/>
              <p:cNvSpPr txBox="1">
                <a:spLocks noRot="1" noChangeAspect="1" noMove="1" noResize="1" noEditPoints="1" noAdjustHandles="1" noChangeArrowheads="1" noChangeShapeType="1" noTextEdit="1"/>
              </p:cNvSpPr>
              <p:nvPr/>
            </p:nvSpPr>
            <p:spPr>
              <a:xfrm>
                <a:off x="7722341" y="3368757"/>
                <a:ext cx="2329385" cy="400110"/>
              </a:xfrm>
              <a:prstGeom prst="rect">
                <a:avLst/>
              </a:prstGeom>
              <a:blipFill rotWithShape="1">
                <a:blip r:embed="rId11"/>
                <a:stretch>
                  <a:fillRect l="-5" t="-20" r="13" b="3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文本框 31"/>
              <p:cNvSpPr txBox="1"/>
              <p:nvPr/>
            </p:nvSpPr>
            <p:spPr>
              <a:xfrm>
                <a:off x="7722341" y="4293957"/>
                <a:ext cx="3223761" cy="400110"/>
              </a:xfrm>
              <a:prstGeom prst="rect">
                <a:avLst/>
              </a:prstGeom>
              <a:solidFill>
                <a:schemeClr val="accent4">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𝒙</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𝒚</m:t>
                          </m:r>
                        </m:e>
                      </m:d>
                      <m:r>
                        <a:rPr lang="en-US" altLang="zh-CN" sz="2000" b="1" i="1" smtClean="0">
                          <a:latin typeface="Cambria Math" panose="02040503050406030204" pitchFamily="18" charset="0"/>
                        </a:rPr>
                        <m:t>∈(⋯</m:t>
                      </m:r>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𝑹</m:t>
                          </m:r>
                        </m:e>
                      </m:d>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𝑹</m:t>
                      </m:r>
                      <m:r>
                        <a:rPr lang="en-US" altLang="zh-CN" sz="2000" b="1" i="1" smtClean="0">
                          <a:latin typeface="Cambria Math" panose="02040503050406030204" pitchFamily="18" charset="0"/>
                        </a:rPr>
                        <m:t>)</m:t>
                      </m:r>
                    </m:oMath>
                  </m:oMathPara>
                </a14:m>
                <a:endParaRPr lang="zh-CN" altLang="en-US" sz="2000" b="1">
                  <a:latin typeface="楷体" panose="02010609060101010101" pitchFamily="49" charset="-122"/>
                  <a:ea typeface="楷体" panose="02010609060101010101" pitchFamily="49" charset="-122"/>
                </a:endParaRPr>
              </a:p>
            </p:txBody>
          </p:sp>
        </mc:Choice>
        <mc:Fallback>
          <p:sp>
            <p:nvSpPr>
              <p:cNvPr id="32" name="文本框 31"/>
              <p:cNvSpPr txBox="1">
                <a:spLocks noRot="1" noChangeAspect="1" noMove="1" noResize="1" noEditPoints="1" noAdjustHandles="1" noChangeArrowheads="1" noChangeShapeType="1" noTextEdit="1"/>
              </p:cNvSpPr>
              <p:nvPr/>
            </p:nvSpPr>
            <p:spPr>
              <a:xfrm>
                <a:off x="7722341" y="4293957"/>
                <a:ext cx="3223761" cy="400110"/>
              </a:xfrm>
              <a:prstGeom prst="rect">
                <a:avLst/>
              </a:prstGeom>
              <a:blipFill rotWithShape="1">
                <a:blip r:embed="rId12"/>
                <a:stretch>
                  <a:fillRect l="-3" t="-22" r="19" b="37"/>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关系幂的定义</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689691" y="1340031"/>
                <a:ext cx="10812614" cy="2312428"/>
              </a:xfrm>
              <a:prstGeom prst="rect">
                <a:avLst/>
              </a:prstGeom>
              <a:solidFill>
                <a:schemeClr val="accent2">
                  <a:lumMod val="20000"/>
                  <a:lumOff val="80000"/>
                </a:schemeClr>
              </a:solidFill>
            </p:spPr>
            <p:txBody>
              <a:bodyPr wrap="square" rtlCol="0">
                <a:spAutoFit/>
              </a:bodyPr>
              <a:lstStyle/>
              <a:p>
                <a:pPr algn="ctr">
                  <a:spcBef>
                    <a:spcPts val="1200"/>
                  </a:spcBef>
                  <a:spcAft>
                    <a:spcPts val="600"/>
                  </a:spcAft>
                </a:pPr>
                <a:r>
                  <a:rPr lang="zh-CN" altLang="en-US" sz="2800" b="1">
                    <a:solidFill>
                      <a:srgbClr val="C00000"/>
                    </a:solidFill>
                  </a:rPr>
                  <a:t>关系幂</a:t>
                </a:r>
                <a14:m>
                  <m:oMath xmlns:m="http://schemas.openxmlformats.org/officeDocument/2006/math">
                    <m:sSup>
                      <m:sSupPr>
                        <m:ctrlPr>
                          <a:rPr lang="en-US" altLang="zh-CN" sz="2800" b="1" i="1" smtClean="0">
                            <a:solidFill>
                              <a:srgbClr val="C00000"/>
                            </a:solidFill>
                            <a:latin typeface="Cambria Math" panose="02040503050406030204" pitchFamily="18" charset="0"/>
                          </a:rPr>
                        </m:ctrlPr>
                      </m:sSupPr>
                      <m:e>
                        <m:r>
                          <a:rPr lang="en-US" altLang="zh-CN" sz="2800" b="1" i="1" smtClean="0">
                            <a:solidFill>
                              <a:srgbClr val="C00000"/>
                            </a:solidFill>
                            <a:latin typeface="Cambria Math" panose="02040503050406030204" pitchFamily="18" charset="0"/>
                          </a:rPr>
                          <m:t>𝑹</m:t>
                        </m:r>
                      </m:e>
                      <m:sup>
                        <m:r>
                          <a:rPr lang="en-US" altLang="zh-CN" sz="2800" b="1" i="1" smtClean="0">
                            <a:solidFill>
                              <a:srgbClr val="C00000"/>
                            </a:solidFill>
                            <a:latin typeface="Cambria Math" panose="02040503050406030204" pitchFamily="18" charset="0"/>
                          </a:rPr>
                          <m:t>𝒏</m:t>
                        </m:r>
                      </m:sup>
                    </m:sSup>
                    <m:d>
                      <m:dPr>
                        <m:ctrlPr>
                          <a:rPr lang="en-US" altLang="zh-CN" sz="2800" b="1" i="1" smtClean="0">
                            <a:solidFill>
                              <a:srgbClr val="C00000"/>
                            </a:solidFill>
                            <a:latin typeface="Cambria Math" panose="02040503050406030204" pitchFamily="18" charset="0"/>
                          </a:rPr>
                        </m:ctrlPr>
                      </m:dPr>
                      <m:e>
                        <m:r>
                          <a:rPr lang="en-US" altLang="zh-CN" sz="2800" b="1" i="1" smtClean="0">
                            <a:solidFill>
                              <a:srgbClr val="C00000"/>
                            </a:solidFill>
                            <a:latin typeface="Cambria Math" panose="02040503050406030204" pitchFamily="18" charset="0"/>
                          </a:rPr>
                          <m:t>𝒏</m:t>
                        </m:r>
                        <m:r>
                          <a:rPr lang="en-US" altLang="zh-CN" sz="2800" b="1" i="1" smtClean="0">
                            <a:solidFill>
                              <a:srgbClr val="C00000"/>
                            </a:solidFill>
                            <a:latin typeface="Cambria Math" panose="02040503050406030204" pitchFamily="18" charset="0"/>
                          </a:rPr>
                          <m:t>≥</m:t>
                        </m:r>
                        <m:r>
                          <a:rPr lang="en-US" altLang="zh-CN" sz="2800" b="1" i="1" smtClean="0">
                            <a:solidFill>
                              <a:srgbClr val="C00000"/>
                            </a:solidFill>
                            <a:latin typeface="Cambria Math" panose="02040503050406030204" pitchFamily="18" charset="0"/>
                          </a:rPr>
                          <m:t>𝟏</m:t>
                        </m:r>
                      </m:e>
                    </m:d>
                  </m:oMath>
                </a14:m>
                <a:r>
                  <a:rPr lang="zh-CN" altLang="en-US" sz="2800" b="1">
                    <a:solidFill>
                      <a:srgbClr val="C00000"/>
                    </a:solidFill>
                  </a:rPr>
                  <a:t>的定义</a:t>
                </a:r>
                <a:endParaRPr lang="en-US" altLang="zh-CN" sz="2800" b="1">
                  <a:solidFill>
                    <a:srgbClr val="C00000"/>
                  </a:solidFill>
                </a:endParaRPr>
              </a:p>
              <a:p>
                <a:pPr>
                  <a:spcBef>
                    <a:spcPts val="12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latin typeface="楷体" panose="02010609060101010101" pitchFamily="49" charset="-122"/>
                    <a:ea typeface="楷体" panose="02010609060101010101" pitchFamily="49" charset="-122"/>
                  </a:rPr>
                  <a:t>是非空集</a:t>
                </a:r>
                <a14:m>
                  <m:oMath xmlns:m="http://schemas.openxmlformats.org/officeDocument/2006/math">
                    <m:r>
                      <a:rPr lang="en-US" altLang="zh-CN" sz="2400" b="1" i="1" smtClean="0">
                        <a:solidFill>
                          <a:srgbClr val="002060"/>
                        </a:solidFill>
                        <a:latin typeface="Cambria Math" panose="02040503050406030204" pitchFamily="18" charset="0"/>
                      </a:rPr>
                      <m:t>𝑨</m:t>
                    </m:r>
                  </m:oMath>
                </a14:m>
                <a:r>
                  <a:rPr lang="zh-CN" altLang="en-US" sz="2400" b="1">
                    <a:solidFill>
                      <a:srgbClr val="002060"/>
                    </a:solidFill>
                    <a:latin typeface="楷体" panose="02010609060101010101" pitchFamily="49" charset="-122"/>
                    <a:ea typeface="楷体" panose="02010609060101010101" pitchFamily="49" charset="-122"/>
                  </a:rPr>
                  <a:t>上的关系，整数</a:t>
                </a:r>
                <a14:m>
                  <m:oMath xmlns:m="http://schemas.openxmlformats.org/officeDocument/2006/math">
                    <m:r>
                      <a:rPr lang="en-US" altLang="zh-CN" sz="2400" b="1" i="1" smtClean="0">
                        <a:solidFill>
                          <a:srgbClr val="002060"/>
                        </a:solidFill>
                        <a:latin typeface="Cambria Math" panose="02040503050406030204" pitchFamily="18" charset="0"/>
                      </a:rPr>
                      <m:t>𝒏</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oMath>
                </a14:m>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latin typeface="楷体" panose="02010609060101010101" pitchFamily="49" charset="-122"/>
                    <a:ea typeface="楷体" panose="02010609060101010101" pitchFamily="49" charset="-122"/>
                  </a:rPr>
                  <a:t>的</a:t>
                </a:r>
                <a14:m>
                  <m:oMath xmlns:m="http://schemas.openxmlformats.org/officeDocument/2006/math">
                    <m:r>
                      <a:rPr lang="en-US" altLang="zh-CN" sz="2400" b="1" i="1" smtClean="0">
                        <a:solidFill>
                          <a:srgbClr val="002060"/>
                        </a:solidFill>
                        <a:latin typeface="Cambria Math" panose="02040503050406030204" pitchFamily="18" charset="0"/>
                      </a:rPr>
                      <m:t>𝒏</m:t>
                    </m:r>
                  </m:oMath>
                </a14:m>
                <a:r>
                  <a:rPr lang="zh-CN" altLang="en-US" sz="2400" b="1">
                    <a:solidFill>
                      <a:srgbClr val="002060"/>
                    </a:solidFill>
                    <a:latin typeface="楷体" panose="02010609060101010101" pitchFamily="49" charset="-122"/>
                    <a:ea typeface="楷体" panose="02010609060101010101" pitchFamily="49" charset="-122"/>
                  </a:rPr>
                  <a:t>次幂，记为</a:t>
                </a:r>
                <a14:m>
                  <m:oMath xmlns:m="http://schemas.openxmlformats.org/officeDocument/2006/math">
                    <m:sSup>
                      <m:sSupPr>
                        <m:ctrlPr>
                          <a:rPr lang="en-US" altLang="zh-CN" sz="2400" b="1" i="1" smtClean="0">
                            <a:solidFill>
                              <a:srgbClr val="002060"/>
                            </a:solidFill>
                            <a:latin typeface="Cambria Math" panose="02040503050406030204" pitchFamily="18" charset="0"/>
                          </a:rPr>
                        </m:ctrlPr>
                      </m:sSupPr>
                      <m:e>
                        <m:r>
                          <a:rPr lang="en-US" altLang="zh-CN" sz="2400" b="1" i="1" smtClean="0">
                            <a:solidFill>
                              <a:srgbClr val="002060"/>
                            </a:solidFill>
                            <a:latin typeface="Cambria Math" panose="02040503050406030204" pitchFamily="18" charset="0"/>
                          </a:rPr>
                          <m:t>𝑹</m:t>
                        </m:r>
                      </m:e>
                      <m:sup>
                        <m:r>
                          <a:rPr lang="en-US" altLang="zh-CN" sz="2400" b="1" i="1" smtClean="0">
                            <a:solidFill>
                              <a:srgbClr val="002060"/>
                            </a:solidFill>
                            <a:latin typeface="Cambria Math" panose="02040503050406030204" pitchFamily="18" charset="0"/>
                          </a:rPr>
                          <m:t>𝒏</m:t>
                        </m:r>
                      </m:sup>
                    </m:sSup>
                  </m:oMath>
                </a14:m>
                <a:r>
                  <a:rPr lang="zh-CN" altLang="en-US" sz="2400" b="1">
                    <a:solidFill>
                      <a:srgbClr val="002060"/>
                    </a:solidFill>
                    <a:latin typeface="楷体" panose="02010609060101010101" pitchFamily="49" charset="-122"/>
                    <a:ea typeface="楷体" panose="02010609060101010101" pitchFamily="49" charset="-122"/>
                  </a:rPr>
                  <a:t>，递归定义为：</a:t>
                </a:r>
                <a:endParaRPr lang="en-US" altLang="zh-CN" sz="2400" b="1">
                  <a:solidFill>
                    <a:srgbClr val="002060"/>
                  </a:solidFill>
                  <a:latin typeface="楷体" panose="02010609060101010101" pitchFamily="49" charset="-122"/>
                  <a:ea typeface="楷体" panose="02010609060101010101" pitchFamily="49" charset="-122"/>
                </a:endParaRPr>
              </a:p>
              <a:p>
                <a:pPr>
                  <a:spcBef>
                    <a:spcPts val="1200"/>
                  </a:spcBef>
                  <a:spcAft>
                    <a:spcPts val="600"/>
                  </a:spcAft>
                </a:pPr>
                <a14:m>
                  <m:oMathPara xmlns:m="http://schemas.openxmlformats.org/officeDocument/2006/math">
                    <m:oMathParaPr>
                      <m:jc m:val="centerGroup"/>
                    </m:oMathParaPr>
                    <m:oMath xmlns:m="http://schemas.openxmlformats.org/officeDocument/2006/math">
                      <m:sSup>
                        <m:sSupPr>
                          <m:ctrlPr>
                            <a:rPr lang="en-US" altLang="zh-CN" sz="2800" b="1" i="1" smtClean="0">
                              <a:solidFill>
                                <a:schemeClr val="accent2">
                                  <a:lumMod val="50000"/>
                                </a:schemeClr>
                              </a:solidFill>
                              <a:latin typeface="Cambria Math" panose="02040503050406030204" pitchFamily="18" charset="0"/>
                            </a:rPr>
                          </m:ctrlPr>
                        </m:sSupPr>
                        <m:e>
                          <m:r>
                            <a:rPr lang="en-US" altLang="zh-CN" sz="2800" b="1" i="1" smtClean="0">
                              <a:solidFill>
                                <a:schemeClr val="accent2">
                                  <a:lumMod val="50000"/>
                                </a:schemeClr>
                              </a:solidFill>
                              <a:latin typeface="Cambria Math" panose="02040503050406030204" pitchFamily="18" charset="0"/>
                            </a:rPr>
                            <m:t>𝑹</m:t>
                          </m:r>
                        </m:e>
                        <m:sup>
                          <m:r>
                            <a:rPr lang="en-US" altLang="zh-CN" sz="2800" b="1" i="1" smtClean="0">
                              <a:solidFill>
                                <a:schemeClr val="accent2">
                                  <a:lumMod val="50000"/>
                                </a:schemeClr>
                              </a:solidFill>
                              <a:latin typeface="Cambria Math" panose="02040503050406030204" pitchFamily="18" charset="0"/>
                            </a:rPr>
                            <m:t>𝟏</m:t>
                          </m:r>
                        </m:sup>
                      </m:sSup>
                      <m:r>
                        <a:rPr lang="en-US" altLang="zh-CN" sz="2800" b="1" i="1" smtClean="0">
                          <a:solidFill>
                            <a:schemeClr val="accent2">
                              <a:lumMod val="50000"/>
                            </a:schemeClr>
                          </a:solidFill>
                          <a:latin typeface="Cambria Math" panose="02040503050406030204" pitchFamily="18" charset="0"/>
                        </a:rPr>
                        <m:t>= </m:t>
                      </m:r>
                      <m:r>
                        <a:rPr lang="en-US" altLang="zh-CN" sz="2800" b="1" i="1" smtClean="0">
                          <a:solidFill>
                            <a:schemeClr val="accent2">
                              <a:lumMod val="50000"/>
                            </a:schemeClr>
                          </a:solidFill>
                          <a:latin typeface="Cambria Math" panose="02040503050406030204" pitchFamily="18" charset="0"/>
                        </a:rPr>
                        <m:t>𝑹</m:t>
                      </m:r>
                    </m:oMath>
                  </m:oMathPara>
                </a14:m>
                <a:endParaRPr lang="en-US" altLang="zh-CN" sz="2800" b="1">
                  <a:solidFill>
                    <a:schemeClr val="accent2">
                      <a:lumMod val="50000"/>
                    </a:schemeClr>
                  </a:solidFill>
                </a:endParaRPr>
              </a:p>
              <a:p>
                <a:pPr>
                  <a:spcBef>
                    <a:spcPts val="1200"/>
                  </a:spcBef>
                  <a:spcAft>
                    <a:spcPts val="600"/>
                  </a:spcAft>
                </a:pPr>
                <a14:m>
                  <m:oMathPara xmlns:m="http://schemas.openxmlformats.org/officeDocument/2006/math">
                    <m:oMathParaPr>
                      <m:jc m:val="centerGroup"/>
                    </m:oMathParaPr>
                    <m:oMath xmlns:m="http://schemas.openxmlformats.org/officeDocument/2006/math">
                      <m:sSup>
                        <m:sSupPr>
                          <m:ctrlPr>
                            <a:rPr lang="en-US" altLang="zh-CN" sz="2800" b="1" i="1" smtClean="0">
                              <a:solidFill>
                                <a:schemeClr val="accent2">
                                  <a:lumMod val="50000"/>
                                </a:schemeClr>
                              </a:solidFill>
                              <a:latin typeface="Cambria Math" panose="02040503050406030204" pitchFamily="18" charset="0"/>
                            </a:rPr>
                          </m:ctrlPr>
                        </m:sSupPr>
                        <m:e>
                          <m:r>
                            <a:rPr lang="en-US" altLang="zh-CN" sz="2800" b="1" i="1" smtClean="0">
                              <a:solidFill>
                                <a:schemeClr val="accent2">
                                  <a:lumMod val="50000"/>
                                </a:schemeClr>
                              </a:solidFill>
                              <a:latin typeface="Cambria Math" panose="02040503050406030204" pitchFamily="18" charset="0"/>
                            </a:rPr>
                            <m:t>𝑹</m:t>
                          </m:r>
                        </m:e>
                        <m:sup>
                          <m:r>
                            <a:rPr lang="en-US" altLang="zh-CN" sz="2800" b="1" i="1" smtClean="0">
                              <a:solidFill>
                                <a:schemeClr val="accent2">
                                  <a:lumMod val="50000"/>
                                </a:schemeClr>
                              </a:solidFill>
                              <a:latin typeface="Cambria Math" panose="02040503050406030204" pitchFamily="18" charset="0"/>
                            </a:rPr>
                            <m:t>𝒏</m:t>
                          </m:r>
                          <m:r>
                            <a:rPr lang="en-US" altLang="zh-CN" sz="2800" b="1" i="1" smtClean="0">
                              <a:solidFill>
                                <a:schemeClr val="accent2">
                                  <a:lumMod val="50000"/>
                                </a:schemeClr>
                              </a:solidFill>
                              <a:latin typeface="Cambria Math" panose="02040503050406030204" pitchFamily="18" charset="0"/>
                            </a:rPr>
                            <m:t>+</m:t>
                          </m:r>
                          <m:r>
                            <a:rPr lang="en-US" altLang="zh-CN" sz="2800" b="1" i="1" smtClean="0">
                              <a:solidFill>
                                <a:schemeClr val="accent2">
                                  <a:lumMod val="50000"/>
                                </a:schemeClr>
                              </a:solidFill>
                              <a:latin typeface="Cambria Math" panose="02040503050406030204" pitchFamily="18" charset="0"/>
                            </a:rPr>
                            <m:t>𝟏</m:t>
                          </m:r>
                        </m:sup>
                      </m:sSup>
                      <m:r>
                        <a:rPr lang="en-US" altLang="zh-CN" sz="2800" b="1" i="1" smtClean="0">
                          <a:solidFill>
                            <a:schemeClr val="accent2">
                              <a:lumMod val="50000"/>
                            </a:schemeClr>
                          </a:solidFill>
                          <a:latin typeface="Cambria Math" panose="02040503050406030204" pitchFamily="18" charset="0"/>
                        </a:rPr>
                        <m:t>=</m:t>
                      </m:r>
                      <m:r>
                        <a:rPr lang="en-US" altLang="zh-CN" sz="2800" b="1" i="1">
                          <a:solidFill>
                            <a:schemeClr val="accent2">
                              <a:lumMod val="50000"/>
                            </a:schemeClr>
                          </a:solidFill>
                          <a:latin typeface="Cambria Math" panose="02040503050406030204" pitchFamily="18" charset="0"/>
                        </a:rPr>
                        <m:t> </m:t>
                      </m:r>
                      <m:sSup>
                        <m:sSupPr>
                          <m:ctrlPr>
                            <a:rPr lang="en-US" altLang="zh-CN" sz="2800" b="1" i="1" smtClean="0">
                              <a:solidFill>
                                <a:schemeClr val="accent2">
                                  <a:lumMod val="50000"/>
                                </a:schemeClr>
                              </a:solidFill>
                              <a:latin typeface="Cambria Math" panose="02040503050406030204" pitchFamily="18" charset="0"/>
                            </a:rPr>
                          </m:ctrlPr>
                        </m:sSupPr>
                        <m:e>
                          <m:r>
                            <a:rPr lang="en-US" altLang="zh-CN" sz="2800" b="1" i="1" smtClean="0">
                              <a:solidFill>
                                <a:schemeClr val="accent2">
                                  <a:lumMod val="50000"/>
                                </a:schemeClr>
                              </a:solidFill>
                              <a:latin typeface="Cambria Math" panose="02040503050406030204" pitchFamily="18" charset="0"/>
                            </a:rPr>
                            <m:t>𝑹</m:t>
                          </m:r>
                        </m:e>
                        <m:sup>
                          <m:r>
                            <a:rPr lang="en-US" altLang="zh-CN" sz="2800" b="1" i="1" smtClean="0">
                              <a:solidFill>
                                <a:schemeClr val="accent2">
                                  <a:lumMod val="50000"/>
                                </a:schemeClr>
                              </a:solidFill>
                              <a:latin typeface="Cambria Math" panose="02040503050406030204" pitchFamily="18" charset="0"/>
                            </a:rPr>
                            <m:t>𝒏</m:t>
                          </m:r>
                        </m:sup>
                      </m:sSup>
                      <m:r>
                        <a:rPr lang="en-US" altLang="zh-CN" sz="2800" b="1" i="1" smtClean="0">
                          <a:solidFill>
                            <a:schemeClr val="accent2">
                              <a:lumMod val="50000"/>
                            </a:schemeClr>
                          </a:solidFill>
                          <a:latin typeface="Cambria Math" panose="02040503050406030204" pitchFamily="18" charset="0"/>
                        </a:rPr>
                        <m:t>∘</m:t>
                      </m:r>
                      <m:r>
                        <a:rPr lang="en-US" altLang="zh-CN" sz="2800" b="1" i="1">
                          <a:solidFill>
                            <a:schemeClr val="accent2">
                              <a:lumMod val="50000"/>
                            </a:schemeClr>
                          </a:solidFill>
                          <a:latin typeface="Cambria Math" panose="02040503050406030204" pitchFamily="18" charset="0"/>
                        </a:rPr>
                        <m:t>𝑹</m:t>
                      </m:r>
                    </m:oMath>
                  </m:oMathPara>
                </a14:m>
                <a:endParaRPr lang="zh-CN" altLang="en-US" sz="2800" b="1">
                  <a:solidFill>
                    <a:srgbClr val="002060"/>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689691" y="1340031"/>
                <a:ext cx="10812614" cy="2312428"/>
              </a:xfrm>
              <a:prstGeom prst="rect">
                <a:avLst/>
              </a:prstGeom>
              <a:blipFill rotWithShape="1">
                <a:blip r:embed="rId1"/>
                <a:stretch>
                  <a:fillRect l="-1" t="-8" r="5"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842092" y="3980226"/>
                <a:ext cx="10507812" cy="1261884"/>
              </a:xfrm>
              <a:prstGeom prst="rect">
                <a:avLst/>
              </a:prstGeom>
              <a:solidFill>
                <a:schemeClr val="accent5">
                  <a:lumMod val="20000"/>
                  <a:lumOff val="80000"/>
                </a:schemeClr>
              </a:solidFill>
            </p:spPr>
            <p:txBody>
              <a:bodyPr wrap="square" rtlCol="0">
                <a:spAutoFit/>
              </a:bodyPr>
              <a:lstStyle/>
              <a:p>
                <a:pPr algn="ctr">
                  <a:spcBef>
                    <a:spcPts val="1200"/>
                  </a:spcBef>
                  <a:spcAft>
                    <a:spcPts val="1200"/>
                  </a:spcAft>
                </a:pPr>
                <a:r>
                  <a:rPr lang="zh-CN" altLang="en-US" sz="2800" b="1">
                    <a:solidFill>
                      <a:srgbClr val="C00000"/>
                    </a:solidFill>
                  </a:rPr>
                  <a:t>关系幂的基本性质</a:t>
                </a:r>
                <a:endParaRPr lang="en-US" altLang="zh-CN" sz="2800" b="1">
                  <a:solidFill>
                    <a:srgbClr val="C00000"/>
                  </a:solidFill>
                </a:endParaRPr>
              </a:p>
              <a:p>
                <a:pPr>
                  <a:spcBef>
                    <a:spcPts val="1200"/>
                  </a:spcBef>
                  <a:spcAft>
                    <a:spcPts val="1200"/>
                  </a:spcAft>
                </a:pPr>
                <a:r>
                  <a:rPr lang="zh-CN" altLang="en-US" sz="28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800" b="1" i="1" smtClean="0">
                        <a:solidFill>
                          <a:srgbClr val="002060"/>
                        </a:solidFill>
                        <a:latin typeface="Cambria Math" panose="02040503050406030204" pitchFamily="18" charset="0"/>
                        <a:ea typeface="楷体" panose="02010609060101010101" pitchFamily="49" charset="-122"/>
                      </a:rPr>
                      <m:t>𝑹</m:t>
                    </m:r>
                  </m:oMath>
                </a14:m>
                <a:r>
                  <a:rPr lang="zh-CN" altLang="en-US" sz="2800" b="1">
                    <a:solidFill>
                      <a:srgbClr val="002060"/>
                    </a:solidFill>
                    <a:latin typeface="楷体" panose="02010609060101010101" pitchFamily="49" charset="-122"/>
                    <a:ea typeface="楷体" panose="02010609060101010101" pitchFamily="49" charset="-122"/>
                  </a:rPr>
                  <a:t>是非空集</a:t>
                </a:r>
                <a14:m>
                  <m:oMath xmlns:m="http://schemas.openxmlformats.org/officeDocument/2006/math">
                    <m:r>
                      <a:rPr lang="en-US" altLang="zh-CN" sz="2800" b="1" i="1" smtClean="0">
                        <a:solidFill>
                          <a:srgbClr val="002060"/>
                        </a:solidFill>
                        <a:latin typeface="Cambria Math" panose="02040503050406030204" pitchFamily="18" charset="0"/>
                        <a:ea typeface="楷体" panose="02010609060101010101" pitchFamily="49" charset="-122"/>
                      </a:rPr>
                      <m:t>𝑨</m:t>
                    </m:r>
                  </m:oMath>
                </a14:m>
                <a:r>
                  <a:rPr lang="zh-CN" altLang="en-US" sz="2800" b="1">
                    <a:solidFill>
                      <a:srgbClr val="002060"/>
                    </a:solidFill>
                    <a:latin typeface="楷体" panose="02010609060101010101" pitchFamily="49" charset="-122"/>
                    <a:ea typeface="楷体" panose="02010609060101010101" pitchFamily="49" charset="-122"/>
                  </a:rPr>
                  <a:t>上的关系，对任意正整数</a:t>
                </a:r>
                <a14:m>
                  <m:oMath xmlns:m="http://schemas.openxmlformats.org/officeDocument/2006/math">
                    <m:r>
                      <a:rPr lang="en-US" altLang="zh-CN" sz="2800" b="1" i="1" smtClean="0">
                        <a:solidFill>
                          <a:srgbClr val="002060"/>
                        </a:solidFill>
                        <a:latin typeface="Cambria Math" panose="02040503050406030204" pitchFamily="18" charset="0"/>
                      </a:rPr>
                      <m:t>𝒎</m:t>
                    </m:r>
                    <m:r>
                      <a:rPr lang="en-US" altLang="zh-CN" sz="2800" b="1" i="1" smtClean="0">
                        <a:solidFill>
                          <a:srgbClr val="002060"/>
                        </a:solidFill>
                        <a:latin typeface="Cambria Math" panose="02040503050406030204" pitchFamily="18" charset="0"/>
                      </a:rPr>
                      <m:t>, </m:t>
                    </m:r>
                    <m:r>
                      <a:rPr lang="en-US" altLang="zh-CN" sz="2800" b="1" i="1" smtClean="0">
                        <a:solidFill>
                          <a:srgbClr val="002060"/>
                        </a:solidFill>
                        <a:latin typeface="Cambria Math" panose="02040503050406030204" pitchFamily="18" charset="0"/>
                      </a:rPr>
                      <m:t>𝒏</m:t>
                    </m:r>
                  </m:oMath>
                </a14:m>
                <a:r>
                  <a:rPr lang="zh-CN" altLang="en-US" sz="2800" b="1">
                    <a:solidFill>
                      <a:srgbClr val="002060"/>
                    </a:solidFill>
                    <a:latin typeface="楷体" panose="02010609060101010101" pitchFamily="49" charset="-122"/>
                    <a:ea typeface="楷体" panose="02010609060101010101" pitchFamily="49" charset="-122"/>
                  </a:rPr>
                  <a:t>有</a:t>
                </a:r>
                <a:r>
                  <a:rPr lang="zh-CN" altLang="en-US" sz="2800" b="1" i="0">
                    <a:solidFill>
                      <a:srgbClr val="002060"/>
                    </a:solidFill>
                    <a:latin typeface="楷体" panose="02010609060101010101" pitchFamily="49" charset="-122"/>
                    <a:ea typeface="楷体" panose="02010609060101010101" pitchFamily="49" charset="-122"/>
                  </a:rPr>
                  <a:t>：</a:t>
                </a:r>
                <a14:m>
                  <m:oMath xmlns:m="http://schemas.openxmlformats.org/officeDocument/2006/math">
                    <m:sSup>
                      <m:sSupPr>
                        <m:ctrlPr>
                          <a:rPr lang="en-US" altLang="zh-CN" sz="2800" b="1" i="1" smtClean="0">
                            <a:solidFill>
                              <a:srgbClr val="C00000"/>
                            </a:solidFill>
                            <a:latin typeface="Cambria Math" panose="02040503050406030204" pitchFamily="18" charset="0"/>
                          </a:rPr>
                        </m:ctrlPr>
                      </m:sSupPr>
                      <m:e>
                        <m:r>
                          <a:rPr lang="en-US" altLang="zh-CN" sz="2800" b="1" i="1" smtClean="0">
                            <a:solidFill>
                              <a:srgbClr val="C00000"/>
                            </a:solidFill>
                            <a:latin typeface="Cambria Math" panose="02040503050406030204" pitchFamily="18" charset="0"/>
                          </a:rPr>
                          <m:t>𝑹</m:t>
                        </m:r>
                      </m:e>
                      <m:sup>
                        <m:r>
                          <a:rPr lang="en-US" altLang="zh-CN" sz="2800" b="1" i="1" smtClean="0">
                            <a:solidFill>
                              <a:srgbClr val="C00000"/>
                            </a:solidFill>
                            <a:latin typeface="Cambria Math" panose="02040503050406030204" pitchFamily="18" charset="0"/>
                          </a:rPr>
                          <m:t>𝒎</m:t>
                        </m:r>
                      </m:sup>
                    </m:sSup>
                    <m:r>
                      <a:rPr lang="en-US" altLang="zh-CN" sz="2800" b="1" i="1" smtClean="0">
                        <a:solidFill>
                          <a:srgbClr val="C00000"/>
                        </a:solidFill>
                        <a:latin typeface="Cambria Math" panose="02040503050406030204" pitchFamily="18" charset="0"/>
                      </a:rPr>
                      <m:t>∘</m:t>
                    </m:r>
                    <m:sSup>
                      <m:sSupPr>
                        <m:ctrlPr>
                          <a:rPr lang="en-US" altLang="zh-CN" sz="2800" b="1" i="1" smtClean="0">
                            <a:solidFill>
                              <a:srgbClr val="C00000"/>
                            </a:solidFill>
                            <a:latin typeface="Cambria Math" panose="02040503050406030204" pitchFamily="18" charset="0"/>
                          </a:rPr>
                        </m:ctrlPr>
                      </m:sSupPr>
                      <m:e>
                        <m:r>
                          <a:rPr lang="en-US" altLang="zh-CN" sz="2800" b="1" i="1" smtClean="0">
                            <a:solidFill>
                              <a:srgbClr val="C00000"/>
                            </a:solidFill>
                            <a:latin typeface="Cambria Math" panose="02040503050406030204" pitchFamily="18" charset="0"/>
                          </a:rPr>
                          <m:t>𝑹</m:t>
                        </m:r>
                      </m:e>
                      <m:sup>
                        <m:r>
                          <a:rPr lang="en-US" altLang="zh-CN" sz="2800" b="1" i="1" smtClean="0">
                            <a:solidFill>
                              <a:srgbClr val="C00000"/>
                            </a:solidFill>
                            <a:latin typeface="Cambria Math" panose="02040503050406030204" pitchFamily="18" charset="0"/>
                          </a:rPr>
                          <m:t>𝒏</m:t>
                        </m:r>
                      </m:sup>
                    </m:sSup>
                    <m:r>
                      <a:rPr lang="en-US" altLang="zh-CN" sz="2800" b="1" i="1" smtClean="0">
                        <a:solidFill>
                          <a:srgbClr val="C00000"/>
                        </a:solidFill>
                        <a:latin typeface="Cambria Math" panose="02040503050406030204" pitchFamily="18" charset="0"/>
                      </a:rPr>
                      <m:t>= </m:t>
                    </m:r>
                    <m:sSup>
                      <m:sSupPr>
                        <m:ctrlPr>
                          <a:rPr lang="en-US" altLang="zh-CN" sz="2800" b="1" i="1" smtClean="0">
                            <a:solidFill>
                              <a:srgbClr val="C00000"/>
                            </a:solidFill>
                            <a:latin typeface="Cambria Math" panose="02040503050406030204" pitchFamily="18" charset="0"/>
                          </a:rPr>
                        </m:ctrlPr>
                      </m:sSupPr>
                      <m:e>
                        <m:r>
                          <a:rPr lang="en-US" altLang="zh-CN" sz="2800" b="1" i="1" smtClean="0">
                            <a:solidFill>
                              <a:srgbClr val="C00000"/>
                            </a:solidFill>
                            <a:latin typeface="Cambria Math" panose="02040503050406030204" pitchFamily="18" charset="0"/>
                          </a:rPr>
                          <m:t>𝑹</m:t>
                        </m:r>
                      </m:e>
                      <m:sup>
                        <m:r>
                          <a:rPr lang="en-US" altLang="zh-CN" sz="2800" b="1" i="1" smtClean="0">
                            <a:solidFill>
                              <a:srgbClr val="C00000"/>
                            </a:solidFill>
                            <a:latin typeface="Cambria Math" panose="02040503050406030204" pitchFamily="18" charset="0"/>
                          </a:rPr>
                          <m:t>𝒎</m:t>
                        </m:r>
                        <m:r>
                          <a:rPr lang="en-US" altLang="zh-CN" sz="2800" b="1" i="1" smtClean="0">
                            <a:solidFill>
                              <a:srgbClr val="C00000"/>
                            </a:solidFill>
                            <a:latin typeface="Cambria Math" panose="02040503050406030204" pitchFamily="18" charset="0"/>
                          </a:rPr>
                          <m:t>+</m:t>
                        </m:r>
                        <m:r>
                          <a:rPr lang="en-US" altLang="zh-CN" sz="2800" b="1" i="1" smtClean="0">
                            <a:solidFill>
                              <a:srgbClr val="C00000"/>
                            </a:solidFill>
                            <a:latin typeface="Cambria Math" panose="02040503050406030204" pitchFamily="18" charset="0"/>
                          </a:rPr>
                          <m:t>𝒏</m:t>
                        </m:r>
                      </m:sup>
                    </m:sSup>
                  </m:oMath>
                </a14:m>
                <a:endParaRPr lang="zh-CN" altLang="en-US" sz="2800" b="1">
                  <a:solidFill>
                    <a:srgbClr val="002060"/>
                  </a:solidFill>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842092" y="3980226"/>
                <a:ext cx="10507812" cy="1261884"/>
              </a:xfrm>
              <a:prstGeom prst="rect">
                <a:avLst/>
              </a:prstGeom>
              <a:blipFill rotWithShape="1">
                <a:blip r:embed="rId2"/>
                <a:stretch>
                  <a:fillRect l="-1" t="-4" r="5" b="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689691" y="5421038"/>
                <a:ext cx="6238391" cy="461665"/>
              </a:xfrm>
              <a:prstGeom prst="rect">
                <a:avLst/>
              </a:prstGeom>
              <a:solidFill>
                <a:schemeClr val="accent4">
                  <a:lumMod val="20000"/>
                  <a:lumOff val="80000"/>
                </a:schemeClr>
              </a:solidFill>
            </p:spPr>
            <p:txBody>
              <a:bodyPr wrap="square" rtlCol="0">
                <a:spAutoFit/>
              </a:bodyPr>
              <a:lstStyle/>
              <a:p>
                <a:r>
                  <a:rPr lang="zh-CN" altLang="en-US" sz="2400" b="1">
                    <a:solidFill>
                      <a:schemeClr val="accent2">
                        <a:lumMod val="50000"/>
                      </a:schemeClr>
                    </a:solidFill>
                  </a:rPr>
                  <a:t>如何证明？是对</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𝒎</m:t>
                    </m:r>
                  </m:oMath>
                </a14:m>
                <a:r>
                  <a:rPr lang="zh-CN" altLang="en-US" sz="2400" b="1">
                    <a:solidFill>
                      <a:schemeClr val="accent2">
                        <a:lumMod val="50000"/>
                      </a:schemeClr>
                    </a:solidFill>
                  </a:rPr>
                  <a:t>还是对</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𝒏</m:t>
                    </m:r>
                  </m:oMath>
                </a14:m>
                <a:r>
                  <a:rPr lang="zh-CN" altLang="en-US" sz="2400" b="1">
                    <a:solidFill>
                      <a:schemeClr val="accent2">
                        <a:lumMod val="50000"/>
                      </a:schemeClr>
                    </a:solidFill>
                  </a:rPr>
                  <a:t>实施数学归纳法？</a:t>
                </a:r>
                <a:endParaRPr lang="zh-CN" altLang="en-US" sz="2400" b="1">
                  <a:solidFill>
                    <a:schemeClr val="accent2">
                      <a:lumMod val="50000"/>
                    </a:schemeClr>
                  </a:solidFill>
                </a:endParaRPr>
              </a:p>
            </p:txBody>
          </p:sp>
        </mc:Choice>
        <mc:Fallback>
          <p:sp>
            <p:nvSpPr>
              <p:cNvPr id="4" name="文本框 3"/>
              <p:cNvSpPr txBox="1">
                <a:spLocks noRot="1" noChangeAspect="1" noMove="1" noResize="1" noEditPoints="1" noAdjustHandles="1" noChangeArrowheads="1" noChangeShapeType="1" noTextEdit="1"/>
              </p:cNvSpPr>
              <p:nvPr/>
            </p:nvSpPr>
            <p:spPr>
              <a:xfrm>
                <a:off x="689691" y="5421038"/>
                <a:ext cx="6238391" cy="461665"/>
              </a:xfrm>
              <a:prstGeom prst="rect">
                <a:avLst/>
              </a:prstGeom>
              <a:blipFill rotWithShape="1">
                <a:blip r:embed="rId3"/>
                <a:stretch>
                  <a:fillRect l="-1" t="-9" r="4" b="14"/>
                </a:stretch>
              </a:blipFill>
            </p:spPr>
            <p:txBody>
              <a:bodyPr/>
              <a:lstStyle/>
              <a:p>
                <a:r>
                  <a:rPr lang="zh-CN" altLang="en-US">
                    <a:noFill/>
                  </a:rPr>
                  <a:t> </a:t>
                </a:r>
              </a:p>
            </p:txBody>
          </p:sp>
        </mc:Fallback>
      </mc:AlternateContent>
      <p:sp>
        <p:nvSpPr>
          <p:cNvPr id="6" name="文本框 5"/>
          <p:cNvSpPr txBox="1"/>
          <p:nvPr/>
        </p:nvSpPr>
        <p:spPr>
          <a:xfrm>
            <a:off x="8229600" y="5421038"/>
            <a:ext cx="3272705" cy="461665"/>
          </a:xfrm>
          <a:prstGeom prst="rect">
            <a:avLst/>
          </a:prstGeom>
          <a:solidFill>
            <a:schemeClr val="accent2">
              <a:lumMod val="20000"/>
              <a:lumOff val="80000"/>
            </a:schemeClr>
          </a:solidFill>
        </p:spPr>
        <p:txBody>
          <a:bodyPr wrap="square" rtlCol="0">
            <a:spAutoFit/>
          </a:bodyPr>
          <a:lstStyle/>
          <a:p>
            <a:r>
              <a:rPr lang="zh-CN" altLang="en-US" sz="2400" b="1">
                <a:solidFill>
                  <a:schemeClr val="accent4">
                    <a:lumMod val="50000"/>
                  </a:schemeClr>
                </a:solidFill>
              </a:rPr>
              <a:t>证明留作课后自行练习</a:t>
            </a:r>
            <a:endParaRPr lang="zh-CN" altLang="en-US" sz="2400" b="1">
              <a:solidFill>
                <a:schemeClr val="accent4">
                  <a:lumMod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传递闭包计算公式的引入</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746137" y="1161854"/>
                <a:ext cx="2938161" cy="400110"/>
              </a:xfrm>
              <a:prstGeom prst="rect">
                <a:avLst/>
              </a:prstGeom>
              <a:solidFill>
                <a:schemeClr val="accent2">
                  <a:lumMod val="20000"/>
                  <a:lumOff val="80000"/>
                </a:schemeClr>
              </a:solidFill>
            </p:spPr>
            <p:txBody>
              <a:bodyPr wrap="square" rtlCol="0">
                <a:spAutoFit/>
              </a:bodyPr>
              <a:lstStyle/>
              <a:p>
                <a:pPr algn="ctr"/>
                <a:r>
                  <a:rPr lang="zh-CN" altLang="en-US" sz="2000" b="1">
                    <a:solidFill>
                      <a:schemeClr val="accent2">
                        <a:lumMod val="50000"/>
                      </a:schemeClr>
                    </a:solidFill>
                  </a:rPr>
                  <a:t>设</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𝑹</m:t>
                    </m:r>
                  </m:oMath>
                </a14:m>
                <a:r>
                  <a:rPr lang="zh-CN" altLang="en-US" sz="2000" b="1">
                    <a:solidFill>
                      <a:schemeClr val="accent2">
                        <a:lumMod val="50000"/>
                      </a:schemeClr>
                    </a:solidFill>
                  </a:rPr>
                  <a:t>是非空集</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r>
                  <a:rPr lang="zh-CN" altLang="en-US" sz="2000" b="1">
                    <a:solidFill>
                      <a:schemeClr val="accent2">
                        <a:lumMod val="50000"/>
                      </a:schemeClr>
                    </a:solidFill>
                  </a:rPr>
                  <a:t>上的关系</a:t>
                </a:r>
                <a:endParaRPr lang="zh-CN" altLang="en-US" sz="2000" b="1">
                  <a:solidFill>
                    <a:schemeClr val="accent2">
                      <a:lumMod val="50000"/>
                    </a:schemeClr>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746137" y="1161854"/>
                <a:ext cx="2938161" cy="400110"/>
              </a:xfrm>
              <a:prstGeom prst="rect">
                <a:avLst/>
              </a:prstGeom>
              <a:blipFill rotWithShape="1">
                <a:blip r:embed="rId1"/>
                <a:stretch>
                  <a:fillRect t="-110" r="1" b="1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2291561" y="1712576"/>
                <a:ext cx="7608876" cy="784830"/>
              </a:xfrm>
              <a:prstGeom prst="rect">
                <a:avLst/>
              </a:prstGeom>
              <a:solidFill>
                <a:schemeClr val="accent2">
                  <a:lumMod val="20000"/>
                  <a:lumOff val="80000"/>
                </a:schemeClr>
              </a:solidFill>
            </p:spPr>
            <p:txBody>
              <a:bodyPr wrap="square" rtlCol="0">
                <a:spAutoFit/>
              </a:bodyPr>
              <a:lstStyle/>
              <a:p>
                <a:pPr algn="ctr">
                  <a:lnSpc>
                    <a:spcPts val="2400"/>
                  </a:lnSpc>
                  <a:spcBef>
                    <a:spcPts val="600"/>
                  </a:spcBef>
                </a:pPr>
                <a14:m>
                  <m:oMath xmlns:m="http://schemas.openxmlformats.org/officeDocument/2006/math">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𝒚</m:t>
                    </m:r>
                  </m:oMath>
                </a14:m>
                <a:r>
                  <a:rPr lang="zh-CN" altLang="en-US" sz="2000" b="1">
                    <a:solidFill>
                      <a:srgbClr val="C00000"/>
                    </a:solidFill>
                  </a:rPr>
                  <a:t>，</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𝒚</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𝒕</m:t>
                    </m:r>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𝑹</m:t>
                        </m:r>
                      </m:e>
                    </m:d>
                  </m:oMath>
                </a14:m>
                <a:r>
                  <a:rPr lang="zh-CN" altLang="en-US" sz="2000" b="1">
                    <a:solidFill>
                      <a:srgbClr val="C00000"/>
                    </a:solidFill>
                  </a:rPr>
                  <a:t>当且仅当</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𝒚</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oMath>
                </a14:m>
                <a:r>
                  <a:rPr lang="zh-CN" altLang="en-US" sz="2000" b="1">
                    <a:solidFill>
                      <a:srgbClr val="C00000"/>
                    </a:solidFill>
                  </a:rPr>
                  <a:t>，或者</a:t>
                </a:r>
                <a:endParaRPr lang="en-US" altLang="zh-CN" sz="2000" b="1">
                  <a:solidFill>
                    <a:srgbClr val="C00000"/>
                  </a:solidFill>
                </a:endParaRPr>
              </a:p>
              <a:p>
                <a:pPr algn="ctr">
                  <a:lnSpc>
                    <a:spcPts val="2400"/>
                  </a:lnSpc>
                  <a:spcBef>
                    <a:spcPts val="600"/>
                  </a:spcBef>
                </a:pPr>
                <a:r>
                  <a:rPr lang="zh-CN" altLang="en-US" sz="2000" b="1">
                    <a:solidFill>
                      <a:srgbClr val="C00000"/>
                    </a:solidFill>
                  </a:rPr>
                  <a:t>存在</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 ⋯,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𝒌</m:t>
                        </m:r>
                      </m:sub>
                    </m:sSub>
                    <m:d>
                      <m:dPr>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𝒌</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𝟏</m:t>
                        </m:r>
                      </m:e>
                    </m:d>
                  </m:oMath>
                </a14:m>
                <a:r>
                  <a:rPr lang="zh-CN" altLang="en-US" sz="2000" b="1">
                    <a:solidFill>
                      <a:srgbClr val="C00000"/>
                    </a:solidFill>
                  </a:rPr>
                  <a:t>使得</a:t>
                </a:r>
                <a14:m>
                  <m:oMath xmlns:m="http://schemas.openxmlformats.org/officeDocument/2006/math">
                    <m:d>
                      <m:dPr>
                        <m:begChr m:val="⟨"/>
                        <m:endChr m:val="⟩"/>
                        <m:ctrlPr>
                          <a:rPr lang="en-US" altLang="zh-CN" sz="2000" b="1" i="1" smtClean="0">
                            <a:solidFill>
                              <a:srgbClr val="C00000"/>
                            </a:solidFill>
                            <a:latin typeface="Cambria Math" panose="02040503050406030204" pitchFamily="18" charset="0"/>
                          </a:rPr>
                        </m:ctrlPr>
                      </m:dPr>
                      <m:e>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𝟏</m:t>
                            </m:r>
                          </m:sub>
                        </m:sSub>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r>
                      <a:rPr lang="zh-CN" altLang="en-US" sz="2000" b="1" i="1" smtClean="0">
                        <a:solidFill>
                          <a:srgbClr val="C00000"/>
                        </a:solidFill>
                        <a:latin typeface="Cambria Math" panose="02040503050406030204" pitchFamily="18" charset="0"/>
                      </a:rPr>
                      <m:t>，</m:t>
                    </m:r>
                    <m:d>
                      <m:dPr>
                        <m:begChr m:val="⟨"/>
                        <m:endChr m:val="⟩"/>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𝟏</m:t>
                            </m:r>
                          </m:sub>
                        </m:sSub>
                        <m:r>
                          <a:rPr lang="en-US" altLang="zh-CN" sz="2000" b="1" i="1" smtClean="0">
                            <a:solidFill>
                              <a:srgbClr val="C00000"/>
                            </a:solidFill>
                            <a:latin typeface="Cambria Math" panose="02040503050406030204" pitchFamily="18" charset="0"/>
                          </a:rPr>
                          <m:t>, </m:t>
                        </m:r>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𝟐</m:t>
                            </m:r>
                          </m:sub>
                        </m:sSub>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r>
                      <a:rPr lang="en-US" altLang="zh-CN" sz="2000" b="1" i="1" smtClean="0">
                        <a:solidFill>
                          <a:srgbClr val="C00000"/>
                        </a:solidFill>
                        <a:latin typeface="Cambria Math" panose="02040503050406030204" pitchFamily="18" charset="0"/>
                      </a:rPr>
                      <m:t>, ⋯, </m:t>
                    </m:r>
                    <m:d>
                      <m:dPr>
                        <m:begChr m:val="⟨"/>
                        <m:endChr m:val="⟩"/>
                        <m:ctrlPr>
                          <a:rPr lang="en-US" altLang="zh-CN" sz="2000" b="1" i="1" smtClean="0">
                            <a:solidFill>
                              <a:srgbClr val="C00000"/>
                            </a:solidFill>
                            <a:latin typeface="Cambria Math" panose="02040503050406030204" pitchFamily="18" charset="0"/>
                          </a:rPr>
                        </m:ctrlPr>
                      </m:dPr>
                      <m:e>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𝒂</m:t>
                            </m:r>
                          </m:e>
                          <m:sub>
                            <m:r>
                              <a:rPr lang="en-US" altLang="zh-CN" sz="2000" b="1" i="1" smtClean="0">
                                <a:solidFill>
                                  <a:srgbClr val="C00000"/>
                                </a:solidFill>
                                <a:latin typeface="Cambria Math" panose="02040503050406030204" pitchFamily="18" charset="0"/>
                              </a:rPr>
                              <m:t>𝒌</m:t>
                            </m:r>
                          </m:sub>
                        </m:sSub>
                        <m:r>
                          <a:rPr lang="en-US" altLang="zh-CN" sz="2000" b="1" i="1" smtClean="0">
                            <a:solidFill>
                              <a:srgbClr val="C00000"/>
                            </a:solidFill>
                            <a:latin typeface="Cambria Math" panose="02040503050406030204" pitchFamily="18" charset="0"/>
                          </a:rPr>
                          <m:t>, </m:t>
                        </m:r>
                        <m:r>
                          <a:rPr lang="en-US" altLang="zh-CN" sz="2000" b="1" i="1" smtClean="0">
                            <a:solidFill>
                              <a:srgbClr val="C00000"/>
                            </a:solidFill>
                            <a:latin typeface="Cambria Math" panose="02040503050406030204" pitchFamily="18" charset="0"/>
                          </a:rPr>
                          <m:t>𝒚</m:t>
                        </m:r>
                      </m:e>
                    </m:d>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𝑹</m:t>
                    </m:r>
                  </m:oMath>
                </a14:m>
                <a:endParaRPr lang="zh-CN" altLang="en-US" sz="2000"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2291561" y="1712576"/>
                <a:ext cx="7608876" cy="784830"/>
              </a:xfrm>
              <a:prstGeom prst="rect">
                <a:avLst/>
              </a:prstGeom>
              <a:blipFill rotWithShape="1">
                <a:blip r:embed="rId2"/>
                <a:stretch>
                  <a:fillRect l="-6" t="-78" r="2" b="-319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7467890" y="1161854"/>
                <a:ext cx="3977973"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下面公式中个体变量的论域都是</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oMath>
                </a14:m>
                <a:endParaRPr lang="zh-CN" altLang="en-US" sz="2000" b="1">
                  <a:solidFill>
                    <a:schemeClr val="accent2">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7467890" y="1161854"/>
                <a:ext cx="3977973" cy="400110"/>
              </a:xfrm>
              <a:prstGeom prst="rect">
                <a:avLst/>
              </a:prstGeom>
              <a:blipFill rotWithShape="1">
                <a:blip r:embed="rId3"/>
                <a:stretch>
                  <a:fillRect l="-7" t="-110" r="16" b="1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730855" y="5055764"/>
                <a:ext cx="4867901" cy="844911"/>
              </a:xfrm>
              <a:prstGeom prst="rect">
                <a:avLst/>
              </a:prstGeom>
              <a:solidFill>
                <a:schemeClr val="accent4">
                  <a:lumMod val="20000"/>
                  <a:lumOff val="80000"/>
                </a:schemeClr>
              </a:solidFill>
            </p:spPr>
            <p:txBody>
              <a:bodyPr wrap="square" rtlCol="0">
                <a:spAutoFit/>
              </a:bodyPr>
              <a:lstStyle/>
              <a:p>
                <a:pPr algn="ctr">
                  <a:spcBef>
                    <a:spcPts val="600"/>
                  </a:spcBef>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oMath>
                </a14:m>
                <a:r>
                  <a:rPr lang="en-US" altLang="zh-CN" sz="2400" b="1">
                    <a:solidFill>
                      <a:schemeClr val="accent2">
                        <a:lumMod val="50000"/>
                      </a:schemeClr>
                    </a:solidFill>
                  </a:rPr>
                  <a:t>, </a:t>
                </a:r>
                <a14:m>
                  <m:oMath xmlns:m="http://schemas.openxmlformats.org/officeDocument/2006/math">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𝒕</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e>
                    </m:d>
                  </m:oMath>
                </a14:m>
                <a:r>
                  <a:rPr lang="en-US" altLang="zh-CN" sz="2400" b="1">
                    <a:solidFill>
                      <a:schemeClr val="accent2">
                        <a:lumMod val="50000"/>
                      </a:schemeClr>
                    </a:solidFill>
                  </a:rPr>
                  <a:t> </a:t>
                </a:r>
                <a:r>
                  <a:rPr lang="zh-CN" altLang="en-US" sz="2400" b="1">
                    <a:solidFill>
                      <a:schemeClr val="accent2">
                        <a:lumMod val="50000"/>
                      </a:schemeClr>
                    </a:solidFill>
                  </a:rPr>
                  <a:t>当且仅当 </a:t>
                </a:r>
                <a14:m>
                  <m:oMath xmlns:m="http://schemas.openxmlformats.org/officeDocument/2006/math">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𝒌</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𝟏</m:t>
                    </m:r>
                  </m:oMath>
                </a14:m>
                <a:r>
                  <a:rPr lang="en-US" altLang="zh-CN" sz="2400" b="1">
                    <a:solidFill>
                      <a:schemeClr val="accent2">
                        <a:lumMod val="50000"/>
                      </a:schemeClr>
                    </a:solidFill>
                  </a:rPr>
                  <a:t>, </a:t>
                </a:r>
                <a14:m>
                  <m:oMath xmlns:m="http://schemas.openxmlformats.org/officeDocument/2006/math">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sSup>
                      <m:sSupPr>
                        <m:ctrlPr>
                          <a:rPr lang="en-US" altLang="zh-CN" sz="2400" b="1" i="1">
                            <a:solidFill>
                              <a:schemeClr val="accent2">
                                <a:lumMod val="50000"/>
                              </a:schemeClr>
                            </a:solidFill>
                            <a:latin typeface="Cambria Math" panose="02040503050406030204" pitchFamily="18" charset="0"/>
                          </a:rPr>
                        </m:ctrlPr>
                      </m:sSupPr>
                      <m:e>
                        <m:r>
                          <a:rPr lang="en-US" altLang="zh-CN" sz="2400" b="1" i="1">
                            <a:solidFill>
                              <a:schemeClr val="accent2">
                                <a:lumMod val="50000"/>
                              </a:schemeClr>
                            </a:solidFill>
                            <a:latin typeface="Cambria Math" panose="02040503050406030204" pitchFamily="18" charset="0"/>
                          </a:rPr>
                          <m:t>𝑹</m:t>
                        </m:r>
                      </m:e>
                      <m:sup>
                        <m:r>
                          <a:rPr lang="en-US" altLang="zh-CN" sz="2400" b="1" i="1">
                            <a:solidFill>
                              <a:schemeClr val="accent2">
                                <a:lumMod val="50000"/>
                              </a:schemeClr>
                            </a:solidFill>
                            <a:latin typeface="Cambria Math" panose="02040503050406030204" pitchFamily="18" charset="0"/>
                          </a:rPr>
                          <m:t>𝒌</m:t>
                        </m:r>
                      </m:sup>
                    </m:sSup>
                  </m:oMath>
                </a14:m>
                <a:endParaRPr lang="zh-CN" altLang="en-US" sz="2400" b="1">
                  <a:solidFill>
                    <a:schemeClr val="accent2">
                      <a:lumMod val="50000"/>
                    </a:schemeClr>
                  </a:solidFill>
                  <a:latin typeface="+mn-ea"/>
                </a:endParaRPr>
              </a:p>
            </p:txBody>
          </p:sp>
        </mc:Choice>
        <mc:Fallback>
          <p:sp>
            <p:nvSpPr>
              <p:cNvPr id="29" name="文本框 28"/>
              <p:cNvSpPr txBox="1">
                <a:spLocks noRot="1" noChangeAspect="1" noMove="1" noResize="1" noEditPoints="1" noAdjustHandles="1" noChangeArrowheads="1" noChangeShapeType="1" noTextEdit="1"/>
              </p:cNvSpPr>
              <p:nvPr/>
            </p:nvSpPr>
            <p:spPr>
              <a:xfrm>
                <a:off x="730855" y="5055764"/>
                <a:ext cx="4867901" cy="844911"/>
              </a:xfrm>
              <a:prstGeom prst="rect">
                <a:avLst/>
              </a:prstGeom>
              <a:blipFill rotWithShape="1">
                <a:blip r:embed="rId4"/>
                <a:stretch>
                  <a:fillRect l="-12" t="-63" r="12" b="30"/>
                </a:stretch>
              </a:blipFill>
            </p:spPr>
            <p:txBody>
              <a:bodyPr/>
              <a:lstStyle/>
              <a:p>
                <a:r>
                  <a:rPr lang="zh-CN" altLang="en-US">
                    <a:noFill/>
                  </a:rPr>
                  <a:t> </a:t>
                </a:r>
              </a:p>
            </p:txBody>
          </p:sp>
        </mc:Fallback>
      </mc:AlternateContent>
      <p:grpSp>
        <p:nvGrpSpPr>
          <p:cNvPr id="13" name="组合 12"/>
          <p:cNvGrpSpPr/>
          <p:nvPr/>
        </p:nvGrpSpPr>
        <p:grpSpPr>
          <a:xfrm>
            <a:off x="1587960" y="2692676"/>
            <a:ext cx="9016074" cy="2098816"/>
            <a:chOff x="822069" y="2697569"/>
            <a:chExt cx="9016074" cy="2098816"/>
          </a:xfrm>
        </p:grpSpPr>
        <p:sp>
          <p:nvSpPr>
            <p:cNvPr id="27" name="矩形: 圆角 26"/>
            <p:cNvSpPr/>
            <p:nvPr/>
          </p:nvSpPr>
          <p:spPr>
            <a:xfrm>
              <a:off x="822069" y="2697569"/>
              <a:ext cx="9016074" cy="2098816"/>
            </a:xfrm>
            <a:prstGeom prst="roundRect">
              <a:avLst>
                <a:gd name="adj" fmla="val 5104"/>
              </a:avLst>
            </a:prstGeom>
            <a:noFill/>
            <a:ln>
              <a:solidFill>
                <a:schemeClr val="accent1">
                  <a:shade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5" name="文本框 14"/>
                <p:cNvSpPr txBox="1"/>
                <p:nvPr/>
              </p:nvSpPr>
              <p:spPr>
                <a:xfrm>
                  <a:off x="917734" y="2842861"/>
                  <a:ext cx="3377274"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oMath>
                    </m:oMathPara>
                  </a14:m>
                  <a:endParaRPr lang="zh-CN" altLang="en-US" sz="2000">
                    <a:solidFill>
                      <a:srgbClr val="002060"/>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917734" y="2842861"/>
                  <a:ext cx="3377274" cy="400110"/>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7722343" y="2844486"/>
                  <a:ext cx="1661938" cy="407099"/>
                </a:xfrm>
                <a:prstGeom prst="rect">
                  <a:avLst/>
                </a:prstGeom>
                <a:solidFill>
                  <a:schemeClr val="accent4">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𝒙</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𝒚</m:t>
                            </m:r>
                          </m:e>
                        </m:d>
                        <m:r>
                          <a:rPr lang="en-US" altLang="zh-CN" sz="2000" b="1" i="1" smtClean="0">
                            <a:latin typeface="Cambria Math" panose="02040503050406030204" pitchFamily="18" charset="0"/>
                          </a:rPr>
                          <m:t>∈</m:t>
                        </m:r>
                        <m:sSup>
                          <m:sSupPr>
                            <m:ctrlPr>
                              <a:rPr lang="en-US" altLang="zh-CN" sz="2000" b="1" i="1" smtClean="0">
                                <a:latin typeface="Cambria Math" panose="02040503050406030204" pitchFamily="18" charset="0"/>
                              </a:rPr>
                            </m:ctrlPr>
                          </m:sSupPr>
                          <m:e>
                            <m:r>
                              <a:rPr lang="en-US" altLang="zh-CN" sz="2000" b="1" i="1" smtClean="0">
                                <a:latin typeface="Cambria Math" panose="02040503050406030204" pitchFamily="18" charset="0"/>
                              </a:rPr>
                              <m:t>𝑹</m:t>
                            </m:r>
                          </m:e>
                          <m:sup>
                            <m:r>
                              <a:rPr lang="en-US" altLang="zh-CN" sz="2000" b="1" i="1" smtClean="0">
                                <a:latin typeface="Cambria Math" panose="02040503050406030204" pitchFamily="18" charset="0"/>
                              </a:rPr>
                              <m:t>𝟐</m:t>
                            </m:r>
                          </m:sup>
                        </m:sSup>
                      </m:oMath>
                    </m:oMathPara>
                  </a14:m>
                  <a:endParaRPr lang="zh-CN" altLang="en-US" sz="2000" b="1">
                    <a:latin typeface="楷体" panose="02010609060101010101" pitchFamily="49" charset="-122"/>
                    <a:ea typeface="楷体" panose="02010609060101010101" pitchFamily="49" charset="-122"/>
                  </a:endParaRPr>
                </a:p>
              </p:txBody>
            </p:sp>
          </mc:Choice>
          <mc:Fallback>
            <p:sp>
              <p:nvSpPr>
                <p:cNvPr id="16" name="文本框 15"/>
                <p:cNvSpPr txBox="1">
                  <a:spLocks noRot="1" noChangeAspect="1" noMove="1" noResize="1" noEditPoints="1" noAdjustHandles="1" noChangeArrowheads="1" noChangeShapeType="1" noTextEdit="1"/>
                </p:cNvSpPr>
                <p:nvPr/>
              </p:nvSpPr>
              <p:spPr>
                <a:xfrm>
                  <a:off x="7722343" y="2844486"/>
                  <a:ext cx="1661938" cy="407099"/>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917734" y="3375976"/>
                  <a:ext cx="5166026"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oMath>
                    </m:oMathPara>
                  </a14:m>
                  <a:endParaRPr lang="zh-CN" altLang="en-US" sz="2000">
                    <a:solidFill>
                      <a:srgbClr val="002060"/>
                    </a:solidFill>
                  </a:endParaRPr>
                </a:p>
              </p:txBody>
            </p:sp>
          </mc:Choice>
          <mc:Fallback>
            <p:sp>
              <p:nvSpPr>
                <p:cNvPr id="18" name="文本框 17"/>
                <p:cNvSpPr txBox="1">
                  <a:spLocks noRot="1" noChangeAspect="1" noMove="1" noResize="1" noEditPoints="1" noAdjustHandles="1" noChangeArrowheads="1" noChangeShapeType="1" noTextEdit="1"/>
                </p:cNvSpPr>
                <p:nvPr/>
              </p:nvSpPr>
              <p:spPr>
                <a:xfrm>
                  <a:off x="917734" y="3375976"/>
                  <a:ext cx="5166026" cy="400110"/>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3333888" y="3839072"/>
                  <a:ext cx="467211"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rPr>
                          <m:t>⋮</m:t>
                        </m:r>
                      </m:oMath>
                    </m:oMathPara>
                  </a14:m>
                  <a:endParaRPr lang="zh-CN" altLang="en-US" sz="2000"/>
                </a:p>
              </p:txBody>
            </p:sp>
          </mc:Choice>
          <mc:Fallback>
            <p:sp>
              <p:nvSpPr>
                <p:cNvPr id="14" name="文本框 13"/>
                <p:cNvSpPr txBox="1">
                  <a:spLocks noRot="1" noChangeAspect="1" noMove="1" noResize="1" noEditPoints="1" noAdjustHandles="1" noChangeArrowheads="1" noChangeShapeType="1" noTextEdit="1"/>
                </p:cNvSpPr>
                <p:nvPr/>
              </p:nvSpPr>
              <p:spPr>
                <a:xfrm>
                  <a:off x="3333888" y="3839072"/>
                  <a:ext cx="467211" cy="400110"/>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8390903" y="3834523"/>
                  <a:ext cx="470423" cy="400110"/>
                </a:xfrm>
                <a:prstGeom prst="rect">
                  <a:avLst/>
                </a:prstGeom>
                <a:solidFill>
                  <a:schemeClr val="accent4">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C00000"/>
                            </a:solidFill>
                            <a:latin typeface="Cambria Math" panose="02040503050406030204" pitchFamily="18" charset="0"/>
                          </a:rPr>
                          <m:t>⋮</m:t>
                        </m:r>
                      </m:oMath>
                    </m:oMathPara>
                  </a14:m>
                  <a:endParaRPr lang="zh-CN" altLang="en-US" sz="2000" b="1">
                    <a:solidFill>
                      <a:srgbClr val="C00000"/>
                    </a:solidFill>
                    <a:latin typeface="楷体" panose="02010609060101010101" pitchFamily="49" charset="-122"/>
                    <a:ea typeface="楷体" panose="02010609060101010101" pitchFamily="49" charset="-122"/>
                  </a:endParaRPr>
                </a:p>
              </p:txBody>
            </p:sp>
          </mc:Choice>
          <mc:Fallback>
            <p:sp>
              <p:nvSpPr>
                <p:cNvPr id="20" name="文本框 19"/>
                <p:cNvSpPr txBox="1">
                  <a:spLocks noRot="1" noChangeAspect="1" noMove="1" noResize="1" noEditPoints="1" noAdjustHandles="1" noChangeArrowheads="1" noChangeShapeType="1" noTextEdit="1"/>
                </p:cNvSpPr>
                <p:nvPr/>
              </p:nvSpPr>
              <p:spPr>
                <a:xfrm>
                  <a:off x="8390903" y="3834523"/>
                  <a:ext cx="470423" cy="400110"/>
                </a:xfrm>
                <a:prstGeom prst="rect">
                  <a:avLst/>
                </a:prstGeom>
                <a:blipFill rotWithShape="1">
                  <a:blip r:embed="rId9"/>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文本框 20"/>
                <p:cNvSpPr txBox="1"/>
                <p:nvPr/>
              </p:nvSpPr>
              <p:spPr>
                <a:xfrm>
                  <a:off x="917733" y="4296911"/>
                  <a:ext cx="6053729" cy="400110"/>
                </a:xfrm>
                <a:prstGeom prst="rect">
                  <a:avLst/>
                </a:prstGeom>
                <a:solidFill>
                  <a:schemeClr val="accent5">
                    <a:lumMod val="20000"/>
                    <a:lumOff val="8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𝒌</m:t>
                            </m:r>
                          </m:sub>
                        </m:sSub>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𝟏</m:t>
                                </m:r>
                              </m:sub>
                            </m:sSub>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𝒂</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d>
                          <m:dPr>
                            <m:begChr m:val="⟨"/>
                            <m:endChr m:val="⟩"/>
                            <m:ctrlPr>
                              <a:rPr lang="en-US" altLang="zh-CN" sz="2000" b="1" i="1">
                                <a:solidFill>
                                  <a:srgbClr val="002060"/>
                                </a:solidFill>
                                <a:latin typeface="Cambria Math" panose="02040503050406030204" pitchFamily="18" charset="0"/>
                              </a:rPr>
                            </m:ctrlPr>
                          </m:dPr>
                          <m:e>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𝒂</m:t>
                                </m:r>
                              </m:e>
                              <m:sub>
                                <m:r>
                                  <a:rPr lang="en-US" altLang="zh-CN" sz="2000" b="1" i="1" smtClean="0">
                                    <a:solidFill>
                                      <a:srgbClr val="002060"/>
                                    </a:solidFill>
                                    <a:latin typeface="Cambria Math" panose="02040503050406030204" pitchFamily="18" charset="0"/>
                                  </a:rPr>
                                  <m:t>𝒌</m:t>
                                </m:r>
                              </m:sub>
                            </m:sSub>
                            <m:r>
                              <a:rPr lang="en-US" altLang="zh-CN" sz="2000" b="1" i="1">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𝑹</m:t>
                        </m:r>
                      </m:oMath>
                    </m:oMathPara>
                  </a14:m>
                  <a:endParaRPr lang="zh-CN" altLang="en-US" sz="2000">
                    <a:solidFill>
                      <a:srgbClr val="002060"/>
                    </a:solidFill>
                  </a:endParaRPr>
                </a:p>
              </p:txBody>
            </p:sp>
          </mc:Choice>
          <mc:Fallback>
            <p:sp>
              <p:nvSpPr>
                <p:cNvPr id="21" name="文本框 20"/>
                <p:cNvSpPr txBox="1">
                  <a:spLocks noRot="1" noChangeAspect="1" noMove="1" noResize="1" noEditPoints="1" noAdjustHandles="1" noChangeArrowheads="1" noChangeShapeType="1" noTextEdit="1"/>
                </p:cNvSpPr>
                <p:nvPr/>
              </p:nvSpPr>
              <p:spPr>
                <a:xfrm>
                  <a:off x="917733" y="4296911"/>
                  <a:ext cx="6053729" cy="400110"/>
                </a:xfrm>
                <a:prstGeom prst="rect">
                  <a:avLst/>
                </a:prstGeom>
                <a:blipFill rotWithShape="1">
                  <a:blip r:embed="rId10"/>
                </a:blipFill>
              </p:spPr>
              <p:txBody>
                <a:bodyPr/>
                <a:lstStyle/>
                <a:p>
                  <a:r>
                    <a:rPr lang="zh-CN" altLang="en-US">
                      <a:noFill/>
                    </a:rPr>
                    <a:t> </a:t>
                  </a:r>
                </a:p>
              </p:txBody>
            </p:sp>
          </mc:Fallback>
        </mc:AlternateContent>
        <p:sp>
          <p:nvSpPr>
            <p:cNvPr id="24" name="箭头: 右 23"/>
            <p:cNvSpPr/>
            <p:nvPr/>
          </p:nvSpPr>
          <p:spPr>
            <a:xfrm>
              <a:off x="4295008" y="3023978"/>
              <a:ext cx="3427334" cy="598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箭头: 右 24"/>
            <p:cNvSpPr/>
            <p:nvPr/>
          </p:nvSpPr>
          <p:spPr>
            <a:xfrm>
              <a:off x="6083759" y="3569357"/>
              <a:ext cx="1638581"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p:cNvSpPr/>
            <p:nvPr/>
          </p:nvSpPr>
          <p:spPr>
            <a:xfrm>
              <a:off x="6971462" y="4485533"/>
              <a:ext cx="75087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31" name="文本框 30"/>
                <p:cNvSpPr txBox="1"/>
                <p:nvPr/>
              </p:nvSpPr>
              <p:spPr>
                <a:xfrm>
                  <a:off x="7722342" y="3368757"/>
                  <a:ext cx="1661938" cy="407099"/>
                </a:xfrm>
                <a:prstGeom prst="rect">
                  <a:avLst/>
                </a:prstGeom>
                <a:solidFill>
                  <a:schemeClr val="accent4">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𝒙</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𝒚</m:t>
                            </m:r>
                          </m:e>
                        </m:d>
                        <m:r>
                          <a:rPr lang="en-US" altLang="zh-CN" sz="2000" b="1" i="1" smtClean="0">
                            <a:latin typeface="Cambria Math" panose="02040503050406030204" pitchFamily="18" charset="0"/>
                          </a:rPr>
                          <m:t>∈</m:t>
                        </m:r>
                        <m:sSup>
                          <m:sSupPr>
                            <m:ctrlPr>
                              <a:rPr lang="en-US" altLang="zh-CN" sz="2000" b="1" i="1" smtClean="0">
                                <a:latin typeface="Cambria Math" panose="02040503050406030204" pitchFamily="18" charset="0"/>
                              </a:rPr>
                            </m:ctrlPr>
                          </m:sSupPr>
                          <m:e>
                            <m:r>
                              <a:rPr lang="en-US" altLang="zh-CN" sz="2000" b="1" i="1" smtClean="0">
                                <a:latin typeface="Cambria Math" panose="02040503050406030204" pitchFamily="18" charset="0"/>
                              </a:rPr>
                              <m:t>𝑹</m:t>
                            </m:r>
                          </m:e>
                          <m:sup>
                            <m:r>
                              <a:rPr lang="en-US" altLang="zh-CN" sz="2000" b="1" i="1" smtClean="0">
                                <a:latin typeface="Cambria Math" panose="02040503050406030204" pitchFamily="18" charset="0"/>
                              </a:rPr>
                              <m:t>𝟑</m:t>
                            </m:r>
                          </m:sup>
                        </m:sSup>
                      </m:oMath>
                    </m:oMathPara>
                  </a14:m>
                  <a:endParaRPr lang="zh-CN" altLang="en-US" sz="2000" b="1">
                    <a:latin typeface="楷体" panose="02010609060101010101" pitchFamily="49" charset="-122"/>
                    <a:ea typeface="楷体" panose="02010609060101010101" pitchFamily="49" charset="-122"/>
                  </a:endParaRPr>
                </a:p>
              </p:txBody>
            </p:sp>
          </mc:Choice>
          <mc:Fallback>
            <p:sp>
              <p:nvSpPr>
                <p:cNvPr id="31" name="文本框 30"/>
                <p:cNvSpPr txBox="1">
                  <a:spLocks noRot="1" noChangeAspect="1" noMove="1" noResize="1" noEditPoints="1" noAdjustHandles="1" noChangeArrowheads="1" noChangeShapeType="1" noTextEdit="1"/>
                </p:cNvSpPr>
                <p:nvPr/>
              </p:nvSpPr>
              <p:spPr>
                <a:xfrm>
                  <a:off x="7722342" y="3368757"/>
                  <a:ext cx="1661938" cy="407099"/>
                </a:xfrm>
                <a:prstGeom prst="rect">
                  <a:avLst/>
                </a:prstGeom>
                <a:blipFill rotWithShape="1">
                  <a:blip r:embed="rId11"/>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文本框 31"/>
                <p:cNvSpPr txBox="1"/>
                <p:nvPr/>
              </p:nvSpPr>
              <p:spPr>
                <a:xfrm>
                  <a:off x="7722341" y="4293957"/>
                  <a:ext cx="1928917" cy="411779"/>
                </a:xfrm>
                <a:prstGeom prst="rect">
                  <a:avLst/>
                </a:prstGeom>
                <a:solidFill>
                  <a:schemeClr val="accent4">
                    <a:lumMod val="20000"/>
                    <a:lumOff val="80000"/>
                    <a:alpha val="50000"/>
                  </a:schemeClr>
                </a:solid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𝒙</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𝒚</m:t>
                            </m:r>
                          </m:e>
                        </m:d>
                        <m:r>
                          <a:rPr lang="en-US" altLang="zh-CN" sz="2000" b="1" i="1" smtClean="0">
                            <a:latin typeface="Cambria Math" panose="02040503050406030204" pitchFamily="18" charset="0"/>
                          </a:rPr>
                          <m:t>∈</m:t>
                        </m:r>
                        <m:sSup>
                          <m:sSupPr>
                            <m:ctrlPr>
                              <a:rPr lang="en-US" altLang="zh-CN" sz="2000" b="1" i="1" smtClean="0">
                                <a:latin typeface="Cambria Math" panose="02040503050406030204" pitchFamily="18" charset="0"/>
                              </a:rPr>
                            </m:ctrlPr>
                          </m:sSupPr>
                          <m:e>
                            <m:r>
                              <a:rPr lang="en-US" altLang="zh-CN" sz="2000" b="1" i="1" smtClean="0">
                                <a:latin typeface="Cambria Math" panose="02040503050406030204" pitchFamily="18" charset="0"/>
                              </a:rPr>
                              <m:t>𝑹</m:t>
                            </m:r>
                          </m:e>
                          <m:sup>
                            <m:r>
                              <a:rPr lang="en-US" altLang="zh-CN" sz="2000" b="1" i="1" smtClean="0">
                                <a:latin typeface="Cambria Math" panose="02040503050406030204" pitchFamily="18" charset="0"/>
                              </a:rPr>
                              <m:t>𝒌</m:t>
                            </m:r>
                            <m:r>
                              <a:rPr lang="en-US" altLang="zh-CN" sz="2000" b="1" i="1" smtClean="0">
                                <a:latin typeface="Cambria Math" panose="02040503050406030204" pitchFamily="18" charset="0"/>
                              </a:rPr>
                              <m:t>+</m:t>
                            </m:r>
                            <m:r>
                              <a:rPr lang="en-US" altLang="zh-CN" sz="2000" b="1" i="1" smtClean="0">
                                <a:latin typeface="Cambria Math" panose="02040503050406030204" pitchFamily="18" charset="0"/>
                              </a:rPr>
                              <m:t>𝟏</m:t>
                            </m:r>
                          </m:sup>
                        </m:sSup>
                      </m:oMath>
                    </m:oMathPara>
                  </a14:m>
                  <a:endParaRPr lang="zh-CN" altLang="en-US" sz="2000" b="1">
                    <a:latin typeface="楷体" panose="02010609060101010101" pitchFamily="49" charset="-122"/>
                    <a:ea typeface="楷体" panose="02010609060101010101" pitchFamily="49" charset="-122"/>
                  </a:endParaRPr>
                </a:p>
              </p:txBody>
            </p:sp>
          </mc:Choice>
          <mc:Fallback>
            <p:sp>
              <p:nvSpPr>
                <p:cNvPr id="32" name="文本框 31"/>
                <p:cNvSpPr txBox="1">
                  <a:spLocks noRot="1" noChangeAspect="1" noMove="1" noResize="1" noEditPoints="1" noAdjustHandles="1" noChangeArrowheads="1" noChangeShapeType="1" noTextEdit="1"/>
                </p:cNvSpPr>
                <p:nvPr/>
              </p:nvSpPr>
              <p:spPr>
                <a:xfrm>
                  <a:off x="7722341" y="4293957"/>
                  <a:ext cx="1928917" cy="411779"/>
                </a:xfrm>
                <a:prstGeom prst="rect">
                  <a:avLst/>
                </a:prstGeom>
                <a:blipFill rotWithShape="1">
                  <a:blip r:embed="rId12"/>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8" name="文本框 27"/>
              <p:cNvSpPr txBox="1"/>
              <p:nvPr/>
            </p:nvSpPr>
            <p:spPr>
              <a:xfrm>
                <a:off x="6593244" y="5055185"/>
                <a:ext cx="4867901" cy="854465"/>
              </a:xfrm>
              <a:prstGeom prst="rect">
                <a:avLst/>
              </a:prstGeom>
              <a:solidFill>
                <a:schemeClr val="accent4">
                  <a:lumMod val="20000"/>
                  <a:lumOff val="80000"/>
                </a:schemeClr>
              </a:solidFill>
            </p:spPr>
            <p:txBody>
              <a:bodyPr wrap="square" rtlCol="0">
                <a:spAutoFit/>
              </a:bodyPr>
              <a:lstStyle/>
              <a:p>
                <a:pPr algn="ctr">
                  <a:spcBef>
                    <a:spcPts val="600"/>
                  </a:spcBef>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oMath>
                </a14:m>
                <a:r>
                  <a:rPr lang="en-US" altLang="zh-CN" sz="2400" b="1">
                    <a:solidFill>
                      <a:schemeClr val="accent2">
                        <a:lumMod val="50000"/>
                      </a:schemeClr>
                    </a:solidFill>
                  </a:rPr>
                  <a:t>, </a:t>
                </a:r>
                <a14:m>
                  <m:oMath xmlns:m="http://schemas.openxmlformats.org/officeDocument/2006/math">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𝒕</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e>
                    </m:d>
                  </m:oMath>
                </a14:m>
                <a:r>
                  <a:rPr lang="en-US" altLang="zh-CN" sz="2400" b="1">
                    <a:solidFill>
                      <a:schemeClr val="accent2">
                        <a:lumMod val="50000"/>
                      </a:schemeClr>
                    </a:solidFill>
                  </a:rPr>
                  <a:t> </a:t>
                </a:r>
                <a:r>
                  <a:rPr lang="zh-CN" altLang="en-US" sz="2400" b="1">
                    <a:solidFill>
                      <a:schemeClr val="accent2">
                        <a:lumMod val="50000"/>
                      </a:schemeClr>
                    </a:solidFill>
                  </a:rPr>
                  <a:t>当且仅当 </a:t>
                </a:r>
                <a14:m>
                  <m:oMath xmlns:m="http://schemas.openxmlformats.org/officeDocument/2006/math">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nary>
                      <m:naryPr>
                        <m:chr m:val="⋃"/>
                        <m:limLoc m:val="subSup"/>
                        <m:ctrlPr>
                          <a:rPr lang="en-US" altLang="zh-CN" sz="2400" b="1" i="1" smtClean="0">
                            <a:solidFill>
                              <a:schemeClr val="accent2">
                                <a:lumMod val="50000"/>
                              </a:schemeClr>
                            </a:solidFill>
                            <a:latin typeface="Cambria Math" panose="02040503050406030204" pitchFamily="18" charset="0"/>
                          </a:rPr>
                        </m:ctrlPr>
                      </m:naryPr>
                      <m:sub>
                        <m:r>
                          <m:rPr>
                            <m:brk m:alnAt="25"/>
                          </m:rPr>
                          <a:rPr lang="en-US" altLang="zh-CN" sz="2400" b="1" i="1" smtClean="0">
                            <a:solidFill>
                              <a:schemeClr val="accent2">
                                <a:lumMod val="50000"/>
                              </a:schemeClr>
                            </a:solidFill>
                            <a:latin typeface="Cambria Math" panose="02040503050406030204" pitchFamily="18" charset="0"/>
                          </a:rPr>
                          <m:t>𝒌</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𝟏</m:t>
                        </m:r>
                      </m:sub>
                      <m:sup>
                        <m:r>
                          <a:rPr lang="en-US" altLang="zh-CN" sz="2400" b="1" i="1" smtClean="0">
                            <a:solidFill>
                              <a:schemeClr val="accent2">
                                <a:lumMod val="50000"/>
                              </a:schemeClr>
                            </a:solidFill>
                            <a:latin typeface="Cambria Math" panose="02040503050406030204" pitchFamily="18" charset="0"/>
                          </a:rPr>
                          <m:t>∞</m:t>
                        </m:r>
                      </m:sup>
                      <m:e>
                        <m:sSup>
                          <m:sSupPr>
                            <m:ctrlPr>
                              <a:rPr lang="en-US" altLang="zh-CN" sz="2400" b="1" i="1" smtClean="0">
                                <a:solidFill>
                                  <a:schemeClr val="accent2">
                                    <a:lumMod val="50000"/>
                                  </a:schemeClr>
                                </a:solidFill>
                                <a:latin typeface="Cambria Math" panose="02040503050406030204" pitchFamily="18" charset="0"/>
                              </a:rPr>
                            </m:ctrlPr>
                          </m:sSupPr>
                          <m:e>
                            <m:r>
                              <a:rPr lang="en-US" altLang="zh-CN" sz="2400" b="1" i="1" smtClean="0">
                                <a:solidFill>
                                  <a:schemeClr val="accent2">
                                    <a:lumMod val="50000"/>
                                  </a:schemeClr>
                                </a:solidFill>
                                <a:latin typeface="Cambria Math" panose="02040503050406030204" pitchFamily="18" charset="0"/>
                              </a:rPr>
                              <m:t>𝑹</m:t>
                            </m:r>
                          </m:e>
                          <m:sup>
                            <m:r>
                              <a:rPr lang="en-US" altLang="zh-CN" sz="2400" b="1" i="1" smtClean="0">
                                <a:solidFill>
                                  <a:schemeClr val="accent2">
                                    <a:lumMod val="50000"/>
                                  </a:schemeClr>
                                </a:solidFill>
                                <a:latin typeface="Cambria Math" panose="02040503050406030204" pitchFamily="18" charset="0"/>
                              </a:rPr>
                              <m:t>𝒌</m:t>
                            </m:r>
                          </m:sup>
                        </m:sSup>
                      </m:e>
                    </m:nary>
                  </m:oMath>
                </a14:m>
                <a:endParaRPr lang="zh-CN" altLang="en-US" sz="2400" b="1">
                  <a:solidFill>
                    <a:schemeClr val="accent2">
                      <a:lumMod val="50000"/>
                    </a:schemeClr>
                  </a:solidFill>
                  <a:latin typeface="+mn-ea"/>
                </a:endParaRPr>
              </a:p>
            </p:txBody>
          </p:sp>
        </mc:Choice>
        <mc:Fallback>
          <p:sp>
            <p:nvSpPr>
              <p:cNvPr id="28" name="文本框 27"/>
              <p:cNvSpPr txBox="1">
                <a:spLocks noRot="1" noChangeAspect="1" noMove="1" noResize="1" noEditPoints="1" noAdjustHandles="1" noChangeArrowheads="1" noChangeShapeType="1" noTextEdit="1"/>
              </p:cNvSpPr>
              <p:nvPr/>
            </p:nvSpPr>
            <p:spPr>
              <a:xfrm>
                <a:off x="6593244" y="5055185"/>
                <a:ext cx="4867901" cy="854465"/>
              </a:xfrm>
              <a:prstGeom prst="rect">
                <a:avLst/>
              </a:prstGeom>
              <a:blipFill rotWithShape="1">
                <a:blip r:embed="rId13"/>
                <a:stretch>
                  <a:fillRect l="-1" t="-68" r="1" b="40"/>
                </a:stretch>
              </a:blipFill>
            </p:spPr>
            <p:txBody>
              <a:bodyPr/>
              <a:lstStyle/>
              <a:p>
                <a:r>
                  <a:rPr lang="zh-CN" altLang="en-US">
                    <a:noFill/>
                  </a:rPr>
                  <a:t> </a:t>
                </a:r>
              </a:p>
            </p:txBody>
          </p:sp>
        </mc:Fallback>
      </mc:AlternateContent>
      <p:sp>
        <p:nvSpPr>
          <p:cNvPr id="3" name="箭头: 右 2"/>
          <p:cNvSpPr/>
          <p:nvPr/>
        </p:nvSpPr>
        <p:spPr>
          <a:xfrm>
            <a:off x="5598757" y="5423381"/>
            <a:ext cx="994487" cy="929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312862" y="5917148"/>
            <a:ext cx="1566273" cy="369332"/>
          </a:xfrm>
          <a:prstGeom prst="rect">
            <a:avLst/>
          </a:prstGeom>
          <a:solidFill>
            <a:schemeClr val="accent2">
              <a:lumMod val="20000"/>
              <a:lumOff val="80000"/>
            </a:schemeClr>
          </a:solidFill>
        </p:spPr>
        <p:txBody>
          <a:bodyPr wrap="square" rtlCol="0">
            <a:spAutoFit/>
          </a:bodyPr>
          <a:lstStyle/>
          <a:p>
            <a:pPr algn="ctr"/>
            <a:r>
              <a:rPr lang="zh-CN" altLang="en-US" b="1">
                <a:solidFill>
                  <a:schemeClr val="accent2">
                    <a:lumMod val="50000"/>
                  </a:schemeClr>
                </a:solidFill>
              </a:rPr>
              <a:t>广义并的定义</a:t>
            </a:r>
            <a:endParaRPr lang="zh-CN" altLang="en-US" b="1">
              <a:solidFill>
                <a:schemeClr val="accent2">
                  <a:lumMod val="50000"/>
                </a:schemeClr>
              </a:solidFill>
            </a:endParaRPr>
          </a:p>
        </p:txBody>
      </p:sp>
      <p:sp>
        <p:nvSpPr>
          <p:cNvPr id="6" name="箭头: 上 5"/>
          <p:cNvSpPr/>
          <p:nvPr/>
        </p:nvSpPr>
        <p:spPr>
          <a:xfrm>
            <a:off x="6073138" y="5516347"/>
            <a:ext cx="45719" cy="40080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传递闭包计算公式的证明思路</a:t>
            </a:r>
            <a:r>
              <a:rPr lang="en-US" altLang="zh-CN"/>
              <a:t>*</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671895" y="1021512"/>
                <a:ext cx="9946337" cy="485133"/>
              </a:xfrm>
              <a:prstGeom prst="rect">
                <a:avLst/>
              </a:prstGeom>
              <a:solidFill>
                <a:schemeClr val="accent5">
                  <a:lumMod val="20000"/>
                  <a:lumOff val="80000"/>
                </a:schemeClr>
              </a:solidFill>
            </p:spPr>
            <p:txBody>
              <a:bodyPr wrap="square" rtlCol="0">
                <a:spAutoFit/>
              </a:bodyPr>
              <a:lstStyle/>
              <a:p>
                <a:pPr algn="ctr"/>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latin typeface="楷体" panose="02010609060101010101" pitchFamily="49" charset="-122"/>
                    <a:ea typeface="楷体" panose="02010609060101010101" pitchFamily="49" charset="-122"/>
                  </a:rPr>
                  <a:t>是非空集</a:t>
                </a:r>
                <a14:m>
                  <m:oMath xmlns:m="http://schemas.openxmlformats.org/officeDocument/2006/math">
                    <m:r>
                      <a:rPr lang="en-US" altLang="zh-CN" sz="2400" b="1" i="1" smtClean="0">
                        <a:solidFill>
                          <a:srgbClr val="002060"/>
                        </a:solidFill>
                        <a:latin typeface="Cambria Math" panose="02040503050406030204" pitchFamily="18" charset="0"/>
                      </a:rPr>
                      <m:t>𝑨</m:t>
                    </m:r>
                  </m:oMath>
                </a14:m>
                <a:r>
                  <a:rPr lang="zh-CN" altLang="en-US" sz="2400" b="1">
                    <a:solidFill>
                      <a:srgbClr val="002060"/>
                    </a:solidFill>
                    <a:latin typeface="楷体" panose="02010609060101010101" pitchFamily="49" charset="-122"/>
                    <a:ea typeface="楷体" panose="02010609060101010101" pitchFamily="49" charset="-122"/>
                  </a:rPr>
                  <a:t>上的关系，</a:t>
                </a:r>
                <a14:m>
                  <m:oMath xmlns:m="http://schemas.openxmlformats.org/officeDocument/2006/math">
                    <m:r>
                      <a:rPr lang="en-US" altLang="zh-CN" sz="2400" b="1" i="1" smtClean="0">
                        <a:solidFill>
                          <a:srgbClr val="C00000"/>
                        </a:solidFill>
                        <a:latin typeface="Cambria Math" panose="02040503050406030204" pitchFamily="18" charset="0"/>
                      </a:rPr>
                      <m:t>𝒕</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𝑹</m:t>
                        </m:r>
                      </m:e>
                    </m:d>
                    <m:r>
                      <a:rPr lang="en-US" altLang="zh-CN" sz="2400" b="1" i="1" smtClean="0">
                        <a:solidFill>
                          <a:srgbClr val="C00000"/>
                        </a:solidFill>
                        <a:latin typeface="Cambria Math" panose="02040503050406030204" pitchFamily="18" charset="0"/>
                      </a:rPr>
                      <m:t>= </m:t>
                    </m:r>
                    <m:nary>
                      <m:naryPr>
                        <m:chr m:val="⋃"/>
                        <m:ctrlPr>
                          <a:rPr lang="en-US" altLang="zh-CN" sz="2400" b="1" i="1" smtClean="0">
                            <a:solidFill>
                              <a:srgbClr val="C00000"/>
                            </a:solidFill>
                            <a:latin typeface="Cambria Math" panose="02040503050406030204" pitchFamily="18" charset="0"/>
                          </a:rPr>
                        </m:ctrlPr>
                      </m:naryPr>
                      <m:sub>
                        <m:r>
                          <a:rPr lang="en-US" altLang="zh-CN" sz="2400" b="1" i="1" smtClean="0">
                            <a:solidFill>
                              <a:srgbClr val="C00000"/>
                            </a:solidFill>
                            <a:latin typeface="Cambria Math" panose="02040503050406030204" pitchFamily="18" charset="0"/>
                          </a:rPr>
                          <m:t>𝒌</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𝟏</m:t>
                        </m:r>
                      </m:sub>
                      <m:sup>
                        <m:r>
                          <a:rPr lang="en-US" altLang="zh-CN" sz="2400" b="1" i="1" smtClean="0">
                            <a:solidFill>
                              <a:srgbClr val="C00000"/>
                            </a:solidFill>
                            <a:latin typeface="Cambria Math" panose="02040503050406030204" pitchFamily="18" charset="0"/>
                          </a:rPr>
                          <m:t>∞</m:t>
                        </m:r>
                      </m:sup>
                      <m:e>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𝑹</m:t>
                            </m:r>
                          </m:e>
                          <m:sup>
                            <m:r>
                              <a:rPr lang="en-US" altLang="zh-CN" sz="2400" b="1" i="1" smtClean="0">
                                <a:solidFill>
                                  <a:srgbClr val="C00000"/>
                                </a:solidFill>
                                <a:latin typeface="Cambria Math" panose="02040503050406030204" pitchFamily="18" charset="0"/>
                              </a:rPr>
                              <m:t>𝒌</m:t>
                            </m:r>
                          </m:sup>
                        </m:sSup>
                      </m:e>
                    </m:nary>
                    <m:r>
                      <a:rPr lang="en-US" altLang="zh-CN" sz="2400" b="1" i="1" smtClean="0">
                        <a:solidFill>
                          <a:srgbClr val="C0000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𝑹</m:t>
                    </m:r>
                    <m:r>
                      <a:rPr lang="en-US" altLang="zh-CN" sz="2400" b="1" i="1" smtClean="0">
                        <a:solidFill>
                          <a:srgbClr val="C00000"/>
                        </a:solidFill>
                        <a:latin typeface="Cambria Math" panose="02040503050406030204" pitchFamily="18" charset="0"/>
                      </a:rPr>
                      <m:t>∪</m:t>
                    </m:r>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𝑹</m:t>
                        </m:r>
                      </m:e>
                      <m:sup>
                        <m:r>
                          <a:rPr lang="en-US" altLang="zh-CN" sz="2400" b="1" i="1" smtClean="0">
                            <a:solidFill>
                              <a:srgbClr val="C00000"/>
                            </a:solidFill>
                            <a:latin typeface="Cambria Math" panose="02040503050406030204" pitchFamily="18" charset="0"/>
                          </a:rPr>
                          <m:t>𝟐</m:t>
                        </m:r>
                      </m:sup>
                    </m:sSup>
                    <m:r>
                      <a:rPr lang="en-US" altLang="zh-CN" sz="2400" b="1" i="1" smtClean="0">
                        <a:solidFill>
                          <a:srgbClr val="C00000"/>
                        </a:solidFill>
                        <a:latin typeface="Cambria Math" panose="02040503050406030204" pitchFamily="18" charset="0"/>
                      </a:rPr>
                      <m:t>∪</m:t>
                    </m:r>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𝑹</m:t>
                        </m:r>
                      </m:e>
                      <m:sup>
                        <m:r>
                          <a:rPr lang="en-US" altLang="zh-CN" sz="2400" b="1" i="1" smtClean="0">
                            <a:solidFill>
                              <a:srgbClr val="C00000"/>
                            </a:solidFill>
                            <a:latin typeface="Cambria Math" panose="02040503050406030204" pitchFamily="18" charset="0"/>
                          </a:rPr>
                          <m:t>𝟑</m:t>
                        </m:r>
                      </m:sup>
                    </m:sSup>
                    <m:r>
                      <a:rPr lang="en-US" altLang="zh-CN" sz="2400" b="1" i="1" smtClean="0">
                        <a:solidFill>
                          <a:srgbClr val="C00000"/>
                        </a:solidFill>
                        <a:latin typeface="Cambria Math" panose="02040503050406030204" pitchFamily="18" charset="0"/>
                      </a:rPr>
                      <m:t>∪⋯∪</m:t>
                    </m:r>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𝑹</m:t>
                        </m:r>
                      </m:e>
                      <m:sup>
                        <m:r>
                          <a:rPr lang="en-US" altLang="zh-CN" sz="2400" b="1" i="1" smtClean="0">
                            <a:solidFill>
                              <a:srgbClr val="C00000"/>
                            </a:solidFill>
                            <a:latin typeface="Cambria Math" panose="02040503050406030204" pitchFamily="18" charset="0"/>
                          </a:rPr>
                          <m:t>𝒌</m:t>
                        </m:r>
                      </m:sup>
                    </m:sSup>
                    <m:r>
                      <a:rPr lang="en-US" altLang="zh-CN" sz="2400" b="1" i="1" smtClean="0">
                        <a:solidFill>
                          <a:srgbClr val="C00000"/>
                        </a:solidFill>
                        <a:latin typeface="Cambria Math" panose="02040503050406030204" pitchFamily="18" charset="0"/>
                      </a:rPr>
                      <m:t>∪⋯</m:t>
                    </m:r>
                  </m:oMath>
                </a14:m>
                <a:endParaRPr lang="zh-CN" altLang="en-US" sz="2400" b="1">
                  <a:solidFill>
                    <a:schemeClr val="accent2">
                      <a:lumMod val="50000"/>
                    </a:schemeClr>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671895" y="1021512"/>
                <a:ext cx="9946337" cy="485133"/>
              </a:xfrm>
              <a:prstGeom prst="rect">
                <a:avLst/>
              </a:prstGeom>
              <a:blipFill rotWithShape="1">
                <a:blip r:embed="rId1"/>
                <a:stretch>
                  <a:fillRect l="-1" t="-89" r="4" b="88"/>
                </a:stretch>
              </a:blipFill>
            </p:spPr>
            <p:txBody>
              <a:bodyPr/>
              <a:lstStyle/>
              <a:p>
                <a:r>
                  <a:rPr lang="zh-CN" altLang="en-US">
                    <a:noFill/>
                  </a:rPr>
                  <a:t> </a:t>
                </a:r>
              </a:p>
            </p:txBody>
          </p:sp>
        </mc:Fallback>
      </mc:AlternateContent>
      <p:grpSp>
        <p:nvGrpSpPr>
          <p:cNvPr id="52" name="组合 51"/>
          <p:cNvGrpSpPr/>
          <p:nvPr/>
        </p:nvGrpSpPr>
        <p:grpSpPr>
          <a:xfrm>
            <a:off x="921075" y="1628566"/>
            <a:ext cx="10558984" cy="4765560"/>
            <a:chOff x="921075" y="1628566"/>
            <a:chExt cx="10558984" cy="4765560"/>
          </a:xfrm>
        </p:grpSpPr>
        <mc:AlternateContent xmlns:mc="http://schemas.openxmlformats.org/markup-compatibility/2006">
          <mc:Choice xmlns:a14="http://schemas.microsoft.com/office/drawing/2010/main" Requires="a14">
            <p:sp>
              <p:nvSpPr>
                <p:cNvPr id="3" name="文本框 2"/>
                <p:cNvSpPr txBox="1"/>
                <p:nvPr/>
              </p:nvSpPr>
              <p:spPr>
                <a:xfrm>
                  <a:off x="4092449" y="1716064"/>
                  <a:ext cx="2311175" cy="429413"/>
                </a:xfrm>
                <a:prstGeom prst="rect">
                  <a:avLst/>
                </a:prstGeom>
                <a:solidFill>
                  <a:schemeClr val="accent2">
                    <a:lumMod val="20000"/>
                    <a:lumOff val="80000"/>
                  </a:schemeClr>
                </a:solidFill>
              </p:spPr>
              <p:txBody>
                <a:bodyPr wrap="square" rtlCol="0">
                  <a:spAutoFit/>
                </a:bodyPr>
                <a:lstStyle/>
                <a:p>
                  <a:pPr algn="ctr">
                    <a:lnSpc>
                      <a:spcPts val="2800"/>
                    </a:lnSpc>
                    <a:spcBef>
                      <a:spcPts val="600"/>
                    </a:spcBef>
                  </a:pPr>
                  <a:r>
                    <a:rPr lang="en-US" altLang="zh-CN" sz="2000" b="1">
                      <a:solidFill>
                        <a:srgbClr val="002060"/>
                      </a:solidFill>
                      <a:latin typeface="+mn-ea"/>
                    </a:rPr>
                    <a:t> </a:t>
                  </a:r>
                  <a14:m>
                    <m:oMath xmlns:m="http://schemas.openxmlformats.org/officeDocument/2006/math">
                      <m:r>
                        <a:rPr lang="en-US" altLang="zh-CN" sz="2000" b="1" i="1" smtClean="0">
                          <a:solidFill>
                            <a:srgbClr val="002060"/>
                          </a:solidFill>
                          <a:latin typeface="Cambria Math" panose="02040503050406030204" pitchFamily="18" charset="0"/>
                        </a:rPr>
                        <m:t>𝒕</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𝑹</m:t>
                          </m:r>
                        </m:e>
                      </m:d>
                      <m:r>
                        <a:rPr lang="en-US" altLang="zh-CN" sz="2000" b="1" i="1" smtClean="0">
                          <a:solidFill>
                            <a:srgbClr val="002060"/>
                          </a:solidFill>
                          <a:latin typeface="Cambria Math" panose="02040503050406030204" pitchFamily="18" charset="0"/>
                        </a:rPr>
                        <m:t>= </m:t>
                      </m:r>
                      <m:nary>
                        <m:naryPr>
                          <m:chr m:val="⋃"/>
                          <m:ctrlPr>
                            <a:rPr lang="en-US" altLang="zh-CN" sz="2000" b="1" i="1" smtClean="0">
                              <a:solidFill>
                                <a:srgbClr val="002060"/>
                              </a:solidFill>
                              <a:latin typeface="Cambria Math" panose="02040503050406030204" pitchFamily="18" charset="0"/>
                            </a:rPr>
                          </m:ctrlPr>
                        </m:naryPr>
                        <m:sub>
                          <m:r>
                            <a:rPr lang="en-US" altLang="zh-CN" sz="2000" b="1" i="1" smtClean="0">
                              <a:solidFill>
                                <a:srgbClr val="002060"/>
                              </a:solidFill>
                              <a:latin typeface="Cambria Math" panose="02040503050406030204" pitchFamily="18" charset="0"/>
                            </a:rPr>
                            <m:t>𝒌</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sub>
                        <m:sup>
                          <m:r>
                            <a:rPr lang="en-US" altLang="zh-CN" sz="2000" b="1" i="1" smtClean="0">
                              <a:solidFill>
                                <a:srgbClr val="002060"/>
                              </a:solidFill>
                              <a:latin typeface="Cambria Math" panose="02040503050406030204" pitchFamily="18" charset="0"/>
                            </a:rPr>
                            <m:t>∞</m:t>
                          </m:r>
                        </m:sup>
                        <m:e>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𝒌</m:t>
                              </m:r>
                            </m:sup>
                          </m:sSup>
                        </m:e>
                      </m:nary>
                    </m:oMath>
                  </a14:m>
                  <a:endParaRPr lang="zh-CN" altLang="en-US" sz="2000" b="1">
                    <a:solidFill>
                      <a:srgbClr val="002060"/>
                    </a:solidFill>
                    <a:latin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4092449" y="1716064"/>
                  <a:ext cx="2311175" cy="429413"/>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1008852" y="2616411"/>
                  <a:ext cx="1763791" cy="429413"/>
                </a:xfrm>
                <a:prstGeom prst="rect">
                  <a:avLst/>
                </a:prstGeom>
                <a:solidFill>
                  <a:schemeClr val="accent6">
                    <a:lumMod val="20000"/>
                    <a:lumOff val="80000"/>
                  </a:schemeClr>
                </a:solidFill>
              </p:spPr>
              <p:txBody>
                <a:bodyPr wrap="square" rtlCol="0">
                  <a:spAutoFit/>
                </a:bodyPr>
                <a:lstStyle/>
                <a:p>
                  <a:pPr algn="ctr">
                    <a:lnSpc>
                      <a:spcPts val="2800"/>
                    </a:lnSpc>
                    <a:spcBef>
                      <a:spcPts val="600"/>
                    </a:spcBef>
                  </a:pPr>
                  <a:r>
                    <a:rPr lang="en-US" altLang="zh-CN" sz="2000" b="1">
                      <a:solidFill>
                        <a:srgbClr val="002060"/>
                      </a:solidFill>
                      <a:latin typeface="+mn-ea"/>
                    </a:rPr>
                    <a:t> </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nary>
                        <m:naryPr>
                          <m:chr m:val="⋃"/>
                          <m:ctrlPr>
                            <a:rPr lang="en-US" altLang="zh-CN" sz="2000" b="1" i="1">
                              <a:solidFill>
                                <a:srgbClr val="002060"/>
                              </a:solidFill>
                              <a:latin typeface="Cambria Math" panose="02040503050406030204" pitchFamily="18" charset="0"/>
                            </a:rPr>
                          </m:ctrlPr>
                        </m:naryPr>
                        <m:sub>
                          <m:r>
                            <a:rPr lang="en-US" altLang="zh-CN" sz="2000" b="1" i="1">
                              <a:solidFill>
                                <a:srgbClr val="002060"/>
                              </a:solidFill>
                              <a:latin typeface="Cambria Math" panose="02040503050406030204" pitchFamily="18" charset="0"/>
                            </a:rPr>
                            <m:t>𝒌</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sub>
                        <m:sup>
                          <m:r>
                            <a:rPr lang="en-US" altLang="zh-CN" sz="2000" b="1" i="1">
                              <a:solidFill>
                                <a:srgbClr val="002060"/>
                              </a:solidFill>
                              <a:latin typeface="Cambria Math" panose="02040503050406030204" pitchFamily="18" charset="0"/>
                            </a:rPr>
                            <m:t>∞</m:t>
                          </m:r>
                        </m:sup>
                        <m:e>
                          <m:sSup>
                            <m:sSupPr>
                              <m:ctrlPr>
                                <a:rPr lang="en-US" altLang="zh-CN" sz="2000" b="1" i="1">
                                  <a:solidFill>
                                    <a:srgbClr val="002060"/>
                                  </a:solidFill>
                                  <a:latin typeface="Cambria Math" panose="02040503050406030204" pitchFamily="18" charset="0"/>
                                </a:rPr>
                              </m:ctrlPr>
                            </m:sSupPr>
                            <m:e>
                              <m:r>
                                <a:rPr lang="en-US" altLang="zh-CN" sz="2000" b="1" i="1">
                                  <a:solidFill>
                                    <a:srgbClr val="002060"/>
                                  </a:solidFill>
                                  <a:latin typeface="Cambria Math" panose="02040503050406030204" pitchFamily="18" charset="0"/>
                                </a:rPr>
                                <m:t>𝑹</m:t>
                              </m:r>
                            </m:e>
                            <m:sup>
                              <m:r>
                                <a:rPr lang="en-US" altLang="zh-CN" sz="2000" b="1" i="1">
                                  <a:solidFill>
                                    <a:srgbClr val="002060"/>
                                  </a:solidFill>
                                  <a:latin typeface="Cambria Math" panose="02040503050406030204" pitchFamily="18" charset="0"/>
                                </a:rPr>
                                <m:t>𝒌</m:t>
                              </m:r>
                            </m:sup>
                          </m:sSup>
                        </m:e>
                      </m:nary>
                    </m:oMath>
                  </a14:m>
                  <a:endParaRPr lang="zh-CN" altLang="en-US" sz="2000" b="1">
                    <a:solidFill>
                      <a:srgbClr val="002060"/>
                    </a:solidFill>
                    <a:latin typeface="+mn-ea"/>
                  </a:endParaRPr>
                </a:p>
              </p:txBody>
            </p:sp>
          </mc:Choice>
          <mc:Fallback>
            <p:sp>
              <p:nvSpPr>
                <p:cNvPr id="4" name="文本框 3"/>
                <p:cNvSpPr txBox="1">
                  <a:spLocks noRot="1" noChangeAspect="1" noMove="1" noResize="1" noEditPoints="1" noAdjustHandles="1" noChangeArrowheads="1" noChangeShapeType="1" noTextEdit="1"/>
                </p:cNvSpPr>
                <p:nvPr/>
              </p:nvSpPr>
              <p:spPr>
                <a:xfrm>
                  <a:off x="1008852" y="2616411"/>
                  <a:ext cx="1763791" cy="429413"/>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4007976" y="2623086"/>
                  <a:ext cx="2480120" cy="429413"/>
                </a:xfrm>
                <a:prstGeom prst="rect">
                  <a:avLst/>
                </a:prstGeom>
                <a:solidFill>
                  <a:schemeClr val="accent2">
                    <a:lumMod val="20000"/>
                    <a:lumOff val="80000"/>
                  </a:schemeClr>
                </a:solidFill>
              </p:spPr>
              <p:txBody>
                <a:bodyPr wrap="square" rtlCol="0">
                  <a:spAutoFit/>
                </a:bodyPr>
                <a:lstStyle/>
                <a:p>
                  <a:pPr>
                    <a:lnSpc>
                      <a:spcPts val="2800"/>
                    </a:lnSpc>
                    <a:spcBef>
                      <a:spcPts val="600"/>
                    </a:spcBef>
                  </a:pPr>
                  <a14:m>
                    <m:oMath xmlns:m="http://schemas.openxmlformats.org/officeDocument/2006/math">
                      <m:nary>
                        <m:naryPr>
                          <m:chr m:val="⋃"/>
                          <m:ctrlPr>
                            <a:rPr lang="en-US" altLang="zh-CN" sz="2000" b="1" i="1" smtClean="0">
                              <a:solidFill>
                                <a:srgbClr val="002060"/>
                              </a:solidFill>
                              <a:latin typeface="Cambria Math" panose="02040503050406030204" pitchFamily="18" charset="0"/>
                            </a:rPr>
                          </m:ctrlPr>
                        </m:naryPr>
                        <m:sub>
                          <m:r>
                            <a:rPr lang="en-US" altLang="zh-CN" sz="2000" b="1" i="1">
                              <a:solidFill>
                                <a:srgbClr val="002060"/>
                              </a:solidFill>
                              <a:latin typeface="Cambria Math" panose="02040503050406030204" pitchFamily="18" charset="0"/>
                            </a:rPr>
                            <m:t>𝒌</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sub>
                        <m:sup>
                          <m:r>
                            <a:rPr lang="en-US" altLang="zh-CN" sz="2000" b="1" i="1">
                              <a:solidFill>
                                <a:srgbClr val="002060"/>
                              </a:solidFill>
                              <a:latin typeface="Cambria Math" panose="02040503050406030204" pitchFamily="18" charset="0"/>
                            </a:rPr>
                            <m:t>∞</m:t>
                          </m:r>
                        </m:sup>
                        <m:e>
                          <m:sSup>
                            <m:sSupPr>
                              <m:ctrlPr>
                                <a:rPr lang="en-US" altLang="zh-CN" sz="2000" b="1" i="1">
                                  <a:solidFill>
                                    <a:srgbClr val="002060"/>
                                  </a:solidFill>
                                  <a:latin typeface="Cambria Math" panose="02040503050406030204" pitchFamily="18" charset="0"/>
                                </a:rPr>
                              </m:ctrlPr>
                            </m:sSupPr>
                            <m:e>
                              <m:r>
                                <a:rPr lang="en-US" altLang="zh-CN" sz="2000" b="1" i="1">
                                  <a:solidFill>
                                    <a:srgbClr val="002060"/>
                                  </a:solidFill>
                                  <a:latin typeface="Cambria Math" panose="02040503050406030204" pitchFamily="18" charset="0"/>
                                </a:rPr>
                                <m:t>𝑹</m:t>
                              </m:r>
                            </m:e>
                            <m:sup>
                              <m:r>
                                <a:rPr lang="en-US" altLang="zh-CN" sz="2000" b="1" i="1">
                                  <a:solidFill>
                                    <a:srgbClr val="002060"/>
                                  </a:solidFill>
                                  <a:latin typeface="Cambria Math" panose="02040503050406030204" pitchFamily="18" charset="0"/>
                                </a:rPr>
                                <m:t>𝒌</m:t>
                              </m:r>
                            </m:sup>
                          </m:sSup>
                        </m:e>
                      </m:nary>
                    </m:oMath>
                  </a14:m>
                  <a:r>
                    <a:rPr lang="zh-CN" altLang="en-US" sz="2000" b="1">
                      <a:solidFill>
                        <a:srgbClr val="002060"/>
                      </a:solidFill>
                      <a:latin typeface="+mn-ea"/>
                    </a:rPr>
                    <a:t>是传递关系</a:t>
                  </a:r>
                  <a:endParaRPr lang="zh-CN" altLang="en-US" sz="2000" b="1">
                    <a:solidFill>
                      <a:srgbClr val="002060"/>
                    </a:solidFill>
                    <a:latin typeface="+mn-ea"/>
                  </a:endParaRPr>
                </a:p>
              </p:txBody>
            </p:sp>
          </mc:Choice>
          <mc:Fallback>
            <p:sp>
              <p:nvSpPr>
                <p:cNvPr id="13" name="文本框 12"/>
                <p:cNvSpPr txBox="1">
                  <a:spLocks noRot="1" noChangeAspect="1" noMove="1" noResize="1" noEditPoints="1" noAdjustHandles="1" noChangeArrowheads="1" noChangeShapeType="1" noTextEdit="1"/>
                </p:cNvSpPr>
                <p:nvPr/>
              </p:nvSpPr>
              <p:spPr>
                <a:xfrm>
                  <a:off x="4007976" y="2623086"/>
                  <a:ext cx="2480120" cy="429413"/>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文本框 14"/>
                <p:cNvSpPr txBox="1"/>
                <p:nvPr/>
              </p:nvSpPr>
              <p:spPr>
                <a:xfrm>
                  <a:off x="8435227" y="2436874"/>
                  <a:ext cx="2689613" cy="788486"/>
                </a:xfrm>
                <a:prstGeom prst="rect">
                  <a:avLst/>
                </a:prstGeom>
                <a:solidFill>
                  <a:schemeClr val="accent2">
                    <a:lumMod val="20000"/>
                    <a:lumOff val="80000"/>
                  </a:schemeClr>
                </a:solidFill>
              </p:spPr>
              <p:txBody>
                <a:bodyPr wrap="square" rtlCol="0">
                  <a:spAutoFit/>
                </a:bodyPr>
                <a:lstStyle/>
                <a:p>
                  <a:pPr algn="ctr">
                    <a:lnSpc>
                      <a:spcPts val="2800"/>
                    </a:lnSpc>
                    <a:spcBef>
                      <a:spcPts val="600"/>
                    </a:spcBef>
                  </a:pPr>
                  <a:r>
                    <a:rPr lang="zh-CN" altLang="en-US" sz="2000" b="1">
                      <a:solidFill>
                        <a:srgbClr val="002060"/>
                      </a:solidFill>
                      <a:latin typeface="+mn-ea"/>
                    </a:rPr>
                    <a:t>对包含</a:t>
                  </a:r>
                  <a14:m>
                    <m:oMath xmlns:m="http://schemas.openxmlformats.org/officeDocument/2006/math">
                      <m:r>
                        <a:rPr lang="en-US" altLang="zh-CN" sz="2000" b="1" i="1" smtClean="0">
                          <a:solidFill>
                            <a:srgbClr val="002060"/>
                          </a:solidFill>
                          <a:latin typeface="Cambria Math" panose="02040503050406030204" pitchFamily="18" charset="0"/>
                        </a:rPr>
                        <m:t>𝑹</m:t>
                      </m:r>
                    </m:oMath>
                  </a14:m>
                  <a:r>
                    <a:rPr lang="zh-CN" altLang="en-US" sz="2000" b="1">
                      <a:solidFill>
                        <a:srgbClr val="002060"/>
                      </a:solidFill>
                      <a:latin typeface="+mn-ea"/>
                    </a:rPr>
                    <a:t>的任意传递关系</a:t>
                  </a:r>
                  <a14:m>
                    <m:oMath xmlns:m="http://schemas.openxmlformats.org/officeDocument/2006/math">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mn-ea"/>
                    </a:rPr>
                    <a:t>，有</a:t>
                  </a:r>
                  <a14:m>
                    <m:oMath xmlns:m="http://schemas.openxmlformats.org/officeDocument/2006/math">
                      <m:nary>
                        <m:naryPr>
                          <m:chr m:val="⋃"/>
                          <m:ctrlPr>
                            <a:rPr lang="en-US" altLang="zh-CN" sz="2000" b="1" i="1">
                              <a:solidFill>
                                <a:srgbClr val="002060"/>
                              </a:solidFill>
                              <a:latin typeface="Cambria Math" panose="02040503050406030204" pitchFamily="18" charset="0"/>
                            </a:rPr>
                          </m:ctrlPr>
                        </m:naryPr>
                        <m:sub>
                          <m:r>
                            <a:rPr lang="en-US" altLang="zh-CN" sz="2000" b="1" i="1">
                              <a:solidFill>
                                <a:srgbClr val="002060"/>
                              </a:solidFill>
                              <a:latin typeface="Cambria Math" panose="02040503050406030204" pitchFamily="18" charset="0"/>
                            </a:rPr>
                            <m:t>𝒌</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sub>
                        <m:sup>
                          <m:r>
                            <a:rPr lang="en-US" altLang="zh-CN" sz="2000" b="1" i="1">
                              <a:solidFill>
                                <a:srgbClr val="002060"/>
                              </a:solidFill>
                              <a:latin typeface="Cambria Math" panose="02040503050406030204" pitchFamily="18" charset="0"/>
                            </a:rPr>
                            <m:t>∞</m:t>
                          </m:r>
                        </m:sup>
                        <m:e>
                          <m:sSup>
                            <m:sSupPr>
                              <m:ctrlPr>
                                <a:rPr lang="en-US" altLang="zh-CN" sz="2000" b="1" i="1">
                                  <a:solidFill>
                                    <a:srgbClr val="002060"/>
                                  </a:solidFill>
                                  <a:latin typeface="Cambria Math" panose="02040503050406030204" pitchFamily="18" charset="0"/>
                                </a:rPr>
                              </m:ctrlPr>
                            </m:sSupPr>
                            <m:e>
                              <m:r>
                                <a:rPr lang="en-US" altLang="zh-CN" sz="2000" b="1" i="1">
                                  <a:solidFill>
                                    <a:srgbClr val="002060"/>
                                  </a:solidFill>
                                  <a:latin typeface="Cambria Math" panose="02040503050406030204" pitchFamily="18" charset="0"/>
                                </a:rPr>
                                <m:t>𝑹</m:t>
                              </m:r>
                            </m:e>
                            <m:sup>
                              <m:r>
                                <a:rPr lang="en-US" altLang="zh-CN" sz="2000" b="1" i="1">
                                  <a:solidFill>
                                    <a:srgbClr val="002060"/>
                                  </a:solidFill>
                                  <a:latin typeface="Cambria Math" panose="02040503050406030204" pitchFamily="18" charset="0"/>
                                </a:rPr>
                                <m:t>𝒌</m:t>
                              </m:r>
                            </m:sup>
                          </m:sSup>
                        </m:e>
                      </m:nary>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oMath>
                  </a14:m>
                  <a:endParaRPr lang="zh-CN" altLang="en-US" sz="2000" b="1">
                    <a:solidFill>
                      <a:srgbClr val="002060"/>
                    </a:solidFill>
                    <a:latin typeface="+mn-ea"/>
                  </a:endParaRPr>
                </a:p>
              </p:txBody>
            </p:sp>
          </mc:Choice>
          <mc:Fallback>
            <p:sp>
              <p:nvSpPr>
                <p:cNvPr id="15" name="文本框 14"/>
                <p:cNvSpPr txBox="1">
                  <a:spLocks noRot="1" noChangeAspect="1" noMove="1" noResize="1" noEditPoints="1" noAdjustHandles="1" noChangeArrowheads="1" noChangeShapeType="1" noTextEdit="1"/>
                </p:cNvSpPr>
                <p:nvPr/>
              </p:nvSpPr>
              <p:spPr>
                <a:xfrm>
                  <a:off x="8435227" y="2436874"/>
                  <a:ext cx="2689613" cy="788486"/>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p:cNvSpPr txBox="1"/>
                <p:nvPr/>
              </p:nvSpPr>
              <p:spPr>
                <a:xfrm>
                  <a:off x="3179533" y="3578662"/>
                  <a:ext cx="4137005" cy="1147558"/>
                </a:xfrm>
                <a:prstGeom prst="rect">
                  <a:avLst/>
                </a:prstGeom>
                <a:solidFill>
                  <a:schemeClr val="accent2">
                    <a:lumMod val="20000"/>
                    <a:lumOff val="80000"/>
                  </a:schemeClr>
                </a:solidFill>
              </p:spPr>
              <p:txBody>
                <a:bodyPr wrap="square" rtlCol="0">
                  <a:spAutoFit/>
                </a:bodyPr>
                <a:lstStyle/>
                <a:p>
                  <a:pPr algn="ctr">
                    <a:lnSpc>
                      <a:spcPts val="2800"/>
                    </a:lnSpc>
                  </a:pPr>
                  <a:r>
                    <a:rPr lang="en-US" altLang="zh-CN" sz="2000" b="1">
                      <a:solidFill>
                        <a:srgbClr val="002060"/>
                      </a:solidFill>
                      <a:latin typeface="+mn-ea"/>
                    </a:rPr>
                    <a:t> </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𝒛</m:t>
                      </m:r>
                      <m:r>
                        <a:rPr lang="en-US" altLang="zh-CN" sz="2000" b="1" i="1" smtClean="0">
                          <a:solidFill>
                            <a:srgbClr val="002060"/>
                          </a:solidFill>
                          <a:latin typeface="Cambria Math" panose="02040503050406030204" pitchFamily="18" charset="0"/>
                        </a:rPr>
                        <m:t>, </m:t>
                      </m:r>
                    </m:oMath>
                  </a14:m>
                  <a:endParaRPr lang="en-US" altLang="zh-CN" sz="2000" b="1" i="1">
                    <a:solidFill>
                      <a:srgbClr val="002060"/>
                    </a:solidFill>
                    <a:latin typeface="+mn-ea"/>
                  </a:endParaRPr>
                </a:p>
                <a:p>
                  <a:pPr algn="ctr">
                    <a:lnSpc>
                      <a:spcPts val="2800"/>
                    </a:lnSpc>
                  </a:pPr>
                  <a:r>
                    <a:rPr lang="en-US" altLang="zh-CN" sz="2000" b="1">
                      <a:solidFill>
                        <a:srgbClr val="002060"/>
                      </a:solidFill>
                      <a:latin typeface="+mn-ea"/>
                    </a:rPr>
                    <a:t> </a:t>
                  </a:r>
                  <a14:m>
                    <m:oMath xmlns:m="http://schemas.openxmlformats.org/officeDocument/2006/math">
                      <m:d>
                        <m:dPr>
                          <m:begChr m:val="⟨"/>
                          <m:endChr m:val="⟩"/>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r>
                        <a:rPr lang="en-US" altLang="zh-CN" sz="2000" b="1" i="1" smtClean="0">
                          <a:solidFill>
                            <a:srgbClr val="002060"/>
                          </a:solidFill>
                          <a:latin typeface="Cambria Math" panose="02040503050406030204" pitchFamily="18" charset="0"/>
                        </a:rPr>
                        <m:t>∈</m:t>
                      </m:r>
                      <m:nary>
                        <m:naryPr>
                          <m:chr m:val="⋃"/>
                          <m:ctrlPr>
                            <a:rPr lang="en-US" altLang="zh-CN" sz="2000" b="1" i="1">
                              <a:solidFill>
                                <a:srgbClr val="002060"/>
                              </a:solidFill>
                              <a:latin typeface="Cambria Math" panose="02040503050406030204" pitchFamily="18" charset="0"/>
                            </a:rPr>
                          </m:ctrlPr>
                        </m:naryPr>
                        <m:sub>
                          <m:r>
                            <a:rPr lang="en-US" altLang="zh-CN" sz="2000" b="1" i="1">
                              <a:solidFill>
                                <a:srgbClr val="002060"/>
                              </a:solidFill>
                              <a:latin typeface="Cambria Math" panose="02040503050406030204" pitchFamily="18" charset="0"/>
                            </a:rPr>
                            <m:t>𝒌</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sub>
                        <m:sup>
                          <m:r>
                            <a:rPr lang="en-US" altLang="zh-CN" sz="2000" b="1" i="1">
                              <a:solidFill>
                                <a:srgbClr val="002060"/>
                              </a:solidFill>
                              <a:latin typeface="Cambria Math" panose="02040503050406030204" pitchFamily="18" charset="0"/>
                            </a:rPr>
                            <m:t>∞</m:t>
                          </m:r>
                        </m:sup>
                        <m:e>
                          <m:sSup>
                            <m:sSupPr>
                              <m:ctrlPr>
                                <a:rPr lang="en-US" altLang="zh-CN" sz="2000" b="1" i="1">
                                  <a:solidFill>
                                    <a:srgbClr val="002060"/>
                                  </a:solidFill>
                                  <a:latin typeface="Cambria Math" panose="02040503050406030204" pitchFamily="18" charset="0"/>
                                </a:rPr>
                              </m:ctrlPr>
                            </m:sSupPr>
                            <m:e>
                              <m:r>
                                <a:rPr lang="en-US" altLang="zh-CN" sz="2000" b="1" i="1">
                                  <a:solidFill>
                                    <a:srgbClr val="002060"/>
                                  </a:solidFill>
                                  <a:latin typeface="Cambria Math" panose="02040503050406030204" pitchFamily="18" charset="0"/>
                                </a:rPr>
                                <m:t>𝑹</m:t>
                              </m:r>
                            </m:e>
                            <m:sup>
                              <m:r>
                                <a:rPr lang="en-US" altLang="zh-CN" sz="2000" b="1" i="1">
                                  <a:solidFill>
                                    <a:srgbClr val="002060"/>
                                  </a:solidFill>
                                  <a:latin typeface="Cambria Math" panose="02040503050406030204" pitchFamily="18" charset="0"/>
                                </a:rPr>
                                <m:t>𝒌</m:t>
                              </m:r>
                            </m:sup>
                          </m:sSup>
                        </m:e>
                      </m:nary>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𝒛</m:t>
                          </m:r>
                        </m:e>
                      </m:d>
                      <m:r>
                        <a:rPr lang="en-US" altLang="zh-CN" sz="2000" b="1" i="1" smtClean="0">
                          <a:solidFill>
                            <a:srgbClr val="002060"/>
                          </a:solidFill>
                          <a:latin typeface="Cambria Math" panose="02040503050406030204" pitchFamily="18" charset="0"/>
                        </a:rPr>
                        <m:t>∈</m:t>
                      </m:r>
                      <m:nary>
                        <m:naryPr>
                          <m:chr m:val="⋃"/>
                          <m:ctrlPr>
                            <a:rPr lang="en-US" altLang="zh-CN" sz="2000" b="1" i="1">
                              <a:solidFill>
                                <a:srgbClr val="002060"/>
                              </a:solidFill>
                              <a:latin typeface="Cambria Math" panose="02040503050406030204" pitchFamily="18" charset="0"/>
                            </a:rPr>
                          </m:ctrlPr>
                        </m:naryPr>
                        <m:sub>
                          <m:r>
                            <a:rPr lang="en-US" altLang="zh-CN" sz="2000" b="1" i="1">
                              <a:solidFill>
                                <a:srgbClr val="002060"/>
                              </a:solidFill>
                              <a:latin typeface="Cambria Math" panose="02040503050406030204" pitchFamily="18" charset="0"/>
                            </a:rPr>
                            <m:t>𝒌</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sub>
                        <m:sup>
                          <m:r>
                            <a:rPr lang="en-US" altLang="zh-CN" sz="2000" b="1" i="1">
                              <a:solidFill>
                                <a:srgbClr val="002060"/>
                              </a:solidFill>
                              <a:latin typeface="Cambria Math" panose="02040503050406030204" pitchFamily="18" charset="0"/>
                            </a:rPr>
                            <m:t>∞</m:t>
                          </m:r>
                        </m:sup>
                        <m:e>
                          <m:sSup>
                            <m:sSupPr>
                              <m:ctrlPr>
                                <a:rPr lang="en-US" altLang="zh-CN" sz="2000" b="1" i="1">
                                  <a:solidFill>
                                    <a:srgbClr val="002060"/>
                                  </a:solidFill>
                                  <a:latin typeface="Cambria Math" panose="02040503050406030204" pitchFamily="18" charset="0"/>
                                </a:rPr>
                              </m:ctrlPr>
                            </m:sSupPr>
                            <m:e>
                              <m:r>
                                <a:rPr lang="en-US" altLang="zh-CN" sz="2000" b="1" i="1">
                                  <a:solidFill>
                                    <a:srgbClr val="002060"/>
                                  </a:solidFill>
                                  <a:latin typeface="Cambria Math" panose="02040503050406030204" pitchFamily="18" charset="0"/>
                                </a:rPr>
                                <m:t>𝑹</m:t>
                              </m:r>
                            </m:e>
                            <m:sup>
                              <m:r>
                                <a:rPr lang="en-US" altLang="zh-CN" sz="2000" b="1" i="1">
                                  <a:solidFill>
                                    <a:srgbClr val="002060"/>
                                  </a:solidFill>
                                  <a:latin typeface="Cambria Math" panose="02040503050406030204" pitchFamily="18" charset="0"/>
                                </a:rPr>
                                <m:t>𝒌</m:t>
                              </m:r>
                            </m:sup>
                          </m:sSup>
                        </m:e>
                      </m:nary>
                    </m:oMath>
                  </a14:m>
                  <a:endParaRPr lang="en-US" altLang="zh-CN" sz="2000" b="1" i="1">
                    <a:solidFill>
                      <a:srgbClr val="002060"/>
                    </a:solidFill>
                    <a:latin typeface="+mn-ea"/>
                  </a:endParaRPr>
                </a:p>
                <a:p>
                  <a:pPr algn="ctr">
                    <a:lnSpc>
                      <a:spcPts val="2800"/>
                    </a:lnSpc>
                  </a:pPr>
                  <a:r>
                    <a:rPr lang="en-US" altLang="zh-CN" sz="2000" b="1">
                      <a:solidFill>
                        <a:srgbClr val="002060"/>
                      </a:solidFill>
                      <a:latin typeface="+mn-ea"/>
                    </a:rPr>
                    <a:t> </a:t>
                  </a:r>
                  <a14:m>
                    <m:oMath xmlns:m="http://schemas.openxmlformats.org/officeDocument/2006/math">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𝒛</m:t>
                          </m:r>
                        </m:e>
                      </m:d>
                      <m:r>
                        <a:rPr lang="en-US" altLang="zh-CN" sz="2000" b="1" i="1" smtClean="0">
                          <a:solidFill>
                            <a:srgbClr val="002060"/>
                          </a:solidFill>
                          <a:latin typeface="Cambria Math" panose="02040503050406030204" pitchFamily="18" charset="0"/>
                        </a:rPr>
                        <m:t>∈</m:t>
                      </m:r>
                      <m:nary>
                        <m:naryPr>
                          <m:chr m:val="⋃"/>
                          <m:ctrlPr>
                            <a:rPr lang="en-US" altLang="zh-CN" sz="2000" b="1" i="1">
                              <a:solidFill>
                                <a:srgbClr val="002060"/>
                              </a:solidFill>
                              <a:latin typeface="Cambria Math" panose="02040503050406030204" pitchFamily="18" charset="0"/>
                            </a:rPr>
                          </m:ctrlPr>
                        </m:naryPr>
                        <m:sub>
                          <m:r>
                            <a:rPr lang="en-US" altLang="zh-CN" sz="2000" b="1" i="1">
                              <a:solidFill>
                                <a:srgbClr val="002060"/>
                              </a:solidFill>
                              <a:latin typeface="Cambria Math" panose="02040503050406030204" pitchFamily="18" charset="0"/>
                            </a:rPr>
                            <m:t>𝒌</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sub>
                        <m:sup>
                          <m:r>
                            <a:rPr lang="en-US" altLang="zh-CN" sz="2000" b="1" i="1">
                              <a:solidFill>
                                <a:srgbClr val="002060"/>
                              </a:solidFill>
                              <a:latin typeface="Cambria Math" panose="02040503050406030204" pitchFamily="18" charset="0"/>
                            </a:rPr>
                            <m:t>∞</m:t>
                          </m:r>
                        </m:sup>
                        <m:e>
                          <m:sSup>
                            <m:sSupPr>
                              <m:ctrlPr>
                                <a:rPr lang="en-US" altLang="zh-CN" sz="2000" b="1" i="1">
                                  <a:solidFill>
                                    <a:srgbClr val="002060"/>
                                  </a:solidFill>
                                  <a:latin typeface="Cambria Math" panose="02040503050406030204" pitchFamily="18" charset="0"/>
                                </a:rPr>
                              </m:ctrlPr>
                            </m:sSupPr>
                            <m:e>
                              <m:r>
                                <a:rPr lang="en-US" altLang="zh-CN" sz="2000" b="1" i="1">
                                  <a:solidFill>
                                    <a:srgbClr val="002060"/>
                                  </a:solidFill>
                                  <a:latin typeface="Cambria Math" panose="02040503050406030204" pitchFamily="18" charset="0"/>
                                </a:rPr>
                                <m:t>𝑹</m:t>
                              </m:r>
                            </m:e>
                            <m:sup>
                              <m:r>
                                <a:rPr lang="en-US" altLang="zh-CN" sz="2000" b="1" i="1">
                                  <a:solidFill>
                                    <a:srgbClr val="002060"/>
                                  </a:solidFill>
                                  <a:latin typeface="Cambria Math" panose="02040503050406030204" pitchFamily="18" charset="0"/>
                                </a:rPr>
                                <m:t>𝒌</m:t>
                              </m:r>
                            </m:sup>
                          </m:sSup>
                        </m:e>
                      </m:nary>
                    </m:oMath>
                  </a14:m>
                  <a:endParaRPr lang="zh-CN" altLang="en-US" sz="2000" b="1">
                    <a:solidFill>
                      <a:srgbClr val="002060"/>
                    </a:solidFill>
                    <a:latin typeface="+mn-ea"/>
                  </a:endParaRPr>
                </a:p>
              </p:txBody>
            </p:sp>
          </mc:Choice>
          <mc:Fallback>
            <p:sp>
              <p:nvSpPr>
                <p:cNvPr id="16" name="文本框 15"/>
                <p:cNvSpPr txBox="1">
                  <a:spLocks noRot="1" noChangeAspect="1" noMove="1" noResize="1" noEditPoints="1" noAdjustHandles="1" noChangeArrowheads="1" noChangeShapeType="1" noTextEdit="1"/>
                </p:cNvSpPr>
                <p:nvPr/>
              </p:nvSpPr>
              <p:spPr>
                <a:xfrm>
                  <a:off x="3179533" y="3578662"/>
                  <a:ext cx="4137005" cy="1147558"/>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2993692" y="5232492"/>
                  <a:ext cx="4508685" cy="786818"/>
                </a:xfrm>
                <a:prstGeom prst="rect">
                  <a:avLst/>
                </a:prstGeom>
                <a:solidFill>
                  <a:schemeClr val="accent2">
                    <a:lumMod val="20000"/>
                    <a:lumOff val="80000"/>
                  </a:schemeClr>
                </a:solidFill>
              </p:spPr>
              <p:txBody>
                <a:bodyPr wrap="square" rtlCol="0">
                  <a:spAutoFit/>
                </a:bodyPr>
                <a:lstStyle/>
                <a:p>
                  <a:pPr algn="ctr">
                    <a:lnSpc>
                      <a:spcPts val="2800"/>
                    </a:lnSpc>
                  </a:pPr>
                  <a:r>
                    <a:rPr lang="en-US" altLang="zh-CN" sz="2000" b="1">
                      <a:solidFill>
                        <a:srgbClr val="002060"/>
                      </a:solidFill>
                      <a:latin typeface="+mn-ea"/>
                    </a:rPr>
                    <a:t>  </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𝒊</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𝒊</m:t>
                          </m:r>
                        </m:sup>
                      </m:s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𝒋</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𝒛</m:t>
                          </m:r>
                        </m:e>
                      </m:d>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𝒋</m:t>
                          </m:r>
                        </m:sup>
                      </m:sSup>
                    </m:oMath>
                  </a14:m>
                  <a:endParaRPr lang="en-US" altLang="zh-CN" sz="2000" b="1" i="1">
                    <a:solidFill>
                      <a:srgbClr val="002060"/>
                    </a:solidFill>
                    <a:latin typeface="+mn-ea"/>
                  </a:endParaRPr>
                </a:p>
                <a:p>
                  <a:pPr algn="ctr">
                    <a:lnSpc>
                      <a:spcPts val="2800"/>
                    </a:lnSpc>
                  </a:pPr>
                  <a:r>
                    <a:rPr lang="en-US" altLang="zh-CN" sz="2000" b="1">
                      <a:solidFill>
                        <a:srgbClr val="002060"/>
                      </a:solidFill>
                      <a:latin typeface="+mn-ea"/>
                    </a:rPr>
                    <a:t> </a:t>
                  </a:r>
                  <a14:m>
                    <m:oMath xmlns:m="http://schemas.openxmlformats.org/officeDocument/2006/math">
                      <m:r>
                        <a:rPr lang="en-US" altLang="zh-CN" sz="2000" b="1" i="1" smtClean="0">
                          <a:solidFill>
                            <a:srgbClr val="002060"/>
                          </a:solidFill>
                          <a:latin typeface="Cambria Math" panose="02040503050406030204" pitchFamily="18" charset="0"/>
                        </a:rPr>
                        <m:t>⟹</m:t>
                      </m:r>
                      <m:d>
                        <m:dPr>
                          <m:begChr m:val="⟨"/>
                          <m:endChr m:val="⟩"/>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𝒛</m:t>
                          </m:r>
                        </m:e>
                      </m:d>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𝒊</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𝒋</m:t>
                          </m:r>
                        </m:sup>
                      </m:sSup>
                    </m:oMath>
                  </a14:m>
                  <a:endParaRPr lang="zh-CN" altLang="en-US" sz="2000" b="1">
                    <a:solidFill>
                      <a:srgbClr val="002060"/>
                    </a:solidFill>
                    <a:latin typeface="+mn-ea"/>
                  </a:endParaRPr>
                </a:p>
              </p:txBody>
            </p:sp>
          </mc:Choice>
          <mc:Fallback>
            <p:sp>
              <p:nvSpPr>
                <p:cNvPr id="18" name="文本框 17"/>
                <p:cNvSpPr txBox="1">
                  <a:spLocks noRot="1" noChangeAspect="1" noMove="1" noResize="1" noEditPoints="1" noAdjustHandles="1" noChangeArrowheads="1" noChangeShapeType="1" noTextEdit="1"/>
                </p:cNvSpPr>
                <p:nvPr/>
              </p:nvSpPr>
              <p:spPr>
                <a:xfrm>
                  <a:off x="2993692" y="5232492"/>
                  <a:ext cx="4508685" cy="786818"/>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8644718" y="3758294"/>
                  <a:ext cx="2270629" cy="451406"/>
                </a:xfrm>
                <a:prstGeom prst="rect">
                  <a:avLst/>
                </a:prstGeom>
                <a:solidFill>
                  <a:schemeClr val="accent2">
                    <a:lumMod val="20000"/>
                    <a:lumOff val="80000"/>
                  </a:schemeClr>
                </a:solidFill>
              </p:spPr>
              <p:txBody>
                <a:bodyPr wrap="square" rtlCol="0">
                  <a:spAutoFit/>
                </a:bodyPr>
                <a:lstStyle/>
                <a:p>
                  <a:pPr algn="ctr">
                    <a:lnSpc>
                      <a:spcPts val="2800"/>
                    </a:lnSpc>
                    <a:spcBef>
                      <a:spcPts val="600"/>
                    </a:spcBef>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𝒏</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r>
                          <a:rPr lang="en-US" altLang="zh-CN" sz="2000" b="1" i="1" smtClean="0">
                            <a:solidFill>
                              <a:srgbClr val="002060"/>
                            </a:solidFill>
                            <a:latin typeface="Cambria Math" panose="02040503050406030204" pitchFamily="18" charset="0"/>
                          </a:rPr>
                          <m:t>, </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𝒏</m:t>
                            </m:r>
                          </m:sup>
                        </m:s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oMath>
                    </m:oMathPara>
                  </a14:m>
                  <a:endParaRPr lang="zh-CN" altLang="en-US" sz="2000" b="1">
                    <a:solidFill>
                      <a:srgbClr val="002060"/>
                    </a:solidFill>
                    <a:latin typeface="+mn-ea"/>
                  </a:endParaRPr>
                </a:p>
              </p:txBody>
            </p:sp>
          </mc:Choice>
          <mc:Fallback>
            <p:sp>
              <p:nvSpPr>
                <p:cNvPr id="19" name="文本框 18"/>
                <p:cNvSpPr txBox="1">
                  <a:spLocks noRot="1" noChangeAspect="1" noMove="1" noResize="1" noEditPoints="1" noAdjustHandles="1" noChangeArrowheads="1" noChangeShapeType="1" noTextEdit="1"/>
                </p:cNvSpPr>
                <p:nvPr/>
              </p:nvSpPr>
              <p:spPr>
                <a:xfrm>
                  <a:off x="8644718" y="3758294"/>
                  <a:ext cx="2270629" cy="451406"/>
                </a:xfrm>
                <a:prstGeom prst="rect">
                  <a:avLst/>
                </a:prstGeom>
                <a:blipFill rotWithShape="1">
                  <a:blip r:embed="rId8"/>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8198700" y="4726118"/>
                  <a:ext cx="3162661" cy="786882"/>
                </a:xfrm>
                <a:prstGeom prst="rect">
                  <a:avLst/>
                </a:prstGeom>
                <a:solidFill>
                  <a:schemeClr val="accent2">
                    <a:lumMod val="20000"/>
                    <a:lumOff val="80000"/>
                  </a:schemeClr>
                </a:solidFill>
              </p:spPr>
              <p:txBody>
                <a:bodyPr wrap="square" rtlCol="0">
                  <a:spAutoFit/>
                </a:bodyPr>
                <a:lstStyle/>
                <a:p>
                  <a:pPr algn="ctr">
                    <a:lnSpc>
                      <a:spcPts val="2800"/>
                    </a:lnSpc>
                    <a:spcBef>
                      <a:spcPts val="600"/>
                    </a:spcBef>
                  </a:pPr>
                  <a:r>
                    <a:rPr lang="zh-CN" altLang="en-US" sz="2000" b="1">
                      <a:solidFill>
                        <a:srgbClr val="002060"/>
                      </a:solidFill>
                      <a:latin typeface="+mn-ea"/>
                    </a:rPr>
                    <a:t>归纳步：假定</a:t>
                  </a:r>
                  <a14:m>
                    <m:oMath xmlns:m="http://schemas.openxmlformats.org/officeDocument/2006/math">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𝒌</m:t>
                          </m:r>
                        </m:sup>
                      </m:s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oMath>
                  </a14:m>
                  <a:r>
                    <a:rPr lang="zh-CN" altLang="en-US" sz="2000" b="1">
                      <a:solidFill>
                        <a:srgbClr val="002060"/>
                      </a:solidFill>
                      <a:latin typeface="+mn-ea"/>
                    </a:rPr>
                    <a:t>，则</a:t>
                  </a:r>
                  <a14:m>
                    <m:oMath xmlns:m="http://schemas.openxmlformats.org/officeDocument/2006/math">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𝒌</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sup>
                      </m:sSup>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𝒌</m:t>
                          </m:r>
                        </m:sup>
                      </m:sSup>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𝑺</m:t>
                      </m:r>
                    </m:oMath>
                  </a14:m>
                  <a:endParaRPr lang="zh-CN" altLang="en-US" sz="2000" b="1">
                    <a:solidFill>
                      <a:srgbClr val="002060"/>
                    </a:solidFill>
                    <a:latin typeface="+mn-ea"/>
                  </a:endParaRPr>
                </a:p>
              </p:txBody>
            </p:sp>
          </mc:Choice>
          <mc:Fallback>
            <p:sp>
              <p:nvSpPr>
                <p:cNvPr id="20" name="文本框 19"/>
                <p:cNvSpPr txBox="1">
                  <a:spLocks noRot="1" noChangeAspect="1" noMove="1" noResize="1" noEditPoints="1" noAdjustHandles="1" noChangeArrowheads="1" noChangeShapeType="1" noTextEdit="1"/>
                </p:cNvSpPr>
                <p:nvPr/>
              </p:nvSpPr>
              <p:spPr>
                <a:xfrm>
                  <a:off x="8198700" y="4726118"/>
                  <a:ext cx="3162661" cy="786882"/>
                </a:xfrm>
                <a:prstGeom prst="rect">
                  <a:avLst/>
                </a:prstGeom>
                <a:blipFill rotWithShape="1">
                  <a:blip r:embed="rId9"/>
                </a:blipFill>
              </p:spPr>
              <p:txBody>
                <a:bodyPr/>
                <a:lstStyle/>
                <a:p>
                  <a:r>
                    <a:rPr lang="zh-CN" altLang="en-US">
                      <a:noFill/>
                    </a:rPr>
                    <a:t> </a:t>
                  </a:r>
                </a:p>
              </p:txBody>
            </p:sp>
          </mc:Fallback>
        </mc:AlternateContent>
        <p:cxnSp>
          <p:nvCxnSpPr>
            <p:cNvPr id="22" name="直接箭头连接符 21"/>
            <p:cNvCxnSpPr>
              <a:stCxn id="3" idx="2"/>
              <a:endCxn id="4" idx="0"/>
            </p:cNvCxnSpPr>
            <p:nvPr/>
          </p:nvCxnSpPr>
          <p:spPr>
            <a:xfrm flipH="1">
              <a:off x="1890748" y="2145477"/>
              <a:ext cx="3357289" cy="470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3" idx="2"/>
              <a:endCxn id="13" idx="0"/>
            </p:cNvCxnSpPr>
            <p:nvPr/>
          </p:nvCxnSpPr>
          <p:spPr>
            <a:xfrm flipH="1">
              <a:off x="5248036" y="2145477"/>
              <a:ext cx="1" cy="4776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3" idx="2"/>
              <a:endCxn id="15" idx="0"/>
            </p:cNvCxnSpPr>
            <p:nvPr/>
          </p:nvCxnSpPr>
          <p:spPr>
            <a:xfrm>
              <a:off x="5248037" y="2145477"/>
              <a:ext cx="4531997" cy="291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5" idx="2"/>
              <a:endCxn id="19" idx="0"/>
            </p:cNvCxnSpPr>
            <p:nvPr/>
          </p:nvCxnSpPr>
          <p:spPr>
            <a:xfrm flipH="1">
              <a:off x="9780033" y="3225360"/>
              <a:ext cx="1" cy="532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19" idx="2"/>
              <a:endCxn id="20" idx="0"/>
            </p:cNvCxnSpPr>
            <p:nvPr/>
          </p:nvCxnSpPr>
          <p:spPr>
            <a:xfrm flipH="1">
              <a:off x="9780031" y="4209700"/>
              <a:ext cx="2" cy="516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13" idx="2"/>
              <a:endCxn id="16" idx="0"/>
            </p:cNvCxnSpPr>
            <p:nvPr/>
          </p:nvCxnSpPr>
          <p:spPr>
            <a:xfrm>
              <a:off x="5248036" y="3052499"/>
              <a:ext cx="0" cy="526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16" idx="2"/>
              <a:endCxn id="18" idx="0"/>
            </p:cNvCxnSpPr>
            <p:nvPr/>
          </p:nvCxnSpPr>
          <p:spPr>
            <a:xfrm flipH="1">
              <a:off x="5248035" y="4726220"/>
              <a:ext cx="1" cy="5062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4397044" y="2182025"/>
              <a:ext cx="1701980" cy="29251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b="1">
                  <a:solidFill>
                    <a:schemeClr val="accent2">
                      <a:lumMod val="50000"/>
                    </a:schemeClr>
                  </a:solidFill>
                </a:rPr>
                <a:t>传递闭包的定义</a:t>
              </a:r>
              <a:endParaRPr lang="zh-CN" altLang="en-US" b="1">
                <a:solidFill>
                  <a:schemeClr val="accent2">
                    <a:lumMod val="50000"/>
                  </a:schemeClr>
                </a:solidFill>
              </a:endParaRPr>
            </a:p>
          </p:txBody>
        </p:sp>
        <p:sp>
          <p:nvSpPr>
            <p:cNvPr id="42" name="文本框 41"/>
            <p:cNvSpPr txBox="1"/>
            <p:nvPr/>
          </p:nvSpPr>
          <p:spPr>
            <a:xfrm>
              <a:off x="3734265" y="3109454"/>
              <a:ext cx="2976794" cy="29251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b="1">
                  <a:solidFill>
                    <a:schemeClr val="accent2">
                      <a:lumMod val="50000"/>
                    </a:schemeClr>
                  </a:solidFill>
                </a:rPr>
                <a:t>关系传递性的元素考察法定义</a:t>
              </a:r>
              <a:endParaRPr lang="zh-CN" altLang="en-US" b="1">
                <a:solidFill>
                  <a:schemeClr val="accent2">
                    <a:lumMod val="50000"/>
                  </a:schemeClr>
                </a:solidFill>
              </a:endParaRPr>
            </a:p>
          </p:txBody>
        </p:sp>
        <mc:AlternateContent xmlns:mc="http://schemas.openxmlformats.org/markup-compatibility/2006">
          <mc:Choice xmlns:a14="http://schemas.microsoft.com/office/drawing/2010/main" Requires="a14">
            <p:sp>
              <p:nvSpPr>
                <p:cNvPr id="43" name="文本框 42"/>
                <p:cNvSpPr txBox="1"/>
                <p:nvPr/>
              </p:nvSpPr>
              <p:spPr>
                <a:xfrm>
                  <a:off x="4120261" y="4780843"/>
                  <a:ext cx="2255546" cy="291811"/>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b="1">
                      <a:solidFill>
                        <a:schemeClr val="accent2">
                          <a:lumMod val="50000"/>
                        </a:schemeClr>
                      </a:solidFill>
                    </a:rPr>
                    <a:t>广义并</a:t>
                  </a:r>
                  <a14:m>
                    <m:oMath xmlns:m="http://schemas.openxmlformats.org/officeDocument/2006/math">
                      <m:nary>
                        <m:naryPr>
                          <m:chr m:val="⋃"/>
                          <m:ctrlPr>
                            <a:rPr lang="en-US" altLang="zh-CN" b="1" i="1" smtClean="0">
                              <a:solidFill>
                                <a:srgbClr val="C00000"/>
                              </a:solidFill>
                              <a:latin typeface="Cambria Math" panose="02040503050406030204" pitchFamily="18" charset="0"/>
                            </a:rPr>
                          </m:ctrlPr>
                        </m:naryPr>
                        <m:sub>
                          <m:r>
                            <a:rPr lang="en-US" altLang="zh-CN" b="1" i="1">
                              <a:solidFill>
                                <a:srgbClr val="C00000"/>
                              </a:solidFill>
                              <a:latin typeface="Cambria Math" panose="02040503050406030204" pitchFamily="18" charset="0"/>
                            </a:rPr>
                            <m:t>𝒌</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m:t>
                          </m:r>
                        </m:sup>
                        <m:e>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𝑹</m:t>
                              </m:r>
                            </m:e>
                            <m:sup>
                              <m:r>
                                <a:rPr lang="en-US" altLang="zh-CN" b="1" i="1">
                                  <a:solidFill>
                                    <a:srgbClr val="C00000"/>
                                  </a:solidFill>
                                  <a:latin typeface="Cambria Math" panose="02040503050406030204" pitchFamily="18" charset="0"/>
                                </a:rPr>
                                <m:t>𝒌</m:t>
                              </m:r>
                            </m:sup>
                          </m:sSup>
                        </m:e>
                      </m:nary>
                    </m:oMath>
                  </a14:m>
                  <a:r>
                    <a:rPr lang="zh-CN" altLang="en-US" b="1">
                      <a:solidFill>
                        <a:schemeClr val="accent2">
                          <a:lumMod val="50000"/>
                        </a:schemeClr>
                      </a:solidFill>
                    </a:rPr>
                    <a:t>的定义</a:t>
                  </a:r>
                  <a:endParaRPr lang="zh-CN" altLang="en-US" b="1">
                    <a:solidFill>
                      <a:schemeClr val="accent2">
                        <a:lumMod val="50000"/>
                      </a:schemeClr>
                    </a:solidFill>
                  </a:endParaRPr>
                </a:p>
              </p:txBody>
            </p:sp>
          </mc:Choice>
          <mc:Fallback>
            <p:sp>
              <p:nvSpPr>
                <p:cNvPr id="43" name="文本框 42"/>
                <p:cNvSpPr txBox="1">
                  <a:spLocks noRot="1" noChangeAspect="1" noMove="1" noResize="1" noEditPoints="1" noAdjustHandles="1" noChangeArrowheads="1" noChangeShapeType="1" noTextEdit="1"/>
                </p:cNvSpPr>
                <p:nvPr/>
              </p:nvSpPr>
              <p:spPr>
                <a:xfrm>
                  <a:off x="4120261" y="4780843"/>
                  <a:ext cx="2255546" cy="291811"/>
                </a:xfrm>
                <a:prstGeom prst="rect">
                  <a:avLst/>
                </a:prstGeom>
                <a:blipFill rotWithShape="1">
                  <a:blip r:embed="rId10"/>
                </a:blipFill>
              </p:spPr>
              <p:txBody>
                <a:bodyPr/>
                <a:lstStyle/>
                <a:p>
                  <a:r>
                    <a:rPr lang="zh-CN" altLang="en-US">
                      <a:noFill/>
                    </a:rPr>
                    <a:t> </a:t>
                  </a:r>
                </a:p>
              </p:txBody>
            </p:sp>
          </mc:Fallback>
        </mc:AlternateContent>
        <p:sp>
          <p:nvSpPr>
            <p:cNvPr id="44" name="文本框 43"/>
            <p:cNvSpPr txBox="1"/>
            <p:nvPr/>
          </p:nvSpPr>
          <p:spPr>
            <a:xfrm>
              <a:off x="4522848" y="6048837"/>
              <a:ext cx="1450372" cy="291811"/>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b="1">
                  <a:solidFill>
                    <a:schemeClr val="accent2">
                      <a:lumMod val="50000"/>
                    </a:schemeClr>
                  </a:solidFill>
                </a:rPr>
                <a:t>关系幂的性质</a:t>
              </a:r>
              <a:endParaRPr lang="zh-CN" altLang="en-US" b="1">
                <a:solidFill>
                  <a:schemeClr val="accent2">
                    <a:lumMod val="50000"/>
                  </a:schemeClr>
                </a:solidFill>
              </a:endParaRPr>
            </a:p>
          </p:txBody>
        </p:sp>
        <mc:AlternateContent xmlns:mc="http://schemas.openxmlformats.org/markup-compatibility/2006">
          <mc:Choice xmlns:a14="http://schemas.microsoft.com/office/drawing/2010/main" Requires="a14">
            <p:sp>
              <p:nvSpPr>
                <p:cNvPr id="45" name="文本框 44"/>
                <p:cNvSpPr txBox="1"/>
                <p:nvPr/>
              </p:nvSpPr>
              <p:spPr>
                <a:xfrm>
                  <a:off x="8652258" y="3256064"/>
                  <a:ext cx="2255546" cy="291811"/>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b="1">
                      <a:solidFill>
                        <a:schemeClr val="accent2">
                          <a:lumMod val="50000"/>
                        </a:schemeClr>
                      </a:solidFill>
                    </a:rPr>
                    <a:t>广义并</a:t>
                  </a:r>
                  <a14:m>
                    <m:oMath xmlns:m="http://schemas.openxmlformats.org/officeDocument/2006/math">
                      <m:nary>
                        <m:naryPr>
                          <m:chr m:val="⋃"/>
                          <m:ctrlPr>
                            <a:rPr lang="en-US" altLang="zh-CN" b="1" i="1" smtClean="0">
                              <a:solidFill>
                                <a:srgbClr val="C00000"/>
                              </a:solidFill>
                              <a:latin typeface="Cambria Math" panose="02040503050406030204" pitchFamily="18" charset="0"/>
                            </a:rPr>
                          </m:ctrlPr>
                        </m:naryPr>
                        <m:sub>
                          <m:r>
                            <a:rPr lang="en-US" altLang="zh-CN" b="1" i="1">
                              <a:solidFill>
                                <a:srgbClr val="C00000"/>
                              </a:solidFill>
                              <a:latin typeface="Cambria Math" panose="02040503050406030204" pitchFamily="18" charset="0"/>
                            </a:rPr>
                            <m:t>𝒌</m:t>
                          </m:r>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𝟏</m:t>
                          </m:r>
                        </m:sub>
                        <m:sup>
                          <m:r>
                            <a:rPr lang="en-US" altLang="zh-CN" b="1" i="1">
                              <a:solidFill>
                                <a:srgbClr val="C00000"/>
                              </a:solidFill>
                              <a:latin typeface="Cambria Math" panose="02040503050406030204" pitchFamily="18" charset="0"/>
                            </a:rPr>
                            <m:t>∞</m:t>
                          </m:r>
                        </m:sup>
                        <m:e>
                          <m:sSup>
                            <m:sSupPr>
                              <m:ctrlPr>
                                <a:rPr lang="en-US" altLang="zh-CN" b="1" i="1">
                                  <a:solidFill>
                                    <a:srgbClr val="C00000"/>
                                  </a:solidFill>
                                  <a:latin typeface="Cambria Math" panose="02040503050406030204" pitchFamily="18" charset="0"/>
                                </a:rPr>
                              </m:ctrlPr>
                            </m:sSupPr>
                            <m:e>
                              <m:r>
                                <a:rPr lang="en-US" altLang="zh-CN" b="1" i="1">
                                  <a:solidFill>
                                    <a:srgbClr val="C00000"/>
                                  </a:solidFill>
                                  <a:latin typeface="Cambria Math" panose="02040503050406030204" pitchFamily="18" charset="0"/>
                                </a:rPr>
                                <m:t>𝑹</m:t>
                              </m:r>
                            </m:e>
                            <m:sup>
                              <m:r>
                                <a:rPr lang="en-US" altLang="zh-CN" b="1" i="1">
                                  <a:solidFill>
                                    <a:srgbClr val="C00000"/>
                                  </a:solidFill>
                                  <a:latin typeface="Cambria Math" panose="02040503050406030204" pitchFamily="18" charset="0"/>
                                </a:rPr>
                                <m:t>𝒌</m:t>
                              </m:r>
                            </m:sup>
                          </m:sSup>
                        </m:e>
                      </m:nary>
                    </m:oMath>
                  </a14:m>
                  <a:r>
                    <a:rPr lang="zh-CN" altLang="en-US" b="1">
                      <a:solidFill>
                        <a:schemeClr val="accent2">
                          <a:lumMod val="50000"/>
                        </a:schemeClr>
                      </a:solidFill>
                    </a:rPr>
                    <a:t>的定义</a:t>
                  </a:r>
                  <a:endParaRPr lang="zh-CN" altLang="en-US" b="1">
                    <a:solidFill>
                      <a:schemeClr val="accent2">
                        <a:lumMod val="50000"/>
                      </a:schemeClr>
                    </a:solidFill>
                  </a:endParaRPr>
                </a:p>
              </p:txBody>
            </p:sp>
          </mc:Choice>
          <mc:Fallback>
            <p:sp>
              <p:nvSpPr>
                <p:cNvPr id="45" name="文本框 44"/>
                <p:cNvSpPr txBox="1">
                  <a:spLocks noRot="1" noChangeAspect="1" noMove="1" noResize="1" noEditPoints="1" noAdjustHandles="1" noChangeArrowheads="1" noChangeShapeType="1" noTextEdit="1"/>
                </p:cNvSpPr>
                <p:nvPr/>
              </p:nvSpPr>
              <p:spPr>
                <a:xfrm>
                  <a:off x="8652258" y="3256064"/>
                  <a:ext cx="2255546" cy="291811"/>
                </a:xfrm>
                <a:prstGeom prst="rect">
                  <a:avLst/>
                </a:prstGeom>
                <a:blipFill rotWithShape="1">
                  <a:blip r:embed="rId10"/>
                </a:blipFill>
              </p:spPr>
              <p:txBody>
                <a:bodyPr/>
                <a:lstStyle/>
                <a:p>
                  <a:r>
                    <a:rPr lang="zh-CN" altLang="en-US">
                      <a:noFill/>
                    </a:rPr>
                    <a:t> </a:t>
                  </a:r>
                </a:p>
              </p:txBody>
            </p:sp>
          </mc:Fallback>
        </mc:AlternateContent>
        <p:sp>
          <p:nvSpPr>
            <p:cNvPr id="47" name="文本框 46"/>
            <p:cNvSpPr txBox="1"/>
            <p:nvPr/>
          </p:nvSpPr>
          <p:spPr>
            <a:xfrm>
              <a:off x="9123794" y="4254264"/>
              <a:ext cx="1312472" cy="292516"/>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b="1">
                  <a:solidFill>
                    <a:schemeClr val="accent2">
                      <a:lumMod val="50000"/>
                    </a:schemeClr>
                  </a:solidFill>
                </a:rPr>
                <a:t>数学归纳法</a:t>
              </a:r>
              <a:endParaRPr lang="zh-CN" altLang="en-US" b="1">
                <a:solidFill>
                  <a:schemeClr val="accent2">
                    <a:lumMod val="50000"/>
                  </a:schemeClr>
                </a:solidFill>
              </a:endParaRPr>
            </a:p>
          </p:txBody>
        </p:sp>
        <p:sp>
          <p:nvSpPr>
            <p:cNvPr id="48" name="文本框 47"/>
            <p:cNvSpPr txBox="1"/>
            <p:nvPr/>
          </p:nvSpPr>
          <p:spPr>
            <a:xfrm>
              <a:off x="8291633" y="5564200"/>
              <a:ext cx="2976794" cy="600293"/>
            </a:xfrm>
            <a:prstGeom prst="rect">
              <a:avLst/>
            </a:prstGeom>
            <a:solidFill>
              <a:schemeClr val="accent4">
                <a:lumMod val="20000"/>
                <a:lumOff val="80000"/>
              </a:schemeClr>
            </a:solidFill>
          </p:spPr>
          <p:txBody>
            <a:bodyPr wrap="square" lIns="0" tIns="0" rIns="0" bIns="0" rtlCol="0">
              <a:spAutoFit/>
            </a:bodyPr>
            <a:lstStyle/>
            <a:p>
              <a:pPr algn="ctr">
                <a:lnSpc>
                  <a:spcPts val="2400"/>
                </a:lnSpc>
              </a:pPr>
              <a:r>
                <a:rPr lang="zh-CN" altLang="en-US" b="1">
                  <a:solidFill>
                    <a:schemeClr val="accent2">
                      <a:lumMod val="50000"/>
                    </a:schemeClr>
                  </a:solidFill>
                </a:rPr>
                <a:t>关系幂的定义、关系复合保持子集关系、传递关系的性质</a:t>
              </a:r>
              <a:endParaRPr lang="zh-CN" altLang="en-US" b="1">
                <a:solidFill>
                  <a:schemeClr val="accent2">
                    <a:lumMod val="50000"/>
                  </a:schemeClr>
                </a:solidFill>
              </a:endParaRPr>
            </a:p>
          </p:txBody>
        </p:sp>
        <p:sp>
          <p:nvSpPr>
            <p:cNvPr id="49" name="文本框 48"/>
            <p:cNvSpPr txBox="1"/>
            <p:nvPr/>
          </p:nvSpPr>
          <p:spPr>
            <a:xfrm>
              <a:off x="1113153" y="1740624"/>
              <a:ext cx="1555187" cy="369332"/>
            </a:xfrm>
            <a:prstGeom prst="rect">
              <a:avLst/>
            </a:prstGeom>
            <a:solidFill>
              <a:schemeClr val="accent2">
                <a:lumMod val="20000"/>
                <a:lumOff val="80000"/>
              </a:schemeClr>
            </a:solidFill>
          </p:spPr>
          <p:txBody>
            <a:bodyPr wrap="square" rtlCol="0">
              <a:spAutoFit/>
            </a:bodyPr>
            <a:lstStyle/>
            <a:p>
              <a:pPr algn="ctr"/>
              <a:r>
                <a:rPr lang="zh-CN" altLang="en-US" b="1">
                  <a:solidFill>
                    <a:srgbClr val="C00000"/>
                  </a:solidFill>
                </a:rPr>
                <a:t>证明思路框架</a:t>
              </a:r>
              <a:endParaRPr lang="zh-CN" altLang="en-US" b="1">
                <a:solidFill>
                  <a:srgbClr val="C00000"/>
                </a:solidFill>
              </a:endParaRPr>
            </a:p>
          </p:txBody>
        </p:sp>
        <p:sp>
          <p:nvSpPr>
            <p:cNvPr id="51" name="矩形: 圆角 50"/>
            <p:cNvSpPr/>
            <p:nvPr/>
          </p:nvSpPr>
          <p:spPr>
            <a:xfrm>
              <a:off x="921075" y="1628566"/>
              <a:ext cx="10558984" cy="4765560"/>
            </a:xfrm>
            <a:prstGeom prst="roundRect">
              <a:avLst>
                <a:gd name="adj" fmla="val 7143"/>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53" name="文本框 52"/>
              <p:cNvSpPr txBox="1"/>
              <p:nvPr/>
            </p:nvSpPr>
            <p:spPr>
              <a:xfrm>
                <a:off x="304585" y="3650471"/>
                <a:ext cx="2634713" cy="2118529"/>
              </a:xfrm>
              <a:prstGeom prst="rect">
                <a:avLst/>
              </a:prstGeom>
              <a:solidFill>
                <a:schemeClr val="accent4">
                  <a:lumMod val="20000"/>
                  <a:lumOff val="80000"/>
                </a:schemeClr>
              </a:solidFill>
            </p:spPr>
            <p:txBody>
              <a:bodyPr wrap="square" rtlCol="0">
                <a:spAutoFit/>
              </a:bodyPr>
              <a:lstStyle/>
              <a:p>
                <a:pPr algn="ctr">
                  <a:lnSpc>
                    <a:spcPts val="2800"/>
                  </a:lnSpc>
                  <a:spcBef>
                    <a:spcPts val="600"/>
                  </a:spcBef>
                  <a:spcAft>
                    <a:spcPts val="600"/>
                  </a:spcAft>
                </a:pPr>
                <a:r>
                  <a:rPr lang="zh-CN" altLang="en-US" sz="2000" b="1">
                    <a:solidFill>
                      <a:srgbClr val="C00000"/>
                    </a:solidFill>
                  </a:rPr>
                  <a:t>广义并</a:t>
                </a:r>
                <a14:m>
                  <m:oMath xmlns:m="http://schemas.openxmlformats.org/officeDocument/2006/math">
                    <m:nary>
                      <m:naryPr>
                        <m:chr m:val="⋃"/>
                        <m:ctrlPr>
                          <a:rPr lang="en-US" altLang="zh-CN" sz="2000" b="1" i="1">
                            <a:solidFill>
                              <a:srgbClr val="C00000"/>
                            </a:solidFill>
                            <a:latin typeface="Cambria Math" panose="02040503050406030204" pitchFamily="18" charset="0"/>
                          </a:rPr>
                        </m:ctrlPr>
                      </m:naryPr>
                      <m:sub>
                        <m:r>
                          <a:rPr lang="en-US" altLang="zh-CN" sz="2000" b="1" i="1">
                            <a:solidFill>
                              <a:srgbClr val="C00000"/>
                            </a:solidFill>
                            <a:latin typeface="Cambria Math" panose="02040503050406030204" pitchFamily="18" charset="0"/>
                          </a:rPr>
                          <m:t>𝒌</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sub>
                      <m:sup>
                        <m:r>
                          <a:rPr lang="en-US" altLang="zh-CN" sz="2000" b="1" i="1">
                            <a:solidFill>
                              <a:srgbClr val="C00000"/>
                            </a:solidFill>
                            <a:latin typeface="Cambria Math" panose="02040503050406030204" pitchFamily="18" charset="0"/>
                          </a:rPr>
                          <m:t>∞</m:t>
                        </m:r>
                      </m:sup>
                      <m:e>
                        <m:sSup>
                          <m:sSupPr>
                            <m:ctrlPr>
                              <a:rPr lang="en-US" altLang="zh-CN" sz="2000" b="1" i="1">
                                <a:solidFill>
                                  <a:srgbClr val="C00000"/>
                                </a:solidFill>
                                <a:latin typeface="Cambria Math" panose="02040503050406030204" pitchFamily="18" charset="0"/>
                              </a:rPr>
                            </m:ctrlPr>
                          </m:sSupPr>
                          <m:e>
                            <m:r>
                              <a:rPr lang="en-US" altLang="zh-CN" sz="2000" b="1" i="1">
                                <a:solidFill>
                                  <a:srgbClr val="C00000"/>
                                </a:solidFill>
                                <a:latin typeface="Cambria Math" panose="02040503050406030204" pitchFamily="18" charset="0"/>
                              </a:rPr>
                              <m:t>𝑹</m:t>
                            </m:r>
                          </m:e>
                          <m:sup>
                            <m:r>
                              <a:rPr lang="en-US" altLang="zh-CN" sz="2000" b="1" i="1">
                                <a:solidFill>
                                  <a:srgbClr val="C00000"/>
                                </a:solidFill>
                                <a:latin typeface="Cambria Math" panose="02040503050406030204" pitchFamily="18" charset="0"/>
                              </a:rPr>
                              <m:t>𝒌</m:t>
                            </m:r>
                          </m:sup>
                        </m:sSup>
                      </m:e>
                    </m:nary>
                  </m:oMath>
                </a14:m>
                <a:r>
                  <a:rPr lang="zh-CN" altLang="en-US" sz="2000" b="1">
                    <a:solidFill>
                      <a:srgbClr val="C00000"/>
                    </a:solidFill>
                  </a:rPr>
                  <a:t>的定义</a:t>
                </a:r>
                <a:endParaRPr lang="zh-CN" altLang="en-US" sz="2000" b="1">
                  <a:solidFill>
                    <a:srgbClr val="C00000"/>
                  </a:solidFill>
                </a:endParaRPr>
              </a:p>
              <a:p>
                <a:pPr algn="ctr">
                  <a:lnSpc>
                    <a:spcPts val="2800"/>
                  </a:lnSpc>
                  <a:spcBef>
                    <a:spcPts val="600"/>
                  </a:spcBef>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oMath>
                  </m:oMathPara>
                </a14:m>
                <a:endParaRPr lang="en-US" altLang="zh-CN" sz="2000" b="1" i="1">
                  <a:solidFill>
                    <a:schemeClr val="accent2">
                      <a:lumMod val="50000"/>
                    </a:schemeClr>
                  </a:solidFill>
                  <a:latin typeface="Cambria Math" panose="02040503050406030204" pitchFamily="18" charset="0"/>
                </a:endParaRPr>
              </a:p>
              <a:p>
                <a:pPr algn="ctr">
                  <a:lnSpc>
                    <a:spcPts val="2800"/>
                  </a:lnSpc>
                  <a:spcBef>
                    <a:spcPts val="600"/>
                  </a:spcBef>
                </a:pP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14:m>
                  <m:oMath xmlns:m="http://schemas.openxmlformats.org/officeDocument/2006/math">
                    <m:nary>
                      <m:naryPr>
                        <m:chr m:val="⋃"/>
                        <m:ctrlPr>
                          <a:rPr lang="en-US" altLang="zh-CN" sz="2000" b="1" i="1">
                            <a:solidFill>
                              <a:schemeClr val="accent2">
                                <a:lumMod val="50000"/>
                              </a:schemeClr>
                            </a:solidFill>
                            <a:latin typeface="Cambria Math" panose="02040503050406030204" pitchFamily="18" charset="0"/>
                          </a:rPr>
                        </m:ctrlPr>
                      </m:naryPr>
                      <m:sub>
                        <m:r>
                          <a:rPr lang="en-US" altLang="zh-CN" sz="2000" b="1" i="1">
                            <a:solidFill>
                              <a:schemeClr val="accent2">
                                <a:lumMod val="50000"/>
                              </a:schemeClr>
                            </a:solidFill>
                            <a:latin typeface="Cambria Math" panose="02040503050406030204" pitchFamily="18" charset="0"/>
                          </a:rPr>
                          <m:t>𝒌</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𝟏</m:t>
                        </m:r>
                      </m:sub>
                      <m:sup>
                        <m:r>
                          <a:rPr lang="en-US" altLang="zh-CN" sz="2000" b="1" i="1">
                            <a:solidFill>
                              <a:schemeClr val="accent2">
                                <a:lumMod val="50000"/>
                              </a:schemeClr>
                            </a:solidFill>
                            <a:latin typeface="Cambria Math" panose="02040503050406030204" pitchFamily="18" charset="0"/>
                          </a:rPr>
                          <m:t>∞</m:t>
                        </m:r>
                      </m:sup>
                      <m:e>
                        <m:sSup>
                          <m:sSupPr>
                            <m:ctrlPr>
                              <a:rPr lang="en-US" altLang="zh-CN" sz="2000" b="1" i="1">
                                <a:solidFill>
                                  <a:schemeClr val="accent2">
                                    <a:lumMod val="50000"/>
                                  </a:schemeClr>
                                </a:solidFill>
                                <a:latin typeface="Cambria Math" panose="02040503050406030204" pitchFamily="18" charset="0"/>
                              </a:rPr>
                            </m:ctrlPr>
                          </m:sSupPr>
                          <m:e>
                            <m:r>
                              <a:rPr lang="en-US" altLang="zh-CN" sz="2000" b="1" i="1">
                                <a:solidFill>
                                  <a:schemeClr val="accent2">
                                    <a:lumMod val="50000"/>
                                  </a:schemeClr>
                                </a:solidFill>
                                <a:latin typeface="Cambria Math" panose="02040503050406030204" pitchFamily="18" charset="0"/>
                              </a:rPr>
                              <m:t>𝑹</m:t>
                            </m:r>
                          </m:e>
                          <m:sup>
                            <m:r>
                              <a:rPr lang="en-US" altLang="zh-CN" sz="2000" b="1" i="1">
                                <a:solidFill>
                                  <a:schemeClr val="accent2">
                                    <a:lumMod val="50000"/>
                                  </a:schemeClr>
                                </a:solidFill>
                                <a:latin typeface="Cambria Math" panose="02040503050406030204" pitchFamily="18" charset="0"/>
                              </a:rPr>
                              <m:t>𝒌</m:t>
                            </m:r>
                          </m:sup>
                        </m:sSup>
                      </m:e>
                    </m:nary>
                  </m:oMath>
                </a14:m>
                <a:r>
                  <a:rPr lang="zh-CN" altLang="en-US" sz="2000" b="1">
                    <a:solidFill>
                      <a:schemeClr val="accent2">
                        <a:lumMod val="50000"/>
                      </a:schemeClr>
                    </a:solidFill>
                  </a:rPr>
                  <a:t> </a:t>
                </a:r>
                <a:endParaRPr lang="en-US" altLang="zh-CN" sz="2000" b="1">
                  <a:solidFill>
                    <a:schemeClr val="accent2">
                      <a:lumMod val="50000"/>
                    </a:schemeClr>
                  </a:solidFill>
                </a:endParaRPr>
              </a:p>
              <a:p>
                <a:pPr algn="ctr">
                  <a:lnSpc>
                    <a:spcPts val="2800"/>
                  </a:lnSpc>
                  <a:spcBef>
                    <a:spcPts val="600"/>
                  </a:spcBef>
                </a:pPr>
                <a:r>
                  <a:rPr lang="zh-CN" altLang="en-US" sz="2000" b="1">
                    <a:solidFill>
                      <a:schemeClr val="accent2">
                        <a:lumMod val="50000"/>
                      </a:schemeClr>
                    </a:solidFill>
                    <a:latin typeface="楷体" panose="02010609060101010101" pitchFamily="49" charset="-122"/>
                    <a:ea typeface="楷体" panose="02010609060101010101" pitchFamily="49" charset="-122"/>
                  </a:rPr>
                  <a:t>当且仅当</a:t>
                </a:r>
                <a:endParaRPr lang="en-US" altLang="zh-CN" sz="2000" b="1" i="1">
                  <a:solidFill>
                    <a:schemeClr val="accent2">
                      <a:lumMod val="50000"/>
                    </a:schemeClr>
                  </a:solidFill>
                  <a:latin typeface="楷体" panose="02010609060101010101" pitchFamily="49" charset="-122"/>
                  <a:ea typeface="楷体" panose="02010609060101010101" pitchFamily="49" charset="-122"/>
                </a:endParaRPr>
              </a:p>
              <a:p>
                <a:pPr algn="ctr">
                  <a:lnSpc>
                    <a:spcPts val="2800"/>
                  </a:lnSpc>
                  <a:spcBef>
                    <a:spcPts val="600"/>
                  </a:spcBef>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𝒌</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r>
                        <a:rPr lang="en-US" altLang="zh-CN" sz="2000" b="1" i="1" smtClean="0">
                          <a:solidFill>
                            <a:schemeClr val="accent2">
                              <a:lumMod val="50000"/>
                            </a:schemeClr>
                          </a:solidFill>
                          <a:latin typeface="Cambria Math" panose="02040503050406030204" pitchFamily="18" charset="0"/>
                        </a:rPr>
                        <m:t>, </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rPr>
                        <m:t>∈</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𝑹</m:t>
                          </m:r>
                        </m:e>
                        <m:sup>
                          <m:r>
                            <a:rPr lang="en-US" altLang="zh-CN" sz="2000" b="1" i="1" smtClean="0">
                              <a:solidFill>
                                <a:schemeClr val="accent2">
                                  <a:lumMod val="50000"/>
                                </a:schemeClr>
                              </a:solidFill>
                              <a:latin typeface="Cambria Math" panose="02040503050406030204" pitchFamily="18" charset="0"/>
                            </a:rPr>
                            <m:t>𝒌</m:t>
                          </m:r>
                        </m:sup>
                      </m:sSup>
                    </m:oMath>
                  </m:oMathPara>
                </a14:m>
                <a:endParaRPr lang="zh-CN" altLang="en-US" sz="2000" b="1">
                  <a:solidFill>
                    <a:schemeClr val="accent2">
                      <a:lumMod val="50000"/>
                    </a:schemeClr>
                  </a:solidFill>
                </a:endParaRPr>
              </a:p>
            </p:txBody>
          </p:sp>
        </mc:Choice>
        <mc:Fallback>
          <p:sp>
            <p:nvSpPr>
              <p:cNvPr id="53" name="文本框 52"/>
              <p:cNvSpPr txBox="1">
                <a:spLocks noRot="1" noChangeAspect="1" noMove="1" noResize="1" noEditPoints="1" noAdjustHandles="1" noChangeArrowheads="1" noChangeShapeType="1" noTextEdit="1"/>
              </p:cNvSpPr>
              <p:nvPr/>
            </p:nvSpPr>
            <p:spPr>
              <a:xfrm>
                <a:off x="304585" y="3650471"/>
                <a:ext cx="2634713" cy="2118529"/>
              </a:xfrm>
              <a:prstGeom prst="rect">
                <a:avLst/>
              </a:prstGeom>
              <a:blipFill rotWithShape="1">
                <a:blip r:embed="rId11"/>
                <a:stretch>
                  <a:fillRect l="-16" t="-23" r="20" b="1"/>
                </a:stretch>
              </a:blipFill>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传递闭包计算公式的证明</a:t>
            </a:r>
            <a:r>
              <a:rPr lang="en-US" altLang="zh-CN"/>
              <a:t>*</a:t>
            </a:r>
            <a:endParaRPr lang="zh-CN" altLang="en-US"/>
          </a:p>
        </p:txBody>
      </p:sp>
      <mc:AlternateContent xmlns:mc="http://schemas.openxmlformats.org/markup-compatibility/2006">
        <mc:Choice xmlns:a14="http://schemas.microsoft.com/office/drawing/2010/main" Requires="a14">
          <p:sp>
            <p:nvSpPr>
              <p:cNvPr id="11" name="文本框 10"/>
              <p:cNvSpPr txBox="1"/>
              <p:nvPr/>
            </p:nvSpPr>
            <p:spPr>
              <a:xfrm>
                <a:off x="721952" y="1028186"/>
                <a:ext cx="10748093" cy="485133"/>
              </a:xfrm>
              <a:prstGeom prst="rect">
                <a:avLst/>
              </a:prstGeom>
              <a:solidFill>
                <a:schemeClr val="accent5">
                  <a:lumMod val="20000"/>
                  <a:lumOff val="80000"/>
                </a:schemeClr>
              </a:solidFill>
            </p:spPr>
            <p:txBody>
              <a:bodyPr wrap="square" rtlCol="0">
                <a:spAutoFit/>
              </a:bodyPr>
              <a:lstStyle/>
              <a:p>
                <a:pPr algn="ctr"/>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𝑹</m:t>
                    </m:r>
                  </m:oMath>
                </a14:m>
                <a:r>
                  <a:rPr lang="zh-CN" altLang="en-US" sz="2400" b="1">
                    <a:solidFill>
                      <a:srgbClr val="002060"/>
                    </a:solidFill>
                    <a:latin typeface="楷体" panose="02010609060101010101" pitchFamily="49" charset="-122"/>
                    <a:ea typeface="楷体" panose="02010609060101010101" pitchFamily="49" charset="-122"/>
                  </a:rPr>
                  <a:t>是非空集</a:t>
                </a:r>
                <a14:m>
                  <m:oMath xmlns:m="http://schemas.openxmlformats.org/officeDocument/2006/math">
                    <m:r>
                      <a:rPr lang="en-US" altLang="zh-CN" sz="2400" b="1" i="1" smtClean="0">
                        <a:solidFill>
                          <a:srgbClr val="002060"/>
                        </a:solidFill>
                        <a:latin typeface="Cambria Math" panose="02040503050406030204" pitchFamily="18" charset="0"/>
                      </a:rPr>
                      <m:t>𝑨</m:t>
                    </m:r>
                  </m:oMath>
                </a14:m>
                <a:r>
                  <a:rPr lang="zh-CN" altLang="en-US" sz="2400" b="1">
                    <a:solidFill>
                      <a:srgbClr val="002060"/>
                    </a:solidFill>
                    <a:latin typeface="楷体" panose="02010609060101010101" pitchFamily="49" charset="-122"/>
                    <a:ea typeface="楷体" panose="02010609060101010101" pitchFamily="49" charset="-122"/>
                  </a:rPr>
                  <a:t>上的关系，</a:t>
                </a:r>
                <a14:m>
                  <m:oMath xmlns:m="http://schemas.openxmlformats.org/officeDocument/2006/math">
                    <m:r>
                      <a:rPr lang="en-US" altLang="zh-CN" sz="2400" b="1" i="1" smtClean="0">
                        <a:solidFill>
                          <a:srgbClr val="C00000"/>
                        </a:solidFill>
                        <a:latin typeface="Cambria Math" panose="02040503050406030204" pitchFamily="18" charset="0"/>
                      </a:rPr>
                      <m:t>𝒕</m:t>
                    </m:r>
                    <m:d>
                      <m:dPr>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𝑹</m:t>
                        </m:r>
                      </m:e>
                    </m:d>
                    <m:r>
                      <a:rPr lang="en-US" altLang="zh-CN" sz="2400" b="1" i="1" smtClean="0">
                        <a:solidFill>
                          <a:srgbClr val="C00000"/>
                        </a:solidFill>
                        <a:latin typeface="Cambria Math" panose="02040503050406030204" pitchFamily="18" charset="0"/>
                      </a:rPr>
                      <m:t>= </m:t>
                    </m:r>
                    <m:nary>
                      <m:naryPr>
                        <m:chr m:val="⋃"/>
                        <m:ctrlPr>
                          <a:rPr lang="en-US" altLang="zh-CN" sz="2400" b="1" i="1" smtClean="0">
                            <a:solidFill>
                              <a:srgbClr val="C00000"/>
                            </a:solidFill>
                            <a:latin typeface="Cambria Math" panose="02040503050406030204" pitchFamily="18" charset="0"/>
                          </a:rPr>
                        </m:ctrlPr>
                      </m:naryPr>
                      <m:sub>
                        <m:r>
                          <a:rPr lang="en-US" altLang="zh-CN" sz="2400" b="1" i="1" smtClean="0">
                            <a:solidFill>
                              <a:srgbClr val="C00000"/>
                            </a:solidFill>
                            <a:latin typeface="Cambria Math" panose="02040503050406030204" pitchFamily="18" charset="0"/>
                          </a:rPr>
                          <m:t>𝒌</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𝟏</m:t>
                        </m:r>
                      </m:sub>
                      <m:sup>
                        <m:r>
                          <a:rPr lang="en-US" altLang="zh-CN" sz="2400" b="1" i="1" smtClean="0">
                            <a:solidFill>
                              <a:srgbClr val="C00000"/>
                            </a:solidFill>
                            <a:latin typeface="Cambria Math" panose="02040503050406030204" pitchFamily="18" charset="0"/>
                          </a:rPr>
                          <m:t>∞</m:t>
                        </m:r>
                      </m:sup>
                      <m:e>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𝑹</m:t>
                            </m:r>
                          </m:e>
                          <m:sup>
                            <m:r>
                              <a:rPr lang="en-US" altLang="zh-CN" sz="2400" b="1" i="1" smtClean="0">
                                <a:solidFill>
                                  <a:srgbClr val="C00000"/>
                                </a:solidFill>
                                <a:latin typeface="Cambria Math" panose="02040503050406030204" pitchFamily="18" charset="0"/>
                              </a:rPr>
                              <m:t>𝒌</m:t>
                            </m:r>
                          </m:sup>
                        </m:sSup>
                      </m:e>
                    </m:nary>
                    <m:r>
                      <a:rPr lang="en-US" altLang="zh-CN" sz="2400" b="1" i="1" smtClean="0">
                        <a:solidFill>
                          <a:srgbClr val="C0000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𝑹</m:t>
                    </m:r>
                    <m:r>
                      <a:rPr lang="en-US" altLang="zh-CN" sz="2400" b="1" i="1" smtClean="0">
                        <a:solidFill>
                          <a:srgbClr val="C00000"/>
                        </a:solidFill>
                        <a:latin typeface="Cambria Math" panose="02040503050406030204" pitchFamily="18" charset="0"/>
                      </a:rPr>
                      <m:t>∪⋯∪</m:t>
                    </m:r>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𝑹</m:t>
                        </m:r>
                      </m:e>
                      <m:sup>
                        <m:r>
                          <a:rPr lang="en-US" altLang="zh-CN" sz="2400" b="1" i="1" smtClean="0">
                            <a:solidFill>
                              <a:srgbClr val="C00000"/>
                            </a:solidFill>
                            <a:latin typeface="Cambria Math" panose="02040503050406030204" pitchFamily="18" charset="0"/>
                          </a:rPr>
                          <m:t>𝒌</m:t>
                        </m:r>
                      </m:sup>
                    </m:sSup>
                    <m:r>
                      <a:rPr lang="en-US" altLang="zh-CN" sz="2400" b="1" i="1" smtClean="0">
                        <a:solidFill>
                          <a:srgbClr val="C00000"/>
                        </a:solidFill>
                        <a:latin typeface="Cambria Math" panose="02040503050406030204" pitchFamily="18" charset="0"/>
                      </a:rPr>
                      <m:t>∪⋯</m:t>
                    </m:r>
                  </m:oMath>
                </a14:m>
                <a:r>
                  <a:rPr lang="zh-CN" altLang="en-US" sz="2400" b="1">
                    <a:solidFill>
                      <a:srgbClr val="002060"/>
                    </a:solidFill>
                    <a:latin typeface="楷体" panose="02010609060101010101" pitchFamily="49" charset="-122"/>
                    <a:ea typeface="楷体" panose="02010609060101010101" pitchFamily="49" charset="-122"/>
                  </a:rPr>
                  <a:t>，记</a:t>
                </a:r>
                <a14:m>
                  <m:oMath xmlns:m="http://schemas.openxmlformats.org/officeDocument/2006/math">
                    <m:nary>
                      <m:naryPr>
                        <m:chr m:val="⋃"/>
                        <m:ctrlPr>
                          <a:rPr lang="en-US" altLang="zh-CN" sz="2400" b="1" i="1">
                            <a:solidFill>
                              <a:srgbClr val="002060"/>
                            </a:solidFill>
                            <a:latin typeface="Cambria Math" panose="02040503050406030204" pitchFamily="18" charset="0"/>
                            <a:ea typeface="楷体" panose="02010609060101010101" pitchFamily="49" charset="-122"/>
                          </a:rPr>
                        </m:ctrlPr>
                      </m:naryPr>
                      <m:sub>
                        <m:r>
                          <a:rPr lang="en-US" altLang="zh-CN" sz="2400" b="1">
                            <a:solidFill>
                              <a:srgbClr val="002060"/>
                            </a:solidFill>
                            <a:latin typeface="Cambria Math" panose="02040503050406030204" pitchFamily="18" charset="0"/>
                            <a:ea typeface="楷体" panose="02010609060101010101" pitchFamily="49" charset="-122"/>
                          </a:rPr>
                          <m:t>𝒌</m:t>
                        </m:r>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a:solidFill>
                              <a:srgbClr val="002060"/>
                            </a:solidFill>
                            <a:latin typeface="Cambria Math" panose="02040503050406030204" pitchFamily="18" charset="0"/>
                            <a:ea typeface="楷体" panose="02010609060101010101" pitchFamily="49" charset="-122"/>
                          </a:rPr>
                          <m:t>𝟏</m:t>
                        </m:r>
                      </m:sub>
                      <m:sup>
                        <m:r>
                          <a:rPr lang="en-US" altLang="zh-CN" sz="2400" b="1">
                            <a:solidFill>
                              <a:srgbClr val="002060"/>
                            </a:solidFill>
                            <a:latin typeface="Cambria Math" panose="02040503050406030204" pitchFamily="18" charset="0"/>
                            <a:ea typeface="楷体" panose="02010609060101010101" pitchFamily="49" charset="-122"/>
                          </a:rPr>
                          <m:t>∞</m:t>
                        </m:r>
                      </m:sup>
                      <m:e>
                        <m:sSup>
                          <m:sSupPr>
                            <m:ctrlPr>
                              <a:rPr lang="en-US" altLang="zh-CN" sz="2400" b="1" i="1">
                                <a:solidFill>
                                  <a:srgbClr val="002060"/>
                                </a:solidFill>
                                <a:latin typeface="Cambria Math" panose="02040503050406030204" pitchFamily="18" charset="0"/>
                                <a:ea typeface="楷体" panose="02010609060101010101" pitchFamily="49" charset="-122"/>
                              </a:rPr>
                            </m:ctrlPr>
                          </m:sSupPr>
                          <m:e>
                            <m:r>
                              <a:rPr lang="en-US" altLang="zh-CN" sz="2400" b="1">
                                <a:solidFill>
                                  <a:srgbClr val="002060"/>
                                </a:solidFill>
                                <a:latin typeface="Cambria Math" panose="02040503050406030204" pitchFamily="18" charset="0"/>
                                <a:ea typeface="楷体" panose="02010609060101010101" pitchFamily="49" charset="-122"/>
                              </a:rPr>
                              <m:t>𝑹</m:t>
                            </m:r>
                          </m:e>
                          <m:sup>
                            <m:r>
                              <a:rPr lang="en-US" altLang="zh-CN" sz="2400" b="1">
                                <a:solidFill>
                                  <a:srgbClr val="002060"/>
                                </a:solidFill>
                                <a:latin typeface="Cambria Math" panose="02040503050406030204" pitchFamily="18" charset="0"/>
                                <a:ea typeface="楷体" panose="02010609060101010101" pitchFamily="49" charset="-122"/>
                              </a:rPr>
                              <m:t>𝒌</m:t>
                            </m:r>
                          </m:sup>
                        </m:sSup>
                      </m:e>
                    </m:nary>
                  </m:oMath>
                </a14:m>
                <a:r>
                  <a:rPr lang="zh-CN" altLang="en-US" sz="2400" b="1">
                    <a:solidFill>
                      <a:srgbClr val="002060"/>
                    </a:solidFill>
                    <a:latin typeface="楷体" panose="02010609060101010101" pitchFamily="49" charset="-122"/>
                    <a:ea typeface="楷体" panose="02010609060101010101" pitchFamily="49" charset="-122"/>
                  </a:rPr>
                  <a:t>为</a:t>
                </a:r>
                <a14:m>
                  <m:oMath xmlns:m="http://schemas.openxmlformats.org/officeDocument/2006/math">
                    <m:sSup>
                      <m:sSupPr>
                        <m:ctrlPr>
                          <a:rPr lang="en-US" altLang="zh-CN" sz="2400" b="1" i="1">
                            <a:solidFill>
                              <a:srgbClr val="002060"/>
                            </a:solidFill>
                            <a:latin typeface="Cambria Math" panose="02040503050406030204" pitchFamily="18" charset="0"/>
                            <a:ea typeface="楷体" panose="02010609060101010101" pitchFamily="49" charset="-122"/>
                          </a:rPr>
                        </m:ctrlPr>
                      </m:sSupPr>
                      <m:e>
                        <m:r>
                          <a:rPr lang="en-US" altLang="zh-CN" sz="2400" b="1">
                            <a:solidFill>
                              <a:srgbClr val="002060"/>
                            </a:solidFill>
                            <a:latin typeface="Cambria Math" panose="02040503050406030204" pitchFamily="18" charset="0"/>
                            <a:ea typeface="楷体" panose="02010609060101010101" pitchFamily="49" charset="-122"/>
                          </a:rPr>
                          <m:t>𝑹</m:t>
                        </m:r>
                      </m:e>
                      <m:sup>
                        <m:r>
                          <a:rPr lang="en-US" altLang="zh-CN" sz="2400" b="1">
                            <a:solidFill>
                              <a:srgbClr val="002060"/>
                            </a:solidFill>
                            <a:latin typeface="Cambria Math" panose="02040503050406030204" pitchFamily="18" charset="0"/>
                            <a:ea typeface="楷体" panose="02010609060101010101" pitchFamily="49" charset="-122"/>
                          </a:rPr>
                          <m:t>∗</m:t>
                        </m:r>
                      </m:sup>
                    </m:sSup>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p:sp>
            <p:nvSpPr>
              <p:cNvPr id="11" name="文本框 10"/>
              <p:cNvSpPr txBox="1">
                <a:spLocks noRot="1" noChangeAspect="1" noMove="1" noResize="1" noEditPoints="1" noAdjustHandles="1" noChangeArrowheads="1" noChangeShapeType="1" noTextEdit="1"/>
              </p:cNvSpPr>
              <p:nvPr/>
            </p:nvSpPr>
            <p:spPr>
              <a:xfrm>
                <a:off x="721952" y="1028186"/>
                <a:ext cx="10748093" cy="485133"/>
              </a:xfrm>
              <a:prstGeom prst="rect">
                <a:avLst/>
              </a:prstGeom>
              <a:blipFill rotWithShape="1">
                <a:blip r:embed="rId1"/>
                <a:stretch>
                  <a:fillRect l="-6" t="-25" b="-6188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文本框 1"/>
              <p:cNvSpPr txBox="1"/>
              <p:nvPr/>
            </p:nvSpPr>
            <p:spPr>
              <a:xfrm>
                <a:off x="721952" y="1672697"/>
                <a:ext cx="10748093" cy="4651915"/>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600"/>
                  </a:spcAft>
                </a:pPr>
                <a:r>
                  <a:rPr lang="en-US" altLang="zh-CN" sz="2400" b="1">
                    <a:solidFill>
                      <a:schemeClr val="accent2">
                        <a:lumMod val="50000"/>
                      </a:schemeClr>
                    </a:solidFill>
                  </a:rPr>
                  <a:t>【</a:t>
                </a:r>
                <a:r>
                  <a:rPr lang="zh-CN" altLang="en-US" sz="2400" b="1">
                    <a:solidFill>
                      <a:schemeClr val="accent2">
                        <a:lumMod val="50000"/>
                      </a:schemeClr>
                    </a:solidFill>
                  </a:rPr>
                  <a:t>证明</a:t>
                </a:r>
                <a:r>
                  <a:rPr lang="en-US" altLang="zh-CN" sz="2400" b="1">
                    <a:solidFill>
                      <a:schemeClr val="accent2">
                        <a:lumMod val="50000"/>
                      </a:schemeClr>
                    </a:solidFill>
                  </a:rPr>
                  <a:t>】</a:t>
                </a:r>
                <a:endParaRPr lang="en-US" altLang="zh-CN" sz="2400" b="1">
                  <a:solidFill>
                    <a:schemeClr val="accent2">
                      <a:lumMod val="50000"/>
                    </a:schemeClr>
                  </a:solidFill>
                </a:endParaRP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显然</a:t>
                </a:r>
                <a14:m>
                  <m:oMath xmlns:m="http://schemas.openxmlformats.org/officeDocument/2006/math">
                    <m:r>
                      <a:rPr lang="en-US" altLang="zh-CN" sz="2000" b="1" i="1" smtClean="0">
                        <a:solidFill>
                          <a:srgbClr val="002060"/>
                        </a:solidFill>
                        <a:latin typeface="Cambria Math" panose="02040503050406030204" pitchFamily="18" charset="0"/>
                      </a:rPr>
                      <m:t>𝑹</m:t>
                    </m:r>
                    <m:r>
                      <a:rPr lang="en-US" altLang="zh-CN" sz="2000" b="1" i="1" smtClean="0">
                        <a:solidFill>
                          <a:srgbClr val="002060"/>
                        </a:solidFill>
                        <a:latin typeface="Cambria Math" panose="02040503050406030204" pitchFamily="18" charset="0"/>
                      </a:rPr>
                      <m:t>⊆</m:t>
                    </m:r>
                    <m:sSup>
                      <m:sSupPr>
                        <m:ctrlPr>
                          <a:rPr lang="en-US" altLang="zh-CN" sz="2000" b="1" i="1" smtClean="0">
                            <a:solidFill>
                              <a:srgbClr val="002060"/>
                            </a:solidFill>
                            <a:latin typeface="Cambria Math" panose="02040503050406030204" pitchFamily="18" charset="0"/>
                          </a:rPr>
                        </m:ctrlPr>
                      </m:sSupPr>
                      <m:e>
                        <m:r>
                          <a:rPr lang="en-US" altLang="zh-CN" sz="2000" b="1" i="1" smtClean="0">
                            <a:solidFill>
                              <a:srgbClr val="002060"/>
                            </a:solidFill>
                            <a:latin typeface="Cambria Math" panose="02040503050406030204" pitchFamily="18" charset="0"/>
                          </a:rPr>
                          <m:t>𝑹</m:t>
                        </m:r>
                      </m:e>
                      <m:sup>
                        <m:r>
                          <a:rPr lang="en-US" altLang="zh-CN" sz="2000" b="1" i="1" smtClean="0">
                            <a:solidFill>
                              <a:srgbClr val="002060"/>
                            </a:solidFill>
                            <a:latin typeface="Cambria Math" panose="02040503050406030204" pitchFamily="18" charset="0"/>
                          </a:rPr>
                          <m:t>∗</m:t>
                        </m:r>
                      </m:sup>
                    </m:sSup>
                  </m:oMath>
                </a14:m>
                <a:r>
                  <a:rPr lang="zh-CN" altLang="en-US" sz="2000" b="1">
                    <a:solidFill>
                      <a:srgbClr val="002060"/>
                    </a:solidFill>
                    <a:latin typeface="楷体" panose="02010609060101010101" pitchFamily="49" charset="-122"/>
                    <a:ea typeface="楷体" panose="02010609060101010101" pitchFamily="49" charset="-122"/>
                  </a:rPr>
                  <a:t>，因此只需还证明两点：</a:t>
                </a:r>
                <a:r>
                  <a:rPr lang="en-US" altLang="zh-CN" sz="2000" b="1">
                    <a:solidFill>
                      <a:srgbClr val="002060"/>
                    </a:solidFill>
                    <a:latin typeface="+mn-ea"/>
                  </a:rPr>
                  <a:t>(1)</a:t>
                </a:r>
                <a:r>
                  <a:rPr lang="en-US" altLang="zh-CN" sz="2000" b="1">
                    <a:solidFill>
                      <a:srgbClr val="002060"/>
                    </a:solidFill>
                    <a:latin typeface="楷体" panose="02010609060101010101" pitchFamily="49" charset="-122"/>
                    <a:ea typeface="楷体" panose="02010609060101010101" pitchFamily="49" charset="-122"/>
                  </a:rPr>
                  <a:t> </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𝑹</m:t>
                        </m:r>
                      </m:e>
                      <m:sup>
                        <m:r>
                          <a:rPr lang="en-US" altLang="zh-CN" sz="2000" b="1" i="1" smtClean="0">
                            <a:solidFill>
                              <a:srgbClr val="C00000"/>
                            </a:solidFill>
                            <a:latin typeface="Cambria Math" panose="02040503050406030204" pitchFamily="18" charset="0"/>
                          </a:rPr>
                          <m:t>∗</m:t>
                        </m:r>
                      </m:sup>
                    </m:sSup>
                  </m:oMath>
                </a14:m>
                <a:r>
                  <a:rPr lang="zh-CN" altLang="en-US" sz="2000" b="1">
                    <a:solidFill>
                      <a:srgbClr val="C00000"/>
                    </a:solidFill>
                    <a:latin typeface="+mn-ea"/>
                  </a:rPr>
                  <a:t>传递</a:t>
                </a:r>
                <a:r>
                  <a:rPr lang="zh-CN" altLang="en-US" sz="2000" b="1">
                    <a:solidFill>
                      <a:srgbClr val="002060"/>
                    </a:solidFill>
                    <a:latin typeface="楷体" panose="02010609060101010101" pitchFamily="49" charset="-122"/>
                    <a:ea typeface="楷体" panose="02010609060101010101" pitchFamily="49" charset="-122"/>
                  </a:rPr>
                  <a:t>；</a:t>
                </a:r>
                <a:r>
                  <a:rPr lang="en-US" altLang="zh-CN" sz="2000" b="1">
                    <a:solidFill>
                      <a:srgbClr val="002060"/>
                    </a:solidFill>
                    <a:latin typeface="+mn-ea"/>
                  </a:rPr>
                  <a:t>(2) </a:t>
                </a:r>
                <a:r>
                  <a:rPr lang="zh-CN" altLang="en-US" sz="2000" b="1">
                    <a:solidFill>
                      <a:srgbClr val="002060"/>
                    </a:solidFill>
                    <a:latin typeface="楷体" panose="02010609060101010101" pitchFamily="49" charset="-122"/>
                    <a:ea typeface="楷体" panose="02010609060101010101" pitchFamily="49" charset="-122"/>
                  </a:rPr>
                  <a:t>对</a:t>
                </a:r>
                <a14:m>
                  <m:oMath xmlns:m="http://schemas.openxmlformats.org/officeDocument/2006/math">
                    <m:r>
                      <a:rPr lang="en-US" altLang="zh-CN" sz="2000" b="1" i="1" smtClean="0">
                        <a:solidFill>
                          <a:srgbClr val="002060"/>
                        </a:solidFill>
                        <a:latin typeface="Cambria Math" panose="02040503050406030204" pitchFamily="18" charset="0"/>
                      </a:rPr>
                      <m:t>𝑨</m:t>
                    </m:r>
                  </m:oMath>
                </a14:m>
                <a:r>
                  <a:rPr lang="zh-CN" altLang="en-US" sz="2000" b="1">
                    <a:solidFill>
                      <a:srgbClr val="002060"/>
                    </a:solidFill>
                    <a:latin typeface="楷体" panose="02010609060101010101" pitchFamily="49" charset="-122"/>
                    <a:ea typeface="楷体" panose="02010609060101010101" pitchFamily="49" charset="-122"/>
                  </a:rPr>
                  <a:t>上任意</a:t>
                </a:r>
                <a:r>
                  <a:rPr lang="zh-CN" altLang="en-US" sz="2000" b="1">
                    <a:solidFill>
                      <a:srgbClr val="C00000"/>
                    </a:solidFill>
                    <a:latin typeface="+mn-ea"/>
                  </a:rPr>
                  <a:t>传递关系</a:t>
                </a:r>
                <a14:m>
                  <m:oMath xmlns:m="http://schemas.openxmlformats.org/officeDocument/2006/math">
                    <m:r>
                      <a:rPr lang="en-US" altLang="zh-CN" sz="2000" b="1" i="1" smtClean="0">
                        <a:solidFill>
                          <a:srgbClr val="C00000"/>
                        </a:solidFill>
                        <a:latin typeface="Cambria Math" panose="02040503050406030204" pitchFamily="18" charset="0"/>
                      </a:rPr>
                      <m:t>𝑺</m:t>
                    </m:r>
                  </m:oMath>
                </a14:m>
                <a:r>
                  <a:rPr lang="zh-CN" altLang="en-US" sz="2000" b="1">
                    <a:solidFill>
                      <a:srgbClr val="002060"/>
                    </a:solidFill>
                    <a:latin typeface="楷体" panose="02010609060101010101" pitchFamily="49" charset="-122"/>
                    <a:ea typeface="楷体" panose="02010609060101010101" pitchFamily="49" charset="-122"/>
                  </a:rPr>
                  <a:t>，</a:t>
                </a:r>
                <a14:m>
                  <m:oMath xmlns:m="http://schemas.openxmlformats.org/officeDocument/2006/math">
                    <m:r>
                      <a:rPr lang="en-US" altLang="zh-CN" sz="2000" b="1" i="1" smtClean="0">
                        <a:solidFill>
                          <a:srgbClr val="C00000"/>
                        </a:solidFill>
                        <a:latin typeface="Cambria Math" panose="02040503050406030204" pitchFamily="18" charset="0"/>
                      </a:rPr>
                      <m:t>𝑹</m:t>
                    </m: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𝑺</m:t>
                    </m:r>
                  </m:oMath>
                </a14:m>
                <a:r>
                  <a:rPr lang="zh-CN" altLang="en-US" sz="2000" b="1">
                    <a:solidFill>
                      <a:srgbClr val="C00000"/>
                    </a:solidFill>
                    <a:latin typeface="+mn-ea"/>
                  </a:rPr>
                  <a:t>蕴涵</a:t>
                </a:r>
                <a14:m>
                  <m:oMath xmlns:m="http://schemas.openxmlformats.org/officeDocument/2006/math">
                    <m:sSup>
                      <m:sSupPr>
                        <m:ctrlPr>
                          <a:rPr lang="en-US" altLang="zh-CN" sz="2000" b="1" i="1" smtClean="0">
                            <a:solidFill>
                              <a:srgbClr val="C00000"/>
                            </a:solidFill>
                            <a:latin typeface="Cambria Math" panose="02040503050406030204" pitchFamily="18" charset="0"/>
                          </a:rPr>
                        </m:ctrlPr>
                      </m:sSupPr>
                      <m:e>
                        <m:r>
                          <a:rPr lang="en-US" altLang="zh-CN" sz="2000" b="1" i="1" smtClean="0">
                            <a:solidFill>
                              <a:srgbClr val="C00000"/>
                            </a:solidFill>
                            <a:latin typeface="Cambria Math" panose="02040503050406030204" pitchFamily="18" charset="0"/>
                          </a:rPr>
                          <m:t>𝑹</m:t>
                        </m:r>
                      </m:e>
                      <m:sup>
                        <m:r>
                          <a:rPr lang="en-US" altLang="zh-CN" sz="2000" b="1" i="1" smtClean="0">
                            <a:solidFill>
                              <a:srgbClr val="C00000"/>
                            </a:solidFill>
                            <a:latin typeface="Cambria Math" panose="02040503050406030204" pitchFamily="18" charset="0"/>
                          </a:rPr>
                          <m:t>∗</m:t>
                        </m:r>
                      </m:sup>
                    </m:sSup>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𝑺</m:t>
                    </m:r>
                  </m:oMath>
                </a14:m>
                <a:endParaRPr lang="en-US" altLang="zh-CN" sz="2000" b="1">
                  <a:solidFill>
                    <a:srgbClr val="C00000"/>
                  </a:solidFill>
                  <a:latin typeface="楷体" panose="02010609060101010101" pitchFamily="49" charset="-122"/>
                  <a:ea typeface="楷体" panose="02010609060101010101" pitchFamily="49" charset="-122"/>
                </a:endParaRPr>
              </a:p>
              <a:p>
                <a:pPr marL="342900" indent="-342900">
                  <a:spcBef>
                    <a:spcPts val="600"/>
                  </a:spcBef>
                  <a:spcAft>
                    <a:spcPts val="300"/>
                  </a:spcAft>
                  <a:buFont typeface="Arial" panose="020B0604020202020204" pitchFamily="34" charset="0"/>
                  <a:buChar char="•"/>
                </a:pPr>
                <a14:m>
                  <m:oMath xmlns:m="http://schemas.openxmlformats.org/officeDocument/2006/math">
                    <m:sSup>
                      <m:sSupPr>
                        <m:ctrlPr>
                          <a:rPr lang="en-US" altLang="zh-CN" sz="2000" b="1" i="1" smtClean="0">
                            <a:solidFill>
                              <a:schemeClr val="accent6">
                                <a:lumMod val="50000"/>
                              </a:schemeClr>
                            </a:solidFill>
                            <a:latin typeface="Cambria Math" panose="02040503050406030204" pitchFamily="18" charset="0"/>
                          </a:rPr>
                        </m:ctrlPr>
                      </m:sSupPr>
                      <m:e>
                        <m:r>
                          <a:rPr lang="en-US" altLang="zh-CN" sz="2000" b="1" i="1" smtClean="0">
                            <a:solidFill>
                              <a:schemeClr val="accent6">
                                <a:lumMod val="50000"/>
                              </a:schemeClr>
                            </a:solidFill>
                            <a:latin typeface="Cambria Math" panose="02040503050406030204" pitchFamily="18" charset="0"/>
                          </a:rPr>
                          <m:t>𝑹</m:t>
                        </m:r>
                      </m:e>
                      <m:sup>
                        <m:r>
                          <a:rPr lang="en-US" altLang="zh-CN" sz="2000" b="1" i="1" smtClean="0">
                            <a:solidFill>
                              <a:schemeClr val="accent6">
                                <a:lumMod val="50000"/>
                              </a:schemeClr>
                            </a:solidFill>
                            <a:latin typeface="Cambria Math" panose="02040503050406030204" pitchFamily="18" charset="0"/>
                          </a:rPr>
                          <m:t>∗</m:t>
                        </m:r>
                      </m:sup>
                    </m:sSup>
                  </m:oMath>
                </a14:m>
                <a:r>
                  <a:rPr lang="zh-CN" altLang="en-US" sz="2000" b="1">
                    <a:solidFill>
                      <a:schemeClr val="accent6">
                        <a:lumMod val="50000"/>
                      </a:schemeClr>
                    </a:solidFill>
                  </a:rPr>
                  <a:t>是传递的：对任意</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𝒚</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𝒛</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𝑹</m:t>
                    </m:r>
                  </m:oMath>
                </a14:m>
                <a:r>
                  <a:rPr lang="zh-CN" altLang="en-US" sz="2000" b="1">
                    <a:solidFill>
                      <a:schemeClr val="accent6">
                        <a:lumMod val="50000"/>
                      </a:schemeClr>
                    </a:solidFill>
                  </a:rPr>
                  <a:t>，若</a:t>
                </a:r>
                <a14:m>
                  <m:oMath xmlns:m="http://schemas.openxmlformats.org/officeDocument/2006/math">
                    <m:d>
                      <m:dPr>
                        <m:begChr m:val="⟨"/>
                        <m:endChr m:val="⟩"/>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𝒚</m:t>
                        </m:r>
                      </m:e>
                    </m:d>
                    <m:r>
                      <a:rPr lang="en-US" altLang="zh-CN" sz="2000" b="1" i="1" smtClean="0">
                        <a:solidFill>
                          <a:schemeClr val="accent6">
                            <a:lumMod val="50000"/>
                          </a:schemeClr>
                        </a:solidFill>
                        <a:latin typeface="Cambria Math" panose="02040503050406030204" pitchFamily="18" charset="0"/>
                      </a:rPr>
                      <m:t>∈</m:t>
                    </m:r>
                    <m:sSup>
                      <m:sSupPr>
                        <m:ctrlPr>
                          <a:rPr lang="en-US" altLang="zh-CN" sz="2000" b="1" i="1" smtClean="0">
                            <a:solidFill>
                              <a:schemeClr val="accent6">
                                <a:lumMod val="50000"/>
                              </a:schemeClr>
                            </a:solidFill>
                            <a:latin typeface="Cambria Math" panose="02040503050406030204" pitchFamily="18" charset="0"/>
                          </a:rPr>
                        </m:ctrlPr>
                      </m:sSupPr>
                      <m:e>
                        <m:r>
                          <a:rPr lang="en-US" altLang="zh-CN" sz="2000" b="1" i="1" smtClean="0">
                            <a:solidFill>
                              <a:schemeClr val="accent6">
                                <a:lumMod val="50000"/>
                              </a:schemeClr>
                            </a:solidFill>
                            <a:latin typeface="Cambria Math" panose="02040503050406030204" pitchFamily="18" charset="0"/>
                          </a:rPr>
                          <m:t>𝑹</m:t>
                        </m:r>
                      </m:e>
                      <m:sup>
                        <m:r>
                          <a:rPr lang="en-US" altLang="zh-CN" sz="2000" b="1" i="1" smtClean="0">
                            <a:solidFill>
                              <a:schemeClr val="accent6">
                                <a:lumMod val="50000"/>
                              </a:schemeClr>
                            </a:solidFill>
                            <a:latin typeface="Cambria Math" panose="02040503050406030204" pitchFamily="18" charset="0"/>
                          </a:rPr>
                          <m:t>∗</m:t>
                        </m:r>
                      </m:sup>
                    </m:sSup>
                    <m:r>
                      <a:rPr lang="en-US" altLang="zh-CN" sz="2000" b="1" i="1" smtClean="0">
                        <a:solidFill>
                          <a:schemeClr val="accent6">
                            <a:lumMod val="50000"/>
                          </a:schemeClr>
                        </a:solidFill>
                        <a:latin typeface="Cambria Math" panose="02040503050406030204" pitchFamily="18" charset="0"/>
                      </a:rPr>
                      <m:t>, </m:t>
                    </m:r>
                    <m:d>
                      <m:dPr>
                        <m:begChr m:val="⟨"/>
                        <m:endChr m:val="⟩"/>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𝒚</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𝒛</m:t>
                        </m:r>
                      </m:e>
                    </m:d>
                    <m:r>
                      <a:rPr lang="en-US" altLang="zh-CN" sz="2000" b="1" i="1" smtClean="0">
                        <a:solidFill>
                          <a:schemeClr val="accent6">
                            <a:lumMod val="50000"/>
                          </a:schemeClr>
                        </a:solidFill>
                        <a:latin typeface="Cambria Math" panose="02040503050406030204" pitchFamily="18" charset="0"/>
                      </a:rPr>
                      <m:t>∈</m:t>
                    </m:r>
                    <m:sSup>
                      <m:sSupPr>
                        <m:ctrlPr>
                          <a:rPr lang="en-US" altLang="zh-CN" sz="2000" b="1" i="1" smtClean="0">
                            <a:solidFill>
                              <a:schemeClr val="accent6">
                                <a:lumMod val="50000"/>
                              </a:schemeClr>
                            </a:solidFill>
                            <a:latin typeface="Cambria Math" panose="02040503050406030204" pitchFamily="18" charset="0"/>
                          </a:rPr>
                        </m:ctrlPr>
                      </m:sSupPr>
                      <m:e>
                        <m:r>
                          <a:rPr lang="en-US" altLang="zh-CN" sz="2000" b="1" i="1" smtClean="0">
                            <a:solidFill>
                              <a:schemeClr val="accent6">
                                <a:lumMod val="50000"/>
                              </a:schemeClr>
                            </a:solidFill>
                            <a:latin typeface="Cambria Math" panose="02040503050406030204" pitchFamily="18" charset="0"/>
                          </a:rPr>
                          <m:t>𝑹</m:t>
                        </m:r>
                      </m:e>
                      <m:sup>
                        <m:r>
                          <a:rPr lang="en-US" altLang="zh-CN" sz="2000" b="1" i="1" smtClean="0">
                            <a:solidFill>
                              <a:schemeClr val="accent6">
                                <a:lumMod val="50000"/>
                              </a:schemeClr>
                            </a:solidFill>
                            <a:latin typeface="Cambria Math" panose="02040503050406030204" pitchFamily="18" charset="0"/>
                          </a:rPr>
                          <m:t>∗</m:t>
                        </m:r>
                      </m:sup>
                    </m:sSup>
                  </m:oMath>
                </a14:m>
                <a:endParaRPr lang="en-US" altLang="zh-CN" sz="2000" b="1">
                  <a:solidFill>
                    <a:schemeClr val="accent6">
                      <a:lumMod val="50000"/>
                    </a:schemeClr>
                  </a:solidFill>
                </a:endParaRPr>
              </a:p>
              <a:p>
                <a:pPr marL="800100" lvl="1" indent="-342900">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即存在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𝒊</m:t>
                    </m:r>
                  </m:oMath>
                </a14:m>
                <a:r>
                  <a:rPr lang="zh-CN" altLang="en-US" b="1">
                    <a:solidFill>
                      <a:schemeClr val="accent2">
                        <a:lumMod val="50000"/>
                      </a:schemeClr>
                    </a:solidFill>
                    <a:latin typeface="楷体" panose="02010609060101010101" pitchFamily="49" charset="-122"/>
                    <a:ea typeface="楷体" panose="02010609060101010101" pitchFamily="49" charset="-122"/>
                  </a:rPr>
                  <a:t>使得</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𝒚</m:t>
                        </m:r>
                      </m:e>
                    </m:d>
                    <m:r>
                      <a:rPr lang="en-US" altLang="zh-CN" b="1" i="1" smtClean="0">
                        <a:solidFill>
                          <a:schemeClr val="accent2">
                            <a:lumMod val="50000"/>
                          </a:schemeClr>
                        </a:solidFill>
                        <a:latin typeface="Cambria Math" panose="02040503050406030204" pitchFamily="18" charset="0"/>
                      </a:rPr>
                      <m:t>∈</m:t>
                    </m:r>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𝑹</m:t>
                        </m:r>
                      </m:e>
                      <m:sup>
                        <m:r>
                          <a:rPr lang="en-US" altLang="zh-CN" b="1" i="1" smtClean="0">
                            <a:solidFill>
                              <a:schemeClr val="accent2">
                                <a:lumMod val="50000"/>
                              </a:schemeClr>
                            </a:solidFill>
                            <a:latin typeface="Cambria Math" panose="02040503050406030204" pitchFamily="18" charset="0"/>
                          </a:rPr>
                          <m:t>𝒊</m:t>
                        </m:r>
                      </m:sup>
                    </m:sSup>
                  </m:oMath>
                </a14:m>
                <a:r>
                  <a:rPr lang="zh-CN" altLang="en-US" b="1">
                    <a:solidFill>
                      <a:schemeClr val="accent2">
                        <a:lumMod val="50000"/>
                      </a:schemeClr>
                    </a:solidFill>
                    <a:latin typeface="楷体" panose="02010609060101010101" pitchFamily="49" charset="-122"/>
                    <a:ea typeface="楷体" panose="02010609060101010101" pitchFamily="49" charset="-122"/>
                  </a:rPr>
                  <a:t>，且存在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𝒋</m:t>
                    </m:r>
                  </m:oMath>
                </a14:m>
                <a:r>
                  <a:rPr lang="zh-CN" altLang="en-US" b="1">
                    <a:solidFill>
                      <a:schemeClr val="accent2">
                        <a:lumMod val="50000"/>
                      </a:schemeClr>
                    </a:solidFill>
                    <a:latin typeface="楷体" panose="02010609060101010101" pitchFamily="49" charset="-122"/>
                    <a:ea typeface="楷体" panose="02010609060101010101" pitchFamily="49" charset="-122"/>
                  </a:rPr>
                  <a:t>使得</a:t>
                </a:r>
                <a14:m>
                  <m:oMath xmlns:m="http://schemas.openxmlformats.org/officeDocument/2006/math">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𝒛</m:t>
                        </m:r>
                      </m:e>
                    </m:d>
                    <m:r>
                      <a:rPr lang="en-US" altLang="zh-CN" b="1" i="1" smtClean="0">
                        <a:solidFill>
                          <a:schemeClr val="accent2">
                            <a:lumMod val="50000"/>
                          </a:schemeClr>
                        </a:solidFill>
                        <a:latin typeface="Cambria Math" panose="02040503050406030204" pitchFamily="18" charset="0"/>
                      </a:rPr>
                      <m:t>∈</m:t>
                    </m:r>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𝑹</m:t>
                        </m:r>
                      </m:e>
                      <m:sup>
                        <m:r>
                          <a:rPr lang="en-US" altLang="zh-CN" b="1" i="1" smtClean="0">
                            <a:solidFill>
                              <a:schemeClr val="accent2">
                                <a:lumMod val="50000"/>
                              </a:schemeClr>
                            </a:solidFill>
                            <a:latin typeface="Cambria Math" panose="02040503050406030204" pitchFamily="18" charset="0"/>
                          </a:rPr>
                          <m:t>𝒋</m:t>
                        </m:r>
                      </m:sup>
                    </m:sSup>
                  </m:oMath>
                </a14:m>
                <a:r>
                  <a:rPr lang="zh-CN" altLang="en-US" b="1">
                    <a:solidFill>
                      <a:schemeClr val="accent2">
                        <a:lumMod val="50000"/>
                      </a:schemeClr>
                    </a:solidFill>
                    <a:latin typeface="楷体" panose="02010609060101010101" pitchFamily="49" charset="-122"/>
                    <a:ea typeface="楷体" panose="02010609060101010101" pitchFamily="49" charset="-122"/>
                  </a:rPr>
                  <a:t>，从而</a:t>
                </a:r>
                <a14:m>
                  <m:oMath xmlns:m="http://schemas.openxmlformats.org/officeDocument/2006/math">
                    <m:d>
                      <m:dPr>
                        <m:begChr m:val="⟨"/>
                        <m:endChr m:val="⟩"/>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r>
                          <a:rPr lang="en-US" altLang="zh-CN" b="1" i="1" smtClean="0">
                            <a:solidFill>
                              <a:srgbClr val="C00000"/>
                            </a:solidFill>
                            <a:latin typeface="Cambria Math" panose="02040503050406030204" pitchFamily="18" charset="0"/>
                          </a:rPr>
                          <m:t>, </m:t>
                        </m:r>
                        <m:r>
                          <a:rPr lang="en-US" altLang="zh-CN" b="1" i="1" smtClean="0">
                            <a:solidFill>
                              <a:srgbClr val="C00000"/>
                            </a:solidFill>
                            <a:latin typeface="Cambria Math" panose="02040503050406030204" pitchFamily="18" charset="0"/>
                          </a:rPr>
                          <m:t>𝒛</m:t>
                        </m:r>
                      </m:e>
                    </m:d>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𝑹</m:t>
                        </m:r>
                      </m:e>
                      <m:sup>
                        <m:r>
                          <a:rPr lang="en-US" altLang="zh-CN" b="1" i="1" smtClean="0">
                            <a:solidFill>
                              <a:srgbClr val="C00000"/>
                            </a:solidFill>
                            <a:latin typeface="Cambria Math" panose="02040503050406030204" pitchFamily="18" charset="0"/>
                          </a:rPr>
                          <m:t>𝒊</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𝒋</m:t>
                        </m:r>
                      </m:sup>
                    </m:sSup>
                    <m:r>
                      <a:rPr lang="en-US" altLang="zh-CN" b="1" i="1" smtClean="0">
                        <a:solidFill>
                          <a:srgbClr val="C00000"/>
                        </a:solidFill>
                        <a:latin typeface="Cambria Math" panose="02040503050406030204" pitchFamily="18" charset="0"/>
                      </a:rPr>
                      <m:t>⊆</m:t>
                    </m:r>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𝑹</m:t>
                        </m:r>
                      </m:e>
                      <m:sup>
                        <m:r>
                          <a:rPr lang="en-US" altLang="zh-CN" b="1" i="1" smtClean="0">
                            <a:solidFill>
                              <a:srgbClr val="C00000"/>
                            </a:solidFill>
                            <a:latin typeface="Cambria Math" panose="02040503050406030204" pitchFamily="18" charset="0"/>
                          </a:rPr>
                          <m:t>∗</m:t>
                        </m:r>
                      </m:sup>
                    </m:sSup>
                  </m:oMath>
                </a14:m>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300"/>
                  </a:spcAft>
                  <a:buFont typeface="Arial" panose="020B0604020202020204" pitchFamily="34" charset="0"/>
                  <a:buChar char="•"/>
                </a:pPr>
                <a:r>
                  <a:rPr lang="zh-CN" altLang="en-US" sz="2000" b="1">
                    <a:solidFill>
                      <a:schemeClr val="accent6">
                        <a:lumMod val="50000"/>
                      </a:schemeClr>
                    </a:solidFill>
                  </a:rPr>
                  <a:t>对任意传递关系</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𝑺</m:t>
                    </m:r>
                  </m:oMath>
                </a14:m>
                <a:r>
                  <a:rPr lang="zh-CN" altLang="en-US" sz="2000" b="1">
                    <a:solidFill>
                      <a:schemeClr val="accent6">
                        <a:lumMod val="50000"/>
                      </a:schemeClr>
                    </a:solidFill>
                  </a:rPr>
                  <a:t>，若</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𝑹</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𝑺</m:t>
                    </m:r>
                  </m:oMath>
                </a14:m>
                <a:r>
                  <a:rPr lang="zh-CN" altLang="en-US" sz="2000" b="1">
                    <a:solidFill>
                      <a:schemeClr val="accent6">
                        <a:lumMod val="50000"/>
                      </a:schemeClr>
                    </a:solidFill>
                  </a:rPr>
                  <a:t>，则</a:t>
                </a:r>
                <a:endParaRPr lang="en-US" altLang="zh-CN" sz="2000" b="1">
                  <a:solidFill>
                    <a:schemeClr val="accent6">
                      <a:lumMod val="50000"/>
                    </a:schemeClr>
                  </a:solidFill>
                </a:endParaRPr>
              </a:p>
              <a:p>
                <a:pPr marL="800100" lvl="1" indent="-342900">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对任意正整数</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𝒏</m:t>
                    </m:r>
                  </m:oMath>
                </a14:m>
                <a:r>
                  <a:rPr lang="zh-CN" altLang="en-US" b="1">
                    <a:solidFill>
                      <a:schemeClr val="accent2">
                        <a:lumMod val="50000"/>
                      </a:schemeClr>
                    </a:solidFill>
                    <a:latin typeface="楷体" panose="02010609060101010101" pitchFamily="49" charset="-122"/>
                    <a:ea typeface="楷体" panose="02010609060101010101" pitchFamily="49" charset="-122"/>
                  </a:rPr>
                  <a:t>有</a:t>
                </a:r>
                <a14:m>
                  <m:oMath xmlns:m="http://schemas.openxmlformats.org/officeDocument/2006/math">
                    <m:sSup>
                      <m:sSupPr>
                        <m:ctrlPr>
                          <a:rPr lang="en-US" altLang="zh-CN" b="1" i="1" smtClean="0">
                            <a:solidFill>
                              <a:srgbClr val="C00000"/>
                            </a:solidFill>
                            <a:latin typeface="Cambria Math" panose="02040503050406030204" pitchFamily="18" charset="0"/>
                            <a:ea typeface="楷体" panose="02010609060101010101" pitchFamily="49" charset="-122"/>
                          </a:rPr>
                        </m:ctrlPr>
                      </m:sSupPr>
                      <m:e>
                        <m:r>
                          <a:rPr lang="en-US" altLang="zh-CN" b="1">
                            <a:solidFill>
                              <a:srgbClr val="C00000"/>
                            </a:solidFill>
                            <a:latin typeface="Cambria Math" panose="02040503050406030204" pitchFamily="18" charset="0"/>
                            <a:ea typeface="楷体" panose="02010609060101010101" pitchFamily="49" charset="-122"/>
                          </a:rPr>
                          <m:t>𝑹</m:t>
                        </m:r>
                      </m:e>
                      <m:sup>
                        <m:r>
                          <a:rPr lang="en-US" altLang="zh-CN" b="1">
                            <a:solidFill>
                              <a:srgbClr val="C00000"/>
                            </a:solidFill>
                            <a:latin typeface="Cambria Math" panose="02040503050406030204" pitchFamily="18" charset="0"/>
                            <a:ea typeface="楷体" panose="02010609060101010101" pitchFamily="49" charset="-122"/>
                          </a:rPr>
                          <m:t>𝒏</m:t>
                        </m:r>
                      </m:sup>
                    </m:sSup>
                    <m:r>
                      <a:rPr lang="en-US" altLang="zh-CN" b="1">
                        <a:solidFill>
                          <a:srgbClr val="C00000"/>
                        </a:solidFill>
                        <a:latin typeface="Cambria Math" panose="02040503050406030204" pitchFamily="18" charset="0"/>
                        <a:ea typeface="楷体" panose="02010609060101010101" pitchFamily="49" charset="-122"/>
                      </a:rPr>
                      <m:t>⊆</m:t>
                    </m:r>
                    <m:r>
                      <a:rPr lang="en-US" altLang="zh-CN" b="1">
                        <a:solidFill>
                          <a:srgbClr val="C00000"/>
                        </a:solidFill>
                        <a:latin typeface="Cambria Math" panose="02040503050406030204" pitchFamily="18" charset="0"/>
                        <a:ea typeface="楷体" panose="02010609060101010101" pitchFamily="49" charset="-122"/>
                      </a:rPr>
                      <m:t>𝑺</m:t>
                    </m:r>
                  </m:oMath>
                </a14:m>
                <a:r>
                  <a:rPr lang="zh-CN" altLang="en-US" b="1">
                    <a:solidFill>
                      <a:schemeClr val="accent2">
                        <a:lumMod val="50000"/>
                      </a:schemeClr>
                    </a:solidFill>
                    <a:latin typeface="楷体" panose="02010609060101010101" pitchFamily="49" charset="-122"/>
                    <a:ea typeface="楷体" panose="02010609060101010101" pitchFamily="49" charset="-122"/>
                  </a:rPr>
                  <a:t>，因为由数学归纳法，</a:t>
                </a:r>
                <a:r>
                  <a:rPr lang="zh-CN" altLang="en-US" b="1">
                    <a:solidFill>
                      <a:srgbClr val="C00000"/>
                    </a:solidFill>
                    <a:latin typeface="+mn-ea"/>
                  </a:rPr>
                  <a:t>归纳基</a:t>
                </a:r>
                <a:r>
                  <a:rPr lang="zh-CN" altLang="en-US" b="1">
                    <a:solidFill>
                      <a:schemeClr val="accent2">
                        <a:lumMod val="50000"/>
                      </a:schemeClr>
                    </a:solidFill>
                    <a:latin typeface="楷体" panose="02010609060101010101" pitchFamily="49" charset="-122"/>
                    <a:ea typeface="楷体" panose="02010609060101010101" pitchFamily="49" charset="-122"/>
                  </a:rPr>
                  <a:t>：当</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𝒏</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𝟏</m:t>
                    </m:r>
                  </m:oMath>
                </a14:m>
                <a:r>
                  <a:rPr lang="zh-CN" altLang="en-US" b="1">
                    <a:solidFill>
                      <a:schemeClr val="accent2">
                        <a:lumMod val="50000"/>
                      </a:schemeClr>
                    </a:solidFill>
                    <a:latin typeface="楷体" panose="02010609060101010101" pitchFamily="49" charset="-122"/>
                    <a:ea typeface="楷体" panose="02010609060101010101" pitchFamily="49" charset="-122"/>
                  </a:rPr>
                  <a:t>时有</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𝑹</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𝑺</m:t>
                    </m:r>
                  </m:oMath>
                </a14:m>
                <a:r>
                  <a:rPr lang="en-US" altLang="zh-CN" b="1">
                    <a:solidFill>
                      <a:schemeClr val="accent2">
                        <a:lumMod val="50000"/>
                      </a:schemeClr>
                    </a:solidFill>
                    <a:latin typeface="楷体" panose="02010609060101010101" pitchFamily="49" charset="-122"/>
                    <a:ea typeface="楷体" panose="02010609060101010101" pitchFamily="49" charset="-122"/>
                  </a:rPr>
                  <a:t>,</a:t>
                </a:r>
                <a:endParaRPr lang="en-US" altLang="zh-CN" b="1">
                  <a:solidFill>
                    <a:schemeClr val="accent2">
                      <a:lumMod val="50000"/>
                    </a:schemeClr>
                  </a:solidFill>
                  <a:latin typeface="楷体" panose="02010609060101010101" pitchFamily="49" charset="-122"/>
                  <a:ea typeface="楷体" panose="02010609060101010101" pitchFamily="49" charset="-122"/>
                </a:endParaRPr>
              </a:p>
              <a:p>
                <a:pPr marL="1257300" lvl="2" indent="-342900">
                  <a:lnSpc>
                    <a:spcPts val="2800"/>
                  </a:lnSpc>
                  <a:spcBef>
                    <a:spcPts val="600"/>
                  </a:spcBef>
                  <a:spcAft>
                    <a:spcPts val="300"/>
                  </a:spcAft>
                  <a:buFont typeface="Arial" panose="020B0604020202020204" pitchFamily="34" charset="0"/>
                  <a:buChar char="•"/>
                </a:pPr>
                <a:r>
                  <a:rPr lang="zh-CN" altLang="en-US" b="1">
                    <a:solidFill>
                      <a:srgbClr val="C00000"/>
                    </a:solidFill>
                  </a:rPr>
                  <a:t>归纳步</a:t>
                </a:r>
                <a:r>
                  <a:rPr lang="zh-CN" altLang="en-US" b="1">
                    <a:solidFill>
                      <a:schemeClr val="accent4">
                        <a:lumMod val="50000"/>
                      </a:schemeClr>
                    </a:solidFill>
                  </a:rPr>
                  <a:t>：假设</a:t>
                </a:r>
                <a14:m>
                  <m:oMath xmlns:m="http://schemas.openxmlformats.org/officeDocument/2006/math">
                    <m:sSup>
                      <m:sSupPr>
                        <m:ctrlPr>
                          <a:rPr lang="en-US" altLang="zh-CN" b="1" i="1" smtClean="0">
                            <a:solidFill>
                              <a:schemeClr val="accent4">
                                <a:lumMod val="50000"/>
                              </a:schemeClr>
                            </a:solidFill>
                            <a:latin typeface="Cambria Math" panose="02040503050406030204" pitchFamily="18" charset="0"/>
                          </a:rPr>
                        </m:ctrlPr>
                      </m:sSupPr>
                      <m:e>
                        <m:r>
                          <a:rPr lang="en-US" altLang="zh-CN" b="1" i="1" smtClean="0">
                            <a:solidFill>
                              <a:schemeClr val="accent4">
                                <a:lumMod val="50000"/>
                              </a:schemeClr>
                            </a:solidFill>
                            <a:latin typeface="Cambria Math" panose="02040503050406030204" pitchFamily="18" charset="0"/>
                          </a:rPr>
                          <m:t>𝑹</m:t>
                        </m:r>
                      </m:e>
                      <m:sup>
                        <m:r>
                          <a:rPr lang="en-US" altLang="zh-CN" b="1" i="1" smtClean="0">
                            <a:solidFill>
                              <a:schemeClr val="accent4">
                                <a:lumMod val="50000"/>
                              </a:schemeClr>
                            </a:solidFill>
                            <a:latin typeface="Cambria Math" panose="02040503050406030204" pitchFamily="18" charset="0"/>
                          </a:rPr>
                          <m:t>𝒌</m:t>
                        </m:r>
                      </m:sup>
                    </m:sSup>
                    <m:r>
                      <a:rPr lang="en-US" altLang="zh-CN" b="1" i="1" smtClean="0">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𝑺</m:t>
                    </m:r>
                  </m:oMath>
                </a14:m>
                <a:r>
                  <a:rPr lang="zh-CN" altLang="en-US" b="1">
                    <a:solidFill>
                      <a:schemeClr val="accent4">
                        <a:lumMod val="50000"/>
                      </a:schemeClr>
                    </a:solidFill>
                  </a:rPr>
                  <a:t>，则</a:t>
                </a:r>
                <a14:m>
                  <m:oMath xmlns:m="http://schemas.openxmlformats.org/officeDocument/2006/math">
                    <m:sSup>
                      <m:sSupPr>
                        <m:ctrlPr>
                          <a:rPr lang="en-US" altLang="zh-CN" b="1" i="1" smtClean="0">
                            <a:solidFill>
                              <a:schemeClr val="accent4">
                                <a:lumMod val="50000"/>
                              </a:schemeClr>
                            </a:solidFill>
                            <a:latin typeface="Cambria Math" panose="02040503050406030204" pitchFamily="18" charset="0"/>
                          </a:rPr>
                        </m:ctrlPr>
                      </m:sSupPr>
                      <m:e>
                        <m:r>
                          <a:rPr lang="en-US" altLang="zh-CN" b="1" i="1" smtClean="0">
                            <a:solidFill>
                              <a:schemeClr val="accent4">
                                <a:lumMod val="50000"/>
                              </a:schemeClr>
                            </a:solidFill>
                            <a:latin typeface="Cambria Math" panose="02040503050406030204" pitchFamily="18" charset="0"/>
                          </a:rPr>
                          <m:t>𝑹</m:t>
                        </m:r>
                      </m:e>
                      <m:sup>
                        <m:r>
                          <a:rPr lang="en-US" altLang="zh-CN" b="1" i="1">
                            <a:solidFill>
                              <a:schemeClr val="accent4">
                                <a:lumMod val="50000"/>
                              </a:schemeClr>
                            </a:solidFill>
                            <a:latin typeface="Cambria Math" panose="02040503050406030204" pitchFamily="18" charset="0"/>
                          </a:rPr>
                          <m:t>𝒌</m:t>
                        </m:r>
                        <m:r>
                          <a:rPr lang="en-US" altLang="zh-CN" b="1" i="1">
                            <a:solidFill>
                              <a:schemeClr val="accent4">
                                <a:lumMod val="50000"/>
                              </a:schemeClr>
                            </a:solidFill>
                            <a:latin typeface="Cambria Math" panose="02040503050406030204" pitchFamily="18" charset="0"/>
                          </a:rPr>
                          <m:t>+</m:t>
                        </m:r>
                        <m:r>
                          <a:rPr lang="en-US" altLang="zh-CN" b="1" i="1">
                            <a:solidFill>
                              <a:schemeClr val="accent4">
                                <a:lumMod val="50000"/>
                              </a:schemeClr>
                            </a:solidFill>
                            <a:latin typeface="Cambria Math" panose="02040503050406030204" pitchFamily="18" charset="0"/>
                          </a:rPr>
                          <m:t>𝟏</m:t>
                        </m:r>
                      </m:sup>
                    </m:sSup>
                    <m:r>
                      <a:rPr lang="en-US" altLang="zh-CN" b="1" i="1">
                        <a:solidFill>
                          <a:schemeClr val="accent4">
                            <a:lumMod val="50000"/>
                          </a:schemeClr>
                        </a:solidFill>
                        <a:latin typeface="Cambria Math" panose="02040503050406030204" pitchFamily="18" charset="0"/>
                      </a:rPr>
                      <m:t> = </m:t>
                    </m:r>
                    <m:sSup>
                      <m:sSupPr>
                        <m:ctrlPr>
                          <a:rPr lang="en-US" altLang="zh-CN" b="1" i="1">
                            <a:solidFill>
                              <a:schemeClr val="accent4">
                                <a:lumMod val="50000"/>
                              </a:schemeClr>
                            </a:solidFill>
                            <a:latin typeface="Cambria Math" panose="02040503050406030204" pitchFamily="18" charset="0"/>
                          </a:rPr>
                        </m:ctrlPr>
                      </m:sSupPr>
                      <m:e>
                        <m:r>
                          <a:rPr lang="en-US" altLang="zh-CN" b="1" i="1">
                            <a:solidFill>
                              <a:schemeClr val="accent4">
                                <a:lumMod val="50000"/>
                              </a:schemeClr>
                            </a:solidFill>
                            <a:latin typeface="Cambria Math" panose="02040503050406030204" pitchFamily="18" charset="0"/>
                          </a:rPr>
                          <m:t>𝑹</m:t>
                        </m:r>
                      </m:e>
                      <m:sup>
                        <m:r>
                          <a:rPr lang="en-US" altLang="zh-CN" b="1" i="1">
                            <a:solidFill>
                              <a:schemeClr val="accent4">
                                <a:lumMod val="50000"/>
                              </a:schemeClr>
                            </a:solidFill>
                            <a:latin typeface="Cambria Math" panose="02040503050406030204" pitchFamily="18" charset="0"/>
                          </a:rPr>
                          <m:t>𝒌</m:t>
                        </m:r>
                      </m:sup>
                    </m:sSup>
                    <m:r>
                      <a:rPr lang="en-US" altLang="zh-CN" b="1" i="1">
                        <a:solidFill>
                          <a:schemeClr val="accent4">
                            <a:lumMod val="50000"/>
                          </a:schemeClr>
                        </a:solidFill>
                        <a:latin typeface="Cambria Math" panose="02040503050406030204" pitchFamily="18" charset="0"/>
                      </a:rPr>
                      <m:t>∘</m:t>
                    </m:r>
                    <m:r>
                      <a:rPr lang="en-US" altLang="zh-CN" b="1" i="1">
                        <a:solidFill>
                          <a:schemeClr val="accent4">
                            <a:lumMod val="50000"/>
                          </a:schemeClr>
                        </a:solidFill>
                        <a:latin typeface="Cambria Math" panose="02040503050406030204" pitchFamily="18" charset="0"/>
                      </a:rPr>
                      <m:t>𝑹</m:t>
                    </m:r>
                    <m:r>
                      <a:rPr lang="en-US" altLang="zh-CN" b="1" i="1">
                        <a:solidFill>
                          <a:schemeClr val="accent4">
                            <a:lumMod val="50000"/>
                          </a:schemeClr>
                        </a:solidFill>
                        <a:latin typeface="Cambria Math" panose="02040503050406030204" pitchFamily="18" charset="0"/>
                      </a:rPr>
                      <m:t>⊆</m:t>
                    </m:r>
                    <m:r>
                      <a:rPr lang="en-US" altLang="zh-CN" b="1" i="1">
                        <a:solidFill>
                          <a:schemeClr val="accent4">
                            <a:lumMod val="50000"/>
                          </a:schemeClr>
                        </a:solidFill>
                        <a:latin typeface="Cambria Math" panose="02040503050406030204" pitchFamily="18" charset="0"/>
                      </a:rPr>
                      <m:t>𝑺</m:t>
                    </m:r>
                    <m:r>
                      <a:rPr lang="en-US" altLang="zh-CN" b="1" i="1">
                        <a:solidFill>
                          <a:schemeClr val="accent4">
                            <a:lumMod val="50000"/>
                          </a:schemeClr>
                        </a:solidFill>
                        <a:latin typeface="Cambria Math" panose="02040503050406030204" pitchFamily="18" charset="0"/>
                      </a:rPr>
                      <m:t>∘</m:t>
                    </m:r>
                    <m:r>
                      <a:rPr lang="en-US" altLang="zh-CN" b="1" i="1">
                        <a:solidFill>
                          <a:schemeClr val="accent4">
                            <a:lumMod val="50000"/>
                          </a:schemeClr>
                        </a:solidFill>
                        <a:latin typeface="Cambria Math" panose="02040503050406030204" pitchFamily="18" charset="0"/>
                      </a:rPr>
                      <m:t>𝑺</m:t>
                    </m:r>
                    <m:r>
                      <a:rPr lang="en-US" altLang="zh-CN" b="1" i="1">
                        <a:solidFill>
                          <a:schemeClr val="accent4">
                            <a:lumMod val="50000"/>
                          </a:schemeClr>
                        </a:solidFill>
                        <a:latin typeface="Cambria Math" panose="02040503050406030204" pitchFamily="18" charset="0"/>
                      </a:rPr>
                      <m:t>⊆</m:t>
                    </m:r>
                    <m:r>
                      <a:rPr lang="en-US" altLang="zh-CN" b="1" i="1">
                        <a:solidFill>
                          <a:schemeClr val="accent4">
                            <a:lumMod val="50000"/>
                          </a:schemeClr>
                        </a:solidFill>
                        <a:latin typeface="Cambria Math" panose="02040503050406030204" pitchFamily="18" charset="0"/>
                      </a:rPr>
                      <m:t>𝑺</m:t>
                    </m:r>
                  </m:oMath>
                </a14:m>
                <a:r>
                  <a:rPr lang="zh-CN" altLang="en-US" b="1" i="0">
                    <a:solidFill>
                      <a:schemeClr val="accent4">
                        <a:lumMod val="50000"/>
                      </a:schemeClr>
                    </a:solidFill>
                    <a:latin typeface="+mj-lt"/>
                  </a:rPr>
                  <a:t>，</a:t>
                </a:r>
                <a:r>
                  <a:rPr lang="zh-CN" altLang="en-US" b="1">
                    <a:solidFill>
                      <a:schemeClr val="accent4">
                        <a:lumMod val="50000"/>
                      </a:schemeClr>
                    </a:solidFill>
                  </a:rPr>
                  <a:t>这里前一个子集关系是因为</a:t>
                </a:r>
                <a:r>
                  <a:rPr lang="zh-CN" altLang="en-US" b="1">
                    <a:solidFill>
                      <a:srgbClr val="C00000"/>
                    </a:solidFill>
                  </a:rPr>
                  <a:t>归纳假设</a:t>
                </a:r>
                <a:r>
                  <a:rPr lang="zh-CN" altLang="en-US" b="1">
                    <a:solidFill>
                      <a:schemeClr val="accent4">
                        <a:lumMod val="50000"/>
                      </a:schemeClr>
                    </a:solidFill>
                  </a:rPr>
                  <a:t>及</a:t>
                </a:r>
                <a:r>
                  <a:rPr lang="zh-CN" altLang="en-US" b="1">
                    <a:solidFill>
                      <a:srgbClr val="C00000"/>
                    </a:solidFill>
                  </a:rPr>
                  <a:t>关系复合运算保持子集关系</a:t>
                </a:r>
                <a:r>
                  <a:rPr lang="zh-CN" altLang="en-US" b="1">
                    <a:solidFill>
                      <a:schemeClr val="accent4">
                        <a:lumMod val="50000"/>
                      </a:schemeClr>
                    </a:solidFill>
                  </a:rPr>
                  <a:t>，而后一个子集关系是因为</a:t>
                </a:r>
                <a14:m>
                  <m:oMath xmlns:m="http://schemas.openxmlformats.org/officeDocument/2006/math">
                    <m:r>
                      <a:rPr lang="en-US" altLang="zh-CN" b="1" i="1" smtClean="0">
                        <a:solidFill>
                          <a:srgbClr val="C00000"/>
                        </a:solidFill>
                        <a:latin typeface="Cambria Math" panose="02040503050406030204" pitchFamily="18" charset="0"/>
                      </a:rPr>
                      <m:t>𝑺</m:t>
                    </m:r>
                  </m:oMath>
                </a14:m>
                <a:r>
                  <a:rPr lang="zh-CN" altLang="en-US" b="1">
                    <a:solidFill>
                      <a:srgbClr val="C00000"/>
                    </a:solidFill>
                  </a:rPr>
                  <a:t>是传递关系</a:t>
                </a:r>
                <a:r>
                  <a:rPr lang="zh-CN" altLang="en-US" b="1">
                    <a:solidFill>
                      <a:schemeClr val="accent4">
                        <a:lumMod val="50000"/>
                      </a:schemeClr>
                    </a:solidFill>
                  </a:rPr>
                  <a:t>，从而</a:t>
                </a:r>
                <a:r>
                  <a:rPr lang="zh-CN" altLang="en-US" b="1">
                    <a:solidFill>
                      <a:srgbClr val="C00000"/>
                    </a:solidFill>
                  </a:rPr>
                  <a:t>有</a:t>
                </a:r>
                <a14:m>
                  <m:oMath xmlns:m="http://schemas.openxmlformats.org/officeDocument/2006/math">
                    <m:r>
                      <a:rPr lang="en-US" altLang="zh-CN" b="1" i="1" smtClean="0">
                        <a:solidFill>
                          <a:srgbClr val="C00000"/>
                        </a:solidFill>
                        <a:latin typeface="Cambria Math" panose="02040503050406030204" pitchFamily="18" charset="0"/>
                      </a:rPr>
                      <m:t>𝑺</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𝑺</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𝑺</m:t>
                    </m:r>
                  </m:oMath>
                </a14:m>
                <a:endParaRPr lang="zh-CN" altLang="en-US" b="1">
                  <a:solidFill>
                    <a:srgbClr val="C00000"/>
                  </a:solidFill>
                </a:endParaRPr>
              </a:p>
              <a:p>
                <a:pPr marL="800100" lvl="1" indent="-342900">
                  <a:lnSpc>
                    <a:spcPts val="2800"/>
                  </a:lnSpc>
                  <a:spcBef>
                    <a:spcPts val="600"/>
                  </a:spcBef>
                  <a:spcAft>
                    <a:spcPts val="3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从而对任意</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𝒙</m:t>
                    </m:r>
                    <m:r>
                      <a:rPr lang="en-US" altLang="zh-CN" b="1">
                        <a:solidFill>
                          <a:schemeClr val="accent2">
                            <a:lumMod val="50000"/>
                          </a:schemeClr>
                        </a:solidFill>
                        <a:latin typeface="Cambria Math" panose="02040503050406030204" pitchFamily="18" charset="0"/>
                        <a:ea typeface="楷体" panose="02010609060101010101" pitchFamily="49" charset="-122"/>
                      </a:rPr>
                      <m:t>, </m:t>
                    </m:r>
                    <m:r>
                      <a:rPr lang="en-US" altLang="zh-CN" b="1">
                        <a:solidFill>
                          <a:schemeClr val="accent2">
                            <a:lumMod val="50000"/>
                          </a:schemeClr>
                        </a:solidFill>
                        <a:latin typeface="Cambria Math" panose="02040503050406030204" pitchFamily="18" charset="0"/>
                        <a:ea typeface="楷体" panose="02010609060101010101" pitchFamily="49" charset="-122"/>
                      </a:rPr>
                      <m:t>𝒚</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𝑨</m:t>
                    </m:r>
                  </m:oMath>
                </a14:m>
                <a:r>
                  <a:rPr lang="zh-CN" altLang="en-US" b="1">
                    <a:solidFill>
                      <a:schemeClr val="accent2">
                        <a:lumMod val="50000"/>
                      </a:schemeClr>
                    </a:solidFill>
                    <a:latin typeface="楷体" panose="02010609060101010101" pitchFamily="49" charset="-122"/>
                    <a:ea typeface="楷体" panose="02010609060101010101" pitchFamily="49" charset="-122"/>
                  </a:rPr>
                  <a:t>，若</a:t>
                </a:r>
                <a14:m>
                  <m:oMath xmlns:m="http://schemas.openxmlformats.org/officeDocument/2006/math">
                    <m:d>
                      <m:dPr>
                        <m:begChr m:val="⟨"/>
                        <m:endChr m:val="⟩"/>
                        <m:ctrlPr>
                          <a:rPr lang="en-US" altLang="zh-CN" b="1" i="1">
                            <a:solidFill>
                              <a:schemeClr val="accent2">
                                <a:lumMod val="50000"/>
                              </a:schemeClr>
                            </a:solidFill>
                            <a:latin typeface="Cambria Math" panose="02040503050406030204" pitchFamily="18" charset="0"/>
                            <a:ea typeface="楷体" panose="02010609060101010101" pitchFamily="49" charset="-122"/>
                          </a:rPr>
                        </m:ctrlPr>
                      </m:dPr>
                      <m:e>
                        <m:r>
                          <a:rPr lang="en-US" altLang="zh-CN" b="1">
                            <a:solidFill>
                              <a:schemeClr val="accent2">
                                <a:lumMod val="50000"/>
                              </a:schemeClr>
                            </a:solidFill>
                            <a:latin typeface="Cambria Math" panose="02040503050406030204" pitchFamily="18" charset="0"/>
                            <a:ea typeface="楷体" panose="02010609060101010101" pitchFamily="49" charset="-122"/>
                          </a:rPr>
                          <m:t>𝒙</m:t>
                        </m:r>
                        <m:r>
                          <a:rPr lang="en-US" altLang="zh-CN" b="1">
                            <a:solidFill>
                              <a:schemeClr val="accent2">
                                <a:lumMod val="50000"/>
                              </a:schemeClr>
                            </a:solidFill>
                            <a:latin typeface="Cambria Math" panose="02040503050406030204" pitchFamily="18" charset="0"/>
                            <a:ea typeface="楷体" panose="02010609060101010101" pitchFamily="49" charset="-122"/>
                          </a:rPr>
                          <m:t>, </m:t>
                        </m:r>
                        <m:r>
                          <a:rPr lang="en-US" altLang="zh-CN" b="1">
                            <a:solidFill>
                              <a:schemeClr val="accent2">
                                <a:lumMod val="50000"/>
                              </a:schemeClr>
                            </a:solidFill>
                            <a:latin typeface="Cambria Math" panose="02040503050406030204" pitchFamily="18" charset="0"/>
                            <a:ea typeface="楷体" panose="02010609060101010101" pitchFamily="49" charset="-122"/>
                          </a:rPr>
                          <m:t>𝒚</m:t>
                        </m:r>
                      </m:e>
                    </m:d>
                    <m:r>
                      <a:rPr lang="en-US" altLang="zh-CN" b="1">
                        <a:solidFill>
                          <a:schemeClr val="accent2">
                            <a:lumMod val="50000"/>
                          </a:schemeClr>
                        </a:solidFill>
                        <a:latin typeface="Cambria Math" panose="02040503050406030204" pitchFamily="18" charset="0"/>
                        <a:ea typeface="楷体" panose="02010609060101010101" pitchFamily="49" charset="-122"/>
                      </a:rPr>
                      <m:t>∈</m:t>
                    </m:r>
                    <m:sSup>
                      <m:sSup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pPr>
                      <m:e>
                        <m:r>
                          <a:rPr lang="en-US" altLang="zh-CN" b="1">
                            <a:solidFill>
                              <a:schemeClr val="accent2">
                                <a:lumMod val="50000"/>
                              </a:schemeClr>
                            </a:solidFill>
                            <a:latin typeface="Cambria Math" panose="02040503050406030204" pitchFamily="18" charset="0"/>
                            <a:ea typeface="楷体" panose="02010609060101010101" pitchFamily="49" charset="-122"/>
                          </a:rPr>
                          <m:t>𝑹</m:t>
                        </m:r>
                      </m:e>
                      <m:sup>
                        <m:r>
                          <a:rPr lang="en-US" altLang="zh-CN" b="1">
                            <a:solidFill>
                              <a:schemeClr val="accent2">
                                <a:lumMod val="50000"/>
                              </a:schemeClr>
                            </a:solidFill>
                            <a:latin typeface="Cambria Math" panose="02040503050406030204" pitchFamily="18" charset="0"/>
                            <a:ea typeface="楷体" panose="02010609060101010101" pitchFamily="49" charset="-122"/>
                          </a:rPr>
                          <m:t>∗</m:t>
                        </m:r>
                      </m:sup>
                    </m:sSup>
                  </m:oMath>
                </a14:m>
                <a:r>
                  <a:rPr lang="zh-CN" altLang="en-US" b="1">
                    <a:solidFill>
                      <a:schemeClr val="accent2">
                        <a:lumMod val="50000"/>
                      </a:schemeClr>
                    </a:solidFill>
                    <a:latin typeface="楷体" panose="02010609060101010101" pitchFamily="49" charset="-122"/>
                    <a:ea typeface="楷体" panose="02010609060101010101" pitchFamily="49" charset="-122"/>
                  </a:rPr>
                  <a:t>，即存在</a:t>
                </a:r>
                <a14:m>
                  <m:oMath xmlns:m="http://schemas.openxmlformats.org/officeDocument/2006/math">
                    <m:r>
                      <a:rPr lang="en-US" altLang="zh-CN" b="1">
                        <a:solidFill>
                          <a:schemeClr val="accent2">
                            <a:lumMod val="50000"/>
                          </a:schemeClr>
                        </a:solidFill>
                        <a:latin typeface="Cambria Math" panose="02040503050406030204" pitchFamily="18" charset="0"/>
                        <a:ea typeface="楷体" panose="02010609060101010101" pitchFamily="49" charset="-122"/>
                      </a:rPr>
                      <m:t>𝒌</m:t>
                    </m:r>
                  </m:oMath>
                </a14:m>
                <a:r>
                  <a:rPr lang="zh-CN" altLang="en-US" b="1">
                    <a:solidFill>
                      <a:schemeClr val="accent2">
                        <a:lumMod val="50000"/>
                      </a:schemeClr>
                    </a:solidFill>
                    <a:latin typeface="楷体" panose="02010609060101010101" pitchFamily="49" charset="-122"/>
                    <a:ea typeface="楷体" panose="02010609060101010101" pitchFamily="49" charset="-122"/>
                  </a:rPr>
                  <a:t>使得</a:t>
                </a:r>
                <a14:m>
                  <m:oMath xmlns:m="http://schemas.openxmlformats.org/officeDocument/2006/math">
                    <m:d>
                      <m:dPr>
                        <m:begChr m:val="⟨"/>
                        <m:endChr m:val="⟩"/>
                        <m:ctrlPr>
                          <a:rPr lang="en-US" altLang="zh-CN" b="1" i="1">
                            <a:solidFill>
                              <a:schemeClr val="accent2">
                                <a:lumMod val="50000"/>
                              </a:schemeClr>
                            </a:solidFill>
                            <a:latin typeface="Cambria Math" panose="02040503050406030204" pitchFamily="18" charset="0"/>
                            <a:ea typeface="楷体" panose="02010609060101010101" pitchFamily="49" charset="-122"/>
                          </a:rPr>
                        </m:ctrlPr>
                      </m:dPr>
                      <m:e>
                        <m:r>
                          <a:rPr lang="en-US" altLang="zh-CN" b="1">
                            <a:solidFill>
                              <a:schemeClr val="accent2">
                                <a:lumMod val="50000"/>
                              </a:schemeClr>
                            </a:solidFill>
                            <a:latin typeface="Cambria Math" panose="02040503050406030204" pitchFamily="18" charset="0"/>
                            <a:ea typeface="楷体" panose="02010609060101010101" pitchFamily="49" charset="-122"/>
                          </a:rPr>
                          <m:t>𝒙</m:t>
                        </m:r>
                        <m:r>
                          <a:rPr lang="en-US" altLang="zh-CN" b="1">
                            <a:solidFill>
                              <a:schemeClr val="accent2">
                                <a:lumMod val="50000"/>
                              </a:schemeClr>
                            </a:solidFill>
                            <a:latin typeface="Cambria Math" panose="02040503050406030204" pitchFamily="18" charset="0"/>
                            <a:ea typeface="楷体" panose="02010609060101010101" pitchFamily="49" charset="-122"/>
                          </a:rPr>
                          <m:t>, </m:t>
                        </m:r>
                        <m:r>
                          <a:rPr lang="en-US" altLang="zh-CN" b="1">
                            <a:solidFill>
                              <a:schemeClr val="accent2">
                                <a:lumMod val="50000"/>
                              </a:schemeClr>
                            </a:solidFill>
                            <a:latin typeface="Cambria Math" panose="02040503050406030204" pitchFamily="18" charset="0"/>
                            <a:ea typeface="楷体" panose="02010609060101010101" pitchFamily="49" charset="-122"/>
                          </a:rPr>
                          <m:t>𝒚</m:t>
                        </m:r>
                      </m:e>
                    </m:d>
                    <m:r>
                      <a:rPr lang="en-US" altLang="zh-CN" b="1">
                        <a:solidFill>
                          <a:schemeClr val="accent2">
                            <a:lumMod val="50000"/>
                          </a:schemeClr>
                        </a:solidFill>
                        <a:latin typeface="Cambria Math" panose="02040503050406030204" pitchFamily="18" charset="0"/>
                        <a:ea typeface="楷体" panose="02010609060101010101" pitchFamily="49" charset="-122"/>
                      </a:rPr>
                      <m:t>∈</m:t>
                    </m:r>
                    <m:sSup>
                      <m:sSup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pPr>
                      <m:e>
                        <m:r>
                          <a:rPr lang="en-US" altLang="zh-CN" b="1">
                            <a:solidFill>
                              <a:schemeClr val="accent2">
                                <a:lumMod val="50000"/>
                              </a:schemeClr>
                            </a:solidFill>
                            <a:latin typeface="Cambria Math" panose="02040503050406030204" pitchFamily="18" charset="0"/>
                            <a:ea typeface="楷体" panose="02010609060101010101" pitchFamily="49" charset="-122"/>
                          </a:rPr>
                          <m:t>𝑹</m:t>
                        </m:r>
                      </m:e>
                      <m:sup>
                        <m:r>
                          <a:rPr lang="en-US" altLang="zh-CN" b="1">
                            <a:solidFill>
                              <a:schemeClr val="accent2">
                                <a:lumMod val="50000"/>
                              </a:schemeClr>
                            </a:solidFill>
                            <a:latin typeface="Cambria Math" panose="02040503050406030204" pitchFamily="18" charset="0"/>
                            <a:ea typeface="楷体" panose="02010609060101010101" pitchFamily="49" charset="-122"/>
                          </a:rPr>
                          <m:t>𝒌</m:t>
                        </m:r>
                      </m:sup>
                    </m:sSup>
                  </m:oMath>
                </a14:m>
                <a:r>
                  <a:rPr lang="zh-CN" altLang="en-US" b="1">
                    <a:solidFill>
                      <a:schemeClr val="accent2">
                        <a:lumMod val="50000"/>
                      </a:schemeClr>
                    </a:solidFill>
                    <a:latin typeface="楷体" panose="02010609060101010101" pitchFamily="49" charset="-122"/>
                    <a:ea typeface="楷体" panose="02010609060101010101" pitchFamily="49" charset="-122"/>
                  </a:rPr>
                  <a:t>，根据上面所证有</a:t>
                </a:r>
                <a14:m>
                  <m:oMath xmlns:m="http://schemas.openxmlformats.org/officeDocument/2006/math">
                    <m:sSup>
                      <m:sSup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pPr>
                      <m:e>
                        <m:r>
                          <a:rPr lang="en-US" altLang="zh-CN" b="1">
                            <a:solidFill>
                              <a:schemeClr val="accent2">
                                <a:lumMod val="50000"/>
                              </a:schemeClr>
                            </a:solidFill>
                            <a:latin typeface="Cambria Math" panose="02040503050406030204" pitchFamily="18" charset="0"/>
                            <a:ea typeface="楷体" panose="02010609060101010101" pitchFamily="49" charset="-122"/>
                          </a:rPr>
                          <m:t>𝑹</m:t>
                        </m:r>
                      </m:e>
                      <m:sup>
                        <m:r>
                          <a:rPr lang="en-US" altLang="zh-CN" b="1">
                            <a:solidFill>
                              <a:schemeClr val="accent2">
                                <a:lumMod val="50000"/>
                              </a:schemeClr>
                            </a:solidFill>
                            <a:latin typeface="Cambria Math" panose="02040503050406030204" pitchFamily="18" charset="0"/>
                            <a:ea typeface="楷体" panose="02010609060101010101" pitchFamily="49" charset="-122"/>
                          </a:rPr>
                          <m:t>𝒌</m:t>
                        </m:r>
                      </m:sup>
                    </m:sSup>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𝑺</m:t>
                    </m:r>
                  </m:oMath>
                </a14:m>
                <a:r>
                  <a:rPr lang="zh-CN" altLang="en-US" b="1">
                    <a:solidFill>
                      <a:schemeClr val="accent2">
                        <a:lumMod val="50000"/>
                      </a:schemeClr>
                    </a:solidFill>
                    <a:latin typeface="楷体" panose="02010609060101010101" pitchFamily="49" charset="-122"/>
                    <a:ea typeface="楷体" panose="02010609060101010101" pitchFamily="49" charset="-122"/>
                  </a:rPr>
                  <a:t>，因此</a:t>
                </a:r>
                <a14:m>
                  <m:oMath xmlns:m="http://schemas.openxmlformats.org/officeDocument/2006/math">
                    <m:d>
                      <m:dPr>
                        <m:begChr m:val="⟨"/>
                        <m:endChr m:val="⟩"/>
                        <m:ctrlPr>
                          <a:rPr lang="en-US" altLang="zh-CN" b="1" i="1">
                            <a:solidFill>
                              <a:schemeClr val="accent2">
                                <a:lumMod val="50000"/>
                              </a:schemeClr>
                            </a:solidFill>
                            <a:latin typeface="Cambria Math" panose="02040503050406030204" pitchFamily="18" charset="0"/>
                            <a:ea typeface="楷体" panose="02010609060101010101" pitchFamily="49" charset="-122"/>
                          </a:rPr>
                        </m:ctrlPr>
                      </m:dPr>
                      <m:e>
                        <m:r>
                          <a:rPr lang="en-US" altLang="zh-CN" b="1">
                            <a:solidFill>
                              <a:schemeClr val="accent2">
                                <a:lumMod val="50000"/>
                              </a:schemeClr>
                            </a:solidFill>
                            <a:latin typeface="Cambria Math" panose="02040503050406030204" pitchFamily="18" charset="0"/>
                            <a:ea typeface="楷体" panose="02010609060101010101" pitchFamily="49" charset="-122"/>
                          </a:rPr>
                          <m:t>𝒙</m:t>
                        </m:r>
                        <m:r>
                          <a:rPr lang="en-US" altLang="zh-CN" b="1">
                            <a:solidFill>
                              <a:schemeClr val="accent2">
                                <a:lumMod val="50000"/>
                              </a:schemeClr>
                            </a:solidFill>
                            <a:latin typeface="Cambria Math" panose="02040503050406030204" pitchFamily="18" charset="0"/>
                            <a:ea typeface="楷体" panose="02010609060101010101" pitchFamily="49" charset="-122"/>
                          </a:rPr>
                          <m:t>, </m:t>
                        </m:r>
                        <m:r>
                          <a:rPr lang="en-US" altLang="zh-CN" b="1">
                            <a:solidFill>
                              <a:schemeClr val="accent2">
                                <a:lumMod val="50000"/>
                              </a:schemeClr>
                            </a:solidFill>
                            <a:latin typeface="Cambria Math" panose="02040503050406030204" pitchFamily="18" charset="0"/>
                            <a:ea typeface="楷体" panose="02010609060101010101" pitchFamily="49" charset="-122"/>
                          </a:rPr>
                          <m:t>𝒚</m:t>
                        </m:r>
                      </m:e>
                    </m:d>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𝑺</m:t>
                    </m:r>
                  </m:oMath>
                </a14:m>
                <a:r>
                  <a:rPr lang="zh-CN" altLang="en-US" b="1">
                    <a:solidFill>
                      <a:schemeClr val="accent2">
                        <a:lumMod val="50000"/>
                      </a:schemeClr>
                    </a:solidFill>
                    <a:latin typeface="楷体" panose="02010609060101010101" pitchFamily="49" charset="-122"/>
                    <a:ea typeface="楷体" panose="02010609060101010101" pitchFamily="49" charset="-122"/>
                  </a:rPr>
                  <a:t>，即有</a:t>
                </a:r>
                <a14:m>
                  <m:oMath xmlns:m="http://schemas.openxmlformats.org/officeDocument/2006/math">
                    <m:sSup>
                      <m:sSup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pPr>
                      <m:e>
                        <m:r>
                          <a:rPr lang="en-US" altLang="zh-CN" b="1">
                            <a:solidFill>
                              <a:schemeClr val="accent2">
                                <a:lumMod val="50000"/>
                              </a:schemeClr>
                            </a:solidFill>
                            <a:latin typeface="Cambria Math" panose="02040503050406030204" pitchFamily="18" charset="0"/>
                            <a:ea typeface="楷体" panose="02010609060101010101" pitchFamily="49" charset="-122"/>
                          </a:rPr>
                          <m:t>𝑹</m:t>
                        </m:r>
                      </m:e>
                      <m:sup>
                        <m:r>
                          <a:rPr lang="en-US" altLang="zh-CN" b="1">
                            <a:solidFill>
                              <a:schemeClr val="accent2">
                                <a:lumMod val="50000"/>
                              </a:schemeClr>
                            </a:solidFill>
                            <a:latin typeface="Cambria Math" panose="02040503050406030204" pitchFamily="18" charset="0"/>
                            <a:ea typeface="楷体" panose="02010609060101010101" pitchFamily="49" charset="-122"/>
                          </a:rPr>
                          <m:t>∗</m:t>
                        </m:r>
                      </m:sup>
                    </m:sSup>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𝑺</m:t>
                    </m:r>
                  </m:oMath>
                </a14:m>
                <a:endParaRPr lang="en-US" altLang="zh-CN" b="1">
                  <a:solidFill>
                    <a:schemeClr val="accent2">
                      <a:lumMod val="50000"/>
                    </a:schemeClr>
                  </a:solidFill>
                  <a:latin typeface="楷体" panose="02010609060101010101" pitchFamily="49" charset="-122"/>
                  <a:ea typeface="楷体" panose="02010609060101010101" pitchFamily="49" charset="-122"/>
                </a:endParaRPr>
              </a:p>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综上，根据</a:t>
                </a:r>
                <a:r>
                  <a:rPr lang="zh-CN" altLang="en-US" sz="2000" b="1">
                    <a:solidFill>
                      <a:srgbClr val="C00000"/>
                    </a:solidFill>
                    <a:latin typeface="+mn-ea"/>
                  </a:rPr>
                  <a:t>传递闭包的定义</a:t>
                </a:r>
                <a:r>
                  <a:rPr lang="zh-CN" altLang="en-US" sz="2000" b="1">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a:solidFill>
                          <a:srgbClr val="002060"/>
                        </a:solidFill>
                        <a:latin typeface="Cambria Math" panose="02040503050406030204" pitchFamily="18" charset="0"/>
                        <a:ea typeface="楷体" panose="02010609060101010101" pitchFamily="49" charset="-122"/>
                      </a:rPr>
                      <m:t>𝒕</m:t>
                    </m:r>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a:solidFill>
                              <a:srgbClr val="002060"/>
                            </a:solidFill>
                            <a:latin typeface="Cambria Math" panose="02040503050406030204" pitchFamily="18" charset="0"/>
                            <a:ea typeface="楷体" panose="02010609060101010101" pitchFamily="49" charset="-122"/>
                          </a:rPr>
                          <m:t>𝑹</m:t>
                        </m:r>
                      </m:e>
                    </m:d>
                    <m:r>
                      <a:rPr lang="en-US" altLang="zh-CN" sz="2000" b="1">
                        <a:solidFill>
                          <a:srgbClr val="002060"/>
                        </a:solidFill>
                        <a:latin typeface="Cambria Math" panose="02040503050406030204" pitchFamily="18" charset="0"/>
                        <a:ea typeface="楷体" panose="02010609060101010101" pitchFamily="49" charset="-122"/>
                      </a:rPr>
                      <m:t>= </m:t>
                    </m:r>
                    <m:sSup>
                      <m:sSupPr>
                        <m:ctrlPr>
                          <a:rPr lang="en-US" altLang="zh-CN" sz="2000" b="1" i="1">
                            <a:solidFill>
                              <a:srgbClr val="002060"/>
                            </a:solidFill>
                            <a:latin typeface="Cambria Math" panose="02040503050406030204" pitchFamily="18" charset="0"/>
                            <a:ea typeface="楷体" panose="02010609060101010101" pitchFamily="49" charset="-122"/>
                          </a:rPr>
                        </m:ctrlPr>
                      </m:sSupPr>
                      <m:e>
                        <m:r>
                          <a:rPr lang="en-US" altLang="zh-CN" sz="2000" b="1">
                            <a:solidFill>
                              <a:srgbClr val="002060"/>
                            </a:solidFill>
                            <a:latin typeface="Cambria Math" panose="02040503050406030204" pitchFamily="18" charset="0"/>
                            <a:ea typeface="楷体" panose="02010609060101010101" pitchFamily="49" charset="-122"/>
                          </a:rPr>
                          <m:t>𝑹</m:t>
                        </m:r>
                      </m:e>
                      <m:sup>
                        <m:r>
                          <a:rPr lang="en-US" altLang="zh-CN" sz="2000" b="1">
                            <a:solidFill>
                              <a:srgbClr val="002060"/>
                            </a:solidFill>
                            <a:latin typeface="Cambria Math" panose="02040503050406030204" pitchFamily="18" charset="0"/>
                            <a:ea typeface="楷体" panose="02010609060101010101" pitchFamily="49" charset="-122"/>
                          </a:rPr>
                          <m:t>∗</m:t>
                        </m:r>
                      </m:sup>
                    </m:sSup>
                  </m:oMath>
                </a14:m>
                <a:r>
                  <a:rPr lang="zh-CN" altLang="en-US" sz="2000" b="1">
                    <a:solidFill>
                      <a:srgbClr val="002060"/>
                    </a:solidFill>
                    <a:latin typeface="楷体" panose="02010609060101010101" pitchFamily="49" charset="-122"/>
                    <a:ea typeface="楷体" panose="02010609060101010101" pitchFamily="49" charset="-122"/>
                  </a:rPr>
                  <a:t>。</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721952" y="1672697"/>
                <a:ext cx="10748093" cy="4651915"/>
              </a:xfrm>
              <a:prstGeom prst="rect">
                <a:avLst/>
              </a:prstGeom>
              <a:blipFill rotWithShape="1">
                <a:blip r:embed="rId2"/>
                <a:stretch>
                  <a:fillRect l="-6" t="-2"/>
                </a:stretch>
              </a:blipFill>
            </p:spPr>
            <p:txBody>
              <a:bodyPr/>
              <a:lstStyle/>
              <a:p>
                <a:r>
                  <a:rPr lang="zh-CN" altLang="en-US">
                    <a:noFill/>
                  </a:rPr>
                  <a:t> </a:t>
                </a:r>
              </a:p>
            </p:txBody>
          </p:sp>
        </mc:Fallback>
      </mc:AlternateContent>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传递闭包计算公式的证明关键点总结</a:t>
            </a:r>
            <a:r>
              <a:rPr lang="en-US" altLang="zh-CN"/>
              <a:t>*</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734187" y="1342395"/>
                <a:ext cx="8642793" cy="1091837"/>
              </a:xfrm>
              <a:prstGeom prst="rect">
                <a:avLst/>
              </a:prstGeom>
              <a:solidFill>
                <a:schemeClr val="accent4">
                  <a:lumMod val="20000"/>
                  <a:lumOff val="80000"/>
                </a:schemeClr>
              </a:solidFill>
            </p:spPr>
            <p:txBody>
              <a:bodyPr wrap="square" rtlCol="0">
                <a:spAutoFit/>
              </a:bodyPr>
              <a:lstStyle/>
              <a:p>
                <a:pPr>
                  <a:spcBef>
                    <a:spcPts val="1200"/>
                  </a:spcBef>
                  <a:spcAft>
                    <a:spcPts val="600"/>
                  </a:spcAft>
                </a:pPr>
                <a:r>
                  <a:rPr lang="en-US" altLang="zh-CN" sz="2400" b="1">
                    <a:solidFill>
                      <a:schemeClr val="accent2">
                        <a:lumMod val="50000"/>
                      </a:schemeClr>
                    </a:solidFill>
                  </a:rPr>
                  <a:t>(1) </a:t>
                </a:r>
                <a:r>
                  <a:rPr lang="zh-CN" altLang="en-US" sz="2400" b="1">
                    <a:solidFill>
                      <a:schemeClr val="accent2">
                        <a:lumMod val="50000"/>
                      </a:schemeClr>
                    </a:solidFill>
                  </a:rPr>
                  <a:t>要清楚对任意</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oMath>
                </a14:m>
                <a:r>
                  <a:rPr lang="zh-CN" altLang="en-US" sz="2400" b="1">
                    <a:solidFill>
                      <a:schemeClr val="accent2">
                        <a:lumMod val="50000"/>
                      </a:schemeClr>
                    </a:solidFill>
                  </a:rPr>
                  <a:t>，</a:t>
                </a:r>
                <a14:m>
                  <m:oMath xmlns:m="http://schemas.openxmlformats.org/officeDocument/2006/math">
                    <m:d>
                      <m:dPr>
                        <m:begChr m:val="⟨"/>
                        <m:endChr m:val="⟩"/>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𝒚</m:t>
                        </m:r>
                      </m:e>
                    </m:d>
                  </m:oMath>
                </a14:m>
                <a:r>
                  <a:rPr lang="zh-CN" altLang="en-US" sz="2400" b="1">
                    <a:solidFill>
                      <a:schemeClr val="accent2">
                        <a:lumMod val="50000"/>
                      </a:schemeClr>
                    </a:solidFill>
                  </a:rPr>
                  <a:t>属于</a:t>
                </a:r>
                <a14:m>
                  <m:oMath xmlns:m="http://schemas.openxmlformats.org/officeDocument/2006/math">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𝑹</m:t>
                        </m:r>
                      </m:e>
                      <m:sup>
                        <m:r>
                          <a:rPr lang="en-US" altLang="zh-CN" sz="2400" b="1" i="1" smtClean="0">
                            <a:solidFill>
                              <a:srgbClr val="C00000"/>
                            </a:solidFill>
                            <a:latin typeface="Cambria Math" panose="02040503050406030204" pitchFamily="18" charset="0"/>
                          </a:rPr>
                          <m:t>∗</m:t>
                        </m:r>
                      </m:sup>
                    </m:sSup>
                    <m:r>
                      <a:rPr lang="en-US" altLang="zh-CN" sz="2400" b="1" i="1" smtClean="0">
                        <a:solidFill>
                          <a:srgbClr val="C00000"/>
                        </a:solidFill>
                        <a:latin typeface="Cambria Math" panose="02040503050406030204" pitchFamily="18" charset="0"/>
                      </a:rPr>
                      <m:t>=</m:t>
                    </m:r>
                    <m:nary>
                      <m:naryPr>
                        <m:chr m:val="⋃"/>
                        <m:ctrlPr>
                          <a:rPr lang="en-US" altLang="zh-CN" sz="2400" b="1" i="1">
                            <a:solidFill>
                              <a:srgbClr val="C00000"/>
                            </a:solidFill>
                            <a:latin typeface="Cambria Math" panose="02040503050406030204" pitchFamily="18" charset="0"/>
                          </a:rPr>
                        </m:ctrlPr>
                      </m:naryPr>
                      <m:sub>
                        <m:r>
                          <a:rPr lang="en-US" altLang="zh-CN" sz="2400" b="1" i="1">
                            <a:solidFill>
                              <a:srgbClr val="C00000"/>
                            </a:solidFill>
                            <a:latin typeface="Cambria Math" panose="02040503050406030204" pitchFamily="18" charset="0"/>
                          </a:rPr>
                          <m:t>𝒌</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𝟏</m:t>
                        </m:r>
                      </m:sub>
                      <m:sup>
                        <m:r>
                          <a:rPr lang="en-US" altLang="zh-CN" sz="2400" b="1" i="1">
                            <a:solidFill>
                              <a:srgbClr val="C00000"/>
                            </a:solidFill>
                            <a:latin typeface="Cambria Math" panose="02040503050406030204" pitchFamily="18" charset="0"/>
                          </a:rPr>
                          <m:t>∞</m:t>
                        </m:r>
                      </m:sup>
                      <m:e>
                        <m:sSup>
                          <m:sSupPr>
                            <m:ctrlPr>
                              <a:rPr lang="en-US" altLang="zh-CN" sz="2400" b="1" i="1">
                                <a:solidFill>
                                  <a:srgbClr val="C00000"/>
                                </a:solidFill>
                                <a:latin typeface="Cambria Math" panose="02040503050406030204" pitchFamily="18" charset="0"/>
                              </a:rPr>
                            </m:ctrlPr>
                          </m:sSupPr>
                          <m:e>
                            <m:r>
                              <a:rPr lang="en-US" altLang="zh-CN" sz="2400" b="1" i="1">
                                <a:solidFill>
                                  <a:srgbClr val="C00000"/>
                                </a:solidFill>
                                <a:latin typeface="Cambria Math" panose="02040503050406030204" pitchFamily="18" charset="0"/>
                              </a:rPr>
                              <m:t>𝑹</m:t>
                            </m:r>
                          </m:e>
                          <m:sup>
                            <m:r>
                              <a:rPr lang="en-US" altLang="zh-CN" sz="2400" b="1" i="1">
                                <a:solidFill>
                                  <a:srgbClr val="C00000"/>
                                </a:solidFill>
                                <a:latin typeface="Cambria Math" panose="02040503050406030204" pitchFamily="18" charset="0"/>
                              </a:rPr>
                              <m:t>𝒌</m:t>
                            </m:r>
                          </m:sup>
                        </m:sSup>
                      </m:e>
                    </m:nary>
                  </m:oMath>
                </a14:m>
                <a:r>
                  <a:rPr lang="zh-CN" altLang="en-US" sz="2400" b="1">
                    <a:solidFill>
                      <a:srgbClr val="C00000"/>
                    </a:solidFill>
                  </a:rPr>
                  <a:t>的含义</a:t>
                </a:r>
                <a:endParaRPr lang="zh-CN" altLang="en-US" sz="2400" b="1">
                  <a:solidFill>
                    <a:schemeClr val="accent2">
                      <a:lumMod val="50000"/>
                    </a:schemeClr>
                  </a:solidFill>
                </a:endParaRPr>
              </a:p>
              <a:p>
                <a:pPr marL="342900" indent="-342900">
                  <a:spcBef>
                    <a:spcPts val="12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根据集合广义并的定义，这意味着</a:t>
                </a:r>
                <a:r>
                  <a:rPr lang="zh-CN" altLang="en-US" sz="2400" b="1">
                    <a:solidFill>
                      <a:srgbClr val="C00000"/>
                    </a:solidFill>
                    <a:latin typeface="楷体" panose="02010609060101010101" pitchFamily="49" charset="-122"/>
                    <a:ea typeface="楷体" panose="02010609060101010101" pitchFamily="49" charset="-122"/>
                  </a:rPr>
                  <a:t>存在</a:t>
                </a:r>
                <a14:m>
                  <m:oMath xmlns:m="http://schemas.openxmlformats.org/officeDocument/2006/math">
                    <m:r>
                      <a:rPr lang="en-US" altLang="zh-CN" sz="2400" b="1" i="1" smtClean="0">
                        <a:solidFill>
                          <a:srgbClr val="C00000"/>
                        </a:solidFill>
                        <a:latin typeface="Cambria Math" panose="02040503050406030204" pitchFamily="18" charset="0"/>
                      </a:rPr>
                      <m:t>𝒌</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𝟏</m:t>
                    </m:r>
                  </m:oMath>
                </a14:m>
                <a:r>
                  <a:rPr lang="zh-CN" altLang="en-US" sz="2400" b="1">
                    <a:solidFill>
                      <a:srgbClr val="C00000"/>
                    </a:solidFill>
                    <a:latin typeface="楷体" panose="02010609060101010101" pitchFamily="49" charset="-122"/>
                    <a:ea typeface="楷体" panose="02010609060101010101" pitchFamily="49" charset="-122"/>
                  </a:rPr>
                  <a:t>使得</a:t>
                </a:r>
                <a14:m>
                  <m:oMath xmlns:m="http://schemas.openxmlformats.org/officeDocument/2006/math">
                    <m:d>
                      <m:dPr>
                        <m:begChr m:val="⟨"/>
                        <m:endChr m:val="⟩"/>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𝒙</m:t>
                        </m:r>
                        <m:r>
                          <a:rPr lang="en-US" altLang="zh-CN" sz="2400" b="1" i="1" smtClean="0">
                            <a:solidFill>
                              <a:srgbClr val="C00000"/>
                            </a:solidFill>
                            <a:latin typeface="Cambria Math" panose="02040503050406030204" pitchFamily="18" charset="0"/>
                          </a:rPr>
                          <m:t>, </m:t>
                        </m:r>
                        <m:r>
                          <a:rPr lang="en-US" altLang="zh-CN" sz="2400" b="1" i="1" smtClean="0">
                            <a:solidFill>
                              <a:srgbClr val="C00000"/>
                            </a:solidFill>
                            <a:latin typeface="Cambria Math" panose="02040503050406030204" pitchFamily="18" charset="0"/>
                          </a:rPr>
                          <m:t>𝒚</m:t>
                        </m:r>
                      </m:e>
                    </m:d>
                    <m:r>
                      <a:rPr lang="en-US" altLang="zh-CN" sz="2400" b="1" i="1" smtClean="0">
                        <a:solidFill>
                          <a:srgbClr val="C00000"/>
                        </a:solidFill>
                        <a:latin typeface="Cambria Math" panose="02040503050406030204" pitchFamily="18" charset="0"/>
                      </a:rPr>
                      <m:t>∈</m:t>
                    </m:r>
                    <m:sSup>
                      <m:sSupPr>
                        <m:ctrlPr>
                          <a:rPr lang="en-US" altLang="zh-CN" sz="2400" b="1" i="1" smtClean="0">
                            <a:solidFill>
                              <a:srgbClr val="C00000"/>
                            </a:solidFill>
                            <a:latin typeface="Cambria Math" panose="02040503050406030204" pitchFamily="18" charset="0"/>
                          </a:rPr>
                        </m:ctrlPr>
                      </m:sSupPr>
                      <m:e>
                        <m:r>
                          <a:rPr lang="en-US" altLang="zh-CN" sz="2400" b="1" i="1" smtClean="0">
                            <a:solidFill>
                              <a:srgbClr val="C00000"/>
                            </a:solidFill>
                            <a:latin typeface="Cambria Math" panose="02040503050406030204" pitchFamily="18" charset="0"/>
                          </a:rPr>
                          <m:t>𝑹</m:t>
                        </m:r>
                      </m:e>
                      <m:sup>
                        <m:r>
                          <a:rPr lang="en-US" altLang="zh-CN" sz="2400" b="1" i="1" smtClean="0">
                            <a:solidFill>
                              <a:srgbClr val="C00000"/>
                            </a:solidFill>
                            <a:latin typeface="Cambria Math" panose="02040503050406030204" pitchFamily="18" charset="0"/>
                          </a:rPr>
                          <m:t>𝒌</m:t>
                        </m:r>
                      </m:sup>
                    </m:sSup>
                  </m:oMath>
                </a14:m>
                <a:endParaRPr lang="en-US" altLang="zh-CN" sz="2400" b="1">
                  <a:solidFill>
                    <a:srgbClr val="002060"/>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734187" y="1342395"/>
                <a:ext cx="8642793" cy="1091837"/>
              </a:xfrm>
              <a:prstGeom prst="rect">
                <a:avLst/>
              </a:prstGeom>
              <a:blipFill rotWithShape="1">
                <a:blip r:embed="rId1"/>
                <a:stretch>
                  <a:fillRect l="-1" r="7"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734187" y="2719896"/>
                <a:ext cx="9611214" cy="1661993"/>
              </a:xfrm>
              <a:prstGeom prst="rect">
                <a:avLst/>
              </a:prstGeom>
              <a:solidFill>
                <a:schemeClr val="accent4">
                  <a:lumMod val="20000"/>
                  <a:lumOff val="80000"/>
                </a:schemeClr>
              </a:solidFill>
            </p:spPr>
            <p:txBody>
              <a:bodyPr wrap="square" rtlCol="0">
                <a:spAutoFit/>
              </a:bodyPr>
              <a:lstStyle/>
              <a:p>
                <a:pPr>
                  <a:spcBef>
                    <a:spcPts val="1200"/>
                  </a:spcBef>
                  <a:spcAft>
                    <a:spcPts val="600"/>
                  </a:spcAft>
                </a:pPr>
                <a:r>
                  <a:rPr lang="en-US" altLang="zh-CN" sz="2400" b="1">
                    <a:solidFill>
                      <a:schemeClr val="accent2">
                        <a:lumMod val="50000"/>
                      </a:schemeClr>
                    </a:solidFill>
                  </a:rPr>
                  <a:t>(2) </a:t>
                </a:r>
                <a:r>
                  <a:rPr lang="zh-CN" altLang="en-US" sz="2400" b="1">
                    <a:solidFill>
                      <a:schemeClr val="accent2">
                        <a:lumMod val="50000"/>
                      </a:schemeClr>
                    </a:solidFill>
                  </a:rPr>
                  <a:t>要基于传递性的</a:t>
                </a:r>
                <a:r>
                  <a:rPr lang="zh-CN" altLang="en-US" sz="2400" b="1">
                    <a:solidFill>
                      <a:srgbClr val="C00000"/>
                    </a:solidFill>
                  </a:rPr>
                  <a:t>元素考察法定义</a:t>
                </a:r>
                <a:r>
                  <a:rPr lang="zh-CN" altLang="en-US" sz="2400" b="1">
                    <a:solidFill>
                      <a:schemeClr val="accent2">
                        <a:lumMod val="50000"/>
                      </a:schemeClr>
                    </a:solidFill>
                  </a:rPr>
                  <a:t>证明</a:t>
                </a:r>
                <a14:m>
                  <m:oMath xmlns:m="http://schemas.openxmlformats.org/officeDocument/2006/math">
                    <m:sSup>
                      <m:sSupPr>
                        <m:ctrlPr>
                          <a:rPr lang="en-US" altLang="zh-CN" sz="2400" b="1" i="1" smtClean="0">
                            <a:solidFill>
                              <a:schemeClr val="accent2">
                                <a:lumMod val="50000"/>
                              </a:schemeClr>
                            </a:solidFill>
                            <a:latin typeface="Cambria Math" panose="02040503050406030204" pitchFamily="18" charset="0"/>
                          </a:rPr>
                        </m:ctrlPr>
                      </m:sSupPr>
                      <m:e>
                        <m:r>
                          <a:rPr lang="en-US" altLang="zh-CN" sz="2400" b="1" i="1" smtClean="0">
                            <a:solidFill>
                              <a:schemeClr val="accent2">
                                <a:lumMod val="50000"/>
                              </a:schemeClr>
                            </a:solidFill>
                            <a:latin typeface="Cambria Math" panose="02040503050406030204" pitchFamily="18" charset="0"/>
                          </a:rPr>
                          <m:t>𝑹</m:t>
                        </m:r>
                      </m:e>
                      <m:sup>
                        <m:r>
                          <a:rPr lang="en-US" altLang="zh-CN" sz="2400" b="1" i="1" smtClean="0">
                            <a:solidFill>
                              <a:schemeClr val="accent2">
                                <a:lumMod val="50000"/>
                              </a:schemeClr>
                            </a:solidFill>
                            <a:latin typeface="Cambria Math" panose="02040503050406030204" pitchFamily="18" charset="0"/>
                          </a:rPr>
                          <m:t>∗</m:t>
                        </m:r>
                      </m:sup>
                    </m:sSup>
                  </m:oMath>
                </a14:m>
                <a:r>
                  <a:rPr lang="zh-CN" altLang="en-US" sz="2400" b="1">
                    <a:solidFill>
                      <a:schemeClr val="accent2">
                        <a:lumMod val="50000"/>
                      </a:schemeClr>
                    </a:solidFill>
                  </a:rPr>
                  <a:t>是传递的</a:t>
                </a:r>
                <a:endParaRPr lang="zh-CN" altLang="en-US" sz="2400" b="1">
                  <a:solidFill>
                    <a:schemeClr val="accent2">
                      <a:lumMod val="50000"/>
                    </a:schemeClr>
                  </a:solidFill>
                </a:endParaRPr>
              </a:p>
              <a:p>
                <a:pPr marL="342900" indent="-342900">
                  <a:spcBef>
                    <a:spcPts val="12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而非基于传递性的性质概括法定义，因为无法简单计算</a:t>
                </a:r>
                <a14:m>
                  <m:oMath xmlns:m="http://schemas.openxmlformats.org/officeDocument/2006/math">
                    <m:sSup>
                      <m:sSupPr>
                        <m:ctrlPr>
                          <a:rPr lang="en-US" altLang="zh-CN" sz="2400" b="1" i="1">
                            <a:solidFill>
                              <a:srgbClr val="002060"/>
                            </a:solidFill>
                            <a:latin typeface="Cambria Math" panose="02040503050406030204" pitchFamily="18" charset="0"/>
                            <a:ea typeface="楷体" panose="02010609060101010101" pitchFamily="49" charset="-122"/>
                          </a:rPr>
                        </m:ctrlPr>
                      </m:sSupPr>
                      <m:e>
                        <m:r>
                          <a:rPr lang="en-US" altLang="zh-CN" sz="2400" b="1">
                            <a:solidFill>
                              <a:srgbClr val="002060"/>
                            </a:solidFill>
                            <a:latin typeface="Cambria Math" panose="02040503050406030204" pitchFamily="18" charset="0"/>
                            <a:ea typeface="楷体" panose="02010609060101010101" pitchFamily="49" charset="-122"/>
                          </a:rPr>
                          <m:t>𝑹</m:t>
                        </m:r>
                      </m:e>
                      <m:sup>
                        <m:r>
                          <a:rPr lang="en-US" altLang="zh-CN" sz="2400" b="1">
                            <a:solidFill>
                              <a:srgbClr val="002060"/>
                            </a:solidFill>
                            <a:latin typeface="Cambria Math" panose="02040503050406030204" pitchFamily="18" charset="0"/>
                            <a:ea typeface="楷体" panose="02010609060101010101" pitchFamily="49" charset="-122"/>
                          </a:rPr>
                          <m:t>∗</m:t>
                        </m:r>
                      </m:sup>
                    </m:sSup>
                    <m:r>
                      <a:rPr lang="en-US" altLang="zh-CN" sz="2400" b="1">
                        <a:solidFill>
                          <a:srgbClr val="002060"/>
                        </a:solidFill>
                        <a:latin typeface="Cambria Math" panose="02040503050406030204" pitchFamily="18" charset="0"/>
                        <a:ea typeface="楷体" panose="02010609060101010101" pitchFamily="49" charset="-122"/>
                      </a:rPr>
                      <m:t>∘</m:t>
                    </m:r>
                    <m:sSup>
                      <m:sSupPr>
                        <m:ctrlPr>
                          <a:rPr lang="en-US" altLang="zh-CN" sz="2400" b="1" i="1">
                            <a:solidFill>
                              <a:srgbClr val="002060"/>
                            </a:solidFill>
                            <a:latin typeface="Cambria Math" panose="02040503050406030204" pitchFamily="18" charset="0"/>
                            <a:ea typeface="楷体" panose="02010609060101010101" pitchFamily="49" charset="-122"/>
                          </a:rPr>
                        </m:ctrlPr>
                      </m:sSupPr>
                      <m:e>
                        <m:r>
                          <a:rPr lang="en-US" altLang="zh-CN" sz="2400" b="1">
                            <a:solidFill>
                              <a:srgbClr val="002060"/>
                            </a:solidFill>
                            <a:latin typeface="Cambria Math" panose="02040503050406030204" pitchFamily="18" charset="0"/>
                            <a:ea typeface="楷体" panose="02010609060101010101" pitchFamily="49" charset="-122"/>
                          </a:rPr>
                          <m:t>𝑹</m:t>
                        </m:r>
                      </m:e>
                      <m:sup>
                        <m:r>
                          <a:rPr lang="en-US" altLang="zh-CN" sz="2400" b="1">
                            <a:solidFill>
                              <a:srgbClr val="002060"/>
                            </a:solidFill>
                            <a:latin typeface="Cambria Math" panose="02040503050406030204" pitchFamily="18" charset="0"/>
                            <a:ea typeface="楷体" panose="02010609060101010101" pitchFamily="49" charset="-122"/>
                          </a:rPr>
                          <m:t>∗</m:t>
                        </m:r>
                      </m:sup>
                    </m:sSup>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12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用元素考察法证明时要用到关系幂运算的基本性质</a:t>
                </a:r>
                <a14:m>
                  <m:oMath xmlns:m="http://schemas.openxmlformats.org/officeDocument/2006/math">
                    <m:sSup>
                      <m:sSupPr>
                        <m:ctrlPr>
                          <a:rPr lang="en-US" altLang="zh-CN" sz="2400" b="1" i="1" smtClean="0">
                            <a:solidFill>
                              <a:srgbClr val="C00000"/>
                            </a:solidFill>
                            <a:latin typeface="Cambria Math" panose="02040503050406030204" pitchFamily="18" charset="0"/>
                            <a:ea typeface="楷体" panose="02010609060101010101" pitchFamily="49" charset="-122"/>
                          </a:rPr>
                        </m:ctrlPr>
                      </m:sSupPr>
                      <m:e>
                        <m:r>
                          <a:rPr lang="en-US" altLang="zh-CN" sz="2400" b="1">
                            <a:solidFill>
                              <a:srgbClr val="C00000"/>
                            </a:solidFill>
                            <a:latin typeface="Cambria Math" panose="02040503050406030204" pitchFamily="18" charset="0"/>
                            <a:ea typeface="楷体" panose="02010609060101010101" pitchFamily="49" charset="-122"/>
                          </a:rPr>
                          <m:t>𝑹</m:t>
                        </m:r>
                      </m:e>
                      <m:sup>
                        <m:r>
                          <a:rPr lang="en-US" altLang="zh-CN" sz="2400" b="1">
                            <a:solidFill>
                              <a:srgbClr val="C00000"/>
                            </a:solidFill>
                            <a:latin typeface="Cambria Math" panose="02040503050406030204" pitchFamily="18" charset="0"/>
                            <a:ea typeface="楷体" panose="02010609060101010101" pitchFamily="49" charset="-122"/>
                          </a:rPr>
                          <m:t>𝒎</m:t>
                        </m:r>
                      </m:sup>
                    </m:sSup>
                    <m:r>
                      <a:rPr lang="en-US" altLang="zh-CN" sz="2400" b="1">
                        <a:solidFill>
                          <a:srgbClr val="C00000"/>
                        </a:solidFill>
                        <a:latin typeface="Cambria Math" panose="02040503050406030204" pitchFamily="18" charset="0"/>
                        <a:ea typeface="楷体" panose="02010609060101010101" pitchFamily="49" charset="-122"/>
                      </a:rPr>
                      <m:t>∘</m:t>
                    </m:r>
                    <m:sSup>
                      <m:sSupPr>
                        <m:ctrlPr>
                          <a:rPr lang="en-US" altLang="zh-CN" sz="2400" b="1" i="1">
                            <a:solidFill>
                              <a:srgbClr val="C00000"/>
                            </a:solidFill>
                            <a:latin typeface="Cambria Math" panose="02040503050406030204" pitchFamily="18" charset="0"/>
                            <a:ea typeface="楷体" panose="02010609060101010101" pitchFamily="49" charset="-122"/>
                          </a:rPr>
                        </m:ctrlPr>
                      </m:sSupPr>
                      <m:e>
                        <m:r>
                          <a:rPr lang="en-US" altLang="zh-CN" sz="2400" b="1">
                            <a:solidFill>
                              <a:srgbClr val="C00000"/>
                            </a:solidFill>
                            <a:latin typeface="Cambria Math" panose="02040503050406030204" pitchFamily="18" charset="0"/>
                            <a:ea typeface="楷体" panose="02010609060101010101" pitchFamily="49" charset="-122"/>
                          </a:rPr>
                          <m:t>𝑹</m:t>
                        </m:r>
                      </m:e>
                      <m:sup>
                        <m:r>
                          <a:rPr lang="en-US" altLang="zh-CN" sz="2400" b="1">
                            <a:solidFill>
                              <a:srgbClr val="C00000"/>
                            </a:solidFill>
                            <a:latin typeface="Cambria Math" panose="02040503050406030204" pitchFamily="18" charset="0"/>
                            <a:ea typeface="楷体" panose="02010609060101010101" pitchFamily="49" charset="-122"/>
                          </a:rPr>
                          <m:t>𝒏</m:t>
                        </m:r>
                      </m:sup>
                    </m:sSup>
                    <m:r>
                      <a:rPr lang="en-US" altLang="zh-CN" sz="2400" b="1">
                        <a:solidFill>
                          <a:srgbClr val="C00000"/>
                        </a:solidFill>
                        <a:latin typeface="Cambria Math" panose="02040503050406030204" pitchFamily="18" charset="0"/>
                        <a:ea typeface="楷体" panose="02010609060101010101" pitchFamily="49" charset="-122"/>
                      </a:rPr>
                      <m:t>= </m:t>
                    </m:r>
                    <m:sSup>
                      <m:sSupPr>
                        <m:ctrlPr>
                          <a:rPr lang="en-US" altLang="zh-CN" sz="2400" b="1" i="1">
                            <a:solidFill>
                              <a:srgbClr val="C00000"/>
                            </a:solidFill>
                            <a:latin typeface="Cambria Math" panose="02040503050406030204" pitchFamily="18" charset="0"/>
                            <a:ea typeface="楷体" panose="02010609060101010101" pitchFamily="49" charset="-122"/>
                          </a:rPr>
                        </m:ctrlPr>
                      </m:sSupPr>
                      <m:e>
                        <m:r>
                          <a:rPr lang="en-US" altLang="zh-CN" sz="2400" b="1">
                            <a:solidFill>
                              <a:srgbClr val="C00000"/>
                            </a:solidFill>
                            <a:latin typeface="Cambria Math" panose="02040503050406030204" pitchFamily="18" charset="0"/>
                            <a:ea typeface="楷体" panose="02010609060101010101" pitchFamily="49" charset="-122"/>
                          </a:rPr>
                          <m:t>𝑹</m:t>
                        </m:r>
                      </m:e>
                      <m:sup>
                        <m:r>
                          <a:rPr lang="en-US" altLang="zh-CN" sz="2400" b="1">
                            <a:solidFill>
                              <a:srgbClr val="C00000"/>
                            </a:solidFill>
                            <a:latin typeface="Cambria Math" panose="02040503050406030204" pitchFamily="18" charset="0"/>
                            <a:ea typeface="楷体" panose="02010609060101010101" pitchFamily="49" charset="-122"/>
                          </a:rPr>
                          <m:t>𝒎</m:t>
                        </m:r>
                        <m:r>
                          <a:rPr lang="en-US" altLang="zh-CN" sz="2400" b="1">
                            <a:solidFill>
                              <a:srgbClr val="C00000"/>
                            </a:solidFill>
                            <a:latin typeface="Cambria Math" panose="02040503050406030204" pitchFamily="18" charset="0"/>
                            <a:ea typeface="楷体" panose="02010609060101010101" pitchFamily="49" charset="-122"/>
                          </a:rPr>
                          <m:t>+</m:t>
                        </m:r>
                        <m:r>
                          <a:rPr lang="en-US" altLang="zh-CN" sz="2400" b="1">
                            <a:solidFill>
                              <a:srgbClr val="C00000"/>
                            </a:solidFill>
                            <a:latin typeface="Cambria Math" panose="02040503050406030204" pitchFamily="18" charset="0"/>
                            <a:ea typeface="楷体" panose="02010609060101010101" pitchFamily="49" charset="-122"/>
                          </a:rPr>
                          <m:t>𝒏</m:t>
                        </m:r>
                      </m:sup>
                    </m:sSup>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734187" y="2719896"/>
                <a:ext cx="9611214" cy="1661993"/>
              </a:xfrm>
              <a:prstGeom prst="rect">
                <a:avLst/>
              </a:prstGeom>
              <a:blipFill rotWithShape="1">
                <a:blip r:embed="rId2"/>
                <a:stretch>
                  <a:fillRect l="-1" t="-11" r="6" b="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p:cNvSpPr txBox="1"/>
              <p:nvPr/>
            </p:nvSpPr>
            <p:spPr>
              <a:xfrm>
                <a:off x="734187" y="4667554"/>
                <a:ext cx="8642795" cy="1061829"/>
              </a:xfrm>
              <a:prstGeom prst="rect">
                <a:avLst/>
              </a:prstGeom>
              <a:solidFill>
                <a:schemeClr val="accent4">
                  <a:lumMod val="20000"/>
                  <a:lumOff val="80000"/>
                </a:schemeClr>
              </a:solidFill>
            </p:spPr>
            <p:txBody>
              <a:bodyPr wrap="square" rtlCol="0">
                <a:spAutoFit/>
              </a:bodyPr>
              <a:lstStyle/>
              <a:p>
                <a:pPr>
                  <a:spcBef>
                    <a:spcPts val="1200"/>
                  </a:spcBef>
                  <a:spcAft>
                    <a:spcPts val="600"/>
                  </a:spcAft>
                </a:pPr>
                <a:r>
                  <a:rPr lang="en-US" altLang="zh-CN" sz="2400" b="1">
                    <a:solidFill>
                      <a:schemeClr val="accent2">
                        <a:lumMod val="50000"/>
                      </a:schemeClr>
                    </a:solidFill>
                  </a:rPr>
                  <a:t>(3) </a:t>
                </a:r>
                <a:r>
                  <a:rPr lang="zh-CN" altLang="en-US" sz="2400" b="1">
                    <a:solidFill>
                      <a:schemeClr val="accent2">
                        <a:lumMod val="50000"/>
                      </a:schemeClr>
                    </a:solidFill>
                  </a:rPr>
                  <a:t>对</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oMath>
                </a14:m>
                <a:r>
                  <a:rPr lang="zh-CN" altLang="en-US" sz="2400" b="1">
                    <a:solidFill>
                      <a:schemeClr val="accent2">
                        <a:lumMod val="50000"/>
                      </a:schemeClr>
                    </a:solidFill>
                  </a:rPr>
                  <a:t>上任意传递关系</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𝑺</m:t>
                    </m:r>
                  </m:oMath>
                </a14:m>
                <a:r>
                  <a:rPr lang="zh-CN" altLang="en-US" sz="2400" b="1">
                    <a:solidFill>
                      <a:schemeClr val="accent2">
                        <a:lumMod val="50000"/>
                      </a:schemeClr>
                    </a:solidFill>
                  </a:rPr>
                  <a:t>，当</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𝑹</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𝑺</m:t>
                    </m:r>
                  </m:oMath>
                </a14:m>
                <a:r>
                  <a:rPr lang="zh-CN" altLang="en-US" sz="2400" b="1">
                    <a:solidFill>
                      <a:schemeClr val="accent2">
                        <a:lumMod val="50000"/>
                      </a:schemeClr>
                    </a:solidFill>
                  </a:rPr>
                  <a:t>时，要使用</a:t>
                </a:r>
                <a:r>
                  <a:rPr lang="zh-CN" altLang="en-US" sz="2400" b="1">
                    <a:solidFill>
                      <a:srgbClr val="C00000"/>
                    </a:solidFill>
                  </a:rPr>
                  <a:t>数学归纳法</a:t>
                </a:r>
                <a:r>
                  <a:rPr lang="zh-CN" altLang="en-US" sz="2400" b="1">
                    <a:solidFill>
                      <a:schemeClr val="accent2">
                        <a:lumMod val="50000"/>
                      </a:schemeClr>
                    </a:solidFill>
                  </a:rPr>
                  <a:t>证明</a:t>
                </a:r>
                <a:endParaRPr lang="zh-CN" altLang="en-US" sz="2400" b="1">
                  <a:solidFill>
                    <a:schemeClr val="accent2">
                      <a:lumMod val="50000"/>
                    </a:schemeClr>
                  </a:solidFill>
                </a:endParaRPr>
              </a:p>
              <a:p>
                <a:pPr marL="342900" indent="-342900">
                  <a:spcBef>
                    <a:spcPts val="12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对任意的整数</a:t>
                </a:r>
                <a14:m>
                  <m:oMath xmlns:m="http://schemas.openxmlformats.org/officeDocument/2006/math">
                    <m:r>
                      <a:rPr lang="en-US" altLang="zh-CN" sz="2400" b="1">
                        <a:solidFill>
                          <a:srgbClr val="002060"/>
                        </a:solidFill>
                        <a:latin typeface="Cambria Math" panose="02040503050406030204" pitchFamily="18" charset="0"/>
                        <a:ea typeface="楷体" panose="02010609060101010101" pitchFamily="49" charset="-122"/>
                      </a:rPr>
                      <m:t>𝒏</m:t>
                    </m:r>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a:solidFill>
                          <a:srgbClr val="002060"/>
                        </a:solidFill>
                        <a:latin typeface="Cambria Math" panose="02040503050406030204" pitchFamily="18" charset="0"/>
                        <a:ea typeface="楷体" panose="02010609060101010101" pitchFamily="49" charset="-122"/>
                      </a:rPr>
                      <m:t>𝟏</m:t>
                    </m:r>
                  </m:oMath>
                </a14:m>
                <a:r>
                  <a:rPr lang="zh-CN" altLang="en-US" sz="2400" b="1">
                    <a:solidFill>
                      <a:srgbClr val="002060"/>
                    </a:solidFill>
                    <a:latin typeface="楷体" panose="02010609060101010101" pitchFamily="49" charset="-122"/>
                    <a:ea typeface="楷体" panose="02010609060101010101" pitchFamily="49" charset="-122"/>
                  </a:rPr>
                  <a:t>，</a:t>
                </a:r>
                <a14:m>
                  <m:oMath xmlns:m="http://schemas.openxmlformats.org/officeDocument/2006/math">
                    <m:sSup>
                      <m:sSupPr>
                        <m:ctrlPr>
                          <a:rPr lang="en-US" altLang="zh-CN" sz="2400" b="1" i="1" smtClean="0">
                            <a:solidFill>
                              <a:srgbClr val="C00000"/>
                            </a:solidFill>
                            <a:latin typeface="Cambria Math" panose="02040503050406030204" pitchFamily="18" charset="0"/>
                            <a:ea typeface="楷体" panose="02010609060101010101" pitchFamily="49" charset="-122"/>
                          </a:rPr>
                        </m:ctrlPr>
                      </m:sSupPr>
                      <m:e>
                        <m:r>
                          <a:rPr lang="en-US" altLang="zh-CN" sz="2400" b="1">
                            <a:solidFill>
                              <a:srgbClr val="C00000"/>
                            </a:solidFill>
                            <a:latin typeface="Cambria Math" panose="02040503050406030204" pitchFamily="18" charset="0"/>
                            <a:ea typeface="楷体" panose="02010609060101010101" pitchFamily="49" charset="-122"/>
                          </a:rPr>
                          <m:t>𝑹</m:t>
                        </m:r>
                      </m:e>
                      <m:sup>
                        <m:r>
                          <a:rPr lang="en-US" altLang="zh-CN" sz="2400" b="1">
                            <a:solidFill>
                              <a:srgbClr val="C00000"/>
                            </a:solidFill>
                            <a:latin typeface="Cambria Math" panose="02040503050406030204" pitchFamily="18" charset="0"/>
                            <a:ea typeface="楷体" panose="02010609060101010101" pitchFamily="49" charset="-122"/>
                          </a:rPr>
                          <m:t>𝒏</m:t>
                        </m:r>
                      </m:sup>
                    </m:sSup>
                    <m:r>
                      <a:rPr lang="en-US" altLang="zh-CN" sz="2400" b="1">
                        <a:solidFill>
                          <a:srgbClr val="C00000"/>
                        </a:solidFill>
                        <a:latin typeface="Cambria Math" panose="02040503050406030204" pitchFamily="18" charset="0"/>
                        <a:ea typeface="楷体" panose="02010609060101010101" pitchFamily="49" charset="-122"/>
                      </a:rPr>
                      <m:t>⊆</m:t>
                    </m:r>
                    <m:r>
                      <a:rPr lang="en-US" altLang="zh-CN" sz="2400" b="1">
                        <a:solidFill>
                          <a:srgbClr val="C00000"/>
                        </a:solidFill>
                        <a:latin typeface="Cambria Math" panose="02040503050406030204" pitchFamily="18" charset="0"/>
                        <a:ea typeface="楷体" panose="02010609060101010101" pitchFamily="49" charset="-122"/>
                      </a:rPr>
                      <m:t>𝑺</m:t>
                    </m:r>
                  </m:oMath>
                </a14:m>
                <a:r>
                  <a:rPr lang="zh-CN" altLang="en-US" sz="2400" b="1">
                    <a:solidFill>
                      <a:srgbClr val="002060"/>
                    </a:solidFill>
                    <a:latin typeface="楷体" panose="02010609060101010101" pitchFamily="49" charset="-122"/>
                    <a:ea typeface="楷体" panose="02010609060101010101" pitchFamily="49" charset="-122"/>
                  </a:rPr>
                  <a:t>，从而证明</a:t>
                </a:r>
                <a14:m>
                  <m:oMath xmlns:m="http://schemas.openxmlformats.org/officeDocument/2006/math">
                    <m:sSup>
                      <m:sSupPr>
                        <m:ctrlPr>
                          <a:rPr lang="en-US" altLang="zh-CN" sz="2400" b="1" i="1">
                            <a:solidFill>
                              <a:srgbClr val="002060"/>
                            </a:solidFill>
                            <a:latin typeface="Cambria Math" panose="02040503050406030204" pitchFamily="18" charset="0"/>
                            <a:ea typeface="楷体" panose="02010609060101010101" pitchFamily="49" charset="-122"/>
                          </a:rPr>
                        </m:ctrlPr>
                      </m:sSupPr>
                      <m:e>
                        <m:r>
                          <a:rPr lang="en-US" altLang="zh-CN" sz="2400" b="1">
                            <a:solidFill>
                              <a:srgbClr val="002060"/>
                            </a:solidFill>
                            <a:latin typeface="Cambria Math" panose="02040503050406030204" pitchFamily="18" charset="0"/>
                            <a:ea typeface="楷体" panose="02010609060101010101" pitchFamily="49" charset="-122"/>
                          </a:rPr>
                          <m:t>𝑹</m:t>
                        </m:r>
                      </m:e>
                      <m:sup>
                        <m:r>
                          <a:rPr lang="en-US" altLang="zh-CN" sz="2400" b="1">
                            <a:solidFill>
                              <a:srgbClr val="002060"/>
                            </a:solidFill>
                            <a:latin typeface="Cambria Math" panose="02040503050406030204" pitchFamily="18" charset="0"/>
                            <a:ea typeface="楷体" panose="02010609060101010101" pitchFamily="49" charset="-122"/>
                          </a:rPr>
                          <m:t>∗</m:t>
                        </m:r>
                      </m:sup>
                    </m:sSup>
                    <m:r>
                      <a:rPr lang="en-US" altLang="zh-CN" sz="2400" b="1">
                        <a:solidFill>
                          <a:srgbClr val="002060"/>
                        </a:solidFill>
                        <a:latin typeface="Cambria Math" panose="02040503050406030204" pitchFamily="18" charset="0"/>
                        <a:ea typeface="楷体" panose="02010609060101010101" pitchFamily="49" charset="-122"/>
                      </a:rPr>
                      <m:t>⊆</m:t>
                    </m:r>
                    <m:r>
                      <a:rPr lang="en-US" altLang="zh-CN" sz="2400" b="1">
                        <a:solidFill>
                          <a:srgbClr val="002060"/>
                        </a:solidFill>
                        <a:latin typeface="Cambria Math" panose="02040503050406030204" pitchFamily="18" charset="0"/>
                        <a:ea typeface="楷体" panose="02010609060101010101" pitchFamily="49" charset="-122"/>
                      </a:rPr>
                      <m:t>𝑺</m:t>
                    </m:r>
                  </m:oMath>
                </a14:m>
                <a:endParaRPr lang="zh-CN" altLang="en-US" sz="2400" b="1">
                  <a:solidFill>
                    <a:srgbClr val="002060"/>
                  </a:solidFill>
                  <a:latin typeface="楷体" panose="02010609060101010101" pitchFamily="49" charset="-122"/>
                  <a:ea typeface="楷体" panose="02010609060101010101" pitchFamily="49"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734187" y="4667554"/>
                <a:ext cx="8642795" cy="1061829"/>
              </a:xfrm>
              <a:prstGeom prst="rect">
                <a:avLst/>
              </a:prstGeom>
              <a:blipFill rotWithShape="1">
                <a:blip r:embed="rId3"/>
                <a:stretch>
                  <a:fillRect l="-1" t="-29" r="7" b="39"/>
                </a:stretch>
              </a:blipFill>
            </p:spPr>
            <p:txBody>
              <a:bodyPr/>
              <a:lstStyle/>
              <a:p>
                <a:r>
                  <a:rPr lang="zh-CN" altLang="en-US">
                    <a:noFill/>
                  </a:rPr>
                  <a:t> </a:t>
                </a:r>
              </a:p>
            </p:txBody>
          </p:sp>
        </mc:Fallback>
      </mc:AlternateContent>
      <p:sp>
        <p:nvSpPr>
          <p:cNvPr id="6" name="文本框 5"/>
          <p:cNvSpPr txBox="1"/>
          <p:nvPr/>
        </p:nvSpPr>
        <p:spPr>
          <a:xfrm>
            <a:off x="9611211" y="4544378"/>
            <a:ext cx="2042383" cy="1308179"/>
          </a:xfrm>
          <a:prstGeom prst="rect">
            <a:avLst/>
          </a:prstGeom>
          <a:solidFill>
            <a:schemeClr val="accent2">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对稍微复杂的证明应积极运用学习过的逻辑和证明知识理清证明思路！</a:t>
            </a:r>
            <a:endParaRPr lang="zh-CN" altLang="en-US" b="1">
              <a:solidFill>
                <a:schemeClr val="accent2">
                  <a:lumMod val="50000"/>
                </a:schemeClr>
              </a:solidFill>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1"/>
          <a:stretch>
            <a:fillRect/>
          </a:stretch>
        </p:blipFill>
        <p:spPr>
          <a:xfrm>
            <a:off x="3048000" y="3489909"/>
            <a:ext cx="8372114" cy="2724003"/>
          </a:xfrm>
          <a:prstGeom prst="rect">
            <a:avLst/>
          </a:prstGeom>
        </p:spPr>
      </p:pic>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计算传递闭包的算法</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554034" y="1222634"/>
                <a:ext cx="9083929" cy="2106602"/>
              </a:xfrm>
              <a:prstGeom prst="rect">
                <a:avLst/>
              </a:prstGeom>
              <a:solidFill>
                <a:schemeClr val="accent5">
                  <a:lumMod val="20000"/>
                  <a:lumOff val="80000"/>
                </a:schemeClr>
              </a:solidFill>
            </p:spPr>
            <p:txBody>
              <a:bodyPr wrap="square" rtlCol="0">
                <a:spAutoFit/>
              </a:bodyPr>
              <a:lstStyle/>
              <a:p>
                <a:pPr>
                  <a:spcBef>
                    <a:spcPts val="600"/>
                  </a:spcBef>
                  <a:spcAft>
                    <a:spcPts val="300"/>
                  </a:spcAft>
                </a:pPr>
                <a:r>
                  <a:rPr lang="zh-CN" altLang="en-US" sz="2400" b="1">
                    <a:solidFill>
                      <a:srgbClr val="002060"/>
                    </a:solidFill>
                    <a:latin typeface="楷体" panose="02010609060101010101" pitchFamily="49" charset="-122"/>
                    <a:ea typeface="楷体" panose="02010609060101010101" pitchFamily="49" charset="-122"/>
                  </a:rPr>
                  <a:t>当集合</a:t>
                </a:r>
                <a14:m>
                  <m:oMath xmlns:m="http://schemas.openxmlformats.org/officeDocument/2006/math">
                    <m:r>
                      <a:rPr lang="en-US" altLang="zh-CN" sz="2400" b="1" i="1" smtClean="0">
                        <a:solidFill>
                          <a:srgbClr val="002060"/>
                        </a:solidFill>
                        <a:latin typeface="Cambria Math" panose="02040503050406030204" pitchFamily="18" charset="0"/>
                      </a:rPr>
                      <m:t>𝑨</m:t>
                    </m:r>
                  </m:oMath>
                </a14:m>
                <a:r>
                  <a:rPr lang="zh-CN" altLang="en-US" sz="2400" b="1">
                    <a:solidFill>
                      <a:srgbClr val="002060"/>
                    </a:solidFill>
                    <a:latin typeface="楷体" panose="02010609060101010101" pitchFamily="49" charset="-122"/>
                    <a:ea typeface="楷体" panose="02010609060101010101" pitchFamily="49" charset="-122"/>
                  </a:rPr>
                  <a:t>只有</a:t>
                </a:r>
                <a14:m>
                  <m:oMath xmlns:m="http://schemas.openxmlformats.org/officeDocument/2006/math">
                    <m:r>
                      <a:rPr lang="en-US" altLang="zh-CN" sz="2400" b="1" i="1" smtClean="0">
                        <a:solidFill>
                          <a:srgbClr val="002060"/>
                        </a:solidFill>
                        <a:latin typeface="Cambria Math" panose="02040503050406030204" pitchFamily="18" charset="0"/>
                      </a:rPr>
                      <m:t>𝒏</m:t>
                    </m:r>
                  </m:oMath>
                </a14:m>
                <a:r>
                  <a:rPr lang="zh-CN" altLang="en-US" sz="2400" b="1">
                    <a:solidFill>
                      <a:srgbClr val="002060"/>
                    </a:solidFill>
                    <a:latin typeface="楷体" panose="02010609060101010101" pitchFamily="49" charset="-122"/>
                    <a:ea typeface="楷体" panose="02010609060101010101" pitchFamily="49" charset="-122"/>
                  </a:rPr>
                  <a:t>个元素时，计算</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oMath>
                </a14:m>
                <a:r>
                  <a:rPr lang="zh-CN" altLang="en-US" sz="2400" b="1">
                    <a:solidFill>
                      <a:srgbClr val="002060"/>
                    </a:solidFill>
                    <a:latin typeface="楷体" panose="02010609060101010101" pitchFamily="49" charset="-122"/>
                    <a:ea typeface="楷体" panose="02010609060101010101" pitchFamily="49" charset="-122"/>
                  </a:rPr>
                  <a:t>的传递闭包只需计算到</a:t>
                </a:r>
                <a14:m>
                  <m:oMath xmlns:m="http://schemas.openxmlformats.org/officeDocument/2006/math">
                    <m:sSup>
                      <m:sSupPr>
                        <m:ctrlPr>
                          <a:rPr lang="en-US" altLang="zh-CN" sz="2400" b="1" i="1" smtClean="0">
                            <a:solidFill>
                              <a:srgbClr val="002060"/>
                            </a:solidFill>
                            <a:latin typeface="Cambria Math" panose="02040503050406030204" pitchFamily="18" charset="0"/>
                          </a:rPr>
                        </m:ctrlPr>
                      </m:sSupPr>
                      <m:e>
                        <m:r>
                          <a:rPr lang="en-US" altLang="zh-CN" sz="2400" b="1" i="1" smtClean="0">
                            <a:solidFill>
                              <a:srgbClr val="002060"/>
                            </a:solidFill>
                            <a:latin typeface="Cambria Math" panose="02040503050406030204" pitchFamily="18" charset="0"/>
                          </a:rPr>
                          <m:t>𝑹</m:t>
                        </m:r>
                      </m:e>
                      <m:sup>
                        <m:r>
                          <a:rPr lang="en-US" altLang="zh-CN" sz="2400" b="1" i="1" smtClean="0">
                            <a:solidFill>
                              <a:srgbClr val="002060"/>
                            </a:solidFill>
                            <a:latin typeface="Cambria Math" panose="02040503050406030204" pitchFamily="18" charset="0"/>
                          </a:rPr>
                          <m:t>𝒏</m:t>
                        </m:r>
                      </m:sup>
                    </m:sSup>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lnSpc>
                    <a:spcPts val="2800"/>
                  </a:lnSpc>
                  <a:spcBef>
                    <a:spcPts val="600"/>
                  </a:spcBef>
                  <a:spcAft>
                    <a:spcPts val="300"/>
                  </a:spcAft>
                  <a:buFont typeface="Arial" panose="020B0604020202020204" pitchFamily="34" charset="0"/>
                  <a:buChar char="•"/>
                </a:pPr>
                <a14:m>
                  <m:oMath xmlns:m="http://schemas.openxmlformats.org/officeDocument/2006/math">
                    <m:sSup>
                      <m:sSupPr>
                        <m:ctrlPr>
                          <a:rPr lang="en-US" altLang="zh-CN" sz="2000" b="1" i="1" smtClean="0">
                            <a:solidFill>
                              <a:schemeClr val="accent6">
                                <a:lumMod val="50000"/>
                              </a:schemeClr>
                            </a:solidFill>
                            <a:latin typeface="Cambria Math" panose="02040503050406030204" pitchFamily="18" charset="0"/>
                          </a:rPr>
                        </m:ctrlPr>
                      </m:sSupPr>
                      <m:e>
                        <m:r>
                          <a:rPr lang="en-US" altLang="zh-CN" sz="2000" b="1" i="1" smtClean="0">
                            <a:solidFill>
                              <a:schemeClr val="accent6">
                                <a:lumMod val="50000"/>
                              </a:schemeClr>
                            </a:solidFill>
                            <a:latin typeface="Cambria Math" panose="02040503050406030204" pitchFamily="18" charset="0"/>
                          </a:rPr>
                          <m:t>𝑹</m:t>
                        </m:r>
                      </m:e>
                      <m:sup>
                        <m:r>
                          <a:rPr lang="en-US" altLang="zh-CN" sz="2000" b="1" i="1">
                            <a:solidFill>
                              <a:schemeClr val="accent6">
                                <a:lumMod val="50000"/>
                              </a:schemeClr>
                            </a:solidFill>
                            <a:latin typeface="Cambria Math" panose="02040503050406030204" pitchFamily="18" charset="0"/>
                          </a:rPr>
                          <m:t>𝒏</m:t>
                        </m:r>
                      </m:sup>
                    </m:sSup>
                  </m:oMath>
                </a14:m>
                <a:r>
                  <a:rPr lang="zh-CN" altLang="en-US" sz="2000" b="1">
                    <a:solidFill>
                      <a:schemeClr val="accent6">
                        <a:lumMod val="50000"/>
                      </a:schemeClr>
                    </a:solidFill>
                  </a:rPr>
                  <a:t>的直观含义是，</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𝒚</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𝑨</m:t>
                    </m:r>
                    <m:r>
                      <a:rPr lang="zh-CN" altLang="en-US" sz="2000" b="1" i="1" smtClean="0">
                        <a:solidFill>
                          <a:schemeClr val="accent6">
                            <a:lumMod val="50000"/>
                          </a:schemeClr>
                        </a:solidFill>
                        <a:latin typeface="Cambria Math" panose="02040503050406030204" pitchFamily="18" charset="0"/>
                      </a:rPr>
                      <m:t>，</m:t>
                    </m:r>
                    <m:d>
                      <m:dPr>
                        <m:begChr m:val="⟨"/>
                        <m:endChr m:val="⟩"/>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𝒙</m:t>
                        </m:r>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𝒚</m:t>
                        </m:r>
                      </m:e>
                    </m:d>
                    <m:r>
                      <a:rPr lang="en-US" altLang="zh-CN" sz="2000" b="1" i="1" smtClean="0">
                        <a:solidFill>
                          <a:schemeClr val="accent6">
                            <a:lumMod val="50000"/>
                          </a:schemeClr>
                        </a:solidFill>
                        <a:latin typeface="Cambria Math" panose="02040503050406030204" pitchFamily="18" charset="0"/>
                      </a:rPr>
                      <m:t>∈</m:t>
                    </m:r>
                    <m:sSup>
                      <m:sSupPr>
                        <m:ctrlPr>
                          <a:rPr lang="en-US" altLang="zh-CN" sz="2000" b="1" i="1" smtClean="0">
                            <a:solidFill>
                              <a:schemeClr val="accent6">
                                <a:lumMod val="50000"/>
                              </a:schemeClr>
                            </a:solidFill>
                            <a:latin typeface="Cambria Math" panose="02040503050406030204" pitchFamily="18" charset="0"/>
                          </a:rPr>
                        </m:ctrlPr>
                      </m:sSupPr>
                      <m:e>
                        <m:r>
                          <a:rPr lang="en-US" altLang="zh-CN" sz="2000" b="1" i="1" smtClean="0">
                            <a:solidFill>
                              <a:schemeClr val="accent6">
                                <a:lumMod val="50000"/>
                              </a:schemeClr>
                            </a:solidFill>
                            <a:latin typeface="Cambria Math" panose="02040503050406030204" pitchFamily="18" charset="0"/>
                          </a:rPr>
                          <m:t>𝑹</m:t>
                        </m:r>
                      </m:e>
                      <m:sup>
                        <m:r>
                          <a:rPr lang="en-US" altLang="zh-CN" sz="2000" b="1" i="1" smtClean="0">
                            <a:solidFill>
                              <a:schemeClr val="accent6">
                                <a:lumMod val="50000"/>
                              </a:schemeClr>
                            </a:solidFill>
                            <a:latin typeface="Cambria Math" panose="02040503050406030204" pitchFamily="18" charset="0"/>
                          </a:rPr>
                          <m:t>𝒏</m:t>
                        </m:r>
                      </m:sup>
                    </m:sSup>
                  </m:oMath>
                </a14:m>
                <a:r>
                  <a:rPr lang="zh-CN" altLang="en-US" sz="2000" b="1">
                    <a:solidFill>
                      <a:schemeClr val="accent6">
                        <a:lumMod val="50000"/>
                      </a:schemeClr>
                    </a:solidFill>
                  </a:rPr>
                  <a:t>当且仅当在</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𝑹</m:t>
                    </m:r>
                  </m:oMath>
                </a14:m>
                <a:r>
                  <a:rPr lang="zh-CN" altLang="en-US" sz="2000" b="1">
                    <a:solidFill>
                      <a:schemeClr val="accent6">
                        <a:lumMod val="50000"/>
                      </a:schemeClr>
                    </a:solidFill>
                  </a:rPr>
                  <a:t>的关系图，</a:t>
                </a:r>
                <a:r>
                  <a:rPr lang="zh-CN" altLang="en-US" sz="2000" b="1">
                    <a:solidFill>
                      <a:srgbClr val="C00000"/>
                    </a:solidFill>
                  </a:rPr>
                  <a:t>顶点</a:t>
                </a:r>
                <a14:m>
                  <m:oMath xmlns:m="http://schemas.openxmlformats.org/officeDocument/2006/math">
                    <m:r>
                      <a:rPr lang="en-US" altLang="zh-CN" sz="2000" b="1" i="1" smtClean="0">
                        <a:solidFill>
                          <a:srgbClr val="C00000"/>
                        </a:solidFill>
                        <a:latin typeface="Cambria Math" panose="02040503050406030204" pitchFamily="18" charset="0"/>
                      </a:rPr>
                      <m:t>𝒙</m:t>
                    </m:r>
                  </m:oMath>
                </a14:m>
                <a:r>
                  <a:rPr lang="zh-CN" altLang="en-US" sz="2000" b="1">
                    <a:solidFill>
                      <a:srgbClr val="C00000"/>
                    </a:solidFill>
                  </a:rPr>
                  <a:t>到</a:t>
                </a:r>
                <a14:m>
                  <m:oMath xmlns:m="http://schemas.openxmlformats.org/officeDocument/2006/math">
                    <m:r>
                      <a:rPr lang="en-US" altLang="zh-CN" sz="2000" b="1" i="1" smtClean="0">
                        <a:solidFill>
                          <a:srgbClr val="C00000"/>
                        </a:solidFill>
                        <a:latin typeface="Cambria Math" panose="02040503050406030204" pitchFamily="18" charset="0"/>
                      </a:rPr>
                      <m:t>𝒚</m:t>
                    </m:r>
                  </m:oMath>
                </a14:m>
                <a:r>
                  <a:rPr lang="zh-CN" altLang="en-US" sz="2000" b="1">
                    <a:solidFill>
                      <a:srgbClr val="C00000"/>
                    </a:solidFill>
                  </a:rPr>
                  <a:t>有长度为</a:t>
                </a:r>
                <a14:m>
                  <m:oMath xmlns:m="http://schemas.openxmlformats.org/officeDocument/2006/math">
                    <m:r>
                      <a:rPr lang="en-US" altLang="zh-CN" sz="2000" b="1" i="1" smtClean="0">
                        <a:solidFill>
                          <a:srgbClr val="C00000"/>
                        </a:solidFill>
                        <a:latin typeface="Cambria Math" panose="02040503050406030204" pitchFamily="18" charset="0"/>
                      </a:rPr>
                      <m:t>𝒏</m:t>
                    </m:r>
                  </m:oMath>
                </a14:m>
                <a:r>
                  <a:rPr lang="zh-CN" altLang="en-US" sz="2000" b="1">
                    <a:solidFill>
                      <a:srgbClr val="C00000"/>
                    </a:solidFill>
                  </a:rPr>
                  <a:t>的有向通路</a:t>
                </a:r>
                <a:endParaRPr lang="zh-CN" altLang="en-US" sz="2000" b="1">
                  <a:solidFill>
                    <a:srgbClr val="C00000"/>
                  </a:solidFill>
                </a:endParaRPr>
              </a:p>
              <a:p>
                <a:pPr marL="342900" indent="-342900">
                  <a:lnSpc>
                    <a:spcPts val="2800"/>
                  </a:lnSpc>
                  <a:spcBef>
                    <a:spcPts val="600"/>
                  </a:spcBef>
                  <a:spcAft>
                    <a:spcPts val="300"/>
                  </a:spcAft>
                  <a:buFont typeface="Arial" panose="020B0604020202020204" pitchFamily="34" charset="0"/>
                  <a:buChar char="•"/>
                </a:pPr>
                <a:r>
                  <a:rPr lang="zh-CN" altLang="en-US" sz="2000" b="1">
                    <a:solidFill>
                      <a:schemeClr val="accent6">
                        <a:lumMod val="50000"/>
                      </a:schemeClr>
                    </a:solidFill>
                  </a:rPr>
                  <a:t>对</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𝒏</m:t>
                    </m:r>
                  </m:oMath>
                </a14:m>
                <a:r>
                  <a:rPr lang="zh-CN" altLang="en-US" sz="2000" b="1">
                    <a:solidFill>
                      <a:schemeClr val="accent6">
                        <a:lumMod val="50000"/>
                      </a:schemeClr>
                    </a:solidFill>
                  </a:rPr>
                  <a:t>个顶点的有向图，如果两个顶点间</a:t>
                </a:r>
                <a:r>
                  <a:rPr lang="zh-CN" altLang="en-US" sz="2000" b="1">
                    <a:solidFill>
                      <a:srgbClr val="C00000"/>
                    </a:solidFill>
                  </a:rPr>
                  <a:t>有有向通路</a:t>
                </a:r>
                <a:r>
                  <a:rPr lang="zh-CN" altLang="en-US" sz="2000" b="1">
                    <a:solidFill>
                      <a:schemeClr val="accent6">
                        <a:lumMod val="50000"/>
                      </a:schemeClr>
                    </a:solidFill>
                  </a:rPr>
                  <a:t>，那么它们之间</a:t>
                </a:r>
                <a:r>
                  <a:rPr lang="zh-CN" altLang="en-US" sz="2000" b="1">
                    <a:solidFill>
                      <a:srgbClr val="C00000"/>
                    </a:solidFill>
                  </a:rPr>
                  <a:t>有长度小于等于</a:t>
                </a:r>
                <a14:m>
                  <m:oMath xmlns:m="http://schemas.openxmlformats.org/officeDocument/2006/math">
                    <m:r>
                      <a:rPr lang="en-US" altLang="zh-CN" sz="2000" b="1" i="1" smtClean="0">
                        <a:solidFill>
                          <a:srgbClr val="C00000"/>
                        </a:solidFill>
                        <a:latin typeface="Cambria Math" panose="02040503050406030204" pitchFamily="18" charset="0"/>
                      </a:rPr>
                      <m:t>𝒏</m:t>
                    </m:r>
                  </m:oMath>
                </a14:m>
                <a:r>
                  <a:rPr lang="zh-CN" altLang="en-US" sz="2000" b="1">
                    <a:solidFill>
                      <a:srgbClr val="C00000"/>
                    </a:solidFill>
                  </a:rPr>
                  <a:t>的有向通路</a:t>
                </a:r>
                <a:endParaRPr lang="zh-CN" altLang="en-US" sz="2000" b="1">
                  <a:solidFill>
                    <a:schemeClr val="accent6">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1554034" y="1222634"/>
                <a:ext cx="9083929" cy="2106602"/>
              </a:xfrm>
              <a:prstGeom prst="rect">
                <a:avLst/>
              </a:prstGeom>
              <a:blipFill rotWithShape="1">
                <a:blip r:embed="rId2"/>
                <a:stretch>
                  <a:fillRect l="-2" t="-12" r="5" b="2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71886" y="4098210"/>
                <a:ext cx="2097193" cy="1507400"/>
              </a:xfrm>
              <a:prstGeom prst="rect">
                <a:avLst/>
              </a:prstGeom>
              <a:solidFill>
                <a:schemeClr val="accent4">
                  <a:lumMod val="20000"/>
                  <a:lumOff val="80000"/>
                </a:schemeClr>
              </a:solidFill>
            </p:spPr>
            <p:txBody>
              <a:bodyPr wrap="square" rtlCol="0">
                <a:spAutoFit/>
              </a:bodyPr>
              <a:lstStyle/>
              <a:p>
                <a:pPr algn="ctr">
                  <a:lnSpc>
                    <a:spcPts val="2800"/>
                  </a:lnSpc>
                </a:pP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zh-CN" altLang="en-US" sz="2000" b="1">
                    <a:solidFill>
                      <a:schemeClr val="accent2">
                        <a:lumMod val="50000"/>
                      </a:schemeClr>
                    </a:solidFill>
                  </a:rPr>
                  <a:t>可利用矩阵逻辑积运算通过计算关系复合计算关系的传递闭包</a:t>
                </a:r>
                <a:endParaRPr lang="zh-CN" altLang="en-US" sz="2000" b="1">
                  <a:solidFill>
                    <a:schemeClr val="accent2">
                      <a:lumMod val="50000"/>
                    </a:schemeClr>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771886" y="4098210"/>
                <a:ext cx="2097193" cy="1507400"/>
              </a:xfrm>
              <a:prstGeom prst="rect">
                <a:avLst/>
              </a:prstGeom>
              <a:blipFill rotWithShape="1">
                <a:blip r:embed="rId3"/>
                <a:stretch>
                  <a:fillRect l="-17" t="-37" r="7" b="3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8512580" y="5399720"/>
                <a:ext cx="2907534" cy="411779"/>
              </a:xfrm>
              <a:prstGeom prst="rect">
                <a:avLst/>
              </a:prstGeom>
              <a:solidFill>
                <a:schemeClr val="accent2">
                  <a:lumMod val="20000"/>
                  <a:lumOff val="80000"/>
                </a:schemeClr>
              </a:solidFill>
            </p:spPr>
            <p:txBody>
              <a:bodyPr wrap="square" rtlCol="0">
                <a:spAutoFit/>
              </a:bodyPr>
              <a:lstStyle/>
              <a:p>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𝑴</m:t>
                        </m:r>
                      </m:e>
                      <m:sub>
                        <m:r>
                          <a:rPr lang="en-US" altLang="zh-CN" sz="2000" b="1" i="1" smtClean="0">
                            <a:solidFill>
                              <a:schemeClr val="accent2">
                                <a:lumMod val="50000"/>
                              </a:schemeClr>
                            </a:solidFill>
                            <a:latin typeface="Cambria Math" panose="02040503050406030204" pitchFamily="18" charset="0"/>
                          </a:rPr>
                          <m:t>𝑷</m:t>
                        </m:r>
                      </m:sub>
                    </m:sSub>
                  </m:oMath>
                </a14:m>
                <a:r>
                  <a:rPr lang="zh-CN" altLang="en-US" sz="2000" b="1">
                    <a:solidFill>
                      <a:schemeClr val="accent2">
                        <a:lumMod val="50000"/>
                      </a:schemeClr>
                    </a:solidFill>
                  </a:rPr>
                  <a:t>是关系</a:t>
                </a:r>
                <a14:m>
                  <m:oMath xmlns:m="http://schemas.openxmlformats.org/officeDocument/2006/math">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𝑹</m:t>
                        </m:r>
                      </m:e>
                      <m:sup>
                        <m:r>
                          <a:rPr lang="en-US" altLang="zh-CN" sz="2000" b="1" i="1" smtClean="0">
                            <a:solidFill>
                              <a:schemeClr val="accent2">
                                <a:lumMod val="50000"/>
                              </a:schemeClr>
                            </a:solidFill>
                            <a:latin typeface="Cambria Math" panose="02040503050406030204" pitchFamily="18" charset="0"/>
                          </a:rPr>
                          <m:t>𝒌</m:t>
                        </m:r>
                      </m:sup>
                    </m:sSup>
                  </m:oMath>
                </a14:m>
                <a:r>
                  <a:rPr lang="zh-CN" altLang="en-US" sz="2000" b="1">
                    <a:solidFill>
                      <a:schemeClr val="accent2">
                        <a:lumMod val="50000"/>
                      </a:schemeClr>
                    </a:solidFill>
                  </a:rPr>
                  <a:t>的关系矩阵</a:t>
                </a:r>
                <a:endParaRPr lang="zh-CN" altLang="en-US" sz="2000" b="1">
                  <a:solidFill>
                    <a:schemeClr val="accent2">
                      <a:lumMod val="50000"/>
                    </a:schemeClr>
                  </a:solidFill>
                </a:endParaRPr>
              </a:p>
            </p:txBody>
          </p:sp>
        </mc:Choice>
        <mc:Fallback>
          <p:sp>
            <p:nvSpPr>
              <p:cNvPr id="14" name="文本框 13"/>
              <p:cNvSpPr txBox="1">
                <a:spLocks noRot="1" noChangeAspect="1" noMove="1" noResize="1" noEditPoints="1" noAdjustHandles="1" noChangeArrowheads="1" noChangeShapeType="1" noTextEdit="1"/>
              </p:cNvSpPr>
              <p:nvPr/>
            </p:nvSpPr>
            <p:spPr>
              <a:xfrm>
                <a:off x="8512580" y="5399720"/>
                <a:ext cx="2907534" cy="411779"/>
              </a:xfrm>
              <a:prstGeom prst="rect">
                <a:avLst/>
              </a:prstGeom>
              <a:blipFill rotWithShape="1">
                <a:blip r:embed="rId4"/>
                <a:stretch>
                  <a:fillRect l="-14" t="-76" r="9" b="149"/>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关系传递闭包计算练习</a:t>
            </a:r>
            <a:endParaRPr lang="zh-CN" altLang="en-US"/>
          </a:p>
        </p:txBody>
      </p:sp>
      <p:grpSp>
        <p:nvGrpSpPr>
          <p:cNvPr id="6" name="组合 5"/>
          <p:cNvGrpSpPr/>
          <p:nvPr/>
        </p:nvGrpSpPr>
        <p:grpSpPr>
          <a:xfrm>
            <a:off x="849878" y="1317546"/>
            <a:ext cx="10492241" cy="1385507"/>
            <a:chOff x="887700" y="1103964"/>
            <a:chExt cx="10492241" cy="1385507"/>
          </a:xfrm>
        </p:grpSpPr>
        <mc:AlternateContent xmlns:mc="http://schemas.openxmlformats.org/markup-compatibility/2006">
          <mc:Choice xmlns:a14="http://schemas.microsoft.com/office/drawing/2010/main" Requires="a14">
            <p:sp>
              <p:nvSpPr>
                <p:cNvPr id="2" name="文本框 1"/>
                <p:cNvSpPr txBox="1"/>
                <p:nvPr/>
              </p:nvSpPr>
              <p:spPr>
                <a:xfrm>
                  <a:off x="887700" y="1103964"/>
                  <a:ext cx="10492241" cy="1385507"/>
                </a:xfrm>
                <a:prstGeom prst="rect">
                  <a:avLst/>
                </a:prstGeom>
                <a:solidFill>
                  <a:schemeClr val="accent6">
                    <a:lumMod val="20000"/>
                    <a:lumOff val="80000"/>
                    <a:alpha val="50000"/>
                  </a:schemeClr>
                </a:solidFill>
              </p:spPr>
              <p:txBody>
                <a:bodyPr wrap="square" rtlCol="0">
                  <a:spAutoFit/>
                </a:bodyPr>
                <a:lstStyle/>
                <a:p>
                  <a:pPr>
                    <a:spcBef>
                      <a:spcPts val="600"/>
                    </a:spcBef>
                  </a:pPr>
                  <a:r>
                    <a:rPr lang="zh-CN" altLang="en-US" sz="2400" b="1">
                      <a:solidFill>
                        <a:srgbClr val="002060"/>
                      </a:solidFill>
                      <a:latin typeface="楷体" panose="02010609060101010101" pitchFamily="49" charset="-122"/>
                      <a:ea typeface="楷体" panose="02010609060101010101" pitchFamily="49" charset="-122"/>
                    </a:rPr>
                    <a:t>集合</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m:rPr>
                          <m:lit/>
                        </m:rP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r>
                        <m:rPr>
                          <m:lit/>
                        </m:rPr>
                        <a:rPr lang="en-US" altLang="zh-CN" sz="2400" b="1" i="1">
                          <a:solidFill>
                            <a:srgbClr val="002060"/>
                          </a:solidFill>
                          <a:latin typeface="Cambria Math" panose="02040503050406030204" pitchFamily="18" charset="0"/>
                        </a:rPr>
                        <m:t>}</m:t>
                      </m:r>
                    </m:oMath>
                  </a14:m>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smtClean="0">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 </m:t>
                      </m:r>
                      <m:d>
                        <m:dPr>
                          <m:begChr m:val="⟨"/>
                          <m:endChr m:val="⟩"/>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𝟏</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𝟑</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𝟒</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𝟏</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e>
                      </m:d>
                      <m:r>
                        <m:rPr>
                          <m:lit/>
                        </m:rPr>
                        <a:rPr lang="en-US" altLang="zh-CN" sz="2400" b="1" i="1">
                          <a:solidFill>
                            <a:srgbClr val="002060"/>
                          </a:solidFill>
                          <a:latin typeface="Cambria Math" panose="02040503050406030204" pitchFamily="18" charset="0"/>
                        </a:rPr>
                        <m:t>}</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chemeClr val="tx2">
                          <a:lumMod val="50000"/>
                        </a:schemeClr>
                      </a:solidFill>
                    </a:rPr>
                    <a:t>利用</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𝑹</m:t>
                      </m:r>
                    </m:oMath>
                  </a14:m>
                  <a:r>
                    <a:rPr lang="zh-CN" altLang="en-US" sz="2000" b="1">
                      <a:solidFill>
                        <a:schemeClr val="tx2">
                          <a:lumMod val="50000"/>
                        </a:schemeClr>
                      </a:solidFill>
                    </a:rPr>
                    <a:t>的</a:t>
                  </a:r>
                  <a:r>
                    <a:rPr lang="zh-CN" altLang="en-US" sz="2000" b="1">
                      <a:solidFill>
                        <a:srgbClr val="C00000"/>
                      </a:solidFill>
                    </a:rPr>
                    <a:t>关系矩阵的逻辑积</a:t>
                  </a:r>
                  <a:r>
                    <a:rPr lang="zh-CN" altLang="en-US" sz="2000" b="1">
                      <a:solidFill>
                        <a:schemeClr val="tx2">
                          <a:lumMod val="50000"/>
                        </a:schemeClr>
                      </a:solidFill>
                    </a:rPr>
                    <a:t>计算</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𝑹</m:t>
                      </m:r>
                    </m:oMath>
                  </a14:m>
                  <a:r>
                    <a:rPr lang="zh-CN" altLang="en-US" sz="2000" b="1">
                      <a:solidFill>
                        <a:schemeClr val="tx2">
                          <a:lumMod val="50000"/>
                        </a:schemeClr>
                      </a:solidFill>
                    </a:rPr>
                    <a:t>的传递闭包，将</a:t>
                  </a:r>
                  <a14:m>
                    <m:oMath xmlns:m="http://schemas.openxmlformats.org/officeDocument/2006/math">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𝑹</m:t>
                          </m:r>
                        </m:e>
                        <m:sup>
                          <m:r>
                            <a:rPr lang="en-US" altLang="zh-CN" sz="2000" b="1" i="1" smtClean="0">
                              <a:solidFill>
                                <a:schemeClr val="tx2">
                                  <a:lumMod val="50000"/>
                                </a:schemeClr>
                              </a:solidFill>
                              <a:latin typeface="Cambria Math" panose="02040503050406030204" pitchFamily="18" charset="0"/>
                            </a:rPr>
                            <m:t>𝒌</m:t>
                          </m:r>
                        </m:sup>
                      </m:sSup>
                    </m:oMath>
                  </a14:m>
                  <a:r>
                    <a:rPr lang="zh-CN" altLang="en-US" sz="2000" b="1">
                      <a:solidFill>
                        <a:schemeClr val="tx2">
                          <a:lumMod val="50000"/>
                        </a:schemeClr>
                      </a:solidFill>
                    </a:rPr>
                    <a:t>的关系矩阵记为</a:t>
                  </a:r>
                  <a14:m>
                    <m:oMath xmlns:m="http://schemas.openxmlformats.org/officeDocument/2006/math">
                      <m:sSubSup>
                        <m:sSubSupPr>
                          <m:ctrlPr>
                            <a:rPr lang="en-US" altLang="zh-CN" sz="2000" b="1" i="1" smtClean="0">
                              <a:solidFill>
                                <a:schemeClr val="tx2">
                                  <a:lumMod val="50000"/>
                                </a:schemeClr>
                              </a:solidFill>
                              <a:latin typeface="Cambria Math" panose="02040503050406030204" pitchFamily="18" charset="0"/>
                            </a:rPr>
                          </m:ctrlPr>
                        </m:sSubSupPr>
                        <m:e>
                          <m:r>
                            <a:rPr lang="en-US" altLang="zh-CN" sz="2000" b="1" i="1" smtClean="0">
                              <a:solidFill>
                                <a:schemeClr val="tx2">
                                  <a:lumMod val="50000"/>
                                </a:schemeClr>
                              </a:solidFill>
                              <a:latin typeface="Cambria Math" panose="02040503050406030204" pitchFamily="18" charset="0"/>
                            </a:rPr>
                            <m:t>𝑴</m:t>
                          </m:r>
                        </m:e>
                        <m:sub>
                          <m:r>
                            <a:rPr lang="en-US" altLang="zh-CN" sz="2000" b="1" i="1" smtClean="0">
                              <a:solidFill>
                                <a:schemeClr val="tx2">
                                  <a:lumMod val="50000"/>
                                </a:schemeClr>
                              </a:solidFill>
                              <a:latin typeface="Cambria Math" panose="02040503050406030204" pitchFamily="18" charset="0"/>
                            </a:rPr>
                            <m:t>𝑹</m:t>
                          </m:r>
                        </m:sub>
                        <m:sup>
                          <m:d>
                            <m:dPr>
                              <m:begChr m:val="["/>
                              <m:endChr m:val="]"/>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𝒌</m:t>
                              </m:r>
                            </m:e>
                          </m:d>
                        </m:sup>
                      </m:sSubSup>
                    </m:oMath>
                  </a14:m>
                  <a:r>
                    <a:rPr lang="zh-CN" altLang="en-US" sz="2000" b="1">
                      <a:solidFill>
                        <a:schemeClr val="tx2">
                          <a:lumMod val="50000"/>
                        </a:schemeClr>
                      </a:solidFill>
                    </a:rPr>
                    <a:t>，则：</a:t>
                  </a:r>
                  <a:endParaRPr lang="zh-CN" altLang="en-US" sz="2000" b="1">
                    <a:solidFill>
                      <a:schemeClr val="tx2">
                        <a:lumMod val="50000"/>
                      </a:schemeClr>
                    </a:solidFill>
                  </a:endParaRPr>
                </a:p>
                <a:p>
                  <a:pPr algn="ctr">
                    <a:spcBef>
                      <a:spcPts val="600"/>
                    </a:spcBef>
                  </a:pP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𝑴</m:t>
                          </m:r>
                        </m:e>
                        <m:sub>
                          <m:r>
                            <a:rPr lang="en-US" altLang="zh-CN" sz="2000" b="1" i="1" smtClean="0">
                              <a:solidFill>
                                <a:schemeClr val="accent2">
                                  <a:lumMod val="50000"/>
                                </a:schemeClr>
                              </a:solidFill>
                              <a:latin typeface="Cambria Math" panose="02040503050406030204" pitchFamily="18" charset="0"/>
                            </a:rPr>
                            <m:t>𝑹</m:t>
                          </m:r>
                        </m:sub>
                      </m:sSub>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A</a:t>
                  </a:r>
                  <a:r>
                    <a:rPr lang="en-US" altLang="zh-CN" sz="2000" b="1">
                      <a:solidFill>
                        <a:schemeClr val="accent2">
                          <a:lumMod val="50000"/>
                        </a:schemeClr>
                      </a:solidFill>
                    </a:rPr>
                    <a:t>		</a:t>
                  </a:r>
                  <a14:m>
                    <m:oMath xmlns:m="http://schemas.openxmlformats.org/officeDocument/2006/math">
                      <m:sSubSup>
                        <m:sSubSupPr>
                          <m:ctrlPr>
                            <a:rPr lang="en-US" altLang="zh-CN" sz="2000" b="1" i="1" smtClean="0">
                              <a:solidFill>
                                <a:schemeClr val="accent2">
                                  <a:lumMod val="50000"/>
                                </a:schemeClr>
                              </a:solidFill>
                              <a:latin typeface="Cambria Math" panose="02040503050406030204" pitchFamily="18" charset="0"/>
                            </a:rPr>
                          </m:ctrlPr>
                        </m:sSubSupPr>
                        <m:e>
                          <m:r>
                            <a:rPr lang="en-US" altLang="zh-CN" sz="2000" b="1" i="1" smtClean="0">
                              <a:solidFill>
                                <a:schemeClr val="accent2">
                                  <a:lumMod val="50000"/>
                                </a:schemeClr>
                              </a:solidFill>
                              <a:latin typeface="Cambria Math" panose="02040503050406030204" pitchFamily="18" charset="0"/>
                            </a:rPr>
                            <m:t>𝑴</m:t>
                          </m:r>
                        </m:e>
                        <m:sub>
                          <m:r>
                            <a:rPr lang="en-US" altLang="zh-CN" sz="2000" b="1" i="1">
                              <a:solidFill>
                                <a:schemeClr val="accent2">
                                  <a:lumMod val="50000"/>
                                </a:schemeClr>
                              </a:solidFill>
                              <a:latin typeface="Cambria Math" panose="02040503050406030204" pitchFamily="18" charset="0"/>
                            </a:rPr>
                            <m:t>𝑹</m:t>
                          </m:r>
                        </m:sub>
                        <m:sup>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𝟐</m:t>
                              </m:r>
                            </m:e>
                          </m:d>
                        </m:sup>
                      </m:sSubSup>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D</a:t>
                  </a:r>
                  <a:r>
                    <a:rPr lang="en-US" altLang="zh-CN" sz="2000" b="1">
                      <a:solidFill>
                        <a:schemeClr val="accent2">
                          <a:lumMod val="50000"/>
                        </a:schemeClr>
                      </a:solidFill>
                    </a:rPr>
                    <a:t>	</a:t>
                  </a:r>
                  <a14:m>
                    <m:oMath xmlns:m="http://schemas.openxmlformats.org/officeDocument/2006/math">
                      <m:sSubSup>
                        <m:sSubSupPr>
                          <m:ctrlPr>
                            <a:rPr lang="en-US" altLang="zh-CN" sz="2000" b="1" i="1" smtClean="0">
                              <a:solidFill>
                                <a:schemeClr val="accent2">
                                  <a:lumMod val="50000"/>
                                </a:schemeClr>
                              </a:solidFill>
                              <a:latin typeface="Cambria Math" panose="02040503050406030204" pitchFamily="18" charset="0"/>
                            </a:rPr>
                          </m:ctrlPr>
                        </m:sSubSupPr>
                        <m:e>
                          <m:r>
                            <a:rPr lang="en-US" altLang="zh-CN" sz="2000" b="1" i="1" smtClean="0">
                              <a:solidFill>
                                <a:schemeClr val="accent2">
                                  <a:lumMod val="50000"/>
                                </a:schemeClr>
                              </a:solidFill>
                              <a:latin typeface="Cambria Math" panose="02040503050406030204" pitchFamily="18" charset="0"/>
                            </a:rPr>
                            <m:t>𝑴</m:t>
                          </m:r>
                        </m:e>
                        <m:sub>
                          <m:r>
                            <a:rPr lang="en-US" altLang="zh-CN" sz="2000" b="1" i="1">
                              <a:solidFill>
                                <a:schemeClr val="accent2">
                                  <a:lumMod val="50000"/>
                                </a:schemeClr>
                              </a:solidFill>
                              <a:latin typeface="Cambria Math" panose="02040503050406030204" pitchFamily="18" charset="0"/>
                            </a:rPr>
                            <m:t>𝑹</m:t>
                          </m:r>
                        </m:sub>
                        <m:sup>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𝟑</m:t>
                              </m:r>
                            </m:e>
                          </m:d>
                        </m:sup>
                      </m:sSubSup>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C</a:t>
                  </a:r>
                  <a:r>
                    <a:rPr lang="en-US" altLang="zh-CN" sz="2000" b="1">
                      <a:solidFill>
                        <a:schemeClr val="accent2">
                          <a:lumMod val="50000"/>
                        </a:schemeClr>
                      </a:solidFill>
                    </a:rPr>
                    <a:t>	</a:t>
                  </a:r>
                  <a14:m>
                    <m:oMath xmlns:m="http://schemas.openxmlformats.org/officeDocument/2006/math">
                      <m:sSubSup>
                        <m:sSubSupPr>
                          <m:ctrlPr>
                            <a:rPr lang="en-US" altLang="zh-CN" sz="2000" b="1" i="1" smtClean="0">
                              <a:solidFill>
                                <a:schemeClr val="accent2">
                                  <a:lumMod val="50000"/>
                                </a:schemeClr>
                              </a:solidFill>
                              <a:latin typeface="Cambria Math" panose="02040503050406030204" pitchFamily="18" charset="0"/>
                            </a:rPr>
                          </m:ctrlPr>
                        </m:sSubSupPr>
                        <m:e>
                          <m:r>
                            <a:rPr lang="en-US" altLang="zh-CN" sz="2000" b="1" i="1" smtClean="0">
                              <a:solidFill>
                                <a:schemeClr val="accent2">
                                  <a:lumMod val="50000"/>
                                </a:schemeClr>
                              </a:solidFill>
                              <a:latin typeface="Cambria Math" panose="02040503050406030204" pitchFamily="18" charset="0"/>
                            </a:rPr>
                            <m:t>𝑴</m:t>
                          </m:r>
                        </m:e>
                        <m:sub>
                          <m:r>
                            <a:rPr lang="en-US" altLang="zh-CN" sz="2000" b="1" i="1">
                              <a:solidFill>
                                <a:schemeClr val="accent2">
                                  <a:lumMod val="50000"/>
                                </a:schemeClr>
                              </a:solidFill>
                              <a:latin typeface="Cambria Math" panose="02040503050406030204" pitchFamily="18" charset="0"/>
                            </a:rPr>
                            <m:t>𝑹</m:t>
                          </m:r>
                        </m:sub>
                        <m:sup>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𝟒</m:t>
                              </m:r>
                            </m:e>
                          </m:d>
                        </m:sup>
                      </m:sSubSup>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D</a:t>
                  </a:r>
                  <a:r>
                    <a:rPr lang="en-US" altLang="zh-CN" sz="2000" b="1">
                      <a:solidFill>
                        <a:schemeClr val="accent2">
                          <a:lumMod val="50000"/>
                        </a:schemeClr>
                      </a:solidFill>
                    </a:rPr>
                    <a:t>	</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𝑴</m:t>
                          </m:r>
                        </m:e>
                        <m:sub>
                          <m:r>
                            <a:rPr lang="en-US" altLang="zh-CN" sz="2000" b="1" i="1" smtClean="0">
                              <a:solidFill>
                                <a:schemeClr val="accent2">
                                  <a:lumMod val="50000"/>
                                </a:schemeClr>
                              </a:solidFill>
                              <a:latin typeface="Cambria Math" panose="02040503050406030204" pitchFamily="18" charset="0"/>
                            </a:rPr>
                            <m:t>𝒕</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𝑹</m:t>
                              </m:r>
                            </m:e>
                          </m:d>
                        </m:sub>
                      </m:sSub>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E</a:t>
                  </a:r>
                  <a:r>
                    <a:rPr lang="en-US" altLang="zh-CN" sz="2000" b="1">
                      <a:solidFill>
                        <a:schemeClr val="accent2">
                          <a:lumMod val="50000"/>
                        </a:schemeClr>
                      </a:solidFill>
                    </a:rPr>
                    <a:t> </a:t>
                  </a:r>
                  <a:endParaRPr lang="zh-CN" altLang="en-US" sz="2000" b="1"/>
                </a:p>
              </p:txBody>
            </p:sp>
          </mc:Choice>
          <mc:Fallback>
            <p:sp>
              <p:nvSpPr>
                <p:cNvPr id="2" name="文本框 1"/>
                <p:cNvSpPr txBox="1">
                  <a:spLocks noRot="1" noChangeAspect="1" noMove="1" noResize="1" noEditPoints="1" noAdjustHandles="1" noChangeArrowheads="1" noChangeShapeType="1" noTextEdit="1"/>
                </p:cNvSpPr>
                <p:nvPr/>
              </p:nvSpPr>
              <p:spPr>
                <a:xfrm>
                  <a:off x="887700" y="1103964"/>
                  <a:ext cx="10492241" cy="1385507"/>
                </a:xfrm>
                <a:prstGeom prst="rect">
                  <a:avLst/>
                </a:prstGeom>
                <a:blipFill rotWithShape="1">
                  <a:blip r:embed="rId1"/>
                </a:blipFill>
              </p:spPr>
              <p:txBody>
                <a:bodyPr/>
                <a:lstStyle/>
                <a:p>
                  <a:r>
                    <a:rPr lang="zh-CN" altLang="en-US">
                      <a:noFill/>
                    </a:rPr>
                    <a:t> </a:t>
                  </a:r>
                </a:p>
              </p:txBody>
            </p:sp>
          </mc:Fallback>
        </mc:AlternateContent>
        <p:cxnSp>
          <p:nvCxnSpPr>
            <p:cNvPr id="4" name="直接连接符 3"/>
            <p:cNvCxnSpPr/>
            <p:nvPr/>
          </p:nvCxnSpPr>
          <p:spPr>
            <a:xfrm>
              <a:off x="2596362" y="2362756"/>
              <a:ext cx="94109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544190" y="2362756"/>
              <a:ext cx="94109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366315" y="2362756"/>
              <a:ext cx="94109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8188440" y="2362756"/>
              <a:ext cx="94109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0157404" y="2362756"/>
              <a:ext cx="94109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5" name="图片 14"/>
          <p:cNvPicPr>
            <a:picLocks noChangeAspect="1"/>
          </p:cNvPicPr>
          <p:nvPr/>
        </p:nvPicPr>
        <p:blipFill>
          <a:blip r:embed="rId2"/>
          <a:stretch>
            <a:fillRect/>
          </a:stretch>
        </p:blipFill>
        <p:spPr>
          <a:xfrm>
            <a:off x="828125" y="2971999"/>
            <a:ext cx="7426226" cy="2819337"/>
          </a:xfrm>
          <a:prstGeom prst="rect">
            <a:avLst/>
          </a:prstGeom>
        </p:spPr>
      </p:pic>
      <p:sp>
        <p:nvSpPr>
          <p:cNvPr id="21" name="文本框 20"/>
          <p:cNvSpPr txBox="1"/>
          <p:nvPr/>
        </p:nvSpPr>
        <p:spPr>
          <a:xfrm>
            <a:off x="9939370" y="1763415"/>
            <a:ext cx="1822125" cy="553998"/>
          </a:xfrm>
          <a:prstGeom prst="rect">
            <a:avLst/>
          </a:prstGeom>
          <a:solidFill>
            <a:schemeClr val="accent4">
              <a:lumMod val="20000"/>
              <a:lumOff val="80000"/>
            </a:schemeClr>
          </a:solidFill>
        </p:spPr>
        <p:txBody>
          <a:bodyPr wrap="square" tIns="0" bIns="0" rtlCol="0">
            <a:spAutoFit/>
          </a:bodyPr>
          <a:lstStyle/>
          <a:p>
            <a:r>
              <a:rPr lang="zh-CN" altLang="en-US" b="1">
                <a:solidFill>
                  <a:schemeClr val="accent2">
                    <a:lumMod val="50000"/>
                  </a:schemeClr>
                </a:solidFill>
              </a:rPr>
              <a:t>使用下面矩阵选项的字母填空</a:t>
            </a:r>
            <a:endParaRPr lang="zh-CN" altLang="en-US" b="1">
              <a:solidFill>
                <a:schemeClr val="accent2">
                  <a:lumMod val="50000"/>
                </a:schemeClr>
              </a:solidFill>
            </a:endParaRPr>
          </a:p>
        </p:txBody>
      </p:sp>
      <p:sp>
        <p:nvSpPr>
          <p:cNvPr id="3" name="文本框 2"/>
          <p:cNvSpPr txBox="1"/>
          <p:nvPr/>
        </p:nvSpPr>
        <p:spPr>
          <a:xfrm>
            <a:off x="2551866" y="2282920"/>
            <a:ext cx="418266" cy="276999"/>
          </a:xfrm>
          <a:prstGeom prst="rect">
            <a:avLst/>
          </a:prstGeom>
          <a:solidFill>
            <a:srgbClr val="F0F7EC"/>
          </a:solidFill>
        </p:spPr>
        <p:txBody>
          <a:bodyPr wrap="square" tIns="0" bIns="0" rtlCol="0">
            <a:spAutoFit/>
          </a:bodyPr>
          <a:lstStyle/>
          <a:p>
            <a:pPr algn="ctr"/>
            <a:r>
              <a:rPr lang="en-US" altLang="zh-CN" b="1">
                <a:solidFill>
                  <a:srgbClr val="C00000"/>
                </a:solidFill>
              </a:rPr>
              <a:t>(1)</a:t>
            </a:r>
            <a:endParaRPr lang="zh-CN" altLang="en-US" b="1">
              <a:solidFill>
                <a:srgbClr val="C00000"/>
              </a:solidFill>
            </a:endParaRPr>
          </a:p>
        </p:txBody>
      </p:sp>
      <p:sp>
        <p:nvSpPr>
          <p:cNvPr id="22" name="文本框 21"/>
          <p:cNvSpPr txBox="1"/>
          <p:nvPr/>
        </p:nvSpPr>
        <p:spPr>
          <a:xfrm>
            <a:off x="4462987" y="2282919"/>
            <a:ext cx="418266" cy="276999"/>
          </a:xfrm>
          <a:prstGeom prst="rect">
            <a:avLst/>
          </a:prstGeom>
          <a:solidFill>
            <a:srgbClr val="F0F7EC"/>
          </a:solidFill>
        </p:spPr>
        <p:txBody>
          <a:bodyPr wrap="square" tIns="0" bIns="0" rtlCol="0">
            <a:spAutoFit/>
          </a:bodyPr>
          <a:lstStyle/>
          <a:p>
            <a:pPr algn="ctr"/>
            <a:r>
              <a:rPr lang="en-US" altLang="zh-CN" b="1">
                <a:solidFill>
                  <a:srgbClr val="C00000"/>
                </a:solidFill>
              </a:rPr>
              <a:t>(2)</a:t>
            </a:r>
            <a:endParaRPr lang="zh-CN" altLang="en-US" b="1">
              <a:solidFill>
                <a:srgbClr val="C00000"/>
              </a:solidFill>
            </a:endParaRPr>
          </a:p>
        </p:txBody>
      </p:sp>
      <p:sp>
        <p:nvSpPr>
          <p:cNvPr id="23" name="文本框 22"/>
          <p:cNvSpPr txBox="1"/>
          <p:nvPr/>
        </p:nvSpPr>
        <p:spPr>
          <a:xfrm>
            <a:off x="6243943" y="2287479"/>
            <a:ext cx="418266" cy="276999"/>
          </a:xfrm>
          <a:prstGeom prst="rect">
            <a:avLst/>
          </a:prstGeom>
          <a:solidFill>
            <a:srgbClr val="F0F7EC"/>
          </a:solidFill>
        </p:spPr>
        <p:txBody>
          <a:bodyPr wrap="square" tIns="0" bIns="0" rtlCol="0">
            <a:spAutoFit/>
          </a:bodyPr>
          <a:lstStyle/>
          <a:p>
            <a:pPr algn="ctr"/>
            <a:r>
              <a:rPr lang="en-US" altLang="zh-CN" b="1">
                <a:solidFill>
                  <a:srgbClr val="C00000"/>
                </a:solidFill>
              </a:rPr>
              <a:t>(3)</a:t>
            </a:r>
            <a:endParaRPr lang="zh-CN" altLang="en-US" b="1">
              <a:solidFill>
                <a:srgbClr val="C00000"/>
              </a:solidFill>
            </a:endParaRPr>
          </a:p>
        </p:txBody>
      </p:sp>
      <p:sp>
        <p:nvSpPr>
          <p:cNvPr id="24" name="文本框 23"/>
          <p:cNvSpPr txBox="1"/>
          <p:nvPr/>
        </p:nvSpPr>
        <p:spPr>
          <a:xfrm>
            <a:off x="8155064" y="2295314"/>
            <a:ext cx="418266" cy="276999"/>
          </a:xfrm>
          <a:prstGeom prst="rect">
            <a:avLst/>
          </a:prstGeom>
          <a:solidFill>
            <a:srgbClr val="F0F7EC"/>
          </a:solidFill>
        </p:spPr>
        <p:txBody>
          <a:bodyPr wrap="square" tIns="0" bIns="0" rtlCol="0">
            <a:spAutoFit/>
          </a:bodyPr>
          <a:lstStyle/>
          <a:p>
            <a:pPr algn="ctr"/>
            <a:r>
              <a:rPr lang="en-US" altLang="zh-CN" b="1">
                <a:solidFill>
                  <a:srgbClr val="C00000"/>
                </a:solidFill>
              </a:rPr>
              <a:t>(4)</a:t>
            </a:r>
            <a:endParaRPr lang="zh-CN" altLang="en-US" b="1">
              <a:solidFill>
                <a:srgbClr val="C00000"/>
              </a:solidFill>
            </a:endParaRPr>
          </a:p>
        </p:txBody>
      </p:sp>
      <p:sp>
        <p:nvSpPr>
          <p:cNvPr id="25" name="文本框 24"/>
          <p:cNvSpPr txBox="1"/>
          <p:nvPr/>
        </p:nvSpPr>
        <p:spPr>
          <a:xfrm>
            <a:off x="10092881" y="2282920"/>
            <a:ext cx="418266" cy="276999"/>
          </a:xfrm>
          <a:prstGeom prst="rect">
            <a:avLst/>
          </a:prstGeom>
          <a:solidFill>
            <a:srgbClr val="F0F7EC"/>
          </a:solidFill>
        </p:spPr>
        <p:txBody>
          <a:bodyPr wrap="square" tIns="0" bIns="0" rtlCol="0">
            <a:spAutoFit/>
          </a:bodyPr>
          <a:lstStyle/>
          <a:p>
            <a:pPr algn="ctr"/>
            <a:r>
              <a:rPr lang="en-US" altLang="zh-CN" b="1">
                <a:solidFill>
                  <a:srgbClr val="C00000"/>
                </a:solidFill>
              </a:rPr>
              <a:t>(5)</a:t>
            </a:r>
            <a:endParaRPr lang="zh-CN" altLang="en-US" b="1">
              <a:solidFill>
                <a:srgbClr val="C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传递闭包的计算</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关系传递闭包计算练习</a:t>
            </a:r>
            <a:endParaRPr lang="zh-CN" altLang="en-US"/>
          </a:p>
        </p:txBody>
      </p:sp>
      <p:grpSp>
        <p:nvGrpSpPr>
          <p:cNvPr id="6" name="组合 5"/>
          <p:cNvGrpSpPr/>
          <p:nvPr/>
        </p:nvGrpSpPr>
        <p:grpSpPr>
          <a:xfrm>
            <a:off x="849878" y="1317546"/>
            <a:ext cx="10492241" cy="1385507"/>
            <a:chOff x="887700" y="1103964"/>
            <a:chExt cx="10492241" cy="1385507"/>
          </a:xfrm>
        </p:grpSpPr>
        <mc:AlternateContent xmlns:mc="http://schemas.openxmlformats.org/markup-compatibility/2006">
          <mc:Choice xmlns:a14="http://schemas.microsoft.com/office/drawing/2010/main" Requires="a14">
            <p:sp>
              <p:nvSpPr>
                <p:cNvPr id="2" name="文本框 1"/>
                <p:cNvSpPr txBox="1"/>
                <p:nvPr/>
              </p:nvSpPr>
              <p:spPr>
                <a:xfrm>
                  <a:off x="887700" y="1103964"/>
                  <a:ext cx="10492241" cy="1385507"/>
                </a:xfrm>
                <a:prstGeom prst="rect">
                  <a:avLst/>
                </a:prstGeom>
                <a:solidFill>
                  <a:schemeClr val="accent6">
                    <a:lumMod val="20000"/>
                    <a:lumOff val="80000"/>
                    <a:alpha val="50000"/>
                  </a:schemeClr>
                </a:solidFill>
              </p:spPr>
              <p:txBody>
                <a:bodyPr wrap="square" rtlCol="0">
                  <a:spAutoFit/>
                </a:bodyPr>
                <a:lstStyle/>
                <a:p>
                  <a:pPr>
                    <a:spcBef>
                      <a:spcPts val="600"/>
                    </a:spcBef>
                  </a:pPr>
                  <a:r>
                    <a:rPr lang="zh-CN" altLang="en-US" sz="2400" b="1">
                      <a:solidFill>
                        <a:srgbClr val="002060"/>
                      </a:solidFill>
                      <a:latin typeface="楷体" panose="02010609060101010101" pitchFamily="49" charset="-122"/>
                      <a:ea typeface="楷体" panose="02010609060101010101" pitchFamily="49" charset="-122"/>
                    </a:rPr>
                    <a:t>集合</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m:rPr>
                          <m:lit/>
                        </m:rP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r>
                        <m:rPr>
                          <m:lit/>
                        </m:rPr>
                        <a:rPr lang="en-US" altLang="zh-CN" sz="2400" b="1" i="1">
                          <a:solidFill>
                            <a:srgbClr val="002060"/>
                          </a:solidFill>
                          <a:latin typeface="Cambria Math" panose="02040503050406030204" pitchFamily="18" charset="0"/>
                        </a:rPr>
                        <m:t>}</m:t>
                      </m:r>
                    </m:oMath>
                  </a14:m>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smtClean="0">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 </m:t>
                      </m:r>
                      <m:d>
                        <m:dPr>
                          <m:begChr m:val="⟨"/>
                          <m:endChr m:val="⟩"/>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𝟏</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𝟑</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𝟒</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𝟏</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e>
                      </m:d>
                      <m:r>
                        <m:rPr>
                          <m:lit/>
                        </m:rPr>
                        <a:rPr lang="en-US" altLang="zh-CN" sz="2400" b="1" i="1">
                          <a:solidFill>
                            <a:srgbClr val="002060"/>
                          </a:solidFill>
                          <a:latin typeface="Cambria Math" panose="02040503050406030204" pitchFamily="18" charset="0"/>
                        </a:rPr>
                        <m:t>}</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chemeClr val="tx2">
                          <a:lumMod val="50000"/>
                        </a:schemeClr>
                      </a:solidFill>
                    </a:rPr>
                    <a:t>利用</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𝑹</m:t>
                      </m:r>
                    </m:oMath>
                  </a14:m>
                  <a:r>
                    <a:rPr lang="zh-CN" altLang="en-US" sz="2000" b="1">
                      <a:solidFill>
                        <a:schemeClr val="tx2">
                          <a:lumMod val="50000"/>
                        </a:schemeClr>
                      </a:solidFill>
                    </a:rPr>
                    <a:t>的</a:t>
                  </a:r>
                  <a:r>
                    <a:rPr lang="zh-CN" altLang="en-US" sz="2000" b="1">
                      <a:solidFill>
                        <a:srgbClr val="C00000"/>
                      </a:solidFill>
                    </a:rPr>
                    <a:t>关系矩阵的逻辑积</a:t>
                  </a:r>
                  <a:r>
                    <a:rPr lang="zh-CN" altLang="en-US" sz="2000" b="1">
                      <a:solidFill>
                        <a:schemeClr val="tx2">
                          <a:lumMod val="50000"/>
                        </a:schemeClr>
                      </a:solidFill>
                    </a:rPr>
                    <a:t>计算</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𝑹</m:t>
                      </m:r>
                    </m:oMath>
                  </a14:m>
                  <a:r>
                    <a:rPr lang="zh-CN" altLang="en-US" sz="2000" b="1">
                      <a:solidFill>
                        <a:schemeClr val="tx2">
                          <a:lumMod val="50000"/>
                        </a:schemeClr>
                      </a:solidFill>
                    </a:rPr>
                    <a:t>的传递闭包，将</a:t>
                  </a:r>
                  <a14:m>
                    <m:oMath xmlns:m="http://schemas.openxmlformats.org/officeDocument/2006/math">
                      <m:sSup>
                        <m:sSupPr>
                          <m:ctrlPr>
                            <a:rPr lang="en-US" altLang="zh-CN" sz="2000" b="1" i="1" smtClean="0">
                              <a:solidFill>
                                <a:schemeClr val="tx2">
                                  <a:lumMod val="50000"/>
                                </a:schemeClr>
                              </a:solidFill>
                              <a:latin typeface="Cambria Math" panose="02040503050406030204" pitchFamily="18" charset="0"/>
                            </a:rPr>
                          </m:ctrlPr>
                        </m:sSupPr>
                        <m:e>
                          <m:r>
                            <a:rPr lang="en-US" altLang="zh-CN" sz="2000" b="1" i="1" smtClean="0">
                              <a:solidFill>
                                <a:schemeClr val="tx2">
                                  <a:lumMod val="50000"/>
                                </a:schemeClr>
                              </a:solidFill>
                              <a:latin typeface="Cambria Math" panose="02040503050406030204" pitchFamily="18" charset="0"/>
                            </a:rPr>
                            <m:t>𝑹</m:t>
                          </m:r>
                        </m:e>
                        <m:sup>
                          <m:r>
                            <a:rPr lang="en-US" altLang="zh-CN" sz="2000" b="1" i="1" smtClean="0">
                              <a:solidFill>
                                <a:schemeClr val="tx2">
                                  <a:lumMod val="50000"/>
                                </a:schemeClr>
                              </a:solidFill>
                              <a:latin typeface="Cambria Math" panose="02040503050406030204" pitchFamily="18" charset="0"/>
                            </a:rPr>
                            <m:t>𝒌</m:t>
                          </m:r>
                        </m:sup>
                      </m:sSup>
                    </m:oMath>
                  </a14:m>
                  <a:r>
                    <a:rPr lang="zh-CN" altLang="en-US" sz="2000" b="1">
                      <a:solidFill>
                        <a:schemeClr val="tx2">
                          <a:lumMod val="50000"/>
                        </a:schemeClr>
                      </a:solidFill>
                    </a:rPr>
                    <a:t>的关系矩阵记为</a:t>
                  </a:r>
                  <a14:m>
                    <m:oMath xmlns:m="http://schemas.openxmlformats.org/officeDocument/2006/math">
                      <m:sSubSup>
                        <m:sSubSupPr>
                          <m:ctrlPr>
                            <a:rPr lang="en-US" altLang="zh-CN" sz="2000" b="1" i="1" smtClean="0">
                              <a:solidFill>
                                <a:schemeClr val="tx2">
                                  <a:lumMod val="50000"/>
                                </a:schemeClr>
                              </a:solidFill>
                              <a:latin typeface="Cambria Math" panose="02040503050406030204" pitchFamily="18" charset="0"/>
                            </a:rPr>
                          </m:ctrlPr>
                        </m:sSubSupPr>
                        <m:e>
                          <m:r>
                            <a:rPr lang="en-US" altLang="zh-CN" sz="2000" b="1" i="1" smtClean="0">
                              <a:solidFill>
                                <a:schemeClr val="tx2">
                                  <a:lumMod val="50000"/>
                                </a:schemeClr>
                              </a:solidFill>
                              <a:latin typeface="Cambria Math" panose="02040503050406030204" pitchFamily="18" charset="0"/>
                            </a:rPr>
                            <m:t>𝑴</m:t>
                          </m:r>
                        </m:e>
                        <m:sub>
                          <m:r>
                            <a:rPr lang="en-US" altLang="zh-CN" sz="2000" b="1" i="1" smtClean="0">
                              <a:solidFill>
                                <a:schemeClr val="tx2">
                                  <a:lumMod val="50000"/>
                                </a:schemeClr>
                              </a:solidFill>
                              <a:latin typeface="Cambria Math" panose="02040503050406030204" pitchFamily="18" charset="0"/>
                            </a:rPr>
                            <m:t>𝑹</m:t>
                          </m:r>
                        </m:sub>
                        <m:sup>
                          <m:d>
                            <m:dPr>
                              <m:begChr m:val="["/>
                              <m:endChr m:val="]"/>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𝒌</m:t>
                              </m:r>
                            </m:e>
                          </m:d>
                        </m:sup>
                      </m:sSubSup>
                    </m:oMath>
                  </a14:m>
                  <a:r>
                    <a:rPr lang="zh-CN" altLang="en-US" sz="2000" b="1">
                      <a:solidFill>
                        <a:schemeClr val="tx2">
                          <a:lumMod val="50000"/>
                        </a:schemeClr>
                      </a:solidFill>
                    </a:rPr>
                    <a:t>，则：</a:t>
                  </a:r>
                  <a:endParaRPr lang="zh-CN" altLang="en-US" sz="2000" b="1">
                    <a:solidFill>
                      <a:schemeClr val="tx2">
                        <a:lumMod val="50000"/>
                      </a:schemeClr>
                    </a:solidFill>
                  </a:endParaRPr>
                </a:p>
                <a:p>
                  <a:pPr algn="ctr">
                    <a:spcBef>
                      <a:spcPts val="600"/>
                    </a:spcBef>
                  </a:pP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𝑴</m:t>
                          </m:r>
                        </m:e>
                        <m:sub>
                          <m:r>
                            <a:rPr lang="en-US" altLang="zh-CN" sz="2000" b="1" i="1" smtClean="0">
                              <a:solidFill>
                                <a:schemeClr val="accent2">
                                  <a:lumMod val="50000"/>
                                </a:schemeClr>
                              </a:solidFill>
                              <a:latin typeface="Cambria Math" panose="02040503050406030204" pitchFamily="18" charset="0"/>
                            </a:rPr>
                            <m:t>𝑹</m:t>
                          </m:r>
                        </m:sub>
                      </m:sSub>
                      <m:r>
                        <a:rPr lang="en-US" altLang="zh-CN" sz="2000" b="1" i="1">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A</a:t>
                  </a:r>
                  <a:r>
                    <a:rPr lang="en-US" altLang="zh-CN" sz="2000" b="1">
                      <a:solidFill>
                        <a:schemeClr val="accent2">
                          <a:lumMod val="50000"/>
                        </a:schemeClr>
                      </a:solidFill>
                    </a:rPr>
                    <a:t>		</a:t>
                  </a:r>
                  <a14:m>
                    <m:oMath xmlns:m="http://schemas.openxmlformats.org/officeDocument/2006/math">
                      <m:sSubSup>
                        <m:sSubSupPr>
                          <m:ctrlPr>
                            <a:rPr lang="en-US" altLang="zh-CN" sz="2000" b="1" i="1" smtClean="0">
                              <a:solidFill>
                                <a:schemeClr val="accent2">
                                  <a:lumMod val="50000"/>
                                </a:schemeClr>
                              </a:solidFill>
                              <a:latin typeface="Cambria Math" panose="02040503050406030204" pitchFamily="18" charset="0"/>
                            </a:rPr>
                          </m:ctrlPr>
                        </m:sSubSupPr>
                        <m:e>
                          <m:r>
                            <a:rPr lang="en-US" altLang="zh-CN" sz="2000" b="1" i="1" smtClean="0">
                              <a:solidFill>
                                <a:schemeClr val="accent2">
                                  <a:lumMod val="50000"/>
                                </a:schemeClr>
                              </a:solidFill>
                              <a:latin typeface="Cambria Math" panose="02040503050406030204" pitchFamily="18" charset="0"/>
                            </a:rPr>
                            <m:t>𝑴</m:t>
                          </m:r>
                        </m:e>
                        <m:sub>
                          <m:r>
                            <a:rPr lang="en-US" altLang="zh-CN" sz="2000" b="1" i="1">
                              <a:solidFill>
                                <a:schemeClr val="accent2">
                                  <a:lumMod val="50000"/>
                                </a:schemeClr>
                              </a:solidFill>
                              <a:latin typeface="Cambria Math" panose="02040503050406030204" pitchFamily="18" charset="0"/>
                            </a:rPr>
                            <m:t>𝑹</m:t>
                          </m:r>
                        </m:sub>
                        <m:sup>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𝟐</m:t>
                              </m:r>
                            </m:e>
                          </m:d>
                        </m:sup>
                      </m:sSubSup>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D</a:t>
                  </a:r>
                  <a:r>
                    <a:rPr lang="en-US" altLang="zh-CN" sz="2000" b="1">
                      <a:solidFill>
                        <a:schemeClr val="accent2">
                          <a:lumMod val="50000"/>
                        </a:schemeClr>
                      </a:solidFill>
                    </a:rPr>
                    <a:t>	</a:t>
                  </a:r>
                  <a14:m>
                    <m:oMath xmlns:m="http://schemas.openxmlformats.org/officeDocument/2006/math">
                      <m:sSubSup>
                        <m:sSubSupPr>
                          <m:ctrlPr>
                            <a:rPr lang="en-US" altLang="zh-CN" sz="2000" b="1" i="1" smtClean="0">
                              <a:solidFill>
                                <a:schemeClr val="accent2">
                                  <a:lumMod val="50000"/>
                                </a:schemeClr>
                              </a:solidFill>
                              <a:latin typeface="Cambria Math" panose="02040503050406030204" pitchFamily="18" charset="0"/>
                            </a:rPr>
                          </m:ctrlPr>
                        </m:sSubSupPr>
                        <m:e>
                          <m:r>
                            <a:rPr lang="en-US" altLang="zh-CN" sz="2000" b="1" i="1" smtClean="0">
                              <a:solidFill>
                                <a:schemeClr val="accent2">
                                  <a:lumMod val="50000"/>
                                </a:schemeClr>
                              </a:solidFill>
                              <a:latin typeface="Cambria Math" panose="02040503050406030204" pitchFamily="18" charset="0"/>
                            </a:rPr>
                            <m:t>𝑴</m:t>
                          </m:r>
                        </m:e>
                        <m:sub>
                          <m:r>
                            <a:rPr lang="en-US" altLang="zh-CN" sz="2000" b="1" i="1">
                              <a:solidFill>
                                <a:schemeClr val="accent2">
                                  <a:lumMod val="50000"/>
                                </a:schemeClr>
                              </a:solidFill>
                              <a:latin typeface="Cambria Math" panose="02040503050406030204" pitchFamily="18" charset="0"/>
                            </a:rPr>
                            <m:t>𝑹</m:t>
                          </m:r>
                        </m:sub>
                        <m:sup>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𝟑</m:t>
                              </m:r>
                            </m:e>
                          </m:d>
                        </m:sup>
                      </m:sSubSup>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C</a:t>
                  </a:r>
                  <a:r>
                    <a:rPr lang="en-US" altLang="zh-CN" sz="2000" b="1">
                      <a:solidFill>
                        <a:schemeClr val="accent2">
                          <a:lumMod val="50000"/>
                        </a:schemeClr>
                      </a:solidFill>
                    </a:rPr>
                    <a:t>	</a:t>
                  </a:r>
                  <a14:m>
                    <m:oMath xmlns:m="http://schemas.openxmlformats.org/officeDocument/2006/math">
                      <m:sSubSup>
                        <m:sSubSupPr>
                          <m:ctrlPr>
                            <a:rPr lang="en-US" altLang="zh-CN" sz="2000" b="1" i="1" smtClean="0">
                              <a:solidFill>
                                <a:schemeClr val="accent2">
                                  <a:lumMod val="50000"/>
                                </a:schemeClr>
                              </a:solidFill>
                              <a:latin typeface="Cambria Math" panose="02040503050406030204" pitchFamily="18" charset="0"/>
                            </a:rPr>
                          </m:ctrlPr>
                        </m:sSubSupPr>
                        <m:e>
                          <m:r>
                            <a:rPr lang="en-US" altLang="zh-CN" sz="2000" b="1" i="1" smtClean="0">
                              <a:solidFill>
                                <a:schemeClr val="accent2">
                                  <a:lumMod val="50000"/>
                                </a:schemeClr>
                              </a:solidFill>
                              <a:latin typeface="Cambria Math" panose="02040503050406030204" pitchFamily="18" charset="0"/>
                            </a:rPr>
                            <m:t>𝑴</m:t>
                          </m:r>
                        </m:e>
                        <m:sub>
                          <m:r>
                            <a:rPr lang="en-US" altLang="zh-CN" sz="2000" b="1" i="1">
                              <a:solidFill>
                                <a:schemeClr val="accent2">
                                  <a:lumMod val="50000"/>
                                </a:schemeClr>
                              </a:solidFill>
                              <a:latin typeface="Cambria Math" panose="02040503050406030204" pitchFamily="18" charset="0"/>
                            </a:rPr>
                            <m:t>𝑹</m:t>
                          </m:r>
                        </m:sub>
                        <m:sup>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𝟒</m:t>
                              </m:r>
                            </m:e>
                          </m:d>
                        </m:sup>
                      </m:sSubSup>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D</a:t>
                  </a:r>
                  <a:r>
                    <a:rPr lang="en-US" altLang="zh-CN" sz="2000" b="1">
                      <a:solidFill>
                        <a:schemeClr val="accent2">
                          <a:lumMod val="50000"/>
                        </a:schemeClr>
                      </a:solidFill>
                    </a:rPr>
                    <a:t>	</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𝑴</m:t>
                          </m:r>
                        </m:e>
                        <m:sub>
                          <m:r>
                            <a:rPr lang="en-US" altLang="zh-CN" sz="2000" b="1" i="1" smtClean="0">
                              <a:solidFill>
                                <a:schemeClr val="accent2">
                                  <a:lumMod val="50000"/>
                                </a:schemeClr>
                              </a:solidFill>
                              <a:latin typeface="Cambria Math" panose="02040503050406030204" pitchFamily="18" charset="0"/>
                            </a:rPr>
                            <m:t>𝒕</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𝑹</m:t>
                              </m:r>
                            </m:e>
                          </m:d>
                        </m:sub>
                      </m:sSub>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E</a:t>
                  </a:r>
                  <a:r>
                    <a:rPr lang="en-US" altLang="zh-CN" sz="2000" b="1">
                      <a:solidFill>
                        <a:schemeClr val="accent2">
                          <a:lumMod val="50000"/>
                        </a:schemeClr>
                      </a:solidFill>
                    </a:rPr>
                    <a:t> </a:t>
                  </a:r>
                  <a:endParaRPr lang="zh-CN" altLang="en-US" sz="2000" b="1"/>
                </a:p>
              </p:txBody>
            </p:sp>
          </mc:Choice>
          <mc:Fallback>
            <p:sp>
              <p:nvSpPr>
                <p:cNvPr id="2" name="文本框 1"/>
                <p:cNvSpPr txBox="1">
                  <a:spLocks noRot="1" noChangeAspect="1" noMove="1" noResize="1" noEditPoints="1" noAdjustHandles="1" noChangeArrowheads="1" noChangeShapeType="1" noTextEdit="1"/>
                </p:cNvSpPr>
                <p:nvPr/>
              </p:nvSpPr>
              <p:spPr>
                <a:xfrm>
                  <a:off x="887700" y="1103964"/>
                  <a:ext cx="10492241" cy="1385507"/>
                </a:xfrm>
                <a:prstGeom prst="rect">
                  <a:avLst/>
                </a:prstGeom>
                <a:blipFill rotWithShape="1">
                  <a:blip r:embed="rId1"/>
                </a:blipFill>
              </p:spPr>
              <p:txBody>
                <a:bodyPr/>
                <a:lstStyle/>
                <a:p>
                  <a:r>
                    <a:rPr lang="zh-CN" altLang="en-US">
                      <a:noFill/>
                    </a:rPr>
                    <a:t> </a:t>
                  </a:r>
                </a:p>
              </p:txBody>
            </p:sp>
          </mc:Fallback>
        </mc:AlternateContent>
        <p:cxnSp>
          <p:nvCxnSpPr>
            <p:cNvPr id="4" name="直接连接符 3"/>
            <p:cNvCxnSpPr/>
            <p:nvPr/>
          </p:nvCxnSpPr>
          <p:spPr>
            <a:xfrm>
              <a:off x="2596362" y="2362756"/>
              <a:ext cx="94109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4544190" y="2362756"/>
              <a:ext cx="94109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366315" y="2362756"/>
              <a:ext cx="94109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8188440" y="2362756"/>
              <a:ext cx="94109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10157404" y="2362756"/>
              <a:ext cx="94109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5" name="图片 14"/>
          <p:cNvPicPr>
            <a:picLocks noChangeAspect="1"/>
          </p:cNvPicPr>
          <p:nvPr/>
        </p:nvPicPr>
        <p:blipFill>
          <a:blip r:embed="rId2"/>
          <a:stretch>
            <a:fillRect/>
          </a:stretch>
        </p:blipFill>
        <p:spPr>
          <a:xfrm>
            <a:off x="828125" y="2971999"/>
            <a:ext cx="7426226" cy="2819337"/>
          </a:xfrm>
          <a:prstGeom prst="rect">
            <a:avLst/>
          </a:prstGeom>
        </p:spPr>
      </p:pic>
      <mc:AlternateContent xmlns:mc="http://schemas.openxmlformats.org/markup-compatibility/2006">
        <mc:Choice xmlns:a14="http://schemas.microsoft.com/office/drawing/2010/main" Requires="a14">
          <p:sp>
            <p:nvSpPr>
              <p:cNvPr id="16" name="文本框 15"/>
              <p:cNvSpPr txBox="1"/>
              <p:nvPr/>
            </p:nvSpPr>
            <p:spPr>
              <a:xfrm>
                <a:off x="8621167" y="2935816"/>
                <a:ext cx="2742708" cy="707886"/>
              </a:xfrm>
              <a:prstGeom prst="rect">
                <a:avLst/>
              </a:prstGeom>
              <a:solidFill>
                <a:schemeClr val="accent2">
                  <a:lumMod val="20000"/>
                  <a:lumOff val="80000"/>
                  <a:alpha val="50000"/>
                </a:schemeClr>
              </a:solidFill>
            </p:spPr>
            <p:txBody>
              <a:bodyPr wrap="square" rtlCol="0">
                <a:spAutoFit/>
              </a:bodyPr>
              <a:lstStyle/>
              <a:p>
                <a:pPr>
                  <a:lnSpc>
                    <a:spcPts val="2400"/>
                  </a:lnSpc>
                </a:pPr>
                <a14:m>
                  <m:oMathPara xmlns:m="http://schemas.openxmlformats.org/officeDocument/2006/math">
                    <m:oMathParaPr>
                      <m:jc m:val="centerGroup"/>
                    </m:oMathParaPr>
                    <m:oMath xmlns:m="http://schemas.openxmlformats.org/officeDocument/2006/math">
                      <m:sSup>
                        <m:sSupPr>
                          <m:ctrlPr>
                            <a:rPr lang="da-DK" altLang="zh-CN" b="1" i="1" smtClean="0">
                              <a:solidFill>
                                <a:schemeClr val="accent2">
                                  <a:lumMod val="50000"/>
                                </a:schemeClr>
                              </a:solidFill>
                              <a:latin typeface="Cambria Math" panose="02040503050406030204" pitchFamily="18" charset="0"/>
                            </a:rPr>
                          </m:ctrlPr>
                        </m:sSupPr>
                        <m:e>
                          <m:r>
                            <a:rPr lang="da-DK" altLang="zh-CN" b="1" i="1" smtClean="0">
                              <a:solidFill>
                                <a:schemeClr val="accent2">
                                  <a:lumMod val="50000"/>
                                </a:schemeClr>
                              </a:solidFill>
                              <a:latin typeface="Cambria Math" panose="02040503050406030204" pitchFamily="18" charset="0"/>
                            </a:rPr>
                            <m:t>𝑹</m:t>
                          </m:r>
                        </m:e>
                        <m:sup>
                          <m:r>
                            <a:rPr lang="da-DK" altLang="zh-CN" b="1" i="1" smtClean="0">
                              <a:solidFill>
                                <a:schemeClr val="accent2">
                                  <a:lumMod val="50000"/>
                                </a:schemeClr>
                              </a:solidFill>
                              <a:latin typeface="Cambria Math" panose="02040503050406030204" pitchFamily="18" charset="0"/>
                            </a:rPr>
                            <m:t>𝟐</m:t>
                          </m:r>
                        </m:sup>
                      </m:sSup>
                      <m:r>
                        <a:rPr lang="da-DK" altLang="zh-CN" b="1" i="1" smtClean="0">
                          <a:solidFill>
                            <a:schemeClr val="accent2">
                              <a:lumMod val="50000"/>
                            </a:schemeClr>
                          </a:solidFill>
                          <a:latin typeface="Cambria Math" panose="02040503050406030204" pitchFamily="18" charset="0"/>
                        </a:rPr>
                        <m:t>=</m:t>
                      </m:r>
                      <m:r>
                        <m:rPr>
                          <m:lit/>
                        </m:rPr>
                        <a:rPr lang="da-DK" altLang="zh-CN" b="1" i="1">
                          <a:solidFill>
                            <a:schemeClr val="accent2">
                              <a:lumMod val="50000"/>
                            </a:schemeClr>
                          </a:solidFill>
                          <a:latin typeface="Cambria Math" panose="02040503050406030204" pitchFamily="18" charset="0"/>
                        </a:rPr>
                        <m:t>{</m:t>
                      </m:r>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𝟐</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𝟑</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𝟑</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a:rPr lang="da-DK" altLang="zh-CN" b="1" i="1">
                          <a:solidFill>
                            <a:schemeClr val="accent2">
                              <a:lumMod val="50000"/>
                            </a:schemeClr>
                          </a:solidFill>
                          <a:latin typeface="Cambria Math" panose="02040503050406030204" pitchFamily="18" charset="0"/>
                        </a:rPr>
                        <m:t>, </m:t>
                      </m:r>
                    </m:oMath>
                  </m:oMathPara>
                </a14:m>
                <a:endParaRPr lang="en-US" altLang="zh-CN" b="1" i="1">
                  <a:solidFill>
                    <a:schemeClr val="accent2">
                      <a:lumMod val="50000"/>
                    </a:schemeClr>
                  </a:solidFill>
                  <a:latin typeface="Cambria Math" panose="02040503050406030204" pitchFamily="18" charset="0"/>
                </a:endParaRPr>
              </a:p>
              <a:p>
                <a:pPr>
                  <a:lnSpc>
                    <a:spcPts val="2400"/>
                  </a:lnSpc>
                </a:pPr>
                <a14:m>
                  <m:oMathPara xmlns:m="http://schemas.openxmlformats.org/officeDocument/2006/math">
                    <m:oMathParaPr>
                      <m:jc m:val="centerGroup"/>
                    </m:oMathParaPr>
                    <m:oMath xmlns:m="http://schemas.openxmlformats.org/officeDocument/2006/math">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𝟑</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𝟑</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𝟐</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𝟒</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𝟏</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m:rPr>
                          <m:lit/>
                        </m:rPr>
                        <a:rPr lang="da-DK" altLang="zh-CN" b="1" i="1">
                          <a:solidFill>
                            <a:schemeClr val="accent2">
                              <a:lumMod val="50000"/>
                            </a:schemeClr>
                          </a:solidFill>
                          <a:latin typeface="Cambria Math" panose="02040503050406030204" pitchFamily="18" charset="0"/>
                        </a:rPr>
                        <m:t>}</m:t>
                      </m:r>
                    </m:oMath>
                  </m:oMathPara>
                </a14:m>
                <a:endParaRPr lang="da-DK" altLang="zh-CN" b="1">
                  <a:solidFill>
                    <a:schemeClr val="accent2">
                      <a:lumMod val="50000"/>
                    </a:schemeClr>
                  </a:solidFill>
                </a:endParaRPr>
              </a:p>
            </p:txBody>
          </p:sp>
        </mc:Choice>
        <mc:Fallback>
          <p:sp>
            <p:nvSpPr>
              <p:cNvPr id="16" name="文本框 15"/>
              <p:cNvSpPr txBox="1">
                <a:spLocks noRot="1" noChangeAspect="1" noMove="1" noResize="1" noEditPoints="1" noAdjustHandles="1" noChangeArrowheads="1" noChangeShapeType="1" noTextEdit="1"/>
              </p:cNvSpPr>
              <p:nvPr/>
            </p:nvSpPr>
            <p:spPr>
              <a:xfrm>
                <a:off x="8621167" y="2935816"/>
                <a:ext cx="2742708" cy="707886"/>
              </a:xfrm>
              <a:prstGeom prst="rect">
                <a:avLst/>
              </a:prstGeom>
              <a:blipFill rotWithShape="1">
                <a:blip r:embed="rId3"/>
                <a:stretch>
                  <a:fillRect l="-15" t="-30" r="-4935" b="-3560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p:cNvSpPr txBox="1"/>
              <p:nvPr/>
            </p:nvSpPr>
            <p:spPr>
              <a:xfrm>
                <a:off x="8636742" y="3814913"/>
                <a:ext cx="2742709" cy="707886"/>
              </a:xfrm>
              <a:prstGeom prst="rect">
                <a:avLst/>
              </a:prstGeom>
              <a:solidFill>
                <a:schemeClr val="accent2">
                  <a:lumMod val="20000"/>
                  <a:lumOff val="80000"/>
                  <a:alpha val="50000"/>
                </a:schemeClr>
              </a:solidFill>
            </p:spPr>
            <p:txBody>
              <a:bodyPr wrap="square" rtlCol="0">
                <a:spAutoFit/>
              </a:bodyPr>
              <a:lstStyle/>
              <a:p>
                <a:pPr>
                  <a:lnSpc>
                    <a:spcPts val="2400"/>
                  </a:lnSpc>
                </a:pPr>
                <a14:m>
                  <m:oMathPara xmlns:m="http://schemas.openxmlformats.org/officeDocument/2006/math">
                    <m:oMathParaPr>
                      <m:jc m:val="centerGroup"/>
                    </m:oMathParaPr>
                    <m:oMath xmlns:m="http://schemas.openxmlformats.org/officeDocument/2006/math">
                      <m:sSup>
                        <m:sSupPr>
                          <m:ctrlPr>
                            <a:rPr lang="da-DK" altLang="zh-CN" b="1" i="1" smtClean="0">
                              <a:solidFill>
                                <a:schemeClr val="accent2">
                                  <a:lumMod val="50000"/>
                                </a:schemeClr>
                              </a:solidFill>
                              <a:latin typeface="Cambria Math" panose="02040503050406030204" pitchFamily="18" charset="0"/>
                            </a:rPr>
                          </m:ctrlPr>
                        </m:sSupPr>
                        <m:e>
                          <m:r>
                            <a:rPr lang="da-DK" altLang="zh-CN" b="1" i="1" smtClean="0">
                              <a:solidFill>
                                <a:schemeClr val="accent2">
                                  <a:lumMod val="50000"/>
                                </a:schemeClr>
                              </a:solidFill>
                              <a:latin typeface="Cambria Math" panose="02040503050406030204" pitchFamily="18" charset="0"/>
                            </a:rPr>
                            <m:t>𝑹</m:t>
                          </m:r>
                        </m:e>
                        <m:sup>
                          <m:r>
                            <a:rPr lang="da-DK" altLang="zh-CN" b="1" i="1" smtClean="0">
                              <a:solidFill>
                                <a:schemeClr val="accent2">
                                  <a:lumMod val="50000"/>
                                </a:schemeClr>
                              </a:solidFill>
                              <a:latin typeface="Cambria Math" panose="02040503050406030204" pitchFamily="18" charset="0"/>
                            </a:rPr>
                            <m:t>𝟑</m:t>
                          </m:r>
                        </m:sup>
                      </m:sSup>
                      <m:r>
                        <a:rPr lang="da-DK" altLang="zh-CN" b="1" i="1" smtClean="0">
                          <a:solidFill>
                            <a:schemeClr val="accent2">
                              <a:lumMod val="50000"/>
                            </a:schemeClr>
                          </a:solidFill>
                          <a:latin typeface="Cambria Math" panose="02040503050406030204" pitchFamily="18" charset="0"/>
                        </a:rPr>
                        <m:t>=</m:t>
                      </m:r>
                      <m:r>
                        <m:rPr>
                          <m:lit/>
                        </m:rPr>
                        <a:rPr lang="da-DK" altLang="zh-CN" b="1" i="1">
                          <a:solidFill>
                            <a:schemeClr val="accent2">
                              <a:lumMod val="50000"/>
                            </a:schemeClr>
                          </a:solidFill>
                          <a:latin typeface="Cambria Math" panose="02040503050406030204" pitchFamily="18" charset="0"/>
                        </a:rPr>
                        <m:t>{</m:t>
                      </m:r>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𝟐</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𝟑</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𝟑</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a:rPr lang="da-DK" altLang="zh-CN" b="1" i="1">
                          <a:solidFill>
                            <a:schemeClr val="accent2">
                              <a:lumMod val="50000"/>
                            </a:schemeClr>
                          </a:solidFill>
                          <a:latin typeface="Cambria Math" panose="02040503050406030204" pitchFamily="18" charset="0"/>
                        </a:rPr>
                        <m:t>, </m:t>
                      </m:r>
                    </m:oMath>
                  </m:oMathPara>
                </a14:m>
                <a:endParaRPr lang="en-US" altLang="zh-CN" b="1" i="1">
                  <a:solidFill>
                    <a:schemeClr val="accent2">
                      <a:lumMod val="50000"/>
                    </a:schemeClr>
                  </a:solidFill>
                  <a:latin typeface="Cambria Math" panose="02040503050406030204" pitchFamily="18" charset="0"/>
                </a:endParaRPr>
              </a:p>
              <a:p>
                <a:pPr>
                  <a:lnSpc>
                    <a:spcPts val="2400"/>
                  </a:lnSpc>
                </a:pPr>
                <a14:m>
                  <m:oMathPara xmlns:m="http://schemas.openxmlformats.org/officeDocument/2006/math">
                    <m:oMathParaPr>
                      <m:jc m:val="centerGroup"/>
                    </m:oMathParaPr>
                    <m:oMath xmlns:m="http://schemas.openxmlformats.org/officeDocument/2006/math">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𝟑</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𝟑</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𝟐</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𝟒</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𝟏</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m:rPr>
                          <m:lit/>
                        </m:rPr>
                        <a:rPr lang="da-DK" altLang="zh-CN" b="1" i="1" smtClean="0">
                          <a:solidFill>
                            <a:schemeClr val="accent2">
                              <a:lumMod val="50000"/>
                            </a:schemeClr>
                          </a:solidFill>
                          <a:latin typeface="Cambria Math" panose="02040503050406030204" pitchFamily="18" charset="0"/>
                        </a:rPr>
                        <m:t>}</m:t>
                      </m:r>
                    </m:oMath>
                  </m:oMathPara>
                </a14:m>
                <a:endParaRPr lang="da-DK" altLang="zh-CN" b="1">
                  <a:solidFill>
                    <a:schemeClr val="accent2">
                      <a:lumMod val="50000"/>
                    </a:schemeClr>
                  </a:solidFill>
                </a:endParaRPr>
              </a:p>
            </p:txBody>
          </p:sp>
        </mc:Choice>
        <mc:Fallback>
          <p:sp>
            <p:nvSpPr>
              <p:cNvPr id="18" name="文本框 17"/>
              <p:cNvSpPr txBox="1">
                <a:spLocks noRot="1" noChangeAspect="1" noMove="1" noResize="1" noEditPoints="1" noAdjustHandles="1" noChangeArrowheads="1" noChangeShapeType="1" noTextEdit="1"/>
              </p:cNvSpPr>
              <p:nvPr/>
            </p:nvSpPr>
            <p:spPr>
              <a:xfrm>
                <a:off x="8636742" y="3814913"/>
                <a:ext cx="2742709" cy="707886"/>
              </a:xfrm>
              <a:prstGeom prst="rect">
                <a:avLst/>
              </a:prstGeom>
              <a:blipFill rotWithShape="1">
                <a:blip r:embed="rId4"/>
                <a:stretch>
                  <a:fillRect l="-4" t="-66" r="-4945" b="-355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p:cNvSpPr txBox="1"/>
              <p:nvPr/>
            </p:nvSpPr>
            <p:spPr>
              <a:xfrm>
                <a:off x="8636742" y="4694011"/>
                <a:ext cx="2742709" cy="707886"/>
              </a:xfrm>
              <a:prstGeom prst="rect">
                <a:avLst/>
              </a:prstGeom>
              <a:solidFill>
                <a:schemeClr val="accent2">
                  <a:lumMod val="20000"/>
                  <a:lumOff val="80000"/>
                  <a:alpha val="50000"/>
                </a:schemeClr>
              </a:solidFill>
            </p:spPr>
            <p:txBody>
              <a:bodyPr wrap="square" rtlCol="0">
                <a:spAutoFit/>
              </a:bodyPr>
              <a:lstStyle/>
              <a:p>
                <a:pPr>
                  <a:lnSpc>
                    <a:spcPts val="2400"/>
                  </a:lnSpc>
                </a:pPr>
                <a14:m>
                  <m:oMathPara xmlns:m="http://schemas.openxmlformats.org/officeDocument/2006/math">
                    <m:oMathParaPr>
                      <m:jc m:val="centerGroup"/>
                    </m:oMathParaPr>
                    <m:oMath xmlns:m="http://schemas.openxmlformats.org/officeDocument/2006/math">
                      <m:sSup>
                        <m:sSupPr>
                          <m:ctrlPr>
                            <a:rPr lang="da-DK" altLang="zh-CN" b="1" i="1" smtClean="0">
                              <a:solidFill>
                                <a:schemeClr val="accent2">
                                  <a:lumMod val="50000"/>
                                </a:schemeClr>
                              </a:solidFill>
                              <a:latin typeface="Cambria Math" panose="02040503050406030204" pitchFamily="18" charset="0"/>
                            </a:rPr>
                          </m:ctrlPr>
                        </m:sSupPr>
                        <m:e>
                          <m:r>
                            <a:rPr lang="da-DK" altLang="zh-CN" b="1" i="1" smtClean="0">
                              <a:solidFill>
                                <a:schemeClr val="accent2">
                                  <a:lumMod val="50000"/>
                                </a:schemeClr>
                              </a:solidFill>
                              <a:latin typeface="Cambria Math" panose="02040503050406030204" pitchFamily="18" charset="0"/>
                            </a:rPr>
                            <m:t>𝑹</m:t>
                          </m:r>
                        </m:e>
                        <m:sup>
                          <m:r>
                            <a:rPr lang="da-DK" altLang="zh-CN" b="1" i="1" smtClean="0">
                              <a:solidFill>
                                <a:schemeClr val="accent2">
                                  <a:lumMod val="50000"/>
                                </a:schemeClr>
                              </a:solidFill>
                              <a:latin typeface="Cambria Math" panose="02040503050406030204" pitchFamily="18" charset="0"/>
                            </a:rPr>
                            <m:t>𝟒</m:t>
                          </m:r>
                        </m:sup>
                      </m:sSup>
                      <m:r>
                        <a:rPr lang="da-DK" altLang="zh-CN" b="1" i="1" smtClean="0">
                          <a:solidFill>
                            <a:schemeClr val="accent2">
                              <a:lumMod val="50000"/>
                            </a:schemeClr>
                          </a:solidFill>
                          <a:latin typeface="Cambria Math" panose="02040503050406030204" pitchFamily="18" charset="0"/>
                        </a:rPr>
                        <m:t>=</m:t>
                      </m:r>
                      <m:r>
                        <m:rPr>
                          <m:lit/>
                        </m:rPr>
                        <a:rPr lang="da-DK" altLang="zh-CN" b="1" i="1">
                          <a:solidFill>
                            <a:schemeClr val="accent2">
                              <a:lumMod val="50000"/>
                            </a:schemeClr>
                          </a:solidFill>
                          <a:latin typeface="Cambria Math" panose="02040503050406030204" pitchFamily="18" charset="0"/>
                        </a:rPr>
                        <m:t>{</m:t>
                      </m:r>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𝟐</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𝟑</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𝟑</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a:rPr lang="da-DK" altLang="zh-CN" b="1" i="1">
                          <a:solidFill>
                            <a:schemeClr val="accent2">
                              <a:lumMod val="50000"/>
                            </a:schemeClr>
                          </a:solidFill>
                          <a:latin typeface="Cambria Math" panose="02040503050406030204" pitchFamily="18" charset="0"/>
                        </a:rPr>
                        <m:t>, </m:t>
                      </m:r>
                    </m:oMath>
                  </m:oMathPara>
                </a14:m>
                <a:endParaRPr lang="en-US" altLang="zh-CN" b="1" i="1">
                  <a:solidFill>
                    <a:schemeClr val="accent2">
                      <a:lumMod val="50000"/>
                    </a:schemeClr>
                  </a:solidFill>
                  <a:latin typeface="Cambria Math" panose="02040503050406030204" pitchFamily="18" charset="0"/>
                </a:endParaRPr>
              </a:p>
              <a:p>
                <a:pPr>
                  <a:lnSpc>
                    <a:spcPts val="2400"/>
                  </a:lnSpc>
                </a:pPr>
                <a14:m>
                  <m:oMathPara xmlns:m="http://schemas.openxmlformats.org/officeDocument/2006/math">
                    <m:oMathParaPr>
                      <m:jc m:val="centerGroup"/>
                    </m:oMathParaPr>
                    <m:oMath xmlns:m="http://schemas.openxmlformats.org/officeDocument/2006/math">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𝟑</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𝟑</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𝟐</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𝟒</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𝟏</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m:rPr>
                          <m:lit/>
                        </m:rPr>
                        <a:rPr lang="da-DK" altLang="zh-CN" b="1" i="1" smtClean="0">
                          <a:solidFill>
                            <a:schemeClr val="accent2">
                              <a:lumMod val="50000"/>
                            </a:schemeClr>
                          </a:solidFill>
                          <a:latin typeface="Cambria Math" panose="02040503050406030204" pitchFamily="18" charset="0"/>
                        </a:rPr>
                        <m:t>}</m:t>
                      </m:r>
                    </m:oMath>
                  </m:oMathPara>
                </a14:m>
                <a:endParaRPr lang="da-DK" altLang="zh-CN" b="1">
                  <a:solidFill>
                    <a:schemeClr val="accent2">
                      <a:lumMod val="50000"/>
                    </a:schemeClr>
                  </a:solidFill>
                </a:endParaRPr>
              </a:p>
            </p:txBody>
          </p:sp>
        </mc:Choice>
        <mc:Fallback>
          <p:sp>
            <p:nvSpPr>
              <p:cNvPr id="19" name="文本框 18"/>
              <p:cNvSpPr txBox="1">
                <a:spLocks noRot="1" noChangeAspect="1" noMove="1" noResize="1" noEditPoints="1" noAdjustHandles="1" noChangeArrowheads="1" noChangeShapeType="1" noTextEdit="1"/>
              </p:cNvSpPr>
              <p:nvPr/>
            </p:nvSpPr>
            <p:spPr>
              <a:xfrm>
                <a:off x="8636742" y="4694011"/>
                <a:ext cx="2742709" cy="707886"/>
              </a:xfrm>
              <a:prstGeom prst="rect">
                <a:avLst/>
              </a:prstGeom>
              <a:blipFill rotWithShape="1">
                <a:blip r:embed="rId5"/>
                <a:stretch>
                  <a:fillRect l="-4" t="-13" r="-4945" b="-356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文本框 19"/>
              <p:cNvSpPr txBox="1"/>
              <p:nvPr/>
            </p:nvSpPr>
            <p:spPr>
              <a:xfrm>
                <a:off x="8432146" y="5573109"/>
                <a:ext cx="3466692" cy="707886"/>
              </a:xfrm>
              <a:prstGeom prst="rect">
                <a:avLst/>
              </a:prstGeom>
              <a:solidFill>
                <a:schemeClr val="accent2">
                  <a:lumMod val="20000"/>
                  <a:lumOff val="80000"/>
                  <a:alpha val="50000"/>
                </a:schemeClr>
              </a:solidFill>
            </p:spPr>
            <p:txBody>
              <a:bodyPr wrap="square" rtlCol="0">
                <a:spAutoFit/>
              </a:bodyPr>
              <a:lstStyle/>
              <a:p>
                <a:pPr>
                  <a:lnSpc>
                    <a:spcPts val="2400"/>
                  </a:lnSpc>
                </a:pPr>
                <a14:m>
                  <m:oMathPara xmlns:m="http://schemas.openxmlformats.org/officeDocument/2006/math">
                    <m:oMathParaPr>
                      <m:jc m:val="centerGroup"/>
                    </m:oMathParaPr>
                    <m:oMath xmlns:m="http://schemas.openxmlformats.org/officeDocument/2006/math">
                      <m:r>
                        <a:rPr lang="da-DK" altLang="zh-CN" b="1" i="1" smtClean="0">
                          <a:solidFill>
                            <a:schemeClr val="accent2">
                              <a:lumMod val="50000"/>
                            </a:schemeClr>
                          </a:solidFill>
                          <a:latin typeface="Cambria Math" panose="02040503050406030204" pitchFamily="18" charset="0"/>
                        </a:rPr>
                        <m:t>𝒕</m:t>
                      </m:r>
                      <m:d>
                        <m:dPr>
                          <m:ctrlPr>
                            <a:rPr lang="da-DK" altLang="zh-CN" b="1" i="1" smtClean="0">
                              <a:solidFill>
                                <a:schemeClr val="accent2">
                                  <a:lumMod val="50000"/>
                                </a:schemeClr>
                              </a:solidFill>
                              <a:latin typeface="Cambria Math" panose="02040503050406030204" pitchFamily="18" charset="0"/>
                            </a:rPr>
                          </m:ctrlPr>
                        </m:dPr>
                        <m:e>
                          <m:r>
                            <a:rPr lang="da-DK" altLang="zh-CN" b="1" i="1" smtClean="0">
                              <a:solidFill>
                                <a:schemeClr val="accent2">
                                  <a:lumMod val="50000"/>
                                </a:schemeClr>
                              </a:solidFill>
                              <a:latin typeface="Cambria Math" panose="02040503050406030204" pitchFamily="18" charset="0"/>
                            </a:rPr>
                            <m:t>𝑹</m:t>
                          </m:r>
                        </m:e>
                      </m:d>
                      <m:r>
                        <a:rPr lang="da-DK" altLang="zh-CN" b="1" i="1" smtClean="0">
                          <a:solidFill>
                            <a:schemeClr val="accent2">
                              <a:lumMod val="50000"/>
                            </a:schemeClr>
                          </a:solidFill>
                          <a:latin typeface="Cambria Math" panose="02040503050406030204" pitchFamily="18" charset="0"/>
                        </a:rPr>
                        <m:t>=</m:t>
                      </m:r>
                      <m:r>
                        <m:rPr>
                          <m:lit/>
                        </m:rPr>
                        <a:rPr lang="da-DK" altLang="zh-CN" b="1" i="1">
                          <a:solidFill>
                            <a:schemeClr val="accent2">
                              <a:lumMod val="50000"/>
                            </a:schemeClr>
                          </a:solidFill>
                          <a:latin typeface="Cambria Math" panose="02040503050406030204" pitchFamily="18" charset="0"/>
                        </a:rPr>
                        <m:t>{</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𝟐</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𝟑</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𝟑</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𝟑</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𝟐</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a:rPr lang="da-DK" altLang="zh-CN" b="1" i="1">
                          <a:solidFill>
                            <a:schemeClr val="accent2">
                              <a:lumMod val="50000"/>
                            </a:schemeClr>
                          </a:solidFill>
                          <a:latin typeface="Cambria Math" panose="02040503050406030204" pitchFamily="18" charset="0"/>
                        </a:rPr>
                        <m:t>, </m:t>
                      </m:r>
                    </m:oMath>
                  </m:oMathPara>
                </a14:m>
                <a:endParaRPr lang="en-US" altLang="zh-CN" b="1" i="1">
                  <a:solidFill>
                    <a:schemeClr val="accent2">
                      <a:lumMod val="50000"/>
                    </a:schemeClr>
                  </a:solidFill>
                  <a:latin typeface="Cambria Math" panose="02040503050406030204" pitchFamily="18" charset="0"/>
                </a:endParaRPr>
              </a:p>
              <a:p>
                <a:pPr>
                  <a:lnSpc>
                    <a:spcPts val="2400"/>
                  </a:lnSpc>
                </a:pPr>
                <a14:m>
                  <m:oMathPara xmlns:m="http://schemas.openxmlformats.org/officeDocument/2006/math">
                    <m:oMathParaPr>
                      <m:jc m:val="centerGroup"/>
                    </m:oMathParaPr>
                    <m:oMath xmlns:m="http://schemas.openxmlformats.org/officeDocument/2006/math">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𝟒</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𝟏</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𝟑</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𝟒</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𝟒</m:t>
                          </m:r>
                        </m:e>
                      </m:d>
                      <m:r>
                        <a:rPr lang="da-DK" altLang="zh-CN" b="1" i="1">
                          <a:solidFill>
                            <a:schemeClr val="accent2">
                              <a:lumMod val="50000"/>
                            </a:schemeClr>
                          </a:solidFill>
                          <a:latin typeface="Cambria Math" panose="02040503050406030204" pitchFamily="18" charset="0"/>
                        </a:rPr>
                        <m:t>, </m:t>
                      </m:r>
                      <m:d>
                        <m:dPr>
                          <m:begChr m:val="⟨"/>
                          <m:endChr m:val="⟩"/>
                          <m:ctrlPr>
                            <a:rPr lang="da-DK" altLang="zh-CN" b="1" i="1">
                              <a:solidFill>
                                <a:schemeClr val="accent2">
                                  <a:lumMod val="50000"/>
                                </a:schemeClr>
                              </a:solidFill>
                              <a:latin typeface="Cambria Math" panose="02040503050406030204" pitchFamily="18" charset="0"/>
                            </a:rPr>
                          </m:ctrlPr>
                        </m:dPr>
                        <m:e>
                          <m:r>
                            <a:rPr lang="da-DK" altLang="zh-CN" b="1" i="1">
                              <a:solidFill>
                                <a:schemeClr val="accent2">
                                  <a:lumMod val="50000"/>
                                </a:schemeClr>
                              </a:solidFill>
                              <a:latin typeface="Cambria Math" panose="02040503050406030204" pitchFamily="18" charset="0"/>
                            </a:rPr>
                            <m:t>𝟏</m:t>
                          </m:r>
                          <m:r>
                            <a:rPr lang="da-DK" altLang="zh-CN" b="1" i="1">
                              <a:solidFill>
                                <a:schemeClr val="accent2">
                                  <a:lumMod val="50000"/>
                                </a:schemeClr>
                              </a:solidFill>
                              <a:latin typeface="Cambria Math" panose="02040503050406030204" pitchFamily="18" charset="0"/>
                            </a:rPr>
                            <m:t>, </m:t>
                          </m:r>
                          <m:r>
                            <a:rPr lang="da-DK" altLang="zh-CN" b="1" i="1">
                              <a:solidFill>
                                <a:schemeClr val="accent2">
                                  <a:lumMod val="50000"/>
                                </a:schemeClr>
                              </a:solidFill>
                              <a:latin typeface="Cambria Math" panose="02040503050406030204" pitchFamily="18" charset="0"/>
                            </a:rPr>
                            <m:t>𝟏</m:t>
                          </m:r>
                        </m:e>
                      </m:d>
                      <m:r>
                        <m:rPr>
                          <m:lit/>
                        </m:rPr>
                        <a:rPr lang="da-DK" altLang="zh-CN" b="1" i="1" smtClean="0">
                          <a:solidFill>
                            <a:schemeClr val="accent2">
                              <a:lumMod val="50000"/>
                            </a:schemeClr>
                          </a:solidFill>
                          <a:latin typeface="Cambria Math" panose="02040503050406030204" pitchFamily="18" charset="0"/>
                        </a:rPr>
                        <m:t>}</m:t>
                      </m:r>
                    </m:oMath>
                  </m:oMathPara>
                </a14:m>
                <a:endParaRPr lang="da-DK" altLang="zh-CN" b="1">
                  <a:solidFill>
                    <a:schemeClr val="accent2">
                      <a:lumMod val="50000"/>
                    </a:schemeClr>
                  </a:solidFill>
                </a:endParaRPr>
              </a:p>
            </p:txBody>
          </p:sp>
        </mc:Choice>
        <mc:Fallback>
          <p:sp>
            <p:nvSpPr>
              <p:cNvPr id="20" name="文本框 19"/>
              <p:cNvSpPr txBox="1">
                <a:spLocks noRot="1" noChangeAspect="1" noMove="1" noResize="1" noEditPoints="1" noAdjustHandles="1" noChangeArrowheads="1" noChangeShapeType="1" noTextEdit="1"/>
              </p:cNvSpPr>
              <p:nvPr/>
            </p:nvSpPr>
            <p:spPr>
              <a:xfrm>
                <a:off x="8432146" y="5573109"/>
                <a:ext cx="3466692" cy="707886"/>
              </a:xfrm>
              <a:prstGeom prst="rect">
                <a:avLst/>
              </a:prstGeom>
              <a:blipFill rotWithShape="1">
                <a:blip r:embed="rId6"/>
                <a:stretch>
                  <a:fillRect l="-18" t="-49" r="-3456" b="-35583"/>
                </a:stretch>
              </a:blipFill>
            </p:spPr>
            <p:txBody>
              <a:bodyPr/>
              <a:lstStyle/>
              <a:p>
                <a:r>
                  <a:rPr lang="zh-CN" altLang="en-US">
                    <a:noFill/>
                  </a:rPr>
                  <a:t> </a:t>
                </a:r>
              </a:p>
            </p:txBody>
          </p:sp>
        </mc:Fallback>
      </mc:AlternateContent>
      <p:sp>
        <p:nvSpPr>
          <p:cNvPr id="21" name="文本框 20"/>
          <p:cNvSpPr txBox="1"/>
          <p:nvPr/>
        </p:nvSpPr>
        <p:spPr>
          <a:xfrm>
            <a:off x="9939370" y="1763415"/>
            <a:ext cx="1822125" cy="553998"/>
          </a:xfrm>
          <a:prstGeom prst="rect">
            <a:avLst/>
          </a:prstGeom>
          <a:solidFill>
            <a:schemeClr val="accent4">
              <a:lumMod val="20000"/>
              <a:lumOff val="80000"/>
            </a:schemeClr>
          </a:solidFill>
        </p:spPr>
        <p:txBody>
          <a:bodyPr wrap="square" tIns="0" bIns="0" rtlCol="0">
            <a:spAutoFit/>
          </a:bodyPr>
          <a:lstStyle/>
          <a:p>
            <a:r>
              <a:rPr lang="zh-CN" altLang="en-US" b="1">
                <a:solidFill>
                  <a:schemeClr val="accent2">
                    <a:lumMod val="50000"/>
                  </a:schemeClr>
                </a:solidFill>
              </a:rPr>
              <a:t>使用下面矩阵选项的字母填空</a:t>
            </a:r>
            <a:endParaRPr lang="zh-CN" altLang="en-US" b="1">
              <a:solidFill>
                <a:schemeClr val="accent2">
                  <a:lumMod val="50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endParaRPr lang="zh-CN" altLang="en-US"/>
          </a:p>
        </p:txBody>
      </p:sp>
      <p:sp>
        <p:nvSpPr>
          <p:cNvPr id="2" name="文本框 1"/>
          <p:cNvSpPr txBox="1"/>
          <p:nvPr/>
        </p:nvSpPr>
        <p:spPr>
          <a:xfrm>
            <a:off x="1107232" y="1448010"/>
            <a:ext cx="5281127" cy="3874715"/>
          </a:xfrm>
          <a:prstGeom prst="rect">
            <a:avLst/>
          </a:prstGeom>
          <a:noFill/>
        </p:spPr>
        <p:txBody>
          <a:bodyPr wrap="square" rtlCol="0">
            <a:spAutoFit/>
          </a:bodyPr>
          <a:lstStyle/>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关系闭包的定义与基本性质</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自反闭包和对称闭包的计算</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zh-CN" altLang="en-US" sz="3200" b="1">
                <a:solidFill>
                  <a:schemeClr val="bg2">
                    <a:lumMod val="90000"/>
                  </a:schemeClr>
                </a:solidFill>
                <a:latin typeface="仿宋" panose="02010609060101010101" pitchFamily="49" charset="-122"/>
                <a:ea typeface="仿宋" panose="02010609060101010101" pitchFamily="49" charset="-122"/>
              </a:rPr>
              <a:t>传递闭包的计算</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00000"/>
              </a:lnSpc>
            </a:pPr>
            <a:r>
              <a:rPr lang="en-US" altLang="zh-CN" sz="3200">
                <a:solidFill>
                  <a:schemeClr val="accent6">
                    <a:lumMod val="50000"/>
                  </a:schemeClr>
                </a:solidFill>
                <a:latin typeface="Arial" panose="020B0604020202020204" pitchFamily="34" charset="0"/>
                <a:ea typeface="仿宋" panose="02010609060101010101" pitchFamily="49" charset="-122"/>
                <a:cs typeface="Arial" panose="020B0604020202020204" pitchFamily="34" charset="0"/>
              </a:rPr>
              <a:t>Warshall</a:t>
            </a:r>
            <a:r>
              <a:rPr lang="zh-CN" altLang="en-US" sz="3200" b="1">
                <a:solidFill>
                  <a:schemeClr val="accent6">
                    <a:lumMod val="50000"/>
                  </a:schemeClr>
                </a:solidFill>
                <a:latin typeface="仿宋" panose="02010609060101010101" pitchFamily="49" charset="-122"/>
                <a:ea typeface="仿宋" panose="02010609060101010101" pitchFamily="49" charset="-122"/>
              </a:rPr>
              <a:t>算法</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400">
                <a:latin typeface="Arial" panose="020B0604020202020204" pitchFamily="34" charset="0"/>
                <a:ea typeface="楷体" panose="02010609060101010101" pitchFamily="49" charset="-122"/>
                <a:cs typeface="Arial" panose="020B0604020202020204" pitchFamily="34" charset="0"/>
              </a:rPr>
              <a:t>Warshall</a:t>
            </a:r>
            <a:r>
              <a:rPr lang="zh-CN" altLang="en-US" sz="1400">
                <a:latin typeface="楷体" panose="02010609060101010101" pitchFamily="49" charset="-122"/>
                <a:ea typeface="楷体" panose="02010609060101010101" pitchFamily="49" charset="-122"/>
              </a:rPr>
              <a:t>算法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a:t>Warshall</a:t>
            </a:r>
            <a:r>
              <a:rPr lang="zh-CN" altLang="en-US"/>
              <a:t>算法的引入</a:t>
            </a:r>
            <a:endParaRPr lang="zh-CN" altLang="en-US"/>
          </a:p>
        </p:txBody>
      </p:sp>
      <p:sp>
        <p:nvSpPr>
          <p:cNvPr id="11" name="矩形: 圆角 10"/>
          <p:cNvSpPr/>
          <p:nvPr/>
        </p:nvSpPr>
        <p:spPr>
          <a:xfrm>
            <a:off x="605023" y="1088377"/>
            <a:ext cx="3774519"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为什么需要</a:t>
            </a:r>
            <a:r>
              <a:rPr lang="en-US" altLang="zh-CN" sz="2400" b="1">
                <a:solidFill>
                  <a:schemeClr val="accent2">
                    <a:lumMod val="50000"/>
                  </a:schemeClr>
                </a:solidFill>
              </a:rPr>
              <a:t>Warshall</a:t>
            </a:r>
            <a:r>
              <a:rPr lang="zh-CN" altLang="en-US" sz="2400" b="1">
                <a:solidFill>
                  <a:schemeClr val="accent2">
                    <a:lumMod val="50000"/>
                  </a:schemeClr>
                </a:solidFill>
              </a:rPr>
              <a:t>算法？</a:t>
            </a:r>
            <a:endParaRPr lang="zh-CN" altLang="en-US" sz="2400" b="1" dirty="0">
              <a:solidFill>
                <a:schemeClr val="accent2">
                  <a:lumMod val="50000"/>
                </a:schemeClr>
              </a:solidFill>
            </a:endParaRPr>
          </a:p>
        </p:txBody>
      </p:sp>
      <mc:AlternateContent xmlns:mc="http://schemas.openxmlformats.org/markup-compatibility/2006">
        <mc:Choice xmlns:a14="http://schemas.microsoft.com/office/drawing/2010/main" Requires="a14">
          <p:sp>
            <p:nvSpPr>
              <p:cNvPr id="2" name="文本框 1"/>
              <p:cNvSpPr txBox="1"/>
              <p:nvPr/>
            </p:nvSpPr>
            <p:spPr>
              <a:xfrm>
                <a:off x="987818" y="1722009"/>
                <a:ext cx="9958284" cy="806439"/>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b="1" dirty="0">
                    <a:solidFill>
                      <a:srgbClr val="002060"/>
                    </a:solidFill>
                    <a:latin typeface="楷体" panose="02010609060101010101" pitchFamily="49" charset="-122"/>
                    <a:ea typeface="楷体" panose="02010609060101010101" pitchFamily="49" charset="-122"/>
                  </a:rPr>
                  <a:t>利用关系矩阵计算关系</a:t>
                </a:r>
                <a14:m>
                  <m:oMath xmlns:m="http://schemas.openxmlformats.org/officeDocument/2006/math">
                    <m:r>
                      <a:rPr lang="en-US" altLang="zh-CN" b="1" i="1" smtClean="0">
                        <a:solidFill>
                          <a:srgbClr val="002060"/>
                        </a:solidFill>
                        <a:latin typeface="Cambria Math" panose="02040503050406030204" pitchFamily="18" charset="0"/>
                      </a:rPr>
                      <m:t>𝑹</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𝑨</m:t>
                    </m:r>
                  </m:oMath>
                </a14:m>
                <a:r>
                  <a:rPr lang="zh-CN" altLang="en-US" b="1" dirty="0">
                    <a:solidFill>
                      <a:srgbClr val="002060"/>
                    </a:solidFill>
                    <a:latin typeface="楷体" panose="02010609060101010101" pitchFamily="49" charset="-122"/>
                    <a:ea typeface="楷体" panose="02010609060101010101" pitchFamily="49" charset="-122"/>
                  </a:rPr>
                  <a:t>的传递闭包时，若</a:t>
                </a:r>
                <a14:m>
                  <m:oMath xmlns:m="http://schemas.openxmlformats.org/officeDocument/2006/math">
                    <m:r>
                      <a:rPr lang="en-US" altLang="zh-CN" b="1" i="1" smtClean="0">
                        <a:solidFill>
                          <a:srgbClr val="002060"/>
                        </a:solidFill>
                        <a:latin typeface="Cambria Math" panose="02040503050406030204" pitchFamily="18" charset="0"/>
                      </a:rPr>
                      <m:t>𝑨</m:t>
                    </m:r>
                  </m:oMath>
                </a14:m>
                <a:r>
                  <a:rPr lang="zh-CN" altLang="en-US" b="1" dirty="0">
                    <a:solidFill>
                      <a:srgbClr val="002060"/>
                    </a:solidFill>
                    <a:latin typeface="楷体" panose="02010609060101010101" pitchFamily="49" charset="-122"/>
                    <a:ea typeface="楷体" panose="02010609060101010101" pitchFamily="49" charset="-122"/>
                  </a:rPr>
                  <a:t>有</a:t>
                </a:r>
                <a14:m>
                  <m:oMath xmlns:m="http://schemas.openxmlformats.org/officeDocument/2006/math">
                    <m:r>
                      <a:rPr lang="en-US" altLang="zh-CN" b="1" i="1" smtClean="0">
                        <a:solidFill>
                          <a:srgbClr val="002060"/>
                        </a:solidFill>
                        <a:latin typeface="Cambria Math" panose="02040503050406030204" pitchFamily="18" charset="0"/>
                      </a:rPr>
                      <m:t>𝒏</m:t>
                    </m:r>
                  </m:oMath>
                </a14:m>
                <a:r>
                  <a:rPr lang="zh-CN" altLang="en-US" b="1" dirty="0">
                    <a:solidFill>
                      <a:srgbClr val="002060"/>
                    </a:solidFill>
                    <a:latin typeface="楷体" panose="02010609060101010101" pitchFamily="49" charset="-122"/>
                    <a:ea typeface="楷体" panose="02010609060101010101" pitchFamily="49" charset="-122"/>
                  </a:rPr>
                  <a:t>个元素则要做</a:t>
                </a:r>
                <a14:m>
                  <m:oMath xmlns:m="http://schemas.openxmlformats.org/officeDocument/2006/math">
                    <m:r>
                      <a:rPr lang="en-US" altLang="zh-CN" b="1" i="1" smtClean="0">
                        <a:solidFill>
                          <a:srgbClr val="002060"/>
                        </a:solidFill>
                        <a:latin typeface="Cambria Math" panose="02040503050406030204" pitchFamily="18" charset="0"/>
                      </a:rPr>
                      <m:t>𝒏</m:t>
                    </m:r>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𝟏</m:t>
                    </m:r>
                  </m:oMath>
                </a14:m>
                <a:r>
                  <a:rPr lang="zh-CN" altLang="en-US" b="1" dirty="0">
                    <a:solidFill>
                      <a:srgbClr val="002060"/>
                    </a:solidFill>
                    <a:latin typeface="楷体" panose="02010609060101010101" pitchFamily="49" charset="-122"/>
                    <a:ea typeface="楷体" panose="02010609060101010101" pitchFamily="49" charset="-122"/>
                  </a:rPr>
                  <a:t>次矩阵逻辑积</a:t>
                </a:r>
                <a14:m>
                  <m:oMath xmlns:m="http://schemas.openxmlformats.org/officeDocument/2006/math">
                    <m:r>
                      <a:rPr lang="en-US" altLang="zh-CN" b="1" i="1" smtClean="0">
                        <a:solidFill>
                          <a:srgbClr val="002060"/>
                        </a:solidFill>
                        <a:latin typeface="Cambria Math" panose="02040503050406030204" pitchFamily="18" charset="0"/>
                      </a:rPr>
                      <m:t>⊙</m:t>
                    </m:r>
                  </m:oMath>
                </a14:m>
                <a:r>
                  <a:rPr lang="zh-CN" altLang="en-US" b="1" dirty="0">
                    <a:solidFill>
                      <a:srgbClr val="002060"/>
                    </a:solidFill>
                    <a:latin typeface="楷体" panose="02010609060101010101" pitchFamily="49" charset="-122"/>
                    <a:ea typeface="楷体" panose="02010609060101010101" pitchFamily="49" charset="-122"/>
                  </a:rPr>
                  <a:t>运算</a:t>
                </a:r>
                <a:endParaRPr lang="zh-CN" altLang="en-US" b="1" dirty="0">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b="1" dirty="0">
                    <a:solidFill>
                      <a:schemeClr val="accent2">
                        <a:lumMod val="50000"/>
                      </a:schemeClr>
                    </a:solidFill>
                  </a:rPr>
                  <a:t>每次逻辑积运算要做</a:t>
                </a:r>
                <a14:m>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𝒏</m:t>
                        </m:r>
                      </m:e>
                      <m:sup>
                        <m:r>
                          <a:rPr lang="en-US" altLang="zh-CN" b="1" i="1" smtClean="0">
                            <a:solidFill>
                              <a:schemeClr val="accent2">
                                <a:lumMod val="50000"/>
                              </a:schemeClr>
                            </a:solidFill>
                            <a:latin typeface="Cambria Math" panose="02040503050406030204" pitchFamily="18" charset="0"/>
                          </a:rPr>
                          <m:t>𝟑</m:t>
                        </m:r>
                      </m:sup>
                    </m:sSup>
                  </m:oMath>
                </a14:m>
                <a:r>
                  <a:rPr lang="zh-CN" altLang="en-US" b="1" dirty="0">
                    <a:solidFill>
                      <a:schemeClr val="accent2">
                        <a:lumMod val="50000"/>
                      </a:schemeClr>
                    </a:solidFill>
                  </a:rPr>
                  <a:t>次逻辑与，因此总共可能要做多达</a:t>
                </a:r>
                <a14:m>
                  <m:oMath xmlns:m="http://schemas.openxmlformats.org/officeDocument/2006/math">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𝒏</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e>
                    </m:d>
                    <m:sSup>
                      <m:sSupPr>
                        <m:ctrlPr>
                          <a:rPr lang="en-US" altLang="zh-CN" b="1" i="1" smtClean="0">
                            <a:solidFill>
                              <a:srgbClr val="C00000"/>
                            </a:solidFill>
                            <a:latin typeface="Cambria Math" panose="02040503050406030204" pitchFamily="18" charset="0"/>
                          </a:rPr>
                        </m:ctrlPr>
                      </m:sSupPr>
                      <m:e>
                        <m:r>
                          <a:rPr lang="en-US" altLang="zh-CN" b="1" i="1" smtClean="0">
                            <a:solidFill>
                              <a:srgbClr val="C00000"/>
                            </a:solidFill>
                            <a:latin typeface="Cambria Math" panose="02040503050406030204" pitchFamily="18" charset="0"/>
                          </a:rPr>
                          <m:t>𝒏</m:t>
                        </m:r>
                      </m:e>
                      <m:sup>
                        <m:r>
                          <a:rPr lang="en-US" altLang="zh-CN" b="1" i="1" smtClean="0">
                            <a:solidFill>
                              <a:srgbClr val="C00000"/>
                            </a:solidFill>
                            <a:latin typeface="Cambria Math" panose="02040503050406030204" pitchFamily="18" charset="0"/>
                          </a:rPr>
                          <m:t>𝟑</m:t>
                        </m:r>
                      </m:sup>
                    </m:sSup>
                  </m:oMath>
                </a14:m>
                <a:r>
                  <a:rPr lang="zh-CN" altLang="en-US" b="1" dirty="0">
                    <a:solidFill>
                      <a:schemeClr val="accent2">
                        <a:lumMod val="50000"/>
                      </a:schemeClr>
                    </a:solidFill>
                  </a:rPr>
                  <a:t>次逻辑与运算</a:t>
                </a:r>
                <a:endParaRPr lang="zh-CN" altLang="en-US" b="1" dirty="0">
                  <a:solidFill>
                    <a:schemeClr val="accent2">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987818" y="1722009"/>
                <a:ext cx="9958284" cy="806439"/>
              </a:xfrm>
              <a:prstGeom prst="rect">
                <a:avLst/>
              </a:prstGeom>
              <a:blipFill rotWithShape="1">
                <a:blip r:embed="rId1"/>
                <a:stretch>
                  <a:fillRect l="-4" t="-65" r="6" b="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754767" y="2649405"/>
                <a:ext cx="10682464" cy="3644587"/>
              </a:xfrm>
              <a:prstGeom prst="rect">
                <a:avLst/>
              </a:prstGeom>
              <a:solidFill>
                <a:schemeClr val="accent2">
                  <a:lumMod val="20000"/>
                  <a:lumOff val="80000"/>
                  <a:alpha val="25000"/>
                </a:schemeClr>
              </a:solidFill>
            </p:spPr>
            <p:txBody>
              <a:bodyPr wrap="square" rtlCol="0">
                <a:spAutoFit/>
              </a:bodyPr>
              <a:lstStyle/>
              <a:p>
                <a:pPr algn="ctr">
                  <a:spcBef>
                    <a:spcPts val="300"/>
                  </a:spcBef>
                  <a:spcAft>
                    <a:spcPts val="600"/>
                  </a:spcAft>
                </a:pPr>
                <a:r>
                  <a:rPr lang="en-US" altLang="zh-CN" sz="2000" b="1" dirty="0" err="1">
                    <a:solidFill>
                      <a:srgbClr val="C00000"/>
                    </a:solidFill>
                  </a:rPr>
                  <a:t>Warshall</a:t>
                </a:r>
                <a:r>
                  <a:rPr lang="zh-CN" altLang="en-US" sz="2000" b="1" dirty="0">
                    <a:solidFill>
                      <a:srgbClr val="C00000"/>
                    </a:solidFill>
                  </a:rPr>
                  <a:t>在</a:t>
                </a:r>
                <a:r>
                  <a:rPr lang="en-US" altLang="zh-CN" sz="2000" b="1" dirty="0">
                    <a:solidFill>
                      <a:srgbClr val="C00000"/>
                    </a:solidFill>
                  </a:rPr>
                  <a:t>1960</a:t>
                </a:r>
                <a:r>
                  <a:rPr lang="zh-CN" altLang="en-US" sz="2000" b="1" dirty="0">
                    <a:solidFill>
                      <a:srgbClr val="C00000"/>
                    </a:solidFill>
                  </a:rPr>
                  <a:t>年左右描述了一个计算关系传递闭包的更高效算法</a:t>
                </a:r>
                <a:endParaRPr lang="zh-CN" altLang="en-US" sz="2000" b="1" dirty="0">
                  <a:solidFill>
                    <a:srgbClr val="C00000"/>
                  </a:solidFill>
                </a:endParaRPr>
              </a:p>
              <a:p>
                <a:pPr marL="285750" indent="-285750">
                  <a:spcBef>
                    <a:spcPts val="300"/>
                  </a:spcBef>
                  <a:spcAft>
                    <a:spcPts val="600"/>
                  </a:spcAft>
                  <a:buFont typeface="Arial" panose="020B0604020202020204" pitchFamily="34" charset="0"/>
                  <a:buChar char="•"/>
                </a:pPr>
                <a:r>
                  <a:rPr lang="en-US" altLang="zh-CN" b="1" dirty="0" err="1">
                    <a:solidFill>
                      <a:srgbClr val="002060"/>
                    </a:solidFill>
                  </a:rPr>
                  <a:t>Warshall</a:t>
                </a:r>
                <a:r>
                  <a:rPr lang="zh-CN" altLang="en-US" b="1" dirty="0">
                    <a:solidFill>
                      <a:srgbClr val="002060"/>
                    </a:solidFill>
                    <a:latin typeface="楷体" panose="02010609060101010101" pitchFamily="49" charset="-122"/>
                    <a:ea typeface="楷体" panose="02010609060101010101" pitchFamily="49" charset="-122"/>
                  </a:rPr>
                  <a:t>算法的基本思想仍是通过在</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𝑹</m:t>
                    </m:r>
                  </m:oMath>
                </a14:m>
                <a:r>
                  <a:rPr lang="zh-CN" altLang="en-US" b="1" dirty="0">
                    <a:solidFill>
                      <a:srgbClr val="002060"/>
                    </a:solidFill>
                    <a:latin typeface="楷体" panose="02010609060101010101" pitchFamily="49" charset="-122"/>
                    <a:ea typeface="楷体" panose="02010609060101010101" pitchFamily="49" charset="-122"/>
                  </a:rPr>
                  <a:t>关系矩阵上进行操作以确定</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𝑹</m:t>
                    </m:r>
                  </m:oMath>
                </a14:m>
                <a:r>
                  <a:rPr lang="zh-CN" altLang="en-US" b="1" dirty="0">
                    <a:solidFill>
                      <a:srgbClr val="002060"/>
                    </a:solidFill>
                    <a:latin typeface="楷体" panose="02010609060101010101" pitchFamily="49" charset="-122"/>
                    <a:ea typeface="楷体" panose="02010609060101010101" pitchFamily="49" charset="-122"/>
                  </a:rPr>
                  <a:t>关系图两个顶点间是否有有向通路</a:t>
                </a:r>
                <a:endParaRPr lang="zh-CN" altLang="en-US" b="1" dirty="0">
                  <a:solidFill>
                    <a:srgbClr val="002060"/>
                  </a:solidFill>
                  <a:latin typeface="楷体" panose="02010609060101010101" pitchFamily="49" charset="-122"/>
                  <a:ea typeface="楷体" panose="02010609060101010101" pitchFamily="49" charset="-122"/>
                </a:endParaRPr>
              </a:p>
              <a:p>
                <a:pPr marL="742950" lvl="1" indent="-285750">
                  <a:spcBef>
                    <a:spcPts val="300"/>
                  </a:spcBef>
                  <a:spcAft>
                    <a:spcPts val="600"/>
                  </a:spcAft>
                  <a:buFont typeface="Arial" panose="020B0604020202020204" pitchFamily="34" charset="0"/>
                  <a:buChar char="•"/>
                </a:pPr>
                <a:r>
                  <a:rPr lang="zh-CN" altLang="en-US" b="1" dirty="0">
                    <a:solidFill>
                      <a:schemeClr val="accent6">
                        <a:lumMod val="50000"/>
                      </a:schemeClr>
                    </a:solidFill>
                  </a:rPr>
                  <a:t>但不是按照通路不同长度进行考虑，而按照</a:t>
                </a:r>
                <a:r>
                  <a:rPr lang="zh-CN" altLang="en-US" b="1" dirty="0">
                    <a:solidFill>
                      <a:srgbClr val="C00000"/>
                    </a:solidFill>
                  </a:rPr>
                  <a:t>通路可能经过的中间顶点</a:t>
                </a:r>
                <a:r>
                  <a:rPr lang="zh-CN" altLang="en-US" b="1" dirty="0">
                    <a:solidFill>
                      <a:schemeClr val="accent6">
                        <a:lumMod val="50000"/>
                      </a:schemeClr>
                    </a:solidFill>
                  </a:rPr>
                  <a:t>进行考虑</a:t>
                </a:r>
                <a:endParaRPr lang="zh-CN" altLang="en-US" b="1" dirty="0">
                  <a:solidFill>
                    <a:schemeClr val="accent6">
                      <a:lumMod val="50000"/>
                    </a:schemeClr>
                  </a:solidFill>
                </a:endParaRPr>
              </a:p>
              <a:p>
                <a:pPr marL="742950" lvl="1" indent="-285750">
                  <a:spcBef>
                    <a:spcPts val="300"/>
                  </a:spcBef>
                  <a:spcAft>
                    <a:spcPts val="600"/>
                  </a:spcAft>
                  <a:buFont typeface="Arial" panose="020B0604020202020204" pitchFamily="34" charset="0"/>
                  <a:buChar char="•"/>
                </a:pPr>
                <a:r>
                  <a:rPr lang="zh-CN" altLang="en-US" b="1" dirty="0">
                    <a:solidFill>
                      <a:schemeClr val="accent6">
                        <a:lumMod val="50000"/>
                      </a:schemeClr>
                    </a:solidFill>
                  </a:rPr>
                  <a:t>在</a:t>
                </a:r>
                <a14:m>
                  <m:oMath xmlns:m="http://schemas.openxmlformats.org/officeDocument/2006/math">
                    <m:r>
                      <a:rPr lang="en-US" altLang="zh-CN" b="1" i="1" smtClean="0">
                        <a:solidFill>
                          <a:schemeClr val="accent6">
                            <a:lumMod val="50000"/>
                          </a:schemeClr>
                        </a:solidFill>
                        <a:latin typeface="Cambria Math" panose="02040503050406030204" pitchFamily="18" charset="0"/>
                      </a:rPr>
                      <m:t>𝑹</m:t>
                    </m:r>
                  </m:oMath>
                </a14:m>
                <a:r>
                  <a:rPr lang="zh-CN" altLang="en-US" b="1" dirty="0">
                    <a:solidFill>
                      <a:schemeClr val="accent6">
                        <a:lumMod val="50000"/>
                      </a:schemeClr>
                    </a:solidFill>
                  </a:rPr>
                  <a:t>关系图中，顶点</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𝒗</m:t>
                    </m:r>
                  </m:oMath>
                </a14:m>
                <a:r>
                  <a:rPr lang="zh-CN" altLang="en-US" b="1" dirty="0">
                    <a:solidFill>
                      <a:schemeClr val="accent6">
                        <a:lumMod val="50000"/>
                      </a:schemeClr>
                    </a:solidFill>
                  </a:rPr>
                  <a:t>到顶点</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𝒖</m:t>
                    </m:r>
                  </m:oMath>
                </a14:m>
                <a:r>
                  <a:rPr lang="zh-CN" altLang="en-US" b="1" dirty="0">
                    <a:solidFill>
                      <a:schemeClr val="accent6">
                        <a:lumMod val="50000"/>
                      </a:schemeClr>
                    </a:solidFill>
                  </a:rPr>
                  <a:t>的有向通路中，除</a:t>
                </a:r>
                <a14:m>
                  <m:oMath xmlns:m="http://schemas.openxmlformats.org/officeDocument/2006/math">
                    <m:r>
                      <a:rPr lang="en-US" altLang="zh-CN" b="1" i="1" smtClean="0">
                        <a:solidFill>
                          <a:srgbClr val="C00000"/>
                        </a:solidFill>
                        <a:latin typeface="Cambria Math" panose="02040503050406030204" pitchFamily="18" charset="0"/>
                      </a:rPr>
                      <m:t>𝒗</m:t>
                    </m:r>
                  </m:oMath>
                </a14:m>
                <a:r>
                  <a:rPr lang="zh-CN" altLang="en-US" b="1" dirty="0">
                    <a:solidFill>
                      <a:srgbClr val="C00000"/>
                    </a:solidFill>
                  </a:rPr>
                  <a:t>和</a:t>
                </a:r>
                <a14:m>
                  <m:oMath xmlns:m="http://schemas.openxmlformats.org/officeDocument/2006/math">
                    <m:r>
                      <a:rPr lang="en-US" altLang="zh-CN" b="1" i="1" smtClean="0">
                        <a:solidFill>
                          <a:srgbClr val="C00000"/>
                        </a:solidFill>
                        <a:latin typeface="Cambria Math" panose="02040503050406030204" pitchFamily="18" charset="0"/>
                      </a:rPr>
                      <m:t>𝒖</m:t>
                    </m:r>
                  </m:oMath>
                </a14:m>
                <a:r>
                  <a:rPr lang="zh-CN" altLang="en-US" b="1" dirty="0">
                    <a:solidFill>
                      <a:srgbClr val="C00000"/>
                    </a:solidFill>
                  </a:rPr>
                  <a:t>外的顶点</a:t>
                </a:r>
                <a:r>
                  <a:rPr lang="zh-CN" altLang="en-US" b="1" dirty="0">
                    <a:solidFill>
                      <a:schemeClr val="accent6">
                        <a:lumMod val="50000"/>
                      </a:schemeClr>
                    </a:solidFill>
                  </a:rPr>
                  <a:t>称为这条有向通路的</a:t>
                </a:r>
                <a:r>
                  <a:rPr lang="zh-CN" altLang="en-US" b="1" dirty="0">
                    <a:solidFill>
                      <a:srgbClr val="C00000"/>
                    </a:solidFill>
                  </a:rPr>
                  <a:t>中间顶点</a:t>
                </a:r>
                <a:endParaRPr lang="zh-CN" altLang="en-US" b="1" dirty="0">
                  <a:solidFill>
                    <a:srgbClr val="C00000"/>
                  </a:solidFill>
                </a:endParaRPr>
              </a:p>
              <a:p>
                <a:pPr marL="285750" indent="-285750">
                  <a:spcBef>
                    <a:spcPts val="300"/>
                  </a:spcBef>
                  <a:spcAft>
                    <a:spcPts val="600"/>
                  </a:spcAft>
                  <a:buFont typeface="Arial" panose="020B0604020202020204" pitchFamily="34" charset="0"/>
                  <a:buChar char="•"/>
                </a:pPr>
                <a:r>
                  <a:rPr lang="zh-CN" altLang="en-US" b="1" dirty="0">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b="1">
                        <a:solidFill>
                          <a:srgbClr val="002060"/>
                        </a:solidFill>
                        <a:latin typeface="Cambria Math" panose="02040503050406030204" pitchFamily="18" charset="0"/>
                        <a:ea typeface="楷体" panose="02010609060101010101" pitchFamily="49" charset="-122"/>
                      </a:rPr>
                      <m:t>𝑹</m:t>
                    </m:r>
                  </m:oMath>
                </a14:m>
                <a:r>
                  <a:rPr lang="zh-CN" altLang="en-US" b="1" dirty="0">
                    <a:solidFill>
                      <a:srgbClr val="002060"/>
                    </a:solidFill>
                    <a:latin typeface="楷体" panose="02010609060101010101" pitchFamily="49" charset="-122"/>
                    <a:ea typeface="楷体" panose="02010609060101010101" pitchFamily="49" charset="-122"/>
                  </a:rPr>
                  <a:t>的关系图的顶点分别是</a:t>
                </a:r>
                <a14:m>
                  <m:oMath xmlns:m="http://schemas.openxmlformats.org/officeDocument/2006/math">
                    <m:sSub>
                      <m:sSubPr>
                        <m:ctrlPr>
                          <a:rPr lang="en-US" altLang="zh-CN" b="1" i="1">
                            <a:solidFill>
                              <a:srgbClr val="002060"/>
                            </a:solidFill>
                            <a:latin typeface="Cambria Math" panose="02040503050406030204" pitchFamily="18" charset="0"/>
                            <a:ea typeface="楷体" panose="02010609060101010101" pitchFamily="49" charset="-122"/>
                          </a:rPr>
                        </m:ctrlPr>
                      </m:sSubPr>
                      <m:e>
                        <m:r>
                          <a:rPr lang="en-US" altLang="zh-CN" b="1">
                            <a:solidFill>
                              <a:srgbClr val="002060"/>
                            </a:solidFill>
                            <a:latin typeface="Cambria Math" panose="02040503050406030204" pitchFamily="18" charset="0"/>
                            <a:ea typeface="楷体" panose="02010609060101010101" pitchFamily="49" charset="-122"/>
                          </a:rPr>
                          <m:t>𝒗</m:t>
                        </m:r>
                      </m:e>
                      <m:sub>
                        <m:r>
                          <a:rPr lang="en-US" altLang="zh-CN" b="1">
                            <a:solidFill>
                              <a:srgbClr val="002060"/>
                            </a:solidFill>
                            <a:latin typeface="Cambria Math" panose="02040503050406030204" pitchFamily="18" charset="0"/>
                            <a:ea typeface="楷体" panose="02010609060101010101" pitchFamily="49" charset="-122"/>
                          </a:rPr>
                          <m:t>𝟏</m:t>
                        </m:r>
                      </m:sub>
                    </m:sSub>
                    <m:r>
                      <a:rPr lang="en-US" altLang="zh-CN" b="1">
                        <a:solidFill>
                          <a:srgbClr val="002060"/>
                        </a:solidFill>
                        <a:latin typeface="Cambria Math" panose="02040503050406030204" pitchFamily="18" charset="0"/>
                        <a:ea typeface="楷体" panose="02010609060101010101" pitchFamily="49" charset="-122"/>
                      </a:rPr>
                      <m:t>, </m:t>
                    </m:r>
                    <m:sSub>
                      <m:sSubPr>
                        <m:ctrlPr>
                          <a:rPr lang="en-US" altLang="zh-CN" b="1" i="1">
                            <a:solidFill>
                              <a:srgbClr val="002060"/>
                            </a:solidFill>
                            <a:latin typeface="Cambria Math" panose="02040503050406030204" pitchFamily="18" charset="0"/>
                            <a:ea typeface="楷体" panose="02010609060101010101" pitchFamily="49" charset="-122"/>
                          </a:rPr>
                        </m:ctrlPr>
                      </m:sSubPr>
                      <m:e>
                        <m:r>
                          <a:rPr lang="en-US" altLang="zh-CN" b="1">
                            <a:solidFill>
                              <a:srgbClr val="002060"/>
                            </a:solidFill>
                            <a:latin typeface="Cambria Math" panose="02040503050406030204" pitchFamily="18" charset="0"/>
                            <a:ea typeface="楷体" panose="02010609060101010101" pitchFamily="49" charset="-122"/>
                          </a:rPr>
                          <m:t>𝒗</m:t>
                        </m:r>
                      </m:e>
                      <m:sub>
                        <m:r>
                          <a:rPr lang="en-US" altLang="zh-CN" b="1">
                            <a:solidFill>
                              <a:srgbClr val="002060"/>
                            </a:solidFill>
                            <a:latin typeface="Cambria Math" panose="02040503050406030204" pitchFamily="18" charset="0"/>
                            <a:ea typeface="楷体" panose="02010609060101010101" pitchFamily="49" charset="-122"/>
                          </a:rPr>
                          <m:t>𝟐</m:t>
                        </m:r>
                      </m:sub>
                    </m:sSub>
                    <m:r>
                      <a:rPr lang="en-US" altLang="zh-CN" b="1">
                        <a:solidFill>
                          <a:srgbClr val="002060"/>
                        </a:solidFill>
                        <a:latin typeface="Cambria Math" panose="02040503050406030204" pitchFamily="18" charset="0"/>
                        <a:ea typeface="楷体" panose="02010609060101010101" pitchFamily="49" charset="-122"/>
                      </a:rPr>
                      <m:t>, ⋯, </m:t>
                    </m:r>
                    <m:sSub>
                      <m:sSubPr>
                        <m:ctrlPr>
                          <a:rPr lang="en-US" altLang="zh-CN" b="1" i="1">
                            <a:solidFill>
                              <a:srgbClr val="002060"/>
                            </a:solidFill>
                            <a:latin typeface="Cambria Math" panose="02040503050406030204" pitchFamily="18" charset="0"/>
                            <a:ea typeface="楷体" panose="02010609060101010101" pitchFamily="49" charset="-122"/>
                          </a:rPr>
                        </m:ctrlPr>
                      </m:sSubPr>
                      <m:e>
                        <m:r>
                          <a:rPr lang="en-US" altLang="zh-CN" b="1">
                            <a:solidFill>
                              <a:srgbClr val="002060"/>
                            </a:solidFill>
                            <a:latin typeface="Cambria Math" panose="02040503050406030204" pitchFamily="18" charset="0"/>
                            <a:ea typeface="楷体" panose="02010609060101010101" pitchFamily="49" charset="-122"/>
                          </a:rPr>
                          <m:t>𝒗</m:t>
                        </m:r>
                      </m:e>
                      <m:sub>
                        <m:r>
                          <a:rPr lang="en-US" altLang="zh-CN" b="1">
                            <a:solidFill>
                              <a:srgbClr val="002060"/>
                            </a:solidFill>
                            <a:latin typeface="Cambria Math" panose="02040503050406030204" pitchFamily="18" charset="0"/>
                            <a:ea typeface="楷体" panose="02010609060101010101" pitchFamily="49" charset="-122"/>
                          </a:rPr>
                          <m:t>𝒏</m:t>
                        </m:r>
                      </m:sub>
                    </m:sSub>
                  </m:oMath>
                </a14:m>
                <a:endParaRPr lang="en-US" altLang="zh-CN" b="1" dirty="0">
                  <a:solidFill>
                    <a:srgbClr val="002060"/>
                  </a:solidFill>
                  <a:latin typeface="楷体" panose="02010609060101010101" pitchFamily="49" charset="-122"/>
                  <a:ea typeface="楷体" panose="02010609060101010101" pitchFamily="49" charset="-122"/>
                </a:endParaRPr>
              </a:p>
              <a:p>
                <a:pPr marL="742950" lvl="1" indent="-285750">
                  <a:spcBef>
                    <a:spcPts val="300"/>
                  </a:spcBef>
                  <a:spcAft>
                    <a:spcPts val="600"/>
                  </a:spcAft>
                  <a:buFont typeface="Arial" panose="020B0604020202020204" pitchFamily="34" charset="0"/>
                  <a:buChar char="•"/>
                </a:pPr>
                <a:r>
                  <a:rPr lang="en-US" altLang="zh-CN" b="1" dirty="0" err="1">
                    <a:solidFill>
                      <a:schemeClr val="accent6">
                        <a:lumMod val="50000"/>
                      </a:schemeClr>
                    </a:solidFill>
                  </a:rPr>
                  <a:t>Warshall</a:t>
                </a:r>
                <a:r>
                  <a:rPr lang="zh-CN" altLang="en-US" b="1" dirty="0">
                    <a:solidFill>
                      <a:schemeClr val="accent6">
                        <a:lumMod val="50000"/>
                      </a:schemeClr>
                    </a:solidFill>
                  </a:rPr>
                  <a:t>算法首先考虑</a:t>
                </a:r>
                <a14:m>
                  <m:oMath xmlns:m="http://schemas.openxmlformats.org/officeDocument/2006/math">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𝒗</m:t>
                        </m:r>
                      </m:e>
                      <m:sub>
                        <m:r>
                          <a:rPr lang="en-US" altLang="zh-CN" b="1">
                            <a:solidFill>
                              <a:schemeClr val="accent6">
                                <a:lumMod val="50000"/>
                              </a:schemeClr>
                            </a:solidFill>
                            <a:latin typeface="Cambria Math" panose="02040503050406030204" pitchFamily="18" charset="0"/>
                          </a:rPr>
                          <m:t>𝒊</m:t>
                        </m:r>
                      </m:sub>
                    </m:sSub>
                  </m:oMath>
                </a14:m>
                <a:r>
                  <a:rPr lang="zh-CN" altLang="en-US" b="1" dirty="0">
                    <a:solidFill>
                      <a:schemeClr val="accent6">
                        <a:lumMod val="50000"/>
                      </a:schemeClr>
                    </a:solidFill>
                  </a:rPr>
                  <a:t>和</a:t>
                </a:r>
                <a14:m>
                  <m:oMath xmlns:m="http://schemas.openxmlformats.org/officeDocument/2006/math">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𝒗</m:t>
                        </m:r>
                      </m:e>
                      <m:sub>
                        <m:r>
                          <a:rPr lang="en-US" altLang="zh-CN" b="1">
                            <a:solidFill>
                              <a:schemeClr val="accent6">
                                <a:lumMod val="50000"/>
                              </a:schemeClr>
                            </a:solidFill>
                            <a:latin typeface="Cambria Math" panose="02040503050406030204" pitchFamily="18" charset="0"/>
                          </a:rPr>
                          <m:t>𝒋</m:t>
                        </m:r>
                      </m:sub>
                    </m:sSub>
                  </m:oMath>
                </a14:m>
                <a:r>
                  <a:rPr lang="zh-CN" altLang="en-US" b="1" dirty="0">
                    <a:solidFill>
                      <a:schemeClr val="accent6">
                        <a:lumMod val="50000"/>
                      </a:schemeClr>
                    </a:solidFill>
                  </a:rPr>
                  <a:t>之间是否有</a:t>
                </a:r>
                <a:r>
                  <a:rPr lang="zh-CN" altLang="en-US" b="1" dirty="0">
                    <a:solidFill>
                      <a:srgbClr val="C00000"/>
                    </a:solidFill>
                  </a:rPr>
                  <a:t>中间顶点是</a:t>
                </a:r>
                <a14:m>
                  <m:oMath xmlns:m="http://schemas.openxmlformats.org/officeDocument/2006/math">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r>
                          <a:rPr lang="en-US" altLang="zh-CN" b="1">
                            <a:solidFill>
                              <a:srgbClr val="C00000"/>
                            </a:solidFill>
                            <a:latin typeface="Cambria Math" panose="02040503050406030204" pitchFamily="18" charset="0"/>
                          </a:rPr>
                          <m:t>𝟏</m:t>
                        </m:r>
                      </m:sub>
                    </m:sSub>
                  </m:oMath>
                </a14:m>
                <a:r>
                  <a:rPr lang="zh-CN" altLang="en-US" b="1" dirty="0">
                    <a:solidFill>
                      <a:schemeClr val="accent6">
                        <a:lumMod val="50000"/>
                      </a:schemeClr>
                    </a:solidFill>
                  </a:rPr>
                  <a:t>的有向通路</a:t>
                </a:r>
                <a:endParaRPr lang="zh-CN" altLang="en-US" b="1" dirty="0">
                  <a:solidFill>
                    <a:schemeClr val="accent6">
                      <a:lumMod val="50000"/>
                    </a:schemeClr>
                  </a:solidFill>
                </a:endParaRPr>
              </a:p>
              <a:p>
                <a:pPr marL="742950" lvl="1" indent="-285750">
                  <a:spcBef>
                    <a:spcPts val="300"/>
                  </a:spcBef>
                  <a:spcAft>
                    <a:spcPts val="600"/>
                  </a:spcAft>
                  <a:buFont typeface="Arial" panose="020B0604020202020204" pitchFamily="34" charset="0"/>
                  <a:buChar char="•"/>
                </a:pPr>
                <a:r>
                  <a:rPr lang="zh-CN" altLang="en-US" b="1" dirty="0">
                    <a:solidFill>
                      <a:schemeClr val="accent6">
                        <a:lumMod val="50000"/>
                      </a:schemeClr>
                    </a:solidFill>
                  </a:rPr>
                  <a:t>然后考虑</a:t>
                </a:r>
                <a14:m>
                  <m:oMath xmlns:m="http://schemas.openxmlformats.org/officeDocument/2006/math">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𝒗</m:t>
                        </m:r>
                      </m:e>
                      <m:sub>
                        <m:r>
                          <a:rPr lang="en-US" altLang="zh-CN" b="1">
                            <a:solidFill>
                              <a:schemeClr val="accent6">
                                <a:lumMod val="50000"/>
                              </a:schemeClr>
                            </a:solidFill>
                            <a:latin typeface="Cambria Math" panose="02040503050406030204" pitchFamily="18" charset="0"/>
                          </a:rPr>
                          <m:t>𝒊</m:t>
                        </m:r>
                      </m:sub>
                    </m:sSub>
                  </m:oMath>
                </a14:m>
                <a:r>
                  <a:rPr lang="zh-CN" altLang="en-US" b="1" dirty="0">
                    <a:solidFill>
                      <a:schemeClr val="accent6">
                        <a:lumMod val="50000"/>
                      </a:schemeClr>
                    </a:solidFill>
                  </a:rPr>
                  <a:t>和</a:t>
                </a:r>
                <a14:m>
                  <m:oMath xmlns:m="http://schemas.openxmlformats.org/officeDocument/2006/math">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𝒗</m:t>
                        </m:r>
                      </m:e>
                      <m:sub>
                        <m:r>
                          <a:rPr lang="en-US" altLang="zh-CN" b="1">
                            <a:solidFill>
                              <a:schemeClr val="accent6">
                                <a:lumMod val="50000"/>
                              </a:schemeClr>
                            </a:solidFill>
                            <a:latin typeface="Cambria Math" panose="02040503050406030204" pitchFamily="18" charset="0"/>
                          </a:rPr>
                          <m:t>𝒋</m:t>
                        </m:r>
                      </m:sub>
                    </m:sSub>
                  </m:oMath>
                </a14:m>
                <a:r>
                  <a:rPr lang="zh-CN" altLang="en-US" b="1" dirty="0">
                    <a:solidFill>
                      <a:schemeClr val="accent6">
                        <a:lumMod val="50000"/>
                      </a:schemeClr>
                    </a:solidFill>
                  </a:rPr>
                  <a:t>之间是否有</a:t>
                </a:r>
                <a:r>
                  <a:rPr lang="zh-CN" altLang="en-US" b="1" dirty="0">
                    <a:solidFill>
                      <a:srgbClr val="C00000"/>
                    </a:solidFill>
                  </a:rPr>
                  <a:t>中间顶点全部在</a:t>
                </a:r>
                <a14:m>
                  <m:oMath xmlns:m="http://schemas.openxmlformats.org/officeDocument/2006/math">
                    <m:r>
                      <m:rPr>
                        <m:lit/>
                      </m:rPr>
                      <a:rPr lang="en-US" altLang="zh-CN" b="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r>
                          <a:rPr lang="en-US" altLang="zh-CN" b="1">
                            <a:solidFill>
                              <a:srgbClr val="C00000"/>
                            </a:solidFill>
                            <a:latin typeface="Cambria Math" panose="02040503050406030204" pitchFamily="18" charset="0"/>
                          </a:rPr>
                          <m:t>𝟏</m:t>
                        </m:r>
                      </m:sub>
                    </m:sSub>
                    <m:r>
                      <a:rPr lang="en-US" altLang="zh-CN" b="1">
                        <a:solidFill>
                          <a:srgbClr val="C00000"/>
                        </a:solidFill>
                        <a:latin typeface="Cambria Math" panose="02040503050406030204" pitchFamily="18" charset="0"/>
                      </a:rPr>
                      <m:t>, </m:t>
                    </m:r>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r>
                          <a:rPr lang="en-US" altLang="zh-CN" b="1">
                            <a:solidFill>
                              <a:srgbClr val="C00000"/>
                            </a:solidFill>
                            <a:latin typeface="Cambria Math" panose="02040503050406030204" pitchFamily="18" charset="0"/>
                          </a:rPr>
                          <m:t>𝟐</m:t>
                        </m:r>
                      </m:sub>
                    </m:sSub>
                    <m:r>
                      <m:rPr>
                        <m:lit/>
                      </m:rPr>
                      <a:rPr lang="en-US" altLang="zh-CN" b="1">
                        <a:solidFill>
                          <a:srgbClr val="C00000"/>
                        </a:solidFill>
                        <a:latin typeface="Cambria Math" panose="02040503050406030204" pitchFamily="18" charset="0"/>
                      </a:rPr>
                      <m:t>}</m:t>
                    </m:r>
                  </m:oMath>
                </a14:m>
                <a:r>
                  <a:rPr lang="zh-CN" altLang="en-US" b="1" dirty="0">
                    <a:solidFill>
                      <a:schemeClr val="accent6">
                        <a:lumMod val="50000"/>
                      </a:schemeClr>
                    </a:solidFill>
                  </a:rPr>
                  <a:t>的有向通路</a:t>
                </a:r>
                <a:endParaRPr lang="zh-CN" altLang="en-US" b="1" dirty="0">
                  <a:solidFill>
                    <a:schemeClr val="accent6">
                      <a:lumMod val="50000"/>
                    </a:schemeClr>
                  </a:solidFill>
                </a:endParaRPr>
              </a:p>
              <a:p>
                <a:pPr marL="742950" lvl="1" indent="-285750">
                  <a:spcBef>
                    <a:spcPts val="300"/>
                  </a:spcBef>
                  <a:spcAft>
                    <a:spcPts val="600"/>
                  </a:spcAft>
                  <a:buFont typeface="Arial" panose="020B0604020202020204" pitchFamily="34" charset="0"/>
                  <a:buChar char="•"/>
                </a:pPr>
                <a:r>
                  <a:rPr lang="zh-CN" altLang="en-US" b="1" dirty="0">
                    <a:solidFill>
                      <a:schemeClr val="accent6">
                        <a:lumMod val="50000"/>
                      </a:schemeClr>
                    </a:solidFill>
                  </a:rPr>
                  <a:t>第</a:t>
                </a:r>
                <a14:m>
                  <m:oMath xmlns:m="http://schemas.openxmlformats.org/officeDocument/2006/math">
                    <m:r>
                      <a:rPr lang="en-US" altLang="zh-CN" b="1">
                        <a:solidFill>
                          <a:schemeClr val="accent6">
                            <a:lumMod val="50000"/>
                          </a:schemeClr>
                        </a:solidFill>
                        <a:latin typeface="Cambria Math" panose="02040503050406030204" pitchFamily="18" charset="0"/>
                      </a:rPr>
                      <m:t>𝒌</m:t>
                    </m:r>
                  </m:oMath>
                </a14:m>
                <a:r>
                  <a:rPr lang="zh-CN" altLang="en-US" b="1" dirty="0">
                    <a:solidFill>
                      <a:schemeClr val="accent6">
                        <a:lumMod val="50000"/>
                      </a:schemeClr>
                    </a:solidFill>
                  </a:rPr>
                  <a:t>次考虑</a:t>
                </a:r>
                <a14:m>
                  <m:oMath xmlns:m="http://schemas.openxmlformats.org/officeDocument/2006/math">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𝒗</m:t>
                        </m:r>
                      </m:e>
                      <m:sub>
                        <m:r>
                          <a:rPr lang="en-US" altLang="zh-CN" b="1">
                            <a:solidFill>
                              <a:schemeClr val="accent6">
                                <a:lumMod val="50000"/>
                              </a:schemeClr>
                            </a:solidFill>
                            <a:latin typeface="Cambria Math" panose="02040503050406030204" pitchFamily="18" charset="0"/>
                          </a:rPr>
                          <m:t>𝒊</m:t>
                        </m:r>
                      </m:sub>
                    </m:sSub>
                  </m:oMath>
                </a14:m>
                <a:r>
                  <a:rPr lang="zh-CN" altLang="en-US" b="1" dirty="0">
                    <a:solidFill>
                      <a:schemeClr val="accent6">
                        <a:lumMod val="50000"/>
                      </a:schemeClr>
                    </a:solidFill>
                  </a:rPr>
                  <a:t>和</a:t>
                </a:r>
                <a14:m>
                  <m:oMath xmlns:m="http://schemas.openxmlformats.org/officeDocument/2006/math">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𝒗</m:t>
                        </m:r>
                      </m:e>
                      <m:sub>
                        <m:r>
                          <a:rPr lang="en-US" altLang="zh-CN" b="1">
                            <a:solidFill>
                              <a:schemeClr val="accent6">
                                <a:lumMod val="50000"/>
                              </a:schemeClr>
                            </a:solidFill>
                            <a:latin typeface="Cambria Math" panose="02040503050406030204" pitchFamily="18" charset="0"/>
                          </a:rPr>
                          <m:t>𝒋</m:t>
                        </m:r>
                      </m:sub>
                    </m:sSub>
                  </m:oMath>
                </a14:m>
                <a:r>
                  <a:rPr lang="zh-CN" altLang="en-US" b="1" dirty="0">
                    <a:solidFill>
                      <a:schemeClr val="accent6">
                        <a:lumMod val="50000"/>
                      </a:schemeClr>
                    </a:solidFill>
                  </a:rPr>
                  <a:t>之间是否有</a:t>
                </a:r>
                <a:r>
                  <a:rPr lang="zh-CN" altLang="en-US" b="1" dirty="0">
                    <a:solidFill>
                      <a:srgbClr val="C00000"/>
                    </a:solidFill>
                  </a:rPr>
                  <a:t>中间顶点全部在</a:t>
                </a:r>
                <a14:m>
                  <m:oMath xmlns:m="http://schemas.openxmlformats.org/officeDocument/2006/math">
                    <m:r>
                      <m:rPr>
                        <m:lit/>
                      </m:rPr>
                      <a:rPr lang="en-US" altLang="zh-CN" b="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r>
                          <a:rPr lang="en-US" altLang="zh-CN" b="1">
                            <a:solidFill>
                              <a:srgbClr val="C00000"/>
                            </a:solidFill>
                            <a:latin typeface="Cambria Math" panose="02040503050406030204" pitchFamily="18" charset="0"/>
                          </a:rPr>
                          <m:t>𝟏</m:t>
                        </m:r>
                      </m:sub>
                    </m:sSub>
                    <m:r>
                      <a:rPr lang="en-US" altLang="zh-CN" b="1">
                        <a:solidFill>
                          <a:srgbClr val="C00000"/>
                        </a:solidFill>
                        <a:latin typeface="Cambria Math" panose="02040503050406030204" pitchFamily="18" charset="0"/>
                      </a:rPr>
                      <m:t>, ⋯, </m:t>
                    </m:r>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r>
                          <a:rPr lang="en-US" altLang="zh-CN" b="1">
                            <a:solidFill>
                              <a:srgbClr val="C00000"/>
                            </a:solidFill>
                            <a:latin typeface="Cambria Math" panose="02040503050406030204" pitchFamily="18" charset="0"/>
                          </a:rPr>
                          <m:t>𝒌</m:t>
                        </m:r>
                      </m:sub>
                    </m:sSub>
                    <m:r>
                      <m:rPr>
                        <m:lit/>
                      </m:rPr>
                      <a:rPr lang="en-US" altLang="zh-CN" b="1">
                        <a:solidFill>
                          <a:srgbClr val="C00000"/>
                        </a:solidFill>
                        <a:latin typeface="Cambria Math" panose="02040503050406030204" pitchFamily="18" charset="0"/>
                      </a:rPr>
                      <m:t>}</m:t>
                    </m:r>
                  </m:oMath>
                </a14:m>
                <a:r>
                  <a:rPr lang="zh-CN" altLang="en-US" b="1" dirty="0">
                    <a:solidFill>
                      <a:schemeClr val="accent6">
                        <a:lumMod val="50000"/>
                      </a:schemeClr>
                    </a:solidFill>
                  </a:rPr>
                  <a:t>的有向通路</a:t>
                </a:r>
                <a:endParaRPr lang="zh-CN" altLang="en-US" b="1" dirty="0">
                  <a:solidFill>
                    <a:schemeClr val="accent6">
                      <a:lumMod val="50000"/>
                    </a:schemeClr>
                  </a:solidFill>
                </a:endParaRPr>
              </a:p>
              <a:p>
                <a:pPr marL="742950" lvl="1" indent="-285750">
                  <a:spcBef>
                    <a:spcPts val="300"/>
                  </a:spcBef>
                  <a:spcAft>
                    <a:spcPts val="600"/>
                  </a:spcAft>
                  <a:buFont typeface="Arial" panose="020B0604020202020204" pitchFamily="34" charset="0"/>
                  <a:buChar char="•"/>
                </a:pPr>
                <a:r>
                  <a:rPr lang="zh-CN" altLang="en-US" b="1" dirty="0">
                    <a:solidFill>
                      <a:schemeClr val="accent6">
                        <a:lumMod val="50000"/>
                      </a:schemeClr>
                    </a:solidFill>
                  </a:rPr>
                  <a:t>第</a:t>
                </a:r>
                <a14:m>
                  <m:oMath xmlns:m="http://schemas.openxmlformats.org/officeDocument/2006/math">
                    <m:r>
                      <a:rPr lang="en-US" altLang="zh-CN" b="1">
                        <a:solidFill>
                          <a:schemeClr val="accent6">
                            <a:lumMod val="50000"/>
                          </a:schemeClr>
                        </a:solidFill>
                        <a:latin typeface="Cambria Math" panose="02040503050406030204" pitchFamily="18" charset="0"/>
                      </a:rPr>
                      <m:t>𝒏</m:t>
                    </m:r>
                  </m:oMath>
                </a14:m>
                <a:r>
                  <a:rPr lang="zh-CN" altLang="en-US" b="1" dirty="0">
                    <a:solidFill>
                      <a:schemeClr val="accent6">
                        <a:lumMod val="50000"/>
                      </a:schemeClr>
                    </a:solidFill>
                  </a:rPr>
                  <a:t>次考虑的就是</a:t>
                </a:r>
                <a14:m>
                  <m:oMath xmlns:m="http://schemas.openxmlformats.org/officeDocument/2006/math">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𝒗</m:t>
                        </m:r>
                      </m:e>
                      <m:sub>
                        <m:r>
                          <a:rPr lang="en-US" altLang="zh-CN" b="1">
                            <a:solidFill>
                              <a:schemeClr val="accent6">
                                <a:lumMod val="50000"/>
                              </a:schemeClr>
                            </a:solidFill>
                            <a:latin typeface="Cambria Math" panose="02040503050406030204" pitchFamily="18" charset="0"/>
                          </a:rPr>
                          <m:t>𝒊</m:t>
                        </m:r>
                      </m:sub>
                    </m:sSub>
                  </m:oMath>
                </a14:m>
                <a:r>
                  <a:rPr lang="zh-CN" altLang="en-US" b="1" dirty="0">
                    <a:solidFill>
                      <a:schemeClr val="accent6">
                        <a:lumMod val="50000"/>
                      </a:schemeClr>
                    </a:solidFill>
                  </a:rPr>
                  <a:t>和</a:t>
                </a:r>
                <a14:m>
                  <m:oMath xmlns:m="http://schemas.openxmlformats.org/officeDocument/2006/math">
                    <m:sSub>
                      <m:sSubPr>
                        <m:ctrlPr>
                          <a:rPr lang="en-US" altLang="zh-CN" b="1" i="1">
                            <a:solidFill>
                              <a:schemeClr val="accent6">
                                <a:lumMod val="50000"/>
                              </a:schemeClr>
                            </a:solidFill>
                            <a:latin typeface="Cambria Math" panose="02040503050406030204" pitchFamily="18" charset="0"/>
                          </a:rPr>
                        </m:ctrlPr>
                      </m:sSubPr>
                      <m:e>
                        <m:r>
                          <a:rPr lang="en-US" altLang="zh-CN" b="1">
                            <a:solidFill>
                              <a:schemeClr val="accent6">
                                <a:lumMod val="50000"/>
                              </a:schemeClr>
                            </a:solidFill>
                            <a:latin typeface="Cambria Math" panose="02040503050406030204" pitchFamily="18" charset="0"/>
                          </a:rPr>
                          <m:t>𝒗</m:t>
                        </m:r>
                      </m:e>
                      <m:sub>
                        <m:r>
                          <a:rPr lang="en-US" altLang="zh-CN" b="1">
                            <a:solidFill>
                              <a:schemeClr val="accent6">
                                <a:lumMod val="50000"/>
                              </a:schemeClr>
                            </a:solidFill>
                            <a:latin typeface="Cambria Math" panose="02040503050406030204" pitchFamily="18" charset="0"/>
                          </a:rPr>
                          <m:t>𝒋</m:t>
                        </m:r>
                      </m:sub>
                    </m:sSub>
                  </m:oMath>
                </a14:m>
                <a:r>
                  <a:rPr lang="zh-CN" altLang="en-US" b="1" dirty="0">
                    <a:solidFill>
                      <a:schemeClr val="accent6">
                        <a:lumMod val="50000"/>
                      </a:schemeClr>
                    </a:solidFill>
                  </a:rPr>
                  <a:t>之间是否有</a:t>
                </a:r>
                <a:r>
                  <a:rPr lang="zh-CN" altLang="en-US" b="1" dirty="0">
                    <a:solidFill>
                      <a:srgbClr val="C00000"/>
                    </a:solidFill>
                  </a:rPr>
                  <a:t>中间顶点全部在</a:t>
                </a:r>
                <a14:m>
                  <m:oMath xmlns:m="http://schemas.openxmlformats.org/officeDocument/2006/math">
                    <m:r>
                      <m:rPr>
                        <m:lit/>
                      </m:rPr>
                      <a:rPr lang="en-US" altLang="zh-CN" b="1">
                        <a:solidFill>
                          <a:srgbClr val="C00000"/>
                        </a:solidFill>
                        <a:latin typeface="Cambria Math" panose="02040503050406030204" pitchFamily="18" charset="0"/>
                      </a:rPr>
                      <m:t>{</m:t>
                    </m:r>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r>
                          <a:rPr lang="en-US" altLang="zh-CN" b="1">
                            <a:solidFill>
                              <a:srgbClr val="C00000"/>
                            </a:solidFill>
                            <a:latin typeface="Cambria Math" panose="02040503050406030204" pitchFamily="18" charset="0"/>
                          </a:rPr>
                          <m:t>𝟏</m:t>
                        </m:r>
                      </m:sub>
                    </m:sSub>
                    <m:r>
                      <a:rPr lang="en-US" altLang="zh-CN" b="1">
                        <a:solidFill>
                          <a:srgbClr val="C00000"/>
                        </a:solidFill>
                        <a:latin typeface="Cambria Math" panose="02040503050406030204" pitchFamily="18" charset="0"/>
                      </a:rPr>
                      <m:t>, ⋯, </m:t>
                    </m:r>
                    <m:sSub>
                      <m:sSubPr>
                        <m:ctrlPr>
                          <a:rPr lang="en-US" altLang="zh-CN" b="1" i="1">
                            <a:solidFill>
                              <a:srgbClr val="C00000"/>
                            </a:solidFill>
                            <a:latin typeface="Cambria Math" panose="02040503050406030204" pitchFamily="18" charset="0"/>
                          </a:rPr>
                        </m:ctrlPr>
                      </m:sSubPr>
                      <m:e>
                        <m:r>
                          <a:rPr lang="en-US" altLang="zh-CN" b="1">
                            <a:solidFill>
                              <a:srgbClr val="C00000"/>
                            </a:solidFill>
                            <a:latin typeface="Cambria Math" panose="02040503050406030204" pitchFamily="18" charset="0"/>
                          </a:rPr>
                          <m:t>𝒗</m:t>
                        </m:r>
                      </m:e>
                      <m:sub>
                        <m:r>
                          <a:rPr lang="en-US" altLang="zh-CN" b="1">
                            <a:solidFill>
                              <a:srgbClr val="C00000"/>
                            </a:solidFill>
                            <a:latin typeface="Cambria Math" panose="02040503050406030204" pitchFamily="18" charset="0"/>
                          </a:rPr>
                          <m:t>𝒏</m:t>
                        </m:r>
                      </m:sub>
                    </m:sSub>
                    <m:r>
                      <m:rPr>
                        <m:lit/>
                      </m:rPr>
                      <a:rPr lang="en-US" altLang="zh-CN" b="1">
                        <a:solidFill>
                          <a:srgbClr val="C00000"/>
                        </a:solidFill>
                        <a:latin typeface="Cambria Math" panose="02040503050406030204" pitchFamily="18" charset="0"/>
                      </a:rPr>
                      <m:t>}</m:t>
                    </m:r>
                  </m:oMath>
                </a14:m>
                <a:r>
                  <a:rPr lang="zh-CN" altLang="en-US" b="1" dirty="0">
                    <a:solidFill>
                      <a:schemeClr val="accent6">
                        <a:lumMod val="50000"/>
                      </a:schemeClr>
                    </a:solidFill>
                  </a:rPr>
                  <a:t>的有向通路</a:t>
                </a:r>
                <a:endParaRPr lang="zh-CN" altLang="en-US" b="1" dirty="0">
                  <a:solidFill>
                    <a:schemeClr val="accent6">
                      <a:lumMod val="50000"/>
                    </a:schemeClr>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754767" y="2649405"/>
                <a:ext cx="10682464" cy="3644587"/>
              </a:xfrm>
              <a:prstGeom prst="rect">
                <a:avLst/>
              </a:prstGeom>
              <a:blipFill rotWithShape="1">
                <a:blip r:embed="rId2"/>
                <a:stretch>
                  <a:fillRect l="-4" t="-5" r="2" b="14"/>
                </a:stretch>
              </a:blipFill>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400">
                <a:latin typeface="Arial" panose="020B0604020202020204" pitchFamily="34" charset="0"/>
                <a:ea typeface="楷体" panose="02010609060101010101" pitchFamily="49" charset="-122"/>
                <a:cs typeface="Arial" panose="020B0604020202020204" pitchFamily="34" charset="0"/>
              </a:rPr>
              <a:t>Warshall</a:t>
            </a:r>
            <a:r>
              <a:rPr lang="zh-CN" altLang="en-US" sz="1400">
                <a:latin typeface="楷体" panose="02010609060101010101" pitchFamily="49" charset="-122"/>
                <a:ea typeface="楷体" panose="02010609060101010101" pitchFamily="49" charset="-122"/>
              </a:rPr>
              <a:t>算法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a:t>Warshall</a:t>
            </a:r>
            <a:r>
              <a:rPr lang="zh-CN" altLang="en-US"/>
              <a:t>算法使用的矩阵</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1027865" y="1181378"/>
                <a:ext cx="10091773" cy="2217017"/>
              </a:xfrm>
              <a:prstGeom prst="rect">
                <a:avLst/>
              </a:prstGeom>
              <a:solidFill>
                <a:schemeClr val="accent5">
                  <a:lumMod val="20000"/>
                  <a:lumOff val="80000"/>
                  <a:alpha val="50000"/>
                </a:schemeClr>
              </a:solidFill>
            </p:spPr>
            <p:txBody>
              <a:bodyPr wrap="square" rtlCol="0">
                <a:spAutoFit/>
              </a:bodyPr>
              <a:lstStyle/>
              <a:p>
                <a:pPr algn="ctr">
                  <a:spcBef>
                    <a:spcPts val="600"/>
                  </a:spcBef>
                </a:pPr>
                <a:r>
                  <a:rPr lang="en-US" altLang="zh-CN" sz="2400" b="1" dirty="0" err="1">
                    <a:solidFill>
                      <a:srgbClr val="C00000"/>
                    </a:solidFill>
                  </a:rPr>
                  <a:t>Warshall</a:t>
                </a:r>
                <a:r>
                  <a:rPr lang="zh-CN" altLang="en-US" sz="2400" b="1" dirty="0">
                    <a:solidFill>
                      <a:srgbClr val="C00000"/>
                    </a:solidFill>
                  </a:rPr>
                  <a:t>算法用</a:t>
                </a:r>
                <a:r>
                  <a:rPr lang="en-US" altLang="zh-CN" sz="2400" b="1" dirty="0">
                    <a:solidFill>
                      <a:srgbClr val="C00000"/>
                    </a:solidFill>
                  </a:rPr>
                  <a:t>0-1</a:t>
                </a:r>
                <a:r>
                  <a:rPr lang="zh-CN" altLang="en-US" sz="2400" b="1" dirty="0">
                    <a:solidFill>
                      <a:srgbClr val="C00000"/>
                    </a:solidFill>
                  </a:rPr>
                  <a:t>矩阵</a:t>
                </a:r>
                <a14:m>
                  <m:oMath xmlns:m="http://schemas.openxmlformats.org/officeDocument/2006/math">
                    <m:sSub>
                      <m:sSubPr>
                        <m:ctrlPr>
                          <a:rPr lang="en-US" altLang="zh-CN" sz="2400" b="1" i="1" smtClean="0">
                            <a:solidFill>
                              <a:srgbClr val="C00000"/>
                            </a:solidFill>
                            <a:latin typeface="Cambria Math" panose="02040503050406030204" pitchFamily="18" charset="0"/>
                          </a:rPr>
                        </m:ctrlPr>
                      </m:sSubPr>
                      <m:e>
                        <m:r>
                          <a:rPr lang="en-US" altLang="zh-CN" sz="2400" b="1" i="1" smtClean="0">
                            <a:solidFill>
                              <a:srgbClr val="C00000"/>
                            </a:solidFill>
                            <a:latin typeface="Cambria Math" panose="02040503050406030204" pitchFamily="18" charset="0"/>
                          </a:rPr>
                          <m:t>𝑾</m:t>
                        </m:r>
                      </m:e>
                      <m:sub>
                        <m:r>
                          <a:rPr lang="en-US" altLang="zh-CN" sz="2400" b="1" i="1" smtClean="0">
                            <a:solidFill>
                              <a:srgbClr val="C00000"/>
                            </a:solidFill>
                            <a:latin typeface="Cambria Math" panose="02040503050406030204" pitchFamily="18" charset="0"/>
                          </a:rPr>
                          <m:t>𝒌</m:t>
                        </m:r>
                      </m:sub>
                    </m:sSub>
                    <m:r>
                      <a:rPr lang="en-US" altLang="zh-CN" sz="2400" b="1" i="1" smtClean="0">
                        <a:solidFill>
                          <a:srgbClr val="C00000"/>
                        </a:solidFill>
                        <a:latin typeface="Cambria Math" panose="02040503050406030204" pitchFamily="18" charset="0"/>
                      </a:rPr>
                      <m:t>= </m:t>
                    </m:r>
                    <m:d>
                      <m:dPr>
                        <m:begChr m:val="["/>
                        <m:endChr m:val="]"/>
                        <m:ctrlPr>
                          <a:rPr lang="en-US" altLang="zh-CN" sz="2400" b="1" i="1" smtClean="0">
                            <a:solidFill>
                              <a:srgbClr val="C00000"/>
                            </a:solidFill>
                            <a:latin typeface="Cambria Math" panose="02040503050406030204" pitchFamily="18" charset="0"/>
                          </a:rPr>
                        </m:ctrlPr>
                      </m:dPr>
                      <m:e>
                        <m:sSubSup>
                          <m:sSubSupPr>
                            <m:ctrlPr>
                              <a:rPr lang="en-US" altLang="zh-CN" sz="2400" b="1" i="1" smtClean="0">
                                <a:solidFill>
                                  <a:srgbClr val="C00000"/>
                                </a:solidFill>
                                <a:latin typeface="Cambria Math" panose="02040503050406030204" pitchFamily="18" charset="0"/>
                              </a:rPr>
                            </m:ctrlPr>
                          </m:sSubSupPr>
                          <m:e>
                            <m:r>
                              <a:rPr lang="en-US" altLang="zh-CN" sz="2400" b="1" i="1" smtClean="0">
                                <a:solidFill>
                                  <a:srgbClr val="C00000"/>
                                </a:solidFill>
                                <a:latin typeface="Cambria Math" panose="02040503050406030204" pitchFamily="18" charset="0"/>
                              </a:rPr>
                              <m:t>𝒘</m:t>
                            </m:r>
                          </m:e>
                          <m:sub>
                            <m:r>
                              <a:rPr lang="en-US" altLang="zh-CN" sz="2400" b="1" i="1" smtClean="0">
                                <a:solidFill>
                                  <a:srgbClr val="C00000"/>
                                </a:solidFill>
                                <a:latin typeface="Cambria Math" panose="02040503050406030204" pitchFamily="18" charset="0"/>
                              </a:rPr>
                              <m:t>𝒊𝒋</m:t>
                            </m:r>
                          </m:sub>
                          <m:sup>
                            <m:d>
                              <m:dPr>
                                <m:begChr m:val="["/>
                                <m:endChr m:val="]"/>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𝒌</m:t>
                                </m:r>
                              </m:e>
                            </m:d>
                          </m:sup>
                        </m:sSubSup>
                      </m:e>
                    </m:d>
                  </m:oMath>
                </a14:m>
                <a:r>
                  <a:rPr lang="zh-CN" altLang="en-US" sz="2400" b="1" dirty="0">
                    <a:solidFill>
                      <a:srgbClr val="C00000"/>
                    </a:solidFill>
                  </a:rPr>
                  <a:t>记录第</a:t>
                </a:r>
                <a14:m>
                  <m:oMath xmlns:m="http://schemas.openxmlformats.org/officeDocument/2006/math">
                    <m:r>
                      <a:rPr lang="en-US" altLang="zh-CN" sz="2400" b="1" i="1" smtClean="0">
                        <a:solidFill>
                          <a:srgbClr val="C00000"/>
                        </a:solidFill>
                        <a:latin typeface="Cambria Math" panose="02040503050406030204" pitchFamily="18" charset="0"/>
                      </a:rPr>
                      <m:t>𝒌</m:t>
                    </m:r>
                  </m:oMath>
                </a14:m>
                <a:r>
                  <a:rPr lang="zh-CN" altLang="en-US" sz="2400" b="1" dirty="0">
                    <a:solidFill>
                      <a:srgbClr val="C00000"/>
                    </a:solidFill>
                  </a:rPr>
                  <a:t>次考察的结果</a:t>
                </a:r>
                <a:endParaRPr lang="zh-CN" altLang="en-US" sz="2400" b="1" dirty="0">
                  <a:solidFill>
                    <a:srgbClr val="C00000"/>
                  </a:solidFill>
                </a:endParaRPr>
              </a:p>
              <a:p>
                <a:pPr>
                  <a:spcBef>
                    <a:spcPts val="600"/>
                  </a:spcBef>
                </a:pPr>
                <a14:m>
                  <m:oMath xmlns:m="http://schemas.openxmlformats.org/officeDocument/2006/math">
                    <m:sSubSup>
                      <m:sSubSupPr>
                        <m:ctrlPr>
                          <a:rPr lang="en-US" altLang="zh-CN" sz="2000" b="1" i="1" smtClean="0">
                            <a:solidFill>
                              <a:srgbClr val="002060"/>
                            </a:solidFill>
                            <a:latin typeface="Cambria Math" panose="02040503050406030204" pitchFamily="18" charset="0"/>
                          </a:rPr>
                        </m:ctrlPr>
                      </m:sSubSupPr>
                      <m:e>
                        <m:r>
                          <a:rPr lang="en-US" altLang="zh-CN" sz="2000" b="1" i="1" smtClean="0">
                            <a:solidFill>
                              <a:srgbClr val="002060"/>
                            </a:solidFill>
                            <a:latin typeface="Cambria Math" panose="02040503050406030204" pitchFamily="18" charset="0"/>
                          </a:rPr>
                          <m:t>𝒘</m:t>
                        </m:r>
                      </m:e>
                      <m:sub>
                        <m:r>
                          <a:rPr lang="en-US" altLang="zh-CN" sz="2000" b="1" i="1" smtClean="0">
                            <a:solidFill>
                              <a:srgbClr val="002060"/>
                            </a:solidFill>
                            <a:latin typeface="Cambria Math" panose="02040503050406030204" pitchFamily="18" charset="0"/>
                          </a:rPr>
                          <m:t>𝒊𝒋</m:t>
                        </m:r>
                      </m:sub>
                      <m:sup>
                        <m:d>
                          <m:dPr>
                            <m:begChr m:val="["/>
                            <m:endChr m:val="]"/>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𝒌</m:t>
                            </m:r>
                          </m:e>
                        </m:d>
                      </m:sup>
                    </m:sSubSup>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𝟏</m:t>
                    </m:r>
                  </m:oMath>
                </a14:m>
                <a:r>
                  <a:rPr lang="zh-CN" altLang="en-US" sz="2000" b="1" dirty="0">
                    <a:solidFill>
                      <a:srgbClr val="002060"/>
                    </a:solidFill>
                    <a:latin typeface="楷体" panose="02010609060101010101" pitchFamily="49" charset="-122"/>
                    <a:ea typeface="楷体" panose="02010609060101010101" pitchFamily="49" charset="-122"/>
                  </a:rPr>
                  <a:t>当且仅当顶点</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𝒗</m:t>
                        </m:r>
                      </m:e>
                      <m:sub>
                        <m:r>
                          <a:rPr lang="en-US" altLang="zh-CN" sz="2000" b="1" i="1" smtClean="0">
                            <a:solidFill>
                              <a:srgbClr val="002060"/>
                            </a:solidFill>
                            <a:latin typeface="Cambria Math" panose="02040503050406030204" pitchFamily="18" charset="0"/>
                          </a:rPr>
                          <m:t>𝒊</m:t>
                        </m:r>
                      </m:sub>
                    </m:sSub>
                  </m:oMath>
                </a14:m>
                <a:r>
                  <a:rPr lang="zh-CN" altLang="en-US" sz="2000" b="1" dirty="0">
                    <a:solidFill>
                      <a:srgbClr val="002060"/>
                    </a:solidFill>
                    <a:latin typeface="楷体" panose="02010609060101010101" pitchFamily="49" charset="-122"/>
                    <a:ea typeface="楷体" panose="02010609060101010101" pitchFamily="49" charset="-122"/>
                  </a:rPr>
                  <a:t>到</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𝒗</m:t>
                        </m:r>
                      </m:e>
                      <m:sub>
                        <m:r>
                          <a:rPr lang="en-US" altLang="zh-CN" sz="2000" b="1" i="1" smtClean="0">
                            <a:solidFill>
                              <a:srgbClr val="002060"/>
                            </a:solidFill>
                            <a:latin typeface="Cambria Math" panose="02040503050406030204" pitchFamily="18" charset="0"/>
                          </a:rPr>
                          <m:t>𝒋</m:t>
                        </m:r>
                      </m:sub>
                    </m:sSub>
                  </m:oMath>
                </a14:m>
                <a:r>
                  <a:rPr lang="zh-CN" altLang="en-US" sz="2000" b="1" dirty="0">
                    <a:solidFill>
                      <a:srgbClr val="002060"/>
                    </a:solidFill>
                    <a:latin typeface="楷体" panose="02010609060101010101" pitchFamily="49" charset="-122"/>
                    <a:ea typeface="楷体" panose="02010609060101010101" pitchFamily="49" charset="-122"/>
                  </a:rPr>
                  <a:t>存在中间顶点全部在</a:t>
                </a:r>
                <a14:m>
                  <m:oMath xmlns:m="http://schemas.openxmlformats.org/officeDocument/2006/math">
                    <m:r>
                      <m:rPr>
                        <m:lit/>
                      </m:rP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𝒗</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𝒗</m:t>
                        </m:r>
                      </m:e>
                      <m:sub>
                        <m:r>
                          <a:rPr lang="en-US" altLang="zh-CN" sz="2000" b="1" i="1">
                            <a:solidFill>
                              <a:srgbClr val="002060"/>
                            </a:solidFill>
                            <a:latin typeface="Cambria Math" panose="02040503050406030204" pitchFamily="18" charset="0"/>
                          </a:rPr>
                          <m:t>𝒌</m:t>
                        </m:r>
                      </m:sub>
                    </m:sSub>
                    <m:r>
                      <m:rPr>
                        <m:lit/>
                      </m:rPr>
                      <a:rPr lang="en-US" altLang="zh-CN" sz="2000" b="1" i="1">
                        <a:solidFill>
                          <a:srgbClr val="002060"/>
                        </a:solidFill>
                        <a:latin typeface="Cambria Math" panose="02040503050406030204" pitchFamily="18" charset="0"/>
                      </a:rPr>
                      <m:t>}</m:t>
                    </m:r>
                  </m:oMath>
                </a14:m>
                <a:r>
                  <a:rPr lang="zh-CN" altLang="en-US" sz="2000" b="1" dirty="0">
                    <a:solidFill>
                      <a:srgbClr val="002060"/>
                    </a:solidFill>
                    <a:latin typeface="楷体" panose="02010609060101010101" pitchFamily="49" charset="-122"/>
                    <a:ea typeface="楷体" panose="02010609060101010101" pitchFamily="49" charset="-122"/>
                  </a:rPr>
                  <a:t>的有向通路</a:t>
                </a:r>
                <a:endParaRPr lang="zh-CN" altLang="en-US" sz="2000" b="1" dirty="0">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𝑾</m:t>
                        </m:r>
                      </m:e>
                      <m:sub>
                        <m:r>
                          <a:rPr lang="en-US" altLang="zh-CN" sz="2000" b="1" i="1" smtClean="0">
                            <a:solidFill>
                              <a:schemeClr val="accent6">
                                <a:lumMod val="50000"/>
                              </a:schemeClr>
                            </a:solidFill>
                            <a:latin typeface="Cambria Math" panose="02040503050406030204" pitchFamily="18" charset="0"/>
                          </a:rPr>
                          <m:t>𝟎</m:t>
                        </m:r>
                      </m:sub>
                    </m:sSub>
                    <m:r>
                      <a:rPr lang="en-US" altLang="zh-CN" sz="2000" b="1" i="1" smtClean="0">
                        <a:solidFill>
                          <a:schemeClr val="accent6">
                            <a:lumMod val="50000"/>
                          </a:schemeClr>
                        </a:solidFill>
                        <a:latin typeface="Cambria Math" panose="02040503050406030204" pitchFamily="18" charset="0"/>
                      </a:rPr>
                      <m:t>=</m:t>
                    </m:r>
                    <m:d>
                      <m:dPr>
                        <m:begChr m:val="["/>
                        <m:endChr m:val="]"/>
                        <m:ctrlPr>
                          <a:rPr lang="en-US" altLang="zh-CN" sz="2000" b="1" i="1" smtClean="0">
                            <a:solidFill>
                              <a:schemeClr val="accent6">
                                <a:lumMod val="50000"/>
                              </a:schemeClr>
                            </a:solidFill>
                            <a:latin typeface="Cambria Math" panose="02040503050406030204" pitchFamily="18" charset="0"/>
                          </a:rPr>
                        </m:ctrlPr>
                      </m:dPr>
                      <m:e>
                        <m:sSubSup>
                          <m:sSubSupPr>
                            <m:ctrlPr>
                              <a:rPr lang="en-US" altLang="zh-CN" sz="2000" b="1" i="1" smtClean="0">
                                <a:solidFill>
                                  <a:schemeClr val="accent6">
                                    <a:lumMod val="50000"/>
                                  </a:schemeClr>
                                </a:solidFill>
                                <a:latin typeface="Cambria Math" panose="02040503050406030204" pitchFamily="18" charset="0"/>
                              </a:rPr>
                            </m:ctrlPr>
                          </m:sSubSupPr>
                          <m:e>
                            <m:r>
                              <a:rPr lang="en-US" altLang="zh-CN" sz="2000" b="1" i="1" smtClean="0">
                                <a:solidFill>
                                  <a:schemeClr val="accent6">
                                    <a:lumMod val="50000"/>
                                  </a:schemeClr>
                                </a:solidFill>
                                <a:latin typeface="Cambria Math" panose="02040503050406030204" pitchFamily="18" charset="0"/>
                              </a:rPr>
                              <m:t>𝒘</m:t>
                            </m:r>
                          </m:e>
                          <m:sub>
                            <m:r>
                              <a:rPr lang="en-US" altLang="zh-CN" sz="2000" b="1" i="1" smtClean="0">
                                <a:solidFill>
                                  <a:schemeClr val="accent6">
                                    <a:lumMod val="50000"/>
                                  </a:schemeClr>
                                </a:solidFill>
                                <a:latin typeface="Cambria Math" panose="02040503050406030204" pitchFamily="18" charset="0"/>
                              </a:rPr>
                              <m:t>𝒊𝒋</m:t>
                            </m:r>
                          </m:sub>
                          <m:sup>
                            <m:d>
                              <m:dPr>
                                <m:begChr m:val="["/>
                                <m:endChr m:val="]"/>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𝟎</m:t>
                                </m:r>
                              </m:e>
                            </m:d>
                          </m:sup>
                        </m:sSubSup>
                      </m:e>
                    </m:d>
                  </m:oMath>
                </a14:m>
                <a:r>
                  <a:rPr lang="zh-CN" altLang="en-US" sz="2000" b="1" dirty="0">
                    <a:solidFill>
                      <a:schemeClr val="accent6">
                        <a:lumMod val="50000"/>
                      </a:schemeClr>
                    </a:solidFill>
                  </a:rPr>
                  <a:t>就是</a:t>
                </a:r>
                <a14:m>
                  <m:oMath xmlns:m="http://schemas.openxmlformats.org/officeDocument/2006/math">
                    <m:r>
                      <a:rPr lang="en-US" altLang="zh-CN" sz="2000" b="1" i="1" smtClean="0">
                        <a:solidFill>
                          <a:srgbClr val="C00000"/>
                        </a:solidFill>
                        <a:latin typeface="Cambria Math" panose="02040503050406030204" pitchFamily="18" charset="0"/>
                      </a:rPr>
                      <m:t>𝑹</m:t>
                    </m:r>
                  </m:oMath>
                </a14:m>
                <a:r>
                  <a:rPr lang="zh-CN" altLang="en-US" sz="2000" b="1" dirty="0">
                    <a:solidFill>
                      <a:srgbClr val="C00000"/>
                    </a:solidFill>
                  </a:rPr>
                  <a:t>的关系矩阵</a:t>
                </a:r>
                <a:r>
                  <a:rPr lang="zh-CN" altLang="en-US" sz="2000" b="1" dirty="0">
                    <a:solidFill>
                      <a:schemeClr val="accent6">
                        <a:lumMod val="50000"/>
                      </a:schemeClr>
                    </a:solidFill>
                  </a:rPr>
                  <a:t>，即</a:t>
                </a:r>
                <a14:m>
                  <m:oMath xmlns:m="http://schemas.openxmlformats.org/officeDocument/2006/math">
                    <m:sSubSup>
                      <m:sSubSupPr>
                        <m:ctrlPr>
                          <a:rPr lang="en-US" altLang="zh-CN" sz="2000" b="1" i="1" smtClean="0">
                            <a:solidFill>
                              <a:schemeClr val="accent6">
                                <a:lumMod val="50000"/>
                              </a:schemeClr>
                            </a:solidFill>
                            <a:latin typeface="Cambria Math" panose="02040503050406030204" pitchFamily="18" charset="0"/>
                          </a:rPr>
                        </m:ctrlPr>
                      </m:sSubSupPr>
                      <m:e>
                        <m:r>
                          <a:rPr lang="en-US" altLang="zh-CN" sz="2000" b="1" i="1" smtClean="0">
                            <a:solidFill>
                              <a:schemeClr val="accent6">
                                <a:lumMod val="50000"/>
                              </a:schemeClr>
                            </a:solidFill>
                            <a:latin typeface="Cambria Math" panose="02040503050406030204" pitchFamily="18" charset="0"/>
                          </a:rPr>
                          <m:t>𝒘</m:t>
                        </m:r>
                      </m:e>
                      <m:sub>
                        <m:r>
                          <a:rPr lang="en-US" altLang="zh-CN" sz="2000" b="1" i="1" smtClean="0">
                            <a:solidFill>
                              <a:schemeClr val="accent6">
                                <a:lumMod val="50000"/>
                              </a:schemeClr>
                            </a:solidFill>
                            <a:latin typeface="Cambria Math" panose="02040503050406030204" pitchFamily="18" charset="0"/>
                          </a:rPr>
                          <m:t>𝒊𝒋</m:t>
                        </m:r>
                      </m:sub>
                      <m:sup>
                        <m:d>
                          <m:dPr>
                            <m:begChr m:val="["/>
                            <m:endChr m:val="]"/>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𝟎</m:t>
                            </m:r>
                          </m:e>
                        </m:d>
                      </m:sup>
                    </m:sSubSup>
                    <m:r>
                      <a:rPr lang="en-US" altLang="zh-CN" sz="2000" b="1" i="1" smtClean="0">
                        <a:solidFill>
                          <a:schemeClr val="accent6">
                            <a:lumMod val="50000"/>
                          </a:schemeClr>
                        </a:solidFill>
                        <a:latin typeface="Cambria Math" panose="02040503050406030204" pitchFamily="18" charset="0"/>
                      </a:rPr>
                      <m:t>=</m:t>
                    </m:r>
                    <m:r>
                      <a:rPr lang="en-US" altLang="zh-CN" sz="2000" b="1" i="1" smtClean="0">
                        <a:solidFill>
                          <a:schemeClr val="accent6">
                            <a:lumMod val="50000"/>
                          </a:schemeClr>
                        </a:solidFill>
                        <a:latin typeface="Cambria Math" panose="02040503050406030204" pitchFamily="18" charset="0"/>
                      </a:rPr>
                      <m:t>𝟏</m:t>
                    </m:r>
                  </m:oMath>
                </a14:m>
                <a:r>
                  <a:rPr lang="zh-CN" altLang="en-US" sz="2000" b="1" dirty="0">
                    <a:solidFill>
                      <a:schemeClr val="accent6">
                        <a:lumMod val="50000"/>
                      </a:schemeClr>
                    </a:solidFill>
                  </a:rPr>
                  <a:t>当且仅当在</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𝑹</m:t>
                    </m:r>
                  </m:oMath>
                </a14:m>
                <a:r>
                  <a:rPr lang="zh-CN" altLang="en-US" sz="2000" b="1" dirty="0">
                    <a:solidFill>
                      <a:schemeClr val="accent6">
                        <a:lumMod val="50000"/>
                      </a:schemeClr>
                    </a:solidFill>
                  </a:rPr>
                  <a:t>的关系图中</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𝒗</m:t>
                        </m:r>
                      </m:e>
                      <m:sub>
                        <m:r>
                          <a:rPr lang="en-US" altLang="zh-CN" sz="2000" b="1" i="1" smtClean="0">
                            <a:solidFill>
                              <a:srgbClr val="C00000"/>
                            </a:solidFill>
                            <a:latin typeface="Cambria Math" panose="02040503050406030204" pitchFamily="18" charset="0"/>
                          </a:rPr>
                          <m:t>𝒊</m:t>
                        </m:r>
                      </m:sub>
                    </m:sSub>
                  </m:oMath>
                </a14:m>
                <a:r>
                  <a:rPr lang="zh-CN" altLang="en-US" sz="2000" b="1" dirty="0">
                    <a:solidFill>
                      <a:srgbClr val="C00000"/>
                    </a:solidFill>
                  </a:rPr>
                  <a:t>到</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smtClean="0">
                            <a:solidFill>
                              <a:srgbClr val="C00000"/>
                            </a:solidFill>
                            <a:latin typeface="Cambria Math" panose="02040503050406030204" pitchFamily="18" charset="0"/>
                          </a:rPr>
                          <m:t>𝒗</m:t>
                        </m:r>
                      </m:e>
                      <m:sub>
                        <m:r>
                          <a:rPr lang="en-US" altLang="zh-CN" sz="2000" b="1" i="1" smtClean="0">
                            <a:solidFill>
                              <a:srgbClr val="C00000"/>
                            </a:solidFill>
                            <a:latin typeface="Cambria Math" panose="02040503050406030204" pitchFamily="18" charset="0"/>
                          </a:rPr>
                          <m:t>𝒋</m:t>
                        </m:r>
                      </m:sub>
                    </m:sSub>
                  </m:oMath>
                </a14:m>
                <a:r>
                  <a:rPr lang="zh-CN" altLang="en-US" sz="2000" b="1" dirty="0">
                    <a:solidFill>
                      <a:srgbClr val="C00000"/>
                    </a:solidFill>
                  </a:rPr>
                  <a:t>有有向边</a:t>
                </a:r>
                <a:endParaRPr lang="zh-CN" altLang="en-US" sz="2000" b="1" dirty="0">
                  <a:solidFill>
                    <a:srgbClr val="C00000"/>
                  </a:solidFill>
                </a:endParaRPr>
              </a:p>
              <a:p>
                <a:pPr marL="342900" indent="-342900">
                  <a:spcBef>
                    <a:spcPts val="600"/>
                  </a:spcBef>
                  <a:buFont typeface="Arial" panose="020B0604020202020204" pitchFamily="34" charset="0"/>
                  <a:buChar char="•"/>
                </a:pPr>
                <a:r>
                  <a:rPr lang="zh-CN" altLang="en-US" sz="2000" b="1" dirty="0">
                    <a:solidFill>
                      <a:schemeClr val="accent6">
                        <a:lumMod val="50000"/>
                      </a:schemeClr>
                    </a:solidFill>
                  </a:rPr>
                  <a:t>最后</a:t>
                </a:r>
                <a:r>
                  <a:rPr lang="zh-CN" altLang="en-US" sz="2000" b="1" i="0" dirty="0">
                    <a:solidFill>
                      <a:schemeClr val="accent6">
                        <a:lumMod val="50000"/>
                      </a:schemeClr>
                    </a:solidFill>
                    <a:latin typeface="+mj-lt"/>
                  </a:rPr>
                  <a:t>的</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𝑾</m:t>
                        </m:r>
                      </m:e>
                      <m:sub>
                        <m:r>
                          <a:rPr lang="en-US" altLang="zh-CN" sz="2000" b="1" i="1" smtClean="0">
                            <a:solidFill>
                              <a:schemeClr val="accent6">
                                <a:lumMod val="50000"/>
                              </a:schemeClr>
                            </a:solidFill>
                            <a:latin typeface="Cambria Math" panose="02040503050406030204" pitchFamily="18" charset="0"/>
                          </a:rPr>
                          <m:t>𝒏</m:t>
                        </m:r>
                      </m:sub>
                    </m:sSub>
                    <m:r>
                      <a:rPr lang="en-US" altLang="zh-CN" sz="2000" b="1" i="1" smtClean="0">
                        <a:solidFill>
                          <a:schemeClr val="accent6">
                            <a:lumMod val="50000"/>
                          </a:schemeClr>
                        </a:solidFill>
                        <a:latin typeface="Cambria Math" panose="02040503050406030204" pitchFamily="18" charset="0"/>
                      </a:rPr>
                      <m:t>=</m:t>
                    </m:r>
                    <m:d>
                      <m:dPr>
                        <m:begChr m:val="["/>
                        <m:endChr m:val="]"/>
                        <m:ctrlPr>
                          <a:rPr lang="en-US" altLang="zh-CN" sz="2000" b="1" i="1" smtClean="0">
                            <a:solidFill>
                              <a:schemeClr val="accent6">
                                <a:lumMod val="50000"/>
                              </a:schemeClr>
                            </a:solidFill>
                            <a:latin typeface="Cambria Math" panose="02040503050406030204" pitchFamily="18" charset="0"/>
                          </a:rPr>
                        </m:ctrlPr>
                      </m:dPr>
                      <m:e>
                        <m:sSubSup>
                          <m:sSubSupPr>
                            <m:ctrlPr>
                              <a:rPr lang="en-US" altLang="zh-CN" sz="2000" b="1" i="1" smtClean="0">
                                <a:solidFill>
                                  <a:schemeClr val="accent6">
                                    <a:lumMod val="50000"/>
                                  </a:schemeClr>
                                </a:solidFill>
                                <a:latin typeface="Cambria Math" panose="02040503050406030204" pitchFamily="18" charset="0"/>
                              </a:rPr>
                            </m:ctrlPr>
                          </m:sSubSupPr>
                          <m:e>
                            <m:r>
                              <a:rPr lang="en-US" altLang="zh-CN" sz="2000" b="1" i="1" smtClean="0">
                                <a:solidFill>
                                  <a:schemeClr val="accent6">
                                    <a:lumMod val="50000"/>
                                  </a:schemeClr>
                                </a:solidFill>
                                <a:latin typeface="Cambria Math" panose="02040503050406030204" pitchFamily="18" charset="0"/>
                              </a:rPr>
                              <m:t>𝒘</m:t>
                            </m:r>
                          </m:e>
                          <m:sub>
                            <m:r>
                              <a:rPr lang="en-US" altLang="zh-CN" sz="2000" b="1" i="1" smtClean="0">
                                <a:solidFill>
                                  <a:schemeClr val="accent6">
                                    <a:lumMod val="50000"/>
                                  </a:schemeClr>
                                </a:solidFill>
                                <a:latin typeface="Cambria Math" panose="02040503050406030204" pitchFamily="18" charset="0"/>
                              </a:rPr>
                              <m:t>𝒊𝒋</m:t>
                            </m:r>
                          </m:sub>
                          <m:sup>
                            <m:d>
                              <m:dPr>
                                <m:begChr m:val="["/>
                                <m:endChr m:val="]"/>
                                <m:ctrlPr>
                                  <a:rPr lang="en-US" altLang="zh-CN" sz="2000" b="1" i="1" smtClean="0">
                                    <a:solidFill>
                                      <a:schemeClr val="accent6">
                                        <a:lumMod val="50000"/>
                                      </a:schemeClr>
                                    </a:solidFill>
                                    <a:latin typeface="Cambria Math" panose="02040503050406030204" pitchFamily="18" charset="0"/>
                                  </a:rPr>
                                </m:ctrlPr>
                              </m:dPr>
                              <m:e>
                                <m:r>
                                  <a:rPr lang="en-US" altLang="zh-CN" sz="2000" b="1" i="1" smtClean="0">
                                    <a:solidFill>
                                      <a:schemeClr val="accent6">
                                        <a:lumMod val="50000"/>
                                      </a:schemeClr>
                                    </a:solidFill>
                                    <a:latin typeface="Cambria Math" panose="02040503050406030204" pitchFamily="18" charset="0"/>
                                  </a:rPr>
                                  <m:t>𝒏</m:t>
                                </m:r>
                              </m:e>
                            </m:d>
                          </m:sup>
                        </m:sSubSup>
                      </m:e>
                    </m:d>
                  </m:oMath>
                </a14:m>
                <a:r>
                  <a:rPr lang="zh-CN" altLang="en-US" sz="2000" b="1" dirty="0">
                    <a:solidFill>
                      <a:schemeClr val="accent6">
                        <a:lumMod val="50000"/>
                      </a:schemeClr>
                    </a:solidFill>
                  </a:rPr>
                  <a:t>给出</a:t>
                </a:r>
                <a14:m>
                  <m:oMath xmlns:m="http://schemas.openxmlformats.org/officeDocument/2006/math">
                    <m:r>
                      <a:rPr lang="en-US" altLang="zh-CN" sz="2000" b="1" i="1" smtClean="0">
                        <a:solidFill>
                          <a:srgbClr val="C00000"/>
                        </a:solidFill>
                        <a:latin typeface="Cambria Math" panose="02040503050406030204" pitchFamily="18" charset="0"/>
                      </a:rPr>
                      <m:t>𝑹</m:t>
                    </m:r>
                  </m:oMath>
                </a14:m>
                <a:r>
                  <a:rPr lang="zh-CN" altLang="en-US" sz="2000" b="1" dirty="0">
                    <a:solidFill>
                      <a:srgbClr val="C00000"/>
                    </a:solidFill>
                  </a:rPr>
                  <a:t>传递闭包的关系矩阵</a:t>
                </a:r>
                <a:r>
                  <a:rPr lang="zh-CN" altLang="en-US" sz="2000" b="1" dirty="0">
                    <a:solidFill>
                      <a:schemeClr val="accent6">
                        <a:lumMod val="50000"/>
                      </a:schemeClr>
                    </a:solidFill>
                  </a:rPr>
                  <a:t>，即</a:t>
                </a:r>
                <a14:m>
                  <m:oMath xmlns:m="http://schemas.openxmlformats.org/officeDocument/2006/math">
                    <m:sSubSup>
                      <m:sSubSupPr>
                        <m:ctrlPr>
                          <a:rPr lang="en-US" altLang="zh-CN" sz="2000" b="1" i="1" smtClean="0">
                            <a:solidFill>
                              <a:schemeClr val="accent6">
                                <a:lumMod val="50000"/>
                              </a:schemeClr>
                            </a:solidFill>
                            <a:latin typeface="Cambria Math" panose="02040503050406030204" pitchFamily="18" charset="0"/>
                          </a:rPr>
                        </m:ctrlPr>
                      </m:sSubSupPr>
                      <m:e>
                        <m:r>
                          <a:rPr lang="en-US" altLang="zh-CN" sz="2000" b="1" i="1" smtClean="0">
                            <a:solidFill>
                              <a:schemeClr val="accent6">
                                <a:lumMod val="50000"/>
                              </a:schemeClr>
                            </a:solidFill>
                            <a:latin typeface="Cambria Math" panose="02040503050406030204" pitchFamily="18" charset="0"/>
                          </a:rPr>
                          <m:t>𝒘</m:t>
                        </m:r>
                      </m:e>
                      <m:sub>
                        <m:r>
                          <a:rPr lang="en-US" altLang="zh-CN" sz="2000" b="1" i="1">
                            <a:solidFill>
                              <a:schemeClr val="accent6">
                                <a:lumMod val="50000"/>
                              </a:schemeClr>
                            </a:solidFill>
                            <a:latin typeface="Cambria Math" panose="02040503050406030204" pitchFamily="18" charset="0"/>
                          </a:rPr>
                          <m:t>𝒊𝒋</m:t>
                        </m:r>
                      </m:sub>
                      <m:sup>
                        <m:d>
                          <m:dPr>
                            <m:begChr m:val="["/>
                            <m:endChr m:val="]"/>
                            <m:ctrlPr>
                              <a:rPr lang="en-US" altLang="zh-CN" sz="2000" b="1" i="1" smtClean="0">
                                <a:solidFill>
                                  <a:schemeClr val="accent6">
                                    <a:lumMod val="50000"/>
                                  </a:schemeClr>
                                </a:solidFill>
                                <a:latin typeface="Cambria Math" panose="02040503050406030204" pitchFamily="18" charset="0"/>
                              </a:rPr>
                            </m:ctrlPr>
                          </m:dPr>
                          <m:e>
                            <m:r>
                              <a:rPr lang="en-US" altLang="zh-CN" sz="2000" b="1" i="1">
                                <a:solidFill>
                                  <a:schemeClr val="accent6">
                                    <a:lumMod val="50000"/>
                                  </a:schemeClr>
                                </a:solidFill>
                                <a:latin typeface="Cambria Math" panose="02040503050406030204" pitchFamily="18" charset="0"/>
                              </a:rPr>
                              <m:t>𝒏</m:t>
                            </m:r>
                          </m:e>
                        </m:d>
                      </m:sup>
                    </m:sSubSup>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𝟏</m:t>
                    </m:r>
                  </m:oMath>
                </a14:m>
                <a:r>
                  <a:rPr lang="zh-CN" altLang="en-US" sz="2000" b="1" dirty="0">
                    <a:solidFill>
                      <a:schemeClr val="accent6">
                        <a:lumMod val="50000"/>
                      </a:schemeClr>
                    </a:solidFill>
                  </a:rPr>
                  <a:t>当且仅当</a:t>
                </a:r>
                <a14:m>
                  <m:oMath xmlns:m="http://schemas.openxmlformats.org/officeDocument/2006/math">
                    <m:sSub>
                      <m:sSubPr>
                        <m:ctrlPr>
                          <a:rPr lang="en-US" altLang="zh-CN" sz="2000" b="1" i="1" smtClean="0">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𝒗</m:t>
                        </m:r>
                      </m:e>
                      <m:sub>
                        <m:r>
                          <a:rPr lang="en-US" altLang="zh-CN" sz="2000" b="1" i="1">
                            <a:solidFill>
                              <a:srgbClr val="C00000"/>
                            </a:solidFill>
                            <a:latin typeface="Cambria Math" panose="02040503050406030204" pitchFamily="18" charset="0"/>
                          </a:rPr>
                          <m:t>𝒊</m:t>
                        </m:r>
                      </m:sub>
                    </m:sSub>
                  </m:oMath>
                </a14:m>
                <a:r>
                  <a:rPr lang="zh-CN" altLang="en-US" sz="2000" b="1" dirty="0">
                    <a:solidFill>
                      <a:srgbClr val="C00000"/>
                    </a:solidFill>
                  </a:rPr>
                  <a:t>到</a:t>
                </a:r>
                <a14:m>
                  <m:oMath xmlns:m="http://schemas.openxmlformats.org/officeDocument/2006/math">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𝒗</m:t>
                        </m:r>
                      </m:e>
                      <m:sub>
                        <m:r>
                          <a:rPr lang="en-US" altLang="zh-CN" sz="2000" b="1" i="1">
                            <a:solidFill>
                              <a:srgbClr val="C00000"/>
                            </a:solidFill>
                            <a:latin typeface="Cambria Math" panose="02040503050406030204" pitchFamily="18" charset="0"/>
                          </a:rPr>
                          <m:t>𝒋</m:t>
                        </m:r>
                      </m:sub>
                    </m:sSub>
                  </m:oMath>
                </a14:m>
                <a:r>
                  <a:rPr lang="zh-CN" altLang="en-US" sz="2000" b="1" dirty="0">
                    <a:solidFill>
                      <a:srgbClr val="C00000"/>
                    </a:solidFill>
                  </a:rPr>
                  <a:t>有有向通路</a:t>
                </a:r>
                <a:endParaRPr lang="zh-CN" altLang="en-US" sz="2000" b="1" dirty="0">
                  <a:solidFill>
                    <a:schemeClr val="accent6">
                      <a:lumMod val="50000"/>
                    </a:schemeClr>
                  </a:solidFill>
                </a:endParaRPr>
              </a:p>
            </p:txBody>
          </p:sp>
        </mc:Choice>
        <mc:Fallback>
          <p:sp>
            <p:nvSpPr>
              <p:cNvPr id="2" name="文本框 1"/>
              <p:cNvSpPr txBox="1">
                <a:spLocks noRot="1" noChangeAspect="1" noMove="1" noResize="1" noEditPoints="1" noAdjustHandles="1" noChangeArrowheads="1" noChangeShapeType="1" noTextEdit="1"/>
              </p:cNvSpPr>
              <p:nvPr/>
            </p:nvSpPr>
            <p:spPr>
              <a:xfrm>
                <a:off x="1027865" y="1181378"/>
                <a:ext cx="10091773" cy="2217017"/>
              </a:xfrm>
              <a:prstGeom prst="rect">
                <a:avLst/>
              </a:prstGeom>
              <a:blipFill rotWithShape="1">
                <a:blip r:embed="rId1"/>
                <a:stretch>
                  <a:fillRect l="-4" t="-13" r="2" b="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943321" y="3798151"/>
                <a:ext cx="10305355" cy="2234714"/>
              </a:xfrm>
              <a:prstGeom prst="rect">
                <a:avLst/>
              </a:prstGeom>
              <a:solidFill>
                <a:schemeClr val="accent2">
                  <a:lumMod val="20000"/>
                  <a:lumOff val="80000"/>
                  <a:alpha val="50000"/>
                </a:schemeClr>
              </a:solidFill>
            </p:spPr>
            <p:txBody>
              <a:bodyPr wrap="square" rtlCol="0">
                <a:spAutoFit/>
              </a:bodyPr>
              <a:lstStyle/>
              <a:p>
                <a:pPr>
                  <a:lnSpc>
                    <a:spcPts val="4000"/>
                  </a:lnSpc>
                  <a:spcBef>
                    <a:spcPts val="600"/>
                  </a:spcBef>
                  <a:spcAft>
                    <a:spcPts val="600"/>
                  </a:spcAft>
                </a:pPr>
                <a:r>
                  <a:rPr lang="en-US" altLang="zh-CN" sz="2400" b="1">
                    <a:solidFill>
                      <a:srgbClr val="002060"/>
                    </a:solidFill>
                    <a:latin typeface="Arial" panose="020B0604020202020204" pitchFamily="34" charset="0"/>
                    <a:ea typeface="楷体" panose="02010609060101010101" pitchFamily="49" charset="-122"/>
                    <a:cs typeface="Arial" panose="020B0604020202020204" pitchFamily="34" charset="0"/>
                  </a:rPr>
                  <a:t>Warshall</a:t>
                </a:r>
                <a:r>
                  <a:rPr lang="zh-CN" altLang="en-US" sz="2400" b="1">
                    <a:solidFill>
                      <a:srgbClr val="002060"/>
                    </a:solidFill>
                    <a:latin typeface="楷体" panose="02010609060101010101" pitchFamily="49" charset="-122"/>
                    <a:ea typeface="楷体" panose="02010609060101010101" pitchFamily="49" charset="-122"/>
                  </a:rPr>
                  <a:t>算法的关键点在于建立考察过程中第</a:t>
                </a:r>
                <a14:m>
                  <m:oMath xmlns:m="http://schemas.openxmlformats.org/officeDocument/2006/math">
                    <m:r>
                      <a:rPr lang="en-US" altLang="zh-CN" sz="2400" b="1" i="1" smtClean="0">
                        <a:solidFill>
                          <a:srgbClr val="002060"/>
                        </a:solidFill>
                        <a:latin typeface="Cambria Math" panose="02040503050406030204" pitchFamily="18" charset="0"/>
                      </a:rPr>
                      <m:t>𝒌</m:t>
                    </m:r>
                  </m:oMath>
                </a14:m>
                <a:r>
                  <a:rPr lang="zh-CN" altLang="en-US" sz="2400" b="1">
                    <a:solidFill>
                      <a:srgbClr val="002060"/>
                    </a:solidFill>
                    <a:latin typeface="楷体" panose="02010609060101010101" pitchFamily="49" charset="-122"/>
                    <a:ea typeface="楷体" panose="02010609060101010101" pitchFamily="49" charset="-122"/>
                  </a:rPr>
                  <a:t>次考察和第</a:t>
                </a:r>
                <a14:m>
                  <m:oMath xmlns:m="http://schemas.openxmlformats.org/officeDocument/2006/math">
                    <m:r>
                      <a:rPr lang="en-US" altLang="zh-CN" sz="2400" b="1" i="1" smtClean="0">
                        <a:solidFill>
                          <a:srgbClr val="002060"/>
                        </a:solidFill>
                        <a:latin typeface="Cambria Math" panose="02040503050406030204" pitchFamily="18" charset="0"/>
                      </a:rPr>
                      <m:t>𝒌</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oMath>
                </a14:m>
                <a:r>
                  <a:rPr lang="zh-CN" altLang="en-US" sz="2400" b="1">
                    <a:solidFill>
                      <a:srgbClr val="002060"/>
                    </a:solidFill>
                    <a:latin typeface="楷体" panose="02010609060101010101" pitchFamily="49" charset="-122"/>
                    <a:ea typeface="楷体" panose="02010609060101010101" pitchFamily="49" charset="-122"/>
                  </a:rPr>
                  <a:t>次考察之间的递推关系，也即建立</a:t>
                </a:r>
                <a14:m>
                  <m:oMath xmlns:m="http://schemas.openxmlformats.org/officeDocument/2006/math">
                    <m:sSub>
                      <m:sSubPr>
                        <m:ctrlPr>
                          <a:rPr lang="en-US" altLang="zh-CN" sz="2400" b="1" i="1" smtClean="0">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𝑾</m:t>
                        </m:r>
                      </m:e>
                      <m:sub>
                        <m:r>
                          <a:rPr lang="en-US" altLang="zh-CN" sz="2400" b="1" i="1" smtClean="0">
                            <a:solidFill>
                              <a:srgbClr val="002060"/>
                            </a:solidFill>
                            <a:latin typeface="Cambria Math" panose="02040503050406030204" pitchFamily="18" charset="0"/>
                          </a:rPr>
                          <m:t>𝒌</m:t>
                        </m:r>
                      </m:sub>
                    </m:sSub>
                    <m:r>
                      <a:rPr lang="en-US" altLang="zh-CN" sz="2400" b="1" i="1" smtClean="0">
                        <a:solidFill>
                          <a:srgbClr val="002060"/>
                        </a:solidFill>
                        <a:latin typeface="Cambria Math" panose="02040503050406030204" pitchFamily="18" charset="0"/>
                      </a:rPr>
                      <m:t> = </m:t>
                    </m:r>
                    <m:d>
                      <m:dPr>
                        <m:begChr m:val="["/>
                        <m:endChr m:val="]"/>
                        <m:ctrlPr>
                          <a:rPr lang="en-US" altLang="zh-CN" sz="2400" b="1" i="1" smtClean="0">
                            <a:solidFill>
                              <a:srgbClr val="002060"/>
                            </a:solidFill>
                            <a:latin typeface="Cambria Math" panose="02040503050406030204" pitchFamily="18" charset="0"/>
                          </a:rPr>
                        </m:ctrlPr>
                      </m:dPr>
                      <m:e>
                        <m:sSubSup>
                          <m:sSubSupPr>
                            <m:ctrlPr>
                              <a:rPr lang="en-US" altLang="zh-CN" sz="2400" b="1" i="1" smtClean="0">
                                <a:solidFill>
                                  <a:srgbClr val="002060"/>
                                </a:solidFill>
                                <a:latin typeface="Cambria Math" panose="02040503050406030204" pitchFamily="18" charset="0"/>
                              </a:rPr>
                            </m:ctrlPr>
                          </m:sSubSupPr>
                          <m:e>
                            <m:r>
                              <a:rPr lang="en-US" altLang="zh-CN" sz="2400" b="1" i="1" smtClean="0">
                                <a:solidFill>
                                  <a:srgbClr val="002060"/>
                                </a:solidFill>
                                <a:latin typeface="Cambria Math" panose="02040503050406030204" pitchFamily="18" charset="0"/>
                              </a:rPr>
                              <m:t>𝒘</m:t>
                            </m:r>
                          </m:e>
                          <m:sub>
                            <m:r>
                              <a:rPr lang="en-US" altLang="zh-CN" sz="2400" b="1" i="1" smtClean="0">
                                <a:solidFill>
                                  <a:srgbClr val="002060"/>
                                </a:solidFill>
                                <a:latin typeface="Cambria Math" panose="02040503050406030204" pitchFamily="18" charset="0"/>
                              </a:rPr>
                              <m:t>𝒊𝒋</m:t>
                            </m:r>
                          </m:sub>
                          <m:sup>
                            <m:d>
                              <m:dPr>
                                <m:begChr m:val="["/>
                                <m:endChr m:val="]"/>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𝒌</m:t>
                                </m:r>
                              </m:e>
                            </m:d>
                          </m:sup>
                        </m:sSubSup>
                      </m:e>
                    </m:d>
                  </m:oMath>
                </a14:m>
                <a:r>
                  <a:rPr lang="zh-CN" altLang="en-US" sz="2400" b="1">
                    <a:solidFill>
                      <a:srgbClr val="002060"/>
                    </a:solidFill>
                    <a:latin typeface="楷体" panose="02010609060101010101" pitchFamily="49" charset="-122"/>
                    <a:ea typeface="楷体" panose="02010609060101010101" pitchFamily="49" charset="-122"/>
                  </a:rPr>
                  <a:t>和</a:t>
                </a:r>
                <a14:m>
                  <m:oMath xmlns:m="http://schemas.openxmlformats.org/officeDocument/2006/math">
                    <m:sSub>
                      <m:sSubPr>
                        <m:ctrlPr>
                          <a:rPr lang="en-US" altLang="zh-CN" sz="2400" b="1" i="1" smtClean="0">
                            <a:solidFill>
                              <a:srgbClr val="002060"/>
                            </a:solidFill>
                            <a:latin typeface="Cambria Math" panose="02040503050406030204" pitchFamily="18" charset="0"/>
                          </a:rPr>
                        </m:ctrlPr>
                      </m:sSubPr>
                      <m:e>
                        <m:r>
                          <a:rPr lang="en-US" altLang="zh-CN" sz="2400" b="1" i="1" smtClean="0">
                            <a:solidFill>
                              <a:srgbClr val="002060"/>
                            </a:solidFill>
                            <a:latin typeface="Cambria Math" panose="02040503050406030204" pitchFamily="18" charset="0"/>
                          </a:rPr>
                          <m:t>𝑾</m:t>
                        </m:r>
                      </m:e>
                      <m:sub>
                        <m:r>
                          <a:rPr lang="en-US" altLang="zh-CN" sz="2400" b="1" i="1" smtClean="0">
                            <a:solidFill>
                              <a:srgbClr val="002060"/>
                            </a:solidFill>
                            <a:latin typeface="Cambria Math" panose="02040503050406030204" pitchFamily="18" charset="0"/>
                          </a:rPr>
                          <m:t>𝒌</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𝟏</m:t>
                        </m:r>
                      </m:sub>
                    </m:sSub>
                    <m:r>
                      <a:rPr lang="en-US" altLang="zh-CN" sz="2400" b="1" i="1" smtClean="0">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sSubSup>
                          <m:sSubSupPr>
                            <m:ctrlPr>
                              <a:rPr lang="en-US" altLang="zh-CN" sz="2400" b="1" i="1">
                                <a:solidFill>
                                  <a:srgbClr val="002060"/>
                                </a:solidFill>
                                <a:latin typeface="Cambria Math" panose="02040503050406030204" pitchFamily="18" charset="0"/>
                              </a:rPr>
                            </m:ctrlPr>
                          </m:sSubSupPr>
                          <m:e>
                            <m:r>
                              <a:rPr lang="en-US" altLang="zh-CN" sz="2400" b="1" i="1">
                                <a:solidFill>
                                  <a:srgbClr val="002060"/>
                                </a:solidFill>
                                <a:latin typeface="Cambria Math" panose="02040503050406030204" pitchFamily="18" charset="0"/>
                              </a:rPr>
                              <m:t>𝒘</m:t>
                            </m:r>
                          </m:e>
                          <m:sub>
                            <m:r>
                              <a:rPr lang="en-US" altLang="zh-CN" sz="2400" b="1" i="1">
                                <a:solidFill>
                                  <a:srgbClr val="002060"/>
                                </a:solidFill>
                                <a:latin typeface="Cambria Math" panose="02040503050406030204" pitchFamily="18" charset="0"/>
                              </a:rPr>
                              <m:t>𝒊𝒋</m:t>
                            </m:r>
                          </m:sub>
                          <m:sup>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𝒌</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e>
                            </m:d>
                          </m:sup>
                        </m:sSubSup>
                      </m:e>
                    </m:d>
                  </m:oMath>
                </a14:m>
                <a:r>
                  <a:rPr lang="zh-CN" altLang="en-US" sz="2400" b="1">
                    <a:solidFill>
                      <a:srgbClr val="002060"/>
                    </a:solidFill>
                    <a:latin typeface="楷体" panose="02010609060101010101" pitchFamily="49" charset="-122"/>
                    <a:ea typeface="楷体" panose="02010609060101010101" pitchFamily="49" charset="-122"/>
                  </a:rPr>
                  <a:t>之间的递推关系</a:t>
                </a:r>
                <a:endParaRPr lang="zh-CN" altLang="en-US" sz="2400" b="1">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第</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𝒌</m:t>
                    </m:r>
                  </m:oMath>
                </a14:m>
                <a:r>
                  <a:rPr lang="zh-CN" altLang="en-US" sz="2400" b="1">
                    <a:solidFill>
                      <a:schemeClr val="accent6">
                        <a:lumMod val="50000"/>
                      </a:schemeClr>
                    </a:solidFill>
                  </a:rPr>
                  <a:t>次考察</a:t>
                </a:r>
                <a14:m>
                  <m:oMath xmlns:m="http://schemas.openxmlformats.org/officeDocument/2006/math">
                    <m:sSub>
                      <m:sSubPr>
                        <m:ctrlPr>
                          <a:rPr lang="en-US" altLang="zh-CN" sz="2400" b="1" i="1" smtClean="0">
                            <a:solidFill>
                              <a:schemeClr val="accent6">
                                <a:lumMod val="50000"/>
                              </a:schemeClr>
                            </a:solidFill>
                            <a:latin typeface="Cambria Math" panose="02040503050406030204" pitchFamily="18" charset="0"/>
                          </a:rPr>
                        </m:ctrlPr>
                      </m:sSubPr>
                      <m:e>
                        <m:r>
                          <a:rPr lang="en-US" altLang="zh-CN" sz="2400" b="1" i="1" smtClean="0">
                            <a:solidFill>
                              <a:schemeClr val="accent6">
                                <a:lumMod val="50000"/>
                              </a:schemeClr>
                            </a:solidFill>
                            <a:latin typeface="Cambria Math" panose="02040503050406030204" pitchFamily="18" charset="0"/>
                          </a:rPr>
                          <m:t>𝒗</m:t>
                        </m:r>
                      </m:e>
                      <m:sub>
                        <m:r>
                          <a:rPr lang="en-US" altLang="zh-CN" sz="2400" b="1" i="1" smtClean="0">
                            <a:solidFill>
                              <a:schemeClr val="accent6">
                                <a:lumMod val="50000"/>
                              </a:schemeClr>
                            </a:solidFill>
                            <a:latin typeface="Cambria Math" panose="02040503050406030204" pitchFamily="18" charset="0"/>
                          </a:rPr>
                          <m:t>𝒊</m:t>
                        </m:r>
                      </m:sub>
                    </m:sSub>
                  </m:oMath>
                </a14:m>
                <a:r>
                  <a:rPr lang="zh-CN" altLang="en-US" sz="2400" b="1">
                    <a:solidFill>
                      <a:schemeClr val="accent6">
                        <a:lumMod val="50000"/>
                      </a:schemeClr>
                    </a:solidFill>
                  </a:rPr>
                  <a:t>和</a:t>
                </a:r>
                <a14:m>
                  <m:oMath xmlns:m="http://schemas.openxmlformats.org/officeDocument/2006/math">
                    <m:sSub>
                      <m:sSubPr>
                        <m:ctrlPr>
                          <a:rPr lang="en-US" altLang="zh-CN" sz="2400" b="1" i="1" smtClean="0">
                            <a:solidFill>
                              <a:schemeClr val="accent6">
                                <a:lumMod val="50000"/>
                              </a:schemeClr>
                            </a:solidFill>
                            <a:latin typeface="Cambria Math" panose="02040503050406030204" pitchFamily="18" charset="0"/>
                          </a:rPr>
                        </m:ctrlPr>
                      </m:sSubPr>
                      <m:e>
                        <m:r>
                          <a:rPr lang="en-US" altLang="zh-CN" sz="2400" b="1" i="1" smtClean="0">
                            <a:solidFill>
                              <a:schemeClr val="accent6">
                                <a:lumMod val="50000"/>
                              </a:schemeClr>
                            </a:solidFill>
                            <a:latin typeface="Cambria Math" panose="02040503050406030204" pitchFamily="18" charset="0"/>
                          </a:rPr>
                          <m:t>𝒗</m:t>
                        </m:r>
                      </m:e>
                      <m:sub>
                        <m:r>
                          <a:rPr lang="en-US" altLang="zh-CN" sz="2400" b="1" i="1" smtClean="0">
                            <a:solidFill>
                              <a:schemeClr val="accent6">
                                <a:lumMod val="50000"/>
                              </a:schemeClr>
                            </a:solidFill>
                            <a:latin typeface="Cambria Math" panose="02040503050406030204" pitchFamily="18" charset="0"/>
                          </a:rPr>
                          <m:t>𝒋</m:t>
                        </m:r>
                      </m:sub>
                    </m:sSub>
                  </m:oMath>
                </a14:m>
                <a:r>
                  <a:rPr lang="zh-CN" altLang="en-US" sz="2400" b="1">
                    <a:solidFill>
                      <a:schemeClr val="accent6">
                        <a:lumMod val="50000"/>
                      </a:schemeClr>
                    </a:solidFill>
                  </a:rPr>
                  <a:t>之间是否有</a:t>
                </a:r>
                <a:r>
                  <a:rPr lang="zh-CN" altLang="en-US" sz="2400" b="1">
                    <a:solidFill>
                      <a:srgbClr val="C00000"/>
                    </a:solidFill>
                  </a:rPr>
                  <a:t>中间顶点全部在</a:t>
                </a:r>
                <a14:m>
                  <m:oMath xmlns:m="http://schemas.openxmlformats.org/officeDocument/2006/math">
                    <m:r>
                      <m:rPr>
                        <m:lit/>
                      </m:rPr>
                      <a:rPr lang="en-US" altLang="zh-CN" sz="2400" b="1" i="1" smtClean="0">
                        <a:solidFill>
                          <a:srgbClr val="C00000"/>
                        </a:solidFill>
                        <a:latin typeface="Cambria Math" panose="02040503050406030204" pitchFamily="18" charset="0"/>
                      </a:rPr>
                      <m:t>{</m:t>
                    </m:r>
                    <m:sSub>
                      <m:sSubPr>
                        <m:ctrlPr>
                          <a:rPr lang="en-US" altLang="zh-CN" sz="2400" b="1" i="1" smtClean="0">
                            <a:solidFill>
                              <a:srgbClr val="C00000"/>
                            </a:solidFill>
                            <a:latin typeface="Cambria Math" panose="02040503050406030204" pitchFamily="18" charset="0"/>
                          </a:rPr>
                        </m:ctrlPr>
                      </m:sSubPr>
                      <m:e>
                        <m:r>
                          <a:rPr lang="en-US" altLang="zh-CN" sz="2400" b="1" i="1">
                            <a:solidFill>
                              <a:srgbClr val="C00000"/>
                            </a:solidFill>
                            <a:latin typeface="Cambria Math" panose="02040503050406030204" pitchFamily="18" charset="0"/>
                          </a:rPr>
                          <m:t>𝒗</m:t>
                        </m:r>
                      </m:e>
                      <m:sub>
                        <m:r>
                          <a:rPr lang="en-US" altLang="zh-CN" sz="2400" b="1" i="1">
                            <a:solidFill>
                              <a:srgbClr val="C00000"/>
                            </a:solidFill>
                            <a:latin typeface="Cambria Math" panose="02040503050406030204" pitchFamily="18" charset="0"/>
                          </a:rPr>
                          <m:t>𝟏</m:t>
                        </m:r>
                      </m:sub>
                    </m:sSub>
                    <m:r>
                      <a:rPr lang="en-US" altLang="zh-CN" sz="2400" b="1" i="1">
                        <a:solidFill>
                          <a:srgbClr val="C00000"/>
                        </a:solidFill>
                        <a:latin typeface="Cambria Math" panose="02040503050406030204" pitchFamily="18" charset="0"/>
                      </a:rPr>
                      <m:t>,⋯,</m:t>
                    </m:r>
                    <m:sSub>
                      <m:sSubPr>
                        <m:ctrlPr>
                          <a:rPr lang="en-US" altLang="zh-CN" sz="2400" b="1" i="1">
                            <a:solidFill>
                              <a:srgbClr val="C00000"/>
                            </a:solidFill>
                            <a:latin typeface="Cambria Math" panose="02040503050406030204" pitchFamily="18" charset="0"/>
                          </a:rPr>
                        </m:ctrlPr>
                      </m:sSubPr>
                      <m:e>
                        <m:r>
                          <a:rPr lang="en-US" altLang="zh-CN" sz="2400" b="1" i="1">
                            <a:solidFill>
                              <a:srgbClr val="C00000"/>
                            </a:solidFill>
                            <a:latin typeface="Cambria Math" panose="02040503050406030204" pitchFamily="18" charset="0"/>
                          </a:rPr>
                          <m:t>𝒗</m:t>
                        </m:r>
                      </m:e>
                      <m:sub>
                        <m:r>
                          <a:rPr lang="en-US" altLang="zh-CN" sz="2400" b="1" i="1" smtClean="0">
                            <a:solidFill>
                              <a:srgbClr val="C00000"/>
                            </a:solidFill>
                            <a:latin typeface="Cambria Math" panose="02040503050406030204" pitchFamily="18" charset="0"/>
                          </a:rPr>
                          <m:t>𝒌</m:t>
                        </m:r>
                      </m:sub>
                    </m:sSub>
                    <m:r>
                      <m:rPr>
                        <m:lit/>
                      </m:rPr>
                      <a:rPr lang="en-US" altLang="zh-CN" sz="2400" b="1" i="1" smtClean="0">
                        <a:solidFill>
                          <a:srgbClr val="C00000"/>
                        </a:solidFill>
                        <a:latin typeface="Cambria Math" panose="02040503050406030204" pitchFamily="18" charset="0"/>
                      </a:rPr>
                      <m:t>}</m:t>
                    </m:r>
                  </m:oMath>
                </a14:m>
                <a:r>
                  <a:rPr lang="zh-CN" altLang="en-US" sz="2400" b="1">
                    <a:solidFill>
                      <a:schemeClr val="accent6">
                        <a:lumMod val="50000"/>
                      </a:schemeClr>
                    </a:solidFill>
                  </a:rPr>
                  <a:t>的有向通路</a:t>
                </a:r>
                <a:endParaRPr lang="zh-CN" altLang="en-US" sz="2400" b="1">
                  <a:solidFill>
                    <a:schemeClr val="accent6">
                      <a:lumMod val="50000"/>
                    </a:schemeClr>
                  </a:solidFill>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rPr>
                  <a:t>第</a:t>
                </a:r>
                <a14:m>
                  <m:oMath xmlns:m="http://schemas.openxmlformats.org/officeDocument/2006/math">
                    <m:r>
                      <a:rPr lang="en-US" altLang="zh-CN" sz="2400" b="1" i="1" smtClean="0">
                        <a:solidFill>
                          <a:schemeClr val="accent6">
                            <a:lumMod val="50000"/>
                          </a:schemeClr>
                        </a:solidFill>
                        <a:latin typeface="Cambria Math" panose="02040503050406030204" pitchFamily="18" charset="0"/>
                      </a:rPr>
                      <m:t>𝒌</m:t>
                    </m:r>
                    <m:r>
                      <a:rPr lang="en-US" altLang="zh-CN" sz="2400" b="1" i="1" smtClean="0">
                        <a:solidFill>
                          <a:schemeClr val="accent6">
                            <a:lumMod val="50000"/>
                          </a:schemeClr>
                        </a:solidFill>
                        <a:latin typeface="Cambria Math" panose="02040503050406030204" pitchFamily="18" charset="0"/>
                      </a:rPr>
                      <m:t>−</m:t>
                    </m:r>
                    <m:r>
                      <a:rPr lang="en-US" altLang="zh-CN" sz="2400" b="1" i="1" smtClean="0">
                        <a:solidFill>
                          <a:schemeClr val="accent6">
                            <a:lumMod val="50000"/>
                          </a:schemeClr>
                        </a:solidFill>
                        <a:latin typeface="Cambria Math" panose="02040503050406030204" pitchFamily="18" charset="0"/>
                      </a:rPr>
                      <m:t>𝟏</m:t>
                    </m:r>
                  </m:oMath>
                </a14:m>
                <a:r>
                  <a:rPr lang="zh-CN" altLang="en-US" sz="2400" b="1">
                    <a:solidFill>
                      <a:schemeClr val="accent6">
                        <a:lumMod val="50000"/>
                      </a:schemeClr>
                    </a:solidFill>
                  </a:rPr>
                  <a:t>次考察</a:t>
                </a:r>
                <a14:m>
                  <m:oMath xmlns:m="http://schemas.openxmlformats.org/officeDocument/2006/math">
                    <m:sSub>
                      <m:sSubPr>
                        <m:ctrlPr>
                          <a:rPr lang="en-US" altLang="zh-CN" sz="2400" b="1" i="1" smtClean="0">
                            <a:solidFill>
                              <a:schemeClr val="accent6">
                                <a:lumMod val="50000"/>
                              </a:schemeClr>
                            </a:solidFill>
                            <a:latin typeface="Cambria Math" panose="02040503050406030204" pitchFamily="18" charset="0"/>
                          </a:rPr>
                        </m:ctrlPr>
                      </m:sSubPr>
                      <m:e>
                        <m:r>
                          <a:rPr lang="en-US" altLang="zh-CN" sz="2400" b="1" i="1" smtClean="0">
                            <a:solidFill>
                              <a:schemeClr val="accent6">
                                <a:lumMod val="50000"/>
                              </a:schemeClr>
                            </a:solidFill>
                            <a:latin typeface="Cambria Math" panose="02040503050406030204" pitchFamily="18" charset="0"/>
                          </a:rPr>
                          <m:t>𝒗</m:t>
                        </m:r>
                      </m:e>
                      <m:sub>
                        <m:r>
                          <a:rPr lang="en-US" altLang="zh-CN" sz="2400" b="1" i="1" smtClean="0">
                            <a:solidFill>
                              <a:schemeClr val="accent6">
                                <a:lumMod val="50000"/>
                              </a:schemeClr>
                            </a:solidFill>
                            <a:latin typeface="Cambria Math" panose="02040503050406030204" pitchFamily="18" charset="0"/>
                          </a:rPr>
                          <m:t>𝒊</m:t>
                        </m:r>
                      </m:sub>
                    </m:sSub>
                  </m:oMath>
                </a14:m>
                <a:r>
                  <a:rPr lang="zh-CN" altLang="en-US" sz="2400" b="1">
                    <a:solidFill>
                      <a:schemeClr val="accent6">
                        <a:lumMod val="50000"/>
                      </a:schemeClr>
                    </a:solidFill>
                  </a:rPr>
                  <a:t>和</a:t>
                </a:r>
                <a14:m>
                  <m:oMath xmlns:m="http://schemas.openxmlformats.org/officeDocument/2006/math">
                    <m:sSub>
                      <m:sSubPr>
                        <m:ctrlPr>
                          <a:rPr lang="en-US" altLang="zh-CN" sz="2400" b="1" i="1" smtClean="0">
                            <a:solidFill>
                              <a:schemeClr val="accent6">
                                <a:lumMod val="50000"/>
                              </a:schemeClr>
                            </a:solidFill>
                            <a:latin typeface="Cambria Math" panose="02040503050406030204" pitchFamily="18" charset="0"/>
                          </a:rPr>
                        </m:ctrlPr>
                      </m:sSubPr>
                      <m:e>
                        <m:r>
                          <a:rPr lang="en-US" altLang="zh-CN" sz="2400" b="1" i="1" smtClean="0">
                            <a:solidFill>
                              <a:schemeClr val="accent6">
                                <a:lumMod val="50000"/>
                              </a:schemeClr>
                            </a:solidFill>
                            <a:latin typeface="Cambria Math" panose="02040503050406030204" pitchFamily="18" charset="0"/>
                          </a:rPr>
                          <m:t>𝒗</m:t>
                        </m:r>
                      </m:e>
                      <m:sub>
                        <m:r>
                          <a:rPr lang="en-US" altLang="zh-CN" sz="2400" b="1" i="1" smtClean="0">
                            <a:solidFill>
                              <a:schemeClr val="accent6">
                                <a:lumMod val="50000"/>
                              </a:schemeClr>
                            </a:solidFill>
                            <a:latin typeface="Cambria Math" panose="02040503050406030204" pitchFamily="18" charset="0"/>
                          </a:rPr>
                          <m:t>𝒋</m:t>
                        </m:r>
                      </m:sub>
                    </m:sSub>
                  </m:oMath>
                </a14:m>
                <a:r>
                  <a:rPr lang="zh-CN" altLang="en-US" sz="2400" b="1">
                    <a:solidFill>
                      <a:schemeClr val="accent6">
                        <a:lumMod val="50000"/>
                      </a:schemeClr>
                    </a:solidFill>
                  </a:rPr>
                  <a:t>之间是否有</a:t>
                </a:r>
                <a:r>
                  <a:rPr lang="zh-CN" altLang="en-US" sz="2400" b="1">
                    <a:solidFill>
                      <a:srgbClr val="C00000"/>
                    </a:solidFill>
                  </a:rPr>
                  <a:t>中间顶点全部在</a:t>
                </a:r>
                <a14:m>
                  <m:oMath xmlns:m="http://schemas.openxmlformats.org/officeDocument/2006/math">
                    <m:r>
                      <m:rPr>
                        <m:lit/>
                      </m:rPr>
                      <a:rPr lang="en-US" altLang="zh-CN" sz="2400" b="1" i="1" smtClean="0">
                        <a:solidFill>
                          <a:srgbClr val="C00000"/>
                        </a:solidFill>
                        <a:latin typeface="Cambria Math" panose="02040503050406030204" pitchFamily="18" charset="0"/>
                      </a:rPr>
                      <m:t>{</m:t>
                    </m:r>
                    <m:sSub>
                      <m:sSubPr>
                        <m:ctrlPr>
                          <a:rPr lang="en-US" altLang="zh-CN" sz="2400" b="1" i="1" smtClean="0">
                            <a:solidFill>
                              <a:srgbClr val="C00000"/>
                            </a:solidFill>
                            <a:latin typeface="Cambria Math" panose="02040503050406030204" pitchFamily="18" charset="0"/>
                          </a:rPr>
                        </m:ctrlPr>
                      </m:sSubPr>
                      <m:e>
                        <m:r>
                          <a:rPr lang="en-US" altLang="zh-CN" sz="2400" b="1" i="1">
                            <a:solidFill>
                              <a:srgbClr val="C00000"/>
                            </a:solidFill>
                            <a:latin typeface="Cambria Math" panose="02040503050406030204" pitchFamily="18" charset="0"/>
                          </a:rPr>
                          <m:t>𝒗</m:t>
                        </m:r>
                      </m:e>
                      <m:sub>
                        <m:r>
                          <a:rPr lang="en-US" altLang="zh-CN" sz="2400" b="1" i="1">
                            <a:solidFill>
                              <a:srgbClr val="C00000"/>
                            </a:solidFill>
                            <a:latin typeface="Cambria Math" panose="02040503050406030204" pitchFamily="18" charset="0"/>
                          </a:rPr>
                          <m:t>𝟏</m:t>
                        </m:r>
                      </m:sub>
                    </m:sSub>
                    <m:r>
                      <a:rPr lang="en-US" altLang="zh-CN" sz="2400" b="1" i="1">
                        <a:solidFill>
                          <a:srgbClr val="C00000"/>
                        </a:solidFill>
                        <a:latin typeface="Cambria Math" panose="02040503050406030204" pitchFamily="18" charset="0"/>
                      </a:rPr>
                      <m:t>, ⋯,</m:t>
                    </m:r>
                    <m:sSub>
                      <m:sSubPr>
                        <m:ctrlPr>
                          <a:rPr lang="en-US" altLang="zh-CN" sz="2400" b="1" i="1" smtClean="0">
                            <a:solidFill>
                              <a:srgbClr val="C00000"/>
                            </a:solidFill>
                            <a:latin typeface="Cambria Math" panose="02040503050406030204" pitchFamily="18" charset="0"/>
                          </a:rPr>
                        </m:ctrlPr>
                      </m:sSubPr>
                      <m:e>
                        <m:r>
                          <a:rPr lang="en-US" altLang="zh-CN" sz="2400" b="1" i="1">
                            <a:solidFill>
                              <a:srgbClr val="C00000"/>
                            </a:solidFill>
                            <a:latin typeface="Cambria Math" panose="02040503050406030204" pitchFamily="18" charset="0"/>
                          </a:rPr>
                          <m:t>𝒗</m:t>
                        </m:r>
                      </m:e>
                      <m:sub>
                        <m:r>
                          <a:rPr lang="en-US" altLang="zh-CN" sz="2400" b="1" i="1" smtClean="0">
                            <a:solidFill>
                              <a:srgbClr val="C00000"/>
                            </a:solidFill>
                            <a:latin typeface="Cambria Math" panose="02040503050406030204" pitchFamily="18" charset="0"/>
                          </a:rPr>
                          <m:t>𝒌</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𝟏</m:t>
                        </m:r>
                      </m:sub>
                    </m:sSub>
                    <m:r>
                      <m:rPr>
                        <m:lit/>
                      </m:rPr>
                      <a:rPr lang="en-US" altLang="zh-CN" sz="2400" b="1" i="1" smtClean="0">
                        <a:solidFill>
                          <a:srgbClr val="C00000"/>
                        </a:solidFill>
                        <a:latin typeface="Cambria Math" panose="02040503050406030204" pitchFamily="18" charset="0"/>
                      </a:rPr>
                      <m:t>}</m:t>
                    </m:r>
                  </m:oMath>
                </a14:m>
                <a:r>
                  <a:rPr lang="zh-CN" altLang="en-US" sz="2400" b="1">
                    <a:solidFill>
                      <a:schemeClr val="accent6">
                        <a:lumMod val="50000"/>
                      </a:schemeClr>
                    </a:solidFill>
                  </a:rPr>
                  <a:t>的有向通路</a:t>
                </a:r>
                <a:endParaRPr lang="zh-CN" altLang="en-US" sz="2400" b="1">
                  <a:solidFill>
                    <a:schemeClr val="accent6">
                      <a:lumMod val="50000"/>
                    </a:schemeClr>
                  </a:solidFill>
                </a:endParaRPr>
              </a:p>
            </p:txBody>
          </p:sp>
        </mc:Choice>
        <mc:Fallback>
          <p:sp>
            <p:nvSpPr>
              <p:cNvPr id="3" name="文本框 2"/>
              <p:cNvSpPr txBox="1">
                <a:spLocks noRot="1" noChangeAspect="1" noMove="1" noResize="1" noEditPoints="1" noAdjustHandles="1" noChangeArrowheads="1" noChangeShapeType="1" noTextEdit="1"/>
              </p:cNvSpPr>
              <p:nvPr/>
            </p:nvSpPr>
            <p:spPr>
              <a:xfrm>
                <a:off x="943321" y="3798151"/>
                <a:ext cx="10305355" cy="2234714"/>
              </a:xfrm>
              <a:prstGeom prst="rect">
                <a:avLst/>
              </a:prstGeom>
              <a:blipFill rotWithShape="1">
                <a:blip r:embed="rId2"/>
                <a:stretch>
                  <a:fillRect l="-3" t="-10" r="3" b="16"/>
                </a:stretch>
              </a:blipFill>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400">
                <a:latin typeface="Arial" panose="020B0604020202020204" pitchFamily="34" charset="0"/>
                <a:ea typeface="楷体" panose="02010609060101010101" pitchFamily="49" charset="-122"/>
                <a:cs typeface="Arial" panose="020B0604020202020204" pitchFamily="34" charset="0"/>
              </a:rPr>
              <a:t>Warshall</a:t>
            </a:r>
            <a:r>
              <a:rPr lang="zh-CN" altLang="en-US" sz="1400">
                <a:latin typeface="楷体" panose="02010609060101010101" pitchFamily="49" charset="-122"/>
                <a:ea typeface="楷体" panose="02010609060101010101" pitchFamily="49" charset="-122"/>
              </a:rPr>
              <a:t>算法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a:t>Warshall</a:t>
            </a:r>
            <a:r>
              <a:rPr lang="zh-CN" altLang="en-US"/>
              <a:t>算法的关键点</a:t>
            </a:r>
            <a:endParaRPr lang="zh-CN" altLang="en-US"/>
          </a:p>
        </p:txBody>
      </p:sp>
      <mc:AlternateContent xmlns:mc="http://schemas.openxmlformats.org/markup-compatibility/2006">
        <mc:Choice xmlns:a14="http://schemas.microsoft.com/office/drawing/2010/main" Requires="a14">
          <p:sp>
            <p:nvSpPr>
              <p:cNvPr id="2" name="文本框 1"/>
              <p:cNvSpPr txBox="1"/>
              <p:nvPr/>
            </p:nvSpPr>
            <p:spPr>
              <a:xfrm>
                <a:off x="733076" y="1259317"/>
                <a:ext cx="10725846" cy="3382914"/>
              </a:xfrm>
              <a:prstGeom prst="rect">
                <a:avLst/>
              </a:prstGeom>
              <a:solidFill>
                <a:schemeClr val="accent4">
                  <a:lumMod val="20000"/>
                  <a:lumOff val="80000"/>
                  <a:alpha val="50000"/>
                </a:schemeClr>
              </a:solidFill>
            </p:spPr>
            <p:txBody>
              <a:bodyPr wrap="square" rtlCol="0">
                <a:spAutoFit/>
              </a:bodyPr>
              <a:lstStyle/>
              <a:p>
                <a:pPr>
                  <a:spcBef>
                    <a:spcPts val="600"/>
                  </a:spcBef>
                  <a:spcAft>
                    <a:spcPts val="600"/>
                  </a:spcAft>
                </a:pPr>
                <a:r>
                  <a:rPr lang="en-US" altLang="zh-CN" sz="2400" b="1">
                    <a:solidFill>
                      <a:srgbClr val="C00000"/>
                    </a:solidFill>
                  </a:rPr>
                  <a:t>Warshall</a:t>
                </a:r>
                <a:r>
                  <a:rPr lang="zh-CN" altLang="en-US" sz="2400" b="1">
                    <a:solidFill>
                      <a:srgbClr val="C00000"/>
                    </a:solidFill>
                  </a:rPr>
                  <a:t>算法的关键点在于建立</a:t>
                </a:r>
                <a14:m>
                  <m:oMath xmlns:m="http://schemas.openxmlformats.org/officeDocument/2006/math">
                    <m:sSub>
                      <m:sSubPr>
                        <m:ctrlPr>
                          <a:rPr lang="en-US" altLang="zh-CN" sz="2400" b="1" i="1" smtClean="0">
                            <a:solidFill>
                              <a:srgbClr val="C00000"/>
                            </a:solidFill>
                            <a:latin typeface="Cambria Math" panose="02040503050406030204" pitchFamily="18" charset="0"/>
                          </a:rPr>
                        </m:ctrlPr>
                      </m:sSubPr>
                      <m:e>
                        <m:r>
                          <a:rPr lang="en-US" altLang="zh-CN" sz="2400" b="1" i="1" smtClean="0">
                            <a:solidFill>
                              <a:srgbClr val="C00000"/>
                            </a:solidFill>
                            <a:latin typeface="Cambria Math" panose="02040503050406030204" pitchFamily="18" charset="0"/>
                          </a:rPr>
                          <m:t>𝑾</m:t>
                        </m:r>
                      </m:e>
                      <m:sub>
                        <m:r>
                          <a:rPr lang="en-US" altLang="zh-CN" sz="2400" b="1" i="1" smtClean="0">
                            <a:solidFill>
                              <a:srgbClr val="C00000"/>
                            </a:solidFill>
                            <a:latin typeface="Cambria Math" panose="02040503050406030204" pitchFamily="18" charset="0"/>
                          </a:rPr>
                          <m:t>𝒌</m:t>
                        </m:r>
                      </m:sub>
                    </m:sSub>
                    <m:r>
                      <a:rPr lang="en-US" altLang="zh-CN" sz="2400" b="1" i="1" smtClean="0">
                        <a:solidFill>
                          <a:srgbClr val="C00000"/>
                        </a:solidFill>
                        <a:latin typeface="Cambria Math" panose="02040503050406030204" pitchFamily="18" charset="0"/>
                      </a:rPr>
                      <m:t>=</m:t>
                    </m:r>
                    <m:d>
                      <m:dPr>
                        <m:begChr m:val="["/>
                        <m:endChr m:val="]"/>
                        <m:ctrlPr>
                          <a:rPr lang="en-US" altLang="zh-CN" sz="2400" b="1" i="1" smtClean="0">
                            <a:solidFill>
                              <a:srgbClr val="C00000"/>
                            </a:solidFill>
                            <a:latin typeface="Cambria Math" panose="02040503050406030204" pitchFamily="18" charset="0"/>
                          </a:rPr>
                        </m:ctrlPr>
                      </m:dPr>
                      <m:e>
                        <m:sSubSup>
                          <m:sSubSupPr>
                            <m:ctrlPr>
                              <a:rPr lang="en-US" altLang="zh-CN" sz="2400" b="1" i="1" smtClean="0">
                                <a:solidFill>
                                  <a:srgbClr val="C00000"/>
                                </a:solidFill>
                                <a:latin typeface="Cambria Math" panose="02040503050406030204" pitchFamily="18" charset="0"/>
                              </a:rPr>
                            </m:ctrlPr>
                          </m:sSubSupPr>
                          <m:e>
                            <m:r>
                              <a:rPr lang="en-US" altLang="zh-CN" sz="2400" b="1" i="1" smtClean="0">
                                <a:solidFill>
                                  <a:srgbClr val="C00000"/>
                                </a:solidFill>
                                <a:latin typeface="Cambria Math" panose="02040503050406030204" pitchFamily="18" charset="0"/>
                              </a:rPr>
                              <m:t>𝒘</m:t>
                            </m:r>
                          </m:e>
                          <m:sub>
                            <m:r>
                              <a:rPr lang="en-US" altLang="zh-CN" sz="2400" b="1" i="1" smtClean="0">
                                <a:solidFill>
                                  <a:srgbClr val="C00000"/>
                                </a:solidFill>
                                <a:latin typeface="Cambria Math" panose="02040503050406030204" pitchFamily="18" charset="0"/>
                              </a:rPr>
                              <m:t>𝒊𝒋</m:t>
                            </m:r>
                          </m:sub>
                          <m:sup>
                            <m:d>
                              <m:dPr>
                                <m:begChr m:val="["/>
                                <m:endChr m:val="]"/>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𝒌</m:t>
                                </m:r>
                              </m:e>
                            </m:d>
                          </m:sup>
                        </m:sSubSup>
                      </m:e>
                    </m:d>
                  </m:oMath>
                </a14:m>
                <a:r>
                  <a:rPr lang="zh-CN" altLang="en-US" sz="2400" b="1">
                    <a:solidFill>
                      <a:srgbClr val="C00000"/>
                    </a:solidFill>
                  </a:rPr>
                  <a:t>和</a:t>
                </a:r>
                <a14:m>
                  <m:oMath xmlns:m="http://schemas.openxmlformats.org/officeDocument/2006/math">
                    <m:sSub>
                      <m:sSubPr>
                        <m:ctrlPr>
                          <a:rPr lang="en-US" altLang="zh-CN" sz="2400" b="1" i="1" smtClean="0">
                            <a:solidFill>
                              <a:srgbClr val="C00000"/>
                            </a:solidFill>
                            <a:latin typeface="Cambria Math" panose="02040503050406030204" pitchFamily="18" charset="0"/>
                          </a:rPr>
                        </m:ctrlPr>
                      </m:sSubPr>
                      <m:e>
                        <m:r>
                          <a:rPr lang="en-US" altLang="zh-CN" sz="2400" b="1" i="1" smtClean="0">
                            <a:solidFill>
                              <a:srgbClr val="C00000"/>
                            </a:solidFill>
                            <a:latin typeface="Cambria Math" panose="02040503050406030204" pitchFamily="18" charset="0"/>
                          </a:rPr>
                          <m:t>𝑾</m:t>
                        </m:r>
                      </m:e>
                      <m:sub>
                        <m:r>
                          <a:rPr lang="en-US" altLang="zh-CN" sz="2400" b="1" i="1" smtClean="0">
                            <a:solidFill>
                              <a:srgbClr val="C00000"/>
                            </a:solidFill>
                            <a:latin typeface="Cambria Math" panose="02040503050406030204" pitchFamily="18" charset="0"/>
                          </a:rPr>
                          <m:t>𝒌</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𝟏</m:t>
                        </m:r>
                      </m:sub>
                    </m:sSub>
                    <m:r>
                      <a:rPr lang="en-US" altLang="zh-CN" sz="2400" b="1" i="1" smtClean="0">
                        <a:solidFill>
                          <a:srgbClr val="C00000"/>
                        </a:solidFill>
                        <a:latin typeface="Cambria Math" panose="02040503050406030204" pitchFamily="18" charset="0"/>
                      </a:rPr>
                      <m:t>=</m:t>
                    </m:r>
                    <m:d>
                      <m:dPr>
                        <m:begChr m:val="["/>
                        <m:endChr m:val="]"/>
                        <m:ctrlPr>
                          <a:rPr lang="en-US" altLang="zh-CN" sz="2400" b="1" i="1" smtClean="0">
                            <a:solidFill>
                              <a:srgbClr val="C00000"/>
                            </a:solidFill>
                            <a:latin typeface="Cambria Math" panose="02040503050406030204" pitchFamily="18" charset="0"/>
                          </a:rPr>
                        </m:ctrlPr>
                      </m:dPr>
                      <m:e>
                        <m:sSubSup>
                          <m:sSubSupPr>
                            <m:ctrlPr>
                              <a:rPr lang="en-US" altLang="zh-CN" sz="2400" b="1" i="1" smtClean="0">
                                <a:solidFill>
                                  <a:srgbClr val="C00000"/>
                                </a:solidFill>
                                <a:latin typeface="Cambria Math" panose="02040503050406030204" pitchFamily="18" charset="0"/>
                              </a:rPr>
                            </m:ctrlPr>
                          </m:sSubSupPr>
                          <m:e>
                            <m:r>
                              <a:rPr lang="en-US" altLang="zh-CN" sz="2400" b="1" i="1" smtClean="0">
                                <a:solidFill>
                                  <a:srgbClr val="C00000"/>
                                </a:solidFill>
                                <a:latin typeface="Cambria Math" panose="02040503050406030204" pitchFamily="18" charset="0"/>
                              </a:rPr>
                              <m:t>𝒘</m:t>
                            </m:r>
                          </m:e>
                          <m:sub>
                            <m:r>
                              <a:rPr lang="en-US" altLang="zh-CN" sz="2400" b="1" i="1" smtClean="0">
                                <a:solidFill>
                                  <a:srgbClr val="C00000"/>
                                </a:solidFill>
                                <a:latin typeface="Cambria Math" panose="02040503050406030204" pitchFamily="18" charset="0"/>
                              </a:rPr>
                              <m:t>𝒊𝒋</m:t>
                            </m:r>
                          </m:sub>
                          <m:sup>
                            <m:d>
                              <m:dPr>
                                <m:begChr m:val="["/>
                                <m:endChr m:val="]"/>
                                <m:ctrlPr>
                                  <a:rPr lang="en-US" altLang="zh-CN" sz="2400" b="1" i="1" smtClean="0">
                                    <a:solidFill>
                                      <a:srgbClr val="C00000"/>
                                    </a:solidFill>
                                    <a:latin typeface="Cambria Math" panose="02040503050406030204" pitchFamily="18" charset="0"/>
                                  </a:rPr>
                                </m:ctrlPr>
                              </m:dPr>
                              <m:e>
                                <m:r>
                                  <a:rPr lang="en-US" altLang="zh-CN" sz="2400" b="1" i="1" smtClean="0">
                                    <a:solidFill>
                                      <a:srgbClr val="C00000"/>
                                    </a:solidFill>
                                    <a:latin typeface="Cambria Math" panose="02040503050406030204" pitchFamily="18" charset="0"/>
                                  </a:rPr>
                                  <m:t>𝒌</m:t>
                                </m:r>
                                <m:r>
                                  <a:rPr lang="en-US" altLang="zh-CN" sz="2400" b="1" i="1" smtClean="0">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𝟏</m:t>
                                </m:r>
                              </m:e>
                            </m:d>
                          </m:sup>
                        </m:sSubSup>
                      </m:e>
                    </m:d>
                  </m:oMath>
                </a14:m>
                <a:r>
                  <a:rPr lang="zh-CN" altLang="en-US" sz="2400" b="1">
                    <a:solidFill>
                      <a:srgbClr val="C00000"/>
                    </a:solidFill>
                  </a:rPr>
                  <a:t>之间的递推关系</a:t>
                </a:r>
                <a:endParaRPr lang="zh-CN" altLang="en-US" sz="2400" b="1">
                  <a:solidFill>
                    <a:srgbClr val="C00000"/>
                  </a:solidFill>
                </a:endParaRPr>
              </a:p>
              <a:p>
                <a:pPr>
                  <a:spcBef>
                    <a:spcPts val="600"/>
                  </a:spcBef>
                </a:pPr>
                <a:r>
                  <a:rPr lang="zh-CN" altLang="en-US" sz="2000" b="1">
                    <a:solidFill>
                      <a:srgbClr val="002060"/>
                    </a:solidFill>
                    <a:latin typeface="楷体" panose="02010609060101010101" pitchFamily="49" charset="-122"/>
                    <a:ea typeface="楷体" panose="02010609060101010101" pitchFamily="49" charset="-122"/>
                  </a:rPr>
                  <a:t>将</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𝒗</m:t>
                        </m:r>
                      </m:e>
                      <m:sub>
                        <m:r>
                          <a:rPr lang="en-US" altLang="zh-CN" sz="2000" b="1" i="1" smtClean="0">
                            <a:solidFill>
                              <a:srgbClr val="002060"/>
                            </a:solidFill>
                            <a:latin typeface="Cambria Math" panose="02040503050406030204" pitchFamily="18" charset="0"/>
                          </a:rPr>
                          <m:t>𝒊</m:t>
                        </m:r>
                      </m:sub>
                    </m:sSub>
                  </m:oMath>
                </a14:m>
                <a:r>
                  <a:rPr lang="zh-CN" altLang="en-US" sz="2000" b="1">
                    <a:solidFill>
                      <a:srgbClr val="002060"/>
                    </a:solidFill>
                    <a:latin typeface="楷体" panose="02010609060101010101" pitchFamily="49" charset="-122"/>
                    <a:ea typeface="楷体" panose="02010609060101010101" pitchFamily="49" charset="-122"/>
                  </a:rPr>
                  <a:t>到</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𝒗</m:t>
                        </m:r>
                      </m:e>
                      <m:sub>
                        <m:r>
                          <a:rPr lang="en-US" altLang="zh-CN" sz="2000" b="1" i="1" smtClean="0">
                            <a:solidFill>
                              <a:srgbClr val="002060"/>
                            </a:solidFill>
                            <a:latin typeface="Cambria Math" panose="02040503050406030204" pitchFamily="18" charset="0"/>
                          </a:rPr>
                          <m:t>𝒋</m:t>
                        </m:r>
                      </m:sub>
                    </m:sSub>
                  </m:oMath>
                </a14:m>
                <a:r>
                  <a:rPr lang="zh-CN" altLang="en-US" sz="2000" b="1">
                    <a:solidFill>
                      <a:srgbClr val="002060"/>
                    </a:solidFill>
                    <a:latin typeface="楷体" panose="02010609060101010101" pitchFamily="49" charset="-122"/>
                    <a:ea typeface="楷体" panose="02010609060101010101" pitchFamily="49" charset="-122"/>
                  </a:rPr>
                  <a:t>存在中间顶点在</a:t>
                </a:r>
                <a14:m>
                  <m:oMath xmlns:m="http://schemas.openxmlformats.org/officeDocument/2006/math">
                    <m:r>
                      <m:rPr>
                        <m:lit/>
                      </m:rPr>
                      <a:rPr lang="en-US" altLang="zh-CN" sz="2000" b="1" i="1" smtClean="0">
                        <a:solidFill>
                          <a:srgbClr val="002060"/>
                        </a:solidFill>
                        <a:latin typeface="Cambria Math" panose="02040503050406030204" pitchFamily="18" charset="0"/>
                      </a:rPr>
                      <m:t>{</m:t>
                    </m:r>
                    <m:sSub>
                      <m:sSubPr>
                        <m:ctrlPr>
                          <a:rPr lang="en-US" altLang="zh-CN" sz="2000" b="1" i="1" smtClean="0">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𝒗</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 ⋯,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𝒗</m:t>
                        </m:r>
                      </m:e>
                      <m:sub>
                        <m:r>
                          <a:rPr lang="en-US" altLang="zh-CN" sz="2000" b="1" i="1">
                            <a:solidFill>
                              <a:srgbClr val="002060"/>
                            </a:solidFill>
                            <a:latin typeface="Cambria Math" panose="02040503050406030204" pitchFamily="18" charset="0"/>
                          </a:rPr>
                          <m:t>𝒌</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𝒗</m:t>
                        </m:r>
                      </m:e>
                      <m:sub>
                        <m:r>
                          <a:rPr lang="en-US" altLang="zh-CN" sz="2000" b="1" i="1" smtClean="0">
                            <a:solidFill>
                              <a:srgbClr val="002060"/>
                            </a:solidFill>
                            <a:latin typeface="Cambria Math" panose="02040503050406030204" pitchFamily="18" charset="0"/>
                          </a:rPr>
                          <m:t>𝒌</m:t>
                        </m:r>
                      </m:sub>
                    </m:sSub>
                    <m:r>
                      <m:rPr>
                        <m:lit/>
                      </m:rP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的有向通路的情况分两种</a:t>
                </a:r>
                <a:endParaRPr lang="zh-CN" altLang="en-US" sz="2000" b="1">
                  <a:solidFill>
                    <a:srgbClr val="002060"/>
                  </a:solidFill>
                  <a:latin typeface="楷体" panose="02010609060101010101" pitchFamily="49" charset="-122"/>
                  <a:ea typeface="楷体" panose="02010609060101010101" pitchFamily="49" charset="-122"/>
                </a:endParaRPr>
              </a:p>
              <a:p>
                <a:pPr marL="457200" indent="-457200">
                  <a:spcBef>
                    <a:spcPts val="600"/>
                  </a:spcBef>
                  <a:buFont typeface="+mj-lt"/>
                  <a:buAutoNum type="arabicPeriod"/>
                </a:pP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𝒗</m:t>
                        </m:r>
                      </m:e>
                      <m:sub>
                        <m:r>
                          <a:rPr lang="en-US" altLang="zh-CN" sz="2000" b="1" i="1">
                            <a:solidFill>
                              <a:schemeClr val="accent6">
                                <a:lumMod val="50000"/>
                              </a:schemeClr>
                            </a:solidFill>
                            <a:latin typeface="Cambria Math" panose="02040503050406030204" pitchFamily="18" charset="0"/>
                          </a:rPr>
                          <m:t>𝒊</m:t>
                        </m:r>
                      </m:sub>
                    </m:sSub>
                  </m:oMath>
                </a14:m>
                <a:r>
                  <a:rPr lang="zh-CN" altLang="en-US" sz="2000" b="1">
                    <a:solidFill>
                      <a:schemeClr val="accent6">
                        <a:lumMod val="50000"/>
                      </a:schemeClr>
                    </a:solidFill>
                  </a:rPr>
                  <a:t>到</a:t>
                </a:r>
                <a14:m>
                  <m:oMath xmlns:m="http://schemas.openxmlformats.org/officeDocument/2006/math">
                    <m:sSub>
                      <m:sSubPr>
                        <m:ctrlPr>
                          <a:rPr lang="en-US" altLang="zh-CN" sz="2000" b="1" i="1">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𝒗</m:t>
                        </m:r>
                      </m:e>
                      <m:sub>
                        <m:r>
                          <a:rPr lang="en-US" altLang="zh-CN" sz="2000" b="1" i="1">
                            <a:solidFill>
                              <a:schemeClr val="accent6">
                                <a:lumMod val="50000"/>
                              </a:schemeClr>
                            </a:solidFill>
                            <a:latin typeface="Cambria Math" panose="02040503050406030204" pitchFamily="18" charset="0"/>
                          </a:rPr>
                          <m:t>𝒋</m:t>
                        </m:r>
                      </m:sub>
                    </m:sSub>
                  </m:oMath>
                </a14:m>
                <a:r>
                  <a:rPr lang="zh-CN" altLang="en-US" sz="2000" b="1">
                    <a:solidFill>
                      <a:schemeClr val="accent6">
                        <a:lumMod val="50000"/>
                      </a:schemeClr>
                    </a:solidFill>
                  </a:rPr>
                  <a:t>存在中间顶点全部在</a:t>
                </a:r>
                <a14:m>
                  <m:oMath xmlns:m="http://schemas.openxmlformats.org/officeDocument/2006/math">
                    <m:r>
                      <m:rPr>
                        <m:lit/>
                      </m:rP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𝒗</m:t>
                        </m:r>
                      </m:e>
                      <m:sub>
                        <m:r>
                          <a:rPr lang="en-US" altLang="zh-CN" sz="2000" b="1" i="1">
                            <a:solidFill>
                              <a:schemeClr val="accent6">
                                <a:lumMod val="50000"/>
                              </a:schemeClr>
                            </a:solidFill>
                            <a:latin typeface="Cambria Math" panose="02040503050406030204" pitchFamily="18" charset="0"/>
                          </a:rPr>
                          <m:t>𝟏</m:t>
                        </m:r>
                      </m:sub>
                    </m:sSub>
                    <m:r>
                      <a:rPr lang="en-US" altLang="zh-CN" sz="2000" b="1" i="1">
                        <a:solidFill>
                          <a:schemeClr val="accent6">
                            <a:lumMod val="50000"/>
                          </a:schemeClr>
                        </a:solidFill>
                        <a:latin typeface="Cambria Math" panose="02040503050406030204" pitchFamily="18" charset="0"/>
                      </a:rPr>
                      <m:t>, ⋯, </m:t>
                    </m:r>
                    <m:sSub>
                      <m:sSubPr>
                        <m:ctrlPr>
                          <a:rPr lang="en-US" altLang="zh-CN" sz="2000" b="1" i="1">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𝒗</m:t>
                        </m:r>
                      </m:e>
                      <m:sub>
                        <m:r>
                          <a:rPr lang="en-US" altLang="zh-CN" sz="2000" b="1" i="1">
                            <a:solidFill>
                              <a:schemeClr val="accent6">
                                <a:lumMod val="50000"/>
                              </a:schemeClr>
                            </a:solidFill>
                            <a:latin typeface="Cambria Math" panose="02040503050406030204" pitchFamily="18" charset="0"/>
                          </a:rPr>
                          <m:t>𝒌</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𝟏</m:t>
                        </m:r>
                      </m:sub>
                    </m:sSub>
                    <m:r>
                      <m:rPr>
                        <m:lit/>
                      </m:rPr>
                      <a:rPr lang="en-US" altLang="zh-CN" sz="2000" b="1" i="1">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的有向通路，即已有</a:t>
                </a:r>
                <a14:m>
                  <m:oMath xmlns:m="http://schemas.openxmlformats.org/officeDocument/2006/math">
                    <m:sSubSup>
                      <m:sSubSupPr>
                        <m:ctrlPr>
                          <a:rPr lang="en-US" altLang="zh-CN" sz="2000" b="1" i="1" smtClean="0">
                            <a:solidFill>
                              <a:srgbClr val="C00000"/>
                            </a:solidFill>
                            <a:latin typeface="Cambria Math" panose="02040503050406030204" pitchFamily="18" charset="0"/>
                          </a:rPr>
                        </m:ctrlPr>
                      </m:sSubSupPr>
                      <m:e>
                        <m:r>
                          <a:rPr lang="en-US" altLang="zh-CN" sz="2000" b="1" i="1">
                            <a:solidFill>
                              <a:srgbClr val="C00000"/>
                            </a:solidFill>
                            <a:latin typeface="Cambria Math" panose="02040503050406030204" pitchFamily="18" charset="0"/>
                          </a:rPr>
                          <m:t>𝒘</m:t>
                        </m:r>
                      </m:e>
                      <m:sub>
                        <m:r>
                          <a:rPr lang="en-US" altLang="zh-CN" sz="2000" b="1" i="1">
                            <a:solidFill>
                              <a:srgbClr val="C00000"/>
                            </a:solidFill>
                            <a:latin typeface="Cambria Math" panose="02040503050406030204" pitchFamily="18" charset="0"/>
                          </a:rPr>
                          <m:t>𝒊𝒋</m:t>
                        </m:r>
                      </m:sub>
                      <m:sup>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𝒌</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e>
                        </m:d>
                      </m:sup>
                    </m:sSubSup>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oMath>
                </a14:m>
                <a:endParaRPr lang="zh-CN" altLang="en-US" sz="2000" b="1">
                  <a:solidFill>
                    <a:srgbClr val="C00000"/>
                  </a:solidFill>
                </a:endParaRPr>
              </a:p>
              <a:p>
                <a:pPr marL="800100" lvl="1" indent="-342900">
                  <a:lnSpc>
                    <a:spcPts val="3000"/>
                  </a:lnSpc>
                  <a:spcBef>
                    <a:spcPts val="600"/>
                  </a:spcBef>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这时当然也有</a:t>
                </a:r>
                <a14:m>
                  <m:oMath xmlns:m="http://schemas.openxmlformats.org/officeDocument/2006/math">
                    <m:sSubSup>
                      <m:sSubSupPr>
                        <m:ctrlPr>
                          <a:rPr lang="en-US" altLang="zh-CN" b="1" i="1" smtClean="0">
                            <a:solidFill>
                              <a:schemeClr val="accent2">
                                <a:lumMod val="50000"/>
                              </a:schemeClr>
                            </a:solidFill>
                            <a:latin typeface="Cambria Math" panose="02040503050406030204" pitchFamily="18" charset="0"/>
                          </a:rPr>
                        </m:ctrlPr>
                      </m:sSubSupPr>
                      <m:e>
                        <m:r>
                          <a:rPr lang="en-US" altLang="zh-CN" b="1" i="1" smtClean="0">
                            <a:solidFill>
                              <a:schemeClr val="accent2">
                                <a:lumMod val="50000"/>
                              </a:schemeClr>
                            </a:solidFill>
                            <a:latin typeface="Cambria Math" panose="02040503050406030204" pitchFamily="18" charset="0"/>
                          </a:rPr>
                          <m:t>𝒘</m:t>
                        </m:r>
                      </m:e>
                      <m:sub>
                        <m:r>
                          <a:rPr lang="en-US" altLang="zh-CN" b="1" i="1" smtClean="0">
                            <a:solidFill>
                              <a:schemeClr val="accent2">
                                <a:lumMod val="50000"/>
                              </a:schemeClr>
                            </a:solidFill>
                            <a:latin typeface="Cambria Math" panose="02040503050406030204" pitchFamily="18" charset="0"/>
                          </a:rPr>
                          <m:t>𝒊𝒋</m:t>
                        </m:r>
                      </m:sub>
                      <m:sup>
                        <m:d>
                          <m:dPr>
                            <m:begChr m:val="["/>
                            <m:endChr m:val="]"/>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𝒌</m:t>
                            </m:r>
                          </m:e>
                        </m:d>
                      </m:sup>
                    </m:sSubSup>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𝟏</m:t>
                    </m:r>
                  </m:oMath>
                </a14:m>
                <a:r>
                  <a:rPr lang="zh-CN" altLang="en-US" b="1">
                    <a:solidFill>
                      <a:schemeClr val="accent2">
                        <a:lumMod val="50000"/>
                      </a:schemeClr>
                    </a:solidFill>
                    <a:latin typeface="楷体" panose="02010609060101010101" pitchFamily="49" charset="-122"/>
                    <a:ea typeface="楷体" panose="02010609060101010101" pitchFamily="49" charset="-122"/>
                  </a:rPr>
                  <a:t>，即</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𝒊</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到</a:t>
                </a:r>
                <a14:m>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𝒋</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也有中间顶点全部在</a:t>
                </a:r>
                <a14:m>
                  <m:oMath xmlns:m="http://schemas.openxmlformats.org/officeDocument/2006/math">
                    <m:r>
                      <m:rPr>
                        <m:lit/>
                      </m:rPr>
                      <a:rPr lang="en-US" altLang="zh-CN" b="1" i="1" smtClean="0">
                        <a:solidFill>
                          <a:schemeClr val="accent2">
                            <a:lumMod val="50000"/>
                          </a:schemeClr>
                        </a:solidFill>
                        <a:latin typeface="Cambria Math" panose="02040503050406030204" pitchFamily="18" charset="0"/>
                      </a:rPr>
                      <m:t>{</m:t>
                    </m:r>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𝒗</m:t>
                        </m:r>
                      </m:e>
                      <m:sub>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 ⋯, </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𝒗</m:t>
                        </m:r>
                      </m:e>
                      <m:sub>
                        <m:r>
                          <a:rPr lang="en-US" altLang="zh-CN" b="1" i="1">
                            <a:solidFill>
                              <a:schemeClr val="accent2">
                                <a:lumMod val="50000"/>
                              </a:schemeClr>
                            </a:solidFill>
                            <a:latin typeface="Cambria Math" panose="02040503050406030204" pitchFamily="18" charset="0"/>
                          </a:rPr>
                          <m:t>𝒌</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𝟏</m:t>
                        </m:r>
                      </m:sub>
                    </m:sSub>
                    <m:r>
                      <a:rPr lang="en-US" altLang="zh-CN" b="1" i="1">
                        <a:solidFill>
                          <a:schemeClr val="accent2">
                            <a:lumMod val="50000"/>
                          </a:schemeClr>
                        </a:solidFill>
                        <a:latin typeface="Cambria Math" panose="02040503050406030204" pitchFamily="18" charset="0"/>
                      </a:rPr>
                      <m:t>, </m:t>
                    </m:r>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𝒗</m:t>
                        </m:r>
                      </m:e>
                      <m:sub>
                        <m:r>
                          <a:rPr lang="en-US" altLang="zh-CN" b="1" i="1" smtClean="0">
                            <a:solidFill>
                              <a:schemeClr val="accent2">
                                <a:lumMod val="50000"/>
                              </a:schemeClr>
                            </a:solidFill>
                            <a:latin typeface="Cambria Math" panose="02040503050406030204" pitchFamily="18" charset="0"/>
                          </a:rPr>
                          <m:t>𝒌</m:t>
                        </m:r>
                      </m:sub>
                    </m:sSub>
                    <m:r>
                      <m:rPr>
                        <m:lit/>
                      </m:rPr>
                      <a:rPr lang="en-US" altLang="zh-CN" b="1" i="1">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latin typeface="楷体" panose="02010609060101010101" pitchFamily="49" charset="-122"/>
                    <a:ea typeface="楷体" panose="02010609060101010101" pitchFamily="49" charset="-122"/>
                  </a:rPr>
                  <a:t>的有向通路</a:t>
                </a:r>
                <a:endParaRPr lang="zh-CN" altLang="en-US" b="1">
                  <a:solidFill>
                    <a:schemeClr val="accent2">
                      <a:lumMod val="50000"/>
                    </a:schemeClr>
                  </a:solidFill>
                  <a:latin typeface="楷体" panose="02010609060101010101" pitchFamily="49" charset="-122"/>
                  <a:ea typeface="楷体" panose="02010609060101010101" pitchFamily="49" charset="-122"/>
                </a:endParaRPr>
              </a:p>
              <a:p>
                <a:pPr marL="457200" indent="-457200">
                  <a:spcBef>
                    <a:spcPts val="600"/>
                  </a:spcBef>
                  <a:buFont typeface="+mj-lt"/>
                  <a:buAutoNum type="arabicPeriod"/>
                </a:pP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𝒗</m:t>
                        </m:r>
                      </m:e>
                      <m:sub>
                        <m:r>
                          <a:rPr lang="en-US" altLang="zh-CN" sz="2000" b="1" i="1" smtClean="0">
                            <a:solidFill>
                              <a:schemeClr val="accent6">
                                <a:lumMod val="50000"/>
                              </a:schemeClr>
                            </a:solidFill>
                            <a:latin typeface="Cambria Math" panose="02040503050406030204" pitchFamily="18" charset="0"/>
                          </a:rPr>
                          <m:t>𝒊</m:t>
                        </m:r>
                      </m:sub>
                    </m:sSub>
                  </m:oMath>
                </a14:m>
                <a:r>
                  <a:rPr lang="zh-CN" altLang="en-US" sz="2000" b="1">
                    <a:solidFill>
                      <a:schemeClr val="accent6">
                        <a:lumMod val="50000"/>
                      </a:schemeClr>
                    </a:solidFill>
                  </a:rPr>
                  <a:t>到</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𝒗</m:t>
                        </m:r>
                      </m:e>
                      <m:sub>
                        <m:r>
                          <a:rPr lang="en-US" altLang="zh-CN" sz="2000" b="1" i="1" smtClean="0">
                            <a:solidFill>
                              <a:schemeClr val="accent6">
                                <a:lumMod val="50000"/>
                              </a:schemeClr>
                            </a:solidFill>
                            <a:latin typeface="Cambria Math" panose="02040503050406030204" pitchFamily="18" charset="0"/>
                          </a:rPr>
                          <m:t>𝒌</m:t>
                        </m:r>
                      </m:sub>
                    </m:sSub>
                  </m:oMath>
                </a14:m>
                <a:r>
                  <a:rPr lang="zh-CN" altLang="en-US" sz="2000" b="1">
                    <a:solidFill>
                      <a:schemeClr val="accent6">
                        <a:lumMod val="50000"/>
                      </a:schemeClr>
                    </a:solidFill>
                  </a:rPr>
                  <a:t>存在中间顶点全部在</a:t>
                </a:r>
                <a14:m>
                  <m:oMath xmlns:m="http://schemas.openxmlformats.org/officeDocument/2006/math">
                    <m:r>
                      <m:rPr>
                        <m:lit/>
                      </m:rP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𝒗</m:t>
                        </m:r>
                      </m:e>
                      <m:sub>
                        <m:r>
                          <a:rPr lang="en-US" altLang="zh-CN" sz="2000" b="1" i="1">
                            <a:solidFill>
                              <a:schemeClr val="accent6">
                                <a:lumMod val="50000"/>
                              </a:schemeClr>
                            </a:solidFill>
                            <a:latin typeface="Cambria Math" panose="02040503050406030204" pitchFamily="18" charset="0"/>
                          </a:rPr>
                          <m:t>𝟏</m:t>
                        </m:r>
                      </m:sub>
                    </m:sSub>
                    <m:r>
                      <a:rPr lang="en-US" altLang="zh-CN" sz="2000" b="1" i="1">
                        <a:solidFill>
                          <a:schemeClr val="accent6">
                            <a:lumMod val="50000"/>
                          </a:schemeClr>
                        </a:solidFill>
                        <a:latin typeface="Cambria Math" panose="02040503050406030204" pitchFamily="18" charset="0"/>
                      </a:rPr>
                      <m:t>, ⋯, </m:t>
                    </m:r>
                    <m:sSub>
                      <m:sSubPr>
                        <m:ctrlPr>
                          <a:rPr lang="en-US" altLang="zh-CN" sz="2000" b="1" i="1">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𝒗</m:t>
                        </m:r>
                      </m:e>
                      <m:sub>
                        <m:r>
                          <a:rPr lang="en-US" altLang="zh-CN" sz="2000" b="1" i="1">
                            <a:solidFill>
                              <a:schemeClr val="accent6">
                                <a:lumMod val="50000"/>
                              </a:schemeClr>
                            </a:solidFill>
                            <a:latin typeface="Cambria Math" panose="02040503050406030204" pitchFamily="18" charset="0"/>
                          </a:rPr>
                          <m:t>𝒌</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𝟏</m:t>
                        </m:r>
                      </m:sub>
                    </m:sSub>
                    <m:r>
                      <m:rPr>
                        <m:lit/>
                      </m:rP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的有向通路，而且</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𝒗</m:t>
                        </m:r>
                      </m:e>
                      <m:sub>
                        <m:r>
                          <a:rPr lang="en-US" altLang="zh-CN" sz="2000" b="1" i="1" smtClean="0">
                            <a:solidFill>
                              <a:schemeClr val="accent6">
                                <a:lumMod val="50000"/>
                              </a:schemeClr>
                            </a:solidFill>
                            <a:latin typeface="Cambria Math" panose="02040503050406030204" pitchFamily="18" charset="0"/>
                          </a:rPr>
                          <m:t>𝒌</m:t>
                        </m:r>
                      </m:sub>
                    </m:sSub>
                  </m:oMath>
                </a14:m>
                <a:r>
                  <a:rPr lang="zh-CN" altLang="en-US" sz="2000" b="1">
                    <a:solidFill>
                      <a:schemeClr val="accent6">
                        <a:lumMod val="50000"/>
                      </a:schemeClr>
                    </a:solidFill>
                  </a:rPr>
                  <a:t>到</a:t>
                </a:r>
                <a14:m>
                  <m:oMath xmlns:m="http://schemas.openxmlformats.org/officeDocument/2006/math">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smtClean="0">
                            <a:solidFill>
                              <a:schemeClr val="accent6">
                                <a:lumMod val="50000"/>
                              </a:schemeClr>
                            </a:solidFill>
                            <a:latin typeface="Cambria Math" panose="02040503050406030204" pitchFamily="18" charset="0"/>
                          </a:rPr>
                          <m:t>𝒗</m:t>
                        </m:r>
                      </m:e>
                      <m:sub>
                        <m:r>
                          <a:rPr lang="en-US" altLang="zh-CN" sz="2000" b="1" i="1" smtClean="0">
                            <a:solidFill>
                              <a:schemeClr val="accent6">
                                <a:lumMod val="50000"/>
                              </a:schemeClr>
                            </a:solidFill>
                            <a:latin typeface="Cambria Math" panose="02040503050406030204" pitchFamily="18" charset="0"/>
                          </a:rPr>
                          <m:t>𝒋</m:t>
                        </m:r>
                      </m:sub>
                    </m:sSub>
                  </m:oMath>
                </a14:m>
                <a:r>
                  <a:rPr lang="zh-CN" altLang="en-US" sz="2000" b="1">
                    <a:solidFill>
                      <a:schemeClr val="accent6">
                        <a:lumMod val="50000"/>
                      </a:schemeClr>
                    </a:solidFill>
                  </a:rPr>
                  <a:t>也存在中间顶点全部在</a:t>
                </a:r>
                <a14:m>
                  <m:oMath xmlns:m="http://schemas.openxmlformats.org/officeDocument/2006/math">
                    <m:r>
                      <m:rPr>
                        <m:lit/>
                      </m:rPr>
                      <a:rPr lang="en-US" altLang="zh-CN" sz="2000" b="1" i="1" smtClean="0">
                        <a:solidFill>
                          <a:schemeClr val="accent6">
                            <a:lumMod val="50000"/>
                          </a:schemeClr>
                        </a:solidFill>
                        <a:latin typeface="Cambria Math" panose="02040503050406030204" pitchFamily="18" charset="0"/>
                      </a:rPr>
                      <m:t>{</m:t>
                    </m:r>
                    <m:sSub>
                      <m:sSubPr>
                        <m:ctrlPr>
                          <a:rPr lang="en-US" altLang="zh-CN" sz="2000" b="1" i="1" smtClean="0">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𝒗</m:t>
                        </m:r>
                      </m:e>
                      <m:sub>
                        <m:r>
                          <a:rPr lang="en-US" altLang="zh-CN" sz="2000" b="1" i="1">
                            <a:solidFill>
                              <a:schemeClr val="accent6">
                                <a:lumMod val="50000"/>
                              </a:schemeClr>
                            </a:solidFill>
                            <a:latin typeface="Cambria Math" panose="02040503050406030204" pitchFamily="18" charset="0"/>
                          </a:rPr>
                          <m:t>𝟏</m:t>
                        </m:r>
                      </m:sub>
                    </m:sSub>
                    <m:r>
                      <a:rPr lang="en-US" altLang="zh-CN" sz="2000" b="1" i="1">
                        <a:solidFill>
                          <a:schemeClr val="accent6">
                            <a:lumMod val="50000"/>
                          </a:schemeClr>
                        </a:solidFill>
                        <a:latin typeface="Cambria Math" panose="02040503050406030204" pitchFamily="18" charset="0"/>
                      </a:rPr>
                      <m:t>, ⋯, </m:t>
                    </m:r>
                    <m:sSub>
                      <m:sSubPr>
                        <m:ctrlPr>
                          <a:rPr lang="en-US" altLang="zh-CN" sz="2000" b="1" i="1">
                            <a:solidFill>
                              <a:schemeClr val="accent6">
                                <a:lumMod val="50000"/>
                              </a:schemeClr>
                            </a:solidFill>
                            <a:latin typeface="Cambria Math" panose="02040503050406030204" pitchFamily="18" charset="0"/>
                          </a:rPr>
                        </m:ctrlPr>
                      </m:sSubPr>
                      <m:e>
                        <m:r>
                          <a:rPr lang="en-US" altLang="zh-CN" sz="2000" b="1" i="1">
                            <a:solidFill>
                              <a:schemeClr val="accent6">
                                <a:lumMod val="50000"/>
                              </a:schemeClr>
                            </a:solidFill>
                            <a:latin typeface="Cambria Math" panose="02040503050406030204" pitchFamily="18" charset="0"/>
                          </a:rPr>
                          <m:t>𝒗</m:t>
                        </m:r>
                      </m:e>
                      <m:sub>
                        <m:r>
                          <a:rPr lang="en-US" altLang="zh-CN" sz="2000" b="1" i="1">
                            <a:solidFill>
                              <a:schemeClr val="accent6">
                                <a:lumMod val="50000"/>
                              </a:schemeClr>
                            </a:solidFill>
                            <a:latin typeface="Cambria Math" panose="02040503050406030204" pitchFamily="18" charset="0"/>
                          </a:rPr>
                          <m:t>𝒌</m:t>
                        </m:r>
                        <m:r>
                          <a:rPr lang="en-US" altLang="zh-CN" sz="2000" b="1" i="1">
                            <a:solidFill>
                              <a:schemeClr val="accent6">
                                <a:lumMod val="50000"/>
                              </a:schemeClr>
                            </a:solidFill>
                            <a:latin typeface="Cambria Math" panose="02040503050406030204" pitchFamily="18" charset="0"/>
                          </a:rPr>
                          <m:t>−</m:t>
                        </m:r>
                        <m:r>
                          <a:rPr lang="en-US" altLang="zh-CN" sz="2000" b="1" i="1">
                            <a:solidFill>
                              <a:schemeClr val="accent6">
                                <a:lumMod val="50000"/>
                              </a:schemeClr>
                            </a:solidFill>
                            <a:latin typeface="Cambria Math" panose="02040503050406030204" pitchFamily="18" charset="0"/>
                          </a:rPr>
                          <m:t>𝟏</m:t>
                        </m:r>
                      </m:sub>
                    </m:sSub>
                    <m:r>
                      <m:rPr>
                        <m:lit/>
                      </m:rPr>
                      <a:rPr lang="en-US" altLang="zh-CN" sz="2000" b="1" i="1">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的有向通路，即有</a:t>
                </a:r>
                <a14:m>
                  <m:oMath xmlns:m="http://schemas.openxmlformats.org/officeDocument/2006/math">
                    <m:sSubSup>
                      <m:sSubSupPr>
                        <m:ctrlPr>
                          <a:rPr lang="en-US" altLang="zh-CN" sz="2000" b="1" i="1" smtClean="0">
                            <a:solidFill>
                              <a:srgbClr val="C00000"/>
                            </a:solidFill>
                            <a:latin typeface="Cambria Math" panose="02040503050406030204" pitchFamily="18" charset="0"/>
                          </a:rPr>
                        </m:ctrlPr>
                      </m:sSubSupPr>
                      <m:e>
                        <m:r>
                          <a:rPr lang="en-US" altLang="zh-CN" sz="2000" b="1" i="1">
                            <a:solidFill>
                              <a:srgbClr val="C00000"/>
                            </a:solidFill>
                            <a:latin typeface="Cambria Math" panose="02040503050406030204" pitchFamily="18" charset="0"/>
                          </a:rPr>
                          <m:t>𝒘</m:t>
                        </m:r>
                      </m:e>
                      <m:sub>
                        <m:r>
                          <a:rPr lang="en-US" altLang="zh-CN" sz="2000" b="1" i="1">
                            <a:solidFill>
                              <a:srgbClr val="C00000"/>
                            </a:solidFill>
                            <a:latin typeface="Cambria Math" panose="02040503050406030204" pitchFamily="18" charset="0"/>
                          </a:rPr>
                          <m:t>𝒊𝒌</m:t>
                        </m:r>
                      </m:sub>
                      <m:sup>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𝒌</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e>
                        </m:d>
                      </m:sup>
                    </m:sSubSup>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𝟏</m:t>
                    </m:r>
                  </m:oMath>
                </a14:m>
                <a:r>
                  <a:rPr lang="zh-CN" altLang="en-US" sz="2000" b="1">
                    <a:solidFill>
                      <a:srgbClr val="C00000"/>
                    </a:solidFill>
                  </a:rPr>
                  <a:t>且</a:t>
                </a:r>
                <a14:m>
                  <m:oMath xmlns:m="http://schemas.openxmlformats.org/officeDocument/2006/math">
                    <m:sSubSup>
                      <m:sSubSupPr>
                        <m:ctrlPr>
                          <a:rPr lang="en-US" altLang="zh-CN" sz="2000" b="1" i="1">
                            <a:solidFill>
                              <a:srgbClr val="C00000"/>
                            </a:solidFill>
                            <a:latin typeface="Cambria Math" panose="02040503050406030204" pitchFamily="18" charset="0"/>
                          </a:rPr>
                        </m:ctrlPr>
                      </m:sSubSupPr>
                      <m:e>
                        <m:r>
                          <a:rPr lang="en-US" altLang="zh-CN" sz="2000" b="1" i="1">
                            <a:solidFill>
                              <a:srgbClr val="C00000"/>
                            </a:solidFill>
                            <a:latin typeface="Cambria Math" panose="02040503050406030204" pitchFamily="18" charset="0"/>
                          </a:rPr>
                          <m:t>𝒘</m:t>
                        </m:r>
                      </m:e>
                      <m:sub>
                        <m:r>
                          <a:rPr lang="en-US" altLang="zh-CN" sz="2000" b="1" i="1">
                            <a:solidFill>
                              <a:srgbClr val="C00000"/>
                            </a:solidFill>
                            <a:latin typeface="Cambria Math" panose="02040503050406030204" pitchFamily="18" charset="0"/>
                          </a:rPr>
                          <m:t>𝒌𝒋</m:t>
                        </m:r>
                      </m:sub>
                      <m:sup>
                        <m:d>
                          <m:dPr>
                            <m:begChr m:val="["/>
                            <m:endChr m:val="]"/>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𝒌</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𝟏</m:t>
                            </m:r>
                          </m:e>
                        </m:d>
                      </m:sup>
                    </m:sSubSup>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𝟏</m:t>
                    </m:r>
                  </m:oMath>
                </a14:m>
                <a:endParaRPr lang="zh-CN" altLang="en-US" sz="2000" b="1">
                  <a:solidFill>
                    <a:srgbClr val="C00000"/>
                  </a:solidFill>
                </a:endParaRPr>
              </a:p>
              <a:p>
                <a:pPr marL="800100" lvl="1" indent="-342900">
                  <a:lnSpc>
                    <a:spcPts val="3000"/>
                  </a:lnSpc>
                  <a:spcBef>
                    <a:spcPts val="600"/>
                  </a:spcBef>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这时再将</a:t>
                </a:r>
                <a14:m>
                  <m:oMath xmlns:m="http://schemas.openxmlformats.org/officeDocument/2006/math">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𝒗</m:t>
                        </m:r>
                      </m:e>
                      <m:sub>
                        <m:r>
                          <a:rPr lang="en-US" altLang="zh-CN" b="1">
                            <a:solidFill>
                              <a:schemeClr val="accent2">
                                <a:lumMod val="50000"/>
                              </a:schemeClr>
                            </a:solidFill>
                            <a:latin typeface="Cambria Math" panose="02040503050406030204" pitchFamily="18" charset="0"/>
                            <a:ea typeface="楷体" panose="02010609060101010101" pitchFamily="49" charset="-122"/>
                          </a:rPr>
                          <m:t>𝒌</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作为中间顶点考虑进来，</a:t>
                </a:r>
                <a14:m>
                  <m:oMath xmlns:m="http://schemas.openxmlformats.org/officeDocument/2006/math">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𝒗</m:t>
                        </m:r>
                      </m:e>
                      <m:sub>
                        <m:r>
                          <a:rPr lang="en-US" altLang="zh-CN" b="1">
                            <a:solidFill>
                              <a:schemeClr val="accent2">
                                <a:lumMod val="50000"/>
                              </a:schemeClr>
                            </a:solidFill>
                            <a:latin typeface="Cambria Math" panose="02040503050406030204" pitchFamily="18" charset="0"/>
                            <a:ea typeface="楷体" panose="02010609060101010101" pitchFamily="49" charset="-122"/>
                          </a:rPr>
                          <m:t>𝒊</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到</a:t>
                </a:r>
                <a14:m>
                  <m:oMath xmlns:m="http://schemas.openxmlformats.org/officeDocument/2006/math">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𝒗</m:t>
                        </m:r>
                      </m:e>
                      <m:sub>
                        <m:r>
                          <a:rPr lang="en-US" altLang="zh-CN" b="1">
                            <a:solidFill>
                              <a:schemeClr val="accent2">
                                <a:lumMod val="50000"/>
                              </a:schemeClr>
                            </a:solidFill>
                            <a:latin typeface="Cambria Math" panose="02040503050406030204" pitchFamily="18" charset="0"/>
                            <a:ea typeface="楷体" panose="02010609060101010101" pitchFamily="49" charset="-122"/>
                          </a:rPr>
                          <m:t>𝒋</m:t>
                        </m:r>
                      </m:sub>
                    </m:sSub>
                  </m:oMath>
                </a14:m>
                <a:r>
                  <a:rPr lang="zh-CN" altLang="en-US" b="1">
                    <a:solidFill>
                      <a:schemeClr val="accent2">
                        <a:lumMod val="50000"/>
                      </a:schemeClr>
                    </a:solidFill>
                    <a:latin typeface="楷体" panose="02010609060101010101" pitchFamily="49" charset="-122"/>
                    <a:ea typeface="楷体" panose="02010609060101010101" pitchFamily="49" charset="-122"/>
                  </a:rPr>
                  <a:t>就有中间顶点全部在</a:t>
                </a:r>
                <a14:m>
                  <m:oMath xmlns:m="http://schemas.openxmlformats.org/officeDocument/2006/math">
                    <m:r>
                      <m:rPr>
                        <m:lit/>
                      </m:rPr>
                      <a:rPr lang="en-US" altLang="zh-CN" b="1">
                        <a:solidFill>
                          <a:schemeClr val="accent2">
                            <a:lumMod val="50000"/>
                          </a:schemeClr>
                        </a:solidFill>
                        <a:latin typeface="Cambria Math" panose="02040503050406030204" pitchFamily="18" charset="0"/>
                        <a:ea typeface="楷体" panose="02010609060101010101" pitchFamily="49" charset="-122"/>
                      </a:rPr>
                      <m:t>{</m:t>
                    </m:r>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𝒗</m:t>
                        </m:r>
                      </m:e>
                      <m:sub>
                        <m:r>
                          <a:rPr lang="en-US" altLang="zh-CN" b="1">
                            <a:solidFill>
                              <a:schemeClr val="accent2">
                                <a:lumMod val="50000"/>
                              </a:schemeClr>
                            </a:solidFill>
                            <a:latin typeface="Cambria Math" panose="02040503050406030204" pitchFamily="18" charset="0"/>
                            <a:ea typeface="楷体" panose="02010609060101010101" pitchFamily="49" charset="-122"/>
                          </a:rPr>
                          <m:t>𝟏</m:t>
                        </m:r>
                      </m:sub>
                    </m:sSub>
                    <m:r>
                      <a:rPr lang="en-US" altLang="zh-CN" b="1">
                        <a:solidFill>
                          <a:schemeClr val="accent2">
                            <a:lumMod val="50000"/>
                          </a:schemeClr>
                        </a:solidFill>
                        <a:latin typeface="Cambria Math" panose="02040503050406030204" pitchFamily="18" charset="0"/>
                        <a:ea typeface="楷体" panose="02010609060101010101" pitchFamily="49" charset="-122"/>
                      </a:rPr>
                      <m:t>, ⋯, </m:t>
                    </m:r>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𝒗</m:t>
                        </m:r>
                      </m:e>
                      <m:sub>
                        <m:r>
                          <a:rPr lang="en-US" altLang="zh-CN" b="1">
                            <a:solidFill>
                              <a:schemeClr val="accent2">
                                <a:lumMod val="50000"/>
                              </a:schemeClr>
                            </a:solidFill>
                            <a:latin typeface="Cambria Math" panose="02040503050406030204" pitchFamily="18" charset="0"/>
                            <a:ea typeface="楷体" panose="02010609060101010101" pitchFamily="49" charset="-122"/>
                          </a:rPr>
                          <m:t>𝒌</m:t>
                        </m:r>
                        <m:r>
                          <a:rPr lang="en-US" altLang="zh-CN" b="1">
                            <a:solidFill>
                              <a:schemeClr val="accent2">
                                <a:lumMod val="50000"/>
                              </a:schemeClr>
                            </a:solidFill>
                            <a:latin typeface="Cambria Math" panose="02040503050406030204" pitchFamily="18" charset="0"/>
                            <a:ea typeface="楷体" panose="02010609060101010101" pitchFamily="49" charset="-122"/>
                          </a:rPr>
                          <m:t>−</m:t>
                        </m:r>
                        <m:r>
                          <a:rPr lang="en-US" altLang="zh-CN" b="1">
                            <a:solidFill>
                              <a:schemeClr val="accent2">
                                <a:lumMod val="50000"/>
                              </a:schemeClr>
                            </a:solidFill>
                            <a:latin typeface="Cambria Math" panose="02040503050406030204" pitchFamily="18" charset="0"/>
                            <a:ea typeface="楷体" panose="02010609060101010101" pitchFamily="49" charset="-122"/>
                          </a:rPr>
                          <m:t>𝟏</m:t>
                        </m:r>
                      </m:sub>
                    </m:sSub>
                    <m:r>
                      <a:rPr lang="en-US" altLang="zh-CN" b="1">
                        <a:solidFill>
                          <a:schemeClr val="accent2">
                            <a:lumMod val="50000"/>
                          </a:schemeClr>
                        </a:solidFill>
                        <a:latin typeface="Cambria Math" panose="02040503050406030204" pitchFamily="18" charset="0"/>
                        <a:ea typeface="楷体" panose="02010609060101010101" pitchFamily="49" charset="-122"/>
                      </a:rPr>
                      <m:t>, </m:t>
                    </m:r>
                    <m:sSub>
                      <m:sSubPr>
                        <m:ctrlPr>
                          <a:rPr lang="en-US" altLang="zh-CN" b="1" i="1">
                            <a:solidFill>
                              <a:schemeClr val="accent2">
                                <a:lumMod val="50000"/>
                              </a:schemeClr>
                            </a:solidFill>
                            <a:latin typeface="Cambria Math" panose="02040503050406030204" pitchFamily="18" charset="0"/>
                            <a:ea typeface="楷体" panose="02010609060101010101" pitchFamily="49" charset="-122"/>
                          </a:rPr>
                        </m:ctrlPr>
                      </m:sSubPr>
                      <m:e>
                        <m:r>
                          <a:rPr lang="en-US" altLang="zh-CN" b="1">
                            <a:solidFill>
                              <a:schemeClr val="accent2">
                                <a:lumMod val="50000"/>
                              </a:schemeClr>
                            </a:solidFill>
                            <a:latin typeface="Cambria Math" panose="02040503050406030204" pitchFamily="18" charset="0"/>
                            <a:ea typeface="楷体" panose="02010609060101010101" pitchFamily="49" charset="-122"/>
                          </a:rPr>
                          <m:t>𝒗</m:t>
                        </m:r>
                      </m:e>
                      <m:sub>
                        <m:r>
                          <a:rPr lang="en-US" altLang="zh-CN" b="1">
                            <a:solidFill>
                              <a:schemeClr val="accent2">
                                <a:lumMod val="50000"/>
                              </a:schemeClr>
                            </a:solidFill>
                            <a:latin typeface="Cambria Math" panose="02040503050406030204" pitchFamily="18" charset="0"/>
                            <a:ea typeface="楷体" panose="02010609060101010101" pitchFamily="49" charset="-122"/>
                          </a:rPr>
                          <m:t>𝒌</m:t>
                        </m:r>
                      </m:sub>
                    </m:sSub>
                    <m:r>
                      <m:rPr>
                        <m:lit/>
                      </m:rPr>
                      <a:rPr lang="en-US" altLang="zh-CN" b="1">
                        <a:solidFill>
                          <a:schemeClr val="accent2">
                            <a:lumMod val="50000"/>
                          </a:schemeClr>
                        </a:solidFill>
                        <a:latin typeface="Cambria Math" panose="02040503050406030204" pitchFamily="18" charset="0"/>
                        <a:ea typeface="楷体" panose="02010609060101010101" pitchFamily="49" charset="-122"/>
                      </a:rPr>
                      <m:t>}</m:t>
                    </m:r>
                  </m:oMath>
                </a14:m>
                <a:r>
                  <a:rPr lang="zh-CN" altLang="en-US" b="1">
                    <a:solidFill>
                      <a:schemeClr val="accent2">
                        <a:lumMod val="50000"/>
                      </a:schemeClr>
                    </a:solidFill>
                    <a:latin typeface="楷体" panose="02010609060101010101" pitchFamily="49" charset="-122"/>
                    <a:ea typeface="楷体" panose="02010609060101010101" pitchFamily="49" charset="-122"/>
                  </a:rPr>
                  <a:t>的有向通路</a:t>
                </a:r>
                <a:endParaRPr lang="zh-CN" altLang="en-US"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733076" y="1259317"/>
                <a:ext cx="10725846" cy="3382914"/>
              </a:xfrm>
              <a:prstGeom prst="rect">
                <a:avLst/>
              </a:prstGeom>
              <a:blipFill rotWithShape="1">
                <a:blip r:embed="rId1"/>
                <a:stretch>
                  <a:fillRect l="-3" t="-3" r="3" b="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3724344" y="5119926"/>
                <a:ext cx="4765559" cy="798937"/>
              </a:xfrm>
              <a:prstGeom prst="rect">
                <a:avLst/>
              </a:prstGeom>
              <a:solidFill>
                <a:schemeClr val="accent2">
                  <a:lumMod val="20000"/>
                  <a:lumOff val="80000"/>
                </a:schemeClr>
              </a:solidFill>
            </p:spPr>
            <p:txBody>
              <a:bodyPr wrap="square" rtlCol="0">
                <a:spAutoFit/>
              </a:bodyPr>
              <a:lstStyle/>
              <a:p>
                <a:pPr>
                  <a:spcBef>
                    <a:spcPts val="1200"/>
                  </a:spcBef>
                  <a:spcAft>
                    <a:spcPts val="1200"/>
                  </a:spcAft>
                </a:pPr>
                <a14:m>
                  <m:oMathPara xmlns:m="http://schemas.openxmlformats.org/officeDocument/2006/math">
                    <m:oMathParaPr>
                      <m:jc m:val="centerGroup"/>
                    </m:oMathParaPr>
                    <m:oMath xmlns:m="http://schemas.openxmlformats.org/officeDocument/2006/math">
                      <m:sSubSup>
                        <m:sSubSupPr>
                          <m:ctrlPr>
                            <a:rPr lang="en-US" altLang="zh-CN" sz="2400" b="1" i="1" smtClean="0">
                              <a:solidFill>
                                <a:srgbClr val="C00000"/>
                              </a:solidFill>
                              <a:latin typeface="Cambria Math" panose="02040503050406030204" pitchFamily="18" charset="0"/>
                            </a:rPr>
                          </m:ctrlPr>
                        </m:sSubSupPr>
                        <m:e>
                          <m:r>
                            <a:rPr lang="en-US" altLang="zh-CN" sz="2400" b="1" i="1" smtClean="0">
                              <a:solidFill>
                                <a:srgbClr val="C00000"/>
                              </a:solidFill>
                              <a:latin typeface="Cambria Math" panose="02040503050406030204" pitchFamily="18" charset="0"/>
                            </a:rPr>
                            <m:t>𝒘</m:t>
                          </m:r>
                        </m:e>
                        <m:sub>
                          <m:r>
                            <a:rPr lang="en-US" altLang="zh-CN" sz="2400" b="1" i="1">
                              <a:solidFill>
                                <a:srgbClr val="C00000"/>
                              </a:solidFill>
                              <a:latin typeface="Cambria Math" panose="02040503050406030204" pitchFamily="18" charset="0"/>
                            </a:rPr>
                            <m:t>𝒊𝒋</m:t>
                          </m:r>
                        </m:sub>
                        <m:sup>
                          <m:d>
                            <m:dPr>
                              <m:begChr m:val="["/>
                              <m:endChr m:val="]"/>
                              <m:ctrlPr>
                                <a:rPr lang="en-US" altLang="zh-CN" sz="2400" b="1" i="1" smtClean="0">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𝒌</m:t>
                              </m:r>
                            </m:e>
                          </m:d>
                        </m:sup>
                      </m:sSubSup>
                      <m:r>
                        <a:rPr lang="en-US" altLang="zh-CN" sz="2400" b="1" i="1">
                          <a:solidFill>
                            <a:srgbClr val="C00000"/>
                          </a:solidFill>
                          <a:latin typeface="Cambria Math" panose="02040503050406030204" pitchFamily="18" charset="0"/>
                        </a:rPr>
                        <m:t>= </m:t>
                      </m:r>
                      <m:sSubSup>
                        <m:sSubSupPr>
                          <m:ctrlPr>
                            <a:rPr lang="en-US" altLang="zh-CN" sz="2400" b="1" i="1">
                              <a:solidFill>
                                <a:srgbClr val="C00000"/>
                              </a:solidFill>
                              <a:latin typeface="Cambria Math" panose="02040503050406030204" pitchFamily="18" charset="0"/>
                            </a:rPr>
                          </m:ctrlPr>
                        </m:sSubSupPr>
                        <m:e>
                          <m:r>
                            <a:rPr lang="en-US" altLang="zh-CN" sz="2400" b="1" i="1">
                              <a:solidFill>
                                <a:srgbClr val="C00000"/>
                              </a:solidFill>
                              <a:latin typeface="Cambria Math" panose="02040503050406030204" pitchFamily="18" charset="0"/>
                            </a:rPr>
                            <m:t>𝒘</m:t>
                          </m:r>
                        </m:e>
                        <m:sub>
                          <m:r>
                            <a:rPr lang="en-US" altLang="zh-CN" sz="2400" b="1" i="1">
                              <a:solidFill>
                                <a:srgbClr val="C00000"/>
                              </a:solidFill>
                              <a:latin typeface="Cambria Math" panose="02040503050406030204" pitchFamily="18" charset="0"/>
                            </a:rPr>
                            <m:t>𝒊𝒋</m:t>
                          </m:r>
                        </m:sub>
                        <m:sup>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𝒌</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𝟏</m:t>
                              </m:r>
                            </m:e>
                          </m:d>
                        </m:sup>
                      </m:sSubSup>
                      <m:r>
                        <a:rPr lang="en-US" altLang="zh-CN" sz="2400" b="1" i="1">
                          <a:solidFill>
                            <a:srgbClr val="C00000"/>
                          </a:solidFill>
                          <a:latin typeface="Cambria Math" panose="02040503050406030204" pitchFamily="18" charset="0"/>
                        </a:rPr>
                        <m:t>∨</m:t>
                      </m:r>
                      <m:d>
                        <m:dPr>
                          <m:ctrlPr>
                            <a:rPr lang="en-US" altLang="zh-CN" sz="2400" b="1" i="1">
                              <a:solidFill>
                                <a:srgbClr val="C00000"/>
                              </a:solidFill>
                              <a:latin typeface="Cambria Math" panose="02040503050406030204" pitchFamily="18" charset="0"/>
                            </a:rPr>
                          </m:ctrlPr>
                        </m:dPr>
                        <m:e>
                          <m:sSubSup>
                            <m:sSubSupPr>
                              <m:ctrlPr>
                                <a:rPr lang="en-US" altLang="zh-CN" sz="2400" b="1" i="1">
                                  <a:solidFill>
                                    <a:srgbClr val="C00000"/>
                                  </a:solidFill>
                                  <a:latin typeface="Cambria Math" panose="02040503050406030204" pitchFamily="18" charset="0"/>
                                </a:rPr>
                              </m:ctrlPr>
                            </m:sSubSupPr>
                            <m:e>
                              <m:r>
                                <a:rPr lang="en-US" altLang="zh-CN" sz="2400" b="1" i="1">
                                  <a:solidFill>
                                    <a:srgbClr val="C00000"/>
                                  </a:solidFill>
                                  <a:latin typeface="Cambria Math" panose="02040503050406030204" pitchFamily="18" charset="0"/>
                                </a:rPr>
                                <m:t>𝒘</m:t>
                              </m:r>
                            </m:e>
                            <m:sub>
                              <m:r>
                                <a:rPr lang="en-US" altLang="zh-CN" sz="2400" b="1" i="1">
                                  <a:solidFill>
                                    <a:srgbClr val="C00000"/>
                                  </a:solidFill>
                                  <a:latin typeface="Cambria Math" panose="02040503050406030204" pitchFamily="18" charset="0"/>
                                </a:rPr>
                                <m:t>𝒊𝒌</m:t>
                              </m:r>
                            </m:sub>
                            <m:sup>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𝒌</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𝟏</m:t>
                                  </m:r>
                                </m:e>
                              </m:d>
                            </m:sup>
                          </m:sSubSup>
                          <m:r>
                            <a:rPr lang="en-US" altLang="zh-CN" sz="2400" b="1" i="1">
                              <a:solidFill>
                                <a:srgbClr val="C00000"/>
                              </a:solidFill>
                              <a:latin typeface="Cambria Math" panose="02040503050406030204" pitchFamily="18" charset="0"/>
                            </a:rPr>
                            <m:t>∧</m:t>
                          </m:r>
                          <m:sSubSup>
                            <m:sSubSupPr>
                              <m:ctrlPr>
                                <a:rPr lang="en-US" altLang="zh-CN" sz="2400" b="1" i="1">
                                  <a:solidFill>
                                    <a:srgbClr val="C00000"/>
                                  </a:solidFill>
                                  <a:latin typeface="Cambria Math" panose="02040503050406030204" pitchFamily="18" charset="0"/>
                                </a:rPr>
                              </m:ctrlPr>
                            </m:sSubSupPr>
                            <m:e>
                              <m:r>
                                <a:rPr lang="en-US" altLang="zh-CN" sz="2400" b="1" i="1">
                                  <a:solidFill>
                                    <a:srgbClr val="C00000"/>
                                  </a:solidFill>
                                  <a:latin typeface="Cambria Math" panose="02040503050406030204" pitchFamily="18" charset="0"/>
                                </a:rPr>
                                <m:t>𝒘</m:t>
                              </m:r>
                            </m:e>
                            <m:sub>
                              <m:r>
                                <a:rPr lang="en-US" altLang="zh-CN" sz="2400" b="1" i="1">
                                  <a:solidFill>
                                    <a:srgbClr val="C00000"/>
                                  </a:solidFill>
                                  <a:latin typeface="Cambria Math" panose="02040503050406030204" pitchFamily="18" charset="0"/>
                                </a:rPr>
                                <m:t>𝒌𝒋</m:t>
                              </m:r>
                            </m:sub>
                            <m:sup>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𝒌</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𝟏</m:t>
                                  </m:r>
                                </m:e>
                              </m:d>
                            </m:sup>
                          </m:sSubSup>
                        </m:e>
                      </m:d>
                    </m:oMath>
                  </m:oMathPara>
                </a14:m>
                <a:endParaRPr lang="zh-CN" altLang="en-US" sz="2400" b="1"/>
              </a:p>
            </p:txBody>
          </p:sp>
        </mc:Choice>
        <mc:Fallback>
          <p:sp>
            <p:nvSpPr>
              <p:cNvPr id="3" name="文本框 2"/>
              <p:cNvSpPr txBox="1">
                <a:spLocks noRot="1" noChangeAspect="1" noMove="1" noResize="1" noEditPoints="1" noAdjustHandles="1" noChangeArrowheads="1" noChangeShapeType="1" noTextEdit="1"/>
              </p:cNvSpPr>
              <p:nvPr/>
            </p:nvSpPr>
            <p:spPr>
              <a:xfrm>
                <a:off x="3724344" y="5119926"/>
                <a:ext cx="4765559" cy="798937"/>
              </a:xfrm>
              <a:prstGeom prst="rect">
                <a:avLst/>
              </a:prstGeom>
              <a:blipFill rotWithShape="1">
                <a:blip r:embed="rId2"/>
                <a:stretch>
                  <a:fillRect l="-1" t="-70" r="12" b="4"/>
                </a:stretch>
              </a:blipFill>
            </p:spPr>
            <p:txBody>
              <a:bodyPr/>
              <a:lstStyle/>
              <a:p>
                <a:r>
                  <a:rPr lang="zh-CN" altLang="en-US">
                    <a:noFill/>
                  </a:rPr>
                  <a:t> </a:t>
                </a:r>
              </a:p>
            </p:txBody>
          </p:sp>
        </mc:Fallback>
      </mc:AlternateContent>
      <p:sp>
        <p:nvSpPr>
          <p:cNvPr id="4" name="箭头: 下 3"/>
          <p:cNvSpPr/>
          <p:nvPr/>
        </p:nvSpPr>
        <p:spPr>
          <a:xfrm>
            <a:off x="5993657" y="4663712"/>
            <a:ext cx="226932" cy="4562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400">
                <a:latin typeface="Arial" panose="020B0604020202020204" pitchFamily="34" charset="0"/>
                <a:ea typeface="楷体" panose="02010609060101010101" pitchFamily="49" charset="-122"/>
                <a:cs typeface="Arial" panose="020B0604020202020204" pitchFamily="34" charset="0"/>
              </a:rPr>
              <a:t>Warshall</a:t>
            </a:r>
            <a:r>
              <a:rPr lang="zh-CN" altLang="en-US" sz="1400">
                <a:latin typeface="楷体" panose="02010609060101010101" pitchFamily="49" charset="-122"/>
                <a:ea typeface="楷体" panose="02010609060101010101" pitchFamily="49" charset="-122"/>
              </a:rPr>
              <a:t>算法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a:t>Warshall</a:t>
            </a:r>
            <a:r>
              <a:rPr lang="zh-CN" altLang="en-US"/>
              <a:t>算法的描述</a:t>
            </a:r>
            <a:endParaRPr lang="zh-CN" altLang="en-US"/>
          </a:p>
        </p:txBody>
      </p:sp>
      <mc:AlternateContent xmlns:mc="http://schemas.openxmlformats.org/markup-compatibility/2006">
        <mc:Choice xmlns:a14="http://schemas.microsoft.com/office/drawing/2010/main" Requires="a14">
          <p:sp>
            <p:nvSpPr>
              <p:cNvPr id="4" name="文本框 3"/>
              <p:cNvSpPr txBox="1"/>
              <p:nvPr/>
            </p:nvSpPr>
            <p:spPr>
              <a:xfrm>
                <a:off x="889927" y="1090616"/>
                <a:ext cx="10412146" cy="2118400"/>
              </a:xfrm>
              <a:prstGeom prst="rect">
                <a:avLst/>
              </a:prstGeom>
              <a:solidFill>
                <a:schemeClr val="accent5">
                  <a:lumMod val="20000"/>
                  <a:lumOff val="80000"/>
                  <a:alpha val="50000"/>
                </a:schemeClr>
              </a:solidFill>
            </p:spPr>
            <p:txBody>
              <a:bodyPr wrap="square" rtlCol="0">
                <a:spAutoFit/>
              </a:bodyPr>
              <a:lstStyle/>
              <a:p>
                <a:pPr>
                  <a:spcBef>
                    <a:spcPts val="600"/>
                  </a:spcBef>
                  <a:spcAft>
                    <a:spcPts val="1200"/>
                  </a:spcAft>
                </a:pPr>
                <a:r>
                  <a:rPr lang="en-US" altLang="zh-CN" sz="2400" b="1">
                    <a:solidFill>
                      <a:schemeClr val="accent2">
                        <a:lumMod val="50000"/>
                      </a:schemeClr>
                    </a:solidFill>
                  </a:rPr>
                  <a:t>Warshall</a:t>
                </a:r>
                <a:r>
                  <a:rPr lang="zh-CN" altLang="en-US" sz="2400" b="1">
                    <a:solidFill>
                      <a:schemeClr val="accent2">
                        <a:lumMod val="50000"/>
                      </a:schemeClr>
                    </a:solidFill>
                  </a:rPr>
                  <a:t>算法关键点在于建立</a:t>
                </a:r>
                <a14:m>
                  <m:oMath xmlns:m="http://schemas.openxmlformats.org/officeDocument/2006/math">
                    <m:sSub>
                      <m:sSubPr>
                        <m:ctrlPr>
                          <a:rPr lang="en-US" altLang="zh-CN" sz="2400" b="1" i="1">
                            <a:solidFill>
                              <a:schemeClr val="accent2">
                                <a:lumMod val="50000"/>
                              </a:schemeClr>
                            </a:solidFill>
                            <a:latin typeface="Cambria Math" panose="02040503050406030204" pitchFamily="18" charset="0"/>
                          </a:rPr>
                        </m:ctrlPr>
                      </m:sSubPr>
                      <m:e>
                        <m:r>
                          <a:rPr lang="en-US" altLang="zh-CN" sz="2400" b="1" i="1">
                            <a:solidFill>
                              <a:schemeClr val="accent2">
                                <a:lumMod val="50000"/>
                              </a:schemeClr>
                            </a:solidFill>
                            <a:latin typeface="Cambria Math" panose="02040503050406030204" pitchFamily="18" charset="0"/>
                          </a:rPr>
                          <m:t>𝑾</m:t>
                        </m:r>
                      </m:e>
                      <m:sub>
                        <m:r>
                          <a:rPr lang="en-US" altLang="zh-CN" sz="2400" b="1" i="1">
                            <a:solidFill>
                              <a:schemeClr val="accent2">
                                <a:lumMod val="50000"/>
                              </a:schemeClr>
                            </a:solidFill>
                            <a:latin typeface="Cambria Math" panose="02040503050406030204" pitchFamily="18" charset="0"/>
                          </a:rPr>
                          <m:t>𝒌</m:t>
                        </m:r>
                      </m:sub>
                    </m:sSub>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sSubSup>
                          <m:sSubSupPr>
                            <m:ctrlPr>
                              <a:rPr lang="en-US" altLang="zh-CN" sz="2400" b="1" i="1">
                                <a:solidFill>
                                  <a:schemeClr val="accent2">
                                    <a:lumMod val="50000"/>
                                  </a:schemeClr>
                                </a:solidFill>
                                <a:latin typeface="Cambria Math" panose="02040503050406030204" pitchFamily="18" charset="0"/>
                              </a:rPr>
                            </m:ctrlPr>
                          </m:sSubSupPr>
                          <m:e>
                            <m:r>
                              <a:rPr lang="en-US" altLang="zh-CN" sz="2400" b="1" i="1">
                                <a:solidFill>
                                  <a:schemeClr val="accent2">
                                    <a:lumMod val="50000"/>
                                  </a:schemeClr>
                                </a:solidFill>
                                <a:latin typeface="Cambria Math" panose="02040503050406030204" pitchFamily="18" charset="0"/>
                              </a:rPr>
                              <m:t>𝒘</m:t>
                            </m:r>
                          </m:e>
                          <m:sub>
                            <m:r>
                              <a:rPr lang="en-US" altLang="zh-CN" sz="2400" b="1" i="1">
                                <a:solidFill>
                                  <a:schemeClr val="accent2">
                                    <a:lumMod val="50000"/>
                                  </a:schemeClr>
                                </a:solidFill>
                                <a:latin typeface="Cambria Math" panose="02040503050406030204" pitchFamily="18" charset="0"/>
                              </a:rPr>
                              <m:t>𝒊𝒋</m:t>
                            </m:r>
                          </m:sub>
                          <m:sup>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𝒌</m:t>
                                </m:r>
                              </m:e>
                            </m:d>
                          </m:sup>
                        </m:sSubSup>
                      </m:e>
                    </m:d>
                  </m:oMath>
                </a14:m>
                <a:r>
                  <a:rPr lang="zh-CN" altLang="en-US" sz="2400" b="1">
                    <a:solidFill>
                      <a:schemeClr val="accent2">
                        <a:lumMod val="50000"/>
                      </a:schemeClr>
                    </a:solidFill>
                  </a:rPr>
                  <a:t>和</a:t>
                </a:r>
                <a14:m>
                  <m:oMath xmlns:m="http://schemas.openxmlformats.org/officeDocument/2006/math">
                    <m:sSub>
                      <m:sSubPr>
                        <m:ctrlPr>
                          <a:rPr lang="en-US" altLang="zh-CN" sz="2400" b="1" i="1">
                            <a:solidFill>
                              <a:schemeClr val="accent2">
                                <a:lumMod val="50000"/>
                              </a:schemeClr>
                            </a:solidFill>
                            <a:latin typeface="Cambria Math" panose="02040503050406030204" pitchFamily="18" charset="0"/>
                          </a:rPr>
                        </m:ctrlPr>
                      </m:sSubPr>
                      <m:e>
                        <m:r>
                          <a:rPr lang="en-US" altLang="zh-CN" sz="2400" b="1" i="1">
                            <a:solidFill>
                              <a:schemeClr val="accent2">
                                <a:lumMod val="50000"/>
                              </a:schemeClr>
                            </a:solidFill>
                            <a:latin typeface="Cambria Math" panose="02040503050406030204" pitchFamily="18" charset="0"/>
                          </a:rPr>
                          <m:t>𝑾</m:t>
                        </m:r>
                      </m:e>
                      <m:sub>
                        <m:r>
                          <a:rPr lang="en-US" altLang="zh-CN" sz="2400" b="1" i="1">
                            <a:solidFill>
                              <a:schemeClr val="accent2">
                                <a:lumMod val="50000"/>
                              </a:schemeClr>
                            </a:solidFill>
                            <a:latin typeface="Cambria Math" panose="02040503050406030204" pitchFamily="18" charset="0"/>
                          </a:rPr>
                          <m:t>𝒌</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𝟏</m:t>
                        </m:r>
                      </m:sub>
                    </m:sSub>
                    <m:r>
                      <a:rPr lang="en-US" altLang="zh-CN" sz="2400" b="1" i="1">
                        <a:solidFill>
                          <a:schemeClr val="accent2">
                            <a:lumMod val="50000"/>
                          </a:schemeClr>
                        </a:solidFill>
                        <a:latin typeface="Cambria Math" panose="02040503050406030204" pitchFamily="18" charset="0"/>
                      </a:rPr>
                      <m:t>=</m:t>
                    </m:r>
                    <m:d>
                      <m:dPr>
                        <m:begChr m:val="["/>
                        <m:endChr m:val="]"/>
                        <m:ctrlPr>
                          <a:rPr lang="en-US" altLang="zh-CN" sz="2400" b="1" i="1">
                            <a:solidFill>
                              <a:schemeClr val="accent2">
                                <a:lumMod val="50000"/>
                              </a:schemeClr>
                            </a:solidFill>
                            <a:latin typeface="Cambria Math" panose="02040503050406030204" pitchFamily="18" charset="0"/>
                          </a:rPr>
                        </m:ctrlPr>
                      </m:dPr>
                      <m:e>
                        <m:sSubSup>
                          <m:sSubSupPr>
                            <m:ctrlPr>
                              <a:rPr lang="en-US" altLang="zh-CN" sz="2400" b="1" i="1">
                                <a:solidFill>
                                  <a:schemeClr val="accent2">
                                    <a:lumMod val="50000"/>
                                  </a:schemeClr>
                                </a:solidFill>
                                <a:latin typeface="Cambria Math" panose="02040503050406030204" pitchFamily="18" charset="0"/>
                              </a:rPr>
                            </m:ctrlPr>
                          </m:sSubSupPr>
                          <m:e>
                            <m:r>
                              <a:rPr lang="en-US" altLang="zh-CN" sz="2400" b="1" i="1">
                                <a:solidFill>
                                  <a:schemeClr val="accent2">
                                    <a:lumMod val="50000"/>
                                  </a:schemeClr>
                                </a:solidFill>
                                <a:latin typeface="Cambria Math" panose="02040503050406030204" pitchFamily="18" charset="0"/>
                              </a:rPr>
                              <m:t>𝒘</m:t>
                            </m:r>
                          </m:e>
                          <m:sub>
                            <m:r>
                              <a:rPr lang="en-US" altLang="zh-CN" sz="2400" b="1" i="1">
                                <a:solidFill>
                                  <a:schemeClr val="accent2">
                                    <a:lumMod val="50000"/>
                                  </a:schemeClr>
                                </a:solidFill>
                                <a:latin typeface="Cambria Math" panose="02040503050406030204" pitchFamily="18" charset="0"/>
                              </a:rPr>
                              <m:t>𝒊𝒋</m:t>
                            </m:r>
                          </m:sub>
                          <m:sup>
                            <m:d>
                              <m:dPr>
                                <m:begChr m:val="["/>
                                <m:endChr m:val="]"/>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𝒌</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𝟏</m:t>
                                </m:r>
                              </m:e>
                            </m:d>
                          </m:sup>
                        </m:sSubSup>
                      </m:e>
                    </m:d>
                  </m:oMath>
                </a14:m>
                <a:r>
                  <a:rPr lang="zh-CN" altLang="en-US" sz="2400" b="1">
                    <a:solidFill>
                      <a:schemeClr val="accent2">
                        <a:lumMod val="50000"/>
                      </a:schemeClr>
                    </a:solidFill>
                  </a:rPr>
                  <a:t>之间的递推关系</a:t>
                </a:r>
                <a:endParaRPr lang="zh-CN" altLang="en-US" sz="2400" b="1">
                  <a:solidFill>
                    <a:schemeClr val="accent2">
                      <a:lumMod val="50000"/>
                    </a:schemeClr>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sSubSup>
                        <m:sSubSupPr>
                          <m:ctrlPr>
                            <a:rPr lang="en-US" altLang="zh-CN" sz="2400" b="1" i="1">
                              <a:solidFill>
                                <a:srgbClr val="C00000"/>
                              </a:solidFill>
                              <a:latin typeface="Cambria Math" panose="02040503050406030204" pitchFamily="18" charset="0"/>
                            </a:rPr>
                          </m:ctrlPr>
                        </m:sSubSupPr>
                        <m:e>
                          <m:r>
                            <a:rPr lang="en-US" altLang="zh-CN" sz="2400" b="1" i="1">
                              <a:solidFill>
                                <a:srgbClr val="C00000"/>
                              </a:solidFill>
                              <a:latin typeface="Cambria Math" panose="02040503050406030204" pitchFamily="18" charset="0"/>
                            </a:rPr>
                            <m:t>𝒘</m:t>
                          </m:r>
                        </m:e>
                        <m:sub>
                          <m:r>
                            <a:rPr lang="en-US" altLang="zh-CN" sz="2400" b="1" i="1">
                              <a:solidFill>
                                <a:srgbClr val="C00000"/>
                              </a:solidFill>
                              <a:latin typeface="Cambria Math" panose="02040503050406030204" pitchFamily="18" charset="0"/>
                            </a:rPr>
                            <m:t>𝒊𝒋</m:t>
                          </m:r>
                        </m:sub>
                        <m:sup>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𝒌</m:t>
                              </m:r>
                            </m:e>
                          </m:d>
                        </m:sup>
                      </m:sSubSup>
                      <m:r>
                        <a:rPr lang="en-US" altLang="zh-CN" sz="2400" b="1" i="1">
                          <a:solidFill>
                            <a:srgbClr val="C00000"/>
                          </a:solidFill>
                          <a:latin typeface="Cambria Math" panose="02040503050406030204" pitchFamily="18" charset="0"/>
                        </a:rPr>
                        <m:t>= </m:t>
                      </m:r>
                      <m:sSubSup>
                        <m:sSubSupPr>
                          <m:ctrlPr>
                            <a:rPr lang="en-US" altLang="zh-CN" sz="2400" b="1" i="1">
                              <a:solidFill>
                                <a:srgbClr val="C00000"/>
                              </a:solidFill>
                              <a:latin typeface="Cambria Math" panose="02040503050406030204" pitchFamily="18" charset="0"/>
                            </a:rPr>
                          </m:ctrlPr>
                        </m:sSubSupPr>
                        <m:e>
                          <m:r>
                            <a:rPr lang="en-US" altLang="zh-CN" sz="2400" b="1" i="1">
                              <a:solidFill>
                                <a:srgbClr val="C00000"/>
                              </a:solidFill>
                              <a:latin typeface="Cambria Math" panose="02040503050406030204" pitchFamily="18" charset="0"/>
                            </a:rPr>
                            <m:t>𝒘</m:t>
                          </m:r>
                        </m:e>
                        <m:sub>
                          <m:r>
                            <a:rPr lang="en-US" altLang="zh-CN" sz="2400" b="1" i="1">
                              <a:solidFill>
                                <a:srgbClr val="C00000"/>
                              </a:solidFill>
                              <a:latin typeface="Cambria Math" panose="02040503050406030204" pitchFamily="18" charset="0"/>
                            </a:rPr>
                            <m:t>𝒊𝒋</m:t>
                          </m:r>
                        </m:sub>
                        <m:sup>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𝒌</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𝟏</m:t>
                              </m:r>
                            </m:e>
                          </m:d>
                        </m:sup>
                      </m:sSubSup>
                      <m:r>
                        <a:rPr lang="en-US" altLang="zh-CN" sz="2400" b="1" i="1">
                          <a:solidFill>
                            <a:srgbClr val="C00000"/>
                          </a:solidFill>
                          <a:latin typeface="Cambria Math" panose="02040503050406030204" pitchFamily="18" charset="0"/>
                        </a:rPr>
                        <m:t>∨</m:t>
                      </m:r>
                      <m:d>
                        <m:dPr>
                          <m:ctrlPr>
                            <a:rPr lang="en-US" altLang="zh-CN" sz="2400" b="1" i="1">
                              <a:solidFill>
                                <a:srgbClr val="C00000"/>
                              </a:solidFill>
                              <a:latin typeface="Cambria Math" panose="02040503050406030204" pitchFamily="18" charset="0"/>
                            </a:rPr>
                          </m:ctrlPr>
                        </m:dPr>
                        <m:e>
                          <m:sSubSup>
                            <m:sSubSupPr>
                              <m:ctrlPr>
                                <a:rPr lang="en-US" altLang="zh-CN" sz="2400" b="1" i="1">
                                  <a:solidFill>
                                    <a:srgbClr val="C00000"/>
                                  </a:solidFill>
                                  <a:latin typeface="Cambria Math" panose="02040503050406030204" pitchFamily="18" charset="0"/>
                                </a:rPr>
                              </m:ctrlPr>
                            </m:sSubSupPr>
                            <m:e>
                              <m:r>
                                <a:rPr lang="en-US" altLang="zh-CN" sz="2400" b="1" i="1">
                                  <a:solidFill>
                                    <a:srgbClr val="C00000"/>
                                  </a:solidFill>
                                  <a:latin typeface="Cambria Math" panose="02040503050406030204" pitchFamily="18" charset="0"/>
                                </a:rPr>
                                <m:t>𝒘</m:t>
                              </m:r>
                            </m:e>
                            <m:sub>
                              <m:r>
                                <a:rPr lang="en-US" altLang="zh-CN" sz="2400" b="1" i="1">
                                  <a:solidFill>
                                    <a:srgbClr val="C00000"/>
                                  </a:solidFill>
                                  <a:latin typeface="Cambria Math" panose="02040503050406030204" pitchFamily="18" charset="0"/>
                                </a:rPr>
                                <m:t>𝒊𝒌</m:t>
                              </m:r>
                            </m:sub>
                            <m:sup>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𝒌</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𝟏</m:t>
                                  </m:r>
                                </m:e>
                              </m:d>
                            </m:sup>
                          </m:sSubSup>
                          <m:r>
                            <a:rPr lang="en-US" altLang="zh-CN" sz="2400" b="1" i="1">
                              <a:solidFill>
                                <a:srgbClr val="C00000"/>
                              </a:solidFill>
                              <a:latin typeface="Cambria Math" panose="02040503050406030204" pitchFamily="18" charset="0"/>
                            </a:rPr>
                            <m:t>∧</m:t>
                          </m:r>
                          <m:sSubSup>
                            <m:sSubSupPr>
                              <m:ctrlPr>
                                <a:rPr lang="en-US" altLang="zh-CN" sz="2400" b="1" i="1">
                                  <a:solidFill>
                                    <a:srgbClr val="C00000"/>
                                  </a:solidFill>
                                  <a:latin typeface="Cambria Math" panose="02040503050406030204" pitchFamily="18" charset="0"/>
                                </a:rPr>
                              </m:ctrlPr>
                            </m:sSubSupPr>
                            <m:e>
                              <m:r>
                                <a:rPr lang="en-US" altLang="zh-CN" sz="2400" b="1" i="1">
                                  <a:solidFill>
                                    <a:srgbClr val="C00000"/>
                                  </a:solidFill>
                                  <a:latin typeface="Cambria Math" panose="02040503050406030204" pitchFamily="18" charset="0"/>
                                </a:rPr>
                                <m:t>𝒘</m:t>
                              </m:r>
                            </m:e>
                            <m:sub>
                              <m:r>
                                <a:rPr lang="en-US" altLang="zh-CN" sz="2400" b="1" i="1">
                                  <a:solidFill>
                                    <a:srgbClr val="C00000"/>
                                  </a:solidFill>
                                  <a:latin typeface="Cambria Math" panose="02040503050406030204" pitchFamily="18" charset="0"/>
                                </a:rPr>
                                <m:t>𝒌𝒋</m:t>
                              </m:r>
                            </m:sub>
                            <m:sup>
                              <m:d>
                                <m:dPr>
                                  <m:begChr m:val="["/>
                                  <m:endChr m:val="]"/>
                                  <m:ctrlPr>
                                    <a:rPr lang="en-US" altLang="zh-CN" sz="2400" b="1" i="1">
                                      <a:solidFill>
                                        <a:srgbClr val="C00000"/>
                                      </a:solidFill>
                                      <a:latin typeface="Cambria Math" panose="02040503050406030204" pitchFamily="18" charset="0"/>
                                    </a:rPr>
                                  </m:ctrlPr>
                                </m:dPr>
                                <m:e>
                                  <m:r>
                                    <a:rPr lang="en-US" altLang="zh-CN" sz="2400" b="1" i="1">
                                      <a:solidFill>
                                        <a:srgbClr val="C00000"/>
                                      </a:solidFill>
                                      <a:latin typeface="Cambria Math" panose="02040503050406030204" pitchFamily="18" charset="0"/>
                                    </a:rPr>
                                    <m:t>𝒌</m:t>
                                  </m:r>
                                  <m:r>
                                    <a:rPr lang="en-US" altLang="zh-CN" sz="2400" b="1" i="1">
                                      <a:solidFill>
                                        <a:srgbClr val="C00000"/>
                                      </a:solidFill>
                                      <a:latin typeface="Cambria Math" panose="02040503050406030204" pitchFamily="18" charset="0"/>
                                    </a:rPr>
                                    <m:t>−</m:t>
                                  </m:r>
                                  <m:r>
                                    <a:rPr lang="en-US" altLang="zh-CN" sz="2400" b="1" i="1">
                                      <a:solidFill>
                                        <a:srgbClr val="C00000"/>
                                      </a:solidFill>
                                      <a:latin typeface="Cambria Math" panose="02040503050406030204" pitchFamily="18" charset="0"/>
                                    </a:rPr>
                                    <m:t>𝟏</m:t>
                                  </m:r>
                                </m:e>
                              </m:d>
                            </m:sup>
                          </m:sSubSup>
                        </m:e>
                      </m:d>
                    </m:oMath>
                  </m:oMathPara>
                </a14:m>
                <a:endParaRPr lang="en-US" altLang="zh-CN" sz="2400"/>
              </a:p>
              <a:p>
                <a:pPr marL="342900" indent="-342900">
                  <a:spcBef>
                    <a:spcPts val="600"/>
                  </a:spcBef>
                  <a:spcAft>
                    <a:spcPts val="600"/>
                  </a:spcAft>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利用这个递推关系就可从</a:t>
                </a:r>
                <a14:m>
                  <m:oMath xmlns:m="http://schemas.openxmlformats.org/officeDocument/2006/math">
                    <m:r>
                      <a:rPr lang="en-US" altLang="zh-CN" sz="2000" b="1" i="1" smtClean="0">
                        <a:solidFill>
                          <a:srgbClr val="002060"/>
                        </a:solidFill>
                        <a:latin typeface="Cambria Math" panose="02040503050406030204" pitchFamily="18" charset="0"/>
                      </a:rPr>
                      <m:t>𝑹</m:t>
                    </m:r>
                  </m:oMath>
                </a14:m>
                <a:r>
                  <a:rPr lang="zh-CN" altLang="en-US" sz="2000" b="1">
                    <a:solidFill>
                      <a:srgbClr val="002060"/>
                    </a:solidFill>
                    <a:latin typeface="楷体" panose="02010609060101010101" pitchFamily="49" charset="-122"/>
                    <a:ea typeface="楷体" panose="02010609060101010101" pitchFamily="49" charset="-122"/>
                  </a:rPr>
                  <a:t>的关系矩阵</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𝑾</m:t>
                        </m:r>
                      </m:e>
                      <m:sub>
                        <m:r>
                          <a:rPr lang="en-US" altLang="zh-CN" sz="2000" b="1" i="1" smtClean="0">
                            <a:solidFill>
                              <a:srgbClr val="002060"/>
                            </a:solidFill>
                            <a:latin typeface="Cambria Math" panose="02040503050406030204" pitchFamily="18" charset="0"/>
                          </a:rPr>
                          <m:t>𝟎</m:t>
                        </m:r>
                      </m:sub>
                    </m:sSub>
                  </m:oMath>
                </a14:m>
                <a:r>
                  <a:rPr lang="zh-CN" altLang="en-US" sz="2000" b="1">
                    <a:solidFill>
                      <a:srgbClr val="002060"/>
                    </a:solidFill>
                    <a:latin typeface="楷体" panose="02010609060101010101" pitchFamily="49" charset="-122"/>
                    <a:ea typeface="楷体" panose="02010609060101010101" pitchFamily="49" charset="-122"/>
                  </a:rPr>
                  <a:t>开始计算</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𝑾</m:t>
                        </m:r>
                      </m:e>
                      <m:sub>
                        <m:r>
                          <a:rPr lang="en-US" altLang="zh-CN" sz="2000" b="1" i="1">
                            <a:solidFill>
                              <a:srgbClr val="002060"/>
                            </a:solidFill>
                            <a:latin typeface="Cambria Math" panose="02040503050406030204" pitchFamily="18" charset="0"/>
                          </a:rPr>
                          <m:t>𝟏</m:t>
                        </m:r>
                      </m:sub>
                    </m:sSub>
                    <m:r>
                      <a:rPr lang="en-US" altLang="zh-CN" sz="2000" b="1" i="1">
                        <a:solidFill>
                          <a:srgbClr val="002060"/>
                        </a:solidFill>
                        <a:latin typeface="Cambria Math" panose="02040503050406030204" pitchFamily="18" charset="0"/>
                      </a:rPr>
                      <m:t>,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𝑾</m:t>
                        </m:r>
                      </m:e>
                      <m:sub>
                        <m:r>
                          <a:rPr lang="en-US" altLang="zh-CN" sz="2000" b="1" i="1">
                            <a:solidFill>
                              <a:srgbClr val="002060"/>
                            </a:solidFill>
                            <a:latin typeface="Cambria Math" panose="02040503050406030204" pitchFamily="18" charset="0"/>
                          </a:rPr>
                          <m:t>𝟐</m:t>
                        </m:r>
                      </m:sub>
                    </m:sSub>
                    <m:r>
                      <a:rPr lang="en-US" altLang="zh-CN" sz="2000" b="1" i="1">
                        <a:solidFill>
                          <a:srgbClr val="002060"/>
                        </a:solidFill>
                        <a:latin typeface="Cambria Math" panose="02040503050406030204" pitchFamily="18" charset="0"/>
                      </a:rPr>
                      <m:t>, ⋯, </m:t>
                    </m:r>
                    <m:sSub>
                      <m:sSubPr>
                        <m:ctrlPr>
                          <a:rPr lang="en-US" altLang="zh-CN" sz="2000" b="1" i="1">
                            <a:solidFill>
                              <a:srgbClr val="002060"/>
                            </a:solidFill>
                            <a:latin typeface="Cambria Math" panose="02040503050406030204" pitchFamily="18" charset="0"/>
                          </a:rPr>
                        </m:ctrlPr>
                      </m:sSubPr>
                      <m:e>
                        <m:r>
                          <a:rPr lang="en-US" altLang="zh-CN" sz="2000" b="1" i="1">
                            <a:solidFill>
                              <a:srgbClr val="002060"/>
                            </a:solidFill>
                            <a:latin typeface="Cambria Math" panose="02040503050406030204" pitchFamily="18" charset="0"/>
                          </a:rPr>
                          <m:t>𝑾</m:t>
                        </m:r>
                      </m:e>
                      <m:sub>
                        <m:r>
                          <a:rPr lang="en-US" altLang="zh-CN" sz="2000" b="1" i="1" smtClean="0">
                            <a:solidFill>
                              <a:srgbClr val="002060"/>
                            </a:solidFill>
                            <a:latin typeface="Cambria Math" panose="02040503050406030204" pitchFamily="18" charset="0"/>
                          </a:rPr>
                          <m:t>𝒏</m:t>
                        </m:r>
                      </m:sub>
                    </m:sSub>
                  </m:oMath>
                </a14:m>
                <a:r>
                  <a:rPr lang="zh-CN" altLang="en-US" sz="2000" b="1">
                    <a:solidFill>
                      <a:srgbClr val="002060"/>
                    </a:solidFill>
                    <a:latin typeface="楷体" panose="02010609060101010101" pitchFamily="49" charset="-122"/>
                    <a:ea typeface="楷体" panose="02010609060101010101" pitchFamily="49" charset="-122"/>
                  </a:rPr>
                  <a:t>，最后的</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𝑾</m:t>
                        </m:r>
                      </m:e>
                      <m:sub>
                        <m:r>
                          <a:rPr lang="en-US" altLang="zh-CN" sz="2000" b="1" i="1" smtClean="0">
                            <a:solidFill>
                              <a:srgbClr val="002060"/>
                            </a:solidFill>
                            <a:latin typeface="Cambria Math" panose="02040503050406030204" pitchFamily="18" charset="0"/>
                          </a:rPr>
                          <m:t>𝒏</m:t>
                        </m:r>
                      </m:sub>
                    </m:sSub>
                  </m:oMath>
                </a14:m>
                <a:r>
                  <a:rPr lang="zh-CN" altLang="en-US" sz="2000" b="1">
                    <a:solidFill>
                      <a:srgbClr val="002060"/>
                    </a:solidFill>
                    <a:latin typeface="楷体" panose="02010609060101010101" pitchFamily="49" charset="-122"/>
                    <a:ea typeface="楷体" panose="02010609060101010101" pitchFamily="49" charset="-122"/>
                  </a:rPr>
                  <a:t>就是关系</a:t>
                </a:r>
                <a14:m>
                  <m:oMath xmlns:m="http://schemas.openxmlformats.org/officeDocument/2006/math">
                    <m:r>
                      <a:rPr lang="en-US" altLang="zh-CN" sz="2000" b="1" i="1" smtClean="0">
                        <a:solidFill>
                          <a:srgbClr val="002060"/>
                        </a:solidFill>
                        <a:latin typeface="Cambria Math" panose="02040503050406030204" pitchFamily="18" charset="0"/>
                      </a:rPr>
                      <m:t>𝑹</m:t>
                    </m:r>
                  </m:oMath>
                </a14:m>
                <a:r>
                  <a:rPr lang="zh-CN" altLang="en-US" sz="2000" b="1">
                    <a:solidFill>
                      <a:srgbClr val="002060"/>
                    </a:solidFill>
                    <a:latin typeface="楷体" panose="02010609060101010101" pitchFamily="49" charset="-122"/>
                    <a:ea typeface="楷体" panose="02010609060101010101" pitchFamily="49" charset="-122"/>
                  </a:rPr>
                  <a:t>传递闭包的关系矩阵</a:t>
                </a:r>
                <a:endParaRPr lang="zh-CN" altLang="en-US" sz="2000" b="1">
                  <a:solidFill>
                    <a:srgbClr val="002060"/>
                  </a:solidFill>
                  <a:latin typeface="楷体" panose="02010609060101010101" pitchFamily="49" charset="-122"/>
                  <a:ea typeface="楷体" panose="02010609060101010101" pitchFamily="49" charset="-122"/>
                </a:endParaRPr>
              </a:p>
            </p:txBody>
          </p:sp>
        </mc:Choice>
        <mc:Fallback>
          <p:sp>
            <p:nvSpPr>
              <p:cNvPr id="4" name="文本框 3"/>
              <p:cNvSpPr txBox="1">
                <a:spLocks noRot="1" noChangeAspect="1" noMove="1" noResize="1" noEditPoints="1" noAdjustHandles="1" noChangeArrowheads="1" noChangeShapeType="1" noTextEdit="1"/>
              </p:cNvSpPr>
              <p:nvPr/>
            </p:nvSpPr>
            <p:spPr>
              <a:xfrm>
                <a:off x="889927" y="1090616"/>
                <a:ext cx="10412146" cy="2118400"/>
              </a:xfrm>
              <a:prstGeom prst="rect">
                <a:avLst/>
              </a:prstGeom>
              <a:blipFill rotWithShape="1">
                <a:blip r:embed="rId1"/>
                <a:stretch>
                  <a:fillRect l="-3" t="-15" r="3" b="17"/>
                </a:stretch>
              </a:blipFill>
            </p:spPr>
            <p:txBody>
              <a:bodyPr/>
              <a:lstStyle/>
              <a:p>
                <a:r>
                  <a:rPr lang="zh-CN" altLang="en-US">
                    <a:noFill/>
                  </a:rPr>
                  <a:t> </a:t>
                </a:r>
              </a:p>
            </p:txBody>
          </p:sp>
        </mc:Fallback>
      </mc:AlternateContent>
      <p:pic>
        <p:nvPicPr>
          <p:cNvPr id="6" name="图片 5"/>
          <p:cNvPicPr>
            <a:picLocks noChangeAspect="1"/>
          </p:cNvPicPr>
          <p:nvPr/>
        </p:nvPicPr>
        <p:blipFill>
          <a:blip r:embed="rId2"/>
          <a:stretch>
            <a:fillRect/>
          </a:stretch>
        </p:blipFill>
        <p:spPr>
          <a:xfrm>
            <a:off x="889927" y="3302184"/>
            <a:ext cx="5791964" cy="3125314"/>
          </a:xfrm>
          <a:prstGeom prst="rect">
            <a:avLst/>
          </a:prstGeom>
        </p:spPr>
      </p:pic>
      <mc:AlternateContent xmlns:mc="http://schemas.openxmlformats.org/markup-compatibility/2006">
        <mc:Choice xmlns:a14="http://schemas.microsoft.com/office/drawing/2010/main" Requires="a14">
          <p:sp>
            <p:nvSpPr>
              <p:cNvPr id="11" name="文本框 10"/>
              <p:cNvSpPr txBox="1"/>
              <p:nvPr/>
            </p:nvSpPr>
            <p:spPr>
              <a:xfrm>
                <a:off x="3392246" y="4312158"/>
                <a:ext cx="545681" cy="276999"/>
              </a:xfrm>
              <a:prstGeom prst="rect">
                <a:avLst/>
              </a:prstGeom>
              <a:solidFill>
                <a:schemeClr val="accent4">
                  <a:lumMod val="20000"/>
                  <a:lumOff val="80000"/>
                </a:schemeClr>
              </a:solidFill>
            </p:spPr>
            <p:txBody>
              <a:bodyPr wrap="square" t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𝑾</m:t>
                          </m:r>
                        </m:e>
                        <m:sub>
                          <m:r>
                            <a:rPr lang="en-US" altLang="zh-CN" b="1" i="1" smtClean="0">
                              <a:solidFill>
                                <a:schemeClr val="accent2">
                                  <a:lumMod val="50000"/>
                                </a:schemeClr>
                              </a:solidFill>
                              <a:latin typeface="Cambria Math" panose="02040503050406030204" pitchFamily="18" charset="0"/>
                            </a:rPr>
                            <m:t>𝟎</m:t>
                          </m:r>
                        </m:sub>
                      </m:sSub>
                    </m:oMath>
                  </m:oMathPara>
                </a14:m>
                <a:endParaRPr lang="zh-CN" altLang="en-US" b="1">
                  <a:solidFill>
                    <a:schemeClr val="accent2">
                      <a:lumMod val="50000"/>
                    </a:schemeClr>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3392246" y="4312158"/>
                <a:ext cx="545681" cy="276999"/>
              </a:xfrm>
              <a:prstGeom prst="rect">
                <a:avLst/>
              </a:prstGeom>
              <a:blipFill rotWithShape="1">
                <a:blip r:embed="rId3"/>
                <a:stretch>
                  <a:fillRect l="-14" t="-183" r="54"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3937927" y="4647768"/>
                <a:ext cx="2943433" cy="553998"/>
              </a:xfrm>
              <a:prstGeom prst="rect">
                <a:avLst/>
              </a:prstGeom>
              <a:solidFill>
                <a:schemeClr val="accent4">
                  <a:lumMod val="20000"/>
                  <a:lumOff val="80000"/>
                </a:schemeClr>
              </a:solidFill>
            </p:spPr>
            <p:txBody>
              <a:bodyPr wrap="square" tIns="0" bIns="0" rtlCol="0">
                <a:spAutoFit/>
              </a:bodyPr>
              <a:lstStyle/>
              <a:p>
                <a:r>
                  <a:rPr lang="zh-CN" altLang="en-US" b="1">
                    <a:solidFill>
                      <a:schemeClr val="accent2">
                        <a:lumMod val="50000"/>
                      </a:schemeClr>
                    </a:solidFill>
                  </a:rPr>
                  <a:t>每次循环体执行后分别得到</a:t>
                </a:r>
                <a:endParaRPr lang="en-US" altLang="zh-CN" b="1">
                  <a:solidFill>
                    <a:schemeClr val="accent2">
                      <a:lumMod val="50000"/>
                    </a:schemeClr>
                  </a:solidFill>
                </a:endParaRPr>
              </a:p>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𝑾</m:t>
                          </m:r>
                        </m:e>
                        <m:sub>
                          <m:r>
                            <a:rPr lang="en-US" altLang="zh-CN" b="1" i="1" smtClean="0">
                              <a:solidFill>
                                <a:schemeClr val="accent2">
                                  <a:lumMod val="50000"/>
                                </a:schemeClr>
                              </a:solidFill>
                              <a:latin typeface="Cambria Math" panose="02040503050406030204" pitchFamily="18" charset="0"/>
                            </a:rPr>
                            <m:t>𝟏</m:t>
                          </m:r>
                        </m:sub>
                      </m:sSub>
                      <m:r>
                        <a:rPr lang="en-US" altLang="zh-CN" b="1" i="1" smtClean="0">
                          <a:solidFill>
                            <a:schemeClr val="accent2">
                              <a:lumMod val="50000"/>
                            </a:schemeClr>
                          </a:solidFill>
                          <a:latin typeface="Cambria Math" panose="02040503050406030204" pitchFamily="18" charset="0"/>
                        </a:rPr>
                        <m:t>, ⋯, </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𝑾</m:t>
                          </m:r>
                        </m:e>
                        <m:sub>
                          <m:r>
                            <a:rPr lang="en-US" altLang="zh-CN" b="1" i="1" smtClean="0">
                              <a:solidFill>
                                <a:schemeClr val="accent2">
                                  <a:lumMod val="50000"/>
                                </a:schemeClr>
                              </a:solidFill>
                              <a:latin typeface="Cambria Math" panose="02040503050406030204" pitchFamily="18" charset="0"/>
                            </a:rPr>
                            <m:t>𝒌</m:t>
                          </m:r>
                        </m:sub>
                      </m:sSub>
                      <m:r>
                        <a:rPr lang="en-US" altLang="zh-CN" b="1" i="1" smtClean="0">
                          <a:solidFill>
                            <a:schemeClr val="accent2">
                              <a:lumMod val="50000"/>
                            </a:schemeClr>
                          </a:solidFill>
                          <a:latin typeface="Cambria Math" panose="02040503050406030204" pitchFamily="18" charset="0"/>
                        </a:rPr>
                        <m:t>, ⋯, </m:t>
                      </m:r>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𝑾</m:t>
                          </m:r>
                        </m:e>
                        <m:sub>
                          <m:r>
                            <a:rPr lang="en-US" altLang="zh-CN" b="1" i="1" smtClean="0">
                              <a:solidFill>
                                <a:schemeClr val="accent2">
                                  <a:lumMod val="50000"/>
                                </a:schemeClr>
                              </a:solidFill>
                              <a:latin typeface="Cambria Math" panose="02040503050406030204" pitchFamily="18" charset="0"/>
                            </a:rPr>
                            <m:t>𝒏</m:t>
                          </m:r>
                        </m:sub>
                      </m:sSub>
                    </m:oMath>
                  </m:oMathPara>
                </a14:m>
                <a:endParaRPr lang="zh-CN" altLang="en-US" b="1">
                  <a:solidFill>
                    <a:schemeClr val="accent2">
                      <a:lumMod val="50000"/>
                    </a:schemeClr>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3937927" y="4647768"/>
                <a:ext cx="2943433" cy="553998"/>
              </a:xfrm>
              <a:prstGeom prst="rect">
                <a:avLst/>
              </a:prstGeom>
              <a:blipFill rotWithShape="1">
                <a:blip r:embed="rId4"/>
                <a:stretch>
                  <a:fillRect l="-10" t="-37" r="17" b="8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448689" y="3387405"/>
                <a:ext cx="3604204" cy="1373646"/>
              </a:xfrm>
              <a:prstGeom prst="rect">
                <a:avLst/>
              </a:prstGeom>
              <a:solidFill>
                <a:schemeClr val="accent2">
                  <a:lumMod val="20000"/>
                  <a:lumOff val="80000"/>
                </a:schemeClr>
              </a:solidFill>
            </p:spPr>
            <p:txBody>
              <a:bodyPr wrap="square" rtlCol="0">
                <a:spAutoFit/>
              </a:bodyPr>
              <a:lstStyle/>
              <a:p>
                <a:pPr>
                  <a:lnSpc>
                    <a:spcPts val="2400"/>
                  </a:lnSpc>
                  <a:spcBef>
                    <a:spcPts val="600"/>
                  </a:spcBef>
                </a:pPr>
                <a:r>
                  <a:rPr lang="en-US" altLang="zh-CN" b="1">
                    <a:solidFill>
                      <a:schemeClr val="accent2">
                        <a:lumMod val="50000"/>
                      </a:schemeClr>
                    </a:solidFill>
                  </a:rPr>
                  <a:t>Warshall</a:t>
                </a:r>
                <a:r>
                  <a:rPr lang="zh-CN" altLang="en-US" b="1">
                    <a:solidFill>
                      <a:schemeClr val="accent2">
                        <a:lumMod val="50000"/>
                      </a:schemeClr>
                    </a:solidFill>
                  </a:rPr>
                  <a:t>算法中计算次数最多的仍是逻辑与运算，但只需</a:t>
                </a:r>
                <a14:m>
                  <m:oMath xmlns:m="http://schemas.openxmlformats.org/officeDocument/2006/math">
                    <m:sSup>
                      <m:sSupPr>
                        <m:ctrlPr>
                          <a:rPr lang="en-US" altLang="zh-CN" b="1" i="1" smtClean="0">
                            <a:solidFill>
                              <a:schemeClr val="accent2">
                                <a:lumMod val="50000"/>
                              </a:schemeClr>
                            </a:solidFill>
                            <a:latin typeface="Cambria Math" panose="02040503050406030204" pitchFamily="18" charset="0"/>
                          </a:rPr>
                        </m:ctrlPr>
                      </m:sSupPr>
                      <m:e>
                        <m:r>
                          <a:rPr lang="en-US" altLang="zh-CN" b="1" i="1" smtClean="0">
                            <a:solidFill>
                              <a:schemeClr val="accent2">
                                <a:lumMod val="50000"/>
                              </a:schemeClr>
                            </a:solidFill>
                            <a:latin typeface="Cambria Math" panose="02040503050406030204" pitchFamily="18" charset="0"/>
                          </a:rPr>
                          <m:t>𝒏</m:t>
                        </m:r>
                      </m:e>
                      <m:sup>
                        <m:r>
                          <a:rPr lang="en-US" altLang="zh-CN" b="1" i="1" smtClean="0">
                            <a:solidFill>
                              <a:schemeClr val="accent2">
                                <a:lumMod val="50000"/>
                              </a:schemeClr>
                            </a:solidFill>
                            <a:latin typeface="Cambria Math" panose="02040503050406030204" pitchFamily="18" charset="0"/>
                          </a:rPr>
                          <m:t>𝟑</m:t>
                        </m:r>
                      </m:sup>
                    </m:sSup>
                  </m:oMath>
                </a14:m>
                <a:r>
                  <a:rPr lang="zh-CN" altLang="en-US" b="1">
                    <a:solidFill>
                      <a:schemeClr val="accent2">
                        <a:lumMod val="50000"/>
                      </a:schemeClr>
                    </a:solidFill>
                  </a:rPr>
                  <a:t>次</a:t>
                </a:r>
                <a:endParaRPr lang="zh-CN" altLang="en-US" b="1">
                  <a:solidFill>
                    <a:schemeClr val="accent2">
                      <a:lumMod val="50000"/>
                    </a:schemeClr>
                  </a:solidFill>
                </a:endParaRPr>
              </a:p>
              <a:p>
                <a:pPr marL="285750" indent="-285750">
                  <a:lnSpc>
                    <a:spcPts val="2400"/>
                  </a:lnSpc>
                  <a:spcBef>
                    <a:spcPts val="600"/>
                  </a:spcBef>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直接利用矩阵逻辑积计算需要执行</a:t>
                </a:r>
                <a14:m>
                  <m:oMath xmlns:m="http://schemas.openxmlformats.org/officeDocument/2006/math">
                    <m:d>
                      <m:dPr>
                        <m:ctrlPr>
                          <a:rPr lang="en-US" altLang="zh-CN" b="1" i="1" smtClean="0">
                            <a:solidFill>
                              <a:srgbClr val="002060"/>
                            </a:solidFill>
                            <a:latin typeface="Cambria Math" panose="02040503050406030204" pitchFamily="18" charset="0"/>
                          </a:rPr>
                        </m:ctrlPr>
                      </m:dPr>
                      <m:e>
                        <m:r>
                          <a:rPr lang="en-US" altLang="zh-CN" b="1" i="1">
                            <a:solidFill>
                              <a:srgbClr val="002060"/>
                            </a:solidFill>
                            <a:latin typeface="Cambria Math" panose="02040503050406030204" pitchFamily="18" charset="0"/>
                          </a:rPr>
                          <m:t>𝒏</m:t>
                        </m:r>
                        <m:r>
                          <a:rPr lang="en-US" altLang="zh-CN" b="1" i="1">
                            <a:solidFill>
                              <a:srgbClr val="002060"/>
                            </a:solidFill>
                            <a:latin typeface="Cambria Math" panose="02040503050406030204" pitchFamily="18" charset="0"/>
                          </a:rPr>
                          <m:t>−</m:t>
                        </m:r>
                        <m:r>
                          <a:rPr lang="en-US" altLang="zh-CN" b="1" i="1">
                            <a:solidFill>
                              <a:srgbClr val="002060"/>
                            </a:solidFill>
                            <a:latin typeface="Cambria Math" panose="02040503050406030204" pitchFamily="18" charset="0"/>
                          </a:rPr>
                          <m:t>𝟏</m:t>
                        </m:r>
                      </m:e>
                    </m:d>
                    <m:sSup>
                      <m:sSupPr>
                        <m:ctrlPr>
                          <a:rPr lang="en-US" altLang="zh-CN" b="1" i="1">
                            <a:solidFill>
                              <a:srgbClr val="002060"/>
                            </a:solidFill>
                            <a:latin typeface="Cambria Math" panose="02040503050406030204" pitchFamily="18" charset="0"/>
                          </a:rPr>
                        </m:ctrlPr>
                      </m:sSupPr>
                      <m:e>
                        <m:r>
                          <a:rPr lang="en-US" altLang="zh-CN" b="1" i="1">
                            <a:solidFill>
                              <a:srgbClr val="002060"/>
                            </a:solidFill>
                            <a:latin typeface="Cambria Math" panose="02040503050406030204" pitchFamily="18" charset="0"/>
                          </a:rPr>
                          <m:t>𝒏</m:t>
                        </m:r>
                      </m:e>
                      <m:sup>
                        <m:r>
                          <a:rPr lang="en-US" altLang="zh-CN" b="1" i="1" smtClean="0">
                            <a:solidFill>
                              <a:srgbClr val="002060"/>
                            </a:solidFill>
                            <a:latin typeface="Cambria Math" panose="02040503050406030204" pitchFamily="18" charset="0"/>
                          </a:rPr>
                          <m:t>𝟑</m:t>
                        </m:r>
                      </m:sup>
                    </m:sSup>
                  </m:oMath>
                </a14:m>
                <a:r>
                  <a:rPr lang="zh-CN" altLang="en-US" b="1">
                    <a:solidFill>
                      <a:srgbClr val="002060"/>
                    </a:solidFill>
                    <a:latin typeface="楷体" panose="02010609060101010101" pitchFamily="49" charset="-122"/>
                    <a:ea typeface="楷体" panose="02010609060101010101" pitchFamily="49" charset="-122"/>
                  </a:rPr>
                  <a:t>次逻辑与运算</a:t>
                </a:r>
                <a:endParaRPr lang="zh-CN" altLang="en-US" b="1">
                  <a:solidFill>
                    <a:srgbClr val="002060"/>
                  </a:solidFill>
                  <a:latin typeface="楷体" panose="02010609060101010101" pitchFamily="49" charset="-122"/>
                  <a:ea typeface="楷体" panose="02010609060101010101" pitchFamily="49" charset="-122"/>
                </a:endParaRPr>
              </a:p>
            </p:txBody>
          </p:sp>
        </mc:Choice>
        <mc:Fallback>
          <p:sp>
            <p:nvSpPr>
              <p:cNvPr id="12" name="文本框 11"/>
              <p:cNvSpPr txBox="1">
                <a:spLocks noRot="1" noChangeAspect="1" noMove="1" noResize="1" noEditPoints="1" noAdjustHandles="1" noChangeArrowheads="1" noChangeShapeType="1" noTextEdit="1"/>
              </p:cNvSpPr>
              <p:nvPr/>
            </p:nvSpPr>
            <p:spPr>
              <a:xfrm>
                <a:off x="7448689" y="3387405"/>
                <a:ext cx="3604204" cy="1373646"/>
              </a:xfrm>
              <a:prstGeom prst="rect">
                <a:avLst/>
              </a:prstGeom>
              <a:blipFill rotWithShape="1">
                <a:blip r:embed="rId5"/>
                <a:stretch>
                  <a:fillRect l="-4" t="-23" r="2" b="33"/>
                </a:stretch>
              </a:blipFill>
            </p:spPr>
            <p:txBody>
              <a:bodyPr/>
              <a:lstStyle/>
              <a:p>
                <a:r>
                  <a:rPr lang="zh-CN" altLang="en-US">
                    <a:noFill/>
                  </a:rPr>
                  <a:t> </a:t>
                </a:r>
              </a:p>
            </p:txBody>
          </p:sp>
        </mc:Fallback>
      </mc:AlternateContent>
      <p:sp>
        <p:nvSpPr>
          <p:cNvPr id="14" name="文本框 13"/>
          <p:cNvSpPr txBox="1"/>
          <p:nvPr/>
        </p:nvSpPr>
        <p:spPr>
          <a:xfrm>
            <a:off x="7306450" y="4924767"/>
            <a:ext cx="3888681" cy="1385123"/>
          </a:xfrm>
          <a:prstGeom prst="rect">
            <a:avLst/>
          </a:prstGeom>
          <a:solidFill>
            <a:schemeClr val="accent4">
              <a:lumMod val="20000"/>
              <a:lumOff val="80000"/>
            </a:schemeClr>
          </a:solidFill>
        </p:spPr>
        <p:txBody>
          <a:bodyPr wrap="square" rtlCol="0">
            <a:spAutoFit/>
          </a:bodyPr>
          <a:lstStyle/>
          <a:p>
            <a:pPr>
              <a:lnSpc>
                <a:spcPts val="2400"/>
              </a:lnSpc>
              <a:spcBef>
                <a:spcPts val="600"/>
              </a:spcBef>
            </a:pPr>
            <a:r>
              <a:rPr lang="en-US" altLang="zh-CN" b="1">
                <a:solidFill>
                  <a:srgbClr val="002060"/>
                </a:solidFill>
                <a:latin typeface="+mn-ea"/>
              </a:rPr>
              <a:t>Warshall</a:t>
            </a:r>
            <a:r>
              <a:rPr lang="zh-CN" altLang="en-US" b="1">
                <a:solidFill>
                  <a:srgbClr val="002060"/>
                </a:solidFill>
                <a:latin typeface="楷体" panose="02010609060101010101" pitchFamily="49" charset="-122"/>
                <a:ea typeface="楷体" panose="02010609060101010101" pitchFamily="49" charset="-122"/>
              </a:rPr>
              <a:t>算法是从通路经过的不同中间顶点角度，而不是从通路不同长度的角度考察两顶点之间是否有通路</a:t>
            </a:r>
            <a:endParaRPr lang="en-US" altLang="zh-CN" b="1">
              <a:solidFill>
                <a:srgbClr val="002060"/>
              </a:solidFill>
              <a:latin typeface="楷体" panose="02010609060101010101" pitchFamily="49" charset="-122"/>
              <a:ea typeface="楷体" panose="02010609060101010101" pitchFamily="49" charset="-122"/>
            </a:endParaRPr>
          </a:p>
          <a:p>
            <a:pPr marL="285750" indent="-285750">
              <a:lnSpc>
                <a:spcPts val="2400"/>
              </a:lnSpc>
              <a:spcBef>
                <a:spcPts val="600"/>
              </a:spcBef>
              <a:buFont typeface="Arial" panose="020B0604020202020204" pitchFamily="34" charset="0"/>
              <a:buChar char="•"/>
            </a:pPr>
            <a:r>
              <a:rPr lang="zh-CN" altLang="en-US" b="1">
                <a:solidFill>
                  <a:schemeClr val="accent2">
                    <a:lumMod val="50000"/>
                  </a:schemeClr>
                </a:solidFill>
              </a:rPr>
              <a:t>换个角度思考，提高了算法效率</a:t>
            </a:r>
            <a:endParaRPr lang="zh-CN" altLang="en-US" b="1">
              <a:solidFill>
                <a:schemeClr val="accent2">
                  <a:lumMod val="50000"/>
                </a:schemeClr>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400">
                <a:latin typeface="Arial" panose="020B0604020202020204" pitchFamily="34" charset="0"/>
                <a:ea typeface="楷体" panose="02010609060101010101" pitchFamily="49" charset="-122"/>
                <a:cs typeface="Arial" panose="020B0604020202020204" pitchFamily="34" charset="0"/>
              </a:rPr>
              <a:t>Warshall</a:t>
            </a:r>
            <a:r>
              <a:rPr lang="zh-CN" altLang="en-US" sz="1400">
                <a:latin typeface="楷体" panose="02010609060101010101" pitchFamily="49" charset="-122"/>
                <a:ea typeface="楷体" panose="02010609060101010101" pitchFamily="49" charset="-122"/>
              </a:rPr>
              <a:t>算法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a:t>Warshall</a:t>
            </a:r>
            <a:r>
              <a:rPr lang="zh-CN" altLang="en-US"/>
              <a:t>算法计算关系传递闭包举例</a:t>
            </a:r>
            <a:endParaRPr lang="zh-CN" altLang="en-US"/>
          </a:p>
        </p:txBody>
      </p:sp>
      <mc:AlternateContent xmlns:mc="http://schemas.openxmlformats.org/markup-compatibility/2006">
        <mc:Choice xmlns:a14="http://schemas.microsoft.com/office/drawing/2010/main" Requires="a14">
          <p:sp>
            <p:nvSpPr>
              <p:cNvPr id="3" name="文本框 2"/>
              <p:cNvSpPr txBox="1"/>
              <p:nvPr/>
            </p:nvSpPr>
            <p:spPr>
              <a:xfrm>
                <a:off x="637831" y="1055335"/>
                <a:ext cx="7615550" cy="883255"/>
              </a:xfrm>
              <a:prstGeom prst="rect">
                <a:avLst/>
              </a:prstGeom>
              <a:solidFill>
                <a:schemeClr val="accent6">
                  <a:lumMod val="20000"/>
                  <a:lumOff val="80000"/>
                </a:schemeClr>
              </a:solidFill>
            </p:spPr>
            <p:txBody>
              <a:bodyPr wrap="square" rtlCol="0">
                <a:spAutoFit/>
              </a:bodyPr>
              <a:lstStyle/>
              <a:p>
                <a:pPr>
                  <a:spcBef>
                    <a:spcPts val="600"/>
                  </a:spcBef>
                  <a:spcAft>
                    <a:spcPts val="600"/>
                  </a:spcAft>
                </a:pPr>
                <a14:m>
                  <m:oMath xmlns:m="http://schemas.openxmlformats.org/officeDocument/2006/math">
                    <m:r>
                      <a:rPr lang="da-DK" altLang="zh-CN" sz="2000" b="1" i="1" smtClean="0">
                        <a:solidFill>
                          <a:srgbClr val="002060"/>
                        </a:solidFill>
                        <a:latin typeface="Cambria Math" panose="02040503050406030204" pitchFamily="18" charset="0"/>
                      </a:rPr>
                      <m:t>𝑨</m:t>
                    </m:r>
                    <m:r>
                      <a:rPr lang="da-DK" altLang="zh-CN" sz="2000" b="1" i="1" smtClean="0">
                        <a:solidFill>
                          <a:srgbClr val="002060"/>
                        </a:solidFill>
                        <a:latin typeface="Cambria Math" panose="02040503050406030204" pitchFamily="18" charset="0"/>
                      </a:rPr>
                      <m:t>=</m:t>
                    </m:r>
                    <m:r>
                      <m:rPr>
                        <m:lit/>
                      </m:rPr>
                      <a:rPr lang="da-DK" altLang="zh-CN" sz="2000" b="1" i="1">
                        <a:solidFill>
                          <a:srgbClr val="002060"/>
                        </a:solidFill>
                        <a:latin typeface="Cambria Math" panose="02040503050406030204" pitchFamily="18" charset="0"/>
                      </a:rPr>
                      <m:t>{</m:t>
                    </m:r>
                    <m:r>
                      <a:rPr lang="da-DK" altLang="zh-CN" sz="2000" b="1" i="1">
                        <a:solidFill>
                          <a:srgbClr val="002060"/>
                        </a:solidFill>
                        <a:latin typeface="Cambria Math" panose="02040503050406030204" pitchFamily="18" charset="0"/>
                      </a:rPr>
                      <m:t>𝟏</m:t>
                    </m:r>
                    <m:r>
                      <a:rPr lang="da-DK" altLang="zh-CN" sz="2000" b="1" i="1">
                        <a:solidFill>
                          <a:srgbClr val="002060"/>
                        </a:solidFill>
                        <a:latin typeface="Cambria Math" panose="02040503050406030204" pitchFamily="18" charset="0"/>
                      </a:rPr>
                      <m:t>, </m:t>
                    </m:r>
                    <m:r>
                      <a:rPr lang="da-DK" altLang="zh-CN" sz="2000" b="1" i="1">
                        <a:solidFill>
                          <a:srgbClr val="002060"/>
                        </a:solidFill>
                        <a:latin typeface="Cambria Math" panose="02040503050406030204" pitchFamily="18" charset="0"/>
                      </a:rPr>
                      <m:t>𝟐</m:t>
                    </m:r>
                    <m:r>
                      <a:rPr lang="da-DK" altLang="zh-CN" sz="2000" b="1" i="1">
                        <a:solidFill>
                          <a:srgbClr val="002060"/>
                        </a:solidFill>
                        <a:latin typeface="Cambria Math" panose="02040503050406030204" pitchFamily="18" charset="0"/>
                      </a:rPr>
                      <m:t>, </m:t>
                    </m:r>
                    <m:r>
                      <a:rPr lang="da-DK" altLang="zh-CN" sz="2000" b="1" i="1">
                        <a:solidFill>
                          <a:srgbClr val="002060"/>
                        </a:solidFill>
                        <a:latin typeface="Cambria Math" panose="02040503050406030204" pitchFamily="18" charset="0"/>
                      </a:rPr>
                      <m:t>𝟑</m:t>
                    </m:r>
                    <m:r>
                      <a:rPr lang="da-DK" altLang="zh-CN" sz="2000" b="1" i="1">
                        <a:solidFill>
                          <a:srgbClr val="002060"/>
                        </a:solidFill>
                        <a:latin typeface="Cambria Math" panose="02040503050406030204" pitchFamily="18" charset="0"/>
                      </a:rPr>
                      <m:t>, </m:t>
                    </m:r>
                    <m:r>
                      <a:rPr lang="da-DK" altLang="zh-CN" sz="2000" b="1" i="1">
                        <a:solidFill>
                          <a:srgbClr val="002060"/>
                        </a:solidFill>
                        <a:latin typeface="Cambria Math" panose="02040503050406030204" pitchFamily="18" charset="0"/>
                      </a:rPr>
                      <m:t>𝟒</m:t>
                    </m:r>
                    <m:r>
                      <m:rPr>
                        <m:lit/>
                      </m:rPr>
                      <a:rPr lang="da-DK" altLang="zh-CN" sz="2000" b="1" i="1" smtClean="0">
                        <a:solidFill>
                          <a:srgbClr val="002060"/>
                        </a:solidFill>
                        <a:latin typeface="Cambria Math" panose="02040503050406030204" pitchFamily="18" charset="0"/>
                      </a:rPr>
                      <m:t>}</m:t>
                    </m:r>
                  </m:oMath>
                </a14:m>
                <a:r>
                  <a:rPr lang="zh-CN" altLang="da-DK" sz="2000" b="1">
                    <a:solidFill>
                      <a:srgbClr val="002060"/>
                    </a:solidFill>
                  </a:rPr>
                  <a:t>，</a:t>
                </a:r>
                <a14:m>
                  <m:oMath xmlns:m="http://schemas.openxmlformats.org/officeDocument/2006/math">
                    <m:r>
                      <a:rPr lang="da-DK" altLang="zh-CN" sz="2000" b="1" i="1" smtClean="0">
                        <a:solidFill>
                          <a:srgbClr val="002060"/>
                        </a:solidFill>
                        <a:latin typeface="Cambria Math" panose="02040503050406030204" pitchFamily="18" charset="0"/>
                      </a:rPr>
                      <m:t>𝑹</m:t>
                    </m:r>
                    <m:r>
                      <a:rPr lang="da-DK" altLang="zh-CN" sz="2000" b="1" i="1" smtClean="0">
                        <a:solidFill>
                          <a:srgbClr val="002060"/>
                        </a:solidFill>
                        <a:latin typeface="Cambria Math" panose="02040503050406030204" pitchFamily="18" charset="0"/>
                      </a:rPr>
                      <m:t>=</m:t>
                    </m:r>
                    <m:r>
                      <m:rPr>
                        <m:lit/>
                      </m:rPr>
                      <a:rPr lang="da-DK" altLang="zh-CN" sz="2000" b="1" i="1" smtClean="0">
                        <a:solidFill>
                          <a:srgbClr val="002060"/>
                        </a:solidFill>
                        <a:latin typeface="Cambria Math" panose="02040503050406030204" pitchFamily="18" charset="0"/>
                      </a:rPr>
                      <m:t>{</m:t>
                    </m:r>
                    <m:r>
                      <a:rPr lang="da-DK" altLang="zh-CN" sz="2000" b="1" i="1" smtClean="0">
                        <a:solidFill>
                          <a:srgbClr val="002060"/>
                        </a:solidFill>
                        <a:latin typeface="Cambria Math" panose="02040503050406030204" pitchFamily="18" charset="0"/>
                      </a:rPr>
                      <m:t> </m:t>
                    </m:r>
                    <m:d>
                      <m:dPr>
                        <m:begChr m:val="⟨"/>
                        <m:endChr m:val="⟩"/>
                        <m:ctrlPr>
                          <a:rPr lang="da-DK" altLang="zh-CN" sz="2000" b="1" i="1" smtClean="0">
                            <a:solidFill>
                              <a:srgbClr val="002060"/>
                            </a:solidFill>
                            <a:latin typeface="Cambria Math" panose="02040503050406030204" pitchFamily="18" charset="0"/>
                          </a:rPr>
                        </m:ctrlPr>
                      </m:dPr>
                      <m:e>
                        <m:r>
                          <a:rPr lang="da-DK" altLang="zh-CN" sz="2000" b="1" i="1">
                            <a:solidFill>
                              <a:srgbClr val="002060"/>
                            </a:solidFill>
                            <a:latin typeface="Cambria Math" panose="02040503050406030204" pitchFamily="18" charset="0"/>
                          </a:rPr>
                          <m:t>𝟑</m:t>
                        </m:r>
                        <m:r>
                          <a:rPr lang="da-DK" altLang="zh-CN" sz="2000" b="1" i="1">
                            <a:solidFill>
                              <a:srgbClr val="002060"/>
                            </a:solidFill>
                            <a:latin typeface="Cambria Math" panose="02040503050406030204" pitchFamily="18" charset="0"/>
                          </a:rPr>
                          <m:t>, </m:t>
                        </m:r>
                        <m:r>
                          <a:rPr lang="da-DK" altLang="zh-CN" sz="2000" b="1" i="1">
                            <a:solidFill>
                              <a:srgbClr val="002060"/>
                            </a:solidFill>
                            <a:latin typeface="Cambria Math" panose="02040503050406030204" pitchFamily="18" charset="0"/>
                          </a:rPr>
                          <m:t>𝟐</m:t>
                        </m:r>
                      </m:e>
                    </m:d>
                    <m:r>
                      <a:rPr lang="da-DK" altLang="zh-CN" sz="2000" b="1" i="1">
                        <a:solidFill>
                          <a:srgbClr val="002060"/>
                        </a:solidFill>
                        <a:latin typeface="Cambria Math" panose="02040503050406030204" pitchFamily="18" charset="0"/>
                      </a:rPr>
                      <m:t>, </m:t>
                    </m:r>
                    <m:d>
                      <m:dPr>
                        <m:begChr m:val="⟨"/>
                        <m:endChr m:val="⟩"/>
                        <m:ctrlPr>
                          <a:rPr lang="da-DK" altLang="zh-CN" sz="2000" b="1" i="1">
                            <a:solidFill>
                              <a:srgbClr val="002060"/>
                            </a:solidFill>
                            <a:latin typeface="Cambria Math" panose="02040503050406030204" pitchFamily="18" charset="0"/>
                          </a:rPr>
                        </m:ctrlPr>
                      </m:dPr>
                      <m:e>
                        <m:r>
                          <a:rPr lang="da-DK" altLang="zh-CN" sz="2000" b="1" i="1">
                            <a:solidFill>
                              <a:srgbClr val="002060"/>
                            </a:solidFill>
                            <a:latin typeface="Cambria Math" panose="02040503050406030204" pitchFamily="18" charset="0"/>
                          </a:rPr>
                          <m:t>𝟒</m:t>
                        </m:r>
                        <m:r>
                          <a:rPr lang="da-DK" altLang="zh-CN" sz="2000" b="1" i="1">
                            <a:solidFill>
                              <a:srgbClr val="002060"/>
                            </a:solidFill>
                            <a:latin typeface="Cambria Math" panose="02040503050406030204" pitchFamily="18" charset="0"/>
                          </a:rPr>
                          <m:t>, </m:t>
                        </m:r>
                        <m:r>
                          <a:rPr lang="da-DK" altLang="zh-CN" sz="2000" b="1" i="1">
                            <a:solidFill>
                              <a:srgbClr val="002060"/>
                            </a:solidFill>
                            <a:latin typeface="Cambria Math" panose="02040503050406030204" pitchFamily="18" charset="0"/>
                          </a:rPr>
                          <m:t>𝟐</m:t>
                        </m:r>
                      </m:e>
                    </m:d>
                    <m:r>
                      <a:rPr lang="da-DK" altLang="zh-CN" sz="2000" b="1" i="1">
                        <a:solidFill>
                          <a:srgbClr val="002060"/>
                        </a:solidFill>
                        <a:latin typeface="Cambria Math" panose="02040503050406030204" pitchFamily="18" charset="0"/>
                      </a:rPr>
                      <m:t>, </m:t>
                    </m:r>
                    <m:d>
                      <m:dPr>
                        <m:begChr m:val="⟨"/>
                        <m:endChr m:val="⟩"/>
                        <m:ctrlPr>
                          <a:rPr lang="da-DK" altLang="zh-CN" sz="2000" b="1" i="1">
                            <a:solidFill>
                              <a:srgbClr val="002060"/>
                            </a:solidFill>
                            <a:latin typeface="Cambria Math" panose="02040503050406030204" pitchFamily="18" charset="0"/>
                          </a:rPr>
                        </m:ctrlPr>
                      </m:dPr>
                      <m:e>
                        <m:r>
                          <a:rPr lang="da-DK" altLang="zh-CN" sz="2000" b="1" i="1">
                            <a:solidFill>
                              <a:srgbClr val="002060"/>
                            </a:solidFill>
                            <a:latin typeface="Cambria Math" panose="02040503050406030204" pitchFamily="18" charset="0"/>
                          </a:rPr>
                          <m:t>𝟒</m:t>
                        </m:r>
                        <m:r>
                          <a:rPr lang="da-DK" altLang="zh-CN" sz="2000" b="1" i="1">
                            <a:solidFill>
                              <a:srgbClr val="002060"/>
                            </a:solidFill>
                            <a:latin typeface="Cambria Math" panose="02040503050406030204" pitchFamily="18" charset="0"/>
                          </a:rPr>
                          <m:t>, </m:t>
                        </m:r>
                        <m:r>
                          <a:rPr lang="da-DK" altLang="zh-CN" sz="2000" b="1" i="1">
                            <a:solidFill>
                              <a:srgbClr val="002060"/>
                            </a:solidFill>
                            <a:latin typeface="Cambria Math" panose="02040503050406030204" pitchFamily="18" charset="0"/>
                          </a:rPr>
                          <m:t>𝟑</m:t>
                        </m:r>
                      </m:e>
                    </m:d>
                    <m:r>
                      <a:rPr lang="da-DK" altLang="zh-CN" sz="2000" b="1" i="1" smtClean="0">
                        <a:solidFill>
                          <a:srgbClr val="002060"/>
                        </a:solidFill>
                        <a:latin typeface="Cambria Math" panose="02040503050406030204" pitchFamily="18" charset="0"/>
                      </a:rPr>
                      <m:t>, </m:t>
                    </m:r>
                    <m:d>
                      <m:dPr>
                        <m:begChr m:val="⟨"/>
                        <m:endChr m:val="⟩"/>
                        <m:ctrlPr>
                          <a:rPr lang="da-DK" altLang="zh-CN" sz="2000" b="1" i="1" smtClean="0">
                            <a:solidFill>
                              <a:srgbClr val="002060"/>
                            </a:solidFill>
                            <a:latin typeface="Cambria Math" panose="02040503050406030204" pitchFamily="18" charset="0"/>
                          </a:rPr>
                        </m:ctrlPr>
                      </m:dPr>
                      <m:e>
                        <m:r>
                          <a:rPr lang="da-DK" altLang="zh-CN" sz="2000" b="1" i="1">
                            <a:solidFill>
                              <a:srgbClr val="002060"/>
                            </a:solidFill>
                            <a:latin typeface="Cambria Math" panose="02040503050406030204" pitchFamily="18" charset="0"/>
                          </a:rPr>
                          <m:t>𝟏</m:t>
                        </m:r>
                        <m:r>
                          <a:rPr lang="da-DK" altLang="zh-CN" sz="2000" b="1" i="1">
                            <a:solidFill>
                              <a:srgbClr val="002060"/>
                            </a:solidFill>
                            <a:latin typeface="Cambria Math" panose="02040503050406030204" pitchFamily="18" charset="0"/>
                          </a:rPr>
                          <m:t>, </m:t>
                        </m:r>
                        <m:r>
                          <a:rPr lang="da-DK" altLang="zh-CN" sz="2000" b="1" i="1">
                            <a:solidFill>
                              <a:srgbClr val="002060"/>
                            </a:solidFill>
                            <a:latin typeface="Cambria Math" panose="02040503050406030204" pitchFamily="18" charset="0"/>
                          </a:rPr>
                          <m:t>𝟐</m:t>
                        </m:r>
                      </m:e>
                    </m:d>
                    <m:r>
                      <a:rPr lang="da-DK" altLang="zh-CN" sz="2000" b="1" i="1">
                        <a:solidFill>
                          <a:srgbClr val="002060"/>
                        </a:solidFill>
                        <a:latin typeface="Cambria Math" panose="02040503050406030204" pitchFamily="18" charset="0"/>
                      </a:rPr>
                      <m:t>, </m:t>
                    </m:r>
                    <m:d>
                      <m:dPr>
                        <m:begChr m:val="⟨"/>
                        <m:endChr m:val="⟩"/>
                        <m:ctrlPr>
                          <a:rPr lang="da-DK" altLang="zh-CN" sz="2000" b="1" i="1">
                            <a:solidFill>
                              <a:srgbClr val="002060"/>
                            </a:solidFill>
                            <a:latin typeface="Cambria Math" panose="02040503050406030204" pitchFamily="18" charset="0"/>
                          </a:rPr>
                        </m:ctrlPr>
                      </m:dPr>
                      <m:e>
                        <m:r>
                          <a:rPr lang="da-DK" altLang="zh-CN" sz="2000" b="1" i="1">
                            <a:solidFill>
                              <a:srgbClr val="002060"/>
                            </a:solidFill>
                            <a:latin typeface="Cambria Math" panose="02040503050406030204" pitchFamily="18" charset="0"/>
                          </a:rPr>
                          <m:t>𝟑</m:t>
                        </m:r>
                        <m:r>
                          <a:rPr lang="da-DK" altLang="zh-CN" sz="2000" b="1" i="1">
                            <a:solidFill>
                              <a:srgbClr val="002060"/>
                            </a:solidFill>
                            <a:latin typeface="Cambria Math" panose="02040503050406030204" pitchFamily="18" charset="0"/>
                          </a:rPr>
                          <m:t>, </m:t>
                        </m:r>
                        <m:r>
                          <a:rPr lang="da-DK" altLang="zh-CN" sz="2000" b="1" i="1">
                            <a:solidFill>
                              <a:srgbClr val="002060"/>
                            </a:solidFill>
                            <a:latin typeface="Cambria Math" panose="02040503050406030204" pitchFamily="18" charset="0"/>
                          </a:rPr>
                          <m:t>𝟏</m:t>
                        </m:r>
                      </m:e>
                    </m:d>
                    <m:r>
                      <a:rPr lang="da-DK" altLang="zh-CN" sz="2000" b="1" i="1">
                        <a:solidFill>
                          <a:srgbClr val="002060"/>
                        </a:solidFill>
                        <a:latin typeface="Cambria Math" panose="02040503050406030204" pitchFamily="18" charset="0"/>
                      </a:rPr>
                      <m:t>, </m:t>
                    </m:r>
                    <m:d>
                      <m:dPr>
                        <m:begChr m:val="⟨"/>
                        <m:endChr m:val="⟩"/>
                        <m:ctrlPr>
                          <a:rPr lang="da-DK" altLang="zh-CN" sz="2000" b="1" i="1">
                            <a:solidFill>
                              <a:srgbClr val="002060"/>
                            </a:solidFill>
                            <a:latin typeface="Cambria Math" panose="02040503050406030204" pitchFamily="18" charset="0"/>
                          </a:rPr>
                        </m:ctrlPr>
                      </m:dPr>
                      <m:e>
                        <m:r>
                          <a:rPr lang="da-DK" altLang="zh-CN" sz="2000" b="1" i="1">
                            <a:solidFill>
                              <a:srgbClr val="002060"/>
                            </a:solidFill>
                            <a:latin typeface="Cambria Math" panose="02040503050406030204" pitchFamily="18" charset="0"/>
                          </a:rPr>
                          <m:t>𝟐</m:t>
                        </m:r>
                        <m:r>
                          <a:rPr lang="da-DK" altLang="zh-CN" sz="2000" b="1" i="1">
                            <a:solidFill>
                              <a:srgbClr val="002060"/>
                            </a:solidFill>
                            <a:latin typeface="Cambria Math" panose="02040503050406030204" pitchFamily="18" charset="0"/>
                          </a:rPr>
                          <m:t>, </m:t>
                        </m:r>
                        <m:r>
                          <a:rPr lang="da-DK" altLang="zh-CN" sz="2000" b="1" i="1">
                            <a:solidFill>
                              <a:srgbClr val="002060"/>
                            </a:solidFill>
                            <a:latin typeface="Cambria Math" panose="02040503050406030204" pitchFamily="18" charset="0"/>
                          </a:rPr>
                          <m:t>𝟒</m:t>
                        </m:r>
                      </m:e>
                    </m:d>
                    <m:r>
                      <a:rPr lang="da-DK" altLang="zh-CN" sz="2000" b="1" i="1">
                        <a:solidFill>
                          <a:srgbClr val="002060"/>
                        </a:solidFill>
                        <a:latin typeface="Cambria Math" panose="02040503050406030204" pitchFamily="18" charset="0"/>
                      </a:rPr>
                      <m:t>, </m:t>
                    </m:r>
                    <m:d>
                      <m:dPr>
                        <m:begChr m:val="⟨"/>
                        <m:endChr m:val="⟩"/>
                        <m:ctrlPr>
                          <a:rPr lang="da-DK" altLang="zh-CN" sz="2000" b="1" i="1">
                            <a:solidFill>
                              <a:srgbClr val="002060"/>
                            </a:solidFill>
                            <a:latin typeface="Cambria Math" panose="02040503050406030204" pitchFamily="18" charset="0"/>
                          </a:rPr>
                        </m:ctrlPr>
                      </m:dPr>
                      <m:e>
                        <m:r>
                          <a:rPr lang="da-DK" altLang="zh-CN" sz="2000" b="1" i="1">
                            <a:solidFill>
                              <a:srgbClr val="002060"/>
                            </a:solidFill>
                            <a:latin typeface="Cambria Math" panose="02040503050406030204" pitchFamily="18" charset="0"/>
                          </a:rPr>
                          <m:t>𝟒</m:t>
                        </m:r>
                        <m:r>
                          <a:rPr lang="da-DK" altLang="zh-CN" sz="2000" b="1" i="1">
                            <a:solidFill>
                              <a:srgbClr val="002060"/>
                            </a:solidFill>
                            <a:latin typeface="Cambria Math" panose="02040503050406030204" pitchFamily="18" charset="0"/>
                          </a:rPr>
                          <m:t>, </m:t>
                        </m:r>
                        <m:r>
                          <a:rPr lang="da-DK" altLang="zh-CN" sz="2000" b="1" i="1">
                            <a:solidFill>
                              <a:srgbClr val="002060"/>
                            </a:solidFill>
                            <a:latin typeface="Cambria Math" panose="02040503050406030204" pitchFamily="18" charset="0"/>
                          </a:rPr>
                          <m:t>𝟒</m:t>
                        </m:r>
                      </m:e>
                    </m:d>
                    <m:r>
                      <m:rPr>
                        <m:lit/>
                      </m:rPr>
                      <a:rPr lang="da-DK" altLang="zh-CN" sz="2000" b="1" i="1" smtClean="0">
                        <a:solidFill>
                          <a:srgbClr val="002060"/>
                        </a:solidFill>
                        <a:latin typeface="Cambria Math" panose="02040503050406030204" pitchFamily="18" charset="0"/>
                      </a:rPr>
                      <m:t>}</m:t>
                    </m:r>
                  </m:oMath>
                </a14:m>
                <a:endParaRPr lang="da-DK" altLang="zh-CN" sz="2000" b="1">
                  <a:solidFill>
                    <a:srgbClr val="002060"/>
                  </a:solidFill>
                </a:endParaRPr>
              </a:p>
              <a:p>
                <a:pPr marL="342900"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通过从</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𝑾</m:t>
                        </m:r>
                      </m:e>
                      <m:sub>
                        <m:r>
                          <a:rPr lang="en-US" altLang="zh-CN" sz="2000" b="1" i="1">
                            <a:solidFill>
                              <a:schemeClr val="accent2">
                                <a:lumMod val="50000"/>
                              </a:schemeClr>
                            </a:solidFill>
                            <a:latin typeface="Cambria Math" panose="02040503050406030204" pitchFamily="18" charset="0"/>
                          </a:rPr>
                          <m:t>𝟎</m:t>
                        </m:r>
                      </m:sub>
                    </m:sSub>
                    <m:r>
                      <a:rPr lang="en-US" altLang="zh-CN" sz="2000" b="1" i="1">
                        <a:solidFill>
                          <a:schemeClr val="accent2">
                            <a:lumMod val="50000"/>
                          </a:schemeClr>
                        </a:solidFill>
                        <a:latin typeface="Cambria Math" panose="02040503050406030204" pitchFamily="18" charset="0"/>
                      </a:rPr>
                      <m:t>=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𝑴</m:t>
                        </m:r>
                      </m:e>
                      <m:sub>
                        <m:r>
                          <a:rPr lang="en-US" altLang="zh-CN" sz="2000" b="1" i="1" smtClean="0">
                            <a:solidFill>
                              <a:schemeClr val="accent2">
                                <a:lumMod val="50000"/>
                              </a:schemeClr>
                            </a:solidFill>
                            <a:latin typeface="Cambria Math" panose="02040503050406030204" pitchFamily="18" charset="0"/>
                          </a:rPr>
                          <m:t>𝑹</m:t>
                        </m:r>
                      </m:sub>
                    </m:sSub>
                  </m:oMath>
                </a14:m>
                <a:r>
                  <a:rPr lang="zh-CN" altLang="en-US" sz="2000" b="1">
                    <a:solidFill>
                      <a:schemeClr val="accent2">
                        <a:lumMod val="50000"/>
                      </a:schemeClr>
                    </a:solidFill>
                    <a:latin typeface="楷体" panose="02010609060101010101" pitchFamily="49" charset="-122"/>
                    <a:ea typeface="楷体" panose="02010609060101010101" pitchFamily="49" charset="-122"/>
                  </a:rPr>
                  <a:t>开始计算</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𝑾</m:t>
                        </m:r>
                      </m:e>
                      <m:sub>
                        <m:r>
                          <a:rPr lang="en-US" altLang="zh-CN" sz="2000" b="1" i="1">
                            <a:solidFill>
                              <a:schemeClr val="accent2">
                                <a:lumMod val="50000"/>
                              </a:schemeClr>
                            </a:solidFill>
                            <a:latin typeface="Cambria Math" panose="02040503050406030204" pitchFamily="18" charset="0"/>
                          </a:rPr>
                          <m:t>𝟏</m:t>
                        </m:r>
                      </m:sub>
                    </m:sSub>
                    <m:r>
                      <a:rPr lang="en-US" altLang="zh-CN" sz="2000" b="1" i="1">
                        <a:solidFill>
                          <a:schemeClr val="accent2">
                            <a:lumMod val="50000"/>
                          </a:schemeClr>
                        </a:solidFill>
                        <a:latin typeface="Cambria Math" panose="02040503050406030204" pitchFamily="18" charset="0"/>
                      </a:rPr>
                      <m:t>,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𝑾</m:t>
                        </m:r>
                      </m:e>
                      <m:sub>
                        <m:r>
                          <a:rPr lang="en-US" altLang="zh-CN" sz="2000" b="1" i="1">
                            <a:solidFill>
                              <a:schemeClr val="accent2">
                                <a:lumMod val="50000"/>
                              </a:schemeClr>
                            </a:solidFill>
                            <a:latin typeface="Cambria Math" panose="02040503050406030204" pitchFamily="18" charset="0"/>
                          </a:rPr>
                          <m:t>𝟐</m:t>
                        </m:r>
                      </m:sub>
                    </m:sSub>
                    <m:r>
                      <a:rPr lang="en-US" altLang="zh-CN" sz="2000" b="1" i="1">
                        <a:solidFill>
                          <a:schemeClr val="accent2">
                            <a:lumMod val="50000"/>
                          </a:schemeClr>
                        </a:solidFill>
                        <a:latin typeface="Cambria Math" panose="02040503050406030204" pitchFamily="18" charset="0"/>
                      </a:rPr>
                      <m:t>, ⋯,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𝑾</m:t>
                        </m:r>
                      </m:e>
                      <m:sub>
                        <m:r>
                          <a:rPr lang="en-US" altLang="zh-CN" sz="2000" b="1" i="1" smtClean="0">
                            <a:solidFill>
                              <a:schemeClr val="accent2">
                                <a:lumMod val="50000"/>
                              </a:schemeClr>
                            </a:solidFill>
                            <a:latin typeface="Cambria Math" panose="02040503050406030204" pitchFamily="18" charset="0"/>
                          </a:rPr>
                          <m:t>𝒏</m:t>
                        </m:r>
                      </m:sub>
                    </m:sSub>
                  </m:oMath>
                </a14:m>
                <a:r>
                  <a:rPr lang="zh-CN" altLang="en-US" sz="2000" b="1">
                    <a:solidFill>
                      <a:schemeClr val="accent2">
                        <a:lumMod val="50000"/>
                      </a:schemeClr>
                    </a:solidFill>
                    <a:latin typeface="楷体" panose="02010609060101010101" pitchFamily="49" charset="-122"/>
                    <a:ea typeface="楷体" panose="02010609060101010101" pitchFamily="49" charset="-122"/>
                  </a:rPr>
                  <a:t>最后得到</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𝑴</m:t>
                        </m:r>
                      </m:e>
                      <m:sub>
                        <m:r>
                          <a:rPr lang="en-US" altLang="zh-CN" sz="2000" b="1" i="1" smtClean="0">
                            <a:solidFill>
                              <a:schemeClr val="accent2">
                                <a:lumMod val="50000"/>
                              </a:schemeClr>
                            </a:solidFill>
                            <a:latin typeface="Cambria Math" panose="02040503050406030204" pitchFamily="18" charset="0"/>
                          </a:rPr>
                          <m:t>𝒕</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𝑹</m:t>
                            </m:r>
                          </m:e>
                        </m:d>
                      </m:sub>
                    </m:sSub>
                    <m:r>
                      <a:rPr lang="en-US" altLang="zh-CN" sz="2000" b="1" i="1">
                        <a:solidFill>
                          <a:schemeClr val="accent2">
                            <a:lumMod val="50000"/>
                          </a:schemeClr>
                        </a:solidFill>
                        <a:latin typeface="Cambria Math" panose="02040503050406030204" pitchFamily="18" charset="0"/>
                      </a:rPr>
                      <m:t>= </m:t>
                    </m:r>
                    <m:sSub>
                      <m:sSubPr>
                        <m:ctrlPr>
                          <a:rPr lang="en-US" altLang="zh-CN" sz="2000" b="1" i="1">
                            <a:solidFill>
                              <a:schemeClr val="accent2">
                                <a:lumMod val="50000"/>
                              </a:schemeClr>
                            </a:solidFill>
                            <a:latin typeface="Cambria Math" panose="02040503050406030204" pitchFamily="18" charset="0"/>
                          </a:rPr>
                        </m:ctrlPr>
                      </m:sSubPr>
                      <m:e>
                        <m:r>
                          <a:rPr lang="en-US" altLang="zh-CN" sz="2000" b="1" i="1">
                            <a:solidFill>
                              <a:schemeClr val="accent2">
                                <a:lumMod val="50000"/>
                              </a:schemeClr>
                            </a:solidFill>
                            <a:latin typeface="Cambria Math" panose="02040503050406030204" pitchFamily="18" charset="0"/>
                          </a:rPr>
                          <m:t>𝑾</m:t>
                        </m:r>
                      </m:e>
                      <m:sub>
                        <m:r>
                          <a:rPr lang="en-US" altLang="zh-CN" sz="2000" b="1" i="1" smtClean="0">
                            <a:solidFill>
                              <a:schemeClr val="accent2">
                                <a:lumMod val="50000"/>
                              </a:schemeClr>
                            </a:solidFill>
                            <a:latin typeface="Cambria Math" panose="02040503050406030204" pitchFamily="18" charset="0"/>
                          </a:rPr>
                          <m:t>𝒏</m:t>
                        </m:r>
                      </m:sub>
                    </m:sSub>
                  </m:oMath>
                </a14:m>
                <a:endParaRPr lang="zh-CN" altLang="en-US" sz="2000" b="1">
                  <a:solidFill>
                    <a:schemeClr val="accent2">
                      <a:lumMod val="50000"/>
                    </a:schemeClr>
                  </a:solidFill>
                  <a:latin typeface="楷体" panose="02010609060101010101" pitchFamily="49" charset="-122"/>
                  <a:ea typeface="楷体" panose="02010609060101010101" pitchFamily="49"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637831" y="1055335"/>
                <a:ext cx="7615550" cy="883255"/>
              </a:xfrm>
              <a:prstGeom prst="rect">
                <a:avLst/>
              </a:prstGeom>
              <a:blipFill rotWithShape="1">
                <a:blip r:embed="rId1"/>
                <a:stretch>
                  <a:fillRect l="-4" t="-68" r="4" b="-2596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637831" y="2124003"/>
                <a:ext cx="6500916" cy="2287293"/>
              </a:xfrm>
              <a:prstGeom prst="rect">
                <a:avLst/>
              </a:prstGeom>
              <a:solidFill>
                <a:schemeClr val="accent2">
                  <a:lumMod val="20000"/>
                  <a:lumOff val="80000"/>
                  <a:alpha val="50000"/>
                </a:schemeClr>
              </a:solidFill>
            </p:spPr>
            <p:txBody>
              <a:bodyPr wrap="square" rtlCol="0">
                <a:spAutoFit/>
              </a:bodyPr>
              <a:lstStyle/>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用递推式</a:t>
                </a:r>
                <a14:m>
                  <m:oMath xmlns:m="http://schemas.openxmlformats.org/officeDocument/2006/math">
                    <m:sSubSup>
                      <m:sSubSupPr>
                        <m:ctrlPr>
                          <a:rPr lang="en-US" altLang="zh-CN" sz="2000" b="1" i="1">
                            <a:solidFill>
                              <a:srgbClr val="002060"/>
                            </a:solidFill>
                            <a:latin typeface="Cambria Math" panose="02040503050406030204" pitchFamily="18" charset="0"/>
                          </a:rPr>
                        </m:ctrlPr>
                      </m:sSubSupPr>
                      <m:e>
                        <m:r>
                          <a:rPr lang="en-US" altLang="zh-CN" sz="2000" b="1" i="1">
                            <a:solidFill>
                              <a:srgbClr val="002060"/>
                            </a:solidFill>
                            <a:latin typeface="Cambria Math" panose="02040503050406030204" pitchFamily="18" charset="0"/>
                          </a:rPr>
                          <m:t>𝒘</m:t>
                        </m:r>
                      </m:e>
                      <m:sub>
                        <m:r>
                          <a:rPr lang="en-US" altLang="zh-CN" sz="2000" b="1" i="1">
                            <a:solidFill>
                              <a:srgbClr val="002060"/>
                            </a:solidFill>
                            <a:latin typeface="Cambria Math" panose="02040503050406030204" pitchFamily="18" charset="0"/>
                          </a:rPr>
                          <m:t>𝒊𝒋</m:t>
                        </m:r>
                      </m:sub>
                      <m:sup>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𝒌</m:t>
                            </m:r>
                          </m:e>
                        </m:d>
                      </m:sup>
                    </m:sSubSup>
                    <m:r>
                      <a:rPr lang="en-US" altLang="zh-CN" sz="2000" b="1" i="1">
                        <a:solidFill>
                          <a:srgbClr val="002060"/>
                        </a:solidFill>
                        <a:latin typeface="Cambria Math" panose="02040503050406030204" pitchFamily="18" charset="0"/>
                      </a:rPr>
                      <m:t>= </m:t>
                    </m:r>
                    <m:sSubSup>
                      <m:sSubSupPr>
                        <m:ctrlPr>
                          <a:rPr lang="en-US" altLang="zh-CN" sz="2000" b="1" i="1">
                            <a:solidFill>
                              <a:srgbClr val="002060"/>
                            </a:solidFill>
                            <a:latin typeface="Cambria Math" panose="02040503050406030204" pitchFamily="18" charset="0"/>
                          </a:rPr>
                        </m:ctrlPr>
                      </m:sSubSupPr>
                      <m:e>
                        <m:r>
                          <a:rPr lang="en-US" altLang="zh-CN" sz="2000" b="1" i="1">
                            <a:solidFill>
                              <a:srgbClr val="002060"/>
                            </a:solidFill>
                            <a:latin typeface="Cambria Math" panose="02040503050406030204" pitchFamily="18" charset="0"/>
                          </a:rPr>
                          <m:t>𝒘</m:t>
                        </m:r>
                      </m:e>
                      <m:sub>
                        <m:r>
                          <a:rPr lang="en-US" altLang="zh-CN" sz="2000" b="1" i="1">
                            <a:solidFill>
                              <a:srgbClr val="002060"/>
                            </a:solidFill>
                            <a:latin typeface="Cambria Math" panose="02040503050406030204" pitchFamily="18" charset="0"/>
                          </a:rPr>
                          <m:t>𝒊𝒋</m:t>
                        </m:r>
                      </m:sub>
                      <m:sup>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𝒌</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e>
                        </m:d>
                      </m:sup>
                    </m:sSubSup>
                    <m:r>
                      <a:rPr lang="en-US" altLang="zh-CN" sz="2000" b="1" i="1">
                        <a:solidFill>
                          <a:srgbClr val="002060"/>
                        </a:solidFill>
                        <a:latin typeface="Cambria Math" panose="02040503050406030204" pitchFamily="18" charset="0"/>
                      </a:rPr>
                      <m:t>∨</m:t>
                    </m:r>
                    <m:d>
                      <m:dPr>
                        <m:ctrlPr>
                          <a:rPr lang="en-US" altLang="zh-CN" sz="2000" b="1" i="1">
                            <a:solidFill>
                              <a:srgbClr val="002060"/>
                            </a:solidFill>
                            <a:latin typeface="Cambria Math" panose="02040503050406030204" pitchFamily="18" charset="0"/>
                          </a:rPr>
                        </m:ctrlPr>
                      </m:dPr>
                      <m:e>
                        <m:sSubSup>
                          <m:sSubSupPr>
                            <m:ctrlPr>
                              <a:rPr lang="en-US" altLang="zh-CN" sz="2000" b="1" i="1">
                                <a:solidFill>
                                  <a:srgbClr val="002060"/>
                                </a:solidFill>
                                <a:latin typeface="Cambria Math" panose="02040503050406030204" pitchFamily="18" charset="0"/>
                              </a:rPr>
                            </m:ctrlPr>
                          </m:sSubSupPr>
                          <m:e>
                            <m:r>
                              <a:rPr lang="en-US" altLang="zh-CN" sz="2000" b="1" i="1">
                                <a:solidFill>
                                  <a:srgbClr val="002060"/>
                                </a:solidFill>
                                <a:latin typeface="Cambria Math" panose="02040503050406030204" pitchFamily="18" charset="0"/>
                              </a:rPr>
                              <m:t>𝒘</m:t>
                            </m:r>
                          </m:e>
                          <m:sub>
                            <m:r>
                              <a:rPr lang="en-US" altLang="zh-CN" sz="2000" b="1" i="1">
                                <a:solidFill>
                                  <a:srgbClr val="002060"/>
                                </a:solidFill>
                                <a:latin typeface="Cambria Math" panose="02040503050406030204" pitchFamily="18" charset="0"/>
                              </a:rPr>
                              <m:t>𝒊𝒌</m:t>
                            </m:r>
                          </m:sub>
                          <m:sup>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𝒌</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e>
                            </m:d>
                          </m:sup>
                        </m:sSubSup>
                        <m:r>
                          <a:rPr lang="en-US" altLang="zh-CN" sz="2000" b="1" i="1">
                            <a:solidFill>
                              <a:srgbClr val="002060"/>
                            </a:solidFill>
                            <a:latin typeface="Cambria Math" panose="02040503050406030204" pitchFamily="18" charset="0"/>
                          </a:rPr>
                          <m:t>∧</m:t>
                        </m:r>
                        <m:sSubSup>
                          <m:sSubSupPr>
                            <m:ctrlPr>
                              <a:rPr lang="en-US" altLang="zh-CN" sz="2000" b="1" i="1">
                                <a:solidFill>
                                  <a:srgbClr val="002060"/>
                                </a:solidFill>
                                <a:latin typeface="Cambria Math" panose="02040503050406030204" pitchFamily="18" charset="0"/>
                              </a:rPr>
                            </m:ctrlPr>
                          </m:sSubSupPr>
                          <m:e>
                            <m:r>
                              <a:rPr lang="en-US" altLang="zh-CN" sz="2000" b="1" i="1">
                                <a:solidFill>
                                  <a:srgbClr val="002060"/>
                                </a:solidFill>
                                <a:latin typeface="Cambria Math" panose="02040503050406030204" pitchFamily="18" charset="0"/>
                              </a:rPr>
                              <m:t>𝒘</m:t>
                            </m:r>
                          </m:e>
                          <m:sub>
                            <m:r>
                              <a:rPr lang="en-US" altLang="zh-CN" sz="2000" b="1" i="1">
                                <a:solidFill>
                                  <a:srgbClr val="002060"/>
                                </a:solidFill>
                                <a:latin typeface="Cambria Math" panose="02040503050406030204" pitchFamily="18" charset="0"/>
                              </a:rPr>
                              <m:t>𝒌𝒋</m:t>
                            </m:r>
                          </m:sub>
                          <m:sup>
                            <m:d>
                              <m:dPr>
                                <m:begChr m:val="["/>
                                <m:endChr m:val="]"/>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𝒌</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𝟏</m:t>
                                </m:r>
                              </m:e>
                            </m:d>
                          </m:sup>
                        </m:sSubSup>
                      </m:e>
                    </m:d>
                  </m:oMath>
                </a14:m>
                <a:r>
                  <a:rPr lang="zh-CN" altLang="en-US" sz="2000" b="1">
                    <a:solidFill>
                      <a:srgbClr val="002060"/>
                    </a:solidFill>
                    <a:latin typeface="楷体" panose="02010609060101010101" pitchFamily="49" charset="-122"/>
                    <a:ea typeface="楷体" panose="02010609060101010101" pitchFamily="49" charset="-122"/>
                  </a:rPr>
                  <a:t>计算</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𝑾</m:t>
                        </m:r>
                      </m:e>
                      <m:sub>
                        <m:r>
                          <a:rPr lang="en-US" altLang="zh-CN" sz="2000" b="1" i="1" smtClean="0">
                            <a:solidFill>
                              <a:srgbClr val="002060"/>
                            </a:solidFill>
                            <a:latin typeface="Cambria Math" panose="02040503050406030204" pitchFamily="18" charset="0"/>
                          </a:rPr>
                          <m:t>𝒌</m:t>
                        </m:r>
                      </m:sub>
                    </m:sSub>
                  </m:oMath>
                </a14:m>
                <a:r>
                  <a:rPr lang="zh-CN" altLang="en-US" sz="2000" b="1">
                    <a:solidFill>
                      <a:srgbClr val="002060"/>
                    </a:solidFill>
                    <a:latin typeface="楷体" panose="02010609060101010101" pitchFamily="49" charset="-122"/>
                    <a:ea typeface="楷体" panose="02010609060101010101" pitchFamily="49" charset="-122"/>
                  </a:rPr>
                  <a:t>时</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lnSpc>
                    <a:spcPts val="3000"/>
                  </a:lnSpc>
                  <a:spcBef>
                    <a:spcPts val="600"/>
                  </a:spcBef>
                  <a:spcAft>
                    <a:spcPts val="300"/>
                  </a:spcAft>
                  <a:buFont typeface="Arial" panose="020B0604020202020204" pitchFamily="34" charset="0"/>
                  <a:buChar char="•"/>
                </a:pPr>
                <a:r>
                  <a:rPr lang="zh-CN" altLang="en-US" b="1">
                    <a:solidFill>
                      <a:schemeClr val="accent6">
                        <a:lumMod val="50000"/>
                      </a:schemeClr>
                    </a:solidFill>
                  </a:rPr>
                  <a:t>若</a:t>
                </a: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𝒘</m:t>
                        </m:r>
                      </m:e>
                      <m:sub>
                        <m:r>
                          <a:rPr lang="en-US" altLang="zh-CN" b="1" i="1" smtClean="0">
                            <a:solidFill>
                              <a:srgbClr val="C00000"/>
                            </a:solidFill>
                            <a:latin typeface="Cambria Math" panose="02040503050406030204" pitchFamily="18" charset="0"/>
                          </a:rPr>
                          <m:t>𝒊𝒌</m:t>
                        </m:r>
                      </m:sub>
                      <m:sup>
                        <m:d>
                          <m:dPr>
                            <m:begChr m:val="["/>
                            <m:endChr m:val="]"/>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𝒌</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e>
                        </m:d>
                      </m:sup>
                    </m:sSubSup>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𝟎</m:t>
                    </m:r>
                  </m:oMath>
                </a14:m>
                <a:r>
                  <a:rPr lang="zh-CN" altLang="en-US" b="1">
                    <a:solidFill>
                      <a:schemeClr val="accent6">
                        <a:lumMod val="50000"/>
                      </a:schemeClr>
                    </a:solidFill>
                  </a:rPr>
                  <a:t>，即</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𝑾</m:t>
                        </m:r>
                      </m:e>
                      <m:sub>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sub>
                    </m:sSub>
                  </m:oMath>
                </a14:m>
                <a:r>
                  <a:rPr lang="zh-CN" altLang="en-US" b="1">
                    <a:solidFill>
                      <a:schemeClr val="accent6">
                        <a:lumMod val="50000"/>
                      </a:schemeClr>
                    </a:solidFill>
                  </a:rPr>
                  <a:t>的第</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𝒊</m:t>
                    </m:r>
                  </m:oMath>
                </a14:m>
                <a:r>
                  <a:rPr lang="zh-CN" altLang="en-US" b="1">
                    <a:solidFill>
                      <a:schemeClr val="accent6">
                        <a:lumMod val="50000"/>
                      </a:schemeClr>
                    </a:solidFill>
                  </a:rPr>
                  <a:t>行第</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列为</a:t>
                </a:r>
                <a:r>
                  <a:rPr lang="en-US" altLang="zh-CN" b="1">
                    <a:solidFill>
                      <a:schemeClr val="accent6">
                        <a:lumMod val="50000"/>
                      </a:schemeClr>
                    </a:solidFill>
                  </a:rPr>
                  <a:t>0</a:t>
                </a:r>
                <a:r>
                  <a:rPr lang="zh-CN" altLang="en-US" b="1">
                    <a:solidFill>
                      <a:schemeClr val="accent6">
                        <a:lumMod val="50000"/>
                      </a:schemeClr>
                    </a:solidFill>
                  </a:rPr>
                  <a:t>，则</a:t>
                </a:r>
                <a14:m>
                  <m:oMath xmlns:m="http://schemas.openxmlformats.org/officeDocument/2006/math">
                    <m:sSubSup>
                      <m:sSubSupPr>
                        <m:ctrlPr>
                          <a:rPr lang="en-US" altLang="zh-CN" b="1" i="1" smtClean="0">
                            <a:solidFill>
                              <a:schemeClr val="accent6">
                                <a:lumMod val="50000"/>
                              </a:schemeClr>
                            </a:solidFill>
                            <a:latin typeface="Cambria Math" panose="02040503050406030204" pitchFamily="18" charset="0"/>
                          </a:rPr>
                        </m:ctrlPr>
                      </m:sSubSupPr>
                      <m:e>
                        <m:r>
                          <a:rPr lang="en-US" altLang="zh-CN" b="1" i="1" smtClean="0">
                            <a:solidFill>
                              <a:schemeClr val="accent6">
                                <a:lumMod val="50000"/>
                              </a:schemeClr>
                            </a:solidFill>
                            <a:latin typeface="Cambria Math" panose="02040503050406030204" pitchFamily="18" charset="0"/>
                          </a:rPr>
                          <m:t>𝒘</m:t>
                        </m:r>
                      </m:e>
                      <m:sub>
                        <m:r>
                          <a:rPr lang="en-US" altLang="zh-CN" b="1" i="1" smtClean="0">
                            <a:solidFill>
                              <a:schemeClr val="accent6">
                                <a:lumMod val="50000"/>
                              </a:schemeClr>
                            </a:solidFill>
                            <a:latin typeface="Cambria Math" panose="02040503050406030204" pitchFamily="18" charset="0"/>
                          </a:rPr>
                          <m:t>𝒊𝒋</m:t>
                        </m:r>
                      </m:sub>
                      <m:sup>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𝒌</m:t>
                            </m:r>
                          </m:e>
                        </m:d>
                      </m:sup>
                    </m:sSubSup>
                    <m:r>
                      <a:rPr lang="en-US" altLang="zh-CN" b="1" i="1" smtClean="0">
                        <a:solidFill>
                          <a:schemeClr val="accent6">
                            <a:lumMod val="50000"/>
                          </a:schemeClr>
                        </a:solidFill>
                        <a:latin typeface="Cambria Math" panose="02040503050406030204" pitchFamily="18" charset="0"/>
                      </a:rPr>
                      <m:t>= </m:t>
                    </m:r>
                    <m:sSubSup>
                      <m:sSubSupPr>
                        <m:ctrlPr>
                          <a:rPr lang="en-US" altLang="zh-CN" b="1" i="1" smtClean="0">
                            <a:solidFill>
                              <a:schemeClr val="accent6">
                                <a:lumMod val="50000"/>
                              </a:schemeClr>
                            </a:solidFill>
                            <a:latin typeface="Cambria Math" panose="02040503050406030204" pitchFamily="18" charset="0"/>
                          </a:rPr>
                        </m:ctrlPr>
                      </m:sSubSupPr>
                      <m:e>
                        <m:r>
                          <a:rPr lang="en-US" altLang="zh-CN" b="1" i="1" smtClean="0">
                            <a:solidFill>
                              <a:schemeClr val="accent6">
                                <a:lumMod val="50000"/>
                              </a:schemeClr>
                            </a:solidFill>
                            <a:latin typeface="Cambria Math" panose="02040503050406030204" pitchFamily="18" charset="0"/>
                          </a:rPr>
                          <m:t>𝒘</m:t>
                        </m:r>
                      </m:e>
                      <m:sub>
                        <m:r>
                          <a:rPr lang="en-US" altLang="zh-CN" b="1" i="1" smtClean="0">
                            <a:solidFill>
                              <a:schemeClr val="accent6">
                                <a:lumMod val="50000"/>
                              </a:schemeClr>
                            </a:solidFill>
                            <a:latin typeface="Cambria Math" panose="02040503050406030204" pitchFamily="18" charset="0"/>
                          </a:rPr>
                          <m:t>𝒊𝒋</m:t>
                        </m:r>
                      </m:sub>
                      <m:sup>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e>
                        </m:d>
                      </m:sup>
                    </m:sSubSup>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𝒋</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 ⋯, </m:t>
                        </m:r>
                        <m:r>
                          <a:rPr lang="en-US" altLang="zh-CN" b="1" i="1">
                            <a:solidFill>
                              <a:schemeClr val="accent6">
                                <a:lumMod val="50000"/>
                              </a:schemeClr>
                            </a:solidFill>
                            <a:latin typeface="Cambria Math" panose="02040503050406030204" pitchFamily="18" charset="0"/>
                          </a:rPr>
                          <m:t>𝒏</m:t>
                        </m:r>
                      </m:e>
                    </m:d>
                  </m:oMath>
                </a14:m>
                <a:r>
                  <a:rPr lang="zh-CN" altLang="en-US" b="1">
                    <a:solidFill>
                      <a:schemeClr val="accent6">
                        <a:lumMod val="50000"/>
                      </a:schemeClr>
                    </a:solidFill>
                  </a:rPr>
                  <a:t>，即</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𝑾</m:t>
                        </m:r>
                      </m:e>
                      <m:sub>
                        <m:r>
                          <a:rPr lang="en-US" altLang="zh-CN" b="1" i="1" smtClean="0">
                            <a:solidFill>
                              <a:srgbClr val="C00000"/>
                            </a:solidFill>
                            <a:latin typeface="Cambria Math" panose="02040503050406030204" pitchFamily="18" charset="0"/>
                          </a:rPr>
                          <m:t>𝒌</m:t>
                        </m:r>
                      </m:sub>
                    </m:sSub>
                  </m:oMath>
                </a14:m>
                <a:r>
                  <a:rPr lang="zh-CN" altLang="en-US" b="1">
                    <a:solidFill>
                      <a:srgbClr val="C00000"/>
                    </a:solidFill>
                  </a:rPr>
                  <a:t>的第</a:t>
                </a:r>
                <a14:m>
                  <m:oMath xmlns:m="http://schemas.openxmlformats.org/officeDocument/2006/math">
                    <m:r>
                      <a:rPr lang="en-US" altLang="zh-CN" b="1" i="1" smtClean="0">
                        <a:solidFill>
                          <a:srgbClr val="C00000"/>
                        </a:solidFill>
                        <a:latin typeface="Cambria Math" panose="02040503050406030204" pitchFamily="18" charset="0"/>
                      </a:rPr>
                      <m:t>𝒊</m:t>
                    </m:r>
                  </m:oMath>
                </a14:m>
                <a:r>
                  <a:rPr lang="zh-CN" altLang="en-US" b="1">
                    <a:solidFill>
                      <a:srgbClr val="C00000"/>
                    </a:solidFill>
                  </a:rPr>
                  <a:t>行等于第</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𝑾</m:t>
                        </m:r>
                      </m:e>
                      <m:sub>
                        <m:r>
                          <a:rPr lang="en-US" altLang="zh-CN" b="1" i="1" smtClean="0">
                            <a:solidFill>
                              <a:srgbClr val="C00000"/>
                            </a:solidFill>
                            <a:latin typeface="Cambria Math" panose="02040503050406030204" pitchFamily="18" charset="0"/>
                          </a:rPr>
                          <m:t>𝒌</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b>
                    </m:sSub>
                  </m:oMath>
                </a14:m>
                <a:r>
                  <a:rPr lang="zh-CN" altLang="en-US" b="1">
                    <a:solidFill>
                      <a:srgbClr val="C00000"/>
                    </a:solidFill>
                  </a:rPr>
                  <a:t>的第</a:t>
                </a:r>
                <a14:m>
                  <m:oMath xmlns:m="http://schemas.openxmlformats.org/officeDocument/2006/math">
                    <m:r>
                      <a:rPr lang="en-US" altLang="zh-CN" b="1" i="1" smtClean="0">
                        <a:solidFill>
                          <a:srgbClr val="C00000"/>
                        </a:solidFill>
                        <a:latin typeface="Cambria Math" panose="02040503050406030204" pitchFamily="18" charset="0"/>
                      </a:rPr>
                      <m:t>𝒊</m:t>
                    </m:r>
                  </m:oMath>
                </a14:m>
                <a:r>
                  <a:rPr lang="zh-CN" altLang="en-US" b="1">
                    <a:solidFill>
                      <a:srgbClr val="C00000"/>
                    </a:solidFill>
                  </a:rPr>
                  <a:t>行</a:t>
                </a:r>
                <a:endParaRPr lang="en-US" altLang="zh-CN" b="1">
                  <a:solidFill>
                    <a:srgbClr val="C00000"/>
                  </a:solidFill>
                </a:endParaRPr>
              </a:p>
              <a:p>
                <a:pPr marL="285750" indent="-285750">
                  <a:lnSpc>
                    <a:spcPts val="3000"/>
                  </a:lnSpc>
                  <a:spcBef>
                    <a:spcPts val="600"/>
                  </a:spcBef>
                  <a:spcAft>
                    <a:spcPts val="300"/>
                  </a:spcAft>
                  <a:buFont typeface="Arial" panose="020B0604020202020204" pitchFamily="34" charset="0"/>
                  <a:buChar char="•"/>
                </a:pPr>
                <a:r>
                  <a:rPr lang="zh-CN" altLang="en-US" b="1">
                    <a:solidFill>
                      <a:schemeClr val="accent6">
                        <a:lumMod val="50000"/>
                      </a:schemeClr>
                    </a:solidFill>
                  </a:rPr>
                  <a:t>若</a:t>
                </a:r>
                <a14:m>
                  <m:oMath xmlns:m="http://schemas.openxmlformats.org/officeDocument/2006/math">
                    <m:sSubSup>
                      <m:sSubSupPr>
                        <m:ctrlPr>
                          <a:rPr lang="en-US" altLang="zh-CN" b="1" i="1" smtClean="0">
                            <a:solidFill>
                              <a:srgbClr val="C00000"/>
                            </a:solidFill>
                            <a:latin typeface="Cambria Math" panose="02040503050406030204" pitchFamily="18" charset="0"/>
                          </a:rPr>
                        </m:ctrlPr>
                      </m:sSubSupPr>
                      <m:e>
                        <m:r>
                          <a:rPr lang="en-US" altLang="zh-CN" b="1" i="1" smtClean="0">
                            <a:solidFill>
                              <a:srgbClr val="C00000"/>
                            </a:solidFill>
                            <a:latin typeface="Cambria Math" panose="02040503050406030204" pitchFamily="18" charset="0"/>
                          </a:rPr>
                          <m:t>𝒘</m:t>
                        </m:r>
                      </m:e>
                      <m:sub>
                        <m:r>
                          <a:rPr lang="en-US" altLang="zh-CN" b="1" i="1" smtClean="0">
                            <a:solidFill>
                              <a:srgbClr val="C00000"/>
                            </a:solidFill>
                            <a:latin typeface="Cambria Math" panose="02040503050406030204" pitchFamily="18" charset="0"/>
                          </a:rPr>
                          <m:t>𝒊𝒌</m:t>
                        </m:r>
                      </m:sub>
                      <m:sup>
                        <m:d>
                          <m:dPr>
                            <m:begChr m:val="["/>
                            <m:endChr m:val="]"/>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𝒌</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e>
                        </m:d>
                      </m:sup>
                    </m:sSubSup>
                    <m:r>
                      <a:rPr lang="en-US" altLang="zh-CN" b="1" i="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oMath>
                </a14:m>
                <a:r>
                  <a:rPr lang="zh-CN" altLang="en-US" b="1">
                    <a:solidFill>
                      <a:schemeClr val="accent6">
                        <a:lumMod val="50000"/>
                      </a:schemeClr>
                    </a:solidFill>
                  </a:rPr>
                  <a:t>，则</a:t>
                </a:r>
                <a14:m>
                  <m:oMath xmlns:m="http://schemas.openxmlformats.org/officeDocument/2006/math">
                    <m:sSubSup>
                      <m:sSubSupPr>
                        <m:ctrlPr>
                          <a:rPr lang="en-US" altLang="zh-CN" b="1" i="1" smtClean="0">
                            <a:solidFill>
                              <a:schemeClr val="accent6">
                                <a:lumMod val="50000"/>
                              </a:schemeClr>
                            </a:solidFill>
                            <a:latin typeface="Cambria Math" panose="02040503050406030204" pitchFamily="18" charset="0"/>
                          </a:rPr>
                        </m:ctrlPr>
                      </m:sSubSupPr>
                      <m:e>
                        <m:r>
                          <a:rPr lang="en-US" altLang="zh-CN" b="1" i="1" smtClean="0">
                            <a:solidFill>
                              <a:schemeClr val="accent6">
                                <a:lumMod val="50000"/>
                              </a:schemeClr>
                            </a:solidFill>
                            <a:latin typeface="Cambria Math" panose="02040503050406030204" pitchFamily="18" charset="0"/>
                          </a:rPr>
                          <m:t>𝒘</m:t>
                        </m:r>
                      </m:e>
                      <m:sub>
                        <m:r>
                          <a:rPr lang="en-US" altLang="zh-CN" b="1" i="1" smtClean="0">
                            <a:solidFill>
                              <a:schemeClr val="accent6">
                                <a:lumMod val="50000"/>
                              </a:schemeClr>
                            </a:solidFill>
                            <a:latin typeface="Cambria Math" panose="02040503050406030204" pitchFamily="18" charset="0"/>
                          </a:rPr>
                          <m:t>𝒊𝒋</m:t>
                        </m:r>
                      </m:sub>
                      <m:sup>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𝒌</m:t>
                            </m:r>
                          </m:e>
                        </m:d>
                      </m:sup>
                    </m:sSubSup>
                    <m:r>
                      <a:rPr lang="en-US" altLang="zh-CN" b="1" i="1" smtClean="0">
                        <a:solidFill>
                          <a:schemeClr val="accent6">
                            <a:lumMod val="50000"/>
                          </a:schemeClr>
                        </a:solidFill>
                        <a:latin typeface="Cambria Math" panose="02040503050406030204" pitchFamily="18" charset="0"/>
                      </a:rPr>
                      <m:t>=</m:t>
                    </m:r>
                    <m:sSubSup>
                      <m:sSubSupPr>
                        <m:ctrlPr>
                          <a:rPr lang="en-US" altLang="zh-CN" b="1" i="1" smtClean="0">
                            <a:solidFill>
                              <a:schemeClr val="accent6">
                                <a:lumMod val="50000"/>
                              </a:schemeClr>
                            </a:solidFill>
                            <a:latin typeface="Cambria Math" panose="02040503050406030204" pitchFamily="18" charset="0"/>
                          </a:rPr>
                        </m:ctrlPr>
                      </m:sSubSupPr>
                      <m:e>
                        <m:r>
                          <a:rPr lang="en-US" altLang="zh-CN" b="1" i="1" smtClean="0">
                            <a:solidFill>
                              <a:schemeClr val="accent6">
                                <a:lumMod val="50000"/>
                              </a:schemeClr>
                            </a:solidFill>
                            <a:latin typeface="Cambria Math" panose="02040503050406030204" pitchFamily="18" charset="0"/>
                          </a:rPr>
                          <m:t>𝒘</m:t>
                        </m:r>
                      </m:e>
                      <m:sub>
                        <m:r>
                          <a:rPr lang="en-US" altLang="zh-CN" b="1" i="1">
                            <a:solidFill>
                              <a:schemeClr val="accent6">
                                <a:lumMod val="50000"/>
                              </a:schemeClr>
                            </a:solidFill>
                            <a:latin typeface="Cambria Math" panose="02040503050406030204" pitchFamily="18" charset="0"/>
                          </a:rPr>
                          <m:t>𝒊𝒋</m:t>
                        </m:r>
                      </m:sub>
                      <m:sup>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e>
                        </m:d>
                      </m:sup>
                    </m:sSubSup>
                    <m:r>
                      <a:rPr lang="en-US" altLang="zh-CN" b="1" i="1" smtClean="0">
                        <a:solidFill>
                          <a:schemeClr val="accent6">
                            <a:lumMod val="50000"/>
                          </a:schemeClr>
                        </a:solidFill>
                        <a:latin typeface="Cambria Math" panose="02040503050406030204" pitchFamily="18" charset="0"/>
                      </a:rPr>
                      <m:t>∨</m:t>
                    </m:r>
                    <m:sSubSup>
                      <m:sSubSupPr>
                        <m:ctrlPr>
                          <a:rPr lang="en-US" altLang="zh-CN" b="1" i="1" smtClean="0">
                            <a:solidFill>
                              <a:schemeClr val="accent6">
                                <a:lumMod val="50000"/>
                              </a:schemeClr>
                            </a:solidFill>
                            <a:latin typeface="Cambria Math" panose="02040503050406030204" pitchFamily="18" charset="0"/>
                          </a:rPr>
                        </m:ctrlPr>
                      </m:sSubSupPr>
                      <m:e>
                        <m:r>
                          <a:rPr lang="en-US" altLang="zh-CN" b="1" i="1" smtClean="0">
                            <a:solidFill>
                              <a:schemeClr val="accent6">
                                <a:lumMod val="50000"/>
                              </a:schemeClr>
                            </a:solidFill>
                            <a:latin typeface="Cambria Math" panose="02040503050406030204" pitchFamily="18" charset="0"/>
                          </a:rPr>
                          <m:t>𝒘</m:t>
                        </m:r>
                      </m:e>
                      <m:sub>
                        <m:r>
                          <a:rPr lang="en-US" altLang="zh-CN" b="1" i="1" smtClean="0">
                            <a:solidFill>
                              <a:schemeClr val="accent6">
                                <a:lumMod val="50000"/>
                              </a:schemeClr>
                            </a:solidFill>
                            <a:latin typeface="Cambria Math" panose="02040503050406030204" pitchFamily="18" charset="0"/>
                          </a:rPr>
                          <m:t>𝒌𝒋</m:t>
                        </m:r>
                      </m:sub>
                      <m:sup>
                        <m:d>
                          <m:dPr>
                            <m:begChr m:val="["/>
                            <m:endChr m:val="]"/>
                            <m:ctrlPr>
                              <a:rPr lang="en-US" altLang="zh-CN" b="1" i="1" smtClean="0">
                                <a:solidFill>
                                  <a:schemeClr val="accent6">
                                    <a:lumMod val="50000"/>
                                  </a:schemeClr>
                                </a:solidFill>
                                <a:latin typeface="Cambria Math" panose="02040503050406030204" pitchFamily="18" charset="0"/>
                              </a:rPr>
                            </m:ctrlPr>
                          </m:dPr>
                          <m:e>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e>
                        </m:d>
                      </m:sup>
                    </m:sSubSup>
                    <m:d>
                      <m:dPr>
                        <m:ctrlPr>
                          <a:rPr lang="en-US" altLang="zh-CN" b="1" i="1" smtClean="0">
                            <a:solidFill>
                              <a:schemeClr val="accent6">
                                <a:lumMod val="50000"/>
                              </a:schemeClr>
                            </a:solidFill>
                            <a:latin typeface="Cambria Math" panose="02040503050406030204" pitchFamily="18" charset="0"/>
                          </a:rPr>
                        </m:ctrlPr>
                      </m:dPr>
                      <m:e>
                        <m:r>
                          <a:rPr lang="en-US" altLang="zh-CN" b="1" i="1">
                            <a:solidFill>
                              <a:schemeClr val="accent6">
                                <a:lumMod val="50000"/>
                              </a:schemeClr>
                            </a:solidFill>
                            <a:latin typeface="Cambria Math" panose="02040503050406030204" pitchFamily="18" charset="0"/>
                          </a:rPr>
                          <m:t>𝒋</m:t>
                        </m:r>
                        <m:r>
                          <a:rPr lang="en-US" altLang="zh-CN" b="1" i="1">
                            <a:solidFill>
                              <a:schemeClr val="accent6">
                                <a:lumMod val="50000"/>
                              </a:schemeClr>
                            </a:solidFill>
                            <a:latin typeface="Cambria Math" panose="02040503050406030204" pitchFamily="18" charset="0"/>
                          </a:rPr>
                          <m:t>=</m:t>
                        </m:r>
                        <m:r>
                          <a:rPr lang="en-US" altLang="zh-CN" b="1" i="1">
                            <a:solidFill>
                              <a:schemeClr val="accent6">
                                <a:lumMod val="50000"/>
                              </a:schemeClr>
                            </a:solidFill>
                            <a:latin typeface="Cambria Math" panose="02040503050406030204" pitchFamily="18" charset="0"/>
                          </a:rPr>
                          <m:t>𝟏</m:t>
                        </m:r>
                        <m:r>
                          <a:rPr lang="en-US" altLang="zh-CN" b="1" i="1">
                            <a:solidFill>
                              <a:schemeClr val="accent6">
                                <a:lumMod val="50000"/>
                              </a:schemeClr>
                            </a:solidFill>
                            <a:latin typeface="Cambria Math" panose="02040503050406030204" pitchFamily="18" charset="0"/>
                          </a:rPr>
                          <m:t>, ⋯, </m:t>
                        </m:r>
                        <m:r>
                          <a:rPr lang="en-US" altLang="zh-CN" b="1" i="1">
                            <a:solidFill>
                              <a:schemeClr val="accent6">
                                <a:lumMod val="50000"/>
                              </a:schemeClr>
                            </a:solidFill>
                            <a:latin typeface="Cambria Math" panose="02040503050406030204" pitchFamily="18" charset="0"/>
                          </a:rPr>
                          <m:t>𝒏</m:t>
                        </m:r>
                      </m:e>
                    </m:d>
                  </m:oMath>
                </a14:m>
                <a:r>
                  <a:rPr lang="zh-CN" altLang="en-US" b="1">
                    <a:solidFill>
                      <a:schemeClr val="accent6">
                        <a:lumMod val="50000"/>
                      </a:schemeClr>
                    </a:solidFill>
                  </a:rPr>
                  <a:t>，即</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𝑾</m:t>
                        </m:r>
                      </m:e>
                      <m:sub>
                        <m:r>
                          <a:rPr lang="en-US" altLang="zh-CN" b="1" i="1" smtClean="0">
                            <a:solidFill>
                              <a:srgbClr val="C00000"/>
                            </a:solidFill>
                            <a:latin typeface="Cambria Math" panose="02040503050406030204" pitchFamily="18" charset="0"/>
                          </a:rPr>
                          <m:t>𝒌</m:t>
                        </m:r>
                      </m:sub>
                    </m:sSub>
                  </m:oMath>
                </a14:m>
                <a:r>
                  <a:rPr lang="zh-CN" altLang="en-US" b="1">
                    <a:solidFill>
                      <a:srgbClr val="C00000"/>
                    </a:solidFill>
                  </a:rPr>
                  <a:t>的第</a:t>
                </a:r>
                <a14:m>
                  <m:oMath xmlns:m="http://schemas.openxmlformats.org/officeDocument/2006/math">
                    <m:r>
                      <a:rPr lang="en-US" altLang="zh-CN" b="1" i="1" smtClean="0">
                        <a:solidFill>
                          <a:srgbClr val="C00000"/>
                        </a:solidFill>
                        <a:latin typeface="Cambria Math" panose="02040503050406030204" pitchFamily="18" charset="0"/>
                      </a:rPr>
                      <m:t>𝒊</m:t>
                    </m:r>
                  </m:oMath>
                </a14:m>
                <a:r>
                  <a:rPr lang="zh-CN" altLang="en-US" b="1">
                    <a:solidFill>
                      <a:srgbClr val="C00000"/>
                    </a:solidFill>
                  </a:rPr>
                  <a:t>行等于</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𝑾</m:t>
                        </m:r>
                      </m:e>
                      <m:sub>
                        <m:r>
                          <a:rPr lang="en-US" altLang="zh-CN" b="1" i="1" smtClean="0">
                            <a:solidFill>
                              <a:srgbClr val="C00000"/>
                            </a:solidFill>
                            <a:latin typeface="Cambria Math" panose="02040503050406030204" pitchFamily="18" charset="0"/>
                          </a:rPr>
                          <m:t>𝒌</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b>
                    </m:sSub>
                  </m:oMath>
                </a14:m>
                <a:r>
                  <a:rPr lang="zh-CN" altLang="en-US" b="1">
                    <a:solidFill>
                      <a:srgbClr val="C00000"/>
                    </a:solidFill>
                  </a:rPr>
                  <a:t>的第</a:t>
                </a:r>
                <a14:m>
                  <m:oMath xmlns:m="http://schemas.openxmlformats.org/officeDocument/2006/math">
                    <m:r>
                      <a:rPr lang="en-US" altLang="zh-CN" b="1" i="1" smtClean="0">
                        <a:solidFill>
                          <a:srgbClr val="C00000"/>
                        </a:solidFill>
                        <a:latin typeface="Cambria Math" panose="02040503050406030204" pitchFamily="18" charset="0"/>
                      </a:rPr>
                      <m:t>𝒊</m:t>
                    </m:r>
                  </m:oMath>
                </a14:m>
                <a:r>
                  <a:rPr lang="zh-CN" altLang="en-US" b="1">
                    <a:solidFill>
                      <a:srgbClr val="C00000"/>
                    </a:solidFill>
                  </a:rPr>
                  <a:t>行与</a:t>
                </a:r>
                <a14:m>
                  <m:oMath xmlns:m="http://schemas.openxmlformats.org/officeDocument/2006/math">
                    <m:sSub>
                      <m:sSubPr>
                        <m:ctrlPr>
                          <a:rPr lang="en-US" altLang="zh-CN" b="1" i="1" smtClean="0">
                            <a:solidFill>
                              <a:srgbClr val="C00000"/>
                            </a:solidFill>
                            <a:latin typeface="Cambria Math" panose="02040503050406030204" pitchFamily="18" charset="0"/>
                          </a:rPr>
                        </m:ctrlPr>
                      </m:sSubPr>
                      <m:e>
                        <m:r>
                          <a:rPr lang="en-US" altLang="zh-CN" b="1" i="1" smtClean="0">
                            <a:solidFill>
                              <a:srgbClr val="C00000"/>
                            </a:solidFill>
                            <a:latin typeface="Cambria Math" panose="02040503050406030204" pitchFamily="18" charset="0"/>
                          </a:rPr>
                          <m:t>𝑾</m:t>
                        </m:r>
                      </m:e>
                      <m:sub>
                        <m:r>
                          <a:rPr lang="en-US" altLang="zh-CN" b="1" i="1" smtClean="0">
                            <a:solidFill>
                              <a:srgbClr val="C00000"/>
                            </a:solidFill>
                            <a:latin typeface="Cambria Math" panose="02040503050406030204" pitchFamily="18" charset="0"/>
                          </a:rPr>
                          <m:t>𝒌</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𝟏</m:t>
                        </m:r>
                      </m:sub>
                    </m:sSub>
                  </m:oMath>
                </a14:m>
                <a:r>
                  <a:rPr lang="zh-CN" altLang="en-US" b="1">
                    <a:solidFill>
                      <a:srgbClr val="C00000"/>
                    </a:solidFill>
                  </a:rPr>
                  <a:t>的第</a:t>
                </a:r>
                <a14:m>
                  <m:oMath xmlns:m="http://schemas.openxmlformats.org/officeDocument/2006/math">
                    <m:r>
                      <a:rPr lang="en-US" altLang="zh-CN" b="1" i="1" smtClean="0">
                        <a:solidFill>
                          <a:srgbClr val="C00000"/>
                        </a:solidFill>
                        <a:latin typeface="Cambria Math" panose="02040503050406030204" pitchFamily="18" charset="0"/>
                      </a:rPr>
                      <m:t>𝒌</m:t>
                    </m:r>
                  </m:oMath>
                </a14:m>
                <a:r>
                  <a:rPr lang="zh-CN" altLang="en-US" b="1">
                    <a:solidFill>
                      <a:srgbClr val="C00000"/>
                    </a:solidFill>
                  </a:rPr>
                  <a:t>行对应元素做逻辑或</a:t>
                </a:r>
                <a:endParaRPr lang="zh-CN" altLang="en-US" b="1">
                  <a:solidFill>
                    <a:schemeClr val="accent6">
                      <a:lumMod val="50000"/>
                    </a:schemeClr>
                  </a:solidFill>
                </a:endParaRPr>
              </a:p>
            </p:txBody>
          </p:sp>
        </mc:Choice>
        <mc:Fallback>
          <p:sp>
            <p:nvSpPr>
              <p:cNvPr id="11" name="文本框 10"/>
              <p:cNvSpPr txBox="1">
                <a:spLocks noRot="1" noChangeAspect="1" noMove="1" noResize="1" noEditPoints="1" noAdjustHandles="1" noChangeArrowheads="1" noChangeShapeType="1" noTextEdit="1"/>
              </p:cNvSpPr>
              <p:nvPr/>
            </p:nvSpPr>
            <p:spPr>
              <a:xfrm>
                <a:off x="637831" y="2124003"/>
                <a:ext cx="6500916" cy="2287293"/>
              </a:xfrm>
              <a:prstGeom prst="rect">
                <a:avLst/>
              </a:prstGeom>
              <a:blipFill rotWithShape="1">
                <a:blip r:embed="rId2"/>
                <a:stretch>
                  <a:fillRect l="-4" t="-25" r="1" b="-316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584757" y="1751065"/>
                <a:ext cx="2236279" cy="1205138"/>
              </a:xfrm>
              <a:prstGeom prst="rect">
                <a:avLst/>
              </a:prstGeom>
              <a:solidFill>
                <a:schemeClr val="accent5">
                  <a:lumMod val="20000"/>
                  <a:lumOff val="80000"/>
                  <a:alpha val="50000"/>
                </a:schemeClr>
              </a:solidFill>
            </p:spPr>
            <p:txBody>
              <a:bodyPr wrap="square" rtlCol="0">
                <a:spAutoFit/>
              </a:bodyPr>
              <a:lstStyle/>
              <a:p>
                <a:pPr>
                  <a:lnSpc>
                    <a:spcPts val="2200"/>
                  </a:lnSpc>
                </a:pPr>
                <a14:m>
                  <m:oMathPara xmlns:m="http://schemas.openxmlformats.org/officeDocument/2006/math">
                    <m:oMathParaPr>
                      <m:jc m:val="centerGroup"/>
                    </m:oMathParaPr>
                    <m:oMath xmlns:m="http://schemas.openxmlformats.org/officeDocument/2006/math">
                      <m:r>
                        <a:rPr lang="en-US" altLang="zh-CN" i="1" smtClean="0">
                          <a:solidFill>
                            <a:srgbClr val="C00000"/>
                          </a:solidFill>
                          <a:latin typeface="Cambria Math" panose="02040503050406030204" pitchFamily="18" charset="0"/>
                        </a:rPr>
                        <m:t>𝑘</m:t>
                      </m:r>
                      <m:r>
                        <a:rPr lang="en-US" altLang="zh-CN" i="1" smtClean="0">
                          <a:solidFill>
                            <a:srgbClr val="C00000"/>
                          </a:solidFill>
                          <a:latin typeface="Cambria Math" panose="02040503050406030204" pitchFamily="18" charset="0"/>
                        </a:rPr>
                        <m:t>=</m:t>
                      </m:r>
                      <m:r>
                        <a:rPr lang="en-US" altLang="zh-CN" i="1" smtClean="0">
                          <a:solidFill>
                            <a:srgbClr val="C00000"/>
                          </a:solidFill>
                          <a:latin typeface="Cambria Math" panose="02040503050406030204" pitchFamily="18" charset="0"/>
                        </a:rPr>
                        <m:t>1</m:t>
                      </m:r>
                    </m:oMath>
                  </m:oMathPara>
                </a14:m>
                <a:endParaRPr lang="en-US" altLang="zh-CN" dirty="0">
                  <a:solidFill>
                    <a:srgbClr val="C00000"/>
                  </a:solidFill>
                </a:endParaRPr>
              </a:p>
              <a:p>
                <a:pPr>
                  <a:lnSpc>
                    <a:spcPts val="2200"/>
                  </a:lnSpc>
                </a:pPr>
                <a:r>
                  <a:rPr lang="zh-CN" altLang="en-US" sz="1600" b="1" dirty="0">
                    <a:solidFill>
                      <a:schemeClr val="accent2">
                        <a:lumMod val="50000"/>
                      </a:schemeClr>
                    </a:solidFill>
                  </a:rPr>
                  <a:t>只有</a:t>
                </a:r>
                <a14:m>
                  <m:oMath xmlns:m="http://schemas.openxmlformats.org/officeDocument/2006/math">
                    <m:sSubSup>
                      <m:sSubSupPr>
                        <m:ctrlPr>
                          <a:rPr lang="en-US" altLang="zh-CN" sz="1600" b="1" i="1" smtClean="0">
                            <a:solidFill>
                              <a:schemeClr val="accent2">
                                <a:lumMod val="50000"/>
                              </a:schemeClr>
                            </a:solidFill>
                            <a:latin typeface="Cambria Math" panose="02040503050406030204" pitchFamily="18" charset="0"/>
                          </a:rPr>
                        </m:ctrlPr>
                      </m:sSubSupPr>
                      <m:e>
                        <m:r>
                          <a:rPr lang="en-US" altLang="zh-CN" sz="1600" b="1" i="1" smtClean="0">
                            <a:solidFill>
                              <a:schemeClr val="accent2">
                                <a:lumMod val="50000"/>
                              </a:schemeClr>
                            </a:solidFill>
                            <a:latin typeface="Cambria Math" panose="02040503050406030204" pitchFamily="18" charset="0"/>
                          </a:rPr>
                          <m:t>𝒘</m:t>
                        </m:r>
                      </m:e>
                      <m:sub>
                        <m:r>
                          <a:rPr lang="en-US" altLang="zh-CN" sz="1600" b="1" i="1" smtClean="0">
                            <a:solidFill>
                              <a:schemeClr val="accent2">
                                <a:lumMod val="50000"/>
                              </a:schemeClr>
                            </a:solidFill>
                            <a:latin typeface="Cambria Math" panose="02040503050406030204" pitchFamily="18" charset="0"/>
                          </a:rPr>
                          <m:t>𝟑𝟏</m:t>
                        </m:r>
                      </m:sub>
                      <m:sup>
                        <m:d>
                          <m:dPr>
                            <m:begChr m:val="["/>
                            <m:endChr m:val="]"/>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𝟎</m:t>
                            </m:r>
                          </m:e>
                        </m:d>
                      </m:sup>
                    </m:sSubSup>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𝟏</m:t>
                    </m:r>
                  </m:oMath>
                </a14:m>
                <a:r>
                  <a:rPr lang="zh-CN" altLang="en-US" sz="1600" b="1" dirty="0">
                    <a:solidFill>
                      <a:schemeClr val="accent2">
                        <a:lumMod val="50000"/>
                      </a:schemeClr>
                    </a:solidFill>
                  </a:rPr>
                  <a:t>，</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𝑾</m:t>
                        </m:r>
                      </m:e>
                      <m:sub>
                        <m:r>
                          <a:rPr lang="en-US" altLang="zh-CN" sz="1600" b="1" i="1" smtClean="0">
                            <a:solidFill>
                              <a:schemeClr val="accent2">
                                <a:lumMod val="50000"/>
                              </a:schemeClr>
                            </a:solidFill>
                            <a:latin typeface="Cambria Math" panose="02040503050406030204" pitchFamily="18" charset="0"/>
                          </a:rPr>
                          <m:t>𝟎</m:t>
                        </m:r>
                      </m:sub>
                    </m:sSub>
                  </m:oMath>
                </a14:m>
                <a:r>
                  <a:rPr lang="zh-CN" altLang="en-US" sz="1600" b="1" dirty="0">
                    <a:solidFill>
                      <a:srgbClr val="C00000"/>
                    </a:solidFill>
                  </a:rPr>
                  <a:t>第</a:t>
                </a:r>
                <a:r>
                  <a:rPr lang="en-US" altLang="zh-CN" sz="1600" b="1" dirty="0">
                    <a:solidFill>
                      <a:srgbClr val="C00000"/>
                    </a:solidFill>
                  </a:rPr>
                  <a:t>1</a:t>
                </a:r>
                <a:r>
                  <a:rPr lang="zh-CN" altLang="en-US" sz="1600" b="1" dirty="0">
                    <a:solidFill>
                      <a:srgbClr val="C00000"/>
                    </a:solidFill>
                  </a:rPr>
                  <a:t>行和第</a:t>
                </a:r>
                <a:r>
                  <a:rPr lang="en-US" altLang="zh-CN" sz="1600" b="1" dirty="0">
                    <a:solidFill>
                      <a:srgbClr val="C00000"/>
                    </a:solidFill>
                  </a:rPr>
                  <a:t>3</a:t>
                </a:r>
                <a:r>
                  <a:rPr lang="zh-CN" altLang="en-US" sz="1600" b="1" dirty="0">
                    <a:solidFill>
                      <a:srgbClr val="C00000"/>
                    </a:solidFill>
                  </a:rPr>
                  <a:t>行逻辑或</a:t>
                </a:r>
                <a:r>
                  <a:rPr lang="zh-CN" altLang="en-US" sz="1600" b="1" dirty="0">
                    <a:solidFill>
                      <a:schemeClr val="accent2">
                        <a:lumMod val="50000"/>
                      </a:schemeClr>
                    </a:solidFill>
                  </a:rPr>
                  <a:t>得</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𝑾</m:t>
                        </m:r>
                      </m:e>
                      <m:sub>
                        <m:r>
                          <a:rPr lang="en-US" altLang="zh-CN" sz="1600" b="1" i="1">
                            <a:solidFill>
                              <a:schemeClr val="accent2">
                                <a:lumMod val="50000"/>
                              </a:schemeClr>
                            </a:solidFill>
                            <a:latin typeface="Cambria Math" panose="02040503050406030204" pitchFamily="18" charset="0"/>
                          </a:rPr>
                          <m:t>𝟏</m:t>
                        </m:r>
                      </m:sub>
                    </m:sSub>
                  </m:oMath>
                </a14:m>
                <a:r>
                  <a:rPr lang="zh-CN" altLang="en-US" sz="1600" b="1" dirty="0">
                    <a:solidFill>
                      <a:srgbClr val="FF0000"/>
                    </a:solidFill>
                  </a:rPr>
                  <a:t>的第</a:t>
                </a:r>
                <a:r>
                  <a:rPr lang="en-US" altLang="zh-CN" sz="1600" b="1" dirty="0">
                    <a:solidFill>
                      <a:srgbClr val="FF0000"/>
                    </a:solidFill>
                  </a:rPr>
                  <a:t>3</a:t>
                </a:r>
                <a:r>
                  <a:rPr lang="zh-CN" altLang="en-US" sz="1600" b="1" dirty="0">
                    <a:solidFill>
                      <a:srgbClr val="FF0000"/>
                    </a:solidFill>
                  </a:rPr>
                  <a:t>行</a:t>
                </a:r>
                <a:endParaRPr lang="zh-CN" altLang="en-US" sz="1600" b="1" dirty="0">
                  <a:solidFill>
                    <a:srgbClr val="FF0000"/>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7584757" y="1751065"/>
                <a:ext cx="2236279" cy="1205138"/>
              </a:xfrm>
              <a:prstGeom prst="rect">
                <a:avLst/>
              </a:prstGeom>
              <a:blipFill rotWithShape="1">
                <a:blip r:embed="rId3"/>
                <a:stretch>
                  <a:fillRect l="-14" t="-31" r="6" b="23"/>
                </a:stretch>
              </a:blipFill>
            </p:spPr>
            <p:txBody>
              <a:bodyPr/>
              <a:lstStyle/>
              <a:p>
                <a:r>
                  <a:rPr lang="zh-CN" altLang="en-US">
                    <a:noFill/>
                  </a:rPr>
                  <a:t> </a:t>
                </a:r>
              </a:p>
            </p:txBody>
          </p:sp>
        </mc:Fallback>
      </mc:AlternateContent>
      <p:grpSp>
        <p:nvGrpSpPr>
          <p:cNvPr id="37" name="组合 36"/>
          <p:cNvGrpSpPr/>
          <p:nvPr/>
        </p:nvGrpSpPr>
        <p:grpSpPr>
          <a:xfrm>
            <a:off x="8622866" y="944627"/>
            <a:ext cx="3236876" cy="1667096"/>
            <a:chOff x="8618576" y="1103964"/>
            <a:chExt cx="3236876" cy="1667096"/>
          </a:xfrm>
        </p:grpSpPr>
        <p:grpSp>
          <p:nvGrpSpPr>
            <p:cNvPr id="14" name="组合 13"/>
            <p:cNvGrpSpPr/>
            <p:nvPr/>
          </p:nvGrpSpPr>
          <p:grpSpPr>
            <a:xfrm>
              <a:off x="8618576" y="1103964"/>
              <a:ext cx="3236876" cy="1667096"/>
              <a:chOff x="8618576" y="1103964"/>
              <a:chExt cx="3236876" cy="1667096"/>
            </a:xfrm>
          </p:grpSpPr>
          <p:pic>
            <p:nvPicPr>
              <p:cNvPr id="4" name="图片 3"/>
              <p:cNvPicPr>
                <a:picLocks noChangeAspect="1"/>
              </p:cNvPicPr>
              <p:nvPr/>
            </p:nvPicPr>
            <p:blipFill>
              <a:blip r:embed="rId4"/>
              <a:stretch>
                <a:fillRect/>
              </a:stretch>
            </p:blipFill>
            <p:spPr>
              <a:xfrm>
                <a:off x="9823420" y="1103964"/>
                <a:ext cx="2032032" cy="1667096"/>
              </a:xfrm>
              <a:prstGeom prst="rect">
                <a:avLst/>
              </a:prstGeom>
            </p:spPr>
          </p:pic>
          <mc:AlternateContent xmlns:mc="http://schemas.openxmlformats.org/markup-compatibility/2006">
            <mc:Choice xmlns:a14="http://schemas.microsoft.com/office/drawing/2010/main" Requires="a14">
              <p:sp>
                <p:nvSpPr>
                  <p:cNvPr id="6" name="文本框 5"/>
                  <p:cNvSpPr txBox="1"/>
                  <p:nvPr/>
                </p:nvSpPr>
                <p:spPr>
                  <a:xfrm>
                    <a:off x="8618576" y="1150589"/>
                    <a:ext cx="1204844"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𝑾</m:t>
                              </m:r>
                            </m:e>
                            <m:sub>
                              <m:r>
                                <a:rPr lang="en-US" altLang="zh-CN" b="1" i="1">
                                  <a:solidFill>
                                    <a:schemeClr val="accent2">
                                      <a:lumMod val="50000"/>
                                    </a:schemeClr>
                                  </a:solidFill>
                                  <a:latin typeface="Cambria Math" panose="02040503050406030204" pitchFamily="18" charset="0"/>
                                </a:rPr>
                                <m:t>𝟎</m:t>
                              </m:r>
                            </m:sub>
                          </m:sSub>
                          <m:r>
                            <a:rPr lang="en-US" altLang="zh-CN" b="1" i="1">
                              <a:solidFill>
                                <a:schemeClr val="accent2">
                                  <a:lumMod val="50000"/>
                                </a:schemeClr>
                              </a:solidFill>
                              <a:latin typeface="Cambria Math" panose="02040503050406030204" pitchFamily="18" charset="0"/>
                            </a:rPr>
                            <m:t>= </m:t>
                          </m:r>
                          <m:sSub>
                            <m:sSubPr>
                              <m:ctrlPr>
                                <a:rPr lang="en-US" altLang="zh-CN" b="1" i="1">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𝑴</m:t>
                              </m:r>
                            </m:e>
                            <m:sub>
                              <m:r>
                                <a:rPr lang="en-US" altLang="zh-CN" b="1" i="1">
                                  <a:solidFill>
                                    <a:schemeClr val="accent2">
                                      <a:lumMod val="50000"/>
                                    </a:schemeClr>
                                  </a:solidFill>
                                  <a:latin typeface="Cambria Math" panose="02040503050406030204" pitchFamily="18" charset="0"/>
                                </a:rPr>
                                <m:t>𝑹</m:t>
                              </m:r>
                            </m:sub>
                          </m:sSub>
                        </m:oMath>
                      </m:oMathPara>
                    </a14:m>
                    <a:endParaRPr lang="zh-CN" altLang="en-US"/>
                  </a:p>
                </p:txBody>
              </p:sp>
            </mc:Choice>
            <mc:Fallback>
              <p:sp>
                <p:nvSpPr>
                  <p:cNvPr id="6" name="文本框 5"/>
                  <p:cNvSpPr txBox="1">
                    <a:spLocks noRot="1" noChangeAspect="1" noMove="1" noResize="1" noEditPoints="1" noAdjustHandles="1" noChangeArrowheads="1" noChangeShapeType="1" noTextEdit="1"/>
                  </p:cNvSpPr>
                  <p:nvPr/>
                </p:nvSpPr>
                <p:spPr>
                  <a:xfrm>
                    <a:off x="8618576" y="1150589"/>
                    <a:ext cx="1204844" cy="276999"/>
                  </a:xfrm>
                  <a:prstGeom prst="rect">
                    <a:avLst/>
                  </a:prstGeom>
                  <a:blipFill rotWithShape="1">
                    <a:blip r:embed="rId5"/>
                  </a:blipFill>
                </p:spPr>
                <p:txBody>
                  <a:bodyPr/>
                  <a:lstStyle/>
                  <a:p>
                    <a:r>
                      <a:rPr lang="zh-CN" altLang="en-US">
                        <a:noFill/>
                      </a:rPr>
                      <a:t> </a:t>
                    </a:r>
                  </a:p>
                </p:txBody>
              </p:sp>
            </mc:Fallback>
          </mc:AlternateContent>
          <p:sp>
            <p:nvSpPr>
              <p:cNvPr id="13" name="矩形 12"/>
              <p:cNvSpPr/>
              <p:nvPr/>
            </p:nvSpPr>
            <p:spPr>
              <a:xfrm>
                <a:off x="9888200" y="1997889"/>
                <a:ext cx="1918906" cy="3648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888199" y="1150589"/>
                <a:ext cx="1918907" cy="364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p:nvSpPr>
          <p:spPr>
            <a:xfrm>
              <a:off x="9888200" y="1127276"/>
              <a:ext cx="360420" cy="162047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a:off x="9307765" y="2842928"/>
            <a:ext cx="2553124" cy="1667096"/>
            <a:chOff x="9302328" y="3241032"/>
            <a:chExt cx="2553124" cy="1667096"/>
          </a:xfrm>
        </p:grpSpPr>
        <p:pic>
          <p:nvPicPr>
            <p:cNvPr id="20" name="图片 19"/>
            <p:cNvPicPr>
              <a:picLocks noChangeAspect="1"/>
            </p:cNvPicPr>
            <p:nvPr/>
          </p:nvPicPr>
          <p:blipFill>
            <a:blip r:embed="rId4"/>
            <a:stretch>
              <a:fillRect/>
            </a:stretch>
          </p:blipFill>
          <p:spPr>
            <a:xfrm>
              <a:off x="9823420" y="3241032"/>
              <a:ext cx="2032032" cy="1667096"/>
            </a:xfrm>
            <a:prstGeom prst="rect">
              <a:avLst/>
            </a:prstGeom>
          </p:spPr>
        </p:pic>
        <mc:AlternateContent xmlns:mc="http://schemas.openxmlformats.org/markup-compatibility/2006">
          <mc:Choice xmlns:a14="http://schemas.microsoft.com/office/drawing/2010/main" Requires="a14">
            <p:sp>
              <p:nvSpPr>
                <p:cNvPr id="21" name="文本框 20"/>
                <p:cNvSpPr txBox="1"/>
                <p:nvPr/>
              </p:nvSpPr>
              <p:spPr>
                <a:xfrm>
                  <a:off x="9302328" y="3309949"/>
                  <a:ext cx="52776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𝑾</m:t>
                            </m:r>
                          </m:e>
                          <m:sub>
                            <m:r>
                              <a:rPr lang="en-US" altLang="zh-CN" b="1" i="1" smtClean="0">
                                <a:solidFill>
                                  <a:schemeClr val="accent2">
                                    <a:lumMod val="50000"/>
                                  </a:schemeClr>
                                </a:solidFill>
                                <a:latin typeface="Cambria Math" panose="02040503050406030204" pitchFamily="18" charset="0"/>
                              </a:rPr>
                              <m:t>𝟏</m:t>
                            </m:r>
                          </m:sub>
                        </m:sSub>
                      </m:oMath>
                    </m:oMathPara>
                  </a14:m>
                  <a:endParaRPr lang="zh-CN" altLang="en-US" dirty="0"/>
                </a:p>
              </p:txBody>
            </p:sp>
          </mc:Choice>
          <mc:Fallback>
            <p:sp>
              <p:nvSpPr>
                <p:cNvPr id="21" name="文本框 20"/>
                <p:cNvSpPr txBox="1">
                  <a:spLocks noRot="1" noChangeAspect="1" noMove="1" noResize="1" noEditPoints="1" noAdjustHandles="1" noChangeArrowheads="1" noChangeShapeType="1" noTextEdit="1"/>
                </p:cNvSpPr>
                <p:nvPr/>
              </p:nvSpPr>
              <p:spPr>
                <a:xfrm>
                  <a:off x="9302328" y="3309949"/>
                  <a:ext cx="527765" cy="276999"/>
                </a:xfrm>
                <a:prstGeom prst="rect">
                  <a:avLst/>
                </a:prstGeom>
                <a:blipFill rotWithShape="1">
                  <a:blip r:embed="rId6"/>
                </a:blipFill>
              </p:spPr>
              <p:txBody>
                <a:bodyPr/>
                <a:lstStyle/>
                <a:p>
                  <a:r>
                    <a:rPr lang="zh-CN" altLang="en-US">
                      <a:noFill/>
                    </a:rPr>
                    <a:t> </a:t>
                  </a:r>
                </a:p>
              </p:txBody>
            </p:sp>
          </mc:Fallback>
        </mc:AlternateContent>
        <p:sp>
          <p:nvSpPr>
            <p:cNvPr id="22" name="矩形 21"/>
            <p:cNvSpPr/>
            <p:nvPr/>
          </p:nvSpPr>
          <p:spPr>
            <a:xfrm>
              <a:off x="9836767" y="4134957"/>
              <a:ext cx="1982312" cy="3648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9838142" y="3706865"/>
              <a:ext cx="1982312" cy="364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0414369" y="3253493"/>
              <a:ext cx="360420" cy="162047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843954" y="4540709"/>
              <a:ext cx="1982312" cy="3648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9836767" y="3273601"/>
              <a:ext cx="1982312" cy="3648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28" name="文本框 27"/>
              <p:cNvSpPr txBox="1"/>
              <p:nvPr/>
            </p:nvSpPr>
            <p:spPr>
              <a:xfrm>
                <a:off x="7474273" y="3317310"/>
                <a:ext cx="2279917" cy="2050754"/>
              </a:xfrm>
              <a:prstGeom prst="rect">
                <a:avLst/>
              </a:prstGeom>
              <a:solidFill>
                <a:schemeClr val="accent5">
                  <a:lumMod val="20000"/>
                  <a:lumOff val="80000"/>
                  <a:alpha val="50000"/>
                </a:schemeClr>
              </a:solidFill>
            </p:spPr>
            <p:txBody>
              <a:bodyPr wrap="square" rtlCol="0">
                <a:spAutoFit/>
              </a:bodyPr>
              <a:lstStyle/>
              <a:p>
                <a:pPr>
                  <a:lnSpc>
                    <a:spcPts val="2200"/>
                  </a:lnSpc>
                </a:pPr>
                <a14:m>
                  <m:oMathPara xmlns:m="http://schemas.openxmlformats.org/officeDocument/2006/math">
                    <m:oMathParaPr>
                      <m:jc m:val="centerGroup"/>
                    </m:oMathParaPr>
                    <m:oMath xmlns:m="http://schemas.openxmlformats.org/officeDocument/2006/math">
                      <m:r>
                        <a:rPr lang="en-US" altLang="zh-CN" i="1" smtClean="0">
                          <a:solidFill>
                            <a:srgbClr val="C00000"/>
                          </a:solidFill>
                          <a:latin typeface="Cambria Math" panose="02040503050406030204" pitchFamily="18" charset="0"/>
                        </a:rPr>
                        <m:t>𝑘</m:t>
                      </m:r>
                      <m:r>
                        <a:rPr lang="en-US" altLang="zh-CN" i="1" smtClean="0">
                          <a:solidFill>
                            <a:srgbClr val="C00000"/>
                          </a:solidFill>
                          <a:latin typeface="Cambria Math" panose="02040503050406030204" pitchFamily="18" charset="0"/>
                        </a:rPr>
                        <m:t>=</m:t>
                      </m:r>
                      <m:r>
                        <a:rPr lang="en-US" altLang="zh-CN" i="1" smtClean="0">
                          <a:solidFill>
                            <a:srgbClr val="C00000"/>
                          </a:solidFill>
                          <a:latin typeface="Cambria Math" panose="02040503050406030204" pitchFamily="18" charset="0"/>
                        </a:rPr>
                        <m:t>2</m:t>
                      </m:r>
                    </m:oMath>
                  </m:oMathPara>
                </a14:m>
                <a:endParaRPr lang="en-US" altLang="zh-CN">
                  <a:solidFill>
                    <a:srgbClr val="C00000"/>
                  </a:solidFill>
                </a:endParaRPr>
              </a:p>
              <a:p>
                <a:pPr>
                  <a:lnSpc>
                    <a:spcPts val="2200"/>
                  </a:lnSpc>
                </a:pPr>
                <a14:m>
                  <m:oMath xmlns:m="http://schemas.openxmlformats.org/officeDocument/2006/math">
                    <m:sSubSup>
                      <m:sSubSupPr>
                        <m:ctrlPr>
                          <a:rPr lang="en-US" altLang="zh-CN" sz="1600" b="1" i="1" smtClean="0">
                            <a:solidFill>
                              <a:schemeClr val="accent2">
                                <a:lumMod val="50000"/>
                              </a:schemeClr>
                            </a:solidFill>
                            <a:latin typeface="Cambria Math" panose="02040503050406030204" pitchFamily="18" charset="0"/>
                          </a:rPr>
                        </m:ctrlPr>
                      </m:sSubSupPr>
                      <m:e>
                        <m:r>
                          <a:rPr lang="en-US" altLang="zh-CN" sz="1600" b="1" i="1" smtClean="0">
                            <a:solidFill>
                              <a:schemeClr val="accent2">
                                <a:lumMod val="50000"/>
                              </a:schemeClr>
                            </a:solidFill>
                            <a:latin typeface="Cambria Math" panose="02040503050406030204" pitchFamily="18" charset="0"/>
                          </a:rPr>
                          <m:t>𝒘</m:t>
                        </m:r>
                      </m:e>
                      <m:sub>
                        <m:r>
                          <a:rPr lang="en-US" altLang="zh-CN" sz="1600" b="1" i="1" smtClean="0">
                            <a:solidFill>
                              <a:schemeClr val="accent2">
                                <a:lumMod val="50000"/>
                              </a:schemeClr>
                            </a:solidFill>
                            <a:latin typeface="Cambria Math" panose="02040503050406030204" pitchFamily="18" charset="0"/>
                          </a:rPr>
                          <m:t>𝟏𝟐</m:t>
                        </m:r>
                      </m:sub>
                      <m:sup>
                        <m:d>
                          <m:dPr>
                            <m:begChr m:val="["/>
                            <m:endChr m:val="]"/>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𝟏</m:t>
                            </m:r>
                          </m:e>
                        </m:d>
                      </m:sup>
                    </m:sSubSup>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𝟏</m:t>
                    </m:r>
                  </m:oMath>
                </a14:m>
                <a:r>
                  <a:rPr lang="en-US" altLang="zh-CN" sz="1600" b="1">
                    <a:solidFill>
                      <a:schemeClr val="accent2">
                        <a:lumMod val="50000"/>
                      </a:schemeClr>
                    </a:solidFill>
                  </a:rPr>
                  <a:t>,</a:t>
                </a:r>
                <a:r>
                  <a:rPr lang="zh-CN" altLang="en-US" sz="1600" b="1">
                    <a:solidFill>
                      <a:schemeClr val="accent2">
                        <a:lumMod val="50000"/>
                      </a:schemeClr>
                    </a:solidFill>
                  </a:rPr>
                  <a:t> </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𝑾</m:t>
                        </m:r>
                      </m:e>
                      <m:sub>
                        <m:r>
                          <a:rPr lang="en-US" altLang="zh-CN" sz="1600" b="1" i="1" smtClean="0">
                            <a:solidFill>
                              <a:schemeClr val="accent2">
                                <a:lumMod val="50000"/>
                              </a:schemeClr>
                            </a:solidFill>
                            <a:latin typeface="Cambria Math" panose="02040503050406030204" pitchFamily="18" charset="0"/>
                          </a:rPr>
                          <m:t>𝟏</m:t>
                        </m:r>
                      </m:sub>
                    </m:sSub>
                  </m:oMath>
                </a14:m>
                <a:r>
                  <a:rPr lang="zh-CN" altLang="en-US" sz="1600" b="1">
                    <a:solidFill>
                      <a:srgbClr val="C00000"/>
                    </a:solidFill>
                  </a:rPr>
                  <a:t>第</a:t>
                </a:r>
                <a:r>
                  <a:rPr lang="en-US" altLang="zh-CN" sz="1600" b="1">
                    <a:solidFill>
                      <a:srgbClr val="C00000"/>
                    </a:solidFill>
                  </a:rPr>
                  <a:t>2</a:t>
                </a:r>
                <a:r>
                  <a:rPr lang="zh-CN" altLang="en-US" sz="1600" b="1">
                    <a:solidFill>
                      <a:srgbClr val="C00000"/>
                    </a:solidFill>
                  </a:rPr>
                  <a:t>行和第</a:t>
                </a:r>
                <a:r>
                  <a:rPr lang="en-US" altLang="zh-CN" sz="1600" b="1">
                    <a:solidFill>
                      <a:srgbClr val="C00000"/>
                    </a:solidFill>
                  </a:rPr>
                  <a:t>1</a:t>
                </a:r>
                <a:r>
                  <a:rPr lang="zh-CN" altLang="en-US" sz="1600" b="1">
                    <a:solidFill>
                      <a:srgbClr val="C00000"/>
                    </a:solidFill>
                  </a:rPr>
                  <a:t>行逻辑或</a:t>
                </a:r>
                <a:r>
                  <a:rPr lang="zh-CN" altLang="en-US" sz="1600" b="1">
                    <a:solidFill>
                      <a:schemeClr val="accent2">
                        <a:lumMod val="50000"/>
                      </a:schemeClr>
                    </a:solidFill>
                  </a:rPr>
                  <a:t>得</a:t>
                </a: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𝑾</m:t>
                        </m:r>
                      </m:e>
                      <m:sub>
                        <m:r>
                          <a:rPr lang="en-US" altLang="zh-CN" sz="1600" b="1" i="1" smtClean="0">
                            <a:solidFill>
                              <a:schemeClr val="accent2">
                                <a:lumMod val="50000"/>
                              </a:schemeClr>
                            </a:solidFill>
                            <a:latin typeface="Cambria Math" panose="02040503050406030204" pitchFamily="18" charset="0"/>
                          </a:rPr>
                          <m:t>𝟐</m:t>
                        </m:r>
                      </m:sub>
                    </m:sSub>
                  </m:oMath>
                </a14:m>
                <a:r>
                  <a:rPr lang="zh-CN" altLang="en-US" sz="1600" b="1" i="0">
                    <a:solidFill>
                      <a:schemeClr val="accent2">
                        <a:lumMod val="50000"/>
                      </a:schemeClr>
                    </a:solidFill>
                    <a:latin typeface="+mn-ea"/>
                  </a:rPr>
                  <a:t>第</a:t>
                </a:r>
                <a:r>
                  <a:rPr lang="en-US" altLang="zh-CN" sz="1600" b="1" i="0">
                    <a:solidFill>
                      <a:schemeClr val="accent2">
                        <a:lumMod val="50000"/>
                      </a:schemeClr>
                    </a:solidFill>
                    <a:latin typeface="+mn-ea"/>
                  </a:rPr>
                  <a:t>1</a:t>
                </a:r>
                <a:r>
                  <a:rPr lang="zh-CN" altLang="en-US" sz="1600" b="1" i="0">
                    <a:solidFill>
                      <a:schemeClr val="accent2">
                        <a:lumMod val="50000"/>
                      </a:schemeClr>
                    </a:solidFill>
                    <a:latin typeface="+mn-ea"/>
                  </a:rPr>
                  <a:t>行；</a:t>
                </a:r>
                <a14:m>
                  <m:oMath xmlns:m="http://schemas.openxmlformats.org/officeDocument/2006/math">
                    <m:sSubSup>
                      <m:sSubSupPr>
                        <m:ctrlPr>
                          <a:rPr lang="en-US" altLang="zh-CN" sz="1600" b="1" i="1">
                            <a:solidFill>
                              <a:schemeClr val="accent2">
                                <a:lumMod val="50000"/>
                              </a:schemeClr>
                            </a:solidFill>
                            <a:latin typeface="Cambria Math" panose="02040503050406030204" pitchFamily="18" charset="0"/>
                          </a:rPr>
                        </m:ctrlPr>
                      </m:sSubSupPr>
                      <m:e>
                        <m:r>
                          <a:rPr lang="en-US" altLang="zh-CN" sz="1600" b="1" i="1">
                            <a:solidFill>
                              <a:schemeClr val="accent2">
                                <a:lumMod val="50000"/>
                              </a:schemeClr>
                            </a:solidFill>
                            <a:latin typeface="Cambria Math" panose="02040503050406030204" pitchFamily="18" charset="0"/>
                          </a:rPr>
                          <m:t>𝒘</m:t>
                        </m:r>
                      </m:e>
                      <m:sub>
                        <m:r>
                          <a:rPr lang="en-US" altLang="zh-CN" sz="1600" b="1" i="1" smtClean="0">
                            <a:solidFill>
                              <a:schemeClr val="accent2">
                                <a:lumMod val="50000"/>
                              </a:schemeClr>
                            </a:solidFill>
                            <a:latin typeface="Cambria Math" panose="02040503050406030204" pitchFamily="18" charset="0"/>
                          </a:rPr>
                          <m:t>𝟑</m:t>
                        </m:r>
                        <m:r>
                          <a:rPr lang="en-US" altLang="zh-CN" sz="1600" b="1" i="1">
                            <a:solidFill>
                              <a:schemeClr val="accent2">
                                <a:lumMod val="50000"/>
                              </a:schemeClr>
                            </a:solidFill>
                            <a:latin typeface="Cambria Math" panose="02040503050406030204" pitchFamily="18" charset="0"/>
                          </a:rPr>
                          <m:t>𝟐</m:t>
                        </m:r>
                      </m:sub>
                      <m:sup>
                        <m:d>
                          <m:dPr>
                            <m:begChr m:val="["/>
                            <m:endChr m:val="]"/>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𝟏</m:t>
                            </m:r>
                          </m:e>
                        </m:d>
                      </m:sup>
                    </m:sSubSup>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𝟏</m:t>
                    </m:r>
                  </m:oMath>
                </a14:m>
                <a:r>
                  <a:rPr lang="en-US" altLang="zh-CN" sz="1600" b="1">
                    <a:solidFill>
                      <a:schemeClr val="accent2">
                        <a:lumMod val="50000"/>
                      </a:schemeClr>
                    </a:solidFill>
                  </a:rPr>
                  <a:t>, </a:t>
                </a:r>
                <a14:m>
                  <m:oMath xmlns:m="http://schemas.openxmlformats.org/officeDocument/2006/math">
                    <m:sSub>
                      <m:sSubPr>
                        <m:ctrlPr>
                          <a:rPr lang="en-US" altLang="zh-CN" sz="1600" b="1" i="1">
                            <a:solidFill>
                              <a:schemeClr val="accent2">
                                <a:lumMod val="50000"/>
                              </a:schemeClr>
                            </a:solidFill>
                            <a:latin typeface="Cambria Math" panose="02040503050406030204" pitchFamily="18" charset="0"/>
                          </a:rPr>
                        </m:ctrlPr>
                      </m:sSubPr>
                      <m:e>
                        <m:r>
                          <a:rPr lang="en-US" altLang="zh-CN" sz="1600" b="1" i="1">
                            <a:solidFill>
                              <a:schemeClr val="accent2">
                                <a:lumMod val="50000"/>
                              </a:schemeClr>
                            </a:solidFill>
                            <a:latin typeface="Cambria Math" panose="02040503050406030204" pitchFamily="18" charset="0"/>
                          </a:rPr>
                          <m:t>𝑾</m:t>
                        </m:r>
                      </m:e>
                      <m:sub>
                        <m:r>
                          <a:rPr lang="en-US" altLang="zh-CN" sz="1600" b="1" i="1">
                            <a:solidFill>
                              <a:schemeClr val="accent2">
                                <a:lumMod val="50000"/>
                              </a:schemeClr>
                            </a:solidFill>
                            <a:latin typeface="Cambria Math" panose="02040503050406030204" pitchFamily="18" charset="0"/>
                          </a:rPr>
                          <m:t>𝟏</m:t>
                        </m:r>
                      </m:sub>
                    </m:sSub>
                  </m:oMath>
                </a14:m>
                <a:r>
                  <a:rPr lang="zh-CN" altLang="en-US" sz="1600" b="1">
                    <a:solidFill>
                      <a:srgbClr val="C00000"/>
                    </a:solidFill>
                  </a:rPr>
                  <a:t>第</a:t>
                </a:r>
                <a:r>
                  <a:rPr lang="en-US" altLang="zh-CN" sz="1600" b="1">
                    <a:solidFill>
                      <a:srgbClr val="C00000"/>
                    </a:solidFill>
                  </a:rPr>
                  <a:t>2</a:t>
                </a:r>
                <a:r>
                  <a:rPr lang="zh-CN" altLang="en-US" sz="1600" b="1">
                    <a:solidFill>
                      <a:srgbClr val="C00000"/>
                    </a:solidFill>
                  </a:rPr>
                  <a:t>行和第</a:t>
                </a:r>
                <a:r>
                  <a:rPr lang="en-US" altLang="zh-CN" sz="1600" b="1">
                    <a:solidFill>
                      <a:srgbClr val="C00000"/>
                    </a:solidFill>
                  </a:rPr>
                  <a:t>3</a:t>
                </a:r>
                <a:r>
                  <a:rPr lang="zh-CN" altLang="en-US" sz="1600" b="1">
                    <a:solidFill>
                      <a:srgbClr val="C00000"/>
                    </a:solidFill>
                  </a:rPr>
                  <a:t>行逻辑或</a:t>
                </a:r>
                <a:r>
                  <a:rPr lang="zh-CN" altLang="en-US" sz="1600" b="1">
                    <a:solidFill>
                      <a:schemeClr val="accent2">
                        <a:lumMod val="50000"/>
                      </a:schemeClr>
                    </a:solidFill>
                  </a:rPr>
                  <a:t>得</a:t>
                </a:r>
                <a14:m>
                  <m:oMath xmlns:m="http://schemas.openxmlformats.org/officeDocument/2006/math">
                    <m:sSub>
                      <m:sSubPr>
                        <m:ctrlPr>
                          <a:rPr lang="en-US" altLang="zh-CN" sz="1600" b="1" i="1">
                            <a:solidFill>
                              <a:schemeClr val="accent2">
                                <a:lumMod val="50000"/>
                              </a:schemeClr>
                            </a:solidFill>
                            <a:latin typeface="Cambria Math" panose="02040503050406030204" pitchFamily="18" charset="0"/>
                          </a:rPr>
                        </m:ctrlPr>
                      </m:sSubPr>
                      <m:e>
                        <m:r>
                          <a:rPr lang="en-US" altLang="zh-CN" sz="1600" b="1" i="1">
                            <a:solidFill>
                              <a:schemeClr val="accent2">
                                <a:lumMod val="50000"/>
                              </a:schemeClr>
                            </a:solidFill>
                            <a:latin typeface="Cambria Math" panose="02040503050406030204" pitchFamily="18" charset="0"/>
                          </a:rPr>
                          <m:t>𝑾</m:t>
                        </m:r>
                      </m:e>
                      <m:sub>
                        <m:r>
                          <a:rPr lang="en-US" altLang="zh-CN" sz="1600" b="1" i="1">
                            <a:solidFill>
                              <a:schemeClr val="accent2">
                                <a:lumMod val="50000"/>
                              </a:schemeClr>
                            </a:solidFill>
                            <a:latin typeface="Cambria Math" panose="02040503050406030204" pitchFamily="18" charset="0"/>
                          </a:rPr>
                          <m:t>𝟐</m:t>
                        </m:r>
                      </m:sub>
                    </m:sSub>
                  </m:oMath>
                </a14:m>
                <a:r>
                  <a:rPr lang="zh-CN" altLang="en-US" sz="1600" b="1">
                    <a:solidFill>
                      <a:schemeClr val="accent2">
                        <a:lumMod val="50000"/>
                      </a:schemeClr>
                    </a:solidFill>
                    <a:latin typeface="+mn-ea"/>
                  </a:rPr>
                  <a:t>第</a:t>
                </a:r>
                <a:r>
                  <a:rPr lang="en-US" altLang="zh-CN" sz="1600" b="1">
                    <a:solidFill>
                      <a:schemeClr val="accent2">
                        <a:lumMod val="50000"/>
                      </a:schemeClr>
                    </a:solidFill>
                    <a:latin typeface="+mn-ea"/>
                  </a:rPr>
                  <a:t>3</a:t>
                </a:r>
                <a:r>
                  <a:rPr lang="zh-CN" altLang="en-US" sz="1600" b="1">
                    <a:solidFill>
                      <a:schemeClr val="accent2">
                        <a:lumMod val="50000"/>
                      </a:schemeClr>
                    </a:solidFill>
                    <a:latin typeface="+mn-ea"/>
                  </a:rPr>
                  <a:t>行；</a:t>
                </a:r>
                <a:r>
                  <a:rPr lang="en-US" altLang="zh-CN" sz="1600" b="1">
                    <a:solidFill>
                      <a:schemeClr val="accent2">
                        <a:lumMod val="50000"/>
                      </a:schemeClr>
                    </a:solidFill>
                  </a:rPr>
                  <a:t> </a:t>
                </a:r>
                <a14:m>
                  <m:oMath xmlns:m="http://schemas.openxmlformats.org/officeDocument/2006/math">
                    <m:sSubSup>
                      <m:sSubSupPr>
                        <m:ctrlPr>
                          <a:rPr lang="en-US" altLang="zh-CN" sz="1600" b="1" i="1">
                            <a:solidFill>
                              <a:schemeClr val="accent2">
                                <a:lumMod val="50000"/>
                              </a:schemeClr>
                            </a:solidFill>
                            <a:latin typeface="Cambria Math" panose="02040503050406030204" pitchFamily="18" charset="0"/>
                          </a:rPr>
                        </m:ctrlPr>
                      </m:sSubSupPr>
                      <m:e>
                        <m:r>
                          <a:rPr lang="en-US" altLang="zh-CN" sz="1600" b="1" i="1">
                            <a:solidFill>
                              <a:schemeClr val="accent2">
                                <a:lumMod val="50000"/>
                              </a:schemeClr>
                            </a:solidFill>
                            <a:latin typeface="Cambria Math" panose="02040503050406030204" pitchFamily="18" charset="0"/>
                          </a:rPr>
                          <m:t>𝒘</m:t>
                        </m:r>
                      </m:e>
                      <m:sub>
                        <m:r>
                          <a:rPr lang="en-US" altLang="zh-CN" sz="1600" b="1" i="1" smtClean="0">
                            <a:solidFill>
                              <a:schemeClr val="accent2">
                                <a:lumMod val="50000"/>
                              </a:schemeClr>
                            </a:solidFill>
                            <a:latin typeface="Cambria Math" panose="02040503050406030204" pitchFamily="18" charset="0"/>
                          </a:rPr>
                          <m:t>𝟒</m:t>
                        </m:r>
                        <m:r>
                          <a:rPr lang="en-US" altLang="zh-CN" sz="1600" b="1" i="1">
                            <a:solidFill>
                              <a:schemeClr val="accent2">
                                <a:lumMod val="50000"/>
                              </a:schemeClr>
                            </a:solidFill>
                            <a:latin typeface="Cambria Math" panose="02040503050406030204" pitchFamily="18" charset="0"/>
                          </a:rPr>
                          <m:t>𝟐</m:t>
                        </m:r>
                      </m:sub>
                      <m:sup>
                        <m:d>
                          <m:dPr>
                            <m:begChr m:val="["/>
                            <m:endChr m:val="]"/>
                            <m:ctrlPr>
                              <a:rPr lang="en-US" altLang="zh-CN" sz="1600" b="1" i="1">
                                <a:solidFill>
                                  <a:schemeClr val="accent2">
                                    <a:lumMod val="50000"/>
                                  </a:schemeClr>
                                </a:solidFill>
                                <a:latin typeface="Cambria Math" panose="02040503050406030204" pitchFamily="18" charset="0"/>
                              </a:rPr>
                            </m:ctrlPr>
                          </m:dPr>
                          <m:e>
                            <m:r>
                              <a:rPr lang="en-US" altLang="zh-CN" sz="1600" b="1" i="1">
                                <a:solidFill>
                                  <a:schemeClr val="accent2">
                                    <a:lumMod val="50000"/>
                                  </a:schemeClr>
                                </a:solidFill>
                                <a:latin typeface="Cambria Math" panose="02040503050406030204" pitchFamily="18" charset="0"/>
                              </a:rPr>
                              <m:t>𝟏</m:t>
                            </m:r>
                          </m:e>
                        </m:d>
                      </m:sup>
                    </m:sSubSup>
                    <m:r>
                      <a:rPr lang="en-US" altLang="zh-CN" sz="1600" b="1" i="1">
                        <a:solidFill>
                          <a:schemeClr val="accent2">
                            <a:lumMod val="50000"/>
                          </a:schemeClr>
                        </a:solidFill>
                        <a:latin typeface="Cambria Math" panose="02040503050406030204" pitchFamily="18" charset="0"/>
                      </a:rPr>
                      <m:t>=</m:t>
                    </m:r>
                    <m:r>
                      <a:rPr lang="en-US" altLang="zh-CN" sz="1600" b="1" i="1">
                        <a:solidFill>
                          <a:schemeClr val="accent2">
                            <a:lumMod val="50000"/>
                          </a:schemeClr>
                        </a:solidFill>
                        <a:latin typeface="Cambria Math" panose="02040503050406030204" pitchFamily="18" charset="0"/>
                      </a:rPr>
                      <m:t>𝟏</m:t>
                    </m:r>
                  </m:oMath>
                </a14:m>
                <a:r>
                  <a:rPr lang="en-US" altLang="zh-CN" sz="1600" b="1">
                    <a:solidFill>
                      <a:schemeClr val="accent2">
                        <a:lumMod val="50000"/>
                      </a:schemeClr>
                    </a:solidFill>
                  </a:rPr>
                  <a:t>, </a:t>
                </a:r>
                <a14:m>
                  <m:oMath xmlns:m="http://schemas.openxmlformats.org/officeDocument/2006/math">
                    <m:sSub>
                      <m:sSubPr>
                        <m:ctrlPr>
                          <a:rPr lang="en-US" altLang="zh-CN" sz="1600" b="1" i="1">
                            <a:solidFill>
                              <a:schemeClr val="accent2">
                                <a:lumMod val="50000"/>
                              </a:schemeClr>
                            </a:solidFill>
                            <a:latin typeface="Cambria Math" panose="02040503050406030204" pitchFamily="18" charset="0"/>
                          </a:rPr>
                        </m:ctrlPr>
                      </m:sSubPr>
                      <m:e>
                        <m:r>
                          <a:rPr lang="en-US" altLang="zh-CN" sz="1600" b="1" i="1">
                            <a:solidFill>
                              <a:schemeClr val="accent2">
                                <a:lumMod val="50000"/>
                              </a:schemeClr>
                            </a:solidFill>
                            <a:latin typeface="Cambria Math" panose="02040503050406030204" pitchFamily="18" charset="0"/>
                          </a:rPr>
                          <m:t>𝑾</m:t>
                        </m:r>
                      </m:e>
                      <m:sub>
                        <m:r>
                          <a:rPr lang="en-US" altLang="zh-CN" sz="1600" b="1" i="1">
                            <a:solidFill>
                              <a:schemeClr val="accent2">
                                <a:lumMod val="50000"/>
                              </a:schemeClr>
                            </a:solidFill>
                            <a:latin typeface="Cambria Math" panose="02040503050406030204" pitchFamily="18" charset="0"/>
                          </a:rPr>
                          <m:t>𝟏</m:t>
                        </m:r>
                      </m:sub>
                    </m:sSub>
                  </m:oMath>
                </a14:m>
                <a:r>
                  <a:rPr lang="zh-CN" altLang="en-US" sz="1600" b="1">
                    <a:solidFill>
                      <a:srgbClr val="C00000"/>
                    </a:solidFill>
                  </a:rPr>
                  <a:t>第</a:t>
                </a:r>
                <a:r>
                  <a:rPr lang="en-US" altLang="zh-CN" sz="1600" b="1">
                    <a:solidFill>
                      <a:srgbClr val="C00000"/>
                    </a:solidFill>
                  </a:rPr>
                  <a:t>2</a:t>
                </a:r>
                <a:r>
                  <a:rPr lang="zh-CN" altLang="en-US" sz="1600" b="1">
                    <a:solidFill>
                      <a:srgbClr val="C00000"/>
                    </a:solidFill>
                  </a:rPr>
                  <a:t>行和第</a:t>
                </a:r>
                <a:r>
                  <a:rPr lang="en-US" altLang="zh-CN" sz="1600" b="1">
                    <a:solidFill>
                      <a:srgbClr val="C00000"/>
                    </a:solidFill>
                  </a:rPr>
                  <a:t>4</a:t>
                </a:r>
                <a:r>
                  <a:rPr lang="zh-CN" altLang="en-US" sz="1600" b="1">
                    <a:solidFill>
                      <a:srgbClr val="C00000"/>
                    </a:solidFill>
                  </a:rPr>
                  <a:t>行逻辑或</a:t>
                </a:r>
                <a:r>
                  <a:rPr lang="zh-CN" altLang="en-US" sz="1600" b="1">
                    <a:solidFill>
                      <a:schemeClr val="accent2">
                        <a:lumMod val="50000"/>
                      </a:schemeClr>
                    </a:solidFill>
                  </a:rPr>
                  <a:t>得</a:t>
                </a:r>
                <a14:m>
                  <m:oMath xmlns:m="http://schemas.openxmlformats.org/officeDocument/2006/math">
                    <m:sSub>
                      <m:sSubPr>
                        <m:ctrlPr>
                          <a:rPr lang="en-US" altLang="zh-CN" sz="1600" b="1" i="1">
                            <a:solidFill>
                              <a:schemeClr val="accent2">
                                <a:lumMod val="50000"/>
                              </a:schemeClr>
                            </a:solidFill>
                            <a:latin typeface="Cambria Math" panose="02040503050406030204" pitchFamily="18" charset="0"/>
                          </a:rPr>
                        </m:ctrlPr>
                      </m:sSubPr>
                      <m:e>
                        <m:r>
                          <a:rPr lang="en-US" altLang="zh-CN" sz="1600" b="1" i="1">
                            <a:solidFill>
                              <a:schemeClr val="accent2">
                                <a:lumMod val="50000"/>
                              </a:schemeClr>
                            </a:solidFill>
                            <a:latin typeface="Cambria Math" panose="02040503050406030204" pitchFamily="18" charset="0"/>
                          </a:rPr>
                          <m:t>𝑾</m:t>
                        </m:r>
                      </m:e>
                      <m:sub>
                        <m:r>
                          <a:rPr lang="en-US" altLang="zh-CN" sz="1600" b="1" i="1">
                            <a:solidFill>
                              <a:schemeClr val="accent2">
                                <a:lumMod val="50000"/>
                              </a:schemeClr>
                            </a:solidFill>
                            <a:latin typeface="Cambria Math" panose="02040503050406030204" pitchFamily="18" charset="0"/>
                          </a:rPr>
                          <m:t>𝟐</m:t>
                        </m:r>
                      </m:sub>
                    </m:sSub>
                  </m:oMath>
                </a14:m>
                <a:r>
                  <a:rPr lang="zh-CN" altLang="en-US" sz="1600" b="1">
                    <a:solidFill>
                      <a:schemeClr val="accent2">
                        <a:lumMod val="50000"/>
                      </a:schemeClr>
                    </a:solidFill>
                    <a:latin typeface="+mn-ea"/>
                  </a:rPr>
                  <a:t>第</a:t>
                </a:r>
                <a:r>
                  <a:rPr lang="en-US" altLang="zh-CN" sz="1600" b="1">
                    <a:solidFill>
                      <a:schemeClr val="accent2">
                        <a:lumMod val="50000"/>
                      </a:schemeClr>
                    </a:solidFill>
                    <a:latin typeface="+mn-ea"/>
                  </a:rPr>
                  <a:t>4</a:t>
                </a:r>
                <a:r>
                  <a:rPr lang="zh-CN" altLang="en-US" sz="1600" b="1">
                    <a:solidFill>
                      <a:schemeClr val="accent2">
                        <a:lumMod val="50000"/>
                      </a:schemeClr>
                    </a:solidFill>
                    <a:latin typeface="+mn-ea"/>
                  </a:rPr>
                  <a:t>行</a:t>
                </a:r>
                <a:endParaRPr lang="zh-CN" altLang="en-US" sz="1600" b="1">
                  <a:solidFill>
                    <a:schemeClr val="accent2">
                      <a:lumMod val="50000"/>
                    </a:schemeClr>
                  </a:solidFill>
                  <a:latin typeface="+mn-ea"/>
                </a:endParaRPr>
              </a:p>
            </p:txBody>
          </p:sp>
        </mc:Choice>
        <mc:Fallback>
          <p:sp>
            <p:nvSpPr>
              <p:cNvPr id="28" name="文本框 27"/>
              <p:cNvSpPr txBox="1">
                <a:spLocks noRot="1" noChangeAspect="1" noMove="1" noResize="1" noEditPoints="1" noAdjustHandles="1" noChangeArrowheads="1" noChangeShapeType="1" noTextEdit="1"/>
              </p:cNvSpPr>
              <p:nvPr/>
            </p:nvSpPr>
            <p:spPr>
              <a:xfrm>
                <a:off x="7474273" y="3317310"/>
                <a:ext cx="2279917" cy="2050754"/>
              </a:xfrm>
              <a:prstGeom prst="rect">
                <a:avLst/>
              </a:prstGeom>
              <a:blipFill rotWithShape="1">
                <a:blip r:embed="rId7"/>
                <a:stretch>
                  <a:fillRect l="-14" t="-3" r="26" b="20"/>
                </a:stretch>
              </a:blipFill>
            </p:spPr>
            <p:txBody>
              <a:bodyPr/>
              <a:lstStyle/>
              <a:p>
                <a:r>
                  <a:rPr lang="zh-CN" altLang="en-US">
                    <a:noFill/>
                  </a:rPr>
                  <a:t> </a:t>
                </a:r>
              </a:p>
            </p:txBody>
          </p:sp>
        </mc:Fallback>
      </mc:AlternateContent>
      <p:grpSp>
        <p:nvGrpSpPr>
          <p:cNvPr id="52" name="组合 51"/>
          <p:cNvGrpSpPr/>
          <p:nvPr/>
        </p:nvGrpSpPr>
        <p:grpSpPr>
          <a:xfrm>
            <a:off x="9317868" y="4769150"/>
            <a:ext cx="2541874" cy="1652583"/>
            <a:chOff x="9317868" y="4769150"/>
            <a:chExt cx="2541874" cy="1652583"/>
          </a:xfrm>
        </p:grpSpPr>
        <p:grpSp>
          <p:nvGrpSpPr>
            <p:cNvPr id="51" name="组合 50"/>
            <p:cNvGrpSpPr/>
            <p:nvPr/>
          </p:nvGrpSpPr>
          <p:grpSpPr>
            <a:xfrm>
              <a:off x="9317868" y="4769150"/>
              <a:ext cx="2541874" cy="1652583"/>
              <a:chOff x="9317868" y="4821812"/>
              <a:chExt cx="2541874" cy="1652583"/>
            </a:xfrm>
          </p:grpSpPr>
          <p:pic>
            <p:nvPicPr>
              <p:cNvPr id="40" name="图片 39"/>
              <p:cNvPicPr>
                <a:picLocks noChangeAspect="1"/>
              </p:cNvPicPr>
              <p:nvPr/>
            </p:nvPicPr>
            <p:blipFill>
              <a:blip r:embed="rId8"/>
              <a:stretch>
                <a:fillRect/>
              </a:stretch>
            </p:blipFill>
            <p:spPr>
              <a:xfrm>
                <a:off x="9837178" y="4821812"/>
                <a:ext cx="2022564" cy="1652583"/>
              </a:xfrm>
              <a:prstGeom prst="rect">
                <a:avLst/>
              </a:prstGeom>
            </p:spPr>
          </p:pic>
          <mc:AlternateContent xmlns:mc="http://schemas.openxmlformats.org/markup-compatibility/2006">
            <mc:Choice xmlns:a14="http://schemas.microsoft.com/office/drawing/2010/main" Requires="a14">
              <p:sp>
                <p:nvSpPr>
                  <p:cNvPr id="31" name="文本框 30"/>
                  <p:cNvSpPr txBox="1"/>
                  <p:nvPr/>
                </p:nvSpPr>
                <p:spPr>
                  <a:xfrm>
                    <a:off x="9317868" y="6184580"/>
                    <a:ext cx="52776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𝑾</m:t>
                              </m:r>
                            </m:e>
                            <m:sub>
                              <m:r>
                                <a:rPr lang="en-US" altLang="zh-CN" b="1" i="1" smtClean="0">
                                  <a:solidFill>
                                    <a:schemeClr val="accent2">
                                      <a:lumMod val="50000"/>
                                    </a:schemeClr>
                                  </a:solidFill>
                                  <a:latin typeface="Cambria Math" panose="02040503050406030204" pitchFamily="18" charset="0"/>
                                </a:rPr>
                                <m:t>𝟐</m:t>
                              </m:r>
                            </m:sub>
                          </m:sSub>
                        </m:oMath>
                      </m:oMathPara>
                    </a14:m>
                    <a:endParaRPr lang="zh-CN" altLang="en-US"/>
                  </a:p>
                </p:txBody>
              </p:sp>
            </mc:Choice>
            <mc:Fallback>
              <p:sp>
                <p:nvSpPr>
                  <p:cNvPr id="31" name="文本框 30"/>
                  <p:cNvSpPr txBox="1">
                    <a:spLocks noRot="1" noChangeAspect="1" noMove="1" noResize="1" noEditPoints="1" noAdjustHandles="1" noChangeArrowheads="1" noChangeShapeType="1" noTextEdit="1"/>
                  </p:cNvSpPr>
                  <p:nvPr/>
                </p:nvSpPr>
                <p:spPr>
                  <a:xfrm>
                    <a:off x="9317868" y="6184580"/>
                    <a:ext cx="527765" cy="276999"/>
                  </a:xfrm>
                  <a:prstGeom prst="rect">
                    <a:avLst/>
                  </a:prstGeom>
                  <a:blipFill rotWithShape="1">
                    <a:blip r:embed="rId9"/>
                  </a:blipFill>
                </p:spPr>
                <p:txBody>
                  <a:bodyPr/>
                  <a:lstStyle/>
                  <a:p>
                    <a:r>
                      <a:rPr lang="zh-CN" altLang="en-US">
                        <a:noFill/>
                      </a:rPr>
                      <a:t> </a:t>
                    </a:r>
                  </a:p>
                </p:txBody>
              </p:sp>
            </mc:Fallback>
          </mc:AlternateContent>
          <p:sp>
            <p:nvSpPr>
              <p:cNvPr id="33" name="矩形 32"/>
              <p:cNvSpPr/>
              <p:nvPr/>
            </p:nvSpPr>
            <p:spPr>
              <a:xfrm>
                <a:off x="9852820" y="5704517"/>
                <a:ext cx="1982312" cy="364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10931813" y="4836173"/>
                <a:ext cx="360420" cy="162047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矩形 34"/>
            <p:cNvSpPr/>
            <p:nvPr/>
          </p:nvSpPr>
          <p:spPr>
            <a:xfrm>
              <a:off x="9852820" y="6050311"/>
              <a:ext cx="1982312" cy="36486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箭头: 下 37"/>
          <p:cNvSpPr/>
          <p:nvPr/>
        </p:nvSpPr>
        <p:spPr>
          <a:xfrm>
            <a:off x="10832695" y="2608729"/>
            <a:ext cx="176058" cy="2349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下 38"/>
          <p:cNvSpPr/>
          <p:nvPr/>
        </p:nvSpPr>
        <p:spPr>
          <a:xfrm>
            <a:off x="10831755" y="4523288"/>
            <a:ext cx="176058" cy="2349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左 40"/>
          <p:cNvSpPr/>
          <p:nvPr/>
        </p:nvSpPr>
        <p:spPr>
          <a:xfrm>
            <a:off x="6682457" y="5566530"/>
            <a:ext cx="3141848" cy="7943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2" name="图片 41"/>
          <p:cNvPicPr>
            <a:picLocks noChangeAspect="1"/>
          </p:cNvPicPr>
          <p:nvPr/>
        </p:nvPicPr>
        <p:blipFill>
          <a:blip r:embed="rId10"/>
          <a:stretch>
            <a:fillRect/>
          </a:stretch>
        </p:blipFill>
        <p:spPr>
          <a:xfrm>
            <a:off x="4638688" y="4664833"/>
            <a:ext cx="2032032" cy="1718141"/>
          </a:xfrm>
          <a:prstGeom prst="rect">
            <a:avLst/>
          </a:prstGeom>
        </p:spPr>
      </p:pic>
      <p:pic>
        <p:nvPicPr>
          <p:cNvPr id="43" name="图片 42"/>
          <p:cNvPicPr>
            <a:picLocks noChangeAspect="1"/>
          </p:cNvPicPr>
          <p:nvPr/>
        </p:nvPicPr>
        <p:blipFill>
          <a:blip r:embed="rId11"/>
          <a:stretch>
            <a:fillRect/>
          </a:stretch>
        </p:blipFill>
        <p:spPr>
          <a:xfrm>
            <a:off x="507556" y="4664833"/>
            <a:ext cx="2039220" cy="1660978"/>
          </a:xfrm>
          <a:prstGeom prst="rect">
            <a:avLst/>
          </a:prstGeom>
        </p:spPr>
      </p:pic>
      <mc:AlternateContent xmlns:mc="http://schemas.openxmlformats.org/markup-compatibility/2006">
        <mc:Choice xmlns:a14="http://schemas.microsoft.com/office/drawing/2010/main" Requires="a14">
          <p:sp>
            <p:nvSpPr>
              <p:cNvPr id="44" name="文本框 43"/>
              <p:cNvSpPr txBox="1"/>
              <p:nvPr/>
            </p:nvSpPr>
            <p:spPr>
              <a:xfrm>
                <a:off x="4181724" y="6046080"/>
                <a:ext cx="527765"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r>
                            <a:rPr lang="en-US" altLang="zh-CN" b="1" i="1">
                              <a:solidFill>
                                <a:schemeClr val="accent2">
                                  <a:lumMod val="50000"/>
                                </a:schemeClr>
                              </a:solidFill>
                              <a:latin typeface="Cambria Math" panose="02040503050406030204" pitchFamily="18" charset="0"/>
                            </a:rPr>
                            <m:t>𝑾</m:t>
                          </m:r>
                        </m:e>
                        <m:sub>
                          <m:r>
                            <a:rPr lang="en-US" altLang="zh-CN" b="1" i="1" smtClean="0">
                              <a:solidFill>
                                <a:schemeClr val="accent2">
                                  <a:lumMod val="50000"/>
                                </a:schemeClr>
                              </a:solidFill>
                              <a:latin typeface="Cambria Math" panose="02040503050406030204" pitchFamily="18" charset="0"/>
                            </a:rPr>
                            <m:t>𝟑</m:t>
                          </m:r>
                        </m:sub>
                      </m:sSub>
                    </m:oMath>
                  </m:oMathPara>
                </a14:m>
                <a:endParaRPr lang="zh-CN" altLang="en-US"/>
              </a:p>
            </p:txBody>
          </p:sp>
        </mc:Choice>
        <mc:Fallback>
          <p:sp>
            <p:nvSpPr>
              <p:cNvPr id="44" name="文本框 43"/>
              <p:cNvSpPr txBox="1">
                <a:spLocks noRot="1" noChangeAspect="1" noMove="1" noResize="1" noEditPoints="1" noAdjustHandles="1" noChangeArrowheads="1" noChangeShapeType="1" noTextEdit="1"/>
              </p:cNvSpPr>
              <p:nvPr/>
            </p:nvSpPr>
            <p:spPr>
              <a:xfrm>
                <a:off x="4181724" y="6046080"/>
                <a:ext cx="527765" cy="276999"/>
              </a:xfrm>
              <a:prstGeom prst="rect">
                <a:avLst/>
              </a:prstGeom>
              <a:blipFill rotWithShape="1">
                <a:blip r:embed="rId12"/>
                <a:stretch>
                  <a:fillRect l="-47" t="-88" r="62" b="1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5" name="文本框 44"/>
              <p:cNvSpPr txBox="1"/>
              <p:nvPr/>
            </p:nvSpPr>
            <p:spPr>
              <a:xfrm>
                <a:off x="6962769" y="5659753"/>
                <a:ext cx="2342733" cy="640112"/>
              </a:xfrm>
              <a:prstGeom prst="rect">
                <a:avLst/>
              </a:prstGeom>
              <a:solidFill>
                <a:schemeClr val="accent5">
                  <a:lumMod val="20000"/>
                  <a:lumOff val="80000"/>
                  <a:alpha val="50000"/>
                </a:schemeClr>
              </a:solidFill>
            </p:spPr>
            <p:txBody>
              <a:bodyPr wrap="square" rtlCol="0">
                <a:spAutoFit/>
              </a:bodyPr>
              <a:lstStyle/>
              <a:p>
                <a:pPr>
                  <a:lnSpc>
                    <a:spcPts val="2200"/>
                  </a:lnSpc>
                </a:pPr>
                <a14:m>
                  <m:oMathPara xmlns:m="http://schemas.openxmlformats.org/officeDocument/2006/math">
                    <m:oMathParaPr>
                      <m:jc m:val="centerGroup"/>
                    </m:oMathParaPr>
                    <m:oMath xmlns:m="http://schemas.openxmlformats.org/officeDocument/2006/math">
                      <m:r>
                        <a:rPr lang="en-US" altLang="zh-CN" i="1" smtClean="0">
                          <a:solidFill>
                            <a:srgbClr val="C00000"/>
                          </a:solidFill>
                          <a:latin typeface="Cambria Math" panose="02040503050406030204" pitchFamily="18" charset="0"/>
                        </a:rPr>
                        <m:t>𝑘</m:t>
                      </m:r>
                      <m:r>
                        <a:rPr lang="en-US" altLang="zh-CN" i="1" smtClean="0">
                          <a:solidFill>
                            <a:srgbClr val="C00000"/>
                          </a:solidFill>
                          <a:latin typeface="Cambria Math" panose="02040503050406030204" pitchFamily="18" charset="0"/>
                        </a:rPr>
                        <m:t>=</m:t>
                      </m:r>
                      <m:r>
                        <a:rPr lang="en-US" altLang="zh-CN" i="1" smtClean="0">
                          <a:solidFill>
                            <a:srgbClr val="C00000"/>
                          </a:solidFill>
                          <a:latin typeface="Cambria Math" panose="02040503050406030204" pitchFamily="18" charset="0"/>
                        </a:rPr>
                        <m:t>3</m:t>
                      </m:r>
                    </m:oMath>
                  </m:oMathPara>
                </a14:m>
                <a:endParaRPr lang="en-US" altLang="zh-CN">
                  <a:solidFill>
                    <a:srgbClr val="C00000"/>
                  </a:solidFill>
                </a:endParaRPr>
              </a:p>
              <a:p>
                <a:pPr>
                  <a:lnSpc>
                    <a:spcPts val="2200"/>
                  </a:lnSpc>
                </a:pP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𝑾</m:t>
                        </m:r>
                      </m:e>
                      <m:sub>
                        <m:r>
                          <a:rPr lang="en-US" altLang="zh-CN" sz="1600" b="1" i="1" smtClean="0">
                            <a:solidFill>
                              <a:schemeClr val="accent2">
                                <a:lumMod val="50000"/>
                              </a:schemeClr>
                            </a:solidFill>
                            <a:latin typeface="Cambria Math" panose="02040503050406030204" pitchFamily="18" charset="0"/>
                          </a:rPr>
                          <m:t>𝟐</m:t>
                        </m:r>
                      </m:sub>
                    </m:sSub>
                  </m:oMath>
                </a14:m>
                <a:r>
                  <a:rPr lang="zh-CN" altLang="en-US" sz="1600" b="1">
                    <a:solidFill>
                      <a:schemeClr val="accent2">
                        <a:lumMod val="50000"/>
                      </a:schemeClr>
                    </a:solidFill>
                  </a:rPr>
                  <a:t>第</a:t>
                </a:r>
                <a:r>
                  <a:rPr lang="en-US" altLang="zh-CN" sz="1600" b="1">
                    <a:solidFill>
                      <a:schemeClr val="accent2">
                        <a:lumMod val="50000"/>
                      </a:schemeClr>
                    </a:solidFill>
                  </a:rPr>
                  <a:t>3</a:t>
                </a:r>
                <a:r>
                  <a:rPr lang="zh-CN" altLang="en-US" sz="1600" b="1">
                    <a:solidFill>
                      <a:schemeClr val="accent2">
                        <a:lumMod val="50000"/>
                      </a:schemeClr>
                    </a:solidFill>
                  </a:rPr>
                  <a:t>行和第</a:t>
                </a:r>
                <a:r>
                  <a:rPr lang="en-US" altLang="zh-CN" sz="1600" b="1">
                    <a:solidFill>
                      <a:schemeClr val="accent2">
                        <a:lumMod val="50000"/>
                      </a:schemeClr>
                    </a:solidFill>
                  </a:rPr>
                  <a:t>4</a:t>
                </a:r>
                <a:r>
                  <a:rPr lang="zh-CN" altLang="en-US" sz="1600" b="1">
                    <a:solidFill>
                      <a:schemeClr val="accent2">
                        <a:lumMod val="50000"/>
                      </a:schemeClr>
                    </a:solidFill>
                  </a:rPr>
                  <a:t>行逻辑或</a:t>
                </a:r>
                <a:endParaRPr lang="zh-CN" altLang="en-US" sz="1600" b="1">
                  <a:solidFill>
                    <a:schemeClr val="accent2">
                      <a:lumMod val="50000"/>
                    </a:schemeClr>
                  </a:solidFill>
                </a:endParaRPr>
              </a:p>
            </p:txBody>
          </p:sp>
        </mc:Choice>
        <mc:Fallback>
          <p:sp>
            <p:nvSpPr>
              <p:cNvPr id="45" name="文本框 44"/>
              <p:cNvSpPr txBox="1">
                <a:spLocks noRot="1" noChangeAspect="1" noMove="1" noResize="1" noEditPoints="1" noAdjustHandles="1" noChangeArrowheads="1" noChangeShapeType="1" noTextEdit="1"/>
              </p:cNvSpPr>
              <p:nvPr/>
            </p:nvSpPr>
            <p:spPr>
              <a:xfrm>
                <a:off x="6962769" y="5659753"/>
                <a:ext cx="2342733" cy="640112"/>
              </a:xfrm>
              <a:prstGeom prst="rect">
                <a:avLst/>
              </a:prstGeom>
              <a:blipFill rotWithShape="1">
                <a:blip r:embed="rId13"/>
                <a:stretch>
                  <a:fillRect l="-27" t="-99" r="9" b="5"/>
                </a:stretch>
              </a:blipFill>
            </p:spPr>
            <p:txBody>
              <a:bodyPr/>
              <a:lstStyle/>
              <a:p>
                <a:r>
                  <a:rPr lang="zh-CN" altLang="en-US">
                    <a:noFill/>
                  </a:rPr>
                  <a:t> </a:t>
                </a:r>
              </a:p>
            </p:txBody>
          </p:sp>
        </mc:Fallback>
      </mc:AlternateContent>
      <p:sp>
        <p:nvSpPr>
          <p:cNvPr id="46" name="矩形 45"/>
          <p:cNvSpPr/>
          <p:nvPr/>
        </p:nvSpPr>
        <p:spPr>
          <a:xfrm>
            <a:off x="4663548" y="5954895"/>
            <a:ext cx="1982312" cy="3648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6253629" y="4701755"/>
            <a:ext cx="360420" cy="162047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8" name="文本框 47"/>
              <p:cNvSpPr txBox="1"/>
              <p:nvPr/>
            </p:nvSpPr>
            <p:spPr>
              <a:xfrm>
                <a:off x="2668826" y="4611007"/>
                <a:ext cx="1847812" cy="923010"/>
              </a:xfrm>
              <a:prstGeom prst="rect">
                <a:avLst/>
              </a:prstGeom>
              <a:solidFill>
                <a:schemeClr val="accent5">
                  <a:lumMod val="20000"/>
                  <a:lumOff val="80000"/>
                  <a:alpha val="50000"/>
                </a:schemeClr>
              </a:solidFill>
            </p:spPr>
            <p:txBody>
              <a:bodyPr wrap="square" rtlCol="0">
                <a:spAutoFit/>
              </a:bodyPr>
              <a:lstStyle/>
              <a:p>
                <a:pPr>
                  <a:lnSpc>
                    <a:spcPts val="2200"/>
                  </a:lnSpc>
                </a:pPr>
                <a14:m>
                  <m:oMathPara xmlns:m="http://schemas.openxmlformats.org/officeDocument/2006/math">
                    <m:oMathParaPr>
                      <m:jc m:val="centerGroup"/>
                    </m:oMathParaPr>
                    <m:oMath xmlns:m="http://schemas.openxmlformats.org/officeDocument/2006/math">
                      <m:r>
                        <a:rPr lang="en-US" altLang="zh-CN" i="1" smtClean="0">
                          <a:solidFill>
                            <a:srgbClr val="C00000"/>
                          </a:solidFill>
                          <a:latin typeface="Cambria Math" panose="02040503050406030204" pitchFamily="18" charset="0"/>
                        </a:rPr>
                        <m:t>𝑘</m:t>
                      </m:r>
                      <m:r>
                        <a:rPr lang="en-US" altLang="zh-CN" i="1" smtClean="0">
                          <a:solidFill>
                            <a:srgbClr val="C00000"/>
                          </a:solidFill>
                          <a:latin typeface="Cambria Math" panose="02040503050406030204" pitchFamily="18" charset="0"/>
                        </a:rPr>
                        <m:t>=</m:t>
                      </m:r>
                      <m:r>
                        <a:rPr lang="en-US" altLang="zh-CN" i="1" smtClean="0">
                          <a:solidFill>
                            <a:srgbClr val="C00000"/>
                          </a:solidFill>
                          <a:latin typeface="Cambria Math" panose="02040503050406030204" pitchFamily="18" charset="0"/>
                        </a:rPr>
                        <m:t>4</m:t>
                      </m:r>
                    </m:oMath>
                  </m:oMathPara>
                </a14:m>
                <a:endParaRPr lang="en-US" altLang="zh-CN">
                  <a:solidFill>
                    <a:srgbClr val="C00000"/>
                  </a:solidFill>
                </a:endParaRPr>
              </a:p>
              <a:p>
                <a:pPr>
                  <a:lnSpc>
                    <a:spcPts val="2200"/>
                  </a:lnSpc>
                </a:pPr>
                <a14:m>
                  <m:oMath xmlns:m="http://schemas.openxmlformats.org/officeDocument/2006/math">
                    <m:sSub>
                      <m:sSubPr>
                        <m:ctrlPr>
                          <a:rPr lang="en-US" altLang="zh-CN" sz="1600" b="1" i="1" smtClean="0">
                            <a:solidFill>
                              <a:schemeClr val="accent2">
                                <a:lumMod val="50000"/>
                              </a:schemeClr>
                            </a:solidFill>
                            <a:latin typeface="Cambria Math" panose="02040503050406030204" pitchFamily="18" charset="0"/>
                          </a:rPr>
                        </m:ctrlPr>
                      </m:sSubPr>
                      <m:e>
                        <m:r>
                          <a:rPr lang="en-US" altLang="zh-CN" sz="1600" b="1" i="1" smtClean="0">
                            <a:solidFill>
                              <a:schemeClr val="accent2">
                                <a:lumMod val="50000"/>
                              </a:schemeClr>
                            </a:solidFill>
                            <a:latin typeface="Cambria Math" panose="02040503050406030204" pitchFamily="18" charset="0"/>
                          </a:rPr>
                          <m:t>𝑾</m:t>
                        </m:r>
                      </m:e>
                      <m:sub>
                        <m:r>
                          <a:rPr lang="en-US" altLang="zh-CN" sz="1600" b="1" i="1" smtClean="0">
                            <a:solidFill>
                              <a:schemeClr val="accent2">
                                <a:lumMod val="50000"/>
                              </a:schemeClr>
                            </a:solidFill>
                            <a:latin typeface="Cambria Math" panose="02040503050406030204" pitchFamily="18" charset="0"/>
                          </a:rPr>
                          <m:t>𝟑</m:t>
                        </m:r>
                      </m:sub>
                    </m:sSub>
                  </m:oMath>
                </a14:m>
                <a:r>
                  <a:rPr lang="zh-CN" altLang="en-US" sz="1600" b="1">
                    <a:solidFill>
                      <a:schemeClr val="accent2">
                        <a:lumMod val="50000"/>
                      </a:schemeClr>
                    </a:solidFill>
                  </a:rPr>
                  <a:t>第</a:t>
                </a:r>
                <a:r>
                  <a:rPr lang="en-US" altLang="zh-CN" sz="1600" b="1">
                    <a:solidFill>
                      <a:schemeClr val="accent2">
                        <a:lumMod val="50000"/>
                      </a:schemeClr>
                    </a:solidFill>
                  </a:rPr>
                  <a:t>4</a:t>
                </a:r>
                <a:r>
                  <a:rPr lang="zh-CN" altLang="en-US" sz="1600" b="1">
                    <a:solidFill>
                      <a:schemeClr val="accent2">
                        <a:lumMod val="50000"/>
                      </a:schemeClr>
                    </a:solidFill>
                  </a:rPr>
                  <a:t>行分别和第</a:t>
                </a:r>
                <a:r>
                  <a:rPr lang="en-US" altLang="zh-CN" sz="1600" b="1">
                    <a:solidFill>
                      <a:schemeClr val="accent2">
                        <a:lumMod val="50000"/>
                      </a:schemeClr>
                    </a:solidFill>
                  </a:rPr>
                  <a:t>1,2,3,4</a:t>
                </a:r>
                <a:r>
                  <a:rPr lang="zh-CN" altLang="en-US" sz="1600" b="1">
                    <a:solidFill>
                      <a:schemeClr val="accent2">
                        <a:lumMod val="50000"/>
                      </a:schemeClr>
                    </a:solidFill>
                  </a:rPr>
                  <a:t>行做逻辑或</a:t>
                </a:r>
                <a:endParaRPr lang="zh-CN" altLang="en-US" sz="1600" b="1">
                  <a:solidFill>
                    <a:schemeClr val="accent2">
                      <a:lumMod val="50000"/>
                    </a:schemeClr>
                  </a:solidFill>
                </a:endParaRPr>
              </a:p>
            </p:txBody>
          </p:sp>
        </mc:Choice>
        <mc:Fallback>
          <p:sp>
            <p:nvSpPr>
              <p:cNvPr id="48" name="文本框 47"/>
              <p:cNvSpPr txBox="1">
                <a:spLocks noRot="1" noChangeAspect="1" noMove="1" noResize="1" noEditPoints="1" noAdjustHandles="1" noChangeArrowheads="1" noChangeShapeType="1" noTextEdit="1"/>
              </p:cNvSpPr>
              <p:nvPr/>
            </p:nvSpPr>
            <p:spPr>
              <a:xfrm>
                <a:off x="2668826" y="4611007"/>
                <a:ext cx="1847812" cy="923010"/>
              </a:xfrm>
              <a:prstGeom prst="rect">
                <a:avLst/>
              </a:prstGeom>
              <a:blipFill rotWithShape="1">
                <a:blip r:embed="rId14"/>
                <a:stretch>
                  <a:fillRect l="-30" t="-29" r="28" b="68"/>
                </a:stretch>
              </a:blipFill>
            </p:spPr>
            <p:txBody>
              <a:bodyPr/>
              <a:lstStyle/>
              <a:p>
                <a:r>
                  <a:rPr lang="zh-CN" altLang="en-US">
                    <a:noFill/>
                  </a:rPr>
                  <a:t> </a:t>
                </a:r>
              </a:p>
            </p:txBody>
          </p:sp>
        </mc:Fallback>
      </mc:AlternateContent>
      <p:sp>
        <p:nvSpPr>
          <p:cNvPr id="49" name="箭头: 左 48"/>
          <p:cNvSpPr/>
          <p:nvPr/>
        </p:nvSpPr>
        <p:spPr>
          <a:xfrm>
            <a:off x="2560525" y="5553894"/>
            <a:ext cx="2091912" cy="7970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0" name="文本框 49"/>
              <p:cNvSpPr txBox="1"/>
              <p:nvPr/>
            </p:nvSpPr>
            <p:spPr>
              <a:xfrm>
                <a:off x="2562417" y="6046080"/>
                <a:ext cx="1201973" cy="296556"/>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US" altLang="zh-CN" b="1" i="1" smtClean="0">
                              <a:solidFill>
                                <a:schemeClr val="accent2">
                                  <a:lumMod val="50000"/>
                                </a:schemeClr>
                              </a:solidFill>
                              <a:latin typeface="Cambria Math" panose="02040503050406030204" pitchFamily="18" charset="0"/>
                            </a:rPr>
                          </m:ctrlPr>
                        </m:sSubPr>
                        <m:e>
                          <m:sSub>
                            <m:sSubPr>
                              <m:ctrlPr>
                                <a:rPr lang="en-US" altLang="zh-CN" b="1" i="1" smtClean="0">
                                  <a:solidFill>
                                    <a:schemeClr val="accent2">
                                      <a:lumMod val="50000"/>
                                    </a:schemeClr>
                                  </a:solidFill>
                                  <a:latin typeface="Cambria Math" panose="02040503050406030204" pitchFamily="18" charset="0"/>
                                </a:rPr>
                              </m:ctrlPr>
                            </m:sSubPr>
                            <m:e>
                              <m:r>
                                <a:rPr lang="en-US" altLang="zh-CN" b="1" i="1" smtClean="0">
                                  <a:solidFill>
                                    <a:schemeClr val="accent2">
                                      <a:lumMod val="50000"/>
                                    </a:schemeClr>
                                  </a:solidFill>
                                  <a:latin typeface="Cambria Math" panose="02040503050406030204" pitchFamily="18" charset="0"/>
                                </a:rPr>
                                <m:t>𝑴</m:t>
                              </m:r>
                            </m:e>
                            <m:sub>
                              <m:r>
                                <a:rPr lang="en-US" altLang="zh-CN" b="1" i="1" smtClean="0">
                                  <a:solidFill>
                                    <a:schemeClr val="accent2">
                                      <a:lumMod val="50000"/>
                                    </a:schemeClr>
                                  </a:solidFill>
                                  <a:latin typeface="Cambria Math" panose="02040503050406030204" pitchFamily="18" charset="0"/>
                                </a:rPr>
                                <m:t>𝒕</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𝑹</m:t>
                                  </m:r>
                                </m:e>
                              </m:d>
                            </m:sub>
                          </m:sSub>
                          <m:r>
                            <a:rPr lang="en-US" altLang="zh-CN" b="1" i="1" smtClean="0">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𝑾</m:t>
                          </m:r>
                        </m:e>
                        <m:sub>
                          <m:r>
                            <a:rPr lang="en-US" altLang="zh-CN" b="1" i="1" smtClean="0">
                              <a:solidFill>
                                <a:schemeClr val="accent2">
                                  <a:lumMod val="50000"/>
                                </a:schemeClr>
                              </a:solidFill>
                              <a:latin typeface="Cambria Math" panose="02040503050406030204" pitchFamily="18" charset="0"/>
                            </a:rPr>
                            <m:t>𝟒</m:t>
                          </m:r>
                        </m:sub>
                      </m:sSub>
                    </m:oMath>
                  </m:oMathPara>
                </a14:m>
                <a:endParaRPr lang="zh-CN" altLang="en-US"/>
              </a:p>
            </p:txBody>
          </p:sp>
        </mc:Choice>
        <mc:Fallback>
          <p:sp>
            <p:nvSpPr>
              <p:cNvPr id="50" name="文本框 49"/>
              <p:cNvSpPr txBox="1">
                <a:spLocks noRot="1" noChangeAspect="1" noMove="1" noResize="1" noEditPoints="1" noAdjustHandles="1" noChangeArrowheads="1" noChangeShapeType="1" noTextEdit="1"/>
              </p:cNvSpPr>
              <p:nvPr/>
            </p:nvSpPr>
            <p:spPr>
              <a:xfrm>
                <a:off x="2562417" y="6046080"/>
                <a:ext cx="1201973" cy="296556"/>
              </a:xfrm>
              <a:prstGeom prst="rect">
                <a:avLst/>
              </a:prstGeom>
              <a:blipFill rotWithShape="1">
                <a:blip r:embed="rId15"/>
                <a:stretch>
                  <a:fillRect l="-16" t="-83" r="9" b="86"/>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400">
                <a:latin typeface="Arial" panose="020B0604020202020204" pitchFamily="34" charset="0"/>
                <a:ea typeface="楷体" panose="02010609060101010101" pitchFamily="49" charset="-122"/>
                <a:cs typeface="Arial" panose="020B0604020202020204" pitchFamily="34" charset="0"/>
              </a:rPr>
              <a:t>Warshall</a:t>
            </a:r>
            <a:r>
              <a:rPr lang="zh-CN" altLang="en-US" sz="1400">
                <a:latin typeface="楷体" panose="02010609060101010101" pitchFamily="49" charset="-122"/>
                <a:ea typeface="楷体" panose="02010609060101010101" pitchFamily="49" charset="-122"/>
              </a:rPr>
              <a:t>算法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a:t>Warshall</a:t>
            </a:r>
            <a:r>
              <a:rPr lang="zh-CN" altLang="en-US"/>
              <a:t>算法计算关系传递闭包练习</a:t>
            </a:r>
            <a:endParaRPr lang="zh-CN" altLang="en-US"/>
          </a:p>
        </p:txBody>
      </p:sp>
      <p:grpSp>
        <p:nvGrpSpPr>
          <p:cNvPr id="11" name="组合 10"/>
          <p:cNvGrpSpPr/>
          <p:nvPr/>
        </p:nvGrpSpPr>
        <p:grpSpPr>
          <a:xfrm>
            <a:off x="849878" y="1317546"/>
            <a:ext cx="10492241" cy="1274067"/>
            <a:chOff x="887700" y="1103964"/>
            <a:chExt cx="10492241" cy="1274067"/>
          </a:xfrm>
        </p:grpSpPr>
        <mc:AlternateContent xmlns:mc="http://schemas.openxmlformats.org/markup-compatibility/2006">
          <mc:Choice xmlns:a14="http://schemas.microsoft.com/office/drawing/2010/main" Requires="a14">
            <p:sp>
              <p:nvSpPr>
                <p:cNvPr id="12" name="文本框 11"/>
                <p:cNvSpPr txBox="1"/>
                <p:nvPr/>
              </p:nvSpPr>
              <p:spPr>
                <a:xfrm>
                  <a:off x="887700" y="1103964"/>
                  <a:ext cx="10492241" cy="1274067"/>
                </a:xfrm>
                <a:prstGeom prst="rect">
                  <a:avLst/>
                </a:prstGeom>
                <a:solidFill>
                  <a:schemeClr val="accent6">
                    <a:lumMod val="20000"/>
                    <a:lumOff val="80000"/>
                    <a:alpha val="50000"/>
                  </a:schemeClr>
                </a:solidFill>
              </p:spPr>
              <p:txBody>
                <a:bodyPr wrap="square" rtlCol="0">
                  <a:spAutoFit/>
                </a:bodyPr>
                <a:lstStyle/>
                <a:p>
                  <a:pPr>
                    <a:spcBef>
                      <a:spcPts val="600"/>
                    </a:spcBef>
                  </a:pPr>
                  <a:r>
                    <a:rPr lang="zh-CN" altLang="en-US" sz="2400" b="1">
                      <a:solidFill>
                        <a:srgbClr val="002060"/>
                      </a:solidFill>
                      <a:latin typeface="楷体" panose="02010609060101010101" pitchFamily="49" charset="-122"/>
                      <a:ea typeface="楷体" panose="02010609060101010101" pitchFamily="49" charset="-122"/>
                    </a:rPr>
                    <a:t>集合</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m:rPr>
                          <m:lit/>
                        </m:rP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r>
                        <m:rPr>
                          <m:lit/>
                        </m:rPr>
                        <a:rPr lang="en-US" altLang="zh-CN" sz="2400" b="1" i="1">
                          <a:solidFill>
                            <a:srgbClr val="002060"/>
                          </a:solidFill>
                          <a:latin typeface="Cambria Math" panose="02040503050406030204" pitchFamily="18" charset="0"/>
                        </a:rPr>
                        <m:t>}</m:t>
                      </m:r>
                    </m:oMath>
                  </a14:m>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smtClean="0">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 </m:t>
                      </m:r>
                      <m:d>
                        <m:dPr>
                          <m:begChr m:val="⟨"/>
                          <m:endChr m:val="⟩"/>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𝟏</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𝟑</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𝟒</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𝟏</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e>
                      </m:d>
                      <m:r>
                        <m:rPr>
                          <m:lit/>
                        </m:rPr>
                        <a:rPr lang="en-US" altLang="zh-CN" sz="2400" b="1" i="1">
                          <a:solidFill>
                            <a:srgbClr val="002060"/>
                          </a:solidFill>
                          <a:latin typeface="Cambria Math" panose="02040503050406030204" pitchFamily="18" charset="0"/>
                        </a:rPr>
                        <m:t>}</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chemeClr val="tx2">
                          <a:lumMod val="50000"/>
                        </a:schemeClr>
                      </a:solidFill>
                    </a:rPr>
                    <a:t>利用</a:t>
                  </a:r>
                  <a:r>
                    <a:rPr lang="en-US" altLang="zh-CN" sz="2000" b="1">
                      <a:solidFill>
                        <a:schemeClr val="tx2">
                          <a:lumMod val="50000"/>
                        </a:schemeClr>
                      </a:solidFill>
                    </a:rPr>
                    <a:t>Warshall</a:t>
                  </a:r>
                  <a:r>
                    <a:rPr lang="zh-CN" altLang="en-US" sz="2000" b="1">
                      <a:solidFill>
                        <a:schemeClr val="tx2">
                          <a:lumMod val="50000"/>
                        </a:schemeClr>
                      </a:solidFill>
                    </a:rPr>
                    <a:t>算法计算</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𝑹</m:t>
                      </m:r>
                    </m:oMath>
                  </a14:m>
                  <a:r>
                    <a:rPr lang="zh-CN" altLang="en-US" sz="2000" b="1">
                      <a:solidFill>
                        <a:schemeClr val="tx2">
                          <a:lumMod val="50000"/>
                        </a:schemeClr>
                      </a:solidFill>
                    </a:rPr>
                    <a:t>的传递闭包，从</a:t>
                  </a:r>
                  <a14:m>
                    <m:oMath xmlns:m="http://schemas.openxmlformats.org/officeDocument/2006/math">
                      <m:sSub>
                        <m:sSubPr>
                          <m:ctrlPr>
                            <a:rPr lang="en-US" altLang="zh-CN" sz="2000" b="1" i="1" smtClean="0">
                              <a:solidFill>
                                <a:schemeClr val="tx2">
                                  <a:lumMod val="50000"/>
                                </a:schemeClr>
                              </a:solidFill>
                              <a:latin typeface="Cambria Math" panose="02040503050406030204" pitchFamily="18" charset="0"/>
                            </a:rPr>
                          </m:ctrlPr>
                        </m:sSubPr>
                        <m:e>
                          <m:r>
                            <a:rPr lang="en-US" altLang="zh-CN" sz="2000" b="1" i="1" smtClean="0">
                              <a:solidFill>
                                <a:schemeClr val="tx2">
                                  <a:lumMod val="50000"/>
                                </a:schemeClr>
                              </a:solidFill>
                              <a:latin typeface="Cambria Math" panose="02040503050406030204" pitchFamily="18" charset="0"/>
                            </a:rPr>
                            <m:t>𝑴</m:t>
                          </m:r>
                        </m:e>
                        <m:sub>
                          <m:r>
                            <a:rPr lang="en-US" altLang="zh-CN" sz="2000" b="1" i="1" smtClean="0">
                              <a:solidFill>
                                <a:schemeClr val="tx2">
                                  <a:lumMod val="50000"/>
                                </a:schemeClr>
                              </a:solidFill>
                              <a:latin typeface="Cambria Math" panose="02040503050406030204" pitchFamily="18" charset="0"/>
                            </a:rPr>
                            <m:t>𝑹</m:t>
                          </m:r>
                        </m:sub>
                      </m:sSub>
                      <m:r>
                        <a:rPr lang="en-US" altLang="zh-CN" sz="2000" b="1" i="1" smtClean="0">
                          <a:solidFill>
                            <a:schemeClr val="tx2">
                              <a:lumMod val="50000"/>
                            </a:schemeClr>
                          </a:solidFill>
                          <a:latin typeface="Cambria Math" panose="02040503050406030204" pitchFamily="18" charset="0"/>
                        </a:rPr>
                        <m:t>=</m:t>
                      </m:r>
                      <m:sSub>
                        <m:sSubPr>
                          <m:ctrlPr>
                            <a:rPr lang="en-US" altLang="zh-CN" sz="2000" b="1" i="1" smtClean="0">
                              <a:solidFill>
                                <a:schemeClr val="tx2">
                                  <a:lumMod val="50000"/>
                                </a:schemeClr>
                              </a:solidFill>
                              <a:latin typeface="Cambria Math" panose="02040503050406030204" pitchFamily="18" charset="0"/>
                            </a:rPr>
                          </m:ctrlPr>
                        </m:sSubPr>
                        <m:e>
                          <m:r>
                            <a:rPr lang="en-US" altLang="zh-CN" sz="2000" b="1" i="1" smtClean="0">
                              <a:solidFill>
                                <a:schemeClr val="tx2">
                                  <a:lumMod val="50000"/>
                                </a:schemeClr>
                              </a:solidFill>
                              <a:latin typeface="Cambria Math" panose="02040503050406030204" pitchFamily="18" charset="0"/>
                            </a:rPr>
                            <m:t>𝑾</m:t>
                          </m:r>
                        </m:e>
                        <m:sub>
                          <m:r>
                            <a:rPr lang="en-US" altLang="zh-CN" sz="2000" b="1" i="1" smtClean="0">
                              <a:solidFill>
                                <a:schemeClr val="tx2">
                                  <a:lumMod val="50000"/>
                                </a:schemeClr>
                              </a:solidFill>
                              <a:latin typeface="Cambria Math" panose="02040503050406030204" pitchFamily="18" charset="0"/>
                            </a:rPr>
                            <m:t>𝟎</m:t>
                          </m:r>
                        </m:sub>
                      </m:sSub>
                    </m:oMath>
                  </a14:m>
                  <a:r>
                    <a:rPr lang="zh-CN" altLang="en-US" sz="2000" b="1">
                      <a:solidFill>
                        <a:schemeClr val="tx2">
                          <a:lumMod val="50000"/>
                        </a:schemeClr>
                      </a:solidFill>
                    </a:rPr>
                    <a:t>计算到</a:t>
                  </a:r>
                  <a14:m>
                    <m:oMath xmlns:m="http://schemas.openxmlformats.org/officeDocument/2006/math">
                      <m:sSub>
                        <m:sSubPr>
                          <m:ctrlPr>
                            <a:rPr lang="en-US" altLang="zh-CN" sz="2000" b="1" i="1" smtClean="0">
                              <a:solidFill>
                                <a:schemeClr val="tx2">
                                  <a:lumMod val="50000"/>
                                </a:schemeClr>
                              </a:solidFill>
                              <a:latin typeface="Cambria Math" panose="02040503050406030204" pitchFamily="18" charset="0"/>
                            </a:rPr>
                          </m:ctrlPr>
                        </m:sSubPr>
                        <m:e>
                          <m:r>
                            <a:rPr lang="en-US" altLang="zh-CN" sz="2000" b="1" i="1" smtClean="0">
                              <a:solidFill>
                                <a:schemeClr val="tx2">
                                  <a:lumMod val="50000"/>
                                </a:schemeClr>
                              </a:solidFill>
                              <a:latin typeface="Cambria Math" panose="02040503050406030204" pitchFamily="18" charset="0"/>
                            </a:rPr>
                            <m:t>𝑾</m:t>
                          </m:r>
                        </m:e>
                        <m:sub>
                          <m:r>
                            <a:rPr lang="en-US" altLang="zh-CN" sz="2000" b="1" i="1" smtClean="0">
                              <a:solidFill>
                                <a:schemeClr val="tx2">
                                  <a:lumMod val="50000"/>
                                </a:schemeClr>
                              </a:solidFill>
                              <a:latin typeface="Cambria Math" panose="02040503050406030204" pitchFamily="18" charset="0"/>
                            </a:rPr>
                            <m:t>𝟒</m:t>
                          </m:r>
                        </m:sub>
                      </m:sSub>
                      <m:r>
                        <a:rPr lang="en-US" altLang="zh-CN" sz="2000" b="1" i="1" smtClean="0">
                          <a:solidFill>
                            <a:schemeClr val="tx2">
                              <a:lumMod val="50000"/>
                            </a:schemeClr>
                          </a:solidFill>
                          <a:latin typeface="Cambria Math" panose="02040503050406030204" pitchFamily="18" charset="0"/>
                        </a:rPr>
                        <m:t>=</m:t>
                      </m:r>
                      <m:sSub>
                        <m:sSubPr>
                          <m:ctrlPr>
                            <a:rPr lang="en-US" altLang="zh-CN" sz="2000" b="1" i="1" smtClean="0">
                              <a:solidFill>
                                <a:schemeClr val="tx2">
                                  <a:lumMod val="50000"/>
                                </a:schemeClr>
                              </a:solidFill>
                              <a:latin typeface="Cambria Math" panose="02040503050406030204" pitchFamily="18" charset="0"/>
                            </a:rPr>
                          </m:ctrlPr>
                        </m:sSubPr>
                        <m:e>
                          <m:r>
                            <a:rPr lang="en-US" altLang="zh-CN" sz="2000" b="1" i="1" smtClean="0">
                              <a:solidFill>
                                <a:schemeClr val="tx2">
                                  <a:lumMod val="50000"/>
                                </a:schemeClr>
                              </a:solidFill>
                              <a:latin typeface="Cambria Math" panose="02040503050406030204" pitchFamily="18" charset="0"/>
                            </a:rPr>
                            <m:t>𝑴</m:t>
                          </m:r>
                        </m:e>
                        <m:sub>
                          <m:r>
                            <a:rPr lang="en-US" altLang="zh-CN" sz="2000" b="1" i="1" smtClean="0">
                              <a:solidFill>
                                <a:schemeClr val="tx2">
                                  <a:lumMod val="50000"/>
                                </a:schemeClr>
                              </a:solidFill>
                              <a:latin typeface="Cambria Math" panose="02040503050406030204" pitchFamily="18" charset="0"/>
                            </a:rPr>
                            <m:t>𝒕</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𝑹</m:t>
                              </m:r>
                            </m:e>
                          </m:d>
                        </m:sub>
                      </m:sSub>
                    </m:oMath>
                  </a14:m>
                  <a:r>
                    <a:rPr lang="zh-CN" altLang="en-US" sz="2000" b="1">
                      <a:solidFill>
                        <a:schemeClr val="tx2">
                          <a:lumMod val="50000"/>
                        </a:schemeClr>
                      </a:solidFill>
                    </a:rPr>
                    <a:t>：</a:t>
                  </a:r>
                  <a:endParaRPr lang="zh-CN" altLang="en-US" sz="2000" b="1">
                    <a:solidFill>
                      <a:schemeClr val="tx2">
                        <a:lumMod val="50000"/>
                      </a:schemeClr>
                    </a:solidFill>
                  </a:endParaRPr>
                </a:p>
                <a:p>
                  <a:pPr algn="ctr">
                    <a:spcBef>
                      <a:spcPts val="600"/>
                    </a:spcBef>
                  </a:pP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𝑾</m:t>
                              </m:r>
                            </m:e>
                            <m:sub>
                              <m:r>
                                <a:rPr lang="en-US" altLang="zh-CN" sz="2000" b="1" i="1" smtClean="0">
                                  <a:solidFill>
                                    <a:schemeClr val="accent2">
                                      <a:lumMod val="50000"/>
                                    </a:schemeClr>
                                  </a:solidFill>
                                  <a:latin typeface="Cambria Math" panose="02040503050406030204" pitchFamily="18" charset="0"/>
                                </a:rPr>
                                <m:t>𝟎</m:t>
                              </m:r>
                            </m:sub>
                          </m:sSub>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𝑴</m:t>
                          </m:r>
                        </m:e>
                        <m:sub>
                          <m:r>
                            <a:rPr lang="en-US" altLang="zh-CN" sz="2000" b="1" i="1" smtClean="0">
                              <a:solidFill>
                                <a:schemeClr val="accent2">
                                  <a:lumMod val="50000"/>
                                </a:schemeClr>
                              </a:solidFill>
                              <a:latin typeface="Cambria Math" panose="02040503050406030204" pitchFamily="18" charset="0"/>
                            </a:rPr>
                            <m:t>𝑹</m:t>
                          </m:r>
                        </m:sub>
                      </m:sSub>
                      <m:r>
                        <a:rPr lang="en-US" altLang="zh-CN" sz="2000" b="1" i="1">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A	    </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𝑾</m:t>
                          </m:r>
                        </m:e>
                        <m:sub>
                          <m:r>
                            <a:rPr lang="en-US" altLang="zh-CN" sz="2000" b="1" i="1" smtClean="0">
                              <a:solidFill>
                                <a:schemeClr val="accent2">
                                  <a:lumMod val="50000"/>
                                </a:schemeClr>
                              </a:solidFill>
                              <a:latin typeface="Cambria Math" panose="02040503050406030204" pitchFamily="18" charset="0"/>
                            </a:rPr>
                            <m:t>𝟏</m:t>
                          </m:r>
                        </m:sub>
                      </m:sSub>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B</a:t>
                  </a:r>
                  <a:r>
                    <a:rPr lang="en-US" altLang="zh-CN" sz="2000" b="1">
                      <a:solidFill>
                        <a:schemeClr val="accent2">
                          <a:lumMod val="50000"/>
                        </a:schemeClr>
                      </a:solidFill>
                    </a:rPr>
                    <a:t>	 </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𝑾</m:t>
                          </m:r>
                        </m:e>
                        <m:sub>
                          <m:r>
                            <a:rPr lang="en-US" altLang="zh-CN" sz="2000" b="1" i="1" smtClean="0">
                              <a:solidFill>
                                <a:schemeClr val="accent2">
                                  <a:lumMod val="50000"/>
                                </a:schemeClr>
                              </a:solidFill>
                              <a:latin typeface="Cambria Math" panose="02040503050406030204" pitchFamily="18" charset="0"/>
                            </a:rPr>
                            <m:t>𝟐</m:t>
                          </m:r>
                        </m:sub>
                      </m:sSub>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B            </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𝑾</m:t>
                          </m:r>
                        </m:e>
                        <m:sub>
                          <m:r>
                            <a:rPr lang="en-US" altLang="zh-CN" sz="2000" b="1" i="1" smtClean="0">
                              <a:solidFill>
                                <a:schemeClr val="accent2">
                                  <a:lumMod val="50000"/>
                                </a:schemeClr>
                              </a:solidFill>
                              <a:latin typeface="Cambria Math" panose="02040503050406030204" pitchFamily="18" charset="0"/>
                            </a:rPr>
                            <m:t>𝟑</m:t>
                          </m:r>
                        </m:sub>
                      </m:sSub>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B             </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𝑴</m:t>
                          </m:r>
                        </m:e>
                        <m:sub>
                          <m:r>
                            <a:rPr lang="en-US" altLang="zh-CN" sz="2000" b="1" i="1" smtClean="0">
                              <a:solidFill>
                                <a:schemeClr val="accent2">
                                  <a:lumMod val="50000"/>
                                </a:schemeClr>
                              </a:solidFill>
                              <a:latin typeface="Cambria Math" panose="02040503050406030204" pitchFamily="18" charset="0"/>
                            </a:rPr>
                            <m:t>𝒕</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𝑹</m:t>
                              </m:r>
                            </m:e>
                          </m:d>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𝑾</m:t>
                          </m:r>
                        </m:e>
                        <m:sub>
                          <m:r>
                            <a:rPr lang="en-US" altLang="zh-CN" sz="2000" b="1" i="1" smtClean="0">
                              <a:solidFill>
                                <a:schemeClr val="accent2">
                                  <a:lumMod val="50000"/>
                                </a:schemeClr>
                              </a:solidFill>
                              <a:latin typeface="Cambria Math" panose="02040503050406030204" pitchFamily="18" charset="0"/>
                            </a:rPr>
                            <m:t>𝟒</m:t>
                          </m:r>
                        </m:sub>
                      </m:sSub>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E</a:t>
                  </a:r>
                  <a:r>
                    <a:rPr lang="en-US" altLang="zh-CN" sz="2000" b="1">
                      <a:solidFill>
                        <a:schemeClr val="accent2">
                          <a:lumMod val="50000"/>
                        </a:schemeClr>
                      </a:solidFill>
                    </a:rPr>
                    <a:t> </a:t>
                  </a:r>
                  <a:endParaRPr lang="zh-CN" altLang="en-US" sz="2000" b="1"/>
                </a:p>
              </p:txBody>
            </p:sp>
          </mc:Choice>
          <mc:Fallback>
            <p:sp>
              <p:nvSpPr>
                <p:cNvPr id="12" name="文本框 11"/>
                <p:cNvSpPr txBox="1">
                  <a:spLocks noRot="1" noChangeAspect="1" noMove="1" noResize="1" noEditPoints="1" noAdjustHandles="1" noChangeArrowheads="1" noChangeShapeType="1" noTextEdit="1"/>
                </p:cNvSpPr>
                <p:nvPr/>
              </p:nvSpPr>
              <p:spPr>
                <a:xfrm>
                  <a:off x="887700" y="1103964"/>
                  <a:ext cx="10492241" cy="1274067"/>
                </a:xfrm>
                <a:prstGeom prst="rect">
                  <a:avLst/>
                </a:prstGeom>
                <a:blipFill rotWithShape="1">
                  <a:blip r:embed="rId1"/>
                </a:blipFill>
              </p:spPr>
              <p:txBody>
                <a:bodyPr/>
                <a:lstStyle/>
                <a:p>
                  <a:r>
                    <a:rPr lang="zh-CN" altLang="en-US">
                      <a:noFill/>
                    </a:rPr>
                    <a:t> </a:t>
                  </a:r>
                </a:p>
              </p:txBody>
            </p:sp>
          </mc:Fallback>
        </mc:AlternateContent>
        <p:cxnSp>
          <p:nvCxnSpPr>
            <p:cNvPr id="13" name="直接连接符 12"/>
            <p:cNvCxnSpPr/>
            <p:nvPr/>
          </p:nvCxnSpPr>
          <p:spPr>
            <a:xfrm>
              <a:off x="3030201" y="2282661"/>
              <a:ext cx="625174"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404026" y="2282662"/>
              <a:ext cx="699705"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988094" y="2282661"/>
              <a:ext cx="66411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733466" y="2282661"/>
              <a:ext cx="68746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0476175" y="2282661"/>
              <a:ext cx="70798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9" name="图片 18"/>
          <p:cNvPicPr>
            <a:picLocks noChangeAspect="1"/>
          </p:cNvPicPr>
          <p:nvPr/>
        </p:nvPicPr>
        <p:blipFill>
          <a:blip r:embed="rId2"/>
          <a:stretch>
            <a:fillRect/>
          </a:stretch>
        </p:blipFill>
        <p:spPr>
          <a:xfrm>
            <a:off x="828125" y="2971999"/>
            <a:ext cx="7426226" cy="2819337"/>
          </a:xfrm>
          <a:prstGeom prst="rect">
            <a:avLst/>
          </a:prstGeom>
        </p:spPr>
      </p:pic>
      <p:sp>
        <p:nvSpPr>
          <p:cNvPr id="24" name="文本框 23"/>
          <p:cNvSpPr txBox="1"/>
          <p:nvPr/>
        </p:nvSpPr>
        <p:spPr>
          <a:xfrm>
            <a:off x="10119582" y="1579664"/>
            <a:ext cx="1822125" cy="553998"/>
          </a:xfrm>
          <a:prstGeom prst="rect">
            <a:avLst/>
          </a:prstGeom>
          <a:solidFill>
            <a:schemeClr val="accent4">
              <a:lumMod val="20000"/>
              <a:lumOff val="80000"/>
            </a:schemeClr>
          </a:solidFill>
        </p:spPr>
        <p:txBody>
          <a:bodyPr wrap="square" tIns="0" bIns="0" rtlCol="0">
            <a:spAutoFit/>
          </a:bodyPr>
          <a:lstStyle/>
          <a:p>
            <a:r>
              <a:rPr lang="zh-CN" altLang="en-US" b="1">
                <a:solidFill>
                  <a:schemeClr val="accent2">
                    <a:lumMod val="50000"/>
                  </a:schemeClr>
                </a:solidFill>
              </a:rPr>
              <a:t>使用下面矩阵选项的字母填空</a:t>
            </a:r>
            <a:endParaRPr lang="zh-CN" altLang="en-US" b="1">
              <a:solidFill>
                <a:schemeClr val="accent2">
                  <a:lumMod val="50000"/>
                </a:schemeClr>
              </a:solidFill>
            </a:endParaRPr>
          </a:p>
        </p:txBody>
      </p:sp>
      <p:sp>
        <p:nvSpPr>
          <p:cNvPr id="28" name="文本框 27"/>
          <p:cNvSpPr txBox="1"/>
          <p:nvPr/>
        </p:nvSpPr>
        <p:spPr>
          <a:xfrm>
            <a:off x="2959009" y="2190519"/>
            <a:ext cx="418266" cy="276999"/>
          </a:xfrm>
          <a:prstGeom prst="rect">
            <a:avLst/>
          </a:prstGeom>
          <a:solidFill>
            <a:srgbClr val="F0F7EC"/>
          </a:solidFill>
        </p:spPr>
        <p:txBody>
          <a:bodyPr wrap="square" tIns="0" bIns="0" rtlCol="0">
            <a:spAutoFit/>
          </a:bodyPr>
          <a:lstStyle/>
          <a:p>
            <a:pPr algn="ctr"/>
            <a:r>
              <a:rPr lang="en-US" altLang="zh-CN" b="1">
                <a:solidFill>
                  <a:srgbClr val="C00000"/>
                </a:solidFill>
              </a:rPr>
              <a:t>(1)</a:t>
            </a:r>
            <a:endParaRPr lang="zh-CN" altLang="en-US" b="1">
              <a:solidFill>
                <a:srgbClr val="C00000"/>
              </a:solidFill>
            </a:endParaRPr>
          </a:p>
        </p:txBody>
      </p:sp>
      <p:sp>
        <p:nvSpPr>
          <p:cNvPr id="29" name="文本框 28"/>
          <p:cNvSpPr txBox="1"/>
          <p:nvPr/>
        </p:nvSpPr>
        <p:spPr>
          <a:xfrm>
            <a:off x="4297790" y="2190519"/>
            <a:ext cx="418266" cy="276999"/>
          </a:xfrm>
          <a:prstGeom prst="rect">
            <a:avLst/>
          </a:prstGeom>
          <a:solidFill>
            <a:srgbClr val="F0F7EC"/>
          </a:solidFill>
        </p:spPr>
        <p:txBody>
          <a:bodyPr wrap="square" tIns="0" bIns="0" rtlCol="0">
            <a:spAutoFit/>
          </a:bodyPr>
          <a:lstStyle/>
          <a:p>
            <a:pPr algn="ctr"/>
            <a:r>
              <a:rPr lang="en-US" altLang="zh-CN" b="1">
                <a:solidFill>
                  <a:srgbClr val="C00000"/>
                </a:solidFill>
              </a:rPr>
              <a:t>(2)</a:t>
            </a:r>
            <a:endParaRPr lang="zh-CN" altLang="en-US" b="1">
              <a:solidFill>
                <a:srgbClr val="C00000"/>
              </a:solidFill>
            </a:endParaRPr>
          </a:p>
        </p:txBody>
      </p:sp>
      <p:sp>
        <p:nvSpPr>
          <p:cNvPr id="30" name="文本框 29"/>
          <p:cNvSpPr txBox="1"/>
          <p:nvPr/>
        </p:nvSpPr>
        <p:spPr>
          <a:xfrm>
            <a:off x="5887981" y="2190519"/>
            <a:ext cx="418266" cy="276999"/>
          </a:xfrm>
          <a:prstGeom prst="rect">
            <a:avLst/>
          </a:prstGeom>
          <a:solidFill>
            <a:srgbClr val="F0F7EC"/>
          </a:solidFill>
        </p:spPr>
        <p:txBody>
          <a:bodyPr wrap="square" tIns="0" bIns="0" rtlCol="0">
            <a:spAutoFit/>
          </a:bodyPr>
          <a:lstStyle/>
          <a:p>
            <a:pPr algn="ctr"/>
            <a:r>
              <a:rPr lang="en-US" altLang="zh-CN" b="1">
                <a:solidFill>
                  <a:srgbClr val="C00000"/>
                </a:solidFill>
              </a:rPr>
              <a:t>(3)</a:t>
            </a:r>
            <a:endParaRPr lang="zh-CN" altLang="en-US" b="1">
              <a:solidFill>
                <a:srgbClr val="C00000"/>
              </a:solidFill>
            </a:endParaRPr>
          </a:p>
        </p:txBody>
      </p:sp>
      <p:sp>
        <p:nvSpPr>
          <p:cNvPr id="31" name="文本框 30"/>
          <p:cNvSpPr txBox="1"/>
          <p:nvPr/>
        </p:nvSpPr>
        <p:spPr>
          <a:xfrm>
            <a:off x="7647808" y="2190519"/>
            <a:ext cx="418266" cy="276999"/>
          </a:xfrm>
          <a:prstGeom prst="rect">
            <a:avLst/>
          </a:prstGeom>
          <a:solidFill>
            <a:srgbClr val="F0F7EC"/>
          </a:solidFill>
        </p:spPr>
        <p:txBody>
          <a:bodyPr wrap="square" tIns="0" bIns="0" rtlCol="0">
            <a:spAutoFit/>
          </a:bodyPr>
          <a:lstStyle/>
          <a:p>
            <a:pPr algn="ctr"/>
            <a:r>
              <a:rPr lang="en-US" altLang="zh-CN" b="1">
                <a:solidFill>
                  <a:srgbClr val="C00000"/>
                </a:solidFill>
              </a:rPr>
              <a:t>(4)</a:t>
            </a:r>
            <a:endParaRPr lang="zh-CN" altLang="en-US" b="1">
              <a:solidFill>
                <a:srgbClr val="C00000"/>
              </a:solidFill>
            </a:endParaRPr>
          </a:p>
        </p:txBody>
      </p:sp>
      <p:sp>
        <p:nvSpPr>
          <p:cNvPr id="32" name="文本框 31"/>
          <p:cNvSpPr txBox="1"/>
          <p:nvPr/>
        </p:nvSpPr>
        <p:spPr>
          <a:xfrm>
            <a:off x="10399664" y="2190519"/>
            <a:ext cx="418266" cy="276999"/>
          </a:xfrm>
          <a:prstGeom prst="rect">
            <a:avLst/>
          </a:prstGeom>
          <a:solidFill>
            <a:srgbClr val="F0F7EC"/>
          </a:solidFill>
        </p:spPr>
        <p:txBody>
          <a:bodyPr wrap="square" tIns="0" bIns="0" rtlCol="0">
            <a:spAutoFit/>
          </a:bodyPr>
          <a:lstStyle/>
          <a:p>
            <a:pPr algn="ctr"/>
            <a:r>
              <a:rPr lang="en-US" altLang="zh-CN" b="1">
                <a:solidFill>
                  <a:srgbClr val="C00000"/>
                </a:solidFill>
              </a:rPr>
              <a:t>(5)</a:t>
            </a:r>
            <a:endParaRPr lang="zh-CN" altLang="en-US" b="1">
              <a:solidFill>
                <a:srgbClr val="C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400">
                <a:latin typeface="Arial" panose="020B0604020202020204" pitchFamily="34" charset="0"/>
                <a:ea typeface="楷体" panose="02010609060101010101" pitchFamily="49" charset="-122"/>
                <a:cs typeface="Arial" panose="020B0604020202020204" pitchFamily="34" charset="0"/>
              </a:rPr>
              <a:t>Warshall</a:t>
            </a:r>
            <a:r>
              <a:rPr lang="zh-CN" altLang="en-US" sz="1400">
                <a:latin typeface="楷体" panose="02010609060101010101" pitchFamily="49" charset="-122"/>
                <a:ea typeface="楷体" panose="02010609060101010101" pitchFamily="49" charset="-122"/>
              </a:rPr>
              <a:t>算法</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a:t>Warshall</a:t>
            </a:r>
            <a:r>
              <a:rPr lang="zh-CN" altLang="en-US"/>
              <a:t>算法计算关系传递闭包练习</a:t>
            </a:r>
            <a:endParaRPr lang="zh-CN" altLang="en-US"/>
          </a:p>
        </p:txBody>
      </p:sp>
      <p:grpSp>
        <p:nvGrpSpPr>
          <p:cNvPr id="11" name="组合 10"/>
          <p:cNvGrpSpPr/>
          <p:nvPr/>
        </p:nvGrpSpPr>
        <p:grpSpPr>
          <a:xfrm>
            <a:off x="849878" y="1317546"/>
            <a:ext cx="10492241" cy="1274067"/>
            <a:chOff x="887700" y="1103964"/>
            <a:chExt cx="10492241" cy="1274067"/>
          </a:xfrm>
        </p:grpSpPr>
        <mc:AlternateContent xmlns:mc="http://schemas.openxmlformats.org/markup-compatibility/2006">
          <mc:Choice xmlns:a14="http://schemas.microsoft.com/office/drawing/2010/main" Requires="a14">
            <p:sp>
              <p:nvSpPr>
                <p:cNvPr id="12" name="文本框 11"/>
                <p:cNvSpPr txBox="1"/>
                <p:nvPr/>
              </p:nvSpPr>
              <p:spPr>
                <a:xfrm>
                  <a:off x="887700" y="1103964"/>
                  <a:ext cx="10492241" cy="1274067"/>
                </a:xfrm>
                <a:prstGeom prst="rect">
                  <a:avLst/>
                </a:prstGeom>
                <a:solidFill>
                  <a:schemeClr val="accent6">
                    <a:lumMod val="20000"/>
                    <a:lumOff val="80000"/>
                    <a:alpha val="50000"/>
                  </a:schemeClr>
                </a:solidFill>
              </p:spPr>
              <p:txBody>
                <a:bodyPr wrap="square" rtlCol="0">
                  <a:spAutoFit/>
                </a:bodyPr>
                <a:lstStyle/>
                <a:p>
                  <a:pPr>
                    <a:spcBef>
                      <a:spcPts val="600"/>
                    </a:spcBef>
                  </a:pPr>
                  <a:r>
                    <a:rPr lang="zh-CN" altLang="en-US" sz="2400" b="1">
                      <a:solidFill>
                        <a:srgbClr val="002060"/>
                      </a:solidFill>
                      <a:latin typeface="楷体" panose="02010609060101010101" pitchFamily="49" charset="-122"/>
                      <a:ea typeface="楷体" panose="02010609060101010101" pitchFamily="49" charset="-122"/>
                    </a:rPr>
                    <a:t>集合</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m:rPr>
                          <m:lit/>
                        </m:rP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r>
                        <m:rPr>
                          <m:lit/>
                        </m:rPr>
                        <a:rPr lang="en-US" altLang="zh-CN" sz="2400" b="1" i="1">
                          <a:solidFill>
                            <a:srgbClr val="002060"/>
                          </a:solidFill>
                          <a:latin typeface="Cambria Math" panose="02040503050406030204" pitchFamily="18" charset="0"/>
                        </a:rPr>
                        <m:t>}</m:t>
                      </m:r>
                    </m:oMath>
                  </a14:m>
                  <a:r>
                    <a:rPr lang="zh-CN" altLang="en-US" sz="2400" b="1">
                      <a:solidFill>
                        <a:srgbClr val="002060"/>
                      </a:solidFill>
                      <a:latin typeface="楷体" panose="02010609060101010101" pitchFamily="49" charset="-122"/>
                      <a:ea typeface="楷体" panose="02010609060101010101" pitchFamily="49" charset="-122"/>
                    </a:rPr>
                    <a:t>，关系</a:t>
                  </a:r>
                  <a14:m>
                    <m:oMath xmlns:m="http://schemas.openxmlformats.org/officeDocument/2006/math">
                      <m:r>
                        <a:rPr lang="en-US" altLang="zh-CN" sz="2400" b="1" i="1" smtClean="0">
                          <a:solidFill>
                            <a:srgbClr val="002060"/>
                          </a:solidFill>
                          <a:latin typeface="Cambria Math" panose="02040503050406030204" pitchFamily="18" charset="0"/>
                        </a:rPr>
                        <m:t>𝑹</m:t>
                      </m:r>
                      <m:r>
                        <a:rPr lang="en-US" altLang="zh-CN" sz="2400" b="1" i="1" smtClean="0">
                          <a:solidFill>
                            <a:srgbClr val="002060"/>
                          </a:solidFill>
                          <a:latin typeface="Cambria Math" panose="02040503050406030204" pitchFamily="18" charset="0"/>
                        </a:rPr>
                        <m:t>=</m:t>
                      </m:r>
                      <m:r>
                        <m:rPr>
                          <m:lit/>
                        </m:rP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 </m:t>
                      </m:r>
                      <m:d>
                        <m:dPr>
                          <m:begChr m:val="⟨"/>
                          <m:endChr m:val="⟩"/>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𝟏</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𝟑</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𝟑</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𝟐</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𝟒</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𝟏</m:t>
                          </m:r>
                        </m:e>
                      </m:d>
                      <m:r>
                        <a:rPr lang="en-US" altLang="zh-CN" sz="2400" b="1" i="1">
                          <a:solidFill>
                            <a:srgbClr val="002060"/>
                          </a:solidFill>
                          <a:latin typeface="Cambria Math" panose="02040503050406030204" pitchFamily="18" charset="0"/>
                        </a:rPr>
                        <m:t>, </m:t>
                      </m:r>
                      <m:d>
                        <m:dPr>
                          <m:begChr m:val="⟨"/>
                          <m:endChr m:val="⟩"/>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𝟏</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𝟒</m:t>
                          </m:r>
                        </m:e>
                      </m:d>
                      <m:r>
                        <m:rPr>
                          <m:lit/>
                        </m:rPr>
                        <a:rPr lang="en-US" altLang="zh-CN" sz="2400" b="1" i="1">
                          <a:solidFill>
                            <a:srgbClr val="002060"/>
                          </a:solidFill>
                          <a:latin typeface="Cambria Math" panose="02040503050406030204" pitchFamily="18" charset="0"/>
                        </a:rPr>
                        <m:t>}</m:t>
                      </m:r>
                    </m:oMath>
                  </a14:m>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buFont typeface="Arial" panose="020B0604020202020204" pitchFamily="34" charset="0"/>
                    <a:buChar char="•"/>
                  </a:pPr>
                  <a:r>
                    <a:rPr lang="zh-CN" altLang="en-US" sz="2000" b="1">
                      <a:solidFill>
                        <a:schemeClr val="tx2">
                          <a:lumMod val="50000"/>
                        </a:schemeClr>
                      </a:solidFill>
                    </a:rPr>
                    <a:t>利用</a:t>
                  </a:r>
                  <a:r>
                    <a:rPr lang="en-US" altLang="zh-CN" sz="2000" b="1">
                      <a:solidFill>
                        <a:schemeClr val="tx2">
                          <a:lumMod val="50000"/>
                        </a:schemeClr>
                      </a:solidFill>
                    </a:rPr>
                    <a:t>Warshall</a:t>
                  </a:r>
                  <a:r>
                    <a:rPr lang="zh-CN" altLang="en-US" sz="2000" b="1">
                      <a:solidFill>
                        <a:schemeClr val="tx2">
                          <a:lumMod val="50000"/>
                        </a:schemeClr>
                      </a:solidFill>
                    </a:rPr>
                    <a:t>算法计算</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𝑹</m:t>
                      </m:r>
                    </m:oMath>
                  </a14:m>
                  <a:r>
                    <a:rPr lang="zh-CN" altLang="en-US" sz="2000" b="1">
                      <a:solidFill>
                        <a:schemeClr val="tx2">
                          <a:lumMod val="50000"/>
                        </a:schemeClr>
                      </a:solidFill>
                    </a:rPr>
                    <a:t>的传递闭包，从</a:t>
                  </a:r>
                  <a14:m>
                    <m:oMath xmlns:m="http://schemas.openxmlformats.org/officeDocument/2006/math">
                      <m:sSub>
                        <m:sSubPr>
                          <m:ctrlPr>
                            <a:rPr lang="en-US" altLang="zh-CN" sz="2000" b="1" i="1" smtClean="0">
                              <a:solidFill>
                                <a:schemeClr val="tx2">
                                  <a:lumMod val="50000"/>
                                </a:schemeClr>
                              </a:solidFill>
                              <a:latin typeface="Cambria Math" panose="02040503050406030204" pitchFamily="18" charset="0"/>
                            </a:rPr>
                          </m:ctrlPr>
                        </m:sSubPr>
                        <m:e>
                          <m:r>
                            <a:rPr lang="en-US" altLang="zh-CN" sz="2000" b="1" i="1" smtClean="0">
                              <a:solidFill>
                                <a:schemeClr val="tx2">
                                  <a:lumMod val="50000"/>
                                </a:schemeClr>
                              </a:solidFill>
                              <a:latin typeface="Cambria Math" panose="02040503050406030204" pitchFamily="18" charset="0"/>
                            </a:rPr>
                            <m:t>𝑴</m:t>
                          </m:r>
                        </m:e>
                        <m:sub>
                          <m:r>
                            <a:rPr lang="en-US" altLang="zh-CN" sz="2000" b="1" i="1" smtClean="0">
                              <a:solidFill>
                                <a:schemeClr val="tx2">
                                  <a:lumMod val="50000"/>
                                </a:schemeClr>
                              </a:solidFill>
                              <a:latin typeface="Cambria Math" panose="02040503050406030204" pitchFamily="18" charset="0"/>
                            </a:rPr>
                            <m:t>𝑹</m:t>
                          </m:r>
                        </m:sub>
                      </m:sSub>
                      <m:r>
                        <a:rPr lang="en-US" altLang="zh-CN" sz="2000" b="1" i="1" smtClean="0">
                          <a:solidFill>
                            <a:schemeClr val="tx2">
                              <a:lumMod val="50000"/>
                            </a:schemeClr>
                          </a:solidFill>
                          <a:latin typeface="Cambria Math" panose="02040503050406030204" pitchFamily="18" charset="0"/>
                        </a:rPr>
                        <m:t>=</m:t>
                      </m:r>
                      <m:sSub>
                        <m:sSubPr>
                          <m:ctrlPr>
                            <a:rPr lang="en-US" altLang="zh-CN" sz="2000" b="1" i="1" smtClean="0">
                              <a:solidFill>
                                <a:schemeClr val="tx2">
                                  <a:lumMod val="50000"/>
                                </a:schemeClr>
                              </a:solidFill>
                              <a:latin typeface="Cambria Math" panose="02040503050406030204" pitchFamily="18" charset="0"/>
                            </a:rPr>
                          </m:ctrlPr>
                        </m:sSubPr>
                        <m:e>
                          <m:r>
                            <a:rPr lang="en-US" altLang="zh-CN" sz="2000" b="1" i="1" smtClean="0">
                              <a:solidFill>
                                <a:schemeClr val="tx2">
                                  <a:lumMod val="50000"/>
                                </a:schemeClr>
                              </a:solidFill>
                              <a:latin typeface="Cambria Math" panose="02040503050406030204" pitchFamily="18" charset="0"/>
                            </a:rPr>
                            <m:t>𝑾</m:t>
                          </m:r>
                        </m:e>
                        <m:sub>
                          <m:r>
                            <a:rPr lang="en-US" altLang="zh-CN" sz="2000" b="1" i="1" smtClean="0">
                              <a:solidFill>
                                <a:schemeClr val="tx2">
                                  <a:lumMod val="50000"/>
                                </a:schemeClr>
                              </a:solidFill>
                              <a:latin typeface="Cambria Math" panose="02040503050406030204" pitchFamily="18" charset="0"/>
                            </a:rPr>
                            <m:t>𝟎</m:t>
                          </m:r>
                        </m:sub>
                      </m:sSub>
                    </m:oMath>
                  </a14:m>
                  <a:r>
                    <a:rPr lang="zh-CN" altLang="en-US" sz="2000" b="1">
                      <a:solidFill>
                        <a:schemeClr val="tx2">
                          <a:lumMod val="50000"/>
                        </a:schemeClr>
                      </a:solidFill>
                    </a:rPr>
                    <a:t>计算到</a:t>
                  </a:r>
                  <a14:m>
                    <m:oMath xmlns:m="http://schemas.openxmlformats.org/officeDocument/2006/math">
                      <m:sSub>
                        <m:sSubPr>
                          <m:ctrlPr>
                            <a:rPr lang="en-US" altLang="zh-CN" sz="2000" b="1" i="1" smtClean="0">
                              <a:solidFill>
                                <a:schemeClr val="tx2">
                                  <a:lumMod val="50000"/>
                                </a:schemeClr>
                              </a:solidFill>
                              <a:latin typeface="Cambria Math" panose="02040503050406030204" pitchFamily="18" charset="0"/>
                            </a:rPr>
                          </m:ctrlPr>
                        </m:sSubPr>
                        <m:e>
                          <m:r>
                            <a:rPr lang="en-US" altLang="zh-CN" sz="2000" b="1" i="1" smtClean="0">
                              <a:solidFill>
                                <a:schemeClr val="tx2">
                                  <a:lumMod val="50000"/>
                                </a:schemeClr>
                              </a:solidFill>
                              <a:latin typeface="Cambria Math" panose="02040503050406030204" pitchFamily="18" charset="0"/>
                            </a:rPr>
                            <m:t>𝑾</m:t>
                          </m:r>
                        </m:e>
                        <m:sub>
                          <m:r>
                            <a:rPr lang="en-US" altLang="zh-CN" sz="2000" b="1" i="1" smtClean="0">
                              <a:solidFill>
                                <a:schemeClr val="tx2">
                                  <a:lumMod val="50000"/>
                                </a:schemeClr>
                              </a:solidFill>
                              <a:latin typeface="Cambria Math" panose="02040503050406030204" pitchFamily="18" charset="0"/>
                            </a:rPr>
                            <m:t>𝟒</m:t>
                          </m:r>
                        </m:sub>
                      </m:sSub>
                      <m:r>
                        <a:rPr lang="en-US" altLang="zh-CN" sz="2000" b="1" i="1" smtClean="0">
                          <a:solidFill>
                            <a:schemeClr val="tx2">
                              <a:lumMod val="50000"/>
                            </a:schemeClr>
                          </a:solidFill>
                          <a:latin typeface="Cambria Math" panose="02040503050406030204" pitchFamily="18" charset="0"/>
                        </a:rPr>
                        <m:t>=</m:t>
                      </m:r>
                      <m:sSub>
                        <m:sSubPr>
                          <m:ctrlPr>
                            <a:rPr lang="en-US" altLang="zh-CN" sz="2000" b="1" i="1" smtClean="0">
                              <a:solidFill>
                                <a:schemeClr val="tx2">
                                  <a:lumMod val="50000"/>
                                </a:schemeClr>
                              </a:solidFill>
                              <a:latin typeface="Cambria Math" panose="02040503050406030204" pitchFamily="18" charset="0"/>
                            </a:rPr>
                          </m:ctrlPr>
                        </m:sSubPr>
                        <m:e>
                          <m:r>
                            <a:rPr lang="en-US" altLang="zh-CN" sz="2000" b="1" i="1" smtClean="0">
                              <a:solidFill>
                                <a:schemeClr val="tx2">
                                  <a:lumMod val="50000"/>
                                </a:schemeClr>
                              </a:solidFill>
                              <a:latin typeface="Cambria Math" panose="02040503050406030204" pitchFamily="18" charset="0"/>
                            </a:rPr>
                            <m:t>𝑴</m:t>
                          </m:r>
                        </m:e>
                        <m:sub>
                          <m:r>
                            <a:rPr lang="en-US" altLang="zh-CN" sz="2000" b="1" i="1" smtClean="0">
                              <a:solidFill>
                                <a:schemeClr val="tx2">
                                  <a:lumMod val="50000"/>
                                </a:schemeClr>
                              </a:solidFill>
                              <a:latin typeface="Cambria Math" panose="02040503050406030204" pitchFamily="18" charset="0"/>
                            </a:rPr>
                            <m:t>𝒕</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smtClean="0">
                                  <a:solidFill>
                                    <a:schemeClr val="tx2">
                                      <a:lumMod val="50000"/>
                                    </a:schemeClr>
                                  </a:solidFill>
                                  <a:latin typeface="Cambria Math" panose="02040503050406030204" pitchFamily="18" charset="0"/>
                                </a:rPr>
                                <m:t>𝑹</m:t>
                              </m:r>
                            </m:e>
                          </m:d>
                        </m:sub>
                      </m:sSub>
                    </m:oMath>
                  </a14:m>
                  <a:r>
                    <a:rPr lang="zh-CN" altLang="en-US" sz="2000" b="1">
                      <a:solidFill>
                        <a:schemeClr val="tx2">
                          <a:lumMod val="50000"/>
                        </a:schemeClr>
                      </a:solidFill>
                    </a:rPr>
                    <a:t>：</a:t>
                  </a:r>
                  <a:endParaRPr lang="zh-CN" altLang="en-US" sz="2000" b="1">
                    <a:solidFill>
                      <a:schemeClr val="tx2">
                        <a:lumMod val="50000"/>
                      </a:schemeClr>
                    </a:solidFill>
                  </a:endParaRPr>
                </a:p>
                <a:p>
                  <a:pPr algn="ctr">
                    <a:spcBef>
                      <a:spcPts val="600"/>
                    </a:spcBef>
                  </a:pP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𝑾</m:t>
                              </m:r>
                            </m:e>
                            <m:sub>
                              <m:r>
                                <a:rPr lang="en-US" altLang="zh-CN" sz="2000" b="1" i="1" smtClean="0">
                                  <a:solidFill>
                                    <a:schemeClr val="accent2">
                                      <a:lumMod val="50000"/>
                                    </a:schemeClr>
                                  </a:solidFill>
                                  <a:latin typeface="Cambria Math" panose="02040503050406030204" pitchFamily="18" charset="0"/>
                                </a:rPr>
                                <m:t>𝟎</m:t>
                              </m:r>
                            </m:sub>
                          </m:sSub>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𝑴</m:t>
                          </m:r>
                        </m:e>
                        <m:sub>
                          <m:r>
                            <a:rPr lang="en-US" altLang="zh-CN" sz="2000" b="1" i="1" smtClean="0">
                              <a:solidFill>
                                <a:schemeClr val="accent2">
                                  <a:lumMod val="50000"/>
                                </a:schemeClr>
                              </a:solidFill>
                              <a:latin typeface="Cambria Math" panose="02040503050406030204" pitchFamily="18" charset="0"/>
                            </a:rPr>
                            <m:t>𝑹</m:t>
                          </m:r>
                        </m:sub>
                      </m:sSub>
                      <m:r>
                        <a:rPr lang="en-US" altLang="zh-CN" sz="2000" b="1" i="1">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A	    </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𝑾</m:t>
                          </m:r>
                        </m:e>
                        <m:sub>
                          <m:r>
                            <a:rPr lang="en-US" altLang="zh-CN" sz="2000" b="1" i="1" smtClean="0">
                              <a:solidFill>
                                <a:schemeClr val="accent2">
                                  <a:lumMod val="50000"/>
                                </a:schemeClr>
                              </a:solidFill>
                              <a:latin typeface="Cambria Math" panose="02040503050406030204" pitchFamily="18" charset="0"/>
                            </a:rPr>
                            <m:t>𝟏</m:t>
                          </m:r>
                        </m:sub>
                      </m:sSub>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B</a:t>
                  </a:r>
                  <a:r>
                    <a:rPr lang="en-US" altLang="zh-CN" sz="2000" b="1">
                      <a:solidFill>
                        <a:schemeClr val="accent2">
                          <a:lumMod val="50000"/>
                        </a:schemeClr>
                      </a:solidFill>
                    </a:rPr>
                    <a:t>	 </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𝑾</m:t>
                          </m:r>
                        </m:e>
                        <m:sub>
                          <m:r>
                            <a:rPr lang="en-US" altLang="zh-CN" sz="2000" b="1" i="1" smtClean="0">
                              <a:solidFill>
                                <a:schemeClr val="accent2">
                                  <a:lumMod val="50000"/>
                                </a:schemeClr>
                              </a:solidFill>
                              <a:latin typeface="Cambria Math" panose="02040503050406030204" pitchFamily="18" charset="0"/>
                            </a:rPr>
                            <m:t>𝟐</m:t>
                          </m:r>
                        </m:sub>
                      </m:sSub>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B            </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𝑾</m:t>
                          </m:r>
                        </m:e>
                        <m:sub>
                          <m:r>
                            <a:rPr lang="en-US" altLang="zh-CN" sz="2000" b="1" i="1" smtClean="0">
                              <a:solidFill>
                                <a:schemeClr val="accent2">
                                  <a:lumMod val="50000"/>
                                </a:schemeClr>
                              </a:solidFill>
                              <a:latin typeface="Cambria Math" panose="02040503050406030204" pitchFamily="18" charset="0"/>
                            </a:rPr>
                            <m:t>𝟑</m:t>
                          </m:r>
                        </m:sub>
                      </m:sSub>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B             </a:t>
                  </a:r>
                  <a14:m>
                    <m:oMath xmlns:m="http://schemas.openxmlformats.org/officeDocument/2006/math">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𝑴</m:t>
                          </m:r>
                        </m:e>
                        <m:sub>
                          <m:r>
                            <a:rPr lang="en-US" altLang="zh-CN" sz="2000" b="1" i="1" smtClean="0">
                              <a:solidFill>
                                <a:schemeClr val="accent2">
                                  <a:lumMod val="50000"/>
                                </a:schemeClr>
                              </a:solidFill>
                              <a:latin typeface="Cambria Math" panose="02040503050406030204" pitchFamily="18" charset="0"/>
                            </a:rPr>
                            <m:t>𝒕</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𝑹</m:t>
                              </m:r>
                            </m:e>
                          </m:d>
                        </m:sub>
                      </m:sSub>
                      <m:sSub>
                        <m:sSubPr>
                          <m:ctrlPr>
                            <a:rPr lang="en-US" altLang="zh-CN" sz="2000" b="1" i="1" smtClean="0">
                              <a:solidFill>
                                <a:schemeClr val="accent2">
                                  <a:lumMod val="50000"/>
                                </a:schemeClr>
                              </a:solidFill>
                              <a:latin typeface="Cambria Math" panose="02040503050406030204" pitchFamily="18" charset="0"/>
                            </a:rPr>
                          </m:ctrlPr>
                        </m:sSubPr>
                        <m:e>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𝑾</m:t>
                          </m:r>
                        </m:e>
                        <m:sub>
                          <m:r>
                            <a:rPr lang="en-US" altLang="zh-CN" sz="2000" b="1" i="1" smtClean="0">
                              <a:solidFill>
                                <a:schemeClr val="accent2">
                                  <a:lumMod val="50000"/>
                                </a:schemeClr>
                              </a:solidFill>
                              <a:latin typeface="Cambria Math" panose="02040503050406030204" pitchFamily="18" charset="0"/>
                            </a:rPr>
                            <m:t>𝟒</m:t>
                          </m:r>
                        </m:sub>
                      </m:sSub>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chemeClr val="accent2">
                          <a:lumMod val="50000"/>
                        </a:schemeClr>
                      </a:solidFill>
                    </a:rPr>
                    <a:t> </a:t>
                  </a:r>
                  <a:r>
                    <a:rPr lang="en-US" altLang="zh-CN" sz="2000" b="1">
                      <a:solidFill>
                        <a:srgbClr val="C00000"/>
                      </a:solidFill>
                    </a:rPr>
                    <a:t>E</a:t>
                  </a:r>
                  <a:r>
                    <a:rPr lang="en-US" altLang="zh-CN" sz="2000" b="1">
                      <a:solidFill>
                        <a:schemeClr val="accent2">
                          <a:lumMod val="50000"/>
                        </a:schemeClr>
                      </a:solidFill>
                    </a:rPr>
                    <a:t> </a:t>
                  </a:r>
                  <a:endParaRPr lang="zh-CN" altLang="en-US" sz="2000" b="1"/>
                </a:p>
              </p:txBody>
            </p:sp>
          </mc:Choice>
          <mc:Fallback>
            <p:sp>
              <p:nvSpPr>
                <p:cNvPr id="12" name="文本框 11"/>
                <p:cNvSpPr txBox="1">
                  <a:spLocks noRot="1" noChangeAspect="1" noMove="1" noResize="1" noEditPoints="1" noAdjustHandles="1" noChangeArrowheads="1" noChangeShapeType="1" noTextEdit="1"/>
                </p:cNvSpPr>
                <p:nvPr/>
              </p:nvSpPr>
              <p:spPr>
                <a:xfrm>
                  <a:off x="887700" y="1103964"/>
                  <a:ext cx="10492241" cy="1274067"/>
                </a:xfrm>
                <a:prstGeom prst="rect">
                  <a:avLst/>
                </a:prstGeom>
                <a:blipFill rotWithShape="1">
                  <a:blip r:embed="rId1"/>
                </a:blipFill>
              </p:spPr>
              <p:txBody>
                <a:bodyPr/>
                <a:lstStyle/>
                <a:p>
                  <a:r>
                    <a:rPr lang="zh-CN" altLang="en-US">
                      <a:noFill/>
                    </a:rPr>
                    <a:t> </a:t>
                  </a:r>
                </a:p>
              </p:txBody>
            </p:sp>
          </mc:Fallback>
        </mc:AlternateContent>
        <p:cxnSp>
          <p:nvCxnSpPr>
            <p:cNvPr id="13" name="直接连接符 12"/>
            <p:cNvCxnSpPr/>
            <p:nvPr/>
          </p:nvCxnSpPr>
          <p:spPr>
            <a:xfrm>
              <a:off x="3030201" y="2282661"/>
              <a:ext cx="625174"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404026" y="2282662"/>
              <a:ext cx="699705"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988094" y="2282661"/>
              <a:ext cx="664110"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733466" y="2282661"/>
              <a:ext cx="68746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0476175" y="2282661"/>
              <a:ext cx="70798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pic>
        <p:nvPicPr>
          <p:cNvPr id="19" name="图片 18"/>
          <p:cNvPicPr>
            <a:picLocks noChangeAspect="1"/>
          </p:cNvPicPr>
          <p:nvPr/>
        </p:nvPicPr>
        <p:blipFill>
          <a:blip r:embed="rId2"/>
          <a:stretch>
            <a:fillRect/>
          </a:stretch>
        </p:blipFill>
        <p:spPr>
          <a:xfrm>
            <a:off x="828125" y="2971999"/>
            <a:ext cx="7426226" cy="2819337"/>
          </a:xfrm>
          <a:prstGeom prst="rect">
            <a:avLst/>
          </a:prstGeom>
        </p:spPr>
      </p:pic>
      <p:sp>
        <p:nvSpPr>
          <p:cNvPr id="24" name="文本框 23"/>
          <p:cNvSpPr txBox="1"/>
          <p:nvPr/>
        </p:nvSpPr>
        <p:spPr>
          <a:xfrm>
            <a:off x="10119582" y="1579664"/>
            <a:ext cx="1822125" cy="553998"/>
          </a:xfrm>
          <a:prstGeom prst="rect">
            <a:avLst/>
          </a:prstGeom>
          <a:solidFill>
            <a:schemeClr val="accent4">
              <a:lumMod val="20000"/>
              <a:lumOff val="80000"/>
            </a:schemeClr>
          </a:solidFill>
        </p:spPr>
        <p:txBody>
          <a:bodyPr wrap="square" tIns="0" bIns="0" rtlCol="0">
            <a:spAutoFit/>
          </a:bodyPr>
          <a:lstStyle/>
          <a:p>
            <a:r>
              <a:rPr lang="zh-CN" altLang="en-US" b="1">
                <a:solidFill>
                  <a:schemeClr val="accent2">
                    <a:lumMod val="50000"/>
                  </a:schemeClr>
                </a:solidFill>
              </a:rPr>
              <a:t>使用下面矩阵选项的字母填空</a:t>
            </a:r>
            <a:endParaRPr lang="zh-CN" altLang="en-US" b="1">
              <a:solidFill>
                <a:schemeClr val="accent2">
                  <a:lumMod val="50000"/>
                </a:schemeClr>
              </a:solidFill>
            </a:endParaRPr>
          </a:p>
        </p:txBody>
      </p:sp>
      <mc:AlternateContent xmlns:mc="http://schemas.openxmlformats.org/markup-compatibility/2006">
        <mc:Choice xmlns:a14="http://schemas.microsoft.com/office/drawing/2010/main" Requires="a14">
          <p:sp>
            <p:nvSpPr>
              <p:cNvPr id="27" name="文本框 26"/>
              <p:cNvSpPr txBox="1"/>
              <p:nvPr/>
            </p:nvSpPr>
            <p:spPr>
              <a:xfrm>
                <a:off x="8450157" y="3195829"/>
                <a:ext cx="3430669" cy="2371675"/>
              </a:xfrm>
              <a:prstGeom prst="rect">
                <a:avLst/>
              </a:prstGeom>
              <a:solidFill>
                <a:schemeClr val="accent2">
                  <a:lumMod val="20000"/>
                  <a:lumOff val="80000"/>
                </a:schemeClr>
              </a:solidFill>
            </p:spPr>
            <p:txBody>
              <a:bodyPr wrap="square" rtlCol="0">
                <a:spAutoFit/>
              </a:bodyPr>
              <a:lstStyle/>
              <a:p>
                <a:pPr>
                  <a:lnSpc>
                    <a:spcPts val="2800"/>
                  </a:lnSpc>
                  <a:spcBef>
                    <a:spcPts val="600"/>
                  </a:spcBef>
                </a:pPr>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计算</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𝑾</m:t>
                        </m:r>
                      </m:e>
                      <m:sub>
                        <m:r>
                          <a:rPr lang="en-US" altLang="zh-CN" sz="2000" b="1" i="1" smtClean="0">
                            <a:solidFill>
                              <a:srgbClr val="002060"/>
                            </a:solidFill>
                            <a:latin typeface="Cambria Math" panose="02040503050406030204" pitchFamily="18" charset="0"/>
                          </a:rPr>
                          <m:t>𝒌</m:t>
                        </m:r>
                      </m:sub>
                    </m:sSub>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时检查</a:t>
                </a:r>
                <a14:m>
                  <m:oMath xmlns:m="http://schemas.openxmlformats.org/officeDocument/2006/math">
                    <m:sSub>
                      <m:sSubPr>
                        <m:ctrlPr>
                          <a:rPr lang="en-US" altLang="zh-CN" sz="2000" b="1" i="1" smtClean="0">
                            <a:solidFill>
                              <a:srgbClr val="002060"/>
                            </a:solidFill>
                            <a:latin typeface="Cambria Math" panose="02040503050406030204" pitchFamily="18" charset="0"/>
                          </a:rPr>
                        </m:ctrlPr>
                      </m:sSubPr>
                      <m:e>
                        <m:r>
                          <a:rPr lang="en-US" altLang="zh-CN" sz="2000" b="1" i="1" smtClean="0">
                            <a:solidFill>
                              <a:srgbClr val="002060"/>
                            </a:solidFill>
                            <a:latin typeface="Cambria Math" panose="02040503050406030204" pitchFamily="18" charset="0"/>
                          </a:rPr>
                          <m:t>𝑾</m:t>
                        </m:r>
                      </m:e>
                      <m:sub>
                        <m:r>
                          <a:rPr lang="en-US" altLang="zh-CN" sz="2000" b="1" i="1" smtClean="0">
                            <a:solidFill>
                              <a:srgbClr val="002060"/>
                            </a:solidFill>
                            <a:latin typeface="Cambria Math" panose="02040503050406030204" pitchFamily="18" charset="0"/>
                          </a:rPr>
                          <m:t>𝒌</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𝟏</m:t>
                        </m:r>
                      </m:sub>
                    </m:sSub>
                  </m:oMath>
                </a14:m>
                <a:r>
                  <a:rPr lang="zh-CN" altLang="en-US" sz="2000" b="1">
                    <a:solidFill>
                      <a:srgbClr val="002060"/>
                    </a:solidFill>
                    <a:latin typeface="楷体" panose="02010609060101010101" pitchFamily="49" charset="-122"/>
                    <a:ea typeface="楷体" panose="02010609060101010101" pitchFamily="49" charset="-122"/>
                    <a:cs typeface="Arial" panose="020B0604020202020204" pitchFamily="34" charset="0"/>
                  </a:rPr>
                  <a:t>的</a:t>
                </a:r>
                <a:r>
                  <a:rPr lang="zh-CN" altLang="en-US" sz="2000" b="1">
                    <a:solidFill>
                      <a:srgbClr val="C00000"/>
                    </a:solidFill>
                    <a:latin typeface="楷体" panose="02010609060101010101" pitchFamily="49" charset="-122"/>
                    <a:ea typeface="楷体" panose="02010609060101010101" pitchFamily="49" charset="-122"/>
                    <a:cs typeface="Arial" panose="020B0604020202020204" pitchFamily="34" charset="0"/>
                  </a:rPr>
                  <a:t>第</a:t>
                </a:r>
                <a14:m>
                  <m:oMath xmlns:m="http://schemas.openxmlformats.org/officeDocument/2006/math">
                    <m:r>
                      <a:rPr lang="en-US" altLang="zh-CN" sz="2000" b="1" i="1" smtClean="0">
                        <a:solidFill>
                          <a:srgbClr val="C00000"/>
                        </a:solidFill>
                        <a:latin typeface="Cambria Math" panose="02040503050406030204" pitchFamily="18" charset="0"/>
                      </a:rPr>
                      <m:t>𝒌</m:t>
                    </m:r>
                  </m:oMath>
                </a14:m>
                <a:r>
                  <a:rPr lang="zh-CN" altLang="en-US" sz="2000" b="1">
                    <a:solidFill>
                      <a:srgbClr val="C00000"/>
                    </a:solidFill>
                    <a:latin typeface="楷体" panose="02010609060101010101" pitchFamily="49" charset="-122"/>
                    <a:ea typeface="楷体" panose="02010609060101010101" pitchFamily="49" charset="-122"/>
                    <a:cs typeface="Arial" panose="020B0604020202020204" pitchFamily="34" charset="0"/>
                  </a:rPr>
                  <a:t>列</a:t>
                </a:r>
                <a:endParaRPr lang="en-US" altLang="zh-CN" sz="2000" b="1">
                  <a:solidFill>
                    <a:srgbClr val="002060"/>
                  </a:solidFill>
                  <a:latin typeface="楷体" panose="02010609060101010101" pitchFamily="49" charset="-122"/>
                  <a:ea typeface="楷体" panose="02010609060101010101" pitchFamily="49" charset="-122"/>
                  <a:cs typeface="Arial" panose="020B0604020202020204" pitchFamily="34" charset="0"/>
                </a:endParaRPr>
              </a:p>
              <a:p>
                <a:pPr marL="285750" indent="-285750">
                  <a:lnSpc>
                    <a:spcPts val="2800"/>
                  </a:lnSpc>
                  <a:spcBef>
                    <a:spcPts val="600"/>
                  </a:spcBef>
                  <a:buFont typeface="Arial" panose="020B0604020202020204" pitchFamily="34" charset="0"/>
                  <a:buChar char="•"/>
                </a:pPr>
                <a:r>
                  <a:rPr lang="zh-CN" altLang="en-US" b="1">
                    <a:solidFill>
                      <a:schemeClr val="accent6">
                        <a:lumMod val="50000"/>
                      </a:schemeClr>
                    </a:solidFill>
                  </a:rPr>
                  <a:t>若</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𝑾</m:t>
                        </m:r>
                      </m:e>
                      <m:sub>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sub>
                    </m:sSub>
                  </m:oMath>
                </a14:m>
                <a:r>
                  <a:rPr lang="zh-CN" altLang="en-US" b="1">
                    <a:solidFill>
                      <a:schemeClr val="accent6">
                        <a:lumMod val="50000"/>
                      </a:schemeClr>
                    </a:solidFill>
                  </a:rPr>
                  <a:t>第</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列</a:t>
                </a:r>
                <a:r>
                  <a:rPr lang="zh-CN" altLang="en-US" b="1">
                    <a:solidFill>
                      <a:srgbClr val="C00000"/>
                    </a:solidFill>
                  </a:rPr>
                  <a:t>第</a:t>
                </a:r>
                <a14:m>
                  <m:oMath xmlns:m="http://schemas.openxmlformats.org/officeDocument/2006/math">
                    <m:r>
                      <a:rPr lang="en-US" altLang="zh-CN" b="1" i="1" smtClean="0">
                        <a:solidFill>
                          <a:srgbClr val="C00000"/>
                        </a:solidFill>
                        <a:latin typeface="Cambria Math" panose="02040503050406030204" pitchFamily="18" charset="0"/>
                      </a:rPr>
                      <m:t>𝒊</m:t>
                    </m:r>
                  </m:oMath>
                </a14:m>
                <a:r>
                  <a:rPr lang="zh-CN" altLang="en-US" b="1">
                    <a:solidFill>
                      <a:srgbClr val="C00000"/>
                    </a:solidFill>
                  </a:rPr>
                  <a:t>行为</a:t>
                </a:r>
                <a:r>
                  <a:rPr lang="en-US" altLang="zh-CN" b="1">
                    <a:solidFill>
                      <a:srgbClr val="C00000"/>
                    </a:solidFill>
                  </a:rPr>
                  <a:t>1</a:t>
                </a:r>
                <a:r>
                  <a:rPr lang="zh-CN" altLang="en-US" b="1">
                    <a:solidFill>
                      <a:schemeClr val="accent6">
                        <a:lumMod val="50000"/>
                      </a:schemeClr>
                    </a:solidFill>
                  </a:rPr>
                  <a:t>，将</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𝑾</m:t>
                        </m:r>
                      </m:e>
                      <m:sub>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sub>
                    </m:sSub>
                  </m:oMath>
                </a14:m>
                <a:r>
                  <a:rPr lang="zh-CN" altLang="en-US" b="1">
                    <a:solidFill>
                      <a:srgbClr val="C00000"/>
                    </a:solidFill>
                  </a:rPr>
                  <a:t>第</a:t>
                </a:r>
                <a14:m>
                  <m:oMath xmlns:m="http://schemas.openxmlformats.org/officeDocument/2006/math">
                    <m:r>
                      <a:rPr lang="en-US" altLang="zh-CN" b="1" i="1" smtClean="0">
                        <a:solidFill>
                          <a:srgbClr val="C00000"/>
                        </a:solidFill>
                        <a:latin typeface="Cambria Math" panose="02040503050406030204" pitchFamily="18" charset="0"/>
                      </a:rPr>
                      <m:t>𝒌</m:t>
                    </m:r>
                  </m:oMath>
                </a14:m>
                <a:r>
                  <a:rPr lang="zh-CN" altLang="en-US" b="1">
                    <a:solidFill>
                      <a:srgbClr val="C00000"/>
                    </a:solidFill>
                  </a:rPr>
                  <a:t>行</a:t>
                </a:r>
                <a:r>
                  <a:rPr lang="zh-CN" altLang="en-US" b="1">
                    <a:solidFill>
                      <a:schemeClr val="accent6">
                        <a:lumMod val="50000"/>
                      </a:schemeClr>
                    </a:solidFill>
                  </a:rPr>
                  <a:t>与</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𝑾</m:t>
                        </m:r>
                      </m:e>
                      <m:sub>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sub>
                    </m:sSub>
                  </m:oMath>
                </a14:m>
                <a:r>
                  <a:rPr lang="zh-CN" altLang="en-US" b="1">
                    <a:solidFill>
                      <a:srgbClr val="C00000"/>
                    </a:solidFill>
                  </a:rPr>
                  <a:t>第</a:t>
                </a:r>
                <a14:m>
                  <m:oMath xmlns:m="http://schemas.openxmlformats.org/officeDocument/2006/math">
                    <m:r>
                      <a:rPr lang="en-US" altLang="zh-CN" b="1" i="1" smtClean="0">
                        <a:solidFill>
                          <a:srgbClr val="C00000"/>
                        </a:solidFill>
                        <a:latin typeface="Cambria Math" panose="02040503050406030204" pitchFamily="18" charset="0"/>
                      </a:rPr>
                      <m:t>𝒊</m:t>
                    </m:r>
                  </m:oMath>
                </a14:m>
                <a:r>
                  <a:rPr lang="zh-CN" altLang="en-US" b="1">
                    <a:solidFill>
                      <a:srgbClr val="C00000"/>
                    </a:solidFill>
                  </a:rPr>
                  <a:t>行</a:t>
                </a:r>
                <a:r>
                  <a:rPr lang="zh-CN" altLang="en-US" b="1">
                    <a:solidFill>
                      <a:schemeClr val="accent6">
                        <a:lumMod val="50000"/>
                      </a:schemeClr>
                    </a:solidFill>
                  </a:rPr>
                  <a:t>对应元素做</a:t>
                </a:r>
                <a:r>
                  <a:rPr lang="zh-CN" altLang="en-US" b="1">
                    <a:solidFill>
                      <a:srgbClr val="C00000"/>
                    </a:solidFill>
                  </a:rPr>
                  <a:t>逻辑或</a:t>
                </a:r>
                <a:r>
                  <a:rPr lang="zh-CN" altLang="en-US" b="1">
                    <a:solidFill>
                      <a:schemeClr val="accent6">
                        <a:lumMod val="50000"/>
                      </a:schemeClr>
                    </a:solidFill>
                  </a:rPr>
                  <a:t>得到</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𝑾</m:t>
                        </m:r>
                      </m:e>
                      <m:sub>
                        <m:r>
                          <a:rPr lang="en-US" altLang="zh-CN" b="1" i="1" smtClean="0">
                            <a:solidFill>
                              <a:schemeClr val="accent6">
                                <a:lumMod val="50000"/>
                              </a:schemeClr>
                            </a:solidFill>
                            <a:latin typeface="Cambria Math" panose="02040503050406030204" pitchFamily="18" charset="0"/>
                          </a:rPr>
                          <m:t>𝒌</m:t>
                        </m:r>
                      </m:sub>
                    </m:sSub>
                  </m:oMath>
                </a14:m>
                <a:r>
                  <a:rPr lang="zh-CN" altLang="en-US" b="1">
                    <a:solidFill>
                      <a:schemeClr val="accent6">
                        <a:lumMod val="50000"/>
                      </a:schemeClr>
                    </a:solidFill>
                  </a:rPr>
                  <a:t>第</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𝒊</m:t>
                    </m:r>
                  </m:oMath>
                </a14:m>
                <a:r>
                  <a:rPr lang="zh-CN" altLang="en-US" b="1">
                    <a:solidFill>
                      <a:schemeClr val="accent6">
                        <a:lumMod val="50000"/>
                      </a:schemeClr>
                    </a:solidFill>
                  </a:rPr>
                  <a:t>行</a:t>
                </a:r>
                <a:endParaRPr lang="en-US" altLang="zh-CN" b="1">
                  <a:solidFill>
                    <a:schemeClr val="accent6">
                      <a:lumMod val="50000"/>
                    </a:schemeClr>
                  </a:solidFill>
                </a:endParaRPr>
              </a:p>
              <a:p>
                <a:pPr marL="285750" indent="-285750">
                  <a:lnSpc>
                    <a:spcPts val="2800"/>
                  </a:lnSpc>
                  <a:spcBef>
                    <a:spcPts val="600"/>
                  </a:spcBef>
                  <a:buFont typeface="Arial" panose="020B0604020202020204" pitchFamily="34" charset="0"/>
                  <a:buChar char="•"/>
                </a:pPr>
                <a:r>
                  <a:rPr lang="zh-CN" altLang="en-US" b="1">
                    <a:solidFill>
                      <a:schemeClr val="accent6">
                        <a:lumMod val="50000"/>
                      </a:schemeClr>
                    </a:solidFill>
                  </a:rPr>
                  <a:t>若</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𝑾</m:t>
                        </m:r>
                      </m:e>
                      <m:sub>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sub>
                    </m:sSub>
                  </m:oMath>
                </a14:m>
                <a:r>
                  <a:rPr lang="zh-CN" altLang="en-US" b="1">
                    <a:solidFill>
                      <a:schemeClr val="accent6">
                        <a:lumMod val="50000"/>
                      </a:schemeClr>
                    </a:solidFill>
                  </a:rPr>
                  <a:t>第</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𝒌</m:t>
                    </m:r>
                  </m:oMath>
                </a14:m>
                <a:r>
                  <a:rPr lang="zh-CN" altLang="en-US" b="1">
                    <a:solidFill>
                      <a:schemeClr val="accent6">
                        <a:lumMod val="50000"/>
                      </a:schemeClr>
                    </a:solidFill>
                  </a:rPr>
                  <a:t>列第</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𝒊</m:t>
                    </m:r>
                  </m:oMath>
                </a14:m>
                <a:r>
                  <a:rPr lang="zh-CN" altLang="en-US" b="1">
                    <a:solidFill>
                      <a:schemeClr val="accent6">
                        <a:lumMod val="50000"/>
                      </a:schemeClr>
                    </a:solidFill>
                  </a:rPr>
                  <a:t>行为</a:t>
                </a:r>
                <a:r>
                  <a:rPr lang="en-US" altLang="zh-CN" b="1">
                    <a:solidFill>
                      <a:schemeClr val="accent6">
                        <a:lumMod val="50000"/>
                      </a:schemeClr>
                    </a:solidFill>
                  </a:rPr>
                  <a:t>0</a:t>
                </a:r>
                <a:r>
                  <a:rPr lang="zh-CN" altLang="en-US" b="1">
                    <a:solidFill>
                      <a:schemeClr val="accent6">
                        <a:lumMod val="50000"/>
                      </a:schemeClr>
                    </a:solidFill>
                  </a:rPr>
                  <a:t>，则</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𝑾</m:t>
                        </m:r>
                      </m:e>
                      <m:sub>
                        <m:r>
                          <a:rPr lang="en-US" altLang="zh-CN" b="1" i="1" smtClean="0">
                            <a:solidFill>
                              <a:schemeClr val="accent6">
                                <a:lumMod val="50000"/>
                              </a:schemeClr>
                            </a:solidFill>
                            <a:latin typeface="Cambria Math" panose="02040503050406030204" pitchFamily="18" charset="0"/>
                          </a:rPr>
                          <m:t>𝒌</m:t>
                        </m:r>
                      </m:sub>
                    </m:sSub>
                  </m:oMath>
                </a14:m>
                <a:r>
                  <a:rPr lang="zh-CN" altLang="en-US" b="1">
                    <a:solidFill>
                      <a:schemeClr val="accent6">
                        <a:lumMod val="50000"/>
                      </a:schemeClr>
                    </a:solidFill>
                  </a:rPr>
                  <a:t>的第</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𝒊</m:t>
                    </m:r>
                  </m:oMath>
                </a14:m>
                <a:r>
                  <a:rPr lang="zh-CN" altLang="en-US" b="1">
                    <a:solidFill>
                      <a:schemeClr val="accent6">
                        <a:lumMod val="50000"/>
                      </a:schemeClr>
                    </a:solidFill>
                  </a:rPr>
                  <a:t>行与</a:t>
                </a:r>
                <a14:m>
                  <m:oMath xmlns:m="http://schemas.openxmlformats.org/officeDocument/2006/math">
                    <m:sSub>
                      <m:sSubPr>
                        <m:ctrlPr>
                          <a:rPr lang="en-US" altLang="zh-CN" b="1" i="1" smtClean="0">
                            <a:solidFill>
                              <a:schemeClr val="accent6">
                                <a:lumMod val="50000"/>
                              </a:schemeClr>
                            </a:solidFill>
                            <a:latin typeface="Cambria Math" panose="02040503050406030204" pitchFamily="18" charset="0"/>
                          </a:rPr>
                        </m:ctrlPr>
                      </m:sSubPr>
                      <m:e>
                        <m:r>
                          <a:rPr lang="en-US" altLang="zh-CN" b="1" i="1" smtClean="0">
                            <a:solidFill>
                              <a:schemeClr val="accent6">
                                <a:lumMod val="50000"/>
                              </a:schemeClr>
                            </a:solidFill>
                            <a:latin typeface="Cambria Math" panose="02040503050406030204" pitchFamily="18" charset="0"/>
                          </a:rPr>
                          <m:t>𝑾</m:t>
                        </m:r>
                      </m:e>
                      <m:sub>
                        <m:r>
                          <a:rPr lang="en-US" altLang="zh-CN" b="1" i="1" smtClean="0">
                            <a:solidFill>
                              <a:schemeClr val="accent6">
                                <a:lumMod val="50000"/>
                              </a:schemeClr>
                            </a:solidFill>
                            <a:latin typeface="Cambria Math" panose="02040503050406030204" pitchFamily="18" charset="0"/>
                          </a:rPr>
                          <m:t>𝒌</m:t>
                        </m:r>
                        <m:r>
                          <a:rPr lang="en-US" altLang="zh-CN" b="1" i="1" smtClean="0">
                            <a:solidFill>
                              <a:schemeClr val="accent6">
                                <a:lumMod val="50000"/>
                              </a:schemeClr>
                            </a:solidFill>
                            <a:latin typeface="Cambria Math" panose="02040503050406030204" pitchFamily="18" charset="0"/>
                          </a:rPr>
                          <m:t>−</m:t>
                        </m:r>
                        <m:r>
                          <a:rPr lang="en-US" altLang="zh-CN" b="1" i="1" smtClean="0">
                            <a:solidFill>
                              <a:schemeClr val="accent6">
                                <a:lumMod val="50000"/>
                              </a:schemeClr>
                            </a:solidFill>
                            <a:latin typeface="Cambria Math" panose="02040503050406030204" pitchFamily="18" charset="0"/>
                          </a:rPr>
                          <m:t>𝟏</m:t>
                        </m:r>
                      </m:sub>
                    </m:sSub>
                  </m:oMath>
                </a14:m>
                <a:r>
                  <a:rPr lang="zh-CN" altLang="en-US" b="1">
                    <a:solidFill>
                      <a:schemeClr val="accent6">
                        <a:lumMod val="50000"/>
                      </a:schemeClr>
                    </a:solidFill>
                  </a:rPr>
                  <a:t>第</a:t>
                </a:r>
                <a14:m>
                  <m:oMath xmlns:m="http://schemas.openxmlformats.org/officeDocument/2006/math">
                    <m:r>
                      <a:rPr lang="en-US" altLang="zh-CN" b="1" i="1" smtClean="0">
                        <a:solidFill>
                          <a:schemeClr val="accent6">
                            <a:lumMod val="50000"/>
                          </a:schemeClr>
                        </a:solidFill>
                        <a:latin typeface="Cambria Math" panose="02040503050406030204" pitchFamily="18" charset="0"/>
                      </a:rPr>
                      <m:t>𝒊</m:t>
                    </m:r>
                  </m:oMath>
                </a14:m>
                <a:r>
                  <a:rPr lang="zh-CN" altLang="en-US" b="1">
                    <a:solidFill>
                      <a:schemeClr val="accent6">
                        <a:lumMod val="50000"/>
                      </a:schemeClr>
                    </a:solidFill>
                  </a:rPr>
                  <a:t>行相同</a:t>
                </a:r>
                <a:endParaRPr lang="en-US" altLang="zh-CN" b="1">
                  <a:solidFill>
                    <a:schemeClr val="accent6">
                      <a:lumMod val="50000"/>
                    </a:schemeClr>
                  </a:solidFill>
                </a:endParaRPr>
              </a:p>
            </p:txBody>
          </p:sp>
        </mc:Choice>
        <mc:Fallback>
          <p:sp>
            <p:nvSpPr>
              <p:cNvPr id="27" name="文本框 26"/>
              <p:cNvSpPr txBox="1">
                <a:spLocks noRot="1" noChangeAspect="1" noMove="1" noResize="1" noEditPoints="1" noAdjustHandles="1" noChangeArrowheads="1" noChangeShapeType="1" noTextEdit="1"/>
              </p:cNvSpPr>
              <p:nvPr/>
            </p:nvSpPr>
            <p:spPr>
              <a:xfrm>
                <a:off x="8450157" y="3195829"/>
                <a:ext cx="3430669" cy="2371675"/>
              </a:xfrm>
              <a:prstGeom prst="rect">
                <a:avLst/>
              </a:prstGeom>
              <a:blipFill rotWithShape="1">
                <a:blip r:embed="rId3"/>
                <a:stretch>
                  <a:fillRect l="-6" t="-21" r="18" b="19"/>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endParaRPr lang="zh-CN" altLang="en-US"/>
          </a:p>
        </p:txBody>
      </p:sp>
      <p:sp>
        <p:nvSpPr>
          <p:cNvPr id="2" name="文本框 1"/>
          <p:cNvSpPr txBox="1"/>
          <p:nvPr/>
        </p:nvSpPr>
        <p:spPr>
          <a:xfrm>
            <a:off x="1696678" y="1395362"/>
            <a:ext cx="8798638" cy="2092881"/>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800" b="1">
                <a:solidFill>
                  <a:srgbClr val="002060"/>
                </a:solidFill>
              </a:rPr>
              <a:t>关系闭包是包含该关系的满足某个性质的最小关系</a:t>
            </a:r>
            <a:endParaRPr lang="zh-CN" altLang="en-US" sz="2800" b="1">
              <a:solidFill>
                <a:srgbClr val="002060"/>
              </a:solidFill>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利用关系闭包定义，特别是闭包的最小性证明其基本性质</a:t>
            </a:r>
            <a:endParaRPr lang="en-US" altLang="zh-CN" sz="2400" b="1">
              <a:solidFill>
                <a:schemeClr val="accent6">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关系闭包的计算，特别是传递闭包计算公式的证明和计算算法</a:t>
            </a:r>
            <a:endParaRPr lang="zh-CN" altLang="en-US" sz="2400" b="1">
              <a:solidFill>
                <a:schemeClr val="accent6">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400" b="1">
                <a:solidFill>
                  <a:schemeClr val="accent6">
                    <a:lumMod val="50000"/>
                  </a:schemeClr>
                </a:solidFill>
                <a:latin typeface="+mn-ea"/>
              </a:rPr>
              <a:t>利用矩阵逻辑积计算和使用</a:t>
            </a:r>
            <a:r>
              <a:rPr lang="en-US" altLang="zh-CN" sz="2400" b="1">
                <a:solidFill>
                  <a:schemeClr val="accent6">
                    <a:lumMod val="50000"/>
                  </a:schemeClr>
                </a:solidFill>
                <a:latin typeface="+mn-ea"/>
              </a:rPr>
              <a:t>Warshall</a:t>
            </a:r>
            <a:r>
              <a:rPr lang="zh-CN" altLang="en-US" sz="2400" b="1">
                <a:solidFill>
                  <a:schemeClr val="accent6">
                    <a:lumMod val="50000"/>
                  </a:schemeClr>
                </a:solidFill>
                <a:latin typeface="+mn-ea"/>
              </a:rPr>
              <a:t>算法计算传递闭包</a:t>
            </a:r>
            <a:endParaRPr lang="zh-CN" altLang="en-US" sz="2400" b="1">
              <a:solidFill>
                <a:schemeClr val="accent6">
                  <a:lumMod val="50000"/>
                </a:schemeClr>
              </a:solidFill>
              <a:latin typeface="+mn-ea"/>
            </a:endParaRPr>
          </a:p>
        </p:txBody>
      </p:sp>
      <p:sp>
        <p:nvSpPr>
          <p:cNvPr id="4" name="文本框 3"/>
          <p:cNvSpPr txBox="1"/>
          <p:nvPr/>
        </p:nvSpPr>
        <p:spPr>
          <a:xfrm>
            <a:off x="1630229" y="3858102"/>
            <a:ext cx="8931536" cy="2092881"/>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800" b="1">
                <a:solidFill>
                  <a:srgbClr val="C00000"/>
                </a:solidFill>
              </a:rPr>
              <a:t>学习这一部分的目标</a:t>
            </a:r>
            <a:endParaRPr lang="zh-CN" altLang="en-US" sz="2800" b="1">
              <a:solidFill>
                <a:srgbClr val="C00000"/>
              </a:solidFill>
            </a:endParaRP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能计算关系闭包，并能证明关系闭包与关系运算之间的联系</a:t>
            </a:r>
            <a:endParaRPr lang="zh-CN" altLang="en-US" sz="2400" b="1">
              <a:solidFill>
                <a:schemeClr val="accent2">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mn-ea"/>
              </a:rPr>
              <a:t>特别是能利用矩阵逻辑积运算和</a:t>
            </a:r>
            <a:r>
              <a:rPr lang="en-US" altLang="zh-CN" sz="2400" b="1">
                <a:solidFill>
                  <a:schemeClr val="accent2">
                    <a:lumMod val="50000"/>
                  </a:schemeClr>
                </a:solidFill>
                <a:latin typeface="+mn-ea"/>
              </a:rPr>
              <a:t>Warshall</a:t>
            </a:r>
            <a:r>
              <a:rPr lang="zh-CN" altLang="en-US" sz="2400" b="1">
                <a:solidFill>
                  <a:schemeClr val="accent2">
                    <a:lumMod val="50000"/>
                  </a:schemeClr>
                </a:solidFill>
                <a:latin typeface="+mn-ea"/>
              </a:rPr>
              <a:t>算法计算传递闭包</a:t>
            </a:r>
            <a:endParaRPr lang="zh-CN" altLang="en-US" sz="2400" b="1">
              <a:solidFill>
                <a:schemeClr val="accent2">
                  <a:lumMod val="50000"/>
                </a:schemeClr>
              </a:solidFill>
              <a:latin typeface="+mn-ea"/>
            </a:endParaRP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能利用关系闭包的定义证明有关关系闭包的一些简单性质</a:t>
            </a:r>
            <a:endParaRPr lang="zh-CN" altLang="en-US" sz="2400" b="1">
              <a:solidFill>
                <a:schemeClr val="accent2">
                  <a:lumMod val="50000"/>
                </a:schemeClr>
              </a:solidFill>
              <a:latin typeface="楷体" panose="02010609060101010101" pitchFamily="49" charset="-122"/>
              <a:ea typeface="楷体" panose="02010609060101010101"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endParaRPr lang="zh-CN" altLang="en-US" sz="1400">
              <a:latin typeface="楷体" panose="02010609060101010101" pitchFamily="49" charset="-122"/>
              <a:ea typeface="楷体" panose="02010609060101010101" pitchFamily="49" charset="-122"/>
            </a:endParaRPr>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fld>
            <a:r>
              <a:rPr lang="en-US" altLang="zh-CN">
                <a:latin typeface="Arial" panose="020B0604020202020204" pitchFamily="34" charset="0"/>
                <a:ea typeface="楷体" panose="02010609060101010101" pitchFamily="49" charset="-122"/>
                <a:cs typeface="Arial" panose="020B0604020202020204" pitchFamily="34" charset="0"/>
              </a:rPr>
              <a:t>/36</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endParaRPr lang="zh-CN" altLang="en-US"/>
          </a:p>
        </p:txBody>
      </p:sp>
      <p:sp>
        <p:nvSpPr>
          <p:cNvPr id="2" name="文本框 1"/>
          <p:cNvSpPr txBox="1"/>
          <p:nvPr/>
        </p:nvSpPr>
        <p:spPr>
          <a:xfrm>
            <a:off x="1007165" y="3167390"/>
            <a:ext cx="9103862" cy="583565"/>
          </a:xfrm>
          <a:prstGeom prst="rect">
            <a:avLst/>
          </a:prstGeom>
          <a:solidFill>
            <a:schemeClr val="accent4">
              <a:lumMod val="20000"/>
              <a:lumOff val="80000"/>
            </a:schemeClr>
          </a:solidFill>
        </p:spPr>
        <p:txBody>
          <a:bodyPr wrap="square" rtlCol="0">
            <a:spAutoFit/>
          </a:bodyPr>
          <a:lstStyle/>
          <a:p>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6.24</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6.27</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sym typeface="+mn-ea"/>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sym typeface="+mn-ea"/>
              </a:rPr>
              <a:t>6.26</a:t>
            </a:r>
            <a:endPar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endParaRPr lang="zh-CN" altLang="en-US">
              <a:latin typeface="楷体" panose="02010609060101010101" pitchFamily="49" charset="-122"/>
              <a:ea typeface="楷体" panose="02010609060101010101" pitchFamily="49" charset="-122"/>
            </a:endParaRPr>
          </a:p>
        </p:txBody>
      </p:sp>
      <p:sp>
        <p:nvSpPr>
          <p:cNvPr id="9" name="矩形 8"/>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第二十讲  关系的闭包</a:t>
            </a:r>
            <a:endParaRPr lang="zh-CN" altLang="en-US">
              <a:latin typeface="楷体" panose="02010609060101010101" pitchFamily="49" charset="-122"/>
              <a:ea typeface="楷体" panose="02010609060101010101" pitchFamily="49" charset="-122"/>
            </a:endParaRPr>
          </a:p>
        </p:txBody>
      </p:sp>
      <p:sp>
        <p:nvSpPr>
          <p:cNvPr id="10" name="矩形 9"/>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endParaRPr lang="zh-CN" altLang="en-US" sz="4000">
              <a:solidFill>
                <a:srgbClr val="C00000"/>
              </a:solidFill>
              <a:latin typeface="华文新魏" panose="02010800040101010101" pitchFamily="2" charset="-122"/>
              <a:ea typeface="华文新魏" panose="02010800040101010101" pitchFamily="2" charset="-122"/>
            </a:endParaRPr>
          </a:p>
        </p:txBody>
      </p:sp>
    </p:spTree>
  </p:cSld>
  <p:clrMapOvr>
    <a:masterClrMapping/>
  </p:clrMapOvr>
</p:sld>
</file>

<file path=ppt/tags/tag1.xml><?xml version="1.0" encoding="utf-8"?>
<p:tagLst xmlns:p="http://schemas.openxmlformats.org/presentationml/2006/main">
  <p:tag name="KSO_WPP_MARK_KEY" val="0bd7d890-b8df-4ebb-a778-f0d8aecc2988"/>
  <p:tag name="COMMONDATA" val="eyJoZGlkIjoiM2U4OGRhNmIyZDU4NjBkZGRhNTk5ZGMxZjVlYTc4Zm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15537</Words>
  <Application>WPS 演示</Application>
  <PresentationFormat>宽屏</PresentationFormat>
  <Paragraphs>1335</Paragraphs>
  <Slides>37</Slides>
  <Notes>0</Notes>
  <HiddenSlides>4</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37</vt:i4>
      </vt:variant>
    </vt:vector>
  </HeadingPairs>
  <TitlesOfParts>
    <vt:vector size="50" baseType="lpstr">
      <vt:lpstr>Arial</vt:lpstr>
      <vt:lpstr>宋体</vt:lpstr>
      <vt:lpstr>Wingdings</vt:lpstr>
      <vt:lpstr>楷体</vt:lpstr>
      <vt:lpstr>仿宋</vt:lpstr>
      <vt:lpstr>Cambria Math</vt:lpstr>
      <vt:lpstr>等线</vt:lpstr>
      <vt:lpstr>微软雅黑</vt:lpstr>
      <vt:lpstr>Arial Unicode MS</vt:lpstr>
      <vt:lpstr>等线 Light</vt:lpstr>
      <vt:lpstr>Calibri</vt:lpstr>
      <vt:lpstr>华文新魏</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李绿周</cp:lastModifiedBy>
  <cp:revision>139</cp:revision>
  <dcterms:created xsi:type="dcterms:W3CDTF">2022-01-01T06:39:00Z</dcterms:created>
  <dcterms:modified xsi:type="dcterms:W3CDTF">2024-11-13T13:34:57Z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3740D3AFB7464347A9B6BB34FF3F7BC2</vt:lpwstr>
  </property>
  <property fmtid="{D5CDD505-2E9C-101B-9397-08002B2CF9AE}" pid="3" name="KSOProductBuildVer">
    <vt:lpwstr>2052-12.1.0.16120</vt:lpwstr>
  </property>
</Properties>
</file>