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3"/>
    <p:sldId id="322" r:id="rId4"/>
    <p:sldId id="259" r:id="rId5"/>
    <p:sldId id="257" r:id="rId6"/>
    <p:sldId id="287" r:id="rId7"/>
    <p:sldId id="288" r:id="rId8"/>
    <p:sldId id="319" r:id="rId9"/>
    <p:sldId id="285" r:id="rId10"/>
    <p:sldId id="320" r:id="rId11"/>
    <p:sldId id="289" r:id="rId12"/>
    <p:sldId id="290" r:id="rId13"/>
    <p:sldId id="291" r:id="rId14"/>
    <p:sldId id="292" r:id="rId15"/>
    <p:sldId id="293" r:id="rId16"/>
    <p:sldId id="282" r:id="rId17"/>
    <p:sldId id="261" r:id="rId18"/>
    <p:sldId id="294" r:id="rId19"/>
    <p:sldId id="295" r:id="rId21"/>
    <p:sldId id="296" r:id="rId22"/>
    <p:sldId id="298" r:id="rId23"/>
    <p:sldId id="297" r:id="rId24"/>
    <p:sldId id="299" r:id="rId25"/>
    <p:sldId id="300" r:id="rId26"/>
    <p:sldId id="301" r:id="rId27"/>
    <p:sldId id="303" r:id="rId28"/>
    <p:sldId id="302" r:id="rId29"/>
    <p:sldId id="283" r:id="rId30"/>
    <p:sldId id="260" r:id="rId31"/>
    <p:sldId id="304" r:id="rId32"/>
    <p:sldId id="305" r:id="rId33"/>
    <p:sldId id="321" r:id="rId34"/>
    <p:sldId id="284" r:id="rId35"/>
    <p:sldId id="281" r:id="rId36"/>
    <p:sldId id="306" r:id="rId37"/>
    <p:sldId id="307" r:id="rId38"/>
    <p:sldId id="310" r:id="rId39"/>
    <p:sldId id="311" r:id="rId40"/>
    <p:sldId id="317" r:id="rId41"/>
    <p:sldId id="318" r:id="rId42"/>
    <p:sldId id="314" r:id="rId43"/>
    <p:sldId id="312" r:id="rId44"/>
    <p:sldId id="315" r:id="rId45"/>
    <p:sldId id="316" r:id="rId46"/>
    <p:sldId id="313" r:id="rId47"/>
    <p:sldId id="308" r:id="rId48"/>
    <p:sldId id="272" r:id="rId49"/>
    <p:sldId id="280" r:id="rId50"/>
    <p:sldId id="262" r:id="rId51"/>
  </p:sldIdLst>
  <p:sldSz cx="12192000" cy="6858000"/>
  <p:notesSz cx="6858000" cy="9144000"/>
  <p:custDataLst>
    <p:tags r:id="rId5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5EFE5"/>
    <a:srgbClr val="F9E5E5"/>
    <a:srgbClr val="210694"/>
    <a:srgbClr val="371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5" Type="http://schemas.openxmlformats.org/officeDocument/2006/relationships/tags" Target="tags/tag1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4C2765-7014-488A-964B-752C60054CE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44FF3A-BC80-4D88-8110-BBAAEF037FD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4FF3A-BC80-4D88-8110-BBAAEF037F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hyperlink" Target="https://mooc1-1.chaoxing.com/course/216273730.html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image" Target="../media/image29.emf"/><Relationship Id="rId7" Type="http://schemas.openxmlformats.org/officeDocument/2006/relationships/image" Target="../media/image28.emf"/><Relationship Id="rId6" Type="http://schemas.openxmlformats.org/officeDocument/2006/relationships/image" Target="../media/image27.emf"/><Relationship Id="rId5" Type="http://schemas.openxmlformats.org/officeDocument/2006/relationships/image" Target="../media/image26.emf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emf"/><Relationship Id="rId1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0.pn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5.png"/><Relationship Id="rId8" Type="http://schemas.openxmlformats.org/officeDocument/2006/relationships/image" Target="../media/image74.png"/><Relationship Id="rId7" Type="http://schemas.openxmlformats.org/officeDocument/2006/relationships/image" Target="../media/image73.png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79.png"/><Relationship Id="rId12" Type="http://schemas.openxmlformats.org/officeDocument/2006/relationships/image" Target="../media/image78.png"/><Relationship Id="rId11" Type="http://schemas.openxmlformats.org/officeDocument/2006/relationships/image" Target="../media/image77.png"/><Relationship Id="rId10" Type="http://schemas.openxmlformats.org/officeDocument/2006/relationships/image" Target="../media/image76.png"/><Relationship Id="rId1" Type="http://schemas.openxmlformats.org/officeDocument/2006/relationships/image" Target="../media/image67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8.png"/><Relationship Id="rId8" Type="http://schemas.openxmlformats.org/officeDocument/2006/relationships/image" Target="../media/image77.png"/><Relationship Id="rId7" Type="http://schemas.openxmlformats.org/officeDocument/2006/relationships/image" Target="../media/image76.png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81.png"/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82.png"/><Relationship Id="rId1" Type="http://schemas.openxmlformats.org/officeDocument/2006/relationships/image" Target="../media/image8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4.png"/><Relationship Id="rId1" Type="http://schemas.openxmlformats.org/officeDocument/2006/relationships/image" Target="../media/image8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90.pn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image" Target="../media/image7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2.png"/><Relationship Id="rId1" Type="http://schemas.openxmlformats.org/officeDocument/2006/relationships/image" Target="../media/image91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1.png"/><Relationship Id="rId8" Type="http://schemas.openxmlformats.org/officeDocument/2006/relationships/image" Target="../media/image100.png"/><Relationship Id="rId7" Type="http://schemas.openxmlformats.org/officeDocument/2006/relationships/image" Target="../media/image99.png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Relationship Id="rId38" Type="http://schemas.openxmlformats.org/officeDocument/2006/relationships/slideLayout" Target="../slideLayouts/slideLayout1.xml"/><Relationship Id="rId37" Type="http://schemas.openxmlformats.org/officeDocument/2006/relationships/image" Target="../media/image129.png"/><Relationship Id="rId36" Type="http://schemas.openxmlformats.org/officeDocument/2006/relationships/image" Target="../media/image128.png"/><Relationship Id="rId35" Type="http://schemas.openxmlformats.org/officeDocument/2006/relationships/image" Target="../media/image127.png"/><Relationship Id="rId34" Type="http://schemas.openxmlformats.org/officeDocument/2006/relationships/image" Target="../media/image126.png"/><Relationship Id="rId33" Type="http://schemas.openxmlformats.org/officeDocument/2006/relationships/image" Target="../media/image125.png"/><Relationship Id="rId32" Type="http://schemas.openxmlformats.org/officeDocument/2006/relationships/image" Target="../media/image124.png"/><Relationship Id="rId31" Type="http://schemas.openxmlformats.org/officeDocument/2006/relationships/image" Target="../media/image123.png"/><Relationship Id="rId30" Type="http://schemas.openxmlformats.org/officeDocument/2006/relationships/image" Target="../media/image122.png"/><Relationship Id="rId3" Type="http://schemas.openxmlformats.org/officeDocument/2006/relationships/image" Target="../media/image95.png"/><Relationship Id="rId29" Type="http://schemas.openxmlformats.org/officeDocument/2006/relationships/image" Target="../media/image121.png"/><Relationship Id="rId28" Type="http://schemas.openxmlformats.org/officeDocument/2006/relationships/image" Target="../media/image120.png"/><Relationship Id="rId27" Type="http://schemas.openxmlformats.org/officeDocument/2006/relationships/image" Target="../media/image119.png"/><Relationship Id="rId26" Type="http://schemas.openxmlformats.org/officeDocument/2006/relationships/image" Target="../media/image118.png"/><Relationship Id="rId25" Type="http://schemas.openxmlformats.org/officeDocument/2006/relationships/image" Target="../media/image117.png"/><Relationship Id="rId24" Type="http://schemas.openxmlformats.org/officeDocument/2006/relationships/image" Target="../media/image116.png"/><Relationship Id="rId23" Type="http://schemas.openxmlformats.org/officeDocument/2006/relationships/image" Target="../media/image115.png"/><Relationship Id="rId22" Type="http://schemas.openxmlformats.org/officeDocument/2006/relationships/image" Target="../media/image114.png"/><Relationship Id="rId21" Type="http://schemas.openxmlformats.org/officeDocument/2006/relationships/image" Target="../media/image113.png"/><Relationship Id="rId20" Type="http://schemas.openxmlformats.org/officeDocument/2006/relationships/image" Target="../media/image112.png"/><Relationship Id="rId2" Type="http://schemas.openxmlformats.org/officeDocument/2006/relationships/image" Target="../media/image94.png"/><Relationship Id="rId19" Type="http://schemas.openxmlformats.org/officeDocument/2006/relationships/image" Target="../media/image111.png"/><Relationship Id="rId18" Type="http://schemas.openxmlformats.org/officeDocument/2006/relationships/image" Target="../media/image110.png"/><Relationship Id="rId17" Type="http://schemas.openxmlformats.org/officeDocument/2006/relationships/image" Target="../media/image109.png"/><Relationship Id="rId16" Type="http://schemas.openxmlformats.org/officeDocument/2006/relationships/image" Target="../media/image108.png"/><Relationship Id="rId15" Type="http://schemas.openxmlformats.org/officeDocument/2006/relationships/image" Target="../media/image107.png"/><Relationship Id="rId14" Type="http://schemas.openxmlformats.org/officeDocument/2006/relationships/image" Target="../media/image106.png"/><Relationship Id="rId13" Type="http://schemas.openxmlformats.org/officeDocument/2006/relationships/image" Target="../media/image105.png"/><Relationship Id="rId12" Type="http://schemas.openxmlformats.org/officeDocument/2006/relationships/image" Target="../media/image104.png"/><Relationship Id="rId11" Type="http://schemas.openxmlformats.org/officeDocument/2006/relationships/image" Target="../media/image103.png"/><Relationship Id="rId10" Type="http://schemas.openxmlformats.org/officeDocument/2006/relationships/image" Target="../media/image102.png"/><Relationship Id="rId1" Type="http://schemas.openxmlformats.org/officeDocument/2006/relationships/image" Target="../media/image93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7.png"/><Relationship Id="rId8" Type="http://schemas.openxmlformats.org/officeDocument/2006/relationships/image" Target="../media/image116.png"/><Relationship Id="rId7" Type="http://schemas.openxmlformats.org/officeDocument/2006/relationships/image" Target="../media/image115.png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Relationship Id="rId3" Type="http://schemas.openxmlformats.org/officeDocument/2006/relationships/image" Target="../media/image111.png"/><Relationship Id="rId27" Type="http://schemas.openxmlformats.org/officeDocument/2006/relationships/slideLayout" Target="../slideLayouts/slideLayout1.xml"/><Relationship Id="rId26" Type="http://schemas.openxmlformats.org/officeDocument/2006/relationships/image" Target="../media/image133.png"/><Relationship Id="rId25" Type="http://schemas.openxmlformats.org/officeDocument/2006/relationships/image" Target="../media/image132.png"/><Relationship Id="rId24" Type="http://schemas.openxmlformats.org/officeDocument/2006/relationships/image" Target="../media/image131.png"/><Relationship Id="rId23" Type="http://schemas.openxmlformats.org/officeDocument/2006/relationships/image" Target="../media/image130.png"/><Relationship Id="rId22" Type="http://schemas.openxmlformats.org/officeDocument/2006/relationships/image" Target="../media/image93.png"/><Relationship Id="rId21" Type="http://schemas.openxmlformats.org/officeDocument/2006/relationships/image" Target="../media/image129.png"/><Relationship Id="rId20" Type="http://schemas.openxmlformats.org/officeDocument/2006/relationships/image" Target="../media/image128.png"/><Relationship Id="rId2" Type="http://schemas.openxmlformats.org/officeDocument/2006/relationships/image" Target="../media/image110.png"/><Relationship Id="rId19" Type="http://schemas.openxmlformats.org/officeDocument/2006/relationships/image" Target="../media/image127.png"/><Relationship Id="rId18" Type="http://schemas.openxmlformats.org/officeDocument/2006/relationships/image" Target="../media/image126.png"/><Relationship Id="rId17" Type="http://schemas.openxmlformats.org/officeDocument/2006/relationships/image" Target="../media/image125.png"/><Relationship Id="rId16" Type="http://schemas.openxmlformats.org/officeDocument/2006/relationships/image" Target="../media/image124.png"/><Relationship Id="rId15" Type="http://schemas.openxmlformats.org/officeDocument/2006/relationships/image" Target="../media/image123.png"/><Relationship Id="rId14" Type="http://schemas.openxmlformats.org/officeDocument/2006/relationships/image" Target="../media/image122.png"/><Relationship Id="rId13" Type="http://schemas.openxmlformats.org/officeDocument/2006/relationships/image" Target="../media/image121.png"/><Relationship Id="rId12" Type="http://schemas.openxmlformats.org/officeDocument/2006/relationships/image" Target="../media/image120.png"/><Relationship Id="rId11" Type="http://schemas.openxmlformats.org/officeDocument/2006/relationships/image" Target="../media/image119.png"/><Relationship Id="rId10" Type="http://schemas.openxmlformats.org/officeDocument/2006/relationships/image" Target="../media/image118.png"/><Relationship Id="rId1" Type="http://schemas.openxmlformats.org/officeDocument/2006/relationships/image" Target="../media/image10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5.png"/><Relationship Id="rId1" Type="http://schemas.openxmlformats.org/officeDocument/2006/relationships/image" Target="../media/image134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7.png"/><Relationship Id="rId1" Type="http://schemas.openxmlformats.org/officeDocument/2006/relationships/image" Target="../media/image136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image" Target="../media/image13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2.png"/><Relationship Id="rId1" Type="http://schemas.openxmlformats.org/officeDocument/2006/relationships/image" Target="../media/image141.png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6.png"/><Relationship Id="rId8" Type="http://schemas.openxmlformats.org/officeDocument/2006/relationships/image" Target="../media/image143.png"/><Relationship Id="rId7" Type="http://schemas.openxmlformats.org/officeDocument/2006/relationships/image" Target="../media/image109.png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0" Type="http://schemas.openxmlformats.org/officeDocument/2006/relationships/slideLayout" Target="../slideLayouts/slideLayout1.xml"/><Relationship Id="rId4" Type="http://schemas.openxmlformats.org/officeDocument/2006/relationships/image" Target="../media/image114.png"/><Relationship Id="rId39" Type="http://schemas.openxmlformats.org/officeDocument/2006/relationships/image" Target="../media/image158.png"/><Relationship Id="rId38" Type="http://schemas.openxmlformats.org/officeDocument/2006/relationships/image" Target="../media/image157.png"/><Relationship Id="rId37" Type="http://schemas.openxmlformats.org/officeDocument/2006/relationships/image" Target="../media/image156.png"/><Relationship Id="rId36" Type="http://schemas.openxmlformats.org/officeDocument/2006/relationships/image" Target="../media/image155.png"/><Relationship Id="rId35" Type="http://schemas.openxmlformats.org/officeDocument/2006/relationships/image" Target="../media/image154.png"/><Relationship Id="rId34" Type="http://schemas.openxmlformats.org/officeDocument/2006/relationships/image" Target="../media/image127.png"/><Relationship Id="rId33" Type="http://schemas.openxmlformats.org/officeDocument/2006/relationships/image" Target="../media/image120.png"/><Relationship Id="rId32" Type="http://schemas.openxmlformats.org/officeDocument/2006/relationships/image" Target="../media/image125.png"/><Relationship Id="rId31" Type="http://schemas.openxmlformats.org/officeDocument/2006/relationships/image" Target="../media/image126.png"/><Relationship Id="rId30" Type="http://schemas.openxmlformats.org/officeDocument/2006/relationships/image" Target="../media/image123.png"/><Relationship Id="rId3" Type="http://schemas.openxmlformats.org/officeDocument/2006/relationships/image" Target="../media/image113.png"/><Relationship Id="rId29" Type="http://schemas.openxmlformats.org/officeDocument/2006/relationships/image" Target="../media/image119.png"/><Relationship Id="rId28" Type="http://schemas.openxmlformats.org/officeDocument/2006/relationships/image" Target="../media/image121.png"/><Relationship Id="rId27" Type="http://schemas.openxmlformats.org/officeDocument/2006/relationships/image" Target="../media/image128.png"/><Relationship Id="rId26" Type="http://schemas.openxmlformats.org/officeDocument/2006/relationships/image" Target="../media/image124.png"/><Relationship Id="rId25" Type="http://schemas.openxmlformats.org/officeDocument/2006/relationships/image" Target="../media/image122.png"/><Relationship Id="rId24" Type="http://schemas.openxmlformats.org/officeDocument/2006/relationships/image" Target="../media/image129.png"/><Relationship Id="rId23" Type="http://schemas.openxmlformats.org/officeDocument/2006/relationships/image" Target="../media/image110.png"/><Relationship Id="rId22" Type="http://schemas.openxmlformats.org/officeDocument/2006/relationships/image" Target="../media/image118.png"/><Relationship Id="rId21" Type="http://schemas.openxmlformats.org/officeDocument/2006/relationships/image" Target="../media/image117.png"/><Relationship Id="rId20" Type="http://schemas.openxmlformats.org/officeDocument/2006/relationships/image" Target="../media/image153.png"/><Relationship Id="rId2" Type="http://schemas.openxmlformats.org/officeDocument/2006/relationships/image" Target="../media/image112.png"/><Relationship Id="rId19" Type="http://schemas.openxmlformats.org/officeDocument/2006/relationships/image" Target="../media/image152.png"/><Relationship Id="rId18" Type="http://schemas.openxmlformats.org/officeDocument/2006/relationships/image" Target="../media/image151.png"/><Relationship Id="rId17" Type="http://schemas.openxmlformats.org/officeDocument/2006/relationships/image" Target="../media/image150.png"/><Relationship Id="rId16" Type="http://schemas.openxmlformats.org/officeDocument/2006/relationships/image" Target="../media/image149.png"/><Relationship Id="rId15" Type="http://schemas.openxmlformats.org/officeDocument/2006/relationships/image" Target="../media/image148.png"/><Relationship Id="rId14" Type="http://schemas.openxmlformats.org/officeDocument/2006/relationships/image" Target="../media/image147.png"/><Relationship Id="rId13" Type="http://schemas.openxmlformats.org/officeDocument/2006/relationships/image" Target="../media/image146.png"/><Relationship Id="rId12" Type="http://schemas.openxmlformats.org/officeDocument/2006/relationships/image" Target="../media/image145.png"/><Relationship Id="rId11" Type="http://schemas.openxmlformats.org/officeDocument/2006/relationships/image" Target="../media/image100.png"/><Relationship Id="rId10" Type="http://schemas.openxmlformats.org/officeDocument/2006/relationships/image" Target="../media/image144.png"/><Relationship Id="rId1" Type="http://schemas.openxmlformats.org/officeDocument/2006/relationships/image" Target="../media/image111.png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8.png"/><Relationship Id="rId8" Type="http://schemas.openxmlformats.org/officeDocument/2006/relationships/image" Target="../media/image117.png"/><Relationship Id="rId7" Type="http://schemas.openxmlformats.org/officeDocument/2006/relationships/image" Target="../media/image109.png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Relationship Id="rId3" Type="http://schemas.openxmlformats.org/officeDocument/2006/relationships/image" Target="../media/image113.png"/><Relationship Id="rId28" Type="http://schemas.openxmlformats.org/officeDocument/2006/relationships/slideLayout" Target="../slideLayouts/slideLayout1.xml"/><Relationship Id="rId27" Type="http://schemas.openxmlformats.org/officeDocument/2006/relationships/image" Target="../media/image160.png"/><Relationship Id="rId26" Type="http://schemas.openxmlformats.org/officeDocument/2006/relationships/image" Target="../media/image159.png"/><Relationship Id="rId25" Type="http://schemas.openxmlformats.org/officeDocument/2006/relationships/image" Target="../media/image157.png"/><Relationship Id="rId24" Type="http://schemas.openxmlformats.org/officeDocument/2006/relationships/image" Target="../media/image156.png"/><Relationship Id="rId23" Type="http://schemas.openxmlformats.org/officeDocument/2006/relationships/image" Target="../media/image155.png"/><Relationship Id="rId22" Type="http://schemas.openxmlformats.org/officeDocument/2006/relationships/image" Target="../media/image154.png"/><Relationship Id="rId21" Type="http://schemas.openxmlformats.org/officeDocument/2006/relationships/image" Target="../media/image127.png"/><Relationship Id="rId20" Type="http://schemas.openxmlformats.org/officeDocument/2006/relationships/image" Target="../media/image120.png"/><Relationship Id="rId2" Type="http://schemas.openxmlformats.org/officeDocument/2006/relationships/image" Target="../media/image112.png"/><Relationship Id="rId19" Type="http://schemas.openxmlformats.org/officeDocument/2006/relationships/image" Target="../media/image125.png"/><Relationship Id="rId18" Type="http://schemas.openxmlformats.org/officeDocument/2006/relationships/image" Target="../media/image126.png"/><Relationship Id="rId17" Type="http://schemas.openxmlformats.org/officeDocument/2006/relationships/image" Target="../media/image123.png"/><Relationship Id="rId16" Type="http://schemas.openxmlformats.org/officeDocument/2006/relationships/image" Target="../media/image119.png"/><Relationship Id="rId15" Type="http://schemas.openxmlformats.org/officeDocument/2006/relationships/image" Target="../media/image121.png"/><Relationship Id="rId14" Type="http://schemas.openxmlformats.org/officeDocument/2006/relationships/image" Target="../media/image128.png"/><Relationship Id="rId13" Type="http://schemas.openxmlformats.org/officeDocument/2006/relationships/image" Target="../media/image124.png"/><Relationship Id="rId12" Type="http://schemas.openxmlformats.org/officeDocument/2006/relationships/image" Target="../media/image122.png"/><Relationship Id="rId11" Type="http://schemas.openxmlformats.org/officeDocument/2006/relationships/image" Target="../media/image129.png"/><Relationship Id="rId10" Type="http://schemas.openxmlformats.org/officeDocument/2006/relationships/image" Target="../media/image110.png"/><Relationship Id="rId1" Type="http://schemas.openxmlformats.org/officeDocument/2006/relationships/image" Target="../media/image11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2.png"/><Relationship Id="rId1" Type="http://schemas.openxmlformats.org/officeDocument/2006/relationships/image" Target="../media/image161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3.png"/><Relationship Id="rId1" Type="http://schemas.openxmlformats.org/officeDocument/2006/relationships/image" Target="../media/image136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image" Target="../media/image164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1405812" y="1185233"/>
            <a:ext cx="9393993" cy="889686"/>
          </a:xfrm>
          <a:prstGeom prst="round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>
                <a:latin typeface="仿宋" panose="02010609060101010101" pitchFamily="49" charset="-122"/>
                <a:ea typeface="仿宋" panose="02010609060101010101" pitchFamily="49" charset="-122"/>
              </a:rPr>
              <a:t>第二十八讲</a:t>
            </a:r>
            <a:r>
              <a:rPr lang="en-US" altLang="zh-CN" sz="48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4800" b="1">
                <a:latin typeface="仿宋" panose="02010609060101010101" pitchFamily="49" charset="-122"/>
                <a:ea typeface="仿宋" panose="02010609060101010101" pitchFamily="49" charset="-122"/>
              </a:rPr>
              <a:t>图的基础知识</a:t>
            </a:r>
            <a:endParaRPr lang="zh-CN" altLang="en-US" sz="4800" b="1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72231" y="2549433"/>
            <a:ext cx="34475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>
                <a:solidFill>
                  <a:srgbClr val="21069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李</a:t>
            </a:r>
            <a:r>
              <a:rPr lang="zh-CN" altLang="en-US" sz="4000">
                <a:solidFill>
                  <a:srgbClr val="21069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绿周</a:t>
            </a:r>
            <a:endParaRPr lang="zh-CN" altLang="en-US" sz="4000">
              <a:solidFill>
                <a:srgbClr val="210694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608174" y="3600682"/>
            <a:ext cx="51774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中山大学计算机学院</a:t>
            </a:r>
            <a:endParaRPr lang="zh-CN" altLang="en-US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843849" y="4559643"/>
            <a:ext cx="286676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12</a:t>
            </a:r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  <a:endParaRPr lang="zh-CN" altLang="en-US" sz="24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705232" y="5288692"/>
            <a:ext cx="90945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rgbClr val="FF0000"/>
                </a:solidFill>
                <a:hlinkClick r:id="rId1"/>
              </a:rPr>
              <a:t>https://mooc1-1.chaoxing.com/course/216273730.html</a:t>
            </a:r>
            <a:endParaRPr lang="en-US" altLang="zh-CN" sz="2400">
              <a:solidFill>
                <a:srgbClr val="FF0000"/>
              </a:solidFill>
            </a:endParaRPr>
          </a:p>
          <a:p>
            <a:pPr algn="ctr"/>
            <a:r>
              <a:rPr lang="en-US" altLang="zh-CN" sz="2400">
                <a:solidFill>
                  <a:srgbClr val="FF0000"/>
                </a:solidFill>
              </a:rPr>
              <a:t>isszxc@mail.sysu.edu.cn</a:t>
            </a:r>
            <a:endParaRPr lang="zh-CN" altLang="en-US" sz="2400">
              <a:solidFill>
                <a:srgbClr val="FF0000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649" y="3112777"/>
            <a:ext cx="1766582" cy="15605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提示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学习目标与学习重点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239577" y="4329364"/>
            <a:ext cx="9152878" cy="1565942"/>
          </a:xfrm>
          <a:prstGeom prst="rect">
            <a:avLst/>
          </a:prstGeom>
          <a:solidFill>
            <a:schemeClr val="accent4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3200"/>
              </a:lnSpc>
              <a:spcBef>
                <a:spcPts val="1200"/>
              </a:spcBef>
              <a:spcAft>
                <a:spcPts val="600"/>
              </a:spcAft>
            </a:pPr>
            <a:r>
              <a:rPr lang="zh-CN" altLang="en-US" sz="2800" b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学习重点</a:t>
            </a:r>
            <a:endParaRPr lang="zh-CN" altLang="en-US" sz="2800" b="1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+mn-ea"/>
              </a:rPr>
              <a:t>如何证明有关图的顶点度数、连通性的简单性质？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+mn-ea"/>
            </a:endParaRPr>
          </a:p>
          <a:p>
            <a:pPr marL="342900" indent="-34290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+mn-ea"/>
              </a:rPr>
              <a:t>如何理解刻画无向图和有向图的连通性的概念？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39577" y="1409614"/>
            <a:ext cx="9712844" cy="2725683"/>
          </a:xfrm>
          <a:prstGeom prst="rect">
            <a:avLst/>
          </a:prstGeom>
          <a:solidFill>
            <a:schemeClr val="accent2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32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学习目标</a:t>
            </a:r>
            <a:endParaRPr lang="zh-CN" altLang="en-US" sz="2400" b="1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ts val="32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rgbClr val="002060"/>
                </a:solidFill>
                <a:latin typeface="+mn-ea"/>
              </a:rPr>
              <a:t>能给出图的顶点度数、一些复杂图的边数和顶点数</a:t>
            </a:r>
            <a:endParaRPr lang="zh-CN" altLang="en-US" sz="2000" b="1">
              <a:solidFill>
                <a:srgbClr val="002060"/>
              </a:solidFill>
              <a:latin typeface="+mn-ea"/>
            </a:endParaRPr>
          </a:p>
          <a:p>
            <a:pPr marL="342900" indent="-342900">
              <a:lnSpc>
                <a:spcPts val="32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rgbClr val="002060"/>
                </a:solidFill>
                <a:latin typeface="+mn-ea"/>
              </a:rPr>
              <a:t>能给出图的关联矩阵、邻接矩阵和邻接表表示，计算图的可达矩阵</a:t>
            </a:r>
            <a:endParaRPr lang="zh-CN" altLang="en-US" sz="2000" b="1">
              <a:solidFill>
                <a:srgbClr val="002060"/>
              </a:solidFill>
              <a:latin typeface="+mn-ea"/>
            </a:endParaRPr>
          </a:p>
          <a:p>
            <a:pPr marL="342900" indent="-342900">
              <a:lnSpc>
                <a:spcPts val="32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rgbClr val="002060"/>
                </a:solidFill>
                <a:latin typeface="+mn-ea"/>
              </a:rPr>
              <a:t>能给出无向图的点连通度、边连通度、判断有向图是否强连通、单向连通或弱连通</a:t>
            </a:r>
            <a:endParaRPr lang="zh-CN" altLang="en-US" sz="2000" b="1">
              <a:solidFill>
                <a:srgbClr val="002060"/>
              </a:solidFill>
              <a:latin typeface="+mn-ea"/>
            </a:endParaRPr>
          </a:p>
          <a:p>
            <a:pPr marL="342900" indent="-342900">
              <a:lnSpc>
                <a:spcPts val="32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rgbClr val="002060"/>
                </a:solidFill>
                <a:latin typeface="+mn-ea"/>
              </a:rPr>
              <a:t>对于图的先深遍历和先广遍历要能给出算法输出的顶点访问序列</a:t>
            </a:r>
            <a:endParaRPr lang="zh-CN" altLang="en-US" sz="2000" b="1">
              <a:solidFill>
                <a:srgbClr val="00206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107232" y="1448010"/>
            <a:ext cx="4733731" cy="385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图的基本概念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图的连通性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图的存储和表示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图的遍历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图的基本概念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无向图的定义和举例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711900" y="1224660"/>
                <a:ext cx="9007153" cy="267765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无向图</a:t>
                </a:r>
                <a:r>
                  <a:rPr lang="en-US" altLang="zh-CN" sz="2400" b="1">
                    <a:solidFill>
                      <a:srgbClr val="002060"/>
                    </a:solidFill>
                    <a:latin typeface="+mn-ea"/>
                  </a:rPr>
                  <a:t>(undirected graph</a:t>
                </a:r>
                <a:r>
                  <a:rPr lang="en-US" altLang="zh-CN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或直接地</a:t>
                </a:r>
                <a:r>
                  <a:rPr lang="en-US" altLang="zh-CN" sz="2400" b="1">
                    <a:solidFill>
                      <a:srgbClr val="002060"/>
                    </a:solidFill>
                    <a:latin typeface="+mn-ea"/>
                  </a:rPr>
                  <a:t>graph)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是二元组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𝑽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𝑬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是非空集，称为图的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顶点集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(vertex set)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，它的元素称为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顶点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(vertex)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称为图的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边集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(edge set)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，它的元素称为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边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(edge)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每条边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，都</a:t>
                </a:r>
                <a:r>
                  <a:rPr lang="zh-CN" altLang="en-US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关联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(be incident with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或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be associated with)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两个顶点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的两个</a:t>
                </a:r>
                <a:r>
                  <a:rPr lang="zh-CN" altLang="en-US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端点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(endpoint)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，也称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连接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(connect)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这两个端点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通常将边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00" y="1224660"/>
                <a:ext cx="9007153" cy="2677656"/>
              </a:xfrm>
              <a:prstGeom prst="rect">
                <a:avLst/>
              </a:prstGeom>
              <a:blipFill rotWithShape="1">
                <a:blip r:embed="rId1"/>
                <a:stretch>
                  <a:fillRect l="-1" t="-14" r="4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711900" y="4070739"/>
                <a:ext cx="7675582" cy="4001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通常对图作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直观理解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：画出图，并用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的元素对顶点和边做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标记</a:t>
                </a:r>
                <a:endParaRPr lang="zh-CN" altLang="en-US" sz="2000" b="1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00" y="4070739"/>
                <a:ext cx="7675582" cy="400110"/>
              </a:xfrm>
              <a:prstGeom prst="rect">
                <a:avLst/>
              </a:prstGeom>
              <a:blipFill rotWithShape="1">
                <a:blip r:embed="rId2"/>
                <a:stretch>
                  <a:fillRect l="-1" t="-97" r="5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711900" y="4589518"/>
                <a:ext cx="6905907" cy="1615058"/>
              </a:xfrm>
              <a:prstGeom prst="rect">
                <a:avLst/>
              </a:prstGeom>
              <a:solidFill>
                <a:srgbClr val="E5EFE5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800"/>
                  </a:lnSpc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左边给出了一个无向图的直观表示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ts val="2800"/>
                  </a:lnSpc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C00000"/>
                    </a:solidFill>
                  </a:rPr>
                  <a:t>集合语言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的描述：图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m:rPr>
                        <m:lit/>
                      </m:rP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e>
                    </m:d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e>
                    </m:d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sub>
                    </m:sSub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e>
                    </m:d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sub>
                    </m:sSub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e>
                    </m:d>
                    <m:r>
                      <m:rPr>
                        <m:lit/>
                      </m:rP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en-US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00" y="4589518"/>
                <a:ext cx="6905907" cy="1615058"/>
              </a:xfrm>
              <a:prstGeom prst="rect">
                <a:avLst/>
              </a:prstGeom>
              <a:blipFill rotWithShape="1">
                <a:blip r:embed="rId3"/>
                <a:stretch>
                  <a:fillRect l="-1" t="-23" r="5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78" y="4594547"/>
            <a:ext cx="3597922" cy="16100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图的基本概念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有向图的定义和举例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711899" y="1405690"/>
                <a:ext cx="9007153" cy="224676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有向图</a:t>
                </a:r>
                <a:r>
                  <a:rPr lang="en-US" altLang="zh-CN" sz="2400" b="1">
                    <a:solidFill>
                      <a:srgbClr val="002060"/>
                    </a:solidFill>
                    <a:latin typeface="+mn-ea"/>
                  </a:rPr>
                  <a:t>(directed graph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，或</a:t>
                </a:r>
                <a:r>
                  <a:rPr lang="en-US" altLang="zh-CN" sz="2400" b="1">
                    <a:solidFill>
                      <a:srgbClr val="002060"/>
                    </a:solidFill>
                    <a:latin typeface="+mn-ea"/>
                  </a:rPr>
                  <a:t>digraph)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是二元组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𝑽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𝑬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非空集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是图的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顶点集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(vertex set)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，它的元素称为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顶点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(vertex)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是图的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边集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(edge set)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，它的元素称为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有向边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(directed edge)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每条边都有一个顶点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𝒖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作为它的</a:t>
                </a:r>
                <a:r>
                  <a:rPr lang="zh-CN" altLang="en-US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起点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(start)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，还有一个顶点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𝒗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作为</a:t>
                </a:r>
                <a:r>
                  <a:rPr lang="zh-CN" altLang="en-US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终点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(end)</a:t>
                </a:r>
                <a:endParaRPr lang="en-US" altLang="zh-CN" b="1">
                  <a:solidFill>
                    <a:schemeClr val="accent2">
                      <a:lumMod val="50000"/>
                    </a:schemeClr>
                  </a:solidFill>
                  <a:latin typeface="+mn-ea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通常将</a:t>
                </a:r>
                <a:r>
                  <a:rPr lang="zh-CN" altLang="en-US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有向边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=⟨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899" y="1405690"/>
                <a:ext cx="9007153" cy="2246769"/>
              </a:xfrm>
              <a:prstGeom prst="rect">
                <a:avLst/>
              </a:prstGeom>
              <a:blipFill rotWithShape="1">
                <a:blip r:embed="rId1"/>
                <a:stretch>
                  <a:fillRect l="-1" t="-19" r="4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711899" y="3871070"/>
                <a:ext cx="6905907" cy="1615058"/>
              </a:xfrm>
              <a:prstGeom prst="rect">
                <a:avLst/>
              </a:prstGeom>
              <a:solidFill>
                <a:srgbClr val="E5EFE5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800"/>
                  </a:lnSpc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左边给出了一个有向图的直观表示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ts val="2800"/>
                  </a:lnSpc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C00000"/>
                    </a:solidFill>
                  </a:rPr>
                  <a:t>集合语言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的描述：图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m:rPr>
                        <m:lit/>
                      </m:rP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e>
                    </m:d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sub>
                    </m:sSub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e>
                    </m:d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sub>
                    </m:sSub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da-DK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e>
                    </m:d>
                    <m:r>
                      <m:rPr>
                        <m:lit/>
                      </m:rP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en-US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899" y="3871070"/>
                <a:ext cx="6905907" cy="1615058"/>
              </a:xfrm>
              <a:prstGeom prst="rect">
                <a:avLst/>
              </a:prstGeom>
              <a:blipFill rotWithShape="1">
                <a:blip r:embed="rId2"/>
                <a:stretch>
                  <a:fillRect l="-1" t="-7" r="5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850" y="3871070"/>
            <a:ext cx="3559251" cy="1615058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11899" y="5604602"/>
            <a:ext cx="7721631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有向图的</a:t>
            </a:r>
            <a:r>
              <a:rPr lang="zh-CN" altLang="en-US" sz="2000" b="1">
                <a:solidFill>
                  <a:srgbClr val="C00000"/>
                </a:solidFill>
              </a:rPr>
              <a:t>基图</a:t>
            </a:r>
            <a:r>
              <a:rPr lang="en-US" altLang="zh-CN" sz="2000" b="1">
                <a:solidFill>
                  <a:schemeClr val="accent2">
                    <a:lumMod val="50000"/>
                  </a:schemeClr>
                </a:solidFill>
              </a:rPr>
              <a:t>(underlying graph)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是不考虑边的方向而得到的无向图</a:t>
            </a:r>
            <a:endParaRPr lang="zh-CN" altLang="en-US" sz="2000" b="1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图的基本概念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图的一些简单术语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514368" y="1331693"/>
                <a:ext cx="7137748" cy="247426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有时用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𝑽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𝑬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分别表示图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的顶点集和边集</a:t>
                </a:r>
                <a:endPara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)|</m:t>
                    </m:r>
                  </m:oMath>
                </a14:m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)|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分别表示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的顶点数和边数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)|=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阶图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-order graph)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800100" lvl="1" indent="-34290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课程只考虑顶点数和边数都有限的图</a:t>
                </a:r>
                <a:endParaRPr lang="en-US" altLang="zh-CN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)|=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零图</a:t>
                </a:r>
                <a:r>
                  <a:rPr lang="en-US" altLang="zh-CN" b="1">
                    <a:solidFill>
                      <a:schemeClr val="accent6">
                        <a:lumMod val="50000"/>
                      </a:schemeClr>
                    </a:solidFill>
                  </a:rPr>
                  <a:t>(null graph)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，一阶零图也称为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平凡图</a:t>
                </a:r>
                <a:endParaRPr lang="en-US" altLang="zh-CN" b="1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368" y="1331693"/>
                <a:ext cx="7137748" cy="2474267"/>
              </a:xfrm>
              <a:prstGeom prst="rect">
                <a:avLst/>
              </a:prstGeom>
              <a:blipFill rotWithShape="1">
                <a:blip r:embed="rId1"/>
                <a:stretch>
                  <a:fillRect l="-7" t="-4" r="3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514368" y="4066120"/>
                <a:ext cx="9584556" cy="181517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边与顶点关联，顶点与顶点邻接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对于边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(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)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关联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(be incident with)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顶点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对于顶点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，如果存在边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(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)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邻接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(adjacent)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，或说是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相邻顶点</a:t>
                </a:r>
                <a:endParaRPr lang="zh-CN" altLang="en-US" sz="2000" b="1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368" y="4066120"/>
                <a:ext cx="9584556" cy="1815177"/>
              </a:xfrm>
              <a:prstGeom prst="rect">
                <a:avLst/>
              </a:prstGeom>
              <a:blipFill rotWithShape="1">
                <a:blip r:embed="rId2"/>
                <a:stretch>
                  <a:fillRect l="-6" t="-12" r="4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图的基本概念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图的一些简单术语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580755" y="1507722"/>
            <a:ext cx="8660525" cy="2092881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C00000"/>
                </a:solidFill>
                <a:latin typeface="+mn-ea"/>
              </a:rPr>
              <a:t>简单图</a:t>
            </a:r>
            <a:endParaRPr lang="en-US" altLang="zh-CN" sz="2400" b="1">
              <a:solidFill>
                <a:srgbClr val="C00000"/>
              </a:solidFill>
              <a:latin typeface="+mn-ea"/>
            </a:endParaRPr>
          </a:p>
          <a:p>
            <a:pPr marL="285750" indent="-28575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关联相同两个端点的两条无向边，或起点与终点都相同的两条有向边称为</a:t>
            </a:r>
            <a:r>
              <a:rPr lang="zh-CN" altLang="en-US" sz="2000" b="1">
                <a:solidFill>
                  <a:srgbClr val="C00000"/>
                </a:solidFill>
                <a:latin typeface="+mn-ea"/>
              </a:rPr>
              <a:t>重边</a:t>
            </a:r>
            <a:r>
              <a:rPr lang="en-US" altLang="zh-CN" sz="2000" b="1">
                <a:solidFill>
                  <a:srgbClr val="002060"/>
                </a:solidFill>
                <a:latin typeface="+mn-ea"/>
              </a:rPr>
              <a:t>(multiple edge)</a:t>
            </a:r>
            <a:endParaRPr lang="en-US" altLang="zh-CN" sz="2000" b="1">
              <a:solidFill>
                <a:srgbClr val="002060"/>
              </a:solidFill>
              <a:latin typeface="+mn-ea"/>
            </a:endParaRPr>
          </a:p>
          <a:p>
            <a:pPr marL="285750" indent="-28575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关联同一顶点的无向边或起点和终点都相同的边称为</a:t>
            </a:r>
            <a:r>
              <a:rPr lang="zh-CN" altLang="en-US" sz="2000" b="1">
                <a:solidFill>
                  <a:srgbClr val="C00000"/>
                </a:solidFill>
                <a:latin typeface="+mn-ea"/>
              </a:rPr>
              <a:t>环</a:t>
            </a:r>
            <a:r>
              <a:rPr lang="en-US" altLang="zh-CN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(loop)</a:t>
            </a:r>
            <a:endParaRPr lang="en-US" altLang="zh-CN" sz="2000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没有重边和环的图称为</a:t>
            </a:r>
            <a:r>
              <a:rPr lang="zh-CN" altLang="en-US" sz="2000" b="1">
                <a:solidFill>
                  <a:srgbClr val="C00000"/>
                </a:solidFill>
                <a:latin typeface="+mn-ea"/>
              </a:rPr>
              <a:t>简单图</a:t>
            </a: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，或更准确地称为</a:t>
            </a:r>
            <a:r>
              <a:rPr lang="zh-CN" altLang="en-US" sz="2000" b="1">
                <a:solidFill>
                  <a:srgbClr val="C00000"/>
                </a:solidFill>
                <a:latin typeface="+mn-ea"/>
              </a:rPr>
              <a:t>简单无向图</a:t>
            </a: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zh-CN" altLang="en-US" sz="2000" b="1">
                <a:solidFill>
                  <a:srgbClr val="C00000"/>
                </a:solidFill>
                <a:latin typeface="+mn-ea"/>
              </a:rPr>
              <a:t>简单有向图</a:t>
            </a:r>
            <a:endParaRPr lang="zh-CN" altLang="en-US" sz="2000" b="1">
              <a:solidFill>
                <a:srgbClr val="C00000"/>
              </a:solidFill>
              <a:latin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0755" y="3909885"/>
            <a:ext cx="3559251" cy="161505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5705790" y="3909885"/>
                <a:ext cx="4220179" cy="118865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ts val="25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是重边，但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不是重边，它们的方向不同</a:t>
                </a:r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5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是环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790" y="3909885"/>
                <a:ext cx="4220179" cy="1188659"/>
              </a:xfrm>
              <a:prstGeom prst="rect">
                <a:avLst/>
              </a:prstGeom>
              <a:blipFill rotWithShape="1">
                <a:blip r:embed="rId2"/>
                <a:stretch>
                  <a:fillRect l="-7" t="-16" r="7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图的基本概念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图的顶点度数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1444455" y="1598823"/>
                <a:ext cx="5359942" cy="204581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无向图顶点的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度数</a:t>
                </a:r>
                <a:r>
                  <a:rPr lang="en-US" altLang="zh-CN" sz="2400" b="1">
                    <a:solidFill>
                      <a:schemeClr val="accent2">
                        <a:lumMod val="50000"/>
                      </a:schemeClr>
                    </a:solidFill>
                  </a:rPr>
                  <a:t>(degree)</a:t>
                </a:r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zh-CN" altLang="en-US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zh-CN" altLang="en-US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zh-CN" altLang="en-US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zh-CN" altLang="en-US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zh-CN" altLang="en-US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zh-CN" altLang="en-US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是无向图，</a:t>
                </a:r>
                <a14:m>
                  <m:oMath xmlns:m="http://schemas.openxmlformats.org/officeDocument/2006/math">
                    <m:r>
                      <a:rPr lang="zh-CN" altLang="en-US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zh-CN" altLang="en-US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是它的一个顶点</a:t>
                </a:r>
                <a:endPara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en-US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度数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，记为</a:t>
                </a:r>
                <a14:m>
                  <m:oMath xmlns:m="http://schemas.openxmlformats.org/officeDocument/2006/math">
                    <m:r>
                      <a:rPr lang="zh-CN" altLang="en-US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zh-CN" altLang="en-US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zh-CN" altLang="en-US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，是关联</a:t>
                </a:r>
                <a14:m>
                  <m:oMath xmlns:m="http://schemas.openxmlformats.org/officeDocument/2006/math">
                    <m:r>
                      <a:rPr lang="zh-CN" altLang="en-US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的边的条数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  <a:p>
                <a:pPr marL="800100" lvl="1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关联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的环要计算两次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455" y="1598823"/>
                <a:ext cx="5359942" cy="2045816"/>
              </a:xfrm>
              <a:prstGeom prst="rect">
                <a:avLst/>
              </a:prstGeom>
              <a:blipFill rotWithShape="1">
                <a:blip r:embed="rId1"/>
                <a:stretch>
                  <a:fillRect l="-9" t="-26" r="7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210" y="3952060"/>
            <a:ext cx="3344605" cy="156081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5492634" y="3876386"/>
                <a:ext cx="1206730" cy="189282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tIns="0" bIns="0" rtlCol="0">
                <a:sp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3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2634" y="3876386"/>
                <a:ext cx="1206730" cy="1892826"/>
              </a:xfrm>
              <a:prstGeom prst="rect">
                <a:avLst/>
              </a:prstGeom>
              <a:blipFill rotWithShape="1">
                <a:blip r:embed="rId3"/>
                <a:stretch>
                  <a:fillRect l="-43" t="-18" r="9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7333575" y="3876386"/>
                <a:ext cx="3267818" cy="121225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度数，环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计算两次</a:t>
                </a:r>
                <a:endParaRPr lang="zh-CN" altLang="en-US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r>
                  <a:rPr lang="zh-CN" altLang="en-US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孤立顶点</a:t>
                </a:r>
                <a:r>
                  <a:rPr lang="en-US" altLang="zh-CN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r>
                  <a:rPr lang="zh-CN" altLang="en-US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悬挂顶点</a:t>
                </a:r>
                <a:r>
                  <a:rPr lang="en-US" altLang="zh-CN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r>
                  <a:rPr lang="zh-CN" altLang="en-US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悬挂边</a:t>
                </a:r>
                <a:endParaRPr lang="zh-CN" altLang="en-US" b="1">
                  <a:solidFill>
                    <a:srgbClr val="0000FF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3575" y="3876386"/>
                <a:ext cx="3267818" cy="1212255"/>
              </a:xfrm>
              <a:prstGeom prst="rect">
                <a:avLst/>
              </a:prstGeom>
              <a:blipFill rotWithShape="1">
                <a:blip r:embed="rId4"/>
                <a:stretch>
                  <a:fillRect l="-18" t="-29" r="2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图的基本概念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图的顶点度数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1144002" y="1483538"/>
                <a:ext cx="5931540" cy="23083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有向图顶点的入度和出度</a:t>
                </a:r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zh-CN" altLang="en-US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  <m:r>
                      <a:rPr lang="zh-CN" altLang="en-US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zh-CN" alt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zh-CN" altLang="en-US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𝑽</m:t>
                        </m:r>
                        <m:r>
                          <a:rPr lang="zh-CN" altLang="en-US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zh-CN" altLang="en-US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是有向图，</a:t>
                </a:r>
                <a14:m>
                  <m:oMath xmlns:m="http://schemas.openxmlformats.org/officeDocument/2006/math">
                    <m:r>
                      <a:rPr lang="zh-CN" altLang="en-US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𝒗</m:t>
                    </m:r>
                    <m:r>
                      <a:rPr lang="zh-CN" altLang="en-US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zh-CN" altLang="en-US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𝑽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是它的一个顶点</a:t>
                </a:r>
                <a:endPara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en-US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入度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zh-CN" altLang="en-US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zh-CN" alt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是以</a:t>
                </a:r>
                <a14:m>
                  <m:oMath xmlns:m="http://schemas.openxmlformats.org/officeDocument/2006/math">
                    <m:r>
                      <a:rPr lang="zh-CN" altLang="en-US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为终点的有向边条数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en-US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出度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zh-CN" altLang="en-US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zh-CN" alt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是以</a:t>
                </a:r>
                <a14:m>
                  <m:oMath xmlns:m="http://schemas.openxmlformats.org/officeDocument/2006/math">
                    <m:r>
                      <a:rPr lang="zh-CN" altLang="en-US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为起点的有向边条数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en-US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度数</a:t>
                </a:r>
                <a14:m>
                  <m:oMath xmlns:m="http://schemas.openxmlformats.org/officeDocument/2006/math">
                    <m:r>
                      <a:rPr lang="zh-CN" altLang="en-US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</m:t>
                    </m:r>
                    <m:d>
                      <m:dPr>
                        <m:ctrlPr>
                          <a:rPr lang="zh-CN" alt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zh-CN" altLang="en-US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zh-CN" altLang="en-US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zh-CN" alt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zh-CN" altLang="en-US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zh-CN" alt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zh-CN" altLang="en-US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zh-CN" alt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</m:oMath>
                </a14:m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002" y="1483538"/>
                <a:ext cx="5931540" cy="2308324"/>
              </a:xfrm>
              <a:prstGeom prst="rect">
                <a:avLst/>
              </a:prstGeom>
              <a:blipFill rotWithShape="1">
                <a:blip r:embed="rId1"/>
                <a:stretch>
                  <a:fillRect l="-6" t="-8" r="6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666" y="4077802"/>
            <a:ext cx="3102375" cy="163033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4323360" y="4199446"/>
                <a:ext cx="1206730" cy="133882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tIns="0" bIns="0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3360" y="4199446"/>
                <a:ext cx="1206730" cy="1338828"/>
              </a:xfrm>
              <a:prstGeom prst="rect">
                <a:avLst/>
              </a:prstGeom>
              <a:blipFill rotWithShape="1">
                <a:blip r:embed="rId3"/>
                <a:stretch>
                  <a:fillRect l="-23" t="-14" r="42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5886367" y="4199446"/>
                <a:ext cx="5216685" cy="72327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e>
                    </m:d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e>
                    </m:d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367" y="4199446"/>
                <a:ext cx="5216685" cy="723275"/>
              </a:xfrm>
              <a:prstGeom prst="rect">
                <a:avLst/>
              </a:prstGeom>
              <a:blipFill rotWithShape="1">
                <a:blip r:embed="rId4"/>
                <a:stretch>
                  <a:fillRect l="-11" t="-26" r="1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图的基本概念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握手定理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1842503" y="1149250"/>
                <a:ext cx="8506991" cy="261610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800" b="1">
                    <a:solidFill>
                      <a:srgbClr val="C00000"/>
                    </a:solidFill>
                  </a:rPr>
                  <a:t>握手定理</a:t>
                </a:r>
                <a:r>
                  <a:rPr lang="en-US" altLang="zh-CN" sz="2800" b="1">
                    <a:solidFill>
                      <a:srgbClr val="C00000"/>
                    </a:solidFill>
                  </a:rPr>
                  <a:t>(Handshaking Theorem)</a:t>
                </a:r>
                <a:endParaRPr lang="en-US" altLang="zh-CN" sz="2800" b="1">
                  <a:solidFill>
                    <a:srgbClr val="C00000"/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无向图所有顶点度数之和是边数两倍</a:t>
                </a:r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无向图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sub>
                      <m:sup/>
                      <m:e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d>
                          <m:dPr>
                            <m:ctrlPr>
                              <a:rPr lang="en-US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d>
                      </m:e>
                    </m:nary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</m:oMath>
                </a14:m>
                <a:endParaRPr lang="en-US" altLang="zh-CN" sz="2400" b="1"/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有向图所有顶点入度之和等于所有顶点出度之和，等于边数</a:t>
                </a:r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有向图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altLang="zh-CN" sz="24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4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p>
                            <m:r>
                              <a:rPr lang="en-US" altLang="zh-CN" sz="24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d>
                      </m:e>
                    </m:nary>
                    <m: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altLang="zh-CN" sz="24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4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p>
                            <m:r>
                              <a:rPr lang="en-US" altLang="zh-CN" sz="24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d>
                      </m:e>
                    </m:nary>
                    <m: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</m:oMath>
                </a14:m>
                <a:endParaRPr lang="en-US" altLang="zh-CN" sz="24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2503" y="1149250"/>
                <a:ext cx="8506991" cy="2616101"/>
              </a:xfrm>
              <a:prstGeom prst="rect">
                <a:avLst/>
              </a:prstGeom>
              <a:blipFill rotWithShape="1">
                <a:blip r:embed="rId1"/>
                <a:stretch>
                  <a:fillRect l="-4" t="-20" r="3" b="-1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589864" y="3926037"/>
                <a:ext cx="5988553" cy="212365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推论</a:t>
                </a:r>
                <a:endParaRPr lang="en-US" altLang="zh-CN" sz="2000" b="1">
                  <a:solidFill>
                    <a:srgbClr val="C00000"/>
                  </a:solidFill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任何图（无向图或有向图）的奇度顶点个数是偶数</a:t>
                </a:r>
                <a:endParaRPr lang="en-US" altLang="zh-CN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742950" lvl="1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顶点度数为奇数的顶点称为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奇度顶点</a:t>
                </a:r>
                <a:endParaRPr lang="zh-CN" altLang="en-US" b="1">
                  <a:solidFill>
                    <a:srgbClr val="C00000"/>
                  </a:solidFill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所有顶点度数都为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𝒌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的图称为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altLang="zh-CN" b="1">
                    <a:solidFill>
                      <a:srgbClr val="C00000"/>
                    </a:solidFill>
                    <a:latin typeface="+mn-ea"/>
                  </a:rPr>
                  <a:t>-</a:t>
                </a:r>
                <a:r>
                  <a:rPr lang="zh-CN" altLang="en-US" b="1">
                    <a:solidFill>
                      <a:srgbClr val="C00000"/>
                    </a:solidFill>
                    <a:latin typeface="+mn-ea"/>
                  </a:rPr>
                  <a:t>正则图</a:t>
                </a:r>
                <a:r>
                  <a:rPr lang="en-US" altLang="zh-CN" b="1">
                    <a:solidFill>
                      <a:srgbClr val="002060"/>
                    </a:solidFill>
                    <a:latin typeface="+mn-ea"/>
                  </a:rPr>
                  <a:t>(regular graph)</a:t>
                </a:r>
                <a:endParaRPr lang="en-US" altLang="zh-CN" b="1">
                  <a:solidFill>
                    <a:srgbClr val="002060"/>
                  </a:solidFill>
                  <a:latin typeface="+mn-ea"/>
                </a:endParaRPr>
              </a:p>
              <a:p>
                <a:pPr marL="742950" lvl="1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阶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正则图的边数为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𝒏𝒌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altLang="zh-CN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64" y="3926037"/>
                <a:ext cx="5988553" cy="2123658"/>
              </a:xfrm>
              <a:prstGeom prst="rect">
                <a:avLst/>
              </a:prstGeom>
              <a:blipFill rotWithShape="1">
                <a:blip r:embed="rId2"/>
                <a:stretch>
                  <a:fillRect l="-10" t="-22" r="8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609" y="3956280"/>
            <a:ext cx="3344605" cy="156081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10395406" y="3956280"/>
                <a:ext cx="1206730" cy="189282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tIns="0" bIns="0" rtlCol="0">
                <a:sp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3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5406" y="3956280"/>
                <a:ext cx="1206730" cy="1892826"/>
              </a:xfrm>
              <a:prstGeom prst="rect">
                <a:avLst/>
              </a:prstGeom>
              <a:blipFill rotWithShape="1">
                <a:blip r:embed="rId4"/>
                <a:stretch>
                  <a:fillRect l="-38" t="-12" r="4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6714246" y="5563221"/>
            <a:ext cx="3545331" cy="7232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顶点度数之和为</a:t>
            </a: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20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，边数为</a:t>
            </a: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10</a:t>
            </a:r>
            <a:endParaRPr lang="en-US" altLang="zh-CN" b="1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奇度顶点个数为</a:t>
            </a: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4</a:t>
            </a:r>
            <a:endParaRPr lang="zh-CN" altLang="en-US" b="1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图的基本概念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一些典型的简单图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589863" y="1127330"/>
                <a:ext cx="5506136" cy="115416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b="1">
                    <a:solidFill>
                      <a:srgbClr val="C00000"/>
                    </a:solidFill>
                  </a:rPr>
                  <a:t>-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阶完全图</a:t>
                </a:r>
                <a:r>
                  <a:rPr lang="en-US" altLang="zh-CN" b="1">
                    <a:solidFill>
                      <a:srgbClr val="C00000"/>
                    </a:solidFill>
                  </a:rPr>
                  <a:t>(complete graph)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altLang="zh-CN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个顶点两两间都有边，每个顶点度数都是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边的总数目为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63" y="1127330"/>
                <a:ext cx="5506136" cy="1154162"/>
              </a:xfrm>
              <a:prstGeom prst="rect">
                <a:avLst/>
              </a:prstGeom>
              <a:blipFill rotWithShape="1">
                <a:blip r:embed="rId1"/>
                <a:stretch>
                  <a:fillRect l="-11" t="-18" r="12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589863" y="2447419"/>
                <a:ext cx="2874769" cy="76174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b="1">
                    <a:solidFill>
                      <a:srgbClr val="C00000"/>
                    </a:solidFill>
                  </a:rPr>
                  <a:t>-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阶圈</a:t>
                </a:r>
                <a:r>
                  <a:rPr lang="en-US" altLang="zh-CN" b="1">
                    <a:solidFill>
                      <a:srgbClr val="C00000"/>
                    </a:solidFill>
                  </a:rPr>
                  <a:t>(cycle)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altLang="zh-CN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所有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个顶点的度数都是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altLang="zh-CN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63" y="2447419"/>
                <a:ext cx="2874769" cy="761747"/>
              </a:xfrm>
              <a:prstGeom prst="rect">
                <a:avLst/>
              </a:prstGeom>
              <a:blipFill rotWithShape="1">
                <a:blip r:embed="rId2"/>
                <a:stretch>
                  <a:fillRect l="-20" t="-17" r="3" b="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589863" y="3375094"/>
                <a:ext cx="5506136" cy="115416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b="1">
                    <a:solidFill>
                      <a:srgbClr val="C00000"/>
                    </a:solidFill>
                  </a:rPr>
                  <a:t>-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阶轮</a:t>
                </a:r>
                <a:r>
                  <a:rPr lang="en-US" altLang="zh-CN" b="1">
                    <a:solidFill>
                      <a:srgbClr val="C00000"/>
                    </a:solidFill>
                  </a:rPr>
                  <a:t>(wheel)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altLang="zh-CN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个顶点，其中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个顶点度数是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，构成一个圈</a:t>
                </a:r>
                <a:endParaRPr lang="zh-CN" altLang="en-US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圈中有个度数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顶点，与圈上每个顶点都有一条边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63" y="3375094"/>
                <a:ext cx="5506136" cy="1154162"/>
              </a:xfrm>
              <a:prstGeom prst="rect">
                <a:avLst/>
              </a:prstGeom>
              <a:blipFill rotWithShape="1">
                <a:blip r:embed="rId3"/>
                <a:stretch>
                  <a:fillRect l="-11" t="-6" r="12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589864" y="4700132"/>
                <a:ext cx="5506136" cy="147745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b="1">
                    <a:solidFill>
                      <a:srgbClr val="C00000"/>
                    </a:solidFill>
                  </a:rPr>
                  <a:t>-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阶超立方</a:t>
                </a:r>
                <a:r>
                  <a:rPr lang="en-US" altLang="zh-CN" b="1">
                    <a:solidFill>
                      <a:srgbClr val="C00000"/>
                    </a:solidFill>
                  </a:rPr>
                  <a:t>(hyper-cube)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altLang="zh-CN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个顶点，每个顶点的度数都是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CN" b="1"/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每个顶点用长为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的二进制编码，两个顶点之间有边当且仅当它们的编码只有一位不同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64" y="4700132"/>
                <a:ext cx="5506136" cy="1477456"/>
              </a:xfrm>
              <a:prstGeom prst="rect">
                <a:avLst/>
              </a:prstGeom>
              <a:blipFill rotWithShape="1">
                <a:blip r:embed="rId4"/>
                <a:stretch>
                  <a:fillRect l="-11" t="-34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402" y="1218521"/>
            <a:ext cx="5228735" cy="96949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402" y="2249666"/>
            <a:ext cx="4327560" cy="109021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402" y="3407068"/>
            <a:ext cx="4664679" cy="109021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3402" y="4700132"/>
            <a:ext cx="3926369" cy="12951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9991339" y="5505462"/>
                <a:ext cx="1655924" cy="69262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边数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各是多少？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1339" y="5505462"/>
                <a:ext cx="1655924" cy="692626"/>
              </a:xfrm>
              <a:prstGeom prst="rect">
                <a:avLst/>
              </a:prstGeom>
              <a:blipFill rotWithShape="1">
                <a:blip r:embed="rId9"/>
                <a:stretch>
                  <a:fillRect l="-15" t="-2" r="-2142" b="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图的基本概念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二部图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1668175" y="1255536"/>
                <a:ext cx="8855648" cy="230832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二部图(bipartite graph)，也称为偶图或二分图</a:t>
                </a:r>
                <a:endParaRPr lang="zh-CN" altLang="en-US" sz="24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简单图</a:t>
                </a:r>
                <a14:m>
                  <m:oMath xmlns:m="http://schemas.openxmlformats.org/officeDocument/2006/math">
                    <m:r>
                      <a:rPr lang="zh-CN" altLang="en-US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zh-CN" altLang="en-US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zh-CN" alt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zh-CN" alt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zh-CN" alt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zh-CN" alt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称为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二部图</a:t>
                </a:r>
                <a:endParaRPr lang="zh-CN" altLang="en-US" sz="2000" b="1">
                  <a:solidFill>
                    <a:srgbClr val="C00000"/>
                  </a:solidFill>
                  <a:latin typeface="+mn-ea"/>
                </a:endParaRP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如果</a:t>
                </a:r>
                <a14:m>
                  <m:oMath xmlns:m="http://schemas.openxmlformats.org/officeDocument/2006/math">
                    <m:r>
                      <a:rPr lang="zh-CN" altLang="en-US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可划分为非空且不相交的顶点集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zh-CN" alt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zh-CN" alt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（称为</a:t>
                </a:r>
                <a14:m>
                  <m:oMath xmlns:m="http://schemas.openxmlformats.org/officeDocument/2006/math">
                    <m:r>
                      <a:rPr lang="zh-CN" altLang="en-US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的一个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二部划分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），且</a:t>
                </a:r>
                <a14:m>
                  <m:oMath xmlns:m="http://schemas.openxmlformats.org/officeDocument/2006/math">
                    <m:r>
                      <a:rPr lang="zh-CN" altLang="en-US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的所有边关联的一个顶点在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zh-CN" alt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，另一个顶点在</a:t>
                </a:r>
                <a14:m>
                  <m:oMath xmlns:m="http://schemas.openxmlformats.org/officeDocument/2006/math">
                    <m:r>
                      <a:rPr lang="zh-CN" altLang="en-US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zh-CN" altLang="en-US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zh-CN" altLang="en-US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zh-CN" altLang="en-US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内的两个顶点没有边关联，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zh-CN" altLang="en-US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内的两个顶点也没有边关联</a:t>
                </a:r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5" y="1255536"/>
                <a:ext cx="8855648" cy="2308324"/>
              </a:xfrm>
              <a:prstGeom prst="rect">
                <a:avLst/>
              </a:prstGeom>
              <a:blipFill rotWithShape="1">
                <a:blip r:embed="rId1"/>
                <a:stretch>
                  <a:fillRect t="-6" r="7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944715" y="3756900"/>
                <a:ext cx="5913997" cy="232172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完全二部图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(complete bipartite graph)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设二部图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=(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𝑽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𝑬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的顶点集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𝑽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的二部划分是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sub>
                    </m:sSub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的任意顶点都与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的任意顶点有边相连，称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是完全二部图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0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 </m:t>
                    </m:r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𝒎</m:t>
                    </m:r>
                  </m:oMath>
                </a14:m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0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 </m:t>
                    </m:r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𝑲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𝒎</m:t>
                        </m:r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</m:sub>
                    </m:sSub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715" y="3756900"/>
                <a:ext cx="5913997" cy="2321726"/>
              </a:xfrm>
              <a:prstGeom prst="rect">
                <a:avLst/>
              </a:prstGeom>
              <a:blipFill rotWithShape="1">
                <a:blip r:embed="rId2"/>
                <a:stretch>
                  <a:fillRect l="-8" t="-10" r="1" b="-106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477" y="3732387"/>
            <a:ext cx="3378248" cy="131119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371" y="5014372"/>
            <a:ext cx="4414460" cy="12950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图的基本概念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子图与图的操作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1024310" y="1258160"/>
                <a:ext cx="10143373" cy="276998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图的子图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(sub-graph)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，若图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p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p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满足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子图</a:t>
                </a:r>
                <a:r>
                  <a:rPr lang="en-US" altLang="zh-CN" sz="2000" b="1">
                    <a:solidFill>
                      <a:srgbClr val="002060"/>
                    </a:solidFill>
                  </a:rPr>
                  <a:t>(subgraph)</a:t>
                </a:r>
                <a:endParaRPr lang="en-US" altLang="zh-CN" sz="2000" b="1">
                  <a:solidFill>
                    <a:srgbClr val="002060"/>
                  </a:solidFill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特别地，如果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生成子图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(spanning subgraph)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800100" lvl="1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的任意子集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，取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p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且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′=(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′, 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的由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导出的子图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(induced subgraph)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1257300" lvl="2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注意，实际上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中那些两个端点都在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中的边构成的集合</a:t>
                </a:r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310" y="1258160"/>
                <a:ext cx="10143373" cy="2769989"/>
              </a:xfrm>
              <a:prstGeom prst="rect">
                <a:avLst/>
              </a:prstGeom>
              <a:blipFill rotWithShape="1">
                <a:blip r:embed="rId1"/>
                <a:stretch>
                  <a:fillRect l="-1" t="-8" r="6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024310" y="4217359"/>
                <a:ext cx="7948289" cy="184665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图的操作</a:t>
                </a:r>
                <a:endParaRPr lang="zh-CN" altLang="en-US" sz="2400" b="1">
                  <a:solidFill>
                    <a:srgbClr val="C00000"/>
                  </a:solidFill>
                </a:endParaRPr>
              </a:p>
              <a:p>
                <a:pPr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图的操作包括删除顶点集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、删除边集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、删除子图、边的收缩、添加新边、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阶简单图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的补图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</m:ba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注意，删除边不删除顶点，但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删除顶点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则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要删除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该顶点所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关联的边</a:t>
                </a:r>
                <a:endParaRPr lang="zh-CN" altLang="en-US" sz="2000" b="1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310" y="4217359"/>
                <a:ext cx="7948289" cy="1846659"/>
              </a:xfrm>
              <a:prstGeom prst="rect">
                <a:avLst/>
              </a:prstGeom>
              <a:blipFill rotWithShape="1">
                <a:blip r:embed="rId2"/>
                <a:stretch>
                  <a:fillRect l="-1" t="-18" r="1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9235275" y="4681745"/>
            <a:ext cx="1932408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图的顶点可独立存在，但边只能关联顶点而存在</a:t>
            </a:r>
            <a:endParaRPr lang="zh-CN" altLang="en-US" b="1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图的基本概念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图的同构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198457" y="1287033"/>
                <a:ext cx="9795086" cy="203914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图同构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(isomorphic)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称图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′=(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′,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同构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，记为记为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，如果存在</a:t>
                </a:r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双函数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，满足</a:t>
                </a:r>
                <a:endPara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的任意边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存在惟一的边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，而且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的任意边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′=(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′,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存在惟一的边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p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</m:e>
                              <m:sup>
                                <m:r>
                                  <a:rPr lang="en-US" altLang="zh-CN" sz="20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p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p>
                                <m:r>
                                  <a:rPr lang="en-US" altLang="zh-CN" sz="20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en-US" altLang="zh-CN" sz="2000" b="1" i="1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457" y="1287033"/>
                <a:ext cx="9795086" cy="2039148"/>
              </a:xfrm>
              <a:prstGeom prst="rect">
                <a:avLst/>
              </a:prstGeom>
              <a:blipFill rotWithShape="1">
                <a:blip r:embed="rId1"/>
                <a:stretch>
                  <a:fillRect l="-2" t="-26" r="4" b="-11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761497" y="3722864"/>
            <a:ext cx="4656336" cy="2280689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C00000"/>
                </a:solidFill>
              </a:rPr>
              <a:t>图同构的直观含义</a:t>
            </a:r>
            <a:endParaRPr lang="zh-CN" altLang="en-US" sz="2400" b="1">
              <a:solidFill>
                <a:srgbClr val="C00000"/>
              </a:solidFill>
            </a:endParaRPr>
          </a:p>
          <a:p>
            <a:pPr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不考虑图标记时，两个图在适当移动顶点和边后有相同的直观表示</a:t>
            </a:r>
            <a:endParaRPr lang="zh-CN" altLang="en-US" sz="2000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或说不考虑图标记时，两个图的</a:t>
            </a:r>
            <a:r>
              <a:rPr lang="zh-CN" altLang="en-US" sz="2000" b="1">
                <a:solidFill>
                  <a:srgbClr val="C00000"/>
                </a:solidFill>
              </a:rPr>
              <a:t>顶点和边之间的关联情况完全一致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420" y="4527169"/>
            <a:ext cx="5453307" cy="135923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721645" y="3964379"/>
            <a:ext cx="5708858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下面三个图两两同构，都称为彼得森</a:t>
            </a:r>
            <a:r>
              <a:rPr lang="en-US" altLang="zh-CN" sz="2000" b="1">
                <a:solidFill>
                  <a:schemeClr val="accent2">
                    <a:lumMod val="50000"/>
                  </a:schemeClr>
                </a:solidFill>
              </a:rPr>
              <a:t>(Petersen)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图</a:t>
            </a:r>
            <a:endParaRPr lang="zh-CN" altLang="en-US" sz="2000" b="1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107232" y="1448010"/>
            <a:ext cx="4733731" cy="385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图的基本概念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图的连通性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图的存储和表示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图的遍历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图的连通性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图的通路与回路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1201104" y="1960330"/>
                <a:ext cx="9789783" cy="410368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通路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(path)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和回路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(circuit)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 marL="342900" indent="-34290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无向图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的一条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通路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是顶点和边的交替序列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𝚪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，且对任意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是通路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𝚪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的端点，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是通路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𝚪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的长度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𝚪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是为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回路</a:t>
                </a:r>
                <a:endParaRPr lang="en-US" altLang="zh-CN" sz="2000" b="1">
                  <a:solidFill>
                    <a:srgbClr val="C00000"/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有向图的有向通路（回路）也是顶点和边的交替序列，只是其中</a:t>
                </a:r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每条边的方向一致</a:t>
                </a:r>
                <a:endParaRPr lang="zh-CN" altLang="en-US" sz="2000" b="1">
                  <a:solidFill>
                    <a:srgbClr val="0000FF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不含重复的边的通路是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简单通路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，不含重复的边的回路是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简单回路</a:t>
                </a:r>
                <a:endParaRPr lang="zh-CN" altLang="en-US" sz="2000" b="1">
                  <a:solidFill>
                    <a:srgbClr val="C00000"/>
                  </a:solidFill>
                  <a:latin typeface="+mn-ea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不含重复的顶点的通路是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初级通路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，不含重复的顶点的回路是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初级回路</a:t>
                </a:r>
                <a:endParaRPr lang="en-US" altLang="zh-CN" sz="2000" b="1">
                  <a:solidFill>
                    <a:srgbClr val="C00000"/>
                  </a:solidFill>
                  <a:latin typeface="+mn-ea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初级通路又称为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路径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(walk)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，初级回路又称为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圈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(cycle)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104" y="1960330"/>
                <a:ext cx="9789783" cy="4103688"/>
              </a:xfrm>
              <a:prstGeom prst="rect">
                <a:avLst/>
              </a:prstGeom>
              <a:blipFill rotWithShape="1">
                <a:blip r:embed="rId1"/>
                <a:stretch>
                  <a:fillRect l="-3" t="-2" r="3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911105" y="1240902"/>
            <a:ext cx="10369779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图的连通性指图任意两个顶点间是否有通路，也即能否从一个顶点经过图的边到另一个顶点</a:t>
            </a:r>
            <a:endParaRPr lang="zh-CN" altLang="en-US" sz="2000" b="1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图的连通性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图的通路与回路举例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385" y="1659653"/>
            <a:ext cx="3333750" cy="15335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69" y="3934841"/>
            <a:ext cx="3333750" cy="163245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4053017" y="1595418"/>
                <a:ext cx="7307910" cy="166199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1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𝚪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间的长度为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𝟕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通路</a:t>
                </a:r>
                <a:endParaRPr lang="zh-CN" altLang="en-US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𝚪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是以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为端点长度为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回路</a:t>
                </a:r>
                <a:endParaRPr lang="zh-CN" altLang="en-US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𝚪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是长度为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𝟕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简单通路</a:t>
                </a:r>
                <a:endParaRPr lang="zh-CN" altLang="en-US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𝚪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之间的一条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初级通路</a:t>
                </a:r>
                <a:endParaRPr lang="zh-CN" altLang="en-US" b="1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017" y="1595418"/>
                <a:ext cx="7307910" cy="1661993"/>
              </a:xfrm>
              <a:prstGeom prst="rect">
                <a:avLst/>
              </a:prstGeom>
              <a:blipFill rotWithShape="1">
                <a:blip r:embed="rId3"/>
                <a:stretch>
                  <a:fillRect l="-6" t="-18" r="2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4053017" y="3905304"/>
                <a:ext cx="7696748" cy="166199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49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1" i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𝚪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的长度为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𝟕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有向通路</a:t>
                </a:r>
                <a:endParaRPr lang="zh-CN" altLang="en-US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1" i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𝚪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为起点和终点长度为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有向回路</a:t>
                </a:r>
                <a:endParaRPr lang="zh-CN" altLang="en-US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1" i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𝚪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  <m:sup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是长度为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𝟕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简单有向通路</a:t>
                </a:r>
                <a:endParaRPr lang="zh-CN" altLang="en-US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1" i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𝚪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  <m:sup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的一条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初级有向通路</a:t>
                </a:r>
                <a:endParaRPr lang="zh-CN" altLang="en-US" b="1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017" y="3905304"/>
                <a:ext cx="7696748" cy="1661993"/>
              </a:xfrm>
              <a:prstGeom prst="rect">
                <a:avLst/>
              </a:prstGeom>
              <a:blipFill rotWithShape="1">
                <a:blip r:embed="rId4"/>
                <a:stretch>
                  <a:fillRect l="-6" t="-3" r="5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图的连通性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通路回路的一些性质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018590" y="1216750"/>
                <a:ext cx="10154818" cy="228068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个顶点</a:t>
                </a:r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若存在以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为端点的通路（或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为起点，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为终点的有向通路），则存在以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为端点（或以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为起点，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为终点）的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长度小于等于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的初级通路（或初级有向通路）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 若存在从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到其自身的回路（有向回路），则存在从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到其自身的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长度小于等于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的初级回路（初级有向回路）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590" y="1216750"/>
                <a:ext cx="10154818" cy="2280689"/>
              </a:xfrm>
              <a:prstGeom prst="rect">
                <a:avLst/>
              </a:prstGeom>
              <a:blipFill rotWithShape="1">
                <a:blip r:embed="rId1"/>
                <a:stretch>
                  <a:fillRect t="-4" r="6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018590" y="3755694"/>
                <a:ext cx="10154818" cy="230832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非零图的无向图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G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是二部图当且仅当它没有奇数长的回路</a:t>
                </a:r>
                <a:endParaRPr lang="zh-CN" altLang="en-US" sz="24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不失一般性可设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只有一个连通分支，即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任意两个顶点间都有通路，任取顶点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，定义</a:t>
                </a:r>
                <a:endPara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的最短路径长度为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奇数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的最短路径长度为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偶数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可证明当图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没有奇数长回路时，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二部划分</a:t>
                </a:r>
                <a:endParaRPr lang="zh-CN" altLang="en-US" sz="2000" b="1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590" y="3755694"/>
                <a:ext cx="10154818" cy="2308324"/>
              </a:xfrm>
              <a:prstGeom prst="rect">
                <a:avLst/>
              </a:prstGeom>
              <a:blipFill rotWithShape="1">
                <a:blip r:embed="rId2"/>
                <a:stretch>
                  <a:fillRect t="-13" r="6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图的连通性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连通无向图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431901" y="1463077"/>
                <a:ext cx="9328196" cy="393184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9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连通无向图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(connected graph)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如果存在以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为端点的通路，称图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的顶点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可达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endPara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在图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的顶点集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𝑽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上定义关系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↔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⊆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𝑽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×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𝑽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𝒖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↔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𝒗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𝒖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𝒗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是可达的，则</a:t>
                </a:r>
                <a:endPara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是等价关系，称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关于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的等价类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↔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导出的子图为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连通分支</a:t>
                </a:r>
                <a:endParaRPr lang="zh-CN" altLang="en-US" sz="2000" b="1">
                  <a:solidFill>
                    <a:srgbClr val="C00000"/>
                  </a:solidFill>
                </a:endParaRPr>
              </a:p>
              <a:p>
                <a:pPr marL="1257300" lvl="2" indent="-342900">
                  <a:spcBef>
                    <a:spcPts val="600"/>
                  </a:spcBef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的连通分支数记为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直观地说，相互可达的顶点导出的一个子图是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G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的一个连通分支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若图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只有一个连通分支，即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𝒑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)=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连通无向图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，或直接称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连通图</a:t>
                </a:r>
                <a:endParaRPr lang="zh-CN" altLang="en-US" sz="2000" b="1">
                  <a:solidFill>
                    <a:srgbClr val="C00000"/>
                  </a:solidFill>
                  <a:latin typeface="+mn-ea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也即，一个无向图是连通图，当且仅当它的任意两个顶点都有通路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901" y="1463077"/>
                <a:ext cx="9328196" cy="3931846"/>
              </a:xfrm>
              <a:prstGeom prst="rect">
                <a:avLst/>
              </a:prstGeom>
              <a:blipFill rotWithShape="1">
                <a:blip r:embed="rId1"/>
                <a:stretch>
                  <a:fillRect l="-7" t="-1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图的连通性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图的边数与连通性</a:t>
            </a:r>
            <a:r>
              <a:rPr lang="en-US" altLang="zh-CN"/>
              <a:t>-</a:t>
            </a:r>
            <a:r>
              <a:rPr lang="zh-CN" altLang="en-US"/>
              <a:t>图论证明题举例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195625" y="3176944"/>
                <a:ext cx="9800748" cy="206107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给定简单图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𝑽</m:t>
                        </m:r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𝑽</m:t>
                        </m:r>
                      </m:e>
                    </m:d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𝑬</m:t>
                        </m:r>
                      </m:e>
                    </m:d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𝒎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，若</a:t>
                </a:r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𝒎</m:t>
                      </m:r>
                      <m:r>
                        <a:rPr lang="en-US" altLang="zh-CN" sz="2400" b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&gt;</m:t>
                      </m:r>
                      <m:f>
                        <m:fPr>
                          <m:ctrlPr>
                            <a:rPr lang="en-US" altLang="zh-C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4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4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𝟐</m:t>
                          </m:r>
                        </m:den>
                      </m:f>
                      <m:r>
                        <a:rPr lang="en-US" altLang="zh-CN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𝒏</m:t>
                      </m:r>
                      <m:r>
                        <a:rPr lang="en-US" altLang="zh-CN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lang="en-US" altLang="zh-CN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</m:t>
                      </m:r>
                      <m:r>
                        <a:rPr lang="en-US" altLang="zh-CN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)(</m:t>
                      </m:r>
                      <m:r>
                        <a:rPr lang="en-US" altLang="zh-CN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𝒏</m:t>
                      </m:r>
                      <m:r>
                        <a:rPr lang="en-US" altLang="zh-CN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lang="en-US" altLang="zh-CN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𝟐</m:t>
                      </m:r>
                      <m:r>
                        <a:rPr lang="en-US" altLang="zh-CN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en-US" altLang="zh-CN" sz="2400" b="1">
                  <a:solidFill>
                    <a:srgbClr val="C0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是连通图</a:t>
                </a:r>
                <a:endParaRPr lang="zh-CN" altLang="en-US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用什么方法证明？直接证明法、反证法、分情况证明、存在性证明还是数学归纳法？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625" y="3176944"/>
                <a:ext cx="9800748" cy="2061077"/>
              </a:xfrm>
              <a:prstGeom prst="rect">
                <a:avLst/>
              </a:prstGeom>
              <a:blipFill rotWithShape="1">
                <a:blip r:embed="rId1"/>
                <a:stretch>
                  <a:fillRect l="-6" t="-2" r="-317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1195625" y="1717390"/>
                <a:ext cx="9800748" cy="100027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连通简单无向图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4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边数大于等于其顶点数减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用什么方法证明？直接证明法、反证法、分情况证明、存在性证明还是数学归纳法？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625" y="1717390"/>
                <a:ext cx="9800748" cy="1000274"/>
              </a:xfrm>
              <a:prstGeom prst="rect">
                <a:avLst/>
              </a:prstGeom>
              <a:blipFill rotWithShape="1">
                <a:blip r:embed="rId2"/>
                <a:stretch>
                  <a:fillRect l="-6" t="-35" r="-317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图的连通性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图的边数与连通性</a:t>
            </a:r>
            <a:r>
              <a:rPr lang="en-US" altLang="zh-CN"/>
              <a:t>-</a:t>
            </a:r>
            <a:r>
              <a:rPr lang="zh-CN" altLang="en-US"/>
              <a:t>图论证明题举例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746539" y="1164140"/>
                <a:ext cx="6441917" cy="100027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连通简单无向图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的边数大于等于其顶点数减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使用数学归纳法，准确地说，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强归纳法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证明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539" y="1164140"/>
                <a:ext cx="6441917" cy="1000274"/>
              </a:xfrm>
              <a:prstGeom prst="rect">
                <a:avLst/>
              </a:prstGeom>
              <a:blipFill rotWithShape="1">
                <a:blip r:embed="rId1"/>
                <a:stretch>
                  <a:fillRect l="-6" t="-18" r="4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7400718" y="1247688"/>
                <a:ext cx="4144404" cy="83317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：对任意连通简单图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顶点数是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，边数是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0718" y="1247688"/>
                <a:ext cx="4144404" cy="833177"/>
              </a:xfrm>
              <a:prstGeom prst="rect">
                <a:avLst/>
              </a:prstGeom>
              <a:blipFill rotWithShape="1">
                <a:blip r:embed="rId2"/>
                <a:stretch>
                  <a:fillRect l="-10" t="-66" r="5" b="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746539" y="2364351"/>
                <a:ext cx="800933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rgbClr val="C00000"/>
                    </a:solidFill>
                    <a:latin typeface="+mn-ea"/>
                  </a:rPr>
                  <a:t>归纳基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：对任意连通简单图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的顶点数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，显然边数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成立</a:t>
                </a:r>
                <a:endParaRPr lang="zh-CN" altLang="en-US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539" y="2364351"/>
                <a:ext cx="800933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5" t="-67" r="6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746539" y="2842315"/>
                <a:ext cx="10568833" cy="334040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归纳步证明</a:t>
                </a:r>
                <a:endParaRPr lang="en-US" altLang="zh-CN" sz="2000" b="1">
                  <a:solidFill>
                    <a:srgbClr val="C00000"/>
                  </a:solidFill>
                </a:endParaRP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C00000"/>
                    </a:solidFill>
                    <a:latin typeface="+mn-ea"/>
                  </a:rPr>
                  <a:t>归纳假设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：假定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成立，即对任意连通简单图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的顶点数小于等于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，则其边数大于等于其顶点数减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对任意有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个顶点的连通简单图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，任取顶点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，考虑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，假定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个连通分支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endParaRPr lang="en-US" altLang="zh-CN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742950" lvl="1" indent="-28575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设连通分支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顶点数是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，由归纳假设，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边数大于等于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，从而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的边数总数大于</a:t>
                </a:r>
                <a:r>
                  <a:rPr lang="zh-CN" altLang="en-US" b="1" i="0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等于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+⋯+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sub>
                        </m:s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endParaRPr lang="en-US" altLang="zh-CN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742950" lvl="1" indent="-28575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但图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原来连通，顶点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与这每个连通分支至少有一条边相连，因此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的边数大于等于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，也即大于等于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，也即有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成立</a:t>
                </a:r>
                <a:endParaRPr lang="en-US" altLang="zh-CN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539" y="2842315"/>
                <a:ext cx="10568833" cy="3340402"/>
              </a:xfrm>
              <a:prstGeom prst="rect">
                <a:avLst/>
              </a:prstGeom>
              <a:blipFill rotWithShape="1">
                <a:blip r:embed="rId4"/>
                <a:stretch>
                  <a:fillRect l="-4" t="-2" r="3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图的连通性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图的边数与连通性</a:t>
            </a:r>
            <a:r>
              <a:rPr lang="en-US" altLang="zh-CN"/>
              <a:t>-</a:t>
            </a:r>
            <a:r>
              <a:rPr lang="zh-CN" altLang="en-US"/>
              <a:t>图论证明题举例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839020" y="1572929"/>
                <a:ext cx="9375891" cy="9201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给定简单图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𝑽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𝑽</m:t>
                        </m:r>
                      </m:e>
                    </m:d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𝑬</m:t>
                        </m:r>
                      </m:e>
                    </m:d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𝒎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，若</a:t>
                </a:r>
                <a14:m>
                  <m:oMath xmlns:m="http://schemas.openxmlformats.org/officeDocument/2006/math">
                    <m:r>
                      <a:rPr lang="en-US" altLang="zh-CN" sz="2000" b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𝒎</m:t>
                    </m:r>
                    <m:r>
                      <a:rPr lang="en-US" altLang="zh-CN" sz="2000" b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&gt;</m:t>
                    </m:r>
                    <m:f>
                      <m:fPr>
                        <m:ctrlP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0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20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den>
                    </m:f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)(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是连通图</a:t>
                </a:r>
                <a:endPara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使用反证法证明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020" y="1572929"/>
                <a:ext cx="9375891" cy="920188"/>
              </a:xfrm>
              <a:prstGeom prst="rect">
                <a:avLst/>
              </a:prstGeom>
              <a:blipFill rotWithShape="1">
                <a:blip r:embed="rId1"/>
                <a:stretch>
                  <a:fillRect l="-2" t="-4" r="3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839020" y="2890967"/>
                <a:ext cx="10513958" cy="253915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000" b="1">
                    <a:solidFill>
                      <a:srgbClr val="C00000"/>
                    </a:solidFill>
                  </a:rPr>
                  <a:t>【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证明</a:t>
                </a:r>
                <a:r>
                  <a:rPr lang="en-US" altLang="zh-CN" sz="2000" b="1">
                    <a:solidFill>
                      <a:srgbClr val="C00000"/>
                    </a:solidFill>
                  </a:rPr>
                  <a:t>】</a:t>
                </a:r>
                <a:endParaRPr lang="en-US" altLang="zh-CN" sz="2000" b="1">
                  <a:solidFill>
                    <a:srgbClr val="C00000"/>
                  </a:solidFill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个连通分支，每个连通分支顶点数分别是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，则</a:t>
                </a:r>
                <a:r>
                  <a:rPr lang="en-US" altLang="zh-CN" b="1">
                    <a:solidFill>
                      <a:schemeClr val="accent6">
                        <a:lumMod val="50000"/>
                      </a:schemeClr>
                    </a:solidFill>
                  </a:rPr>
                  <a:t>∀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，且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  <m:e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CN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作为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简单图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，每个连通分支边数上界是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num>
                      <m:den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个连通分支边数和就是图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的边数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，则有</a:t>
                </a:r>
                <a:endParaRPr lang="zh-CN" altLang="en-US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  <m:e>
                        <m:f>
                          <m:f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1" i="1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zh-CN" b="1" i="1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∑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  <m:e>
                        <m:f>
                          <m:f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1" i="1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zh-CN" b="1" i="1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num>
                      <m:den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US" altLang="zh-CN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因此若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，则与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d>
                      <m:d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d>
                      <m:d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矛盾，所以必有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zh-CN" altLang="en-US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020" y="2890967"/>
                <a:ext cx="10513958" cy="2539157"/>
              </a:xfrm>
              <a:prstGeom prst="rect">
                <a:avLst/>
              </a:prstGeom>
              <a:blipFill rotWithShape="1">
                <a:blip r:embed="rId2"/>
                <a:stretch>
                  <a:fillRect l="-2" t="-18" r="4" b="-88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图的连通性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点割集和边割集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96214" y="1165057"/>
                <a:ext cx="5071961" cy="487620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点割集、割点和点连通度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 marL="342900" indent="-342900">
                  <a:lnSpc>
                    <a:spcPts val="26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是无向图，称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点割集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，如果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800100" lvl="1" indent="-342900">
                  <a:lnSpc>
                    <a:spcPts val="26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删除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的所有顶点及其关联的边增加连通分支数，但删除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任意</a:t>
                </a:r>
                <a:r>
                  <a:rPr lang="zh-CN" altLang="en-US" b="1">
                    <a:solidFill>
                      <a:srgbClr val="0000FF"/>
                    </a:solidFill>
                  </a:rPr>
                  <a:t>真子集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的顶点及其关联的边则不会增加连通分支数</a:t>
                </a:r>
                <a:endParaRPr lang="zh-CN" altLang="en-US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lnSpc>
                    <a:spcPts val="26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如果点割集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𝑽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′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只有一个顶点，则这个顶点称为图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割点</a:t>
                </a:r>
                <a:endParaRPr lang="zh-CN" altLang="en-US" sz="2000" b="1">
                  <a:solidFill>
                    <a:srgbClr val="C00000"/>
                  </a:solidFill>
                  <a:latin typeface="+mn-ea"/>
                </a:endParaRPr>
              </a:p>
              <a:p>
                <a:pPr marL="342900" indent="-342900">
                  <a:lnSpc>
                    <a:spcPts val="26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连通无向图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顶点数最小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的点割集的顶点数称为图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点连通度</a:t>
                </a:r>
                <a:endParaRPr lang="zh-CN" altLang="en-US" sz="2000" b="1">
                  <a:solidFill>
                    <a:srgbClr val="C00000"/>
                  </a:solidFill>
                  <a:latin typeface="+mn-ea"/>
                </a:endParaRPr>
              </a:p>
              <a:p>
                <a:pPr marL="800100" lvl="1" indent="-342900">
                  <a:lnSpc>
                    <a:spcPts val="26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完全图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altLang="zh-CN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的点连通度为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，非连通图的点连通度为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zh-CN" altLang="en-US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214" y="1165057"/>
                <a:ext cx="5071961" cy="4876207"/>
              </a:xfrm>
              <a:prstGeom prst="rect">
                <a:avLst/>
              </a:prstGeom>
              <a:blipFill rotWithShape="1">
                <a:blip r:embed="rId1"/>
                <a:stretch>
                  <a:fillRect l="-5" t="-10" r="9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6423827" y="1165057"/>
                <a:ext cx="5071960" cy="453970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边割集、桥和边连通度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 marL="342900" indent="-342900">
                  <a:lnSpc>
                    <a:spcPts val="26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=(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𝑽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𝑬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是无向图，称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𝑬</m:t>
                        </m:r>
                      </m:e>
                      <m:sup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′</m:t>
                        </m:r>
                      </m:sup>
                    </m:sSup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⊆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𝑬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是图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边割集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，如果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800100" lvl="1" indent="-342900">
                  <a:lnSpc>
                    <a:spcPts val="26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删除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的所有边会增加连通分支数，但删除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的任意真子集的边则不会增加连通分支数</a:t>
                </a:r>
                <a:endParaRPr lang="zh-CN" altLang="en-US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lnSpc>
                    <a:spcPts val="26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如果边割集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𝑽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′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只有一个顶点，则这条边称为图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桥</a:t>
                </a:r>
                <a:endParaRPr lang="zh-CN" altLang="en-US" sz="2000" b="1">
                  <a:solidFill>
                    <a:srgbClr val="C00000"/>
                  </a:solidFill>
                  <a:latin typeface="+mn-ea"/>
                </a:endParaRPr>
              </a:p>
              <a:p>
                <a:pPr marL="342900" indent="-342900">
                  <a:lnSpc>
                    <a:spcPts val="26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连通无向图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边数最小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的边割集的边数称为图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边连通度</a:t>
                </a:r>
                <a:endParaRPr lang="zh-CN" altLang="en-US" sz="2000" b="1">
                  <a:solidFill>
                    <a:srgbClr val="C00000"/>
                  </a:solidFill>
                  <a:latin typeface="+mn-ea"/>
                </a:endParaRPr>
              </a:p>
              <a:p>
                <a:pPr marL="800100" lvl="1" indent="-342900">
                  <a:lnSpc>
                    <a:spcPts val="26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约定非连通图的边连通度为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zh-CN" altLang="en-US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827" y="1165057"/>
                <a:ext cx="5071960" cy="4539704"/>
              </a:xfrm>
              <a:prstGeom prst="rect">
                <a:avLst/>
              </a:prstGeom>
              <a:blipFill rotWithShape="1">
                <a:blip r:embed="rId2"/>
                <a:stretch>
                  <a:fillRect l="-3" t="-10" r="8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6423827" y="5786685"/>
            <a:ext cx="295041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完全图的边连通度是多少？</a:t>
            </a:r>
            <a:endParaRPr lang="zh-CN" altLang="en-US" b="1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图的连通性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图的点割集和边割集举例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5378242" y="1332261"/>
                <a:ext cx="5810933" cy="2891433"/>
              </a:xfrm>
              <a:prstGeom prst="rect">
                <a:avLst/>
              </a:prstGeom>
              <a:solidFill>
                <a:srgbClr val="E5EFE5"/>
              </a:solidFill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都是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点割集</a:t>
                </a:r>
                <a:endParaRPr lang="en-US" altLang="zh-CN" sz="2000" b="1">
                  <a:solidFill>
                    <a:srgbClr val="C00000"/>
                  </a:solidFill>
                </a:endParaRPr>
              </a:p>
              <a:p>
                <a:pPr marL="800100" lvl="1" indent="-34290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注意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都不在任何点割集中</a:t>
                </a:r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800100" lvl="1" indent="-34290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都是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割点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，因此该图的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点连通度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sub>
                    </m:sSub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altLang="zh-CN" sz="2000" b="1" i="1">
                    <a:solidFill>
                      <a:schemeClr val="accent6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a:t>都是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边割集</a:t>
                </a:r>
                <a:endParaRPr lang="zh-CN" altLang="en-US" sz="2000" b="1">
                  <a:solidFill>
                    <a:srgbClr val="C00000"/>
                  </a:solidFill>
                </a:endParaRPr>
              </a:p>
              <a:p>
                <a:pPr marL="800100" lvl="1" indent="-34290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𝒆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𝟔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𝒆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都是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桥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，因此该图的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边连通度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8242" y="1332261"/>
                <a:ext cx="5810933" cy="2891433"/>
              </a:xfrm>
              <a:prstGeom prst="rect">
                <a:avLst/>
              </a:prstGeom>
              <a:blipFill rotWithShape="1">
                <a:blip r:embed="rId1"/>
                <a:stretch>
                  <a:fillRect l="-7" t="-1" r="-2057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25" y="1859945"/>
            <a:ext cx="4236220" cy="18360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691477" y="4538256"/>
                <a:ext cx="5093175" cy="138499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连通图和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边连通图</a:t>
                </a:r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的点连通度是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，则称为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连通图</a:t>
                </a:r>
                <a:endParaRPr lang="en-US" altLang="zh-CN" sz="2000" b="1">
                  <a:solidFill>
                    <a:srgbClr val="002060"/>
                  </a:solidFill>
                  <a:latin typeface="+mn-ea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的边连通度是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，则称为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边连通图</a:t>
                </a:r>
                <a:endParaRPr lang="zh-CN" altLang="en-US" sz="2000" b="1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77" y="4538256"/>
                <a:ext cx="5093175" cy="1384995"/>
              </a:xfrm>
              <a:prstGeom prst="rect">
                <a:avLst/>
              </a:prstGeom>
              <a:blipFill rotWithShape="1">
                <a:blip r:embed="rId3"/>
                <a:stretch>
                  <a:fillRect l="-12" t="-39" r="9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6095999" y="4538256"/>
                <a:ext cx="5404524" cy="138499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点连通度和边连通度度量图的连通强度</a:t>
                </a:r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连通图删除任意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个顶点后仍连通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边连通图删除任意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条边后仍连通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4538256"/>
                <a:ext cx="5404524" cy="1384995"/>
              </a:xfrm>
              <a:prstGeom prst="rect">
                <a:avLst/>
              </a:prstGeom>
              <a:blipFill rotWithShape="1">
                <a:blip r:embed="rId4"/>
                <a:stretch>
                  <a:fillRect l="-12" t="-39" r="1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图的连通性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有向图的连通性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2048624" y="1240902"/>
                <a:ext cx="8094745" cy="230832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有向图顶点的可达</a:t>
                </a:r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是有向图，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的两个顶点</a:t>
                </a:r>
                <a:endPara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若存在以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为起点，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为终点的有向通路，则称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可达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进一步记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约定总有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8624" y="1240902"/>
                <a:ext cx="8094745" cy="2308324"/>
              </a:xfrm>
              <a:prstGeom prst="rect">
                <a:avLst/>
              </a:prstGeom>
              <a:blipFill rotWithShape="1">
                <a:blip r:embed="rId1"/>
                <a:stretch>
                  <a:fillRect l="-1" t="-5" r="6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873473" y="3689910"/>
                <a:ext cx="8445046" cy="23083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强连通、单向连通和弱连通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强连通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有向图：任意两个顶点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𝒖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𝒗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都有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𝒖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↔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𝒗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有向图是强连通的当且仅当存在</a:t>
                </a:r>
                <a:r>
                  <a:rPr lang="zh-CN" altLang="en-US" sz="2000" b="1">
                    <a:solidFill>
                      <a:srgbClr val="0000FF"/>
                    </a:solidFill>
                  </a:rPr>
                  <a:t>经过每个顶点至少一次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的有向回路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单向连通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有向图：任意两个顶点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𝒖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𝒗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𝒖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→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𝒗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𝒗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→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𝒖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之一成立</a:t>
                </a:r>
                <a:endPara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弱连通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有向图：若有向图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基图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是连通无向图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473" y="3689910"/>
                <a:ext cx="8445046" cy="2308324"/>
              </a:xfrm>
              <a:prstGeom prst="rect">
                <a:avLst/>
              </a:prstGeom>
              <a:blipFill rotWithShape="1">
                <a:blip r:embed="rId2"/>
                <a:stretch>
                  <a:fillRect l="-3" t="-24" r="5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图的连通性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有向图连通性举例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184" y="1332072"/>
            <a:ext cx="3226625" cy="215371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184" y="3945927"/>
            <a:ext cx="3226625" cy="21172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4623442" y="1285545"/>
                <a:ext cx="6604374" cy="2246769"/>
              </a:xfrm>
              <a:prstGeom prst="rect">
                <a:avLst/>
              </a:prstGeom>
              <a:solidFill>
                <a:srgbClr val="E5EFE5"/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有向图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𝑮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不是强连通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endPara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的入度为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任意顶点，例如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，没有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altLang="zh-CN" sz="2000" b="1"/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𝑮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单向连通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的，当然也是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弱连通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endPara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有向通路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表明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可达任何顶点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可达除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以外的任何顶点，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可达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endParaRPr lang="en-US" altLang="zh-CN" sz="2000" b="1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442" y="1285545"/>
                <a:ext cx="6604374" cy="2246769"/>
              </a:xfrm>
              <a:prstGeom prst="rect">
                <a:avLst/>
              </a:prstGeom>
              <a:blipFill rotWithShape="1">
                <a:blip r:embed="rId3"/>
                <a:stretch>
                  <a:fillRect t="-14" r="6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4623443" y="4573654"/>
                <a:ext cx="6803447" cy="861774"/>
              </a:xfrm>
              <a:prstGeom prst="rect">
                <a:avLst/>
              </a:prstGeom>
              <a:solidFill>
                <a:srgbClr val="E5EFE5"/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有向图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𝐺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是强连通的，也是单向连通和弱连通的</a:t>
                </a:r>
                <a:endPara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有向回路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经过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每个顶点至少一次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443" y="4573654"/>
                <a:ext cx="6803447" cy="861774"/>
              </a:xfrm>
              <a:prstGeom prst="rect">
                <a:avLst/>
              </a:prstGeom>
              <a:blipFill rotWithShape="1">
                <a:blip r:embed="rId4"/>
                <a:stretch>
                  <a:fillRect t="-45" r="1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107232" y="1448010"/>
            <a:ext cx="4733731" cy="385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图的基本概念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图的连通性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图的存储和表示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图的遍历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图的存储和表示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图的关联矩阵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468081" y="1147274"/>
            <a:ext cx="9255835" cy="78483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用计算机存储和操作图时，常用图的矩阵表示，包括图的</a:t>
            </a:r>
            <a:r>
              <a:rPr lang="zh-CN" altLang="en-US" sz="2000" b="1">
                <a:solidFill>
                  <a:srgbClr val="C00000"/>
                </a:solidFill>
                <a:latin typeface="+mn-ea"/>
              </a:rPr>
              <a:t>关联矩阵</a:t>
            </a: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zh-CN" altLang="en-US" sz="2000" b="1">
                <a:solidFill>
                  <a:srgbClr val="C00000"/>
                </a:solidFill>
                <a:latin typeface="+mn-ea"/>
              </a:rPr>
              <a:t>邻接矩阵</a:t>
            </a:r>
            <a:endParaRPr lang="en-US" altLang="zh-CN" sz="2000" b="1">
              <a:solidFill>
                <a:srgbClr val="C00000"/>
              </a:solidFill>
              <a:latin typeface="+mn-ea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关联矩阵记录</a:t>
            </a:r>
            <a:r>
              <a:rPr lang="zh-CN" altLang="en-US" sz="2000" b="1">
                <a:solidFill>
                  <a:srgbClr val="C00000"/>
                </a:solidFill>
              </a:rPr>
              <a:t>顶点与边</a:t>
            </a: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之间的关联关系，而邻接矩阵记录</a:t>
            </a:r>
            <a:r>
              <a:rPr lang="zh-CN" altLang="en-US" sz="2000" b="1">
                <a:solidFill>
                  <a:srgbClr val="C00000"/>
                </a:solidFill>
              </a:rPr>
              <a:t>顶点之间</a:t>
            </a: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的邻接关系</a:t>
            </a:r>
            <a:endParaRPr lang="zh-CN" altLang="en-US" sz="2000" b="1"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602668" y="2197000"/>
            <a:ext cx="4951031" cy="3867018"/>
            <a:chOff x="861770" y="2051874"/>
            <a:chExt cx="4951031" cy="3867018"/>
          </a:xfrm>
        </p:grpSpPr>
        <p:sp>
          <p:nvSpPr>
            <p:cNvPr id="16" name="矩形 15"/>
            <p:cNvSpPr/>
            <p:nvPr/>
          </p:nvSpPr>
          <p:spPr>
            <a:xfrm>
              <a:off x="861770" y="3872822"/>
              <a:ext cx="1703250" cy="1166246"/>
            </a:xfrm>
            <a:prstGeom prst="rect">
              <a:avLst/>
            </a:prstGeom>
            <a:solidFill>
              <a:srgbClr val="F9E5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文本框 2"/>
                <p:cNvSpPr txBox="1"/>
                <p:nvPr/>
              </p:nvSpPr>
              <p:spPr>
                <a:xfrm>
                  <a:off x="861770" y="2051874"/>
                  <a:ext cx="4951031" cy="1820948"/>
                </a:xfrm>
                <a:prstGeom prst="rect">
                  <a:avLst/>
                </a:prstGeom>
                <a:solidFill>
                  <a:srgbClr val="F9E5E5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400" b="1">
                      <a:solidFill>
                        <a:srgbClr val="C00000"/>
                      </a:solidFill>
                    </a:rPr>
                    <a:t>关联矩阵</a:t>
                  </a:r>
                  <a:r>
                    <a:rPr lang="en-US" altLang="zh-CN" sz="2400" b="1">
                      <a:solidFill>
                        <a:srgbClr val="C00000"/>
                      </a:solidFill>
                    </a:rPr>
                    <a:t>(incidence matrix)</a:t>
                  </a:r>
                  <a:endParaRPr lang="en-US" altLang="zh-CN" sz="2400" b="1">
                    <a:solidFill>
                      <a:srgbClr val="C00000"/>
                    </a:solidFill>
                  </a:endParaRPr>
                </a:p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设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zh-CN" sz="20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sz="20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是</a:t>
                  </a:r>
                  <a:r>
                    <a:rPr lang="zh-CN" altLang="en-US" sz="2000" b="1">
                      <a:solidFill>
                        <a:srgbClr val="0000FF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无环</a:t>
                  </a: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有向图</a:t>
                  </a:r>
                  <a:endParaRPr lang="en-US" altLang="zh-CN" sz="2000" b="1" i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lit/>
                          </m:r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⋯, </m:t>
                        </m:r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m:rPr>
                            <m:lit/>
                          </m:r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lit/>
                          </m:r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⋯, </m:t>
                        </m:r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  <m:r>
                          <m:rPr>
                            <m:lit/>
                          </m:r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的</a:t>
                  </a:r>
                  <a:r>
                    <a:rPr lang="zh-CN" altLang="en-US" sz="2000" b="1">
                      <a:solidFill>
                        <a:srgbClr val="C00000"/>
                      </a:solidFill>
                    </a:rPr>
                    <a:t>关联矩阵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是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的矩阵</a:t>
                  </a:r>
                  <a:endParaRPr lang="en-US" altLang="zh-CN" sz="2000" b="1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" name="文本框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770" y="2051874"/>
                  <a:ext cx="4951031" cy="1820948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文本框 3"/>
                <p:cNvSpPr txBox="1"/>
                <p:nvPr/>
              </p:nvSpPr>
              <p:spPr>
                <a:xfrm>
                  <a:off x="861770" y="4976775"/>
                  <a:ext cx="4951030" cy="942117"/>
                </a:xfrm>
                <a:prstGeom prst="rect">
                  <a:avLst/>
                </a:prstGeom>
                <a:solidFill>
                  <a:srgbClr val="F9E5E5"/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000" b="1">
                      <a:solidFill>
                        <a:srgbClr val="0000FF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无环</a:t>
                  </a: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无向图</a:t>
                  </a:r>
                  <a14:m>
                    <m:oMath xmlns:m="http://schemas.openxmlformats.org/officeDocument/2006/math">
                      <m:r>
                        <a:rPr lang="en-US" altLang="zh-CN" sz="20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𝑮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</a:t>
                  </a:r>
                  <a:r>
                    <a:rPr lang="zh-CN" altLang="en-US" sz="2000" b="1">
                      <a:solidFill>
                        <a:srgbClr val="C00000"/>
                      </a:solidFill>
                    </a:rPr>
                    <a:t>关联矩阵</a:t>
                  </a:r>
                  <a14:m>
                    <m:oMath xmlns:m="http://schemas.openxmlformats.org/officeDocument/2006/math">
                      <m:r>
                        <a:rPr lang="en-US" altLang="zh-CN" sz="20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𝑴</m:t>
                      </m:r>
                      <m:r>
                        <a:rPr lang="en-US" altLang="zh-CN" sz="20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altLang="zh-CN" sz="20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𝒊𝒋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定义为</a:t>
                  </a:r>
                  <a:endPara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是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的端点则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，否则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zh-CN" altLang="en-US" sz="2000" b="1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" name="文本框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770" y="4976775"/>
                  <a:ext cx="4951030" cy="942117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文本框 12"/>
                <p:cNvSpPr txBox="1"/>
                <p:nvPr/>
              </p:nvSpPr>
              <p:spPr>
                <a:xfrm>
                  <a:off x="1071717" y="4109482"/>
                  <a:ext cx="1427519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</m:oMath>
                    </m:oMathPara>
                  </a14:m>
                  <a:endParaRPr lang="en-US" altLang="zh-CN" b="1" i="1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oMath>
                    </m:oMathPara>
                  </a14:m>
                  <a:endParaRPr lang="zh-CN" altLang="en-US" b="1"/>
                </a:p>
              </p:txBody>
            </p:sp>
          </mc:Choice>
          <mc:Fallback>
            <p:sp>
              <p:nvSpPr>
                <p:cNvPr id="13" name="文本框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1717" y="4109482"/>
                  <a:ext cx="1427519" cy="646331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65021" y="3870805"/>
              <a:ext cx="3247779" cy="1110531"/>
            </a:xfrm>
            <a:prstGeom prst="rect">
              <a:avLst/>
            </a:prstGeom>
          </p:spPr>
        </p:pic>
      </p:grpSp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8811" y="2209242"/>
            <a:ext cx="2075364" cy="187833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8811" y="4227527"/>
            <a:ext cx="2075364" cy="1836424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7879882" y="2511942"/>
            <a:ext cx="3998395" cy="1268824"/>
            <a:chOff x="7879882" y="2511942"/>
            <a:chExt cx="3998395" cy="1268824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79882" y="2511942"/>
              <a:ext cx="3709445" cy="1268824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/>
                <p:cNvSpPr txBox="1"/>
                <p:nvPr/>
              </p:nvSpPr>
              <p:spPr>
                <a:xfrm>
                  <a:off x="11588464" y="2683893"/>
                  <a:ext cx="289813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>
            <p:sp>
              <p:nvSpPr>
                <p:cNvPr id="24" name="文本框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88464" y="2683893"/>
                  <a:ext cx="289813" cy="215444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本框 24"/>
                <p:cNvSpPr txBox="1"/>
                <p:nvPr/>
              </p:nvSpPr>
              <p:spPr>
                <a:xfrm>
                  <a:off x="11588464" y="2898521"/>
                  <a:ext cx="289813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>
            <p:sp>
              <p:nvSpPr>
                <p:cNvPr id="25" name="文本框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88464" y="2898521"/>
                  <a:ext cx="289813" cy="215444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文本框 25"/>
                <p:cNvSpPr txBox="1"/>
                <p:nvPr/>
              </p:nvSpPr>
              <p:spPr>
                <a:xfrm>
                  <a:off x="11588464" y="3113965"/>
                  <a:ext cx="289813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>
            <p:sp>
              <p:nvSpPr>
                <p:cNvPr id="26" name="文本框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88464" y="3113965"/>
                  <a:ext cx="289813" cy="215444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文本框 26"/>
                <p:cNvSpPr txBox="1"/>
                <p:nvPr/>
              </p:nvSpPr>
              <p:spPr>
                <a:xfrm>
                  <a:off x="11588464" y="3327777"/>
                  <a:ext cx="289813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>
            <p:sp>
              <p:nvSpPr>
                <p:cNvPr id="27" name="文本框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88464" y="3327777"/>
                  <a:ext cx="289813" cy="215444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文本框 27"/>
                <p:cNvSpPr txBox="1"/>
                <p:nvPr/>
              </p:nvSpPr>
              <p:spPr>
                <a:xfrm>
                  <a:off x="11588463" y="3552185"/>
                  <a:ext cx="289813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>
            <p:sp>
              <p:nvSpPr>
                <p:cNvPr id="28" name="文本框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88463" y="3552185"/>
                  <a:ext cx="289813" cy="215444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组合 35"/>
          <p:cNvGrpSpPr/>
          <p:nvPr/>
        </p:nvGrpSpPr>
        <p:grpSpPr>
          <a:xfrm>
            <a:off x="7879882" y="4364205"/>
            <a:ext cx="3908642" cy="1442843"/>
            <a:chOff x="7879882" y="4364205"/>
            <a:chExt cx="3908642" cy="1442843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879882" y="4364205"/>
              <a:ext cx="3618829" cy="1395714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文本框 28"/>
                <p:cNvSpPr txBox="1"/>
                <p:nvPr/>
              </p:nvSpPr>
              <p:spPr>
                <a:xfrm>
                  <a:off x="11498711" y="4603595"/>
                  <a:ext cx="289813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>
            <p:sp>
              <p:nvSpPr>
                <p:cNvPr id="29" name="文本框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98711" y="4603595"/>
                  <a:ext cx="289813" cy="215444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本框 29"/>
                <p:cNvSpPr txBox="1"/>
                <p:nvPr/>
              </p:nvSpPr>
              <p:spPr>
                <a:xfrm>
                  <a:off x="11498710" y="4864268"/>
                  <a:ext cx="289813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>
            <p:sp>
              <p:nvSpPr>
                <p:cNvPr id="30" name="文本框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98710" y="4864268"/>
                  <a:ext cx="289813" cy="215444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文本框 30"/>
                <p:cNvSpPr txBox="1"/>
                <p:nvPr/>
              </p:nvSpPr>
              <p:spPr>
                <a:xfrm>
                  <a:off x="11498710" y="5097191"/>
                  <a:ext cx="289813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>
            <p:sp>
              <p:nvSpPr>
                <p:cNvPr id="31" name="文本框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98710" y="5097191"/>
                  <a:ext cx="289813" cy="215444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文本框 31"/>
                <p:cNvSpPr txBox="1"/>
                <p:nvPr/>
              </p:nvSpPr>
              <p:spPr>
                <a:xfrm>
                  <a:off x="11498710" y="5347594"/>
                  <a:ext cx="289813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>
            <p:sp>
              <p:nvSpPr>
                <p:cNvPr id="32" name="文本框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98710" y="5347594"/>
                  <a:ext cx="289813" cy="215444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文本框 32"/>
                <p:cNvSpPr txBox="1"/>
                <p:nvPr/>
              </p:nvSpPr>
              <p:spPr>
                <a:xfrm>
                  <a:off x="11498710" y="5591604"/>
                  <a:ext cx="289813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>
            <p:sp>
              <p:nvSpPr>
                <p:cNvPr id="33" name="文本框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98710" y="5591604"/>
                  <a:ext cx="289813" cy="215444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文本框 33"/>
          <p:cNvSpPr txBox="1"/>
          <p:nvPr/>
        </p:nvSpPr>
        <p:spPr>
          <a:xfrm>
            <a:off x="7879882" y="5854806"/>
            <a:ext cx="384837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给出矩阵时不一定给出边和顶点标记</a:t>
            </a:r>
            <a:endParaRPr lang="zh-CN" altLang="en-US" b="1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图的存储和表示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图的邻接矩阵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11793" y="1532771"/>
                <a:ext cx="5484208" cy="300197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邻接矩阵</a:t>
                </a:r>
                <a:r>
                  <a:rPr lang="en-US" altLang="zh-CN" sz="2000" b="1">
                    <a:solidFill>
                      <a:srgbClr val="C00000"/>
                    </a:solidFill>
                  </a:rPr>
                  <a:t>(adjacency matrix)</a:t>
                </a:r>
                <a:endParaRPr lang="en-US" altLang="zh-CN" sz="20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是有向图，其中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m:rPr>
                        <m:lit/>
                      </m:rP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的邻接矩阵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的矩阵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b="1" i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为起点，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为终点的有向边的条数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无向图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的邻接矩阵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00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𝒊𝒋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定义为</a:t>
                </a:r>
                <a:endPara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</m:e>
                      <m:sub>
                        <m:r>
                          <a:rPr lang="en-US" altLang="zh-CN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𝒊𝒋</m:t>
                        </m:r>
                      </m:sub>
                    </m:sSub>
                    <m:r>
                      <a:rPr lang="en-US" altLang="zh-CN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𝒗</m:t>
                        </m:r>
                      </m:e>
                      <m:sub>
                        <m:r>
                          <a:rPr lang="en-US" altLang="zh-CN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𝒗</m:t>
                        </m:r>
                      </m:e>
                      <m:sub>
                        <m:r>
                          <a:rPr lang="en-US" altLang="zh-CN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为端点的无向边条数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93" y="1532771"/>
                <a:ext cx="5484208" cy="3001976"/>
              </a:xfrm>
              <a:prstGeom prst="rect">
                <a:avLst/>
              </a:prstGeom>
              <a:blipFill rotWithShape="1">
                <a:blip r:embed="rId1"/>
                <a:stretch>
                  <a:fillRect l="-5" t="-17" b="-79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611793" y="4686356"/>
            <a:ext cx="440534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通常考虑不存在重边的图，或者说简单图的邻接矩阵，这时矩阵的元素都是</a:t>
            </a: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或</a:t>
            </a: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1</a:t>
            </a:r>
            <a:endParaRPr lang="en-US" altLang="zh-CN" b="1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810" y="1532771"/>
            <a:ext cx="2075364" cy="187833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810" y="3810055"/>
            <a:ext cx="2075364" cy="1836424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8638983" y="1532771"/>
            <a:ext cx="2964820" cy="1883107"/>
            <a:chOff x="8638983" y="1532771"/>
            <a:chExt cx="2964820" cy="1883107"/>
          </a:xfrm>
        </p:grpSpPr>
        <p:sp>
          <p:nvSpPr>
            <p:cNvPr id="14" name="矩形 13"/>
            <p:cNvSpPr/>
            <p:nvPr/>
          </p:nvSpPr>
          <p:spPr>
            <a:xfrm>
              <a:off x="11292062" y="1532771"/>
              <a:ext cx="311739" cy="1878335"/>
            </a:xfrm>
            <a:prstGeom prst="rect">
              <a:avLst/>
            </a:prstGeom>
            <a:solidFill>
              <a:srgbClr val="E5EF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38983" y="1532771"/>
              <a:ext cx="2653079" cy="1878335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文本框 14"/>
                <p:cNvSpPr txBox="1"/>
                <p:nvPr/>
              </p:nvSpPr>
              <p:spPr>
                <a:xfrm>
                  <a:off x="11313990" y="1804298"/>
                  <a:ext cx="289813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>
            <p:sp>
              <p:nvSpPr>
                <p:cNvPr id="15" name="文本框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3990" y="1804298"/>
                  <a:ext cx="289813" cy="215444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文本框 15"/>
                <p:cNvSpPr txBox="1"/>
                <p:nvPr/>
              </p:nvSpPr>
              <p:spPr>
                <a:xfrm>
                  <a:off x="11313990" y="2151620"/>
                  <a:ext cx="289813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>
            <p:sp>
              <p:nvSpPr>
                <p:cNvPr id="16" name="文本框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3990" y="2151620"/>
                  <a:ext cx="289813" cy="215444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文本框 17"/>
                <p:cNvSpPr txBox="1"/>
                <p:nvPr/>
              </p:nvSpPr>
              <p:spPr>
                <a:xfrm>
                  <a:off x="11313990" y="2497606"/>
                  <a:ext cx="289813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>
            <p:sp>
              <p:nvSpPr>
                <p:cNvPr id="18" name="文本框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3990" y="2497606"/>
                  <a:ext cx="289813" cy="215444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本框 18"/>
                <p:cNvSpPr txBox="1"/>
                <p:nvPr/>
              </p:nvSpPr>
              <p:spPr>
                <a:xfrm>
                  <a:off x="11313989" y="2854448"/>
                  <a:ext cx="289813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>
            <p:sp>
              <p:nvSpPr>
                <p:cNvPr id="19" name="文本框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3989" y="2854448"/>
                  <a:ext cx="289813" cy="215444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文本框 19"/>
                <p:cNvSpPr txBox="1"/>
                <p:nvPr/>
              </p:nvSpPr>
              <p:spPr>
                <a:xfrm>
                  <a:off x="11313989" y="3200434"/>
                  <a:ext cx="289813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>
            <p:sp>
              <p:nvSpPr>
                <p:cNvPr id="20" name="文本框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3989" y="3200434"/>
                  <a:ext cx="289813" cy="215444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27"/>
          <p:cNvGrpSpPr/>
          <p:nvPr/>
        </p:nvGrpSpPr>
        <p:grpSpPr>
          <a:xfrm>
            <a:off x="8638983" y="3768145"/>
            <a:ext cx="2964819" cy="1911116"/>
            <a:chOff x="8638983" y="3768145"/>
            <a:chExt cx="2964819" cy="1911116"/>
          </a:xfrm>
        </p:grpSpPr>
        <p:sp>
          <p:nvSpPr>
            <p:cNvPr id="26" name="矩形 25"/>
            <p:cNvSpPr/>
            <p:nvPr/>
          </p:nvSpPr>
          <p:spPr>
            <a:xfrm>
              <a:off x="11285968" y="3768145"/>
              <a:ext cx="311739" cy="1908725"/>
            </a:xfrm>
            <a:prstGeom prst="rect">
              <a:avLst/>
            </a:prstGeom>
            <a:solidFill>
              <a:srgbClr val="E5EF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638983" y="3768145"/>
              <a:ext cx="2653079" cy="191111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/>
                <p:cNvSpPr txBox="1"/>
                <p:nvPr/>
              </p:nvSpPr>
              <p:spPr>
                <a:xfrm>
                  <a:off x="11313989" y="4042090"/>
                  <a:ext cx="289813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3989" y="4042090"/>
                  <a:ext cx="289813" cy="215444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本框 21"/>
                <p:cNvSpPr txBox="1"/>
                <p:nvPr/>
              </p:nvSpPr>
              <p:spPr>
                <a:xfrm>
                  <a:off x="11313989" y="4389412"/>
                  <a:ext cx="289813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>
            <p:sp>
              <p:nvSpPr>
                <p:cNvPr id="22" name="文本框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3989" y="4389412"/>
                  <a:ext cx="289813" cy="215444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本框 22"/>
                <p:cNvSpPr txBox="1"/>
                <p:nvPr/>
              </p:nvSpPr>
              <p:spPr>
                <a:xfrm>
                  <a:off x="11313989" y="4735398"/>
                  <a:ext cx="289813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>
            <p:sp>
              <p:nvSpPr>
                <p:cNvPr id="23" name="文本框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3989" y="4735398"/>
                  <a:ext cx="289813" cy="215444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/>
                <p:cNvSpPr txBox="1"/>
                <p:nvPr/>
              </p:nvSpPr>
              <p:spPr>
                <a:xfrm>
                  <a:off x="11313988" y="5092240"/>
                  <a:ext cx="289813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>
            <p:sp>
              <p:nvSpPr>
                <p:cNvPr id="24" name="文本框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3988" y="5092240"/>
                  <a:ext cx="289813" cy="215444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本框 24"/>
                <p:cNvSpPr txBox="1"/>
                <p:nvPr/>
              </p:nvSpPr>
              <p:spPr>
                <a:xfrm>
                  <a:off x="11313988" y="5438226"/>
                  <a:ext cx="289813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>
            <p:sp>
              <p:nvSpPr>
                <p:cNvPr id="25" name="文本框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3988" y="5438226"/>
                  <a:ext cx="289813" cy="215444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图的存储和表示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可达矩阵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215009" y="1623902"/>
                <a:ext cx="7387564" cy="174567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对有向图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的邻接矩阵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m:rPr>
                        <m:lit/>
                      </m:rP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用普通矩阵乘法，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给出两个顶点间长度为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的有向通路条数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对角线元素是这个顶点为端点长度为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的有向回路总数</a:t>
                </a:r>
                <a:endParaRPr lang="zh-CN" altLang="en-US" sz="20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1257300" lvl="2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</a:rPr>
                  <a:t>对于回路总数，起点和终点不同时，被看作不同回路</a:t>
                </a:r>
                <a:endParaRPr lang="zh-CN" altLang="en-US" b="1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009" y="1623902"/>
                <a:ext cx="7387564" cy="1745671"/>
              </a:xfrm>
              <a:prstGeom prst="rect">
                <a:avLst/>
              </a:prstGeom>
              <a:blipFill rotWithShape="1">
                <a:blip r:embed="rId1"/>
                <a:stretch>
                  <a:fillRect l="-3" t="-12" r="3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215009" y="3785455"/>
                <a:ext cx="7242838" cy="191667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可达矩阵</a:t>
                </a:r>
                <a:r>
                  <a:rPr lang="en-US" altLang="zh-CN" sz="2000" b="1">
                    <a:solidFill>
                      <a:srgbClr val="C00000"/>
                    </a:solidFill>
                  </a:rPr>
                  <a:t>(reachability matrix)</a:t>
                </a:r>
                <a:endParaRPr lang="en-US" altLang="zh-CN" sz="20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图的可达矩阵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定义为，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，约定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𝒊𝒊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endPara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，否则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矩阵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</m:e>
                    </m:d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+⋯+ 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&gt; 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表明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可达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endParaRPr lang="en-US" altLang="zh-CN" b="1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009" y="3785455"/>
                <a:ext cx="7242838" cy="1916679"/>
              </a:xfrm>
              <a:prstGeom prst="rect">
                <a:avLst/>
              </a:prstGeom>
              <a:blipFill rotWithShape="1">
                <a:blip r:embed="rId2"/>
                <a:stretch>
                  <a:fillRect l="-4" t="-11" r="4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图的存储和表示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可达矩阵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359090" y="1322476"/>
            <a:ext cx="9336237" cy="13022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图的可达矩阵可基于邻接矩阵用矩阵乘法，或用</a:t>
            </a:r>
            <a:r>
              <a:rPr lang="en-US" altLang="zh-CN" sz="2000" b="1">
                <a:solidFill>
                  <a:srgbClr val="002060"/>
                </a:solidFill>
                <a:latin typeface="+mn-ea"/>
              </a:rPr>
              <a:t>Warshall</a:t>
            </a: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算法计算得到</a:t>
            </a:r>
            <a:endParaRPr lang="zh-CN" altLang="en-US" sz="2000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不存在重边的图对应顶点集上的关系（无向图对应一个对称关系），这时图的可达矩阵是这个关系的传递闭包矩阵</a:t>
            </a:r>
            <a:endParaRPr lang="zh-CN" altLang="en-US" sz="2000" b="1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9734" y="2854333"/>
            <a:ext cx="2272011" cy="205631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886" y="2836501"/>
            <a:ext cx="2261871" cy="141549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31" y="2976560"/>
            <a:ext cx="1717835" cy="127543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7140" y="2965965"/>
            <a:ext cx="1717835" cy="1286029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4079" y="4620287"/>
            <a:ext cx="1736266" cy="127543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5973" y="4619253"/>
            <a:ext cx="1637829" cy="127543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1359090" y="5086314"/>
                <a:ext cx="3823814" cy="97770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tIns="0" bIns="0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从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可看到，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为端点长为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的有向回路有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两条，它们也被计入以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为端点长为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的有向回路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090" y="5086314"/>
                <a:ext cx="3823814" cy="977704"/>
              </a:xfrm>
              <a:prstGeom prst="rect">
                <a:avLst/>
              </a:prstGeom>
              <a:blipFill rotWithShape="1">
                <a:blip r:embed="rId7"/>
                <a:stretch>
                  <a:fillRect l="-5" t="-61" r="1" b="-12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107232" y="1448010"/>
            <a:ext cx="4733731" cy="385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图的基本概念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图的连通性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图的存储和表示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图的遍历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图的遍历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图的遍历的含义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479136" y="1339830"/>
            <a:ext cx="9233726" cy="2431435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C00000"/>
                </a:solidFill>
              </a:rPr>
              <a:t>图的遍历</a:t>
            </a:r>
            <a:r>
              <a:rPr lang="en-US" altLang="zh-CN" sz="2400" b="1">
                <a:solidFill>
                  <a:srgbClr val="C00000"/>
                </a:solidFill>
              </a:rPr>
              <a:t>(graph traversal)</a:t>
            </a:r>
            <a:endParaRPr lang="en-US" altLang="zh-CN" sz="2400" b="1">
              <a:solidFill>
                <a:srgbClr val="C00000"/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图的遍历，或称为搜索</a:t>
            </a:r>
            <a:r>
              <a:rPr lang="en-US" altLang="zh-CN" sz="2400" b="1">
                <a:solidFill>
                  <a:srgbClr val="002060"/>
                </a:solidFill>
                <a:latin typeface="+mn-ea"/>
              </a:rPr>
              <a:t>(search)</a:t>
            </a:r>
            <a:endParaRPr lang="en-US" altLang="zh-CN" sz="2400" b="1">
              <a:solidFill>
                <a:srgbClr val="002060"/>
              </a:solidFill>
              <a:latin typeface="+mn-ea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通常是图顶点的遍历，指从图的某个顶点出发，沿着一些边访问所有顶点</a:t>
            </a:r>
            <a:endParaRPr lang="zh-CN" altLang="en-US" sz="2000" b="1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图的遍历是图的许多算法的基础</a:t>
            </a:r>
            <a:endParaRPr lang="zh-CN" altLang="en-US" sz="2400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例如通过遍历可以判断图的两个顶点是否可达</a:t>
            </a:r>
            <a:endParaRPr lang="zh-CN" altLang="en-US" sz="2000" b="1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79136" y="4032693"/>
            <a:ext cx="8450894" cy="2031325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图遍历的两种基本思路</a:t>
            </a:r>
            <a:endParaRPr lang="zh-CN" altLang="en-US" sz="2400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</a:rPr>
              <a:t>深度优先搜索</a:t>
            </a:r>
            <a:r>
              <a:rPr lang="en-US" altLang="zh-CN" sz="2400" b="1">
                <a:solidFill>
                  <a:schemeClr val="accent6">
                    <a:lumMod val="50000"/>
                  </a:schemeClr>
                </a:solidFill>
              </a:rPr>
              <a:t>(depth first search, DFS)</a:t>
            </a: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</a:rPr>
              <a:t>，简称先深搜索</a:t>
            </a:r>
            <a:endParaRPr lang="zh-CN" altLang="en-US" sz="2400" b="1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</a:rPr>
              <a:t>广度优先搜索</a:t>
            </a:r>
            <a:r>
              <a:rPr lang="en-US" altLang="zh-CN" sz="2400" b="1">
                <a:solidFill>
                  <a:schemeClr val="accent6">
                    <a:lumMod val="50000"/>
                  </a:schemeClr>
                </a:solidFill>
              </a:rPr>
              <a:t>(breadth first search, BFS)</a:t>
            </a: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</a:rPr>
              <a:t>，简称先广搜索</a:t>
            </a:r>
            <a:endParaRPr lang="zh-CN" altLang="en-US" sz="2400" b="1">
              <a:solidFill>
                <a:schemeClr val="accent6">
                  <a:lumMod val="50000"/>
                </a:schemeClr>
              </a:solidFill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这两种思路也是许多人工智能问题应用搜索策略进行求解时的基础</a:t>
            </a:r>
            <a:endParaRPr lang="zh-CN" altLang="en-US" sz="2000" b="1">
              <a:solidFill>
                <a:schemeClr val="accent2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图的遍历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图的深度优先遍历（先深搜索）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563469" y="1201274"/>
            <a:ext cx="9065060" cy="1415772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2800" b="1">
                <a:solidFill>
                  <a:schemeClr val="accent2">
                    <a:lumMod val="50000"/>
                  </a:schemeClr>
                </a:solidFill>
              </a:rPr>
              <a:t>基本思路</a:t>
            </a:r>
            <a:endParaRPr lang="en-US" altLang="zh-CN" sz="2800" b="1">
              <a:solidFill>
                <a:schemeClr val="accent2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从一个顶点开始不断搜索其相邻顶点</a:t>
            </a:r>
            <a:endParaRPr lang="en-US" altLang="zh-CN" sz="2400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</a:rPr>
              <a:t>直到没有还未搜索过的相邻顶点，这时</a:t>
            </a:r>
            <a:r>
              <a:rPr lang="zh-CN" altLang="en-US" sz="2400" b="1">
                <a:solidFill>
                  <a:srgbClr val="C00000"/>
                </a:solidFill>
              </a:rPr>
              <a:t>回溯</a:t>
            </a: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</a:rPr>
              <a:t>到上一顶点继续搜索</a:t>
            </a:r>
            <a:endParaRPr lang="zh-CN" altLang="en-US" sz="2400" b="1">
              <a:solidFill>
                <a:schemeClr val="accent6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699505" y="3090975"/>
                <a:ext cx="4085968" cy="310783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输入与输出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输入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邻接矩阵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或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邻接表</a:t>
                </a:r>
                <a:endParaRPr lang="zh-CN" altLang="en-US" sz="2000" b="1">
                  <a:solidFill>
                    <a:srgbClr val="C00000"/>
                  </a:solidFill>
                  <a:latin typeface="+mn-ea"/>
                </a:endParaRPr>
              </a:p>
              <a:p>
                <a:pPr marL="800100" lvl="1" indent="-34290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从而快速得到图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的顶点及每个顶点相邻的顶点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输出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是图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的一个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顶点序列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en-US" altLang="zh-CN" sz="2000" b="1">
                  <a:solidFill>
                    <a:srgbClr val="C00000"/>
                  </a:solidFill>
                  <a:latin typeface="+mn-ea"/>
                </a:endParaRPr>
              </a:p>
              <a:p>
                <a:pPr marL="800100" lvl="1" indent="-34290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表示先深搜索过程中图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的顶点被访问的顺序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05" y="3090975"/>
                <a:ext cx="4085968" cy="3107838"/>
              </a:xfrm>
              <a:prstGeom prst="rect">
                <a:avLst/>
              </a:prstGeom>
              <a:blipFill rotWithShape="1">
                <a:blip r:embed="rId1"/>
                <a:stretch>
                  <a:fillRect l="-9" t="-14" r="3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5302591" y="3036698"/>
                <a:ext cx="6189904" cy="321639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重要数据结构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序列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记录</a:t>
                </a:r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已经访问过且需要回溯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的顶点序列</a:t>
                </a:r>
                <a:endPara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序列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采用“</a:t>
                </a:r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后进先出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”的访问策略，也即序列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是一个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栈</a:t>
                </a:r>
                <a:r>
                  <a:rPr lang="en-US" altLang="zh-CN" sz="2000" b="1">
                    <a:solidFill>
                      <a:srgbClr val="002060"/>
                    </a:solidFill>
                    <a:latin typeface="+mn-ea"/>
                  </a:rPr>
                  <a:t>(stack)</a:t>
                </a:r>
                <a:endParaRPr lang="en-US" altLang="zh-CN" sz="2000" b="1">
                  <a:solidFill>
                    <a:srgbClr val="002060"/>
                  </a:solidFill>
                  <a:latin typeface="+mn-ea"/>
                </a:endParaRP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每次新增的顶点只能添加在序列最后面（即栈顶）</a:t>
                </a:r>
                <a:endParaRPr lang="zh-CN" altLang="en-US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每次访问首先访问栈顶的顶点</a:t>
                </a:r>
                <a:endParaRPr lang="zh-CN" altLang="en-US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删除顶点（即弹出顶点）时先删除（弹出）栈顶顶点</a:t>
                </a:r>
                <a:endParaRPr lang="zh-CN" altLang="en-US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591" y="3036698"/>
                <a:ext cx="6189904" cy="3216393"/>
              </a:xfrm>
              <a:prstGeom prst="rect">
                <a:avLst/>
              </a:prstGeom>
              <a:blipFill rotWithShape="1">
                <a:blip r:embed="rId2"/>
                <a:stretch>
                  <a:fillRect l="-6" t="-4" r="4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图的遍历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图的先深遍历举例</a:t>
            </a:r>
            <a:endParaRPr lang="zh-CN" altLang="en-US"/>
          </a:p>
        </p:txBody>
      </p:sp>
      <p:grpSp>
        <p:nvGrpSpPr>
          <p:cNvPr id="86" name="组合 85"/>
          <p:cNvGrpSpPr/>
          <p:nvPr/>
        </p:nvGrpSpPr>
        <p:grpSpPr>
          <a:xfrm>
            <a:off x="5903534" y="5884789"/>
            <a:ext cx="4273794" cy="276999"/>
            <a:chOff x="5979779" y="5343003"/>
            <a:chExt cx="4273794" cy="27699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文本框 39"/>
                <p:cNvSpPr txBox="1"/>
                <p:nvPr/>
              </p:nvSpPr>
              <p:spPr>
                <a:xfrm>
                  <a:off x="5979779" y="5343003"/>
                  <a:ext cx="3118545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t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sub>
                            </m:s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0" name="文本框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9779" y="5343003"/>
                  <a:ext cx="3118545" cy="276999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矩形 52"/>
                <p:cNvSpPr/>
                <p:nvPr/>
              </p:nvSpPr>
              <p:spPr>
                <a:xfrm>
                  <a:off x="9354737" y="5343003"/>
                  <a:ext cx="898836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oMath>
                    </m:oMathPara>
                  </a14:m>
                  <a:endParaRPr lang="zh-CN" altLang="en-US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53" name="矩形 5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4737" y="5343003"/>
                  <a:ext cx="898836" cy="276999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4" name="组合 83"/>
          <p:cNvGrpSpPr/>
          <p:nvPr/>
        </p:nvGrpSpPr>
        <p:grpSpPr>
          <a:xfrm>
            <a:off x="5903534" y="1103964"/>
            <a:ext cx="4470900" cy="276999"/>
            <a:chOff x="5979778" y="1084129"/>
            <a:chExt cx="4470900" cy="27699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矩形 40"/>
                <p:cNvSpPr/>
                <p:nvPr/>
              </p:nvSpPr>
              <p:spPr>
                <a:xfrm>
                  <a:off x="9354737" y="1084129"/>
                  <a:ext cx="1095941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1" name="矩形 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4737" y="1084129"/>
                  <a:ext cx="1095941" cy="276999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矩形 54"/>
                <p:cNvSpPr/>
                <p:nvPr/>
              </p:nvSpPr>
              <p:spPr>
                <a:xfrm>
                  <a:off x="5979778" y="1084129"/>
                  <a:ext cx="1108765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55" name="矩形 5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9778" y="1084129"/>
                  <a:ext cx="1108765" cy="276999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组合 84"/>
          <p:cNvGrpSpPr/>
          <p:nvPr/>
        </p:nvGrpSpPr>
        <p:grpSpPr>
          <a:xfrm>
            <a:off x="5903534" y="1458585"/>
            <a:ext cx="4805864" cy="281645"/>
            <a:chOff x="5979778" y="1420475"/>
            <a:chExt cx="4805864" cy="2816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矩形 41"/>
                <p:cNvSpPr/>
                <p:nvPr/>
              </p:nvSpPr>
              <p:spPr>
                <a:xfrm>
                  <a:off x="9354737" y="1425121"/>
                  <a:ext cx="1430905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2" name="矩形 4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4737" y="1425121"/>
                  <a:ext cx="1430905" cy="276999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矩形 55"/>
                <p:cNvSpPr/>
                <p:nvPr/>
              </p:nvSpPr>
              <p:spPr>
                <a:xfrm>
                  <a:off x="5979778" y="1420475"/>
                  <a:ext cx="1443729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56" name="矩形 5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9778" y="1420475"/>
                  <a:ext cx="1443729" cy="276999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5" name="组合 94"/>
          <p:cNvGrpSpPr/>
          <p:nvPr/>
        </p:nvGrpSpPr>
        <p:grpSpPr>
          <a:xfrm>
            <a:off x="5903534" y="1806227"/>
            <a:ext cx="5140826" cy="276999"/>
            <a:chOff x="5979778" y="1695761"/>
            <a:chExt cx="5140826" cy="27699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矩形 42"/>
                <p:cNvSpPr/>
                <p:nvPr/>
              </p:nvSpPr>
              <p:spPr>
                <a:xfrm>
                  <a:off x="9354736" y="1695761"/>
                  <a:ext cx="1765868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3" name="矩形 4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4736" y="1695761"/>
                  <a:ext cx="1765868" cy="276999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矩形 57"/>
                <p:cNvSpPr/>
                <p:nvPr/>
              </p:nvSpPr>
              <p:spPr>
                <a:xfrm>
                  <a:off x="5979778" y="1695761"/>
                  <a:ext cx="1778692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58" name="矩形 5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9778" y="1695761"/>
                  <a:ext cx="1778692" cy="276999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6" name="组合 95"/>
          <p:cNvGrpSpPr/>
          <p:nvPr/>
        </p:nvGrpSpPr>
        <p:grpSpPr>
          <a:xfrm>
            <a:off x="5903534" y="2142284"/>
            <a:ext cx="5475790" cy="282972"/>
            <a:chOff x="5979778" y="2031818"/>
            <a:chExt cx="5475790" cy="28297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矩形 43"/>
                <p:cNvSpPr/>
                <p:nvPr/>
              </p:nvSpPr>
              <p:spPr>
                <a:xfrm>
                  <a:off x="9354736" y="2031818"/>
                  <a:ext cx="2100832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4" name="矩形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4736" y="2031818"/>
                  <a:ext cx="2100832" cy="276999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矩形 58"/>
                <p:cNvSpPr/>
                <p:nvPr/>
              </p:nvSpPr>
              <p:spPr>
                <a:xfrm>
                  <a:off x="5979778" y="2037791"/>
                  <a:ext cx="2113656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59" name="矩形 5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9778" y="2037791"/>
                  <a:ext cx="2113656" cy="276999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7" name="组合 96"/>
          <p:cNvGrpSpPr/>
          <p:nvPr/>
        </p:nvGrpSpPr>
        <p:grpSpPr>
          <a:xfrm>
            <a:off x="5903534" y="2498632"/>
            <a:ext cx="5140826" cy="276999"/>
            <a:chOff x="5979778" y="2388166"/>
            <a:chExt cx="5140826" cy="27699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矩形 44"/>
                <p:cNvSpPr/>
                <p:nvPr/>
              </p:nvSpPr>
              <p:spPr>
                <a:xfrm>
                  <a:off x="9354736" y="2388166"/>
                  <a:ext cx="1765868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5" name="矩形 4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4736" y="2388166"/>
                  <a:ext cx="1765868" cy="276999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矩形 59"/>
                <p:cNvSpPr/>
                <p:nvPr/>
              </p:nvSpPr>
              <p:spPr>
                <a:xfrm>
                  <a:off x="5979778" y="2388166"/>
                  <a:ext cx="2113656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0" name="矩形 5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9778" y="2388166"/>
                  <a:ext cx="2113656" cy="276999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组合 93"/>
          <p:cNvGrpSpPr/>
          <p:nvPr/>
        </p:nvGrpSpPr>
        <p:grpSpPr>
          <a:xfrm>
            <a:off x="5903534" y="2873347"/>
            <a:ext cx="4805864" cy="276999"/>
            <a:chOff x="5979778" y="2762881"/>
            <a:chExt cx="4805864" cy="27699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矩形 45"/>
                <p:cNvSpPr/>
                <p:nvPr/>
              </p:nvSpPr>
              <p:spPr>
                <a:xfrm>
                  <a:off x="9354737" y="2762881"/>
                  <a:ext cx="1430905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6" name="矩形 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4737" y="2762881"/>
                  <a:ext cx="1430905" cy="276999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矩形 60"/>
                <p:cNvSpPr/>
                <p:nvPr/>
              </p:nvSpPr>
              <p:spPr>
                <a:xfrm>
                  <a:off x="5979778" y="2762881"/>
                  <a:ext cx="2113656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1" name="矩形 6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9778" y="2762881"/>
                  <a:ext cx="2113656" cy="276999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3" name="组合 92"/>
          <p:cNvGrpSpPr/>
          <p:nvPr/>
        </p:nvGrpSpPr>
        <p:grpSpPr>
          <a:xfrm>
            <a:off x="5903534" y="3237352"/>
            <a:ext cx="5140826" cy="277851"/>
            <a:chOff x="5979778" y="3046074"/>
            <a:chExt cx="5140826" cy="27785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矩形 46"/>
                <p:cNvSpPr/>
                <p:nvPr/>
              </p:nvSpPr>
              <p:spPr>
                <a:xfrm>
                  <a:off x="9354736" y="3046074"/>
                  <a:ext cx="1765868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4736" y="3046074"/>
                  <a:ext cx="1765868" cy="276999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矩形 61"/>
                <p:cNvSpPr/>
                <p:nvPr/>
              </p:nvSpPr>
              <p:spPr>
                <a:xfrm>
                  <a:off x="5979778" y="3046926"/>
                  <a:ext cx="2448619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2" name="矩形 6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9778" y="3046926"/>
                  <a:ext cx="2448619" cy="276999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2" name="组合 91"/>
          <p:cNvGrpSpPr/>
          <p:nvPr/>
        </p:nvGrpSpPr>
        <p:grpSpPr>
          <a:xfrm>
            <a:off x="5903534" y="3608841"/>
            <a:ext cx="5475790" cy="281456"/>
            <a:chOff x="5979778" y="3417563"/>
            <a:chExt cx="5475790" cy="28145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矩形 47"/>
                <p:cNvSpPr/>
                <p:nvPr/>
              </p:nvSpPr>
              <p:spPr>
                <a:xfrm>
                  <a:off x="9354736" y="3417563"/>
                  <a:ext cx="2100832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8" name="矩形 4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4736" y="3417563"/>
                  <a:ext cx="2100832" cy="276999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矩形 62"/>
                <p:cNvSpPr/>
                <p:nvPr/>
              </p:nvSpPr>
              <p:spPr>
                <a:xfrm>
                  <a:off x="5979778" y="3422020"/>
                  <a:ext cx="2783583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3" name="矩形 6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9778" y="3422020"/>
                  <a:ext cx="2783583" cy="276999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1" name="组合 90"/>
          <p:cNvGrpSpPr/>
          <p:nvPr/>
        </p:nvGrpSpPr>
        <p:grpSpPr>
          <a:xfrm>
            <a:off x="5893551" y="3967919"/>
            <a:ext cx="5820736" cy="282927"/>
            <a:chOff x="5969795" y="3776641"/>
            <a:chExt cx="5820736" cy="28292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矩形 53"/>
                <p:cNvSpPr/>
                <p:nvPr/>
              </p:nvSpPr>
              <p:spPr>
                <a:xfrm>
                  <a:off x="9354736" y="3782569"/>
                  <a:ext cx="2435795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54" name="矩形 5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4736" y="3782569"/>
                  <a:ext cx="2435795" cy="276999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矩形 63"/>
                <p:cNvSpPr/>
                <p:nvPr/>
              </p:nvSpPr>
              <p:spPr>
                <a:xfrm>
                  <a:off x="5969795" y="3776641"/>
                  <a:ext cx="3118546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4" name="矩形 6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9795" y="3776641"/>
                  <a:ext cx="3118546" cy="276999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" name="组合 89"/>
          <p:cNvGrpSpPr/>
          <p:nvPr/>
        </p:nvGrpSpPr>
        <p:grpSpPr>
          <a:xfrm>
            <a:off x="5893551" y="4338853"/>
            <a:ext cx="5485773" cy="281808"/>
            <a:chOff x="5969795" y="4147575"/>
            <a:chExt cx="5485773" cy="28180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矩形 48"/>
                <p:cNvSpPr/>
                <p:nvPr/>
              </p:nvSpPr>
              <p:spPr>
                <a:xfrm>
                  <a:off x="9354736" y="4147575"/>
                  <a:ext cx="2100832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9" name="矩形 4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4736" y="4147575"/>
                  <a:ext cx="2100832" cy="276999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矩形 64"/>
                <p:cNvSpPr/>
                <p:nvPr/>
              </p:nvSpPr>
              <p:spPr>
                <a:xfrm>
                  <a:off x="5969795" y="4152384"/>
                  <a:ext cx="3118546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5" name="矩形 6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9795" y="4152384"/>
                  <a:ext cx="3118546" cy="276999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9" name="组合 88"/>
          <p:cNvGrpSpPr/>
          <p:nvPr/>
        </p:nvGrpSpPr>
        <p:grpSpPr>
          <a:xfrm>
            <a:off x="5893551" y="4721659"/>
            <a:ext cx="5150809" cy="288107"/>
            <a:chOff x="5969795" y="4530381"/>
            <a:chExt cx="5150809" cy="28810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矩形 49"/>
                <p:cNvSpPr/>
                <p:nvPr/>
              </p:nvSpPr>
              <p:spPr>
                <a:xfrm>
                  <a:off x="9354736" y="4530381"/>
                  <a:ext cx="1765868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50" name="矩形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4736" y="4530381"/>
                  <a:ext cx="1765868" cy="276999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矩形 65"/>
                <p:cNvSpPr/>
                <p:nvPr/>
              </p:nvSpPr>
              <p:spPr>
                <a:xfrm>
                  <a:off x="5969795" y="4541489"/>
                  <a:ext cx="3118546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6" name="矩形 6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9795" y="4541489"/>
                  <a:ext cx="3118546" cy="276999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8" name="组合 87"/>
          <p:cNvGrpSpPr/>
          <p:nvPr/>
        </p:nvGrpSpPr>
        <p:grpSpPr>
          <a:xfrm>
            <a:off x="5903534" y="5108805"/>
            <a:ext cx="4805864" cy="279326"/>
            <a:chOff x="5979778" y="4917527"/>
            <a:chExt cx="4805864" cy="27932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矩形 50"/>
                <p:cNvSpPr/>
                <p:nvPr/>
              </p:nvSpPr>
              <p:spPr>
                <a:xfrm>
                  <a:off x="9354737" y="4917527"/>
                  <a:ext cx="1430905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51" name="矩形 5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4737" y="4917527"/>
                  <a:ext cx="1430905" cy="276999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" name="矩形 66"/>
                <p:cNvSpPr/>
                <p:nvPr/>
              </p:nvSpPr>
              <p:spPr>
                <a:xfrm>
                  <a:off x="5979778" y="4919854"/>
                  <a:ext cx="3118546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7" name="矩形 6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9778" y="4919854"/>
                  <a:ext cx="3118546" cy="276999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7" name="组合 86"/>
          <p:cNvGrpSpPr/>
          <p:nvPr/>
        </p:nvGrpSpPr>
        <p:grpSpPr>
          <a:xfrm>
            <a:off x="5893551" y="5501477"/>
            <a:ext cx="4480883" cy="276999"/>
            <a:chOff x="5969795" y="5310199"/>
            <a:chExt cx="4480883" cy="27699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矩形 51"/>
                <p:cNvSpPr/>
                <p:nvPr/>
              </p:nvSpPr>
              <p:spPr>
                <a:xfrm>
                  <a:off x="9354737" y="5310199"/>
                  <a:ext cx="1095941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52" name="矩形 5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4737" y="5310199"/>
                  <a:ext cx="1095941" cy="276999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矩形 67"/>
                <p:cNvSpPr/>
                <p:nvPr/>
              </p:nvSpPr>
              <p:spPr>
                <a:xfrm>
                  <a:off x="5969795" y="5310199"/>
                  <a:ext cx="3118546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8" name="矩形 6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9795" y="5310199"/>
                  <a:ext cx="3118546" cy="276999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椭圆 109"/>
              <p:cNvSpPr/>
              <p:nvPr/>
            </p:nvSpPr>
            <p:spPr>
              <a:xfrm>
                <a:off x="1744268" y="3987352"/>
                <a:ext cx="322343" cy="322342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10" name="椭圆 10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268" y="3987352"/>
                <a:ext cx="322343" cy="322342"/>
              </a:xfrm>
              <a:prstGeom prst="ellipse">
                <a:avLst/>
              </a:prstGeom>
              <a:blipFill rotWithShape="1">
                <a:blip r:embed="rId17"/>
                <a:stretch>
                  <a:fillRect l="-2143" t="-2028" r="-1870" b="-1789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椭圆 103"/>
              <p:cNvSpPr/>
              <p:nvPr/>
            </p:nvSpPr>
            <p:spPr>
              <a:xfrm>
                <a:off x="1745533" y="3985373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04" name="椭圆 10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533" y="3985373"/>
                <a:ext cx="322343" cy="322342"/>
              </a:xfrm>
              <a:prstGeom prst="ellipse">
                <a:avLst/>
              </a:prstGeom>
              <a:blipFill rotWithShape="1">
                <a:blip r:embed="rId18"/>
                <a:stretch>
                  <a:fillRect l="-2142" t="-2005" r="-1872" b="-1812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组合 68"/>
          <p:cNvGrpSpPr/>
          <p:nvPr/>
        </p:nvGrpSpPr>
        <p:grpSpPr>
          <a:xfrm>
            <a:off x="909847" y="1235767"/>
            <a:ext cx="2925204" cy="3079727"/>
            <a:chOff x="809145" y="1694548"/>
            <a:chExt cx="2925204" cy="307972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椭圆 69"/>
                <p:cNvSpPr/>
                <p:nvPr/>
              </p:nvSpPr>
              <p:spPr>
                <a:xfrm>
                  <a:off x="809145" y="3392409"/>
                  <a:ext cx="322343" cy="322342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sSub>
                          <m:sSubPr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1600" b="1">
                    <a:solidFill>
                      <a:srgbClr val="002060"/>
                    </a:solidFill>
                  </a:endParaRPr>
                </a:p>
              </p:txBody>
            </p:sp>
          </mc:Choice>
          <mc:Fallback>
            <p:sp>
              <p:nvSpPr>
                <p:cNvPr id="70" name="椭圆 6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145" y="3392409"/>
                  <a:ext cx="322343" cy="322342"/>
                </a:xfrm>
                <a:prstGeom prst="ellipse">
                  <a:avLst/>
                </a:prstGeom>
                <a:blipFill rotWithShape="1">
                  <a:blip r:embed="rId19"/>
                </a:blip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椭圆 70"/>
                <p:cNvSpPr/>
                <p:nvPr/>
              </p:nvSpPr>
              <p:spPr>
                <a:xfrm>
                  <a:off x="1643567" y="2544077"/>
                  <a:ext cx="322343" cy="322342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sSub>
                          <m:sSubPr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1600" b="1">
                    <a:solidFill>
                      <a:srgbClr val="002060"/>
                    </a:solidFill>
                  </a:endParaRPr>
                </a:p>
              </p:txBody>
            </p:sp>
          </mc:Choice>
          <mc:Fallback>
            <p:sp>
              <p:nvSpPr>
                <p:cNvPr id="71" name="椭圆 7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3567" y="2544077"/>
                  <a:ext cx="322343" cy="322342"/>
                </a:xfrm>
                <a:prstGeom prst="ellipse">
                  <a:avLst/>
                </a:prstGeom>
                <a:blipFill rotWithShape="1">
                  <a:blip r:embed="rId20"/>
                </a:blip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椭圆 72"/>
                <p:cNvSpPr/>
                <p:nvPr/>
              </p:nvSpPr>
              <p:spPr>
                <a:xfrm>
                  <a:off x="2496509" y="1694548"/>
                  <a:ext cx="322343" cy="322342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sSub>
                          <m:sSubPr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zh-CN" altLang="en-US" sz="1600" b="1">
                    <a:solidFill>
                      <a:srgbClr val="002060"/>
                    </a:solidFill>
                  </a:endParaRPr>
                </a:p>
              </p:txBody>
            </p:sp>
          </mc:Choice>
          <mc:Fallback>
            <p:sp>
              <p:nvSpPr>
                <p:cNvPr id="73" name="椭圆 7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6509" y="1694548"/>
                  <a:ext cx="322343" cy="322342"/>
                </a:xfrm>
                <a:prstGeom prst="ellipse">
                  <a:avLst/>
                </a:prstGeom>
                <a:blipFill rotWithShape="1">
                  <a:blip r:embed="rId21"/>
                </a:blip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椭圆 73"/>
                <p:cNvSpPr/>
                <p:nvPr/>
              </p:nvSpPr>
              <p:spPr>
                <a:xfrm>
                  <a:off x="3412006" y="2524219"/>
                  <a:ext cx="322343" cy="322342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sSub>
                          <m:sSubPr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zh-CN" altLang="en-US" sz="1600" b="1">
                    <a:solidFill>
                      <a:srgbClr val="002060"/>
                    </a:solidFill>
                  </a:endParaRPr>
                </a:p>
              </p:txBody>
            </p:sp>
          </mc:Choice>
          <mc:Fallback>
            <p:sp>
              <p:nvSpPr>
                <p:cNvPr id="74" name="椭圆 7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2006" y="2524219"/>
                  <a:ext cx="322343" cy="322342"/>
                </a:xfrm>
                <a:prstGeom prst="ellipse">
                  <a:avLst/>
                </a:prstGeom>
                <a:blipFill rotWithShape="1">
                  <a:blip r:embed="rId22"/>
                </a:blip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" name="椭圆 74"/>
                <p:cNvSpPr/>
                <p:nvPr/>
              </p:nvSpPr>
              <p:spPr>
                <a:xfrm>
                  <a:off x="3412005" y="3716396"/>
                  <a:ext cx="322343" cy="322342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sSub>
                          <m:sSubPr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zh-CN" altLang="en-US" sz="1600" b="1">
                    <a:solidFill>
                      <a:srgbClr val="002060"/>
                    </a:solidFill>
                  </a:endParaRPr>
                </a:p>
              </p:txBody>
            </p:sp>
          </mc:Choice>
          <mc:Fallback>
            <p:sp>
              <p:nvSpPr>
                <p:cNvPr id="75" name="椭圆 7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2005" y="3716396"/>
                  <a:ext cx="322343" cy="322342"/>
                </a:xfrm>
                <a:prstGeom prst="ellipse">
                  <a:avLst/>
                </a:prstGeom>
                <a:blipFill rotWithShape="1">
                  <a:blip r:embed="rId23"/>
                </a:blip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椭圆 75"/>
                <p:cNvSpPr/>
                <p:nvPr/>
              </p:nvSpPr>
              <p:spPr>
                <a:xfrm>
                  <a:off x="2496509" y="4451933"/>
                  <a:ext cx="322343" cy="322342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sSub>
                          <m:sSubPr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zh-CN" altLang="en-US" sz="1600" b="1">
                    <a:solidFill>
                      <a:srgbClr val="002060"/>
                    </a:solidFill>
                  </a:endParaRPr>
                </a:p>
              </p:txBody>
            </p:sp>
          </mc:Choice>
          <mc:Fallback>
            <p:sp>
              <p:nvSpPr>
                <p:cNvPr id="76" name="椭圆 7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6509" y="4451933"/>
                  <a:ext cx="322343" cy="322342"/>
                </a:xfrm>
                <a:prstGeom prst="ellipse">
                  <a:avLst/>
                </a:prstGeom>
                <a:blipFill rotWithShape="1">
                  <a:blip r:embed="rId24"/>
                </a:blip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" name="直接连接符 76"/>
            <p:cNvCxnSpPr>
              <a:stCxn id="70" idx="7"/>
              <a:endCxn id="71" idx="3"/>
            </p:cNvCxnSpPr>
            <p:nvPr/>
          </p:nvCxnSpPr>
          <p:spPr>
            <a:xfrm flipV="1">
              <a:off x="1084282" y="2819213"/>
              <a:ext cx="606491" cy="6204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>
              <a:stCxn id="71" idx="7"/>
              <a:endCxn id="73" idx="3"/>
            </p:cNvCxnSpPr>
            <p:nvPr/>
          </p:nvCxnSpPr>
          <p:spPr>
            <a:xfrm flipV="1">
              <a:off x="1918704" y="1969684"/>
              <a:ext cx="625011" cy="62159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>
              <a:stCxn id="73" idx="5"/>
              <a:endCxn id="74" idx="1"/>
            </p:cNvCxnSpPr>
            <p:nvPr/>
          </p:nvCxnSpPr>
          <p:spPr>
            <a:xfrm>
              <a:off x="2771646" y="1969684"/>
              <a:ext cx="687566" cy="6017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>
              <a:stCxn id="74" idx="4"/>
              <a:endCxn id="75" idx="0"/>
            </p:cNvCxnSpPr>
            <p:nvPr/>
          </p:nvCxnSpPr>
          <p:spPr>
            <a:xfrm flipH="1">
              <a:off x="3573177" y="2846561"/>
              <a:ext cx="1" cy="8698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>
              <a:stCxn id="70" idx="5"/>
            </p:cNvCxnSpPr>
            <p:nvPr/>
          </p:nvCxnSpPr>
          <p:spPr>
            <a:xfrm>
              <a:off x="1084282" y="3667545"/>
              <a:ext cx="606491" cy="83159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>
              <a:endCxn id="76" idx="2"/>
            </p:cNvCxnSpPr>
            <p:nvPr/>
          </p:nvCxnSpPr>
          <p:spPr>
            <a:xfrm>
              <a:off x="1965910" y="4613104"/>
              <a:ext cx="53059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>
              <a:stCxn id="71" idx="4"/>
            </p:cNvCxnSpPr>
            <p:nvPr/>
          </p:nvCxnSpPr>
          <p:spPr>
            <a:xfrm>
              <a:off x="1804739" y="2866419"/>
              <a:ext cx="0" cy="15855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椭圆 97"/>
              <p:cNvSpPr/>
              <p:nvPr/>
            </p:nvSpPr>
            <p:spPr>
              <a:xfrm>
                <a:off x="909847" y="2932268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98" name="椭圆 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847" y="2932268"/>
                <a:ext cx="322343" cy="322342"/>
              </a:xfrm>
              <a:prstGeom prst="ellipse">
                <a:avLst/>
              </a:prstGeom>
              <a:blipFill rotWithShape="1">
                <a:blip r:embed="rId25"/>
                <a:stretch>
                  <a:fillRect l="-2133" t="-2117" r="-1880" b="-1897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直接连接符 99"/>
          <p:cNvCxnSpPr>
            <a:stCxn id="98" idx="7"/>
            <a:endCxn id="71" idx="3"/>
          </p:cNvCxnSpPr>
          <p:nvPr/>
        </p:nvCxnSpPr>
        <p:spPr>
          <a:xfrm flipV="1">
            <a:off x="1184984" y="2360432"/>
            <a:ext cx="606491" cy="61904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椭圆 100"/>
              <p:cNvSpPr/>
              <p:nvPr/>
            </p:nvSpPr>
            <p:spPr>
              <a:xfrm>
                <a:off x="1742106" y="2083690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01" name="椭圆 10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2106" y="2083690"/>
                <a:ext cx="322343" cy="322342"/>
              </a:xfrm>
              <a:prstGeom prst="ellipse">
                <a:avLst/>
              </a:prstGeom>
              <a:blipFill rotWithShape="1">
                <a:blip r:embed="rId26"/>
                <a:stretch>
                  <a:fillRect l="-2063" t="-2049" r="-1950" b="-1965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直接连接符 102"/>
          <p:cNvCxnSpPr>
            <a:stCxn id="101" idx="4"/>
          </p:cNvCxnSpPr>
          <p:nvPr/>
        </p:nvCxnSpPr>
        <p:spPr>
          <a:xfrm>
            <a:off x="1903278" y="2406032"/>
            <a:ext cx="0" cy="158551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椭圆 110"/>
              <p:cNvSpPr/>
              <p:nvPr/>
            </p:nvSpPr>
            <p:spPr>
              <a:xfrm>
                <a:off x="2600257" y="3990338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11" name="椭圆 1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0257" y="3990338"/>
                <a:ext cx="322343" cy="322342"/>
              </a:xfrm>
              <a:prstGeom prst="ellipse">
                <a:avLst/>
              </a:prstGeom>
              <a:blipFill rotWithShape="1">
                <a:blip r:embed="rId27"/>
                <a:stretch>
                  <a:fillRect l="-2146" t="-2166" r="-1868" b="-1847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直接连接符 112"/>
          <p:cNvCxnSpPr>
            <a:stCxn id="104" idx="6"/>
            <a:endCxn id="111" idx="2"/>
          </p:cNvCxnSpPr>
          <p:nvPr/>
        </p:nvCxnSpPr>
        <p:spPr>
          <a:xfrm>
            <a:off x="2067876" y="4146544"/>
            <a:ext cx="532381" cy="496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任意多边形: 形状 114"/>
          <p:cNvSpPr/>
          <p:nvPr/>
        </p:nvSpPr>
        <p:spPr>
          <a:xfrm>
            <a:off x="2026015" y="3948136"/>
            <a:ext cx="611793" cy="82990"/>
          </a:xfrm>
          <a:custGeom>
            <a:avLst/>
            <a:gdLst>
              <a:gd name="connsiteX0" fmla="*/ 611793 w 611793"/>
              <a:gd name="connsiteY0" fmla="*/ 66156 h 92470"/>
              <a:gd name="connsiteX1" fmla="*/ 296029 w 611793"/>
              <a:gd name="connsiteY1" fmla="*/ 372 h 92470"/>
              <a:gd name="connsiteX2" fmla="*/ 0 w 611793"/>
              <a:gd name="connsiteY2" fmla="*/ 92470 h 92470"/>
              <a:gd name="connsiteX3" fmla="*/ 0 w 611793"/>
              <a:gd name="connsiteY3" fmla="*/ 92470 h 92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793" h="92470">
                <a:moveTo>
                  <a:pt x="611793" y="66156"/>
                </a:moveTo>
                <a:cubicBezTo>
                  <a:pt x="504893" y="31071"/>
                  <a:pt x="397994" y="-4014"/>
                  <a:pt x="296029" y="372"/>
                </a:cubicBezTo>
                <a:cubicBezTo>
                  <a:pt x="194064" y="4758"/>
                  <a:pt x="0" y="92470"/>
                  <a:pt x="0" y="92470"/>
                </a:cubicBezTo>
                <a:lnTo>
                  <a:pt x="0" y="92470"/>
                </a:lnTo>
              </a:path>
            </a:pathLst>
          </a:custGeom>
          <a:noFill/>
          <a:ln>
            <a:solidFill>
              <a:schemeClr val="accent4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椭圆 115"/>
              <p:cNvSpPr/>
              <p:nvPr/>
            </p:nvSpPr>
            <p:spPr>
              <a:xfrm>
                <a:off x="2600257" y="3994991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16" name="椭圆 1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0257" y="3994991"/>
                <a:ext cx="322343" cy="322342"/>
              </a:xfrm>
              <a:prstGeom prst="ellipse">
                <a:avLst/>
              </a:prstGeom>
              <a:blipFill rotWithShape="1">
                <a:blip r:embed="rId28"/>
                <a:stretch>
                  <a:fillRect l="-2146" t="-2034" r="-1868" b="-1783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任意多边形: 形状 116"/>
          <p:cNvSpPr/>
          <p:nvPr/>
        </p:nvSpPr>
        <p:spPr>
          <a:xfrm>
            <a:off x="1986681" y="2386569"/>
            <a:ext cx="171140" cy="1611712"/>
          </a:xfrm>
          <a:custGeom>
            <a:avLst/>
            <a:gdLst>
              <a:gd name="connsiteX0" fmla="*/ 0 w 171140"/>
              <a:gd name="connsiteY0" fmla="*/ 1611712 h 1611712"/>
              <a:gd name="connsiteX1" fmla="*/ 171039 w 171140"/>
              <a:gd name="connsiteY1" fmla="*/ 730204 h 1611712"/>
              <a:gd name="connsiteX2" fmla="*/ 19736 w 171140"/>
              <a:gd name="connsiteY2" fmla="*/ 0 h 1611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140" h="1611712">
                <a:moveTo>
                  <a:pt x="0" y="1611712"/>
                </a:moveTo>
                <a:cubicBezTo>
                  <a:pt x="83875" y="1305267"/>
                  <a:pt x="167750" y="998823"/>
                  <a:pt x="171039" y="730204"/>
                </a:cubicBezTo>
                <a:cubicBezTo>
                  <a:pt x="174328" y="461585"/>
                  <a:pt x="97032" y="230792"/>
                  <a:pt x="19736" y="0"/>
                </a:cubicBezTo>
              </a:path>
            </a:pathLst>
          </a:custGeom>
          <a:noFill/>
          <a:ln>
            <a:solidFill>
              <a:schemeClr val="accent4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椭圆 117"/>
              <p:cNvSpPr/>
              <p:nvPr/>
            </p:nvSpPr>
            <p:spPr>
              <a:xfrm>
                <a:off x="1744267" y="3986583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18" name="椭圆 1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267" y="3986583"/>
                <a:ext cx="322343" cy="322342"/>
              </a:xfrm>
              <a:prstGeom prst="ellipse">
                <a:avLst/>
              </a:prstGeom>
              <a:blipFill rotWithShape="1">
                <a:blip r:embed="rId29"/>
                <a:stretch>
                  <a:fillRect l="-2143" t="-1986" r="-1871" b="-1830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椭圆 118"/>
              <p:cNvSpPr/>
              <p:nvPr/>
            </p:nvSpPr>
            <p:spPr>
              <a:xfrm>
                <a:off x="2601131" y="1235925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19" name="椭圆 1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1131" y="1235925"/>
                <a:ext cx="322343" cy="322342"/>
              </a:xfrm>
              <a:prstGeom prst="ellipse">
                <a:avLst/>
              </a:prstGeom>
              <a:blipFill rotWithShape="1">
                <a:blip r:embed="rId30"/>
                <a:stretch>
                  <a:fillRect l="-2023" t="-2037" r="-1793" b="-1780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1" name="直接连接符 120"/>
          <p:cNvCxnSpPr>
            <a:stCxn id="101" idx="7"/>
            <a:endCxn id="119" idx="3"/>
          </p:cNvCxnSpPr>
          <p:nvPr/>
        </p:nvCxnSpPr>
        <p:spPr>
          <a:xfrm flipV="1">
            <a:off x="2017243" y="1511061"/>
            <a:ext cx="631094" cy="61983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2" name="椭圆 121"/>
              <p:cNvSpPr/>
              <p:nvPr/>
            </p:nvSpPr>
            <p:spPr>
              <a:xfrm>
                <a:off x="3512706" y="2064912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22" name="椭圆 1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2706" y="2064912"/>
                <a:ext cx="322343" cy="322342"/>
              </a:xfrm>
              <a:prstGeom prst="ellipse">
                <a:avLst/>
              </a:prstGeom>
              <a:blipFill rotWithShape="1">
                <a:blip r:embed="rId31"/>
                <a:stretch>
                  <a:fillRect l="-2132" t="-2133" r="-1882" b="-1880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直接连接符 123"/>
          <p:cNvCxnSpPr>
            <a:stCxn id="101" idx="5"/>
            <a:endCxn id="75" idx="2"/>
          </p:cNvCxnSpPr>
          <p:nvPr/>
        </p:nvCxnSpPr>
        <p:spPr>
          <a:xfrm>
            <a:off x="2017243" y="2358826"/>
            <a:ext cx="1495464" cy="1059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/>
          <p:cNvCxnSpPr>
            <a:stCxn id="119" idx="5"/>
            <a:endCxn id="122" idx="1"/>
          </p:cNvCxnSpPr>
          <p:nvPr/>
        </p:nvCxnSpPr>
        <p:spPr>
          <a:xfrm>
            <a:off x="2876268" y="1511061"/>
            <a:ext cx="683644" cy="601057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椭圆 127"/>
              <p:cNvSpPr/>
              <p:nvPr/>
            </p:nvSpPr>
            <p:spPr>
              <a:xfrm>
                <a:off x="3509455" y="3253054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28" name="椭圆 1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9455" y="3253054"/>
                <a:ext cx="322343" cy="322342"/>
              </a:xfrm>
              <a:prstGeom prst="ellipse">
                <a:avLst/>
              </a:prstGeom>
              <a:blipFill rotWithShape="1">
                <a:blip r:embed="rId32"/>
                <a:stretch>
                  <a:fillRect l="-2108" t="-2151" r="-1905" b="-1863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2" name="直接连接符 131"/>
          <p:cNvCxnSpPr/>
          <p:nvPr/>
        </p:nvCxnSpPr>
        <p:spPr>
          <a:xfrm flipH="1">
            <a:off x="3675148" y="2387780"/>
            <a:ext cx="1" cy="86983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椭圆 132"/>
              <p:cNvSpPr/>
              <p:nvPr/>
            </p:nvSpPr>
            <p:spPr>
              <a:xfrm>
                <a:off x="3512706" y="3253054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33" name="椭圆 1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2706" y="3253054"/>
                <a:ext cx="322343" cy="322342"/>
              </a:xfrm>
              <a:prstGeom prst="ellipse">
                <a:avLst/>
              </a:prstGeom>
              <a:blipFill rotWithShape="1">
                <a:blip r:embed="rId33"/>
                <a:stretch>
                  <a:fillRect l="-2132" t="-2151" r="-1882" b="-1863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任意多边形: 形状 133"/>
          <p:cNvSpPr/>
          <p:nvPr/>
        </p:nvSpPr>
        <p:spPr>
          <a:xfrm>
            <a:off x="3769432" y="2360255"/>
            <a:ext cx="112129" cy="934136"/>
          </a:xfrm>
          <a:custGeom>
            <a:avLst/>
            <a:gdLst>
              <a:gd name="connsiteX0" fmla="*/ 26314 w 112129"/>
              <a:gd name="connsiteY0" fmla="*/ 934136 h 934136"/>
              <a:gd name="connsiteX1" fmla="*/ 111833 w 112129"/>
              <a:gd name="connsiteY1" fmla="*/ 480225 h 934136"/>
              <a:gd name="connsiteX2" fmla="*/ 0 w 112129"/>
              <a:gd name="connsiteY2" fmla="*/ 0 h 934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129" h="934136">
                <a:moveTo>
                  <a:pt x="26314" y="934136"/>
                </a:moveTo>
                <a:cubicBezTo>
                  <a:pt x="71266" y="785025"/>
                  <a:pt x="116219" y="635914"/>
                  <a:pt x="111833" y="480225"/>
                </a:cubicBezTo>
                <a:cubicBezTo>
                  <a:pt x="107447" y="324536"/>
                  <a:pt x="53723" y="162268"/>
                  <a:pt x="0" y="0"/>
                </a:cubicBezTo>
              </a:path>
            </a:pathLst>
          </a:custGeom>
          <a:noFill/>
          <a:ln>
            <a:solidFill>
              <a:schemeClr val="accent4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椭圆 135"/>
              <p:cNvSpPr/>
              <p:nvPr/>
            </p:nvSpPr>
            <p:spPr>
              <a:xfrm>
                <a:off x="2600257" y="1239938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36" name="椭圆 1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0257" y="1239938"/>
                <a:ext cx="322343" cy="322342"/>
              </a:xfrm>
              <a:prstGeom prst="ellipse">
                <a:avLst/>
              </a:prstGeom>
              <a:blipFill rotWithShape="1">
                <a:blip r:embed="rId34"/>
                <a:stretch>
                  <a:fillRect l="-2146" t="-2100" r="-1868" b="-1914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任意多边形: 形状 136"/>
          <p:cNvSpPr/>
          <p:nvPr/>
        </p:nvSpPr>
        <p:spPr>
          <a:xfrm>
            <a:off x="2914238" y="1465591"/>
            <a:ext cx="743361" cy="598635"/>
          </a:xfrm>
          <a:custGeom>
            <a:avLst/>
            <a:gdLst>
              <a:gd name="connsiteX0" fmla="*/ 743361 w 743361"/>
              <a:gd name="connsiteY0" fmla="*/ 598635 h 598635"/>
              <a:gd name="connsiteX1" fmla="*/ 493381 w 743361"/>
              <a:gd name="connsiteY1" fmla="*/ 230244 h 598635"/>
              <a:gd name="connsiteX2" fmla="*/ 0 w 743361"/>
              <a:gd name="connsiteY2" fmla="*/ 0 h 598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3361" h="598635">
                <a:moveTo>
                  <a:pt x="743361" y="598635"/>
                </a:moveTo>
                <a:cubicBezTo>
                  <a:pt x="680317" y="464325"/>
                  <a:pt x="617274" y="330016"/>
                  <a:pt x="493381" y="230244"/>
                </a:cubicBezTo>
                <a:cubicBezTo>
                  <a:pt x="369488" y="130472"/>
                  <a:pt x="184744" y="65236"/>
                  <a:pt x="0" y="0"/>
                </a:cubicBezTo>
              </a:path>
            </a:pathLst>
          </a:custGeom>
          <a:noFill/>
          <a:ln>
            <a:solidFill>
              <a:schemeClr val="accent4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椭圆 141"/>
              <p:cNvSpPr/>
              <p:nvPr/>
            </p:nvSpPr>
            <p:spPr>
              <a:xfrm>
                <a:off x="3510543" y="2063292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42" name="椭圆 1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543" y="2063292"/>
                <a:ext cx="322343" cy="322342"/>
              </a:xfrm>
              <a:prstGeom prst="ellipse">
                <a:avLst/>
              </a:prstGeom>
              <a:blipFill rotWithShape="1">
                <a:blip r:embed="rId35"/>
                <a:stretch>
                  <a:fillRect l="-2052" t="-2025" r="-1962" b="-1792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任意多边形: 形状 142"/>
          <p:cNvSpPr/>
          <p:nvPr/>
        </p:nvSpPr>
        <p:spPr>
          <a:xfrm>
            <a:off x="1947211" y="1412963"/>
            <a:ext cx="638106" cy="677577"/>
          </a:xfrm>
          <a:custGeom>
            <a:avLst/>
            <a:gdLst>
              <a:gd name="connsiteX0" fmla="*/ 638106 w 638106"/>
              <a:gd name="connsiteY0" fmla="*/ 0 h 677577"/>
              <a:gd name="connsiteX1" fmla="*/ 177617 w 638106"/>
              <a:gd name="connsiteY1" fmla="*/ 309186 h 677577"/>
              <a:gd name="connsiteX2" fmla="*/ 0 w 638106"/>
              <a:gd name="connsiteY2" fmla="*/ 677577 h 677577"/>
              <a:gd name="connsiteX3" fmla="*/ 0 w 638106"/>
              <a:gd name="connsiteY3" fmla="*/ 677577 h 677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8106" h="677577">
                <a:moveTo>
                  <a:pt x="638106" y="0"/>
                </a:moveTo>
                <a:cubicBezTo>
                  <a:pt x="461037" y="98128"/>
                  <a:pt x="283968" y="196257"/>
                  <a:pt x="177617" y="309186"/>
                </a:cubicBezTo>
                <a:cubicBezTo>
                  <a:pt x="71266" y="422115"/>
                  <a:pt x="0" y="677577"/>
                  <a:pt x="0" y="677577"/>
                </a:cubicBezTo>
                <a:lnTo>
                  <a:pt x="0" y="677577"/>
                </a:lnTo>
              </a:path>
            </a:pathLst>
          </a:custGeom>
          <a:noFill/>
          <a:ln>
            <a:solidFill>
              <a:schemeClr val="accent4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任意多边形: 形状 143"/>
          <p:cNvSpPr/>
          <p:nvPr/>
        </p:nvSpPr>
        <p:spPr>
          <a:xfrm>
            <a:off x="1118330" y="2261579"/>
            <a:ext cx="618371" cy="677577"/>
          </a:xfrm>
          <a:custGeom>
            <a:avLst/>
            <a:gdLst>
              <a:gd name="connsiteX0" fmla="*/ 618371 w 618371"/>
              <a:gd name="connsiteY0" fmla="*/ 0 h 677577"/>
              <a:gd name="connsiteX1" fmla="*/ 171039 w 618371"/>
              <a:gd name="connsiteY1" fmla="*/ 355235 h 677577"/>
              <a:gd name="connsiteX2" fmla="*/ 0 w 618371"/>
              <a:gd name="connsiteY2" fmla="*/ 677577 h 677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18371" h="677577">
                <a:moveTo>
                  <a:pt x="618371" y="0"/>
                </a:moveTo>
                <a:cubicBezTo>
                  <a:pt x="446236" y="121153"/>
                  <a:pt x="274101" y="242306"/>
                  <a:pt x="171039" y="355235"/>
                </a:cubicBezTo>
                <a:cubicBezTo>
                  <a:pt x="67977" y="468164"/>
                  <a:pt x="33988" y="572870"/>
                  <a:pt x="0" y="677577"/>
                </a:cubicBezTo>
              </a:path>
            </a:pathLst>
          </a:custGeom>
          <a:noFill/>
          <a:ln>
            <a:solidFill>
              <a:schemeClr val="accent4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5" name="椭圆 144"/>
              <p:cNvSpPr/>
              <p:nvPr/>
            </p:nvSpPr>
            <p:spPr>
              <a:xfrm>
                <a:off x="1745533" y="2080654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45" name="椭圆 1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533" y="2080654"/>
                <a:ext cx="322343" cy="322342"/>
              </a:xfrm>
              <a:prstGeom prst="ellipse">
                <a:avLst/>
              </a:prstGeom>
              <a:blipFill rotWithShape="1">
                <a:blip r:embed="rId36"/>
                <a:stretch>
                  <a:fillRect l="-2142" t="-2092" r="-1872" b="-1922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椭圆 145"/>
              <p:cNvSpPr/>
              <p:nvPr/>
            </p:nvSpPr>
            <p:spPr>
              <a:xfrm>
                <a:off x="903077" y="2936910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46" name="椭圆 1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77" y="2936910"/>
                <a:ext cx="322343" cy="322342"/>
              </a:xfrm>
              <a:prstGeom prst="ellipse">
                <a:avLst/>
              </a:prstGeom>
              <a:blipFill rotWithShape="1">
                <a:blip r:embed="rId37"/>
                <a:stretch>
                  <a:fillRect l="-2003" t="-1981" r="-1813" b="-1836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" name="文本框 177"/>
          <p:cNvSpPr txBox="1"/>
          <p:nvPr/>
        </p:nvSpPr>
        <p:spPr>
          <a:xfrm>
            <a:off x="4707211" y="1107044"/>
            <a:ext cx="1108765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已遍历顶点的序列</a:t>
            </a:r>
            <a:endParaRPr lang="zh-CN" altLang="en-US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79" name="文本框 178"/>
          <p:cNvSpPr txBox="1"/>
          <p:nvPr/>
        </p:nvSpPr>
        <p:spPr>
          <a:xfrm>
            <a:off x="8082170" y="1107779"/>
            <a:ext cx="110876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栈中顶点</a:t>
            </a:r>
            <a:endParaRPr lang="zh-CN" altLang="en-US" b="1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nimBg="1"/>
      <p:bldP spid="98" grpId="0" animBg="1"/>
      <p:bldP spid="101" grpId="0" animBg="1"/>
      <p:bldP spid="111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2" grpId="0" animBg="1"/>
      <p:bldP spid="128" grpId="0" animBg="1"/>
      <p:bldP spid="133" grpId="0" animBg="1"/>
      <p:bldP spid="134" grpId="0" animBg="1"/>
      <p:bldP spid="136" grpId="0" animBg="1"/>
      <p:bldP spid="137" grpId="0" animBg="1"/>
      <p:bldP spid="142" grpId="0" animBg="1"/>
      <p:bldP spid="143" grpId="0" animBg="1"/>
      <p:bldP spid="144" grpId="0" animBg="1"/>
      <p:bldP spid="145" grpId="0" animBg="1"/>
      <p:bldP spid="14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图的遍历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图的先深遍历举例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椭圆 10"/>
              <p:cNvSpPr/>
              <p:nvPr/>
            </p:nvSpPr>
            <p:spPr>
              <a:xfrm>
                <a:off x="1744268" y="3987352"/>
                <a:ext cx="322343" cy="322342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1" name="椭圆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268" y="3987352"/>
                <a:ext cx="322343" cy="322342"/>
              </a:xfrm>
              <a:prstGeom prst="ellipse">
                <a:avLst/>
              </a:prstGeom>
              <a:blipFill rotWithShape="1">
                <a:blip r:embed="rId1"/>
                <a:stretch>
                  <a:fillRect l="-2143" t="-2028" r="-1870" b="-1789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椭圆 11"/>
              <p:cNvSpPr/>
              <p:nvPr/>
            </p:nvSpPr>
            <p:spPr>
              <a:xfrm>
                <a:off x="1745533" y="3985373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2" name="椭圆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533" y="3985373"/>
                <a:ext cx="322343" cy="322342"/>
              </a:xfrm>
              <a:prstGeom prst="ellipse">
                <a:avLst/>
              </a:prstGeom>
              <a:blipFill rotWithShape="1">
                <a:blip r:embed="rId2"/>
                <a:stretch>
                  <a:fillRect l="-2142" t="-2005" r="-1872" b="-1812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/>
          <p:cNvGrpSpPr/>
          <p:nvPr/>
        </p:nvGrpSpPr>
        <p:grpSpPr>
          <a:xfrm>
            <a:off x="909847" y="1235767"/>
            <a:ext cx="2925204" cy="3079727"/>
            <a:chOff x="809145" y="1694548"/>
            <a:chExt cx="2925204" cy="307972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椭圆 13"/>
                <p:cNvSpPr/>
                <p:nvPr/>
              </p:nvSpPr>
              <p:spPr>
                <a:xfrm>
                  <a:off x="809145" y="3392409"/>
                  <a:ext cx="322343" cy="322342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sSub>
                          <m:sSubPr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1600" b="1">
                    <a:solidFill>
                      <a:srgbClr val="002060"/>
                    </a:solidFill>
                  </a:endParaRPr>
                </a:p>
              </p:txBody>
            </p:sp>
          </mc:Choice>
          <mc:Fallback>
            <p:sp>
              <p:nvSpPr>
                <p:cNvPr id="14" name="椭圆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145" y="3392409"/>
                  <a:ext cx="322343" cy="322342"/>
                </a:xfrm>
                <a:prstGeom prst="ellipse">
                  <a:avLst/>
                </a:prstGeom>
                <a:blipFill rotWithShape="1">
                  <a:blip r:embed="rId3"/>
                </a:blip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椭圆 14"/>
                <p:cNvSpPr/>
                <p:nvPr/>
              </p:nvSpPr>
              <p:spPr>
                <a:xfrm>
                  <a:off x="1643567" y="2544077"/>
                  <a:ext cx="322343" cy="322342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sSub>
                          <m:sSubPr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1600" b="1">
                    <a:solidFill>
                      <a:srgbClr val="002060"/>
                    </a:solidFill>
                  </a:endParaRPr>
                </a:p>
              </p:txBody>
            </p:sp>
          </mc:Choice>
          <mc:Fallback>
            <p:sp>
              <p:nvSpPr>
                <p:cNvPr id="15" name="椭圆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3567" y="2544077"/>
                  <a:ext cx="322343" cy="322342"/>
                </a:xfrm>
                <a:prstGeom prst="ellipse">
                  <a:avLst/>
                </a:prstGeom>
                <a:blipFill rotWithShape="1">
                  <a:blip r:embed="rId4"/>
                </a:blip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椭圆 15"/>
                <p:cNvSpPr/>
                <p:nvPr/>
              </p:nvSpPr>
              <p:spPr>
                <a:xfrm>
                  <a:off x="2496509" y="1694548"/>
                  <a:ext cx="322343" cy="322342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sSub>
                          <m:sSubPr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zh-CN" altLang="en-US" sz="1600" b="1">
                    <a:solidFill>
                      <a:srgbClr val="002060"/>
                    </a:solidFill>
                  </a:endParaRPr>
                </a:p>
              </p:txBody>
            </p:sp>
          </mc:Choice>
          <mc:Fallback>
            <p:sp>
              <p:nvSpPr>
                <p:cNvPr id="16" name="椭圆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6509" y="1694548"/>
                  <a:ext cx="322343" cy="322342"/>
                </a:xfrm>
                <a:prstGeom prst="ellipse">
                  <a:avLst/>
                </a:prstGeom>
                <a:blipFill rotWithShape="1">
                  <a:blip r:embed="rId5"/>
                </a:blip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椭圆 17"/>
                <p:cNvSpPr/>
                <p:nvPr/>
              </p:nvSpPr>
              <p:spPr>
                <a:xfrm>
                  <a:off x="3412006" y="2524219"/>
                  <a:ext cx="322343" cy="322342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sSub>
                          <m:sSubPr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zh-CN" altLang="en-US" sz="1600" b="1">
                    <a:solidFill>
                      <a:srgbClr val="002060"/>
                    </a:solidFill>
                  </a:endParaRPr>
                </a:p>
              </p:txBody>
            </p:sp>
          </mc:Choice>
          <mc:Fallback>
            <p:sp>
              <p:nvSpPr>
                <p:cNvPr id="18" name="椭圆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2006" y="2524219"/>
                  <a:ext cx="322343" cy="322342"/>
                </a:xfrm>
                <a:prstGeom prst="ellipse">
                  <a:avLst/>
                </a:prstGeom>
                <a:blipFill rotWithShape="1">
                  <a:blip r:embed="rId6"/>
                </a:blip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椭圆 18"/>
                <p:cNvSpPr/>
                <p:nvPr/>
              </p:nvSpPr>
              <p:spPr>
                <a:xfrm>
                  <a:off x="3412005" y="3716396"/>
                  <a:ext cx="322343" cy="322342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sSub>
                          <m:sSubPr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zh-CN" altLang="en-US" sz="1600" b="1">
                    <a:solidFill>
                      <a:srgbClr val="002060"/>
                    </a:solidFill>
                  </a:endParaRPr>
                </a:p>
              </p:txBody>
            </p:sp>
          </mc:Choice>
          <mc:Fallback>
            <p:sp>
              <p:nvSpPr>
                <p:cNvPr id="19" name="椭圆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2005" y="3716396"/>
                  <a:ext cx="322343" cy="322342"/>
                </a:xfrm>
                <a:prstGeom prst="ellipse">
                  <a:avLst/>
                </a:prstGeom>
                <a:blipFill rotWithShape="1">
                  <a:blip r:embed="rId7"/>
                </a:blip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椭圆 19"/>
                <p:cNvSpPr/>
                <p:nvPr/>
              </p:nvSpPr>
              <p:spPr>
                <a:xfrm>
                  <a:off x="2496509" y="4451933"/>
                  <a:ext cx="322343" cy="322342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sSub>
                          <m:sSubPr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zh-CN" altLang="en-US" sz="1600" b="1">
                    <a:solidFill>
                      <a:srgbClr val="002060"/>
                    </a:solidFill>
                  </a:endParaRPr>
                </a:p>
              </p:txBody>
            </p:sp>
          </mc:Choice>
          <mc:Fallback>
            <p:sp>
              <p:nvSpPr>
                <p:cNvPr id="20" name="椭圆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6509" y="4451933"/>
                  <a:ext cx="322343" cy="322342"/>
                </a:xfrm>
                <a:prstGeom prst="ellipse">
                  <a:avLst/>
                </a:prstGeom>
                <a:blipFill rotWithShape="1">
                  <a:blip r:embed="rId8"/>
                </a:blip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直接连接符 20"/>
            <p:cNvCxnSpPr>
              <a:stCxn id="14" idx="7"/>
              <a:endCxn id="15" idx="3"/>
            </p:cNvCxnSpPr>
            <p:nvPr/>
          </p:nvCxnSpPr>
          <p:spPr>
            <a:xfrm flipV="1">
              <a:off x="1084282" y="2819213"/>
              <a:ext cx="606491" cy="6204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>
              <a:stCxn id="15" idx="7"/>
              <a:endCxn id="16" idx="3"/>
            </p:cNvCxnSpPr>
            <p:nvPr/>
          </p:nvCxnSpPr>
          <p:spPr>
            <a:xfrm flipV="1">
              <a:off x="1918704" y="1969684"/>
              <a:ext cx="625011" cy="62159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>
              <a:stCxn id="16" idx="5"/>
              <a:endCxn id="18" idx="1"/>
            </p:cNvCxnSpPr>
            <p:nvPr/>
          </p:nvCxnSpPr>
          <p:spPr>
            <a:xfrm>
              <a:off x="2771646" y="1969684"/>
              <a:ext cx="687566" cy="6017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>
              <a:stCxn id="18" idx="4"/>
              <a:endCxn id="19" idx="0"/>
            </p:cNvCxnSpPr>
            <p:nvPr/>
          </p:nvCxnSpPr>
          <p:spPr>
            <a:xfrm flipH="1">
              <a:off x="3573177" y="2846561"/>
              <a:ext cx="1" cy="8698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>
              <a:stCxn id="14" idx="5"/>
            </p:cNvCxnSpPr>
            <p:nvPr/>
          </p:nvCxnSpPr>
          <p:spPr>
            <a:xfrm>
              <a:off x="1084282" y="3667545"/>
              <a:ext cx="606491" cy="83159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>
              <a:endCxn id="20" idx="2"/>
            </p:cNvCxnSpPr>
            <p:nvPr/>
          </p:nvCxnSpPr>
          <p:spPr>
            <a:xfrm>
              <a:off x="1965910" y="4613104"/>
              <a:ext cx="53059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>
              <a:stCxn id="15" idx="4"/>
            </p:cNvCxnSpPr>
            <p:nvPr/>
          </p:nvCxnSpPr>
          <p:spPr>
            <a:xfrm>
              <a:off x="1804739" y="2866419"/>
              <a:ext cx="0" cy="15855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椭圆 27"/>
              <p:cNvSpPr/>
              <p:nvPr/>
            </p:nvSpPr>
            <p:spPr>
              <a:xfrm>
                <a:off x="909847" y="2932268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28" name="椭圆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847" y="2932268"/>
                <a:ext cx="322343" cy="322342"/>
              </a:xfrm>
              <a:prstGeom prst="ellipse">
                <a:avLst/>
              </a:prstGeom>
              <a:blipFill rotWithShape="1">
                <a:blip r:embed="rId9"/>
                <a:stretch>
                  <a:fillRect l="-2133" t="-2117" r="-1880" b="-1897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接连接符 28"/>
          <p:cNvCxnSpPr>
            <a:stCxn id="28" idx="7"/>
            <a:endCxn id="15" idx="3"/>
          </p:cNvCxnSpPr>
          <p:nvPr/>
        </p:nvCxnSpPr>
        <p:spPr>
          <a:xfrm flipV="1">
            <a:off x="1184984" y="2360432"/>
            <a:ext cx="606491" cy="61904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椭圆 29"/>
              <p:cNvSpPr/>
              <p:nvPr/>
            </p:nvSpPr>
            <p:spPr>
              <a:xfrm>
                <a:off x="1742106" y="2083690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30" name="椭圆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2106" y="2083690"/>
                <a:ext cx="322343" cy="322342"/>
              </a:xfrm>
              <a:prstGeom prst="ellipse">
                <a:avLst/>
              </a:prstGeom>
              <a:blipFill rotWithShape="1">
                <a:blip r:embed="rId10"/>
                <a:stretch>
                  <a:fillRect l="-2063" t="-2049" r="-1950" b="-1965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接连接符 30"/>
          <p:cNvCxnSpPr>
            <a:stCxn id="30" idx="4"/>
          </p:cNvCxnSpPr>
          <p:nvPr/>
        </p:nvCxnSpPr>
        <p:spPr>
          <a:xfrm>
            <a:off x="1903278" y="2406032"/>
            <a:ext cx="0" cy="158551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椭圆 31"/>
              <p:cNvSpPr/>
              <p:nvPr/>
            </p:nvSpPr>
            <p:spPr>
              <a:xfrm>
                <a:off x="2600257" y="3990338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32" name="椭圆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0257" y="3990338"/>
                <a:ext cx="322343" cy="322342"/>
              </a:xfrm>
              <a:prstGeom prst="ellipse">
                <a:avLst/>
              </a:prstGeom>
              <a:blipFill rotWithShape="1">
                <a:blip r:embed="rId11"/>
                <a:stretch>
                  <a:fillRect l="-2146" t="-2166" r="-1868" b="-1847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/>
          <p:cNvCxnSpPr>
            <a:stCxn id="12" idx="6"/>
            <a:endCxn id="32" idx="2"/>
          </p:cNvCxnSpPr>
          <p:nvPr/>
        </p:nvCxnSpPr>
        <p:spPr>
          <a:xfrm>
            <a:off x="2067876" y="4146544"/>
            <a:ext cx="532381" cy="496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任意多边形: 形状 33"/>
          <p:cNvSpPr/>
          <p:nvPr/>
        </p:nvSpPr>
        <p:spPr>
          <a:xfrm>
            <a:off x="2026015" y="3948136"/>
            <a:ext cx="611793" cy="82990"/>
          </a:xfrm>
          <a:custGeom>
            <a:avLst/>
            <a:gdLst>
              <a:gd name="connsiteX0" fmla="*/ 611793 w 611793"/>
              <a:gd name="connsiteY0" fmla="*/ 66156 h 92470"/>
              <a:gd name="connsiteX1" fmla="*/ 296029 w 611793"/>
              <a:gd name="connsiteY1" fmla="*/ 372 h 92470"/>
              <a:gd name="connsiteX2" fmla="*/ 0 w 611793"/>
              <a:gd name="connsiteY2" fmla="*/ 92470 h 92470"/>
              <a:gd name="connsiteX3" fmla="*/ 0 w 611793"/>
              <a:gd name="connsiteY3" fmla="*/ 92470 h 92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793" h="92470">
                <a:moveTo>
                  <a:pt x="611793" y="66156"/>
                </a:moveTo>
                <a:cubicBezTo>
                  <a:pt x="504893" y="31071"/>
                  <a:pt x="397994" y="-4014"/>
                  <a:pt x="296029" y="372"/>
                </a:cubicBezTo>
                <a:cubicBezTo>
                  <a:pt x="194064" y="4758"/>
                  <a:pt x="0" y="92470"/>
                  <a:pt x="0" y="92470"/>
                </a:cubicBezTo>
                <a:lnTo>
                  <a:pt x="0" y="92470"/>
                </a:lnTo>
              </a:path>
            </a:pathLst>
          </a:custGeom>
          <a:noFill/>
          <a:ln>
            <a:solidFill>
              <a:schemeClr val="accent4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椭圆 34"/>
              <p:cNvSpPr/>
              <p:nvPr/>
            </p:nvSpPr>
            <p:spPr>
              <a:xfrm>
                <a:off x="2600257" y="3994991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35" name="椭圆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0257" y="3994991"/>
                <a:ext cx="322343" cy="322342"/>
              </a:xfrm>
              <a:prstGeom prst="ellipse">
                <a:avLst/>
              </a:prstGeom>
              <a:blipFill rotWithShape="1">
                <a:blip r:embed="rId12"/>
                <a:stretch>
                  <a:fillRect l="-2146" t="-2034" r="-1868" b="-1783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任意多边形: 形状 35"/>
          <p:cNvSpPr/>
          <p:nvPr/>
        </p:nvSpPr>
        <p:spPr>
          <a:xfrm>
            <a:off x="1986681" y="2386569"/>
            <a:ext cx="171140" cy="1611712"/>
          </a:xfrm>
          <a:custGeom>
            <a:avLst/>
            <a:gdLst>
              <a:gd name="connsiteX0" fmla="*/ 0 w 171140"/>
              <a:gd name="connsiteY0" fmla="*/ 1611712 h 1611712"/>
              <a:gd name="connsiteX1" fmla="*/ 171039 w 171140"/>
              <a:gd name="connsiteY1" fmla="*/ 730204 h 1611712"/>
              <a:gd name="connsiteX2" fmla="*/ 19736 w 171140"/>
              <a:gd name="connsiteY2" fmla="*/ 0 h 1611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140" h="1611712">
                <a:moveTo>
                  <a:pt x="0" y="1611712"/>
                </a:moveTo>
                <a:cubicBezTo>
                  <a:pt x="83875" y="1305267"/>
                  <a:pt x="167750" y="998823"/>
                  <a:pt x="171039" y="730204"/>
                </a:cubicBezTo>
                <a:cubicBezTo>
                  <a:pt x="174328" y="461585"/>
                  <a:pt x="97032" y="230792"/>
                  <a:pt x="19736" y="0"/>
                </a:cubicBezTo>
              </a:path>
            </a:pathLst>
          </a:custGeom>
          <a:noFill/>
          <a:ln>
            <a:solidFill>
              <a:schemeClr val="accent4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椭圆 36"/>
              <p:cNvSpPr/>
              <p:nvPr/>
            </p:nvSpPr>
            <p:spPr>
              <a:xfrm>
                <a:off x="1744267" y="3986583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37" name="椭圆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267" y="3986583"/>
                <a:ext cx="322343" cy="322342"/>
              </a:xfrm>
              <a:prstGeom prst="ellipse">
                <a:avLst/>
              </a:prstGeom>
              <a:blipFill rotWithShape="1">
                <a:blip r:embed="rId13"/>
                <a:stretch>
                  <a:fillRect l="-2143" t="-1986" r="-1871" b="-1830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椭圆 37"/>
              <p:cNvSpPr/>
              <p:nvPr/>
            </p:nvSpPr>
            <p:spPr>
              <a:xfrm>
                <a:off x="2601131" y="1235925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38" name="椭圆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1131" y="1235925"/>
                <a:ext cx="322343" cy="322342"/>
              </a:xfrm>
              <a:prstGeom prst="ellipse">
                <a:avLst/>
              </a:prstGeom>
              <a:blipFill rotWithShape="1">
                <a:blip r:embed="rId14"/>
                <a:stretch>
                  <a:fillRect l="-2023" t="-2037" r="-1793" b="-1780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接连接符 38"/>
          <p:cNvCxnSpPr>
            <a:stCxn id="30" idx="7"/>
            <a:endCxn id="38" idx="3"/>
          </p:cNvCxnSpPr>
          <p:nvPr/>
        </p:nvCxnSpPr>
        <p:spPr>
          <a:xfrm flipV="1">
            <a:off x="2017243" y="1511061"/>
            <a:ext cx="631094" cy="61983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椭圆 39"/>
              <p:cNvSpPr/>
              <p:nvPr/>
            </p:nvSpPr>
            <p:spPr>
              <a:xfrm>
                <a:off x="3512706" y="2064912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40" name="椭圆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2706" y="2064912"/>
                <a:ext cx="322343" cy="322342"/>
              </a:xfrm>
              <a:prstGeom prst="ellipse">
                <a:avLst/>
              </a:prstGeom>
              <a:blipFill rotWithShape="1">
                <a:blip r:embed="rId15"/>
                <a:stretch>
                  <a:fillRect l="-2132" t="-2133" r="-1882" b="-1880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直接连接符 40"/>
          <p:cNvCxnSpPr>
            <a:stCxn id="30" idx="5"/>
            <a:endCxn id="19" idx="2"/>
          </p:cNvCxnSpPr>
          <p:nvPr/>
        </p:nvCxnSpPr>
        <p:spPr>
          <a:xfrm>
            <a:off x="2017243" y="2358826"/>
            <a:ext cx="1495464" cy="1059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38" idx="5"/>
            <a:endCxn id="40" idx="1"/>
          </p:cNvCxnSpPr>
          <p:nvPr/>
        </p:nvCxnSpPr>
        <p:spPr>
          <a:xfrm>
            <a:off x="2876268" y="1511061"/>
            <a:ext cx="683644" cy="601057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椭圆 42"/>
              <p:cNvSpPr/>
              <p:nvPr/>
            </p:nvSpPr>
            <p:spPr>
              <a:xfrm>
                <a:off x="3509455" y="3253054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43" name="椭圆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9455" y="3253054"/>
                <a:ext cx="322343" cy="322342"/>
              </a:xfrm>
              <a:prstGeom prst="ellipse">
                <a:avLst/>
              </a:prstGeom>
              <a:blipFill rotWithShape="1">
                <a:blip r:embed="rId16"/>
                <a:stretch>
                  <a:fillRect l="-2108" t="-2151" r="-1905" b="-1863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直接连接符 43"/>
          <p:cNvCxnSpPr/>
          <p:nvPr/>
        </p:nvCxnSpPr>
        <p:spPr>
          <a:xfrm flipH="1">
            <a:off x="3675148" y="2387780"/>
            <a:ext cx="1" cy="86983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椭圆 44"/>
              <p:cNvSpPr/>
              <p:nvPr/>
            </p:nvSpPr>
            <p:spPr>
              <a:xfrm>
                <a:off x="3512706" y="3253054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45" name="椭圆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2706" y="3253054"/>
                <a:ext cx="322343" cy="322342"/>
              </a:xfrm>
              <a:prstGeom prst="ellipse">
                <a:avLst/>
              </a:prstGeom>
              <a:blipFill rotWithShape="1">
                <a:blip r:embed="rId17"/>
                <a:stretch>
                  <a:fillRect l="-2132" t="-2151" r="-1882" b="-1863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任意多边形: 形状 45"/>
          <p:cNvSpPr/>
          <p:nvPr/>
        </p:nvSpPr>
        <p:spPr>
          <a:xfrm>
            <a:off x="3769432" y="2360255"/>
            <a:ext cx="112129" cy="934136"/>
          </a:xfrm>
          <a:custGeom>
            <a:avLst/>
            <a:gdLst>
              <a:gd name="connsiteX0" fmla="*/ 26314 w 112129"/>
              <a:gd name="connsiteY0" fmla="*/ 934136 h 934136"/>
              <a:gd name="connsiteX1" fmla="*/ 111833 w 112129"/>
              <a:gd name="connsiteY1" fmla="*/ 480225 h 934136"/>
              <a:gd name="connsiteX2" fmla="*/ 0 w 112129"/>
              <a:gd name="connsiteY2" fmla="*/ 0 h 934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129" h="934136">
                <a:moveTo>
                  <a:pt x="26314" y="934136"/>
                </a:moveTo>
                <a:cubicBezTo>
                  <a:pt x="71266" y="785025"/>
                  <a:pt x="116219" y="635914"/>
                  <a:pt x="111833" y="480225"/>
                </a:cubicBezTo>
                <a:cubicBezTo>
                  <a:pt x="107447" y="324536"/>
                  <a:pt x="53723" y="162268"/>
                  <a:pt x="0" y="0"/>
                </a:cubicBezTo>
              </a:path>
            </a:pathLst>
          </a:custGeom>
          <a:noFill/>
          <a:ln>
            <a:solidFill>
              <a:schemeClr val="accent4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椭圆 46"/>
              <p:cNvSpPr/>
              <p:nvPr/>
            </p:nvSpPr>
            <p:spPr>
              <a:xfrm>
                <a:off x="2600257" y="1239938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47" name="椭圆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0257" y="1239938"/>
                <a:ext cx="322343" cy="322342"/>
              </a:xfrm>
              <a:prstGeom prst="ellipse">
                <a:avLst/>
              </a:prstGeom>
              <a:blipFill rotWithShape="1">
                <a:blip r:embed="rId18"/>
                <a:stretch>
                  <a:fillRect l="-2146" t="-2100" r="-1868" b="-1914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任意多边形: 形状 47"/>
          <p:cNvSpPr/>
          <p:nvPr/>
        </p:nvSpPr>
        <p:spPr>
          <a:xfrm>
            <a:off x="2914238" y="1465591"/>
            <a:ext cx="743361" cy="598635"/>
          </a:xfrm>
          <a:custGeom>
            <a:avLst/>
            <a:gdLst>
              <a:gd name="connsiteX0" fmla="*/ 743361 w 743361"/>
              <a:gd name="connsiteY0" fmla="*/ 598635 h 598635"/>
              <a:gd name="connsiteX1" fmla="*/ 493381 w 743361"/>
              <a:gd name="connsiteY1" fmla="*/ 230244 h 598635"/>
              <a:gd name="connsiteX2" fmla="*/ 0 w 743361"/>
              <a:gd name="connsiteY2" fmla="*/ 0 h 598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3361" h="598635">
                <a:moveTo>
                  <a:pt x="743361" y="598635"/>
                </a:moveTo>
                <a:cubicBezTo>
                  <a:pt x="680317" y="464325"/>
                  <a:pt x="617274" y="330016"/>
                  <a:pt x="493381" y="230244"/>
                </a:cubicBezTo>
                <a:cubicBezTo>
                  <a:pt x="369488" y="130472"/>
                  <a:pt x="184744" y="65236"/>
                  <a:pt x="0" y="0"/>
                </a:cubicBezTo>
              </a:path>
            </a:pathLst>
          </a:custGeom>
          <a:noFill/>
          <a:ln>
            <a:solidFill>
              <a:schemeClr val="accent4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椭圆 48"/>
              <p:cNvSpPr/>
              <p:nvPr/>
            </p:nvSpPr>
            <p:spPr>
              <a:xfrm>
                <a:off x="3510543" y="2063292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49" name="椭圆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543" y="2063292"/>
                <a:ext cx="322343" cy="322342"/>
              </a:xfrm>
              <a:prstGeom prst="ellipse">
                <a:avLst/>
              </a:prstGeom>
              <a:blipFill rotWithShape="1">
                <a:blip r:embed="rId19"/>
                <a:stretch>
                  <a:fillRect l="-2052" t="-2025" r="-1962" b="-1792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任意多边形: 形状 49"/>
          <p:cNvSpPr/>
          <p:nvPr/>
        </p:nvSpPr>
        <p:spPr>
          <a:xfrm>
            <a:off x="1947211" y="1412963"/>
            <a:ext cx="638106" cy="677577"/>
          </a:xfrm>
          <a:custGeom>
            <a:avLst/>
            <a:gdLst>
              <a:gd name="connsiteX0" fmla="*/ 638106 w 638106"/>
              <a:gd name="connsiteY0" fmla="*/ 0 h 677577"/>
              <a:gd name="connsiteX1" fmla="*/ 177617 w 638106"/>
              <a:gd name="connsiteY1" fmla="*/ 309186 h 677577"/>
              <a:gd name="connsiteX2" fmla="*/ 0 w 638106"/>
              <a:gd name="connsiteY2" fmla="*/ 677577 h 677577"/>
              <a:gd name="connsiteX3" fmla="*/ 0 w 638106"/>
              <a:gd name="connsiteY3" fmla="*/ 677577 h 677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8106" h="677577">
                <a:moveTo>
                  <a:pt x="638106" y="0"/>
                </a:moveTo>
                <a:cubicBezTo>
                  <a:pt x="461037" y="98128"/>
                  <a:pt x="283968" y="196257"/>
                  <a:pt x="177617" y="309186"/>
                </a:cubicBezTo>
                <a:cubicBezTo>
                  <a:pt x="71266" y="422115"/>
                  <a:pt x="0" y="677577"/>
                  <a:pt x="0" y="677577"/>
                </a:cubicBezTo>
                <a:lnTo>
                  <a:pt x="0" y="677577"/>
                </a:lnTo>
              </a:path>
            </a:pathLst>
          </a:custGeom>
          <a:noFill/>
          <a:ln>
            <a:solidFill>
              <a:schemeClr val="accent4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任意多边形: 形状 50"/>
          <p:cNvSpPr/>
          <p:nvPr/>
        </p:nvSpPr>
        <p:spPr>
          <a:xfrm>
            <a:off x="1118330" y="2261579"/>
            <a:ext cx="618371" cy="677577"/>
          </a:xfrm>
          <a:custGeom>
            <a:avLst/>
            <a:gdLst>
              <a:gd name="connsiteX0" fmla="*/ 618371 w 618371"/>
              <a:gd name="connsiteY0" fmla="*/ 0 h 677577"/>
              <a:gd name="connsiteX1" fmla="*/ 171039 w 618371"/>
              <a:gd name="connsiteY1" fmla="*/ 355235 h 677577"/>
              <a:gd name="connsiteX2" fmla="*/ 0 w 618371"/>
              <a:gd name="connsiteY2" fmla="*/ 677577 h 677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18371" h="677577">
                <a:moveTo>
                  <a:pt x="618371" y="0"/>
                </a:moveTo>
                <a:cubicBezTo>
                  <a:pt x="446236" y="121153"/>
                  <a:pt x="274101" y="242306"/>
                  <a:pt x="171039" y="355235"/>
                </a:cubicBezTo>
                <a:cubicBezTo>
                  <a:pt x="67977" y="468164"/>
                  <a:pt x="33988" y="572870"/>
                  <a:pt x="0" y="677577"/>
                </a:cubicBezTo>
              </a:path>
            </a:pathLst>
          </a:custGeom>
          <a:noFill/>
          <a:ln>
            <a:solidFill>
              <a:schemeClr val="accent4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椭圆 51"/>
              <p:cNvSpPr/>
              <p:nvPr/>
            </p:nvSpPr>
            <p:spPr>
              <a:xfrm>
                <a:off x="1745533" y="2080654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52" name="椭圆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533" y="2080654"/>
                <a:ext cx="322343" cy="322342"/>
              </a:xfrm>
              <a:prstGeom prst="ellipse">
                <a:avLst/>
              </a:prstGeom>
              <a:blipFill rotWithShape="1">
                <a:blip r:embed="rId20"/>
                <a:stretch>
                  <a:fillRect l="-2142" t="-2092" r="-1872" b="-1922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椭圆 52"/>
              <p:cNvSpPr/>
              <p:nvPr/>
            </p:nvSpPr>
            <p:spPr>
              <a:xfrm>
                <a:off x="903077" y="2936910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53" name="椭圆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77" y="2936910"/>
                <a:ext cx="322343" cy="322342"/>
              </a:xfrm>
              <a:prstGeom prst="ellipse">
                <a:avLst/>
              </a:prstGeom>
              <a:blipFill rotWithShape="1">
                <a:blip r:embed="rId21"/>
                <a:stretch>
                  <a:fillRect l="-2003" t="-1981" r="-1813" b="-1836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本框 53"/>
              <p:cNvSpPr txBox="1"/>
              <p:nvPr/>
            </p:nvSpPr>
            <p:spPr>
              <a:xfrm>
                <a:off x="875444" y="5433396"/>
                <a:ext cx="3118545" cy="276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t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sub>
                          </m:sSub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4" name="文本框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444" y="5433396"/>
                <a:ext cx="3118545" cy="276999"/>
              </a:xfrm>
              <a:prstGeom prst="rect">
                <a:avLst/>
              </a:prstGeom>
              <a:blipFill rotWithShape="1">
                <a:blip r:embed="rId22"/>
                <a:stretch>
                  <a:fillRect l="-13" t="-121" r="15" b="-979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875444" y="4639162"/>
                <a:ext cx="2776102" cy="73751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开始的一次先深遍历的结果（顶点访问序列）</a:t>
                </a:r>
                <a:endParaRPr lang="zh-CN" altLang="en-US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444" y="4639162"/>
                <a:ext cx="2776102" cy="737510"/>
              </a:xfrm>
              <a:prstGeom prst="rect">
                <a:avLst/>
              </a:prstGeom>
              <a:blipFill rotWithShape="1">
                <a:blip r:embed="rId23"/>
                <a:stretch>
                  <a:fillRect l="-15" t="-66" r="11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4519805" y="1341103"/>
                <a:ext cx="6796751" cy="137274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一个顶点</a:t>
                </a:r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例如左边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有多个尚未遍历过相邻顶点时，可随机选择，或根据要完成的相关任务选其中一个进行遍历</a:t>
                </a:r>
                <a:endPara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因此一个图有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多个不同的先深遍历序列</a:t>
                </a:r>
                <a:endParaRPr lang="zh-CN" altLang="en-US" sz="2000" b="1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9805" y="1341103"/>
                <a:ext cx="6796751" cy="1372748"/>
              </a:xfrm>
              <a:prstGeom prst="rect">
                <a:avLst/>
              </a:prstGeom>
              <a:blipFill rotWithShape="1">
                <a:blip r:embed="rId24"/>
                <a:stretch>
                  <a:fillRect l="-8" t="-45" r="3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4519804" y="2979474"/>
                <a:ext cx="6769119" cy="135877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为空时，若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仍有顶点不在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中，表明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更多连通分支</a:t>
                </a:r>
                <a:endParaRPr lang="zh-CN" altLang="en-US" sz="2000" b="1">
                  <a:solidFill>
                    <a:srgbClr val="C00000"/>
                  </a:solidFill>
                  <a:latin typeface="+mn-ea"/>
                </a:endParaRP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继续选一个不在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中的顶点重新开始上述遍历过程，直到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的所有顶点都被遍历过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9804" y="2979474"/>
                <a:ext cx="6769119" cy="1358770"/>
              </a:xfrm>
              <a:prstGeom prst="rect">
                <a:avLst/>
              </a:prstGeom>
              <a:blipFill rotWithShape="1">
                <a:blip r:embed="rId25"/>
                <a:stretch>
                  <a:fillRect l="-8" t="-4" r="8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本框 54"/>
              <p:cNvSpPr txBox="1"/>
              <p:nvPr/>
            </p:nvSpPr>
            <p:spPr>
              <a:xfrm>
                <a:off x="4519804" y="4653177"/>
                <a:ext cx="6796752" cy="137274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从一个顶点到一个尚未遍历过顶点时所经过的边（左边使用红色线绘制的边）构成图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的一个生成子图</a:t>
                </a:r>
                <a:endPara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是图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的一棵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生成树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(spanning tree)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55" name="文本框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9804" y="4653177"/>
                <a:ext cx="6796752" cy="1372748"/>
              </a:xfrm>
              <a:prstGeom prst="rect">
                <a:avLst/>
              </a:prstGeom>
              <a:blipFill rotWithShape="1">
                <a:blip r:embed="rId26"/>
                <a:stretch>
                  <a:fillRect l="-7" t="-39" r="3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图的遍历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图的先深遍历算法描述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323" y="1592255"/>
            <a:ext cx="10580288" cy="422566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5581788" y="1295947"/>
                <a:ext cx="5946889" cy="254082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算法的时间复杂度是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𝑶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𝒏</m:t>
                            </m:r>
                          </m:e>
                          <m:sup>
                            <m:r>
                              <a:rPr lang="en-US" altLang="zh-CN" sz="2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是图的顶点数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算法第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行的判断最坏情况下要花费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的时间</a:t>
                </a:r>
                <a:endParaRPr lang="zh-CN" altLang="en-US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判断顶点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是否有不在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的相邻顶点要针对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的每个相邻顶点进行判断，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至多可能有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个相邻顶点</a:t>
                </a:r>
                <a:endParaRPr lang="zh-CN" altLang="en-US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但判断这个相邻顶点是否在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中不用扫描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这个序列，因为可对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的顶点做标记以表明它是否在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788" y="1295947"/>
                <a:ext cx="5946889" cy="2540824"/>
              </a:xfrm>
              <a:prstGeom prst="rect">
                <a:avLst/>
              </a:prstGeom>
              <a:blipFill rotWithShape="1">
                <a:blip r:embed="rId2"/>
                <a:stretch>
                  <a:fillRect l="-2" t="-22" r="4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图的遍历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图的先深遍历练习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4088" y="1478446"/>
            <a:ext cx="8323822" cy="260010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026508" y="4452207"/>
                <a:ext cx="8231402" cy="92333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给出一个从顶点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开始的先深遍历的序列？</a:t>
                </a:r>
                <a:endParaRPr lang="zh-CN" altLang="en-US" sz="2400" b="1">
                  <a:solidFill>
                    <a:schemeClr val="accent6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并给出从一个顶点走向一个新的顶点时的边（这些边构成图的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生成树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）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508" y="4452207"/>
                <a:ext cx="8231402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3" t="-24" r="-932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图的遍历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图的先深遍历练习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922" y="1336834"/>
            <a:ext cx="7869164" cy="259036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890280" y="4338563"/>
                <a:ext cx="5633318" cy="124649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一个从顶点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开始的先深序列：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</m:oMath>
                  </m:oMathPara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一个顶点走向一个新顶点时的边见上图实线边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280" y="4338563"/>
                <a:ext cx="5633318" cy="1246495"/>
              </a:xfrm>
              <a:prstGeom prst="rect">
                <a:avLst/>
              </a:prstGeom>
              <a:blipFill rotWithShape="1">
                <a:blip r:embed="rId2"/>
                <a:stretch>
                  <a:fillRect t="-19" r="4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7084955" y="4048082"/>
                <a:ext cx="4216765" cy="201593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另外一些从顶点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开始的先深序列：</a:t>
                </a:r>
                <a:endPara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(1)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(2)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(3)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(4)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4955" y="4048082"/>
                <a:ext cx="4216765" cy="2015936"/>
              </a:xfrm>
              <a:prstGeom prst="rect">
                <a:avLst/>
              </a:prstGeom>
              <a:blipFill rotWithShape="1">
                <a:blip r:embed="rId3"/>
                <a:stretch>
                  <a:fillRect l="-6" t="-29" r="15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图的遍历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图的广度优先遍历（先广搜索）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57158" y="1159307"/>
            <a:ext cx="10277682" cy="1788246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2800" b="1">
                <a:solidFill>
                  <a:schemeClr val="accent2">
                    <a:lumMod val="50000"/>
                  </a:schemeClr>
                </a:solidFill>
              </a:rPr>
              <a:t>基本思路</a:t>
            </a:r>
            <a:endParaRPr lang="en-US" altLang="zh-CN" sz="2800" b="1">
              <a:solidFill>
                <a:schemeClr val="accent2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先广搜索每次先遍历一个顶点的所有相邻顶点</a:t>
            </a:r>
            <a:endParaRPr lang="en-US" altLang="zh-CN" sz="2400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ts val="3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然后再从这些相邻的顶点选择一个顶点继续遍历它的所有（还没有遍历过的）相邻顶点，直到所有顶点都被遍历</a:t>
            </a:r>
            <a:endParaRPr lang="zh-CN" altLang="en-US" sz="2000" b="1">
              <a:solidFill>
                <a:schemeClr val="accent6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699505" y="3136086"/>
                <a:ext cx="4085968" cy="310783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输入与输出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输入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邻接矩阵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或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邻接表</a:t>
                </a:r>
                <a:endParaRPr lang="zh-CN" altLang="en-US" sz="2000" b="1">
                  <a:solidFill>
                    <a:srgbClr val="C00000"/>
                  </a:solidFill>
                  <a:latin typeface="+mn-ea"/>
                </a:endParaRPr>
              </a:p>
              <a:p>
                <a:pPr marL="800100" lvl="1" indent="-34290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从而快速得到图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的顶点及每个顶点相邻的顶点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输出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是图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的一个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顶点序列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en-US" altLang="zh-CN" sz="2000" b="1">
                  <a:solidFill>
                    <a:srgbClr val="C00000"/>
                  </a:solidFill>
                  <a:latin typeface="+mn-ea"/>
                </a:endParaRPr>
              </a:p>
              <a:p>
                <a:pPr marL="800100" lvl="1" indent="-34290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表示先广搜索过程中图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的顶点被访问的顺序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05" y="3136086"/>
                <a:ext cx="4085968" cy="3107838"/>
              </a:xfrm>
              <a:prstGeom prst="rect">
                <a:avLst/>
              </a:prstGeom>
              <a:blipFill rotWithShape="1">
                <a:blip r:embed="rId1"/>
                <a:stretch>
                  <a:fillRect l="-9" t="-15" r="3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5302591" y="3370349"/>
                <a:ext cx="6189904" cy="263931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重要数据结构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序列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𝑸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记录</a:t>
                </a:r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尚未访问过其所有相邻顶点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的顶点</a:t>
                </a:r>
                <a:endPara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先广遍历</a:t>
                </a:r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无需回溯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𝑸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采用“</a:t>
                </a:r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先进先出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”访问策略</a:t>
                </a:r>
                <a:endParaRPr lang="en-US" altLang="zh-CN" sz="2000" b="1">
                  <a:solidFill>
                    <a:srgbClr val="002060"/>
                  </a:solidFill>
                  <a:latin typeface="+mn-ea"/>
                </a:endParaRP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将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看做一个队列</a:t>
                </a:r>
                <a:r>
                  <a:rPr lang="en-US" altLang="zh-CN" b="1">
                    <a:solidFill>
                      <a:schemeClr val="accent6">
                        <a:lumMod val="50000"/>
                      </a:schemeClr>
                    </a:solidFill>
                  </a:rPr>
                  <a:t>(queue)</a:t>
                </a:r>
                <a:endParaRPr lang="en-US" altLang="zh-CN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最先添加到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的顶点下一步最先从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取出（删除）以访问它的所有相邻顶点</a:t>
                </a:r>
                <a:endParaRPr lang="zh-CN" altLang="en-US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591" y="3370349"/>
                <a:ext cx="6189904" cy="2639312"/>
              </a:xfrm>
              <a:prstGeom prst="rect">
                <a:avLst/>
              </a:prstGeom>
              <a:blipFill rotWithShape="1">
                <a:blip r:embed="rId2"/>
                <a:stretch>
                  <a:fillRect l="-6" t="-15" r="4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图的遍历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图的先广遍历举例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椭圆 11"/>
              <p:cNvSpPr/>
              <p:nvPr/>
            </p:nvSpPr>
            <p:spPr>
              <a:xfrm>
                <a:off x="1093138" y="3186669"/>
                <a:ext cx="322343" cy="322342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2" name="椭圆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138" y="3186669"/>
                <a:ext cx="322343" cy="322342"/>
              </a:xfrm>
              <a:prstGeom prst="ellipse">
                <a:avLst/>
              </a:prstGeom>
              <a:blipFill rotWithShape="1">
                <a:blip r:embed="rId1"/>
                <a:stretch>
                  <a:fillRect l="-2064" t="-2044" r="-1949" b="-1970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椭圆 12"/>
              <p:cNvSpPr/>
              <p:nvPr/>
            </p:nvSpPr>
            <p:spPr>
              <a:xfrm>
                <a:off x="1927560" y="2338337"/>
                <a:ext cx="322343" cy="322342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3" name="椭圆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560" y="2338337"/>
                <a:ext cx="322343" cy="322342"/>
              </a:xfrm>
              <a:prstGeom prst="ellipse">
                <a:avLst/>
              </a:prstGeom>
              <a:blipFill rotWithShape="1">
                <a:blip r:embed="rId2"/>
                <a:stretch>
                  <a:fillRect l="-2074" t="-2053" r="-1940" b="-1961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椭圆 13"/>
              <p:cNvSpPr/>
              <p:nvPr/>
            </p:nvSpPr>
            <p:spPr>
              <a:xfrm>
                <a:off x="2780502" y="1488808"/>
                <a:ext cx="322343" cy="322342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4" name="椭圆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502" y="1488808"/>
                <a:ext cx="322343" cy="322342"/>
              </a:xfrm>
              <a:prstGeom prst="ellipse">
                <a:avLst/>
              </a:prstGeom>
              <a:blipFill rotWithShape="1">
                <a:blip r:embed="rId3"/>
                <a:stretch>
                  <a:fillRect l="-2116" t="-2084" r="-1897" b="-1930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椭圆 14"/>
              <p:cNvSpPr/>
              <p:nvPr/>
            </p:nvSpPr>
            <p:spPr>
              <a:xfrm>
                <a:off x="3695999" y="2318479"/>
                <a:ext cx="322343" cy="322342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5" name="椭圆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999" y="2318479"/>
                <a:ext cx="322343" cy="322342"/>
              </a:xfrm>
              <a:prstGeom prst="ellipse">
                <a:avLst/>
              </a:prstGeom>
              <a:blipFill rotWithShape="1">
                <a:blip r:embed="rId4"/>
                <a:stretch>
                  <a:fillRect l="-2063" t="-1999" r="-1951" b="-1818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椭圆 15"/>
              <p:cNvSpPr/>
              <p:nvPr/>
            </p:nvSpPr>
            <p:spPr>
              <a:xfrm>
                <a:off x="3695998" y="3510656"/>
                <a:ext cx="322343" cy="322342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6" name="椭圆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998" y="3510656"/>
                <a:ext cx="322343" cy="322342"/>
              </a:xfrm>
              <a:prstGeom prst="ellipse">
                <a:avLst/>
              </a:prstGeom>
              <a:blipFill rotWithShape="1">
                <a:blip r:embed="rId5"/>
                <a:stretch>
                  <a:fillRect l="-2062" t="-2087" r="-1951" b="-1927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椭圆 17"/>
              <p:cNvSpPr/>
              <p:nvPr/>
            </p:nvSpPr>
            <p:spPr>
              <a:xfrm>
                <a:off x="2780502" y="4246193"/>
                <a:ext cx="322343" cy="322342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8" name="椭圆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502" y="4246193"/>
                <a:ext cx="322343" cy="322342"/>
              </a:xfrm>
              <a:prstGeom prst="ellipse">
                <a:avLst/>
              </a:prstGeom>
              <a:blipFill rotWithShape="1">
                <a:blip r:embed="rId6"/>
                <a:stretch>
                  <a:fillRect l="-2116" t="-2151" r="-1897" b="-1863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接连接符 18"/>
          <p:cNvCxnSpPr>
            <a:stCxn id="12" idx="7"/>
            <a:endCxn id="13" idx="3"/>
          </p:cNvCxnSpPr>
          <p:nvPr/>
        </p:nvCxnSpPr>
        <p:spPr>
          <a:xfrm flipV="1">
            <a:off x="1368275" y="2613473"/>
            <a:ext cx="606491" cy="6204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13" idx="7"/>
            <a:endCxn id="14" idx="3"/>
          </p:cNvCxnSpPr>
          <p:nvPr/>
        </p:nvCxnSpPr>
        <p:spPr>
          <a:xfrm flipV="1">
            <a:off x="2202697" y="1763944"/>
            <a:ext cx="625011" cy="6215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stCxn id="14" idx="5"/>
            <a:endCxn id="15" idx="1"/>
          </p:cNvCxnSpPr>
          <p:nvPr/>
        </p:nvCxnSpPr>
        <p:spPr>
          <a:xfrm>
            <a:off x="3055639" y="1763944"/>
            <a:ext cx="687566" cy="6017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15" idx="4"/>
            <a:endCxn id="16" idx="0"/>
          </p:cNvCxnSpPr>
          <p:nvPr/>
        </p:nvCxnSpPr>
        <p:spPr>
          <a:xfrm flipH="1">
            <a:off x="3857170" y="2640821"/>
            <a:ext cx="1" cy="8698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stCxn id="12" idx="5"/>
            <a:endCxn id="26" idx="1"/>
          </p:cNvCxnSpPr>
          <p:nvPr/>
        </p:nvCxnSpPr>
        <p:spPr>
          <a:xfrm>
            <a:off x="1368275" y="3461805"/>
            <a:ext cx="606491" cy="8380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stCxn id="26" idx="6"/>
            <a:endCxn id="18" idx="2"/>
          </p:cNvCxnSpPr>
          <p:nvPr/>
        </p:nvCxnSpPr>
        <p:spPr>
          <a:xfrm flipV="1">
            <a:off x="2249903" y="4407364"/>
            <a:ext cx="530599" cy="6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13" idx="4"/>
            <a:endCxn id="26" idx="0"/>
          </p:cNvCxnSpPr>
          <p:nvPr/>
        </p:nvCxnSpPr>
        <p:spPr>
          <a:xfrm>
            <a:off x="2088732" y="2660679"/>
            <a:ext cx="0" cy="1591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椭圆 25"/>
              <p:cNvSpPr/>
              <p:nvPr/>
            </p:nvSpPr>
            <p:spPr>
              <a:xfrm>
                <a:off x="1927560" y="4252621"/>
                <a:ext cx="322343" cy="322342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26" name="椭圆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560" y="4252621"/>
                <a:ext cx="322343" cy="322342"/>
              </a:xfrm>
              <a:prstGeom prst="ellipse">
                <a:avLst/>
              </a:prstGeom>
              <a:blipFill rotWithShape="1">
                <a:blip r:embed="rId7"/>
                <a:stretch>
                  <a:fillRect l="-2074" t="-1978" r="-1940" b="-1839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5626907" y="1087412"/>
            <a:ext cx="4783954" cy="276999"/>
            <a:chOff x="5627350" y="1103964"/>
            <a:chExt cx="4783954" cy="27699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矩形 27"/>
                <p:cNvSpPr/>
                <p:nvPr/>
              </p:nvSpPr>
              <p:spPr>
                <a:xfrm>
                  <a:off x="9278493" y="1103964"/>
                  <a:ext cx="1132811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28" name="矩形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8493" y="1103964"/>
                  <a:ext cx="1132811" cy="276999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矩形 28"/>
                <p:cNvSpPr/>
                <p:nvPr/>
              </p:nvSpPr>
              <p:spPr>
                <a:xfrm>
                  <a:off x="5627350" y="1103964"/>
                  <a:ext cx="1108765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29" name="矩形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7350" y="1103964"/>
                  <a:ext cx="1108765" cy="276999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/>
          <p:cNvGrpSpPr/>
          <p:nvPr/>
        </p:nvGrpSpPr>
        <p:grpSpPr>
          <a:xfrm>
            <a:off x="5626907" y="1542496"/>
            <a:ext cx="5170211" cy="276999"/>
            <a:chOff x="5627350" y="1806227"/>
            <a:chExt cx="5170211" cy="27699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矩形 30"/>
                <p:cNvSpPr/>
                <p:nvPr/>
              </p:nvSpPr>
              <p:spPr>
                <a:xfrm>
                  <a:off x="9278492" y="1806227"/>
                  <a:ext cx="1519069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1" name="矩形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8492" y="1806227"/>
                  <a:ext cx="1519069" cy="276999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矩形 31"/>
                <p:cNvSpPr/>
                <p:nvPr/>
              </p:nvSpPr>
              <p:spPr>
                <a:xfrm>
                  <a:off x="5627350" y="1806227"/>
                  <a:ext cx="1778692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2" name="矩形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7350" y="1806227"/>
                  <a:ext cx="1778692" cy="276999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组合 3"/>
          <p:cNvGrpSpPr/>
          <p:nvPr/>
        </p:nvGrpSpPr>
        <p:grpSpPr>
          <a:xfrm>
            <a:off x="5626907" y="2003337"/>
            <a:ext cx="5453879" cy="276999"/>
            <a:chOff x="5627350" y="2498632"/>
            <a:chExt cx="5453879" cy="27699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矩形 33"/>
                <p:cNvSpPr/>
                <p:nvPr/>
              </p:nvSpPr>
              <p:spPr>
                <a:xfrm>
                  <a:off x="9278492" y="2498632"/>
                  <a:ext cx="1802737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4" name="矩形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8492" y="2498632"/>
                  <a:ext cx="1802737" cy="276999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矩形 34"/>
                <p:cNvSpPr/>
                <p:nvPr/>
              </p:nvSpPr>
              <p:spPr>
                <a:xfrm>
                  <a:off x="5627350" y="2498632"/>
                  <a:ext cx="2474332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5" name="矩形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7350" y="2498632"/>
                  <a:ext cx="2474332" cy="276999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/>
          <p:cNvGrpSpPr/>
          <p:nvPr/>
        </p:nvGrpSpPr>
        <p:grpSpPr>
          <a:xfrm>
            <a:off x="5625165" y="2463098"/>
            <a:ext cx="5471512" cy="277851"/>
            <a:chOff x="5627350" y="3237352"/>
            <a:chExt cx="5471512" cy="27785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矩形 36"/>
                <p:cNvSpPr/>
                <p:nvPr/>
              </p:nvSpPr>
              <p:spPr>
                <a:xfrm>
                  <a:off x="9278492" y="3237352"/>
                  <a:ext cx="1820370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7" name="矩形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8492" y="3237352"/>
                  <a:ext cx="1820370" cy="276999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矩形 37"/>
                <p:cNvSpPr/>
                <p:nvPr/>
              </p:nvSpPr>
              <p:spPr>
                <a:xfrm>
                  <a:off x="5627350" y="3238204"/>
                  <a:ext cx="2783583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8" name="矩形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7350" y="3238204"/>
                  <a:ext cx="2783583" cy="276999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组合 50"/>
          <p:cNvGrpSpPr/>
          <p:nvPr/>
        </p:nvGrpSpPr>
        <p:grpSpPr>
          <a:xfrm>
            <a:off x="5625165" y="2924563"/>
            <a:ext cx="5463862" cy="282927"/>
            <a:chOff x="5617367" y="3967919"/>
            <a:chExt cx="5463862" cy="28292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矩形 39"/>
                <p:cNvSpPr/>
                <p:nvPr/>
              </p:nvSpPr>
              <p:spPr>
                <a:xfrm>
                  <a:off x="9278492" y="3973847"/>
                  <a:ext cx="1802737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0" name="矩形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8492" y="3973847"/>
                  <a:ext cx="1802737" cy="276999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矩形 40"/>
                <p:cNvSpPr/>
                <p:nvPr/>
              </p:nvSpPr>
              <p:spPr>
                <a:xfrm>
                  <a:off x="5617367" y="3967919"/>
                  <a:ext cx="317304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1" name="矩形 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7367" y="3967919"/>
                  <a:ext cx="3173048" cy="276999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2" name="组合 51"/>
          <p:cNvGrpSpPr/>
          <p:nvPr/>
        </p:nvGrpSpPr>
        <p:grpSpPr>
          <a:xfrm>
            <a:off x="5625163" y="3397745"/>
            <a:ext cx="5128898" cy="282927"/>
            <a:chOff x="5617367" y="4622155"/>
            <a:chExt cx="5128898" cy="28292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矩形 42"/>
                <p:cNvSpPr/>
                <p:nvPr/>
              </p:nvSpPr>
              <p:spPr>
                <a:xfrm>
                  <a:off x="9278492" y="4628083"/>
                  <a:ext cx="1467773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3" name="矩形 4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8492" y="4628083"/>
                  <a:ext cx="1467773" cy="276999"/>
                </a:xfrm>
                <a:prstGeom prst="rect">
                  <a:avLst/>
                </a:prstGeom>
                <a:blipFill rotWithShape="1">
                  <a:blip r:embed="rId1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矩形 43"/>
                <p:cNvSpPr/>
                <p:nvPr/>
              </p:nvSpPr>
              <p:spPr>
                <a:xfrm>
                  <a:off x="5617367" y="4622155"/>
                  <a:ext cx="317304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4" name="矩形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7367" y="4622155"/>
                  <a:ext cx="3173048" cy="276999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/>
          <p:cNvGrpSpPr/>
          <p:nvPr/>
        </p:nvGrpSpPr>
        <p:grpSpPr>
          <a:xfrm>
            <a:off x="5625163" y="3870927"/>
            <a:ext cx="4845232" cy="282927"/>
            <a:chOff x="5625606" y="3887479"/>
            <a:chExt cx="4845232" cy="28292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矩形 45"/>
                <p:cNvSpPr/>
                <p:nvPr/>
              </p:nvSpPr>
              <p:spPr>
                <a:xfrm>
                  <a:off x="9286731" y="3893407"/>
                  <a:ext cx="1184107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6" name="矩形 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86731" y="3893407"/>
                  <a:ext cx="1184107" cy="276999"/>
                </a:xfrm>
                <a:prstGeom prst="rect">
                  <a:avLst/>
                </a:prstGeom>
                <a:blipFill rotWithShape="1">
                  <a:blip r:embed="rId1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矩形 46"/>
                <p:cNvSpPr/>
                <p:nvPr/>
              </p:nvSpPr>
              <p:spPr>
                <a:xfrm>
                  <a:off x="5625606" y="3887479"/>
                  <a:ext cx="317304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5606" y="3887479"/>
                  <a:ext cx="3173048" cy="276999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组合 52"/>
          <p:cNvGrpSpPr/>
          <p:nvPr/>
        </p:nvGrpSpPr>
        <p:grpSpPr>
          <a:xfrm>
            <a:off x="5625163" y="4350301"/>
            <a:ext cx="4596830" cy="282927"/>
            <a:chOff x="5627350" y="5881490"/>
            <a:chExt cx="4596830" cy="28292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矩形 48"/>
                <p:cNvSpPr/>
                <p:nvPr/>
              </p:nvSpPr>
              <p:spPr>
                <a:xfrm>
                  <a:off x="9288475" y="5887418"/>
                  <a:ext cx="935705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9" name="矩形 4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88475" y="5887418"/>
                  <a:ext cx="935705" cy="276999"/>
                </a:xfrm>
                <a:prstGeom prst="rect">
                  <a:avLst/>
                </a:prstGeom>
                <a:blipFill rotWithShape="1">
                  <a:blip r:embed="rId2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矩形 49"/>
                <p:cNvSpPr/>
                <p:nvPr/>
              </p:nvSpPr>
              <p:spPr>
                <a:xfrm>
                  <a:off x="5627350" y="5881490"/>
                  <a:ext cx="317304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t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50" name="矩形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7350" y="5881490"/>
                  <a:ext cx="3173048" cy="276999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椭圆 54"/>
              <p:cNvSpPr/>
              <p:nvPr/>
            </p:nvSpPr>
            <p:spPr>
              <a:xfrm>
                <a:off x="1093137" y="3182039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55" name="椭圆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137" y="3182039"/>
                <a:ext cx="322343" cy="322342"/>
              </a:xfrm>
              <a:prstGeom prst="ellipse">
                <a:avLst/>
              </a:prstGeom>
              <a:blipFill rotWithShape="1">
                <a:blip r:embed="rId21"/>
                <a:stretch>
                  <a:fillRect l="-2064" t="-1987" r="-1950" b="-1830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直接连接符 56"/>
          <p:cNvCxnSpPr>
            <a:stCxn id="55" idx="7"/>
            <a:endCxn id="13" idx="3"/>
          </p:cNvCxnSpPr>
          <p:nvPr/>
        </p:nvCxnSpPr>
        <p:spPr>
          <a:xfrm flipV="1">
            <a:off x="1368274" y="2613473"/>
            <a:ext cx="606492" cy="61577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stCxn id="55" idx="5"/>
            <a:endCxn id="26" idx="1"/>
          </p:cNvCxnSpPr>
          <p:nvPr/>
        </p:nvCxnSpPr>
        <p:spPr>
          <a:xfrm>
            <a:off x="1368274" y="3457175"/>
            <a:ext cx="606492" cy="84265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椭圆 59"/>
              <p:cNvSpPr/>
              <p:nvPr/>
            </p:nvSpPr>
            <p:spPr>
              <a:xfrm>
                <a:off x="1927643" y="2325809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0" name="椭圆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643" y="2325809"/>
                <a:ext cx="322343" cy="322342"/>
              </a:xfrm>
              <a:prstGeom prst="ellipse">
                <a:avLst/>
              </a:prstGeom>
              <a:blipFill rotWithShape="1">
                <a:blip r:embed="rId22"/>
                <a:stretch>
                  <a:fillRect l="-2100" t="-2106" r="-1914" b="-1908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椭圆 60"/>
              <p:cNvSpPr/>
              <p:nvPr/>
            </p:nvSpPr>
            <p:spPr>
              <a:xfrm>
                <a:off x="1927560" y="4243850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1" name="椭圆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560" y="4243850"/>
                <a:ext cx="322343" cy="322342"/>
              </a:xfrm>
              <a:prstGeom prst="ellipse">
                <a:avLst/>
              </a:prstGeom>
              <a:blipFill rotWithShape="1">
                <a:blip r:embed="rId23"/>
                <a:stretch>
                  <a:fillRect l="-2074" t="-2015" r="-1940" b="-1802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椭圆 61"/>
              <p:cNvSpPr/>
              <p:nvPr/>
            </p:nvSpPr>
            <p:spPr>
              <a:xfrm>
                <a:off x="1095323" y="3183413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2" name="椭圆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323" y="3183413"/>
                <a:ext cx="322343" cy="322342"/>
              </a:xfrm>
              <a:prstGeom prst="ellipse">
                <a:avLst/>
              </a:prstGeom>
              <a:blipFill rotWithShape="1">
                <a:blip r:embed="rId24"/>
                <a:stretch>
                  <a:fillRect l="-2151" t="-2019" r="-1863" b="-1798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直接连接符 63"/>
          <p:cNvCxnSpPr>
            <a:stCxn id="60" idx="5"/>
            <a:endCxn id="16" idx="1"/>
          </p:cNvCxnSpPr>
          <p:nvPr/>
        </p:nvCxnSpPr>
        <p:spPr>
          <a:xfrm>
            <a:off x="2202780" y="2600945"/>
            <a:ext cx="1540424" cy="9569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>
            <a:stCxn id="60" idx="7"/>
            <a:endCxn id="14" idx="3"/>
          </p:cNvCxnSpPr>
          <p:nvPr/>
        </p:nvCxnSpPr>
        <p:spPr>
          <a:xfrm flipV="1">
            <a:off x="2202780" y="1763944"/>
            <a:ext cx="624928" cy="60907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>
            <a:stCxn id="60" idx="5"/>
            <a:endCxn id="16" idx="1"/>
          </p:cNvCxnSpPr>
          <p:nvPr/>
        </p:nvCxnSpPr>
        <p:spPr>
          <a:xfrm>
            <a:off x="2202780" y="2600945"/>
            <a:ext cx="1540424" cy="956917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椭圆 68"/>
              <p:cNvSpPr/>
              <p:nvPr/>
            </p:nvSpPr>
            <p:spPr>
              <a:xfrm>
                <a:off x="2780501" y="1487669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9" name="椭圆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501" y="1487669"/>
                <a:ext cx="322343" cy="322342"/>
              </a:xfrm>
              <a:prstGeom prst="ellipse">
                <a:avLst/>
              </a:prstGeom>
              <a:blipFill rotWithShape="1">
                <a:blip r:embed="rId25"/>
                <a:stretch>
                  <a:fillRect l="-2116" t="-2125" r="-1897" b="-1889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椭圆 69"/>
              <p:cNvSpPr/>
              <p:nvPr/>
            </p:nvSpPr>
            <p:spPr>
              <a:xfrm>
                <a:off x="3695998" y="3510959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70" name="椭圆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998" y="3510959"/>
                <a:ext cx="322343" cy="322342"/>
              </a:xfrm>
              <a:prstGeom prst="ellipse">
                <a:avLst/>
              </a:prstGeom>
              <a:blipFill rotWithShape="1">
                <a:blip r:embed="rId26"/>
                <a:stretch>
                  <a:fillRect l="-2062" t="-1984" r="-1951" b="-1833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椭圆 70"/>
              <p:cNvSpPr/>
              <p:nvPr/>
            </p:nvSpPr>
            <p:spPr>
              <a:xfrm>
                <a:off x="1927477" y="2326147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71" name="椭圆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477" y="2326147"/>
                <a:ext cx="322343" cy="322342"/>
              </a:xfrm>
              <a:prstGeom prst="ellipse">
                <a:avLst/>
              </a:prstGeom>
              <a:blipFill rotWithShape="1">
                <a:blip r:embed="rId27"/>
                <a:stretch>
                  <a:fillRect l="-2048" t="-2014" r="-1965" b="-1803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直接连接符 72"/>
          <p:cNvCxnSpPr>
            <a:stCxn id="61" idx="6"/>
            <a:endCxn id="18" idx="2"/>
          </p:cNvCxnSpPr>
          <p:nvPr/>
        </p:nvCxnSpPr>
        <p:spPr>
          <a:xfrm>
            <a:off x="2249903" y="4405021"/>
            <a:ext cx="530599" cy="234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椭圆 73"/>
              <p:cNvSpPr/>
              <p:nvPr/>
            </p:nvSpPr>
            <p:spPr>
              <a:xfrm>
                <a:off x="1927477" y="4246043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74" name="椭圆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477" y="4246043"/>
                <a:ext cx="322343" cy="322342"/>
              </a:xfrm>
              <a:prstGeom prst="ellipse">
                <a:avLst/>
              </a:prstGeom>
              <a:blipFill rotWithShape="1">
                <a:blip r:embed="rId28"/>
                <a:stretch>
                  <a:fillRect l="-2048" t="-2104" r="-1965" b="-1909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椭圆 74"/>
              <p:cNvSpPr/>
              <p:nvPr/>
            </p:nvSpPr>
            <p:spPr>
              <a:xfrm>
                <a:off x="2780501" y="4241332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75" name="椭圆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501" y="4241332"/>
                <a:ext cx="322343" cy="322342"/>
              </a:xfrm>
              <a:prstGeom prst="ellipse">
                <a:avLst/>
              </a:prstGeom>
              <a:blipFill rotWithShape="1">
                <a:blip r:embed="rId29"/>
                <a:stretch>
                  <a:fillRect l="-2116" t="-2022" r="-1897" b="-1795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接连接符 76"/>
          <p:cNvCxnSpPr>
            <a:stCxn id="69" idx="5"/>
            <a:endCxn id="15" idx="1"/>
          </p:cNvCxnSpPr>
          <p:nvPr/>
        </p:nvCxnSpPr>
        <p:spPr>
          <a:xfrm>
            <a:off x="3055638" y="1762805"/>
            <a:ext cx="687567" cy="60288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椭圆 77"/>
              <p:cNvSpPr/>
              <p:nvPr/>
            </p:nvSpPr>
            <p:spPr>
              <a:xfrm>
                <a:off x="3699765" y="2318514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78" name="椭圆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765" y="2318514"/>
                <a:ext cx="322343" cy="322342"/>
              </a:xfrm>
              <a:prstGeom prst="ellipse">
                <a:avLst/>
              </a:prstGeom>
              <a:blipFill rotWithShape="1">
                <a:blip r:embed="rId30"/>
                <a:stretch>
                  <a:fillRect l="-2049" t="-2010" r="-1964" b="-1807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椭圆 78"/>
              <p:cNvSpPr/>
              <p:nvPr/>
            </p:nvSpPr>
            <p:spPr>
              <a:xfrm>
                <a:off x="2780500" y="1482004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79" name="椭圆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500" y="1482004"/>
                <a:ext cx="322343" cy="322342"/>
              </a:xfrm>
              <a:prstGeom prst="ellipse">
                <a:avLst/>
              </a:prstGeom>
              <a:blipFill rotWithShape="1">
                <a:blip r:embed="rId31"/>
                <a:stretch>
                  <a:fillRect l="-2116" t="-2140" r="-1898" b="-1873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椭圆 79"/>
              <p:cNvSpPr/>
              <p:nvPr/>
            </p:nvSpPr>
            <p:spPr>
              <a:xfrm>
                <a:off x="3695998" y="3512029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80" name="椭圆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998" y="3512029"/>
                <a:ext cx="322343" cy="322342"/>
              </a:xfrm>
              <a:prstGeom prst="ellipse">
                <a:avLst/>
              </a:prstGeom>
              <a:blipFill rotWithShape="1">
                <a:blip r:embed="rId32"/>
                <a:stretch>
                  <a:fillRect l="-2062" t="-2119" r="-1951" b="-1895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椭圆 80"/>
              <p:cNvSpPr/>
              <p:nvPr/>
            </p:nvSpPr>
            <p:spPr>
              <a:xfrm>
                <a:off x="2781727" y="4243049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81" name="椭圆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727" y="4243049"/>
                <a:ext cx="322343" cy="322342"/>
              </a:xfrm>
              <a:prstGeom prst="ellipse">
                <a:avLst/>
              </a:prstGeom>
              <a:blipFill rotWithShape="1">
                <a:blip r:embed="rId33"/>
                <a:stretch>
                  <a:fillRect l="-2102" t="-2160" r="-1911" b="-1853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" name="椭圆 81"/>
              <p:cNvSpPr/>
              <p:nvPr/>
            </p:nvSpPr>
            <p:spPr>
              <a:xfrm>
                <a:off x="3693890" y="2317944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82" name="椭圆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3890" y="2317944"/>
                <a:ext cx="322343" cy="322342"/>
              </a:xfrm>
              <a:prstGeom prst="ellipse">
                <a:avLst/>
              </a:prstGeom>
              <a:blipFill rotWithShape="1">
                <a:blip r:embed="rId34"/>
                <a:stretch>
                  <a:fillRect l="-1999" t="-2030" r="-1817" b="-1787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文本框 82"/>
              <p:cNvSpPr txBox="1"/>
              <p:nvPr/>
            </p:nvSpPr>
            <p:spPr>
              <a:xfrm>
                <a:off x="1367042" y="5118061"/>
                <a:ext cx="4085968" cy="64633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加入队列（即在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𝑸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中）的顶点，即已访问过但还没有访问其所有相邻的顶点</a:t>
                </a:r>
                <a:endParaRPr lang="zh-CN" altLang="en-US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3" name="文本框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7042" y="5118061"/>
                <a:ext cx="4085968" cy="646331"/>
              </a:xfrm>
              <a:prstGeom prst="rect">
                <a:avLst/>
              </a:prstGeom>
              <a:blipFill rotWithShape="1">
                <a:blip r:embed="rId35"/>
                <a:stretch>
                  <a:fillRect l="-13" t="-92" r="6" b="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文本框 83"/>
              <p:cNvSpPr txBox="1"/>
              <p:nvPr/>
            </p:nvSpPr>
            <p:spPr>
              <a:xfrm>
                <a:off x="1367042" y="5855800"/>
                <a:ext cx="4053016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已访问过且已从队列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𝑸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中删除的顶点</a:t>
                </a:r>
                <a:endParaRPr lang="zh-CN" altLang="en-US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4" name="文本框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7042" y="5855800"/>
                <a:ext cx="4053016" cy="369332"/>
              </a:xfrm>
              <a:prstGeom prst="rect">
                <a:avLst/>
              </a:prstGeom>
              <a:blipFill rotWithShape="1">
                <a:blip r:embed="rId36"/>
                <a:stretch>
                  <a:fillRect l="-13" t="-126" r="8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椭圆 84"/>
              <p:cNvSpPr/>
              <p:nvPr/>
            </p:nvSpPr>
            <p:spPr>
              <a:xfrm>
                <a:off x="918450" y="5855800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85" name="椭圆 8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450" y="5855800"/>
                <a:ext cx="322343" cy="322342"/>
              </a:xfrm>
              <a:prstGeom prst="ellipse">
                <a:avLst/>
              </a:prstGeom>
              <a:blipFill rotWithShape="1">
                <a:blip r:embed="rId37"/>
                <a:stretch>
                  <a:fillRect l="-2044" t="-2114" r="-1969" b="-1900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6" name="椭圆 85"/>
              <p:cNvSpPr/>
              <p:nvPr/>
            </p:nvSpPr>
            <p:spPr>
              <a:xfrm>
                <a:off x="918450" y="5295165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86" name="椭圆 8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450" y="5295165"/>
                <a:ext cx="322343" cy="322342"/>
              </a:xfrm>
              <a:prstGeom prst="ellipse">
                <a:avLst/>
              </a:prstGeom>
              <a:blipFill rotWithShape="1">
                <a:blip r:embed="rId38"/>
                <a:stretch>
                  <a:fillRect l="-2044" t="-2136" r="-1969" b="-1878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直接连接符 88"/>
          <p:cNvCxnSpPr/>
          <p:nvPr/>
        </p:nvCxnSpPr>
        <p:spPr>
          <a:xfrm>
            <a:off x="660224" y="4849390"/>
            <a:ext cx="59408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367042" y="4664724"/>
            <a:ext cx="3216414" cy="369332"/>
          </a:xfrm>
          <a:prstGeom prst="rect">
            <a:avLst/>
          </a:prstGeom>
          <a:solidFill>
            <a:schemeClr val="accent5">
              <a:lumMod val="20000"/>
              <a:lumOff val="80000"/>
              <a:alpha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搜索未访问过顶点时经过的边</a:t>
            </a:r>
            <a:endParaRPr lang="zh-CN" altLang="en-US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文本框 90"/>
              <p:cNvSpPr txBox="1"/>
              <p:nvPr/>
            </p:nvSpPr>
            <p:spPr>
              <a:xfrm>
                <a:off x="5625163" y="4758506"/>
                <a:ext cx="5788391" cy="15799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500"/>
                  </a:spcBef>
                </a:pPr>
                <a:r>
                  <a:rPr lang="zh-CN" altLang="en-US" sz="2000" b="1">
                    <a:solidFill>
                      <a:schemeClr val="accent5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存在不同的先广遍历顶点序列</a:t>
                </a:r>
                <a:endParaRPr lang="zh-CN" altLang="en-US" sz="2000" b="1">
                  <a:solidFill>
                    <a:schemeClr val="accent5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ts val="28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取决于添加顶点所有相邻顶点时，这些相邻顶点添加到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的顺序</a:t>
                </a:r>
                <a:endParaRPr lang="en-US" altLang="zh-CN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742950" lvl="1" indent="-285750">
                  <a:spcBef>
                    <a:spcPts val="5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例如上述序列中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的顺序可能调换等等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1" name="文本框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163" y="4758506"/>
                <a:ext cx="5788391" cy="1579920"/>
              </a:xfrm>
              <a:prstGeom prst="rect">
                <a:avLst/>
              </a:prstGeom>
              <a:blipFill rotWithShape="1">
                <a:blip r:embed="rId39"/>
                <a:stretch>
                  <a:fillRect l="-6" t="-29" r="1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60" grpId="0" animBg="1"/>
      <p:bldP spid="61" grpId="0" animBg="1"/>
      <p:bldP spid="62" grpId="0" animBg="1"/>
      <p:bldP spid="69" grpId="0" animBg="1"/>
      <p:bldP spid="70" grpId="0" animBg="1"/>
      <p:bldP spid="71" grpId="0" animBg="1"/>
      <p:bldP spid="74" grpId="0" animBg="1"/>
      <p:bldP spid="75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9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图的遍历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图的先广遍历举例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椭圆 11"/>
              <p:cNvSpPr/>
              <p:nvPr/>
            </p:nvSpPr>
            <p:spPr>
              <a:xfrm>
                <a:off x="1093138" y="3186669"/>
                <a:ext cx="322343" cy="322342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2" name="椭圆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138" y="3186669"/>
                <a:ext cx="322343" cy="322342"/>
              </a:xfrm>
              <a:prstGeom prst="ellipse">
                <a:avLst/>
              </a:prstGeom>
              <a:blipFill rotWithShape="1">
                <a:blip r:embed="rId1"/>
                <a:stretch>
                  <a:fillRect l="-2064" t="-2044" r="-1949" b="-1970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椭圆 12"/>
              <p:cNvSpPr/>
              <p:nvPr/>
            </p:nvSpPr>
            <p:spPr>
              <a:xfrm>
                <a:off x="1927560" y="2338337"/>
                <a:ext cx="322343" cy="322342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3" name="椭圆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560" y="2338337"/>
                <a:ext cx="322343" cy="322342"/>
              </a:xfrm>
              <a:prstGeom prst="ellipse">
                <a:avLst/>
              </a:prstGeom>
              <a:blipFill rotWithShape="1">
                <a:blip r:embed="rId2"/>
                <a:stretch>
                  <a:fillRect l="-2074" t="-2053" r="-1940" b="-1961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椭圆 13"/>
              <p:cNvSpPr/>
              <p:nvPr/>
            </p:nvSpPr>
            <p:spPr>
              <a:xfrm>
                <a:off x="2780502" y="1488808"/>
                <a:ext cx="322343" cy="322342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4" name="椭圆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502" y="1488808"/>
                <a:ext cx="322343" cy="322342"/>
              </a:xfrm>
              <a:prstGeom prst="ellipse">
                <a:avLst/>
              </a:prstGeom>
              <a:blipFill rotWithShape="1">
                <a:blip r:embed="rId3"/>
                <a:stretch>
                  <a:fillRect l="-2116" t="-2084" r="-1897" b="-1930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椭圆 14"/>
              <p:cNvSpPr/>
              <p:nvPr/>
            </p:nvSpPr>
            <p:spPr>
              <a:xfrm>
                <a:off x="3695999" y="2318479"/>
                <a:ext cx="322343" cy="322342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5" name="椭圆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999" y="2318479"/>
                <a:ext cx="322343" cy="322342"/>
              </a:xfrm>
              <a:prstGeom prst="ellipse">
                <a:avLst/>
              </a:prstGeom>
              <a:blipFill rotWithShape="1">
                <a:blip r:embed="rId4"/>
                <a:stretch>
                  <a:fillRect l="-2063" t="-1999" r="-1951" b="-1818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椭圆 15"/>
              <p:cNvSpPr/>
              <p:nvPr/>
            </p:nvSpPr>
            <p:spPr>
              <a:xfrm>
                <a:off x="3695998" y="3510656"/>
                <a:ext cx="322343" cy="322342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6" name="椭圆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998" y="3510656"/>
                <a:ext cx="322343" cy="322342"/>
              </a:xfrm>
              <a:prstGeom prst="ellipse">
                <a:avLst/>
              </a:prstGeom>
              <a:blipFill rotWithShape="1">
                <a:blip r:embed="rId5"/>
                <a:stretch>
                  <a:fillRect l="-2062" t="-2087" r="-1951" b="-1927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椭圆 17"/>
              <p:cNvSpPr/>
              <p:nvPr/>
            </p:nvSpPr>
            <p:spPr>
              <a:xfrm>
                <a:off x="2780502" y="4246193"/>
                <a:ext cx="322343" cy="322342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8" name="椭圆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502" y="4246193"/>
                <a:ext cx="322343" cy="322342"/>
              </a:xfrm>
              <a:prstGeom prst="ellipse">
                <a:avLst/>
              </a:prstGeom>
              <a:blipFill rotWithShape="1">
                <a:blip r:embed="rId6"/>
                <a:stretch>
                  <a:fillRect l="-2116" t="-2151" r="-1897" b="-1863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接连接符 18"/>
          <p:cNvCxnSpPr>
            <a:stCxn id="12" idx="7"/>
            <a:endCxn id="13" idx="3"/>
          </p:cNvCxnSpPr>
          <p:nvPr/>
        </p:nvCxnSpPr>
        <p:spPr>
          <a:xfrm flipV="1">
            <a:off x="1368275" y="2613473"/>
            <a:ext cx="606491" cy="6204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13" idx="7"/>
            <a:endCxn id="14" idx="3"/>
          </p:cNvCxnSpPr>
          <p:nvPr/>
        </p:nvCxnSpPr>
        <p:spPr>
          <a:xfrm flipV="1">
            <a:off x="2202697" y="1763944"/>
            <a:ext cx="625011" cy="6215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stCxn id="14" idx="5"/>
            <a:endCxn id="15" idx="1"/>
          </p:cNvCxnSpPr>
          <p:nvPr/>
        </p:nvCxnSpPr>
        <p:spPr>
          <a:xfrm>
            <a:off x="3055639" y="1763944"/>
            <a:ext cx="687566" cy="6017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15" idx="4"/>
            <a:endCxn id="16" idx="0"/>
          </p:cNvCxnSpPr>
          <p:nvPr/>
        </p:nvCxnSpPr>
        <p:spPr>
          <a:xfrm flipH="1">
            <a:off x="3857170" y="2640821"/>
            <a:ext cx="1" cy="8698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stCxn id="12" idx="5"/>
            <a:endCxn id="26" idx="1"/>
          </p:cNvCxnSpPr>
          <p:nvPr/>
        </p:nvCxnSpPr>
        <p:spPr>
          <a:xfrm>
            <a:off x="1368275" y="3461805"/>
            <a:ext cx="606491" cy="8380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stCxn id="26" idx="6"/>
            <a:endCxn id="18" idx="2"/>
          </p:cNvCxnSpPr>
          <p:nvPr/>
        </p:nvCxnSpPr>
        <p:spPr>
          <a:xfrm flipV="1">
            <a:off x="2249903" y="4407364"/>
            <a:ext cx="530599" cy="6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13" idx="4"/>
            <a:endCxn id="26" idx="0"/>
          </p:cNvCxnSpPr>
          <p:nvPr/>
        </p:nvCxnSpPr>
        <p:spPr>
          <a:xfrm>
            <a:off x="2088732" y="2660679"/>
            <a:ext cx="0" cy="1591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椭圆 25"/>
              <p:cNvSpPr/>
              <p:nvPr/>
            </p:nvSpPr>
            <p:spPr>
              <a:xfrm>
                <a:off x="1927560" y="4252621"/>
                <a:ext cx="322343" cy="322342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26" name="椭圆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560" y="4252621"/>
                <a:ext cx="322343" cy="322342"/>
              </a:xfrm>
              <a:prstGeom prst="ellipse">
                <a:avLst/>
              </a:prstGeom>
              <a:blipFill rotWithShape="1">
                <a:blip r:embed="rId7"/>
                <a:stretch>
                  <a:fillRect l="-2074" t="-1978" r="-1940" b="-1839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椭圆 54"/>
              <p:cNvSpPr/>
              <p:nvPr/>
            </p:nvSpPr>
            <p:spPr>
              <a:xfrm>
                <a:off x="1093137" y="3182039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55" name="椭圆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137" y="3182039"/>
                <a:ext cx="322343" cy="322342"/>
              </a:xfrm>
              <a:prstGeom prst="ellipse">
                <a:avLst/>
              </a:prstGeom>
              <a:blipFill rotWithShape="1">
                <a:blip r:embed="rId8"/>
                <a:stretch>
                  <a:fillRect l="-2064" t="-1987" r="-1950" b="-1830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直接连接符 56"/>
          <p:cNvCxnSpPr>
            <a:stCxn id="55" idx="7"/>
            <a:endCxn id="13" idx="3"/>
          </p:cNvCxnSpPr>
          <p:nvPr/>
        </p:nvCxnSpPr>
        <p:spPr>
          <a:xfrm flipV="1">
            <a:off x="1368274" y="2613473"/>
            <a:ext cx="606492" cy="61577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stCxn id="55" idx="5"/>
            <a:endCxn id="26" idx="1"/>
          </p:cNvCxnSpPr>
          <p:nvPr/>
        </p:nvCxnSpPr>
        <p:spPr>
          <a:xfrm>
            <a:off x="1368274" y="3457175"/>
            <a:ext cx="606492" cy="84265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椭圆 59"/>
              <p:cNvSpPr/>
              <p:nvPr/>
            </p:nvSpPr>
            <p:spPr>
              <a:xfrm>
                <a:off x="1927643" y="2325809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0" name="椭圆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643" y="2325809"/>
                <a:ext cx="322343" cy="322342"/>
              </a:xfrm>
              <a:prstGeom prst="ellipse">
                <a:avLst/>
              </a:prstGeom>
              <a:blipFill rotWithShape="1">
                <a:blip r:embed="rId9"/>
                <a:stretch>
                  <a:fillRect l="-2100" t="-2106" r="-1914" b="-1908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椭圆 60"/>
              <p:cNvSpPr/>
              <p:nvPr/>
            </p:nvSpPr>
            <p:spPr>
              <a:xfrm>
                <a:off x="1927560" y="4243850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1" name="椭圆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560" y="4243850"/>
                <a:ext cx="322343" cy="322342"/>
              </a:xfrm>
              <a:prstGeom prst="ellipse">
                <a:avLst/>
              </a:prstGeom>
              <a:blipFill rotWithShape="1">
                <a:blip r:embed="rId10"/>
                <a:stretch>
                  <a:fillRect l="-2074" t="-2015" r="-1940" b="-1802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椭圆 61"/>
              <p:cNvSpPr/>
              <p:nvPr/>
            </p:nvSpPr>
            <p:spPr>
              <a:xfrm>
                <a:off x="1095323" y="3183413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2" name="椭圆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323" y="3183413"/>
                <a:ext cx="322343" cy="322342"/>
              </a:xfrm>
              <a:prstGeom prst="ellipse">
                <a:avLst/>
              </a:prstGeom>
              <a:blipFill rotWithShape="1">
                <a:blip r:embed="rId11"/>
                <a:stretch>
                  <a:fillRect l="-2151" t="-2019" r="-1863" b="-1798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直接连接符 63"/>
          <p:cNvCxnSpPr>
            <a:stCxn id="60" idx="5"/>
            <a:endCxn id="16" idx="1"/>
          </p:cNvCxnSpPr>
          <p:nvPr/>
        </p:nvCxnSpPr>
        <p:spPr>
          <a:xfrm>
            <a:off x="2202780" y="2600945"/>
            <a:ext cx="1540424" cy="9569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>
            <a:stCxn id="60" idx="7"/>
            <a:endCxn id="14" idx="3"/>
          </p:cNvCxnSpPr>
          <p:nvPr/>
        </p:nvCxnSpPr>
        <p:spPr>
          <a:xfrm flipV="1">
            <a:off x="2202780" y="1763944"/>
            <a:ext cx="624928" cy="60907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>
            <a:stCxn id="60" idx="5"/>
            <a:endCxn id="16" idx="1"/>
          </p:cNvCxnSpPr>
          <p:nvPr/>
        </p:nvCxnSpPr>
        <p:spPr>
          <a:xfrm>
            <a:off x="2202780" y="2600945"/>
            <a:ext cx="1540424" cy="956917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椭圆 68"/>
              <p:cNvSpPr/>
              <p:nvPr/>
            </p:nvSpPr>
            <p:spPr>
              <a:xfrm>
                <a:off x="2780501" y="1487669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9" name="椭圆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501" y="1487669"/>
                <a:ext cx="322343" cy="322342"/>
              </a:xfrm>
              <a:prstGeom prst="ellipse">
                <a:avLst/>
              </a:prstGeom>
              <a:blipFill rotWithShape="1">
                <a:blip r:embed="rId12"/>
                <a:stretch>
                  <a:fillRect l="-2116" t="-2125" r="-1897" b="-1889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椭圆 69"/>
              <p:cNvSpPr/>
              <p:nvPr/>
            </p:nvSpPr>
            <p:spPr>
              <a:xfrm>
                <a:off x="3695998" y="3510959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70" name="椭圆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998" y="3510959"/>
                <a:ext cx="322343" cy="322342"/>
              </a:xfrm>
              <a:prstGeom prst="ellipse">
                <a:avLst/>
              </a:prstGeom>
              <a:blipFill rotWithShape="1">
                <a:blip r:embed="rId13"/>
                <a:stretch>
                  <a:fillRect l="-2062" t="-1984" r="-1951" b="-1833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椭圆 70"/>
              <p:cNvSpPr/>
              <p:nvPr/>
            </p:nvSpPr>
            <p:spPr>
              <a:xfrm>
                <a:off x="1927477" y="2326147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71" name="椭圆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477" y="2326147"/>
                <a:ext cx="322343" cy="322342"/>
              </a:xfrm>
              <a:prstGeom prst="ellipse">
                <a:avLst/>
              </a:prstGeom>
              <a:blipFill rotWithShape="1">
                <a:blip r:embed="rId14"/>
                <a:stretch>
                  <a:fillRect l="-2048" t="-2014" r="-1965" b="-1803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直接连接符 72"/>
          <p:cNvCxnSpPr>
            <a:stCxn id="61" idx="6"/>
            <a:endCxn id="18" idx="2"/>
          </p:cNvCxnSpPr>
          <p:nvPr/>
        </p:nvCxnSpPr>
        <p:spPr>
          <a:xfrm>
            <a:off x="2249903" y="4405021"/>
            <a:ext cx="530599" cy="234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椭圆 73"/>
              <p:cNvSpPr/>
              <p:nvPr/>
            </p:nvSpPr>
            <p:spPr>
              <a:xfrm>
                <a:off x="1927477" y="4246043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74" name="椭圆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477" y="4246043"/>
                <a:ext cx="322343" cy="322342"/>
              </a:xfrm>
              <a:prstGeom prst="ellipse">
                <a:avLst/>
              </a:prstGeom>
              <a:blipFill rotWithShape="1">
                <a:blip r:embed="rId15"/>
                <a:stretch>
                  <a:fillRect l="-2048" t="-2104" r="-1965" b="-1909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椭圆 74"/>
              <p:cNvSpPr/>
              <p:nvPr/>
            </p:nvSpPr>
            <p:spPr>
              <a:xfrm>
                <a:off x="2780501" y="4241332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75" name="椭圆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501" y="4241332"/>
                <a:ext cx="322343" cy="322342"/>
              </a:xfrm>
              <a:prstGeom prst="ellipse">
                <a:avLst/>
              </a:prstGeom>
              <a:blipFill rotWithShape="1">
                <a:blip r:embed="rId16"/>
                <a:stretch>
                  <a:fillRect l="-2116" t="-2022" r="-1897" b="-1795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接连接符 76"/>
          <p:cNvCxnSpPr>
            <a:stCxn id="69" idx="5"/>
            <a:endCxn id="15" idx="1"/>
          </p:cNvCxnSpPr>
          <p:nvPr/>
        </p:nvCxnSpPr>
        <p:spPr>
          <a:xfrm>
            <a:off x="3055638" y="1762805"/>
            <a:ext cx="687567" cy="60288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椭圆 77"/>
              <p:cNvSpPr/>
              <p:nvPr/>
            </p:nvSpPr>
            <p:spPr>
              <a:xfrm>
                <a:off x="3699765" y="2318514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78" name="椭圆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765" y="2318514"/>
                <a:ext cx="322343" cy="322342"/>
              </a:xfrm>
              <a:prstGeom prst="ellipse">
                <a:avLst/>
              </a:prstGeom>
              <a:blipFill rotWithShape="1">
                <a:blip r:embed="rId17"/>
                <a:stretch>
                  <a:fillRect l="-2049" t="-2010" r="-1964" b="-1807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椭圆 78"/>
              <p:cNvSpPr/>
              <p:nvPr/>
            </p:nvSpPr>
            <p:spPr>
              <a:xfrm>
                <a:off x="2780500" y="1482004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79" name="椭圆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500" y="1482004"/>
                <a:ext cx="322343" cy="322342"/>
              </a:xfrm>
              <a:prstGeom prst="ellipse">
                <a:avLst/>
              </a:prstGeom>
              <a:blipFill rotWithShape="1">
                <a:blip r:embed="rId18"/>
                <a:stretch>
                  <a:fillRect l="-2116" t="-2140" r="-1898" b="-1873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椭圆 79"/>
              <p:cNvSpPr/>
              <p:nvPr/>
            </p:nvSpPr>
            <p:spPr>
              <a:xfrm>
                <a:off x="3695998" y="3512029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80" name="椭圆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998" y="3512029"/>
                <a:ext cx="322343" cy="322342"/>
              </a:xfrm>
              <a:prstGeom prst="ellipse">
                <a:avLst/>
              </a:prstGeom>
              <a:blipFill rotWithShape="1">
                <a:blip r:embed="rId19"/>
                <a:stretch>
                  <a:fillRect l="-2062" t="-2119" r="-1951" b="-1895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椭圆 80"/>
              <p:cNvSpPr/>
              <p:nvPr/>
            </p:nvSpPr>
            <p:spPr>
              <a:xfrm>
                <a:off x="2781727" y="4243049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81" name="椭圆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727" y="4243049"/>
                <a:ext cx="322343" cy="322342"/>
              </a:xfrm>
              <a:prstGeom prst="ellipse">
                <a:avLst/>
              </a:prstGeom>
              <a:blipFill rotWithShape="1">
                <a:blip r:embed="rId20"/>
                <a:stretch>
                  <a:fillRect l="-2102" t="-2160" r="-1911" b="-1853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" name="椭圆 81"/>
              <p:cNvSpPr/>
              <p:nvPr/>
            </p:nvSpPr>
            <p:spPr>
              <a:xfrm>
                <a:off x="3693890" y="2317944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82" name="椭圆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3890" y="2317944"/>
                <a:ext cx="322343" cy="322342"/>
              </a:xfrm>
              <a:prstGeom prst="ellipse">
                <a:avLst/>
              </a:prstGeom>
              <a:blipFill rotWithShape="1">
                <a:blip r:embed="rId21"/>
                <a:stretch>
                  <a:fillRect l="-1999" t="-2030" r="-1817" b="-1787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文本框 82"/>
              <p:cNvSpPr txBox="1"/>
              <p:nvPr/>
            </p:nvSpPr>
            <p:spPr>
              <a:xfrm>
                <a:off x="1367042" y="5118061"/>
                <a:ext cx="4085968" cy="64633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加入队列（即在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𝑸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中）的顶点，即已访问过但还没有访问其所有相邻的顶点</a:t>
                </a:r>
                <a:endParaRPr lang="zh-CN" altLang="en-US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3" name="文本框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7042" y="5118061"/>
                <a:ext cx="4085968" cy="646331"/>
              </a:xfrm>
              <a:prstGeom prst="rect">
                <a:avLst/>
              </a:prstGeom>
              <a:blipFill rotWithShape="1">
                <a:blip r:embed="rId22"/>
                <a:stretch>
                  <a:fillRect l="-13" t="-92" r="6" b="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文本框 83"/>
              <p:cNvSpPr txBox="1"/>
              <p:nvPr/>
            </p:nvSpPr>
            <p:spPr>
              <a:xfrm>
                <a:off x="1367042" y="5855800"/>
                <a:ext cx="4053016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已访问过且已从队列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𝑸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中删除的顶点</a:t>
                </a:r>
                <a:endParaRPr lang="zh-CN" altLang="en-US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4" name="文本框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7042" y="5855800"/>
                <a:ext cx="4053016" cy="369332"/>
              </a:xfrm>
              <a:prstGeom prst="rect">
                <a:avLst/>
              </a:prstGeom>
              <a:blipFill rotWithShape="1">
                <a:blip r:embed="rId23"/>
                <a:stretch>
                  <a:fillRect l="-13" t="-126" r="8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椭圆 84"/>
              <p:cNvSpPr/>
              <p:nvPr/>
            </p:nvSpPr>
            <p:spPr>
              <a:xfrm>
                <a:off x="918450" y="5855800"/>
                <a:ext cx="322343" cy="32234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85" name="椭圆 8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450" y="5855800"/>
                <a:ext cx="322343" cy="322342"/>
              </a:xfrm>
              <a:prstGeom prst="ellipse">
                <a:avLst/>
              </a:prstGeom>
              <a:blipFill rotWithShape="1">
                <a:blip r:embed="rId24"/>
                <a:stretch>
                  <a:fillRect l="-2044" t="-2114" r="-1969" b="-1900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6" name="椭圆 85"/>
              <p:cNvSpPr/>
              <p:nvPr/>
            </p:nvSpPr>
            <p:spPr>
              <a:xfrm>
                <a:off x="918450" y="5295165"/>
                <a:ext cx="322343" cy="3223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zh-CN" altLang="en-US" sz="1600" b="1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86" name="椭圆 8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450" y="5295165"/>
                <a:ext cx="322343" cy="322342"/>
              </a:xfrm>
              <a:prstGeom prst="ellipse">
                <a:avLst/>
              </a:prstGeom>
              <a:blipFill rotWithShape="1">
                <a:blip r:embed="rId25"/>
                <a:stretch>
                  <a:fillRect l="-2044" t="-2136" r="-1969" b="-1878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直接连接符 88"/>
          <p:cNvCxnSpPr/>
          <p:nvPr/>
        </p:nvCxnSpPr>
        <p:spPr>
          <a:xfrm>
            <a:off x="660224" y="4849390"/>
            <a:ext cx="59408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367042" y="4664724"/>
            <a:ext cx="3216414" cy="369332"/>
          </a:xfrm>
          <a:prstGeom prst="rect">
            <a:avLst/>
          </a:prstGeom>
          <a:solidFill>
            <a:schemeClr val="accent5">
              <a:lumMod val="20000"/>
              <a:lumOff val="80000"/>
              <a:alpha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搜索未访问过顶点时经过的边</a:t>
            </a:r>
            <a:endParaRPr lang="zh-CN" altLang="en-US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文本框 91"/>
              <p:cNvSpPr txBox="1"/>
              <p:nvPr/>
            </p:nvSpPr>
            <p:spPr>
              <a:xfrm>
                <a:off x="5005416" y="1882653"/>
                <a:ext cx="6210783" cy="132343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队列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𝑄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为空时，这时若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还有不在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𝑻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中的顶点，表明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不是连通图</a:t>
                </a:r>
                <a:endPara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任选一个这样的顶点继续遍历，否则算法终止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92" name="文本框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416" y="1882653"/>
                <a:ext cx="6210783" cy="1323439"/>
              </a:xfrm>
              <a:prstGeom prst="rect">
                <a:avLst/>
              </a:prstGeom>
              <a:blipFill rotWithShape="1">
                <a:blip r:embed="rId26"/>
                <a:stretch>
                  <a:fillRect l="-6" t="-39" r="3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文本框 75"/>
              <p:cNvSpPr txBox="1"/>
              <p:nvPr/>
            </p:nvSpPr>
            <p:spPr>
              <a:xfrm>
                <a:off x="5005416" y="3566728"/>
                <a:ext cx="6267135" cy="13717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从一个顶点到它所有尚未遍历的相邻顶点所经过的边（左边使用红色线绘制的边）构成图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的一个生成子图</a:t>
                </a:r>
                <a:endPara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也是图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的一棵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生成树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(spanning tree)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76" name="文本框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416" y="3566728"/>
                <a:ext cx="6267135" cy="1371786"/>
              </a:xfrm>
              <a:prstGeom prst="rect">
                <a:avLst/>
              </a:prstGeom>
              <a:blipFill rotWithShape="1">
                <a:blip r:embed="rId27"/>
                <a:stretch>
                  <a:fillRect l="-6" t="-41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图的遍历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图的先广遍历算法描述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501" y="1875844"/>
            <a:ext cx="9936702" cy="36740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5492312" y="1563099"/>
                <a:ext cx="5749657" cy="193681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整个算法总的时间复杂度也是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行的循环总共执行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次，每个顶点都会添加到队列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中一次且仅一次</a:t>
                </a:r>
                <a:endParaRPr lang="zh-CN" altLang="en-US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行语句对于图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的每个顶点都要考察它的所有相邻顶点，最坏情况下花费的时间是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2312" y="1563099"/>
                <a:ext cx="5749657" cy="1936812"/>
              </a:xfrm>
              <a:prstGeom prst="rect">
                <a:avLst/>
              </a:prstGeom>
              <a:blipFill rotWithShape="1">
                <a:blip r:embed="rId2"/>
                <a:stretch>
                  <a:fillRect l="-3" t="-19" r="10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图的遍历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图的先深遍历练习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4088" y="1478446"/>
            <a:ext cx="8323822" cy="260010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026508" y="4452207"/>
                <a:ext cx="8231402" cy="92333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给出一个从顶点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开始的先广遍历的序列？</a:t>
                </a:r>
                <a:endParaRPr lang="zh-CN" altLang="en-US" sz="2400" b="1">
                  <a:solidFill>
                    <a:schemeClr val="accent6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并给出从一个顶点走向一个新的顶点时的边（这些边构成图的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生成树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）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508" y="4452207"/>
                <a:ext cx="8231402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3" t="-24" r="-932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图的遍历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图的先广遍历练习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939618" y="4235111"/>
                <a:ext cx="5633318" cy="164974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一个从顶点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开始的先广序列：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</m:oMath>
                  </m:oMathPara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一个顶点走向尚未遍历的所有相邻顶点经过的边见上图实线边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618" y="4235111"/>
                <a:ext cx="5633318" cy="1649747"/>
              </a:xfrm>
              <a:prstGeom prst="rect">
                <a:avLst/>
              </a:prstGeom>
              <a:blipFill rotWithShape="1">
                <a:blip r:embed="rId1"/>
                <a:stretch>
                  <a:fillRect l="-8" t="-18" r="1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6979701" y="4669820"/>
                <a:ext cx="4272681" cy="78149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左边给出的先广遍历序列中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之间顺序可随机排列、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之间顺序可随机排列</a:t>
                </a:r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701" y="4669820"/>
                <a:ext cx="4272681" cy="781496"/>
              </a:xfrm>
              <a:prstGeom prst="rect">
                <a:avLst/>
              </a:prstGeom>
              <a:blipFill rotWithShape="1">
                <a:blip r:embed="rId2"/>
                <a:stretch>
                  <a:fillRect l="-10" t="-4" r="4" b="-423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083" y="1311416"/>
            <a:ext cx="7833831" cy="241604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总结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33977" y="1451857"/>
            <a:ext cx="5876009" cy="4401205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>
                <a:solidFill>
                  <a:srgbClr val="002060"/>
                </a:solidFill>
              </a:rPr>
              <a:t>图的基础知识</a:t>
            </a:r>
            <a:endParaRPr lang="zh-CN" altLang="en-US" sz="2000" b="1">
              <a:solidFill>
                <a:srgbClr val="002060"/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无向图和有向图的定义以及相关的基本概念</a:t>
            </a:r>
            <a:endParaRPr lang="zh-CN" altLang="en-US" sz="2000" b="1">
              <a:solidFill>
                <a:schemeClr val="accent6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latin typeface="+mn-ea"/>
              </a:rPr>
              <a:t>顶点与边的关联关系、顶点的度数、简单图、完全图和二部图</a:t>
            </a:r>
            <a:endParaRPr lang="zh-CN" altLang="en-US" b="1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定义图的通路、回路的基础上讨论图的连通性</a:t>
            </a:r>
            <a:endParaRPr lang="zh-CN" altLang="en-US" sz="2000" b="1">
              <a:solidFill>
                <a:schemeClr val="accent6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latin typeface="+mn-ea"/>
              </a:rPr>
              <a:t>无向图的点割集、边割集、点连通度和边连通度</a:t>
            </a:r>
            <a:endParaRPr lang="zh-CN" altLang="en-US" b="1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800100" lvl="1" indent="-3429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latin typeface="+mn-ea"/>
              </a:rPr>
              <a:t>有向图的强连通、单向连通和弱连通</a:t>
            </a:r>
            <a:endParaRPr lang="zh-CN" altLang="en-US" b="1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图可用关联矩阵、邻接矩阵和邻接表存储</a:t>
            </a:r>
            <a:endParaRPr lang="zh-CN" altLang="en-US" sz="2000" b="1">
              <a:solidFill>
                <a:schemeClr val="accent6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latin typeface="+mn-ea"/>
              </a:rPr>
              <a:t>邻接矩阵的幂可给出图任意两个顶点间的通路数</a:t>
            </a:r>
            <a:endParaRPr lang="zh-CN" altLang="en-US" b="1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图的先深遍历和先广遍历</a:t>
            </a:r>
            <a:endParaRPr lang="zh-CN" altLang="en-US" sz="2000" b="1">
              <a:solidFill>
                <a:schemeClr val="accent6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67572" y="962140"/>
            <a:ext cx="4190451" cy="53806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000" b="1">
                <a:solidFill>
                  <a:srgbClr val="C00000"/>
                </a:solidFill>
              </a:rPr>
              <a:t>学习这一部分的目标</a:t>
            </a:r>
            <a:endParaRPr lang="zh-CN" altLang="en-US" sz="2000" b="1">
              <a:solidFill>
                <a:srgbClr val="C00000"/>
              </a:solidFill>
            </a:endParaRPr>
          </a:p>
          <a:p>
            <a:pPr marL="342900" indent="-3429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能给出图的顶点度数、一些复杂图的边数和顶点数</a:t>
            </a:r>
            <a:endParaRPr lang="zh-CN" altLang="en-US" sz="2000" b="1">
              <a:solidFill>
                <a:schemeClr val="accent2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4">
                    <a:lumMod val="50000"/>
                  </a:schemeClr>
                </a:solidFill>
                <a:latin typeface="+mn-ea"/>
              </a:rPr>
              <a:t>能用握手定理证明有关图顶点数、顶点度数、边数的简单性质</a:t>
            </a:r>
            <a:endParaRPr lang="zh-CN" altLang="en-US" b="1">
              <a:solidFill>
                <a:schemeClr val="accent4">
                  <a:lumMod val="50000"/>
                </a:schemeClr>
              </a:solidFill>
              <a:latin typeface="+mn-ea"/>
            </a:endParaRPr>
          </a:p>
          <a:p>
            <a:pPr marL="342900" indent="-3429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能给出图的关联矩阵、邻接矩阵和邻接表表示</a:t>
            </a:r>
            <a:endParaRPr lang="zh-CN" altLang="en-US" sz="2000" b="1">
              <a:solidFill>
                <a:schemeClr val="accent2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能判断一个有向图是否是强连通、单向连通或弱连通</a:t>
            </a:r>
            <a:endParaRPr lang="zh-CN" altLang="en-US" sz="2000" b="1">
              <a:solidFill>
                <a:schemeClr val="accent2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4">
                    <a:lumMod val="50000"/>
                  </a:schemeClr>
                </a:solidFill>
                <a:latin typeface="+mn-ea"/>
              </a:rPr>
              <a:t>能给出图的点割集、边割集、确定图的点连通度、边连通度</a:t>
            </a:r>
            <a:endParaRPr lang="zh-CN" altLang="en-US" b="1">
              <a:solidFill>
                <a:schemeClr val="accent4">
                  <a:lumMod val="50000"/>
                </a:schemeClr>
              </a:solidFill>
              <a:latin typeface="+mn-ea"/>
            </a:endParaRPr>
          </a:p>
          <a:p>
            <a:pPr marL="342900" indent="-3429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对于图的先深遍历和先广遍历要能给出算法输出的顶点访问序列</a:t>
            </a:r>
            <a:endParaRPr lang="zh-CN" altLang="en-US" sz="2000" b="1">
              <a:solidFill>
                <a:schemeClr val="accent2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作业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511C6389-7226-43B9-9250-70FB7F990DBF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/47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作业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19118" y="3193704"/>
            <a:ext cx="8924871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教材练习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9.2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、练习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9.12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、练习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9.13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和练习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9.23</a:t>
            </a:r>
            <a:endParaRPr lang="zh-CN" altLang="en-US" sz="3200" b="1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第二十八讲  图的基础知识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921252" y="2001283"/>
            <a:ext cx="8571678" cy="2383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400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谢谢大家！</a:t>
            </a:r>
            <a:endParaRPr lang="en-US" altLang="zh-CN" sz="400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400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有什么问题和建议请及时反馈给老师！</a:t>
            </a:r>
            <a:endParaRPr lang="zh-CN" altLang="en-US" sz="400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2U4OGRhNmIyZDU4NjBkZGRhNTk5ZGMxZjVlYTc4Zm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16668</Words>
  <Application>WPS 演示</Application>
  <PresentationFormat>宽屏</PresentationFormat>
  <Paragraphs>1250</Paragraphs>
  <Slides>48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61" baseType="lpstr">
      <vt:lpstr>Arial</vt:lpstr>
      <vt:lpstr>宋体</vt:lpstr>
      <vt:lpstr>Wingdings</vt:lpstr>
      <vt:lpstr>楷体</vt:lpstr>
      <vt:lpstr>仿宋</vt:lpstr>
      <vt:lpstr>Cambria Math</vt:lpstr>
      <vt:lpstr>等线</vt:lpstr>
      <vt:lpstr>微软雅黑</vt:lpstr>
      <vt:lpstr>Arial Unicode MS</vt:lpstr>
      <vt:lpstr>等线 Light</vt:lpstr>
      <vt:lpstr>华文新魏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李绿周</cp:lastModifiedBy>
  <cp:revision>137</cp:revision>
  <dcterms:created xsi:type="dcterms:W3CDTF">2022-01-01T06:39:00Z</dcterms:created>
  <dcterms:modified xsi:type="dcterms:W3CDTF">2024-12-16T15:36:43Z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B9FCCF11FD5C4470819CEB5B9E9E74FA_12</vt:lpwstr>
  </property>
  <property fmtid="{D5CDD505-2E9C-101B-9397-08002B2CF9AE}" pid="3" name="KSOProductBuildVer">
    <vt:lpwstr>2052-12.1.0.16120</vt:lpwstr>
  </property>
</Properties>
</file>