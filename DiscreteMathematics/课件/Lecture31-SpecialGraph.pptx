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307" r:id="rId3"/>
    <p:sldId id="259" r:id="rId4"/>
    <p:sldId id="257" r:id="rId5"/>
    <p:sldId id="284" r:id="rId6"/>
    <p:sldId id="283" r:id="rId7"/>
    <p:sldId id="303" r:id="rId8"/>
    <p:sldId id="285" r:id="rId9"/>
    <p:sldId id="286" r:id="rId10"/>
    <p:sldId id="288" r:id="rId11"/>
    <p:sldId id="289" r:id="rId12"/>
    <p:sldId id="287" r:id="rId13"/>
    <p:sldId id="292" r:id="rId14"/>
    <p:sldId id="304" r:id="rId15"/>
    <p:sldId id="290" r:id="rId16"/>
    <p:sldId id="281" r:id="rId17"/>
    <p:sldId id="293" r:id="rId18"/>
    <p:sldId id="261" r:id="rId19"/>
    <p:sldId id="296" r:id="rId20"/>
    <p:sldId id="294" r:id="rId21"/>
    <p:sldId id="295" r:id="rId22"/>
    <p:sldId id="306" r:id="rId23"/>
    <p:sldId id="282" r:id="rId24"/>
    <p:sldId id="298" r:id="rId25"/>
    <p:sldId id="260" r:id="rId26"/>
    <p:sldId id="297" r:id="rId27"/>
    <p:sldId id="302" r:id="rId28"/>
    <p:sldId id="300" r:id="rId29"/>
    <p:sldId id="301" r:id="rId30"/>
    <p:sldId id="305" r:id="rId31"/>
    <p:sldId id="272" r:id="rId32"/>
    <p:sldId id="280" r:id="rId33"/>
    <p:sldId id="262" r:id="rId3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E5EFE5"/>
    <a:srgbClr val="210694"/>
    <a:srgbClr val="371EA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8" d="100"/>
          <a:sy n="108" d="100"/>
        </p:scale>
        <p:origin x="678"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125C966-37BD-47D9-B990-1A6A1FE5F0BC}"/>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949D9C34-EDDD-43FE-AA35-963FFD1FF85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1EDC7551-9C6F-433E-BFE6-8AEE56E52D31}"/>
              </a:ext>
            </a:extLst>
          </p:cNvPr>
          <p:cNvSpPr>
            <a:spLocks noGrp="1"/>
          </p:cNvSpPr>
          <p:nvPr>
            <p:ph type="dt" sz="half" idx="10"/>
          </p:nvPr>
        </p:nvSpPr>
        <p:spPr/>
        <p:txBody>
          <a:bodyPr/>
          <a:lstStyle/>
          <a:p>
            <a:fld id="{B210D257-3BE1-47F0-9688-13EF46E6FAF0}" type="datetimeFigureOut">
              <a:rPr lang="zh-CN" altLang="en-US" smtClean="0"/>
              <a:t>2024/12/25</a:t>
            </a:fld>
            <a:endParaRPr lang="zh-CN" altLang="en-US"/>
          </a:p>
        </p:txBody>
      </p:sp>
      <p:sp>
        <p:nvSpPr>
          <p:cNvPr id="5" name="页脚占位符 4">
            <a:extLst>
              <a:ext uri="{FF2B5EF4-FFF2-40B4-BE49-F238E27FC236}">
                <a16:creationId xmlns:a16="http://schemas.microsoft.com/office/drawing/2014/main" id="{89AB5C2D-712F-4BD8-8984-2E37A2E7B57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A768131-A3B7-4C5E-B375-3F29F68D7C49}"/>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40947352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58F472E-5B0D-4E91-BB50-ECBA94C2E631}"/>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F177F74-E5FC-4615-B7E8-20F6A6DB7F35}"/>
              </a:ext>
            </a:extLst>
          </p:cNvPr>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A5F970FA-6208-41BC-9952-B73C8408CA34}"/>
              </a:ext>
            </a:extLst>
          </p:cNvPr>
          <p:cNvSpPr>
            <a:spLocks noGrp="1"/>
          </p:cNvSpPr>
          <p:nvPr>
            <p:ph type="dt" sz="half" idx="10"/>
          </p:nvPr>
        </p:nvSpPr>
        <p:spPr/>
        <p:txBody>
          <a:bodyPr/>
          <a:lstStyle/>
          <a:p>
            <a:fld id="{B210D257-3BE1-47F0-9688-13EF46E6FAF0}" type="datetimeFigureOut">
              <a:rPr lang="zh-CN" altLang="en-US" smtClean="0"/>
              <a:t>2024/12/25</a:t>
            </a:fld>
            <a:endParaRPr lang="zh-CN" altLang="en-US"/>
          </a:p>
        </p:txBody>
      </p:sp>
      <p:sp>
        <p:nvSpPr>
          <p:cNvPr id="5" name="页脚占位符 4">
            <a:extLst>
              <a:ext uri="{FF2B5EF4-FFF2-40B4-BE49-F238E27FC236}">
                <a16:creationId xmlns:a16="http://schemas.microsoft.com/office/drawing/2014/main" id="{D89E956F-7F1A-45B2-B0A8-4B3F89E0D8F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517906B-5520-4C03-AF06-04CC1D32DDF0}"/>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12393900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C62F85A-8626-4377-9B95-C3BCE689EF93}"/>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165CC3ED-9C63-44ED-B9B0-6DEF5888BA3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a:extLst>
              <a:ext uri="{FF2B5EF4-FFF2-40B4-BE49-F238E27FC236}">
                <a16:creationId xmlns:a16="http://schemas.microsoft.com/office/drawing/2014/main" id="{14B6DFFE-3901-49AD-A23B-DAADBF816EE9}"/>
              </a:ext>
            </a:extLst>
          </p:cNvPr>
          <p:cNvSpPr>
            <a:spLocks noGrp="1"/>
          </p:cNvSpPr>
          <p:nvPr>
            <p:ph type="dt" sz="half" idx="10"/>
          </p:nvPr>
        </p:nvSpPr>
        <p:spPr/>
        <p:txBody>
          <a:bodyPr/>
          <a:lstStyle/>
          <a:p>
            <a:fld id="{B210D257-3BE1-47F0-9688-13EF46E6FAF0}" type="datetimeFigureOut">
              <a:rPr lang="zh-CN" altLang="en-US" smtClean="0"/>
              <a:t>2024/12/25</a:t>
            </a:fld>
            <a:endParaRPr lang="zh-CN" altLang="en-US"/>
          </a:p>
        </p:txBody>
      </p:sp>
      <p:sp>
        <p:nvSpPr>
          <p:cNvPr id="5" name="页脚占位符 4">
            <a:extLst>
              <a:ext uri="{FF2B5EF4-FFF2-40B4-BE49-F238E27FC236}">
                <a16:creationId xmlns:a16="http://schemas.microsoft.com/office/drawing/2014/main" id="{9FDA56A1-C10E-4508-8423-482B54B9357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63F4EA9-AE40-466B-8BBA-D73061D2E3AB}"/>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24824494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220194D-B1A6-423E-8567-1D4773BE067E}"/>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9ED5B8A5-9958-4755-8578-AB3E7F5EABAC}"/>
              </a:ext>
            </a:extLst>
          </p:cNvPr>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a:extLst>
              <a:ext uri="{FF2B5EF4-FFF2-40B4-BE49-F238E27FC236}">
                <a16:creationId xmlns:a16="http://schemas.microsoft.com/office/drawing/2014/main" id="{6065FEEF-9B48-4FEF-B214-814D954FB3BB}"/>
              </a:ext>
            </a:extLst>
          </p:cNvPr>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a:extLst>
              <a:ext uri="{FF2B5EF4-FFF2-40B4-BE49-F238E27FC236}">
                <a16:creationId xmlns:a16="http://schemas.microsoft.com/office/drawing/2014/main" id="{3F378CEB-CAC4-44A7-BF8C-619E5F63832D}"/>
              </a:ext>
            </a:extLst>
          </p:cNvPr>
          <p:cNvSpPr>
            <a:spLocks noGrp="1"/>
          </p:cNvSpPr>
          <p:nvPr>
            <p:ph type="dt" sz="half" idx="10"/>
          </p:nvPr>
        </p:nvSpPr>
        <p:spPr/>
        <p:txBody>
          <a:bodyPr/>
          <a:lstStyle/>
          <a:p>
            <a:fld id="{B210D257-3BE1-47F0-9688-13EF46E6FAF0}" type="datetimeFigureOut">
              <a:rPr lang="zh-CN" altLang="en-US" smtClean="0"/>
              <a:t>2024/12/25</a:t>
            </a:fld>
            <a:endParaRPr lang="zh-CN" altLang="en-US"/>
          </a:p>
        </p:txBody>
      </p:sp>
      <p:sp>
        <p:nvSpPr>
          <p:cNvPr id="6" name="页脚占位符 5">
            <a:extLst>
              <a:ext uri="{FF2B5EF4-FFF2-40B4-BE49-F238E27FC236}">
                <a16:creationId xmlns:a16="http://schemas.microsoft.com/office/drawing/2014/main" id="{0FB4D173-9554-4FD1-934F-E0560855A503}"/>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B2220FE5-6E21-40AD-B421-66883AE5B1F3}"/>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17541794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F14D51D-48AE-4549-AF1D-56C75AC83302}"/>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C1613486-A6B7-4936-82B0-E10BDB21C33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14BDFA65-5C0E-4252-8C9B-B90DD4CCDDD1}"/>
              </a:ext>
            </a:extLst>
          </p:cNvPr>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BB4E4F45-9135-423B-8512-3D3B66E05C7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9E069E3F-B963-45F3-91B6-D205A1191B1C}"/>
              </a:ext>
            </a:extLst>
          </p:cNvPr>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8641007C-6C31-4736-97F0-D4F386B525D7}"/>
              </a:ext>
            </a:extLst>
          </p:cNvPr>
          <p:cNvSpPr>
            <a:spLocks noGrp="1"/>
          </p:cNvSpPr>
          <p:nvPr>
            <p:ph type="dt" sz="half" idx="10"/>
          </p:nvPr>
        </p:nvSpPr>
        <p:spPr/>
        <p:txBody>
          <a:bodyPr/>
          <a:lstStyle/>
          <a:p>
            <a:fld id="{B210D257-3BE1-47F0-9688-13EF46E6FAF0}" type="datetimeFigureOut">
              <a:rPr lang="zh-CN" altLang="en-US" smtClean="0"/>
              <a:t>2024/12/25</a:t>
            </a:fld>
            <a:endParaRPr lang="zh-CN" altLang="en-US"/>
          </a:p>
        </p:txBody>
      </p:sp>
      <p:sp>
        <p:nvSpPr>
          <p:cNvPr id="8" name="页脚占位符 7">
            <a:extLst>
              <a:ext uri="{FF2B5EF4-FFF2-40B4-BE49-F238E27FC236}">
                <a16:creationId xmlns:a16="http://schemas.microsoft.com/office/drawing/2014/main" id="{9CD96F3D-805F-4F39-B2E8-793DA215EC99}"/>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B7E010EE-B88E-45E1-9D23-68338C378EE1}"/>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3168244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A2ADC8-2060-472F-B376-EF7735FFD16C}"/>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F3F03157-24D5-4CF4-A9B9-8E1585E3A17A}"/>
              </a:ext>
            </a:extLst>
          </p:cNvPr>
          <p:cNvSpPr>
            <a:spLocks noGrp="1"/>
          </p:cNvSpPr>
          <p:nvPr>
            <p:ph type="dt" sz="half" idx="10"/>
          </p:nvPr>
        </p:nvSpPr>
        <p:spPr/>
        <p:txBody>
          <a:bodyPr/>
          <a:lstStyle/>
          <a:p>
            <a:fld id="{B210D257-3BE1-47F0-9688-13EF46E6FAF0}" type="datetimeFigureOut">
              <a:rPr lang="zh-CN" altLang="en-US" smtClean="0"/>
              <a:t>2024/12/25</a:t>
            </a:fld>
            <a:endParaRPr lang="zh-CN" altLang="en-US"/>
          </a:p>
        </p:txBody>
      </p:sp>
      <p:sp>
        <p:nvSpPr>
          <p:cNvPr id="4" name="页脚占位符 3">
            <a:extLst>
              <a:ext uri="{FF2B5EF4-FFF2-40B4-BE49-F238E27FC236}">
                <a16:creationId xmlns:a16="http://schemas.microsoft.com/office/drawing/2014/main" id="{5158797F-EEA8-48BE-8B26-A4DEC089D2B9}"/>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5CCEC0BF-A5F1-4329-A69F-A2E97F2F933F}"/>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9234298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04962F89-7924-4C29-8A36-A187864F0D94}"/>
              </a:ext>
            </a:extLst>
          </p:cNvPr>
          <p:cNvSpPr>
            <a:spLocks noGrp="1"/>
          </p:cNvSpPr>
          <p:nvPr>
            <p:ph type="dt" sz="half" idx="10"/>
          </p:nvPr>
        </p:nvSpPr>
        <p:spPr/>
        <p:txBody>
          <a:bodyPr/>
          <a:lstStyle/>
          <a:p>
            <a:fld id="{B210D257-3BE1-47F0-9688-13EF46E6FAF0}" type="datetimeFigureOut">
              <a:rPr lang="zh-CN" altLang="en-US" smtClean="0"/>
              <a:t>2024/12/25</a:t>
            </a:fld>
            <a:endParaRPr lang="zh-CN" altLang="en-US"/>
          </a:p>
        </p:txBody>
      </p:sp>
      <p:sp>
        <p:nvSpPr>
          <p:cNvPr id="3" name="页脚占位符 2">
            <a:extLst>
              <a:ext uri="{FF2B5EF4-FFF2-40B4-BE49-F238E27FC236}">
                <a16:creationId xmlns:a16="http://schemas.microsoft.com/office/drawing/2014/main" id="{7FBF266C-AFEF-45A5-849E-297FB204FB37}"/>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811EA0BA-3C3D-49EE-9CDB-87DE9AE7DE74}"/>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3177362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82FB4FE-648E-4EF3-8D1A-8E1FB94A3B98}"/>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EC048A91-18A2-4585-8FDF-BAE0417842D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82A5E1E5-EFFB-4FD1-8582-04C87F68964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5F8D2070-3C57-4261-8F23-7139B0001B0C}"/>
              </a:ext>
            </a:extLst>
          </p:cNvPr>
          <p:cNvSpPr>
            <a:spLocks noGrp="1"/>
          </p:cNvSpPr>
          <p:nvPr>
            <p:ph type="dt" sz="half" idx="10"/>
          </p:nvPr>
        </p:nvSpPr>
        <p:spPr/>
        <p:txBody>
          <a:bodyPr/>
          <a:lstStyle/>
          <a:p>
            <a:fld id="{B210D257-3BE1-47F0-9688-13EF46E6FAF0}" type="datetimeFigureOut">
              <a:rPr lang="zh-CN" altLang="en-US" smtClean="0"/>
              <a:t>2024/12/25</a:t>
            </a:fld>
            <a:endParaRPr lang="zh-CN" altLang="en-US"/>
          </a:p>
        </p:txBody>
      </p:sp>
      <p:sp>
        <p:nvSpPr>
          <p:cNvPr id="6" name="页脚占位符 5">
            <a:extLst>
              <a:ext uri="{FF2B5EF4-FFF2-40B4-BE49-F238E27FC236}">
                <a16:creationId xmlns:a16="http://schemas.microsoft.com/office/drawing/2014/main" id="{D59315EF-988A-4D48-94A2-7B85AA02064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063DAB40-17E3-4D3D-9132-0FEDD2CCD27D}"/>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7093182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FBBA4F2-A211-43F3-B4AE-5D35DBC7CE8D}"/>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CD7303EC-6B14-4714-9E94-FD36DED89FA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760D91FB-F948-4784-92D1-13CA77D9C8E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6054118E-4303-4C16-BA52-67E49781642F}"/>
              </a:ext>
            </a:extLst>
          </p:cNvPr>
          <p:cNvSpPr>
            <a:spLocks noGrp="1"/>
          </p:cNvSpPr>
          <p:nvPr>
            <p:ph type="dt" sz="half" idx="10"/>
          </p:nvPr>
        </p:nvSpPr>
        <p:spPr/>
        <p:txBody>
          <a:bodyPr/>
          <a:lstStyle/>
          <a:p>
            <a:fld id="{B210D257-3BE1-47F0-9688-13EF46E6FAF0}" type="datetimeFigureOut">
              <a:rPr lang="zh-CN" altLang="en-US" smtClean="0"/>
              <a:t>2024/12/25</a:t>
            </a:fld>
            <a:endParaRPr lang="zh-CN" altLang="en-US"/>
          </a:p>
        </p:txBody>
      </p:sp>
      <p:sp>
        <p:nvSpPr>
          <p:cNvPr id="6" name="页脚占位符 5">
            <a:extLst>
              <a:ext uri="{FF2B5EF4-FFF2-40B4-BE49-F238E27FC236}">
                <a16:creationId xmlns:a16="http://schemas.microsoft.com/office/drawing/2014/main" id="{E35F793C-DBEE-4D2E-B22D-70585B8F8BDC}"/>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0DA8868A-A114-4C16-9D0F-1CAA6680E3F0}"/>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28815797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ECA9BE9-63C1-4F8E-844D-93871FFA2D81}"/>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DFD754CE-AA03-4C5D-9359-E7AE5A11D573}"/>
              </a:ext>
            </a:extLst>
          </p:cNvPr>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698152E5-B11B-4F5B-8551-6267E7C81605}"/>
              </a:ext>
            </a:extLst>
          </p:cNvPr>
          <p:cNvSpPr>
            <a:spLocks noGrp="1"/>
          </p:cNvSpPr>
          <p:nvPr>
            <p:ph type="dt" sz="half" idx="10"/>
          </p:nvPr>
        </p:nvSpPr>
        <p:spPr/>
        <p:txBody>
          <a:bodyPr/>
          <a:lstStyle/>
          <a:p>
            <a:fld id="{B210D257-3BE1-47F0-9688-13EF46E6FAF0}" type="datetimeFigureOut">
              <a:rPr lang="zh-CN" altLang="en-US" smtClean="0"/>
              <a:t>2024/12/25</a:t>
            </a:fld>
            <a:endParaRPr lang="zh-CN" altLang="en-US"/>
          </a:p>
        </p:txBody>
      </p:sp>
      <p:sp>
        <p:nvSpPr>
          <p:cNvPr id="5" name="页脚占位符 4">
            <a:extLst>
              <a:ext uri="{FF2B5EF4-FFF2-40B4-BE49-F238E27FC236}">
                <a16:creationId xmlns:a16="http://schemas.microsoft.com/office/drawing/2014/main" id="{F62F89DB-DECC-4D63-BF05-242606134A7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49E0C33-663E-4115-AC5B-2C2322446FA1}"/>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28636354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E08AE2C3-9AE9-49EA-B7E2-12F63A48CF6A}"/>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358F4C53-4136-4531-A949-086F434ACCB6}"/>
              </a:ext>
            </a:extLst>
          </p:cNvPr>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0CB155AA-9A48-44A9-BF3D-A07C5FFC0FF9}"/>
              </a:ext>
            </a:extLst>
          </p:cNvPr>
          <p:cNvSpPr>
            <a:spLocks noGrp="1"/>
          </p:cNvSpPr>
          <p:nvPr>
            <p:ph type="dt" sz="half" idx="10"/>
          </p:nvPr>
        </p:nvSpPr>
        <p:spPr/>
        <p:txBody>
          <a:bodyPr/>
          <a:lstStyle/>
          <a:p>
            <a:fld id="{B210D257-3BE1-47F0-9688-13EF46E6FAF0}" type="datetimeFigureOut">
              <a:rPr lang="zh-CN" altLang="en-US" smtClean="0"/>
              <a:t>2024/12/25</a:t>
            </a:fld>
            <a:endParaRPr lang="zh-CN" altLang="en-US"/>
          </a:p>
        </p:txBody>
      </p:sp>
      <p:sp>
        <p:nvSpPr>
          <p:cNvPr id="5" name="页脚占位符 4">
            <a:extLst>
              <a:ext uri="{FF2B5EF4-FFF2-40B4-BE49-F238E27FC236}">
                <a16:creationId xmlns:a16="http://schemas.microsoft.com/office/drawing/2014/main" id="{8AFCA7E8-2754-4253-BF45-4E276321C58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A5F171A-2876-4457-86B9-F066CC51271E}"/>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23415900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BA868106-C205-436E-8C0C-8BAB4B7BA4E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03E1F50B-DF05-43A7-9B36-B803C2B89A3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1F9B4F8B-AC06-4B25-80DD-3BAF3D822F2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210D257-3BE1-47F0-9688-13EF46E6FAF0}" type="datetimeFigureOut">
              <a:rPr lang="zh-CN" altLang="en-US" smtClean="0"/>
              <a:t>2024/12/25</a:t>
            </a:fld>
            <a:endParaRPr lang="zh-CN" altLang="en-US"/>
          </a:p>
        </p:txBody>
      </p:sp>
      <p:sp>
        <p:nvSpPr>
          <p:cNvPr id="5" name="页脚占位符 4">
            <a:extLst>
              <a:ext uri="{FF2B5EF4-FFF2-40B4-BE49-F238E27FC236}">
                <a16:creationId xmlns:a16="http://schemas.microsoft.com/office/drawing/2014/main" id="{7F84677A-6874-4B15-ACA7-822132D6581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87BCA72A-3BD7-4EBD-84CD-DBC722C3C2E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14238224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hyperlink" Target="https://mooc1-1.chaoxing.com/course/216273730.html"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pn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png"/><Relationship Id="rId2"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 Id="rId14"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xml"/><Relationship Id="rId5" Type="http://schemas.openxmlformats.org/officeDocument/2006/relationships/image" Target="../media/image20.png"/><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70.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00.png"/><Relationship Id="rId2" Type="http://schemas.openxmlformats.org/officeDocument/2006/relationships/image" Target="../media/image190.png"/><Relationship Id="rId1" Type="http://schemas.openxmlformats.org/officeDocument/2006/relationships/slideLayout" Target="../slideLayouts/slideLayout1.xml"/><Relationship Id="rId5" Type="http://schemas.openxmlformats.org/officeDocument/2006/relationships/image" Target="../media/image22.png"/><Relationship Id="rId4" Type="http://schemas.openxmlformats.org/officeDocument/2006/relationships/image" Target="../media/image210.png"/></Relationships>
</file>

<file path=ppt/slides/_rels/slide1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1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1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320.png"/><Relationship Id="rId7" Type="http://schemas.openxmlformats.org/officeDocument/2006/relationships/image" Target="../media/image36.png"/><Relationship Id="rId2" Type="http://schemas.openxmlformats.org/officeDocument/2006/relationships/image" Target="../media/image310.png"/><Relationship Id="rId1" Type="http://schemas.openxmlformats.org/officeDocument/2006/relationships/slideLayout" Target="../slideLayouts/slideLayout1.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 Id="rId9" Type="http://schemas.openxmlformats.org/officeDocument/2006/relationships/image" Target="../media/image3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1.xml"/><Relationship Id="rId5" Type="http://schemas.openxmlformats.org/officeDocument/2006/relationships/image" Target="../media/image43.png"/><Relationship Id="rId4" Type="http://schemas.openxmlformats.org/officeDocument/2006/relationships/image" Target="../media/image42.png"/></Relationships>
</file>

<file path=ppt/slides/_rels/slide19.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1.xml"/><Relationship Id="rId4" Type="http://schemas.openxmlformats.org/officeDocument/2006/relationships/image" Target="../media/image46.png"/></Relationships>
</file>

<file path=ppt/slides/_rels/slide21.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45.emf"/><Relationship Id="rId2" Type="http://schemas.openxmlformats.org/officeDocument/2006/relationships/image" Target="../media/image47.png"/><Relationship Id="rId1" Type="http://schemas.openxmlformats.org/officeDocument/2006/relationships/slideLayout" Target="../slideLayouts/slideLayout1.xml"/><Relationship Id="rId4" Type="http://schemas.openxmlformats.org/officeDocument/2006/relationships/image" Target="../media/image46.emf"/></Relationships>
</file>

<file path=ppt/slides/_rels/slide25.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1.xml"/><Relationship Id="rId4" Type="http://schemas.openxmlformats.org/officeDocument/2006/relationships/image" Target="../media/image47.emf"/></Relationships>
</file>

<file path=ppt/slides/_rels/slide2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530.png"/><Relationship Id="rId1" Type="http://schemas.openxmlformats.org/officeDocument/2006/relationships/slideLayout" Target="../slideLayouts/slideLayout1.xml"/><Relationship Id="rId4" Type="http://schemas.openxmlformats.org/officeDocument/2006/relationships/image" Target="../media/image5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1.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第三十一讲  一些特殊的图</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a:t>
            </a:r>
          </a:p>
        </p:txBody>
      </p:sp>
      <p:sp>
        <p:nvSpPr>
          <p:cNvPr id="12" name="矩形: 圆角 11">
            <a:extLst>
              <a:ext uri="{FF2B5EF4-FFF2-40B4-BE49-F238E27FC236}">
                <a16:creationId xmlns:a16="http://schemas.microsoft.com/office/drawing/2014/main" id="{446C0D23-6A5A-47BD-83B5-60B9FA05041D}"/>
              </a:ext>
            </a:extLst>
          </p:cNvPr>
          <p:cNvSpPr/>
          <p:nvPr/>
        </p:nvSpPr>
        <p:spPr>
          <a:xfrm>
            <a:off x="1405812" y="1185233"/>
            <a:ext cx="9393993" cy="889686"/>
          </a:xfrm>
          <a:prstGeom prst="round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800" b="1">
                <a:latin typeface="仿宋" panose="02010609060101010101" pitchFamily="49" charset="-122"/>
                <a:ea typeface="仿宋" panose="02010609060101010101" pitchFamily="49" charset="-122"/>
              </a:rPr>
              <a:t>第三十一讲</a:t>
            </a:r>
            <a:r>
              <a:rPr lang="en-US" altLang="zh-CN" sz="4800" b="1">
                <a:latin typeface="仿宋" panose="02010609060101010101" pitchFamily="49" charset="-122"/>
                <a:ea typeface="仿宋" panose="02010609060101010101" pitchFamily="49" charset="-122"/>
              </a:rPr>
              <a:t>	</a:t>
            </a:r>
            <a:r>
              <a:rPr lang="zh-CN" altLang="en-US" sz="4800" b="1">
                <a:latin typeface="仿宋" panose="02010609060101010101" pitchFamily="49" charset="-122"/>
                <a:ea typeface="仿宋" panose="02010609060101010101" pitchFamily="49" charset="-122"/>
              </a:rPr>
              <a:t>一些特殊的图</a:t>
            </a:r>
          </a:p>
        </p:txBody>
      </p:sp>
      <p:sp>
        <p:nvSpPr>
          <p:cNvPr id="13" name="文本框 12">
            <a:extLst>
              <a:ext uri="{FF2B5EF4-FFF2-40B4-BE49-F238E27FC236}">
                <a16:creationId xmlns:a16="http://schemas.microsoft.com/office/drawing/2014/main" id="{12186A13-489D-4BF1-BCD8-41AAFE843C1D}"/>
              </a:ext>
            </a:extLst>
          </p:cNvPr>
          <p:cNvSpPr txBox="1"/>
          <p:nvPr/>
        </p:nvSpPr>
        <p:spPr>
          <a:xfrm>
            <a:off x="4372231" y="2549433"/>
            <a:ext cx="3447535" cy="707886"/>
          </a:xfrm>
          <a:prstGeom prst="rect">
            <a:avLst/>
          </a:prstGeom>
          <a:noFill/>
        </p:spPr>
        <p:txBody>
          <a:bodyPr wrap="square" rtlCol="0">
            <a:spAutoFit/>
          </a:bodyPr>
          <a:lstStyle/>
          <a:p>
            <a:pPr algn="ctr"/>
            <a:r>
              <a:rPr lang="zh-CN" altLang="en-US" sz="4000" dirty="0">
                <a:solidFill>
                  <a:srgbClr val="210694"/>
                </a:solidFill>
                <a:latin typeface="楷体" panose="02010609060101010101" pitchFamily="49" charset="-122"/>
                <a:ea typeface="楷体" panose="02010609060101010101" pitchFamily="49" charset="-122"/>
              </a:rPr>
              <a:t>李绿周</a:t>
            </a:r>
          </a:p>
        </p:txBody>
      </p:sp>
      <p:sp>
        <p:nvSpPr>
          <p:cNvPr id="14" name="文本框 13">
            <a:extLst>
              <a:ext uri="{FF2B5EF4-FFF2-40B4-BE49-F238E27FC236}">
                <a16:creationId xmlns:a16="http://schemas.microsoft.com/office/drawing/2014/main" id="{8823FD01-7095-40E0-8828-40A407B1D343}"/>
              </a:ext>
            </a:extLst>
          </p:cNvPr>
          <p:cNvSpPr txBox="1"/>
          <p:nvPr/>
        </p:nvSpPr>
        <p:spPr>
          <a:xfrm>
            <a:off x="3608174" y="3600682"/>
            <a:ext cx="5177481" cy="584775"/>
          </a:xfrm>
          <a:prstGeom prst="rect">
            <a:avLst/>
          </a:prstGeom>
          <a:noFill/>
        </p:spPr>
        <p:txBody>
          <a:bodyPr wrap="square" rtlCol="0">
            <a:spAutoFit/>
          </a:bodyPr>
          <a:lstStyle/>
          <a:p>
            <a:pPr algn="ctr"/>
            <a:r>
              <a:rPr lang="zh-CN" altLang="en-US" sz="3200" b="1">
                <a:solidFill>
                  <a:schemeClr val="accent6">
                    <a:lumMod val="50000"/>
                  </a:schemeClr>
                </a:solidFill>
                <a:latin typeface="仿宋" panose="02010609060101010101" pitchFamily="49" charset="-122"/>
                <a:ea typeface="仿宋" panose="02010609060101010101" pitchFamily="49" charset="-122"/>
              </a:rPr>
              <a:t>中山大学计算机学院</a:t>
            </a:r>
          </a:p>
        </p:txBody>
      </p:sp>
      <p:sp>
        <p:nvSpPr>
          <p:cNvPr id="15" name="文本框 14">
            <a:extLst>
              <a:ext uri="{FF2B5EF4-FFF2-40B4-BE49-F238E27FC236}">
                <a16:creationId xmlns:a16="http://schemas.microsoft.com/office/drawing/2014/main" id="{76DF14A9-8868-445D-A58B-8A6B893443C8}"/>
              </a:ext>
            </a:extLst>
          </p:cNvPr>
          <p:cNvSpPr txBox="1"/>
          <p:nvPr/>
        </p:nvSpPr>
        <p:spPr>
          <a:xfrm>
            <a:off x="4843849" y="4559643"/>
            <a:ext cx="2866767" cy="461665"/>
          </a:xfrm>
          <a:prstGeom prst="rect">
            <a:avLst/>
          </a:prstGeom>
          <a:noFill/>
        </p:spPr>
        <p:txBody>
          <a:bodyPr wrap="square" rtlCol="0">
            <a:spAutoFit/>
          </a:bodyPr>
          <a:lstStyle/>
          <a:p>
            <a:pPr algn="ctr"/>
            <a:r>
              <a:rPr lang="en-US" altLang="zh-CN" sz="2400" dirty="0">
                <a:solidFill>
                  <a:schemeClr val="accent2">
                    <a:lumMod val="50000"/>
                  </a:schemeClr>
                </a:solidFill>
                <a:latin typeface="Arial" panose="020B0604020202020204" pitchFamily="34" charset="0"/>
                <a:ea typeface="楷体" panose="02010609060101010101" pitchFamily="49" charset="-122"/>
                <a:cs typeface="Arial" panose="020B0604020202020204" pitchFamily="34" charset="0"/>
              </a:rPr>
              <a:t>2024</a:t>
            </a:r>
            <a:r>
              <a:rPr lang="zh-CN" altLang="en-US" sz="2400" dirty="0">
                <a:solidFill>
                  <a:schemeClr val="accent2">
                    <a:lumMod val="50000"/>
                  </a:schemeClr>
                </a:solidFill>
                <a:latin typeface="Arial" panose="020B0604020202020204" pitchFamily="34" charset="0"/>
                <a:ea typeface="楷体" panose="02010609060101010101" pitchFamily="49" charset="-122"/>
                <a:cs typeface="Arial" panose="020B0604020202020204" pitchFamily="34" charset="0"/>
              </a:rPr>
              <a:t>年</a:t>
            </a:r>
            <a:r>
              <a:rPr lang="en-US" altLang="zh-CN" sz="2400" dirty="0">
                <a:solidFill>
                  <a:schemeClr val="accent2">
                    <a:lumMod val="50000"/>
                  </a:schemeClr>
                </a:solidFill>
                <a:latin typeface="Arial" panose="020B0604020202020204" pitchFamily="34" charset="0"/>
                <a:ea typeface="楷体" panose="02010609060101010101" pitchFamily="49" charset="-122"/>
                <a:cs typeface="Arial" panose="020B0604020202020204" pitchFamily="34" charset="0"/>
              </a:rPr>
              <a:t>7</a:t>
            </a:r>
            <a:r>
              <a:rPr lang="zh-CN" altLang="en-US" sz="2400" dirty="0">
                <a:solidFill>
                  <a:schemeClr val="accent2">
                    <a:lumMod val="50000"/>
                  </a:schemeClr>
                </a:solidFill>
                <a:latin typeface="Arial" panose="020B0604020202020204" pitchFamily="34" charset="0"/>
                <a:ea typeface="楷体" panose="02010609060101010101" pitchFamily="49" charset="-122"/>
                <a:cs typeface="Arial" panose="020B0604020202020204" pitchFamily="34" charset="0"/>
              </a:rPr>
              <a:t>月</a:t>
            </a:r>
          </a:p>
        </p:txBody>
      </p:sp>
      <p:sp>
        <p:nvSpPr>
          <p:cNvPr id="16" name="文本框 15">
            <a:extLst>
              <a:ext uri="{FF2B5EF4-FFF2-40B4-BE49-F238E27FC236}">
                <a16:creationId xmlns:a16="http://schemas.microsoft.com/office/drawing/2014/main" id="{BE9D504D-D016-457C-B1B1-69FCBBD6DCB5}"/>
              </a:ext>
            </a:extLst>
          </p:cNvPr>
          <p:cNvSpPr txBox="1"/>
          <p:nvPr/>
        </p:nvSpPr>
        <p:spPr>
          <a:xfrm>
            <a:off x="1705232" y="5288692"/>
            <a:ext cx="9094573" cy="830997"/>
          </a:xfrm>
          <a:prstGeom prst="rect">
            <a:avLst/>
          </a:prstGeom>
          <a:noFill/>
        </p:spPr>
        <p:txBody>
          <a:bodyPr wrap="square" rtlCol="0">
            <a:spAutoFit/>
          </a:bodyPr>
          <a:lstStyle/>
          <a:p>
            <a:pPr algn="ctr"/>
            <a:r>
              <a:rPr lang="en-US" altLang="zh-CN" sz="2400">
                <a:solidFill>
                  <a:srgbClr val="FF0000"/>
                </a:solidFill>
                <a:hlinkClick r:id="rId2"/>
              </a:rPr>
              <a:t>https://mooc1-1.chaoxing.com/course/216273730.html</a:t>
            </a:r>
            <a:endParaRPr lang="en-US" altLang="zh-CN" sz="2400">
              <a:solidFill>
                <a:srgbClr val="FF0000"/>
              </a:solidFill>
            </a:endParaRPr>
          </a:p>
          <a:p>
            <a:pPr algn="ctr"/>
            <a:r>
              <a:rPr lang="en-US" altLang="zh-CN" sz="2400">
                <a:solidFill>
                  <a:srgbClr val="FF0000"/>
                </a:solidFill>
              </a:rPr>
              <a:t>isszxc@mail.sysu.edu.cn</a:t>
            </a:r>
            <a:endParaRPr lang="zh-CN" altLang="en-US" sz="2400">
              <a:solidFill>
                <a:srgbClr val="FF0000"/>
              </a:solidFill>
            </a:endParaRPr>
          </a:p>
        </p:txBody>
      </p:sp>
      <p:pic>
        <p:nvPicPr>
          <p:cNvPr id="17" name="图片 16">
            <a:extLst>
              <a:ext uri="{FF2B5EF4-FFF2-40B4-BE49-F238E27FC236}">
                <a16:creationId xmlns:a16="http://schemas.microsoft.com/office/drawing/2014/main" id="{D38FA017-AD09-4C1D-B9B8-FD57EA6CEEA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05649" y="3112777"/>
            <a:ext cx="1766582" cy="1560584"/>
          </a:xfrm>
          <a:prstGeom prst="rect">
            <a:avLst/>
          </a:prstGeom>
        </p:spPr>
      </p:pic>
      <p:sp>
        <p:nvSpPr>
          <p:cNvPr id="2" name="文本框 1">
            <a:extLst>
              <a:ext uri="{FF2B5EF4-FFF2-40B4-BE49-F238E27FC236}">
                <a16:creationId xmlns:a16="http://schemas.microsoft.com/office/drawing/2014/main" id="{074B8E02-5C8A-1583-C086-3F2D1381CB09}"/>
              </a:ext>
            </a:extLst>
          </p:cNvPr>
          <p:cNvSpPr txBox="1"/>
          <p:nvPr/>
        </p:nvSpPr>
        <p:spPr>
          <a:xfrm>
            <a:off x="4240362" y="665705"/>
            <a:ext cx="3711272" cy="369332"/>
          </a:xfrm>
          <a:prstGeom prst="rect">
            <a:avLst/>
          </a:prstGeom>
          <a:noFill/>
        </p:spPr>
        <p:txBody>
          <a:bodyPr wrap="none" rtlCol="0">
            <a:spAutoFit/>
          </a:bodyPr>
          <a:lstStyle/>
          <a:p>
            <a:r>
              <a:rPr lang="en-US" altLang="zh-CN" dirty="0"/>
              <a:t>9.3</a:t>
            </a:r>
            <a:r>
              <a:rPr lang="zh-CN" altLang="en-US" dirty="0"/>
              <a:t>节不讲，数据结构与算法的内容</a:t>
            </a:r>
          </a:p>
        </p:txBody>
      </p:sp>
    </p:spTree>
    <p:extLst>
      <p:ext uri="{BB962C8B-B14F-4D97-AF65-F5344CB8AC3E}">
        <p14:creationId xmlns:p14="http://schemas.microsoft.com/office/powerpoint/2010/main" val="19211113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提示</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第三十一讲  一些特殊的图</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2</a:t>
            </a:fld>
            <a:r>
              <a:rPr lang="en-US" altLang="zh-CN" dirty="0">
                <a:latin typeface="Arial" panose="020B0604020202020204" pitchFamily="34" charset="0"/>
                <a:ea typeface="楷体" panose="02010609060101010101" pitchFamily="49" charset="-122"/>
                <a:cs typeface="Arial" panose="020B0604020202020204" pitchFamily="34" charset="0"/>
              </a:rPr>
              <a:t>/32</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学习目标与学习重点</a:t>
            </a:r>
          </a:p>
        </p:txBody>
      </p:sp>
      <p:sp>
        <p:nvSpPr>
          <p:cNvPr id="11" name="文本框 10">
            <a:extLst>
              <a:ext uri="{FF2B5EF4-FFF2-40B4-BE49-F238E27FC236}">
                <a16:creationId xmlns:a16="http://schemas.microsoft.com/office/drawing/2014/main" id="{5E147F1A-24E5-4303-A2E5-21CC4416FB4B}"/>
              </a:ext>
            </a:extLst>
          </p:cNvPr>
          <p:cNvSpPr txBox="1"/>
          <p:nvPr/>
        </p:nvSpPr>
        <p:spPr>
          <a:xfrm>
            <a:off x="1095059" y="1818174"/>
            <a:ext cx="10001880" cy="1610826"/>
          </a:xfrm>
          <a:prstGeom prst="rect">
            <a:avLst/>
          </a:prstGeom>
          <a:solidFill>
            <a:schemeClr val="accent2">
              <a:lumMod val="20000"/>
              <a:lumOff val="80000"/>
              <a:alpha val="60000"/>
            </a:schemeClr>
          </a:solidFill>
        </p:spPr>
        <p:txBody>
          <a:bodyPr wrap="square" rtlCol="0">
            <a:spAutoFit/>
          </a:bodyPr>
          <a:lstStyle/>
          <a:p>
            <a:pPr algn="ctr">
              <a:lnSpc>
                <a:spcPts val="3200"/>
              </a:lnSpc>
              <a:spcBef>
                <a:spcPts val="600"/>
              </a:spcBef>
              <a:spcAft>
                <a:spcPts val="600"/>
              </a:spcAft>
            </a:pPr>
            <a:r>
              <a:rPr lang="zh-CN" altLang="en-US" sz="2800" b="1">
                <a:solidFill>
                  <a:srgbClr val="C00000"/>
                </a:solidFill>
                <a:latin typeface="楷体" panose="02010609060101010101" pitchFamily="49" charset="-122"/>
                <a:ea typeface="楷体" panose="02010609060101010101" pitchFamily="49" charset="-122"/>
              </a:rPr>
              <a:t>学习目标</a:t>
            </a:r>
          </a:p>
          <a:p>
            <a:pPr marL="342900" indent="-342900">
              <a:lnSpc>
                <a:spcPts val="3200"/>
              </a:lnSpc>
              <a:spcBef>
                <a:spcPts val="600"/>
              </a:spcBef>
              <a:spcAft>
                <a:spcPts val="600"/>
              </a:spcAft>
              <a:buFont typeface="Arial" panose="020B0604020202020204" pitchFamily="34" charset="0"/>
              <a:buChar char="•"/>
            </a:pPr>
            <a:r>
              <a:rPr lang="zh-CN" altLang="en-US" sz="2400" b="1">
                <a:solidFill>
                  <a:srgbClr val="002060"/>
                </a:solidFill>
                <a:latin typeface="+mn-ea"/>
              </a:rPr>
              <a:t>判断一个图是否是平面图，能给出一个平面图的面和面的度数</a:t>
            </a:r>
          </a:p>
          <a:p>
            <a:pPr marL="342900" indent="-342900">
              <a:lnSpc>
                <a:spcPts val="3200"/>
              </a:lnSpc>
              <a:spcBef>
                <a:spcPts val="600"/>
              </a:spcBef>
              <a:spcAft>
                <a:spcPts val="600"/>
              </a:spcAft>
              <a:buFont typeface="Arial" panose="020B0604020202020204" pitchFamily="34" charset="0"/>
              <a:buChar char="•"/>
            </a:pPr>
            <a:r>
              <a:rPr lang="zh-CN" altLang="en-US" sz="2400" b="1">
                <a:solidFill>
                  <a:srgbClr val="002060"/>
                </a:solidFill>
                <a:latin typeface="+mn-ea"/>
              </a:rPr>
              <a:t>能判断一个图是否是欧拉图、半欧拉图，是否是哈密顿图、半哈密顿图</a:t>
            </a:r>
          </a:p>
        </p:txBody>
      </p:sp>
      <p:sp>
        <p:nvSpPr>
          <p:cNvPr id="12" name="文本框 11">
            <a:extLst>
              <a:ext uri="{FF2B5EF4-FFF2-40B4-BE49-F238E27FC236}">
                <a16:creationId xmlns:a16="http://schemas.microsoft.com/office/drawing/2014/main" id="{66E43C2B-DFC7-491C-B778-2F17CE12A792}"/>
              </a:ext>
            </a:extLst>
          </p:cNvPr>
          <p:cNvSpPr txBox="1"/>
          <p:nvPr/>
        </p:nvSpPr>
        <p:spPr>
          <a:xfrm>
            <a:off x="1095058" y="4195776"/>
            <a:ext cx="10001879" cy="1143903"/>
          </a:xfrm>
          <a:prstGeom prst="rect">
            <a:avLst/>
          </a:prstGeom>
          <a:solidFill>
            <a:schemeClr val="accent4">
              <a:lumMod val="20000"/>
              <a:lumOff val="80000"/>
              <a:alpha val="60000"/>
            </a:schemeClr>
          </a:solidFill>
        </p:spPr>
        <p:txBody>
          <a:bodyPr wrap="square" rtlCol="0">
            <a:spAutoFit/>
          </a:bodyPr>
          <a:lstStyle/>
          <a:p>
            <a:pPr algn="ctr">
              <a:lnSpc>
                <a:spcPts val="3200"/>
              </a:lnSpc>
              <a:spcBef>
                <a:spcPts val="1200"/>
              </a:spcBef>
              <a:spcAft>
                <a:spcPts val="600"/>
              </a:spcAft>
            </a:pPr>
            <a:r>
              <a:rPr lang="zh-CN" altLang="en-US" sz="3200" b="1">
                <a:solidFill>
                  <a:srgbClr val="C00000"/>
                </a:solidFill>
                <a:latin typeface="楷体" panose="02010609060101010101" pitchFamily="49" charset="-122"/>
                <a:ea typeface="楷体" panose="02010609060101010101" pitchFamily="49" charset="-122"/>
              </a:rPr>
              <a:t>学习重点</a:t>
            </a:r>
          </a:p>
          <a:p>
            <a:pPr marL="342900" indent="-342900">
              <a:lnSpc>
                <a:spcPts val="3200"/>
              </a:lnSpc>
              <a:spcBef>
                <a:spcPts val="1200"/>
              </a:spcBef>
              <a:spcAft>
                <a:spcPts val="600"/>
              </a:spcAft>
              <a:buFont typeface="Arial" panose="020B0604020202020204" pitchFamily="34" charset="0"/>
              <a:buChar char="•"/>
            </a:pPr>
            <a:r>
              <a:rPr lang="zh-CN" altLang="en-US" sz="2800" b="1">
                <a:solidFill>
                  <a:schemeClr val="accent6">
                    <a:lumMod val="50000"/>
                  </a:schemeClr>
                </a:solidFill>
                <a:latin typeface="+mn-ea"/>
              </a:rPr>
              <a:t>如何利用欧拉公式、握手定理证明平面图的简单性质？</a:t>
            </a:r>
            <a:endParaRPr lang="en-US" altLang="zh-CN" sz="2800" b="1">
              <a:solidFill>
                <a:schemeClr val="accent6">
                  <a:lumMod val="50000"/>
                </a:schemeClr>
              </a:solidFill>
              <a:latin typeface="+mn-ea"/>
            </a:endParaRPr>
          </a:p>
        </p:txBody>
      </p:sp>
    </p:spTree>
    <p:extLst>
      <p:ext uri="{BB962C8B-B14F-4D97-AF65-F5344CB8AC3E}">
        <p14:creationId xmlns:p14="http://schemas.microsoft.com/office/powerpoint/2010/main" val="35179194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第三十一讲  一些特殊的图</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91646C22-BFA0-4263-ADC6-D1CE69BFEFF6}" type="slidenum">
              <a:rPr lang="en-US" altLang="zh-CN" smtClean="0">
                <a:latin typeface="Arial" panose="020B0604020202020204" pitchFamily="34" charset="0"/>
                <a:ea typeface="楷体" panose="02010609060101010101" pitchFamily="49" charset="-122"/>
                <a:cs typeface="Arial" panose="020B0604020202020204" pitchFamily="34" charset="0"/>
              </a:rPr>
              <a:t>3</a:t>
            </a:fld>
            <a:r>
              <a:rPr lang="en-US" altLang="zh-CN" dirty="0">
                <a:latin typeface="Arial" panose="020B0604020202020204" pitchFamily="34" charset="0"/>
                <a:ea typeface="楷体" panose="02010609060101010101" pitchFamily="49" charset="-122"/>
                <a:cs typeface="Arial" panose="020B0604020202020204" pitchFamily="34" charset="0"/>
              </a:rPr>
              <a:t>/32</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内容提要</a:t>
            </a:r>
          </a:p>
        </p:txBody>
      </p:sp>
      <p:sp>
        <p:nvSpPr>
          <p:cNvPr id="2" name="文本框 1">
            <a:extLst>
              <a:ext uri="{FF2B5EF4-FFF2-40B4-BE49-F238E27FC236}">
                <a16:creationId xmlns:a16="http://schemas.microsoft.com/office/drawing/2014/main" id="{85BA4EFF-667B-4FC6-8446-13B52B94D7E0}"/>
              </a:ext>
            </a:extLst>
          </p:cNvPr>
          <p:cNvSpPr txBox="1"/>
          <p:nvPr/>
        </p:nvSpPr>
        <p:spPr>
          <a:xfrm>
            <a:off x="1107232" y="1448010"/>
            <a:ext cx="4733731" cy="3547125"/>
          </a:xfrm>
          <a:prstGeom prst="rect">
            <a:avLst/>
          </a:prstGeom>
          <a:noFill/>
        </p:spPr>
        <p:txBody>
          <a:bodyPr wrap="square" rtlCol="0">
            <a:spAutoFit/>
          </a:bodyPr>
          <a:lstStyle/>
          <a:p>
            <a:pPr>
              <a:lnSpc>
                <a:spcPct val="250000"/>
              </a:lnSpc>
            </a:pPr>
            <a:r>
              <a:rPr lang="zh-CN" altLang="en-US" sz="3200" b="1">
                <a:solidFill>
                  <a:schemeClr val="accent6">
                    <a:lumMod val="50000"/>
                  </a:schemeClr>
                </a:solidFill>
                <a:latin typeface="仿宋" panose="02010609060101010101" pitchFamily="49" charset="-122"/>
                <a:ea typeface="仿宋" panose="02010609060101010101" pitchFamily="49" charset="-122"/>
              </a:rPr>
              <a:t>平面图</a:t>
            </a:r>
            <a:endParaRPr lang="en-US" altLang="zh-CN" sz="3200" b="1">
              <a:solidFill>
                <a:schemeClr val="accent6">
                  <a:lumMod val="50000"/>
                </a:schemeClr>
              </a:solidFill>
              <a:latin typeface="仿宋" panose="02010609060101010101" pitchFamily="49" charset="-122"/>
              <a:ea typeface="仿宋" panose="02010609060101010101" pitchFamily="49" charset="-122"/>
            </a:endParaRPr>
          </a:p>
          <a:p>
            <a:pPr>
              <a:lnSpc>
                <a:spcPct val="250000"/>
              </a:lnSpc>
            </a:pPr>
            <a:r>
              <a:rPr lang="zh-CN" altLang="en-US" sz="3200" b="1">
                <a:solidFill>
                  <a:schemeClr val="accent6">
                    <a:lumMod val="50000"/>
                  </a:schemeClr>
                </a:solidFill>
                <a:latin typeface="仿宋" panose="02010609060101010101" pitchFamily="49" charset="-122"/>
                <a:ea typeface="仿宋" panose="02010609060101010101" pitchFamily="49" charset="-122"/>
              </a:rPr>
              <a:t>欧拉图</a:t>
            </a:r>
            <a:endParaRPr lang="en-US" altLang="zh-CN" sz="3200" b="1">
              <a:solidFill>
                <a:schemeClr val="accent6">
                  <a:lumMod val="50000"/>
                </a:schemeClr>
              </a:solidFill>
              <a:latin typeface="仿宋" panose="02010609060101010101" pitchFamily="49" charset="-122"/>
              <a:ea typeface="仿宋" panose="02010609060101010101" pitchFamily="49" charset="-122"/>
            </a:endParaRPr>
          </a:p>
          <a:p>
            <a:pPr>
              <a:lnSpc>
                <a:spcPct val="250000"/>
              </a:lnSpc>
            </a:pPr>
            <a:r>
              <a:rPr lang="zh-CN" altLang="en-US" sz="3200" b="1">
                <a:solidFill>
                  <a:schemeClr val="accent6">
                    <a:lumMod val="50000"/>
                  </a:schemeClr>
                </a:solidFill>
                <a:latin typeface="仿宋" panose="02010609060101010101" pitchFamily="49" charset="-122"/>
                <a:ea typeface="仿宋" panose="02010609060101010101" pitchFamily="49" charset="-122"/>
              </a:rPr>
              <a:t>哈密顿图</a:t>
            </a:r>
            <a:endParaRPr lang="en-US" altLang="zh-CN" sz="3200" b="1">
              <a:solidFill>
                <a:schemeClr val="accent6">
                  <a:lumMod val="50000"/>
                </a:schemeClr>
              </a:solidFill>
              <a:latin typeface="仿宋" panose="02010609060101010101" pitchFamily="49" charset="-122"/>
              <a:ea typeface="仿宋" panose="02010609060101010101" pitchFamily="49" charset="-122"/>
            </a:endParaRPr>
          </a:p>
        </p:txBody>
      </p:sp>
    </p:spTree>
    <p:extLst>
      <p:ext uri="{BB962C8B-B14F-4D97-AF65-F5344CB8AC3E}">
        <p14:creationId xmlns:p14="http://schemas.microsoft.com/office/powerpoint/2010/main" val="39021058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平面图</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第三十一讲  一些特殊的图</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4</a:t>
            </a:fld>
            <a:r>
              <a:rPr lang="en-US" altLang="zh-CN" dirty="0">
                <a:latin typeface="Arial" panose="020B0604020202020204" pitchFamily="34" charset="0"/>
                <a:ea typeface="楷体" panose="02010609060101010101" pitchFamily="49" charset="-122"/>
                <a:cs typeface="Arial" panose="020B0604020202020204" pitchFamily="34" charset="0"/>
              </a:rPr>
              <a:t>/32</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平面图的定义</a:t>
            </a:r>
          </a:p>
        </p:txBody>
      </p:sp>
      <p:sp>
        <p:nvSpPr>
          <p:cNvPr id="2" name="文本框 1">
            <a:extLst>
              <a:ext uri="{FF2B5EF4-FFF2-40B4-BE49-F238E27FC236}">
                <a16:creationId xmlns:a16="http://schemas.microsoft.com/office/drawing/2014/main" id="{693110D9-9194-4F2C-91C9-120A24DF9E51}"/>
              </a:ext>
            </a:extLst>
          </p:cNvPr>
          <p:cNvSpPr txBox="1"/>
          <p:nvPr/>
        </p:nvSpPr>
        <p:spPr>
          <a:xfrm>
            <a:off x="1179188" y="1228150"/>
            <a:ext cx="9563366" cy="1712585"/>
          </a:xfrm>
          <a:prstGeom prst="rect">
            <a:avLst/>
          </a:prstGeom>
          <a:solidFill>
            <a:schemeClr val="accent5">
              <a:lumMod val="20000"/>
              <a:lumOff val="80000"/>
              <a:alpha val="50000"/>
            </a:schemeClr>
          </a:solidFill>
        </p:spPr>
        <p:txBody>
          <a:bodyPr wrap="square" rtlCol="0">
            <a:spAutoFit/>
          </a:bodyPr>
          <a:lstStyle/>
          <a:p>
            <a:pPr>
              <a:spcBef>
                <a:spcPts val="600"/>
              </a:spcBef>
              <a:spcAft>
                <a:spcPts val="600"/>
              </a:spcAft>
            </a:pPr>
            <a:r>
              <a:rPr lang="zh-CN" altLang="en-US" sz="2000" b="1">
                <a:solidFill>
                  <a:srgbClr val="002060"/>
                </a:solidFill>
                <a:latin typeface="楷体" panose="02010609060101010101" pitchFamily="49" charset="-122"/>
                <a:ea typeface="楷体" panose="02010609060101010101" pitchFamily="49" charset="-122"/>
              </a:rPr>
              <a:t>实际问题中有时要涉及到图的平面性的讨论</a:t>
            </a:r>
          </a:p>
          <a:p>
            <a:pPr marL="342900" indent="-342900">
              <a:spcBef>
                <a:spcPts val="600"/>
              </a:spcBef>
              <a:spcAft>
                <a:spcPts val="600"/>
              </a:spcAft>
              <a:buFont typeface="Arial" panose="020B0604020202020204" pitchFamily="34" charset="0"/>
              <a:buChar char="•"/>
            </a:pPr>
            <a:r>
              <a:rPr lang="zh-CN" altLang="en-US" sz="2000" b="1">
                <a:solidFill>
                  <a:schemeClr val="accent6">
                    <a:lumMod val="50000"/>
                  </a:schemeClr>
                </a:solidFill>
              </a:rPr>
              <a:t>比如</a:t>
            </a:r>
            <a:r>
              <a:rPr lang="zh-CN" altLang="en-US" sz="2000" b="1">
                <a:solidFill>
                  <a:srgbClr val="0000FF"/>
                </a:solidFill>
              </a:rPr>
              <a:t>印刷电路板</a:t>
            </a:r>
            <a:r>
              <a:rPr lang="zh-CN" altLang="en-US" sz="2000" b="1">
                <a:solidFill>
                  <a:schemeClr val="accent6">
                    <a:lumMod val="50000"/>
                  </a:schemeClr>
                </a:solidFill>
              </a:rPr>
              <a:t>的设计、大规模集成电路的布局布线等</a:t>
            </a:r>
          </a:p>
          <a:p>
            <a:pPr marL="342900" indent="-342900">
              <a:lnSpc>
                <a:spcPts val="2800"/>
              </a:lnSpc>
              <a:spcBef>
                <a:spcPts val="600"/>
              </a:spcBef>
              <a:spcAft>
                <a:spcPts val="600"/>
              </a:spcAft>
              <a:buFont typeface="Arial" panose="020B0604020202020204" pitchFamily="34" charset="0"/>
              <a:buChar char="•"/>
            </a:pPr>
            <a:r>
              <a:rPr lang="zh-CN" altLang="en-US" sz="2000" b="1">
                <a:solidFill>
                  <a:schemeClr val="accent6">
                    <a:lumMod val="50000"/>
                  </a:schemeClr>
                </a:solidFill>
              </a:rPr>
              <a:t>很多城市的</a:t>
            </a:r>
            <a:r>
              <a:rPr lang="zh-CN" altLang="en-US" sz="2000" b="1">
                <a:solidFill>
                  <a:srgbClr val="0000FF"/>
                </a:solidFill>
              </a:rPr>
              <a:t>地铁线路图</a:t>
            </a:r>
            <a:r>
              <a:rPr lang="zh-CN" altLang="en-US" sz="2000" b="1">
                <a:solidFill>
                  <a:schemeClr val="accent6">
                    <a:lumMod val="50000"/>
                  </a:schemeClr>
                </a:solidFill>
              </a:rPr>
              <a:t>为了乘客方便也是绘制成平面图，使得任意两条地铁线路的交叉点都是换乘站</a:t>
            </a: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417886ED-5464-4611-B8B1-B12F5F57CDB1}"/>
                  </a:ext>
                </a:extLst>
              </p:cNvPr>
              <p:cNvSpPr txBox="1"/>
              <p:nvPr/>
            </p:nvSpPr>
            <p:spPr>
              <a:xfrm>
                <a:off x="1179187" y="3135141"/>
                <a:ext cx="9563367" cy="1384995"/>
              </a:xfrm>
              <a:prstGeom prst="rect">
                <a:avLst/>
              </a:prstGeom>
              <a:solidFill>
                <a:schemeClr val="accent2">
                  <a:lumMod val="20000"/>
                  <a:lumOff val="80000"/>
                  <a:alpha val="50000"/>
                </a:schemeClr>
              </a:solidFill>
            </p:spPr>
            <p:txBody>
              <a:bodyPr wrap="square" rtlCol="0">
                <a:spAutoFit/>
              </a:bodyPr>
              <a:lstStyle/>
              <a:p>
                <a:pPr algn="ctr">
                  <a:spcBef>
                    <a:spcPts val="600"/>
                  </a:spcBef>
                  <a:spcAft>
                    <a:spcPts val="600"/>
                  </a:spcAft>
                </a:pPr>
                <a:r>
                  <a:rPr lang="zh-CN" altLang="en-US" sz="2400" b="1">
                    <a:solidFill>
                      <a:srgbClr val="C00000"/>
                    </a:solidFill>
                  </a:rPr>
                  <a:t>可平面图</a:t>
                </a:r>
                <a:r>
                  <a:rPr lang="en-US" altLang="zh-CN" sz="2400" b="1">
                    <a:solidFill>
                      <a:srgbClr val="C00000"/>
                    </a:solidFill>
                  </a:rPr>
                  <a:t>(planar graph)</a:t>
                </a:r>
              </a:p>
              <a:p>
                <a:pPr>
                  <a:spcBef>
                    <a:spcPts val="600"/>
                  </a:spcBef>
                  <a:spcAft>
                    <a:spcPts val="600"/>
                  </a:spcAft>
                </a:pPr>
                <a:r>
                  <a:rPr lang="zh-CN" altLang="en-US" sz="2000" b="1">
                    <a:solidFill>
                      <a:srgbClr val="002060"/>
                    </a:solidFill>
                    <a:latin typeface="楷体" panose="02010609060101010101" pitchFamily="49" charset="-122"/>
                    <a:ea typeface="楷体" panose="02010609060101010101" pitchFamily="49" charset="-122"/>
                  </a:rPr>
                  <a:t>若能将图</a:t>
                </a:r>
                <a14:m>
                  <m:oMath xmlns:m="http://schemas.openxmlformats.org/officeDocument/2006/math">
                    <m:r>
                      <a:rPr lang="en-US" altLang="zh-CN" sz="2000" b="1" i="1" smtClean="0">
                        <a:solidFill>
                          <a:srgbClr val="002060"/>
                        </a:solidFill>
                        <a:latin typeface="Cambria Math" panose="02040503050406030204" pitchFamily="18" charset="0"/>
                      </a:rPr>
                      <m:t>𝑮</m:t>
                    </m:r>
                  </m:oMath>
                </a14:m>
                <a:r>
                  <a:rPr lang="zh-CN" altLang="en-US" sz="2000" b="1">
                    <a:solidFill>
                      <a:srgbClr val="002060"/>
                    </a:solidFill>
                    <a:latin typeface="楷体" panose="02010609060101010101" pitchFamily="49" charset="-122"/>
                    <a:ea typeface="楷体" panose="02010609060101010101" pitchFamily="49" charset="-122"/>
                  </a:rPr>
                  <a:t>画在平面上，且任意两条边的交点只是</a:t>
                </a:r>
                <a14:m>
                  <m:oMath xmlns:m="http://schemas.openxmlformats.org/officeDocument/2006/math">
                    <m:r>
                      <a:rPr lang="en-US" altLang="zh-CN" sz="2000" b="1" i="1" smtClean="0">
                        <a:solidFill>
                          <a:srgbClr val="002060"/>
                        </a:solidFill>
                        <a:latin typeface="Cambria Math" panose="02040503050406030204" pitchFamily="18" charset="0"/>
                      </a:rPr>
                      <m:t>𝑮</m:t>
                    </m:r>
                  </m:oMath>
                </a14:m>
                <a:r>
                  <a:rPr lang="zh-CN" altLang="en-US" sz="2000" b="1">
                    <a:solidFill>
                      <a:srgbClr val="002060"/>
                    </a:solidFill>
                    <a:latin typeface="楷体" panose="02010609060101010101" pitchFamily="49" charset="-122"/>
                    <a:ea typeface="楷体" panose="02010609060101010101" pitchFamily="49" charset="-122"/>
                  </a:rPr>
                  <a:t>的顶点，则称</a:t>
                </a:r>
                <a14:m>
                  <m:oMath xmlns:m="http://schemas.openxmlformats.org/officeDocument/2006/math">
                    <m:r>
                      <a:rPr lang="en-US" altLang="zh-CN" sz="2000" b="1" i="1" smtClean="0">
                        <a:solidFill>
                          <a:srgbClr val="002060"/>
                        </a:solidFill>
                        <a:latin typeface="Cambria Math" panose="02040503050406030204" pitchFamily="18" charset="0"/>
                      </a:rPr>
                      <m:t>𝑮</m:t>
                    </m:r>
                  </m:oMath>
                </a14:m>
                <a:r>
                  <a:rPr lang="zh-CN" altLang="en-US" sz="2000" b="1">
                    <a:solidFill>
                      <a:srgbClr val="002060"/>
                    </a:solidFill>
                    <a:latin typeface="楷体" panose="02010609060101010101" pitchFamily="49" charset="-122"/>
                    <a:ea typeface="楷体" panose="02010609060101010101" pitchFamily="49" charset="-122"/>
                  </a:rPr>
                  <a:t>是</a:t>
                </a:r>
                <a:r>
                  <a:rPr lang="zh-CN" altLang="en-US" sz="2000" b="1">
                    <a:solidFill>
                      <a:srgbClr val="C00000"/>
                    </a:solidFill>
                    <a:latin typeface="+mn-ea"/>
                  </a:rPr>
                  <a:t>可平面图</a:t>
                </a:r>
                <a:endParaRPr lang="en-US" altLang="zh-CN" sz="2000" b="1">
                  <a:solidFill>
                    <a:srgbClr val="C00000"/>
                  </a:solidFill>
                  <a:latin typeface="+mn-ea"/>
                </a:endParaRPr>
              </a:p>
              <a:p>
                <a:pPr marL="342900" indent="-342900">
                  <a:spcBef>
                    <a:spcPts val="600"/>
                  </a:spcBef>
                  <a:spcAft>
                    <a:spcPts val="600"/>
                  </a:spcAft>
                  <a:buFont typeface="Arial" panose="020B0604020202020204" pitchFamily="34" charset="0"/>
                  <a:buChar char="•"/>
                </a:pPr>
                <a:r>
                  <a:rPr lang="zh-CN" altLang="en-US" sz="2000" b="1">
                    <a:solidFill>
                      <a:schemeClr val="accent6">
                        <a:lumMod val="50000"/>
                      </a:schemeClr>
                    </a:solidFill>
                  </a:rPr>
                  <a:t>可平面图在平面上的一个嵌入（画法）称为</a:t>
                </a:r>
                <a:r>
                  <a:rPr lang="zh-CN" altLang="en-US" sz="2000" b="1">
                    <a:solidFill>
                      <a:srgbClr val="C00000"/>
                    </a:solidFill>
                  </a:rPr>
                  <a:t>平面图</a:t>
                </a:r>
                <a:r>
                  <a:rPr lang="en-US" altLang="zh-CN" sz="2000" b="1">
                    <a:solidFill>
                      <a:schemeClr val="accent6">
                        <a:lumMod val="50000"/>
                      </a:schemeClr>
                    </a:solidFill>
                  </a:rPr>
                  <a:t>(plane graph)</a:t>
                </a:r>
              </a:p>
            </p:txBody>
          </p:sp>
        </mc:Choice>
        <mc:Fallback xmlns="">
          <p:sp>
            <p:nvSpPr>
              <p:cNvPr id="3" name="文本框 2">
                <a:extLst>
                  <a:ext uri="{FF2B5EF4-FFF2-40B4-BE49-F238E27FC236}">
                    <a16:creationId xmlns:a16="http://schemas.microsoft.com/office/drawing/2014/main" id="{417886ED-5464-4611-B8B1-B12F5F57CDB1}"/>
                  </a:ext>
                </a:extLst>
              </p:cNvPr>
              <p:cNvSpPr txBox="1">
                <a:spLocks noRot="1" noChangeAspect="1" noMove="1" noResize="1" noEditPoints="1" noAdjustHandles="1" noChangeArrowheads="1" noChangeShapeType="1" noTextEdit="1"/>
              </p:cNvSpPr>
              <p:nvPr/>
            </p:nvSpPr>
            <p:spPr>
              <a:xfrm>
                <a:off x="1179187" y="3135141"/>
                <a:ext cx="9563367" cy="1384995"/>
              </a:xfrm>
              <a:prstGeom prst="rect">
                <a:avLst/>
              </a:prstGeom>
              <a:blipFill>
                <a:blip r:embed="rId2"/>
                <a:stretch>
                  <a:fillRect l="-637" t="-3084" b="-7048"/>
                </a:stretch>
              </a:blipFill>
            </p:spPr>
            <p:txBody>
              <a:bodyPr/>
              <a:lstStyle/>
              <a:p>
                <a:r>
                  <a:rPr lang="zh-CN" altLang="en-US">
                    <a:noFill/>
                  </a:rPr>
                  <a:t> </a:t>
                </a:r>
              </a:p>
            </p:txBody>
          </p:sp>
        </mc:Fallback>
      </mc:AlternateContent>
      <p:sp>
        <p:nvSpPr>
          <p:cNvPr id="4" name="文本框 3">
            <a:extLst>
              <a:ext uri="{FF2B5EF4-FFF2-40B4-BE49-F238E27FC236}">
                <a16:creationId xmlns:a16="http://schemas.microsoft.com/office/drawing/2014/main" id="{FFDB41AF-97C2-412F-BA57-DD6DCDF6E4E9}"/>
              </a:ext>
            </a:extLst>
          </p:cNvPr>
          <p:cNvSpPr txBox="1"/>
          <p:nvPr/>
        </p:nvSpPr>
        <p:spPr>
          <a:xfrm>
            <a:off x="1179187" y="4714542"/>
            <a:ext cx="7958235" cy="1323439"/>
          </a:xfrm>
          <a:prstGeom prst="rect">
            <a:avLst/>
          </a:prstGeom>
          <a:solidFill>
            <a:schemeClr val="accent5">
              <a:lumMod val="20000"/>
              <a:lumOff val="80000"/>
              <a:alpha val="50000"/>
            </a:schemeClr>
          </a:solidFill>
        </p:spPr>
        <p:txBody>
          <a:bodyPr wrap="square" rtlCol="0">
            <a:spAutoFit/>
          </a:bodyPr>
          <a:lstStyle/>
          <a:p>
            <a:pPr algn="ctr">
              <a:spcBef>
                <a:spcPts val="600"/>
              </a:spcBef>
              <a:spcAft>
                <a:spcPts val="600"/>
              </a:spcAft>
            </a:pPr>
            <a:r>
              <a:rPr lang="zh-CN" altLang="en-US" sz="2000" b="1">
                <a:solidFill>
                  <a:schemeClr val="accent2">
                    <a:lumMod val="50000"/>
                  </a:schemeClr>
                </a:solidFill>
              </a:rPr>
              <a:t>树是平面图</a:t>
            </a:r>
          </a:p>
          <a:p>
            <a:pPr>
              <a:spcBef>
                <a:spcPts val="600"/>
              </a:spcBef>
              <a:spcAft>
                <a:spcPts val="600"/>
              </a:spcAft>
            </a:pPr>
            <a:r>
              <a:rPr lang="zh-CN" altLang="en-US" sz="2000" b="1">
                <a:solidFill>
                  <a:srgbClr val="002060"/>
                </a:solidFill>
                <a:latin typeface="楷体" panose="02010609060101010101" pitchFamily="49" charset="-122"/>
                <a:ea typeface="楷体" panose="02010609060101010101" pitchFamily="49" charset="-122"/>
              </a:rPr>
              <a:t>树是一类重要的平面图，因为树没有回路</a:t>
            </a:r>
          </a:p>
          <a:p>
            <a:pPr marL="342900" indent="-342900">
              <a:spcBef>
                <a:spcPts val="600"/>
              </a:spcBef>
              <a:spcAft>
                <a:spcPts val="600"/>
              </a:spcAft>
              <a:buFont typeface="Arial" panose="020B0604020202020204" pitchFamily="34" charset="0"/>
              <a:buChar char="•"/>
            </a:pPr>
            <a:r>
              <a:rPr lang="zh-CN" altLang="en-US" sz="2000" b="1">
                <a:solidFill>
                  <a:schemeClr val="accent6">
                    <a:lumMod val="50000"/>
                  </a:schemeClr>
                </a:solidFill>
              </a:rPr>
              <a:t>树没有封闭区域，总能通过适当排列顶点，使得任意两条边不相交</a:t>
            </a:r>
          </a:p>
        </p:txBody>
      </p:sp>
    </p:spTree>
    <p:extLst>
      <p:ext uri="{BB962C8B-B14F-4D97-AF65-F5344CB8AC3E}">
        <p14:creationId xmlns:p14="http://schemas.microsoft.com/office/powerpoint/2010/main" val="42527378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平面图</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第三十一讲  一些特殊的图</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5</a:t>
            </a:fld>
            <a:r>
              <a:rPr lang="en-US" altLang="zh-CN" dirty="0">
                <a:latin typeface="Arial" panose="020B0604020202020204" pitchFamily="34" charset="0"/>
                <a:ea typeface="楷体" panose="02010609060101010101" pitchFamily="49" charset="-122"/>
                <a:cs typeface="Arial" panose="020B0604020202020204" pitchFamily="34" charset="0"/>
              </a:rPr>
              <a:t>/32</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生活中的平面图</a:t>
            </a:r>
            <a:r>
              <a:rPr lang="en-US" altLang="zh-CN"/>
              <a:t>-</a:t>
            </a:r>
            <a:r>
              <a:rPr lang="zh-CN" altLang="en-US"/>
              <a:t>广州地铁线路图</a:t>
            </a:r>
          </a:p>
        </p:txBody>
      </p:sp>
      <p:pic>
        <p:nvPicPr>
          <p:cNvPr id="2" name="图片 1">
            <a:extLst>
              <a:ext uri="{FF2B5EF4-FFF2-40B4-BE49-F238E27FC236}">
                <a16:creationId xmlns:a16="http://schemas.microsoft.com/office/drawing/2014/main" id="{7B70B9DF-D42B-410C-8A16-9C04EAD71095}"/>
              </a:ext>
            </a:extLst>
          </p:cNvPr>
          <p:cNvPicPr>
            <a:picLocks noChangeAspect="1"/>
          </p:cNvPicPr>
          <p:nvPr/>
        </p:nvPicPr>
        <p:blipFill>
          <a:blip r:embed="rId2"/>
          <a:stretch>
            <a:fillRect/>
          </a:stretch>
        </p:blipFill>
        <p:spPr>
          <a:xfrm>
            <a:off x="2540550" y="881301"/>
            <a:ext cx="7110897" cy="5542317"/>
          </a:xfrm>
          <a:prstGeom prst="rect">
            <a:avLst/>
          </a:prstGeom>
        </p:spPr>
      </p:pic>
      <p:sp>
        <p:nvSpPr>
          <p:cNvPr id="3" name="文本框 2">
            <a:extLst>
              <a:ext uri="{FF2B5EF4-FFF2-40B4-BE49-F238E27FC236}">
                <a16:creationId xmlns:a16="http://schemas.microsoft.com/office/drawing/2014/main" id="{AF64E5EE-059A-44FC-AEF4-A611D360D8B9}"/>
              </a:ext>
            </a:extLst>
          </p:cNvPr>
          <p:cNvSpPr txBox="1"/>
          <p:nvPr/>
        </p:nvSpPr>
        <p:spPr>
          <a:xfrm>
            <a:off x="565744" y="1966947"/>
            <a:ext cx="1822221" cy="1000402"/>
          </a:xfrm>
          <a:prstGeom prst="rect">
            <a:avLst/>
          </a:prstGeom>
          <a:solidFill>
            <a:schemeClr val="accent4">
              <a:lumMod val="20000"/>
              <a:lumOff val="80000"/>
            </a:schemeClr>
          </a:solidFill>
        </p:spPr>
        <p:txBody>
          <a:bodyPr wrap="square" rtlCol="0">
            <a:spAutoFit/>
          </a:bodyPr>
          <a:lstStyle/>
          <a:p>
            <a:pPr>
              <a:lnSpc>
                <a:spcPts val="2400"/>
              </a:lnSpc>
            </a:pPr>
            <a:r>
              <a:rPr lang="zh-CN" altLang="en-US" b="1">
                <a:solidFill>
                  <a:schemeClr val="accent2">
                    <a:lumMod val="50000"/>
                  </a:schemeClr>
                </a:solidFill>
              </a:rPr>
              <a:t>站点是顶点，线路是边，交叉点基本在换乘站</a:t>
            </a:r>
          </a:p>
        </p:txBody>
      </p:sp>
      <p:sp>
        <p:nvSpPr>
          <p:cNvPr id="4" name="文本框 3">
            <a:extLst>
              <a:ext uri="{FF2B5EF4-FFF2-40B4-BE49-F238E27FC236}">
                <a16:creationId xmlns:a16="http://schemas.microsoft.com/office/drawing/2014/main" id="{A56C0CE1-A9B6-4DCD-8C00-72C3AA2F2659}"/>
              </a:ext>
            </a:extLst>
          </p:cNvPr>
          <p:cNvSpPr txBox="1"/>
          <p:nvPr/>
        </p:nvSpPr>
        <p:spPr>
          <a:xfrm>
            <a:off x="9953145" y="5440351"/>
            <a:ext cx="1795908" cy="646331"/>
          </a:xfrm>
          <a:prstGeom prst="rect">
            <a:avLst/>
          </a:prstGeom>
          <a:solidFill>
            <a:schemeClr val="accent2">
              <a:lumMod val="20000"/>
              <a:lumOff val="80000"/>
            </a:schemeClr>
          </a:solidFill>
        </p:spPr>
        <p:txBody>
          <a:bodyPr wrap="square" rtlCol="0">
            <a:spAutoFit/>
          </a:bodyPr>
          <a:lstStyle/>
          <a:p>
            <a:r>
              <a:rPr lang="zh-CN" altLang="en-US" b="1">
                <a:solidFill>
                  <a:schemeClr val="accent2">
                    <a:lumMod val="50000"/>
                  </a:schemeClr>
                </a:solidFill>
              </a:rPr>
              <a:t>网上资料，非最新官方线路图</a:t>
            </a:r>
          </a:p>
        </p:txBody>
      </p:sp>
    </p:spTree>
    <p:extLst>
      <p:ext uri="{BB962C8B-B14F-4D97-AF65-F5344CB8AC3E}">
        <p14:creationId xmlns:p14="http://schemas.microsoft.com/office/powerpoint/2010/main" val="392883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平面图</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第三十一讲  一些特殊的图</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6</a:t>
            </a:fld>
            <a:r>
              <a:rPr lang="en-US" altLang="zh-CN" dirty="0">
                <a:latin typeface="Arial" panose="020B0604020202020204" pitchFamily="34" charset="0"/>
                <a:ea typeface="楷体" panose="02010609060101010101" pitchFamily="49" charset="-122"/>
                <a:cs typeface="Arial" panose="020B0604020202020204" pitchFamily="34" charset="0"/>
              </a:rPr>
              <a:t>/32</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平面图的面</a:t>
            </a: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3FEC3F34-E6C8-40A0-BBCB-B8AA3EA9C7A1}"/>
                  </a:ext>
                </a:extLst>
              </p:cNvPr>
              <p:cNvSpPr txBox="1"/>
              <p:nvPr/>
            </p:nvSpPr>
            <p:spPr>
              <a:xfrm>
                <a:off x="1017460" y="1276214"/>
                <a:ext cx="10157078" cy="1785104"/>
              </a:xfrm>
              <a:prstGeom prst="rect">
                <a:avLst/>
              </a:prstGeom>
              <a:solidFill>
                <a:schemeClr val="accent2">
                  <a:lumMod val="20000"/>
                  <a:lumOff val="80000"/>
                  <a:alpha val="50000"/>
                </a:schemeClr>
              </a:solidFill>
            </p:spPr>
            <p:txBody>
              <a:bodyPr wrap="square" rtlCol="0">
                <a:spAutoFit/>
              </a:bodyPr>
              <a:lstStyle/>
              <a:p>
                <a:pPr>
                  <a:spcBef>
                    <a:spcPts val="600"/>
                  </a:spcBef>
                  <a:spcAft>
                    <a:spcPts val="600"/>
                  </a:spcAft>
                </a:pPr>
                <a:r>
                  <a:rPr lang="zh-CN" altLang="en-US" sz="2000" b="1">
                    <a:solidFill>
                      <a:srgbClr val="002060"/>
                    </a:solidFill>
                    <a:latin typeface="楷体" panose="02010609060101010101" pitchFamily="49" charset="-122"/>
                    <a:ea typeface="楷体" panose="02010609060101010101" pitchFamily="49" charset="-122"/>
                  </a:rPr>
                  <a:t>平面图</a:t>
                </a:r>
                <a14:m>
                  <m:oMath xmlns:m="http://schemas.openxmlformats.org/officeDocument/2006/math">
                    <m:r>
                      <a:rPr lang="en-US" altLang="zh-CN" sz="2000" b="1" i="1" smtClean="0">
                        <a:solidFill>
                          <a:srgbClr val="002060"/>
                        </a:solidFill>
                        <a:latin typeface="Cambria Math" panose="02040503050406030204" pitchFamily="18" charset="0"/>
                      </a:rPr>
                      <m:t>𝑮</m:t>
                    </m:r>
                  </m:oMath>
                </a14:m>
                <a:r>
                  <a:rPr lang="zh-CN" altLang="en-US" sz="2000" b="1">
                    <a:solidFill>
                      <a:srgbClr val="002060"/>
                    </a:solidFill>
                    <a:latin typeface="楷体" panose="02010609060101010101" pitchFamily="49" charset="-122"/>
                    <a:ea typeface="楷体" panose="02010609060101010101" pitchFamily="49" charset="-122"/>
                  </a:rPr>
                  <a:t>由若干边包围而成，且其中不含图的顶点和边的区域称为</a:t>
                </a:r>
                <a14:m>
                  <m:oMath xmlns:m="http://schemas.openxmlformats.org/officeDocument/2006/math">
                    <m:r>
                      <a:rPr lang="en-US" altLang="zh-CN" sz="2000" b="1" i="1" smtClean="0">
                        <a:solidFill>
                          <a:srgbClr val="002060"/>
                        </a:solidFill>
                        <a:latin typeface="Cambria Math" panose="02040503050406030204" pitchFamily="18" charset="0"/>
                      </a:rPr>
                      <m:t>𝑮</m:t>
                    </m:r>
                  </m:oMath>
                </a14:m>
                <a:r>
                  <a:rPr lang="zh-CN" altLang="en-US" sz="2000" b="1">
                    <a:solidFill>
                      <a:srgbClr val="002060"/>
                    </a:solidFill>
                    <a:latin typeface="楷体" panose="02010609060101010101" pitchFamily="49" charset="-122"/>
                    <a:ea typeface="楷体" panose="02010609060101010101" pitchFamily="49" charset="-122"/>
                  </a:rPr>
                  <a:t>的一个</a:t>
                </a:r>
                <a:r>
                  <a:rPr lang="zh-CN" altLang="en-US" sz="2000" b="1">
                    <a:solidFill>
                      <a:srgbClr val="C00000"/>
                    </a:solidFill>
                    <a:latin typeface="+mn-ea"/>
                  </a:rPr>
                  <a:t>面</a:t>
                </a:r>
                <a:r>
                  <a:rPr lang="en-US" altLang="zh-CN" sz="2000" b="1">
                    <a:solidFill>
                      <a:srgbClr val="C00000"/>
                    </a:solidFill>
                    <a:latin typeface="+mn-ea"/>
                  </a:rPr>
                  <a:t>(region)</a:t>
                </a:r>
                <a:r>
                  <a:rPr lang="zh-CN" altLang="en-US" sz="2000" b="1">
                    <a:solidFill>
                      <a:srgbClr val="002060"/>
                    </a:solidFill>
                    <a:latin typeface="楷体" panose="02010609060101010101" pitchFamily="49" charset="-122"/>
                    <a:ea typeface="楷体" panose="02010609060101010101" pitchFamily="49" charset="-122"/>
                  </a:rPr>
                  <a:t>或</a:t>
                </a:r>
                <a:r>
                  <a:rPr lang="zh-CN" altLang="en-US" sz="2000" b="1">
                    <a:solidFill>
                      <a:srgbClr val="C00000"/>
                    </a:solidFill>
                    <a:latin typeface="+mn-ea"/>
                  </a:rPr>
                  <a:t>域</a:t>
                </a:r>
              </a:p>
              <a:p>
                <a:pPr marL="342900" indent="-342900">
                  <a:spcBef>
                    <a:spcPts val="600"/>
                  </a:spcBef>
                  <a:spcAft>
                    <a:spcPts val="600"/>
                  </a:spcAft>
                  <a:buFont typeface="Arial" panose="020B0604020202020204" pitchFamily="34" charset="0"/>
                  <a:buChar char="•"/>
                </a:pPr>
                <a:r>
                  <a:rPr lang="zh-CN" altLang="en-US" sz="2000" b="1">
                    <a:solidFill>
                      <a:schemeClr val="accent6">
                        <a:lumMod val="50000"/>
                      </a:schemeClr>
                    </a:solidFill>
                  </a:rPr>
                  <a:t>包围面</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𝑹</m:t>
                    </m:r>
                  </m:oMath>
                </a14:m>
                <a:r>
                  <a:rPr lang="zh-CN" altLang="en-US" sz="2000" b="1">
                    <a:solidFill>
                      <a:schemeClr val="accent6">
                        <a:lumMod val="50000"/>
                      </a:schemeClr>
                    </a:solidFill>
                  </a:rPr>
                  <a:t>的所有边构成的</a:t>
                </a:r>
                <a:r>
                  <a:rPr lang="zh-CN" altLang="en-US" sz="2000" b="1">
                    <a:solidFill>
                      <a:srgbClr val="0000FF"/>
                    </a:solidFill>
                  </a:rPr>
                  <a:t>回路</a:t>
                </a:r>
                <a:r>
                  <a:rPr lang="zh-CN" altLang="en-US" sz="2000" b="1">
                    <a:solidFill>
                      <a:schemeClr val="accent6">
                        <a:lumMod val="50000"/>
                      </a:schemeClr>
                    </a:solidFill>
                  </a:rPr>
                  <a:t>称为该面的</a:t>
                </a:r>
                <a:r>
                  <a:rPr lang="zh-CN" altLang="en-US" sz="2000" b="1">
                    <a:solidFill>
                      <a:srgbClr val="C00000"/>
                    </a:solidFill>
                  </a:rPr>
                  <a:t>边界</a:t>
                </a:r>
                <a:r>
                  <a:rPr lang="en-US" altLang="zh-CN" sz="2000" b="1">
                    <a:solidFill>
                      <a:schemeClr val="accent6">
                        <a:lumMod val="50000"/>
                      </a:schemeClr>
                    </a:solidFill>
                  </a:rPr>
                  <a:t>(boundary)</a:t>
                </a:r>
              </a:p>
              <a:p>
                <a:pPr marL="800100" lvl="1" indent="-342900">
                  <a:spcBef>
                    <a:spcPts val="600"/>
                  </a:spcBef>
                  <a:spcAft>
                    <a:spcPts val="600"/>
                  </a:spcAft>
                  <a:buFont typeface="Arial" panose="020B0604020202020204" pitchFamily="34" charset="0"/>
                  <a:buChar char="•"/>
                </a:pPr>
                <a:r>
                  <a:rPr lang="zh-CN" altLang="en-US" sz="2000" b="1">
                    <a:solidFill>
                      <a:schemeClr val="accent2">
                        <a:lumMod val="50000"/>
                      </a:schemeClr>
                    </a:solidFill>
                    <a:latin typeface="楷体" panose="02010609060101010101" pitchFamily="49" charset="-122"/>
                    <a:ea typeface="楷体" panose="02010609060101010101" pitchFamily="49" charset="-122"/>
                  </a:rPr>
                  <a:t>回路长度称为该面的</a:t>
                </a:r>
                <a:r>
                  <a:rPr lang="zh-CN" altLang="en-US" sz="2000" b="1">
                    <a:solidFill>
                      <a:srgbClr val="C00000"/>
                    </a:solidFill>
                    <a:latin typeface="+mn-ea"/>
                  </a:rPr>
                  <a:t>度</a:t>
                </a:r>
                <a:r>
                  <a:rPr lang="en-US" altLang="zh-CN" sz="2000" b="1">
                    <a:solidFill>
                      <a:schemeClr val="accent2">
                        <a:lumMod val="50000"/>
                      </a:schemeClr>
                    </a:solidFill>
                    <a:latin typeface="+mn-ea"/>
                  </a:rPr>
                  <a:t>(degree)</a:t>
                </a:r>
                <a:r>
                  <a:rPr lang="zh-CN" altLang="en-US" sz="2000" b="1">
                    <a:solidFill>
                      <a:schemeClr val="accent2">
                        <a:lumMod val="50000"/>
                      </a:schemeClr>
                    </a:solidFill>
                    <a:latin typeface="楷体" panose="02010609060101010101" pitchFamily="49" charset="-122"/>
                    <a:ea typeface="楷体" panose="02010609060101010101" pitchFamily="49" charset="-122"/>
                  </a:rPr>
                  <a:t>，记为</a:t>
                </a:r>
                <a14:m>
                  <m:oMath xmlns:m="http://schemas.openxmlformats.org/officeDocument/2006/math">
                    <m:r>
                      <a:rPr lang="en-US" altLang="zh-CN" sz="2000" b="1" i="0" smtClean="0">
                        <a:solidFill>
                          <a:schemeClr val="accent2">
                            <a:lumMod val="50000"/>
                          </a:schemeClr>
                        </a:solidFill>
                        <a:latin typeface="Cambria Math" panose="02040503050406030204" pitchFamily="18" charset="0"/>
                        <a:ea typeface="楷体" panose="02010609060101010101" pitchFamily="49" charset="-122"/>
                      </a:rPr>
                      <m:t>𝐝𝐞𝐠</m:t>
                    </m:r>
                    <m:r>
                      <a:rPr lang="en-US" altLang="zh-CN" sz="2000" b="1" i="1" smtClean="0">
                        <a:solidFill>
                          <a:schemeClr val="accent2">
                            <a:lumMod val="50000"/>
                          </a:schemeClr>
                        </a:solidFill>
                        <a:latin typeface="Cambria Math" panose="02040503050406030204" pitchFamily="18" charset="0"/>
                        <a:ea typeface="楷体" panose="02010609060101010101" pitchFamily="49" charset="-122"/>
                      </a:rPr>
                      <m:t>⁡(</m:t>
                    </m:r>
                    <m:r>
                      <a:rPr lang="en-US" altLang="zh-CN" sz="2000" b="1" i="1" smtClean="0">
                        <a:solidFill>
                          <a:schemeClr val="accent2">
                            <a:lumMod val="50000"/>
                          </a:schemeClr>
                        </a:solidFill>
                        <a:latin typeface="Cambria Math" panose="02040503050406030204" pitchFamily="18" charset="0"/>
                        <a:ea typeface="楷体" panose="02010609060101010101" pitchFamily="49" charset="-122"/>
                      </a:rPr>
                      <m:t>𝑹</m:t>
                    </m:r>
                    <m:r>
                      <a:rPr lang="en-US" altLang="zh-CN" sz="2000" b="1" i="1" smtClean="0">
                        <a:solidFill>
                          <a:schemeClr val="accent2">
                            <a:lumMod val="50000"/>
                          </a:schemeClr>
                        </a:solidFill>
                        <a:latin typeface="Cambria Math" panose="02040503050406030204" pitchFamily="18" charset="0"/>
                        <a:ea typeface="楷体" panose="02010609060101010101" pitchFamily="49" charset="-122"/>
                      </a:rPr>
                      <m:t>)</m:t>
                    </m:r>
                  </m:oMath>
                </a14:m>
                <a:endParaRPr lang="en-US" altLang="zh-CN" sz="2000" b="1">
                  <a:solidFill>
                    <a:schemeClr val="accent2">
                      <a:lumMod val="50000"/>
                    </a:schemeClr>
                  </a:solidFill>
                  <a:latin typeface="楷体" panose="02010609060101010101" pitchFamily="49" charset="-122"/>
                  <a:ea typeface="楷体" panose="02010609060101010101" pitchFamily="49" charset="-122"/>
                </a:endParaRPr>
              </a:p>
              <a:p>
                <a:pPr marL="342900" indent="-342900">
                  <a:spcBef>
                    <a:spcPts val="600"/>
                  </a:spcBef>
                  <a:spcAft>
                    <a:spcPts val="600"/>
                  </a:spcAft>
                  <a:buFont typeface="Arial" panose="020B0604020202020204" pitchFamily="34" charset="0"/>
                  <a:buChar char="•"/>
                </a:pPr>
                <a:r>
                  <a:rPr lang="zh-CN" altLang="en-US" sz="2000" b="1">
                    <a:solidFill>
                      <a:schemeClr val="accent6">
                        <a:lumMod val="50000"/>
                      </a:schemeClr>
                    </a:solidFill>
                  </a:rPr>
                  <a:t>由平面图的边包围且无穷大的面称为</a:t>
                </a:r>
                <a:r>
                  <a:rPr lang="zh-CN" altLang="en-US" sz="2000" b="1">
                    <a:solidFill>
                      <a:srgbClr val="0000FF"/>
                    </a:solidFill>
                  </a:rPr>
                  <a:t>外部面</a:t>
                </a:r>
                <a:r>
                  <a:rPr lang="zh-CN" altLang="en-US" sz="2000" b="1">
                    <a:solidFill>
                      <a:schemeClr val="accent6">
                        <a:lumMod val="50000"/>
                      </a:schemeClr>
                    </a:solidFill>
                  </a:rPr>
                  <a:t>，其他面称为</a:t>
                </a:r>
                <a:r>
                  <a:rPr lang="zh-CN" altLang="en-US" sz="2000" b="1">
                    <a:solidFill>
                      <a:srgbClr val="0000FF"/>
                    </a:solidFill>
                  </a:rPr>
                  <a:t>内部面</a:t>
                </a:r>
                <a:endParaRPr lang="en-US" altLang="zh-CN" sz="2000" b="1">
                  <a:solidFill>
                    <a:srgbClr val="0000FF"/>
                  </a:solidFill>
                </a:endParaRPr>
              </a:p>
            </p:txBody>
          </p:sp>
        </mc:Choice>
        <mc:Fallback xmlns="">
          <p:sp>
            <p:nvSpPr>
              <p:cNvPr id="2" name="文本框 1">
                <a:extLst>
                  <a:ext uri="{FF2B5EF4-FFF2-40B4-BE49-F238E27FC236}">
                    <a16:creationId xmlns:a16="http://schemas.microsoft.com/office/drawing/2014/main" id="{3FEC3F34-E6C8-40A0-BBCB-B8AA3EA9C7A1}"/>
                  </a:ext>
                </a:extLst>
              </p:cNvPr>
              <p:cNvSpPr txBox="1">
                <a:spLocks noRot="1" noChangeAspect="1" noMove="1" noResize="1" noEditPoints="1" noAdjustHandles="1" noChangeArrowheads="1" noChangeShapeType="1" noTextEdit="1"/>
              </p:cNvSpPr>
              <p:nvPr/>
            </p:nvSpPr>
            <p:spPr>
              <a:xfrm>
                <a:off x="1017460" y="1276214"/>
                <a:ext cx="10157078" cy="1785104"/>
              </a:xfrm>
              <a:prstGeom prst="rect">
                <a:avLst/>
              </a:prstGeom>
              <a:blipFill>
                <a:blip r:embed="rId2"/>
                <a:stretch>
                  <a:fillRect l="-660" t="-2730" r="-480" b="-5119"/>
                </a:stretch>
              </a:blipFill>
            </p:spPr>
            <p:txBody>
              <a:bodyPr/>
              <a:lstStyle/>
              <a:p>
                <a:r>
                  <a:rPr lang="zh-CN" altLang="en-US">
                    <a:noFill/>
                  </a:rPr>
                  <a:t> </a:t>
                </a:r>
              </a:p>
            </p:txBody>
          </p:sp>
        </mc:Fallback>
      </mc:AlternateContent>
      <p:pic>
        <p:nvPicPr>
          <p:cNvPr id="3" name="图片 2">
            <a:extLst>
              <a:ext uri="{FF2B5EF4-FFF2-40B4-BE49-F238E27FC236}">
                <a16:creationId xmlns:a16="http://schemas.microsoft.com/office/drawing/2014/main" id="{AF46B4CB-E7E9-4582-9F82-C0FAAF5EA3E8}"/>
              </a:ext>
            </a:extLst>
          </p:cNvPr>
          <p:cNvPicPr>
            <a:picLocks noChangeAspect="1"/>
          </p:cNvPicPr>
          <p:nvPr/>
        </p:nvPicPr>
        <p:blipFill>
          <a:blip r:embed="rId3"/>
          <a:stretch>
            <a:fillRect/>
          </a:stretch>
        </p:blipFill>
        <p:spPr>
          <a:xfrm>
            <a:off x="1017460" y="3429000"/>
            <a:ext cx="4767879" cy="2465026"/>
          </a:xfrm>
          <a:prstGeom prst="rect">
            <a:avLst/>
          </a:prstGeom>
        </p:spPr>
      </p:pic>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719E2975-BBA3-450C-BB0C-AC2DFF3420BB}"/>
                  </a:ext>
                </a:extLst>
              </p:cNvPr>
              <p:cNvSpPr txBox="1"/>
              <p:nvPr/>
            </p:nvSpPr>
            <p:spPr>
              <a:xfrm>
                <a:off x="5283545" y="5443169"/>
                <a:ext cx="342078"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𝑅</m:t>
                          </m:r>
                        </m:e>
                        <m:sub>
                          <m:r>
                            <a:rPr lang="en-US" altLang="zh-CN" i="1" smtClean="0">
                              <a:latin typeface="Cambria Math" panose="02040503050406030204" pitchFamily="18" charset="0"/>
                            </a:rPr>
                            <m:t>3</m:t>
                          </m:r>
                        </m:sub>
                      </m:sSub>
                    </m:oMath>
                  </m:oMathPara>
                </a14:m>
                <a:endParaRPr lang="zh-CN" altLang="en-US"/>
              </a:p>
            </p:txBody>
          </p:sp>
        </mc:Choice>
        <mc:Fallback xmlns="">
          <p:sp>
            <p:nvSpPr>
              <p:cNvPr id="4" name="文本框 3">
                <a:extLst>
                  <a:ext uri="{FF2B5EF4-FFF2-40B4-BE49-F238E27FC236}">
                    <a16:creationId xmlns:a16="http://schemas.microsoft.com/office/drawing/2014/main" id="{719E2975-BBA3-450C-BB0C-AC2DFF3420BB}"/>
                  </a:ext>
                </a:extLst>
              </p:cNvPr>
              <p:cNvSpPr txBox="1">
                <a:spLocks noRot="1" noChangeAspect="1" noMove="1" noResize="1" noEditPoints="1" noAdjustHandles="1" noChangeArrowheads="1" noChangeShapeType="1" noTextEdit="1"/>
              </p:cNvSpPr>
              <p:nvPr/>
            </p:nvSpPr>
            <p:spPr>
              <a:xfrm>
                <a:off x="5283545" y="5443169"/>
                <a:ext cx="342078" cy="369332"/>
              </a:xfrm>
              <a:prstGeom prst="rect">
                <a:avLst/>
              </a:prstGeom>
              <a:blipFill>
                <a:blip r:embed="rId4"/>
                <a:stretch>
                  <a:fillRect r="-125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B3AD5CDD-E7CB-46C1-AB4B-1F55091E739A}"/>
                  </a:ext>
                </a:extLst>
              </p:cNvPr>
              <p:cNvSpPr txBox="1"/>
              <p:nvPr/>
            </p:nvSpPr>
            <p:spPr>
              <a:xfrm>
                <a:off x="6177134" y="3473517"/>
                <a:ext cx="3473404" cy="369332"/>
              </a:xfrm>
              <a:prstGeom prst="rect">
                <a:avLst/>
              </a:prstGeom>
              <a:solidFill>
                <a:schemeClr val="accent6">
                  <a:lumMod val="20000"/>
                  <a:lumOff val="80000"/>
                  <a:alpha val="50000"/>
                </a:schemeClr>
              </a:solidFill>
            </p:spPr>
            <p:txBody>
              <a:bodyPr wrap="square" rtlCol="0">
                <a:spAutoFit/>
              </a:bodyPr>
              <a:lstStyle/>
              <a:p>
                <a14:m>
                  <m:oMath xmlns:m="http://schemas.openxmlformats.org/officeDocument/2006/math">
                    <m:sSub>
                      <m:sSubPr>
                        <m:ctrlPr>
                          <a:rPr lang="en-US" altLang="zh-CN" b="1" i="1" smtClean="0">
                            <a:solidFill>
                              <a:schemeClr val="accent6">
                                <a:lumMod val="50000"/>
                              </a:schemeClr>
                            </a:solidFill>
                            <a:latin typeface="Cambria Math" panose="02040503050406030204" pitchFamily="18" charset="0"/>
                          </a:rPr>
                        </m:ctrlPr>
                      </m:sSubPr>
                      <m:e>
                        <m:r>
                          <a:rPr lang="en-US" altLang="zh-CN" b="1" i="1" smtClean="0">
                            <a:solidFill>
                              <a:schemeClr val="accent6">
                                <a:lumMod val="50000"/>
                              </a:schemeClr>
                            </a:solidFill>
                            <a:latin typeface="Cambria Math" panose="02040503050406030204" pitchFamily="18" charset="0"/>
                          </a:rPr>
                          <m:t>𝑹</m:t>
                        </m:r>
                      </m:e>
                      <m:sub>
                        <m:r>
                          <a:rPr lang="en-US" altLang="zh-CN" b="1" i="1" smtClean="0">
                            <a:solidFill>
                              <a:schemeClr val="accent6">
                                <a:lumMod val="50000"/>
                              </a:schemeClr>
                            </a:solidFill>
                            <a:latin typeface="Cambria Math" panose="02040503050406030204" pitchFamily="18" charset="0"/>
                          </a:rPr>
                          <m:t>𝟎</m:t>
                        </m:r>
                      </m:sub>
                    </m:sSub>
                  </m:oMath>
                </a14:m>
                <a:r>
                  <a:rPr lang="zh-CN" altLang="en-US" b="1">
                    <a:solidFill>
                      <a:schemeClr val="accent6">
                        <a:lumMod val="50000"/>
                      </a:schemeClr>
                    </a:solidFill>
                  </a:rPr>
                  <a:t>的边界 </a:t>
                </a:r>
                <a14:m>
                  <m:oMath xmlns:m="http://schemas.openxmlformats.org/officeDocument/2006/math">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𝒗</m:t>
                        </m:r>
                      </m:e>
                      <m:sub>
                        <m:r>
                          <a:rPr lang="en-US" altLang="zh-CN" b="1" i="1" smtClean="0">
                            <a:solidFill>
                              <a:schemeClr val="accent2">
                                <a:lumMod val="50000"/>
                              </a:schemeClr>
                            </a:solidFill>
                            <a:latin typeface="Cambria Math" panose="02040503050406030204" pitchFamily="18" charset="0"/>
                          </a:rPr>
                          <m:t>𝟏</m:t>
                        </m:r>
                      </m:sub>
                    </m:sSub>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𝒗</m:t>
                        </m:r>
                      </m:e>
                      <m:sub>
                        <m:r>
                          <a:rPr lang="en-US" altLang="zh-CN" b="1" i="1" smtClean="0">
                            <a:solidFill>
                              <a:schemeClr val="accent2">
                                <a:lumMod val="50000"/>
                              </a:schemeClr>
                            </a:solidFill>
                            <a:latin typeface="Cambria Math" panose="02040503050406030204" pitchFamily="18" charset="0"/>
                          </a:rPr>
                          <m:t>𝟐</m:t>
                        </m:r>
                      </m:sub>
                    </m:sSub>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𝒗</m:t>
                        </m:r>
                      </m:e>
                      <m:sub>
                        <m:r>
                          <a:rPr lang="en-US" altLang="zh-CN" b="1" i="1" smtClean="0">
                            <a:solidFill>
                              <a:schemeClr val="accent2">
                                <a:lumMod val="50000"/>
                              </a:schemeClr>
                            </a:solidFill>
                            <a:latin typeface="Cambria Math" panose="02040503050406030204" pitchFamily="18" charset="0"/>
                          </a:rPr>
                          <m:t>𝟒</m:t>
                        </m:r>
                      </m:sub>
                    </m:sSub>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𝒗</m:t>
                        </m:r>
                      </m:e>
                      <m:sub>
                        <m:r>
                          <a:rPr lang="en-US" altLang="zh-CN" b="1" i="1" smtClean="0">
                            <a:solidFill>
                              <a:schemeClr val="accent2">
                                <a:lumMod val="50000"/>
                              </a:schemeClr>
                            </a:solidFill>
                            <a:latin typeface="Cambria Math" panose="02040503050406030204" pitchFamily="18" charset="0"/>
                          </a:rPr>
                          <m:t>𝟓</m:t>
                        </m:r>
                      </m:sub>
                    </m:sSub>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𝒗</m:t>
                        </m:r>
                      </m:e>
                      <m:sub>
                        <m:r>
                          <a:rPr lang="en-US" altLang="zh-CN" b="1" i="1" smtClean="0">
                            <a:solidFill>
                              <a:schemeClr val="accent2">
                                <a:lumMod val="50000"/>
                              </a:schemeClr>
                            </a:solidFill>
                            <a:latin typeface="Cambria Math" panose="02040503050406030204" pitchFamily="18" charset="0"/>
                          </a:rPr>
                          <m:t>𝟕</m:t>
                        </m:r>
                      </m:sub>
                    </m:sSub>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𝒗</m:t>
                        </m:r>
                      </m:e>
                      <m:sub>
                        <m:r>
                          <a:rPr lang="en-US" altLang="zh-CN" b="1" i="1" smtClean="0">
                            <a:solidFill>
                              <a:schemeClr val="accent2">
                                <a:lumMod val="50000"/>
                              </a:schemeClr>
                            </a:solidFill>
                            <a:latin typeface="Cambria Math" panose="02040503050406030204" pitchFamily="18" charset="0"/>
                          </a:rPr>
                          <m:t>𝟕</m:t>
                        </m:r>
                      </m:sub>
                    </m:sSub>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𝒗</m:t>
                        </m:r>
                      </m:e>
                      <m:sub>
                        <m:r>
                          <a:rPr lang="en-US" altLang="zh-CN" b="1" i="1" smtClean="0">
                            <a:solidFill>
                              <a:schemeClr val="accent2">
                                <a:lumMod val="50000"/>
                              </a:schemeClr>
                            </a:solidFill>
                            <a:latin typeface="Cambria Math" panose="02040503050406030204" pitchFamily="18" charset="0"/>
                          </a:rPr>
                          <m:t>𝟒</m:t>
                        </m:r>
                      </m:sub>
                    </m:sSub>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𝒗</m:t>
                        </m:r>
                      </m:e>
                      <m:sub>
                        <m:r>
                          <a:rPr lang="en-US" altLang="zh-CN" b="1" i="1" smtClean="0">
                            <a:solidFill>
                              <a:schemeClr val="accent2">
                                <a:lumMod val="50000"/>
                              </a:schemeClr>
                            </a:solidFill>
                            <a:latin typeface="Cambria Math" panose="02040503050406030204" pitchFamily="18" charset="0"/>
                          </a:rPr>
                          <m:t>𝟑</m:t>
                        </m:r>
                      </m:sub>
                    </m:sSub>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𝒗</m:t>
                        </m:r>
                      </m:e>
                      <m:sub>
                        <m:r>
                          <a:rPr lang="en-US" altLang="zh-CN" b="1" i="1">
                            <a:solidFill>
                              <a:schemeClr val="accent2">
                                <a:lumMod val="50000"/>
                              </a:schemeClr>
                            </a:solidFill>
                            <a:latin typeface="Cambria Math" panose="02040503050406030204" pitchFamily="18" charset="0"/>
                          </a:rPr>
                          <m:t>𝟏</m:t>
                        </m:r>
                      </m:sub>
                    </m:sSub>
                  </m:oMath>
                </a14:m>
                <a:r>
                  <a:rPr lang="en-US" altLang="zh-CN" b="1">
                    <a:solidFill>
                      <a:schemeClr val="accent6">
                        <a:lumMod val="50000"/>
                      </a:schemeClr>
                    </a:solidFill>
                  </a:rPr>
                  <a:t>  </a:t>
                </a:r>
              </a:p>
            </p:txBody>
          </p:sp>
        </mc:Choice>
        <mc:Fallback xmlns="">
          <p:sp>
            <p:nvSpPr>
              <p:cNvPr id="6" name="文本框 5">
                <a:extLst>
                  <a:ext uri="{FF2B5EF4-FFF2-40B4-BE49-F238E27FC236}">
                    <a16:creationId xmlns:a16="http://schemas.microsoft.com/office/drawing/2014/main" id="{B3AD5CDD-E7CB-46C1-AB4B-1F55091E739A}"/>
                  </a:ext>
                </a:extLst>
              </p:cNvPr>
              <p:cNvSpPr txBox="1">
                <a:spLocks noRot="1" noChangeAspect="1" noMove="1" noResize="1" noEditPoints="1" noAdjustHandles="1" noChangeArrowheads="1" noChangeShapeType="1" noTextEdit="1"/>
              </p:cNvSpPr>
              <p:nvPr/>
            </p:nvSpPr>
            <p:spPr>
              <a:xfrm>
                <a:off x="6177134" y="3473517"/>
                <a:ext cx="3473404" cy="369332"/>
              </a:xfrm>
              <a:prstGeom prst="rect">
                <a:avLst/>
              </a:prstGeom>
              <a:blipFill>
                <a:blip r:embed="rId5"/>
                <a:stretch>
                  <a:fillRect t="-10000" b="-2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3986DEB6-6D14-4894-9049-772FD423C03E}"/>
                  </a:ext>
                </a:extLst>
              </p:cNvPr>
              <p:cNvSpPr txBox="1"/>
              <p:nvPr/>
            </p:nvSpPr>
            <p:spPr>
              <a:xfrm>
                <a:off x="6177134" y="4006062"/>
                <a:ext cx="2519534" cy="369332"/>
              </a:xfrm>
              <a:prstGeom prst="rect">
                <a:avLst/>
              </a:prstGeom>
              <a:solidFill>
                <a:schemeClr val="accent6">
                  <a:lumMod val="20000"/>
                  <a:lumOff val="80000"/>
                  <a:alpha val="50000"/>
                </a:schemeClr>
              </a:solidFill>
            </p:spPr>
            <p:txBody>
              <a:bodyPr wrap="square" rtlCol="0">
                <a:spAutoFit/>
              </a:bodyPr>
              <a:lstStyle/>
              <a:p>
                <a14:m>
                  <m:oMath xmlns:m="http://schemas.openxmlformats.org/officeDocument/2006/math">
                    <m:sSub>
                      <m:sSubPr>
                        <m:ctrlPr>
                          <a:rPr lang="en-US" altLang="zh-CN" b="1" i="1" smtClean="0">
                            <a:solidFill>
                              <a:schemeClr val="accent6">
                                <a:lumMod val="50000"/>
                              </a:schemeClr>
                            </a:solidFill>
                            <a:latin typeface="Cambria Math" panose="02040503050406030204" pitchFamily="18" charset="0"/>
                          </a:rPr>
                        </m:ctrlPr>
                      </m:sSubPr>
                      <m:e>
                        <m:r>
                          <a:rPr lang="en-US" altLang="zh-CN" b="1" i="1" smtClean="0">
                            <a:solidFill>
                              <a:schemeClr val="accent6">
                                <a:lumMod val="50000"/>
                              </a:schemeClr>
                            </a:solidFill>
                            <a:latin typeface="Cambria Math" panose="02040503050406030204" pitchFamily="18" charset="0"/>
                          </a:rPr>
                          <m:t>𝑹</m:t>
                        </m:r>
                      </m:e>
                      <m:sub>
                        <m:r>
                          <a:rPr lang="en-US" altLang="zh-CN" b="1" i="1" smtClean="0">
                            <a:solidFill>
                              <a:schemeClr val="accent6">
                                <a:lumMod val="50000"/>
                              </a:schemeClr>
                            </a:solidFill>
                            <a:latin typeface="Cambria Math" panose="02040503050406030204" pitchFamily="18" charset="0"/>
                          </a:rPr>
                          <m:t>𝟏</m:t>
                        </m:r>
                      </m:sub>
                    </m:sSub>
                  </m:oMath>
                </a14:m>
                <a:r>
                  <a:rPr lang="zh-CN" altLang="en-US" b="1">
                    <a:solidFill>
                      <a:schemeClr val="accent6">
                        <a:lumMod val="50000"/>
                      </a:schemeClr>
                    </a:solidFill>
                  </a:rPr>
                  <a:t>的边界 </a:t>
                </a:r>
                <a14:m>
                  <m:oMath xmlns:m="http://schemas.openxmlformats.org/officeDocument/2006/math">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𝒗</m:t>
                        </m:r>
                      </m:e>
                      <m:sub>
                        <m:r>
                          <a:rPr lang="en-US" altLang="zh-CN" b="1" i="1" smtClean="0">
                            <a:solidFill>
                              <a:schemeClr val="accent2">
                                <a:lumMod val="50000"/>
                              </a:schemeClr>
                            </a:solidFill>
                            <a:latin typeface="Cambria Math" panose="02040503050406030204" pitchFamily="18" charset="0"/>
                          </a:rPr>
                          <m:t>𝟏</m:t>
                        </m:r>
                      </m:sub>
                    </m:sSub>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𝒗</m:t>
                        </m:r>
                      </m:e>
                      <m:sub>
                        <m:r>
                          <a:rPr lang="en-US" altLang="zh-CN" b="1" i="1" smtClean="0">
                            <a:solidFill>
                              <a:schemeClr val="accent2">
                                <a:lumMod val="50000"/>
                              </a:schemeClr>
                            </a:solidFill>
                            <a:latin typeface="Cambria Math" panose="02040503050406030204" pitchFamily="18" charset="0"/>
                          </a:rPr>
                          <m:t>𝟐</m:t>
                        </m:r>
                      </m:sub>
                    </m:sSub>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𝒗</m:t>
                        </m:r>
                      </m:e>
                      <m:sub>
                        <m:r>
                          <a:rPr lang="en-US" altLang="zh-CN" b="1" i="1" smtClean="0">
                            <a:solidFill>
                              <a:schemeClr val="accent2">
                                <a:lumMod val="50000"/>
                              </a:schemeClr>
                            </a:solidFill>
                            <a:latin typeface="Cambria Math" panose="02040503050406030204" pitchFamily="18" charset="0"/>
                          </a:rPr>
                          <m:t>𝟒</m:t>
                        </m:r>
                      </m:sub>
                    </m:sSub>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𝒗</m:t>
                        </m:r>
                      </m:e>
                      <m:sub>
                        <m:r>
                          <a:rPr lang="en-US" altLang="zh-CN" b="1" i="1" smtClean="0">
                            <a:solidFill>
                              <a:schemeClr val="accent2">
                                <a:lumMod val="50000"/>
                              </a:schemeClr>
                            </a:solidFill>
                            <a:latin typeface="Cambria Math" panose="02040503050406030204" pitchFamily="18" charset="0"/>
                          </a:rPr>
                          <m:t>𝟑</m:t>
                        </m:r>
                      </m:sub>
                    </m:sSub>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𝒗</m:t>
                        </m:r>
                      </m:e>
                      <m:sub>
                        <m:r>
                          <a:rPr lang="en-US" altLang="zh-CN" b="1" i="1">
                            <a:solidFill>
                              <a:schemeClr val="accent2">
                                <a:lumMod val="50000"/>
                              </a:schemeClr>
                            </a:solidFill>
                            <a:latin typeface="Cambria Math" panose="02040503050406030204" pitchFamily="18" charset="0"/>
                          </a:rPr>
                          <m:t>𝟏</m:t>
                        </m:r>
                      </m:sub>
                    </m:sSub>
                  </m:oMath>
                </a14:m>
                <a:r>
                  <a:rPr lang="en-US" altLang="zh-CN" b="1">
                    <a:solidFill>
                      <a:schemeClr val="accent2">
                        <a:lumMod val="50000"/>
                      </a:schemeClr>
                    </a:solidFill>
                  </a:rPr>
                  <a:t> </a:t>
                </a:r>
                <a:endParaRPr lang="en-US" altLang="zh-CN" b="1">
                  <a:solidFill>
                    <a:schemeClr val="accent6">
                      <a:lumMod val="50000"/>
                    </a:schemeClr>
                  </a:solidFill>
                </a:endParaRPr>
              </a:p>
            </p:txBody>
          </p:sp>
        </mc:Choice>
        <mc:Fallback xmlns="">
          <p:sp>
            <p:nvSpPr>
              <p:cNvPr id="11" name="文本框 10">
                <a:extLst>
                  <a:ext uri="{FF2B5EF4-FFF2-40B4-BE49-F238E27FC236}">
                    <a16:creationId xmlns:a16="http://schemas.microsoft.com/office/drawing/2014/main" id="{3986DEB6-6D14-4894-9049-772FD423C03E}"/>
                  </a:ext>
                </a:extLst>
              </p:cNvPr>
              <p:cNvSpPr txBox="1">
                <a:spLocks noRot="1" noChangeAspect="1" noMove="1" noResize="1" noEditPoints="1" noAdjustHandles="1" noChangeArrowheads="1" noChangeShapeType="1" noTextEdit="1"/>
              </p:cNvSpPr>
              <p:nvPr/>
            </p:nvSpPr>
            <p:spPr>
              <a:xfrm>
                <a:off x="6177134" y="4006062"/>
                <a:ext cx="2519534" cy="369332"/>
              </a:xfrm>
              <a:prstGeom prst="rect">
                <a:avLst/>
              </a:prstGeom>
              <a:blipFill>
                <a:blip r:embed="rId6"/>
                <a:stretch>
                  <a:fillRect t="-8197" b="-2459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BC0BBDFC-C62D-46C9-A345-065B7E99DEEB}"/>
                  </a:ext>
                </a:extLst>
              </p:cNvPr>
              <p:cNvSpPr txBox="1"/>
              <p:nvPr/>
            </p:nvSpPr>
            <p:spPr>
              <a:xfrm>
                <a:off x="6177134" y="4534541"/>
                <a:ext cx="2795827" cy="369332"/>
              </a:xfrm>
              <a:prstGeom prst="rect">
                <a:avLst/>
              </a:prstGeom>
              <a:solidFill>
                <a:schemeClr val="accent6">
                  <a:lumMod val="20000"/>
                  <a:lumOff val="80000"/>
                  <a:alpha val="50000"/>
                </a:schemeClr>
              </a:solidFill>
            </p:spPr>
            <p:txBody>
              <a:bodyPr wrap="square" rtlCol="0">
                <a:spAutoFit/>
              </a:bodyPr>
              <a:lstStyle/>
              <a:p>
                <a14:m>
                  <m:oMath xmlns:m="http://schemas.openxmlformats.org/officeDocument/2006/math">
                    <m:sSub>
                      <m:sSubPr>
                        <m:ctrlPr>
                          <a:rPr lang="en-US" altLang="zh-CN" b="1" i="1" smtClean="0">
                            <a:solidFill>
                              <a:schemeClr val="accent6">
                                <a:lumMod val="50000"/>
                              </a:schemeClr>
                            </a:solidFill>
                            <a:latin typeface="Cambria Math" panose="02040503050406030204" pitchFamily="18" charset="0"/>
                          </a:rPr>
                        </m:ctrlPr>
                      </m:sSubPr>
                      <m:e>
                        <m:r>
                          <a:rPr lang="en-US" altLang="zh-CN" b="1" i="1" smtClean="0">
                            <a:solidFill>
                              <a:schemeClr val="accent6">
                                <a:lumMod val="50000"/>
                              </a:schemeClr>
                            </a:solidFill>
                            <a:latin typeface="Cambria Math" panose="02040503050406030204" pitchFamily="18" charset="0"/>
                          </a:rPr>
                          <m:t>𝑹</m:t>
                        </m:r>
                      </m:e>
                      <m:sub>
                        <m:r>
                          <a:rPr lang="en-US" altLang="zh-CN" b="1" i="1" smtClean="0">
                            <a:solidFill>
                              <a:schemeClr val="accent6">
                                <a:lumMod val="50000"/>
                              </a:schemeClr>
                            </a:solidFill>
                            <a:latin typeface="Cambria Math" panose="02040503050406030204" pitchFamily="18" charset="0"/>
                          </a:rPr>
                          <m:t>𝟐</m:t>
                        </m:r>
                      </m:sub>
                    </m:sSub>
                  </m:oMath>
                </a14:m>
                <a:r>
                  <a:rPr lang="zh-CN" altLang="en-US" b="1">
                    <a:solidFill>
                      <a:schemeClr val="accent6">
                        <a:lumMod val="50000"/>
                      </a:schemeClr>
                    </a:solidFill>
                  </a:rPr>
                  <a:t>的边界 </a:t>
                </a:r>
                <a14:m>
                  <m:oMath xmlns:m="http://schemas.openxmlformats.org/officeDocument/2006/math">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𝒗</m:t>
                        </m:r>
                      </m:e>
                      <m:sub>
                        <m:r>
                          <a:rPr lang="en-US" altLang="zh-CN" b="1" i="1" smtClean="0">
                            <a:solidFill>
                              <a:schemeClr val="accent2">
                                <a:lumMod val="50000"/>
                              </a:schemeClr>
                            </a:solidFill>
                            <a:latin typeface="Cambria Math" panose="02040503050406030204" pitchFamily="18" charset="0"/>
                          </a:rPr>
                          <m:t>𝟒</m:t>
                        </m:r>
                      </m:sub>
                    </m:sSub>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𝒗</m:t>
                        </m:r>
                      </m:e>
                      <m:sub>
                        <m:r>
                          <a:rPr lang="en-US" altLang="zh-CN" b="1" i="1" smtClean="0">
                            <a:solidFill>
                              <a:schemeClr val="accent2">
                                <a:lumMod val="50000"/>
                              </a:schemeClr>
                            </a:solidFill>
                            <a:latin typeface="Cambria Math" panose="02040503050406030204" pitchFamily="18" charset="0"/>
                          </a:rPr>
                          <m:t>𝟓</m:t>
                        </m:r>
                      </m:sub>
                    </m:sSub>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𝒗</m:t>
                        </m:r>
                      </m:e>
                      <m:sub>
                        <m:r>
                          <a:rPr lang="en-US" altLang="zh-CN" b="1" i="1" smtClean="0">
                            <a:solidFill>
                              <a:schemeClr val="accent2">
                                <a:lumMod val="50000"/>
                              </a:schemeClr>
                            </a:solidFill>
                            <a:latin typeface="Cambria Math" panose="02040503050406030204" pitchFamily="18" charset="0"/>
                          </a:rPr>
                          <m:t>𝟕</m:t>
                        </m:r>
                      </m:sub>
                    </m:sSub>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𝒗</m:t>
                        </m:r>
                      </m:e>
                      <m:sub>
                        <m:r>
                          <a:rPr lang="en-US" altLang="zh-CN" b="1" i="1" smtClean="0">
                            <a:solidFill>
                              <a:schemeClr val="accent2">
                                <a:lumMod val="50000"/>
                              </a:schemeClr>
                            </a:solidFill>
                            <a:latin typeface="Cambria Math" panose="02040503050406030204" pitchFamily="18" charset="0"/>
                          </a:rPr>
                          <m:t>𝟒</m:t>
                        </m:r>
                      </m:sub>
                    </m:sSub>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𝒗</m:t>
                        </m:r>
                      </m:e>
                      <m:sub>
                        <m:r>
                          <a:rPr lang="en-US" altLang="zh-CN" b="1" i="1" smtClean="0">
                            <a:solidFill>
                              <a:schemeClr val="accent2">
                                <a:lumMod val="50000"/>
                              </a:schemeClr>
                            </a:solidFill>
                            <a:latin typeface="Cambria Math" panose="02040503050406030204" pitchFamily="18" charset="0"/>
                          </a:rPr>
                          <m:t>𝟔</m:t>
                        </m:r>
                      </m:sub>
                    </m:sSub>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𝒗</m:t>
                        </m:r>
                      </m:e>
                      <m:sub>
                        <m:r>
                          <a:rPr lang="en-US" altLang="zh-CN" b="1" i="1" smtClean="0">
                            <a:solidFill>
                              <a:schemeClr val="accent2">
                                <a:lumMod val="50000"/>
                              </a:schemeClr>
                            </a:solidFill>
                            <a:latin typeface="Cambria Math" panose="02040503050406030204" pitchFamily="18" charset="0"/>
                          </a:rPr>
                          <m:t>𝟒</m:t>
                        </m:r>
                      </m:sub>
                    </m:sSub>
                  </m:oMath>
                </a14:m>
                <a:endParaRPr lang="zh-CN" altLang="en-US" b="1">
                  <a:solidFill>
                    <a:schemeClr val="accent6">
                      <a:lumMod val="50000"/>
                    </a:schemeClr>
                  </a:solidFill>
                </a:endParaRPr>
              </a:p>
            </p:txBody>
          </p:sp>
        </mc:Choice>
        <mc:Fallback xmlns="">
          <p:sp>
            <p:nvSpPr>
              <p:cNvPr id="12" name="文本框 11">
                <a:extLst>
                  <a:ext uri="{FF2B5EF4-FFF2-40B4-BE49-F238E27FC236}">
                    <a16:creationId xmlns:a16="http://schemas.microsoft.com/office/drawing/2014/main" id="{BC0BBDFC-C62D-46C9-A345-065B7E99DEEB}"/>
                  </a:ext>
                </a:extLst>
              </p:cNvPr>
              <p:cNvSpPr txBox="1">
                <a:spLocks noRot="1" noChangeAspect="1" noMove="1" noResize="1" noEditPoints="1" noAdjustHandles="1" noChangeArrowheads="1" noChangeShapeType="1" noTextEdit="1"/>
              </p:cNvSpPr>
              <p:nvPr/>
            </p:nvSpPr>
            <p:spPr>
              <a:xfrm>
                <a:off x="6177134" y="4534541"/>
                <a:ext cx="2795827" cy="369332"/>
              </a:xfrm>
              <a:prstGeom prst="rect">
                <a:avLst/>
              </a:prstGeom>
              <a:blipFill>
                <a:blip r:embed="rId7"/>
                <a:stretch>
                  <a:fillRect t="-10000" b="-2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048313DB-D7A2-431A-B96E-4302F6D0AC69}"/>
                  </a:ext>
                </a:extLst>
              </p:cNvPr>
              <p:cNvSpPr txBox="1"/>
              <p:nvPr/>
            </p:nvSpPr>
            <p:spPr>
              <a:xfrm>
                <a:off x="6177134" y="5063020"/>
                <a:ext cx="1961850" cy="369332"/>
              </a:xfrm>
              <a:prstGeom prst="rect">
                <a:avLst/>
              </a:prstGeom>
              <a:solidFill>
                <a:schemeClr val="accent6">
                  <a:lumMod val="20000"/>
                  <a:lumOff val="80000"/>
                  <a:alpha val="50000"/>
                </a:schemeClr>
              </a:solidFill>
            </p:spPr>
            <p:txBody>
              <a:bodyPr wrap="square" rtlCol="0">
                <a:spAutoFit/>
              </a:bodyPr>
              <a:lstStyle/>
              <a:p>
                <a14:m>
                  <m:oMath xmlns:m="http://schemas.openxmlformats.org/officeDocument/2006/math">
                    <m:sSub>
                      <m:sSubPr>
                        <m:ctrlPr>
                          <a:rPr lang="en-US" altLang="zh-CN" b="1" i="1" smtClean="0">
                            <a:solidFill>
                              <a:schemeClr val="accent6">
                                <a:lumMod val="50000"/>
                              </a:schemeClr>
                            </a:solidFill>
                            <a:latin typeface="Cambria Math" panose="02040503050406030204" pitchFamily="18" charset="0"/>
                          </a:rPr>
                        </m:ctrlPr>
                      </m:sSubPr>
                      <m:e>
                        <m:r>
                          <a:rPr lang="en-US" altLang="zh-CN" b="1" i="1" smtClean="0">
                            <a:solidFill>
                              <a:schemeClr val="accent6">
                                <a:lumMod val="50000"/>
                              </a:schemeClr>
                            </a:solidFill>
                            <a:latin typeface="Cambria Math" panose="02040503050406030204" pitchFamily="18" charset="0"/>
                          </a:rPr>
                          <m:t>𝑹</m:t>
                        </m:r>
                      </m:e>
                      <m:sub>
                        <m:r>
                          <a:rPr lang="en-US" altLang="zh-CN" b="1" i="1" smtClean="0">
                            <a:solidFill>
                              <a:schemeClr val="accent6">
                                <a:lumMod val="50000"/>
                              </a:schemeClr>
                            </a:solidFill>
                            <a:latin typeface="Cambria Math" panose="02040503050406030204" pitchFamily="18" charset="0"/>
                          </a:rPr>
                          <m:t>𝟑</m:t>
                        </m:r>
                      </m:sub>
                    </m:sSub>
                  </m:oMath>
                </a14:m>
                <a:r>
                  <a:rPr lang="zh-CN" altLang="en-US" b="1">
                    <a:solidFill>
                      <a:schemeClr val="accent6">
                        <a:lumMod val="50000"/>
                      </a:schemeClr>
                    </a:solidFill>
                  </a:rPr>
                  <a:t>的边界 </a:t>
                </a:r>
                <a14:m>
                  <m:oMath xmlns:m="http://schemas.openxmlformats.org/officeDocument/2006/math">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𝒗</m:t>
                        </m:r>
                      </m:e>
                      <m:sub>
                        <m:r>
                          <a:rPr lang="en-US" altLang="zh-CN" b="1" i="1" smtClean="0">
                            <a:solidFill>
                              <a:schemeClr val="accent2">
                                <a:lumMod val="50000"/>
                              </a:schemeClr>
                            </a:solidFill>
                            <a:latin typeface="Cambria Math" panose="02040503050406030204" pitchFamily="18" charset="0"/>
                          </a:rPr>
                          <m:t>𝟕</m:t>
                        </m:r>
                      </m:sub>
                    </m:sSub>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𝒗</m:t>
                        </m:r>
                      </m:e>
                      <m:sub>
                        <m:r>
                          <a:rPr lang="en-US" altLang="zh-CN" b="1" i="1" smtClean="0">
                            <a:solidFill>
                              <a:schemeClr val="accent2">
                                <a:lumMod val="50000"/>
                              </a:schemeClr>
                            </a:solidFill>
                            <a:latin typeface="Cambria Math" panose="02040503050406030204" pitchFamily="18" charset="0"/>
                          </a:rPr>
                          <m:t>𝟕</m:t>
                        </m:r>
                      </m:sub>
                    </m:sSub>
                  </m:oMath>
                </a14:m>
                <a:endParaRPr lang="zh-CN" altLang="en-US" b="1">
                  <a:solidFill>
                    <a:schemeClr val="accent6">
                      <a:lumMod val="50000"/>
                    </a:schemeClr>
                  </a:solidFill>
                </a:endParaRPr>
              </a:p>
            </p:txBody>
          </p:sp>
        </mc:Choice>
        <mc:Fallback xmlns="">
          <p:sp>
            <p:nvSpPr>
              <p:cNvPr id="13" name="文本框 12">
                <a:extLst>
                  <a:ext uri="{FF2B5EF4-FFF2-40B4-BE49-F238E27FC236}">
                    <a16:creationId xmlns:a16="http://schemas.microsoft.com/office/drawing/2014/main" id="{048313DB-D7A2-431A-B96E-4302F6D0AC69}"/>
                  </a:ext>
                </a:extLst>
              </p:cNvPr>
              <p:cNvSpPr txBox="1">
                <a:spLocks noRot="1" noChangeAspect="1" noMove="1" noResize="1" noEditPoints="1" noAdjustHandles="1" noChangeArrowheads="1" noChangeShapeType="1" noTextEdit="1"/>
              </p:cNvSpPr>
              <p:nvPr/>
            </p:nvSpPr>
            <p:spPr>
              <a:xfrm>
                <a:off x="6177134" y="5063020"/>
                <a:ext cx="1961850" cy="369332"/>
              </a:xfrm>
              <a:prstGeom prst="rect">
                <a:avLst/>
              </a:prstGeom>
              <a:blipFill>
                <a:blip r:embed="rId8"/>
                <a:stretch>
                  <a:fillRect t="-10000" b="-2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B8D9E698-554A-4071-AA6D-C3D7BB1FAD62}"/>
                  </a:ext>
                </a:extLst>
              </p:cNvPr>
              <p:cNvSpPr txBox="1"/>
              <p:nvPr/>
            </p:nvSpPr>
            <p:spPr>
              <a:xfrm>
                <a:off x="9953145" y="3473517"/>
                <a:ext cx="1503547" cy="369332"/>
              </a:xfrm>
              <a:prstGeom prst="rect">
                <a:avLst/>
              </a:prstGeom>
              <a:solidFill>
                <a:schemeClr val="accent2">
                  <a:lumMod val="20000"/>
                  <a:lumOff val="8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func>
                        <m:funcPr>
                          <m:ctrlPr>
                            <a:rPr lang="en-US" altLang="zh-CN" b="1" i="1" smtClean="0">
                              <a:solidFill>
                                <a:schemeClr val="accent2">
                                  <a:lumMod val="50000"/>
                                </a:schemeClr>
                              </a:solidFill>
                              <a:latin typeface="Cambria Math" panose="02040503050406030204" pitchFamily="18" charset="0"/>
                            </a:rPr>
                          </m:ctrlPr>
                        </m:funcPr>
                        <m:fName>
                          <m:r>
                            <a:rPr lang="en-US" altLang="zh-CN" b="1" i="0" smtClean="0">
                              <a:solidFill>
                                <a:schemeClr val="accent2">
                                  <a:lumMod val="50000"/>
                                </a:schemeClr>
                              </a:solidFill>
                              <a:latin typeface="Cambria Math" panose="02040503050406030204" pitchFamily="18" charset="0"/>
                            </a:rPr>
                            <m:t>𝐝𝐞𝐠</m:t>
                          </m:r>
                        </m:fName>
                        <m:e>
                          <m:d>
                            <m:dPr>
                              <m:ctrlPr>
                                <a:rPr lang="en-US" altLang="zh-CN" b="1" i="1" smtClean="0">
                                  <a:solidFill>
                                    <a:schemeClr val="accent2">
                                      <a:lumMod val="50000"/>
                                    </a:schemeClr>
                                  </a:solidFill>
                                  <a:latin typeface="Cambria Math" panose="02040503050406030204" pitchFamily="18" charset="0"/>
                                </a:rPr>
                              </m:ctrlPr>
                            </m:dPr>
                            <m:e>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𝑹</m:t>
                                  </m:r>
                                </m:e>
                                <m:sub>
                                  <m:r>
                                    <a:rPr lang="en-US" altLang="zh-CN" b="1" i="1" smtClean="0">
                                      <a:solidFill>
                                        <a:schemeClr val="accent2">
                                          <a:lumMod val="50000"/>
                                        </a:schemeClr>
                                      </a:solidFill>
                                      <a:latin typeface="Cambria Math" panose="02040503050406030204" pitchFamily="18" charset="0"/>
                                    </a:rPr>
                                    <m:t>𝟎</m:t>
                                  </m:r>
                                </m:sub>
                              </m:sSub>
                            </m:e>
                          </m:d>
                        </m:e>
                      </m:func>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𝟖</m:t>
                      </m:r>
                    </m:oMath>
                  </m:oMathPara>
                </a14:m>
                <a:endParaRPr lang="zh-CN" altLang="en-US" b="1">
                  <a:solidFill>
                    <a:schemeClr val="accent2">
                      <a:lumMod val="50000"/>
                    </a:schemeClr>
                  </a:solidFill>
                </a:endParaRPr>
              </a:p>
            </p:txBody>
          </p:sp>
        </mc:Choice>
        <mc:Fallback xmlns="">
          <p:sp>
            <p:nvSpPr>
              <p:cNvPr id="14" name="文本框 13">
                <a:extLst>
                  <a:ext uri="{FF2B5EF4-FFF2-40B4-BE49-F238E27FC236}">
                    <a16:creationId xmlns:a16="http://schemas.microsoft.com/office/drawing/2014/main" id="{B8D9E698-554A-4071-AA6D-C3D7BB1FAD62}"/>
                  </a:ext>
                </a:extLst>
              </p:cNvPr>
              <p:cNvSpPr txBox="1">
                <a:spLocks noRot="1" noChangeAspect="1" noMove="1" noResize="1" noEditPoints="1" noAdjustHandles="1" noChangeArrowheads="1" noChangeShapeType="1" noTextEdit="1"/>
              </p:cNvSpPr>
              <p:nvPr/>
            </p:nvSpPr>
            <p:spPr>
              <a:xfrm>
                <a:off x="9953145" y="3473517"/>
                <a:ext cx="1503547" cy="369332"/>
              </a:xfrm>
              <a:prstGeom prst="rect">
                <a:avLst/>
              </a:prstGeom>
              <a:blipFill>
                <a:blip r:embed="rId9"/>
                <a:stretch>
                  <a:fillRect l="-407" b="-15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7DDFF19B-4BC1-4423-BD41-EE65C72D4F94}"/>
                  </a:ext>
                </a:extLst>
              </p:cNvPr>
              <p:cNvSpPr txBox="1"/>
              <p:nvPr/>
            </p:nvSpPr>
            <p:spPr>
              <a:xfrm>
                <a:off x="9953144" y="4006062"/>
                <a:ext cx="1503547" cy="369332"/>
              </a:xfrm>
              <a:prstGeom prst="rect">
                <a:avLst/>
              </a:prstGeom>
              <a:solidFill>
                <a:schemeClr val="accent2">
                  <a:lumMod val="20000"/>
                  <a:lumOff val="8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func>
                        <m:funcPr>
                          <m:ctrlPr>
                            <a:rPr lang="en-US" altLang="zh-CN" b="1" i="1" smtClean="0">
                              <a:solidFill>
                                <a:schemeClr val="accent2">
                                  <a:lumMod val="50000"/>
                                </a:schemeClr>
                              </a:solidFill>
                              <a:latin typeface="Cambria Math" panose="02040503050406030204" pitchFamily="18" charset="0"/>
                            </a:rPr>
                          </m:ctrlPr>
                        </m:funcPr>
                        <m:fName>
                          <m:r>
                            <a:rPr lang="en-US" altLang="zh-CN" b="1" i="0" smtClean="0">
                              <a:solidFill>
                                <a:schemeClr val="accent2">
                                  <a:lumMod val="50000"/>
                                </a:schemeClr>
                              </a:solidFill>
                              <a:latin typeface="Cambria Math" panose="02040503050406030204" pitchFamily="18" charset="0"/>
                            </a:rPr>
                            <m:t>𝐝𝐞𝐠</m:t>
                          </m:r>
                        </m:fName>
                        <m:e>
                          <m:d>
                            <m:dPr>
                              <m:ctrlPr>
                                <a:rPr lang="en-US" altLang="zh-CN" b="1" i="1" smtClean="0">
                                  <a:solidFill>
                                    <a:schemeClr val="accent2">
                                      <a:lumMod val="50000"/>
                                    </a:schemeClr>
                                  </a:solidFill>
                                  <a:latin typeface="Cambria Math" panose="02040503050406030204" pitchFamily="18" charset="0"/>
                                </a:rPr>
                              </m:ctrlPr>
                            </m:dPr>
                            <m:e>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𝑹</m:t>
                                  </m:r>
                                </m:e>
                                <m:sub>
                                  <m:r>
                                    <a:rPr lang="en-US" altLang="zh-CN" b="1" i="1" smtClean="0">
                                      <a:solidFill>
                                        <a:schemeClr val="accent2">
                                          <a:lumMod val="50000"/>
                                        </a:schemeClr>
                                      </a:solidFill>
                                      <a:latin typeface="Cambria Math" panose="02040503050406030204" pitchFamily="18" charset="0"/>
                                    </a:rPr>
                                    <m:t>𝟏</m:t>
                                  </m:r>
                                </m:sub>
                              </m:sSub>
                            </m:e>
                          </m:d>
                        </m:e>
                      </m:func>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𝟒</m:t>
                      </m:r>
                    </m:oMath>
                  </m:oMathPara>
                </a14:m>
                <a:endParaRPr lang="zh-CN" altLang="en-US" b="1">
                  <a:solidFill>
                    <a:schemeClr val="accent2">
                      <a:lumMod val="50000"/>
                    </a:schemeClr>
                  </a:solidFill>
                </a:endParaRPr>
              </a:p>
            </p:txBody>
          </p:sp>
        </mc:Choice>
        <mc:Fallback xmlns="">
          <p:sp>
            <p:nvSpPr>
              <p:cNvPr id="16" name="文本框 15">
                <a:extLst>
                  <a:ext uri="{FF2B5EF4-FFF2-40B4-BE49-F238E27FC236}">
                    <a16:creationId xmlns:a16="http://schemas.microsoft.com/office/drawing/2014/main" id="{7DDFF19B-4BC1-4423-BD41-EE65C72D4F94}"/>
                  </a:ext>
                </a:extLst>
              </p:cNvPr>
              <p:cNvSpPr txBox="1">
                <a:spLocks noRot="1" noChangeAspect="1" noMove="1" noResize="1" noEditPoints="1" noAdjustHandles="1" noChangeArrowheads="1" noChangeShapeType="1" noTextEdit="1"/>
              </p:cNvSpPr>
              <p:nvPr/>
            </p:nvSpPr>
            <p:spPr>
              <a:xfrm>
                <a:off x="9953144" y="4006062"/>
                <a:ext cx="1503547" cy="369332"/>
              </a:xfrm>
              <a:prstGeom prst="rect">
                <a:avLst/>
              </a:prstGeom>
              <a:blipFill>
                <a:blip r:embed="rId10"/>
                <a:stretch>
                  <a:fillRect l="-407" b="-1311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FEFDEE63-125D-4FC9-BCED-787F82B2F9FC}"/>
                  </a:ext>
                </a:extLst>
              </p:cNvPr>
              <p:cNvSpPr txBox="1"/>
              <p:nvPr/>
            </p:nvSpPr>
            <p:spPr>
              <a:xfrm>
                <a:off x="9953144" y="4534541"/>
                <a:ext cx="1503547" cy="369332"/>
              </a:xfrm>
              <a:prstGeom prst="rect">
                <a:avLst/>
              </a:prstGeom>
              <a:solidFill>
                <a:schemeClr val="accent2">
                  <a:lumMod val="20000"/>
                  <a:lumOff val="8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func>
                        <m:funcPr>
                          <m:ctrlPr>
                            <a:rPr lang="en-US" altLang="zh-CN" b="1" i="1" smtClean="0">
                              <a:solidFill>
                                <a:schemeClr val="accent2">
                                  <a:lumMod val="50000"/>
                                </a:schemeClr>
                              </a:solidFill>
                              <a:latin typeface="Cambria Math" panose="02040503050406030204" pitchFamily="18" charset="0"/>
                            </a:rPr>
                          </m:ctrlPr>
                        </m:funcPr>
                        <m:fName>
                          <m:r>
                            <a:rPr lang="en-US" altLang="zh-CN" b="1" i="0" smtClean="0">
                              <a:solidFill>
                                <a:schemeClr val="accent2">
                                  <a:lumMod val="50000"/>
                                </a:schemeClr>
                              </a:solidFill>
                              <a:latin typeface="Cambria Math" panose="02040503050406030204" pitchFamily="18" charset="0"/>
                            </a:rPr>
                            <m:t>𝐝𝐞𝐠</m:t>
                          </m:r>
                        </m:fName>
                        <m:e>
                          <m:d>
                            <m:dPr>
                              <m:ctrlPr>
                                <a:rPr lang="en-US" altLang="zh-CN" b="1" i="1" smtClean="0">
                                  <a:solidFill>
                                    <a:schemeClr val="accent2">
                                      <a:lumMod val="50000"/>
                                    </a:schemeClr>
                                  </a:solidFill>
                                  <a:latin typeface="Cambria Math" panose="02040503050406030204" pitchFamily="18" charset="0"/>
                                </a:rPr>
                              </m:ctrlPr>
                            </m:dPr>
                            <m:e>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𝑹</m:t>
                                  </m:r>
                                </m:e>
                                <m:sub>
                                  <m:r>
                                    <a:rPr lang="en-US" altLang="zh-CN" b="1" i="1" smtClean="0">
                                      <a:solidFill>
                                        <a:schemeClr val="accent2">
                                          <a:lumMod val="50000"/>
                                        </a:schemeClr>
                                      </a:solidFill>
                                      <a:latin typeface="Cambria Math" panose="02040503050406030204" pitchFamily="18" charset="0"/>
                                    </a:rPr>
                                    <m:t>𝟐</m:t>
                                  </m:r>
                                </m:sub>
                              </m:sSub>
                            </m:e>
                          </m:d>
                        </m:e>
                      </m:func>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𝟓</m:t>
                      </m:r>
                    </m:oMath>
                  </m:oMathPara>
                </a14:m>
                <a:endParaRPr lang="zh-CN" altLang="en-US" b="1">
                  <a:solidFill>
                    <a:schemeClr val="accent2">
                      <a:lumMod val="50000"/>
                    </a:schemeClr>
                  </a:solidFill>
                </a:endParaRPr>
              </a:p>
            </p:txBody>
          </p:sp>
        </mc:Choice>
        <mc:Fallback xmlns="">
          <p:sp>
            <p:nvSpPr>
              <p:cNvPr id="18" name="文本框 17">
                <a:extLst>
                  <a:ext uri="{FF2B5EF4-FFF2-40B4-BE49-F238E27FC236}">
                    <a16:creationId xmlns:a16="http://schemas.microsoft.com/office/drawing/2014/main" id="{FEFDEE63-125D-4FC9-BCED-787F82B2F9FC}"/>
                  </a:ext>
                </a:extLst>
              </p:cNvPr>
              <p:cNvSpPr txBox="1">
                <a:spLocks noRot="1" noChangeAspect="1" noMove="1" noResize="1" noEditPoints="1" noAdjustHandles="1" noChangeArrowheads="1" noChangeShapeType="1" noTextEdit="1"/>
              </p:cNvSpPr>
              <p:nvPr/>
            </p:nvSpPr>
            <p:spPr>
              <a:xfrm>
                <a:off x="9953144" y="4534541"/>
                <a:ext cx="1503547" cy="369332"/>
              </a:xfrm>
              <a:prstGeom prst="rect">
                <a:avLst/>
              </a:prstGeom>
              <a:blipFill>
                <a:blip r:embed="rId11"/>
                <a:stretch>
                  <a:fillRect l="-407" b="-15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E76F0A6A-DBE8-4C37-A7C7-017B5989EB77}"/>
                  </a:ext>
                </a:extLst>
              </p:cNvPr>
              <p:cNvSpPr txBox="1"/>
              <p:nvPr/>
            </p:nvSpPr>
            <p:spPr>
              <a:xfrm>
                <a:off x="9953144" y="5063020"/>
                <a:ext cx="1503547" cy="369332"/>
              </a:xfrm>
              <a:prstGeom prst="rect">
                <a:avLst/>
              </a:prstGeom>
              <a:solidFill>
                <a:schemeClr val="accent2">
                  <a:lumMod val="20000"/>
                  <a:lumOff val="8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func>
                        <m:funcPr>
                          <m:ctrlPr>
                            <a:rPr lang="en-US" altLang="zh-CN" b="1" i="1" smtClean="0">
                              <a:solidFill>
                                <a:schemeClr val="accent2">
                                  <a:lumMod val="50000"/>
                                </a:schemeClr>
                              </a:solidFill>
                              <a:latin typeface="Cambria Math" panose="02040503050406030204" pitchFamily="18" charset="0"/>
                            </a:rPr>
                          </m:ctrlPr>
                        </m:funcPr>
                        <m:fName>
                          <m:r>
                            <a:rPr lang="en-US" altLang="zh-CN" b="1" i="0" smtClean="0">
                              <a:solidFill>
                                <a:schemeClr val="accent2">
                                  <a:lumMod val="50000"/>
                                </a:schemeClr>
                              </a:solidFill>
                              <a:latin typeface="Cambria Math" panose="02040503050406030204" pitchFamily="18" charset="0"/>
                            </a:rPr>
                            <m:t>𝐝𝐞𝐠</m:t>
                          </m:r>
                        </m:fName>
                        <m:e>
                          <m:d>
                            <m:dPr>
                              <m:ctrlPr>
                                <a:rPr lang="en-US" altLang="zh-CN" b="1" i="1" smtClean="0">
                                  <a:solidFill>
                                    <a:schemeClr val="accent2">
                                      <a:lumMod val="50000"/>
                                    </a:schemeClr>
                                  </a:solidFill>
                                  <a:latin typeface="Cambria Math" panose="02040503050406030204" pitchFamily="18" charset="0"/>
                                </a:rPr>
                              </m:ctrlPr>
                            </m:dPr>
                            <m:e>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𝑹</m:t>
                                  </m:r>
                                </m:e>
                                <m:sub>
                                  <m:r>
                                    <a:rPr lang="en-US" altLang="zh-CN" b="1" i="1" smtClean="0">
                                      <a:solidFill>
                                        <a:schemeClr val="accent2">
                                          <a:lumMod val="50000"/>
                                        </a:schemeClr>
                                      </a:solidFill>
                                      <a:latin typeface="Cambria Math" panose="02040503050406030204" pitchFamily="18" charset="0"/>
                                    </a:rPr>
                                    <m:t>𝟑</m:t>
                                  </m:r>
                                </m:sub>
                              </m:sSub>
                            </m:e>
                          </m:d>
                        </m:e>
                      </m:func>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𝟏</m:t>
                      </m:r>
                    </m:oMath>
                  </m:oMathPara>
                </a14:m>
                <a:endParaRPr lang="zh-CN" altLang="en-US" b="1">
                  <a:solidFill>
                    <a:schemeClr val="accent2">
                      <a:lumMod val="50000"/>
                    </a:schemeClr>
                  </a:solidFill>
                </a:endParaRPr>
              </a:p>
            </p:txBody>
          </p:sp>
        </mc:Choice>
        <mc:Fallback xmlns="">
          <p:sp>
            <p:nvSpPr>
              <p:cNvPr id="19" name="文本框 18">
                <a:extLst>
                  <a:ext uri="{FF2B5EF4-FFF2-40B4-BE49-F238E27FC236}">
                    <a16:creationId xmlns:a16="http://schemas.microsoft.com/office/drawing/2014/main" id="{E76F0A6A-DBE8-4C37-A7C7-017B5989EB77}"/>
                  </a:ext>
                </a:extLst>
              </p:cNvPr>
              <p:cNvSpPr txBox="1">
                <a:spLocks noRot="1" noChangeAspect="1" noMove="1" noResize="1" noEditPoints="1" noAdjustHandles="1" noChangeArrowheads="1" noChangeShapeType="1" noTextEdit="1"/>
              </p:cNvSpPr>
              <p:nvPr/>
            </p:nvSpPr>
            <p:spPr>
              <a:xfrm>
                <a:off x="9953144" y="5063020"/>
                <a:ext cx="1503547" cy="369332"/>
              </a:xfrm>
              <a:prstGeom prst="rect">
                <a:avLst/>
              </a:prstGeom>
              <a:blipFill>
                <a:blip r:embed="rId12"/>
                <a:stretch>
                  <a:fillRect l="-407" b="-15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1C590C44-D587-468D-BCDA-D352B85CF132}"/>
                  </a:ext>
                </a:extLst>
              </p:cNvPr>
              <p:cNvSpPr txBox="1"/>
              <p:nvPr/>
            </p:nvSpPr>
            <p:spPr>
              <a:xfrm>
                <a:off x="5874528" y="5654664"/>
                <a:ext cx="3776010" cy="369332"/>
              </a:xfrm>
              <a:prstGeom prst="rect">
                <a:avLst/>
              </a:prstGeom>
              <a:solidFill>
                <a:schemeClr val="accent4">
                  <a:lumMod val="20000"/>
                  <a:lumOff val="80000"/>
                </a:schemeClr>
              </a:solidFill>
            </p:spPr>
            <p:txBody>
              <a:bodyPr wrap="square" rtlCol="0">
                <a:spAutoFit/>
              </a:bodyPr>
              <a:lstStyle/>
              <a:p>
                <a:r>
                  <a:rPr lang="zh-CN" altLang="en-US" b="1">
                    <a:solidFill>
                      <a:schemeClr val="accent2">
                        <a:lumMod val="50000"/>
                      </a:schemeClr>
                    </a:solidFill>
                  </a:rPr>
                  <a:t>边</a:t>
                </a:r>
                <a14:m>
                  <m:oMath xmlns:m="http://schemas.openxmlformats.org/officeDocument/2006/math">
                    <m:d>
                      <m:dPr>
                        <m:ctrlPr>
                          <a:rPr lang="en-US" altLang="zh-CN" b="1" i="1" smtClean="0">
                            <a:solidFill>
                              <a:schemeClr val="accent2">
                                <a:lumMod val="50000"/>
                              </a:schemeClr>
                            </a:solidFill>
                            <a:latin typeface="Cambria Math" panose="02040503050406030204" pitchFamily="18" charset="0"/>
                          </a:rPr>
                        </m:ctrlPr>
                      </m:dPr>
                      <m:e>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𝒗</m:t>
                            </m:r>
                          </m:e>
                          <m:sub>
                            <m:r>
                              <a:rPr lang="en-US" altLang="zh-CN" b="1" i="1" smtClean="0">
                                <a:solidFill>
                                  <a:schemeClr val="accent2">
                                    <a:lumMod val="50000"/>
                                  </a:schemeClr>
                                </a:solidFill>
                                <a:latin typeface="Cambria Math" panose="02040503050406030204" pitchFamily="18" charset="0"/>
                              </a:rPr>
                              <m:t>𝟒</m:t>
                            </m:r>
                          </m:sub>
                        </m:sSub>
                        <m:r>
                          <a:rPr lang="en-US" altLang="zh-CN" b="1" i="1" smtClean="0">
                            <a:solidFill>
                              <a:schemeClr val="accent2">
                                <a:lumMod val="50000"/>
                              </a:schemeClr>
                            </a:solidFill>
                            <a:latin typeface="Cambria Math" panose="02040503050406030204" pitchFamily="18" charset="0"/>
                          </a:rPr>
                          <m:t>,</m:t>
                        </m:r>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𝒗</m:t>
                            </m:r>
                          </m:e>
                          <m:sub>
                            <m:r>
                              <a:rPr lang="en-US" altLang="zh-CN" b="1" i="1" smtClean="0">
                                <a:solidFill>
                                  <a:schemeClr val="accent2">
                                    <a:lumMod val="50000"/>
                                  </a:schemeClr>
                                </a:solidFill>
                                <a:latin typeface="Cambria Math" panose="02040503050406030204" pitchFamily="18" charset="0"/>
                              </a:rPr>
                              <m:t>𝟔</m:t>
                            </m:r>
                          </m:sub>
                        </m:sSub>
                      </m:e>
                    </m:d>
                  </m:oMath>
                </a14:m>
                <a:r>
                  <a:rPr lang="zh-CN" altLang="en-US" b="1">
                    <a:solidFill>
                      <a:schemeClr val="accent2">
                        <a:lumMod val="50000"/>
                      </a:schemeClr>
                    </a:solidFill>
                  </a:rPr>
                  <a:t>作为</a:t>
                </a:r>
                <a14:m>
                  <m:oMath xmlns:m="http://schemas.openxmlformats.org/officeDocument/2006/math">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𝑹</m:t>
                        </m:r>
                      </m:e>
                      <m:sub>
                        <m:r>
                          <a:rPr lang="en-US" altLang="zh-CN" b="1" i="1" smtClean="0">
                            <a:solidFill>
                              <a:schemeClr val="accent2">
                                <a:lumMod val="50000"/>
                              </a:schemeClr>
                            </a:solidFill>
                            <a:latin typeface="Cambria Math" panose="02040503050406030204" pitchFamily="18" charset="0"/>
                          </a:rPr>
                          <m:t>𝟐</m:t>
                        </m:r>
                      </m:sub>
                    </m:sSub>
                  </m:oMath>
                </a14:m>
                <a:r>
                  <a:rPr lang="zh-CN" altLang="en-US" b="1">
                    <a:solidFill>
                      <a:schemeClr val="accent2">
                        <a:lumMod val="50000"/>
                      </a:schemeClr>
                    </a:solidFill>
                  </a:rPr>
                  <a:t>的边界要计算两次</a:t>
                </a:r>
              </a:p>
            </p:txBody>
          </p:sp>
        </mc:Choice>
        <mc:Fallback xmlns="">
          <p:sp>
            <p:nvSpPr>
              <p:cNvPr id="15" name="文本框 14">
                <a:extLst>
                  <a:ext uri="{FF2B5EF4-FFF2-40B4-BE49-F238E27FC236}">
                    <a16:creationId xmlns:a16="http://schemas.microsoft.com/office/drawing/2014/main" id="{1C590C44-D587-468D-BCDA-D352B85CF132}"/>
                  </a:ext>
                </a:extLst>
              </p:cNvPr>
              <p:cNvSpPr txBox="1">
                <a:spLocks noRot="1" noChangeAspect="1" noMove="1" noResize="1" noEditPoints="1" noAdjustHandles="1" noChangeArrowheads="1" noChangeShapeType="1" noTextEdit="1"/>
              </p:cNvSpPr>
              <p:nvPr/>
            </p:nvSpPr>
            <p:spPr>
              <a:xfrm>
                <a:off x="5874528" y="5654664"/>
                <a:ext cx="3776010" cy="369332"/>
              </a:xfrm>
              <a:prstGeom prst="rect">
                <a:avLst/>
              </a:prstGeom>
              <a:blipFill>
                <a:blip r:embed="rId13"/>
                <a:stretch>
                  <a:fillRect l="-1454" t="-10000" r="-646" b="-2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74413D45-BDDD-4E77-9C6F-EB6B148B5DEC}"/>
                  </a:ext>
                </a:extLst>
              </p:cNvPr>
              <p:cNvSpPr txBox="1"/>
              <p:nvPr/>
            </p:nvSpPr>
            <p:spPr>
              <a:xfrm>
                <a:off x="9865394" y="5516164"/>
                <a:ext cx="1591297" cy="646331"/>
              </a:xfrm>
              <a:prstGeom prst="rect">
                <a:avLst/>
              </a:prstGeom>
              <a:solidFill>
                <a:schemeClr val="accent4">
                  <a:lumMod val="20000"/>
                  <a:lumOff val="80000"/>
                </a:schemeClr>
              </a:solidFill>
            </p:spPr>
            <p:txBody>
              <a:bodyPr wrap="square" rtlCol="0">
                <a:spAutoFit/>
              </a:bodyPr>
              <a:lstStyle/>
              <a:p>
                <a:pPr algn="just"/>
                <a14:m>
                  <m:oMath xmlns:m="http://schemas.openxmlformats.org/officeDocument/2006/math">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𝑹</m:t>
                        </m:r>
                      </m:e>
                      <m:sub>
                        <m:r>
                          <a:rPr lang="en-US" altLang="zh-CN" b="1" i="1" smtClean="0">
                            <a:solidFill>
                              <a:schemeClr val="accent2">
                                <a:lumMod val="50000"/>
                              </a:schemeClr>
                            </a:solidFill>
                            <a:latin typeface="Cambria Math" panose="02040503050406030204" pitchFamily="18" charset="0"/>
                          </a:rPr>
                          <m:t>𝟎</m:t>
                        </m:r>
                      </m:sub>
                    </m:sSub>
                  </m:oMath>
                </a14:m>
                <a:r>
                  <a:rPr lang="zh-CN" altLang="en-US" b="1">
                    <a:solidFill>
                      <a:schemeClr val="accent2">
                        <a:lumMod val="50000"/>
                      </a:schemeClr>
                    </a:solidFill>
                  </a:rPr>
                  <a:t>是外部面其他是内部面</a:t>
                </a:r>
              </a:p>
            </p:txBody>
          </p:sp>
        </mc:Choice>
        <mc:Fallback xmlns="">
          <p:sp>
            <p:nvSpPr>
              <p:cNvPr id="20" name="文本框 19">
                <a:extLst>
                  <a:ext uri="{FF2B5EF4-FFF2-40B4-BE49-F238E27FC236}">
                    <a16:creationId xmlns:a16="http://schemas.microsoft.com/office/drawing/2014/main" id="{74413D45-BDDD-4E77-9C6F-EB6B148B5DEC}"/>
                  </a:ext>
                </a:extLst>
              </p:cNvPr>
              <p:cNvSpPr txBox="1">
                <a:spLocks noRot="1" noChangeAspect="1" noMove="1" noResize="1" noEditPoints="1" noAdjustHandles="1" noChangeArrowheads="1" noChangeShapeType="1" noTextEdit="1"/>
              </p:cNvSpPr>
              <p:nvPr/>
            </p:nvSpPr>
            <p:spPr>
              <a:xfrm>
                <a:off x="9865394" y="5516164"/>
                <a:ext cx="1591297" cy="646331"/>
              </a:xfrm>
              <a:prstGeom prst="rect">
                <a:avLst/>
              </a:prstGeom>
              <a:blipFill>
                <a:blip r:embed="rId14"/>
                <a:stretch>
                  <a:fillRect l="-3065" t="-5660" r="-3448" b="-1415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2658344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1" grpId="0" animBg="1"/>
      <p:bldP spid="12" grpId="0" animBg="1"/>
      <p:bldP spid="13" grpId="0" animBg="1"/>
      <p:bldP spid="14" grpId="0" animBg="1"/>
      <p:bldP spid="16" grpId="0" animBg="1"/>
      <p:bldP spid="18" grpId="0" animBg="1"/>
      <p:bldP spid="19" grpId="0" animBg="1"/>
      <p:bldP spid="15" grpId="0" animBg="1"/>
      <p:bldP spid="20"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平面图</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第三十一讲  一些特殊的图</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7</a:t>
            </a:fld>
            <a:r>
              <a:rPr lang="en-US" altLang="zh-CN" dirty="0">
                <a:latin typeface="Arial" panose="020B0604020202020204" pitchFamily="34" charset="0"/>
                <a:ea typeface="楷体" panose="02010609060101010101" pitchFamily="49" charset="-122"/>
                <a:cs typeface="Arial" panose="020B0604020202020204" pitchFamily="34" charset="0"/>
              </a:rPr>
              <a:t>/32</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平面图的面</a:t>
            </a:r>
            <a:r>
              <a:rPr lang="en-US" altLang="zh-CN"/>
              <a:t>-</a:t>
            </a:r>
            <a:r>
              <a:rPr lang="zh-CN" altLang="en-US"/>
              <a:t>练习</a:t>
            </a:r>
          </a:p>
        </p:txBody>
      </p:sp>
      <p:pic>
        <p:nvPicPr>
          <p:cNvPr id="21" name="图片 20">
            <a:extLst>
              <a:ext uri="{FF2B5EF4-FFF2-40B4-BE49-F238E27FC236}">
                <a16:creationId xmlns:a16="http://schemas.microsoft.com/office/drawing/2014/main" id="{77C7633F-8BB7-41C9-8EA2-5F322E248DD7}"/>
              </a:ext>
            </a:extLst>
          </p:cNvPr>
          <p:cNvPicPr>
            <a:picLocks noChangeAspect="1"/>
          </p:cNvPicPr>
          <p:nvPr/>
        </p:nvPicPr>
        <p:blipFill>
          <a:blip r:embed="rId2"/>
          <a:stretch>
            <a:fillRect/>
          </a:stretch>
        </p:blipFill>
        <p:spPr>
          <a:xfrm>
            <a:off x="1224719" y="1267837"/>
            <a:ext cx="7282231" cy="2731750"/>
          </a:xfrm>
          <a:prstGeom prst="rect">
            <a:avLst/>
          </a:prstGeom>
        </p:spPr>
      </p:pic>
      <p:pic>
        <p:nvPicPr>
          <p:cNvPr id="22" name="图片 21">
            <a:extLst>
              <a:ext uri="{FF2B5EF4-FFF2-40B4-BE49-F238E27FC236}">
                <a16:creationId xmlns:a16="http://schemas.microsoft.com/office/drawing/2014/main" id="{AF05AB2F-DBB0-4583-A4EE-3C9123E55286}"/>
              </a:ext>
            </a:extLst>
          </p:cNvPr>
          <p:cNvPicPr>
            <a:picLocks noChangeAspect="1"/>
          </p:cNvPicPr>
          <p:nvPr/>
        </p:nvPicPr>
        <p:blipFill>
          <a:blip r:embed="rId3"/>
          <a:stretch>
            <a:fillRect/>
          </a:stretch>
        </p:blipFill>
        <p:spPr>
          <a:xfrm>
            <a:off x="1287056" y="4217277"/>
            <a:ext cx="8246572" cy="1538669"/>
          </a:xfrm>
          <a:prstGeom prst="rect">
            <a:avLst/>
          </a:prstGeom>
        </p:spPr>
      </p:pic>
      <p:sp>
        <p:nvSpPr>
          <p:cNvPr id="23" name="矩形 22">
            <a:extLst>
              <a:ext uri="{FF2B5EF4-FFF2-40B4-BE49-F238E27FC236}">
                <a16:creationId xmlns:a16="http://schemas.microsoft.com/office/drawing/2014/main" id="{61352794-FB8F-4E98-B798-4B3968C625B3}"/>
              </a:ext>
            </a:extLst>
          </p:cNvPr>
          <p:cNvSpPr/>
          <p:nvPr/>
        </p:nvSpPr>
        <p:spPr>
          <a:xfrm>
            <a:off x="1287056" y="4354676"/>
            <a:ext cx="317395" cy="276999"/>
          </a:xfrm>
          <a:prstGeom prst="rect">
            <a:avLst/>
          </a:prstGeom>
        </p:spPr>
        <p:txBody>
          <a:bodyPr wrap="none" lIns="0" tIns="0" rIns="0" bIns="0">
            <a:spAutoFit/>
          </a:bodyPr>
          <a:lstStyle/>
          <a:p>
            <a:r>
              <a:rPr lang="zh-CN" altLang="en-US">
                <a:solidFill>
                  <a:srgbClr val="C00000"/>
                </a:solidFill>
              </a:rPr>
              <a:t>✔</a:t>
            </a:r>
          </a:p>
        </p:txBody>
      </p:sp>
      <mc:AlternateContent xmlns:mc="http://schemas.openxmlformats.org/markup-compatibility/2006" xmlns:a14="http://schemas.microsoft.com/office/drawing/2010/main">
        <mc:Choice Requires="a14">
          <p:sp>
            <p:nvSpPr>
              <p:cNvPr id="24" name="文本框 23">
                <a:extLst>
                  <a:ext uri="{FF2B5EF4-FFF2-40B4-BE49-F238E27FC236}">
                    <a16:creationId xmlns:a16="http://schemas.microsoft.com/office/drawing/2014/main" id="{00725D48-5E0A-4955-B6ED-7D910DF6175C}"/>
                  </a:ext>
                </a:extLst>
              </p:cNvPr>
              <p:cNvSpPr txBox="1"/>
              <p:nvPr/>
            </p:nvSpPr>
            <p:spPr>
              <a:xfrm>
                <a:off x="2210345" y="2073133"/>
                <a:ext cx="348656"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400" b="1" i="1" smtClean="0">
                              <a:solidFill>
                                <a:srgbClr val="C00000"/>
                              </a:solidFill>
                              <a:latin typeface="Cambria Math" panose="02040503050406030204" pitchFamily="18" charset="0"/>
                            </a:rPr>
                          </m:ctrlPr>
                        </m:sSubPr>
                        <m:e>
                          <m:r>
                            <a:rPr lang="en-US" altLang="zh-CN" sz="1400" b="1" i="1" smtClean="0">
                              <a:solidFill>
                                <a:srgbClr val="C00000"/>
                              </a:solidFill>
                              <a:latin typeface="Cambria Math" panose="02040503050406030204" pitchFamily="18" charset="0"/>
                            </a:rPr>
                            <m:t>𝑹</m:t>
                          </m:r>
                        </m:e>
                        <m:sub>
                          <m:r>
                            <a:rPr lang="en-US" altLang="zh-CN" sz="1400" b="1" i="1" smtClean="0">
                              <a:solidFill>
                                <a:srgbClr val="C00000"/>
                              </a:solidFill>
                              <a:latin typeface="Cambria Math" panose="02040503050406030204" pitchFamily="18" charset="0"/>
                            </a:rPr>
                            <m:t>𝟑</m:t>
                          </m:r>
                        </m:sub>
                      </m:sSub>
                    </m:oMath>
                  </m:oMathPara>
                </a14:m>
                <a:endParaRPr lang="zh-CN" altLang="en-US" sz="1400" b="1">
                  <a:solidFill>
                    <a:srgbClr val="C00000"/>
                  </a:solidFill>
                </a:endParaRPr>
              </a:p>
            </p:txBody>
          </p:sp>
        </mc:Choice>
        <mc:Fallback xmlns="">
          <p:sp>
            <p:nvSpPr>
              <p:cNvPr id="24" name="文本框 23">
                <a:extLst>
                  <a:ext uri="{FF2B5EF4-FFF2-40B4-BE49-F238E27FC236}">
                    <a16:creationId xmlns:a16="http://schemas.microsoft.com/office/drawing/2014/main" id="{00725D48-5E0A-4955-B6ED-7D910DF6175C}"/>
                  </a:ext>
                </a:extLst>
              </p:cNvPr>
              <p:cNvSpPr txBox="1">
                <a:spLocks noRot="1" noChangeAspect="1" noMove="1" noResize="1" noEditPoints="1" noAdjustHandles="1" noChangeArrowheads="1" noChangeShapeType="1" noTextEdit="1"/>
              </p:cNvSpPr>
              <p:nvPr/>
            </p:nvSpPr>
            <p:spPr>
              <a:xfrm>
                <a:off x="2210345" y="2073133"/>
                <a:ext cx="348656" cy="307777"/>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文本框 24">
                <a:extLst>
                  <a:ext uri="{FF2B5EF4-FFF2-40B4-BE49-F238E27FC236}">
                    <a16:creationId xmlns:a16="http://schemas.microsoft.com/office/drawing/2014/main" id="{E9ACE5ED-F9FB-4B85-966C-6027D5DAF09A}"/>
                  </a:ext>
                </a:extLst>
              </p:cNvPr>
              <p:cNvSpPr txBox="1"/>
              <p:nvPr/>
            </p:nvSpPr>
            <p:spPr>
              <a:xfrm>
                <a:off x="7159909" y="3754512"/>
                <a:ext cx="4431261" cy="1200329"/>
              </a:xfrm>
              <a:prstGeom prst="rect">
                <a:avLst/>
              </a:prstGeom>
              <a:solidFill>
                <a:schemeClr val="accent4">
                  <a:lumMod val="20000"/>
                  <a:lumOff val="80000"/>
                </a:schemeClr>
              </a:solidFill>
            </p:spPr>
            <p:txBody>
              <a:bodyPr wrap="square" rtlCol="0">
                <a:spAutoFit/>
              </a:bodyPr>
              <a:lstStyle/>
              <a:p>
                <a14:m>
                  <m:oMath xmlns:m="http://schemas.openxmlformats.org/officeDocument/2006/math">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𝑹</m:t>
                        </m:r>
                      </m:e>
                      <m:sub>
                        <m:r>
                          <a:rPr lang="en-US" altLang="zh-CN" b="1" i="1" smtClean="0">
                            <a:solidFill>
                              <a:schemeClr val="accent2">
                                <a:lumMod val="50000"/>
                              </a:schemeClr>
                            </a:solidFill>
                            <a:latin typeface="Cambria Math" panose="02040503050406030204" pitchFamily="18" charset="0"/>
                          </a:rPr>
                          <m:t>𝟎</m:t>
                        </m:r>
                      </m:sub>
                    </m:sSub>
                  </m:oMath>
                </a14:m>
                <a:r>
                  <a:rPr lang="zh-CN" altLang="en-US" b="1">
                    <a:solidFill>
                      <a:schemeClr val="accent2">
                        <a:lumMod val="50000"/>
                      </a:schemeClr>
                    </a:solidFill>
                  </a:rPr>
                  <a:t>边界：</a:t>
                </a:r>
                <a14:m>
                  <m:oMath xmlns:m="http://schemas.openxmlformats.org/officeDocument/2006/math">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𝒆</m:t>
                        </m:r>
                      </m:e>
                      <m:sub>
                        <m:r>
                          <a:rPr lang="en-US" altLang="zh-CN" b="1" i="1" smtClean="0">
                            <a:solidFill>
                              <a:schemeClr val="accent2">
                                <a:lumMod val="50000"/>
                              </a:schemeClr>
                            </a:solidFill>
                            <a:latin typeface="Cambria Math" panose="02040503050406030204" pitchFamily="18" charset="0"/>
                          </a:rPr>
                          <m:t>𝟏</m:t>
                        </m:r>
                      </m:sub>
                    </m:sSub>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𝒆</m:t>
                        </m:r>
                      </m:e>
                      <m:sub>
                        <m:r>
                          <a:rPr lang="en-US" altLang="zh-CN" b="1" i="1" smtClean="0">
                            <a:solidFill>
                              <a:schemeClr val="accent2">
                                <a:lumMod val="50000"/>
                              </a:schemeClr>
                            </a:solidFill>
                            <a:latin typeface="Cambria Math" panose="02040503050406030204" pitchFamily="18" charset="0"/>
                          </a:rPr>
                          <m:t>𝟑</m:t>
                        </m:r>
                      </m:sub>
                    </m:sSub>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𝒆</m:t>
                        </m:r>
                      </m:e>
                      <m:sub>
                        <m:r>
                          <a:rPr lang="en-US" altLang="zh-CN" b="1" i="1" smtClean="0">
                            <a:solidFill>
                              <a:schemeClr val="accent2">
                                <a:lumMod val="50000"/>
                              </a:schemeClr>
                            </a:solidFill>
                            <a:latin typeface="Cambria Math" panose="02040503050406030204" pitchFamily="18" charset="0"/>
                          </a:rPr>
                          <m:t>𝟒</m:t>
                        </m:r>
                      </m:sub>
                    </m:sSub>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𝒆</m:t>
                        </m:r>
                      </m:e>
                      <m:sub>
                        <m:r>
                          <a:rPr lang="en-US" altLang="zh-CN" b="1" i="1" smtClean="0">
                            <a:solidFill>
                              <a:schemeClr val="accent2">
                                <a:lumMod val="50000"/>
                              </a:schemeClr>
                            </a:solidFill>
                            <a:latin typeface="Cambria Math" panose="02040503050406030204" pitchFamily="18" charset="0"/>
                          </a:rPr>
                          <m:t>𝟔</m:t>
                        </m:r>
                      </m:sub>
                    </m:sSub>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𝒆</m:t>
                        </m:r>
                      </m:e>
                      <m:sub>
                        <m:r>
                          <a:rPr lang="en-US" altLang="zh-CN" b="1" i="1" smtClean="0">
                            <a:solidFill>
                              <a:schemeClr val="accent2">
                                <a:lumMod val="50000"/>
                              </a:schemeClr>
                            </a:solidFill>
                            <a:latin typeface="Cambria Math" panose="02040503050406030204" pitchFamily="18" charset="0"/>
                          </a:rPr>
                          <m:t>𝟓</m:t>
                        </m:r>
                      </m:sub>
                    </m:sSub>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𝒆</m:t>
                        </m:r>
                      </m:e>
                      <m:sub>
                        <m:r>
                          <a:rPr lang="en-US" altLang="zh-CN" b="1" i="1" smtClean="0">
                            <a:solidFill>
                              <a:schemeClr val="accent2">
                                <a:lumMod val="50000"/>
                              </a:schemeClr>
                            </a:solidFill>
                            <a:latin typeface="Cambria Math" panose="02040503050406030204" pitchFamily="18" charset="0"/>
                          </a:rPr>
                          <m:t>𝟐</m:t>
                        </m:r>
                      </m:sub>
                    </m:sSub>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𝒆</m:t>
                        </m:r>
                      </m:e>
                      <m:sub>
                        <m:r>
                          <a:rPr lang="en-US" altLang="zh-CN" b="1" i="1" smtClean="0">
                            <a:solidFill>
                              <a:schemeClr val="accent2">
                                <a:lumMod val="50000"/>
                              </a:schemeClr>
                            </a:solidFill>
                            <a:latin typeface="Cambria Math" panose="02040503050406030204" pitchFamily="18" charset="0"/>
                          </a:rPr>
                          <m:t>𝟖</m:t>
                        </m:r>
                      </m:sub>
                    </m:sSub>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𝒆</m:t>
                        </m:r>
                      </m:e>
                      <m:sub>
                        <m:r>
                          <a:rPr lang="en-US" altLang="zh-CN" b="1" i="1" smtClean="0">
                            <a:solidFill>
                              <a:schemeClr val="accent2">
                                <a:lumMod val="50000"/>
                              </a:schemeClr>
                            </a:solidFill>
                            <a:latin typeface="Cambria Math" panose="02040503050406030204" pitchFamily="18" charset="0"/>
                          </a:rPr>
                          <m:t>𝟗</m:t>
                        </m:r>
                      </m:sub>
                    </m:sSub>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𝒆</m:t>
                        </m:r>
                      </m:e>
                      <m:sub>
                        <m:r>
                          <a:rPr lang="en-US" altLang="zh-CN" b="1" i="1" smtClean="0">
                            <a:solidFill>
                              <a:schemeClr val="accent2">
                                <a:lumMod val="50000"/>
                              </a:schemeClr>
                            </a:solidFill>
                            <a:latin typeface="Cambria Math" panose="02040503050406030204" pitchFamily="18" charset="0"/>
                          </a:rPr>
                          <m:t>𝟏𝟎</m:t>
                        </m:r>
                      </m:sub>
                    </m:sSub>
                  </m:oMath>
                </a14:m>
                <a:r>
                  <a:rPr lang="zh-CN" altLang="en-US" b="1">
                    <a:solidFill>
                      <a:schemeClr val="accent2">
                        <a:lumMod val="50000"/>
                      </a:schemeClr>
                    </a:solidFill>
                  </a:rPr>
                  <a:t>，度数：</a:t>
                </a:r>
                <a14:m>
                  <m:oMath xmlns:m="http://schemas.openxmlformats.org/officeDocument/2006/math">
                    <m:r>
                      <a:rPr lang="en-US" altLang="zh-CN" b="1" i="1" smtClean="0">
                        <a:solidFill>
                          <a:schemeClr val="accent2">
                            <a:lumMod val="50000"/>
                          </a:schemeClr>
                        </a:solidFill>
                        <a:latin typeface="Cambria Math" panose="02040503050406030204" pitchFamily="18" charset="0"/>
                      </a:rPr>
                      <m:t>𝟗</m:t>
                    </m:r>
                  </m:oMath>
                </a14:m>
                <a:endParaRPr lang="en-US" altLang="zh-CN" b="1">
                  <a:solidFill>
                    <a:schemeClr val="accent2">
                      <a:lumMod val="50000"/>
                    </a:schemeClr>
                  </a:solidFill>
                </a:endParaRPr>
              </a:p>
              <a:p>
                <a14:m>
                  <m:oMath xmlns:m="http://schemas.openxmlformats.org/officeDocument/2006/math">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𝑹</m:t>
                        </m:r>
                      </m:e>
                      <m:sub>
                        <m:r>
                          <a:rPr lang="en-US" altLang="zh-CN" b="1" i="1" smtClean="0">
                            <a:solidFill>
                              <a:schemeClr val="accent2">
                                <a:lumMod val="50000"/>
                              </a:schemeClr>
                            </a:solidFill>
                            <a:latin typeface="Cambria Math" panose="02040503050406030204" pitchFamily="18" charset="0"/>
                          </a:rPr>
                          <m:t>𝟏</m:t>
                        </m:r>
                      </m:sub>
                    </m:sSub>
                  </m:oMath>
                </a14:m>
                <a:r>
                  <a:rPr lang="zh-CN" altLang="en-US" b="1">
                    <a:solidFill>
                      <a:schemeClr val="accent2">
                        <a:lumMod val="50000"/>
                      </a:schemeClr>
                    </a:solidFill>
                  </a:rPr>
                  <a:t>边界：</a:t>
                </a:r>
                <a14:m>
                  <m:oMath xmlns:m="http://schemas.openxmlformats.org/officeDocument/2006/math">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𝒆</m:t>
                        </m:r>
                      </m:e>
                      <m:sub>
                        <m:r>
                          <a:rPr lang="en-US" altLang="zh-CN" b="1" i="1" smtClean="0">
                            <a:solidFill>
                              <a:schemeClr val="accent2">
                                <a:lumMod val="50000"/>
                              </a:schemeClr>
                            </a:solidFill>
                            <a:latin typeface="Cambria Math" panose="02040503050406030204" pitchFamily="18" charset="0"/>
                          </a:rPr>
                          <m:t>𝟐</m:t>
                        </m:r>
                      </m:sub>
                    </m:sSub>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𝒆</m:t>
                        </m:r>
                      </m:e>
                      <m:sub>
                        <m:r>
                          <a:rPr lang="en-US" altLang="zh-CN" b="1" i="1" smtClean="0">
                            <a:solidFill>
                              <a:schemeClr val="accent2">
                                <a:lumMod val="50000"/>
                              </a:schemeClr>
                            </a:solidFill>
                            <a:latin typeface="Cambria Math" panose="02040503050406030204" pitchFamily="18" charset="0"/>
                          </a:rPr>
                          <m:t>𝟑</m:t>
                        </m:r>
                      </m:sub>
                    </m:sSub>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𝒆</m:t>
                        </m:r>
                      </m:e>
                      <m:sub>
                        <m:r>
                          <a:rPr lang="en-US" altLang="zh-CN" b="1" i="1" smtClean="0">
                            <a:solidFill>
                              <a:schemeClr val="accent2">
                                <a:lumMod val="50000"/>
                              </a:schemeClr>
                            </a:solidFill>
                            <a:latin typeface="Cambria Math" panose="02040503050406030204" pitchFamily="18" charset="0"/>
                          </a:rPr>
                          <m:t>𝟒</m:t>
                        </m:r>
                      </m:sub>
                    </m:sSub>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𝒆</m:t>
                        </m:r>
                      </m:e>
                      <m:sub>
                        <m:r>
                          <a:rPr lang="en-US" altLang="zh-CN" b="1" i="1" smtClean="0">
                            <a:solidFill>
                              <a:schemeClr val="accent2">
                                <a:lumMod val="50000"/>
                              </a:schemeClr>
                            </a:solidFill>
                            <a:latin typeface="Cambria Math" panose="02040503050406030204" pitchFamily="18" charset="0"/>
                          </a:rPr>
                          <m:t>𝟔</m:t>
                        </m:r>
                      </m:sub>
                    </m:sSub>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𝒆</m:t>
                        </m:r>
                      </m:e>
                      <m:sub>
                        <m:r>
                          <a:rPr lang="en-US" altLang="zh-CN" b="1" i="1" smtClean="0">
                            <a:solidFill>
                              <a:schemeClr val="accent2">
                                <a:lumMod val="50000"/>
                              </a:schemeClr>
                            </a:solidFill>
                            <a:latin typeface="Cambria Math" panose="02040503050406030204" pitchFamily="18" charset="0"/>
                          </a:rPr>
                          <m:t>𝟕</m:t>
                        </m:r>
                      </m:sub>
                    </m:sSub>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𝒆</m:t>
                        </m:r>
                      </m:e>
                      <m:sub>
                        <m:r>
                          <a:rPr lang="en-US" altLang="zh-CN" b="1" i="1" smtClean="0">
                            <a:solidFill>
                              <a:schemeClr val="accent2">
                                <a:lumMod val="50000"/>
                              </a:schemeClr>
                            </a:solidFill>
                            <a:latin typeface="Cambria Math" panose="02040503050406030204" pitchFamily="18" charset="0"/>
                          </a:rPr>
                          <m:t>𝟕</m:t>
                        </m:r>
                      </m:sub>
                    </m:sSub>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𝒆</m:t>
                        </m:r>
                      </m:e>
                      <m:sub>
                        <m:r>
                          <a:rPr lang="en-US" altLang="zh-CN" b="1" i="1" smtClean="0">
                            <a:solidFill>
                              <a:schemeClr val="accent2">
                                <a:lumMod val="50000"/>
                              </a:schemeClr>
                            </a:solidFill>
                            <a:latin typeface="Cambria Math" panose="02040503050406030204" pitchFamily="18" charset="0"/>
                          </a:rPr>
                          <m:t>𝟓</m:t>
                        </m:r>
                      </m:sub>
                    </m:sSub>
                  </m:oMath>
                </a14:m>
                <a:r>
                  <a:rPr lang="zh-CN" altLang="en-US" b="1">
                    <a:solidFill>
                      <a:schemeClr val="accent2">
                        <a:lumMod val="50000"/>
                      </a:schemeClr>
                    </a:solidFill>
                  </a:rPr>
                  <a:t>，度数：</a:t>
                </a:r>
                <a14:m>
                  <m:oMath xmlns:m="http://schemas.openxmlformats.org/officeDocument/2006/math">
                    <m:r>
                      <a:rPr lang="en-US" altLang="zh-CN" b="1" i="1" smtClean="0">
                        <a:solidFill>
                          <a:schemeClr val="accent2">
                            <a:lumMod val="50000"/>
                          </a:schemeClr>
                        </a:solidFill>
                        <a:latin typeface="Cambria Math" panose="02040503050406030204" pitchFamily="18" charset="0"/>
                      </a:rPr>
                      <m:t>𝟕</m:t>
                    </m:r>
                  </m:oMath>
                </a14:m>
                <a:endParaRPr lang="en-US" altLang="zh-CN" b="1">
                  <a:solidFill>
                    <a:schemeClr val="accent2">
                      <a:lumMod val="50000"/>
                    </a:schemeClr>
                  </a:solidFill>
                </a:endParaRPr>
              </a:p>
              <a:p>
                <a14:m>
                  <m:oMath xmlns:m="http://schemas.openxmlformats.org/officeDocument/2006/math">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𝑹</m:t>
                        </m:r>
                      </m:e>
                      <m:sub>
                        <m:r>
                          <a:rPr lang="en-US" altLang="zh-CN" b="1" i="1" smtClean="0">
                            <a:solidFill>
                              <a:schemeClr val="accent2">
                                <a:lumMod val="50000"/>
                              </a:schemeClr>
                            </a:solidFill>
                            <a:latin typeface="Cambria Math" panose="02040503050406030204" pitchFamily="18" charset="0"/>
                          </a:rPr>
                          <m:t>𝟐</m:t>
                        </m:r>
                      </m:sub>
                    </m:sSub>
                  </m:oMath>
                </a14:m>
                <a:r>
                  <a:rPr lang="zh-CN" altLang="en-US" b="1">
                    <a:solidFill>
                      <a:schemeClr val="accent2">
                        <a:lumMod val="50000"/>
                      </a:schemeClr>
                    </a:solidFill>
                  </a:rPr>
                  <a:t>边界：</a:t>
                </a:r>
                <a14:m>
                  <m:oMath xmlns:m="http://schemas.openxmlformats.org/officeDocument/2006/math">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𝒆</m:t>
                        </m:r>
                      </m:e>
                      <m:sub>
                        <m:r>
                          <a:rPr lang="en-US" altLang="zh-CN" b="1" i="1" smtClean="0">
                            <a:solidFill>
                              <a:schemeClr val="accent2">
                                <a:lumMod val="50000"/>
                              </a:schemeClr>
                            </a:solidFill>
                            <a:latin typeface="Cambria Math" panose="02040503050406030204" pitchFamily="18" charset="0"/>
                          </a:rPr>
                          <m:t>𝟖</m:t>
                        </m:r>
                      </m:sub>
                    </m:sSub>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𝒆</m:t>
                        </m:r>
                      </m:e>
                      <m:sub>
                        <m:r>
                          <a:rPr lang="en-US" altLang="zh-CN" b="1" i="1" smtClean="0">
                            <a:solidFill>
                              <a:schemeClr val="accent2">
                                <a:lumMod val="50000"/>
                              </a:schemeClr>
                            </a:solidFill>
                            <a:latin typeface="Cambria Math" panose="02040503050406030204" pitchFamily="18" charset="0"/>
                          </a:rPr>
                          <m:t>𝟗</m:t>
                        </m:r>
                      </m:sub>
                    </m:sSub>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𝒆</m:t>
                        </m:r>
                      </m:e>
                      <m:sub>
                        <m:r>
                          <a:rPr lang="en-US" altLang="zh-CN" b="1" i="1" smtClean="0">
                            <a:solidFill>
                              <a:schemeClr val="accent2">
                                <a:lumMod val="50000"/>
                              </a:schemeClr>
                            </a:solidFill>
                            <a:latin typeface="Cambria Math" panose="02040503050406030204" pitchFamily="18" charset="0"/>
                          </a:rPr>
                          <m:t>𝟏𝟎</m:t>
                        </m:r>
                      </m:sub>
                    </m:sSub>
                  </m:oMath>
                </a14:m>
                <a:r>
                  <a:rPr lang="zh-CN" altLang="en-US" b="1">
                    <a:solidFill>
                      <a:schemeClr val="accent2">
                        <a:lumMod val="50000"/>
                      </a:schemeClr>
                    </a:solidFill>
                  </a:rPr>
                  <a:t>，度数：</a:t>
                </a:r>
                <a14:m>
                  <m:oMath xmlns:m="http://schemas.openxmlformats.org/officeDocument/2006/math">
                    <m:r>
                      <a:rPr lang="en-US" altLang="zh-CN" b="1" i="1" smtClean="0">
                        <a:solidFill>
                          <a:schemeClr val="accent2">
                            <a:lumMod val="50000"/>
                          </a:schemeClr>
                        </a:solidFill>
                        <a:latin typeface="Cambria Math" panose="02040503050406030204" pitchFamily="18" charset="0"/>
                      </a:rPr>
                      <m:t>𝟑</m:t>
                    </m:r>
                  </m:oMath>
                </a14:m>
                <a:endParaRPr lang="en-US" altLang="zh-CN" b="1">
                  <a:solidFill>
                    <a:schemeClr val="accent2">
                      <a:lumMod val="50000"/>
                    </a:schemeClr>
                  </a:solidFill>
                </a:endParaRPr>
              </a:p>
              <a:p>
                <a14:m>
                  <m:oMath xmlns:m="http://schemas.openxmlformats.org/officeDocument/2006/math">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𝑹</m:t>
                        </m:r>
                      </m:e>
                      <m:sub>
                        <m:r>
                          <a:rPr lang="en-US" altLang="zh-CN" b="1" i="1" smtClean="0">
                            <a:solidFill>
                              <a:schemeClr val="accent2">
                                <a:lumMod val="50000"/>
                              </a:schemeClr>
                            </a:solidFill>
                            <a:latin typeface="Cambria Math" panose="02040503050406030204" pitchFamily="18" charset="0"/>
                          </a:rPr>
                          <m:t>𝟑</m:t>
                        </m:r>
                      </m:sub>
                    </m:sSub>
                  </m:oMath>
                </a14:m>
                <a:r>
                  <a:rPr lang="zh-CN" altLang="en-US" b="1">
                    <a:solidFill>
                      <a:schemeClr val="accent2">
                        <a:lumMod val="50000"/>
                      </a:schemeClr>
                    </a:solidFill>
                  </a:rPr>
                  <a:t>边界：</a:t>
                </a:r>
                <a14:m>
                  <m:oMath xmlns:m="http://schemas.openxmlformats.org/officeDocument/2006/math">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𝒆</m:t>
                        </m:r>
                      </m:e>
                      <m:sub>
                        <m:r>
                          <a:rPr lang="en-US" altLang="zh-CN" b="1" i="1" smtClean="0">
                            <a:solidFill>
                              <a:schemeClr val="accent2">
                                <a:lumMod val="50000"/>
                              </a:schemeClr>
                            </a:solidFill>
                            <a:latin typeface="Cambria Math" panose="02040503050406030204" pitchFamily="18" charset="0"/>
                          </a:rPr>
                          <m:t>𝟏</m:t>
                        </m:r>
                      </m:sub>
                    </m:sSub>
                  </m:oMath>
                </a14:m>
                <a:r>
                  <a:rPr lang="zh-CN" altLang="en-US" b="1">
                    <a:solidFill>
                      <a:schemeClr val="accent2">
                        <a:lumMod val="50000"/>
                      </a:schemeClr>
                    </a:solidFill>
                  </a:rPr>
                  <a:t>，度数：</a:t>
                </a:r>
                <a14:m>
                  <m:oMath xmlns:m="http://schemas.openxmlformats.org/officeDocument/2006/math">
                    <m:r>
                      <a:rPr lang="en-US" altLang="zh-CN" b="1" i="1" smtClean="0">
                        <a:solidFill>
                          <a:schemeClr val="accent2">
                            <a:lumMod val="50000"/>
                          </a:schemeClr>
                        </a:solidFill>
                        <a:latin typeface="Cambria Math" panose="02040503050406030204" pitchFamily="18" charset="0"/>
                      </a:rPr>
                      <m:t>𝟏</m:t>
                    </m:r>
                  </m:oMath>
                </a14:m>
                <a:endParaRPr lang="zh-CN" altLang="en-US" b="1">
                  <a:solidFill>
                    <a:schemeClr val="accent2">
                      <a:lumMod val="50000"/>
                    </a:schemeClr>
                  </a:solidFill>
                </a:endParaRPr>
              </a:p>
            </p:txBody>
          </p:sp>
        </mc:Choice>
        <mc:Fallback xmlns="">
          <p:sp>
            <p:nvSpPr>
              <p:cNvPr id="25" name="文本框 24">
                <a:extLst>
                  <a:ext uri="{FF2B5EF4-FFF2-40B4-BE49-F238E27FC236}">
                    <a16:creationId xmlns:a16="http://schemas.microsoft.com/office/drawing/2014/main" id="{E9ACE5ED-F9FB-4B85-966C-6027D5DAF09A}"/>
                  </a:ext>
                </a:extLst>
              </p:cNvPr>
              <p:cNvSpPr txBox="1">
                <a:spLocks noRot="1" noChangeAspect="1" noMove="1" noResize="1" noEditPoints="1" noAdjustHandles="1" noChangeArrowheads="1" noChangeShapeType="1" noTextEdit="1"/>
              </p:cNvSpPr>
              <p:nvPr/>
            </p:nvSpPr>
            <p:spPr>
              <a:xfrm>
                <a:off x="7159909" y="3754512"/>
                <a:ext cx="4431261" cy="1200329"/>
              </a:xfrm>
              <a:prstGeom prst="rect">
                <a:avLst/>
              </a:prstGeom>
              <a:blipFill>
                <a:blip r:embed="rId5"/>
                <a:stretch>
                  <a:fillRect t="-3046" b="-7107"/>
                </a:stretch>
              </a:blipFill>
            </p:spPr>
            <p:txBody>
              <a:bodyPr/>
              <a:lstStyle/>
              <a:p>
                <a:r>
                  <a:rPr lang="zh-CN" altLang="en-US">
                    <a:noFill/>
                  </a:rPr>
                  <a:t> </a:t>
                </a:r>
              </a:p>
            </p:txBody>
          </p:sp>
        </mc:Fallback>
      </mc:AlternateContent>
      <p:sp>
        <p:nvSpPr>
          <p:cNvPr id="26" name="矩形 25">
            <a:extLst>
              <a:ext uri="{FF2B5EF4-FFF2-40B4-BE49-F238E27FC236}">
                <a16:creationId xmlns:a16="http://schemas.microsoft.com/office/drawing/2014/main" id="{9AB0FEAD-DB7A-4FBB-80A5-AF03645B1070}"/>
              </a:ext>
            </a:extLst>
          </p:cNvPr>
          <p:cNvSpPr/>
          <p:nvPr/>
        </p:nvSpPr>
        <p:spPr>
          <a:xfrm>
            <a:off x="1287055" y="5526731"/>
            <a:ext cx="317395" cy="276999"/>
          </a:xfrm>
          <a:prstGeom prst="rect">
            <a:avLst/>
          </a:prstGeom>
        </p:spPr>
        <p:txBody>
          <a:bodyPr wrap="none" lIns="0" tIns="0" rIns="0" bIns="0">
            <a:spAutoFit/>
          </a:bodyPr>
          <a:lstStyle/>
          <a:p>
            <a:r>
              <a:rPr lang="zh-CN" altLang="en-US">
                <a:solidFill>
                  <a:srgbClr val="C00000"/>
                </a:solidFill>
              </a:rPr>
              <a:t>✔</a:t>
            </a:r>
          </a:p>
        </p:txBody>
      </p:sp>
    </p:spTree>
    <p:extLst>
      <p:ext uri="{BB962C8B-B14F-4D97-AF65-F5344CB8AC3E}">
        <p14:creationId xmlns:p14="http://schemas.microsoft.com/office/powerpoint/2010/main" val="3354428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fade">
                                      <p:cBhvr>
                                        <p:cTn id="10" dur="500"/>
                                        <p:tgtEl>
                                          <p:spTgt spid="24"/>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25"/>
                                        </p:tgtEl>
                                        <p:attrNameLst>
                                          <p:attrName>style.visibility</p:attrName>
                                        </p:attrNameLst>
                                      </p:cBhvr>
                                      <p:to>
                                        <p:strVal val="visible"/>
                                      </p:to>
                                    </p:set>
                                    <p:animEffect transition="in" filter="barn(inVertical)">
                                      <p:cBhvr>
                                        <p:cTn id="15" dur="500"/>
                                        <p:tgtEl>
                                          <p:spTgt spid="2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26"/>
                                        </p:tgtEl>
                                        <p:attrNameLst>
                                          <p:attrName>style.visibility</p:attrName>
                                        </p:attrNameLst>
                                      </p:cBhvr>
                                      <p:to>
                                        <p:strVal val="visible"/>
                                      </p:to>
                                    </p:set>
                                    <p:animEffect transition="in" filter="fade">
                                      <p:cBhvr>
                                        <p:cTn id="20"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4" grpId="0"/>
      <p:bldP spid="25" grpId="0" animBg="1"/>
      <p:bldP spid="2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平面图</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第三十一讲  一些特殊的图</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8</a:t>
            </a:fld>
            <a:r>
              <a:rPr lang="en-US" altLang="zh-CN" dirty="0">
                <a:latin typeface="Arial" panose="020B0604020202020204" pitchFamily="34" charset="0"/>
                <a:ea typeface="楷体" panose="02010609060101010101" pitchFamily="49" charset="-122"/>
                <a:cs typeface="Arial" panose="020B0604020202020204" pitchFamily="34" charset="0"/>
              </a:rPr>
              <a:t>/32</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平面图的一些重要性质</a:t>
            </a: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D3EE335A-18AC-4E96-9255-4B80D89417F6}"/>
                  </a:ext>
                </a:extLst>
              </p:cNvPr>
              <p:cNvSpPr txBox="1"/>
              <p:nvPr/>
            </p:nvSpPr>
            <p:spPr>
              <a:xfrm>
                <a:off x="1235837" y="3053230"/>
                <a:ext cx="9720323" cy="2803588"/>
              </a:xfrm>
              <a:prstGeom prst="rect">
                <a:avLst/>
              </a:prstGeom>
              <a:solidFill>
                <a:schemeClr val="accent2">
                  <a:lumMod val="20000"/>
                  <a:lumOff val="80000"/>
                  <a:alpha val="25000"/>
                </a:schemeClr>
              </a:solidFill>
            </p:spPr>
            <p:txBody>
              <a:bodyPr wrap="square" rtlCol="0">
                <a:spAutoFit/>
              </a:bodyPr>
              <a:lstStyle/>
              <a:p>
                <a:pPr algn="ctr">
                  <a:spcBef>
                    <a:spcPts val="600"/>
                  </a:spcBef>
                  <a:spcAft>
                    <a:spcPts val="600"/>
                  </a:spcAft>
                </a:pPr>
                <a:r>
                  <a:rPr lang="zh-CN" altLang="en-US" sz="2400" b="1">
                    <a:solidFill>
                      <a:srgbClr val="C00000"/>
                    </a:solidFill>
                  </a:rPr>
                  <a:t>平面图边数上界</a:t>
                </a:r>
              </a:p>
              <a:p>
                <a:pPr>
                  <a:spcBef>
                    <a:spcPts val="600"/>
                  </a:spcBef>
                </a:pPr>
                <a:r>
                  <a:rPr lang="zh-CN" altLang="en-US" sz="2000" b="1">
                    <a:solidFill>
                      <a:srgbClr val="002060"/>
                    </a:solidFill>
                    <a:latin typeface="楷体" panose="02010609060101010101" pitchFamily="49" charset="-122"/>
                    <a:ea typeface="楷体" panose="02010609060101010101" pitchFamily="49" charset="-122"/>
                  </a:rPr>
                  <a:t>设</a:t>
                </a:r>
                <a14:m>
                  <m:oMath xmlns:m="http://schemas.openxmlformats.org/officeDocument/2006/math">
                    <m:r>
                      <a:rPr lang="en-US" altLang="zh-CN" sz="2000" b="1" i="1" smtClean="0">
                        <a:solidFill>
                          <a:srgbClr val="002060"/>
                        </a:solidFill>
                        <a:latin typeface="Cambria Math" panose="02040503050406030204" pitchFamily="18" charset="0"/>
                      </a:rPr>
                      <m:t>𝑮</m:t>
                    </m:r>
                  </m:oMath>
                </a14:m>
                <a:r>
                  <a:rPr lang="zh-CN" altLang="en-US" sz="2000" b="1">
                    <a:solidFill>
                      <a:srgbClr val="002060"/>
                    </a:solidFill>
                    <a:latin typeface="楷体" panose="02010609060101010101" pitchFamily="49" charset="-122"/>
                    <a:ea typeface="楷体" panose="02010609060101010101" pitchFamily="49" charset="-122"/>
                  </a:rPr>
                  <a:t>是连通平面图，且</a:t>
                </a:r>
                <a14:m>
                  <m:oMath xmlns:m="http://schemas.openxmlformats.org/officeDocument/2006/math">
                    <m:r>
                      <a:rPr lang="en-US" altLang="zh-CN" sz="2000" b="1" i="1" smtClean="0">
                        <a:solidFill>
                          <a:srgbClr val="002060"/>
                        </a:solidFill>
                        <a:latin typeface="Cambria Math" panose="02040503050406030204" pitchFamily="18" charset="0"/>
                      </a:rPr>
                      <m:t>𝑮</m:t>
                    </m:r>
                  </m:oMath>
                </a14:m>
                <a:r>
                  <a:rPr lang="zh-CN" altLang="en-US" sz="2000" b="1">
                    <a:solidFill>
                      <a:srgbClr val="002060"/>
                    </a:solidFill>
                    <a:latin typeface="楷体" panose="02010609060101010101" pitchFamily="49" charset="-122"/>
                    <a:ea typeface="楷体" panose="02010609060101010101" pitchFamily="49" charset="-122"/>
                  </a:rPr>
                  <a:t>的各面度数大于等于</a:t>
                </a:r>
                <a14:m>
                  <m:oMath xmlns:m="http://schemas.openxmlformats.org/officeDocument/2006/math">
                    <m:r>
                      <a:rPr lang="en-US" altLang="zh-CN" sz="2000" b="1" i="1" smtClean="0">
                        <a:solidFill>
                          <a:srgbClr val="002060"/>
                        </a:solidFill>
                        <a:latin typeface="Cambria Math" panose="02040503050406030204" pitchFamily="18" charset="0"/>
                      </a:rPr>
                      <m:t>𝒍</m:t>
                    </m:r>
                  </m:oMath>
                </a14:m>
                <a:r>
                  <a:rPr lang="en-US" altLang="zh-CN" sz="2000" b="1">
                    <a:solidFill>
                      <a:srgbClr val="002060"/>
                    </a:solidFill>
                    <a:latin typeface="楷体" panose="02010609060101010101" pitchFamily="49" charset="-122"/>
                    <a:ea typeface="楷体" panose="02010609060101010101" pitchFamily="49" charset="-122"/>
                  </a:rPr>
                  <a:t>(</a:t>
                </a:r>
                <a14:m>
                  <m:oMath xmlns:m="http://schemas.openxmlformats.org/officeDocument/2006/math">
                    <m:r>
                      <a:rPr lang="en-US" altLang="zh-CN" sz="2000" b="1" i="1" smtClean="0">
                        <a:solidFill>
                          <a:srgbClr val="C00000"/>
                        </a:solidFill>
                        <a:latin typeface="Cambria Math" panose="02040503050406030204" pitchFamily="18" charset="0"/>
                        <a:ea typeface="楷体" panose="02010609060101010101" pitchFamily="49" charset="-122"/>
                      </a:rPr>
                      <m:t>𝒍</m:t>
                    </m:r>
                    <m:r>
                      <a:rPr lang="en-US" altLang="zh-CN" sz="2000" b="1" i="1" smtClean="0">
                        <a:solidFill>
                          <a:srgbClr val="C00000"/>
                        </a:solidFill>
                        <a:latin typeface="Cambria Math" panose="02040503050406030204" pitchFamily="18" charset="0"/>
                        <a:ea typeface="楷体" panose="02010609060101010101" pitchFamily="49" charset="-122"/>
                      </a:rPr>
                      <m:t>≥</m:t>
                    </m:r>
                    <m:r>
                      <a:rPr lang="en-US" altLang="zh-CN" sz="2000" b="1" i="1" smtClean="0">
                        <a:solidFill>
                          <a:srgbClr val="C00000"/>
                        </a:solidFill>
                        <a:latin typeface="Cambria Math" panose="02040503050406030204" pitchFamily="18" charset="0"/>
                        <a:ea typeface="楷体" panose="02010609060101010101" pitchFamily="49" charset="-122"/>
                      </a:rPr>
                      <m:t>𝟑</m:t>
                    </m:r>
                  </m:oMath>
                </a14:m>
                <a:r>
                  <a:rPr lang="en-US" altLang="zh-CN" sz="2000" b="1">
                    <a:solidFill>
                      <a:srgbClr val="002060"/>
                    </a:solidFill>
                    <a:latin typeface="楷体" panose="02010609060101010101" pitchFamily="49" charset="-122"/>
                    <a:ea typeface="楷体" panose="02010609060101010101" pitchFamily="49" charset="-122"/>
                  </a:rPr>
                  <a:t>)</a:t>
                </a:r>
                <a:r>
                  <a:rPr lang="zh-CN" altLang="en-US" sz="2000" b="1">
                    <a:solidFill>
                      <a:srgbClr val="002060"/>
                    </a:solidFill>
                    <a:latin typeface="楷体" panose="02010609060101010101" pitchFamily="49" charset="-122"/>
                    <a:ea typeface="楷体" panose="02010609060101010101" pitchFamily="49" charset="-122"/>
                  </a:rPr>
                  <a:t>，则</a:t>
                </a:r>
                <a14:m>
                  <m:oMath xmlns:m="http://schemas.openxmlformats.org/officeDocument/2006/math">
                    <m:r>
                      <a:rPr lang="en-US" altLang="zh-CN" sz="2000" b="1" i="1" smtClean="0">
                        <a:solidFill>
                          <a:srgbClr val="002060"/>
                        </a:solidFill>
                        <a:latin typeface="Cambria Math" panose="02040503050406030204" pitchFamily="18" charset="0"/>
                      </a:rPr>
                      <m:t>𝑮</m:t>
                    </m:r>
                  </m:oMath>
                </a14:m>
                <a:r>
                  <a:rPr lang="zh-CN" altLang="en-US" sz="2000" b="1">
                    <a:solidFill>
                      <a:srgbClr val="002060"/>
                    </a:solidFill>
                    <a:latin typeface="楷体" panose="02010609060101010101" pitchFamily="49" charset="-122"/>
                    <a:ea typeface="楷体" panose="02010609060101010101" pitchFamily="49" charset="-122"/>
                  </a:rPr>
                  <a:t>的边数</a:t>
                </a:r>
                <a14:m>
                  <m:oMath xmlns:m="http://schemas.openxmlformats.org/officeDocument/2006/math">
                    <m:r>
                      <a:rPr lang="en-US" altLang="zh-CN" sz="2000" b="1" i="1" smtClean="0">
                        <a:solidFill>
                          <a:srgbClr val="002060"/>
                        </a:solidFill>
                        <a:latin typeface="Cambria Math" panose="02040503050406030204" pitchFamily="18" charset="0"/>
                      </a:rPr>
                      <m:t>𝒎</m:t>
                    </m:r>
                  </m:oMath>
                </a14:m>
                <a:r>
                  <a:rPr lang="zh-CN" altLang="en-US" sz="2000" b="1">
                    <a:solidFill>
                      <a:srgbClr val="002060"/>
                    </a:solidFill>
                    <a:latin typeface="楷体" panose="02010609060101010101" pitchFamily="49" charset="-122"/>
                    <a:ea typeface="楷体" panose="02010609060101010101" pitchFamily="49" charset="-122"/>
                  </a:rPr>
                  <a:t>与顶点数</a:t>
                </a:r>
                <a14:m>
                  <m:oMath xmlns:m="http://schemas.openxmlformats.org/officeDocument/2006/math">
                    <m:r>
                      <a:rPr lang="en-US" altLang="zh-CN" sz="2000" b="1" i="1" smtClean="0">
                        <a:solidFill>
                          <a:srgbClr val="002060"/>
                        </a:solidFill>
                        <a:latin typeface="Cambria Math" panose="02040503050406030204" pitchFamily="18" charset="0"/>
                      </a:rPr>
                      <m:t>𝒏</m:t>
                    </m:r>
                  </m:oMath>
                </a14:m>
                <a:r>
                  <a:rPr lang="zh-CN" altLang="en-US" sz="2000" b="1">
                    <a:solidFill>
                      <a:srgbClr val="002060"/>
                    </a:solidFill>
                    <a:latin typeface="楷体" panose="02010609060101010101" pitchFamily="49" charset="-122"/>
                    <a:ea typeface="楷体" panose="02010609060101010101" pitchFamily="49" charset="-122"/>
                  </a:rPr>
                  <a:t>满足：</a:t>
                </a:r>
                <a:endParaRPr lang="en-US" altLang="zh-CN" sz="2000" b="1" i="1">
                  <a:solidFill>
                    <a:srgbClr val="002060"/>
                  </a:solidFill>
                  <a:latin typeface="楷体" panose="02010609060101010101" pitchFamily="49" charset="-122"/>
                  <a:ea typeface="楷体" panose="02010609060101010101" pitchFamily="49" charset="-122"/>
                </a:endParaRPr>
              </a:p>
              <a:p>
                <a:pPr>
                  <a:spcBef>
                    <a:spcPts val="600"/>
                  </a:spcBef>
                </a:pPr>
                <a14:m>
                  <m:oMathPara xmlns:m="http://schemas.openxmlformats.org/officeDocument/2006/math">
                    <m:oMathParaPr>
                      <m:jc m:val="centerGroup"/>
                    </m:oMathParaPr>
                    <m:oMath xmlns:m="http://schemas.openxmlformats.org/officeDocument/2006/math">
                      <m:r>
                        <a:rPr lang="en-US" altLang="zh-CN" sz="2000" b="1" i="1" smtClean="0">
                          <a:solidFill>
                            <a:schemeClr val="accent2">
                              <a:lumMod val="50000"/>
                            </a:schemeClr>
                          </a:solidFill>
                          <a:latin typeface="Cambria Math" panose="02040503050406030204" pitchFamily="18" charset="0"/>
                        </a:rPr>
                        <m:t>𝒎</m:t>
                      </m:r>
                      <m:r>
                        <a:rPr lang="en-US" altLang="zh-CN" sz="2000" b="1" i="1" smtClean="0">
                          <a:solidFill>
                            <a:schemeClr val="accent2">
                              <a:lumMod val="50000"/>
                            </a:schemeClr>
                          </a:solidFill>
                          <a:latin typeface="Cambria Math" panose="02040503050406030204" pitchFamily="18" charset="0"/>
                        </a:rPr>
                        <m:t> ≤</m:t>
                      </m:r>
                      <m:f>
                        <m:fPr>
                          <m:ctrlPr>
                            <a:rPr lang="en-US" altLang="zh-CN" sz="2000" b="1" i="1" smtClean="0">
                              <a:solidFill>
                                <a:schemeClr val="accent2">
                                  <a:lumMod val="50000"/>
                                </a:schemeClr>
                              </a:solidFill>
                              <a:latin typeface="Cambria Math" panose="02040503050406030204" pitchFamily="18" charset="0"/>
                            </a:rPr>
                          </m:ctrlPr>
                        </m:fPr>
                        <m:num>
                          <m:r>
                            <a:rPr lang="en-US" altLang="zh-CN" sz="2000" b="1" i="1" smtClean="0">
                              <a:solidFill>
                                <a:schemeClr val="accent2">
                                  <a:lumMod val="50000"/>
                                </a:schemeClr>
                              </a:solidFill>
                              <a:latin typeface="Cambria Math" panose="02040503050406030204" pitchFamily="18" charset="0"/>
                            </a:rPr>
                            <m:t>𝒍</m:t>
                          </m:r>
                        </m:num>
                        <m:den>
                          <m:r>
                            <a:rPr lang="en-US" altLang="zh-CN" sz="2000" b="1" i="1" smtClean="0">
                              <a:solidFill>
                                <a:schemeClr val="accent2">
                                  <a:lumMod val="50000"/>
                                </a:schemeClr>
                              </a:solidFill>
                              <a:latin typeface="Cambria Math" panose="02040503050406030204" pitchFamily="18" charset="0"/>
                            </a:rPr>
                            <m:t>𝒍</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𝟐</m:t>
                          </m:r>
                        </m:den>
                      </m:f>
                      <m:d>
                        <m:dPr>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𝒏</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𝟐</m:t>
                          </m:r>
                        </m:e>
                      </m:d>
                    </m:oMath>
                  </m:oMathPara>
                </a14:m>
                <a:endParaRPr lang="en-US" altLang="zh-CN" sz="2000" b="1"/>
              </a:p>
              <a:p>
                <a:pPr marL="342900" indent="-342900">
                  <a:spcBef>
                    <a:spcPts val="600"/>
                  </a:spcBef>
                  <a:buFont typeface="Arial" panose="020B0604020202020204" pitchFamily="34" charset="0"/>
                  <a:buChar char="•"/>
                </a:pPr>
                <a:r>
                  <a:rPr lang="zh-CN" altLang="en-US" sz="2000" b="1">
                    <a:solidFill>
                      <a:schemeClr val="accent6">
                        <a:lumMod val="50000"/>
                      </a:schemeClr>
                    </a:solidFill>
                  </a:rPr>
                  <a:t>定义</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𝒈</m:t>
                    </m:r>
                    <m:r>
                      <a:rPr lang="en-US" altLang="zh-CN" sz="2000" b="1" i="1" smtClean="0">
                        <a:solidFill>
                          <a:schemeClr val="accent6">
                            <a:lumMod val="50000"/>
                          </a:schemeClr>
                        </a:solidFill>
                        <a:latin typeface="Cambria Math" panose="02040503050406030204" pitchFamily="18" charset="0"/>
                      </a:rPr>
                      <m:t>(</m:t>
                    </m:r>
                    <m:r>
                      <a:rPr lang="en-US" altLang="zh-CN" sz="2000" b="1" i="1" smtClean="0">
                        <a:solidFill>
                          <a:schemeClr val="accent6">
                            <a:lumMod val="50000"/>
                          </a:schemeClr>
                        </a:solidFill>
                        <a:latin typeface="Cambria Math" panose="02040503050406030204" pitchFamily="18" charset="0"/>
                      </a:rPr>
                      <m:t>𝑮</m:t>
                    </m:r>
                    <m:r>
                      <a:rPr lang="en-US" altLang="zh-CN" sz="2000" b="1" i="1" smtClean="0">
                        <a:solidFill>
                          <a:schemeClr val="accent6">
                            <a:lumMod val="50000"/>
                          </a:schemeClr>
                        </a:solidFill>
                        <a:latin typeface="Cambria Math" panose="02040503050406030204" pitchFamily="18" charset="0"/>
                      </a:rPr>
                      <m:t>)</m:t>
                    </m:r>
                  </m:oMath>
                </a14:m>
                <a:r>
                  <a:rPr lang="zh-CN" altLang="en-US" sz="2000" b="1">
                    <a:solidFill>
                      <a:schemeClr val="accent6">
                        <a:lumMod val="50000"/>
                      </a:schemeClr>
                    </a:solidFill>
                  </a:rPr>
                  <a:t>是图</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𝑮</m:t>
                    </m:r>
                  </m:oMath>
                </a14:m>
                <a:r>
                  <a:rPr lang="zh-CN" altLang="en-US" sz="2000" b="1">
                    <a:solidFill>
                      <a:schemeClr val="accent6">
                        <a:lumMod val="50000"/>
                      </a:schemeClr>
                    </a:solidFill>
                  </a:rPr>
                  <a:t>长度最小的回路的长度，称为图</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𝑮</m:t>
                    </m:r>
                  </m:oMath>
                </a14:m>
                <a:r>
                  <a:rPr lang="zh-CN" altLang="en-US" sz="2000" b="1">
                    <a:solidFill>
                      <a:schemeClr val="accent6">
                        <a:lumMod val="50000"/>
                      </a:schemeClr>
                    </a:solidFill>
                  </a:rPr>
                  <a:t>的</a:t>
                </a:r>
                <a:r>
                  <a:rPr lang="zh-CN" altLang="en-US" sz="2000" b="1">
                    <a:solidFill>
                      <a:srgbClr val="C00000"/>
                    </a:solidFill>
                  </a:rPr>
                  <a:t>围长</a:t>
                </a:r>
              </a:p>
              <a:p>
                <a:pPr marL="800100" lvl="1" indent="-342900">
                  <a:spcBef>
                    <a:spcPts val="600"/>
                  </a:spcBef>
                  <a:buFont typeface="Arial" panose="020B0604020202020204" pitchFamily="34" charset="0"/>
                  <a:buChar char="•"/>
                </a:pPr>
                <a:r>
                  <a:rPr lang="zh-CN" altLang="en-US" sz="2000" b="1">
                    <a:solidFill>
                      <a:schemeClr val="accent2">
                        <a:lumMod val="50000"/>
                      </a:schemeClr>
                    </a:solidFill>
                    <a:latin typeface="楷体" panose="02010609060101010101" pitchFamily="49" charset="-122"/>
                    <a:ea typeface="楷体" panose="02010609060101010101" pitchFamily="49" charset="-122"/>
                  </a:rPr>
                  <a:t>若连通平面图</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𝑮</m:t>
                    </m:r>
                  </m:oMath>
                </a14:m>
                <a:r>
                  <a:rPr lang="zh-CN" altLang="en-US" sz="2000" b="1">
                    <a:solidFill>
                      <a:schemeClr val="accent2">
                        <a:lumMod val="50000"/>
                      </a:schemeClr>
                    </a:solidFill>
                    <a:latin typeface="楷体" panose="02010609060101010101" pitchFamily="49" charset="-122"/>
                    <a:ea typeface="楷体" panose="02010609060101010101" pitchFamily="49" charset="-122"/>
                  </a:rPr>
                  <a:t>的围长大于等于</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𝒍</m:t>
                    </m:r>
                  </m:oMath>
                </a14:m>
                <a:r>
                  <a:rPr lang="en-US" altLang="zh-CN" sz="2000" b="1">
                    <a:solidFill>
                      <a:schemeClr val="accent2">
                        <a:lumMod val="50000"/>
                      </a:schemeClr>
                    </a:solidFill>
                    <a:latin typeface="楷体" panose="02010609060101010101" pitchFamily="49" charset="-122"/>
                    <a:ea typeface="楷体" panose="02010609060101010101" pitchFamily="49" charset="-122"/>
                  </a:rPr>
                  <a:t>(</a:t>
                </a:r>
                <a14:m>
                  <m:oMath xmlns:m="http://schemas.openxmlformats.org/officeDocument/2006/math">
                    <m:r>
                      <a:rPr lang="en-US" altLang="zh-CN" sz="2000" b="1" i="1">
                        <a:solidFill>
                          <a:srgbClr val="C00000"/>
                        </a:solidFill>
                        <a:latin typeface="Cambria Math" panose="02040503050406030204" pitchFamily="18" charset="0"/>
                        <a:ea typeface="楷体" panose="02010609060101010101" pitchFamily="49" charset="-122"/>
                      </a:rPr>
                      <m:t>𝒍</m:t>
                    </m:r>
                    <m:r>
                      <a:rPr lang="en-US" altLang="zh-CN" sz="2000" b="1" i="1">
                        <a:solidFill>
                          <a:srgbClr val="C00000"/>
                        </a:solidFill>
                        <a:latin typeface="Cambria Math" panose="02040503050406030204" pitchFamily="18" charset="0"/>
                        <a:ea typeface="楷体" panose="02010609060101010101" pitchFamily="49" charset="-122"/>
                      </a:rPr>
                      <m:t>≥</m:t>
                    </m:r>
                    <m:r>
                      <a:rPr lang="en-US" altLang="zh-CN" sz="2000" b="1" i="1">
                        <a:solidFill>
                          <a:srgbClr val="C00000"/>
                        </a:solidFill>
                        <a:latin typeface="Cambria Math" panose="02040503050406030204" pitchFamily="18" charset="0"/>
                        <a:ea typeface="楷体" panose="02010609060101010101" pitchFamily="49" charset="-122"/>
                      </a:rPr>
                      <m:t>𝟑</m:t>
                    </m:r>
                  </m:oMath>
                </a14:m>
                <a:r>
                  <a:rPr lang="en-US" altLang="zh-CN" sz="2000" b="1">
                    <a:solidFill>
                      <a:schemeClr val="accent2">
                        <a:lumMod val="50000"/>
                      </a:schemeClr>
                    </a:solidFill>
                    <a:latin typeface="楷体" panose="02010609060101010101" pitchFamily="49" charset="-122"/>
                    <a:ea typeface="楷体" panose="02010609060101010101" pitchFamily="49" charset="-122"/>
                  </a:rPr>
                  <a:t>)</a:t>
                </a:r>
                <a:r>
                  <a:rPr lang="zh-CN" altLang="en-US" sz="2000" b="1">
                    <a:solidFill>
                      <a:schemeClr val="accent2">
                        <a:lumMod val="50000"/>
                      </a:schemeClr>
                    </a:solidFill>
                    <a:latin typeface="楷体" panose="02010609060101010101" pitchFamily="49" charset="-122"/>
                    <a:ea typeface="楷体" panose="02010609060101010101" pitchFamily="49" charset="-122"/>
                  </a:rPr>
                  <a:t>，则</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𝒎</m:t>
                    </m:r>
                    <m:r>
                      <a:rPr lang="en-US" altLang="zh-CN" sz="2000" b="1" i="1" smtClean="0">
                        <a:solidFill>
                          <a:schemeClr val="accent2">
                            <a:lumMod val="50000"/>
                          </a:schemeClr>
                        </a:solidFill>
                        <a:latin typeface="Cambria Math" panose="02040503050406030204" pitchFamily="18" charset="0"/>
                      </a:rPr>
                      <m:t> ≤</m:t>
                    </m:r>
                    <m:f>
                      <m:fPr>
                        <m:ctrlPr>
                          <a:rPr lang="en-US" altLang="zh-CN" sz="2000" b="1" i="1" smtClean="0">
                            <a:solidFill>
                              <a:schemeClr val="accent2">
                                <a:lumMod val="50000"/>
                              </a:schemeClr>
                            </a:solidFill>
                            <a:latin typeface="Cambria Math" panose="02040503050406030204" pitchFamily="18" charset="0"/>
                          </a:rPr>
                        </m:ctrlPr>
                      </m:fPr>
                      <m:num>
                        <m:r>
                          <a:rPr lang="en-US" altLang="zh-CN" sz="2000" b="1" i="1" smtClean="0">
                            <a:solidFill>
                              <a:schemeClr val="accent2">
                                <a:lumMod val="50000"/>
                              </a:schemeClr>
                            </a:solidFill>
                            <a:latin typeface="Cambria Math" panose="02040503050406030204" pitchFamily="18" charset="0"/>
                          </a:rPr>
                          <m:t>𝒍</m:t>
                        </m:r>
                      </m:num>
                      <m:den>
                        <m:r>
                          <a:rPr lang="en-US" altLang="zh-CN" sz="2000" b="1" i="1" smtClean="0">
                            <a:solidFill>
                              <a:schemeClr val="accent2">
                                <a:lumMod val="50000"/>
                              </a:schemeClr>
                            </a:solidFill>
                            <a:latin typeface="Cambria Math" panose="02040503050406030204" pitchFamily="18" charset="0"/>
                          </a:rPr>
                          <m:t>𝒍</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𝟐</m:t>
                        </m:r>
                      </m:den>
                    </m:f>
                    <m:d>
                      <m:dPr>
                        <m:ctrlPr>
                          <a:rPr lang="en-US" altLang="zh-CN" sz="2000" b="1" i="1" smtClean="0">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𝒏</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𝟐</m:t>
                        </m:r>
                      </m:e>
                    </m:d>
                  </m:oMath>
                </a14:m>
                <a:endParaRPr lang="en-US" altLang="zh-CN" sz="2000" b="1">
                  <a:latin typeface="楷体" panose="02010609060101010101" pitchFamily="49" charset="-122"/>
                  <a:ea typeface="楷体" panose="02010609060101010101" pitchFamily="49" charset="-122"/>
                </a:endParaRPr>
              </a:p>
              <a:p>
                <a:pPr marL="800100" lvl="1" indent="-342900">
                  <a:spcBef>
                    <a:spcPts val="600"/>
                  </a:spcBef>
                  <a:buFont typeface="Arial" panose="020B0604020202020204" pitchFamily="34" charset="0"/>
                  <a:buChar char="•"/>
                </a:pPr>
                <a:r>
                  <a:rPr lang="zh-CN" altLang="en-US" sz="2000" b="1">
                    <a:solidFill>
                      <a:schemeClr val="accent2">
                        <a:lumMod val="50000"/>
                      </a:schemeClr>
                    </a:solidFill>
                    <a:latin typeface="楷体" panose="02010609060101010101" pitchFamily="49" charset="-122"/>
                    <a:ea typeface="楷体" panose="02010609060101010101" pitchFamily="49" charset="-122"/>
                  </a:rPr>
                  <a:t>简单连通平面二部图的围长大于等于</a:t>
                </a:r>
                <a14:m>
                  <m:oMath xmlns:m="http://schemas.openxmlformats.org/officeDocument/2006/math">
                    <m:r>
                      <a:rPr lang="en-US" altLang="zh-CN" sz="2000" b="1">
                        <a:solidFill>
                          <a:schemeClr val="accent2">
                            <a:lumMod val="50000"/>
                          </a:schemeClr>
                        </a:solidFill>
                        <a:latin typeface="Cambria Math" panose="02040503050406030204" pitchFamily="18" charset="0"/>
                        <a:ea typeface="楷体" panose="02010609060101010101" pitchFamily="49" charset="-122"/>
                      </a:rPr>
                      <m:t>𝟒</m:t>
                    </m:r>
                  </m:oMath>
                </a14:m>
                <a:r>
                  <a:rPr lang="zh-CN" altLang="en-US" sz="2000" b="1">
                    <a:solidFill>
                      <a:schemeClr val="accent2">
                        <a:lumMod val="50000"/>
                      </a:schemeClr>
                    </a:solidFill>
                    <a:latin typeface="楷体" panose="02010609060101010101" pitchFamily="49" charset="-122"/>
                    <a:ea typeface="楷体" panose="02010609060101010101" pitchFamily="49" charset="-122"/>
                  </a:rPr>
                  <a:t>，其边数</a:t>
                </a:r>
                <a14:m>
                  <m:oMath xmlns:m="http://schemas.openxmlformats.org/officeDocument/2006/math">
                    <m:r>
                      <a:rPr lang="en-US" altLang="zh-CN" sz="2000" b="1">
                        <a:solidFill>
                          <a:schemeClr val="accent2">
                            <a:lumMod val="50000"/>
                          </a:schemeClr>
                        </a:solidFill>
                        <a:latin typeface="Cambria Math" panose="02040503050406030204" pitchFamily="18" charset="0"/>
                        <a:ea typeface="楷体" panose="02010609060101010101" pitchFamily="49" charset="-122"/>
                      </a:rPr>
                      <m:t>𝒎</m:t>
                    </m:r>
                  </m:oMath>
                </a14:m>
                <a:r>
                  <a:rPr lang="zh-CN" altLang="en-US" sz="2000" b="1">
                    <a:solidFill>
                      <a:schemeClr val="accent2">
                        <a:lumMod val="50000"/>
                      </a:schemeClr>
                    </a:solidFill>
                    <a:latin typeface="楷体" panose="02010609060101010101" pitchFamily="49" charset="-122"/>
                    <a:ea typeface="楷体" panose="02010609060101010101" pitchFamily="49" charset="-122"/>
                  </a:rPr>
                  <a:t>和顶点数</a:t>
                </a:r>
                <a14:m>
                  <m:oMath xmlns:m="http://schemas.openxmlformats.org/officeDocument/2006/math">
                    <m:r>
                      <a:rPr lang="en-US" altLang="zh-CN" sz="2000" b="1">
                        <a:solidFill>
                          <a:schemeClr val="accent2">
                            <a:lumMod val="50000"/>
                          </a:schemeClr>
                        </a:solidFill>
                        <a:latin typeface="Cambria Math" panose="02040503050406030204" pitchFamily="18" charset="0"/>
                        <a:ea typeface="楷体" panose="02010609060101010101" pitchFamily="49" charset="-122"/>
                      </a:rPr>
                      <m:t>𝒏</m:t>
                    </m:r>
                  </m:oMath>
                </a14:m>
                <a:r>
                  <a:rPr lang="zh-CN" altLang="en-US" sz="2000" b="1">
                    <a:solidFill>
                      <a:schemeClr val="accent2">
                        <a:lumMod val="50000"/>
                      </a:schemeClr>
                    </a:solidFill>
                    <a:latin typeface="楷体" panose="02010609060101010101" pitchFamily="49" charset="-122"/>
                    <a:ea typeface="楷体" panose="02010609060101010101" pitchFamily="49" charset="-122"/>
                  </a:rPr>
                  <a:t>满足</a:t>
                </a:r>
                <a14:m>
                  <m:oMath xmlns:m="http://schemas.openxmlformats.org/officeDocument/2006/math">
                    <m:r>
                      <a:rPr lang="en-US" altLang="zh-CN" sz="2000" b="1" smtClean="0">
                        <a:solidFill>
                          <a:srgbClr val="C00000"/>
                        </a:solidFill>
                        <a:latin typeface="Cambria Math" panose="02040503050406030204" pitchFamily="18" charset="0"/>
                        <a:ea typeface="楷体" panose="02010609060101010101" pitchFamily="49" charset="-122"/>
                      </a:rPr>
                      <m:t>𝒎</m:t>
                    </m:r>
                    <m:r>
                      <a:rPr lang="en-US" altLang="zh-CN" sz="2000" b="1" smtClean="0">
                        <a:solidFill>
                          <a:srgbClr val="C00000"/>
                        </a:solidFill>
                        <a:latin typeface="Cambria Math" panose="02040503050406030204" pitchFamily="18" charset="0"/>
                        <a:ea typeface="楷体" panose="02010609060101010101" pitchFamily="49" charset="-122"/>
                      </a:rPr>
                      <m:t>≤</m:t>
                    </m:r>
                    <m:r>
                      <a:rPr lang="en-US" altLang="zh-CN" sz="2000" b="1" smtClean="0">
                        <a:solidFill>
                          <a:srgbClr val="C00000"/>
                        </a:solidFill>
                        <a:latin typeface="Cambria Math" panose="02040503050406030204" pitchFamily="18" charset="0"/>
                        <a:ea typeface="楷体" panose="02010609060101010101" pitchFamily="49" charset="-122"/>
                      </a:rPr>
                      <m:t>𝟐</m:t>
                    </m:r>
                    <m:r>
                      <a:rPr lang="en-US" altLang="zh-CN" sz="2000" b="1" smtClean="0">
                        <a:solidFill>
                          <a:srgbClr val="C00000"/>
                        </a:solidFill>
                        <a:latin typeface="Cambria Math" panose="02040503050406030204" pitchFamily="18" charset="0"/>
                        <a:ea typeface="楷体" panose="02010609060101010101" pitchFamily="49" charset="-122"/>
                      </a:rPr>
                      <m:t>𝒏</m:t>
                    </m:r>
                    <m:r>
                      <a:rPr lang="en-US" altLang="zh-CN" sz="2000" b="1" smtClean="0">
                        <a:solidFill>
                          <a:srgbClr val="C00000"/>
                        </a:solidFill>
                        <a:latin typeface="Cambria Math" panose="02040503050406030204" pitchFamily="18" charset="0"/>
                        <a:ea typeface="楷体" panose="02010609060101010101" pitchFamily="49" charset="-122"/>
                      </a:rPr>
                      <m:t>−</m:t>
                    </m:r>
                    <m:r>
                      <a:rPr lang="en-US" altLang="zh-CN" sz="2000" b="1" smtClean="0">
                        <a:solidFill>
                          <a:srgbClr val="C00000"/>
                        </a:solidFill>
                        <a:latin typeface="Cambria Math" panose="02040503050406030204" pitchFamily="18" charset="0"/>
                        <a:ea typeface="楷体" panose="02010609060101010101" pitchFamily="49" charset="-122"/>
                      </a:rPr>
                      <m:t>𝟒</m:t>
                    </m:r>
                  </m:oMath>
                </a14:m>
                <a:endParaRPr lang="zh-CN" altLang="en-US" sz="2000" b="1">
                  <a:solidFill>
                    <a:schemeClr val="accent2">
                      <a:lumMod val="50000"/>
                    </a:schemeClr>
                  </a:solidFill>
                  <a:latin typeface="楷体" panose="02010609060101010101" pitchFamily="49" charset="-122"/>
                  <a:ea typeface="楷体" panose="02010609060101010101" pitchFamily="49" charset="-122"/>
                </a:endParaRPr>
              </a:p>
            </p:txBody>
          </p:sp>
        </mc:Choice>
        <mc:Fallback xmlns="">
          <p:sp>
            <p:nvSpPr>
              <p:cNvPr id="2" name="文本框 1">
                <a:extLst>
                  <a:ext uri="{FF2B5EF4-FFF2-40B4-BE49-F238E27FC236}">
                    <a16:creationId xmlns:a16="http://schemas.microsoft.com/office/drawing/2014/main" id="{D3EE335A-18AC-4E96-9255-4B80D89417F6}"/>
                  </a:ext>
                </a:extLst>
              </p:cNvPr>
              <p:cNvSpPr txBox="1">
                <a:spLocks noRot="1" noChangeAspect="1" noMove="1" noResize="1" noEditPoints="1" noAdjustHandles="1" noChangeArrowheads="1" noChangeShapeType="1" noTextEdit="1"/>
              </p:cNvSpPr>
              <p:nvPr/>
            </p:nvSpPr>
            <p:spPr>
              <a:xfrm>
                <a:off x="1235837" y="3053230"/>
                <a:ext cx="9720323" cy="2803588"/>
              </a:xfrm>
              <a:prstGeom prst="rect">
                <a:avLst/>
              </a:prstGeom>
              <a:blipFill>
                <a:blip r:embed="rId2"/>
                <a:stretch>
                  <a:fillRect l="-690" t="-1522" r="-314" b="-2609"/>
                </a:stretch>
              </a:blipFill>
            </p:spPr>
            <p:txBody>
              <a:bodyPr/>
              <a:lstStyle/>
              <a:p>
                <a:r>
                  <a:rPr lang="zh-CN" altLang="en-US">
                    <a:noFill/>
                  </a:rPr>
                  <a:t> </a:t>
                </a:r>
              </a:p>
            </p:txBody>
          </p:sp>
        </mc:Fallback>
      </mc:AlternateContent>
      <p:sp>
        <p:nvSpPr>
          <p:cNvPr id="3" name="文本框 2">
            <a:extLst>
              <a:ext uri="{FF2B5EF4-FFF2-40B4-BE49-F238E27FC236}">
                <a16:creationId xmlns:a16="http://schemas.microsoft.com/office/drawing/2014/main" id="{29922466-193E-4D48-A5EA-595F15322C98}"/>
              </a:ext>
            </a:extLst>
          </p:cNvPr>
          <p:cNvSpPr txBox="1"/>
          <p:nvPr/>
        </p:nvSpPr>
        <p:spPr>
          <a:xfrm>
            <a:off x="865754" y="1157057"/>
            <a:ext cx="4523759" cy="923330"/>
          </a:xfrm>
          <a:prstGeom prst="rect">
            <a:avLst/>
          </a:prstGeom>
          <a:solidFill>
            <a:schemeClr val="accent2">
              <a:lumMod val="20000"/>
              <a:lumOff val="80000"/>
              <a:alpha val="50000"/>
            </a:schemeClr>
          </a:solidFill>
        </p:spPr>
        <p:txBody>
          <a:bodyPr wrap="square" rtlCol="0">
            <a:spAutoFit/>
          </a:bodyPr>
          <a:lstStyle/>
          <a:p>
            <a:pPr algn="ctr">
              <a:spcBef>
                <a:spcPts val="600"/>
              </a:spcBef>
              <a:spcAft>
                <a:spcPts val="600"/>
              </a:spcAft>
            </a:pPr>
            <a:r>
              <a:rPr lang="zh-CN" altLang="en-US" sz="2400" b="1">
                <a:solidFill>
                  <a:srgbClr val="C00000"/>
                </a:solidFill>
              </a:rPr>
              <a:t>握手定理</a:t>
            </a:r>
          </a:p>
          <a:p>
            <a:pPr>
              <a:spcBef>
                <a:spcPts val="600"/>
              </a:spcBef>
              <a:spcAft>
                <a:spcPts val="600"/>
              </a:spcAft>
            </a:pPr>
            <a:r>
              <a:rPr lang="zh-CN" altLang="en-US" sz="2000" b="1">
                <a:solidFill>
                  <a:srgbClr val="002060"/>
                </a:solidFill>
              </a:rPr>
              <a:t>平面图所有面的度数之和是边数的两倍</a:t>
            </a: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7D3296DA-2204-467E-83A7-699F18A8510C}"/>
                  </a:ext>
                </a:extLst>
              </p:cNvPr>
              <p:cNvSpPr txBox="1"/>
              <p:nvPr/>
            </p:nvSpPr>
            <p:spPr>
              <a:xfrm>
                <a:off x="5629470" y="1157057"/>
                <a:ext cx="5634572" cy="1384995"/>
              </a:xfrm>
              <a:prstGeom prst="rect">
                <a:avLst/>
              </a:prstGeom>
              <a:solidFill>
                <a:schemeClr val="accent2">
                  <a:lumMod val="20000"/>
                  <a:lumOff val="80000"/>
                  <a:alpha val="50000"/>
                </a:schemeClr>
              </a:solidFill>
            </p:spPr>
            <p:txBody>
              <a:bodyPr wrap="square" rtlCol="0">
                <a:spAutoFit/>
              </a:bodyPr>
              <a:lstStyle/>
              <a:p>
                <a:pPr algn="ctr">
                  <a:spcBef>
                    <a:spcPts val="600"/>
                  </a:spcBef>
                  <a:spcAft>
                    <a:spcPts val="600"/>
                  </a:spcAft>
                </a:pPr>
                <a:r>
                  <a:rPr lang="zh-CN" altLang="en-US" sz="2400" b="1" dirty="0">
                    <a:solidFill>
                      <a:srgbClr val="C00000"/>
                    </a:solidFill>
                  </a:rPr>
                  <a:t>欧拉公式</a:t>
                </a:r>
              </a:p>
              <a:p>
                <a:pPr>
                  <a:spcBef>
                    <a:spcPts val="600"/>
                  </a:spcBef>
                  <a:spcAft>
                    <a:spcPts val="600"/>
                  </a:spcAft>
                </a:pPr>
                <a:r>
                  <a:rPr lang="zh-CN" altLang="en-US" sz="2000" b="1" dirty="0">
                    <a:solidFill>
                      <a:srgbClr val="002060"/>
                    </a:solidFill>
                  </a:rPr>
                  <a:t>连通平面图</a:t>
                </a:r>
                <a14:m>
                  <m:oMath xmlns:m="http://schemas.openxmlformats.org/officeDocument/2006/math">
                    <m:r>
                      <a:rPr lang="en-US" altLang="zh-CN" sz="2000" b="1" i="1" smtClean="0">
                        <a:solidFill>
                          <a:srgbClr val="002060"/>
                        </a:solidFill>
                        <a:latin typeface="Cambria Math" panose="02040503050406030204" pitchFamily="18" charset="0"/>
                      </a:rPr>
                      <m:t>𝑮</m:t>
                    </m:r>
                  </m:oMath>
                </a14:m>
                <a:r>
                  <a:rPr lang="zh-CN" altLang="en-US" sz="2000" b="1" dirty="0">
                    <a:solidFill>
                      <a:srgbClr val="002060"/>
                    </a:solidFill>
                  </a:rPr>
                  <a:t>有</a:t>
                </a:r>
                <a14:m>
                  <m:oMath xmlns:m="http://schemas.openxmlformats.org/officeDocument/2006/math">
                    <m:r>
                      <a:rPr lang="en-US" altLang="zh-CN" sz="2000" b="1" i="1" smtClean="0">
                        <a:solidFill>
                          <a:srgbClr val="002060"/>
                        </a:solidFill>
                        <a:latin typeface="Cambria Math" panose="02040503050406030204" pitchFamily="18" charset="0"/>
                      </a:rPr>
                      <m:t>𝒏</m:t>
                    </m:r>
                  </m:oMath>
                </a14:m>
                <a:r>
                  <a:rPr lang="zh-CN" altLang="en-US" sz="2000" b="1" dirty="0">
                    <a:solidFill>
                      <a:srgbClr val="002060"/>
                    </a:solidFill>
                  </a:rPr>
                  <a:t>个顶点，</a:t>
                </a:r>
                <a14:m>
                  <m:oMath xmlns:m="http://schemas.openxmlformats.org/officeDocument/2006/math">
                    <m:r>
                      <a:rPr lang="en-US" altLang="zh-CN" sz="2000" b="1" i="1" smtClean="0">
                        <a:solidFill>
                          <a:srgbClr val="002060"/>
                        </a:solidFill>
                        <a:latin typeface="Cambria Math" panose="02040503050406030204" pitchFamily="18" charset="0"/>
                      </a:rPr>
                      <m:t>𝒎</m:t>
                    </m:r>
                  </m:oMath>
                </a14:m>
                <a:r>
                  <a:rPr lang="zh-CN" altLang="en-US" sz="2000" b="1" dirty="0">
                    <a:solidFill>
                      <a:srgbClr val="002060"/>
                    </a:solidFill>
                  </a:rPr>
                  <a:t>条边，</a:t>
                </a:r>
                <a14:m>
                  <m:oMath xmlns:m="http://schemas.openxmlformats.org/officeDocument/2006/math">
                    <m:r>
                      <a:rPr lang="en-US" altLang="zh-CN" sz="2000" b="1" i="1" smtClean="0">
                        <a:solidFill>
                          <a:srgbClr val="002060"/>
                        </a:solidFill>
                        <a:latin typeface="Cambria Math" panose="02040503050406030204" pitchFamily="18" charset="0"/>
                      </a:rPr>
                      <m:t>𝒅</m:t>
                    </m:r>
                  </m:oMath>
                </a14:m>
                <a:r>
                  <a:rPr lang="zh-CN" altLang="en-US" sz="2000" b="1" dirty="0">
                    <a:solidFill>
                      <a:srgbClr val="002060"/>
                    </a:solidFill>
                  </a:rPr>
                  <a:t>个面，则：</a:t>
                </a:r>
                <a:endParaRPr lang="en-US" altLang="zh-CN" sz="2000" b="1" dirty="0">
                  <a:solidFill>
                    <a:srgbClr val="002060"/>
                  </a:solidFill>
                </a:endParaRPr>
              </a:p>
              <a:p>
                <a:pPr>
                  <a:spcBef>
                    <a:spcPts val="600"/>
                  </a:spcBef>
                  <a:spcAft>
                    <a:spcPts val="600"/>
                  </a:spcAft>
                </a:pPr>
                <a14:m>
                  <m:oMathPara xmlns:m="http://schemas.openxmlformats.org/officeDocument/2006/math">
                    <m:oMathParaPr>
                      <m:jc m:val="centerGroup"/>
                    </m:oMathParaPr>
                    <m:oMath xmlns:m="http://schemas.openxmlformats.org/officeDocument/2006/math">
                      <m:r>
                        <a:rPr lang="en-US" altLang="zh-CN" sz="2000" b="1" i="1" smtClean="0">
                          <a:solidFill>
                            <a:schemeClr val="accent2">
                              <a:lumMod val="50000"/>
                            </a:schemeClr>
                          </a:solidFill>
                          <a:latin typeface="Cambria Math" panose="02040503050406030204" pitchFamily="18" charset="0"/>
                        </a:rPr>
                        <m:t>𝒎</m:t>
                      </m:r>
                      <m:r>
                        <a:rPr lang="en-US" altLang="zh-CN" sz="2000" b="1" i="1" dirty="0" smtClean="0">
                          <a:solidFill>
                            <a:schemeClr val="accent2">
                              <a:lumMod val="50000"/>
                            </a:schemeClr>
                          </a:solidFill>
                          <a:latin typeface="Cambria Math" panose="02040503050406030204" pitchFamily="18" charset="0"/>
                        </a:rPr>
                        <m:t>−</m:t>
                      </m:r>
                      <m:r>
                        <a:rPr lang="en-US" altLang="zh-CN" sz="2000" b="1" i="1" dirty="0" smtClean="0">
                          <a:solidFill>
                            <a:schemeClr val="accent2">
                              <a:lumMod val="50000"/>
                            </a:schemeClr>
                          </a:solidFill>
                          <a:latin typeface="Cambria Math" panose="02040503050406030204" pitchFamily="18" charset="0"/>
                        </a:rPr>
                        <m:t>𝒏</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𝟐</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𝒅</m:t>
                      </m:r>
                    </m:oMath>
                  </m:oMathPara>
                </a14:m>
                <a:endParaRPr lang="en-US" altLang="zh-CN" sz="2000" b="1" dirty="0">
                  <a:solidFill>
                    <a:schemeClr val="accent2">
                      <a:lumMod val="50000"/>
                    </a:schemeClr>
                  </a:solidFill>
                </a:endParaRPr>
              </a:p>
            </p:txBody>
          </p:sp>
        </mc:Choice>
        <mc:Fallback xmlns="">
          <p:sp>
            <p:nvSpPr>
              <p:cNvPr id="4" name="文本框 3">
                <a:extLst>
                  <a:ext uri="{FF2B5EF4-FFF2-40B4-BE49-F238E27FC236}">
                    <a16:creationId xmlns:a16="http://schemas.microsoft.com/office/drawing/2014/main" id="{7D3296DA-2204-467E-83A7-699F18A8510C}"/>
                  </a:ext>
                </a:extLst>
              </p:cNvPr>
              <p:cNvSpPr txBox="1">
                <a:spLocks noRot="1" noChangeAspect="1" noMove="1" noResize="1" noEditPoints="1" noAdjustHandles="1" noChangeArrowheads="1" noChangeShapeType="1" noTextEdit="1"/>
              </p:cNvSpPr>
              <p:nvPr/>
            </p:nvSpPr>
            <p:spPr>
              <a:xfrm>
                <a:off x="5629470" y="1157057"/>
                <a:ext cx="5634572" cy="1384995"/>
              </a:xfrm>
              <a:prstGeom prst="rect">
                <a:avLst/>
              </a:prstGeom>
              <a:blipFill>
                <a:blip r:embed="rId3"/>
                <a:stretch>
                  <a:fillRect l="-1081" t="-3084"/>
                </a:stretch>
              </a:blipFill>
            </p:spPr>
            <p:txBody>
              <a:bodyPr/>
              <a:lstStyle/>
              <a:p>
                <a:r>
                  <a:rPr lang="zh-CN" altLang="en-US">
                    <a:noFill/>
                  </a:rPr>
                  <a:t> </a:t>
                </a:r>
              </a:p>
            </p:txBody>
          </p:sp>
        </mc:Fallback>
      </mc:AlternateContent>
      <p:sp>
        <p:nvSpPr>
          <p:cNvPr id="6" name="箭头: 下 5">
            <a:extLst>
              <a:ext uri="{FF2B5EF4-FFF2-40B4-BE49-F238E27FC236}">
                <a16:creationId xmlns:a16="http://schemas.microsoft.com/office/drawing/2014/main" id="{054A826B-2533-4F06-B3EC-D5EAFAC6105E}"/>
              </a:ext>
            </a:extLst>
          </p:cNvPr>
          <p:cNvSpPr/>
          <p:nvPr/>
        </p:nvSpPr>
        <p:spPr>
          <a:xfrm>
            <a:off x="3062617" y="2080387"/>
            <a:ext cx="45719" cy="94428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箭头: 下 10">
            <a:extLst>
              <a:ext uri="{FF2B5EF4-FFF2-40B4-BE49-F238E27FC236}">
                <a16:creationId xmlns:a16="http://schemas.microsoft.com/office/drawing/2014/main" id="{0ECFA96C-6736-42D5-8C2D-7A8CE569F2C6}"/>
              </a:ext>
            </a:extLst>
          </p:cNvPr>
          <p:cNvSpPr/>
          <p:nvPr/>
        </p:nvSpPr>
        <p:spPr>
          <a:xfrm>
            <a:off x="8484824" y="2552530"/>
            <a:ext cx="45719" cy="5007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8750838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平面图</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第三十一讲  一些特殊的图</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9</a:t>
            </a:fld>
            <a:r>
              <a:rPr lang="en-US" altLang="zh-CN" dirty="0">
                <a:latin typeface="Arial" panose="020B0604020202020204" pitchFamily="34" charset="0"/>
                <a:ea typeface="楷体" panose="02010609060101010101" pitchFamily="49" charset="-122"/>
                <a:cs typeface="Arial" panose="020B0604020202020204" pitchFamily="34" charset="0"/>
              </a:rPr>
              <a:t>/32</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极大平面图</a:t>
            </a: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06DE4EEC-447E-420F-811A-65B4D2546AE4}"/>
                  </a:ext>
                </a:extLst>
              </p:cNvPr>
              <p:cNvSpPr txBox="1"/>
              <p:nvPr/>
            </p:nvSpPr>
            <p:spPr>
              <a:xfrm>
                <a:off x="1848532" y="1323875"/>
                <a:ext cx="8494931" cy="1897892"/>
              </a:xfrm>
              <a:prstGeom prst="rect">
                <a:avLst/>
              </a:prstGeom>
              <a:solidFill>
                <a:schemeClr val="accent2">
                  <a:lumMod val="20000"/>
                  <a:lumOff val="80000"/>
                  <a:alpha val="50000"/>
                </a:schemeClr>
              </a:solidFill>
            </p:spPr>
            <p:txBody>
              <a:bodyPr wrap="square" rtlCol="0">
                <a:spAutoFit/>
              </a:bodyPr>
              <a:lstStyle/>
              <a:p>
                <a:pPr algn="ctr">
                  <a:spcBef>
                    <a:spcPts val="600"/>
                  </a:spcBef>
                  <a:spcAft>
                    <a:spcPts val="600"/>
                  </a:spcAft>
                </a:pPr>
                <a:r>
                  <a:rPr lang="zh-CN" altLang="en-US" sz="2400" b="1">
                    <a:solidFill>
                      <a:srgbClr val="C00000"/>
                    </a:solidFill>
                  </a:rPr>
                  <a:t>极大平面图</a:t>
                </a:r>
                <a:r>
                  <a:rPr lang="en-US" altLang="zh-CN" sz="2400" b="1">
                    <a:solidFill>
                      <a:srgbClr val="C00000"/>
                    </a:solidFill>
                  </a:rPr>
                  <a:t>(maximal planar graph)</a:t>
                </a:r>
              </a:p>
              <a:p>
                <a:pPr>
                  <a:spcBef>
                    <a:spcPts val="600"/>
                  </a:spcBef>
                  <a:spcAft>
                    <a:spcPts val="600"/>
                  </a:spcAft>
                </a:pPr>
                <a:r>
                  <a:rPr lang="zh-CN" altLang="en-US" sz="2000" b="1">
                    <a:solidFill>
                      <a:srgbClr val="002060"/>
                    </a:solidFill>
                    <a:latin typeface="楷体" panose="02010609060101010101" pitchFamily="49" charset="-122"/>
                    <a:ea typeface="楷体" panose="02010609060101010101" pitchFamily="49" charset="-122"/>
                  </a:rPr>
                  <a:t>设</a:t>
                </a:r>
                <a14:m>
                  <m:oMath xmlns:m="http://schemas.openxmlformats.org/officeDocument/2006/math">
                    <m:r>
                      <a:rPr lang="en-US" altLang="zh-CN" sz="2000" b="1">
                        <a:solidFill>
                          <a:srgbClr val="002060"/>
                        </a:solidFill>
                        <a:latin typeface="Cambria Math" panose="02040503050406030204" pitchFamily="18" charset="0"/>
                        <a:ea typeface="楷体" panose="02010609060101010101" pitchFamily="49" charset="-122"/>
                      </a:rPr>
                      <m:t>𝑮</m:t>
                    </m:r>
                    <m:r>
                      <a:rPr lang="en-US" altLang="zh-CN" sz="2000" b="1">
                        <a:solidFill>
                          <a:srgbClr val="002060"/>
                        </a:solidFill>
                        <a:latin typeface="Cambria Math" panose="02040503050406030204" pitchFamily="18" charset="0"/>
                        <a:ea typeface="楷体" panose="02010609060101010101" pitchFamily="49" charset="-122"/>
                      </a:rPr>
                      <m:t>=(</m:t>
                    </m:r>
                    <m:r>
                      <a:rPr lang="en-US" altLang="zh-CN" sz="2000" b="1">
                        <a:solidFill>
                          <a:srgbClr val="002060"/>
                        </a:solidFill>
                        <a:latin typeface="Cambria Math" panose="02040503050406030204" pitchFamily="18" charset="0"/>
                        <a:ea typeface="楷体" panose="02010609060101010101" pitchFamily="49" charset="-122"/>
                      </a:rPr>
                      <m:t>𝑽</m:t>
                    </m:r>
                    <m:r>
                      <a:rPr lang="en-US" altLang="zh-CN" sz="2000" b="1">
                        <a:solidFill>
                          <a:srgbClr val="002060"/>
                        </a:solidFill>
                        <a:latin typeface="Cambria Math" panose="02040503050406030204" pitchFamily="18" charset="0"/>
                        <a:ea typeface="楷体" panose="02010609060101010101" pitchFamily="49" charset="-122"/>
                      </a:rPr>
                      <m:t>,</m:t>
                    </m:r>
                    <m:r>
                      <a:rPr lang="en-US" altLang="zh-CN" sz="2000" b="1">
                        <a:solidFill>
                          <a:srgbClr val="002060"/>
                        </a:solidFill>
                        <a:latin typeface="Cambria Math" panose="02040503050406030204" pitchFamily="18" charset="0"/>
                        <a:ea typeface="楷体" panose="02010609060101010101" pitchFamily="49" charset="-122"/>
                      </a:rPr>
                      <m:t>𝑬</m:t>
                    </m:r>
                    <m:r>
                      <a:rPr lang="en-US" altLang="zh-CN" sz="2000" b="1">
                        <a:solidFill>
                          <a:srgbClr val="002060"/>
                        </a:solidFill>
                        <a:latin typeface="Cambria Math" panose="02040503050406030204" pitchFamily="18" charset="0"/>
                        <a:ea typeface="楷体" panose="02010609060101010101" pitchFamily="49" charset="-122"/>
                      </a:rPr>
                      <m:t>)</m:t>
                    </m:r>
                  </m:oMath>
                </a14:m>
                <a:r>
                  <a:rPr lang="zh-CN" altLang="en-US" sz="2000" b="1">
                    <a:solidFill>
                      <a:srgbClr val="002060"/>
                    </a:solidFill>
                    <a:latin typeface="楷体" panose="02010609060101010101" pitchFamily="49" charset="-122"/>
                    <a:ea typeface="楷体" panose="02010609060101010101" pitchFamily="49" charset="-122"/>
                  </a:rPr>
                  <a:t>为简单平面图，</a:t>
                </a:r>
                <a14:m>
                  <m:oMath xmlns:m="http://schemas.openxmlformats.org/officeDocument/2006/math">
                    <m:r>
                      <a:rPr lang="en-US" altLang="zh-CN" sz="2000" b="1">
                        <a:solidFill>
                          <a:srgbClr val="002060"/>
                        </a:solidFill>
                        <a:latin typeface="Cambria Math" panose="02040503050406030204" pitchFamily="18" charset="0"/>
                        <a:ea typeface="楷体" panose="02010609060101010101" pitchFamily="49" charset="-122"/>
                      </a:rPr>
                      <m:t>|</m:t>
                    </m:r>
                    <m:r>
                      <a:rPr lang="en-US" altLang="zh-CN" sz="2000" b="1">
                        <a:solidFill>
                          <a:srgbClr val="002060"/>
                        </a:solidFill>
                        <a:latin typeface="Cambria Math" panose="02040503050406030204" pitchFamily="18" charset="0"/>
                        <a:ea typeface="楷体" panose="02010609060101010101" pitchFamily="49" charset="-122"/>
                      </a:rPr>
                      <m:t>𝑽</m:t>
                    </m:r>
                    <m:r>
                      <a:rPr lang="en-US" altLang="zh-CN" sz="2000" b="1">
                        <a:solidFill>
                          <a:srgbClr val="002060"/>
                        </a:solidFill>
                        <a:latin typeface="Cambria Math" panose="02040503050406030204" pitchFamily="18" charset="0"/>
                        <a:ea typeface="楷体" panose="02010609060101010101" pitchFamily="49" charset="-122"/>
                      </a:rPr>
                      <m:t>|&gt;</m:t>
                    </m:r>
                    <m:r>
                      <a:rPr lang="en-US" altLang="zh-CN" sz="2000" b="1">
                        <a:solidFill>
                          <a:srgbClr val="002060"/>
                        </a:solidFill>
                        <a:latin typeface="Cambria Math" panose="02040503050406030204" pitchFamily="18" charset="0"/>
                        <a:ea typeface="楷体" panose="02010609060101010101" pitchFamily="49" charset="-122"/>
                      </a:rPr>
                      <m:t>𝟑</m:t>
                    </m:r>
                  </m:oMath>
                </a14:m>
                <a:r>
                  <a:rPr lang="zh-CN" altLang="en-US" sz="2000" b="1">
                    <a:solidFill>
                      <a:srgbClr val="002060"/>
                    </a:solidFill>
                    <a:latin typeface="楷体" panose="02010609060101010101" pitchFamily="49" charset="-122"/>
                    <a:ea typeface="楷体" panose="02010609060101010101" pitchFamily="49" charset="-122"/>
                  </a:rPr>
                  <a:t>，称</a:t>
                </a: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rPr>
                      <m:t>𝑮</m:t>
                    </m:r>
                  </m:oMath>
                </a14:m>
                <a:r>
                  <a:rPr lang="zh-CN" altLang="en-US" sz="2000" b="1">
                    <a:solidFill>
                      <a:srgbClr val="002060"/>
                    </a:solidFill>
                    <a:latin typeface="楷体" panose="02010609060101010101" pitchFamily="49" charset="-122"/>
                    <a:ea typeface="楷体" panose="02010609060101010101" pitchFamily="49" charset="-122"/>
                  </a:rPr>
                  <a:t>为</a:t>
                </a:r>
                <a:r>
                  <a:rPr lang="zh-CN" altLang="en-US" sz="2000" b="1">
                    <a:solidFill>
                      <a:srgbClr val="C00000"/>
                    </a:solidFill>
                    <a:latin typeface="+mn-ea"/>
                  </a:rPr>
                  <a:t>极大平面图</a:t>
                </a:r>
                <a:r>
                  <a:rPr lang="zh-CN" altLang="en-US" sz="2000" b="1">
                    <a:solidFill>
                      <a:srgbClr val="002060"/>
                    </a:solidFill>
                    <a:latin typeface="楷体" panose="02010609060101010101" pitchFamily="49" charset="-122"/>
                    <a:ea typeface="楷体" panose="02010609060101010101" pitchFamily="49" charset="-122"/>
                  </a:rPr>
                  <a:t>，如果</a:t>
                </a:r>
              </a:p>
              <a:p>
                <a:pPr marL="342900" indent="-342900">
                  <a:spcBef>
                    <a:spcPts val="600"/>
                  </a:spcBef>
                  <a:spcAft>
                    <a:spcPts val="600"/>
                  </a:spcAft>
                  <a:buFont typeface="Arial" panose="020B0604020202020204" pitchFamily="34" charset="0"/>
                  <a:buChar char="•"/>
                </a:pPr>
                <a:r>
                  <a:rPr lang="zh-CN" altLang="en-US" sz="2000" b="1">
                    <a:solidFill>
                      <a:schemeClr val="accent6">
                        <a:lumMod val="50000"/>
                      </a:schemeClr>
                    </a:solidFill>
                  </a:rPr>
                  <a:t>对任意</a:t>
                </a:r>
                <a14:m>
                  <m:oMath xmlns:m="http://schemas.openxmlformats.org/officeDocument/2006/math">
                    <m:sSub>
                      <m:sSubPr>
                        <m:ctrlPr>
                          <a:rPr lang="en-US" altLang="zh-CN" sz="2000" b="1" i="1">
                            <a:solidFill>
                              <a:schemeClr val="accent6">
                                <a:lumMod val="50000"/>
                              </a:schemeClr>
                            </a:solidFill>
                            <a:latin typeface="Cambria Math" panose="02040503050406030204" pitchFamily="18" charset="0"/>
                          </a:rPr>
                        </m:ctrlPr>
                      </m:sSubPr>
                      <m:e>
                        <m:r>
                          <a:rPr lang="en-US" altLang="zh-CN" sz="2000" b="1">
                            <a:solidFill>
                              <a:schemeClr val="accent6">
                                <a:lumMod val="50000"/>
                              </a:schemeClr>
                            </a:solidFill>
                            <a:latin typeface="Cambria Math" panose="02040503050406030204" pitchFamily="18" charset="0"/>
                          </a:rPr>
                          <m:t>𝒗</m:t>
                        </m:r>
                      </m:e>
                      <m:sub>
                        <m:r>
                          <a:rPr lang="en-US" altLang="zh-CN" sz="2000" b="1">
                            <a:solidFill>
                              <a:schemeClr val="accent6">
                                <a:lumMod val="50000"/>
                              </a:schemeClr>
                            </a:solidFill>
                            <a:latin typeface="Cambria Math" panose="02040503050406030204" pitchFamily="18" charset="0"/>
                          </a:rPr>
                          <m:t>𝒊</m:t>
                        </m:r>
                      </m:sub>
                    </m:sSub>
                    <m:r>
                      <a:rPr lang="en-US" altLang="zh-CN" sz="2000" b="1">
                        <a:solidFill>
                          <a:schemeClr val="accent6">
                            <a:lumMod val="50000"/>
                          </a:schemeClr>
                        </a:solidFill>
                        <a:latin typeface="Cambria Math" panose="02040503050406030204" pitchFamily="18" charset="0"/>
                      </a:rPr>
                      <m:t>,</m:t>
                    </m:r>
                    <m:sSub>
                      <m:sSubPr>
                        <m:ctrlPr>
                          <a:rPr lang="en-US" altLang="zh-CN" sz="2000" b="1" i="1">
                            <a:solidFill>
                              <a:schemeClr val="accent6">
                                <a:lumMod val="50000"/>
                              </a:schemeClr>
                            </a:solidFill>
                            <a:latin typeface="Cambria Math" panose="02040503050406030204" pitchFamily="18" charset="0"/>
                          </a:rPr>
                        </m:ctrlPr>
                      </m:sSubPr>
                      <m:e>
                        <m:r>
                          <a:rPr lang="en-US" altLang="zh-CN" sz="2000" b="1">
                            <a:solidFill>
                              <a:schemeClr val="accent6">
                                <a:lumMod val="50000"/>
                              </a:schemeClr>
                            </a:solidFill>
                            <a:latin typeface="Cambria Math" panose="02040503050406030204" pitchFamily="18" charset="0"/>
                          </a:rPr>
                          <m:t>𝒗</m:t>
                        </m:r>
                      </m:e>
                      <m:sub>
                        <m:r>
                          <a:rPr lang="en-US" altLang="zh-CN" sz="2000" b="1">
                            <a:solidFill>
                              <a:schemeClr val="accent6">
                                <a:lumMod val="50000"/>
                              </a:schemeClr>
                            </a:solidFill>
                            <a:latin typeface="Cambria Math" panose="02040503050406030204" pitchFamily="18" charset="0"/>
                          </a:rPr>
                          <m:t>𝒋</m:t>
                        </m:r>
                      </m:sub>
                    </m:sSub>
                    <m:r>
                      <a:rPr lang="en-US" altLang="zh-CN" sz="2000" b="1">
                        <a:solidFill>
                          <a:schemeClr val="accent6">
                            <a:lumMod val="50000"/>
                          </a:schemeClr>
                        </a:solidFill>
                        <a:latin typeface="Cambria Math" panose="02040503050406030204" pitchFamily="18" charset="0"/>
                      </a:rPr>
                      <m:t>∈</m:t>
                    </m:r>
                    <m:r>
                      <a:rPr lang="en-US" altLang="zh-CN" sz="2000" b="1">
                        <a:solidFill>
                          <a:schemeClr val="accent6">
                            <a:lumMod val="50000"/>
                          </a:schemeClr>
                        </a:solidFill>
                        <a:latin typeface="Cambria Math" panose="02040503050406030204" pitchFamily="18" charset="0"/>
                      </a:rPr>
                      <m:t>𝑽</m:t>
                    </m:r>
                  </m:oMath>
                </a14:m>
                <a:r>
                  <a:rPr lang="zh-CN" altLang="en-US" sz="2000" b="1">
                    <a:solidFill>
                      <a:schemeClr val="accent6">
                        <a:lumMod val="50000"/>
                      </a:schemeClr>
                    </a:solidFill>
                  </a:rPr>
                  <a:t>且</a:t>
                </a:r>
                <a14:m>
                  <m:oMath xmlns:m="http://schemas.openxmlformats.org/officeDocument/2006/math">
                    <m:d>
                      <m:dPr>
                        <m:ctrlPr>
                          <a:rPr lang="en-US" altLang="zh-CN" sz="2000" b="1" i="1">
                            <a:solidFill>
                              <a:schemeClr val="accent6">
                                <a:lumMod val="50000"/>
                              </a:schemeClr>
                            </a:solidFill>
                            <a:latin typeface="Cambria Math" panose="02040503050406030204" pitchFamily="18" charset="0"/>
                          </a:rPr>
                        </m:ctrlPr>
                      </m:dPr>
                      <m:e>
                        <m:sSub>
                          <m:sSubPr>
                            <m:ctrlPr>
                              <a:rPr lang="en-US" altLang="zh-CN" sz="2000" b="1" i="1">
                                <a:solidFill>
                                  <a:schemeClr val="accent6">
                                    <a:lumMod val="50000"/>
                                  </a:schemeClr>
                                </a:solidFill>
                                <a:latin typeface="Cambria Math" panose="02040503050406030204" pitchFamily="18" charset="0"/>
                              </a:rPr>
                            </m:ctrlPr>
                          </m:sSubPr>
                          <m:e>
                            <m:r>
                              <a:rPr lang="en-US" altLang="zh-CN" sz="2000" b="1">
                                <a:solidFill>
                                  <a:schemeClr val="accent6">
                                    <a:lumMod val="50000"/>
                                  </a:schemeClr>
                                </a:solidFill>
                                <a:latin typeface="Cambria Math" panose="02040503050406030204" pitchFamily="18" charset="0"/>
                              </a:rPr>
                              <m:t>𝒗</m:t>
                            </m:r>
                          </m:e>
                          <m:sub>
                            <m:r>
                              <a:rPr lang="en-US" altLang="zh-CN" sz="2000" b="1">
                                <a:solidFill>
                                  <a:schemeClr val="accent6">
                                    <a:lumMod val="50000"/>
                                  </a:schemeClr>
                                </a:solidFill>
                                <a:latin typeface="Cambria Math" panose="02040503050406030204" pitchFamily="18" charset="0"/>
                              </a:rPr>
                              <m:t>𝒊</m:t>
                            </m:r>
                          </m:sub>
                        </m:sSub>
                        <m:r>
                          <a:rPr lang="en-US" altLang="zh-CN" sz="2000" b="1">
                            <a:solidFill>
                              <a:schemeClr val="accent6">
                                <a:lumMod val="50000"/>
                              </a:schemeClr>
                            </a:solidFill>
                            <a:latin typeface="Cambria Math" panose="02040503050406030204" pitchFamily="18" charset="0"/>
                          </a:rPr>
                          <m:t>,</m:t>
                        </m:r>
                        <m:sSub>
                          <m:sSubPr>
                            <m:ctrlPr>
                              <a:rPr lang="en-US" altLang="zh-CN" sz="2000" b="1" i="1">
                                <a:solidFill>
                                  <a:schemeClr val="accent6">
                                    <a:lumMod val="50000"/>
                                  </a:schemeClr>
                                </a:solidFill>
                                <a:latin typeface="Cambria Math" panose="02040503050406030204" pitchFamily="18" charset="0"/>
                              </a:rPr>
                            </m:ctrlPr>
                          </m:sSubPr>
                          <m:e>
                            <m:r>
                              <a:rPr lang="en-US" altLang="zh-CN" sz="2000" b="1">
                                <a:solidFill>
                                  <a:schemeClr val="accent6">
                                    <a:lumMod val="50000"/>
                                  </a:schemeClr>
                                </a:solidFill>
                                <a:latin typeface="Cambria Math" panose="02040503050406030204" pitchFamily="18" charset="0"/>
                              </a:rPr>
                              <m:t>𝒗</m:t>
                            </m:r>
                          </m:e>
                          <m:sub>
                            <m:r>
                              <a:rPr lang="en-US" altLang="zh-CN" sz="2000" b="1">
                                <a:solidFill>
                                  <a:schemeClr val="accent6">
                                    <a:lumMod val="50000"/>
                                  </a:schemeClr>
                                </a:solidFill>
                                <a:latin typeface="Cambria Math" panose="02040503050406030204" pitchFamily="18" charset="0"/>
                              </a:rPr>
                              <m:t>𝒋</m:t>
                            </m:r>
                          </m:sub>
                        </m:sSub>
                      </m:e>
                    </m:d>
                    <m:r>
                      <a:rPr lang="en-US" altLang="zh-CN" sz="2000" b="1">
                        <a:solidFill>
                          <a:schemeClr val="accent6">
                            <a:lumMod val="50000"/>
                          </a:schemeClr>
                        </a:solidFill>
                        <a:latin typeface="Cambria Math" panose="02040503050406030204" pitchFamily="18" charset="0"/>
                      </a:rPr>
                      <m:t>∉</m:t>
                    </m:r>
                    <m:r>
                      <a:rPr lang="en-US" altLang="zh-CN" sz="2000" b="1">
                        <a:solidFill>
                          <a:schemeClr val="accent6">
                            <a:lumMod val="50000"/>
                          </a:schemeClr>
                        </a:solidFill>
                        <a:latin typeface="Cambria Math" panose="02040503050406030204" pitchFamily="18" charset="0"/>
                      </a:rPr>
                      <m:t>𝑬</m:t>
                    </m:r>
                  </m:oMath>
                </a14:m>
                <a:r>
                  <a:rPr lang="zh-CN" altLang="en-US" sz="2000" b="1">
                    <a:solidFill>
                      <a:schemeClr val="accent6">
                        <a:lumMod val="50000"/>
                      </a:schemeClr>
                    </a:solidFill>
                  </a:rPr>
                  <a:t>，都有</a:t>
                </a:r>
                <a14:m>
                  <m:oMath xmlns:m="http://schemas.openxmlformats.org/officeDocument/2006/math">
                    <m:sSup>
                      <m:sSupPr>
                        <m:ctrlPr>
                          <a:rPr lang="en-US" altLang="zh-CN" sz="2000" b="1" i="1">
                            <a:solidFill>
                              <a:schemeClr val="accent6">
                                <a:lumMod val="50000"/>
                              </a:schemeClr>
                            </a:solidFill>
                            <a:latin typeface="Cambria Math" panose="02040503050406030204" pitchFamily="18" charset="0"/>
                          </a:rPr>
                        </m:ctrlPr>
                      </m:sSupPr>
                      <m:e>
                        <m:r>
                          <a:rPr lang="en-US" altLang="zh-CN" sz="2000" b="1">
                            <a:solidFill>
                              <a:schemeClr val="accent6">
                                <a:lumMod val="50000"/>
                              </a:schemeClr>
                            </a:solidFill>
                            <a:latin typeface="Cambria Math" panose="02040503050406030204" pitchFamily="18" charset="0"/>
                          </a:rPr>
                          <m:t>𝑮</m:t>
                        </m:r>
                      </m:e>
                      <m:sup>
                        <m:r>
                          <a:rPr lang="en-US" altLang="zh-CN" sz="2000" b="1">
                            <a:solidFill>
                              <a:schemeClr val="accent6">
                                <a:lumMod val="50000"/>
                              </a:schemeClr>
                            </a:solidFill>
                            <a:latin typeface="Cambria Math" panose="02040503050406030204" pitchFamily="18" charset="0"/>
                          </a:rPr>
                          <m:t>′</m:t>
                        </m:r>
                      </m:sup>
                    </m:sSup>
                    <m:r>
                      <a:rPr lang="en-US" altLang="zh-CN" sz="2000" b="1">
                        <a:solidFill>
                          <a:schemeClr val="accent6">
                            <a:lumMod val="50000"/>
                          </a:schemeClr>
                        </a:solidFill>
                        <a:latin typeface="Cambria Math" panose="02040503050406030204" pitchFamily="18" charset="0"/>
                      </a:rPr>
                      <m:t>=</m:t>
                    </m:r>
                    <m:d>
                      <m:dPr>
                        <m:ctrlPr>
                          <a:rPr lang="en-US" altLang="zh-CN" sz="2000" b="1" i="1">
                            <a:solidFill>
                              <a:schemeClr val="accent6">
                                <a:lumMod val="50000"/>
                              </a:schemeClr>
                            </a:solidFill>
                            <a:latin typeface="Cambria Math" panose="02040503050406030204" pitchFamily="18" charset="0"/>
                          </a:rPr>
                        </m:ctrlPr>
                      </m:dPr>
                      <m:e>
                        <m:r>
                          <a:rPr lang="en-US" altLang="zh-CN" sz="2000" b="1">
                            <a:solidFill>
                              <a:schemeClr val="accent6">
                                <a:lumMod val="50000"/>
                              </a:schemeClr>
                            </a:solidFill>
                            <a:latin typeface="Cambria Math" panose="02040503050406030204" pitchFamily="18" charset="0"/>
                          </a:rPr>
                          <m:t>𝑽</m:t>
                        </m:r>
                        <m:r>
                          <a:rPr lang="en-US" altLang="zh-CN" sz="2000" b="1">
                            <a:solidFill>
                              <a:schemeClr val="accent6">
                                <a:lumMod val="50000"/>
                              </a:schemeClr>
                            </a:solidFill>
                            <a:latin typeface="Cambria Math" panose="02040503050406030204" pitchFamily="18" charset="0"/>
                          </a:rPr>
                          <m:t>, </m:t>
                        </m:r>
                        <m:r>
                          <a:rPr lang="en-US" altLang="zh-CN" sz="2000" b="1">
                            <a:solidFill>
                              <a:schemeClr val="accent6">
                                <a:lumMod val="50000"/>
                              </a:schemeClr>
                            </a:solidFill>
                            <a:latin typeface="Cambria Math" panose="02040503050406030204" pitchFamily="18" charset="0"/>
                          </a:rPr>
                          <m:t>𝑬</m:t>
                        </m:r>
                        <m:r>
                          <a:rPr lang="en-US" altLang="zh-CN" sz="2000" b="1">
                            <a:solidFill>
                              <a:schemeClr val="accent6">
                                <a:lumMod val="50000"/>
                              </a:schemeClr>
                            </a:solidFill>
                            <a:latin typeface="Cambria Math" panose="02040503050406030204" pitchFamily="18" charset="0"/>
                          </a:rPr>
                          <m:t>∪</m:t>
                        </m:r>
                        <m:d>
                          <m:dPr>
                            <m:begChr m:val="{"/>
                            <m:endChr m:val="}"/>
                            <m:ctrlPr>
                              <a:rPr lang="en-US" altLang="zh-CN" sz="2000" b="1" i="1">
                                <a:solidFill>
                                  <a:schemeClr val="accent6">
                                    <a:lumMod val="50000"/>
                                  </a:schemeClr>
                                </a:solidFill>
                                <a:latin typeface="Cambria Math" panose="02040503050406030204" pitchFamily="18" charset="0"/>
                              </a:rPr>
                            </m:ctrlPr>
                          </m:dPr>
                          <m:e>
                            <m:d>
                              <m:dPr>
                                <m:ctrlPr>
                                  <a:rPr lang="en-US" altLang="zh-CN" sz="2000" b="1" i="1">
                                    <a:solidFill>
                                      <a:schemeClr val="accent6">
                                        <a:lumMod val="50000"/>
                                      </a:schemeClr>
                                    </a:solidFill>
                                    <a:latin typeface="Cambria Math" panose="02040503050406030204" pitchFamily="18" charset="0"/>
                                  </a:rPr>
                                </m:ctrlPr>
                              </m:dPr>
                              <m:e>
                                <m:sSub>
                                  <m:sSubPr>
                                    <m:ctrlPr>
                                      <a:rPr lang="en-US" altLang="zh-CN" sz="2000" b="1" i="1">
                                        <a:solidFill>
                                          <a:schemeClr val="accent6">
                                            <a:lumMod val="50000"/>
                                          </a:schemeClr>
                                        </a:solidFill>
                                        <a:latin typeface="Cambria Math" panose="02040503050406030204" pitchFamily="18" charset="0"/>
                                      </a:rPr>
                                    </m:ctrlPr>
                                  </m:sSubPr>
                                  <m:e>
                                    <m:r>
                                      <a:rPr lang="en-US" altLang="zh-CN" sz="2000" b="1">
                                        <a:solidFill>
                                          <a:schemeClr val="accent6">
                                            <a:lumMod val="50000"/>
                                          </a:schemeClr>
                                        </a:solidFill>
                                        <a:latin typeface="Cambria Math" panose="02040503050406030204" pitchFamily="18" charset="0"/>
                                      </a:rPr>
                                      <m:t>𝒗</m:t>
                                    </m:r>
                                  </m:e>
                                  <m:sub>
                                    <m:r>
                                      <a:rPr lang="en-US" altLang="zh-CN" sz="2000" b="1">
                                        <a:solidFill>
                                          <a:schemeClr val="accent6">
                                            <a:lumMod val="50000"/>
                                          </a:schemeClr>
                                        </a:solidFill>
                                        <a:latin typeface="Cambria Math" panose="02040503050406030204" pitchFamily="18" charset="0"/>
                                      </a:rPr>
                                      <m:t>𝒊</m:t>
                                    </m:r>
                                  </m:sub>
                                </m:sSub>
                                <m:r>
                                  <a:rPr lang="en-US" altLang="zh-CN" sz="2000" b="1">
                                    <a:solidFill>
                                      <a:schemeClr val="accent6">
                                        <a:lumMod val="50000"/>
                                      </a:schemeClr>
                                    </a:solidFill>
                                    <a:latin typeface="Cambria Math" panose="02040503050406030204" pitchFamily="18" charset="0"/>
                                  </a:rPr>
                                  <m:t>, </m:t>
                                </m:r>
                                <m:sSub>
                                  <m:sSubPr>
                                    <m:ctrlPr>
                                      <a:rPr lang="en-US" altLang="zh-CN" sz="2000" b="1" i="1">
                                        <a:solidFill>
                                          <a:schemeClr val="accent6">
                                            <a:lumMod val="50000"/>
                                          </a:schemeClr>
                                        </a:solidFill>
                                        <a:latin typeface="Cambria Math" panose="02040503050406030204" pitchFamily="18" charset="0"/>
                                      </a:rPr>
                                    </m:ctrlPr>
                                  </m:sSubPr>
                                  <m:e>
                                    <m:r>
                                      <a:rPr lang="en-US" altLang="zh-CN" sz="2000" b="1">
                                        <a:solidFill>
                                          <a:schemeClr val="accent6">
                                            <a:lumMod val="50000"/>
                                          </a:schemeClr>
                                        </a:solidFill>
                                        <a:latin typeface="Cambria Math" panose="02040503050406030204" pitchFamily="18" charset="0"/>
                                      </a:rPr>
                                      <m:t>𝒗</m:t>
                                    </m:r>
                                  </m:e>
                                  <m:sub>
                                    <m:r>
                                      <a:rPr lang="en-US" altLang="zh-CN" sz="2000" b="1">
                                        <a:solidFill>
                                          <a:schemeClr val="accent6">
                                            <a:lumMod val="50000"/>
                                          </a:schemeClr>
                                        </a:solidFill>
                                        <a:latin typeface="Cambria Math" panose="02040503050406030204" pitchFamily="18" charset="0"/>
                                      </a:rPr>
                                      <m:t>𝒋</m:t>
                                    </m:r>
                                  </m:sub>
                                </m:sSub>
                              </m:e>
                            </m:d>
                          </m:e>
                        </m:d>
                      </m:e>
                    </m:d>
                  </m:oMath>
                </a14:m>
                <a:r>
                  <a:rPr lang="zh-CN" altLang="en-US" sz="2000" b="1">
                    <a:solidFill>
                      <a:schemeClr val="accent6">
                        <a:lumMod val="50000"/>
                      </a:schemeClr>
                    </a:solidFill>
                  </a:rPr>
                  <a:t>不是平面图</a:t>
                </a:r>
              </a:p>
              <a:p>
                <a:pPr marL="800100" lvl="1" indent="-342900">
                  <a:spcBef>
                    <a:spcPts val="600"/>
                  </a:spcBef>
                  <a:spcAft>
                    <a:spcPts val="600"/>
                  </a:spcAft>
                  <a:buFont typeface="Arial" panose="020B0604020202020204" pitchFamily="34" charset="0"/>
                  <a:buChar char="•"/>
                </a:pPr>
                <a:r>
                  <a:rPr lang="zh-CN" altLang="en-US" sz="2000" b="1">
                    <a:solidFill>
                      <a:schemeClr val="accent2">
                        <a:lumMod val="50000"/>
                      </a:schemeClr>
                    </a:solidFill>
                    <a:latin typeface="楷体" panose="02010609060101010101" pitchFamily="49" charset="-122"/>
                    <a:ea typeface="楷体" panose="02010609060101010101" pitchFamily="49" charset="-122"/>
                  </a:rPr>
                  <a:t>即在</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𝑮</m:t>
                    </m:r>
                  </m:oMath>
                </a14:m>
                <a:r>
                  <a:rPr lang="zh-CN" altLang="en-US" sz="2000" b="1">
                    <a:solidFill>
                      <a:schemeClr val="accent2">
                        <a:lumMod val="50000"/>
                      </a:schemeClr>
                    </a:solidFill>
                    <a:latin typeface="楷体" panose="02010609060101010101" pitchFamily="49" charset="-122"/>
                    <a:ea typeface="楷体" panose="02010609060101010101" pitchFamily="49" charset="-122"/>
                  </a:rPr>
                  <a:t>的任意两个不相邻顶点之间加一条新边都得到非平面图</a:t>
                </a:r>
              </a:p>
            </p:txBody>
          </p:sp>
        </mc:Choice>
        <mc:Fallback xmlns="">
          <p:sp>
            <p:nvSpPr>
              <p:cNvPr id="2" name="文本框 1">
                <a:extLst>
                  <a:ext uri="{FF2B5EF4-FFF2-40B4-BE49-F238E27FC236}">
                    <a16:creationId xmlns:a16="http://schemas.microsoft.com/office/drawing/2014/main" id="{06DE4EEC-447E-420F-811A-65B4D2546AE4}"/>
                  </a:ext>
                </a:extLst>
              </p:cNvPr>
              <p:cNvSpPr txBox="1">
                <a:spLocks noRot="1" noChangeAspect="1" noMove="1" noResize="1" noEditPoints="1" noAdjustHandles="1" noChangeArrowheads="1" noChangeShapeType="1" noTextEdit="1"/>
              </p:cNvSpPr>
              <p:nvPr/>
            </p:nvSpPr>
            <p:spPr>
              <a:xfrm>
                <a:off x="1848532" y="1323875"/>
                <a:ext cx="8494931" cy="1897892"/>
              </a:xfrm>
              <a:prstGeom prst="rect">
                <a:avLst/>
              </a:prstGeom>
              <a:blipFill>
                <a:blip r:embed="rId2"/>
                <a:stretch>
                  <a:fillRect l="-717" t="-2244" b="-480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608534AF-260C-4755-BB75-95A1307708C3}"/>
                  </a:ext>
                </a:extLst>
              </p:cNvPr>
              <p:cNvSpPr txBox="1"/>
              <p:nvPr/>
            </p:nvSpPr>
            <p:spPr>
              <a:xfrm>
                <a:off x="888086" y="3664685"/>
                <a:ext cx="4585156" cy="2246769"/>
              </a:xfrm>
              <a:prstGeom prst="rect">
                <a:avLst/>
              </a:prstGeom>
              <a:solidFill>
                <a:schemeClr val="accent5">
                  <a:lumMod val="20000"/>
                  <a:lumOff val="80000"/>
                  <a:alpha val="50000"/>
                </a:schemeClr>
              </a:solidFill>
            </p:spPr>
            <p:txBody>
              <a:bodyPr wrap="square" rtlCol="0">
                <a:spAutoFit/>
              </a:bodyPr>
              <a:lstStyle/>
              <a:p>
                <a:pPr algn="ctr">
                  <a:spcBef>
                    <a:spcPts val="600"/>
                  </a:spcBef>
                  <a:spcAft>
                    <a:spcPts val="600"/>
                  </a:spcAft>
                </a:pPr>
                <a:r>
                  <a:rPr lang="zh-CN" altLang="en-US" sz="2000" b="1">
                    <a:solidFill>
                      <a:srgbClr val="C00000"/>
                    </a:solidFill>
                  </a:rPr>
                  <a:t>极大平面图的一些性质</a:t>
                </a:r>
              </a:p>
              <a:p>
                <a:pPr marL="342900" indent="-342900">
                  <a:spcBef>
                    <a:spcPts val="600"/>
                  </a:spcBef>
                  <a:spcAft>
                    <a:spcPts val="600"/>
                  </a:spcAft>
                  <a:buFont typeface="Arial" panose="020B0604020202020204" pitchFamily="34" charset="0"/>
                  <a:buChar char="•"/>
                </a:pPr>
                <a:r>
                  <a:rPr lang="zh-CN" altLang="en-US" sz="2000" b="1">
                    <a:solidFill>
                      <a:srgbClr val="002060"/>
                    </a:solidFill>
                    <a:latin typeface="楷体" panose="02010609060101010101" pitchFamily="49" charset="-122"/>
                    <a:ea typeface="楷体" panose="02010609060101010101" pitchFamily="49" charset="-122"/>
                  </a:rPr>
                  <a:t>极大平面图是连通图，没有桥</a:t>
                </a:r>
              </a:p>
              <a:p>
                <a:pPr marL="342900" indent="-342900">
                  <a:spcBef>
                    <a:spcPts val="600"/>
                  </a:spcBef>
                  <a:spcAft>
                    <a:spcPts val="600"/>
                  </a:spcAft>
                  <a:buFont typeface="Arial" panose="020B0604020202020204" pitchFamily="34" charset="0"/>
                  <a:buChar char="•"/>
                </a:pPr>
                <a:r>
                  <a:rPr lang="zh-CN" altLang="en-US" sz="2000" b="1">
                    <a:solidFill>
                      <a:srgbClr val="002060"/>
                    </a:solidFill>
                    <a:latin typeface="楷体" panose="02010609060101010101" pitchFamily="49" charset="-122"/>
                    <a:ea typeface="楷体" panose="02010609060101010101" pitchFamily="49" charset="-122"/>
                  </a:rPr>
                  <a:t>极大平面图的每个面都由</a:t>
                </a:r>
                <a14:m>
                  <m:oMath xmlns:m="http://schemas.openxmlformats.org/officeDocument/2006/math">
                    <m:r>
                      <a:rPr lang="en-US" altLang="zh-CN" sz="2000" b="1" i="1" smtClean="0">
                        <a:solidFill>
                          <a:srgbClr val="002060"/>
                        </a:solidFill>
                        <a:latin typeface="Cambria Math" panose="02040503050406030204" pitchFamily="18" charset="0"/>
                      </a:rPr>
                      <m:t>𝟑</m:t>
                    </m:r>
                  </m:oMath>
                </a14:m>
                <a:r>
                  <a:rPr lang="zh-CN" altLang="en-US" sz="2000" b="1">
                    <a:solidFill>
                      <a:srgbClr val="002060"/>
                    </a:solidFill>
                    <a:latin typeface="楷体" panose="02010609060101010101" pitchFamily="49" charset="-122"/>
                    <a:ea typeface="楷体" panose="02010609060101010101" pitchFamily="49" charset="-122"/>
                  </a:rPr>
                  <a:t>条边组成</a:t>
                </a:r>
              </a:p>
              <a:p>
                <a:pPr marL="342900" indent="-342900">
                  <a:spcBef>
                    <a:spcPts val="600"/>
                  </a:spcBef>
                  <a:spcAft>
                    <a:spcPts val="600"/>
                  </a:spcAft>
                  <a:buFont typeface="Arial" panose="020B0604020202020204" pitchFamily="34" charset="0"/>
                  <a:buChar char="•"/>
                </a:pPr>
                <a:r>
                  <a:rPr lang="zh-CN" altLang="en-US" sz="2000" b="1">
                    <a:solidFill>
                      <a:srgbClr val="002060"/>
                    </a:solidFill>
                    <a:latin typeface="楷体" panose="02010609060101010101" pitchFamily="49" charset="-122"/>
                    <a:ea typeface="楷体" panose="02010609060101010101" pitchFamily="49" charset="-122"/>
                  </a:rPr>
                  <a:t>极大平面图有</a:t>
                </a:r>
                <a14:m>
                  <m:oMath xmlns:m="http://schemas.openxmlformats.org/officeDocument/2006/math">
                    <m:r>
                      <a:rPr lang="en-US" altLang="zh-CN" sz="2000" b="1" i="1" smtClean="0">
                        <a:solidFill>
                          <a:srgbClr val="002060"/>
                        </a:solidFill>
                        <a:latin typeface="Cambria Math" panose="02040503050406030204" pitchFamily="18" charset="0"/>
                      </a:rPr>
                      <m:t>𝟑</m:t>
                    </m:r>
                    <m:r>
                      <a:rPr lang="en-US" altLang="zh-CN" sz="2000" b="1" i="1" smtClean="0">
                        <a:solidFill>
                          <a:srgbClr val="002060"/>
                        </a:solidFill>
                        <a:latin typeface="Cambria Math" panose="02040503050406030204" pitchFamily="18" charset="0"/>
                      </a:rPr>
                      <m:t>𝒅</m:t>
                    </m:r>
                    <m:r>
                      <a:rPr lang="en-US" altLang="zh-CN" sz="2000" b="1" i="1" smtClean="0">
                        <a:solidFill>
                          <a:srgbClr val="002060"/>
                        </a:solidFill>
                        <a:latin typeface="Cambria Math" panose="02040503050406030204" pitchFamily="18" charset="0"/>
                      </a:rPr>
                      <m:t>=</m:t>
                    </m:r>
                    <m:r>
                      <a:rPr lang="en-US" altLang="zh-CN" sz="2000" b="1" i="1">
                        <a:solidFill>
                          <a:srgbClr val="002060"/>
                        </a:solidFill>
                        <a:latin typeface="Cambria Math" panose="02040503050406030204" pitchFamily="18" charset="0"/>
                      </a:rPr>
                      <m:t>𝟐</m:t>
                    </m:r>
                    <m:r>
                      <a:rPr lang="en-US" altLang="zh-CN" sz="2000" b="1" i="1">
                        <a:solidFill>
                          <a:srgbClr val="002060"/>
                        </a:solidFill>
                        <a:latin typeface="Cambria Math" panose="02040503050406030204" pitchFamily="18" charset="0"/>
                      </a:rPr>
                      <m:t>𝒎</m:t>
                    </m:r>
                  </m:oMath>
                </a14:m>
                <a:endParaRPr lang="en-US" altLang="zh-CN" sz="2000" b="1">
                  <a:solidFill>
                    <a:srgbClr val="002060"/>
                  </a:solidFill>
                  <a:latin typeface="楷体" panose="02010609060101010101" pitchFamily="49" charset="-122"/>
                  <a:ea typeface="楷体" panose="02010609060101010101" pitchFamily="49" charset="-122"/>
                </a:endParaRPr>
              </a:p>
              <a:p>
                <a:pPr marL="800100" lvl="1" indent="-342900">
                  <a:spcBef>
                    <a:spcPts val="600"/>
                  </a:spcBef>
                  <a:spcAft>
                    <a:spcPts val="600"/>
                  </a:spcAft>
                  <a:buFont typeface="Arial" panose="020B0604020202020204" pitchFamily="34" charset="0"/>
                  <a:buChar char="•"/>
                </a:pP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𝒅</m:t>
                    </m:r>
                  </m:oMath>
                </a14:m>
                <a:r>
                  <a:rPr lang="zh-CN" altLang="en-US" sz="2000" b="1">
                    <a:solidFill>
                      <a:schemeClr val="accent6">
                        <a:lumMod val="50000"/>
                      </a:schemeClr>
                    </a:solidFill>
                  </a:rPr>
                  <a:t>是面数，</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𝒎</m:t>
                    </m:r>
                  </m:oMath>
                </a14:m>
                <a:r>
                  <a:rPr lang="zh-CN" altLang="en-US" sz="2000" b="1">
                    <a:solidFill>
                      <a:schemeClr val="accent6">
                        <a:lumMod val="50000"/>
                      </a:schemeClr>
                    </a:solidFill>
                  </a:rPr>
                  <a:t>是边数</a:t>
                </a:r>
              </a:p>
            </p:txBody>
          </p:sp>
        </mc:Choice>
        <mc:Fallback xmlns="">
          <p:sp>
            <p:nvSpPr>
              <p:cNvPr id="3" name="文本框 2">
                <a:extLst>
                  <a:ext uri="{FF2B5EF4-FFF2-40B4-BE49-F238E27FC236}">
                    <a16:creationId xmlns:a16="http://schemas.microsoft.com/office/drawing/2014/main" id="{608534AF-260C-4755-BB75-95A1307708C3}"/>
                  </a:ext>
                </a:extLst>
              </p:cNvPr>
              <p:cNvSpPr txBox="1">
                <a:spLocks noRot="1" noChangeAspect="1" noMove="1" noResize="1" noEditPoints="1" noAdjustHandles="1" noChangeArrowheads="1" noChangeShapeType="1" noTextEdit="1"/>
              </p:cNvSpPr>
              <p:nvPr/>
            </p:nvSpPr>
            <p:spPr>
              <a:xfrm>
                <a:off x="888086" y="3664685"/>
                <a:ext cx="4585156" cy="2246769"/>
              </a:xfrm>
              <a:prstGeom prst="rect">
                <a:avLst/>
              </a:prstGeom>
              <a:blipFill>
                <a:blip r:embed="rId3"/>
                <a:stretch>
                  <a:fillRect l="-1197" t="-1355" b="-379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FCA4F3A1-272B-419B-B05A-56ADD1EB0C8D}"/>
                  </a:ext>
                </a:extLst>
              </p:cNvPr>
              <p:cNvSpPr txBox="1"/>
              <p:nvPr/>
            </p:nvSpPr>
            <p:spPr>
              <a:xfrm>
                <a:off x="6095998" y="3664376"/>
                <a:ext cx="5262732" cy="861774"/>
              </a:xfrm>
              <a:prstGeom prst="rect">
                <a:avLst/>
              </a:prstGeom>
              <a:solidFill>
                <a:schemeClr val="accent4">
                  <a:lumMod val="20000"/>
                  <a:lumOff val="80000"/>
                  <a:alpha val="50000"/>
                </a:schemeClr>
              </a:solidFill>
            </p:spPr>
            <p:txBody>
              <a:bodyPr wrap="square" rtlCol="0">
                <a:spAutoFit/>
              </a:bodyPr>
              <a:lstStyle/>
              <a:p>
                <a:pPr>
                  <a:spcBef>
                    <a:spcPts val="600"/>
                  </a:spcBef>
                  <a:spcAft>
                    <a:spcPts val="600"/>
                  </a:spcAft>
                </a:pPr>
                <a:r>
                  <a:rPr lang="zh-CN" altLang="en-US" sz="2000" b="1" dirty="0">
                    <a:solidFill>
                      <a:srgbClr val="002060"/>
                    </a:solidFill>
                    <a:latin typeface="楷体" panose="02010609060101010101" pitchFamily="49" charset="-122"/>
                    <a:ea typeface="楷体" panose="02010609060101010101" pitchFamily="49" charset="-122"/>
                  </a:rPr>
                  <a:t>极大平面图</a:t>
                </a:r>
                <a14:m>
                  <m:oMath xmlns:m="http://schemas.openxmlformats.org/officeDocument/2006/math">
                    <m:r>
                      <a:rPr lang="en-US" altLang="zh-CN" sz="2000" b="1" i="1" smtClean="0">
                        <a:solidFill>
                          <a:srgbClr val="002060"/>
                        </a:solidFill>
                        <a:latin typeface="Cambria Math" panose="02040503050406030204" pitchFamily="18" charset="0"/>
                      </a:rPr>
                      <m:t>𝑮</m:t>
                    </m:r>
                  </m:oMath>
                </a14:m>
                <a:r>
                  <a:rPr lang="zh-CN" altLang="en-US" sz="2000" b="1" dirty="0">
                    <a:solidFill>
                      <a:srgbClr val="002060"/>
                    </a:solidFill>
                    <a:latin typeface="楷体" panose="02010609060101010101" pitchFamily="49" charset="-122"/>
                    <a:ea typeface="楷体" panose="02010609060101010101" pitchFamily="49" charset="-122"/>
                  </a:rPr>
                  <a:t>有</a:t>
                </a:r>
                <a14:m>
                  <m:oMath xmlns:m="http://schemas.openxmlformats.org/officeDocument/2006/math">
                    <m:r>
                      <a:rPr lang="en-US" altLang="zh-CN" sz="2000" b="1" i="1" smtClean="0">
                        <a:solidFill>
                          <a:srgbClr val="002060"/>
                        </a:solidFill>
                        <a:latin typeface="Cambria Math" panose="02040503050406030204" pitchFamily="18" charset="0"/>
                      </a:rPr>
                      <m:t>𝒏</m:t>
                    </m:r>
                  </m:oMath>
                </a14:m>
                <a:r>
                  <a:rPr lang="zh-CN" altLang="en-US" sz="2000" b="1" dirty="0">
                    <a:solidFill>
                      <a:srgbClr val="002060"/>
                    </a:solidFill>
                    <a:latin typeface="楷体" panose="02010609060101010101" pitchFamily="49" charset="-122"/>
                    <a:ea typeface="楷体" panose="02010609060101010101" pitchFamily="49" charset="-122"/>
                  </a:rPr>
                  <a:t>个顶点，</a:t>
                </a:r>
                <a14:m>
                  <m:oMath xmlns:m="http://schemas.openxmlformats.org/officeDocument/2006/math">
                    <m:r>
                      <a:rPr lang="en-US" altLang="zh-CN" sz="2000" b="1" i="1" smtClean="0">
                        <a:solidFill>
                          <a:srgbClr val="002060"/>
                        </a:solidFill>
                        <a:latin typeface="Cambria Math" panose="02040503050406030204" pitchFamily="18" charset="0"/>
                      </a:rPr>
                      <m:t>𝒎</m:t>
                    </m:r>
                  </m:oMath>
                </a14:m>
                <a:r>
                  <a:rPr lang="zh-CN" altLang="en-US" sz="2000" b="1" dirty="0">
                    <a:solidFill>
                      <a:srgbClr val="002060"/>
                    </a:solidFill>
                    <a:latin typeface="楷体" panose="02010609060101010101" pitchFamily="49" charset="-122"/>
                    <a:ea typeface="楷体" panose="02010609060101010101" pitchFamily="49" charset="-122"/>
                  </a:rPr>
                  <a:t>条边，</a:t>
                </a:r>
                <a14:m>
                  <m:oMath xmlns:m="http://schemas.openxmlformats.org/officeDocument/2006/math">
                    <m:r>
                      <a:rPr lang="en-US" altLang="zh-CN" sz="2000" b="1" i="1" smtClean="0">
                        <a:solidFill>
                          <a:srgbClr val="002060"/>
                        </a:solidFill>
                        <a:latin typeface="Cambria Math" panose="02040503050406030204" pitchFamily="18" charset="0"/>
                      </a:rPr>
                      <m:t>𝒅</m:t>
                    </m:r>
                  </m:oMath>
                </a14:m>
                <a:r>
                  <a:rPr lang="zh-CN" altLang="en-US" sz="2000" b="1" dirty="0">
                    <a:solidFill>
                      <a:srgbClr val="002060"/>
                    </a:solidFill>
                    <a:latin typeface="楷体" panose="02010609060101010101" pitchFamily="49" charset="-122"/>
                    <a:ea typeface="楷体" panose="02010609060101010101" pitchFamily="49" charset="-122"/>
                  </a:rPr>
                  <a:t>个面，则</a:t>
                </a:r>
                <a:endParaRPr lang="en-US" altLang="zh-CN" sz="2000" b="1" dirty="0">
                  <a:solidFill>
                    <a:srgbClr val="002060"/>
                  </a:solidFill>
                  <a:latin typeface="楷体" panose="02010609060101010101" pitchFamily="49" charset="-122"/>
                  <a:ea typeface="楷体" panose="02010609060101010101" pitchFamily="49" charset="-122"/>
                </a:endParaRPr>
              </a:p>
              <a:p>
                <a:pPr algn="ctr">
                  <a:spcBef>
                    <a:spcPts val="600"/>
                  </a:spcBef>
                  <a:spcAft>
                    <a:spcPts val="600"/>
                  </a:spcAft>
                </a:pP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𝒎</m:t>
                    </m:r>
                    <m:r>
                      <a:rPr lang="en-US" altLang="zh-CN" sz="2000" b="1" i="1" smtClean="0">
                        <a:solidFill>
                          <a:schemeClr val="accent2">
                            <a:lumMod val="50000"/>
                          </a:schemeClr>
                        </a:solidFill>
                        <a:latin typeface="Cambria Math" panose="02040503050406030204" pitchFamily="18" charset="0"/>
                      </a:rPr>
                      <m:t> = </m:t>
                    </m:r>
                    <m:r>
                      <a:rPr lang="en-US" altLang="zh-CN" sz="2000" b="1" i="1">
                        <a:solidFill>
                          <a:schemeClr val="accent2">
                            <a:lumMod val="50000"/>
                          </a:schemeClr>
                        </a:solidFill>
                        <a:latin typeface="Cambria Math" panose="02040503050406030204" pitchFamily="18" charset="0"/>
                      </a:rPr>
                      <m:t>𝟑</m:t>
                    </m:r>
                    <m:r>
                      <a:rPr lang="en-US" altLang="zh-CN" sz="2000" b="1" i="1">
                        <a:solidFill>
                          <a:schemeClr val="accent2">
                            <a:lumMod val="50000"/>
                          </a:schemeClr>
                        </a:solidFill>
                        <a:latin typeface="Cambria Math" panose="02040503050406030204" pitchFamily="18" charset="0"/>
                      </a:rPr>
                      <m:t>𝒏</m:t>
                    </m:r>
                    <m:r>
                      <a:rPr lang="en-US" altLang="zh-CN" sz="2000" b="1" i="1">
                        <a:solidFill>
                          <a:schemeClr val="accent2">
                            <a:lumMod val="50000"/>
                          </a:schemeClr>
                        </a:solidFill>
                        <a:latin typeface="Cambria Math" panose="02040503050406030204" pitchFamily="18" charset="0"/>
                      </a:rPr>
                      <m:t> − </m:t>
                    </m:r>
                    <m:r>
                      <a:rPr lang="en-US" altLang="zh-CN" sz="2000" b="1" i="1">
                        <a:solidFill>
                          <a:schemeClr val="accent2">
                            <a:lumMod val="50000"/>
                          </a:schemeClr>
                        </a:solidFill>
                        <a:latin typeface="Cambria Math" panose="02040503050406030204" pitchFamily="18" charset="0"/>
                      </a:rPr>
                      <m:t>𝟔</m:t>
                    </m:r>
                  </m:oMath>
                </a14:m>
                <a:r>
                  <a:rPr lang="zh-CN" altLang="en-US" sz="2000" b="1" dirty="0">
                    <a:solidFill>
                      <a:schemeClr val="accent2">
                        <a:lumMod val="50000"/>
                      </a:schemeClr>
                    </a:solidFill>
                  </a:rPr>
                  <a:t> 且 </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𝒅</m:t>
                    </m:r>
                    <m:r>
                      <a:rPr lang="en-US" altLang="zh-CN" sz="2000" b="1" i="1" smtClean="0">
                        <a:solidFill>
                          <a:schemeClr val="accent2">
                            <a:lumMod val="50000"/>
                          </a:schemeClr>
                        </a:solidFill>
                        <a:latin typeface="Cambria Math" panose="02040503050406030204" pitchFamily="18" charset="0"/>
                      </a:rPr>
                      <m:t> = </m:t>
                    </m:r>
                    <m:r>
                      <a:rPr lang="en-US" altLang="zh-CN" sz="2000" b="1" i="1" smtClean="0">
                        <a:solidFill>
                          <a:schemeClr val="accent2">
                            <a:lumMod val="50000"/>
                          </a:schemeClr>
                        </a:solidFill>
                        <a:latin typeface="Cambria Math" panose="02040503050406030204" pitchFamily="18" charset="0"/>
                      </a:rPr>
                      <m:t>𝟐</m:t>
                    </m:r>
                    <m:r>
                      <a:rPr lang="en-US" altLang="zh-CN" sz="2000" b="1" i="1" smtClean="0">
                        <a:solidFill>
                          <a:schemeClr val="accent2">
                            <a:lumMod val="50000"/>
                          </a:schemeClr>
                        </a:solidFill>
                        <a:latin typeface="Cambria Math" panose="02040503050406030204" pitchFamily="18" charset="0"/>
                      </a:rPr>
                      <m:t>𝒏</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𝟒</m:t>
                    </m:r>
                  </m:oMath>
                </a14:m>
                <a:endParaRPr lang="en-US" altLang="zh-CN" sz="2000" b="1" dirty="0">
                  <a:solidFill>
                    <a:schemeClr val="accent2">
                      <a:lumMod val="50000"/>
                    </a:schemeClr>
                  </a:solidFill>
                </a:endParaRPr>
              </a:p>
            </p:txBody>
          </p:sp>
        </mc:Choice>
        <mc:Fallback xmlns="">
          <p:sp>
            <p:nvSpPr>
              <p:cNvPr id="4" name="文本框 3">
                <a:extLst>
                  <a:ext uri="{FF2B5EF4-FFF2-40B4-BE49-F238E27FC236}">
                    <a16:creationId xmlns:a16="http://schemas.microsoft.com/office/drawing/2014/main" id="{FCA4F3A1-272B-419B-B05A-56ADD1EB0C8D}"/>
                  </a:ext>
                </a:extLst>
              </p:cNvPr>
              <p:cNvSpPr txBox="1">
                <a:spLocks noRot="1" noChangeAspect="1" noMove="1" noResize="1" noEditPoints="1" noAdjustHandles="1" noChangeArrowheads="1" noChangeShapeType="1" noTextEdit="1"/>
              </p:cNvSpPr>
              <p:nvPr/>
            </p:nvSpPr>
            <p:spPr>
              <a:xfrm>
                <a:off x="6095998" y="3664376"/>
                <a:ext cx="5262732" cy="861774"/>
              </a:xfrm>
              <a:prstGeom prst="rect">
                <a:avLst/>
              </a:prstGeom>
              <a:blipFill>
                <a:blip r:embed="rId4"/>
                <a:stretch>
                  <a:fillRect l="-1159" t="-4965" r="-1159" b="-1205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A429E0DC-C857-477D-9CEE-6F73F6F63322}"/>
                  </a:ext>
                </a:extLst>
              </p:cNvPr>
              <p:cNvSpPr txBox="1"/>
              <p:nvPr/>
            </p:nvSpPr>
            <p:spPr>
              <a:xfrm>
                <a:off x="6095996" y="4971950"/>
                <a:ext cx="5262733" cy="1169551"/>
              </a:xfrm>
              <a:prstGeom prst="rect">
                <a:avLst/>
              </a:prstGeom>
              <a:solidFill>
                <a:srgbClr val="FFFF00">
                  <a:alpha val="50000"/>
                </a:srgbClr>
              </a:solidFill>
            </p:spPr>
            <p:txBody>
              <a:bodyPr wrap="square" rtlCol="0">
                <a:spAutoFit/>
              </a:bodyPr>
              <a:lstStyle/>
              <a:p>
                <a:pPr>
                  <a:spcBef>
                    <a:spcPts val="600"/>
                  </a:spcBef>
                  <a:spcAft>
                    <a:spcPts val="600"/>
                  </a:spcAft>
                </a:pPr>
                <a:r>
                  <a:rPr lang="zh-CN" altLang="en-US" sz="2000" b="1" dirty="0">
                    <a:solidFill>
                      <a:srgbClr val="002060"/>
                    </a:solidFill>
                    <a:latin typeface="楷体" panose="02010609060101010101" pitchFamily="49" charset="-122"/>
                    <a:ea typeface="楷体" panose="02010609060101010101" pitchFamily="49" charset="-122"/>
                  </a:rPr>
                  <a:t>连通简单平面图</a:t>
                </a: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rPr>
                      <m:t>𝑮</m:t>
                    </m:r>
                  </m:oMath>
                </a14:m>
                <a:r>
                  <a:rPr lang="zh-CN" altLang="en-US" sz="2000" b="1" dirty="0">
                    <a:solidFill>
                      <a:srgbClr val="002060"/>
                    </a:solidFill>
                    <a:latin typeface="楷体" panose="02010609060101010101" pitchFamily="49" charset="-122"/>
                    <a:ea typeface="楷体" panose="02010609060101010101" pitchFamily="49" charset="-122"/>
                  </a:rPr>
                  <a:t>有</a:t>
                </a: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rPr>
                      <m:t>𝒏</m:t>
                    </m:r>
                    <m:r>
                      <a:rPr lang="en-US" altLang="zh-CN" sz="2000" b="1" i="1" smtClean="0">
                        <a:solidFill>
                          <a:srgbClr val="002060"/>
                        </a:solidFill>
                        <a:latin typeface="Cambria Math" panose="02040503050406030204" pitchFamily="18" charset="0"/>
                        <a:ea typeface="楷体" panose="02010609060101010101" pitchFamily="49" charset="-122"/>
                      </a:rPr>
                      <m:t>(</m:t>
                    </m:r>
                    <m:r>
                      <a:rPr lang="en-US" altLang="zh-CN" sz="2000" b="1" i="1" smtClean="0">
                        <a:solidFill>
                          <a:srgbClr val="C00000"/>
                        </a:solidFill>
                        <a:latin typeface="Cambria Math" panose="02040503050406030204" pitchFamily="18" charset="0"/>
                        <a:ea typeface="楷体" panose="02010609060101010101" pitchFamily="49" charset="-122"/>
                      </a:rPr>
                      <m:t>𝒏</m:t>
                    </m:r>
                    <m:r>
                      <a:rPr lang="en-US" altLang="zh-CN" sz="2000" b="1" i="1" smtClean="0">
                        <a:solidFill>
                          <a:srgbClr val="C00000"/>
                        </a:solidFill>
                        <a:latin typeface="Cambria Math" panose="02040503050406030204" pitchFamily="18" charset="0"/>
                        <a:ea typeface="楷体" panose="02010609060101010101" pitchFamily="49" charset="-122"/>
                      </a:rPr>
                      <m:t>≥</m:t>
                    </m:r>
                    <m:r>
                      <a:rPr lang="en-US" altLang="zh-CN" sz="2000" b="1" i="1" smtClean="0">
                        <a:solidFill>
                          <a:srgbClr val="C00000"/>
                        </a:solidFill>
                        <a:latin typeface="Cambria Math" panose="02040503050406030204" pitchFamily="18" charset="0"/>
                        <a:ea typeface="楷体" panose="02010609060101010101" pitchFamily="49" charset="-122"/>
                      </a:rPr>
                      <m:t>𝟑</m:t>
                    </m:r>
                    <m:r>
                      <a:rPr lang="en-US" altLang="zh-CN" sz="2000" b="1" i="1" smtClean="0">
                        <a:solidFill>
                          <a:srgbClr val="002060"/>
                        </a:solidFill>
                        <a:latin typeface="Cambria Math" panose="02040503050406030204" pitchFamily="18" charset="0"/>
                        <a:ea typeface="楷体" panose="02010609060101010101" pitchFamily="49" charset="-122"/>
                      </a:rPr>
                      <m:t>)</m:t>
                    </m:r>
                  </m:oMath>
                </a14:m>
                <a:r>
                  <a:rPr lang="zh-CN" altLang="en-US" sz="2000" b="1" dirty="0">
                    <a:solidFill>
                      <a:srgbClr val="002060"/>
                    </a:solidFill>
                    <a:latin typeface="楷体" panose="02010609060101010101" pitchFamily="49" charset="-122"/>
                    <a:ea typeface="楷体" panose="02010609060101010101" pitchFamily="49" charset="-122"/>
                  </a:rPr>
                  <a:t>个顶点，</a:t>
                </a: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rPr>
                      <m:t>𝒎</m:t>
                    </m:r>
                  </m:oMath>
                </a14:m>
                <a:r>
                  <a:rPr lang="zh-CN" altLang="en-US" sz="2000" b="1" dirty="0">
                    <a:solidFill>
                      <a:srgbClr val="002060"/>
                    </a:solidFill>
                    <a:latin typeface="楷体" panose="02010609060101010101" pitchFamily="49" charset="-122"/>
                    <a:ea typeface="楷体" panose="02010609060101010101" pitchFamily="49" charset="-122"/>
                  </a:rPr>
                  <a:t>条边，</a:t>
                </a: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rPr>
                      <m:t>𝒅</m:t>
                    </m:r>
                  </m:oMath>
                </a14:m>
                <a:r>
                  <a:rPr lang="zh-CN" altLang="en-US" sz="2000" b="1" dirty="0">
                    <a:solidFill>
                      <a:srgbClr val="002060"/>
                    </a:solidFill>
                    <a:latin typeface="楷体" panose="02010609060101010101" pitchFamily="49" charset="-122"/>
                    <a:ea typeface="楷体" panose="02010609060101010101" pitchFamily="49" charset="-122"/>
                  </a:rPr>
                  <a:t>个面，则</a:t>
                </a:r>
                <a:endParaRPr lang="en-US" altLang="zh-CN" sz="2000" b="1" dirty="0">
                  <a:solidFill>
                    <a:srgbClr val="002060"/>
                  </a:solidFill>
                  <a:latin typeface="楷体" panose="02010609060101010101" pitchFamily="49" charset="-122"/>
                  <a:ea typeface="楷体" panose="02010609060101010101" pitchFamily="49" charset="-122"/>
                </a:endParaRPr>
              </a:p>
              <a:p>
                <a:pPr algn="ctr">
                  <a:spcBef>
                    <a:spcPts val="600"/>
                  </a:spcBef>
                  <a:spcAft>
                    <a:spcPts val="600"/>
                  </a:spcAft>
                </a:pPr>
                <a14:m>
                  <m:oMath xmlns:m="http://schemas.openxmlformats.org/officeDocument/2006/math">
                    <m:r>
                      <a:rPr lang="en-US" altLang="zh-CN" sz="2000" b="1" i="1" smtClean="0">
                        <a:solidFill>
                          <a:srgbClr val="C00000"/>
                        </a:solidFill>
                        <a:latin typeface="Cambria Math" panose="02040503050406030204" pitchFamily="18" charset="0"/>
                      </a:rPr>
                      <m:t>𝒎</m:t>
                    </m:r>
                    <m:r>
                      <a:rPr lang="en-US" altLang="zh-CN" sz="2000" b="1" i="1" smtClean="0">
                        <a:solidFill>
                          <a:srgbClr val="C00000"/>
                        </a:solidFill>
                        <a:latin typeface="Cambria Math" panose="02040503050406030204" pitchFamily="18" charset="0"/>
                      </a:rPr>
                      <m:t> ≤</m:t>
                    </m:r>
                    <m:r>
                      <a:rPr lang="en-US" altLang="zh-CN" sz="2000" b="1" i="1">
                        <a:solidFill>
                          <a:srgbClr val="C00000"/>
                        </a:solidFill>
                        <a:latin typeface="Cambria Math" panose="02040503050406030204" pitchFamily="18" charset="0"/>
                      </a:rPr>
                      <m:t>𝟑</m:t>
                    </m:r>
                    <m:r>
                      <a:rPr lang="en-US" altLang="zh-CN" sz="2000" b="1" i="1">
                        <a:solidFill>
                          <a:srgbClr val="C00000"/>
                        </a:solidFill>
                        <a:latin typeface="Cambria Math" panose="02040503050406030204" pitchFamily="18" charset="0"/>
                      </a:rPr>
                      <m:t>𝒏</m:t>
                    </m:r>
                    <m:r>
                      <a:rPr lang="en-US" altLang="zh-CN" sz="2000" b="1" i="1">
                        <a:solidFill>
                          <a:srgbClr val="C00000"/>
                        </a:solidFill>
                        <a:latin typeface="Cambria Math" panose="02040503050406030204" pitchFamily="18" charset="0"/>
                      </a:rPr>
                      <m:t>−</m:t>
                    </m:r>
                    <m:r>
                      <a:rPr lang="en-US" altLang="zh-CN" sz="2000" b="1" i="1">
                        <a:solidFill>
                          <a:srgbClr val="C00000"/>
                        </a:solidFill>
                        <a:latin typeface="Cambria Math" panose="02040503050406030204" pitchFamily="18" charset="0"/>
                      </a:rPr>
                      <m:t>𝟔</m:t>
                    </m:r>
                  </m:oMath>
                </a14:m>
                <a:r>
                  <a:rPr lang="en-US" altLang="zh-CN" sz="2000" b="1" i="1" dirty="0">
                    <a:solidFill>
                      <a:schemeClr val="accent2">
                        <a:lumMod val="50000"/>
                      </a:schemeClr>
                    </a:solidFill>
                    <a:latin typeface="Cambria Math" panose="02040503050406030204" pitchFamily="18" charset="0"/>
                  </a:rPr>
                  <a:t> </a:t>
                </a:r>
                <a:r>
                  <a:rPr lang="zh-CN" altLang="en-US" sz="2000" b="1" dirty="0">
                    <a:solidFill>
                      <a:schemeClr val="accent2">
                        <a:lumMod val="50000"/>
                      </a:schemeClr>
                    </a:solidFill>
                    <a:latin typeface="Cambria Math" panose="02040503050406030204" pitchFamily="18" charset="0"/>
                  </a:rPr>
                  <a:t>且</a:t>
                </a:r>
                <a:r>
                  <a:rPr lang="zh-CN" altLang="en-US" sz="2000" b="1" i="1" dirty="0">
                    <a:solidFill>
                      <a:schemeClr val="accent2">
                        <a:lumMod val="50000"/>
                      </a:schemeClr>
                    </a:solidFill>
                    <a:latin typeface="Cambria Math" panose="02040503050406030204" pitchFamily="18" charset="0"/>
                  </a:rPr>
                  <a:t> </a:t>
                </a:r>
                <a14:m>
                  <m:oMath xmlns:m="http://schemas.openxmlformats.org/officeDocument/2006/math">
                    <m:r>
                      <a:rPr lang="en-US" altLang="zh-CN" sz="2000" b="1" i="1" smtClean="0">
                        <a:solidFill>
                          <a:srgbClr val="C00000"/>
                        </a:solidFill>
                        <a:latin typeface="Cambria Math" panose="02040503050406030204" pitchFamily="18" charset="0"/>
                      </a:rPr>
                      <m:t>𝒅</m:t>
                    </m:r>
                    <m:r>
                      <a:rPr lang="en-US" altLang="zh-CN" sz="2000" b="1" i="1">
                        <a:solidFill>
                          <a:srgbClr val="C00000"/>
                        </a:solidFill>
                        <a:latin typeface="Cambria Math" panose="02040503050406030204" pitchFamily="18" charset="0"/>
                      </a:rPr>
                      <m:t>≤</m:t>
                    </m:r>
                    <m:r>
                      <a:rPr lang="en-US" altLang="zh-CN" sz="2000" b="1" i="1">
                        <a:solidFill>
                          <a:srgbClr val="C00000"/>
                        </a:solidFill>
                        <a:latin typeface="Cambria Math" panose="02040503050406030204" pitchFamily="18" charset="0"/>
                      </a:rPr>
                      <m:t>𝟐</m:t>
                    </m:r>
                    <m:r>
                      <a:rPr lang="en-US" altLang="zh-CN" sz="2000" b="1" i="1">
                        <a:solidFill>
                          <a:srgbClr val="C00000"/>
                        </a:solidFill>
                        <a:latin typeface="Cambria Math" panose="02040503050406030204" pitchFamily="18" charset="0"/>
                      </a:rPr>
                      <m:t>𝒏</m:t>
                    </m:r>
                    <m:r>
                      <a:rPr lang="en-US" altLang="zh-CN" sz="2000" b="1" i="1">
                        <a:solidFill>
                          <a:srgbClr val="C00000"/>
                        </a:solidFill>
                        <a:latin typeface="Cambria Math" panose="02040503050406030204" pitchFamily="18" charset="0"/>
                      </a:rPr>
                      <m:t>−</m:t>
                    </m:r>
                    <m:r>
                      <a:rPr lang="en-US" altLang="zh-CN" sz="2000" b="1" i="1">
                        <a:solidFill>
                          <a:srgbClr val="C00000"/>
                        </a:solidFill>
                        <a:latin typeface="Cambria Math" panose="02040503050406030204" pitchFamily="18" charset="0"/>
                      </a:rPr>
                      <m:t>𝟒</m:t>
                    </m:r>
                  </m:oMath>
                </a14:m>
                <a:endParaRPr lang="zh-CN" altLang="en-US" sz="2000" b="1" i="1" dirty="0">
                  <a:solidFill>
                    <a:schemeClr val="accent2">
                      <a:lumMod val="50000"/>
                    </a:schemeClr>
                  </a:solidFill>
                  <a:latin typeface="Cambria Math" panose="02040503050406030204" pitchFamily="18" charset="0"/>
                </a:endParaRPr>
              </a:p>
            </p:txBody>
          </p:sp>
        </mc:Choice>
        <mc:Fallback xmlns="">
          <p:sp>
            <p:nvSpPr>
              <p:cNvPr id="6" name="文本框 5">
                <a:extLst>
                  <a:ext uri="{FF2B5EF4-FFF2-40B4-BE49-F238E27FC236}">
                    <a16:creationId xmlns:a16="http://schemas.microsoft.com/office/drawing/2014/main" id="{A429E0DC-C857-477D-9CEE-6F73F6F63322}"/>
                  </a:ext>
                </a:extLst>
              </p:cNvPr>
              <p:cNvSpPr txBox="1">
                <a:spLocks noRot="1" noChangeAspect="1" noMove="1" noResize="1" noEditPoints="1" noAdjustHandles="1" noChangeArrowheads="1" noChangeShapeType="1" noTextEdit="1"/>
              </p:cNvSpPr>
              <p:nvPr/>
            </p:nvSpPr>
            <p:spPr>
              <a:xfrm>
                <a:off x="6095996" y="4971950"/>
                <a:ext cx="5262733" cy="1169551"/>
              </a:xfrm>
              <a:prstGeom prst="rect">
                <a:avLst/>
              </a:prstGeom>
              <a:blipFill>
                <a:blip r:embed="rId5"/>
                <a:stretch>
                  <a:fillRect l="-1159" t="-4188" r="-6025" b="-8901"/>
                </a:stretch>
              </a:blipFill>
            </p:spPr>
            <p:txBody>
              <a:bodyPr/>
              <a:lstStyle/>
              <a:p>
                <a:r>
                  <a:rPr lang="zh-CN" altLang="en-US">
                    <a:noFill/>
                  </a:rPr>
                  <a:t> </a:t>
                </a:r>
              </a:p>
            </p:txBody>
          </p:sp>
        </mc:Fallback>
      </mc:AlternateContent>
      <p:sp>
        <p:nvSpPr>
          <p:cNvPr id="11" name="箭头: 右 10">
            <a:extLst>
              <a:ext uri="{FF2B5EF4-FFF2-40B4-BE49-F238E27FC236}">
                <a16:creationId xmlns:a16="http://schemas.microsoft.com/office/drawing/2014/main" id="{2A366239-AFFA-46D6-B764-218AB5F6AD6A}"/>
              </a:ext>
            </a:extLst>
          </p:cNvPr>
          <p:cNvSpPr/>
          <p:nvPr/>
        </p:nvSpPr>
        <p:spPr>
          <a:xfrm>
            <a:off x="5473242" y="4069278"/>
            <a:ext cx="622756"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箭头: 下 11">
            <a:extLst>
              <a:ext uri="{FF2B5EF4-FFF2-40B4-BE49-F238E27FC236}">
                <a16:creationId xmlns:a16="http://schemas.microsoft.com/office/drawing/2014/main" id="{23C2C0DB-19C4-4D3F-A044-F5FE64560B11}"/>
              </a:ext>
            </a:extLst>
          </p:cNvPr>
          <p:cNvSpPr/>
          <p:nvPr/>
        </p:nvSpPr>
        <p:spPr>
          <a:xfrm>
            <a:off x="8696668" y="4526150"/>
            <a:ext cx="85519" cy="4458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4746950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平面图</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第三十一讲  一些特殊的图</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10</a:t>
            </a:fld>
            <a:r>
              <a:rPr lang="en-US" altLang="zh-CN" dirty="0">
                <a:latin typeface="Arial" panose="020B0604020202020204" pitchFamily="34" charset="0"/>
                <a:ea typeface="楷体" panose="02010609060101010101" pitchFamily="49" charset="-122"/>
                <a:cs typeface="Arial" panose="020B0604020202020204" pitchFamily="34" charset="0"/>
              </a:rPr>
              <a:t>/32</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极大平面图判断举例</a:t>
            </a:r>
          </a:p>
        </p:txBody>
      </p:sp>
      <p:sp>
        <p:nvSpPr>
          <p:cNvPr id="3" name="文本框 2">
            <a:extLst>
              <a:ext uri="{FF2B5EF4-FFF2-40B4-BE49-F238E27FC236}">
                <a16:creationId xmlns:a16="http://schemas.microsoft.com/office/drawing/2014/main" id="{36247AB3-91BA-41D8-BC4F-2E46556066E5}"/>
              </a:ext>
            </a:extLst>
          </p:cNvPr>
          <p:cNvSpPr txBox="1"/>
          <p:nvPr/>
        </p:nvSpPr>
        <p:spPr>
          <a:xfrm>
            <a:off x="1007980" y="1256477"/>
            <a:ext cx="7131004" cy="461665"/>
          </a:xfrm>
          <a:prstGeom prst="rect">
            <a:avLst/>
          </a:prstGeom>
          <a:solidFill>
            <a:schemeClr val="accent6">
              <a:lumMod val="20000"/>
              <a:lumOff val="80000"/>
              <a:alpha val="50000"/>
            </a:schemeClr>
          </a:solidFill>
        </p:spPr>
        <p:txBody>
          <a:bodyPr wrap="square" rtlCol="0">
            <a:spAutoFit/>
          </a:bodyPr>
          <a:lstStyle/>
          <a:p>
            <a:r>
              <a:rPr lang="zh-CN" altLang="en-US" sz="2400" b="1">
                <a:solidFill>
                  <a:srgbClr val="002060"/>
                </a:solidFill>
                <a:latin typeface="楷体" panose="02010609060101010101" pitchFamily="49" charset="-122"/>
                <a:ea typeface="楷体" panose="02010609060101010101" pitchFamily="49" charset="-122"/>
              </a:rPr>
              <a:t>下图是否是平面图？是否是极大平面图？为什么？</a:t>
            </a:r>
          </a:p>
        </p:txBody>
      </p:sp>
      <p:pic>
        <p:nvPicPr>
          <p:cNvPr id="4" name="图片 3">
            <a:extLst>
              <a:ext uri="{FF2B5EF4-FFF2-40B4-BE49-F238E27FC236}">
                <a16:creationId xmlns:a16="http://schemas.microsoft.com/office/drawing/2014/main" id="{8E9687B2-B393-49AE-9328-D6D4403DD91C}"/>
              </a:ext>
            </a:extLst>
          </p:cNvPr>
          <p:cNvPicPr>
            <a:picLocks noChangeAspect="1"/>
          </p:cNvPicPr>
          <p:nvPr/>
        </p:nvPicPr>
        <p:blipFill>
          <a:blip r:embed="rId2"/>
          <a:stretch>
            <a:fillRect/>
          </a:stretch>
        </p:blipFill>
        <p:spPr>
          <a:xfrm>
            <a:off x="2445971" y="2129203"/>
            <a:ext cx="2524125" cy="3457575"/>
          </a:xfrm>
          <a:prstGeom prst="rect">
            <a:avLst/>
          </a:prstGeom>
        </p:spPr>
      </p:pic>
    </p:spTree>
    <p:extLst>
      <p:ext uri="{BB962C8B-B14F-4D97-AF65-F5344CB8AC3E}">
        <p14:creationId xmlns:p14="http://schemas.microsoft.com/office/powerpoint/2010/main" val="32128999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平面图</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第三十一讲  一些特殊的图</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11</a:t>
            </a:fld>
            <a:r>
              <a:rPr lang="en-US" altLang="zh-CN" dirty="0">
                <a:latin typeface="Arial" panose="020B0604020202020204" pitchFamily="34" charset="0"/>
                <a:ea typeface="楷体" panose="02010609060101010101" pitchFamily="49" charset="-122"/>
                <a:cs typeface="Arial" panose="020B0604020202020204" pitchFamily="34" charset="0"/>
              </a:rPr>
              <a:t>/32</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极大平面图判断举例</a:t>
            </a:r>
          </a:p>
        </p:txBody>
      </p:sp>
      <p:sp>
        <p:nvSpPr>
          <p:cNvPr id="3" name="文本框 2">
            <a:extLst>
              <a:ext uri="{FF2B5EF4-FFF2-40B4-BE49-F238E27FC236}">
                <a16:creationId xmlns:a16="http://schemas.microsoft.com/office/drawing/2014/main" id="{36247AB3-91BA-41D8-BC4F-2E46556066E5}"/>
              </a:ext>
            </a:extLst>
          </p:cNvPr>
          <p:cNvSpPr txBox="1"/>
          <p:nvPr/>
        </p:nvSpPr>
        <p:spPr>
          <a:xfrm>
            <a:off x="1007980" y="1256477"/>
            <a:ext cx="7131004" cy="461665"/>
          </a:xfrm>
          <a:prstGeom prst="rect">
            <a:avLst/>
          </a:prstGeom>
          <a:solidFill>
            <a:schemeClr val="accent6">
              <a:lumMod val="20000"/>
              <a:lumOff val="80000"/>
              <a:alpha val="50000"/>
            </a:schemeClr>
          </a:solidFill>
        </p:spPr>
        <p:txBody>
          <a:bodyPr wrap="square" rtlCol="0">
            <a:spAutoFit/>
          </a:bodyPr>
          <a:lstStyle/>
          <a:p>
            <a:r>
              <a:rPr lang="zh-CN" altLang="en-US" sz="2400" b="1">
                <a:solidFill>
                  <a:srgbClr val="002060"/>
                </a:solidFill>
                <a:latin typeface="楷体" panose="02010609060101010101" pitchFamily="49" charset="-122"/>
                <a:ea typeface="楷体" panose="02010609060101010101" pitchFamily="49" charset="-122"/>
              </a:rPr>
              <a:t>下图是否是平面图？是否是极大平面图？为什么？</a:t>
            </a:r>
          </a:p>
        </p:txBody>
      </p:sp>
      <p:pic>
        <p:nvPicPr>
          <p:cNvPr id="4" name="图片 3">
            <a:extLst>
              <a:ext uri="{FF2B5EF4-FFF2-40B4-BE49-F238E27FC236}">
                <a16:creationId xmlns:a16="http://schemas.microsoft.com/office/drawing/2014/main" id="{8E9687B2-B393-49AE-9328-D6D4403DD91C}"/>
              </a:ext>
            </a:extLst>
          </p:cNvPr>
          <p:cNvPicPr>
            <a:picLocks noChangeAspect="1"/>
          </p:cNvPicPr>
          <p:nvPr/>
        </p:nvPicPr>
        <p:blipFill>
          <a:blip r:embed="rId2"/>
          <a:stretch>
            <a:fillRect/>
          </a:stretch>
        </p:blipFill>
        <p:spPr>
          <a:xfrm>
            <a:off x="2445971" y="2129203"/>
            <a:ext cx="2524125" cy="3457575"/>
          </a:xfrm>
          <a:prstGeom prst="rect">
            <a:avLst/>
          </a:prstGeom>
        </p:spPr>
      </p:pic>
      <p:pic>
        <p:nvPicPr>
          <p:cNvPr id="2" name="图片 1">
            <a:extLst>
              <a:ext uri="{FF2B5EF4-FFF2-40B4-BE49-F238E27FC236}">
                <a16:creationId xmlns:a16="http://schemas.microsoft.com/office/drawing/2014/main" id="{D7DC861E-75D3-4152-A7BF-8CFF6DCFE3F0}"/>
              </a:ext>
            </a:extLst>
          </p:cNvPr>
          <p:cNvPicPr>
            <a:picLocks noChangeAspect="1"/>
          </p:cNvPicPr>
          <p:nvPr/>
        </p:nvPicPr>
        <p:blipFill>
          <a:blip r:embed="rId3"/>
          <a:stretch>
            <a:fillRect/>
          </a:stretch>
        </p:blipFill>
        <p:spPr>
          <a:xfrm>
            <a:off x="5953140" y="1952600"/>
            <a:ext cx="2537532" cy="3725588"/>
          </a:xfrm>
          <a:prstGeom prst="rect">
            <a:avLst/>
          </a:prstGeom>
        </p:spPr>
      </p:pic>
      <p:sp>
        <p:nvSpPr>
          <p:cNvPr id="6" name="箭头: 右 5">
            <a:extLst>
              <a:ext uri="{FF2B5EF4-FFF2-40B4-BE49-F238E27FC236}">
                <a16:creationId xmlns:a16="http://schemas.microsoft.com/office/drawing/2014/main" id="{4C802C84-316A-4DAE-AC82-FBF6DD4E17C5}"/>
              </a:ext>
            </a:extLst>
          </p:cNvPr>
          <p:cNvSpPr/>
          <p:nvPr/>
        </p:nvSpPr>
        <p:spPr>
          <a:xfrm>
            <a:off x="5039068" y="3792535"/>
            <a:ext cx="736782"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a:extLst>
              <a:ext uri="{FF2B5EF4-FFF2-40B4-BE49-F238E27FC236}">
                <a16:creationId xmlns:a16="http://schemas.microsoft.com/office/drawing/2014/main" id="{16DEB605-226C-4C5B-AFDB-159B69E2EB08}"/>
              </a:ext>
            </a:extLst>
          </p:cNvPr>
          <p:cNvSpPr txBox="1"/>
          <p:nvPr/>
        </p:nvSpPr>
        <p:spPr>
          <a:xfrm>
            <a:off x="4307536" y="5139859"/>
            <a:ext cx="2524125" cy="789255"/>
          </a:xfrm>
          <a:prstGeom prst="rect">
            <a:avLst/>
          </a:prstGeom>
          <a:solidFill>
            <a:schemeClr val="accent4">
              <a:lumMod val="20000"/>
              <a:lumOff val="80000"/>
            </a:schemeClr>
          </a:solidFill>
        </p:spPr>
        <p:txBody>
          <a:bodyPr wrap="square" rtlCol="0">
            <a:spAutoFit/>
          </a:bodyPr>
          <a:lstStyle/>
          <a:p>
            <a:pPr>
              <a:lnSpc>
                <a:spcPts val="2800"/>
              </a:lnSpc>
            </a:pPr>
            <a:r>
              <a:rPr lang="zh-CN" altLang="en-US" sz="2000" b="1">
                <a:solidFill>
                  <a:schemeClr val="accent2">
                    <a:lumMod val="50000"/>
                  </a:schemeClr>
                </a:solidFill>
              </a:rPr>
              <a:t>是平面图，这里给出它的一个平面嵌入</a:t>
            </a:r>
          </a:p>
        </p:txBody>
      </p:sp>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F983BA4D-68FE-4BF4-9627-E4E694222BAD}"/>
                  </a:ext>
                </a:extLst>
              </p:cNvPr>
              <p:cNvSpPr txBox="1"/>
              <p:nvPr/>
            </p:nvSpPr>
            <p:spPr>
              <a:xfrm>
                <a:off x="8490671" y="3130815"/>
                <a:ext cx="3126813" cy="1506438"/>
              </a:xfrm>
              <a:prstGeom prst="rect">
                <a:avLst/>
              </a:prstGeom>
              <a:solidFill>
                <a:schemeClr val="accent4">
                  <a:lumMod val="20000"/>
                  <a:lumOff val="80000"/>
                </a:schemeClr>
              </a:solidFill>
            </p:spPr>
            <p:txBody>
              <a:bodyPr wrap="square" rtlCol="0">
                <a:spAutoFit/>
              </a:bodyPr>
              <a:lstStyle/>
              <a:p>
                <a:pPr>
                  <a:lnSpc>
                    <a:spcPts val="2800"/>
                  </a:lnSpc>
                </a:pPr>
                <a:r>
                  <a:rPr lang="zh-CN" altLang="en-US" sz="2000" b="1">
                    <a:solidFill>
                      <a:schemeClr val="accent2">
                        <a:lumMod val="50000"/>
                      </a:schemeClr>
                    </a:solidFill>
                  </a:rPr>
                  <a:t>是极大平面图，顶点数</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𝒏</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𝟔</m:t>
                    </m:r>
                  </m:oMath>
                </a14:m>
                <a:r>
                  <a:rPr lang="en-US" altLang="zh-CN" sz="2000" b="1">
                    <a:solidFill>
                      <a:schemeClr val="accent2">
                        <a:lumMod val="50000"/>
                      </a:schemeClr>
                    </a:solidFill>
                  </a:rPr>
                  <a:t>,</a:t>
                </a:r>
                <a:r>
                  <a:rPr lang="zh-CN" altLang="en-US" sz="2000" b="1">
                    <a:solidFill>
                      <a:schemeClr val="accent2">
                        <a:lumMod val="50000"/>
                      </a:schemeClr>
                    </a:solidFill>
                  </a:rPr>
                  <a:t>而边数</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𝒎</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𝟏𝟐</m:t>
                    </m:r>
                  </m:oMath>
                </a14:m>
                <a:r>
                  <a:rPr lang="en-US" altLang="zh-CN" sz="2000" b="1">
                    <a:solidFill>
                      <a:schemeClr val="accent2">
                        <a:lumMod val="50000"/>
                      </a:schemeClr>
                    </a:solidFill>
                  </a:rPr>
                  <a:t>(</a:t>
                </a:r>
                <a:r>
                  <a:rPr lang="zh-CN" altLang="en-US" sz="2000" b="1">
                    <a:solidFill>
                      <a:schemeClr val="accent2">
                        <a:lumMod val="50000"/>
                      </a:schemeClr>
                    </a:solidFill>
                  </a:rPr>
                  <a:t>顶点度数和是</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𝟐𝟒</m:t>
                    </m:r>
                  </m:oMath>
                </a14:m>
                <a:r>
                  <a:rPr lang="en-US" altLang="zh-CN" sz="2000" b="1">
                    <a:solidFill>
                      <a:schemeClr val="accent2">
                        <a:lumMod val="50000"/>
                      </a:schemeClr>
                    </a:solidFill>
                  </a:rPr>
                  <a:t>)</a:t>
                </a:r>
                <a:r>
                  <a:rPr lang="zh-CN" altLang="en-US" sz="2000" b="1">
                    <a:solidFill>
                      <a:schemeClr val="accent2">
                        <a:lumMod val="50000"/>
                      </a:schemeClr>
                    </a:solidFill>
                  </a:rPr>
                  <a:t>，满足</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𝒎</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𝟑</m:t>
                    </m:r>
                    <m:r>
                      <a:rPr lang="en-US" altLang="zh-CN" sz="2000" b="1" i="1" smtClean="0">
                        <a:solidFill>
                          <a:schemeClr val="accent2">
                            <a:lumMod val="50000"/>
                          </a:schemeClr>
                        </a:solidFill>
                        <a:latin typeface="Cambria Math" panose="02040503050406030204" pitchFamily="18" charset="0"/>
                      </a:rPr>
                      <m:t>𝒏</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𝟔</m:t>
                    </m:r>
                  </m:oMath>
                </a14:m>
                <a:r>
                  <a:rPr lang="zh-CN" altLang="en-US" sz="2000" b="1">
                    <a:solidFill>
                      <a:schemeClr val="accent2">
                        <a:lumMod val="50000"/>
                      </a:schemeClr>
                    </a:solidFill>
                  </a:rPr>
                  <a:t>，边数达到上界</a:t>
                </a:r>
              </a:p>
            </p:txBody>
          </p:sp>
        </mc:Choice>
        <mc:Fallback xmlns="">
          <p:sp>
            <p:nvSpPr>
              <p:cNvPr id="12" name="文本框 11">
                <a:extLst>
                  <a:ext uri="{FF2B5EF4-FFF2-40B4-BE49-F238E27FC236}">
                    <a16:creationId xmlns:a16="http://schemas.microsoft.com/office/drawing/2014/main" id="{F983BA4D-68FE-4BF4-9627-E4E694222BAD}"/>
                  </a:ext>
                </a:extLst>
              </p:cNvPr>
              <p:cNvSpPr txBox="1">
                <a:spLocks noRot="1" noChangeAspect="1" noMove="1" noResize="1" noEditPoints="1" noAdjustHandles="1" noChangeArrowheads="1" noChangeShapeType="1" noTextEdit="1"/>
              </p:cNvSpPr>
              <p:nvPr/>
            </p:nvSpPr>
            <p:spPr>
              <a:xfrm>
                <a:off x="8490671" y="3130815"/>
                <a:ext cx="3126813" cy="1506438"/>
              </a:xfrm>
              <a:prstGeom prst="rect">
                <a:avLst/>
              </a:prstGeom>
              <a:blipFill>
                <a:blip r:embed="rId4"/>
                <a:stretch>
                  <a:fillRect l="-2144" t="-405" r="-1949" b="-647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4532478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平面图</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第三十一讲  一些特殊的图</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12</a:t>
            </a:fld>
            <a:r>
              <a:rPr lang="en-US" altLang="zh-CN" dirty="0">
                <a:latin typeface="Arial" panose="020B0604020202020204" pitchFamily="34" charset="0"/>
                <a:ea typeface="楷体" panose="02010609060101010101" pitchFamily="49" charset="-122"/>
                <a:cs typeface="Arial" panose="020B0604020202020204" pitchFamily="34" charset="0"/>
              </a:rPr>
              <a:t>/32</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平面图性质证明举例</a:t>
            </a: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A8E286C6-A4B1-4721-A44F-2E49933619AF}"/>
                  </a:ext>
                </a:extLst>
              </p:cNvPr>
              <p:cNvSpPr txBox="1"/>
              <p:nvPr/>
            </p:nvSpPr>
            <p:spPr>
              <a:xfrm>
                <a:off x="967026" y="1430076"/>
                <a:ext cx="9407139" cy="1301254"/>
              </a:xfrm>
              <a:prstGeom prst="rect">
                <a:avLst/>
              </a:prstGeom>
              <a:solidFill>
                <a:schemeClr val="accent6">
                  <a:lumMod val="20000"/>
                  <a:lumOff val="80000"/>
                  <a:alpha val="50000"/>
                </a:schemeClr>
              </a:solidFill>
            </p:spPr>
            <p:txBody>
              <a:bodyPr wrap="square" rtlCol="0">
                <a:spAutoFit/>
              </a:bodyPr>
              <a:lstStyle/>
              <a:p>
                <a:pPr>
                  <a:lnSpc>
                    <a:spcPts val="2800"/>
                  </a:lnSpc>
                  <a:spcBef>
                    <a:spcPts val="600"/>
                  </a:spcBef>
                  <a:spcAft>
                    <a:spcPts val="600"/>
                  </a:spcAft>
                </a:pPr>
                <a:r>
                  <a:rPr lang="zh-CN" altLang="en-US" sz="2000" b="1">
                    <a:solidFill>
                      <a:srgbClr val="002060"/>
                    </a:solidFill>
                    <a:latin typeface="楷体" panose="02010609060101010101" pitchFamily="49" charset="-122"/>
                    <a:ea typeface="楷体" panose="02010609060101010101" pitchFamily="49" charset="-122"/>
                  </a:rPr>
                  <a:t>证明：简单平面图</a:t>
                </a: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rPr>
                      <m:t>𝑮</m:t>
                    </m:r>
                  </m:oMath>
                </a14:m>
                <a:r>
                  <a:rPr lang="zh-CN" altLang="en-US" sz="2000" b="1">
                    <a:solidFill>
                      <a:srgbClr val="002060"/>
                    </a:solidFill>
                    <a:latin typeface="楷体" panose="02010609060101010101" pitchFamily="49" charset="-122"/>
                    <a:ea typeface="楷体" panose="02010609060101010101" pitchFamily="49" charset="-122"/>
                  </a:rPr>
                  <a:t>存在度小于</a:t>
                </a: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rPr>
                      <m:t>𝟔</m:t>
                    </m:r>
                  </m:oMath>
                </a14:m>
                <a:r>
                  <a:rPr lang="zh-CN" altLang="en-US" sz="2000" b="1">
                    <a:solidFill>
                      <a:srgbClr val="002060"/>
                    </a:solidFill>
                    <a:latin typeface="楷体" panose="02010609060101010101" pitchFamily="49" charset="-122"/>
                    <a:ea typeface="楷体" panose="02010609060101010101" pitchFamily="49" charset="-122"/>
                  </a:rPr>
                  <a:t>的顶点</a:t>
                </a:r>
              </a:p>
              <a:p>
                <a:pPr marL="342900" indent="-342900">
                  <a:lnSpc>
                    <a:spcPts val="2800"/>
                  </a:lnSpc>
                  <a:spcBef>
                    <a:spcPts val="600"/>
                  </a:spcBef>
                  <a:spcAft>
                    <a:spcPts val="600"/>
                  </a:spcAft>
                  <a:buFont typeface="Arial" panose="020B0604020202020204" pitchFamily="34" charset="0"/>
                  <a:buChar char="•"/>
                </a:pPr>
                <a:r>
                  <a:rPr lang="zh-CN" altLang="en-US" sz="2000" b="1">
                    <a:solidFill>
                      <a:srgbClr val="C00000"/>
                    </a:solidFill>
                  </a:rPr>
                  <a:t>反证法</a:t>
                </a:r>
                <a:r>
                  <a:rPr lang="zh-CN" altLang="en-US" sz="2000" b="1">
                    <a:solidFill>
                      <a:schemeClr val="accent6">
                        <a:lumMod val="50000"/>
                      </a:schemeClr>
                    </a:solidFill>
                  </a:rPr>
                  <a:t>：若所有顶点度数大于等于</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𝟔</m:t>
                    </m:r>
                  </m:oMath>
                </a14:m>
                <a:r>
                  <a:rPr lang="zh-CN" altLang="en-US" sz="2000" b="1">
                    <a:solidFill>
                      <a:schemeClr val="accent6">
                        <a:lumMod val="50000"/>
                      </a:schemeClr>
                    </a:solidFill>
                  </a:rPr>
                  <a:t>，则</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𝟐</m:t>
                    </m:r>
                    <m:r>
                      <a:rPr lang="en-US" altLang="zh-CN" sz="2000" b="1" i="1" smtClean="0">
                        <a:solidFill>
                          <a:schemeClr val="accent6">
                            <a:lumMod val="50000"/>
                          </a:schemeClr>
                        </a:solidFill>
                        <a:latin typeface="Cambria Math" panose="02040503050406030204" pitchFamily="18" charset="0"/>
                      </a:rPr>
                      <m:t>𝒎</m:t>
                    </m:r>
                    <m:r>
                      <a:rPr lang="en-US" altLang="zh-CN" sz="2000" b="1" i="1" smtClean="0">
                        <a:solidFill>
                          <a:schemeClr val="accent6">
                            <a:lumMod val="50000"/>
                          </a:schemeClr>
                        </a:solidFill>
                        <a:latin typeface="Cambria Math" panose="02040503050406030204" pitchFamily="18" charset="0"/>
                      </a:rPr>
                      <m:t>≥</m:t>
                    </m:r>
                    <m:r>
                      <a:rPr lang="en-US" altLang="zh-CN" sz="2000" b="1" i="1" smtClean="0">
                        <a:solidFill>
                          <a:schemeClr val="accent6">
                            <a:lumMod val="50000"/>
                          </a:schemeClr>
                        </a:solidFill>
                        <a:latin typeface="Cambria Math" panose="02040503050406030204" pitchFamily="18" charset="0"/>
                      </a:rPr>
                      <m:t>𝟔</m:t>
                    </m:r>
                    <m:r>
                      <a:rPr lang="en-US" altLang="zh-CN" sz="2000" b="1" i="1" smtClean="0">
                        <a:solidFill>
                          <a:schemeClr val="accent6">
                            <a:lumMod val="50000"/>
                          </a:schemeClr>
                        </a:solidFill>
                        <a:latin typeface="Cambria Math" panose="02040503050406030204" pitchFamily="18" charset="0"/>
                      </a:rPr>
                      <m:t>𝒏</m:t>
                    </m:r>
                  </m:oMath>
                </a14:m>
                <a:r>
                  <a:rPr lang="zh-CN" altLang="en-US" sz="2000" b="1">
                    <a:solidFill>
                      <a:schemeClr val="accent6">
                        <a:lumMod val="50000"/>
                      </a:schemeClr>
                    </a:solidFill>
                  </a:rPr>
                  <a:t>，即</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𝒎</m:t>
                    </m:r>
                    <m:r>
                      <a:rPr lang="en-US" altLang="zh-CN" sz="2000" b="1" i="1" smtClean="0">
                        <a:solidFill>
                          <a:schemeClr val="accent6">
                            <a:lumMod val="50000"/>
                          </a:schemeClr>
                        </a:solidFill>
                        <a:latin typeface="Cambria Math" panose="02040503050406030204" pitchFamily="18" charset="0"/>
                      </a:rPr>
                      <m:t>≥</m:t>
                    </m:r>
                    <m:r>
                      <a:rPr lang="en-US" altLang="zh-CN" sz="2000" b="1" i="1" smtClean="0">
                        <a:solidFill>
                          <a:schemeClr val="accent6">
                            <a:lumMod val="50000"/>
                          </a:schemeClr>
                        </a:solidFill>
                        <a:latin typeface="Cambria Math" panose="02040503050406030204" pitchFamily="18" charset="0"/>
                      </a:rPr>
                      <m:t>𝟑</m:t>
                    </m:r>
                    <m:r>
                      <a:rPr lang="en-US" altLang="zh-CN" sz="2000" b="1" i="1" smtClean="0">
                        <a:solidFill>
                          <a:schemeClr val="accent6">
                            <a:lumMod val="50000"/>
                          </a:schemeClr>
                        </a:solidFill>
                        <a:latin typeface="Cambria Math" panose="02040503050406030204" pitchFamily="18" charset="0"/>
                      </a:rPr>
                      <m:t>𝒏</m:t>
                    </m:r>
                  </m:oMath>
                </a14:m>
                <a:r>
                  <a:rPr lang="zh-CN" altLang="en-US" sz="2000" b="1">
                    <a:solidFill>
                      <a:schemeClr val="accent6">
                        <a:lumMod val="50000"/>
                      </a:schemeClr>
                    </a:solidFill>
                  </a:rPr>
                  <a:t>，与简单平面图</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𝒎</m:t>
                    </m:r>
                    <m:r>
                      <a:rPr lang="en-US" altLang="zh-CN" sz="2000" b="1" i="1" smtClean="0">
                        <a:solidFill>
                          <a:schemeClr val="accent6">
                            <a:lumMod val="50000"/>
                          </a:schemeClr>
                        </a:solidFill>
                        <a:latin typeface="Cambria Math" panose="02040503050406030204" pitchFamily="18" charset="0"/>
                      </a:rPr>
                      <m:t>≤</m:t>
                    </m:r>
                    <m:r>
                      <a:rPr lang="en-US" altLang="zh-CN" sz="2000" b="1" i="1" smtClean="0">
                        <a:solidFill>
                          <a:schemeClr val="accent6">
                            <a:lumMod val="50000"/>
                          </a:schemeClr>
                        </a:solidFill>
                        <a:latin typeface="Cambria Math" panose="02040503050406030204" pitchFamily="18" charset="0"/>
                      </a:rPr>
                      <m:t>𝟑</m:t>
                    </m:r>
                    <m:r>
                      <a:rPr lang="en-US" altLang="zh-CN" sz="2000" b="1" i="1" smtClean="0">
                        <a:solidFill>
                          <a:schemeClr val="accent6">
                            <a:lumMod val="50000"/>
                          </a:schemeClr>
                        </a:solidFill>
                        <a:latin typeface="Cambria Math" panose="02040503050406030204" pitchFamily="18" charset="0"/>
                      </a:rPr>
                      <m:t>𝒏</m:t>
                    </m:r>
                    <m:r>
                      <a:rPr lang="en-US" altLang="zh-CN" sz="2000" b="1" i="1" smtClean="0">
                        <a:solidFill>
                          <a:schemeClr val="accent6">
                            <a:lumMod val="50000"/>
                          </a:schemeClr>
                        </a:solidFill>
                        <a:latin typeface="Cambria Math" panose="02040503050406030204" pitchFamily="18" charset="0"/>
                      </a:rPr>
                      <m:t>−</m:t>
                    </m:r>
                    <m:r>
                      <a:rPr lang="en-US" altLang="zh-CN" sz="2000" b="1" i="1" smtClean="0">
                        <a:solidFill>
                          <a:schemeClr val="accent6">
                            <a:lumMod val="50000"/>
                          </a:schemeClr>
                        </a:solidFill>
                        <a:latin typeface="Cambria Math" panose="02040503050406030204" pitchFamily="18" charset="0"/>
                      </a:rPr>
                      <m:t>𝟔</m:t>
                    </m:r>
                  </m:oMath>
                </a14:m>
                <a:r>
                  <a:rPr lang="zh-CN" altLang="en-US" sz="2000" b="1">
                    <a:solidFill>
                      <a:schemeClr val="accent6">
                        <a:lumMod val="50000"/>
                      </a:schemeClr>
                    </a:solidFill>
                  </a:rPr>
                  <a:t>矛盾！</a:t>
                </a:r>
              </a:p>
            </p:txBody>
          </p:sp>
        </mc:Choice>
        <mc:Fallback xmlns="">
          <p:sp>
            <p:nvSpPr>
              <p:cNvPr id="2" name="文本框 1">
                <a:extLst>
                  <a:ext uri="{FF2B5EF4-FFF2-40B4-BE49-F238E27FC236}">
                    <a16:creationId xmlns:a16="http://schemas.microsoft.com/office/drawing/2014/main" id="{A8E286C6-A4B1-4721-A44F-2E49933619AF}"/>
                  </a:ext>
                </a:extLst>
              </p:cNvPr>
              <p:cNvSpPr txBox="1">
                <a:spLocks noRot="1" noChangeAspect="1" noMove="1" noResize="1" noEditPoints="1" noAdjustHandles="1" noChangeArrowheads="1" noChangeShapeType="1" noTextEdit="1"/>
              </p:cNvSpPr>
              <p:nvPr/>
            </p:nvSpPr>
            <p:spPr>
              <a:xfrm>
                <a:off x="967026" y="1430076"/>
                <a:ext cx="9407139" cy="1301254"/>
              </a:xfrm>
              <a:prstGeom prst="rect">
                <a:avLst/>
              </a:prstGeom>
              <a:blipFill>
                <a:blip r:embed="rId2"/>
                <a:stretch>
                  <a:fillRect l="-713" t="-2347" b="-7512"/>
                </a:stretch>
              </a:blipFill>
            </p:spPr>
            <p:txBody>
              <a:bodyPr/>
              <a:lstStyle/>
              <a:p>
                <a:r>
                  <a:rPr lang="zh-CN" altLang="en-US">
                    <a:noFill/>
                  </a:rPr>
                  <a:t> </a:t>
                </a:r>
              </a:p>
            </p:txBody>
          </p:sp>
        </mc:Fallback>
      </mc:AlternateContent>
      <p:sp>
        <p:nvSpPr>
          <p:cNvPr id="6" name="文本框 5">
            <a:extLst>
              <a:ext uri="{FF2B5EF4-FFF2-40B4-BE49-F238E27FC236}">
                <a16:creationId xmlns:a16="http://schemas.microsoft.com/office/drawing/2014/main" id="{2D5854FF-F131-4DB6-A969-8917283667EA}"/>
              </a:ext>
            </a:extLst>
          </p:cNvPr>
          <p:cNvSpPr txBox="1"/>
          <p:nvPr/>
        </p:nvSpPr>
        <p:spPr>
          <a:xfrm>
            <a:off x="960447" y="3033077"/>
            <a:ext cx="9413718" cy="943143"/>
          </a:xfrm>
          <a:prstGeom prst="rect">
            <a:avLst/>
          </a:prstGeom>
          <a:solidFill>
            <a:schemeClr val="accent5">
              <a:lumMod val="20000"/>
              <a:lumOff val="80000"/>
              <a:alpha val="50000"/>
            </a:schemeClr>
          </a:solidFill>
        </p:spPr>
        <p:txBody>
          <a:bodyPr wrap="square" rtlCol="0">
            <a:spAutoFit/>
          </a:bodyPr>
          <a:lstStyle/>
          <a:p>
            <a:pPr>
              <a:lnSpc>
                <a:spcPts val="2800"/>
              </a:lnSpc>
              <a:spcBef>
                <a:spcPts val="600"/>
              </a:spcBef>
              <a:spcAft>
                <a:spcPts val="600"/>
              </a:spcAft>
            </a:pPr>
            <a:r>
              <a:rPr lang="zh-CN" altLang="en-US" sz="2000" b="1">
                <a:solidFill>
                  <a:srgbClr val="002060"/>
                </a:solidFill>
                <a:latin typeface="楷体" panose="02010609060101010101" pitchFamily="49" charset="-122"/>
                <a:ea typeface="楷体" panose="02010609060101010101" pitchFamily="49" charset="-122"/>
              </a:rPr>
              <a:t>关于平面图顶点数、顶点度数、边数、面数或面的度数的性质证明</a:t>
            </a:r>
          </a:p>
          <a:p>
            <a:pPr marL="342900" indent="-342900">
              <a:lnSpc>
                <a:spcPts val="2800"/>
              </a:lnSpc>
              <a:spcBef>
                <a:spcPts val="600"/>
              </a:spcBef>
              <a:spcAft>
                <a:spcPts val="600"/>
              </a:spcAft>
              <a:buFont typeface="Arial" panose="020B0604020202020204" pitchFamily="34" charset="0"/>
              <a:buChar char="•"/>
            </a:pPr>
            <a:r>
              <a:rPr lang="zh-CN" altLang="en-US" sz="2000" b="1">
                <a:solidFill>
                  <a:schemeClr val="accent6">
                    <a:lumMod val="50000"/>
                  </a:schemeClr>
                </a:solidFill>
              </a:rPr>
              <a:t>通常运用边数等于顶点度数两倍、边数等于面的度数两倍，以及</a:t>
            </a:r>
            <a:r>
              <a:rPr lang="zh-CN" altLang="en-US" sz="2000" b="1">
                <a:solidFill>
                  <a:srgbClr val="C00000"/>
                </a:solidFill>
              </a:rPr>
              <a:t>欧拉公式</a:t>
            </a:r>
            <a:r>
              <a:rPr lang="zh-CN" altLang="en-US" sz="2000" b="1">
                <a:solidFill>
                  <a:schemeClr val="accent6">
                    <a:lumMod val="50000"/>
                  </a:schemeClr>
                </a:solidFill>
              </a:rPr>
              <a:t>证明</a:t>
            </a:r>
          </a:p>
        </p:txBody>
      </p:sp>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A9323658-657B-45D3-B1BE-F44EDFC8EDCA}"/>
                  </a:ext>
                </a:extLst>
              </p:cNvPr>
              <p:cNvSpPr txBox="1"/>
              <p:nvPr/>
            </p:nvSpPr>
            <p:spPr>
              <a:xfrm>
                <a:off x="874928" y="4385688"/>
                <a:ext cx="5519294" cy="1384995"/>
              </a:xfrm>
              <a:prstGeom prst="rect">
                <a:avLst/>
              </a:prstGeom>
              <a:solidFill>
                <a:schemeClr val="accent2">
                  <a:lumMod val="20000"/>
                  <a:lumOff val="80000"/>
                  <a:alpha val="50000"/>
                </a:schemeClr>
              </a:solidFill>
            </p:spPr>
            <p:txBody>
              <a:bodyPr wrap="square" rtlCol="0">
                <a:spAutoFit/>
              </a:bodyPr>
              <a:lstStyle/>
              <a:p>
                <a:pPr algn="ctr">
                  <a:spcBef>
                    <a:spcPts val="600"/>
                  </a:spcBef>
                  <a:spcAft>
                    <a:spcPts val="600"/>
                  </a:spcAft>
                </a:pPr>
                <a:r>
                  <a:rPr lang="zh-CN" altLang="en-US" sz="2400" b="1">
                    <a:solidFill>
                      <a:srgbClr val="C00000"/>
                    </a:solidFill>
                  </a:rPr>
                  <a:t>欧拉公式</a:t>
                </a:r>
              </a:p>
              <a:p>
                <a:pPr>
                  <a:spcBef>
                    <a:spcPts val="600"/>
                  </a:spcBef>
                  <a:spcAft>
                    <a:spcPts val="600"/>
                  </a:spcAft>
                </a:pPr>
                <a:r>
                  <a:rPr lang="zh-CN" altLang="en-US" sz="2000" b="1">
                    <a:solidFill>
                      <a:srgbClr val="002060"/>
                    </a:solidFill>
                  </a:rPr>
                  <a:t>连通平面图</a:t>
                </a:r>
                <a14:m>
                  <m:oMath xmlns:m="http://schemas.openxmlformats.org/officeDocument/2006/math">
                    <m:r>
                      <a:rPr lang="en-US" altLang="zh-CN" sz="2000" b="1" i="1" smtClean="0">
                        <a:solidFill>
                          <a:srgbClr val="002060"/>
                        </a:solidFill>
                        <a:latin typeface="Cambria Math" panose="02040503050406030204" pitchFamily="18" charset="0"/>
                      </a:rPr>
                      <m:t>𝑮</m:t>
                    </m:r>
                  </m:oMath>
                </a14:m>
                <a:r>
                  <a:rPr lang="zh-CN" altLang="en-US" sz="2000" b="1">
                    <a:solidFill>
                      <a:srgbClr val="002060"/>
                    </a:solidFill>
                  </a:rPr>
                  <a:t>有</a:t>
                </a:r>
                <a14:m>
                  <m:oMath xmlns:m="http://schemas.openxmlformats.org/officeDocument/2006/math">
                    <m:r>
                      <a:rPr lang="en-US" altLang="zh-CN" sz="2000" b="1" i="1" smtClean="0">
                        <a:solidFill>
                          <a:srgbClr val="002060"/>
                        </a:solidFill>
                        <a:latin typeface="Cambria Math" panose="02040503050406030204" pitchFamily="18" charset="0"/>
                      </a:rPr>
                      <m:t>𝒏</m:t>
                    </m:r>
                  </m:oMath>
                </a14:m>
                <a:r>
                  <a:rPr lang="zh-CN" altLang="en-US" sz="2000" b="1">
                    <a:solidFill>
                      <a:srgbClr val="002060"/>
                    </a:solidFill>
                  </a:rPr>
                  <a:t>个顶点，</a:t>
                </a:r>
                <a14:m>
                  <m:oMath xmlns:m="http://schemas.openxmlformats.org/officeDocument/2006/math">
                    <m:r>
                      <a:rPr lang="en-US" altLang="zh-CN" sz="2000" b="1" i="1" smtClean="0">
                        <a:solidFill>
                          <a:srgbClr val="002060"/>
                        </a:solidFill>
                        <a:latin typeface="Cambria Math" panose="02040503050406030204" pitchFamily="18" charset="0"/>
                      </a:rPr>
                      <m:t>𝒎</m:t>
                    </m:r>
                  </m:oMath>
                </a14:m>
                <a:r>
                  <a:rPr lang="zh-CN" altLang="en-US" sz="2000" b="1">
                    <a:solidFill>
                      <a:srgbClr val="002060"/>
                    </a:solidFill>
                  </a:rPr>
                  <a:t>条边，</a:t>
                </a:r>
                <a14:m>
                  <m:oMath xmlns:m="http://schemas.openxmlformats.org/officeDocument/2006/math">
                    <m:r>
                      <a:rPr lang="en-US" altLang="zh-CN" sz="2000" b="1" i="1" smtClean="0">
                        <a:solidFill>
                          <a:srgbClr val="002060"/>
                        </a:solidFill>
                        <a:latin typeface="Cambria Math" panose="02040503050406030204" pitchFamily="18" charset="0"/>
                      </a:rPr>
                      <m:t>𝒅</m:t>
                    </m:r>
                  </m:oMath>
                </a14:m>
                <a:r>
                  <a:rPr lang="zh-CN" altLang="en-US" sz="2000" b="1">
                    <a:solidFill>
                      <a:srgbClr val="002060"/>
                    </a:solidFill>
                  </a:rPr>
                  <a:t>个面，则：</a:t>
                </a:r>
                <a:endParaRPr lang="en-US" altLang="zh-CN" sz="2000" b="1">
                  <a:solidFill>
                    <a:srgbClr val="002060"/>
                  </a:solidFill>
                </a:endParaRPr>
              </a:p>
              <a:p>
                <a:pPr>
                  <a:spcBef>
                    <a:spcPts val="600"/>
                  </a:spcBef>
                  <a:spcAft>
                    <a:spcPts val="600"/>
                  </a:spcAft>
                </a:pPr>
                <a14:m>
                  <m:oMathPara xmlns:m="http://schemas.openxmlformats.org/officeDocument/2006/math">
                    <m:oMathParaPr>
                      <m:jc m:val="centerGroup"/>
                    </m:oMathParaPr>
                    <m:oMath xmlns:m="http://schemas.openxmlformats.org/officeDocument/2006/math">
                      <m:r>
                        <a:rPr lang="en-US" altLang="zh-CN" sz="2000" b="1" i="1" smtClean="0">
                          <a:solidFill>
                            <a:schemeClr val="accent2">
                              <a:lumMod val="50000"/>
                            </a:schemeClr>
                          </a:solidFill>
                          <a:latin typeface="Cambria Math" panose="02040503050406030204" pitchFamily="18" charset="0"/>
                        </a:rPr>
                        <m:t>𝒏</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𝒎</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𝒅</m:t>
                      </m:r>
                      <m:r>
                        <a:rPr lang="en-US" altLang="zh-CN" sz="2000" b="1" i="1">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𝟐</m:t>
                      </m:r>
                    </m:oMath>
                  </m:oMathPara>
                </a14:m>
                <a:endParaRPr lang="en-US" altLang="zh-CN" sz="2000" b="1">
                  <a:solidFill>
                    <a:schemeClr val="accent2">
                      <a:lumMod val="50000"/>
                    </a:schemeClr>
                  </a:solidFill>
                </a:endParaRPr>
              </a:p>
            </p:txBody>
          </p:sp>
        </mc:Choice>
        <mc:Fallback xmlns="">
          <p:sp>
            <p:nvSpPr>
              <p:cNvPr id="12" name="文本框 11">
                <a:extLst>
                  <a:ext uri="{FF2B5EF4-FFF2-40B4-BE49-F238E27FC236}">
                    <a16:creationId xmlns:a16="http://schemas.microsoft.com/office/drawing/2014/main" id="{A9323658-657B-45D3-B1BE-F44EDFC8EDCA}"/>
                  </a:ext>
                </a:extLst>
              </p:cNvPr>
              <p:cNvSpPr txBox="1">
                <a:spLocks noRot="1" noChangeAspect="1" noMove="1" noResize="1" noEditPoints="1" noAdjustHandles="1" noChangeArrowheads="1" noChangeShapeType="1" noTextEdit="1"/>
              </p:cNvSpPr>
              <p:nvPr/>
            </p:nvSpPr>
            <p:spPr>
              <a:xfrm>
                <a:off x="874928" y="4385688"/>
                <a:ext cx="5519294" cy="1384995"/>
              </a:xfrm>
              <a:prstGeom prst="rect">
                <a:avLst/>
              </a:prstGeom>
              <a:blipFill>
                <a:blip r:embed="rId3"/>
                <a:stretch>
                  <a:fillRect l="-1215" t="-3070" r="-99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E803089A-4976-43ED-8A6A-E95DB023A352}"/>
                  </a:ext>
                </a:extLst>
              </p:cNvPr>
              <p:cNvSpPr txBox="1"/>
              <p:nvPr/>
            </p:nvSpPr>
            <p:spPr>
              <a:xfrm>
                <a:off x="7034955" y="4493409"/>
                <a:ext cx="3574275" cy="1169551"/>
              </a:xfrm>
              <a:prstGeom prst="rect">
                <a:avLst/>
              </a:prstGeom>
              <a:solidFill>
                <a:schemeClr val="accent4">
                  <a:lumMod val="20000"/>
                  <a:lumOff val="80000"/>
                  <a:alpha val="50000"/>
                </a:schemeClr>
              </a:solidFill>
            </p:spPr>
            <p:txBody>
              <a:bodyPr wrap="square" rtlCol="0">
                <a:spAutoFit/>
              </a:bodyPr>
              <a:lstStyle/>
              <a:p>
                <a:pPr>
                  <a:spcBef>
                    <a:spcPts val="600"/>
                  </a:spcBef>
                  <a:spcAft>
                    <a:spcPts val="600"/>
                  </a:spcAft>
                </a:pPr>
                <a:r>
                  <a:rPr lang="zh-CN" altLang="en-US" sz="2000" b="1">
                    <a:solidFill>
                      <a:srgbClr val="002060"/>
                    </a:solidFill>
                    <a:latin typeface="楷体" panose="02010609060101010101" pitchFamily="49" charset="-122"/>
                    <a:ea typeface="楷体" panose="02010609060101010101" pitchFamily="49" charset="-122"/>
                  </a:rPr>
                  <a:t>连通简单平面图</a:t>
                </a: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rPr>
                      <m:t>𝑮</m:t>
                    </m:r>
                  </m:oMath>
                </a14:m>
                <a:r>
                  <a:rPr lang="zh-CN" altLang="en-US" sz="2000" b="1">
                    <a:solidFill>
                      <a:srgbClr val="002060"/>
                    </a:solidFill>
                    <a:latin typeface="楷体" panose="02010609060101010101" pitchFamily="49" charset="-122"/>
                    <a:ea typeface="楷体" panose="02010609060101010101" pitchFamily="49" charset="-122"/>
                  </a:rPr>
                  <a:t>有</a:t>
                </a: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rPr>
                      <m:t>𝒏</m:t>
                    </m:r>
                    <m:r>
                      <a:rPr lang="en-US" altLang="zh-CN" sz="2000" b="1" i="1" smtClean="0">
                        <a:solidFill>
                          <a:srgbClr val="002060"/>
                        </a:solidFill>
                        <a:latin typeface="Cambria Math" panose="02040503050406030204" pitchFamily="18" charset="0"/>
                        <a:ea typeface="楷体" panose="02010609060101010101" pitchFamily="49" charset="-122"/>
                      </a:rPr>
                      <m:t>(</m:t>
                    </m:r>
                    <m:r>
                      <a:rPr lang="en-US" altLang="zh-CN" sz="2000" b="1" i="1" smtClean="0">
                        <a:solidFill>
                          <a:srgbClr val="002060"/>
                        </a:solidFill>
                        <a:latin typeface="Cambria Math" panose="02040503050406030204" pitchFamily="18" charset="0"/>
                        <a:ea typeface="楷体" panose="02010609060101010101" pitchFamily="49" charset="-122"/>
                      </a:rPr>
                      <m:t>𝒏</m:t>
                    </m:r>
                    <m:r>
                      <a:rPr lang="en-US" altLang="zh-CN" sz="2000" b="1" i="1" smtClean="0">
                        <a:solidFill>
                          <a:srgbClr val="002060"/>
                        </a:solidFill>
                        <a:latin typeface="Cambria Math" panose="02040503050406030204" pitchFamily="18" charset="0"/>
                        <a:ea typeface="楷体" panose="02010609060101010101" pitchFamily="49" charset="-122"/>
                      </a:rPr>
                      <m:t>≥</m:t>
                    </m:r>
                    <m:r>
                      <a:rPr lang="en-US" altLang="zh-CN" sz="2000" b="1" i="1" smtClean="0">
                        <a:solidFill>
                          <a:srgbClr val="002060"/>
                        </a:solidFill>
                        <a:latin typeface="Cambria Math" panose="02040503050406030204" pitchFamily="18" charset="0"/>
                        <a:ea typeface="楷体" panose="02010609060101010101" pitchFamily="49" charset="-122"/>
                      </a:rPr>
                      <m:t>𝟑</m:t>
                    </m:r>
                    <m:r>
                      <a:rPr lang="en-US" altLang="zh-CN" sz="2000" b="1" i="1" smtClean="0">
                        <a:solidFill>
                          <a:srgbClr val="002060"/>
                        </a:solidFill>
                        <a:latin typeface="Cambria Math" panose="02040503050406030204" pitchFamily="18" charset="0"/>
                        <a:ea typeface="楷体" panose="02010609060101010101" pitchFamily="49" charset="-122"/>
                      </a:rPr>
                      <m:t>)</m:t>
                    </m:r>
                  </m:oMath>
                </a14:m>
                <a:r>
                  <a:rPr lang="zh-CN" altLang="en-US" sz="2000" b="1">
                    <a:solidFill>
                      <a:srgbClr val="002060"/>
                    </a:solidFill>
                    <a:latin typeface="楷体" panose="02010609060101010101" pitchFamily="49" charset="-122"/>
                    <a:ea typeface="楷体" panose="02010609060101010101" pitchFamily="49" charset="-122"/>
                  </a:rPr>
                  <a:t>个顶点，</a:t>
                </a: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rPr>
                      <m:t>𝒎</m:t>
                    </m:r>
                  </m:oMath>
                </a14:m>
                <a:r>
                  <a:rPr lang="zh-CN" altLang="en-US" sz="2000" b="1">
                    <a:solidFill>
                      <a:srgbClr val="002060"/>
                    </a:solidFill>
                    <a:latin typeface="楷体" panose="02010609060101010101" pitchFamily="49" charset="-122"/>
                    <a:ea typeface="楷体" panose="02010609060101010101" pitchFamily="49" charset="-122"/>
                  </a:rPr>
                  <a:t>条边，</a:t>
                </a: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rPr>
                      <m:t>𝒅</m:t>
                    </m:r>
                  </m:oMath>
                </a14:m>
                <a:r>
                  <a:rPr lang="zh-CN" altLang="en-US" sz="2000" b="1">
                    <a:solidFill>
                      <a:srgbClr val="002060"/>
                    </a:solidFill>
                    <a:latin typeface="楷体" panose="02010609060101010101" pitchFamily="49" charset="-122"/>
                    <a:ea typeface="楷体" panose="02010609060101010101" pitchFamily="49" charset="-122"/>
                  </a:rPr>
                  <a:t>个面，则</a:t>
                </a:r>
                <a:endParaRPr lang="en-US" altLang="zh-CN" sz="2000" b="1">
                  <a:solidFill>
                    <a:srgbClr val="002060"/>
                  </a:solidFill>
                  <a:latin typeface="楷体" panose="02010609060101010101" pitchFamily="49" charset="-122"/>
                  <a:ea typeface="楷体" panose="02010609060101010101" pitchFamily="49" charset="-122"/>
                </a:endParaRPr>
              </a:p>
              <a:p>
                <a:pPr algn="ctr">
                  <a:spcBef>
                    <a:spcPts val="600"/>
                  </a:spcBef>
                  <a:spcAft>
                    <a:spcPts val="600"/>
                  </a:spcAft>
                </a:pPr>
                <a14:m>
                  <m:oMath xmlns:m="http://schemas.openxmlformats.org/officeDocument/2006/math">
                    <m:r>
                      <a:rPr lang="en-US" altLang="zh-CN" sz="2000" b="1" i="1" smtClean="0">
                        <a:solidFill>
                          <a:srgbClr val="C00000"/>
                        </a:solidFill>
                        <a:latin typeface="Cambria Math" panose="02040503050406030204" pitchFamily="18" charset="0"/>
                      </a:rPr>
                      <m:t>𝒎</m:t>
                    </m:r>
                    <m:r>
                      <a:rPr lang="en-US" altLang="zh-CN" sz="2000" b="1" i="1" smtClean="0">
                        <a:solidFill>
                          <a:srgbClr val="C00000"/>
                        </a:solidFill>
                        <a:latin typeface="Cambria Math" panose="02040503050406030204" pitchFamily="18" charset="0"/>
                      </a:rPr>
                      <m:t> ≤</m:t>
                    </m:r>
                    <m:r>
                      <a:rPr lang="en-US" altLang="zh-CN" sz="2000" b="1" i="1">
                        <a:solidFill>
                          <a:srgbClr val="C00000"/>
                        </a:solidFill>
                        <a:latin typeface="Cambria Math" panose="02040503050406030204" pitchFamily="18" charset="0"/>
                      </a:rPr>
                      <m:t>𝟑</m:t>
                    </m:r>
                    <m:r>
                      <a:rPr lang="en-US" altLang="zh-CN" sz="2000" b="1" i="1">
                        <a:solidFill>
                          <a:srgbClr val="C00000"/>
                        </a:solidFill>
                        <a:latin typeface="Cambria Math" panose="02040503050406030204" pitchFamily="18" charset="0"/>
                      </a:rPr>
                      <m:t>𝒏</m:t>
                    </m:r>
                    <m:r>
                      <a:rPr lang="en-US" altLang="zh-CN" sz="2000" b="1" i="1">
                        <a:solidFill>
                          <a:srgbClr val="C00000"/>
                        </a:solidFill>
                        <a:latin typeface="Cambria Math" panose="02040503050406030204" pitchFamily="18" charset="0"/>
                      </a:rPr>
                      <m:t>−</m:t>
                    </m:r>
                    <m:r>
                      <a:rPr lang="en-US" altLang="zh-CN" sz="2000" b="1" i="1">
                        <a:solidFill>
                          <a:srgbClr val="C00000"/>
                        </a:solidFill>
                        <a:latin typeface="Cambria Math" panose="02040503050406030204" pitchFamily="18" charset="0"/>
                      </a:rPr>
                      <m:t>𝟔</m:t>
                    </m:r>
                  </m:oMath>
                </a14:m>
                <a:r>
                  <a:rPr lang="en-US" altLang="zh-CN" sz="2000" b="1" i="1">
                    <a:solidFill>
                      <a:schemeClr val="accent2">
                        <a:lumMod val="50000"/>
                      </a:schemeClr>
                    </a:solidFill>
                    <a:latin typeface="Cambria Math" panose="02040503050406030204" pitchFamily="18" charset="0"/>
                  </a:rPr>
                  <a:t> </a:t>
                </a:r>
                <a:r>
                  <a:rPr lang="zh-CN" altLang="en-US" sz="2000" b="1">
                    <a:solidFill>
                      <a:schemeClr val="accent2">
                        <a:lumMod val="50000"/>
                      </a:schemeClr>
                    </a:solidFill>
                    <a:latin typeface="Cambria Math" panose="02040503050406030204" pitchFamily="18" charset="0"/>
                  </a:rPr>
                  <a:t>且</a:t>
                </a:r>
                <a:r>
                  <a:rPr lang="zh-CN" altLang="en-US" sz="2000" b="1" i="1">
                    <a:solidFill>
                      <a:schemeClr val="accent2">
                        <a:lumMod val="50000"/>
                      </a:schemeClr>
                    </a:solidFill>
                    <a:latin typeface="Cambria Math" panose="02040503050406030204" pitchFamily="18" charset="0"/>
                  </a:rPr>
                  <a:t> </a:t>
                </a:r>
                <a14:m>
                  <m:oMath xmlns:m="http://schemas.openxmlformats.org/officeDocument/2006/math">
                    <m:r>
                      <a:rPr lang="en-US" altLang="zh-CN" sz="2000" b="1" i="1" smtClean="0">
                        <a:solidFill>
                          <a:srgbClr val="C00000"/>
                        </a:solidFill>
                        <a:latin typeface="Cambria Math" panose="02040503050406030204" pitchFamily="18" charset="0"/>
                      </a:rPr>
                      <m:t>𝒅</m:t>
                    </m:r>
                    <m:r>
                      <a:rPr lang="en-US" altLang="zh-CN" sz="2000" b="1" i="1">
                        <a:solidFill>
                          <a:srgbClr val="C00000"/>
                        </a:solidFill>
                        <a:latin typeface="Cambria Math" panose="02040503050406030204" pitchFamily="18" charset="0"/>
                      </a:rPr>
                      <m:t>≤</m:t>
                    </m:r>
                    <m:r>
                      <a:rPr lang="en-US" altLang="zh-CN" sz="2000" b="1" i="1">
                        <a:solidFill>
                          <a:srgbClr val="C00000"/>
                        </a:solidFill>
                        <a:latin typeface="Cambria Math" panose="02040503050406030204" pitchFamily="18" charset="0"/>
                      </a:rPr>
                      <m:t>𝟐</m:t>
                    </m:r>
                    <m:r>
                      <a:rPr lang="en-US" altLang="zh-CN" sz="2000" b="1" i="1">
                        <a:solidFill>
                          <a:srgbClr val="C00000"/>
                        </a:solidFill>
                        <a:latin typeface="Cambria Math" panose="02040503050406030204" pitchFamily="18" charset="0"/>
                      </a:rPr>
                      <m:t>𝒏</m:t>
                    </m:r>
                    <m:r>
                      <a:rPr lang="en-US" altLang="zh-CN" sz="2000" b="1" i="1">
                        <a:solidFill>
                          <a:srgbClr val="C00000"/>
                        </a:solidFill>
                        <a:latin typeface="Cambria Math" panose="02040503050406030204" pitchFamily="18" charset="0"/>
                      </a:rPr>
                      <m:t>−</m:t>
                    </m:r>
                    <m:r>
                      <a:rPr lang="en-US" altLang="zh-CN" sz="2000" b="1" i="1">
                        <a:solidFill>
                          <a:srgbClr val="C00000"/>
                        </a:solidFill>
                        <a:latin typeface="Cambria Math" panose="02040503050406030204" pitchFamily="18" charset="0"/>
                      </a:rPr>
                      <m:t>𝟒</m:t>
                    </m:r>
                  </m:oMath>
                </a14:m>
                <a:endParaRPr lang="zh-CN" altLang="en-US" sz="2000" b="1" i="1">
                  <a:solidFill>
                    <a:schemeClr val="accent2">
                      <a:lumMod val="50000"/>
                    </a:schemeClr>
                  </a:solidFill>
                  <a:latin typeface="Cambria Math" panose="02040503050406030204" pitchFamily="18" charset="0"/>
                </a:endParaRPr>
              </a:p>
            </p:txBody>
          </p:sp>
        </mc:Choice>
        <mc:Fallback xmlns="">
          <p:sp>
            <p:nvSpPr>
              <p:cNvPr id="13" name="文本框 12">
                <a:extLst>
                  <a:ext uri="{FF2B5EF4-FFF2-40B4-BE49-F238E27FC236}">
                    <a16:creationId xmlns:a16="http://schemas.microsoft.com/office/drawing/2014/main" id="{E803089A-4976-43ED-8A6A-E95DB023A352}"/>
                  </a:ext>
                </a:extLst>
              </p:cNvPr>
              <p:cNvSpPr txBox="1">
                <a:spLocks noRot="1" noChangeAspect="1" noMove="1" noResize="1" noEditPoints="1" noAdjustHandles="1" noChangeArrowheads="1" noChangeShapeType="1" noTextEdit="1"/>
              </p:cNvSpPr>
              <p:nvPr/>
            </p:nvSpPr>
            <p:spPr>
              <a:xfrm>
                <a:off x="7034955" y="4493409"/>
                <a:ext cx="3574275" cy="1169551"/>
              </a:xfrm>
              <a:prstGeom prst="rect">
                <a:avLst/>
              </a:prstGeom>
              <a:blipFill>
                <a:blip r:embed="rId4"/>
                <a:stretch>
                  <a:fillRect l="-1706" t="-3646" b="-833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4894891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平面图</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第三十一讲  一些特殊的图</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13</a:t>
            </a:fld>
            <a:r>
              <a:rPr lang="en-US" altLang="zh-CN" dirty="0">
                <a:latin typeface="Arial" panose="020B0604020202020204" pitchFamily="34" charset="0"/>
                <a:ea typeface="楷体" panose="02010609060101010101" pitchFamily="49" charset="-122"/>
                <a:cs typeface="Arial" panose="020B0604020202020204" pitchFamily="34" charset="0"/>
              </a:rPr>
              <a:t>/32</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平面图性质证明练习</a:t>
            </a: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1F8F206B-5641-4998-9DCB-993BFC9C90CE}"/>
                  </a:ext>
                </a:extLst>
              </p:cNvPr>
              <p:cNvSpPr txBox="1"/>
              <p:nvPr/>
            </p:nvSpPr>
            <p:spPr>
              <a:xfrm>
                <a:off x="905627" y="1742011"/>
                <a:ext cx="9718517" cy="400110"/>
              </a:xfrm>
              <a:prstGeom prst="rect">
                <a:avLst/>
              </a:prstGeom>
              <a:solidFill>
                <a:schemeClr val="accent6">
                  <a:lumMod val="20000"/>
                  <a:lumOff val="80000"/>
                  <a:alpha val="50000"/>
                </a:schemeClr>
              </a:solidFill>
            </p:spPr>
            <p:txBody>
              <a:bodyPr wrap="square" rtlCol="0">
                <a:spAutoFit/>
              </a:bodyPr>
              <a:lstStyle/>
              <a:p>
                <a:r>
                  <a:rPr lang="zh-CN" altLang="en-US" sz="2000" b="1">
                    <a:solidFill>
                      <a:srgbClr val="002060"/>
                    </a:solidFill>
                    <a:latin typeface="楷体" panose="02010609060101010101" pitchFamily="49" charset="-122"/>
                    <a:ea typeface="楷体" panose="02010609060101010101" pitchFamily="49" charset="-122"/>
                  </a:rPr>
                  <a:t>设连通简单平面图</a:t>
                </a:r>
                <a14:m>
                  <m:oMath xmlns:m="http://schemas.openxmlformats.org/officeDocument/2006/math">
                    <m:r>
                      <a:rPr lang="en-US" altLang="zh-CN" sz="2000" b="1" i="1" smtClean="0">
                        <a:solidFill>
                          <a:srgbClr val="002060"/>
                        </a:solidFill>
                        <a:latin typeface="Cambria Math" panose="02040503050406030204" pitchFamily="18" charset="0"/>
                      </a:rPr>
                      <m:t>𝑮</m:t>
                    </m:r>
                  </m:oMath>
                </a14:m>
                <a:r>
                  <a:rPr lang="zh-CN" altLang="en-US" sz="2000" b="1">
                    <a:solidFill>
                      <a:srgbClr val="002060"/>
                    </a:solidFill>
                    <a:latin typeface="楷体" panose="02010609060101010101" pitchFamily="49" charset="-122"/>
                    <a:ea typeface="楷体" panose="02010609060101010101" pitchFamily="49" charset="-122"/>
                  </a:rPr>
                  <a:t>的面数</a:t>
                </a:r>
                <a14:m>
                  <m:oMath xmlns:m="http://schemas.openxmlformats.org/officeDocument/2006/math">
                    <m:r>
                      <a:rPr lang="en-US" altLang="zh-CN" sz="2000" b="1" i="1" smtClean="0">
                        <a:solidFill>
                          <a:srgbClr val="002060"/>
                        </a:solidFill>
                        <a:latin typeface="Cambria Math" panose="02040503050406030204" pitchFamily="18" charset="0"/>
                      </a:rPr>
                      <m:t>𝒅</m:t>
                    </m:r>
                    <m:r>
                      <a:rPr lang="en-US" altLang="zh-CN" sz="2000" b="1" i="1" smtClean="0">
                        <a:solidFill>
                          <a:srgbClr val="002060"/>
                        </a:solidFill>
                        <a:latin typeface="Cambria Math" panose="02040503050406030204" pitchFamily="18" charset="0"/>
                      </a:rPr>
                      <m:t>&lt;</m:t>
                    </m:r>
                    <m:r>
                      <a:rPr lang="en-US" altLang="zh-CN" sz="2000" b="1" i="1" smtClean="0">
                        <a:solidFill>
                          <a:srgbClr val="002060"/>
                        </a:solidFill>
                        <a:latin typeface="Cambria Math" panose="02040503050406030204" pitchFamily="18" charset="0"/>
                      </a:rPr>
                      <m:t>𝟏𝟐</m:t>
                    </m:r>
                  </m:oMath>
                </a14:m>
                <a:r>
                  <a:rPr lang="zh-CN" altLang="en-US" sz="2000" b="1">
                    <a:solidFill>
                      <a:srgbClr val="002060"/>
                    </a:solidFill>
                    <a:latin typeface="楷体" panose="02010609060101010101" pitchFamily="49" charset="-122"/>
                    <a:ea typeface="楷体" panose="02010609060101010101" pitchFamily="49" charset="-122"/>
                  </a:rPr>
                  <a:t>，最小度</a:t>
                </a:r>
                <a14:m>
                  <m:oMath xmlns:m="http://schemas.openxmlformats.org/officeDocument/2006/math">
                    <m:r>
                      <a:rPr lang="en-US" altLang="zh-CN" sz="2000" b="1" i="1" smtClean="0">
                        <a:solidFill>
                          <a:srgbClr val="002060"/>
                        </a:solidFill>
                        <a:latin typeface="Cambria Math" panose="02040503050406030204" pitchFamily="18" charset="0"/>
                      </a:rPr>
                      <m:t>𝜹</m:t>
                    </m:r>
                    <m:d>
                      <m:dPr>
                        <m:ctrlPr>
                          <a:rPr lang="en-US" altLang="zh-CN" sz="2000" b="1" i="1" smtClean="0">
                            <a:solidFill>
                              <a:srgbClr val="002060"/>
                            </a:solidFill>
                            <a:latin typeface="Cambria Math" panose="02040503050406030204" pitchFamily="18" charset="0"/>
                          </a:rPr>
                        </m:ctrlPr>
                      </m:dPr>
                      <m:e>
                        <m:r>
                          <a:rPr lang="en-US" altLang="zh-CN" sz="2000" b="1" i="1" smtClean="0">
                            <a:solidFill>
                              <a:srgbClr val="002060"/>
                            </a:solidFill>
                            <a:latin typeface="Cambria Math" panose="02040503050406030204" pitchFamily="18" charset="0"/>
                          </a:rPr>
                          <m:t>𝑮</m:t>
                        </m:r>
                      </m:e>
                    </m:d>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𝟑</m:t>
                    </m:r>
                  </m:oMath>
                </a14:m>
                <a:r>
                  <a:rPr lang="zh-CN" altLang="en-US" sz="2000" b="1">
                    <a:solidFill>
                      <a:srgbClr val="002060"/>
                    </a:solidFill>
                    <a:latin typeface="楷体" panose="02010609060101010101" pitchFamily="49" charset="-122"/>
                    <a:ea typeface="楷体" panose="02010609060101010101" pitchFamily="49" charset="-122"/>
                  </a:rPr>
                  <a:t>，证明</a:t>
                </a:r>
                <a14:m>
                  <m:oMath xmlns:m="http://schemas.openxmlformats.org/officeDocument/2006/math">
                    <m:r>
                      <a:rPr lang="en-US" altLang="zh-CN" sz="2000" b="1" i="1" smtClean="0">
                        <a:solidFill>
                          <a:srgbClr val="002060"/>
                        </a:solidFill>
                        <a:latin typeface="Cambria Math" panose="02040503050406030204" pitchFamily="18" charset="0"/>
                      </a:rPr>
                      <m:t>𝑮</m:t>
                    </m:r>
                  </m:oMath>
                </a14:m>
                <a:r>
                  <a:rPr lang="zh-CN" altLang="en-US" sz="2000" b="1">
                    <a:solidFill>
                      <a:srgbClr val="002060"/>
                    </a:solidFill>
                    <a:latin typeface="楷体" panose="02010609060101010101" pitchFamily="49" charset="-122"/>
                    <a:ea typeface="楷体" panose="02010609060101010101" pitchFamily="49" charset="-122"/>
                  </a:rPr>
                  <a:t>至少有一个面的度小于</a:t>
                </a:r>
                <a14:m>
                  <m:oMath xmlns:m="http://schemas.openxmlformats.org/officeDocument/2006/math">
                    <m:r>
                      <a:rPr lang="en-US" altLang="zh-CN" sz="2000" b="1" i="1" smtClean="0">
                        <a:solidFill>
                          <a:srgbClr val="002060"/>
                        </a:solidFill>
                        <a:latin typeface="Cambria Math" panose="02040503050406030204" pitchFamily="18" charset="0"/>
                      </a:rPr>
                      <m:t>𝟓</m:t>
                    </m:r>
                  </m:oMath>
                </a14:m>
                <a:endParaRPr lang="zh-CN" altLang="en-US" sz="2000" b="1">
                  <a:solidFill>
                    <a:srgbClr val="002060"/>
                  </a:solidFill>
                  <a:latin typeface="楷体" panose="02010609060101010101" pitchFamily="49" charset="-122"/>
                  <a:ea typeface="楷体" panose="02010609060101010101" pitchFamily="49" charset="-122"/>
                </a:endParaRPr>
              </a:p>
            </p:txBody>
          </p:sp>
        </mc:Choice>
        <mc:Fallback xmlns="">
          <p:sp>
            <p:nvSpPr>
              <p:cNvPr id="3" name="文本框 2">
                <a:extLst>
                  <a:ext uri="{FF2B5EF4-FFF2-40B4-BE49-F238E27FC236}">
                    <a16:creationId xmlns:a16="http://schemas.microsoft.com/office/drawing/2014/main" id="{1F8F206B-5641-4998-9DCB-993BFC9C90CE}"/>
                  </a:ext>
                </a:extLst>
              </p:cNvPr>
              <p:cNvSpPr txBox="1">
                <a:spLocks noRot="1" noChangeAspect="1" noMove="1" noResize="1" noEditPoints="1" noAdjustHandles="1" noChangeArrowheads="1" noChangeShapeType="1" noTextEdit="1"/>
              </p:cNvSpPr>
              <p:nvPr/>
            </p:nvSpPr>
            <p:spPr>
              <a:xfrm>
                <a:off x="905627" y="1742011"/>
                <a:ext cx="9718517" cy="400110"/>
              </a:xfrm>
              <a:prstGeom prst="rect">
                <a:avLst/>
              </a:prstGeom>
              <a:blipFill>
                <a:blip r:embed="rId2"/>
                <a:stretch>
                  <a:fillRect l="-690" t="-12308" b="-2461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34225B01-4E60-44F7-B7CF-9A770B6A9A53}"/>
                  </a:ext>
                </a:extLst>
              </p:cNvPr>
              <p:cNvSpPr txBox="1"/>
              <p:nvPr/>
            </p:nvSpPr>
            <p:spPr>
              <a:xfrm>
                <a:off x="916235" y="2653242"/>
                <a:ext cx="9543447" cy="2794098"/>
              </a:xfrm>
              <a:prstGeom prst="rect">
                <a:avLst/>
              </a:prstGeom>
              <a:solidFill>
                <a:schemeClr val="accent6">
                  <a:lumMod val="20000"/>
                  <a:lumOff val="80000"/>
                  <a:alpha val="50000"/>
                </a:schemeClr>
              </a:solidFill>
            </p:spPr>
            <p:txBody>
              <a:bodyPr wrap="square" rtlCol="0">
                <a:spAutoFit/>
              </a:bodyPr>
              <a:lstStyle/>
              <a:p>
                <a:pPr>
                  <a:spcBef>
                    <a:spcPts val="600"/>
                  </a:spcBef>
                  <a:spcAft>
                    <a:spcPts val="600"/>
                  </a:spcAft>
                </a:pPr>
                <a:r>
                  <a:rPr lang="zh-CN" altLang="en-US" sz="2000" b="1">
                    <a:solidFill>
                      <a:srgbClr val="002060"/>
                    </a:solidFill>
                    <a:latin typeface="楷体" panose="02010609060101010101" pitchFamily="49" charset="-122"/>
                    <a:ea typeface="楷体" panose="02010609060101010101" pitchFamily="49" charset="-122"/>
                  </a:rPr>
                  <a:t>反证法：设图</a:t>
                </a:r>
                <a14:m>
                  <m:oMath xmlns:m="http://schemas.openxmlformats.org/officeDocument/2006/math">
                    <m:r>
                      <a:rPr lang="en-US" altLang="zh-CN" sz="2000" b="1" i="1" smtClean="0">
                        <a:solidFill>
                          <a:srgbClr val="002060"/>
                        </a:solidFill>
                        <a:latin typeface="Cambria Math" panose="02040503050406030204" pitchFamily="18" charset="0"/>
                      </a:rPr>
                      <m:t>𝑮</m:t>
                    </m:r>
                  </m:oMath>
                </a14:m>
                <a:r>
                  <a:rPr lang="zh-CN" altLang="en-US" sz="2000" b="1">
                    <a:solidFill>
                      <a:srgbClr val="002060"/>
                    </a:solidFill>
                    <a:latin typeface="楷体" panose="02010609060101010101" pitchFamily="49" charset="-122"/>
                    <a:ea typeface="楷体" panose="02010609060101010101" pitchFamily="49" charset="-122"/>
                  </a:rPr>
                  <a:t>的顶点数是</a:t>
                </a:r>
                <a14:m>
                  <m:oMath xmlns:m="http://schemas.openxmlformats.org/officeDocument/2006/math">
                    <m:r>
                      <a:rPr lang="en-US" altLang="zh-CN" sz="2000" b="1" i="1" smtClean="0">
                        <a:solidFill>
                          <a:srgbClr val="002060"/>
                        </a:solidFill>
                        <a:latin typeface="Cambria Math" panose="02040503050406030204" pitchFamily="18" charset="0"/>
                      </a:rPr>
                      <m:t>𝒏</m:t>
                    </m:r>
                  </m:oMath>
                </a14:m>
                <a:r>
                  <a:rPr lang="zh-CN" altLang="en-US" sz="2000" b="1">
                    <a:solidFill>
                      <a:srgbClr val="002060"/>
                    </a:solidFill>
                    <a:latin typeface="楷体" panose="02010609060101010101" pitchFamily="49" charset="-122"/>
                    <a:ea typeface="楷体" panose="02010609060101010101" pitchFamily="49" charset="-122"/>
                  </a:rPr>
                  <a:t>，边数</a:t>
                </a:r>
                <a14:m>
                  <m:oMath xmlns:m="http://schemas.openxmlformats.org/officeDocument/2006/math">
                    <m:r>
                      <a:rPr lang="en-US" altLang="zh-CN" sz="2000" b="1" i="1" smtClean="0">
                        <a:solidFill>
                          <a:srgbClr val="002060"/>
                        </a:solidFill>
                        <a:latin typeface="Cambria Math" panose="02040503050406030204" pitchFamily="18" charset="0"/>
                      </a:rPr>
                      <m:t>𝒎</m:t>
                    </m:r>
                  </m:oMath>
                </a14:m>
                <a:r>
                  <a:rPr lang="zh-CN" altLang="en-US" sz="2000" b="1">
                    <a:solidFill>
                      <a:srgbClr val="002060"/>
                    </a:solidFill>
                    <a:latin typeface="楷体" panose="02010609060101010101" pitchFamily="49" charset="-122"/>
                    <a:ea typeface="楷体" panose="02010609060101010101" pitchFamily="49" charset="-122"/>
                  </a:rPr>
                  <a:t>，面数</a:t>
                </a:r>
                <a14:m>
                  <m:oMath xmlns:m="http://schemas.openxmlformats.org/officeDocument/2006/math">
                    <m:r>
                      <a:rPr lang="en-US" altLang="zh-CN" sz="2000" b="1" i="1" smtClean="0">
                        <a:solidFill>
                          <a:srgbClr val="002060"/>
                        </a:solidFill>
                        <a:latin typeface="Cambria Math" panose="02040503050406030204" pitchFamily="18" charset="0"/>
                      </a:rPr>
                      <m:t>𝒅</m:t>
                    </m:r>
                  </m:oMath>
                </a14:m>
                <a:endParaRPr lang="en-US" altLang="zh-CN" sz="2000" b="1">
                  <a:solidFill>
                    <a:srgbClr val="002060"/>
                  </a:solidFill>
                  <a:latin typeface="楷体" panose="02010609060101010101" pitchFamily="49" charset="-122"/>
                </a:endParaRPr>
              </a:p>
              <a:p>
                <a:pPr marL="342900" indent="-342900">
                  <a:spcBef>
                    <a:spcPts val="600"/>
                  </a:spcBef>
                  <a:spcAft>
                    <a:spcPts val="600"/>
                  </a:spcAft>
                  <a:buFont typeface="Arial" panose="020B0604020202020204" pitchFamily="34" charset="0"/>
                  <a:buChar char="•"/>
                </a:pPr>
                <a:r>
                  <a:rPr lang="zh-CN" altLang="en-US" sz="2000" b="1">
                    <a:solidFill>
                      <a:schemeClr val="accent6">
                        <a:lumMod val="50000"/>
                      </a:schemeClr>
                    </a:solidFill>
                  </a:rPr>
                  <a:t>若所有面的度数大于等于</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𝟓</m:t>
                    </m:r>
                  </m:oMath>
                </a14:m>
                <a:r>
                  <a:rPr lang="zh-CN" altLang="en-US" sz="2000" b="1">
                    <a:solidFill>
                      <a:schemeClr val="accent6">
                        <a:lumMod val="50000"/>
                      </a:schemeClr>
                    </a:solidFill>
                  </a:rPr>
                  <a:t>，则有</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𝟓</m:t>
                    </m:r>
                    <m:r>
                      <a:rPr lang="en-US" altLang="zh-CN" sz="2000" b="1" i="1" smtClean="0">
                        <a:solidFill>
                          <a:schemeClr val="accent6">
                            <a:lumMod val="50000"/>
                          </a:schemeClr>
                        </a:solidFill>
                        <a:latin typeface="Cambria Math" panose="02040503050406030204" pitchFamily="18" charset="0"/>
                      </a:rPr>
                      <m:t>𝒅</m:t>
                    </m:r>
                    <m:r>
                      <a:rPr lang="en-US" altLang="zh-CN" sz="2000" b="1" i="1" smtClean="0">
                        <a:solidFill>
                          <a:schemeClr val="accent6">
                            <a:lumMod val="50000"/>
                          </a:schemeClr>
                        </a:solidFill>
                        <a:latin typeface="Cambria Math" panose="02040503050406030204" pitchFamily="18" charset="0"/>
                      </a:rPr>
                      <m:t>≤</m:t>
                    </m:r>
                    <m:r>
                      <a:rPr lang="en-US" altLang="zh-CN" sz="2000" b="1" i="1" smtClean="0">
                        <a:solidFill>
                          <a:schemeClr val="accent6">
                            <a:lumMod val="50000"/>
                          </a:schemeClr>
                        </a:solidFill>
                        <a:latin typeface="Cambria Math" panose="02040503050406030204" pitchFamily="18" charset="0"/>
                      </a:rPr>
                      <m:t>𝟐</m:t>
                    </m:r>
                    <m:r>
                      <a:rPr lang="en-US" altLang="zh-CN" sz="2000" b="1" i="1" smtClean="0">
                        <a:solidFill>
                          <a:schemeClr val="accent6">
                            <a:lumMod val="50000"/>
                          </a:schemeClr>
                        </a:solidFill>
                        <a:latin typeface="Cambria Math" panose="02040503050406030204" pitchFamily="18" charset="0"/>
                      </a:rPr>
                      <m:t>𝒎</m:t>
                    </m:r>
                  </m:oMath>
                </a14:m>
                <a:r>
                  <a:rPr lang="zh-CN" altLang="en-US" sz="2000" b="1">
                    <a:solidFill>
                      <a:schemeClr val="accent6">
                        <a:lumMod val="50000"/>
                      </a:schemeClr>
                    </a:solidFill>
                  </a:rPr>
                  <a:t>，即</a:t>
                </a:r>
                <a14:m>
                  <m:oMath xmlns:m="http://schemas.openxmlformats.org/officeDocument/2006/math">
                    <m:r>
                      <a:rPr lang="en-US" altLang="zh-CN" sz="2000" b="1" i="1" smtClean="0">
                        <a:solidFill>
                          <a:srgbClr val="C00000"/>
                        </a:solidFill>
                        <a:latin typeface="Cambria Math" panose="02040503050406030204" pitchFamily="18" charset="0"/>
                      </a:rPr>
                      <m:t>𝒅</m:t>
                    </m:r>
                    <m:r>
                      <a:rPr lang="en-US" altLang="zh-CN" sz="2000" b="1" i="1" smtClean="0">
                        <a:solidFill>
                          <a:srgbClr val="C00000"/>
                        </a:solidFill>
                        <a:latin typeface="Cambria Math" panose="02040503050406030204" pitchFamily="18" charset="0"/>
                      </a:rPr>
                      <m:t>≤</m:t>
                    </m:r>
                    <m:f>
                      <m:fPr>
                        <m:ctrlPr>
                          <a:rPr lang="en-US" altLang="zh-CN" sz="2000" b="1" i="1" smtClean="0">
                            <a:solidFill>
                              <a:srgbClr val="C00000"/>
                            </a:solidFill>
                            <a:latin typeface="Cambria Math" panose="02040503050406030204" pitchFamily="18" charset="0"/>
                          </a:rPr>
                        </m:ctrlPr>
                      </m:fPr>
                      <m:num>
                        <m:r>
                          <a:rPr lang="en-US" altLang="zh-CN" sz="2000" b="1" i="1" smtClean="0">
                            <a:solidFill>
                              <a:srgbClr val="C00000"/>
                            </a:solidFill>
                            <a:latin typeface="Cambria Math" panose="02040503050406030204" pitchFamily="18" charset="0"/>
                          </a:rPr>
                          <m:t>𝟐</m:t>
                        </m:r>
                        <m:r>
                          <a:rPr lang="en-US" altLang="zh-CN" sz="2000" b="1" i="1" smtClean="0">
                            <a:solidFill>
                              <a:srgbClr val="C00000"/>
                            </a:solidFill>
                            <a:latin typeface="Cambria Math" panose="02040503050406030204" pitchFamily="18" charset="0"/>
                          </a:rPr>
                          <m:t>𝒎</m:t>
                        </m:r>
                      </m:num>
                      <m:den>
                        <m:r>
                          <a:rPr lang="en-US" altLang="zh-CN" sz="2000" b="1" i="1" smtClean="0">
                            <a:solidFill>
                              <a:srgbClr val="C00000"/>
                            </a:solidFill>
                            <a:latin typeface="Cambria Math" panose="02040503050406030204" pitchFamily="18" charset="0"/>
                          </a:rPr>
                          <m:t>𝟓</m:t>
                        </m:r>
                      </m:den>
                    </m:f>
                  </m:oMath>
                </a14:m>
                <a:endParaRPr lang="en-US" altLang="zh-CN" sz="2000" b="1">
                  <a:solidFill>
                    <a:schemeClr val="accent6">
                      <a:lumMod val="50000"/>
                    </a:schemeClr>
                  </a:solidFill>
                </a:endParaRPr>
              </a:p>
              <a:p>
                <a:pPr marL="342900" indent="-342900">
                  <a:spcBef>
                    <a:spcPts val="600"/>
                  </a:spcBef>
                  <a:spcAft>
                    <a:spcPts val="600"/>
                  </a:spcAft>
                  <a:buFont typeface="Arial" panose="020B0604020202020204" pitchFamily="34" charset="0"/>
                  <a:buChar char="•"/>
                </a:pPr>
                <a:r>
                  <a:rPr lang="zh-CN" altLang="en-US" sz="2000" b="1">
                    <a:solidFill>
                      <a:schemeClr val="accent6">
                        <a:lumMod val="50000"/>
                      </a:schemeClr>
                    </a:solidFill>
                  </a:rPr>
                  <a:t>最小度</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𝜹</m:t>
                    </m:r>
                    <m:d>
                      <m:dPr>
                        <m:ctrlPr>
                          <a:rPr lang="en-US" altLang="zh-CN" sz="2000" b="1" i="1" smtClean="0">
                            <a:solidFill>
                              <a:schemeClr val="accent6">
                                <a:lumMod val="50000"/>
                              </a:schemeClr>
                            </a:solidFill>
                            <a:latin typeface="Cambria Math" panose="02040503050406030204" pitchFamily="18" charset="0"/>
                          </a:rPr>
                        </m:ctrlPr>
                      </m:dPr>
                      <m:e>
                        <m:r>
                          <a:rPr lang="en-US" altLang="zh-CN" sz="2000" b="1" i="1" smtClean="0">
                            <a:solidFill>
                              <a:schemeClr val="accent6">
                                <a:lumMod val="50000"/>
                              </a:schemeClr>
                            </a:solidFill>
                            <a:latin typeface="Cambria Math" panose="02040503050406030204" pitchFamily="18" charset="0"/>
                          </a:rPr>
                          <m:t>𝑮</m:t>
                        </m:r>
                      </m:e>
                    </m:d>
                    <m:r>
                      <a:rPr lang="en-US" altLang="zh-CN" sz="2000" b="1" i="1" smtClean="0">
                        <a:solidFill>
                          <a:schemeClr val="accent6">
                            <a:lumMod val="50000"/>
                          </a:schemeClr>
                        </a:solidFill>
                        <a:latin typeface="Cambria Math" panose="02040503050406030204" pitchFamily="18" charset="0"/>
                      </a:rPr>
                      <m:t>≥</m:t>
                    </m:r>
                    <m:r>
                      <a:rPr lang="en-US" altLang="zh-CN" sz="2000" b="1" i="1" smtClean="0">
                        <a:solidFill>
                          <a:schemeClr val="accent6">
                            <a:lumMod val="50000"/>
                          </a:schemeClr>
                        </a:solidFill>
                        <a:latin typeface="Cambria Math" panose="02040503050406030204" pitchFamily="18" charset="0"/>
                      </a:rPr>
                      <m:t>𝟑</m:t>
                    </m:r>
                  </m:oMath>
                </a14:m>
                <a:r>
                  <a:rPr lang="zh-CN" altLang="en-US" sz="2000" b="1">
                    <a:solidFill>
                      <a:schemeClr val="accent6">
                        <a:lumMod val="50000"/>
                      </a:schemeClr>
                    </a:solidFill>
                  </a:rPr>
                  <a:t>，则有</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𝟑</m:t>
                    </m:r>
                    <m:r>
                      <a:rPr lang="en-US" altLang="zh-CN" sz="2000" b="1" i="1" smtClean="0">
                        <a:solidFill>
                          <a:schemeClr val="accent6">
                            <a:lumMod val="50000"/>
                          </a:schemeClr>
                        </a:solidFill>
                        <a:latin typeface="Cambria Math" panose="02040503050406030204" pitchFamily="18" charset="0"/>
                      </a:rPr>
                      <m:t>𝒏</m:t>
                    </m:r>
                    <m:r>
                      <a:rPr lang="en-US" altLang="zh-CN" sz="2000" b="1" i="1" smtClean="0">
                        <a:solidFill>
                          <a:schemeClr val="accent6">
                            <a:lumMod val="50000"/>
                          </a:schemeClr>
                        </a:solidFill>
                        <a:latin typeface="Cambria Math" panose="02040503050406030204" pitchFamily="18" charset="0"/>
                      </a:rPr>
                      <m:t>≤</m:t>
                    </m:r>
                    <m:r>
                      <a:rPr lang="en-US" altLang="zh-CN" sz="2000" b="1" i="1" smtClean="0">
                        <a:solidFill>
                          <a:schemeClr val="accent6">
                            <a:lumMod val="50000"/>
                          </a:schemeClr>
                        </a:solidFill>
                        <a:latin typeface="Cambria Math" panose="02040503050406030204" pitchFamily="18" charset="0"/>
                      </a:rPr>
                      <m:t>𝟐</m:t>
                    </m:r>
                    <m:r>
                      <a:rPr lang="en-US" altLang="zh-CN" sz="2000" b="1" i="1" smtClean="0">
                        <a:solidFill>
                          <a:schemeClr val="accent6">
                            <a:lumMod val="50000"/>
                          </a:schemeClr>
                        </a:solidFill>
                        <a:latin typeface="Cambria Math" panose="02040503050406030204" pitchFamily="18" charset="0"/>
                      </a:rPr>
                      <m:t>𝒎</m:t>
                    </m:r>
                  </m:oMath>
                </a14:m>
                <a:r>
                  <a:rPr lang="zh-CN" altLang="en-US" sz="2000" b="1">
                    <a:solidFill>
                      <a:schemeClr val="accent6">
                        <a:lumMod val="50000"/>
                      </a:schemeClr>
                    </a:solidFill>
                  </a:rPr>
                  <a:t>，即</a:t>
                </a:r>
                <a14:m>
                  <m:oMath xmlns:m="http://schemas.openxmlformats.org/officeDocument/2006/math">
                    <m:r>
                      <a:rPr lang="en-US" altLang="zh-CN" sz="2000" b="1" i="1" smtClean="0">
                        <a:solidFill>
                          <a:srgbClr val="C00000"/>
                        </a:solidFill>
                        <a:latin typeface="Cambria Math" panose="02040503050406030204" pitchFamily="18" charset="0"/>
                      </a:rPr>
                      <m:t>𝒏</m:t>
                    </m:r>
                    <m:r>
                      <a:rPr lang="en-US" altLang="zh-CN" sz="2000" b="1" i="1" smtClean="0">
                        <a:solidFill>
                          <a:srgbClr val="C00000"/>
                        </a:solidFill>
                        <a:latin typeface="Cambria Math" panose="02040503050406030204" pitchFamily="18" charset="0"/>
                      </a:rPr>
                      <m:t>≤</m:t>
                    </m:r>
                    <m:f>
                      <m:fPr>
                        <m:ctrlPr>
                          <a:rPr lang="en-US" altLang="zh-CN" sz="2000" b="1" i="1" smtClean="0">
                            <a:solidFill>
                              <a:srgbClr val="C00000"/>
                            </a:solidFill>
                            <a:latin typeface="Cambria Math" panose="02040503050406030204" pitchFamily="18" charset="0"/>
                          </a:rPr>
                        </m:ctrlPr>
                      </m:fPr>
                      <m:num>
                        <m:r>
                          <a:rPr lang="en-US" altLang="zh-CN" sz="2000" b="1" i="1" smtClean="0">
                            <a:solidFill>
                              <a:srgbClr val="C00000"/>
                            </a:solidFill>
                            <a:latin typeface="Cambria Math" panose="02040503050406030204" pitchFamily="18" charset="0"/>
                          </a:rPr>
                          <m:t>𝟐</m:t>
                        </m:r>
                        <m:r>
                          <a:rPr lang="en-US" altLang="zh-CN" sz="2000" b="1" i="1" smtClean="0">
                            <a:solidFill>
                              <a:srgbClr val="C00000"/>
                            </a:solidFill>
                            <a:latin typeface="Cambria Math" panose="02040503050406030204" pitchFamily="18" charset="0"/>
                          </a:rPr>
                          <m:t>𝒎</m:t>
                        </m:r>
                      </m:num>
                      <m:den>
                        <m:r>
                          <a:rPr lang="en-US" altLang="zh-CN" sz="2000" b="1" i="1" smtClean="0">
                            <a:solidFill>
                              <a:srgbClr val="C00000"/>
                            </a:solidFill>
                            <a:latin typeface="Cambria Math" panose="02040503050406030204" pitchFamily="18" charset="0"/>
                          </a:rPr>
                          <m:t>𝟑</m:t>
                        </m:r>
                      </m:den>
                    </m:f>
                  </m:oMath>
                </a14:m>
                <a:endParaRPr lang="en-US" altLang="zh-CN" sz="2000" b="1">
                  <a:solidFill>
                    <a:schemeClr val="accent6">
                      <a:lumMod val="50000"/>
                    </a:schemeClr>
                  </a:solidFill>
                </a:endParaRPr>
              </a:p>
              <a:p>
                <a:pPr marL="342900" indent="-342900">
                  <a:spcBef>
                    <a:spcPts val="600"/>
                  </a:spcBef>
                  <a:spcAft>
                    <a:spcPts val="600"/>
                  </a:spcAft>
                  <a:buFont typeface="Arial" panose="020B0604020202020204" pitchFamily="34" charset="0"/>
                  <a:buChar char="•"/>
                </a:pPr>
                <a:r>
                  <a:rPr lang="zh-CN" altLang="en-US" sz="2000" b="1">
                    <a:solidFill>
                      <a:schemeClr val="accent6">
                        <a:lumMod val="50000"/>
                      </a:schemeClr>
                    </a:solidFill>
                  </a:rPr>
                  <a:t>根据欧拉公式有</a:t>
                </a:r>
                <a14:m>
                  <m:oMath xmlns:m="http://schemas.openxmlformats.org/officeDocument/2006/math">
                    <m:r>
                      <a:rPr lang="en-US" altLang="zh-CN" sz="2000" b="1" i="1" smtClean="0">
                        <a:solidFill>
                          <a:srgbClr val="C00000"/>
                        </a:solidFill>
                        <a:latin typeface="Cambria Math" panose="02040503050406030204" pitchFamily="18" charset="0"/>
                      </a:rPr>
                      <m:t>𝒏</m:t>
                    </m:r>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𝒎</m:t>
                    </m:r>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𝒅</m:t>
                    </m:r>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𝟐</m:t>
                    </m:r>
                  </m:oMath>
                </a14:m>
                <a:r>
                  <a:rPr lang="zh-CN" altLang="en-US" sz="2000" b="1">
                    <a:solidFill>
                      <a:schemeClr val="accent6">
                        <a:lumMod val="50000"/>
                      </a:schemeClr>
                    </a:solidFill>
                  </a:rPr>
                  <a:t>，从而有</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𝒎</m:t>
                    </m:r>
                    <m:r>
                      <a:rPr lang="en-US" altLang="zh-CN" sz="2000" b="1" i="1" smtClean="0">
                        <a:solidFill>
                          <a:schemeClr val="accent6">
                            <a:lumMod val="50000"/>
                          </a:schemeClr>
                        </a:solidFill>
                        <a:latin typeface="Cambria Math" panose="02040503050406030204" pitchFamily="18" charset="0"/>
                      </a:rPr>
                      <m:t>+</m:t>
                    </m:r>
                    <m:r>
                      <a:rPr lang="en-US" altLang="zh-CN" sz="2000" b="1" i="1" smtClean="0">
                        <a:solidFill>
                          <a:schemeClr val="accent6">
                            <a:lumMod val="50000"/>
                          </a:schemeClr>
                        </a:solidFill>
                        <a:latin typeface="Cambria Math" panose="02040503050406030204" pitchFamily="18" charset="0"/>
                      </a:rPr>
                      <m:t>𝟐</m:t>
                    </m:r>
                    <m:r>
                      <a:rPr lang="en-US" altLang="zh-CN" sz="2000" b="1" i="1" smtClean="0">
                        <a:solidFill>
                          <a:schemeClr val="accent6">
                            <a:lumMod val="50000"/>
                          </a:schemeClr>
                        </a:solidFill>
                        <a:latin typeface="Cambria Math" panose="02040503050406030204" pitchFamily="18" charset="0"/>
                      </a:rPr>
                      <m:t>=</m:t>
                    </m:r>
                    <m:r>
                      <a:rPr lang="en-US" altLang="zh-CN" sz="2000" b="1" i="1" smtClean="0">
                        <a:solidFill>
                          <a:schemeClr val="accent6">
                            <a:lumMod val="50000"/>
                          </a:schemeClr>
                        </a:solidFill>
                        <a:latin typeface="Cambria Math" panose="02040503050406030204" pitchFamily="18" charset="0"/>
                      </a:rPr>
                      <m:t>𝒏</m:t>
                    </m:r>
                    <m:r>
                      <a:rPr lang="en-US" altLang="zh-CN" sz="2000" b="1" i="1" smtClean="0">
                        <a:solidFill>
                          <a:schemeClr val="accent6">
                            <a:lumMod val="50000"/>
                          </a:schemeClr>
                        </a:solidFill>
                        <a:latin typeface="Cambria Math" panose="02040503050406030204" pitchFamily="18" charset="0"/>
                      </a:rPr>
                      <m:t>+</m:t>
                    </m:r>
                    <m:r>
                      <a:rPr lang="en-US" altLang="zh-CN" sz="2000" b="1" i="1" smtClean="0">
                        <a:solidFill>
                          <a:schemeClr val="accent6">
                            <a:lumMod val="50000"/>
                          </a:schemeClr>
                        </a:solidFill>
                        <a:latin typeface="Cambria Math" panose="02040503050406030204" pitchFamily="18" charset="0"/>
                      </a:rPr>
                      <m:t>𝒅</m:t>
                    </m:r>
                    <m:r>
                      <a:rPr lang="en-US" altLang="zh-CN" sz="2000" b="1" i="1" smtClean="0">
                        <a:solidFill>
                          <a:schemeClr val="accent6">
                            <a:lumMod val="50000"/>
                          </a:schemeClr>
                        </a:solidFill>
                        <a:latin typeface="Cambria Math" panose="02040503050406030204" pitchFamily="18" charset="0"/>
                      </a:rPr>
                      <m:t>≤</m:t>
                    </m:r>
                    <m:f>
                      <m:fPr>
                        <m:ctrlPr>
                          <a:rPr lang="en-US" altLang="zh-CN" sz="2000" b="1" i="1" smtClean="0">
                            <a:solidFill>
                              <a:schemeClr val="accent6">
                                <a:lumMod val="50000"/>
                              </a:schemeClr>
                            </a:solidFill>
                            <a:latin typeface="Cambria Math" panose="02040503050406030204" pitchFamily="18" charset="0"/>
                          </a:rPr>
                        </m:ctrlPr>
                      </m:fPr>
                      <m:num>
                        <m:r>
                          <a:rPr lang="en-US" altLang="zh-CN" sz="2000" b="1" i="1" smtClean="0">
                            <a:solidFill>
                              <a:schemeClr val="accent6">
                                <a:lumMod val="50000"/>
                              </a:schemeClr>
                            </a:solidFill>
                            <a:latin typeface="Cambria Math" panose="02040503050406030204" pitchFamily="18" charset="0"/>
                          </a:rPr>
                          <m:t>𝟐</m:t>
                        </m:r>
                        <m:r>
                          <a:rPr lang="en-US" altLang="zh-CN" sz="2000" b="1" i="1" smtClean="0">
                            <a:solidFill>
                              <a:schemeClr val="accent6">
                                <a:lumMod val="50000"/>
                              </a:schemeClr>
                            </a:solidFill>
                            <a:latin typeface="Cambria Math" panose="02040503050406030204" pitchFamily="18" charset="0"/>
                          </a:rPr>
                          <m:t>𝒎</m:t>
                        </m:r>
                      </m:num>
                      <m:den>
                        <m:r>
                          <a:rPr lang="en-US" altLang="zh-CN" sz="2000" b="1" i="1" smtClean="0">
                            <a:solidFill>
                              <a:schemeClr val="accent6">
                                <a:lumMod val="50000"/>
                              </a:schemeClr>
                            </a:solidFill>
                            <a:latin typeface="Cambria Math" panose="02040503050406030204" pitchFamily="18" charset="0"/>
                          </a:rPr>
                          <m:t>𝟓</m:t>
                        </m:r>
                      </m:den>
                    </m:f>
                    <m:r>
                      <a:rPr lang="en-US" altLang="zh-CN" sz="2000" b="1" i="1" smtClean="0">
                        <a:solidFill>
                          <a:schemeClr val="accent6">
                            <a:lumMod val="50000"/>
                          </a:schemeClr>
                        </a:solidFill>
                        <a:latin typeface="Cambria Math" panose="02040503050406030204" pitchFamily="18" charset="0"/>
                      </a:rPr>
                      <m:t>+</m:t>
                    </m:r>
                    <m:f>
                      <m:fPr>
                        <m:ctrlPr>
                          <a:rPr lang="en-US" altLang="zh-CN" sz="2000" b="1" i="1" smtClean="0">
                            <a:solidFill>
                              <a:schemeClr val="accent6">
                                <a:lumMod val="50000"/>
                              </a:schemeClr>
                            </a:solidFill>
                            <a:latin typeface="Cambria Math" panose="02040503050406030204" pitchFamily="18" charset="0"/>
                          </a:rPr>
                        </m:ctrlPr>
                      </m:fPr>
                      <m:num>
                        <m:r>
                          <a:rPr lang="en-US" altLang="zh-CN" sz="2000" b="1" i="1" smtClean="0">
                            <a:solidFill>
                              <a:schemeClr val="accent6">
                                <a:lumMod val="50000"/>
                              </a:schemeClr>
                            </a:solidFill>
                            <a:latin typeface="Cambria Math" panose="02040503050406030204" pitchFamily="18" charset="0"/>
                          </a:rPr>
                          <m:t>𝟐</m:t>
                        </m:r>
                        <m:r>
                          <a:rPr lang="en-US" altLang="zh-CN" sz="2000" b="1" i="1" smtClean="0">
                            <a:solidFill>
                              <a:schemeClr val="accent6">
                                <a:lumMod val="50000"/>
                              </a:schemeClr>
                            </a:solidFill>
                            <a:latin typeface="Cambria Math" panose="02040503050406030204" pitchFamily="18" charset="0"/>
                          </a:rPr>
                          <m:t>𝒎</m:t>
                        </m:r>
                      </m:num>
                      <m:den>
                        <m:r>
                          <a:rPr lang="en-US" altLang="zh-CN" sz="2000" b="1" i="1" smtClean="0">
                            <a:solidFill>
                              <a:schemeClr val="accent6">
                                <a:lumMod val="50000"/>
                              </a:schemeClr>
                            </a:solidFill>
                            <a:latin typeface="Cambria Math" panose="02040503050406030204" pitchFamily="18" charset="0"/>
                          </a:rPr>
                          <m:t>𝟑</m:t>
                        </m:r>
                      </m:den>
                    </m:f>
                  </m:oMath>
                </a14:m>
                <a:r>
                  <a:rPr lang="zh-CN" altLang="en-US" sz="2000" b="1">
                    <a:solidFill>
                      <a:schemeClr val="accent6">
                        <a:lumMod val="50000"/>
                      </a:schemeClr>
                    </a:solidFill>
                  </a:rPr>
                  <a:t>，即有</a:t>
                </a:r>
                <a14:m>
                  <m:oMath xmlns:m="http://schemas.openxmlformats.org/officeDocument/2006/math">
                    <m:r>
                      <a:rPr lang="en-US" altLang="zh-CN" sz="2000" b="1" i="1" smtClean="0">
                        <a:solidFill>
                          <a:srgbClr val="C00000"/>
                        </a:solidFill>
                        <a:latin typeface="Cambria Math" panose="02040503050406030204" pitchFamily="18" charset="0"/>
                      </a:rPr>
                      <m:t>𝒎</m:t>
                    </m:r>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𝟑𝟎</m:t>
                    </m:r>
                  </m:oMath>
                </a14:m>
                <a:endParaRPr lang="en-US" altLang="zh-CN" sz="2000" b="1">
                  <a:solidFill>
                    <a:schemeClr val="accent6">
                      <a:lumMod val="50000"/>
                    </a:schemeClr>
                  </a:solidFill>
                </a:endParaRPr>
              </a:p>
              <a:p>
                <a:pPr marL="342900" indent="-342900">
                  <a:spcBef>
                    <a:spcPts val="600"/>
                  </a:spcBef>
                  <a:spcAft>
                    <a:spcPts val="600"/>
                  </a:spcAft>
                  <a:buFont typeface="Arial" panose="020B0604020202020204" pitchFamily="34" charset="0"/>
                  <a:buChar char="•"/>
                </a:pPr>
                <a:r>
                  <a:rPr lang="zh-CN" altLang="en-US" sz="2000" b="1">
                    <a:solidFill>
                      <a:schemeClr val="accent6">
                        <a:lumMod val="50000"/>
                      </a:schemeClr>
                    </a:solidFill>
                  </a:rPr>
                  <a:t>再根据欧拉公式有</a:t>
                </a:r>
                <a14:m>
                  <m:oMath xmlns:m="http://schemas.openxmlformats.org/officeDocument/2006/math">
                    <m:r>
                      <a:rPr lang="en-US" altLang="zh-CN" sz="2000" b="1" i="1" smtClean="0">
                        <a:solidFill>
                          <a:srgbClr val="C00000"/>
                        </a:solidFill>
                        <a:latin typeface="Cambria Math" panose="02040503050406030204" pitchFamily="18" charset="0"/>
                      </a:rPr>
                      <m:t>𝒅</m:t>
                    </m:r>
                    <m:r>
                      <a:rPr lang="en-US" altLang="zh-CN" sz="2000" b="1" i="1" smtClean="0">
                        <a:solidFill>
                          <a:srgbClr val="C00000"/>
                        </a:solidFill>
                        <a:latin typeface="Cambria Math" panose="02040503050406030204" pitchFamily="18" charset="0"/>
                      </a:rPr>
                      <m:t> = </m:t>
                    </m:r>
                    <m:r>
                      <a:rPr lang="en-US" altLang="zh-CN" sz="2000" b="1" i="1" smtClean="0">
                        <a:solidFill>
                          <a:srgbClr val="C00000"/>
                        </a:solidFill>
                        <a:latin typeface="Cambria Math" panose="02040503050406030204" pitchFamily="18" charset="0"/>
                      </a:rPr>
                      <m:t>𝒎</m:t>
                    </m:r>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𝒏</m:t>
                    </m:r>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𝟐</m:t>
                    </m:r>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𝒎</m:t>
                    </m:r>
                    <m:r>
                      <a:rPr lang="en-US" altLang="zh-CN" sz="2000" b="1" i="1" smtClean="0">
                        <a:solidFill>
                          <a:srgbClr val="C00000"/>
                        </a:solidFill>
                        <a:latin typeface="Cambria Math" panose="02040503050406030204" pitchFamily="18" charset="0"/>
                      </a:rPr>
                      <m:t>−</m:t>
                    </m:r>
                    <m:f>
                      <m:fPr>
                        <m:ctrlPr>
                          <a:rPr lang="en-US" altLang="zh-CN" sz="2000" b="1" i="1" smtClean="0">
                            <a:solidFill>
                              <a:srgbClr val="C00000"/>
                            </a:solidFill>
                            <a:latin typeface="Cambria Math" panose="02040503050406030204" pitchFamily="18" charset="0"/>
                          </a:rPr>
                        </m:ctrlPr>
                      </m:fPr>
                      <m:num>
                        <m:r>
                          <a:rPr lang="en-US" altLang="zh-CN" sz="2000" b="1" i="1" smtClean="0">
                            <a:solidFill>
                              <a:srgbClr val="C00000"/>
                            </a:solidFill>
                            <a:latin typeface="Cambria Math" panose="02040503050406030204" pitchFamily="18" charset="0"/>
                          </a:rPr>
                          <m:t>𝟐</m:t>
                        </m:r>
                        <m:r>
                          <a:rPr lang="en-US" altLang="zh-CN" sz="2000" b="1" i="1" smtClean="0">
                            <a:solidFill>
                              <a:srgbClr val="C00000"/>
                            </a:solidFill>
                            <a:latin typeface="Cambria Math" panose="02040503050406030204" pitchFamily="18" charset="0"/>
                          </a:rPr>
                          <m:t>𝒎</m:t>
                        </m:r>
                      </m:num>
                      <m:den>
                        <m:r>
                          <a:rPr lang="en-US" altLang="zh-CN" sz="2000" b="1" i="1" smtClean="0">
                            <a:solidFill>
                              <a:srgbClr val="C00000"/>
                            </a:solidFill>
                            <a:latin typeface="Cambria Math" panose="02040503050406030204" pitchFamily="18" charset="0"/>
                          </a:rPr>
                          <m:t>𝟑</m:t>
                        </m:r>
                      </m:den>
                    </m:f>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𝟐</m:t>
                    </m:r>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𝟏𝟐</m:t>
                    </m:r>
                  </m:oMath>
                </a14:m>
                <a:r>
                  <a:rPr lang="zh-CN" altLang="en-US" sz="2000" b="1">
                    <a:solidFill>
                      <a:schemeClr val="accent6">
                        <a:lumMod val="50000"/>
                      </a:schemeClr>
                    </a:solidFill>
                  </a:rPr>
                  <a:t>，与</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𝒅</m:t>
                    </m:r>
                    <m:r>
                      <a:rPr lang="en-US" altLang="zh-CN" sz="2000" b="1" i="1" smtClean="0">
                        <a:solidFill>
                          <a:schemeClr val="accent6">
                            <a:lumMod val="50000"/>
                          </a:schemeClr>
                        </a:solidFill>
                        <a:latin typeface="Cambria Math" panose="02040503050406030204" pitchFamily="18" charset="0"/>
                      </a:rPr>
                      <m:t> &lt; </m:t>
                    </m:r>
                    <m:r>
                      <a:rPr lang="en-US" altLang="zh-CN" sz="2000" b="1" i="1" smtClean="0">
                        <a:solidFill>
                          <a:schemeClr val="accent6">
                            <a:lumMod val="50000"/>
                          </a:schemeClr>
                        </a:solidFill>
                        <a:latin typeface="Cambria Math" panose="02040503050406030204" pitchFamily="18" charset="0"/>
                      </a:rPr>
                      <m:t>𝟏𝟐</m:t>
                    </m:r>
                  </m:oMath>
                </a14:m>
                <a:r>
                  <a:rPr lang="zh-CN" altLang="en-US" sz="2000" b="1">
                    <a:solidFill>
                      <a:schemeClr val="accent6">
                        <a:lumMod val="50000"/>
                      </a:schemeClr>
                    </a:solidFill>
                  </a:rPr>
                  <a:t>矛盾！</a:t>
                </a:r>
              </a:p>
            </p:txBody>
          </p:sp>
        </mc:Choice>
        <mc:Fallback xmlns="">
          <p:sp>
            <p:nvSpPr>
              <p:cNvPr id="4" name="文本框 3">
                <a:extLst>
                  <a:ext uri="{FF2B5EF4-FFF2-40B4-BE49-F238E27FC236}">
                    <a16:creationId xmlns:a16="http://schemas.microsoft.com/office/drawing/2014/main" id="{34225B01-4E60-44F7-B7CF-9A770B6A9A53}"/>
                  </a:ext>
                </a:extLst>
              </p:cNvPr>
              <p:cNvSpPr txBox="1">
                <a:spLocks noRot="1" noChangeAspect="1" noMove="1" noResize="1" noEditPoints="1" noAdjustHandles="1" noChangeArrowheads="1" noChangeShapeType="1" noTextEdit="1"/>
              </p:cNvSpPr>
              <p:nvPr/>
            </p:nvSpPr>
            <p:spPr>
              <a:xfrm>
                <a:off x="916235" y="2653242"/>
                <a:ext cx="9543447" cy="2794098"/>
              </a:xfrm>
              <a:prstGeom prst="rect">
                <a:avLst/>
              </a:prstGeom>
              <a:blipFill>
                <a:blip r:embed="rId3"/>
                <a:stretch>
                  <a:fillRect l="-639" t="-1525" b="-65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1336942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平面图</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第三十一讲  一些特殊的图</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14</a:t>
            </a:fld>
            <a:r>
              <a:rPr lang="en-US" altLang="zh-CN" dirty="0">
                <a:latin typeface="Arial" panose="020B0604020202020204" pitchFamily="34" charset="0"/>
                <a:ea typeface="楷体" panose="02010609060101010101" pitchFamily="49" charset="-122"/>
                <a:cs typeface="Arial" panose="020B0604020202020204" pitchFamily="34" charset="0"/>
              </a:rPr>
              <a:t>/32</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平面图练习</a:t>
            </a:r>
          </a:p>
        </p:txBody>
      </p:sp>
      <p:pic>
        <p:nvPicPr>
          <p:cNvPr id="2" name="图片 1">
            <a:extLst>
              <a:ext uri="{FF2B5EF4-FFF2-40B4-BE49-F238E27FC236}">
                <a16:creationId xmlns:a16="http://schemas.microsoft.com/office/drawing/2014/main" id="{9D1ECF4C-1245-41D9-A8EA-1D0A7A5E9DE9}"/>
              </a:ext>
            </a:extLst>
          </p:cNvPr>
          <p:cNvPicPr>
            <a:picLocks noChangeAspect="1"/>
          </p:cNvPicPr>
          <p:nvPr/>
        </p:nvPicPr>
        <p:blipFill>
          <a:blip r:embed="rId2"/>
          <a:stretch>
            <a:fillRect/>
          </a:stretch>
        </p:blipFill>
        <p:spPr>
          <a:xfrm>
            <a:off x="1469111" y="1305265"/>
            <a:ext cx="8470878" cy="1201356"/>
          </a:xfrm>
          <a:prstGeom prst="rect">
            <a:avLst/>
          </a:prstGeom>
        </p:spPr>
      </p:pic>
      <p:pic>
        <p:nvPicPr>
          <p:cNvPr id="3" name="图片 2">
            <a:extLst>
              <a:ext uri="{FF2B5EF4-FFF2-40B4-BE49-F238E27FC236}">
                <a16:creationId xmlns:a16="http://schemas.microsoft.com/office/drawing/2014/main" id="{E850AFAD-81B1-4D44-82B8-2BA87FE55542}"/>
              </a:ext>
            </a:extLst>
          </p:cNvPr>
          <p:cNvPicPr>
            <a:picLocks noChangeAspect="1"/>
          </p:cNvPicPr>
          <p:nvPr/>
        </p:nvPicPr>
        <p:blipFill>
          <a:blip r:embed="rId3"/>
          <a:stretch>
            <a:fillRect/>
          </a:stretch>
        </p:blipFill>
        <p:spPr>
          <a:xfrm>
            <a:off x="1469111" y="2723810"/>
            <a:ext cx="8763000" cy="2828925"/>
          </a:xfrm>
          <a:prstGeom prst="rect">
            <a:avLst/>
          </a:prstGeom>
        </p:spPr>
      </p:pic>
      <p:sp>
        <p:nvSpPr>
          <p:cNvPr id="16" name="矩形 15">
            <a:extLst>
              <a:ext uri="{FF2B5EF4-FFF2-40B4-BE49-F238E27FC236}">
                <a16:creationId xmlns:a16="http://schemas.microsoft.com/office/drawing/2014/main" id="{711BDA2D-9537-4BC2-BB66-CDBECAB03AB9}"/>
              </a:ext>
            </a:extLst>
          </p:cNvPr>
          <p:cNvSpPr/>
          <p:nvPr/>
        </p:nvSpPr>
        <p:spPr>
          <a:xfrm>
            <a:off x="3596081" y="2229619"/>
            <a:ext cx="317395" cy="276999"/>
          </a:xfrm>
          <a:prstGeom prst="rect">
            <a:avLst/>
          </a:prstGeom>
        </p:spPr>
        <p:txBody>
          <a:bodyPr wrap="none" lIns="0" tIns="0" rIns="0" bIns="0">
            <a:spAutoFit/>
          </a:bodyPr>
          <a:lstStyle/>
          <a:p>
            <a:r>
              <a:rPr lang="zh-CN" altLang="en-US">
                <a:solidFill>
                  <a:srgbClr val="C00000"/>
                </a:solidFill>
              </a:rPr>
              <a:t>✔</a:t>
            </a:r>
          </a:p>
        </p:txBody>
      </p:sp>
      <p:sp>
        <p:nvSpPr>
          <p:cNvPr id="18" name="矩形 17">
            <a:extLst>
              <a:ext uri="{FF2B5EF4-FFF2-40B4-BE49-F238E27FC236}">
                <a16:creationId xmlns:a16="http://schemas.microsoft.com/office/drawing/2014/main" id="{0D37B30D-8089-4CFD-911C-677B95527DC4}"/>
              </a:ext>
            </a:extLst>
          </p:cNvPr>
          <p:cNvSpPr/>
          <p:nvPr/>
        </p:nvSpPr>
        <p:spPr>
          <a:xfrm>
            <a:off x="5444616" y="2229619"/>
            <a:ext cx="317395" cy="276999"/>
          </a:xfrm>
          <a:prstGeom prst="rect">
            <a:avLst/>
          </a:prstGeom>
        </p:spPr>
        <p:txBody>
          <a:bodyPr wrap="none" lIns="0" tIns="0" rIns="0" bIns="0">
            <a:spAutoFit/>
          </a:bodyPr>
          <a:lstStyle/>
          <a:p>
            <a:r>
              <a:rPr lang="zh-CN" altLang="en-US">
                <a:solidFill>
                  <a:srgbClr val="C00000"/>
                </a:solidFill>
              </a:rPr>
              <a:t>✔</a:t>
            </a:r>
          </a:p>
        </p:txBody>
      </p:sp>
      <p:sp>
        <p:nvSpPr>
          <p:cNvPr id="19" name="矩形 18">
            <a:extLst>
              <a:ext uri="{FF2B5EF4-FFF2-40B4-BE49-F238E27FC236}">
                <a16:creationId xmlns:a16="http://schemas.microsoft.com/office/drawing/2014/main" id="{1562BA98-6D09-43C8-A773-F8BD09D43B28}"/>
              </a:ext>
            </a:extLst>
          </p:cNvPr>
          <p:cNvSpPr/>
          <p:nvPr/>
        </p:nvSpPr>
        <p:spPr>
          <a:xfrm>
            <a:off x="1583085" y="3936584"/>
            <a:ext cx="317395" cy="276999"/>
          </a:xfrm>
          <a:prstGeom prst="rect">
            <a:avLst/>
          </a:prstGeom>
        </p:spPr>
        <p:txBody>
          <a:bodyPr wrap="none" lIns="0" tIns="0" rIns="0" bIns="0">
            <a:spAutoFit/>
          </a:bodyPr>
          <a:lstStyle/>
          <a:p>
            <a:r>
              <a:rPr lang="zh-CN" altLang="en-US">
                <a:solidFill>
                  <a:srgbClr val="C00000"/>
                </a:solidFill>
              </a:rPr>
              <a:t>✔</a:t>
            </a:r>
          </a:p>
        </p:txBody>
      </p:sp>
      <p:sp>
        <p:nvSpPr>
          <p:cNvPr id="4" name="矩形 3">
            <a:extLst>
              <a:ext uri="{FF2B5EF4-FFF2-40B4-BE49-F238E27FC236}">
                <a16:creationId xmlns:a16="http://schemas.microsoft.com/office/drawing/2014/main" id="{CD311913-399E-4D4B-A442-C14FB7F14DC8}"/>
              </a:ext>
            </a:extLst>
          </p:cNvPr>
          <p:cNvSpPr/>
          <p:nvPr/>
        </p:nvSpPr>
        <p:spPr>
          <a:xfrm>
            <a:off x="1517300" y="5668313"/>
            <a:ext cx="6753841" cy="369332"/>
          </a:xfrm>
          <a:prstGeom prst="rect">
            <a:avLst/>
          </a:prstGeom>
          <a:solidFill>
            <a:schemeClr val="accent2">
              <a:lumMod val="20000"/>
              <a:lumOff val="80000"/>
            </a:schemeClr>
          </a:solidFill>
        </p:spPr>
        <p:txBody>
          <a:bodyPr wrap="square">
            <a:spAutoFit/>
          </a:bodyPr>
          <a:lstStyle/>
          <a:p>
            <a:r>
              <a:rPr lang="zh-CN" altLang="en-US" b="1">
                <a:solidFill>
                  <a:schemeClr val="accent2">
                    <a:lumMod val="50000"/>
                  </a:schemeClr>
                </a:solidFill>
              </a:rPr>
              <a:t>当不是简单平面图时，</a:t>
            </a:r>
            <a:r>
              <a:rPr lang="en-US" altLang="zh-CN" b="1">
                <a:solidFill>
                  <a:schemeClr val="accent2">
                    <a:lumMod val="50000"/>
                  </a:schemeClr>
                </a:solidFill>
              </a:rPr>
              <a:t>B, D</a:t>
            </a:r>
            <a:r>
              <a:rPr lang="zh-CN" altLang="en-US" b="1">
                <a:solidFill>
                  <a:schemeClr val="accent2">
                    <a:lumMod val="50000"/>
                  </a:schemeClr>
                </a:solidFill>
              </a:rPr>
              <a:t>不成立，当平面图不连通时</a:t>
            </a:r>
            <a:r>
              <a:rPr lang="en-US" altLang="zh-CN" b="1">
                <a:solidFill>
                  <a:schemeClr val="accent2">
                    <a:lumMod val="50000"/>
                  </a:schemeClr>
                </a:solidFill>
              </a:rPr>
              <a:t>C,</a:t>
            </a:r>
            <a:r>
              <a:rPr lang="zh-CN" altLang="en-US" b="1">
                <a:solidFill>
                  <a:schemeClr val="accent2">
                    <a:lumMod val="50000"/>
                  </a:schemeClr>
                </a:solidFill>
              </a:rPr>
              <a:t> </a:t>
            </a:r>
            <a:r>
              <a:rPr lang="en-US" altLang="zh-CN" b="1">
                <a:solidFill>
                  <a:schemeClr val="accent2">
                    <a:lumMod val="50000"/>
                  </a:schemeClr>
                </a:solidFill>
              </a:rPr>
              <a:t>D</a:t>
            </a:r>
            <a:r>
              <a:rPr lang="zh-CN" altLang="en-US" b="1">
                <a:solidFill>
                  <a:schemeClr val="accent2">
                    <a:lumMod val="50000"/>
                  </a:schemeClr>
                </a:solidFill>
              </a:rPr>
              <a:t>不成立。</a:t>
            </a:r>
          </a:p>
        </p:txBody>
      </p:sp>
    </p:spTree>
    <p:extLst>
      <p:ext uri="{BB962C8B-B14F-4D97-AF65-F5344CB8AC3E}">
        <p14:creationId xmlns:p14="http://schemas.microsoft.com/office/powerpoint/2010/main" val="39993160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5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5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barn(inVertical)">
                                      <p:cBhvr>
                                        <p:cTn id="2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9" grpId="0"/>
      <p:bldP spid="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平面图</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第三十一讲  一些特殊的图</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15</a:t>
            </a:fld>
            <a:r>
              <a:rPr lang="en-US" altLang="zh-CN" dirty="0">
                <a:latin typeface="Arial" panose="020B0604020202020204" pitchFamily="34" charset="0"/>
                <a:ea typeface="楷体" panose="02010609060101010101" pitchFamily="49" charset="-122"/>
                <a:cs typeface="Arial" panose="020B0604020202020204" pitchFamily="34" charset="0"/>
              </a:rPr>
              <a:t>/32</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库拉图斯基定理</a:t>
            </a:r>
          </a:p>
        </p:txBody>
      </p:sp>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1F06B702-EA96-4364-8307-300866EF165F}"/>
                  </a:ext>
                </a:extLst>
              </p:cNvPr>
              <p:cNvSpPr/>
              <p:nvPr/>
            </p:nvSpPr>
            <p:spPr>
              <a:xfrm>
                <a:off x="1002230" y="2911730"/>
                <a:ext cx="5570435" cy="1755481"/>
              </a:xfrm>
              <a:prstGeom prst="rect">
                <a:avLst/>
              </a:prstGeom>
              <a:solidFill>
                <a:schemeClr val="accent2">
                  <a:lumMod val="20000"/>
                  <a:lumOff val="80000"/>
                  <a:alpha val="50000"/>
                </a:schemeClr>
              </a:solidFill>
            </p:spPr>
            <p:txBody>
              <a:bodyPr wrap="square">
                <a:spAutoFit/>
              </a:bodyPr>
              <a:lstStyle/>
              <a:p>
                <a:pPr algn="ctr">
                  <a:spcBef>
                    <a:spcPts val="600"/>
                  </a:spcBef>
                  <a:spcAft>
                    <a:spcPts val="600"/>
                  </a:spcAft>
                </a:pPr>
                <a14:m>
                  <m:oMath xmlns:m="http://schemas.openxmlformats.org/officeDocument/2006/math">
                    <m:r>
                      <a:rPr lang="en-US" altLang="zh-CN" sz="2400" b="1" i="1" smtClean="0">
                        <a:solidFill>
                          <a:srgbClr val="C00000"/>
                        </a:solidFill>
                        <a:latin typeface="Cambria Math" panose="02040503050406030204" pitchFamily="18" charset="0"/>
                      </a:rPr>
                      <m:t>𝑲</m:t>
                    </m:r>
                  </m:oMath>
                </a14:m>
                <a:r>
                  <a:rPr lang="zh-CN" altLang="en-US" sz="2400" b="1">
                    <a:solidFill>
                      <a:srgbClr val="C00000"/>
                    </a:solidFill>
                  </a:rPr>
                  <a:t>型图</a:t>
                </a:r>
              </a:p>
              <a:p>
                <a:pPr>
                  <a:spcBef>
                    <a:spcPts val="600"/>
                  </a:spcBef>
                  <a:spcAft>
                    <a:spcPts val="600"/>
                  </a:spcAft>
                </a:pPr>
                <a14:m>
                  <m:oMath xmlns:m="http://schemas.openxmlformats.org/officeDocument/2006/math">
                    <m:sSub>
                      <m:sSubPr>
                        <m:ctrlPr>
                          <a:rPr lang="en-US" altLang="zh-CN" sz="2000" b="1" i="1">
                            <a:solidFill>
                              <a:srgbClr val="002060"/>
                            </a:solidFill>
                            <a:latin typeface="Cambria Math" panose="02040503050406030204" pitchFamily="18" charset="0"/>
                            <a:ea typeface="楷体" panose="02010609060101010101" pitchFamily="49" charset="-122"/>
                          </a:rPr>
                        </m:ctrlPr>
                      </m:sSubPr>
                      <m:e>
                        <m:r>
                          <a:rPr lang="en-US" altLang="zh-CN" sz="2000" b="1">
                            <a:solidFill>
                              <a:srgbClr val="002060"/>
                            </a:solidFill>
                            <a:latin typeface="Cambria Math" panose="02040503050406030204" pitchFamily="18" charset="0"/>
                            <a:ea typeface="楷体" panose="02010609060101010101" pitchFamily="49" charset="-122"/>
                          </a:rPr>
                          <m:t>𝑲</m:t>
                        </m:r>
                      </m:e>
                      <m:sub>
                        <m:r>
                          <a:rPr lang="en-US" altLang="zh-CN" sz="2000" b="1">
                            <a:solidFill>
                              <a:srgbClr val="002060"/>
                            </a:solidFill>
                            <a:latin typeface="Cambria Math" panose="02040503050406030204" pitchFamily="18" charset="0"/>
                            <a:ea typeface="楷体" panose="02010609060101010101" pitchFamily="49" charset="-122"/>
                          </a:rPr>
                          <m:t>𝟓</m:t>
                        </m:r>
                      </m:sub>
                    </m:sSub>
                  </m:oMath>
                </a14:m>
                <a:r>
                  <a:rPr lang="zh-CN" altLang="en-US" sz="2000" b="1">
                    <a:solidFill>
                      <a:srgbClr val="002060"/>
                    </a:solidFill>
                    <a:latin typeface="楷体" panose="02010609060101010101" pitchFamily="49" charset="-122"/>
                    <a:ea typeface="楷体" panose="02010609060101010101" pitchFamily="49" charset="-122"/>
                  </a:rPr>
                  <a:t>和</a:t>
                </a:r>
                <a14:m>
                  <m:oMath xmlns:m="http://schemas.openxmlformats.org/officeDocument/2006/math">
                    <m:sSub>
                      <m:sSubPr>
                        <m:ctrlPr>
                          <a:rPr lang="en-US" altLang="zh-CN" sz="2000" b="1" i="1">
                            <a:solidFill>
                              <a:srgbClr val="002060"/>
                            </a:solidFill>
                            <a:latin typeface="Cambria Math" panose="02040503050406030204" pitchFamily="18" charset="0"/>
                            <a:ea typeface="楷体" panose="02010609060101010101" pitchFamily="49" charset="-122"/>
                          </a:rPr>
                        </m:ctrlPr>
                      </m:sSubPr>
                      <m:e>
                        <m:r>
                          <a:rPr lang="en-US" altLang="zh-CN" sz="2000" b="1">
                            <a:solidFill>
                              <a:srgbClr val="002060"/>
                            </a:solidFill>
                            <a:latin typeface="Cambria Math" panose="02040503050406030204" pitchFamily="18" charset="0"/>
                            <a:ea typeface="楷体" panose="02010609060101010101" pitchFamily="49" charset="-122"/>
                          </a:rPr>
                          <m:t>𝑲</m:t>
                        </m:r>
                      </m:e>
                      <m:sub>
                        <m:r>
                          <a:rPr lang="en-US" altLang="zh-CN" sz="2000" b="1">
                            <a:solidFill>
                              <a:srgbClr val="002060"/>
                            </a:solidFill>
                            <a:latin typeface="Cambria Math" panose="02040503050406030204" pitchFamily="18" charset="0"/>
                            <a:ea typeface="楷体" panose="02010609060101010101" pitchFamily="49" charset="-122"/>
                          </a:rPr>
                          <m:t>𝟑</m:t>
                        </m:r>
                        <m:r>
                          <a:rPr lang="en-US" altLang="zh-CN" sz="2000" b="1">
                            <a:solidFill>
                              <a:srgbClr val="002060"/>
                            </a:solidFill>
                            <a:latin typeface="Cambria Math" panose="02040503050406030204" pitchFamily="18" charset="0"/>
                            <a:ea typeface="楷体" panose="02010609060101010101" pitchFamily="49" charset="-122"/>
                          </a:rPr>
                          <m:t>, </m:t>
                        </m:r>
                        <m:r>
                          <a:rPr lang="en-US" altLang="zh-CN" sz="2000" b="1">
                            <a:solidFill>
                              <a:srgbClr val="002060"/>
                            </a:solidFill>
                            <a:latin typeface="Cambria Math" panose="02040503050406030204" pitchFamily="18" charset="0"/>
                            <a:ea typeface="楷体" panose="02010609060101010101" pitchFamily="49" charset="-122"/>
                          </a:rPr>
                          <m:t>𝟑</m:t>
                        </m:r>
                      </m:sub>
                    </m:sSub>
                  </m:oMath>
                </a14:m>
                <a:r>
                  <a:rPr lang="zh-CN" altLang="en-US" sz="2000" b="1">
                    <a:solidFill>
                      <a:srgbClr val="002060"/>
                    </a:solidFill>
                    <a:latin typeface="楷体" panose="02010609060101010101" pitchFamily="49" charset="-122"/>
                    <a:ea typeface="楷体" panose="02010609060101010101" pitchFamily="49" charset="-122"/>
                  </a:rPr>
                  <a:t>分别记为</a:t>
                </a:r>
                <a14:m>
                  <m:oMath xmlns:m="http://schemas.openxmlformats.org/officeDocument/2006/math">
                    <m:sSup>
                      <m:sSupPr>
                        <m:ctrlPr>
                          <a:rPr lang="en-US" altLang="zh-CN" sz="2000" b="1" i="1">
                            <a:solidFill>
                              <a:srgbClr val="002060"/>
                            </a:solidFill>
                            <a:latin typeface="Cambria Math" panose="02040503050406030204" pitchFamily="18" charset="0"/>
                            <a:ea typeface="楷体" panose="02010609060101010101" pitchFamily="49" charset="-122"/>
                          </a:rPr>
                        </m:ctrlPr>
                      </m:sSupPr>
                      <m:e>
                        <m:r>
                          <a:rPr lang="en-US" altLang="zh-CN" sz="2000" b="1">
                            <a:solidFill>
                              <a:srgbClr val="002060"/>
                            </a:solidFill>
                            <a:latin typeface="Cambria Math" panose="02040503050406030204" pitchFamily="18" charset="0"/>
                            <a:ea typeface="楷体" panose="02010609060101010101" pitchFamily="49" charset="-122"/>
                          </a:rPr>
                          <m:t>𝑲</m:t>
                        </m:r>
                      </m:e>
                      <m:sup>
                        <m:d>
                          <m:dPr>
                            <m:ctrlPr>
                              <a:rPr lang="en-US" altLang="zh-CN" sz="2000" b="1" i="1">
                                <a:solidFill>
                                  <a:srgbClr val="002060"/>
                                </a:solidFill>
                                <a:latin typeface="Cambria Math" panose="02040503050406030204" pitchFamily="18" charset="0"/>
                                <a:ea typeface="楷体" panose="02010609060101010101" pitchFamily="49" charset="-122"/>
                              </a:rPr>
                            </m:ctrlPr>
                          </m:dPr>
                          <m:e>
                            <m:r>
                              <a:rPr lang="en-US" altLang="zh-CN" sz="2000" b="1">
                                <a:solidFill>
                                  <a:srgbClr val="002060"/>
                                </a:solidFill>
                                <a:latin typeface="Cambria Math" panose="02040503050406030204" pitchFamily="18" charset="0"/>
                                <a:ea typeface="楷体" panose="02010609060101010101" pitchFamily="49" charset="-122"/>
                              </a:rPr>
                              <m:t>𝟏</m:t>
                            </m:r>
                          </m:e>
                        </m:d>
                      </m:sup>
                    </m:sSup>
                  </m:oMath>
                </a14:m>
                <a:r>
                  <a:rPr lang="zh-CN" altLang="en-US" sz="2000" b="1">
                    <a:solidFill>
                      <a:srgbClr val="002060"/>
                    </a:solidFill>
                    <a:latin typeface="楷体" panose="02010609060101010101" pitchFamily="49" charset="-122"/>
                    <a:ea typeface="楷体" panose="02010609060101010101" pitchFamily="49" charset="-122"/>
                  </a:rPr>
                  <a:t>和</a:t>
                </a:r>
                <a14:m>
                  <m:oMath xmlns:m="http://schemas.openxmlformats.org/officeDocument/2006/math">
                    <m:sSup>
                      <m:sSupPr>
                        <m:ctrlPr>
                          <a:rPr lang="en-US" altLang="zh-CN" sz="2000" b="1" i="1">
                            <a:solidFill>
                              <a:srgbClr val="002060"/>
                            </a:solidFill>
                            <a:latin typeface="Cambria Math" panose="02040503050406030204" pitchFamily="18" charset="0"/>
                            <a:ea typeface="楷体" panose="02010609060101010101" pitchFamily="49" charset="-122"/>
                          </a:rPr>
                        </m:ctrlPr>
                      </m:sSupPr>
                      <m:e>
                        <m:r>
                          <a:rPr lang="en-US" altLang="zh-CN" sz="2000" b="1">
                            <a:solidFill>
                              <a:srgbClr val="002060"/>
                            </a:solidFill>
                            <a:latin typeface="Cambria Math" panose="02040503050406030204" pitchFamily="18" charset="0"/>
                            <a:ea typeface="楷体" panose="02010609060101010101" pitchFamily="49" charset="-122"/>
                          </a:rPr>
                          <m:t>𝑲</m:t>
                        </m:r>
                      </m:e>
                      <m:sup>
                        <m:d>
                          <m:dPr>
                            <m:ctrlPr>
                              <a:rPr lang="en-US" altLang="zh-CN" sz="2000" b="1" i="1">
                                <a:solidFill>
                                  <a:srgbClr val="002060"/>
                                </a:solidFill>
                                <a:latin typeface="Cambria Math" panose="02040503050406030204" pitchFamily="18" charset="0"/>
                                <a:ea typeface="楷体" panose="02010609060101010101" pitchFamily="49" charset="-122"/>
                              </a:rPr>
                            </m:ctrlPr>
                          </m:dPr>
                          <m:e>
                            <m:r>
                              <a:rPr lang="en-US" altLang="zh-CN" sz="2000" b="1">
                                <a:solidFill>
                                  <a:srgbClr val="002060"/>
                                </a:solidFill>
                                <a:latin typeface="Cambria Math" panose="02040503050406030204" pitchFamily="18" charset="0"/>
                                <a:ea typeface="楷体" panose="02010609060101010101" pitchFamily="49" charset="-122"/>
                              </a:rPr>
                              <m:t>𝟐</m:t>
                            </m:r>
                          </m:e>
                        </m:d>
                      </m:sup>
                    </m:sSup>
                  </m:oMath>
                </a14:m>
                <a:r>
                  <a:rPr lang="zh-CN" altLang="en-US" sz="2000" b="1">
                    <a:solidFill>
                      <a:srgbClr val="002060"/>
                    </a:solidFill>
                    <a:latin typeface="楷体" panose="02010609060101010101" pitchFamily="49" charset="-122"/>
                    <a:ea typeface="楷体" panose="02010609060101010101" pitchFamily="49" charset="-122"/>
                  </a:rPr>
                  <a:t>图</a:t>
                </a:r>
              </a:p>
              <a:p>
                <a:pPr marL="342900" indent="-342900">
                  <a:spcBef>
                    <a:spcPts val="600"/>
                  </a:spcBef>
                  <a:spcAft>
                    <a:spcPts val="600"/>
                  </a:spcAft>
                  <a:buFont typeface="Arial" panose="020B0604020202020204" pitchFamily="34" charset="0"/>
                  <a:buChar char="•"/>
                </a:pPr>
                <a:r>
                  <a:rPr lang="zh-CN" altLang="en-US" sz="2000" b="1">
                    <a:solidFill>
                      <a:schemeClr val="accent6">
                        <a:lumMod val="50000"/>
                      </a:schemeClr>
                    </a:solidFill>
                  </a:rPr>
                  <a:t>在</a:t>
                </a:r>
                <a14:m>
                  <m:oMath xmlns:m="http://schemas.openxmlformats.org/officeDocument/2006/math">
                    <m:sSup>
                      <m:sSupPr>
                        <m:ctrlPr>
                          <a:rPr lang="en-US" altLang="zh-CN" sz="2000" b="1" i="1">
                            <a:solidFill>
                              <a:schemeClr val="accent6">
                                <a:lumMod val="50000"/>
                              </a:schemeClr>
                            </a:solidFill>
                            <a:latin typeface="Cambria Math" panose="02040503050406030204" pitchFamily="18" charset="0"/>
                          </a:rPr>
                        </m:ctrlPr>
                      </m:sSupPr>
                      <m:e>
                        <m:r>
                          <a:rPr lang="en-US" altLang="zh-CN" sz="2000" b="1">
                            <a:solidFill>
                              <a:schemeClr val="accent6">
                                <a:lumMod val="50000"/>
                              </a:schemeClr>
                            </a:solidFill>
                            <a:latin typeface="Cambria Math" panose="02040503050406030204" pitchFamily="18" charset="0"/>
                          </a:rPr>
                          <m:t>𝑲</m:t>
                        </m:r>
                      </m:e>
                      <m:sup>
                        <m:d>
                          <m:dPr>
                            <m:ctrlPr>
                              <a:rPr lang="en-US" altLang="zh-CN" sz="2000" b="1" i="1">
                                <a:solidFill>
                                  <a:schemeClr val="accent6">
                                    <a:lumMod val="50000"/>
                                  </a:schemeClr>
                                </a:solidFill>
                                <a:latin typeface="Cambria Math" panose="02040503050406030204" pitchFamily="18" charset="0"/>
                              </a:rPr>
                            </m:ctrlPr>
                          </m:dPr>
                          <m:e>
                            <m:r>
                              <a:rPr lang="en-US" altLang="zh-CN" sz="2000" b="1">
                                <a:solidFill>
                                  <a:schemeClr val="accent6">
                                    <a:lumMod val="50000"/>
                                  </a:schemeClr>
                                </a:solidFill>
                                <a:latin typeface="Cambria Math" panose="02040503050406030204" pitchFamily="18" charset="0"/>
                              </a:rPr>
                              <m:t>𝟏</m:t>
                            </m:r>
                          </m:e>
                        </m:d>
                      </m:sup>
                    </m:sSup>
                  </m:oMath>
                </a14:m>
                <a:r>
                  <a:rPr lang="zh-CN" altLang="en-US" sz="2000" b="1">
                    <a:solidFill>
                      <a:schemeClr val="accent6">
                        <a:lumMod val="50000"/>
                      </a:schemeClr>
                    </a:solidFill>
                  </a:rPr>
                  <a:t>和</a:t>
                </a:r>
                <a14:m>
                  <m:oMath xmlns:m="http://schemas.openxmlformats.org/officeDocument/2006/math">
                    <m:sSup>
                      <m:sSupPr>
                        <m:ctrlPr>
                          <a:rPr lang="en-US" altLang="zh-CN" sz="2000" b="1" i="1">
                            <a:solidFill>
                              <a:schemeClr val="accent6">
                                <a:lumMod val="50000"/>
                              </a:schemeClr>
                            </a:solidFill>
                            <a:latin typeface="Cambria Math" panose="02040503050406030204" pitchFamily="18" charset="0"/>
                          </a:rPr>
                        </m:ctrlPr>
                      </m:sSupPr>
                      <m:e>
                        <m:r>
                          <a:rPr lang="en-US" altLang="zh-CN" sz="2000" b="1">
                            <a:solidFill>
                              <a:schemeClr val="accent6">
                                <a:lumMod val="50000"/>
                              </a:schemeClr>
                            </a:solidFill>
                            <a:latin typeface="Cambria Math" panose="02040503050406030204" pitchFamily="18" charset="0"/>
                          </a:rPr>
                          <m:t>𝑲</m:t>
                        </m:r>
                      </m:e>
                      <m:sup>
                        <m:d>
                          <m:dPr>
                            <m:ctrlPr>
                              <a:rPr lang="en-US" altLang="zh-CN" sz="2000" b="1" i="1">
                                <a:solidFill>
                                  <a:schemeClr val="accent6">
                                    <a:lumMod val="50000"/>
                                  </a:schemeClr>
                                </a:solidFill>
                                <a:latin typeface="Cambria Math" panose="02040503050406030204" pitchFamily="18" charset="0"/>
                              </a:rPr>
                            </m:ctrlPr>
                          </m:dPr>
                          <m:e>
                            <m:r>
                              <a:rPr lang="en-US" altLang="zh-CN" sz="2000" b="1">
                                <a:solidFill>
                                  <a:schemeClr val="accent6">
                                    <a:lumMod val="50000"/>
                                  </a:schemeClr>
                                </a:solidFill>
                                <a:latin typeface="Cambria Math" panose="02040503050406030204" pitchFamily="18" charset="0"/>
                              </a:rPr>
                              <m:t>𝟐</m:t>
                            </m:r>
                          </m:e>
                        </m:d>
                      </m:sup>
                    </m:sSup>
                  </m:oMath>
                </a14:m>
                <a:r>
                  <a:rPr lang="zh-CN" altLang="en-US" sz="2000" b="1">
                    <a:solidFill>
                      <a:schemeClr val="accent6">
                        <a:lumMod val="50000"/>
                      </a:schemeClr>
                    </a:solidFill>
                  </a:rPr>
                  <a:t>图任意增加一些度为</a:t>
                </a:r>
                <a:r>
                  <a:rPr lang="en-US" altLang="zh-CN" sz="2000" b="1">
                    <a:solidFill>
                      <a:schemeClr val="accent6">
                        <a:lumMod val="50000"/>
                      </a:schemeClr>
                    </a:solidFill>
                  </a:rPr>
                  <a:t>2</a:t>
                </a:r>
                <a:r>
                  <a:rPr lang="zh-CN" altLang="en-US" sz="2000" b="1">
                    <a:solidFill>
                      <a:schemeClr val="accent6">
                        <a:lumMod val="50000"/>
                      </a:schemeClr>
                    </a:solidFill>
                  </a:rPr>
                  <a:t>的顶点得到的图，称为</a:t>
                </a:r>
                <a14:m>
                  <m:oMath xmlns:m="http://schemas.openxmlformats.org/officeDocument/2006/math">
                    <m:sSup>
                      <m:sSupPr>
                        <m:ctrlPr>
                          <a:rPr lang="en-US" altLang="zh-CN" sz="2000" b="1" i="1">
                            <a:solidFill>
                              <a:schemeClr val="accent6">
                                <a:lumMod val="50000"/>
                              </a:schemeClr>
                            </a:solidFill>
                            <a:latin typeface="Cambria Math" panose="02040503050406030204" pitchFamily="18" charset="0"/>
                          </a:rPr>
                        </m:ctrlPr>
                      </m:sSupPr>
                      <m:e>
                        <m:r>
                          <a:rPr lang="en-US" altLang="zh-CN" sz="2000" b="1">
                            <a:solidFill>
                              <a:schemeClr val="accent6">
                                <a:lumMod val="50000"/>
                              </a:schemeClr>
                            </a:solidFill>
                            <a:latin typeface="Cambria Math" panose="02040503050406030204" pitchFamily="18" charset="0"/>
                          </a:rPr>
                          <m:t>𝑲</m:t>
                        </m:r>
                      </m:e>
                      <m:sup>
                        <m:d>
                          <m:dPr>
                            <m:ctrlPr>
                              <a:rPr lang="en-US" altLang="zh-CN" sz="2000" b="1" i="1">
                                <a:solidFill>
                                  <a:schemeClr val="accent6">
                                    <a:lumMod val="50000"/>
                                  </a:schemeClr>
                                </a:solidFill>
                                <a:latin typeface="Cambria Math" panose="02040503050406030204" pitchFamily="18" charset="0"/>
                              </a:rPr>
                            </m:ctrlPr>
                          </m:dPr>
                          <m:e>
                            <m:r>
                              <a:rPr lang="en-US" altLang="zh-CN" sz="2000" b="1">
                                <a:solidFill>
                                  <a:schemeClr val="accent6">
                                    <a:lumMod val="50000"/>
                                  </a:schemeClr>
                                </a:solidFill>
                                <a:latin typeface="Cambria Math" panose="02040503050406030204" pitchFamily="18" charset="0"/>
                              </a:rPr>
                              <m:t>𝟏</m:t>
                            </m:r>
                          </m:e>
                        </m:d>
                      </m:sup>
                    </m:sSup>
                  </m:oMath>
                </a14:m>
                <a:r>
                  <a:rPr lang="zh-CN" altLang="en-US" sz="2000" b="1">
                    <a:solidFill>
                      <a:schemeClr val="accent6">
                        <a:lumMod val="50000"/>
                      </a:schemeClr>
                    </a:solidFill>
                  </a:rPr>
                  <a:t>和</a:t>
                </a:r>
                <a14:m>
                  <m:oMath xmlns:m="http://schemas.openxmlformats.org/officeDocument/2006/math">
                    <m:sSup>
                      <m:sSupPr>
                        <m:ctrlPr>
                          <a:rPr lang="en-US" altLang="zh-CN" sz="2000" b="1" i="1">
                            <a:solidFill>
                              <a:schemeClr val="accent6">
                                <a:lumMod val="50000"/>
                              </a:schemeClr>
                            </a:solidFill>
                            <a:latin typeface="Cambria Math" panose="02040503050406030204" pitchFamily="18" charset="0"/>
                          </a:rPr>
                        </m:ctrlPr>
                      </m:sSupPr>
                      <m:e>
                        <m:r>
                          <a:rPr lang="en-US" altLang="zh-CN" sz="2000" b="1">
                            <a:solidFill>
                              <a:schemeClr val="accent6">
                                <a:lumMod val="50000"/>
                              </a:schemeClr>
                            </a:solidFill>
                            <a:latin typeface="Cambria Math" panose="02040503050406030204" pitchFamily="18" charset="0"/>
                          </a:rPr>
                          <m:t>𝑲</m:t>
                        </m:r>
                      </m:e>
                      <m:sup>
                        <m:d>
                          <m:dPr>
                            <m:ctrlPr>
                              <a:rPr lang="en-US" altLang="zh-CN" sz="2000" b="1" i="1">
                                <a:solidFill>
                                  <a:schemeClr val="accent6">
                                    <a:lumMod val="50000"/>
                                  </a:schemeClr>
                                </a:solidFill>
                                <a:latin typeface="Cambria Math" panose="02040503050406030204" pitchFamily="18" charset="0"/>
                              </a:rPr>
                            </m:ctrlPr>
                          </m:dPr>
                          <m:e>
                            <m:r>
                              <a:rPr lang="en-US" altLang="zh-CN" sz="2000" b="1">
                                <a:solidFill>
                                  <a:schemeClr val="accent6">
                                    <a:lumMod val="50000"/>
                                  </a:schemeClr>
                                </a:solidFill>
                                <a:latin typeface="Cambria Math" panose="02040503050406030204" pitchFamily="18" charset="0"/>
                              </a:rPr>
                              <m:t>𝟐</m:t>
                            </m:r>
                          </m:e>
                        </m:d>
                      </m:sup>
                    </m:sSup>
                  </m:oMath>
                </a14:m>
                <a:r>
                  <a:rPr lang="zh-CN" altLang="en-US" sz="2000" b="1">
                    <a:solidFill>
                      <a:schemeClr val="accent6">
                        <a:lumMod val="50000"/>
                      </a:schemeClr>
                    </a:solidFill>
                  </a:rPr>
                  <a:t>型图，统称为</a:t>
                </a:r>
                <a14:m>
                  <m:oMath xmlns:m="http://schemas.openxmlformats.org/officeDocument/2006/math">
                    <m:r>
                      <a:rPr lang="en-US" altLang="zh-CN" sz="2000" b="1" smtClean="0">
                        <a:solidFill>
                          <a:srgbClr val="C00000"/>
                        </a:solidFill>
                        <a:latin typeface="Cambria Math" panose="02040503050406030204" pitchFamily="18" charset="0"/>
                      </a:rPr>
                      <m:t>𝑲</m:t>
                    </m:r>
                  </m:oMath>
                </a14:m>
                <a:r>
                  <a:rPr lang="zh-CN" altLang="en-US" sz="2000" b="1">
                    <a:solidFill>
                      <a:srgbClr val="C00000"/>
                    </a:solidFill>
                  </a:rPr>
                  <a:t>型图</a:t>
                </a:r>
                <a:endParaRPr lang="zh-CN" altLang="en-US" sz="2000" b="1">
                  <a:solidFill>
                    <a:schemeClr val="accent6">
                      <a:lumMod val="50000"/>
                    </a:schemeClr>
                  </a:solidFill>
                </a:endParaRPr>
              </a:p>
            </p:txBody>
          </p:sp>
        </mc:Choice>
        <mc:Fallback xmlns="">
          <p:sp>
            <p:nvSpPr>
              <p:cNvPr id="2" name="矩形 1">
                <a:extLst>
                  <a:ext uri="{FF2B5EF4-FFF2-40B4-BE49-F238E27FC236}">
                    <a16:creationId xmlns:a16="http://schemas.microsoft.com/office/drawing/2014/main" id="{1F06B702-EA96-4364-8307-300866EF165F}"/>
                  </a:ext>
                </a:extLst>
              </p:cNvPr>
              <p:cNvSpPr>
                <a:spLocks noRot="1" noChangeAspect="1" noMove="1" noResize="1" noEditPoints="1" noAdjustHandles="1" noChangeArrowheads="1" noChangeShapeType="1" noTextEdit="1"/>
              </p:cNvSpPr>
              <p:nvPr/>
            </p:nvSpPr>
            <p:spPr>
              <a:xfrm>
                <a:off x="1002230" y="2911730"/>
                <a:ext cx="5570435" cy="1755481"/>
              </a:xfrm>
              <a:prstGeom prst="rect">
                <a:avLst/>
              </a:prstGeom>
              <a:blipFill>
                <a:blip r:embed="rId2"/>
                <a:stretch>
                  <a:fillRect l="-985" t="-2431" b="-520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A166C50B-779A-4829-8271-436372849B49}"/>
                  </a:ext>
                </a:extLst>
              </p:cNvPr>
              <p:cNvSpPr txBox="1"/>
              <p:nvPr/>
            </p:nvSpPr>
            <p:spPr>
              <a:xfrm>
                <a:off x="1005132" y="1232454"/>
                <a:ext cx="4859259" cy="1376467"/>
              </a:xfrm>
              <a:prstGeom prst="rect">
                <a:avLst/>
              </a:prstGeom>
              <a:solidFill>
                <a:schemeClr val="accent5">
                  <a:lumMod val="20000"/>
                  <a:lumOff val="80000"/>
                  <a:alpha val="50000"/>
                </a:schemeClr>
              </a:solidFill>
            </p:spPr>
            <p:txBody>
              <a:bodyPr wrap="square" rtlCol="0">
                <a:spAutoFit/>
              </a:bodyPr>
              <a:lstStyle/>
              <a:p>
                <a:pPr algn="ctr">
                  <a:spcBef>
                    <a:spcPts val="600"/>
                  </a:spcBef>
                  <a:spcAft>
                    <a:spcPts val="600"/>
                  </a:spcAft>
                </a:pPr>
                <a:r>
                  <a:rPr lang="zh-CN" altLang="en-US" sz="2000" b="1">
                    <a:solidFill>
                      <a:srgbClr val="C00000"/>
                    </a:solidFill>
                  </a:rPr>
                  <a:t>判定是否平面图的两个重要非平面图</a:t>
                </a:r>
              </a:p>
              <a:p>
                <a:pPr>
                  <a:spcBef>
                    <a:spcPts val="600"/>
                  </a:spcBef>
                  <a:spcAft>
                    <a:spcPts val="600"/>
                  </a:spcAft>
                </a:pPr>
                <a:r>
                  <a:rPr lang="zh-CN" altLang="en-US" sz="2000" b="1">
                    <a:solidFill>
                      <a:srgbClr val="0000FF"/>
                    </a:solidFill>
                    <a:latin typeface="楷体" panose="02010609060101010101" pitchFamily="49" charset="-122"/>
                    <a:ea typeface="楷体" panose="02010609060101010101" pitchFamily="49" charset="-122"/>
                  </a:rPr>
                  <a:t>完全图</a:t>
                </a:r>
                <a14:m>
                  <m:oMath xmlns:m="http://schemas.openxmlformats.org/officeDocument/2006/math">
                    <m:sSub>
                      <m:sSubPr>
                        <m:ctrlPr>
                          <a:rPr lang="en-US" altLang="zh-CN" sz="2000" b="1" i="1" smtClean="0">
                            <a:solidFill>
                              <a:srgbClr val="0000FF"/>
                            </a:solidFill>
                            <a:latin typeface="Cambria Math" panose="02040503050406030204" pitchFamily="18" charset="0"/>
                          </a:rPr>
                        </m:ctrlPr>
                      </m:sSubPr>
                      <m:e>
                        <m:r>
                          <a:rPr lang="en-US" altLang="zh-CN" sz="2000" b="1" i="1" smtClean="0">
                            <a:solidFill>
                              <a:srgbClr val="0000FF"/>
                            </a:solidFill>
                            <a:latin typeface="Cambria Math" panose="02040503050406030204" pitchFamily="18" charset="0"/>
                          </a:rPr>
                          <m:t>𝑲</m:t>
                        </m:r>
                      </m:e>
                      <m:sub>
                        <m:r>
                          <a:rPr lang="en-US" altLang="zh-CN" sz="2000" b="1" i="1" smtClean="0">
                            <a:solidFill>
                              <a:srgbClr val="0000FF"/>
                            </a:solidFill>
                            <a:latin typeface="Cambria Math" panose="02040503050406030204" pitchFamily="18" charset="0"/>
                          </a:rPr>
                          <m:t>𝟓</m:t>
                        </m:r>
                      </m:sub>
                    </m:sSub>
                  </m:oMath>
                </a14:m>
                <a:r>
                  <a:rPr lang="zh-CN" altLang="en-US" sz="2000" b="1">
                    <a:solidFill>
                      <a:srgbClr val="002060"/>
                    </a:solidFill>
                    <a:latin typeface="楷体" panose="02010609060101010101" pitchFamily="49" charset="-122"/>
                    <a:ea typeface="楷体" panose="02010609060101010101" pitchFamily="49" charset="-122"/>
                  </a:rPr>
                  <a:t>和</a:t>
                </a:r>
                <a:r>
                  <a:rPr lang="zh-CN" altLang="en-US" sz="2000" b="1">
                    <a:solidFill>
                      <a:srgbClr val="0000FF"/>
                    </a:solidFill>
                    <a:latin typeface="楷体" panose="02010609060101010101" pitchFamily="49" charset="-122"/>
                    <a:ea typeface="楷体" panose="02010609060101010101" pitchFamily="49" charset="-122"/>
                  </a:rPr>
                  <a:t>完全二部图</a:t>
                </a:r>
                <a14:m>
                  <m:oMath xmlns:m="http://schemas.openxmlformats.org/officeDocument/2006/math">
                    <m:sSub>
                      <m:sSubPr>
                        <m:ctrlPr>
                          <a:rPr lang="en-US" altLang="zh-CN" sz="2000" b="1" i="1" smtClean="0">
                            <a:solidFill>
                              <a:srgbClr val="0000FF"/>
                            </a:solidFill>
                            <a:latin typeface="Cambria Math" panose="02040503050406030204" pitchFamily="18" charset="0"/>
                          </a:rPr>
                        </m:ctrlPr>
                      </m:sSubPr>
                      <m:e>
                        <m:r>
                          <a:rPr lang="en-US" altLang="zh-CN" sz="2000" b="1" i="1" smtClean="0">
                            <a:solidFill>
                              <a:srgbClr val="0000FF"/>
                            </a:solidFill>
                            <a:latin typeface="Cambria Math" panose="02040503050406030204" pitchFamily="18" charset="0"/>
                          </a:rPr>
                          <m:t>𝑲</m:t>
                        </m:r>
                      </m:e>
                      <m:sub>
                        <m:r>
                          <a:rPr lang="en-US" altLang="zh-CN" sz="2000" b="1" i="1" smtClean="0">
                            <a:solidFill>
                              <a:srgbClr val="0000FF"/>
                            </a:solidFill>
                            <a:latin typeface="Cambria Math" panose="02040503050406030204" pitchFamily="18" charset="0"/>
                          </a:rPr>
                          <m:t>𝟑</m:t>
                        </m:r>
                        <m:r>
                          <a:rPr lang="en-US" altLang="zh-CN" sz="2000" b="1" i="1" smtClean="0">
                            <a:solidFill>
                              <a:srgbClr val="0000FF"/>
                            </a:solidFill>
                            <a:latin typeface="Cambria Math" panose="02040503050406030204" pitchFamily="18" charset="0"/>
                          </a:rPr>
                          <m:t>, </m:t>
                        </m:r>
                        <m:r>
                          <a:rPr lang="en-US" altLang="zh-CN" sz="2000" b="1" i="1" smtClean="0">
                            <a:solidFill>
                              <a:srgbClr val="0000FF"/>
                            </a:solidFill>
                            <a:latin typeface="Cambria Math" panose="02040503050406030204" pitchFamily="18" charset="0"/>
                          </a:rPr>
                          <m:t>𝟑</m:t>
                        </m:r>
                      </m:sub>
                    </m:sSub>
                  </m:oMath>
                </a14:m>
                <a:r>
                  <a:rPr lang="zh-CN" altLang="en-US" sz="2000" b="1">
                    <a:solidFill>
                      <a:srgbClr val="002060"/>
                    </a:solidFill>
                    <a:latin typeface="楷体" panose="02010609060101010101" pitchFamily="49" charset="-122"/>
                    <a:ea typeface="楷体" panose="02010609060101010101" pitchFamily="49" charset="-122"/>
                  </a:rPr>
                  <a:t>都不是平面图</a:t>
                </a:r>
              </a:p>
              <a:p>
                <a:pPr marL="342900" indent="-342900">
                  <a:spcBef>
                    <a:spcPts val="600"/>
                  </a:spcBef>
                  <a:spcAft>
                    <a:spcPts val="600"/>
                  </a:spcAft>
                  <a:buFont typeface="Arial" panose="020B0604020202020204" pitchFamily="34" charset="0"/>
                  <a:buChar char="•"/>
                </a:pPr>
                <a:r>
                  <a:rPr lang="zh-CN" altLang="en-US" sz="2000" b="1">
                    <a:solidFill>
                      <a:schemeClr val="accent6">
                        <a:lumMod val="50000"/>
                      </a:schemeClr>
                    </a:solidFill>
                  </a:rPr>
                  <a:t>因为</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𝒈</m:t>
                    </m:r>
                    <m:d>
                      <m:dPr>
                        <m:ctrlPr>
                          <a:rPr lang="en-US" altLang="zh-CN" sz="2000" b="1" i="1" smtClean="0">
                            <a:solidFill>
                              <a:schemeClr val="accent6">
                                <a:lumMod val="50000"/>
                              </a:schemeClr>
                            </a:solidFill>
                            <a:latin typeface="Cambria Math" panose="02040503050406030204" pitchFamily="18" charset="0"/>
                          </a:rPr>
                        </m:ctrlPr>
                      </m:dPr>
                      <m:e>
                        <m:sSub>
                          <m:sSubPr>
                            <m:ctrlPr>
                              <a:rPr lang="en-US" altLang="zh-CN" sz="2000" b="1" i="1" smtClean="0">
                                <a:solidFill>
                                  <a:schemeClr val="accent6">
                                    <a:lumMod val="50000"/>
                                  </a:schemeClr>
                                </a:solidFill>
                                <a:latin typeface="Cambria Math" panose="02040503050406030204" pitchFamily="18" charset="0"/>
                              </a:rPr>
                            </m:ctrlPr>
                          </m:sSubPr>
                          <m:e>
                            <m:r>
                              <a:rPr lang="en-US" altLang="zh-CN" sz="2000" b="1" i="1" smtClean="0">
                                <a:solidFill>
                                  <a:schemeClr val="accent6">
                                    <a:lumMod val="50000"/>
                                  </a:schemeClr>
                                </a:solidFill>
                                <a:latin typeface="Cambria Math" panose="02040503050406030204" pitchFamily="18" charset="0"/>
                              </a:rPr>
                              <m:t>𝑲</m:t>
                            </m:r>
                          </m:e>
                          <m:sub>
                            <m:r>
                              <a:rPr lang="en-US" altLang="zh-CN" sz="2000" b="1" i="1" smtClean="0">
                                <a:solidFill>
                                  <a:schemeClr val="accent6">
                                    <a:lumMod val="50000"/>
                                  </a:schemeClr>
                                </a:solidFill>
                                <a:latin typeface="Cambria Math" panose="02040503050406030204" pitchFamily="18" charset="0"/>
                              </a:rPr>
                              <m:t>𝟓</m:t>
                            </m:r>
                          </m:sub>
                        </m:sSub>
                      </m:e>
                    </m:d>
                    <m:r>
                      <a:rPr lang="en-US" altLang="zh-CN" sz="2000" b="1" i="1" smtClean="0">
                        <a:solidFill>
                          <a:schemeClr val="accent6">
                            <a:lumMod val="50000"/>
                          </a:schemeClr>
                        </a:solidFill>
                        <a:latin typeface="Cambria Math" panose="02040503050406030204" pitchFamily="18" charset="0"/>
                      </a:rPr>
                      <m:t>= </m:t>
                    </m:r>
                    <m:r>
                      <a:rPr lang="en-US" altLang="zh-CN" sz="2000" b="1" i="1" smtClean="0">
                        <a:solidFill>
                          <a:schemeClr val="accent6">
                            <a:lumMod val="50000"/>
                          </a:schemeClr>
                        </a:solidFill>
                        <a:latin typeface="Cambria Math" panose="02040503050406030204" pitchFamily="18" charset="0"/>
                      </a:rPr>
                      <m:t>𝟑</m:t>
                    </m:r>
                  </m:oMath>
                </a14:m>
                <a:r>
                  <a:rPr lang="zh-CN" altLang="en-US" sz="2000" b="1">
                    <a:solidFill>
                      <a:schemeClr val="accent6">
                        <a:lumMod val="50000"/>
                      </a:schemeClr>
                    </a:solidFill>
                  </a:rPr>
                  <a:t>，而</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𝒈</m:t>
                    </m:r>
                    <m:d>
                      <m:dPr>
                        <m:ctrlPr>
                          <a:rPr lang="en-US" altLang="zh-CN" sz="2000" b="1" i="1" smtClean="0">
                            <a:solidFill>
                              <a:schemeClr val="accent6">
                                <a:lumMod val="50000"/>
                              </a:schemeClr>
                            </a:solidFill>
                            <a:latin typeface="Cambria Math" panose="02040503050406030204" pitchFamily="18" charset="0"/>
                          </a:rPr>
                        </m:ctrlPr>
                      </m:dPr>
                      <m:e>
                        <m:sSub>
                          <m:sSubPr>
                            <m:ctrlPr>
                              <a:rPr lang="en-US" altLang="zh-CN" sz="2000" b="1" i="1" smtClean="0">
                                <a:solidFill>
                                  <a:schemeClr val="accent6">
                                    <a:lumMod val="50000"/>
                                  </a:schemeClr>
                                </a:solidFill>
                                <a:latin typeface="Cambria Math" panose="02040503050406030204" pitchFamily="18" charset="0"/>
                              </a:rPr>
                            </m:ctrlPr>
                          </m:sSubPr>
                          <m:e>
                            <m:r>
                              <a:rPr lang="en-US" altLang="zh-CN" sz="2000" b="1" i="1" smtClean="0">
                                <a:solidFill>
                                  <a:schemeClr val="accent6">
                                    <a:lumMod val="50000"/>
                                  </a:schemeClr>
                                </a:solidFill>
                                <a:latin typeface="Cambria Math" panose="02040503050406030204" pitchFamily="18" charset="0"/>
                              </a:rPr>
                              <m:t>𝑲</m:t>
                            </m:r>
                          </m:e>
                          <m:sub>
                            <m:r>
                              <a:rPr lang="en-US" altLang="zh-CN" sz="2000" b="1" i="1" smtClean="0">
                                <a:solidFill>
                                  <a:schemeClr val="accent6">
                                    <a:lumMod val="50000"/>
                                  </a:schemeClr>
                                </a:solidFill>
                                <a:latin typeface="Cambria Math" panose="02040503050406030204" pitchFamily="18" charset="0"/>
                              </a:rPr>
                              <m:t>𝟑</m:t>
                            </m:r>
                            <m:r>
                              <a:rPr lang="en-US" altLang="zh-CN" sz="2000" b="1" i="1" smtClean="0">
                                <a:solidFill>
                                  <a:schemeClr val="accent6">
                                    <a:lumMod val="50000"/>
                                  </a:schemeClr>
                                </a:solidFill>
                                <a:latin typeface="Cambria Math" panose="02040503050406030204" pitchFamily="18" charset="0"/>
                              </a:rPr>
                              <m:t>,</m:t>
                            </m:r>
                            <m:r>
                              <a:rPr lang="en-US" altLang="zh-CN" sz="2000" b="1" i="1" smtClean="0">
                                <a:solidFill>
                                  <a:schemeClr val="accent6">
                                    <a:lumMod val="50000"/>
                                  </a:schemeClr>
                                </a:solidFill>
                                <a:latin typeface="Cambria Math" panose="02040503050406030204" pitchFamily="18" charset="0"/>
                              </a:rPr>
                              <m:t>𝟑</m:t>
                            </m:r>
                          </m:sub>
                        </m:sSub>
                      </m:e>
                    </m:d>
                    <m:r>
                      <a:rPr lang="en-US" altLang="zh-CN" sz="2000" b="1" i="1" smtClean="0">
                        <a:solidFill>
                          <a:schemeClr val="accent6">
                            <a:lumMod val="50000"/>
                          </a:schemeClr>
                        </a:solidFill>
                        <a:latin typeface="Cambria Math" panose="02040503050406030204" pitchFamily="18" charset="0"/>
                      </a:rPr>
                      <m:t>= </m:t>
                    </m:r>
                    <m:r>
                      <a:rPr lang="en-US" altLang="zh-CN" sz="2000" b="1" i="1" smtClean="0">
                        <a:solidFill>
                          <a:schemeClr val="accent6">
                            <a:lumMod val="50000"/>
                          </a:schemeClr>
                        </a:solidFill>
                        <a:latin typeface="Cambria Math" panose="02040503050406030204" pitchFamily="18" charset="0"/>
                      </a:rPr>
                      <m:t>𝟒</m:t>
                    </m:r>
                  </m:oMath>
                </a14:m>
                <a:endParaRPr lang="en-US" altLang="zh-CN" sz="2000" b="1">
                  <a:solidFill>
                    <a:schemeClr val="accent6">
                      <a:lumMod val="50000"/>
                    </a:schemeClr>
                  </a:solidFill>
                </a:endParaRPr>
              </a:p>
            </p:txBody>
          </p:sp>
        </mc:Choice>
        <mc:Fallback xmlns="">
          <p:sp>
            <p:nvSpPr>
              <p:cNvPr id="3" name="文本框 2">
                <a:extLst>
                  <a:ext uri="{FF2B5EF4-FFF2-40B4-BE49-F238E27FC236}">
                    <a16:creationId xmlns:a16="http://schemas.microsoft.com/office/drawing/2014/main" id="{A166C50B-779A-4829-8271-436372849B49}"/>
                  </a:ext>
                </a:extLst>
              </p:cNvPr>
              <p:cNvSpPr txBox="1">
                <a:spLocks noRot="1" noChangeAspect="1" noMove="1" noResize="1" noEditPoints="1" noAdjustHandles="1" noChangeArrowheads="1" noChangeShapeType="1" noTextEdit="1"/>
              </p:cNvSpPr>
              <p:nvPr/>
            </p:nvSpPr>
            <p:spPr>
              <a:xfrm>
                <a:off x="1005132" y="1232454"/>
                <a:ext cx="4859259" cy="1376467"/>
              </a:xfrm>
              <a:prstGeom prst="rect">
                <a:avLst/>
              </a:prstGeom>
              <a:blipFill>
                <a:blip r:embed="rId3"/>
                <a:stretch>
                  <a:fillRect l="-1380" t="-2212" b="-575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D80CF7EC-C3B7-4C1A-9B90-FCFE8F113634}"/>
                  </a:ext>
                </a:extLst>
              </p:cNvPr>
              <p:cNvSpPr txBox="1"/>
              <p:nvPr/>
            </p:nvSpPr>
            <p:spPr>
              <a:xfrm>
                <a:off x="1002230" y="5064738"/>
                <a:ext cx="5837961" cy="984885"/>
              </a:xfrm>
              <a:prstGeom prst="rect">
                <a:avLst/>
              </a:prstGeom>
              <a:solidFill>
                <a:schemeClr val="accent4">
                  <a:lumMod val="20000"/>
                  <a:lumOff val="80000"/>
                  <a:alpha val="50000"/>
                </a:schemeClr>
              </a:solidFill>
            </p:spPr>
            <p:txBody>
              <a:bodyPr wrap="square" rtlCol="0">
                <a:spAutoFit/>
              </a:bodyPr>
              <a:lstStyle/>
              <a:p>
                <a:pPr algn="ctr">
                  <a:spcBef>
                    <a:spcPts val="600"/>
                  </a:spcBef>
                  <a:spcAft>
                    <a:spcPts val="600"/>
                  </a:spcAft>
                </a:pPr>
                <a:r>
                  <a:rPr lang="zh-CN" altLang="en-US" sz="2400" b="1">
                    <a:solidFill>
                      <a:srgbClr val="C00000"/>
                    </a:solidFill>
                  </a:rPr>
                  <a:t>库拉图斯基定理</a:t>
                </a:r>
                <a:r>
                  <a:rPr lang="en-US" altLang="zh-CN" sz="2400" b="1">
                    <a:solidFill>
                      <a:srgbClr val="C00000"/>
                    </a:solidFill>
                  </a:rPr>
                  <a:t>(Kuratowski's Theorem)</a:t>
                </a:r>
                <a:endParaRPr lang="zh-CN" altLang="en-US" sz="2400" b="1">
                  <a:solidFill>
                    <a:srgbClr val="C00000"/>
                  </a:solidFill>
                </a:endParaRPr>
              </a:p>
              <a:p>
                <a:pPr>
                  <a:spcBef>
                    <a:spcPts val="600"/>
                  </a:spcBef>
                  <a:spcAft>
                    <a:spcPts val="600"/>
                  </a:spcAft>
                </a:pPr>
                <a:r>
                  <a:rPr lang="zh-CN" altLang="en-US" sz="2400" b="1">
                    <a:solidFill>
                      <a:srgbClr val="002060"/>
                    </a:solidFill>
                    <a:latin typeface="楷体" panose="02010609060101010101" pitchFamily="49" charset="-122"/>
                    <a:ea typeface="楷体" panose="02010609060101010101" pitchFamily="49" charset="-122"/>
                  </a:rPr>
                  <a:t>图</a:t>
                </a:r>
                <a14:m>
                  <m:oMath xmlns:m="http://schemas.openxmlformats.org/officeDocument/2006/math">
                    <m:r>
                      <a:rPr lang="en-US" altLang="zh-CN" sz="2400" b="1" i="1" smtClean="0">
                        <a:solidFill>
                          <a:srgbClr val="002060"/>
                        </a:solidFill>
                        <a:latin typeface="Cambria Math" panose="02040503050406030204" pitchFamily="18" charset="0"/>
                        <a:ea typeface="楷体" panose="02010609060101010101" pitchFamily="49" charset="-122"/>
                      </a:rPr>
                      <m:t>𝑮</m:t>
                    </m:r>
                  </m:oMath>
                </a14:m>
                <a:r>
                  <a:rPr lang="zh-CN" altLang="en-US" sz="2400" b="1">
                    <a:solidFill>
                      <a:srgbClr val="002060"/>
                    </a:solidFill>
                    <a:latin typeface="楷体" panose="02010609060101010101" pitchFamily="49" charset="-122"/>
                    <a:ea typeface="楷体" panose="02010609060101010101" pitchFamily="49" charset="-122"/>
                  </a:rPr>
                  <a:t>是可平面的当且仅当</a:t>
                </a:r>
                <a14:m>
                  <m:oMath xmlns:m="http://schemas.openxmlformats.org/officeDocument/2006/math">
                    <m:r>
                      <a:rPr lang="en-US" altLang="zh-CN" sz="2400" b="1" i="1" smtClean="0">
                        <a:solidFill>
                          <a:srgbClr val="002060"/>
                        </a:solidFill>
                        <a:latin typeface="Cambria Math" panose="02040503050406030204" pitchFamily="18" charset="0"/>
                        <a:ea typeface="楷体" panose="02010609060101010101" pitchFamily="49" charset="-122"/>
                      </a:rPr>
                      <m:t>𝑮</m:t>
                    </m:r>
                  </m:oMath>
                </a14:m>
                <a:r>
                  <a:rPr lang="zh-CN" altLang="en-US" sz="2400" b="1">
                    <a:solidFill>
                      <a:srgbClr val="002060"/>
                    </a:solidFill>
                    <a:latin typeface="楷体" panose="02010609060101010101" pitchFamily="49" charset="-122"/>
                    <a:ea typeface="楷体" panose="02010609060101010101" pitchFamily="49" charset="-122"/>
                  </a:rPr>
                  <a:t>不存在</a:t>
                </a:r>
                <a14:m>
                  <m:oMath xmlns:m="http://schemas.openxmlformats.org/officeDocument/2006/math">
                    <m:r>
                      <a:rPr lang="en-US" altLang="zh-CN" sz="2400" b="1" i="1" smtClean="0">
                        <a:solidFill>
                          <a:srgbClr val="002060"/>
                        </a:solidFill>
                        <a:latin typeface="Cambria Math" panose="02040503050406030204" pitchFamily="18" charset="0"/>
                      </a:rPr>
                      <m:t>𝑲</m:t>
                    </m:r>
                  </m:oMath>
                </a14:m>
                <a:r>
                  <a:rPr lang="zh-CN" altLang="en-US" sz="2400" b="1">
                    <a:solidFill>
                      <a:srgbClr val="002060"/>
                    </a:solidFill>
                    <a:latin typeface="楷体" panose="02010609060101010101" pitchFamily="49" charset="-122"/>
                    <a:ea typeface="楷体" panose="02010609060101010101" pitchFamily="49" charset="-122"/>
                  </a:rPr>
                  <a:t>型子图</a:t>
                </a:r>
              </a:p>
            </p:txBody>
          </p:sp>
        </mc:Choice>
        <mc:Fallback xmlns="">
          <p:sp>
            <p:nvSpPr>
              <p:cNvPr id="4" name="文本框 3">
                <a:extLst>
                  <a:ext uri="{FF2B5EF4-FFF2-40B4-BE49-F238E27FC236}">
                    <a16:creationId xmlns:a16="http://schemas.microsoft.com/office/drawing/2014/main" id="{D80CF7EC-C3B7-4C1A-9B90-FCFE8F113634}"/>
                  </a:ext>
                </a:extLst>
              </p:cNvPr>
              <p:cNvSpPr txBox="1">
                <a:spLocks noRot="1" noChangeAspect="1" noMove="1" noResize="1" noEditPoints="1" noAdjustHandles="1" noChangeArrowheads="1" noChangeShapeType="1" noTextEdit="1"/>
              </p:cNvSpPr>
              <p:nvPr/>
            </p:nvSpPr>
            <p:spPr>
              <a:xfrm>
                <a:off x="1002230" y="5064738"/>
                <a:ext cx="5837961" cy="984885"/>
              </a:xfrm>
              <a:prstGeom prst="rect">
                <a:avLst/>
              </a:prstGeom>
              <a:blipFill>
                <a:blip r:embed="rId4"/>
                <a:stretch>
                  <a:fillRect l="-1566" t="-4348" b="-1180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DB57D6AF-66F8-4562-AD05-046ADC3EA8A5}"/>
                  </a:ext>
                </a:extLst>
              </p:cNvPr>
              <p:cNvSpPr txBox="1"/>
              <p:nvPr/>
            </p:nvSpPr>
            <p:spPr>
              <a:xfrm>
                <a:off x="6935844" y="2375010"/>
                <a:ext cx="4271586" cy="496611"/>
              </a:xfrm>
              <a:prstGeom prst="rect">
                <a:avLst/>
              </a:prstGeom>
              <a:solidFill>
                <a:schemeClr val="accent4">
                  <a:lumMod val="20000"/>
                  <a:lumOff val="80000"/>
                </a:schemeClr>
              </a:solidFill>
            </p:spPr>
            <p:txBody>
              <a:bodyPr wrap="square" rtlCol="0">
                <a:spAutoFit/>
              </a:bodyPr>
              <a:lstStyle/>
              <a:p>
                <a:r>
                  <a:rPr lang="zh-CN" altLang="en-US" b="1">
                    <a:solidFill>
                      <a:schemeClr val="accent2">
                        <a:lumMod val="50000"/>
                      </a:schemeClr>
                    </a:solidFill>
                  </a:rPr>
                  <a:t>平面图</a:t>
                </a:r>
                <a14:m>
                  <m:oMath xmlns:m="http://schemas.openxmlformats.org/officeDocument/2006/math">
                    <m:r>
                      <a:rPr lang="en-US" altLang="zh-CN" b="1" i="1" smtClean="0">
                        <a:solidFill>
                          <a:schemeClr val="accent2">
                            <a:lumMod val="50000"/>
                          </a:schemeClr>
                        </a:solidFill>
                        <a:latin typeface="Cambria Math" panose="02040503050406030204" pitchFamily="18" charset="0"/>
                      </a:rPr>
                      <m:t>𝑮</m:t>
                    </m:r>
                  </m:oMath>
                </a14:m>
                <a:r>
                  <a:rPr lang="zh-CN" altLang="en-US" b="1">
                    <a:solidFill>
                      <a:schemeClr val="accent2">
                        <a:lumMod val="50000"/>
                      </a:schemeClr>
                    </a:solidFill>
                  </a:rPr>
                  <a:t>当</a:t>
                </a:r>
                <a14:m>
                  <m:oMath xmlns:m="http://schemas.openxmlformats.org/officeDocument/2006/math">
                    <m:r>
                      <a:rPr lang="en-US" altLang="zh-CN" b="1" i="1" smtClean="0">
                        <a:solidFill>
                          <a:schemeClr val="accent2">
                            <a:lumMod val="50000"/>
                          </a:schemeClr>
                        </a:solidFill>
                        <a:latin typeface="Cambria Math" panose="02040503050406030204" pitchFamily="18" charset="0"/>
                      </a:rPr>
                      <m:t>𝒈</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𝑮</m:t>
                        </m:r>
                      </m:e>
                    </m:d>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𝒍</m:t>
                    </m:r>
                  </m:oMath>
                </a14:m>
                <a:r>
                  <a:rPr lang="zh-CN" altLang="en-US" b="1">
                    <a:solidFill>
                      <a:schemeClr val="accent2">
                        <a:lumMod val="50000"/>
                      </a:schemeClr>
                    </a:solidFill>
                  </a:rPr>
                  <a:t>时，</a:t>
                </a:r>
                <a14:m>
                  <m:oMath xmlns:m="http://schemas.openxmlformats.org/officeDocument/2006/math">
                    <m:r>
                      <a:rPr lang="en-US" altLang="zh-CN" b="1" i="1">
                        <a:solidFill>
                          <a:schemeClr val="accent2">
                            <a:lumMod val="50000"/>
                          </a:schemeClr>
                        </a:solidFill>
                        <a:latin typeface="Cambria Math" panose="02040503050406030204" pitchFamily="18" charset="0"/>
                      </a:rPr>
                      <m:t>𝒎</m:t>
                    </m:r>
                    <m:r>
                      <a:rPr lang="en-US" altLang="zh-CN" b="1" i="1">
                        <a:solidFill>
                          <a:schemeClr val="accent2">
                            <a:lumMod val="50000"/>
                          </a:schemeClr>
                        </a:solidFill>
                        <a:latin typeface="Cambria Math" panose="02040503050406030204" pitchFamily="18" charset="0"/>
                      </a:rPr>
                      <m:t> ≤</m:t>
                    </m:r>
                    <m:f>
                      <m:fPr>
                        <m:ctrlPr>
                          <a:rPr lang="en-US" altLang="zh-CN" b="1" i="1">
                            <a:solidFill>
                              <a:schemeClr val="accent2">
                                <a:lumMod val="50000"/>
                              </a:schemeClr>
                            </a:solidFill>
                            <a:latin typeface="Cambria Math" panose="02040503050406030204" pitchFamily="18" charset="0"/>
                          </a:rPr>
                        </m:ctrlPr>
                      </m:fPr>
                      <m:num>
                        <m:r>
                          <a:rPr lang="en-US" altLang="zh-CN" b="1" i="1">
                            <a:solidFill>
                              <a:schemeClr val="accent2">
                                <a:lumMod val="50000"/>
                              </a:schemeClr>
                            </a:solidFill>
                            <a:latin typeface="Cambria Math" panose="02040503050406030204" pitchFamily="18" charset="0"/>
                          </a:rPr>
                          <m:t>𝒍</m:t>
                        </m:r>
                      </m:num>
                      <m:den>
                        <m:r>
                          <a:rPr lang="en-US" altLang="zh-CN" b="1" i="1">
                            <a:solidFill>
                              <a:schemeClr val="accent2">
                                <a:lumMod val="50000"/>
                              </a:schemeClr>
                            </a:solidFill>
                            <a:latin typeface="Cambria Math" panose="02040503050406030204" pitchFamily="18" charset="0"/>
                          </a:rPr>
                          <m:t>𝒍</m:t>
                        </m:r>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𝟐</m:t>
                        </m:r>
                      </m:den>
                    </m:f>
                    <m:d>
                      <m:dPr>
                        <m:ctrlPr>
                          <a:rPr lang="en-US" altLang="zh-CN" b="1" i="1">
                            <a:solidFill>
                              <a:schemeClr val="accent2">
                                <a:lumMod val="50000"/>
                              </a:schemeClr>
                            </a:solidFill>
                            <a:latin typeface="Cambria Math" panose="02040503050406030204" pitchFamily="18" charset="0"/>
                          </a:rPr>
                        </m:ctrlPr>
                      </m:dPr>
                      <m:e>
                        <m:r>
                          <a:rPr lang="en-US" altLang="zh-CN" b="1" i="1">
                            <a:solidFill>
                              <a:schemeClr val="accent2">
                                <a:lumMod val="50000"/>
                              </a:schemeClr>
                            </a:solidFill>
                            <a:latin typeface="Cambria Math" panose="02040503050406030204" pitchFamily="18" charset="0"/>
                          </a:rPr>
                          <m:t>𝒏</m:t>
                        </m:r>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𝟐</m:t>
                        </m:r>
                      </m:e>
                    </m:d>
                  </m:oMath>
                </a14:m>
                <a:endParaRPr lang="zh-CN" altLang="en-US"/>
              </a:p>
            </p:txBody>
          </p:sp>
        </mc:Choice>
        <mc:Fallback xmlns="">
          <p:sp>
            <p:nvSpPr>
              <p:cNvPr id="12" name="文本框 11">
                <a:extLst>
                  <a:ext uri="{FF2B5EF4-FFF2-40B4-BE49-F238E27FC236}">
                    <a16:creationId xmlns:a16="http://schemas.microsoft.com/office/drawing/2014/main" id="{DB57D6AF-66F8-4562-AD05-046ADC3EA8A5}"/>
                  </a:ext>
                </a:extLst>
              </p:cNvPr>
              <p:cNvSpPr txBox="1">
                <a:spLocks noRot="1" noChangeAspect="1" noMove="1" noResize="1" noEditPoints="1" noAdjustHandles="1" noChangeArrowheads="1" noChangeShapeType="1" noTextEdit="1"/>
              </p:cNvSpPr>
              <p:nvPr/>
            </p:nvSpPr>
            <p:spPr>
              <a:xfrm>
                <a:off x="6935844" y="2375010"/>
                <a:ext cx="4271586" cy="496611"/>
              </a:xfrm>
              <a:prstGeom prst="rect">
                <a:avLst/>
              </a:prstGeom>
              <a:blipFill>
                <a:blip r:embed="rId5"/>
                <a:stretch>
                  <a:fillRect l="-1286" b="-864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58F96B9F-3DAE-4DB9-9C35-E3DC3D85F459}"/>
                  </a:ext>
                </a:extLst>
              </p:cNvPr>
              <p:cNvSpPr txBox="1"/>
              <p:nvPr/>
            </p:nvSpPr>
            <p:spPr>
              <a:xfrm>
                <a:off x="6491024" y="1354342"/>
                <a:ext cx="1019653" cy="923330"/>
              </a:xfrm>
              <a:prstGeom prst="rect">
                <a:avLst/>
              </a:prstGeom>
              <a:noFill/>
            </p:spPr>
            <p:txBody>
              <a:bodyPr wrap="square" rtlCol="0">
                <a:spAutoFit/>
              </a:bodyPr>
              <a:lstStyle/>
              <a:p>
                <a14:m>
                  <m:oMath xmlns:m="http://schemas.openxmlformats.org/officeDocument/2006/math">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𝑲</m:t>
                        </m:r>
                      </m:e>
                      <m:sub>
                        <m:r>
                          <a:rPr lang="en-US" altLang="zh-CN" b="1" i="1" smtClean="0">
                            <a:solidFill>
                              <a:schemeClr val="accent2">
                                <a:lumMod val="50000"/>
                              </a:schemeClr>
                            </a:solidFill>
                            <a:latin typeface="Cambria Math" panose="02040503050406030204" pitchFamily="18" charset="0"/>
                          </a:rPr>
                          <m:t>𝟓</m:t>
                        </m:r>
                      </m:sub>
                    </m:sSub>
                  </m:oMath>
                </a14:m>
                <a:r>
                  <a:rPr lang="en-US" altLang="zh-CN" b="1">
                    <a:solidFill>
                      <a:schemeClr val="accent2">
                        <a:lumMod val="50000"/>
                      </a:schemeClr>
                    </a:solidFill>
                  </a:rPr>
                  <a:t>: </a:t>
                </a:r>
                <a:endParaRPr lang="en-US" altLang="zh-CN" b="1" i="1">
                  <a:solidFill>
                    <a:schemeClr val="accent2">
                      <a:lumMod val="50000"/>
                    </a:schemeClr>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altLang="zh-CN" b="1" i="1" smtClean="0">
                          <a:solidFill>
                            <a:schemeClr val="accent2">
                              <a:lumMod val="50000"/>
                            </a:schemeClr>
                          </a:solidFill>
                          <a:latin typeface="Cambria Math" panose="02040503050406030204" pitchFamily="18" charset="0"/>
                        </a:rPr>
                        <m:t>𝒏</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𝟓</m:t>
                      </m:r>
                    </m:oMath>
                  </m:oMathPara>
                </a14:m>
                <a:endParaRPr lang="en-US" altLang="zh-CN" b="1">
                  <a:solidFill>
                    <a:schemeClr val="accent2">
                      <a:lumMod val="50000"/>
                    </a:schemeClr>
                  </a:solidFill>
                </a:endParaRPr>
              </a:p>
              <a:p>
                <a:pPr/>
                <a14:m>
                  <m:oMathPara xmlns:m="http://schemas.openxmlformats.org/officeDocument/2006/math">
                    <m:oMathParaPr>
                      <m:jc m:val="centerGroup"/>
                    </m:oMathParaPr>
                    <m:oMath xmlns:m="http://schemas.openxmlformats.org/officeDocument/2006/math">
                      <m:r>
                        <a:rPr lang="en-US" altLang="zh-CN" b="1" i="1" smtClean="0">
                          <a:solidFill>
                            <a:schemeClr val="accent2">
                              <a:lumMod val="50000"/>
                            </a:schemeClr>
                          </a:solidFill>
                          <a:latin typeface="Cambria Math" panose="02040503050406030204" pitchFamily="18" charset="0"/>
                        </a:rPr>
                        <m:t>𝒎</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𝟏𝟎</m:t>
                      </m:r>
                    </m:oMath>
                  </m:oMathPara>
                </a14:m>
                <a:endParaRPr lang="zh-CN" altLang="en-US" b="1">
                  <a:solidFill>
                    <a:schemeClr val="accent2">
                      <a:lumMod val="50000"/>
                    </a:schemeClr>
                  </a:solidFill>
                </a:endParaRPr>
              </a:p>
            </p:txBody>
          </p:sp>
        </mc:Choice>
        <mc:Fallback xmlns="">
          <p:sp>
            <p:nvSpPr>
              <p:cNvPr id="13" name="文本框 12">
                <a:extLst>
                  <a:ext uri="{FF2B5EF4-FFF2-40B4-BE49-F238E27FC236}">
                    <a16:creationId xmlns:a16="http://schemas.microsoft.com/office/drawing/2014/main" id="{58F96B9F-3DAE-4DB9-9C35-E3DC3D85F459}"/>
                  </a:ext>
                </a:extLst>
              </p:cNvPr>
              <p:cNvSpPr txBox="1">
                <a:spLocks noRot="1" noChangeAspect="1" noMove="1" noResize="1" noEditPoints="1" noAdjustHandles="1" noChangeArrowheads="1" noChangeShapeType="1" noTextEdit="1"/>
              </p:cNvSpPr>
              <p:nvPr/>
            </p:nvSpPr>
            <p:spPr>
              <a:xfrm>
                <a:off x="6491024" y="1354342"/>
                <a:ext cx="1019653" cy="923330"/>
              </a:xfrm>
              <a:prstGeom prst="rect">
                <a:avLst/>
              </a:prstGeom>
              <a:blipFill>
                <a:blip r:embed="rId6"/>
                <a:stretch>
                  <a:fillRect t="-328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F7C8E3AB-A002-482F-89D4-88AA669E66F2}"/>
                  </a:ext>
                </a:extLst>
              </p:cNvPr>
              <p:cNvSpPr txBox="1"/>
              <p:nvPr/>
            </p:nvSpPr>
            <p:spPr>
              <a:xfrm>
                <a:off x="8965605" y="1304879"/>
                <a:ext cx="1019653" cy="935513"/>
              </a:xfrm>
              <a:prstGeom prst="rect">
                <a:avLst/>
              </a:prstGeom>
              <a:noFill/>
            </p:spPr>
            <p:txBody>
              <a:bodyPr wrap="square" rtlCol="0">
                <a:spAutoFit/>
              </a:bodyPr>
              <a:lstStyle/>
              <a:p>
                <a14:m>
                  <m:oMath xmlns:m="http://schemas.openxmlformats.org/officeDocument/2006/math">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𝑲</m:t>
                        </m:r>
                      </m:e>
                      <m:sub>
                        <m:r>
                          <a:rPr lang="en-US" altLang="zh-CN" b="1" i="1" smtClean="0">
                            <a:solidFill>
                              <a:schemeClr val="accent2">
                                <a:lumMod val="50000"/>
                              </a:schemeClr>
                            </a:solidFill>
                            <a:latin typeface="Cambria Math" panose="02040503050406030204" pitchFamily="18" charset="0"/>
                          </a:rPr>
                          <m:t>𝟑</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𝟑</m:t>
                        </m:r>
                      </m:sub>
                    </m:sSub>
                  </m:oMath>
                </a14:m>
                <a:r>
                  <a:rPr lang="en-US" altLang="zh-CN" b="1" dirty="0">
                    <a:solidFill>
                      <a:schemeClr val="accent2">
                        <a:lumMod val="50000"/>
                      </a:schemeClr>
                    </a:solidFill>
                  </a:rPr>
                  <a:t>: </a:t>
                </a:r>
                <a:endParaRPr lang="en-US" altLang="zh-CN" b="1" i="1" dirty="0">
                  <a:solidFill>
                    <a:schemeClr val="accent2">
                      <a:lumMod val="50000"/>
                    </a:schemeClr>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altLang="zh-CN" b="1" i="1" smtClean="0">
                          <a:solidFill>
                            <a:schemeClr val="accent2">
                              <a:lumMod val="50000"/>
                            </a:schemeClr>
                          </a:solidFill>
                          <a:latin typeface="Cambria Math" panose="02040503050406030204" pitchFamily="18" charset="0"/>
                        </a:rPr>
                        <m:t>𝒏</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𝟔</m:t>
                      </m:r>
                    </m:oMath>
                  </m:oMathPara>
                </a14:m>
                <a:endParaRPr lang="en-US" altLang="zh-CN" b="1" dirty="0">
                  <a:solidFill>
                    <a:schemeClr val="accent2">
                      <a:lumMod val="50000"/>
                    </a:schemeClr>
                  </a:solidFill>
                </a:endParaRPr>
              </a:p>
              <a:p>
                <a:pPr/>
                <a14:m>
                  <m:oMathPara xmlns:m="http://schemas.openxmlformats.org/officeDocument/2006/math">
                    <m:oMathParaPr>
                      <m:jc m:val="centerGroup"/>
                    </m:oMathParaPr>
                    <m:oMath xmlns:m="http://schemas.openxmlformats.org/officeDocument/2006/math">
                      <m:r>
                        <a:rPr lang="en-US" altLang="zh-CN" b="1" i="1" smtClean="0">
                          <a:solidFill>
                            <a:schemeClr val="accent2">
                              <a:lumMod val="50000"/>
                            </a:schemeClr>
                          </a:solidFill>
                          <a:latin typeface="Cambria Math" panose="02040503050406030204" pitchFamily="18" charset="0"/>
                        </a:rPr>
                        <m:t>𝒎</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𝟗</m:t>
                      </m:r>
                    </m:oMath>
                  </m:oMathPara>
                </a14:m>
                <a:endParaRPr lang="zh-CN" altLang="en-US" b="1" dirty="0">
                  <a:solidFill>
                    <a:schemeClr val="accent2">
                      <a:lumMod val="50000"/>
                    </a:schemeClr>
                  </a:solidFill>
                </a:endParaRPr>
              </a:p>
            </p:txBody>
          </p:sp>
        </mc:Choice>
        <mc:Fallback xmlns="">
          <p:sp>
            <p:nvSpPr>
              <p:cNvPr id="15" name="文本框 14">
                <a:extLst>
                  <a:ext uri="{FF2B5EF4-FFF2-40B4-BE49-F238E27FC236}">
                    <a16:creationId xmlns:a16="http://schemas.microsoft.com/office/drawing/2014/main" id="{F7C8E3AB-A002-482F-89D4-88AA669E66F2}"/>
                  </a:ext>
                </a:extLst>
              </p:cNvPr>
              <p:cNvSpPr txBox="1">
                <a:spLocks noRot="1" noChangeAspect="1" noMove="1" noResize="1" noEditPoints="1" noAdjustHandles="1" noChangeArrowheads="1" noChangeShapeType="1" noTextEdit="1"/>
              </p:cNvSpPr>
              <p:nvPr/>
            </p:nvSpPr>
            <p:spPr>
              <a:xfrm>
                <a:off x="8965605" y="1304879"/>
                <a:ext cx="1019653" cy="935513"/>
              </a:xfrm>
              <a:prstGeom prst="rect">
                <a:avLst/>
              </a:prstGeom>
              <a:blipFill>
                <a:blip r:embed="rId7"/>
                <a:stretch>
                  <a:fillRect t="-2597"/>
                </a:stretch>
              </a:blipFill>
            </p:spPr>
            <p:txBody>
              <a:bodyPr/>
              <a:lstStyle/>
              <a:p>
                <a:r>
                  <a:rPr lang="zh-CN" altLang="en-US">
                    <a:noFill/>
                  </a:rPr>
                  <a:t> </a:t>
                </a:r>
              </a:p>
            </p:txBody>
          </p:sp>
        </mc:Fallback>
      </mc:AlternateContent>
      <p:grpSp>
        <p:nvGrpSpPr>
          <p:cNvPr id="65" name="组合 64">
            <a:extLst>
              <a:ext uri="{FF2B5EF4-FFF2-40B4-BE49-F238E27FC236}">
                <a16:creationId xmlns:a16="http://schemas.microsoft.com/office/drawing/2014/main" id="{8F36ECFE-6797-49C2-B0E6-91A8B477C58F}"/>
              </a:ext>
            </a:extLst>
          </p:cNvPr>
          <p:cNvGrpSpPr/>
          <p:nvPr/>
        </p:nvGrpSpPr>
        <p:grpSpPr>
          <a:xfrm>
            <a:off x="7415172" y="3050668"/>
            <a:ext cx="1656427" cy="1606504"/>
            <a:chOff x="7518218" y="1164875"/>
            <a:chExt cx="1248710" cy="1177638"/>
          </a:xfrm>
        </p:grpSpPr>
        <p:sp>
          <p:nvSpPr>
            <p:cNvPr id="14" name="椭圆 13">
              <a:extLst>
                <a:ext uri="{FF2B5EF4-FFF2-40B4-BE49-F238E27FC236}">
                  <a16:creationId xmlns:a16="http://schemas.microsoft.com/office/drawing/2014/main" id="{9B1FA358-B89E-4E2E-9B22-83AD3F8BF167}"/>
                </a:ext>
              </a:extLst>
            </p:cNvPr>
            <p:cNvSpPr/>
            <p:nvPr/>
          </p:nvSpPr>
          <p:spPr>
            <a:xfrm>
              <a:off x="8071718" y="1164875"/>
              <a:ext cx="131568" cy="140005"/>
            </a:xfrm>
            <a:prstGeom prst="ellipse">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a:extLst>
                <a:ext uri="{FF2B5EF4-FFF2-40B4-BE49-F238E27FC236}">
                  <a16:creationId xmlns:a16="http://schemas.microsoft.com/office/drawing/2014/main" id="{3BB1D032-3849-4225-BBDD-5D15FF640006}"/>
                </a:ext>
              </a:extLst>
            </p:cNvPr>
            <p:cNvSpPr/>
            <p:nvPr/>
          </p:nvSpPr>
          <p:spPr>
            <a:xfrm>
              <a:off x="7518218" y="1602578"/>
              <a:ext cx="131568" cy="140005"/>
            </a:xfrm>
            <a:prstGeom prst="ellipse">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a:extLst>
                <a:ext uri="{FF2B5EF4-FFF2-40B4-BE49-F238E27FC236}">
                  <a16:creationId xmlns:a16="http://schemas.microsoft.com/office/drawing/2014/main" id="{546FF153-728A-44DD-AB29-08966829A5BF}"/>
                </a:ext>
              </a:extLst>
            </p:cNvPr>
            <p:cNvSpPr/>
            <p:nvPr/>
          </p:nvSpPr>
          <p:spPr>
            <a:xfrm>
              <a:off x="7711002" y="2202508"/>
              <a:ext cx="131568" cy="140005"/>
            </a:xfrm>
            <a:prstGeom prst="ellipse">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a:extLst>
                <a:ext uri="{FF2B5EF4-FFF2-40B4-BE49-F238E27FC236}">
                  <a16:creationId xmlns:a16="http://schemas.microsoft.com/office/drawing/2014/main" id="{91941D65-7D1A-4E4E-B906-CBDC7D330A4D}"/>
                </a:ext>
              </a:extLst>
            </p:cNvPr>
            <p:cNvSpPr/>
            <p:nvPr/>
          </p:nvSpPr>
          <p:spPr>
            <a:xfrm>
              <a:off x="8412066" y="2202508"/>
              <a:ext cx="131568" cy="140005"/>
            </a:xfrm>
            <a:prstGeom prst="ellipse">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椭圆 20">
              <a:extLst>
                <a:ext uri="{FF2B5EF4-FFF2-40B4-BE49-F238E27FC236}">
                  <a16:creationId xmlns:a16="http://schemas.microsoft.com/office/drawing/2014/main" id="{B8E536CB-0C83-47DA-B6CD-645AB7139419}"/>
                </a:ext>
              </a:extLst>
            </p:cNvPr>
            <p:cNvSpPr/>
            <p:nvPr/>
          </p:nvSpPr>
          <p:spPr>
            <a:xfrm>
              <a:off x="8635360" y="1602577"/>
              <a:ext cx="131568" cy="140005"/>
            </a:xfrm>
            <a:prstGeom prst="ellipse">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8" name="直接连接符 27">
              <a:extLst>
                <a:ext uri="{FF2B5EF4-FFF2-40B4-BE49-F238E27FC236}">
                  <a16:creationId xmlns:a16="http://schemas.microsoft.com/office/drawing/2014/main" id="{D5F4D155-3E00-4222-876C-067E8BE24166}"/>
                </a:ext>
              </a:extLst>
            </p:cNvPr>
            <p:cNvCxnSpPr>
              <a:stCxn id="14" idx="3"/>
              <a:endCxn id="18" idx="7"/>
            </p:cNvCxnSpPr>
            <p:nvPr/>
          </p:nvCxnSpPr>
          <p:spPr>
            <a:xfrm flipH="1">
              <a:off x="7630518" y="1284377"/>
              <a:ext cx="460468" cy="338704"/>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521AEDE9-D442-4AC3-81A5-453187DDBE7D}"/>
                </a:ext>
              </a:extLst>
            </p:cNvPr>
            <p:cNvCxnSpPr>
              <a:stCxn id="14" idx="4"/>
              <a:endCxn id="19" idx="0"/>
            </p:cNvCxnSpPr>
            <p:nvPr/>
          </p:nvCxnSpPr>
          <p:spPr>
            <a:xfrm flipH="1">
              <a:off x="7776786" y="1304880"/>
              <a:ext cx="360716" cy="897628"/>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D2376595-FD3C-4DF5-9F41-3D36BAC1AAF5}"/>
                </a:ext>
              </a:extLst>
            </p:cNvPr>
            <p:cNvCxnSpPr>
              <a:stCxn id="14" idx="4"/>
              <a:endCxn id="20" idx="1"/>
            </p:cNvCxnSpPr>
            <p:nvPr/>
          </p:nvCxnSpPr>
          <p:spPr>
            <a:xfrm>
              <a:off x="8137502" y="1304880"/>
              <a:ext cx="293832" cy="918131"/>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23F7CCE0-659E-4DC6-BE53-AE49565E6DDA}"/>
                </a:ext>
              </a:extLst>
            </p:cNvPr>
            <p:cNvCxnSpPr>
              <a:stCxn id="14" idx="5"/>
              <a:endCxn id="21" idx="1"/>
            </p:cNvCxnSpPr>
            <p:nvPr/>
          </p:nvCxnSpPr>
          <p:spPr>
            <a:xfrm>
              <a:off x="8184018" y="1284377"/>
              <a:ext cx="470610" cy="338703"/>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CCD46A78-D00F-41D1-ACEF-A315B207D9E0}"/>
                </a:ext>
              </a:extLst>
            </p:cNvPr>
            <p:cNvCxnSpPr>
              <a:stCxn id="18" idx="4"/>
              <a:endCxn id="19" idx="1"/>
            </p:cNvCxnSpPr>
            <p:nvPr/>
          </p:nvCxnSpPr>
          <p:spPr>
            <a:xfrm>
              <a:off x="7584002" y="1742583"/>
              <a:ext cx="146268" cy="480428"/>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直接连接符 37">
              <a:extLst>
                <a:ext uri="{FF2B5EF4-FFF2-40B4-BE49-F238E27FC236}">
                  <a16:creationId xmlns:a16="http://schemas.microsoft.com/office/drawing/2014/main" id="{96D241C2-47D9-4D4C-8C28-2465612790CF}"/>
                </a:ext>
              </a:extLst>
            </p:cNvPr>
            <p:cNvCxnSpPr>
              <a:stCxn id="18" idx="5"/>
              <a:endCxn id="20" idx="2"/>
            </p:cNvCxnSpPr>
            <p:nvPr/>
          </p:nvCxnSpPr>
          <p:spPr>
            <a:xfrm>
              <a:off x="7630518" y="1722080"/>
              <a:ext cx="781548" cy="550431"/>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直接连接符 39">
              <a:extLst>
                <a:ext uri="{FF2B5EF4-FFF2-40B4-BE49-F238E27FC236}">
                  <a16:creationId xmlns:a16="http://schemas.microsoft.com/office/drawing/2014/main" id="{92FBC237-A9B4-4C6E-B6EB-5CC7A5BF5CA2}"/>
                </a:ext>
              </a:extLst>
            </p:cNvPr>
            <p:cNvCxnSpPr>
              <a:stCxn id="18" idx="6"/>
              <a:endCxn id="21" idx="2"/>
            </p:cNvCxnSpPr>
            <p:nvPr/>
          </p:nvCxnSpPr>
          <p:spPr>
            <a:xfrm flipV="1">
              <a:off x="7649786" y="1672580"/>
              <a:ext cx="985574" cy="1"/>
            </a:xfrm>
            <a:prstGeom prst="line">
              <a:avLst/>
            </a:prstGeom>
          </p:spPr>
          <p:style>
            <a:lnRef idx="1">
              <a:schemeClr val="accent1"/>
            </a:lnRef>
            <a:fillRef idx="0">
              <a:schemeClr val="accent1"/>
            </a:fillRef>
            <a:effectRef idx="0">
              <a:schemeClr val="accent1"/>
            </a:effectRef>
            <a:fontRef idx="minor">
              <a:schemeClr val="tx1"/>
            </a:fontRef>
          </p:style>
        </p:cxnSp>
        <p:cxnSp>
          <p:nvCxnSpPr>
            <p:cNvPr id="42" name="直接连接符 41">
              <a:extLst>
                <a:ext uri="{FF2B5EF4-FFF2-40B4-BE49-F238E27FC236}">
                  <a16:creationId xmlns:a16="http://schemas.microsoft.com/office/drawing/2014/main" id="{97302111-0662-4AA7-9671-02DD2632060D}"/>
                </a:ext>
              </a:extLst>
            </p:cNvPr>
            <p:cNvCxnSpPr>
              <a:stCxn id="19" idx="7"/>
              <a:endCxn id="21" idx="3"/>
            </p:cNvCxnSpPr>
            <p:nvPr/>
          </p:nvCxnSpPr>
          <p:spPr>
            <a:xfrm flipV="1">
              <a:off x="7823302" y="1722079"/>
              <a:ext cx="831326" cy="500932"/>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DAA00A87-D218-4FB7-ACDE-D926E5928FFB}"/>
                </a:ext>
              </a:extLst>
            </p:cNvPr>
            <p:cNvCxnSpPr>
              <a:stCxn id="19" idx="6"/>
              <a:endCxn id="20" idx="2"/>
            </p:cNvCxnSpPr>
            <p:nvPr/>
          </p:nvCxnSpPr>
          <p:spPr>
            <a:xfrm>
              <a:off x="7842570" y="2272511"/>
              <a:ext cx="56949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56568F7A-9C6D-423F-8960-CD2CEA1C35EA}"/>
                </a:ext>
              </a:extLst>
            </p:cNvPr>
            <p:cNvCxnSpPr>
              <a:stCxn id="20" idx="7"/>
              <a:endCxn id="21" idx="4"/>
            </p:cNvCxnSpPr>
            <p:nvPr/>
          </p:nvCxnSpPr>
          <p:spPr>
            <a:xfrm flipV="1">
              <a:off x="8524366" y="1742582"/>
              <a:ext cx="176778" cy="480429"/>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66" name="组合 65">
            <a:extLst>
              <a:ext uri="{FF2B5EF4-FFF2-40B4-BE49-F238E27FC236}">
                <a16:creationId xmlns:a16="http://schemas.microsoft.com/office/drawing/2014/main" id="{F5AC9B59-C619-48D8-B680-8B0A342DB54B}"/>
              </a:ext>
            </a:extLst>
          </p:cNvPr>
          <p:cNvGrpSpPr/>
          <p:nvPr/>
        </p:nvGrpSpPr>
        <p:grpSpPr>
          <a:xfrm>
            <a:off x="9915190" y="1251654"/>
            <a:ext cx="1418026" cy="1004685"/>
            <a:chOff x="9915190" y="1251654"/>
            <a:chExt cx="1418026" cy="1004685"/>
          </a:xfrm>
        </p:grpSpPr>
        <p:sp>
          <p:nvSpPr>
            <p:cNvPr id="22" name="椭圆 21">
              <a:extLst>
                <a:ext uri="{FF2B5EF4-FFF2-40B4-BE49-F238E27FC236}">
                  <a16:creationId xmlns:a16="http://schemas.microsoft.com/office/drawing/2014/main" id="{B6CC6B18-7551-487D-8E3F-A2B98BBD61F0}"/>
                </a:ext>
              </a:extLst>
            </p:cNvPr>
            <p:cNvSpPr/>
            <p:nvPr/>
          </p:nvSpPr>
          <p:spPr>
            <a:xfrm>
              <a:off x="9919474" y="1269818"/>
              <a:ext cx="131568" cy="140005"/>
            </a:xfrm>
            <a:prstGeom prst="ellipse">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椭圆 22">
              <a:extLst>
                <a:ext uri="{FF2B5EF4-FFF2-40B4-BE49-F238E27FC236}">
                  <a16:creationId xmlns:a16="http://schemas.microsoft.com/office/drawing/2014/main" id="{C990B955-53A3-494A-8AFA-270C6D8FE2B3}"/>
                </a:ext>
              </a:extLst>
            </p:cNvPr>
            <p:cNvSpPr/>
            <p:nvPr/>
          </p:nvSpPr>
          <p:spPr>
            <a:xfrm>
              <a:off x="9915190" y="2116334"/>
              <a:ext cx="131568" cy="140005"/>
            </a:xfrm>
            <a:prstGeom prst="ellipse">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椭圆 23">
              <a:extLst>
                <a:ext uri="{FF2B5EF4-FFF2-40B4-BE49-F238E27FC236}">
                  <a16:creationId xmlns:a16="http://schemas.microsoft.com/office/drawing/2014/main" id="{0ABB5C68-64A5-4942-9F99-FCE02C4283C0}"/>
                </a:ext>
              </a:extLst>
            </p:cNvPr>
            <p:cNvSpPr/>
            <p:nvPr/>
          </p:nvSpPr>
          <p:spPr>
            <a:xfrm>
              <a:off x="10554754" y="1251655"/>
              <a:ext cx="131568" cy="140005"/>
            </a:xfrm>
            <a:prstGeom prst="ellipse">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椭圆 24">
              <a:extLst>
                <a:ext uri="{FF2B5EF4-FFF2-40B4-BE49-F238E27FC236}">
                  <a16:creationId xmlns:a16="http://schemas.microsoft.com/office/drawing/2014/main" id="{0E1DEBF3-BDA1-428E-802F-92F3BC85A874}"/>
                </a:ext>
              </a:extLst>
            </p:cNvPr>
            <p:cNvSpPr/>
            <p:nvPr/>
          </p:nvSpPr>
          <p:spPr>
            <a:xfrm>
              <a:off x="10558679" y="2102365"/>
              <a:ext cx="131568" cy="140005"/>
            </a:xfrm>
            <a:prstGeom prst="ellipse">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a:extLst>
                <a:ext uri="{FF2B5EF4-FFF2-40B4-BE49-F238E27FC236}">
                  <a16:creationId xmlns:a16="http://schemas.microsoft.com/office/drawing/2014/main" id="{82C3DFAA-688C-47D1-9142-C6F08B29C901}"/>
                </a:ext>
              </a:extLst>
            </p:cNvPr>
            <p:cNvSpPr/>
            <p:nvPr/>
          </p:nvSpPr>
          <p:spPr>
            <a:xfrm>
              <a:off x="11191620" y="1251654"/>
              <a:ext cx="131568" cy="140005"/>
            </a:xfrm>
            <a:prstGeom prst="ellipse">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a:extLst>
                <a:ext uri="{FF2B5EF4-FFF2-40B4-BE49-F238E27FC236}">
                  <a16:creationId xmlns:a16="http://schemas.microsoft.com/office/drawing/2014/main" id="{A3E04C92-89F9-41CD-932F-E7BF389D8399}"/>
                </a:ext>
              </a:extLst>
            </p:cNvPr>
            <p:cNvSpPr/>
            <p:nvPr/>
          </p:nvSpPr>
          <p:spPr>
            <a:xfrm>
              <a:off x="11201648" y="2102364"/>
              <a:ext cx="131568" cy="140005"/>
            </a:xfrm>
            <a:prstGeom prst="ellipse">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8" name="直接连接符 47">
              <a:extLst>
                <a:ext uri="{FF2B5EF4-FFF2-40B4-BE49-F238E27FC236}">
                  <a16:creationId xmlns:a16="http://schemas.microsoft.com/office/drawing/2014/main" id="{CED90DC7-DEF4-4664-BBC2-D7C67DE204A8}"/>
                </a:ext>
              </a:extLst>
            </p:cNvPr>
            <p:cNvCxnSpPr>
              <a:endCxn id="23" idx="0"/>
            </p:cNvCxnSpPr>
            <p:nvPr/>
          </p:nvCxnSpPr>
          <p:spPr>
            <a:xfrm>
              <a:off x="9980974" y="1409823"/>
              <a:ext cx="0" cy="706511"/>
            </a:xfrm>
            <a:prstGeom prst="line">
              <a:avLst/>
            </a:prstGeom>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4BDB9BC8-9A10-4C40-A8D7-F3F5B63407D7}"/>
                </a:ext>
              </a:extLst>
            </p:cNvPr>
            <p:cNvCxnSpPr>
              <a:stCxn id="22" idx="4"/>
              <a:endCxn id="25" idx="1"/>
            </p:cNvCxnSpPr>
            <p:nvPr/>
          </p:nvCxnSpPr>
          <p:spPr>
            <a:xfrm>
              <a:off x="9985258" y="1409823"/>
              <a:ext cx="592689" cy="713045"/>
            </a:xfrm>
            <a:prstGeom prst="line">
              <a:avLst/>
            </a:prstGeom>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19F721F2-F8EA-46D9-9D15-795387EF025E}"/>
                </a:ext>
              </a:extLst>
            </p:cNvPr>
            <p:cNvCxnSpPr>
              <a:stCxn id="22" idx="4"/>
              <a:endCxn id="27" idx="1"/>
            </p:cNvCxnSpPr>
            <p:nvPr/>
          </p:nvCxnSpPr>
          <p:spPr>
            <a:xfrm>
              <a:off x="9985258" y="1409823"/>
              <a:ext cx="1235658" cy="713044"/>
            </a:xfrm>
            <a:prstGeom prst="line">
              <a:avLst/>
            </a:prstGeom>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66725CCE-DCC5-4056-9B84-153AF7700355}"/>
                </a:ext>
              </a:extLst>
            </p:cNvPr>
            <p:cNvCxnSpPr>
              <a:stCxn id="24" idx="4"/>
              <a:endCxn id="23" idx="0"/>
            </p:cNvCxnSpPr>
            <p:nvPr/>
          </p:nvCxnSpPr>
          <p:spPr>
            <a:xfrm flipH="1">
              <a:off x="9980974" y="1391660"/>
              <a:ext cx="639564" cy="724674"/>
            </a:xfrm>
            <a:prstGeom prst="line">
              <a:avLst/>
            </a:prstGeom>
          </p:spPr>
          <p:style>
            <a:lnRef idx="1">
              <a:schemeClr val="accent1"/>
            </a:lnRef>
            <a:fillRef idx="0">
              <a:schemeClr val="accent1"/>
            </a:fillRef>
            <a:effectRef idx="0">
              <a:schemeClr val="accent1"/>
            </a:effectRef>
            <a:fontRef idx="minor">
              <a:schemeClr val="tx1"/>
            </a:fontRef>
          </p:style>
        </p:cxnSp>
        <p:cxnSp>
          <p:nvCxnSpPr>
            <p:cNvPr id="56" name="直接连接符 55">
              <a:extLst>
                <a:ext uri="{FF2B5EF4-FFF2-40B4-BE49-F238E27FC236}">
                  <a16:creationId xmlns:a16="http://schemas.microsoft.com/office/drawing/2014/main" id="{6D53BA47-B40B-4F51-894C-D84F799C137F}"/>
                </a:ext>
              </a:extLst>
            </p:cNvPr>
            <p:cNvCxnSpPr>
              <a:stCxn id="24" idx="4"/>
              <a:endCxn id="25" idx="0"/>
            </p:cNvCxnSpPr>
            <p:nvPr/>
          </p:nvCxnSpPr>
          <p:spPr>
            <a:xfrm>
              <a:off x="10620538" y="1391660"/>
              <a:ext cx="3925" cy="710705"/>
            </a:xfrm>
            <a:prstGeom prst="line">
              <a:avLst/>
            </a:prstGeom>
          </p:spPr>
          <p:style>
            <a:lnRef idx="1">
              <a:schemeClr val="accent1"/>
            </a:lnRef>
            <a:fillRef idx="0">
              <a:schemeClr val="accent1"/>
            </a:fillRef>
            <a:effectRef idx="0">
              <a:schemeClr val="accent1"/>
            </a:effectRef>
            <a:fontRef idx="minor">
              <a:schemeClr val="tx1"/>
            </a:fontRef>
          </p:style>
        </p:cxnSp>
        <p:cxnSp>
          <p:nvCxnSpPr>
            <p:cNvPr id="58" name="直接连接符 57">
              <a:extLst>
                <a:ext uri="{FF2B5EF4-FFF2-40B4-BE49-F238E27FC236}">
                  <a16:creationId xmlns:a16="http://schemas.microsoft.com/office/drawing/2014/main" id="{1F8EEBAC-4F6B-4690-8E28-0D9C83FF6E2D}"/>
                </a:ext>
              </a:extLst>
            </p:cNvPr>
            <p:cNvCxnSpPr>
              <a:stCxn id="24" idx="4"/>
              <a:endCxn id="27" idx="0"/>
            </p:cNvCxnSpPr>
            <p:nvPr/>
          </p:nvCxnSpPr>
          <p:spPr>
            <a:xfrm>
              <a:off x="10620538" y="1391660"/>
              <a:ext cx="646894" cy="710704"/>
            </a:xfrm>
            <a:prstGeom prst="line">
              <a:avLst/>
            </a:prstGeom>
          </p:spPr>
          <p:style>
            <a:lnRef idx="1">
              <a:schemeClr val="accent1"/>
            </a:lnRef>
            <a:fillRef idx="0">
              <a:schemeClr val="accent1"/>
            </a:fillRef>
            <a:effectRef idx="0">
              <a:schemeClr val="accent1"/>
            </a:effectRef>
            <a:fontRef idx="minor">
              <a:schemeClr val="tx1"/>
            </a:fontRef>
          </p:style>
        </p:cxnSp>
        <p:cxnSp>
          <p:nvCxnSpPr>
            <p:cNvPr id="60" name="直接连接符 59">
              <a:extLst>
                <a:ext uri="{FF2B5EF4-FFF2-40B4-BE49-F238E27FC236}">
                  <a16:creationId xmlns:a16="http://schemas.microsoft.com/office/drawing/2014/main" id="{1243D1E7-5BAC-439B-83B4-C99F208B20C9}"/>
                </a:ext>
              </a:extLst>
            </p:cNvPr>
            <p:cNvCxnSpPr>
              <a:stCxn id="26" idx="4"/>
              <a:endCxn id="23" idx="7"/>
            </p:cNvCxnSpPr>
            <p:nvPr/>
          </p:nvCxnSpPr>
          <p:spPr>
            <a:xfrm flipH="1">
              <a:off x="10027490" y="1391659"/>
              <a:ext cx="1229914" cy="745178"/>
            </a:xfrm>
            <a:prstGeom prst="line">
              <a:avLst/>
            </a:prstGeom>
          </p:spPr>
          <p:style>
            <a:lnRef idx="1">
              <a:schemeClr val="accent1"/>
            </a:lnRef>
            <a:fillRef idx="0">
              <a:schemeClr val="accent1"/>
            </a:fillRef>
            <a:effectRef idx="0">
              <a:schemeClr val="accent1"/>
            </a:effectRef>
            <a:fontRef idx="minor">
              <a:schemeClr val="tx1"/>
            </a:fontRef>
          </p:style>
        </p:cxnSp>
        <p:cxnSp>
          <p:nvCxnSpPr>
            <p:cNvPr id="62" name="直接连接符 61">
              <a:extLst>
                <a:ext uri="{FF2B5EF4-FFF2-40B4-BE49-F238E27FC236}">
                  <a16:creationId xmlns:a16="http://schemas.microsoft.com/office/drawing/2014/main" id="{533DE704-65C8-4F11-9563-4A9579A591F6}"/>
                </a:ext>
              </a:extLst>
            </p:cNvPr>
            <p:cNvCxnSpPr>
              <a:stCxn id="26" idx="4"/>
              <a:endCxn id="25" idx="7"/>
            </p:cNvCxnSpPr>
            <p:nvPr/>
          </p:nvCxnSpPr>
          <p:spPr>
            <a:xfrm flipH="1">
              <a:off x="10670979" y="1391659"/>
              <a:ext cx="586425" cy="731209"/>
            </a:xfrm>
            <a:prstGeom prst="line">
              <a:avLst/>
            </a:prstGeom>
          </p:spPr>
          <p:style>
            <a:lnRef idx="1">
              <a:schemeClr val="accent1"/>
            </a:lnRef>
            <a:fillRef idx="0">
              <a:schemeClr val="accent1"/>
            </a:fillRef>
            <a:effectRef idx="0">
              <a:schemeClr val="accent1"/>
            </a:effectRef>
            <a:fontRef idx="minor">
              <a:schemeClr val="tx1"/>
            </a:fontRef>
          </p:style>
        </p:cxnSp>
        <p:cxnSp>
          <p:nvCxnSpPr>
            <p:cNvPr id="64" name="直接连接符 63">
              <a:extLst>
                <a:ext uri="{FF2B5EF4-FFF2-40B4-BE49-F238E27FC236}">
                  <a16:creationId xmlns:a16="http://schemas.microsoft.com/office/drawing/2014/main" id="{C4482039-DA92-4200-9349-48EB6AEDFEB8}"/>
                </a:ext>
              </a:extLst>
            </p:cNvPr>
            <p:cNvCxnSpPr>
              <a:stCxn id="26" idx="4"/>
              <a:endCxn id="27" idx="0"/>
            </p:cNvCxnSpPr>
            <p:nvPr/>
          </p:nvCxnSpPr>
          <p:spPr>
            <a:xfrm>
              <a:off x="11257404" y="1391659"/>
              <a:ext cx="10028" cy="710705"/>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67" name="组合 66">
            <a:extLst>
              <a:ext uri="{FF2B5EF4-FFF2-40B4-BE49-F238E27FC236}">
                <a16:creationId xmlns:a16="http://schemas.microsoft.com/office/drawing/2014/main" id="{A465D02C-26AC-48C0-9BBC-E0920CF47DF7}"/>
              </a:ext>
            </a:extLst>
          </p:cNvPr>
          <p:cNvGrpSpPr/>
          <p:nvPr/>
        </p:nvGrpSpPr>
        <p:grpSpPr>
          <a:xfrm>
            <a:off x="7397723" y="1119347"/>
            <a:ext cx="1248710" cy="1177638"/>
            <a:chOff x="7518218" y="1164875"/>
            <a:chExt cx="1248710" cy="1177638"/>
          </a:xfrm>
        </p:grpSpPr>
        <p:sp>
          <p:nvSpPr>
            <p:cNvPr id="68" name="椭圆 67">
              <a:extLst>
                <a:ext uri="{FF2B5EF4-FFF2-40B4-BE49-F238E27FC236}">
                  <a16:creationId xmlns:a16="http://schemas.microsoft.com/office/drawing/2014/main" id="{6B96E631-02C9-4FB3-BB6E-DD81066FBEB9}"/>
                </a:ext>
              </a:extLst>
            </p:cNvPr>
            <p:cNvSpPr/>
            <p:nvPr/>
          </p:nvSpPr>
          <p:spPr>
            <a:xfrm>
              <a:off x="8071718" y="1164875"/>
              <a:ext cx="131568" cy="140005"/>
            </a:xfrm>
            <a:prstGeom prst="ellipse">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椭圆 68">
              <a:extLst>
                <a:ext uri="{FF2B5EF4-FFF2-40B4-BE49-F238E27FC236}">
                  <a16:creationId xmlns:a16="http://schemas.microsoft.com/office/drawing/2014/main" id="{6C7B794D-C6AF-4182-ABBE-08BD746A9947}"/>
                </a:ext>
              </a:extLst>
            </p:cNvPr>
            <p:cNvSpPr/>
            <p:nvPr/>
          </p:nvSpPr>
          <p:spPr>
            <a:xfrm>
              <a:off x="7518218" y="1602578"/>
              <a:ext cx="131568" cy="140005"/>
            </a:xfrm>
            <a:prstGeom prst="ellipse">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椭圆 69">
              <a:extLst>
                <a:ext uri="{FF2B5EF4-FFF2-40B4-BE49-F238E27FC236}">
                  <a16:creationId xmlns:a16="http://schemas.microsoft.com/office/drawing/2014/main" id="{86616900-74F2-401C-A2E5-08DDCF8D6674}"/>
                </a:ext>
              </a:extLst>
            </p:cNvPr>
            <p:cNvSpPr/>
            <p:nvPr/>
          </p:nvSpPr>
          <p:spPr>
            <a:xfrm>
              <a:off x="7711002" y="2202508"/>
              <a:ext cx="131568" cy="140005"/>
            </a:xfrm>
            <a:prstGeom prst="ellipse">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椭圆 70">
              <a:extLst>
                <a:ext uri="{FF2B5EF4-FFF2-40B4-BE49-F238E27FC236}">
                  <a16:creationId xmlns:a16="http://schemas.microsoft.com/office/drawing/2014/main" id="{41D2BC4E-1E9C-4799-B18E-EECDAB28A69E}"/>
                </a:ext>
              </a:extLst>
            </p:cNvPr>
            <p:cNvSpPr/>
            <p:nvPr/>
          </p:nvSpPr>
          <p:spPr>
            <a:xfrm>
              <a:off x="8412066" y="2202508"/>
              <a:ext cx="131568" cy="140005"/>
            </a:xfrm>
            <a:prstGeom prst="ellipse">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椭圆 71">
              <a:extLst>
                <a:ext uri="{FF2B5EF4-FFF2-40B4-BE49-F238E27FC236}">
                  <a16:creationId xmlns:a16="http://schemas.microsoft.com/office/drawing/2014/main" id="{7E186BA3-FEEB-4058-8AB2-741762F89BE9}"/>
                </a:ext>
              </a:extLst>
            </p:cNvPr>
            <p:cNvSpPr/>
            <p:nvPr/>
          </p:nvSpPr>
          <p:spPr>
            <a:xfrm>
              <a:off x="8635360" y="1602577"/>
              <a:ext cx="131568" cy="140005"/>
            </a:xfrm>
            <a:prstGeom prst="ellipse">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3" name="直接连接符 72">
              <a:extLst>
                <a:ext uri="{FF2B5EF4-FFF2-40B4-BE49-F238E27FC236}">
                  <a16:creationId xmlns:a16="http://schemas.microsoft.com/office/drawing/2014/main" id="{1D8E18E4-50DB-49EC-8C4E-0E69C1D6A678}"/>
                </a:ext>
              </a:extLst>
            </p:cNvPr>
            <p:cNvCxnSpPr>
              <a:stCxn id="68" idx="3"/>
              <a:endCxn id="69" idx="7"/>
            </p:cNvCxnSpPr>
            <p:nvPr/>
          </p:nvCxnSpPr>
          <p:spPr>
            <a:xfrm flipH="1">
              <a:off x="7630518" y="1284377"/>
              <a:ext cx="460468" cy="338704"/>
            </a:xfrm>
            <a:prstGeom prst="line">
              <a:avLst/>
            </a:prstGeom>
          </p:spPr>
          <p:style>
            <a:lnRef idx="1">
              <a:schemeClr val="accent1"/>
            </a:lnRef>
            <a:fillRef idx="0">
              <a:schemeClr val="accent1"/>
            </a:fillRef>
            <a:effectRef idx="0">
              <a:schemeClr val="accent1"/>
            </a:effectRef>
            <a:fontRef idx="minor">
              <a:schemeClr val="tx1"/>
            </a:fontRef>
          </p:style>
        </p:cxnSp>
        <p:cxnSp>
          <p:nvCxnSpPr>
            <p:cNvPr id="74" name="直接连接符 73">
              <a:extLst>
                <a:ext uri="{FF2B5EF4-FFF2-40B4-BE49-F238E27FC236}">
                  <a16:creationId xmlns:a16="http://schemas.microsoft.com/office/drawing/2014/main" id="{D91730A3-9935-400A-9EC6-54D54A943DFC}"/>
                </a:ext>
              </a:extLst>
            </p:cNvPr>
            <p:cNvCxnSpPr>
              <a:stCxn id="68" idx="4"/>
              <a:endCxn id="70" idx="0"/>
            </p:cNvCxnSpPr>
            <p:nvPr/>
          </p:nvCxnSpPr>
          <p:spPr>
            <a:xfrm flipH="1">
              <a:off x="7776786" y="1304880"/>
              <a:ext cx="360716" cy="897628"/>
            </a:xfrm>
            <a:prstGeom prst="line">
              <a:avLst/>
            </a:prstGeom>
          </p:spPr>
          <p:style>
            <a:lnRef idx="1">
              <a:schemeClr val="accent1"/>
            </a:lnRef>
            <a:fillRef idx="0">
              <a:schemeClr val="accent1"/>
            </a:fillRef>
            <a:effectRef idx="0">
              <a:schemeClr val="accent1"/>
            </a:effectRef>
            <a:fontRef idx="minor">
              <a:schemeClr val="tx1"/>
            </a:fontRef>
          </p:style>
        </p:cxnSp>
        <p:cxnSp>
          <p:nvCxnSpPr>
            <p:cNvPr id="75" name="直接连接符 74">
              <a:extLst>
                <a:ext uri="{FF2B5EF4-FFF2-40B4-BE49-F238E27FC236}">
                  <a16:creationId xmlns:a16="http://schemas.microsoft.com/office/drawing/2014/main" id="{945897DE-87D9-460B-BA22-5F0CF71361AF}"/>
                </a:ext>
              </a:extLst>
            </p:cNvPr>
            <p:cNvCxnSpPr>
              <a:stCxn id="68" idx="4"/>
              <a:endCxn id="71" idx="1"/>
            </p:cNvCxnSpPr>
            <p:nvPr/>
          </p:nvCxnSpPr>
          <p:spPr>
            <a:xfrm>
              <a:off x="8137502" y="1304880"/>
              <a:ext cx="293832" cy="918131"/>
            </a:xfrm>
            <a:prstGeom prst="line">
              <a:avLst/>
            </a:prstGeom>
          </p:spPr>
          <p:style>
            <a:lnRef idx="1">
              <a:schemeClr val="accent1"/>
            </a:lnRef>
            <a:fillRef idx="0">
              <a:schemeClr val="accent1"/>
            </a:fillRef>
            <a:effectRef idx="0">
              <a:schemeClr val="accent1"/>
            </a:effectRef>
            <a:fontRef idx="minor">
              <a:schemeClr val="tx1"/>
            </a:fontRef>
          </p:style>
        </p:cxnSp>
        <p:cxnSp>
          <p:nvCxnSpPr>
            <p:cNvPr id="76" name="直接连接符 75">
              <a:extLst>
                <a:ext uri="{FF2B5EF4-FFF2-40B4-BE49-F238E27FC236}">
                  <a16:creationId xmlns:a16="http://schemas.microsoft.com/office/drawing/2014/main" id="{0251C30F-016B-4306-9CF6-71A271E4F71F}"/>
                </a:ext>
              </a:extLst>
            </p:cNvPr>
            <p:cNvCxnSpPr>
              <a:stCxn id="68" idx="5"/>
              <a:endCxn id="72" idx="1"/>
            </p:cNvCxnSpPr>
            <p:nvPr/>
          </p:nvCxnSpPr>
          <p:spPr>
            <a:xfrm>
              <a:off x="8184018" y="1284377"/>
              <a:ext cx="470610" cy="338703"/>
            </a:xfrm>
            <a:prstGeom prst="line">
              <a:avLst/>
            </a:prstGeom>
          </p:spPr>
          <p:style>
            <a:lnRef idx="1">
              <a:schemeClr val="accent1"/>
            </a:lnRef>
            <a:fillRef idx="0">
              <a:schemeClr val="accent1"/>
            </a:fillRef>
            <a:effectRef idx="0">
              <a:schemeClr val="accent1"/>
            </a:effectRef>
            <a:fontRef idx="minor">
              <a:schemeClr val="tx1"/>
            </a:fontRef>
          </p:style>
        </p:cxnSp>
        <p:cxnSp>
          <p:nvCxnSpPr>
            <p:cNvPr id="77" name="直接连接符 76">
              <a:extLst>
                <a:ext uri="{FF2B5EF4-FFF2-40B4-BE49-F238E27FC236}">
                  <a16:creationId xmlns:a16="http://schemas.microsoft.com/office/drawing/2014/main" id="{C2964F9E-B29B-4245-94A9-AAE6D7B3D063}"/>
                </a:ext>
              </a:extLst>
            </p:cNvPr>
            <p:cNvCxnSpPr>
              <a:stCxn id="69" idx="4"/>
              <a:endCxn id="70" idx="1"/>
            </p:cNvCxnSpPr>
            <p:nvPr/>
          </p:nvCxnSpPr>
          <p:spPr>
            <a:xfrm>
              <a:off x="7584002" y="1742583"/>
              <a:ext cx="146268" cy="480428"/>
            </a:xfrm>
            <a:prstGeom prst="line">
              <a:avLst/>
            </a:prstGeom>
          </p:spPr>
          <p:style>
            <a:lnRef idx="1">
              <a:schemeClr val="accent1"/>
            </a:lnRef>
            <a:fillRef idx="0">
              <a:schemeClr val="accent1"/>
            </a:fillRef>
            <a:effectRef idx="0">
              <a:schemeClr val="accent1"/>
            </a:effectRef>
            <a:fontRef idx="minor">
              <a:schemeClr val="tx1"/>
            </a:fontRef>
          </p:style>
        </p:cxnSp>
        <p:cxnSp>
          <p:nvCxnSpPr>
            <p:cNvPr id="78" name="直接连接符 77">
              <a:extLst>
                <a:ext uri="{FF2B5EF4-FFF2-40B4-BE49-F238E27FC236}">
                  <a16:creationId xmlns:a16="http://schemas.microsoft.com/office/drawing/2014/main" id="{212D5007-2B88-4B97-9EFC-3B490877A77C}"/>
                </a:ext>
              </a:extLst>
            </p:cNvPr>
            <p:cNvCxnSpPr>
              <a:stCxn id="69" idx="5"/>
              <a:endCxn id="71" idx="2"/>
            </p:cNvCxnSpPr>
            <p:nvPr/>
          </p:nvCxnSpPr>
          <p:spPr>
            <a:xfrm>
              <a:off x="7630518" y="1722080"/>
              <a:ext cx="781548" cy="550431"/>
            </a:xfrm>
            <a:prstGeom prst="line">
              <a:avLst/>
            </a:prstGeom>
          </p:spPr>
          <p:style>
            <a:lnRef idx="1">
              <a:schemeClr val="accent1"/>
            </a:lnRef>
            <a:fillRef idx="0">
              <a:schemeClr val="accent1"/>
            </a:fillRef>
            <a:effectRef idx="0">
              <a:schemeClr val="accent1"/>
            </a:effectRef>
            <a:fontRef idx="minor">
              <a:schemeClr val="tx1"/>
            </a:fontRef>
          </p:style>
        </p:cxnSp>
        <p:cxnSp>
          <p:nvCxnSpPr>
            <p:cNvPr id="79" name="直接连接符 78">
              <a:extLst>
                <a:ext uri="{FF2B5EF4-FFF2-40B4-BE49-F238E27FC236}">
                  <a16:creationId xmlns:a16="http://schemas.microsoft.com/office/drawing/2014/main" id="{515AD1DB-6361-4343-A4B4-3F41C9212CDC}"/>
                </a:ext>
              </a:extLst>
            </p:cNvPr>
            <p:cNvCxnSpPr>
              <a:stCxn id="69" idx="6"/>
              <a:endCxn id="72" idx="2"/>
            </p:cNvCxnSpPr>
            <p:nvPr/>
          </p:nvCxnSpPr>
          <p:spPr>
            <a:xfrm flipV="1">
              <a:off x="7649786" y="1672580"/>
              <a:ext cx="985574" cy="1"/>
            </a:xfrm>
            <a:prstGeom prst="line">
              <a:avLst/>
            </a:prstGeom>
          </p:spPr>
          <p:style>
            <a:lnRef idx="1">
              <a:schemeClr val="accent1"/>
            </a:lnRef>
            <a:fillRef idx="0">
              <a:schemeClr val="accent1"/>
            </a:fillRef>
            <a:effectRef idx="0">
              <a:schemeClr val="accent1"/>
            </a:effectRef>
            <a:fontRef idx="minor">
              <a:schemeClr val="tx1"/>
            </a:fontRef>
          </p:style>
        </p:cxnSp>
        <p:cxnSp>
          <p:nvCxnSpPr>
            <p:cNvPr id="80" name="直接连接符 79">
              <a:extLst>
                <a:ext uri="{FF2B5EF4-FFF2-40B4-BE49-F238E27FC236}">
                  <a16:creationId xmlns:a16="http://schemas.microsoft.com/office/drawing/2014/main" id="{AF0ED218-B7F6-49AC-A7C3-ED2F65883D1B}"/>
                </a:ext>
              </a:extLst>
            </p:cNvPr>
            <p:cNvCxnSpPr>
              <a:stCxn id="70" idx="7"/>
              <a:endCxn id="72" idx="3"/>
            </p:cNvCxnSpPr>
            <p:nvPr/>
          </p:nvCxnSpPr>
          <p:spPr>
            <a:xfrm flipV="1">
              <a:off x="7823302" y="1722079"/>
              <a:ext cx="831326" cy="500932"/>
            </a:xfrm>
            <a:prstGeom prst="line">
              <a:avLst/>
            </a:prstGeom>
          </p:spPr>
          <p:style>
            <a:lnRef idx="1">
              <a:schemeClr val="accent1"/>
            </a:lnRef>
            <a:fillRef idx="0">
              <a:schemeClr val="accent1"/>
            </a:fillRef>
            <a:effectRef idx="0">
              <a:schemeClr val="accent1"/>
            </a:effectRef>
            <a:fontRef idx="minor">
              <a:schemeClr val="tx1"/>
            </a:fontRef>
          </p:style>
        </p:cxnSp>
        <p:cxnSp>
          <p:nvCxnSpPr>
            <p:cNvPr id="81" name="直接连接符 80">
              <a:extLst>
                <a:ext uri="{FF2B5EF4-FFF2-40B4-BE49-F238E27FC236}">
                  <a16:creationId xmlns:a16="http://schemas.microsoft.com/office/drawing/2014/main" id="{3A57944B-31E1-4F01-A58A-6B7C6EAEE04D}"/>
                </a:ext>
              </a:extLst>
            </p:cNvPr>
            <p:cNvCxnSpPr>
              <a:stCxn id="70" idx="6"/>
              <a:endCxn id="71" idx="2"/>
            </p:cNvCxnSpPr>
            <p:nvPr/>
          </p:nvCxnSpPr>
          <p:spPr>
            <a:xfrm>
              <a:off x="7842570" y="2272511"/>
              <a:ext cx="56949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2" name="直接连接符 81">
              <a:extLst>
                <a:ext uri="{FF2B5EF4-FFF2-40B4-BE49-F238E27FC236}">
                  <a16:creationId xmlns:a16="http://schemas.microsoft.com/office/drawing/2014/main" id="{50F45AE2-8B32-462D-B700-6A9117A40B35}"/>
                </a:ext>
              </a:extLst>
            </p:cNvPr>
            <p:cNvCxnSpPr>
              <a:stCxn id="71" idx="7"/>
              <a:endCxn id="72" idx="4"/>
            </p:cNvCxnSpPr>
            <p:nvPr/>
          </p:nvCxnSpPr>
          <p:spPr>
            <a:xfrm flipV="1">
              <a:off x="8524366" y="1742582"/>
              <a:ext cx="176778" cy="480429"/>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83" name="组合 82">
            <a:extLst>
              <a:ext uri="{FF2B5EF4-FFF2-40B4-BE49-F238E27FC236}">
                <a16:creationId xmlns:a16="http://schemas.microsoft.com/office/drawing/2014/main" id="{B5093BD4-855F-4CD0-96B5-898C8B66D724}"/>
              </a:ext>
            </a:extLst>
          </p:cNvPr>
          <p:cNvGrpSpPr/>
          <p:nvPr/>
        </p:nvGrpSpPr>
        <p:grpSpPr>
          <a:xfrm>
            <a:off x="9678075" y="3213690"/>
            <a:ext cx="1889234" cy="1441972"/>
            <a:chOff x="9915190" y="1251654"/>
            <a:chExt cx="1418026" cy="1004685"/>
          </a:xfrm>
        </p:grpSpPr>
        <p:sp>
          <p:nvSpPr>
            <p:cNvPr id="84" name="椭圆 83">
              <a:extLst>
                <a:ext uri="{FF2B5EF4-FFF2-40B4-BE49-F238E27FC236}">
                  <a16:creationId xmlns:a16="http://schemas.microsoft.com/office/drawing/2014/main" id="{7914E633-AA71-4A6B-A84F-C0EAFC5AB381}"/>
                </a:ext>
              </a:extLst>
            </p:cNvPr>
            <p:cNvSpPr/>
            <p:nvPr/>
          </p:nvSpPr>
          <p:spPr>
            <a:xfrm>
              <a:off x="9919474" y="1269818"/>
              <a:ext cx="131568" cy="140005"/>
            </a:xfrm>
            <a:prstGeom prst="ellipse">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5" name="椭圆 84">
              <a:extLst>
                <a:ext uri="{FF2B5EF4-FFF2-40B4-BE49-F238E27FC236}">
                  <a16:creationId xmlns:a16="http://schemas.microsoft.com/office/drawing/2014/main" id="{3918F164-F3A2-4D8E-ADEA-F970E7866323}"/>
                </a:ext>
              </a:extLst>
            </p:cNvPr>
            <p:cNvSpPr/>
            <p:nvPr/>
          </p:nvSpPr>
          <p:spPr>
            <a:xfrm>
              <a:off x="9915190" y="2116334"/>
              <a:ext cx="131568" cy="140005"/>
            </a:xfrm>
            <a:prstGeom prst="ellipse">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椭圆 85">
              <a:extLst>
                <a:ext uri="{FF2B5EF4-FFF2-40B4-BE49-F238E27FC236}">
                  <a16:creationId xmlns:a16="http://schemas.microsoft.com/office/drawing/2014/main" id="{42ABB79B-B17A-46A3-92FF-51DB30BFD83B}"/>
                </a:ext>
              </a:extLst>
            </p:cNvPr>
            <p:cNvSpPr/>
            <p:nvPr/>
          </p:nvSpPr>
          <p:spPr>
            <a:xfrm>
              <a:off x="10554754" y="1251655"/>
              <a:ext cx="131568" cy="140005"/>
            </a:xfrm>
            <a:prstGeom prst="ellipse">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7" name="椭圆 86">
              <a:extLst>
                <a:ext uri="{FF2B5EF4-FFF2-40B4-BE49-F238E27FC236}">
                  <a16:creationId xmlns:a16="http://schemas.microsoft.com/office/drawing/2014/main" id="{AD15074F-5BA1-44E4-AFD1-A5A2EBDBB363}"/>
                </a:ext>
              </a:extLst>
            </p:cNvPr>
            <p:cNvSpPr/>
            <p:nvPr/>
          </p:nvSpPr>
          <p:spPr>
            <a:xfrm>
              <a:off x="10558679" y="2102365"/>
              <a:ext cx="131568" cy="140005"/>
            </a:xfrm>
            <a:prstGeom prst="ellipse">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8" name="椭圆 87">
              <a:extLst>
                <a:ext uri="{FF2B5EF4-FFF2-40B4-BE49-F238E27FC236}">
                  <a16:creationId xmlns:a16="http://schemas.microsoft.com/office/drawing/2014/main" id="{46E37940-AF81-48D6-9B52-9DD1B4262181}"/>
                </a:ext>
              </a:extLst>
            </p:cNvPr>
            <p:cNvSpPr/>
            <p:nvPr/>
          </p:nvSpPr>
          <p:spPr>
            <a:xfrm>
              <a:off x="11191620" y="1251654"/>
              <a:ext cx="131568" cy="140005"/>
            </a:xfrm>
            <a:prstGeom prst="ellipse">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9" name="椭圆 88">
              <a:extLst>
                <a:ext uri="{FF2B5EF4-FFF2-40B4-BE49-F238E27FC236}">
                  <a16:creationId xmlns:a16="http://schemas.microsoft.com/office/drawing/2014/main" id="{77EA2F52-2F04-4F50-914B-6878612BC3DD}"/>
                </a:ext>
              </a:extLst>
            </p:cNvPr>
            <p:cNvSpPr/>
            <p:nvPr/>
          </p:nvSpPr>
          <p:spPr>
            <a:xfrm>
              <a:off x="11201648" y="2102364"/>
              <a:ext cx="131568" cy="140005"/>
            </a:xfrm>
            <a:prstGeom prst="ellipse">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0" name="直接连接符 89">
              <a:extLst>
                <a:ext uri="{FF2B5EF4-FFF2-40B4-BE49-F238E27FC236}">
                  <a16:creationId xmlns:a16="http://schemas.microsoft.com/office/drawing/2014/main" id="{104BCFF4-47F3-4CF7-88D9-CBF75C04F630}"/>
                </a:ext>
              </a:extLst>
            </p:cNvPr>
            <p:cNvCxnSpPr>
              <a:endCxn id="85" idx="0"/>
            </p:cNvCxnSpPr>
            <p:nvPr/>
          </p:nvCxnSpPr>
          <p:spPr>
            <a:xfrm>
              <a:off x="9980974" y="1409823"/>
              <a:ext cx="0" cy="706511"/>
            </a:xfrm>
            <a:prstGeom prst="line">
              <a:avLst/>
            </a:prstGeom>
          </p:spPr>
          <p:style>
            <a:lnRef idx="1">
              <a:schemeClr val="accent1"/>
            </a:lnRef>
            <a:fillRef idx="0">
              <a:schemeClr val="accent1"/>
            </a:fillRef>
            <a:effectRef idx="0">
              <a:schemeClr val="accent1"/>
            </a:effectRef>
            <a:fontRef idx="minor">
              <a:schemeClr val="tx1"/>
            </a:fontRef>
          </p:style>
        </p:cxnSp>
        <p:cxnSp>
          <p:nvCxnSpPr>
            <p:cNvPr id="91" name="直接连接符 90">
              <a:extLst>
                <a:ext uri="{FF2B5EF4-FFF2-40B4-BE49-F238E27FC236}">
                  <a16:creationId xmlns:a16="http://schemas.microsoft.com/office/drawing/2014/main" id="{E5A89E3C-BF80-433A-BB7A-7D3E6C4EF73A}"/>
                </a:ext>
              </a:extLst>
            </p:cNvPr>
            <p:cNvCxnSpPr>
              <a:stCxn id="84" idx="4"/>
              <a:endCxn id="87" idx="1"/>
            </p:cNvCxnSpPr>
            <p:nvPr/>
          </p:nvCxnSpPr>
          <p:spPr>
            <a:xfrm>
              <a:off x="9985258" y="1409823"/>
              <a:ext cx="592689" cy="713045"/>
            </a:xfrm>
            <a:prstGeom prst="line">
              <a:avLst/>
            </a:prstGeom>
          </p:spPr>
          <p:style>
            <a:lnRef idx="1">
              <a:schemeClr val="accent1"/>
            </a:lnRef>
            <a:fillRef idx="0">
              <a:schemeClr val="accent1"/>
            </a:fillRef>
            <a:effectRef idx="0">
              <a:schemeClr val="accent1"/>
            </a:effectRef>
            <a:fontRef idx="minor">
              <a:schemeClr val="tx1"/>
            </a:fontRef>
          </p:style>
        </p:cxnSp>
        <p:cxnSp>
          <p:nvCxnSpPr>
            <p:cNvPr id="92" name="直接连接符 91">
              <a:extLst>
                <a:ext uri="{FF2B5EF4-FFF2-40B4-BE49-F238E27FC236}">
                  <a16:creationId xmlns:a16="http://schemas.microsoft.com/office/drawing/2014/main" id="{E079B065-40FF-4F72-B6E7-72B09B87D9AD}"/>
                </a:ext>
              </a:extLst>
            </p:cNvPr>
            <p:cNvCxnSpPr>
              <a:stCxn id="84" idx="4"/>
              <a:endCxn id="89" idx="1"/>
            </p:cNvCxnSpPr>
            <p:nvPr/>
          </p:nvCxnSpPr>
          <p:spPr>
            <a:xfrm>
              <a:off x="9985258" y="1409823"/>
              <a:ext cx="1235658" cy="713044"/>
            </a:xfrm>
            <a:prstGeom prst="line">
              <a:avLst/>
            </a:prstGeom>
          </p:spPr>
          <p:style>
            <a:lnRef idx="1">
              <a:schemeClr val="accent1"/>
            </a:lnRef>
            <a:fillRef idx="0">
              <a:schemeClr val="accent1"/>
            </a:fillRef>
            <a:effectRef idx="0">
              <a:schemeClr val="accent1"/>
            </a:effectRef>
            <a:fontRef idx="minor">
              <a:schemeClr val="tx1"/>
            </a:fontRef>
          </p:style>
        </p:cxnSp>
        <p:cxnSp>
          <p:nvCxnSpPr>
            <p:cNvPr id="93" name="直接连接符 92">
              <a:extLst>
                <a:ext uri="{FF2B5EF4-FFF2-40B4-BE49-F238E27FC236}">
                  <a16:creationId xmlns:a16="http://schemas.microsoft.com/office/drawing/2014/main" id="{E73EA0F9-E879-4F11-87F3-0A240CAF8A03}"/>
                </a:ext>
              </a:extLst>
            </p:cNvPr>
            <p:cNvCxnSpPr>
              <a:stCxn id="86" idx="4"/>
              <a:endCxn id="85" idx="0"/>
            </p:cNvCxnSpPr>
            <p:nvPr/>
          </p:nvCxnSpPr>
          <p:spPr>
            <a:xfrm flipH="1">
              <a:off x="9980974" y="1391660"/>
              <a:ext cx="639564" cy="724674"/>
            </a:xfrm>
            <a:prstGeom prst="line">
              <a:avLst/>
            </a:prstGeom>
          </p:spPr>
          <p:style>
            <a:lnRef idx="1">
              <a:schemeClr val="accent1"/>
            </a:lnRef>
            <a:fillRef idx="0">
              <a:schemeClr val="accent1"/>
            </a:fillRef>
            <a:effectRef idx="0">
              <a:schemeClr val="accent1"/>
            </a:effectRef>
            <a:fontRef idx="minor">
              <a:schemeClr val="tx1"/>
            </a:fontRef>
          </p:style>
        </p:cxnSp>
        <p:cxnSp>
          <p:nvCxnSpPr>
            <p:cNvPr id="94" name="直接连接符 93">
              <a:extLst>
                <a:ext uri="{FF2B5EF4-FFF2-40B4-BE49-F238E27FC236}">
                  <a16:creationId xmlns:a16="http://schemas.microsoft.com/office/drawing/2014/main" id="{1A5A8F3B-6B04-4FD3-B378-C4C881E3D6D2}"/>
                </a:ext>
              </a:extLst>
            </p:cNvPr>
            <p:cNvCxnSpPr>
              <a:stCxn id="86" idx="4"/>
              <a:endCxn id="87" idx="0"/>
            </p:cNvCxnSpPr>
            <p:nvPr/>
          </p:nvCxnSpPr>
          <p:spPr>
            <a:xfrm>
              <a:off x="10620538" y="1391660"/>
              <a:ext cx="3925" cy="710705"/>
            </a:xfrm>
            <a:prstGeom prst="line">
              <a:avLst/>
            </a:prstGeom>
          </p:spPr>
          <p:style>
            <a:lnRef idx="1">
              <a:schemeClr val="accent1"/>
            </a:lnRef>
            <a:fillRef idx="0">
              <a:schemeClr val="accent1"/>
            </a:fillRef>
            <a:effectRef idx="0">
              <a:schemeClr val="accent1"/>
            </a:effectRef>
            <a:fontRef idx="minor">
              <a:schemeClr val="tx1"/>
            </a:fontRef>
          </p:style>
        </p:cxnSp>
        <p:cxnSp>
          <p:nvCxnSpPr>
            <p:cNvPr id="95" name="直接连接符 94">
              <a:extLst>
                <a:ext uri="{FF2B5EF4-FFF2-40B4-BE49-F238E27FC236}">
                  <a16:creationId xmlns:a16="http://schemas.microsoft.com/office/drawing/2014/main" id="{775782C0-B2F7-4ECA-8049-2BBF3A25D9C2}"/>
                </a:ext>
              </a:extLst>
            </p:cNvPr>
            <p:cNvCxnSpPr>
              <a:stCxn id="86" idx="4"/>
              <a:endCxn id="89" idx="0"/>
            </p:cNvCxnSpPr>
            <p:nvPr/>
          </p:nvCxnSpPr>
          <p:spPr>
            <a:xfrm>
              <a:off x="10620538" y="1391660"/>
              <a:ext cx="646894" cy="710704"/>
            </a:xfrm>
            <a:prstGeom prst="line">
              <a:avLst/>
            </a:prstGeom>
          </p:spPr>
          <p:style>
            <a:lnRef idx="1">
              <a:schemeClr val="accent1"/>
            </a:lnRef>
            <a:fillRef idx="0">
              <a:schemeClr val="accent1"/>
            </a:fillRef>
            <a:effectRef idx="0">
              <a:schemeClr val="accent1"/>
            </a:effectRef>
            <a:fontRef idx="minor">
              <a:schemeClr val="tx1"/>
            </a:fontRef>
          </p:style>
        </p:cxnSp>
        <p:cxnSp>
          <p:nvCxnSpPr>
            <p:cNvPr id="96" name="直接连接符 95">
              <a:extLst>
                <a:ext uri="{FF2B5EF4-FFF2-40B4-BE49-F238E27FC236}">
                  <a16:creationId xmlns:a16="http://schemas.microsoft.com/office/drawing/2014/main" id="{BF7AC07F-94E3-4EFD-9F81-40B35DB862D4}"/>
                </a:ext>
              </a:extLst>
            </p:cNvPr>
            <p:cNvCxnSpPr>
              <a:stCxn id="88" idx="4"/>
              <a:endCxn id="85" idx="7"/>
            </p:cNvCxnSpPr>
            <p:nvPr/>
          </p:nvCxnSpPr>
          <p:spPr>
            <a:xfrm flipH="1">
              <a:off x="10027490" y="1391659"/>
              <a:ext cx="1229914" cy="745178"/>
            </a:xfrm>
            <a:prstGeom prst="line">
              <a:avLst/>
            </a:prstGeom>
          </p:spPr>
          <p:style>
            <a:lnRef idx="1">
              <a:schemeClr val="accent1"/>
            </a:lnRef>
            <a:fillRef idx="0">
              <a:schemeClr val="accent1"/>
            </a:fillRef>
            <a:effectRef idx="0">
              <a:schemeClr val="accent1"/>
            </a:effectRef>
            <a:fontRef idx="minor">
              <a:schemeClr val="tx1"/>
            </a:fontRef>
          </p:style>
        </p:cxnSp>
        <p:cxnSp>
          <p:nvCxnSpPr>
            <p:cNvPr id="97" name="直接连接符 96">
              <a:extLst>
                <a:ext uri="{FF2B5EF4-FFF2-40B4-BE49-F238E27FC236}">
                  <a16:creationId xmlns:a16="http://schemas.microsoft.com/office/drawing/2014/main" id="{03780338-DA49-480C-9CA6-AD0263D08193}"/>
                </a:ext>
              </a:extLst>
            </p:cNvPr>
            <p:cNvCxnSpPr>
              <a:stCxn id="88" idx="4"/>
              <a:endCxn id="87" idx="7"/>
            </p:cNvCxnSpPr>
            <p:nvPr/>
          </p:nvCxnSpPr>
          <p:spPr>
            <a:xfrm flipH="1">
              <a:off x="10670979" y="1391659"/>
              <a:ext cx="586425" cy="731209"/>
            </a:xfrm>
            <a:prstGeom prst="line">
              <a:avLst/>
            </a:prstGeom>
          </p:spPr>
          <p:style>
            <a:lnRef idx="1">
              <a:schemeClr val="accent1"/>
            </a:lnRef>
            <a:fillRef idx="0">
              <a:schemeClr val="accent1"/>
            </a:fillRef>
            <a:effectRef idx="0">
              <a:schemeClr val="accent1"/>
            </a:effectRef>
            <a:fontRef idx="minor">
              <a:schemeClr val="tx1"/>
            </a:fontRef>
          </p:style>
        </p:cxnSp>
        <p:cxnSp>
          <p:nvCxnSpPr>
            <p:cNvPr id="98" name="直接连接符 97">
              <a:extLst>
                <a:ext uri="{FF2B5EF4-FFF2-40B4-BE49-F238E27FC236}">
                  <a16:creationId xmlns:a16="http://schemas.microsoft.com/office/drawing/2014/main" id="{594E1989-A475-4644-A085-AFDACCFFDF52}"/>
                </a:ext>
              </a:extLst>
            </p:cNvPr>
            <p:cNvCxnSpPr>
              <a:stCxn id="88" idx="4"/>
              <a:endCxn id="89" idx="0"/>
            </p:cNvCxnSpPr>
            <p:nvPr/>
          </p:nvCxnSpPr>
          <p:spPr>
            <a:xfrm>
              <a:off x="11257404" y="1391659"/>
              <a:ext cx="10028" cy="710705"/>
            </a:xfrm>
            <a:prstGeom prst="line">
              <a:avLst/>
            </a:prstGeom>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99" name="文本框 98">
                <a:extLst>
                  <a:ext uri="{FF2B5EF4-FFF2-40B4-BE49-F238E27FC236}">
                    <a16:creationId xmlns:a16="http://schemas.microsoft.com/office/drawing/2014/main" id="{C3FFFD1E-A3C7-4924-AF39-1D74DABA7D36}"/>
                  </a:ext>
                </a:extLst>
              </p:cNvPr>
              <p:cNvSpPr txBox="1"/>
              <p:nvPr/>
            </p:nvSpPr>
            <p:spPr>
              <a:xfrm>
                <a:off x="7708162" y="4739257"/>
                <a:ext cx="1098866" cy="295594"/>
              </a:xfrm>
              <a:prstGeom prst="rect">
                <a:avLst/>
              </a:prstGeom>
              <a:noFill/>
            </p:spPr>
            <p:txBody>
              <a:bodyPr wrap="square" tIns="0" bIns="0" rtlCol="0">
                <a:spAutoFit/>
              </a:bodyPr>
              <a:lstStyle/>
              <a:p>
                <a14:m>
                  <m:oMath xmlns:m="http://schemas.openxmlformats.org/officeDocument/2006/math">
                    <m:sSup>
                      <m:sSupPr>
                        <m:ctrlPr>
                          <a:rPr lang="en-US" altLang="zh-CN" b="1" i="1" smtClean="0">
                            <a:solidFill>
                              <a:schemeClr val="accent2">
                                <a:lumMod val="50000"/>
                              </a:schemeClr>
                            </a:solidFill>
                            <a:latin typeface="Cambria Math" panose="02040503050406030204" pitchFamily="18" charset="0"/>
                          </a:rPr>
                        </m:ctrlPr>
                      </m:sSupPr>
                      <m:e>
                        <m:r>
                          <a:rPr lang="en-US" altLang="zh-CN" b="1" i="1">
                            <a:solidFill>
                              <a:schemeClr val="accent2">
                                <a:lumMod val="50000"/>
                              </a:schemeClr>
                            </a:solidFill>
                            <a:latin typeface="Cambria Math" panose="02040503050406030204" pitchFamily="18" charset="0"/>
                          </a:rPr>
                          <m:t>𝑲</m:t>
                        </m:r>
                      </m:e>
                      <m:sup>
                        <m:d>
                          <m:dPr>
                            <m:ctrlPr>
                              <a:rPr lang="en-US" altLang="zh-CN" b="1" i="1">
                                <a:solidFill>
                                  <a:schemeClr val="accent2">
                                    <a:lumMod val="50000"/>
                                  </a:schemeClr>
                                </a:solidFill>
                                <a:latin typeface="Cambria Math" panose="02040503050406030204" pitchFamily="18" charset="0"/>
                              </a:rPr>
                            </m:ctrlPr>
                          </m:dPr>
                          <m:e>
                            <m:r>
                              <a:rPr lang="en-US" altLang="zh-CN" b="1" i="1">
                                <a:solidFill>
                                  <a:schemeClr val="accent2">
                                    <a:lumMod val="50000"/>
                                  </a:schemeClr>
                                </a:solidFill>
                                <a:latin typeface="Cambria Math" panose="02040503050406030204" pitchFamily="18" charset="0"/>
                              </a:rPr>
                              <m:t>𝟏</m:t>
                            </m:r>
                          </m:e>
                        </m:d>
                      </m:sup>
                    </m:sSup>
                  </m:oMath>
                </a14:m>
                <a:r>
                  <a:rPr lang="zh-CN" altLang="en-US" b="1">
                    <a:solidFill>
                      <a:schemeClr val="accent2">
                        <a:lumMod val="50000"/>
                      </a:schemeClr>
                    </a:solidFill>
                  </a:rPr>
                  <a:t>型图</a:t>
                </a:r>
              </a:p>
            </p:txBody>
          </p:sp>
        </mc:Choice>
        <mc:Fallback xmlns="">
          <p:sp>
            <p:nvSpPr>
              <p:cNvPr id="99" name="文本框 98">
                <a:extLst>
                  <a:ext uri="{FF2B5EF4-FFF2-40B4-BE49-F238E27FC236}">
                    <a16:creationId xmlns:a16="http://schemas.microsoft.com/office/drawing/2014/main" id="{C3FFFD1E-A3C7-4924-AF39-1D74DABA7D36}"/>
                  </a:ext>
                </a:extLst>
              </p:cNvPr>
              <p:cNvSpPr txBox="1">
                <a:spLocks noRot="1" noChangeAspect="1" noMove="1" noResize="1" noEditPoints="1" noAdjustHandles="1" noChangeArrowheads="1" noChangeShapeType="1" noTextEdit="1"/>
              </p:cNvSpPr>
              <p:nvPr/>
            </p:nvSpPr>
            <p:spPr>
              <a:xfrm>
                <a:off x="7708162" y="4739257"/>
                <a:ext cx="1098866" cy="295594"/>
              </a:xfrm>
              <a:prstGeom prst="rect">
                <a:avLst/>
              </a:prstGeom>
              <a:blipFill>
                <a:blip r:embed="rId8"/>
                <a:stretch>
                  <a:fillRect t="-20408" r="-1657" b="-4693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0" name="文本框 99">
                <a:extLst>
                  <a:ext uri="{FF2B5EF4-FFF2-40B4-BE49-F238E27FC236}">
                    <a16:creationId xmlns:a16="http://schemas.microsoft.com/office/drawing/2014/main" id="{49FCF7E7-A888-490F-A77B-F3AB1DE4F117}"/>
                  </a:ext>
                </a:extLst>
              </p:cNvPr>
              <p:cNvSpPr txBox="1"/>
              <p:nvPr/>
            </p:nvSpPr>
            <p:spPr>
              <a:xfrm>
                <a:off x="10193563" y="4737639"/>
                <a:ext cx="1098866" cy="295594"/>
              </a:xfrm>
              <a:prstGeom prst="rect">
                <a:avLst/>
              </a:prstGeom>
              <a:noFill/>
            </p:spPr>
            <p:txBody>
              <a:bodyPr wrap="square" tIns="0" bIns="0" rtlCol="0">
                <a:spAutoFit/>
              </a:bodyPr>
              <a:lstStyle/>
              <a:p>
                <a14:m>
                  <m:oMath xmlns:m="http://schemas.openxmlformats.org/officeDocument/2006/math">
                    <m:sSup>
                      <m:sSupPr>
                        <m:ctrlPr>
                          <a:rPr lang="en-US" altLang="zh-CN" b="1" i="1" smtClean="0">
                            <a:solidFill>
                              <a:schemeClr val="accent2">
                                <a:lumMod val="50000"/>
                              </a:schemeClr>
                            </a:solidFill>
                            <a:latin typeface="Cambria Math" panose="02040503050406030204" pitchFamily="18" charset="0"/>
                          </a:rPr>
                        </m:ctrlPr>
                      </m:sSupPr>
                      <m:e>
                        <m:r>
                          <a:rPr lang="en-US" altLang="zh-CN" b="1" i="1">
                            <a:solidFill>
                              <a:schemeClr val="accent2">
                                <a:lumMod val="50000"/>
                              </a:schemeClr>
                            </a:solidFill>
                            <a:latin typeface="Cambria Math" panose="02040503050406030204" pitchFamily="18" charset="0"/>
                          </a:rPr>
                          <m:t>𝑲</m:t>
                        </m:r>
                      </m:e>
                      <m:sup>
                        <m:d>
                          <m:dPr>
                            <m:ctrlPr>
                              <a:rPr lang="en-US" altLang="zh-CN" b="1" i="1">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𝟐</m:t>
                            </m:r>
                          </m:e>
                        </m:d>
                      </m:sup>
                    </m:sSup>
                  </m:oMath>
                </a14:m>
                <a:r>
                  <a:rPr lang="zh-CN" altLang="en-US" b="1">
                    <a:solidFill>
                      <a:schemeClr val="accent2">
                        <a:lumMod val="50000"/>
                      </a:schemeClr>
                    </a:solidFill>
                  </a:rPr>
                  <a:t>型图</a:t>
                </a:r>
              </a:p>
            </p:txBody>
          </p:sp>
        </mc:Choice>
        <mc:Fallback xmlns="">
          <p:sp>
            <p:nvSpPr>
              <p:cNvPr id="100" name="文本框 99">
                <a:extLst>
                  <a:ext uri="{FF2B5EF4-FFF2-40B4-BE49-F238E27FC236}">
                    <a16:creationId xmlns:a16="http://schemas.microsoft.com/office/drawing/2014/main" id="{49FCF7E7-A888-490F-A77B-F3AB1DE4F117}"/>
                  </a:ext>
                </a:extLst>
              </p:cNvPr>
              <p:cNvSpPr txBox="1">
                <a:spLocks noRot="1" noChangeAspect="1" noMove="1" noResize="1" noEditPoints="1" noAdjustHandles="1" noChangeArrowheads="1" noChangeShapeType="1" noTextEdit="1"/>
              </p:cNvSpPr>
              <p:nvPr/>
            </p:nvSpPr>
            <p:spPr>
              <a:xfrm>
                <a:off x="10193563" y="4737639"/>
                <a:ext cx="1098866" cy="295594"/>
              </a:xfrm>
              <a:prstGeom prst="rect">
                <a:avLst/>
              </a:prstGeom>
              <a:blipFill>
                <a:blip r:embed="rId9"/>
                <a:stretch>
                  <a:fillRect t="-20408" r="-2222" b="-46939"/>
                </a:stretch>
              </a:blipFill>
            </p:spPr>
            <p:txBody>
              <a:bodyPr/>
              <a:lstStyle/>
              <a:p>
                <a:r>
                  <a:rPr lang="zh-CN" altLang="en-US">
                    <a:noFill/>
                  </a:rPr>
                  <a:t> </a:t>
                </a:r>
              </a:p>
            </p:txBody>
          </p:sp>
        </mc:Fallback>
      </mc:AlternateContent>
      <p:sp>
        <p:nvSpPr>
          <p:cNvPr id="101" name="椭圆 100">
            <a:extLst>
              <a:ext uri="{FF2B5EF4-FFF2-40B4-BE49-F238E27FC236}">
                <a16:creationId xmlns:a16="http://schemas.microsoft.com/office/drawing/2014/main" id="{2927AE85-B444-4F79-9DD0-92BA52A084C1}"/>
              </a:ext>
            </a:extLst>
          </p:cNvPr>
          <p:cNvSpPr/>
          <p:nvPr/>
        </p:nvSpPr>
        <p:spPr>
          <a:xfrm>
            <a:off x="7797618" y="3388661"/>
            <a:ext cx="131568" cy="140005"/>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椭圆 101">
            <a:extLst>
              <a:ext uri="{FF2B5EF4-FFF2-40B4-BE49-F238E27FC236}">
                <a16:creationId xmlns:a16="http://schemas.microsoft.com/office/drawing/2014/main" id="{7CFA7CB0-F9E3-4D0B-88A0-8F1D74FEADE6}"/>
              </a:ext>
            </a:extLst>
          </p:cNvPr>
          <p:cNvSpPr/>
          <p:nvPr/>
        </p:nvSpPr>
        <p:spPr>
          <a:xfrm>
            <a:off x="7994395" y="4081029"/>
            <a:ext cx="131568" cy="140005"/>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椭圆 102">
            <a:extLst>
              <a:ext uri="{FF2B5EF4-FFF2-40B4-BE49-F238E27FC236}">
                <a16:creationId xmlns:a16="http://schemas.microsoft.com/office/drawing/2014/main" id="{AAAC11EA-83EC-4E0A-9155-5EE84FB19E6A}"/>
              </a:ext>
            </a:extLst>
          </p:cNvPr>
          <p:cNvSpPr/>
          <p:nvPr/>
        </p:nvSpPr>
        <p:spPr>
          <a:xfrm>
            <a:off x="8824725" y="4073884"/>
            <a:ext cx="131568" cy="140005"/>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椭圆 103">
            <a:extLst>
              <a:ext uri="{FF2B5EF4-FFF2-40B4-BE49-F238E27FC236}">
                <a16:creationId xmlns:a16="http://schemas.microsoft.com/office/drawing/2014/main" id="{7671BF5B-2EEB-4C14-A834-5E93713E5485}"/>
              </a:ext>
            </a:extLst>
          </p:cNvPr>
          <p:cNvSpPr/>
          <p:nvPr/>
        </p:nvSpPr>
        <p:spPr>
          <a:xfrm>
            <a:off x="9722812" y="3864834"/>
            <a:ext cx="131568" cy="140005"/>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 name="椭圆 104">
            <a:extLst>
              <a:ext uri="{FF2B5EF4-FFF2-40B4-BE49-F238E27FC236}">
                <a16:creationId xmlns:a16="http://schemas.microsoft.com/office/drawing/2014/main" id="{CC52DFE7-3DC1-4768-AC89-6C0E7D0449B7}"/>
              </a:ext>
            </a:extLst>
          </p:cNvPr>
          <p:cNvSpPr/>
          <p:nvPr/>
        </p:nvSpPr>
        <p:spPr>
          <a:xfrm>
            <a:off x="10408818" y="4010553"/>
            <a:ext cx="131568" cy="140005"/>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椭圆 105">
            <a:extLst>
              <a:ext uri="{FF2B5EF4-FFF2-40B4-BE49-F238E27FC236}">
                <a16:creationId xmlns:a16="http://schemas.microsoft.com/office/drawing/2014/main" id="{F3953995-A02E-4511-B719-F66E5D052BDC}"/>
              </a:ext>
            </a:extLst>
          </p:cNvPr>
          <p:cNvSpPr/>
          <p:nvPr/>
        </p:nvSpPr>
        <p:spPr>
          <a:xfrm>
            <a:off x="11423062" y="3858538"/>
            <a:ext cx="131568" cy="140005"/>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文本框 106">
            <a:extLst>
              <a:ext uri="{FF2B5EF4-FFF2-40B4-BE49-F238E27FC236}">
                <a16:creationId xmlns:a16="http://schemas.microsoft.com/office/drawing/2014/main" id="{1014D37E-E66C-4BF6-B031-DD1323271F75}"/>
              </a:ext>
            </a:extLst>
          </p:cNvPr>
          <p:cNvSpPr txBox="1"/>
          <p:nvPr/>
        </p:nvSpPr>
        <p:spPr>
          <a:xfrm>
            <a:off x="7991361" y="5229955"/>
            <a:ext cx="3198409" cy="646331"/>
          </a:xfrm>
          <a:prstGeom prst="rect">
            <a:avLst/>
          </a:prstGeom>
          <a:solidFill>
            <a:schemeClr val="accent2">
              <a:lumMod val="20000"/>
              <a:lumOff val="80000"/>
            </a:schemeClr>
          </a:solidFill>
        </p:spPr>
        <p:txBody>
          <a:bodyPr wrap="square" rtlCol="0">
            <a:spAutoFit/>
          </a:bodyPr>
          <a:lstStyle/>
          <a:p>
            <a:r>
              <a:rPr lang="zh-CN" altLang="en-US" b="1">
                <a:solidFill>
                  <a:schemeClr val="accent2">
                    <a:lumMod val="50000"/>
                  </a:schemeClr>
                </a:solidFill>
              </a:rPr>
              <a:t>库拉图斯基定理并没有提供</a:t>
            </a:r>
            <a:r>
              <a:rPr lang="zh-CN" altLang="en-US" b="1">
                <a:solidFill>
                  <a:srgbClr val="0000FF"/>
                </a:solidFill>
              </a:rPr>
              <a:t>可行方法</a:t>
            </a:r>
            <a:r>
              <a:rPr lang="zh-CN" altLang="en-US" b="1">
                <a:solidFill>
                  <a:schemeClr val="accent2">
                    <a:lumMod val="50000"/>
                  </a:schemeClr>
                </a:solidFill>
              </a:rPr>
              <a:t>判别图是否是可平面的</a:t>
            </a:r>
          </a:p>
        </p:txBody>
      </p:sp>
      <p:sp>
        <p:nvSpPr>
          <p:cNvPr id="11" name="文本框 10">
            <a:extLst>
              <a:ext uri="{FF2B5EF4-FFF2-40B4-BE49-F238E27FC236}">
                <a16:creationId xmlns:a16="http://schemas.microsoft.com/office/drawing/2014/main" id="{4D755F2D-04BA-8577-AA24-63898A8745FE}"/>
              </a:ext>
            </a:extLst>
          </p:cNvPr>
          <p:cNvSpPr txBox="1"/>
          <p:nvPr/>
        </p:nvSpPr>
        <p:spPr>
          <a:xfrm>
            <a:off x="1813112" y="367316"/>
            <a:ext cx="1099981" cy="369332"/>
          </a:xfrm>
          <a:prstGeom prst="rect">
            <a:avLst/>
          </a:prstGeom>
          <a:noFill/>
        </p:spPr>
        <p:txBody>
          <a:bodyPr wrap="none" rtlCol="0">
            <a:spAutoFit/>
          </a:bodyPr>
          <a:lstStyle/>
          <a:p>
            <a:r>
              <a:rPr lang="zh-CN" altLang="en-US" b="1" dirty="0">
                <a:solidFill>
                  <a:srgbClr val="FF0000"/>
                </a:solidFill>
              </a:rPr>
              <a:t>简单了解</a:t>
            </a:r>
          </a:p>
        </p:txBody>
      </p:sp>
    </p:spTree>
    <p:extLst>
      <p:ext uri="{BB962C8B-B14F-4D97-AF65-F5344CB8AC3E}">
        <p14:creationId xmlns:p14="http://schemas.microsoft.com/office/powerpoint/2010/main" val="30785020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第三十一讲  一些特殊的图</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91646C22-BFA0-4263-ADC6-D1CE69BFEFF6}" type="slidenum">
              <a:rPr lang="en-US" altLang="zh-CN" smtClean="0">
                <a:latin typeface="Arial" panose="020B0604020202020204" pitchFamily="34" charset="0"/>
                <a:ea typeface="楷体" panose="02010609060101010101" pitchFamily="49" charset="-122"/>
                <a:cs typeface="Arial" panose="020B0604020202020204" pitchFamily="34" charset="0"/>
              </a:rPr>
              <a:t>16</a:t>
            </a:fld>
            <a:r>
              <a:rPr lang="en-US" altLang="zh-CN" dirty="0">
                <a:latin typeface="Arial" panose="020B0604020202020204" pitchFamily="34" charset="0"/>
                <a:ea typeface="楷体" panose="02010609060101010101" pitchFamily="49" charset="-122"/>
                <a:cs typeface="Arial" panose="020B0604020202020204" pitchFamily="34" charset="0"/>
              </a:rPr>
              <a:t>/32</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内容提要</a:t>
            </a:r>
          </a:p>
        </p:txBody>
      </p:sp>
      <p:sp>
        <p:nvSpPr>
          <p:cNvPr id="2" name="文本框 1">
            <a:extLst>
              <a:ext uri="{FF2B5EF4-FFF2-40B4-BE49-F238E27FC236}">
                <a16:creationId xmlns:a16="http://schemas.microsoft.com/office/drawing/2014/main" id="{85BA4EFF-667B-4FC6-8446-13B52B94D7E0}"/>
              </a:ext>
            </a:extLst>
          </p:cNvPr>
          <p:cNvSpPr txBox="1"/>
          <p:nvPr/>
        </p:nvSpPr>
        <p:spPr>
          <a:xfrm>
            <a:off x="1107232" y="1448010"/>
            <a:ext cx="4733731" cy="3547125"/>
          </a:xfrm>
          <a:prstGeom prst="rect">
            <a:avLst/>
          </a:prstGeom>
          <a:noFill/>
        </p:spPr>
        <p:txBody>
          <a:bodyPr wrap="square" rtlCol="0">
            <a:spAutoFit/>
          </a:bodyPr>
          <a:lstStyle/>
          <a:p>
            <a:pPr>
              <a:lnSpc>
                <a:spcPct val="250000"/>
              </a:lnSpc>
            </a:pPr>
            <a:r>
              <a:rPr lang="zh-CN" altLang="en-US" sz="3200" b="1">
                <a:solidFill>
                  <a:schemeClr val="bg2">
                    <a:lumMod val="90000"/>
                  </a:schemeClr>
                </a:solidFill>
                <a:latin typeface="仿宋" panose="02010609060101010101" pitchFamily="49" charset="-122"/>
                <a:ea typeface="仿宋" panose="02010609060101010101" pitchFamily="49" charset="-122"/>
              </a:rPr>
              <a:t>平面图</a:t>
            </a:r>
            <a:endParaRPr lang="en-US" altLang="zh-CN" sz="3200" b="1">
              <a:solidFill>
                <a:schemeClr val="bg2">
                  <a:lumMod val="90000"/>
                </a:schemeClr>
              </a:solidFill>
              <a:latin typeface="仿宋" panose="02010609060101010101" pitchFamily="49" charset="-122"/>
              <a:ea typeface="仿宋" panose="02010609060101010101" pitchFamily="49" charset="-122"/>
            </a:endParaRPr>
          </a:p>
          <a:p>
            <a:pPr>
              <a:lnSpc>
                <a:spcPct val="250000"/>
              </a:lnSpc>
            </a:pPr>
            <a:r>
              <a:rPr lang="zh-CN" altLang="en-US" sz="3200" b="1">
                <a:solidFill>
                  <a:schemeClr val="accent6">
                    <a:lumMod val="50000"/>
                  </a:schemeClr>
                </a:solidFill>
                <a:latin typeface="仿宋" panose="02010609060101010101" pitchFamily="49" charset="-122"/>
                <a:ea typeface="仿宋" panose="02010609060101010101" pitchFamily="49" charset="-122"/>
              </a:rPr>
              <a:t>欧拉图</a:t>
            </a:r>
            <a:endParaRPr lang="en-US" altLang="zh-CN" sz="3200" b="1">
              <a:solidFill>
                <a:schemeClr val="accent6">
                  <a:lumMod val="50000"/>
                </a:schemeClr>
              </a:solidFill>
              <a:latin typeface="仿宋" panose="02010609060101010101" pitchFamily="49" charset="-122"/>
              <a:ea typeface="仿宋" panose="02010609060101010101" pitchFamily="49" charset="-122"/>
            </a:endParaRPr>
          </a:p>
          <a:p>
            <a:pPr>
              <a:lnSpc>
                <a:spcPct val="250000"/>
              </a:lnSpc>
            </a:pPr>
            <a:r>
              <a:rPr lang="zh-CN" altLang="en-US" sz="3200" b="1">
                <a:solidFill>
                  <a:schemeClr val="bg2">
                    <a:lumMod val="90000"/>
                  </a:schemeClr>
                </a:solidFill>
                <a:latin typeface="仿宋" panose="02010609060101010101" pitchFamily="49" charset="-122"/>
                <a:ea typeface="仿宋" panose="02010609060101010101" pitchFamily="49" charset="-122"/>
              </a:rPr>
              <a:t>哈密顿图</a:t>
            </a:r>
            <a:endParaRPr lang="en-US" altLang="zh-CN" sz="3200" b="1">
              <a:solidFill>
                <a:schemeClr val="bg2">
                  <a:lumMod val="90000"/>
                </a:schemeClr>
              </a:solidFill>
              <a:latin typeface="仿宋" panose="02010609060101010101" pitchFamily="49" charset="-122"/>
              <a:ea typeface="仿宋" panose="02010609060101010101" pitchFamily="49" charset="-122"/>
            </a:endParaRPr>
          </a:p>
        </p:txBody>
      </p:sp>
    </p:spTree>
    <p:extLst>
      <p:ext uri="{BB962C8B-B14F-4D97-AF65-F5344CB8AC3E}">
        <p14:creationId xmlns:p14="http://schemas.microsoft.com/office/powerpoint/2010/main" val="30376545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欧拉图</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第三十一讲  一些特殊的图</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17</a:t>
            </a:fld>
            <a:r>
              <a:rPr lang="en-US" altLang="zh-CN" dirty="0">
                <a:latin typeface="Arial" panose="020B0604020202020204" pitchFamily="34" charset="0"/>
                <a:ea typeface="楷体" panose="02010609060101010101" pitchFamily="49" charset="-122"/>
                <a:cs typeface="Arial" panose="020B0604020202020204" pitchFamily="34" charset="0"/>
              </a:rPr>
              <a:t>/32</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欧拉图的定义</a:t>
            </a:r>
          </a:p>
        </p:txBody>
      </p:sp>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F1A52873-E96B-4626-8FD9-22B579F6EEBB}"/>
                  </a:ext>
                </a:extLst>
              </p:cNvPr>
              <p:cNvSpPr/>
              <p:nvPr/>
            </p:nvSpPr>
            <p:spPr>
              <a:xfrm>
                <a:off x="1139159" y="2840935"/>
                <a:ext cx="9913679" cy="2862322"/>
              </a:xfrm>
              <a:prstGeom prst="rect">
                <a:avLst/>
              </a:prstGeom>
              <a:solidFill>
                <a:schemeClr val="accent2">
                  <a:lumMod val="20000"/>
                  <a:lumOff val="80000"/>
                  <a:alpha val="50000"/>
                </a:schemeClr>
              </a:solidFill>
            </p:spPr>
            <p:txBody>
              <a:bodyPr wrap="square">
                <a:spAutoFit/>
              </a:bodyPr>
              <a:lstStyle/>
              <a:p>
                <a:pPr algn="ctr">
                  <a:spcBef>
                    <a:spcPts val="600"/>
                  </a:spcBef>
                  <a:spcAft>
                    <a:spcPts val="1200"/>
                  </a:spcAft>
                </a:pPr>
                <a:r>
                  <a:rPr lang="zh-CN" altLang="en-US" sz="2400" b="1">
                    <a:solidFill>
                      <a:srgbClr val="C00000"/>
                    </a:solidFill>
                  </a:rPr>
                  <a:t>欧拉图</a:t>
                </a:r>
                <a:r>
                  <a:rPr lang="en-US" altLang="zh-CN" sz="2400" b="1">
                    <a:solidFill>
                      <a:srgbClr val="C00000"/>
                    </a:solidFill>
                  </a:rPr>
                  <a:t>(Euler graph)</a:t>
                </a:r>
                <a:r>
                  <a:rPr lang="zh-CN" altLang="en-US" sz="2400" b="1">
                    <a:solidFill>
                      <a:srgbClr val="C00000"/>
                    </a:solidFill>
                  </a:rPr>
                  <a:t>与半欧拉图</a:t>
                </a:r>
                <a:r>
                  <a:rPr lang="en-US" altLang="zh-CN" sz="2400" b="1">
                    <a:solidFill>
                      <a:srgbClr val="C00000"/>
                    </a:solidFill>
                  </a:rPr>
                  <a:t>(semi-Euler graph)</a:t>
                </a:r>
              </a:p>
              <a:p>
                <a:pPr marL="342900" indent="-342900">
                  <a:spcBef>
                    <a:spcPts val="600"/>
                  </a:spcBef>
                  <a:spcAft>
                    <a:spcPts val="1200"/>
                  </a:spcAft>
                  <a:buFont typeface="Arial" panose="020B0604020202020204" pitchFamily="34" charset="0"/>
                  <a:buChar char="•"/>
                </a:pPr>
                <a:r>
                  <a:rPr lang="zh-CN" altLang="en-US" sz="2400" b="1">
                    <a:solidFill>
                      <a:srgbClr val="002060"/>
                    </a:solidFill>
                    <a:latin typeface="楷体" panose="02010609060101010101" pitchFamily="49" charset="-122"/>
                    <a:ea typeface="楷体" panose="02010609060101010101" pitchFamily="49" charset="-122"/>
                  </a:rPr>
                  <a:t>无向连通图</a:t>
                </a:r>
                <a14:m>
                  <m:oMath xmlns:m="http://schemas.openxmlformats.org/officeDocument/2006/math">
                    <m:r>
                      <a:rPr lang="en-US" altLang="zh-CN" sz="2400" b="1" i="1" smtClean="0">
                        <a:solidFill>
                          <a:srgbClr val="002060"/>
                        </a:solidFill>
                        <a:latin typeface="Cambria Math" panose="02040503050406030204" pitchFamily="18" charset="0"/>
                        <a:ea typeface="楷体" panose="02010609060101010101" pitchFamily="49" charset="-122"/>
                      </a:rPr>
                      <m:t>𝑮</m:t>
                    </m:r>
                    <m:r>
                      <a:rPr lang="en-US" altLang="zh-CN" sz="2400" b="1" i="1" smtClean="0">
                        <a:solidFill>
                          <a:srgbClr val="002060"/>
                        </a:solidFill>
                        <a:latin typeface="Cambria Math" panose="02040503050406030204" pitchFamily="18" charset="0"/>
                        <a:ea typeface="楷体" panose="02010609060101010101" pitchFamily="49" charset="-122"/>
                      </a:rPr>
                      <m:t>=(</m:t>
                    </m:r>
                    <m:r>
                      <a:rPr lang="en-US" altLang="zh-CN" sz="2400" b="1" i="1" smtClean="0">
                        <a:solidFill>
                          <a:srgbClr val="002060"/>
                        </a:solidFill>
                        <a:latin typeface="Cambria Math" panose="02040503050406030204" pitchFamily="18" charset="0"/>
                        <a:ea typeface="楷体" panose="02010609060101010101" pitchFamily="49" charset="-122"/>
                      </a:rPr>
                      <m:t>𝑽</m:t>
                    </m:r>
                    <m:r>
                      <a:rPr lang="en-US" altLang="zh-CN" sz="2400" b="1" i="1" smtClean="0">
                        <a:solidFill>
                          <a:srgbClr val="002060"/>
                        </a:solidFill>
                        <a:latin typeface="Cambria Math" panose="02040503050406030204" pitchFamily="18" charset="0"/>
                        <a:ea typeface="楷体" panose="02010609060101010101" pitchFamily="49" charset="-122"/>
                      </a:rPr>
                      <m:t>, </m:t>
                    </m:r>
                    <m:r>
                      <a:rPr lang="en-US" altLang="zh-CN" sz="2400" b="1" i="1" smtClean="0">
                        <a:solidFill>
                          <a:srgbClr val="002060"/>
                        </a:solidFill>
                        <a:latin typeface="Cambria Math" panose="02040503050406030204" pitchFamily="18" charset="0"/>
                        <a:ea typeface="楷体" panose="02010609060101010101" pitchFamily="49" charset="-122"/>
                      </a:rPr>
                      <m:t>𝑬</m:t>
                    </m:r>
                    <m:r>
                      <a:rPr lang="en-US" altLang="zh-CN" sz="2400" b="1" i="1" smtClean="0">
                        <a:solidFill>
                          <a:srgbClr val="002060"/>
                        </a:solidFill>
                        <a:latin typeface="Cambria Math" panose="02040503050406030204" pitchFamily="18" charset="0"/>
                        <a:ea typeface="楷体" panose="02010609060101010101" pitchFamily="49" charset="-122"/>
                      </a:rPr>
                      <m:t>)</m:t>
                    </m:r>
                  </m:oMath>
                </a14:m>
                <a:r>
                  <a:rPr lang="zh-CN" altLang="en-US" sz="2400" b="1">
                    <a:solidFill>
                      <a:srgbClr val="002060"/>
                    </a:solidFill>
                    <a:latin typeface="楷体" panose="02010609060101010101" pitchFamily="49" charset="-122"/>
                    <a:ea typeface="楷体" panose="02010609060101010101" pitchFamily="49" charset="-122"/>
                  </a:rPr>
                  <a:t>的一条经过所有边的简单回路称为</a:t>
                </a:r>
                <a14:m>
                  <m:oMath xmlns:m="http://schemas.openxmlformats.org/officeDocument/2006/math">
                    <m:r>
                      <a:rPr lang="en-US" altLang="zh-CN" sz="2400" b="1" i="1" smtClean="0">
                        <a:solidFill>
                          <a:srgbClr val="002060"/>
                        </a:solidFill>
                        <a:latin typeface="Cambria Math" panose="02040503050406030204" pitchFamily="18" charset="0"/>
                        <a:ea typeface="楷体" panose="02010609060101010101" pitchFamily="49" charset="-122"/>
                      </a:rPr>
                      <m:t>𝑮</m:t>
                    </m:r>
                  </m:oMath>
                </a14:m>
                <a:r>
                  <a:rPr lang="zh-CN" altLang="en-US" sz="2400" b="1">
                    <a:solidFill>
                      <a:srgbClr val="002060"/>
                    </a:solidFill>
                    <a:latin typeface="楷体" panose="02010609060101010101" pitchFamily="49" charset="-122"/>
                    <a:ea typeface="楷体" panose="02010609060101010101" pitchFamily="49" charset="-122"/>
                  </a:rPr>
                  <a:t>的</a:t>
                </a:r>
                <a:r>
                  <a:rPr lang="zh-CN" altLang="en-US" sz="2400" b="1">
                    <a:solidFill>
                      <a:srgbClr val="C00000"/>
                    </a:solidFill>
                    <a:latin typeface="+mn-ea"/>
                  </a:rPr>
                  <a:t>欧拉回路</a:t>
                </a:r>
              </a:p>
              <a:p>
                <a:pPr marL="800100" lvl="1" indent="-342900">
                  <a:spcBef>
                    <a:spcPts val="600"/>
                  </a:spcBef>
                  <a:spcAft>
                    <a:spcPts val="1200"/>
                  </a:spcAft>
                  <a:buFont typeface="Arial" panose="020B0604020202020204" pitchFamily="34" charset="0"/>
                  <a:buChar char="•"/>
                </a:pPr>
                <a14:m>
                  <m:oMath xmlns:m="http://schemas.openxmlformats.org/officeDocument/2006/math">
                    <m:r>
                      <a:rPr lang="en-US" altLang="zh-CN" sz="2400" b="1" i="1" smtClean="0">
                        <a:solidFill>
                          <a:schemeClr val="accent6">
                            <a:lumMod val="50000"/>
                          </a:schemeClr>
                        </a:solidFill>
                        <a:latin typeface="Cambria Math" panose="02040503050406030204" pitchFamily="18" charset="0"/>
                      </a:rPr>
                      <m:t>𝑮</m:t>
                    </m:r>
                  </m:oMath>
                </a14:m>
                <a:r>
                  <a:rPr lang="zh-CN" altLang="en-US" sz="2400" b="1">
                    <a:solidFill>
                      <a:schemeClr val="accent6">
                        <a:lumMod val="50000"/>
                      </a:schemeClr>
                    </a:solidFill>
                  </a:rPr>
                  <a:t>的一条经过所有边的简单通路称为</a:t>
                </a:r>
                <a:r>
                  <a:rPr lang="zh-CN" altLang="en-US" sz="2400" b="1">
                    <a:solidFill>
                      <a:srgbClr val="C00000"/>
                    </a:solidFill>
                    <a:latin typeface="+mn-ea"/>
                  </a:rPr>
                  <a:t>欧拉通路</a:t>
                </a:r>
                <a:r>
                  <a:rPr lang="en-US" altLang="zh-CN" sz="2400" b="1">
                    <a:solidFill>
                      <a:schemeClr val="accent6">
                        <a:lumMod val="50000"/>
                      </a:schemeClr>
                    </a:solidFill>
                  </a:rPr>
                  <a:t>(Euler path)</a:t>
                </a:r>
              </a:p>
              <a:p>
                <a:pPr marL="342900" indent="-342900">
                  <a:spcBef>
                    <a:spcPts val="600"/>
                  </a:spcBef>
                  <a:spcAft>
                    <a:spcPts val="1200"/>
                  </a:spcAft>
                  <a:buFont typeface="Arial" panose="020B0604020202020204" pitchFamily="34" charset="0"/>
                  <a:buChar char="•"/>
                </a:pPr>
                <a:r>
                  <a:rPr lang="zh-CN" altLang="en-US" sz="2400" b="1">
                    <a:solidFill>
                      <a:srgbClr val="002060"/>
                    </a:solidFill>
                    <a:latin typeface="楷体" panose="02010609060101010101" pitchFamily="49" charset="-122"/>
                    <a:ea typeface="楷体" panose="02010609060101010101" pitchFamily="49" charset="-122"/>
                  </a:rPr>
                  <a:t>含有欧拉回路的图称为</a:t>
                </a:r>
                <a:r>
                  <a:rPr lang="zh-CN" altLang="en-US" sz="2400" b="1">
                    <a:solidFill>
                      <a:srgbClr val="C00000"/>
                    </a:solidFill>
                    <a:latin typeface="+mn-ea"/>
                  </a:rPr>
                  <a:t>欧拉图</a:t>
                </a:r>
              </a:p>
              <a:p>
                <a:pPr marL="800100" lvl="1" indent="-342900">
                  <a:spcBef>
                    <a:spcPts val="600"/>
                  </a:spcBef>
                  <a:spcAft>
                    <a:spcPts val="1200"/>
                  </a:spcAft>
                  <a:buFont typeface="Arial" panose="020B0604020202020204" pitchFamily="34" charset="0"/>
                  <a:buChar char="•"/>
                </a:pPr>
                <a:r>
                  <a:rPr lang="zh-CN" altLang="en-US" sz="2400" b="1">
                    <a:solidFill>
                      <a:schemeClr val="accent6">
                        <a:lumMod val="50000"/>
                      </a:schemeClr>
                    </a:solidFill>
                  </a:rPr>
                  <a:t>含有欧拉通路的图称为</a:t>
                </a:r>
                <a:r>
                  <a:rPr lang="zh-CN" altLang="en-US" sz="2400" b="1">
                    <a:solidFill>
                      <a:srgbClr val="C00000"/>
                    </a:solidFill>
                    <a:latin typeface="+mn-ea"/>
                  </a:rPr>
                  <a:t>半欧拉图</a:t>
                </a:r>
                <a:r>
                  <a:rPr lang="en-US" altLang="zh-CN" sz="2400" b="1">
                    <a:solidFill>
                      <a:schemeClr val="accent6">
                        <a:lumMod val="50000"/>
                      </a:schemeClr>
                    </a:solidFill>
                  </a:rPr>
                  <a:t>(semi-Euler graph)</a:t>
                </a:r>
              </a:p>
            </p:txBody>
          </p:sp>
        </mc:Choice>
        <mc:Fallback xmlns="">
          <p:sp>
            <p:nvSpPr>
              <p:cNvPr id="2" name="矩形 1">
                <a:extLst>
                  <a:ext uri="{FF2B5EF4-FFF2-40B4-BE49-F238E27FC236}">
                    <a16:creationId xmlns:a16="http://schemas.microsoft.com/office/drawing/2014/main" id="{F1A52873-E96B-4626-8FD9-22B579F6EEBB}"/>
                  </a:ext>
                </a:extLst>
              </p:cNvPr>
              <p:cNvSpPr>
                <a:spLocks noRot="1" noChangeAspect="1" noMove="1" noResize="1" noEditPoints="1" noAdjustHandles="1" noChangeArrowheads="1" noChangeShapeType="1" noTextEdit="1"/>
              </p:cNvSpPr>
              <p:nvPr/>
            </p:nvSpPr>
            <p:spPr>
              <a:xfrm>
                <a:off x="1139159" y="2840935"/>
                <a:ext cx="9913679" cy="2862322"/>
              </a:xfrm>
              <a:prstGeom prst="rect">
                <a:avLst/>
              </a:prstGeom>
              <a:blipFill>
                <a:blip r:embed="rId2"/>
                <a:stretch>
                  <a:fillRect l="-861" t="-1489" b="-4043"/>
                </a:stretch>
              </a:blipFill>
            </p:spPr>
            <p:txBody>
              <a:bodyPr/>
              <a:lstStyle/>
              <a:p>
                <a:r>
                  <a:rPr lang="zh-CN" altLang="en-US">
                    <a:noFill/>
                  </a:rPr>
                  <a:t> </a:t>
                </a:r>
              </a:p>
            </p:txBody>
          </p:sp>
        </mc:Fallback>
      </mc:AlternateContent>
      <p:sp>
        <p:nvSpPr>
          <p:cNvPr id="3" name="文本框 2">
            <a:extLst>
              <a:ext uri="{FF2B5EF4-FFF2-40B4-BE49-F238E27FC236}">
                <a16:creationId xmlns:a16="http://schemas.microsoft.com/office/drawing/2014/main" id="{36B095BE-C737-4306-8417-058AA06C1E6A}"/>
              </a:ext>
            </a:extLst>
          </p:cNvPr>
          <p:cNvSpPr txBox="1"/>
          <p:nvPr/>
        </p:nvSpPr>
        <p:spPr>
          <a:xfrm>
            <a:off x="1139159" y="1502025"/>
            <a:ext cx="8565103" cy="984885"/>
          </a:xfrm>
          <a:prstGeom prst="rect">
            <a:avLst/>
          </a:prstGeom>
          <a:solidFill>
            <a:schemeClr val="accent5">
              <a:lumMod val="20000"/>
              <a:lumOff val="80000"/>
              <a:alpha val="50000"/>
            </a:schemeClr>
          </a:solidFill>
        </p:spPr>
        <p:txBody>
          <a:bodyPr wrap="square" rtlCol="0">
            <a:spAutoFit/>
          </a:bodyPr>
          <a:lstStyle/>
          <a:p>
            <a:pPr>
              <a:spcBef>
                <a:spcPts val="600"/>
              </a:spcBef>
              <a:spcAft>
                <a:spcPts val="600"/>
              </a:spcAft>
            </a:pPr>
            <a:r>
              <a:rPr lang="zh-CN" altLang="en-US" sz="2400" b="1" dirty="0">
                <a:solidFill>
                  <a:srgbClr val="002060"/>
                </a:solidFill>
                <a:latin typeface="楷体" panose="02010609060101010101" pitchFamily="49" charset="-122"/>
                <a:ea typeface="楷体" panose="02010609060101010101" pitchFamily="49" charset="-122"/>
              </a:rPr>
              <a:t>欧拉图来源于“</a:t>
            </a:r>
            <a:r>
              <a:rPr lang="zh-CN" altLang="en-US" sz="2400" b="1" dirty="0">
                <a:solidFill>
                  <a:srgbClr val="0000FF"/>
                </a:solidFill>
                <a:latin typeface="楷体" panose="02010609060101010101" pitchFamily="49" charset="-122"/>
                <a:ea typeface="楷体" panose="02010609060101010101" pitchFamily="49" charset="-122"/>
              </a:rPr>
              <a:t>哥尼斯堡七桥问题</a:t>
            </a:r>
            <a:r>
              <a:rPr lang="zh-CN" altLang="en-US" sz="2400" b="1" dirty="0">
                <a:solidFill>
                  <a:srgbClr val="002060"/>
                </a:solidFill>
                <a:latin typeface="楷体" panose="02010609060101010101" pitchFamily="49" charset="-122"/>
                <a:ea typeface="楷体" panose="02010609060101010101" pitchFamily="49" charset="-122"/>
              </a:rPr>
              <a:t>”，是图论研究的发源之一</a:t>
            </a:r>
          </a:p>
          <a:p>
            <a:pPr marL="342900" indent="-342900">
              <a:spcBef>
                <a:spcPts val="600"/>
              </a:spcBef>
              <a:spcAft>
                <a:spcPts val="600"/>
              </a:spcAft>
              <a:buFont typeface="Arial" panose="020B0604020202020204" pitchFamily="34" charset="0"/>
              <a:buChar char="•"/>
            </a:pPr>
            <a:r>
              <a:rPr lang="zh-CN" altLang="en-US" sz="2400" b="1" dirty="0">
                <a:solidFill>
                  <a:schemeClr val="accent6">
                    <a:lumMod val="50000"/>
                  </a:schemeClr>
                </a:solidFill>
              </a:rPr>
              <a:t>欧拉对这个问题的研究使得人们引入了欧拉图的概念</a:t>
            </a:r>
          </a:p>
        </p:txBody>
      </p:sp>
    </p:spTree>
    <p:extLst>
      <p:ext uri="{BB962C8B-B14F-4D97-AF65-F5344CB8AC3E}">
        <p14:creationId xmlns:p14="http://schemas.microsoft.com/office/powerpoint/2010/main" val="11365190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欧拉图</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第三十一讲  一些特殊的图</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18</a:t>
            </a:fld>
            <a:r>
              <a:rPr lang="en-US" altLang="zh-CN" dirty="0">
                <a:latin typeface="Arial" panose="020B0604020202020204" pitchFamily="34" charset="0"/>
                <a:ea typeface="楷体" panose="02010609060101010101" pitchFamily="49" charset="-122"/>
                <a:cs typeface="Arial" panose="020B0604020202020204" pitchFamily="34" charset="0"/>
              </a:rPr>
              <a:t>/32</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欧拉图的充要条件</a:t>
            </a:r>
          </a:p>
        </p:txBody>
      </p:sp>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89A28BDF-14C2-4CBE-ADB3-B5E490928569}"/>
                  </a:ext>
                </a:extLst>
              </p:cNvPr>
              <p:cNvSpPr/>
              <p:nvPr/>
            </p:nvSpPr>
            <p:spPr>
              <a:xfrm>
                <a:off x="1636928" y="1301316"/>
                <a:ext cx="8918141" cy="1384995"/>
              </a:xfrm>
              <a:prstGeom prst="rect">
                <a:avLst/>
              </a:prstGeom>
              <a:solidFill>
                <a:schemeClr val="accent5">
                  <a:lumMod val="20000"/>
                  <a:lumOff val="80000"/>
                  <a:alpha val="50000"/>
                </a:schemeClr>
              </a:solidFill>
            </p:spPr>
            <p:txBody>
              <a:bodyPr wrap="square">
                <a:spAutoFit/>
              </a:bodyPr>
              <a:lstStyle/>
              <a:p>
                <a:pPr algn="ctr">
                  <a:spcBef>
                    <a:spcPts val="600"/>
                  </a:spcBef>
                  <a:spcAft>
                    <a:spcPts val="600"/>
                  </a:spcAft>
                </a:pPr>
                <a:r>
                  <a:rPr lang="zh-CN" altLang="en-US" sz="2400" b="1">
                    <a:solidFill>
                      <a:srgbClr val="C00000"/>
                    </a:solidFill>
                  </a:rPr>
                  <a:t>欧拉图的充要条件</a:t>
                </a:r>
              </a:p>
              <a:p>
                <a:pPr>
                  <a:spcBef>
                    <a:spcPts val="600"/>
                  </a:spcBef>
                  <a:spcAft>
                    <a:spcPts val="600"/>
                  </a:spcAft>
                </a:pPr>
                <a:r>
                  <a:rPr lang="zh-CN" altLang="en-US" sz="2000" b="1">
                    <a:solidFill>
                      <a:srgbClr val="002060"/>
                    </a:solidFill>
                    <a:latin typeface="楷体" panose="02010609060101010101" pitchFamily="49" charset="-122"/>
                    <a:ea typeface="楷体" panose="02010609060101010101" pitchFamily="49" charset="-122"/>
                  </a:rPr>
                  <a:t>无向连通图</a:t>
                </a:r>
                <a14:m>
                  <m:oMath xmlns:m="http://schemas.openxmlformats.org/officeDocument/2006/math">
                    <m:r>
                      <a:rPr lang="en-US" altLang="zh-CN" sz="2000" b="1" i="1" smtClean="0">
                        <a:solidFill>
                          <a:srgbClr val="002060"/>
                        </a:solidFill>
                        <a:latin typeface="Cambria Math" panose="02040503050406030204" pitchFamily="18" charset="0"/>
                      </a:rPr>
                      <m:t>𝑮</m:t>
                    </m:r>
                    <m:r>
                      <a:rPr lang="en-US" altLang="zh-CN" sz="2000" b="1" i="1" smtClean="0">
                        <a:solidFill>
                          <a:srgbClr val="002060"/>
                        </a:solidFill>
                        <a:latin typeface="Cambria Math" panose="02040503050406030204" pitchFamily="18" charset="0"/>
                      </a:rPr>
                      <m:t>=(</m:t>
                    </m:r>
                    <m:r>
                      <a:rPr lang="en-US" altLang="zh-CN" sz="2000" b="1" i="1">
                        <a:solidFill>
                          <a:srgbClr val="002060"/>
                        </a:solidFill>
                        <a:latin typeface="Cambria Math" panose="02040503050406030204" pitchFamily="18" charset="0"/>
                      </a:rPr>
                      <m:t>𝑽</m:t>
                    </m:r>
                    <m:r>
                      <a:rPr lang="en-US" altLang="zh-CN" sz="2000" b="1" i="1">
                        <a:solidFill>
                          <a:srgbClr val="002060"/>
                        </a:solidFill>
                        <a:latin typeface="Cambria Math" panose="02040503050406030204" pitchFamily="18" charset="0"/>
                      </a:rPr>
                      <m:t>, </m:t>
                    </m:r>
                    <m:r>
                      <a:rPr lang="en-US" altLang="zh-CN" sz="2000" b="1" i="1">
                        <a:solidFill>
                          <a:srgbClr val="002060"/>
                        </a:solidFill>
                        <a:latin typeface="Cambria Math" panose="02040503050406030204" pitchFamily="18" charset="0"/>
                      </a:rPr>
                      <m:t>𝑬</m:t>
                    </m:r>
                    <m:r>
                      <a:rPr lang="en-US" altLang="zh-CN" sz="2000" b="1" i="1">
                        <a:solidFill>
                          <a:srgbClr val="002060"/>
                        </a:solidFill>
                        <a:latin typeface="Cambria Math" panose="02040503050406030204" pitchFamily="18" charset="0"/>
                      </a:rPr>
                      <m:t>)</m:t>
                    </m:r>
                  </m:oMath>
                </a14:m>
                <a:r>
                  <a:rPr lang="zh-CN" altLang="en-US" sz="2000" b="1">
                    <a:solidFill>
                      <a:srgbClr val="002060"/>
                    </a:solidFill>
                    <a:latin typeface="楷体" panose="02010609060101010101" pitchFamily="49" charset="-122"/>
                    <a:ea typeface="楷体" panose="02010609060101010101" pitchFamily="49" charset="-122"/>
                  </a:rPr>
                  <a:t>存在欧拉回路的充要条件是</a:t>
                </a:r>
                <a14:m>
                  <m:oMath xmlns:m="http://schemas.openxmlformats.org/officeDocument/2006/math">
                    <m:r>
                      <a:rPr lang="en-US" altLang="zh-CN" sz="2000" b="1" i="1" smtClean="0">
                        <a:solidFill>
                          <a:srgbClr val="002060"/>
                        </a:solidFill>
                        <a:latin typeface="Cambria Math" panose="02040503050406030204" pitchFamily="18" charset="0"/>
                      </a:rPr>
                      <m:t>𝑮</m:t>
                    </m:r>
                  </m:oMath>
                </a14:m>
                <a:r>
                  <a:rPr lang="zh-CN" altLang="en-US" sz="2000" b="1">
                    <a:solidFill>
                      <a:srgbClr val="002060"/>
                    </a:solidFill>
                    <a:latin typeface="楷体" panose="02010609060101010101" pitchFamily="49" charset="-122"/>
                    <a:ea typeface="楷体" panose="02010609060101010101" pitchFamily="49" charset="-122"/>
                  </a:rPr>
                  <a:t>的</a:t>
                </a:r>
                <a:r>
                  <a:rPr lang="zh-CN" altLang="en-US" sz="2000" b="1">
                    <a:solidFill>
                      <a:srgbClr val="C00000"/>
                    </a:solidFill>
                    <a:latin typeface="+mn-ea"/>
                  </a:rPr>
                  <a:t>所有顶点的度数都为偶数</a:t>
                </a:r>
              </a:p>
              <a:p>
                <a:pPr marL="342900" indent="-342900">
                  <a:spcBef>
                    <a:spcPts val="600"/>
                  </a:spcBef>
                  <a:spcAft>
                    <a:spcPts val="600"/>
                  </a:spcAft>
                  <a:buFont typeface="Arial" panose="020B0604020202020204" pitchFamily="34" charset="0"/>
                  <a:buChar char="•"/>
                </a:pPr>
                <a:r>
                  <a:rPr lang="zh-CN" altLang="en-US" sz="2000" b="1">
                    <a:solidFill>
                      <a:schemeClr val="accent6">
                        <a:lumMod val="50000"/>
                      </a:schemeClr>
                    </a:solidFill>
                  </a:rPr>
                  <a:t>若无向连通图</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𝑮</m:t>
                    </m:r>
                  </m:oMath>
                </a14:m>
                <a:r>
                  <a:rPr lang="zh-CN" altLang="en-US" sz="2000" b="1">
                    <a:solidFill>
                      <a:schemeClr val="accent6">
                        <a:lumMod val="50000"/>
                      </a:schemeClr>
                    </a:solidFill>
                  </a:rPr>
                  <a:t>只有</a:t>
                </a:r>
                <a:r>
                  <a:rPr lang="zh-CN" altLang="en-US" sz="2000" b="1">
                    <a:solidFill>
                      <a:srgbClr val="C00000"/>
                    </a:solidFill>
                  </a:rPr>
                  <a:t>两个度为奇数的顶点</a:t>
                </a:r>
                <a:r>
                  <a:rPr lang="zh-CN" altLang="en-US" sz="2000" b="1">
                    <a:solidFill>
                      <a:schemeClr val="accent6">
                        <a:lumMod val="50000"/>
                      </a:schemeClr>
                    </a:solidFill>
                  </a:rPr>
                  <a:t>，则</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𝑮</m:t>
                    </m:r>
                  </m:oMath>
                </a14:m>
                <a:r>
                  <a:rPr lang="zh-CN" altLang="en-US" sz="2000" b="1">
                    <a:solidFill>
                      <a:schemeClr val="accent6">
                        <a:lumMod val="50000"/>
                      </a:schemeClr>
                    </a:solidFill>
                  </a:rPr>
                  <a:t>存在欧拉道路</a:t>
                </a:r>
              </a:p>
            </p:txBody>
          </p:sp>
        </mc:Choice>
        <mc:Fallback xmlns="">
          <p:sp>
            <p:nvSpPr>
              <p:cNvPr id="2" name="矩形 1">
                <a:extLst>
                  <a:ext uri="{FF2B5EF4-FFF2-40B4-BE49-F238E27FC236}">
                    <a16:creationId xmlns:a16="http://schemas.microsoft.com/office/drawing/2014/main" id="{89A28BDF-14C2-4CBE-ADB3-B5E490928569}"/>
                  </a:ext>
                </a:extLst>
              </p:cNvPr>
              <p:cNvSpPr>
                <a:spLocks noRot="1" noChangeAspect="1" noMove="1" noResize="1" noEditPoints="1" noAdjustHandles="1" noChangeArrowheads="1" noChangeShapeType="1" noTextEdit="1"/>
              </p:cNvSpPr>
              <p:nvPr/>
            </p:nvSpPr>
            <p:spPr>
              <a:xfrm>
                <a:off x="1636928" y="1301316"/>
                <a:ext cx="8918141" cy="1384995"/>
              </a:xfrm>
              <a:prstGeom prst="rect">
                <a:avLst/>
              </a:prstGeom>
              <a:blipFill>
                <a:blip r:embed="rId2"/>
                <a:stretch>
                  <a:fillRect l="-752" t="-3070" r="-616" b="-6579"/>
                </a:stretch>
              </a:blipFill>
            </p:spPr>
            <p:txBody>
              <a:bodyPr/>
              <a:lstStyle/>
              <a:p>
                <a:r>
                  <a:rPr lang="zh-CN" altLang="en-US">
                    <a:noFill/>
                  </a:rPr>
                  <a:t> </a:t>
                </a:r>
              </a:p>
            </p:txBody>
          </p:sp>
        </mc:Fallback>
      </mc:AlternateContent>
      <p:pic>
        <p:nvPicPr>
          <p:cNvPr id="4" name="图片 3">
            <a:extLst>
              <a:ext uri="{FF2B5EF4-FFF2-40B4-BE49-F238E27FC236}">
                <a16:creationId xmlns:a16="http://schemas.microsoft.com/office/drawing/2014/main" id="{92CBB426-B6FE-47EC-8008-2A73FC316DE4}"/>
              </a:ext>
            </a:extLst>
          </p:cNvPr>
          <p:cNvPicPr>
            <a:picLocks noChangeAspect="1"/>
          </p:cNvPicPr>
          <p:nvPr/>
        </p:nvPicPr>
        <p:blipFill>
          <a:blip r:embed="rId3"/>
          <a:stretch>
            <a:fillRect/>
          </a:stretch>
        </p:blipFill>
        <p:spPr>
          <a:xfrm>
            <a:off x="1991068" y="3129336"/>
            <a:ext cx="1838325" cy="1809750"/>
          </a:xfrm>
          <a:prstGeom prst="rect">
            <a:avLst/>
          </a:prstGeom>
        </p:spPr>
      </p:pic>
      <p:pic>
        <p:nvPicPr>
          <p:cNvPr id="6" name="图片 5">
            <a:extLst>
              <a:ext uri="{FF2B5EF4-FFF2-40B4-BE49-F238E27FC236}">
                <a16:creationId xmlns:a16="http://schemas.microsoft.com/office/drawing/2014/main" id="{D7087183-C53E-49AE-BA6B-E143C9AD414D}"/>
              </a:ext>
            </a:extLst>
          </p:cNvPr>
          <p:cNvPicPr>
            <a:picLocks noChangeAspect="1"/>
          </p:cNvPicPr>
          <p:nvPr/>
        </p:nvPicPr>
        <p:blipFill>
          <a:blip r:embed="rId4"/>
          <a:stretch>
            <a:fillRect/>
          </a:stretch>
        </p:blipFill>
        <p:spPr>
          <a:xfrm>
            <a:off x="5122830" y="3129336"/>
            <a:ext cx="1946336" cy="1809751"/>
          </a:xfrm>
          <a:prstGeom prst="rect">
            <a:avLst/>
          </a:prstGeom>
        </p:spPr>
      </p:pic>
      <p:pic>
        <p:nvPicPr>
          <p:cNvPr id="11" name="图片 10">
            <a:extLst>
              <a:ext uri="{FF2B5EF4-FFF2-40B4-BE49-F238E27FC236}">
                <a16:creationId xmlns:a16="http://schemas.microsoft.com/office/drawing/2014/main" id="{6903A0E9-E381-4CED-B832-0BE2858F926F}"/>
              </a:ext>
            </a:extLst>
          </p:cNvPr>
          <p:cNvPicPr>
            <a:picLocks noChangeAspect="1"/>
          </p:cNvPicPr>
          <p:nvPr/>
        </p:nvPicPr>
        <p:blipFill>
          <a:blip r:embed="rId5"/>
          <a:stretch>
            <a:fillRect/>
          </a:stretch>
        </p:blipFill>
        <p:spPr>
          <a:xfrm>
            <a:off x="8391181" y="3129336"/>
            <a:ext cx="1809751" cy="1809751"/>
          </a:xfrm>
          <a:prstGeom prst="rect">
            <a:avLst/>
          </a:prstGeom>
        </p:spPr>
      </p:pic>
      <p:sp>
        <p:nvSpPr>
          <p:cNvPr id="12" name="文本框 11">
            <a:extLst>
              <a:ext uri="{FF2B5EF4-FFF2-40B4-BE49-F238E27FC236}">
                <a16:creationId xmlns:a16="http://schemas.microsoft.com/office/drawing/2014/main" id="{702558AD-00EE-4343-B9D9-54D7D9F2B74F}"/>
              </a:ext>
            </a:extLst>
          </p:cNvPr>
          <p:cNvSpPr txBox="1"/>
          <p:nvPr/>
        </p:nvSpPr>
        <p:spPr>
          <a:xfrm>
            <a:off x="1854394" y="5210371"/>
            <a:ext cx="2111671" cy="692626"/>
          </a:xfrm>
          <a:prstGeom prst="rect">
            <a:avLst/>
          </a:prstGeom>
          <a:solidFill>
            <a:schemeClr val="accent4">
              <a:lumMod val="20000"/>
              <a:lumOff val="80000"/>
            </a:schemeClr>
          </a:solidFill>
        </p:spPr>
        <p:txBody>
          <a:bodyPr wrap="square" rtlCol="0">
            <a:spAutoFit/>
          </a:bodyPr>
          <a:lstStyle/>
          <a:p>
            <a:pPr>
              <a:lnSpc>
                <a:spcPts val="2400"/>
              </a:lnSpc>
            </a:pPr>
            <a:r>
              <a:rPr lang="zh-CN" altLang="en-US" b="1">
                <a:solidFill>
                  <a:srgbClr val="C00000"/>
                </a:solidFill>
              </a:rPr>
              <a:t>半欧拉图</a:t>
            </a:r>
            <a:r>
              <a:rPr lang="zh-CN" altLang="en-US" b="1">
                <a:solidFill>
                  <a:schemeClr val="accent2">
                    <a:lumMod val="50000"/>
                  </a:schemeClr>
                </a:solidFill>
              </a:rPr>
              <a:t>，恰有两个奇数度数的顶点</a:t>
            </a:r>
          </a:p>
        </p:txBody>
      </p:sp>
      <p:sp>
        <p:nvSpPr>
          <p:cNvPr id="14" name="文本框 13">
            <a:extLst>
              <a:ext uri="{FF2B5EF4-FFF2-40B4-BE49-F238E27FC236}">
                <a16:creationId xmlns:a16="http://schemas.microsoft.com/office/drawing/2014/main" id="{2DA6109D-A8C7-4DC3-BC4E-50BAAC6B6FAA}"/>
              </a:ext>
            </a:extLst>
          </p:cNvPr>
          <p:cNvSpPr txBox="1"/>
          <p:nvPr/>
        </p:nvSpPr>
        <p:spPr>
          <a:xfrm>
            <a:off x="5040162" y="5210371"/>
            <a:ext cx="2111671" cy="692626"/>
          </a:xfrm>
          <a:prstGeom prst="rect">
            <a:avLst/>
          </a:prstGeom>
          <a:solidFill>
            <a:schemeClr val="accent4">
              <a:lumMod val="20000"/>
              <a:lumOff val="80000"/>
            </a:schemeClr>
          </a:solidFill>
        </p:spPr>
        <p:txBody>
          <a:bodyPr wrap="square" rtlCol="0">
            <a:spAutoFit/>
          </a:bodyPr>
          <a:lstStyle/>
          <a:p>
            <a:pPr>
              <a:lnSpc>
                <a:spcPts val="2400"/>
              </a:lnSpc>
            </a:pPr>
            <a:r>
              <a:rPr lang="zh-CN" altLang="en-US" b="1">
                <a:solidFill>
                  <a:srgbClr val="C00000"/>
                </a:solidFill>
              </a:rPr>
              <a:t>欧拉图</a:t>
            </a:r>
            <a:r>
              <a:rPr lang="zh-CN" altLang="en-US" b="1">
                <a:solidFill>
                  <a:schemeClr val="accent2">
                    <a:lumMod val="50000"/>
                  </a:schemeClr>
                </a:solidFill>
              </a:rPr>
              <a:t>，所有顶点的度数都是偶数</a:t>
            </a:r>
          </a:p>
        </p:txBody>
      </p:sp>
      <p:sp>
        <p:nvSpPr>
          <p:cNvPr id="15" name="文本框 14">
            <a:extLst>
              <a:ext uri="{FF2B5EF4-FFF2-40B4-BE49-F238E27FC236}">
                <a16:creationId xmlns:a16="http://schemas.microsoft.com/office/drawing/2014/main" id="{6A24409F-E010-4652-8F22-48DA752F9C76}"/>
              </a:ext>
            </a:extLst>
          </p:cNvPr>
          <p:cNvSpPr txBox="1"/>
          <p:nvPr/>
        </p:nvSpPr>
        <p:spPr>
          <a:xfrm>
            <a:off x="7974889" y="5210371"/>
            <a:ext cx="2642333" cy="692626"/>
          </a:xfrm>
          <a:prstGeom prst="rect">
            <a:avLst/>
          </a:prstGeom>
          <a:solidFill>
            <a:schemeClr val="accent4">
              <a:lumMod val="20000"/>
              <a:lumOff val="80000"/>
            </a:schemeClr>
          </a:solidFill>
        </p:spPr>
        <p:txBody>
          <a:bodyPr wrap="square" rtlCol="0">
            <a:spAutoFit/>
          </a:bodyPr>
          <a:lstStyle/>
          <a:p>
            <a:pPr>
              <a:lnSpc>
                <a:spcPts val="2400"/>
              </a:lnSpc>
            </a:pPr>
            <a:r>
              <a:rPr lang="zh-CN" altLang="en-US" b="1">
                <a:solidFill>
                  <a:schemeClr val="accent2">
                    <a:lumMod val="50000"/>
                  </a:schemeClr>
                </a:solidFill>
              </a:rPr>
              <a:t>有</a:t>
            </a:r>
            <a:r>
              <a:rPr lang="en-US" altLang="zh-CN" b="1">
                <a:solidFill>
                  <a:schemeClr val="accent2">
                    <a:lumMod val="50000"/>
                  </a:schemeClr>
                </a:solidFill>
              </a:rPr>
              <a:t>4</a:t>
            </a:r>
            <a:r>
              <a:rPr lang="zh-CN" altLang="en-US" b="1">
                <a:solidFill>
                  <a:schemeClr val="accent2">
                    <a:lumMod val="50000"/>
                  </a:schemeClr>
                </a:solidFill>
              </a:rPr>
              <a:t>个奇度顶点，不是半欧拉图，更不是欧拉图</a:t>
            </a:r>
          </a:p>
        </p:txBody>
      </p:sp>
      <p:cxnSp>
        <p:nvCxnSpPr>
          <p:cNvPr id="20" name="直接箭头连接符 19">
            <a:extLst>
              <a:ext uri="{FF2B5EF4-FFF2-40B4-BE49-F238E27FC236}">
                <a16:creationId xmlns:a16="http://schemas.microsoft.com/office/drawing/2014/main" id="{28EF3BC8-C112-4093-AB9B-4F1D6EB9EB6A}"/>
              </a:ext>
            </a:extLst>
          </p:cNvPr>
          <p:cNvCxnSpPr>
            <a:stCxn id="4" idx="3"/>
          </p:cNvCxnSpPr>
          <p:nvPr/>
        </p:nvCxnSpPr>
        <p:spPr>
          <a:xfrm flipV="1">
            <a:off x="3829393" y="3072121"/>
            <a:ext cx="0" cy="9620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21">
            <a:extLst>
              <a:ext uri="{FF2B5EF4-FFF2-40B4-BE49-F238E27FC236}">
                <a16:creationId xmlns:a16="http://schemas.microsoft.com/office/drawing/2014/main" id="{A56A58BD-E7F6-4BCF-911B-B95270C0649B}"/>
              </a:ext>
            </a:extLst>
          </p:cNvPr>
          <p:cNvCxnSpPr/>
          <p:nvPr/>
        </p:nvCxnSpPr>
        <p:spPr>
          <a:xfrm flipH="1">
            <a:off x="2910229" y="3078699"/>
            <a:ext cx="82631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23">
            <a:extLst>
              <a:ext uri="{FF2B5EF4-FFF2-40B4-BE49-F238E27FC236}">
                <a16:creationId xmlns:a16="http://schemas.microsoft.com/office/drawing/2014/main" id="{07ECDA08-58D5-425C-BD88-98A1FA456C2C}"/>
              </a:ext>
            </a:extLst>
          </p:cNvPr>
          <p:cNvCxnSpPr>
            <a:cxnSpLocks/>
          </p:cNvCxnSpPr>
          <p:nvPr/>
        </p:nvCxnSpPr>
        <p:spPr>
          <a:xfrm flipH="1">
            <a:off x="1991068" y="3078699"/>
            <a:ext cx="91916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26">
            <a:extLst>
              <a:ext uri="{FF2B5EF4-FFF2-40B4-BE49-F238E27FC236}">
                <a16:creationId xmlns:a16="http://schemas.microsoft.com/office/drawing/2014/main" id="{EA4A6723-D814-4637-8616-8AD483BBB851}"/>
              </a:ext>
            </a:extLst>
          </p:cNvPr>
          <p:cNvCxnSpPr>
            <a:endCxn id="4" idx="1"/>
          </p:cNvCxnSpPr>
          <p:nvPr/>
        </p:nvCxnSpPr>
        <p:spPr>
          <a:xfrm>
            <a:off x="1991068" y="3078699"/>
            <a:ext cx="0" cy="9555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直接箭头连接符 28">
            <a:extLst>
              <a:ext uri="{FF2B5EF4-FFF2-40B4-BE49-F238E27FC236}">
                <a16:creationId xmlns:a16="http://schemas.microsoft.com/office/drawing/2014/main" id="{31E70144-BA2C-42E7-B878-56A31823D77D}"/>
              </a:ext>
            </a:extLst>
          </p:cNvPr>
          <p:cNvCxnSpPr/>
          <p:nvPr/>
        </p:nvCxnSpPr>
        <p:spPr>
          <a:xfrm flipV="1">
            <a:off x="2243240" y="3429000"/>
            <a:ext cx="618372" cy="6052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直接箭头连接符 30">
            <a:extLst>
              <a:ext uri="{FF2B5EF4-FFF2-40B4-BE49-F238E27FC236}">
                <a16:creationId xmlns:a16="http://schemas.microsoft.com/office/drawing/2014/main" id="{558D441A-D76D-4EF2-8527-A2BBE1C948C5}"/>
              </a:ext>
            </a:extLst>
          </p:cNvPr>
          <p:cNvCxnSpPr/>
          <p:nvPr/>
        </p:nvCxnSpPr>
        <p:spPr>
          <a:xfrm>
            <a:off x="2993180" y="3349854"/>
            <a:ext cx="0" cy="6300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直接箭头连接符 32">
            <a:extLst>
              <a:ext uri="{FF2B5EF4-FFF2-40B4-BE49-F238E27FC236}">
                <a16:creationId xmlns:a16="http://schemas.microsoft.com/office/drawing/2014/main" id="{3326E61B-34F9-4CCB-B6BF-E1AAA0EB1F08}"/>
              </a:ext>
            </a:extLst>
          </p:cNvPr>
          <p:cNvCxnSpPr>
            <a:cxnSpLocks/>
          </p:cNvCxnSpPr>
          <p:nvPr/>
        </p:nvCxnSpPr>
        <p:spPr>
          <a:xfrm flipH="1">
            <a:off x="2177456" y="4144403"/>
            <a:ext cx="63810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直接箭头连接符 35">
            <a:extLst>
              <a:ext uri="{FF2B5EF4-FFF2-40B4-BE49-F238E27FC236}">
                <a16:creationId xmlns:a16="http://schemas.microsoft.com/office/drawing/2014/main" id="{B96BBE5B-0222-4102-B723-B01676222040}"/>
              </a:ext>
            </a:extLst>
          </p:cNvPr>
          <p:cNvCxnSpPr/>
          <p:nvPr/>
        </p:nvCxnSpPr>
        <p:spPr>
          <a:xfrm>
            <a:off x="2170878" y="4243079"/>
            <a:ext cx="0" cy="4736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直接箭头连接符 37">
            <a:extLst>
              <a:ext uri="{FF2B5EF4-FFF2-40B4-BE49-F238E27FC236}">
                <a16:creationId xmlns:a16="http://schemas.microsoft.com/office/drawing/2014/main" id="{81FAFAEB-E290-47D4-8FB6-7F2F3DE5587C}"/>
              </a:ext>
            </a:extLst>
          </p:cNvPr>
          <p:cNvCxnSpPr/>
          <p:nvPr/>
        </p:nvCxnSpPr>
        <p:spPr>
          <a:xfrm>
            <a:off x="2328760" y="4723304"/>
            <a:ext cx="12301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直接箭头连接符 39">
            <a:extLst>
              <a:ext uri="{FF2B5EF4-FFF2-40B4-BE49-F238E27FC236}">
                <a16:creationId xmlns:a16="http://schemas.microsoft.com/office/drawing/2014/main" id="{3B910196-C117-4496-96AF-BFAC528C4E6C}"/>
              </a:ext>
            </a:extLst>
          </p:cNvPr>
          <p:cNvCxnSpPr/>
          <p:nvPr/>
        </p:nvCxnSpPr>
        <p:spPr>
          <a:xfrm flipV="1">
            <a:off x="3545767" y="4144403"/>
            <a:ext cx="0" cy="4473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直接箭头连接符 41">
            <a:extLst>
              <a:ext uri="{FF2B5EF4-FFF2-40B4-BE49-F238E27FC236}">
                <a16:creationId xmlns:a16="http://schemas.microsoft.com/office/drawing/2014/main" id="{32C87D54-E1D0-494F-9262-DEAF90F02DDB}"/>
              </a:ext>
            </a:extLst>
          </p:cNvPr>
          <p:cNvCxnSpPr/>
          <p:nvPr/>
        </p:nvCxnSpPr>
        <p:spPr>
          <a:xfrm flipH="1">
            <a:off x="2993180" y="4144403"/>
            <a:ext cx="44075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直接箭头连接符 43">
            <a:extLst>
              <a:ext uri="{FF2B5EF4-FFF2-40B4-BE49-F238E27FC236}">
                <a16:creationId xmlns:a16="http://schemas.microsoft.com/office/drawing/2014/main" id="{D6BB23BA-20F2-4CA6-8D0E-D6D16A56BD09}"/>
              </a:ext>
            </a:extLst>
          </p:cNvPr>
          <p:cNvCxnSpPr/>
          <p:nvPr/>
        </p:nvCxnSpPr>
        <p:spPr>
          <a:xfrm>
            <a:off x="2993180" y="4243079"/>
            <a:ext cx="0" cy="4736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5" name="椭圆 44">
            <a:extLst>
              <a:ext uri="{FF2B5EF4-FFF2-40B4-BE49-F238E27FC236}">
                <a16:creationId xmlns:a16="http://schemas.microsoft.com/office/drawing/2014/main" id="{43D36C8B-5E6D-4414-9C3B-FC692766B253}"/>
              </a:ext>
            </a:extLst>
          </p:cNvPr>
          <p:cNvSpPr/>
          <p:nvPr/>
        </p:nvSpPr>
        <p:spPr>
          <a:xfrm>
            <a:off x="3611551" y="3973364"/>
            <a:ext cx="131565" cy="111834"/>
          </a:xfrm>
          <a:prstGeom prst="ellipse">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椭圆 45">
            <a:extLst>
              <a:ext uri="{FF2B5EF4-FFF2-40B4-BE49-F238E27FC236}">
                <a16:creationId xmlns:a16="http://schemas.microsoft.com/office/drawing/2014/main" id="{91675325-84C1-4027-B00F-BDFB237D05D9}"/>
              </a:ext>
            </a:extLst>
          </p:cNvPr>
          <p:cNvSpPr/>
          <p:nvPr/>
        </p:nvSpPr>
        <p:spPr>
          <a:xfrm>
            <a:off x="2837868" y="4759225"/>
            <a:ext cx="131565" cy="111834"/>
          </a:xfrm>
          <a:prstGeom prst="ellipse">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8" name="直接箭头连接符 47">
            <a:extLst>
              <a:ext uri="{FF2B5EF4-FFF2-40B4-BE49-F238E27FC236}">
                <a16:creationId xmlns:a16="http://schemas.microsoft.com/office/drawing/2014/main" id="{471B1F5C-C322-4BA5-B8AF-C698E3C37FBF}"/>
              </a:ext>
            </a:extLst>
          </p:cNvPr>
          <p:cNvCxnSpPr/>
          <p:nvPr/>
        </p:nvCxnSpPr>
        <p:spPr>
          <a:xfrm flipH="1">
            <a:off x="5183793" y="3078699"/>
            <a:ext cx="79598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直接箭头连接符 49">
            <a:extLst>
              <a:ext uri="{FF2B5EF4-FFF2-40B4-BE49-F238E27FC236}">
                <a16:creationId xmlns:a16="http://schemas.microsoft.com/office/drawing/2014/main" id="{78E11473-7A98-422A-9054-13D803AC01B8}"/>
              </a:ext>
            </a:extLst>
          </p:cNvPr>
          <p:cNvCxnSpPr>
            <a:endCxn id="6" idx="1"/>
          </p:cNvCxnSpPr>
          <p:nvPr/>
        </p:nvCxnSpPr>
        <p:spPr>
          <a:xfrm>
            <a:off x="5122830" y="3223424"/>
            <a:ext cx="0" cy="8107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直接箭头连接符 51">
            <a:extLst>
              <a:ext uri="{FF2B5EF4-FFF2-40B4-BE49-F238E27FC236}">
                <a16:creationId xmlns:a16="http://schemas.microsoft.com/office/drawing/2014/main" id="{446F3074-D0E7-4BE7-BF71-629F7EFCCE67}"/>
              </a:ext>
            </a:extLst>
          </p:cNvPr>
          <p:cNvCxnSpPr/>
          <p:nvPr/>
        </p:nvCxnSpPr>
        <p:spPr>
          <a:xfrm flipV="1">
            <a:off x="5328518" y="3262895"/>
            <a:ext cx="592058" cy="5920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直接箭头连接符 53">
            <a:extLst>
              <a:ext uri="{FF2B5EF4-FFF2-40B4-BE49-F238E27FC236}">
                <a16:creationId xmlns:a16="http://schemas.microsoft.com/office/drawing/2014/main" id="{82655498-ED0C-4A90-B0AD-2C881AB954F8}"/>
              </a:ext>
            </a:extLst>
          </p:cNvPr>
          <p:cNvCxnSpPr/>
          <p:nvPr/>
        </p:nvCxnSpPr>
        <p:spPr>
          <a:xfrm>
            <a:off x="6236340" y="3089863"/>
            <a:ext cx="73020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直接箭头连接符 55">
            <a:extLst>
              <a:ext uri="{FF2B5EF4-FFF2-40B4-BE49-F238E27FC236}">
                <a16:creationId xmlns:a16="http://schemas.microsoft.com/office/drawing/2014/main" id="{B09C9B50-CBE9-4238-A387-C4C204238CDF}"/>
              </a:ext>
            </a:extLst>
          </p:cNvPr>
          <p:cNvCxnSpPr>
            <a:cxnSpLocks/>
          </p:cNvCxnSpPr>
          <p:nvPr/>
        </p:nvCxnSpPr>
        <p:spPr>
          <a:xfrm>
            <a:off x="6999436" y="3223424"/>
            <a:ext cx="0" cy="17156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直接箭头连接符 58">
            <a:extLst>
              <a:ext uri="{FF2B5EF4-FFF2-40B4-BE49-F238E27FC236}">
                <a16:creationId xmlns:a16="http://schemas.microsoft.com/office/drawing/2014/main" id="{578D876B-2C64-4CD0-85F3-53ED19E18BE0}"/>
              </a:ext>
            </a:extLst>
          </p:cNvPr>
          <p:cNvCxnSpPr/>
          <p:nvPr/>
        </p:nvCxnSpPr>
        <p:spPr>
          <a:xfrm flipH="1">
            <a:off x="5328518" y="4939086"/>
            <a:ext cx="158539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直接箭头连接符 60">
            <a:extLst>
              <a:ext uri="{FF2B5EF4-FFF2-40B4-BE49-F238E27FC236}">
                <a16:creationId xmlns:a16="http://schemas.microsoft.com/office/drawing/2014/main" id="{40FD5E1E-DB6E-4CAD-AC40-6CC33B70007C}"/>
              </a:ext>
            </a:extLst>
          </p:cNvPr>
          <p:cNvCxnSpPr/>
          <p:nvPr/>
        </p:nvCxnSpPr>
        <p:spPr>
          <a:xfrm flipV="1">
            <a:off x="5348253" y="4144403"/>
            <a:ext cx="0" cy="6148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3" name="直接箭头连接符 62">
            <a:extLst>
              <a:ext uri="{FF2B5EF4-FFF2-40B4-BE49-F238E27FC236}">
                <a16:creationId xmlns:a16="http://schemas.microsoft.com/office/drawing/2014/main" id="{E3272108-CD18-4C73-8BEC-8EB8EF228185}"/>
              </a:ext>
            </a:extLst>
          </p:cNvPr>
          <p:cNvCxnSpPr/>
          <p:nvPr/>
        </p:nvCxnSpPr>
        <p:spPr>
          <a:xfrm>
            <a:off x="5400881" y="4243079"/>
            <a:ext cx="519695" cy="5161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5" name="直接箭头连接符 64">
            <a:extLst>
              <a:ext uri="{FF2B5EF4-FFF2-40B4-BE49-F238E27FC236}">
                <a16:creationId xmlns:a16="http://schemas.microsoft.com/office/drawing/2014/main" id="{BBA9C0EB-3069-46EE-B8B5-8B6252B1CC64}"/>
              </a:ext>
            </a:extLst>
          </p:cNvPr>
          <p:cNvCxnSpPr/>
          <p:nvPr/>
        </p:nvCxnSpPr>
        <p:spPr>
          <a:xfrm flipV="1">
            <a:off x="6121217" y="4092934"/>
            <a:ext cx="618373" cy="5880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7" name="直接箭头连接符 66">
            <a:extLst>
              <a:ext uri="{FF2B5EF4-FFF2-40B4-BE49-F238E27FC236}">
                <a16:creationId xmlns:a16="http://schemas.microsoft.com/office/drawing/2014/main" id="{19003AD7-9FE0-4E90-8293-39EA9F3985EC}"/>
              </a:ext>
            </a:extLst>
          </p:cNvPr>
          <p:cNvCxnSpPr/>
          <p:nvPr/>
        </p:nvCxnSpPr>
        <p:spPr>
          <a:xfrm flipH="1" flipV="1">
            <a:off x="6043531" y="3358419"/>
            <a:ext cx="626738" cy="6708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8" name="椭圆 67">
            <a:extLst>
              <a:ext uri="{FF2B5EF4-FFF2-40B4-BE49-F238E27FC236}">
                <a16:creationId xmlns:a16="http://schemas.microsoft.com/office/drawing/2014/main" id="{8E7386B7-8275-476B-B2A9-9F2454A52262}"/>
              </a:ext>
            </a:extLst>
          </p:cNvPr>
          <p:cNvSpPr/>
          <p:nvPr/>
        </p:nvSpPr>
        <p:spPr>
          <a:xfrm>
            <a:off x="9230272" y="3230975"/>
            <a:ext cx="131565" cy="111834"/>
          </a:xfrm>
          <a:prstGeom prst="ellipse">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椭圆 68">
            <a:extLst>
              <a:ext uri="{FF2B5EF4-FFF2-40B4-BE49-F238E27FC236}">
                <a16:creationId xmlns:a16="http://schemas.microsoft.com/office/drawing/2014/main" id="{F5226F5F-EF37-44ED-9EC3-C6FE54E9C7F6}"/>
              </a:ext>
            </a:extLst>
          </p:cNvPr>
          <p:cNvSpPr/>
          <p:nvPr/>
        </p:nvSpPr>
        <p:spPr>
          <a:xfrm>
            <a:off x="8484630" y="3988651"/>
            <a:ext cx="131565" cy="111834"/>
          </a:xfrm>
          <a:prstGeom prst="ellipse">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椭圆 69">
            <a:extLst>
              <a:ext uri="{FF2B5EF4-FFF2-40B4-BE49-F238E27FC236}">
                <a16:creationId xmlns:a16="http://schemas.microsoft.com/office/drawing/2014/main" id="{25683FB4-1052-4283-A0DD-5C159B3B3BDF}"/>
              </a:ext>
            </a:extLst>
          </p:cNvPr>
          <p:cNvSpPr/>
          <p:nvPr/>
        </p:nvSpPr>
        <p:spPr>
          <a:xfrm>
            <a:off x="9230272" y="4732470"/>
            <a:ext cx="131565" cy="111834"/>
          </a:xfrm>
          <a:prstGeom prst="ellipse">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椭圆 70">
            <a:extLst>
              <a:ext uri="{FF2B5EF4-FFF2-40B4-BE49-F238E27FC236}">
                <a16:creationId xmlns:a16="http://schemas.microsoft.com/office/drawing/2014/main" id="{99EBC547-24C5-40D5-B00C-723DECEDD866}"/>
              </a:ext>
            </a:extLst>
          </p:cNvPr>
          <p:cNvSpPr/>
          <p:nvPr/>
        </p:nvSpPr>
        <p:spPr>
          <a:xfrm>
            <a:off x="9998851" y="3988651"/>
            <a:ext cx="131565" cy="111834"/>
          </a:xfrm>
          <a:prstGeom prst="ellipse">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椭圆 71">
            <a:extLst>
              <a:ext uri="{FF2B5EF4-FFF2-40B4-BE49-F238E27FC236}">
                <a16:creationId xmlns:a16="http://schemas.microsoft.com/office/drawing/2014/main" id="{8E7379EB-5927-4CBE-A143-D432D59CAC96}"/>
              </a:ext>
            </a:extLst>
          </p:cNvPr>
          <p:cNvSpPr/>
          <p:nvPr/>
        </p:nvSpPr>
        <p:spPr>
          <a:xfrm>
            <a:off x="6020666" y="3171928"/>
            <a:ext cx="131565" cy="111834"/>
          </a:xfrm>
          <a:prstGeom prst="ellips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4030061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欧拉图</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第三十一讲  一些特殊的图</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19</a:t>
            </a:fld>
            <a:r>
              <a:rPr lang="en-US" altLang="zh-CN" dirty="0">
                <a:latin typeface="Arial" panose="020B0604020202020204" pitchFamily="34" charset="0"/>
                <a:ea typeface="楷体" panose="02010609060101010101" pitchFamily="49" charset="-122"/>
                <a:cs typeface="Arial" panose="020B0604020202020204" pitchFamily="34" charset="0"/>
              </a:rPr>
              <a:t>/32</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欧拉图判断练习</a:t>
            </a:r>
          </a:p>
        </p:txBody>
      </p:sp>
      <p:sp>
        <p:nvSpPr>
          <p:cNvPr id="4" name="文本框 3">
            <a:extLst>
              <a:ext uri="{FF2B5EF4-FFF2-40B4-BE49-F238E27FC236}">
                <a16:creationId xmlns:a16="http://schemas.microsoft.com/office/drawing/2014/main" id="{32EAE394-3F18-49A4-A787-2F2FB8D2C55D}"/>
              </a:ext>
            </a:extLst>
          </p:cNvPr>
          <p:cNvSpPr txBox="1"/>
          <p:nvPr/>
        </p:nvSpPr>
        <p:spPr>
          <a:xfrm>
            <a:off x="1032813" y="1374889"/>
            <a:ext cx="7512552" cy="461665"/>
          </a:xfrm>
          <a:prstGeom prst="rect">
            <a:avLst/>
          </a:prstGeom>
          <a:solidFill>
            <a:srgbClr val="E5EFE5"/>
          </a:solidFill>
        </p:spPr>
        <p:txBody>
          <a:bodyPr wrap="square" rtlCol="0">
            <a:spAutoFit/>
          </a:bodyPr>
          <a:lstStyle/>
          <a:p>
            <a:r>
              <a:rPr lang="zh-CN" altLang="en-US" sz="2400" b="1">
                <a:solidFill>
                  <a:srgbClr val="002060"/>
                </a:solidFill>
                <a:latin typeface="楷体" panose="02010609060101010101" pitchFamily="49" charset="-122"/>
                <a:ea typeface="楷体" panose="02010609060101010101" pitchFamily="49" charset="-122"/>
              </a:rPr>
              <a:t>下面给出的两个图是否是欧拉图或半欧拉图？为什么？</a:t>
            </a:r>
          </a:p>
        </p:txBody>
      </p:sp>
      <p:pic>
        <p:nvPicPr>
          <p:cNvPr id="6" name="图片 5">
            <a:extLst>
              <a:ext uri="{FF2B5EF4-FFF2-40B4-BE49-F238E27FC236}">
                <a16:creationId xmlns:a16="http://schemas.microsoft.com/office/drawing/2014/main" id="{A42973F0-4CE8-412A-840F-934A7DC7D8AF}"/>
              </a:ext>
            </a:extLst>
          </p:cNvPr>
          <p:cNvPicPr>
            <a:picLocks noChangeAspect="1"/>
          </p:cNvPicPr>
          <p:nvPr/>
        </p:nvPicPr>
        <p:blipFill>
          <a:blip r:embed="rId2"/>
          <a:stretch>
            <a:fillRect/>
          </a:stretch>
        </p:blipFill>
        <p:spPr>
          <a:xfrm>
            <a:off x="1032813" y="2117174"/>
            <a:ext cx="8519049" cy="2298696"/>
          </a:xfrm>
          <a:prstGeom prst="rect">
            <a:avLst/>
          </a:prstGeom>
        </p:spPr>
      </p:pic>
    </p:spTree>
    <p:extLst>
      <p:ext uri="{BB962C8B-B14F-4D97-AF65-F5344CB8AC3E}">
        <p14:creationId xmlns:p14="http://schemas.microsoft.com/office/powerpoint/2010/main" val="1561319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欧拉图</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第三十一讲  一些特殊的图</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20</a:t>
            </a:fld>
            <a:r>
              <a:rPr lang="en-US" altLang="zh-CN" dirty="0">
                <a:latin typeface="Arial" panose="020B0604020202020204" pitchFamily="34" charset="0"/>
                <a:ea typeface="楷体" panose="02010609060101010101" pitchFamily="49" charset="-122"/>
                <a:cs typeface="Arial" panose="020B0604020202020204" pitchFamily="34" charset="0"/>
              </a:rPr>
              <a:t>/32</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欧拉图判断练习</a:t>
            </a:r>
          </a:p>
        </p:txBody>
      </p:sp>
      <p:sp>
        <p:nvSpPr>
          <p:cNvPr id="4" name="文本框 3">
            <a:extLst>
              <a:ext uri="{FF2B5EF4-FFF2-40B4-BE49-F238E27FC236}">
                <a16:creationId xmlns:a16="http://schemas.microsoft.com/office/drawing/2014/main" id="{32EAE394-3F18-49A4-A787-2F2FB8D2C55D}"/>
              </a:ext>
            </a:extLst>
          </p:cNvPr>
          <p:cNvSpPr txBox="1"/>
          <p:nvPr/>
        </p:nvSpPr>
        <p:spPr>
          <a:xfrm>
            <a:off x="1032813" y="1374889"/>
            <a:ext cx="7512552" cy="461665"/>
          </a:xfrm>
          <a:prstGeom prst="rect">
            <a:avLst/>
          </a:prstGeom>
          <a:solidFill>
            <a:srgbClr val="E5EFE5"/>
          </a:solidFill>
        </p:spPr>
        <p:txBody>
          <a:bodyPr wrap="square" rtlCol="0">
            <a:spAutoFit/>
          </a:bodyPr>
          <a:lstStyle/>
          <a:p>
            <a:r>
              <a:rPr lang="zh-CN" altLang="en-US" sz="2400" b="1">
                <a:solidFill>
                  <a:srgbClr val="002060"/>
                </a:solidFill>
                <a:latin typeface="楷体" panose="02010609060101010101" pitchFamily="49" charset="-122"/>
                <a:ea typeface="楷体" panose="02010609060101010101" pitchFamily="49" charset="-122"/>
              </a:rPr>
              <a:t>下面给出的两个图是否是欧拉图或半欧拉图？为什么？</a:t>
            </a:r>
          </a:p>
        </p:txBody>
      </p:sp>
      <p:pic>
        <p:nvPicPr>
          <p:cNvPr id="6" name="图片 5">
            <a:extLst>
              <a:ext uri="{FF2B5EF4-FFF2-40B4-BE49-F238E27FC236}">
                <a16:creationId xmlns:a16="http://schemas.microsoft.com/office/drawing/2014/main" id="{A42973F0-4CE8-412A-840F-934A7DC7D8AF}"/>
              </a:ext>
            </a:extLst>
          </p:cNvPr>
          <p:cNvPicPr>
            <a:picLocks noChangeAspect="1"/>
          </p:cNvPicPr>
          <p:nvPr/>
        </p:nvPicPr>
        <p:blipFill>
          <a:blip r:embed="rId2"/>
          <a:stretch>
            <a:fillRect/>
          </a:stretch>
        </p:blipFill>
        <p:spPr>
          <a:xfrm>
            <a:off x="1032813" y="2117174"/>
            <a:ext cx="8519049" cy="2298696"/>
          </a:xfrm>
          <a:prstGeom prst="rect">
            <a:avLst/>
          </a:prstGeom>
        </p:spPr>
      </p:pic>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822BD620-0349-4081-9C4A-D2E9EA104531}"/>
                  </a:ext>
                </a:extLst>
              </p:cNvPr>
              <p:cNvSpPr txBox="1"/>
              <p:nvPr/>
            </p:nvSpPr>
            <p:spPr>
              <a:xfrm>
                <a:off x="1032813" y="4696490"/>
                <a:ext cx="3894422" cy="1169551"/>
              </a:xfrm>
              <a:prstGeom prst="rect">
                <a:avLst/>
              </a:prstGeom>
              <a:solidFill>
                <a:schemeClr val="accent4">
                  <a:lumMod val="20000"/>
                  <a:lumOff val="80000"/>
                </a:schemeClr>
              </a:solidFill>
            </p:spPr>
            <p:txBody>
              <a:bodyPr wrap="square" rtlCol="0">
                <a:spAutoFit/>
              </a:bodyPr>
              <a:lstStyle/>
              <a:p>
                <a:pPr>
                  <a:lnSpc>
                    <a:spcPts val="2800"/>
                  </a:lnSpc>
                  <a:spcBef>
                    <a:spcPts val="600"/>
                  </a:spcBef>
                </a:pPr>
                <a:r>
                  <a:rPr lang="zh-CN" altLang="en-US" sz="2000" b="1">
                    <a:solidFill>
                      <a:schemeClr val="accent2">
                        <a:lumMod val="50000"/>
                      </a:schemeClr>
                    </a:solidFill>
                  </a:rPr>
                  <a:t>欧拉图，每个顶点都是偶度顶点，一个欧拉回路是：</a:t>
                </a:r>
                <a:endParaRPr lang="en-US" altLang="zh-CN" sz="2000" b="1">
                  <a:solidFill>
                    <a:schemeClr val="accent2">
                      <a:lumMod val="50000"/>
                    </a:schemeClr>
                  </a:solidFill>
                </a:endParaRPr>
              </a:p>
              <a:p>
                <a:pPr>
                  <a:lnSpc>
                    <a:spcPts val="2800"/>
                  </a:lnSpc>
                  <a:spcBef>
                    <a:spcPts val="600"/>
                  </a:spcBef>
                </a:pPr>
                <a14:m>
                  <m:oMathPara xmlns:m="http://schemas.openxmlformats.org/officeDocument/2006/math">
                    <m:oMathParaPr>
                      <m:jc m:val="centerGroup"/>
                    </m:oMathParaPr>
                    <m:oMath xmlns:m="http://schemas.openxmlformats.org/officeDocument/2006/math">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𝒗</m:t>
                          </m:r>
                        </m:e>
                        <m:sub>
                          <m:r>
                            <a:rPr lang="en-US" altLang="zh-CN" b="1" i="1" smtClean="0">
                              <a:solidFill>
                                <a:schemeClr val="accent2">
                                  <a:lumMod val="50000"/>
                                </a:schemeClr>
                              </a:solidFill>
                              <a:latin typeface="Cambria Math" panose="02040503050406030204" pitchFamily="18" charset="0"/>
                            </a:rPr>
                            <m:t>𝟏</m:t>
                          </m:r>
                        </m:sub>
                      </m:sSub>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𝒗</m:t>
                          </m:r>
                        </m:e>
                        <m:sub>
                          <m:r>
                            <a:rPr lang="en-US" altLang="zh-CN" b="1" i="1" smtClean="0">
                              <a:solidFill>
                                <a:schemeClr val="accent2">
                                  <a:lumMod val="50000"/>
                                </a:schemeClr>
                              </a:solidFill>
                              <a:latin typeface="Cambria Math" panose="02040503050406030204" pitchFamily="18" charset="0"/>
                            </a:rPr>
                            <m:t>𝟐</m:t>
                          </m:r>
                        </m:sub>
                      </m:sSub>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𝒗</m:t>
                          </m:r>
                        </m:e>
                        <m:sub>
                          <m:r>
                            <a:rPr lang="en-US" altLang="zh-CN" b="1" i="1" smtClean="0">
                              <a:solidFill>
                                <a:schemeClr val="accent2">
                                  <a:lumMod val="50000"/>
                                </a:schemeClr>
                              </a:solidFill>
                              <a:latin typeface="Cambria Math" panose="02040503050406030204" pitchFamily="18" charset="0"/>
                            </a:rPr>
                            <m:t>𝟓</m:t>
                          </m:r>
                        </m:sub>
                      </m:sSub>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𝒗</m:t>
                          </m:r>
                        </m:e>
                        <m:sub>
                          <m:r>
                            <a:rPr lang="en-US" altLang="zh-CN" b="1" i="1" smtClean="0">
                              <a:solidFill>
                                <a:schemeClr val="accent2">
                                  <a:lumMod val="50000"/>
                                </a:schemeClr>
                              </a:solidFill>
                              <a:latin typeface="Cambria Math" panose="02040503050406030204" pitchFamily="18" charset="0"/>
                            </a:rPr>
                            <m:t>𝟕</m:t>
                          </m:r>
                        </m:sub>
                      </m:sSub>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𝒗</m:t>
                          </m:r>
                        </m:e>
                        <m:sub>
                          <m:r>
                            <a:rPr lang="en-US" altLang="zh-CN" b="1" i="1" smtClean="0">
                              <a:solidFill>
                                <a:schemeClr val="accent2">
                                  <a:lumMod val="50000"/>
                                </a:schemeClr>
                              </a:solidFill>
                              <a:latin typeface="Cambria Math" panose="02040503050406030204" pitchFamily="18" charset="0"/>
                            </a:rPr>
                            <m:t>𝟗</m:t>
                          </m:r>
                        </m:sub>
                      </m:sSub>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𝒗</m:t>
                          </m:r>
                        </m:e>
                        <m:sub>
                          <m:r>
                            <a:rPr lang="en-US" altLang="zh-CN" b="1" i="1" smtClean="0">
                              <a:solidFill>
                                <a:schemeClr val="accent2">
                                  <a:lumMod val="50000"/>
                                </a:schemeClr>
                              </a:solidFill>
                              <a:latin typeface="Cambria Math" panose="02040503050406030204" pitchFamily="18" charset="0"/>
                            </a:rPr>
                            <m:t>𝟖</m:t>
                          </m:r>
                        </m:sub>
                      </m:sSub>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𝒗</m:t>
                          </m:r>
                        </m:e>
                        <m:sub>
                          <m:r>
                            <a:rPr lang="en-US" altLang="zh-CN" b="1" i="1" smtClean="0">
                              <a:solidFill>
                                <a:schemeClr val="accent2">
                                  <a:lumMod val="50000"/>
                                </a:schemeClr>
                              </a:solidFill>
                              <a:latin typeface="Cambria Math" panose="02040503050406030204" pitchFamily="18" charset="0"/>
                            </a:rPr>
                            <m:t>𝟕</m:t>
                          </m:r>
                        </m:sub>
                      </m:sSub>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𝒗</m:t>
                          </m:r>
                        </m:e>
                        <m:sub>
                          <m:r>
                            <a:rPr lang="en-US" altLang="zh-CN" b="1" i="1" smtClean="0">
                              <a:solidFill>
                                <a:schemeClr val="accent2">
                                  <a:lumMod val="50000"/>
                                </a:schemeClr>
                              </a:solidFill>
                              <a:latin typeface="Cambria Math" panose="02040503050406030204" pitchFamily="18" charset="0"/>
                            </a:rPr>
                            <m:t>𝟑</m:t>
                          </m:r>
                        </m:sub>
                      </m:sSub>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𝒗</m:t>
                          </m:r>
                        </m:e>
                        <m:sub>
                          <m:r>
                            <a:rPr lang="en-US" altLang="zh-CN" b="1" i="1" smtClean="0">
                              <a:solidFill>
                                <a:schemeClr val="accent2">
                                  <a:lumMod val="50000"/>
                                </a:schemeClr>
                              </a:solidFill>
                              <a:latin typeface="Cambria Math" panose="02040503050406030204" pitchFamily="18" charset="0"/>
                            </a:rPr>
                            <m:t>𝟖</m:t>
                          </m:r>
                        </m:sub>
                      </m:sSub>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𝒗</m:t>
                          </m:r>
                        </m:e>
                        <m:sub>
                          <m:r>
                            <a:rPr lang="en-US" altLang="zh-CN" b="1" i="1" smtClean="0">
                              <a:solidFill>
                                <a:schemeClr val="accent2">
                                  <a:lumMod val="50000"/>
                                </a:schemeClr>
                              </a:solidFill>
                              <a:latin typeface="Cambria Math" panose="02040503050406030204" pitchFamily="18" charset="0"/>
                            </a:rPr>
                            <m:t>𝟔</m:t>
                          </m:r>
                        </m:sub>
                      </m:sSub>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𝒗</m:t>
                          </m:r>
                        </m:e>
                        <m:sub>
                          <m:r>
                            <a:rPr lang="en-US" altLang="zh-CN" b="1" i="1" smtClean="0">
                              <a:solidFill>
                                <a:schemeClr val="accent2">
                                  <a:lumMod val="50000"/>
                                </a:schemeClr>
                              </a:solidFill>
                              <a:latin typeface="Cambria Math" panose="02040503050406030204" pitchFamily="18" charset="0"/>
                            </a:rPr>
                            <m:t>𝟒</m:t>
                          </m:r>
                        </m:sub>
                      </m:sSub>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𝒗</m:t>
                          </m:r>
                        </m:e>
                        <m:sub>
                          <m:r>
                            <a:rPr lang="en-US" altLang="zh-CN" b="1" i="1" smtClean="0">
                              <a:solidFill>
                                <a:schemeClr val="accent2">
                                  <a:lumMod val="50000"/>
                                </a:schemeClr>
                              </a:solidFill>
                              <a:latin typeface="Cambria Math" panose="02040503050406030204" pitchFamily="18" charset="0"/>
                            </a:rPr>
                            <m:t>𝟑</m:t>
                          </m:r>
                        </m:sub>
                      </m:sSub>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𝒗</m:t>
                          </m:r>
                        </m:e>
                        <m:sub>
                          <m:r>
                            <a:rPr lang="en-US" altLang="zh-CN" b="1" i="1" smtClean="0">
                              <a:solidFill>
                                <a:schemeClr val="accent2">
                                  <a:lumMod val="50000"/>
                                </a:schemeClr>
                              </a:solidFill>
                              <a:latin typeface="Cambria Math" panose="02040503050406030204" pitchFamily="18" charset="0"/>
                            </a:rPr>
                            <m:t>𝟐</m:t>
                          </m:r>
                        </m:sub>
                      </m:sSub>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𝒗</m:t>
                          </m:r>
                        </m:e>
                        <m:sub>
                          <m:r>
                            <a:rPr lang="en-US" altLang="zh-CN" b="1" i="1" smtClean="0">
                              <a:solidFill>
                                <a:schemeClr val="accent2">
                                  <a:lumMod val="50000"/>
                                </a:schemeClr>
                              </a:solidFill>
                              <a:latin typeface="Cambria Math" panose="02040503050406030204" pitchFamily="18" charset="0"/>
                            </a:rPr>
                            <m:t>𝟒</m:t>
                          </m:r>
                        </m:sub>
                      </m:sSub>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𝒗</m:t>
                          </m:r>
                        </m:e>
                        <m:sub>
                          <m:r>
                            <a:rPr lang="en-US" altLang="zh-CN" b="1" i="1">
                              <a:solidFill>
                                <a:schemeClr val="accent2">
                                  <a:lumMod val="50000"/>
                                </a:schemeClr>
                              </a:solidFill>
                              <a:latin typeface="Cambria Math" panose="02040503050406030204" pitchFamily="18" charset="0"/>
                            </a:rPr>
                            <m:t>𝟏</m:t>
                          </m:r>
                        </m:sub>
                      </m:sSub>
                    </m:oMath>
                  </m:oMathPara>
                </a14:m>
                <a:endParaRPr lang="zh-CN" altLang="en-US" b="1">
                  <a:solidFill>
                    <a:schemeClr val="accent2">
                      <a:lumMod val="50000"/>
                    </a:schemeClr>
                  </a:solidFill>
                </a:endParaRPr>
              </a:p>
            </p:txBody>
          </p:sp>
        </mc:Choice>
        <mc:Fallback xmlns="">
          <p:sp>
            <p:nvSpPr>
              <p:cNvPr id="11" name="文本框 10">
                <a:extLst>
                  <a:ext uri="{FF2B5EF4-FFF2-40B4-BE49-F238E27FC236}">
                    <a16:creationId xmlns:a16="http://schemas.microsoft.com/office/drawing/2014/main" id="{822BD620-0349-4081-9C4A-D2E9EA104531}"/>
                  </a:ext>
                </a:extLst>
              </p:cNvPr>
              <p:cNvSpPr txBox="1">
                <a:spLocks noRot="1" noChangeAspect="1" noMove="1" noResize="1" noEditPoints="1" noAdjustHandles="1" noChangeArrowheads="1" noChangeShapeType="1" noTextEdit="1"/>
              </p:cNvSpPr>
              <p:nvPr/>
            </p:nvSpPr>
            <p:spPr>
              <a:xfrm>
                <a:off x="1032813" y="4696490"/>
                <a:ext cx="3894422" cy="1169551"/>
              </a:xfrm>
              <a:prstGeom prst="rect">
                <a:avLst/>
              </a:prstGeom>
              <a:blipFill>
                <a:blip r:embed="rId3"/>
                <a:stretch>
                  <a:fillRect l="-1565" r="-422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F2E1A5DE-C95F-4765-8E7E-6A5D55833078}"/>
                  </a:ext>
                </a:extLst>
              </p:cNvPr>
              <p:cNvSpPr txBox="1"/>
              <p:nvPr/>
            </p:nvSpPr>
            <p:spPr>
              <a:xfrm>
                <a:off x="5810939" y="4696490"/>
                <a:ext cx="3589620" cy="1169551"/>
              </a:xfrm>
              <a:prstGeom prst="rect">
                <a:avLst/>
              </a:prstGeom>
              <a:solidFill>
                <a:schemeClr val="accent4">
                  <a:lumMod val="20000"/>
                  <a:lumOff val="80000"/>
                </a:schemeClr>
              </a:solidFill>
            </p:spPr>
            <p:txBody>
              <a:bodyPr wrap="square" rtlCol="0">
                <a:spAutoFit/>
              </a:bodyPr>
              <a:lstStyle/>
              <a:p>
                <a:pPr>
                  <a:lnSpc>
                    <a:spcPts val="2800"/>
                  </a:lnSpc>
                  <a:spcBef>
                    <a:spcPts val="600"/>
                  </a:spcBef>
                </a:pPr>
                <a:r>
                  <a:rPr lang="zh-CN" altLang="en-US" sz="2000" b="1">
                    <a:solidFill>
                      <a:schemeClr val="accent2">
                        <a:lumMod val="50000"/>
                      </a:schemeClr>
                    </a:solidFill>
                  </a:rPr>
                  <a:t>半欧拉图，只有两个奇度顶点</a:t>
                </a:r>
                <a14:m>
                  <m:oMath xmlns:m="http://schemas.openxmlformats.org/officeDocument/2006/math">
                    <m:sSub>
                      <m:sSubPr>
                        <m:ctrlPr>
                          <a:rPr lang="en-US" altLang="zh-CN" sz="2000" b="1" i="1" smtClean="0">
                            <a:solidFill>
                              <a:schemeClr val="accent2">
                                <a:lumMod val="50000"/>
                              </a:schemeClr>
                            </a:solidFill>
                            <a:latin typeface="Cambria Math" panose="02040503050406030204" pitchFamily="18" charset="0"/>
                          </a:rPr>
                        </m:ctrlPr>
                      </m:sSubPr>
                      <m:e>
                        <m:r>
                          <a:rPr lang="en-US" altLang="zh-CN" sz="2000" b="1" i="1" smtClean="0">
                            <a:solidFill>
                              <a:schemeClr val="accent2">
                                <a:lumMod val="50000"/>
                              </a:schemeClr>
                            </a:solidFill>
                            <a:latin typeface="Cambria Math" panose="02040503050406030204" pitchFamily="18" charset="0"/>
                          </a:rPr>
                          <m:t>𝒗</m:t>
                        </m:r>
                      </m:e>
                      <m:sub>
                        <m:r>
                          <a:rPr lang="en-US" altLang="zh-CN" sz="2000" b="1" i="1" smtClean="0">
                            <a:solidFill>
                              <a:schemeClr val="accent2">
                                <a:lumMod val="50000"/>
                              </a:schemeClr>
                            </a:solidFill>
                            <a:latin typeface="Cambria Math" panose="02040503050406030204" pitchFamily="18" charset="0"/>
                          </a:rPr>
                          <m:t>𝟑</m:t>
                        </m:r>
                      </m:sub>
                    </m:sSub>
                  </m:oMath>
                </a14:m>
                <a:r>
                  <a:rPr lang="zh-CN" altLang="en-US" sz="2000" b="1">
                    <a:solidFill>
                      <a:schemeClr val="accent2">
                        <a:lumMod val="50000"/>
                      </a:schemeClr>
                    </a:solidFill>
                  </a:rPr>
                  <a:t>和</a:t>
                </a:r>
                <a14:m>
                  <m:oMath xmlns:m="http://schemas.openxmlformats.org/officeDocument/2006/math">
                    <m:sSub>
                      <m:sSubPr>
                        <m:ctrlPr>
                          <a:rPr lang="en-US" altLang="zh-CN" sz="2000" b="1" i="1" smtClean="0">
                            <a:solidFill>
                              <a:schemeClr val="accent2">
                                <a:lumMod val="50000"/>
                              </a:schemeClr>
                            </a:solidFill>
                            <a:latin typeface="Cambria Math" panose="02040503050406030204" pitchFamily="18" charset="0"/>
                          </a:rPr>
                        </m:ctrlPr>
                      </m:sSubPr>
                      <m:e>
                        <m:r>
                          <a:rPr lang="en-US" altLang="zh-CN" sz="2000" b="1" i="1" smtClean="0">
                            <a:solidFill>
                              <a:schemeClr val="accent2">
                                <a:lumMod val="50000"/>
                              </a:schemeClr>
                            </a:solidFill>
                            <a:latin typeface="Cambria Math" panose="02040503050406030204" pitchFamily="18" charset="0"/>
                          </a:rPr>
                          <m:t>𝒗</m:t>
                        </m:r>
                      </m:e>
                      <m:sub>
                        <m:r>
                          <a:rPr lang="en-US" altLang="zh-CN" sz="2000" b="1" i="1" smtClean="0">
                            <a:solidFill>
                              <a:schemeClr val="accent2">
                                <a:lumMod val="50000"/>
                              </a:schemeClr>
                            </a:solidFill>
                            <a:latin typeface="Cambria Math" panose="02040503050406030204" pitchFamily="18" charset="0"/>
                          </a:rPr>
                          <m:t>𝟒</m:t>
                        </m:r>
                      </m:sub>
                    </m:sSub>
                  </m:oMath>
                </a14:m>
                <a:r>
                  <a:rPr lang="zh-CN" altLang="en-US" sz="2000" b="1">
                    <a:solidFill>
                      <a:schemeClr val="accent2">
                        <a:lumMod val="50000"/>
                      </a:schemeClr>
                    </a:solidFill>
                  </a:rPr>
                  <a:t>，一个欧拉道路是：</a:t>
                </a:r>
                <a:endParaRPr lang="en-US" altLang="zh-CN" sz="2000" b="1">
                  <a:solidFill>
                    <a:schemeClr val="accent2">
                      <a:lumMod val="50000"/>
                    </a:schemeClr>
                  </a:solidFill>
                </a:endParaRPr>
              </a:p>
              <a:p>
                <a:pPr>
                  <a:lnSpc>
                    <a:spcPts val="2800"/>
                  </a:lnSpc>
                  <a:spcBef>
                    <a:spcPts val="600"/>
                  </a:spcBef>
                </a:pPr>
                <a14:m>
                  <m:oMathPara xmlns:m="http://schemas.openxmlformats.org/officeDocument/2006/math">
                    <m:oMathParaPr>
                      <m:jc m:val="centerGroup"/>
                    </m:oMathParaPr>
                    <m:oMath xmlns:m="http://schemas.openxmlformats.org/officeDocument/2006/math">
                      <m:sSub>
                        <m:sSubPr>
                          <m:ctrlPr>
                            <a:rPr lang="en-US" altLang="zh-CN" sz="2000" b="1" i="1" smtClean="0">
                              <a:solidFill>
                                <a:schemeClr val="accent2">
                                  <a:lumMod val="50000"/>
                                </a:schemeClr>
                              </a:solidFill>
                              <a:latin typeface="Cambria Math" panose="02040503050406030204" pitchFamily="18" charset="0"/>
                            </a:rPr>
                          </m:ctrlPr>
                        </m:sSubPr>
                        <m:e>
                          <m:r>
                            <a:rPr lang="en-US" altLang="zh-CN" sz="2000" b="1" i="1" smtClean="0">
                              <a:solidFill>
                                <a:schemeClr val="accent2">
                                  <a:lumMod val="50000"/>
                                </a:schemeClr>
                              </a:solidFill>
                              <a:latin typeface="Cambria Math" panose="02040503050406030204" pitchFamily="18" charset="0"/>
                            </a:rPr>
                            <m:t>𝒗</m:t>
                          </m:r>
                        </m:e>
                        <m:sub>
                          <m:r>
                            <a:rPr lang="en-US" altLang="zh-CN" sz="2000" b="1" i="1" smtClean="0">
                              <a:solidFill>
                                <a:schemeClr val="accent2">
                                  <a:lumMod val="50000"/>
                                </a:schemeClr>
                              </a:solidFill>
                              <a:latin typeface="Cambria Math" panose="02040503050406030204" pitchFamily="18" charset="0"/>
                            </a:rPr>
                            <m:t>𝟒</m:t>
                          </m:r>
                        </m:sub>
                      </m:sSub>
                      <m:sSub>
                        <m:sSubPr>
                          <m:ctrlPr>
                            <a:rPr lang="en-US" altLang="zh-CN" sz="2000" b="1" i="1" smtClean="0">
                              <a:solidFill>
                                <a:schemeClr val="accent2">
                                  <a:lumMod val="50000"/>
                                </a:schemeClr>
                              </a:solidFill>
                              <a:latin typeface="Cambria Math" panose="02040503050406030204" pitchFamily="18" charset="0"/>
                            </a:rPr>
                          </m:ctrlPr>
                        </m:sSubPr>
                        <m:e>
                          <m:r>
                            <a:rPr lang="en-US" altLang="zh-CN" sz="2000" b="1" i="1" smtClean="0">
                              <a:solidFill>
                                <a:schemeClr val="accent2">
                                  <a:lumMod val="50000"/>
                                </a:schemeClr>
                              </a:solidFill>
                              <a:latin typeface="Cambria Math" panose="02040503050406030204" pitchFamily="18" charset="0"/>
                            </a:rPr>
                            <m:t>𝒗</m:t>
                          </m:r>
                        </m:e>
                        <m:sub>
                          <m:r>
                            <a:rPr lang="en-US" altLang="zh-CN" sz="2000" b="1" i="1" smtClean="0">
                              <a:solidFill>
                                <a:schemeClr val="accent2">
                                  <a:lumMod val="50000"/>
                                </a:schemeClr>
                              </a:solidFill>
                              <a:latin typeface="Cambria Math" panose="02040503050406030204" pitchFamily="18" charset="0"/>
                            </a:rPr>
                            <m:t>𝟔</m:t>
                          </m:r>
                        </m:sub>
                      </m:sSub>
                      <m:sSub>
                        <m:sSubPr>
                          <m:ctrlPr>
                            <a:rPr lang="en-US" altLang="zh-CN" sz="2000" b="1" i="1" smtClean="0">
                              <a:solidFill>
                                <a:schemeClr val="accent2">
                                  <a:lumMod val="50000"/>
                                </a:schemeClr>
                              </a:solidFill>
                              <a:latin typeface="Cambria Math" panose="02040503050406030204" pitchFamily="18" charset="0"/>
                            </a:rPr>
                          </m:ctrlPr>
                        </m:sSubPr>
                        <m:e>
                          <m:r>
                            <a:rPr lang="en-US" altLang="zh-CN" sz="2000" b="1" i="1" smtClean="0">
                              <a:solidFill>
                                <a:schemeClr val="accent2">
                                  <a:lumMod val="50000"/>
                                </a:schemeClr>
                              </a:solidFill>
                              <a:latin typeface="Cambria Math" panose="02040503050406030204" pitchFamily="18" charset="0"/>
                            </a:rPr>
                            <m:t>𝒗</m:t>
                          </m:r>
                        </m:e>
                        <m:sub>
                          <m:r>
                            <a:rPr lang="en-US" altLang="zh-CN" sz="2000" b="1" i="1" smtClean="0">
                              <a:solidFill>
                                <a:schemeClr val="accent2">
                                  <a:lumMod val="50000"/>
                                </a:schemeClr>
                              </a:solidFill>
                              <a:latin typeface="Cambria Math" panose="02040503050406030204" pitchFamily="18" charset="0"/>
                            </a:rPr>
                            <m:t>𝟓</m:t>
                          </m:r>
                        </m:sub>
                      </m:sSub>
                      <m:sSub>
                        <m:sSubPr>
                          <m:ctrlPr>
                            <a:rPr lang="en-US" altLang="zh-CN" sz="2000" b="1" i="1" smtClean="0">
                              <a:solidFill>
                                <a:schemeClr val="accent2">
                                  <a:lumMod val="50000"/>
                                </a:schemeClr>
                              </a:solidFill>
                              <a:latin typeface="Cambria Math" panose="02040503050406030204" pitchFamily="18" charset="0"/>
                            </a:rPr>
                          </m:ctrlPr>
                        </m:sSubPr>
                        <m:e>
                          <m:r>
                            <a:rPr lang="en-US" altLang="zh-CN" sz="2000" b="1" i="1" smtClean="0">
                              <a:solidFill>
                                <a:schemeClr val="accent2">
                                  <a:lumMod val="50000"/>
                                </a:schemeClr>
                              </a:solidFill>
                              <a:latin typeface="Cambria Math" panose="02040503050406030204" pitchFamily="18" charset="0"/>
                            </a:rPr>
                            <m:t>𝒗</m:t>
                          </m:r>
                        </m:e>
                        <m:sub>
                          <m:r>
                            <a:rPr lang="en-US" altLang="zh-CN" sz="2000" b="1" i="1" smtClean="0">
                              <a:solidFill>
                                <a:schemeClr val="accent2">
                                  <a:lumMod val="50000"/>
                                </a:schemeClr>
                              </a:solidFill>
                              <a:latin typeface="Cambria Math" panose="02040503050406030204" pitchFamily="18" charset="0"/>
                            </a:rPr>
                            <m:t>𝟒</m:t>
                          </m:r>
                        </m:sub>
                      </m:sSub>
                      <m:sSub>
                        <m:sSubPr>
                          <m:ctrlPr>
                            <a:rPr lang="en-US" altLang="zh-CN" sz="2000" b="1" i="1" smtClean="0">
                              <a:solidFill>
                                <a:schemeClr val="accent2">
                                  <a:lumMod val="50000"/>
                                </a:schemeClr>
                              </a:solidFill>
                              <a:latin typeface="Cambria Math" panose="02040503050406030204" pitchFamily="18" charset="0"/>
                            </a:rPr>
                          </m:ctrlPr>
                        </m:sSubPr>
                        <m:e>
                          <m:r>
                            <a:rPr lang="en-US" altLang="zh-CN" sz="2000" b="1" i="1" smtClean="0">
                              <a:solidFill>
                                <a:schemeClr val="accent2">
                                  <a:lumMod val="50000"/>
                                </a:schemeClr>
                              </a:solidFill>
                              <a:latin typeface="Cambria Math" panose="02040503050406030204" pitchFamily="18" charset="0"/>
                            </a:rPr>
                            <m:t>𝒗</m:t>
                          </m:r>
                        </m:e>
                        <m:sub>
                          <m:r>
                            <a:rPr lang="en-US" altLang="zh-CN" sz="2000" b="1" i="1" smtClean="0">
                              <a:solidFill>
                                <a:schemeClr val="accent2">
                                  <a:lumMod val="50000"/>
                                </a:schemeClr>
                              </a:solidFill>
                              <a:latin typeface="Cambria Math" panose="02040503050406030204" pitchFamily="18" charset="0"/>
                            </a:rPr>
                            <m:t>𝟐</m:t>
                          </m:r>
                        </m:sub>
                      </m:sSub>
                      <m:sSub>
                        <m:sSubPr>
                          <m:ctrlPr>
                            <a:rPr lang="en-US" altLang="zh-CN" sz="2000" b="1" i="1" smtClean="0">
                              <a:solidFill>
                                <a:schemeClr val="accent2">
                                  <a:lumMod val="50000"/>
                                </a:schemeClr>
                              </a:solidFill>
                              <a:latin typeface="Cambria Math" panose="02040503050406030204" pitchFamily="18" charset="0"/>
                            </a:rPr>
                          </m:ctrlPr>
                        </m:sSubPr>
                        <m:e>
                          <m:r>
                            <a:rPr lang="en-US" altLang="zh-CN" sz="2000" b="1" i="1" smtClean="0">
                              <a:solidFill>
                                <a:schemeClr val="accent2">
                                  <a:lumMod val="50000"/>
                                </a:schemeClr>
                              </a:solidFill>
                              <a:latin typeface="Cambria Math" panose="02040503050406030204" pitchFamily="18" charset="0"/>
                            </a:rPr>
                            <m:t>𝒗</m:t>
                          </m:r>
                        </m:e>
                        <m:sub>
                          <m:r>
                            <a:rPr lang="en-US" altLang="zh-CN" sz="2000" b="1" i="1" smtClean="0">
                              <a:solidFill>
                                <a:schemeClr val="accent2">
                                  <a:lumMod val="50000"/>
                                </a:schemeClr>
                              </a:solidFill>
                              <a:latin typeface="Cambria Math" panose="02040503050406030204" pitchFamily="18" charset="0"/>
                            </a:rPr>
                            <m:t>𝟏</m:t>
                          </m:r>
                        </m:sub>
                      </m:sSub>
                      <m:sSub>
                        <m:sSubPr>
                          <m:ctrlPr>
                            <a:rPr lang="en-US" altLang="zh-CN" sz="2000" b="1" i="1" smtClean="0">
                              <a:solidFill>
                                <a:schemeClr val="accent2">
                                  <a:lumMod val="50000"/>
                                </a:schemeClr>
                              </a:solidFill>
                              <a:latin typeface="Cambria Math" panose="02040503050406030204" pitchFamily="18" charset="0"/>
                            </a:rPr>
                          </m:ctrlPr>
                        </m:sSubPr>
                        <m:e>
                          <m:r>
                            <a:rPr lang="en-US" altLang="zh-CN" sz="2000" b="1" i="1" smtClean="0">
                              <a:solidFill>
                                <a:schemeClr val="accent2">
                                  <a:lumMod val="50000"/>
                                </a:schemeClr>
                              </a:solidFill>
                              <a:latin typeface="Cambria Math" panose="02040503050406030204" pitchFamily="18" charset="0"/>
                            </a:rPr>
                            <m:t>𝒗</m:t>
                          </m:r>
                        </m:e>
                        <m:sub>
                          <m:r>
                            <a:rPr lang="en-US" altLang="zh-CN" sz="2000" b="1" i="1" smtClean="0">
                              <a:solidFill>
                                <a:schemeClr val="accent2">
                                  <a:lumMod val="50000"/>
                                </a:schemeClr>
                              </a:solidFill>
                              <a:latin typeface="Cambria Math" panose="02040503050406030204" pitchFamily="18" charset="0"/>
                            </a:rPr>
                            <m:t>𝟑</m:t>
                          </m:r>
                        </m:sub>
                      </m:sSub>
                      <m:sSub>
                        <m:sSubPr>
                          <m:ctrlPr>
                            <a:rPr lang="en-US" altLang="zh-CN" sz="2000" b="1" i="1" smtClean="0">
                              <a:solidFill>
                                <a:schemeClr val="accent2">
                                  <a:lumMod val="50000"/>
                                </a:schemeClr>
                              </a:solidFill>
                              <a:latin typeface="Cambria Math" panose="02040503050406030204" pitchFamily="18" charset="0"/>
                            </a:rPr>
                          </m:ctrlPr>
                        </m:sSubPr>
                        <m:e>
                          <m:r>
                            <a:rPr lang="en-US" altLang="zh-CN" sz="2000" b="1" i="1" smtClean="0">
                              <a:solidFill>
                                <a:schemeClr val="accent2">
                                  <a:lumMod val="50000"/>
                                </a:schemeClr>
                              </a:solidFill>
                              <a:latin typeface="Cambria Math" panose="02040503050406030204" pitchFamily="18" charset="0"/>
                            </a:rPr>
                            <m:t>𝒗</m:t>
                          </m:r>
                        </m:e>
                        <m:sub>
                          <m:r>
                            <a:rPr lang="en-US" altLang="zh-CN" sz="2000" b="1" i="1" smtClean="0">
                              <a:solidFill>
                                <a:schemeClr val="accent2">
                                  <a:lumMod val="50000"/>
                                </a:schemeClr>
                              </a:solidFill>
                              <a:latin typeface="Cambria Math" panose="02040503050406030204" pitchFamily="18" charset="0"/>
                            </a:rPr>
                            <m:t>𝟐</m:t>
                          </m:r>
                        </m:sub>
                      </m:sSub>
                      <m:sSub>
                        <m:sSubPr>
                          <m:ctrlPr>
                            <a:rPr lang="en-US" altLang="zh-CN" sz="2000" b="1" i="1" smtClean="0">
                              <a:solidFill>
                                <a:schemeClr val="accent2">
                                  <a:lumMod val="50000"/>
                                </a:schemeClr>
                              </a:solidFill>
                              <a:latin typeface="Cambria Math" panose="02040503050406030204" pitchFamily="18" charset="0"/>
                            </a:rPr>
                          </m:ctrlPr>
                        </m:sSubPr>
                        <m:e>
                          <m:r>
                            <a:rPr lang="en-US" altLang="zh-CN" sz="2000" b="1" i="1" smtClean="0">
                              <a:solidFill>
                                <a:schemeClr val="accent2">
                                  <a:lumMod val="50000"/>
                                </a:schemeClr>
                              </a:solidFill>
                              <a:latin typeface="Cambria Math" panose="02040503050406030204" pitchFamily="18" charset="0"/>
                            </a:rPr>
                            <m:t>𝒗</m:t>
                          </m:r>
                        </m:e>
                        <m:sub>
                          <m:r>
                            <a:rPr lang="en-US" altLang="zh-CN" sz="2000" b="1" i="1" smtClean="0">
                              <a:solidFill>
                                <a:schemeClr val="accent2">
                                  <a:lumMod val="50000"/>
                                </a:schemeClr>
                              </a:solidFill>
                              <a:latin typeface="Cambria Math" panose="02040503050406030204" pitchFamily="18" charset="0"/>
                            </a:rPr>
                            <m:t>𝟓</m:t>
                          </m:r>
                        </m:sub>
                      </m:sSub>
                      <m:sSub>
                        <m:sSubPr>
                          <m:ctrlPr>
                            <a:rPr lang="en-US" altLang="zh-CN" sz="2000" b="1" i="1" smtClean="0">
                              <a:solidFill>
                                <a:schemeClr val="accent2">
                                  <a:lumMod val="50000"/>
                                </a:schemeClr>
                              </a:solidFill>
                              <a:latin typeface="Cambria Math" panose="02040503050406030204" pitchFamily="18" charset="0"/>
                            </a:rPr>
                          </m:ctrlPr>
                        </m:sSubPr>
                        <m:e>
                          <m:r>
                            <a:rPr lang="en-US" altLang="zh-CN" sz="2000" b="1" i="1" smtClean="0">
                              <a:solidFill>
                                <a:schemeClr val="accent2">
                                  <a:lumMod val="50000"/>
                                </a:schemeClr>
                              </a:solidFill>
                              <a:latin typeface="Cambria Math" panose="02040503050406030204" pitchFamily="18" charset="0"/>
                            </a:rPr>
                            <m:t>𝒗</m:t>
                          </m:r>
                        </m:e>
                        <m:sub>
                          <m:r>
                            <a:rPr lang="en-US" altLang="zh-CN" sz="2000" b="1" i="1" smtClean="0">
                              <a:solidFill>
                                <a:schemeClr val="accent2">
                                  <a:lumMod val="50000"/>
                                </a:schemeClr>
                              </a:solidFill>
                              <a:latin typeface="Cambria Math" panose="02040503050406030204" pitchFamily="18" charset="0"/>
                            </a:rPr>
                            <m:t>𝟑</m:t>
                          </m:r>
                        </m:sub>
                      </m:sSub>
                    </m:oMath>
                  </m:oMathPara>
                </a14:m>
                <a:endParaRPr lang="zh-CN" altLang="en-US" b="1">
                  <a:solidFill>
                    <a:schemeClr val="accent2">
                      <a:lumMod val="50000"/>
                    </a:schemeClr>
                  </a:solidFill>
                </a:endParaRPr>
              </a:p>
            </p:txBody>
          </p:sp>
        </mc:Choice>
        <mc:Fallback xmlns="">
          <p:sp>
            <p:nvSpPr>
              <p:cNvPr id="13" name="文本框 12">
                <a:extLst>
                  <a:ext uri="{FF2B5EF4-FFF2-40B4-BE49-F238E27FC236}">
                    <a16:creationId xmlns:a16="http://schemas.microsoft.com/office/drawing/2014/main" id="{F2E1A5DE-C95F-4765-8E7E-6A5D55833078}"/>
                  </a:ext>
                </a:extLst>
              </p:cNvPr>
              <p:cNvSpPr txBox="1">
                <a:spLocks noRot="1" noChangeAspect="1" noMove="1" noResize="1" noEditPoints="1" noAdjustHandles="1" noChangeArrowheads="1" noChangeShapeType="1" noTextEdit="1"/>
              </p:cNvSpPr>
              <p:nvPr/>
            </p:nvSpPr>
            <p:spPr>
              <a:xfrm>
                <a:off x="5810939" y="4696490"/>
                <a:ext cx="3589620" cy="1169551"/>
              </a:xfrm>
              <a:prstGeom prst="rect">
                <a:avLst/>
              </a:prstGeom>
              <a:blipFill>
                <a:blip r:embed="rId4"/>
                <a:stretch>
                  <a:fillRect l="-1698"/>
                </a:stretch>
              </a:blipFill>
            </p:spPr>
            <p:txBody>
              <a:bodyPr/>
              <a:lstStyle/>
              <a:p>
                <a:r>
                  <a:rPr lang="zh-CN" altLang="en-US">
                    <a:noFill/>
                  </a:rPr>
                  <a:t> </a:t>
                </a:r>
              </a:p>
            </p:txBody>
          </p:sp>
        </mc:Fallback>
      </mc:AlternateContent>
      <p:sp>
        <p:nvSpPr>
          <p:cNvPr id="12" name="任意多边形: 形状 11">
            <a:extLst>
              <a:ext uri="{FF2B5EF4-FFF2-40B4-BE49-F238E27FC236}">
                <a16:creationId xmlns:a16="http://schemas.microsoft.com/office/drawing/2014/main" id="{D28FEFD7-BFCF-4FEA-97CE-9BE21EA5F809}"/>
              </a:ext>
            </a:extLst>
          </p:cNvPr>
          <p:cNvSpPr/>
          <p:nvPr/>
        </p:nvSpPr>
        <p:spPr>
          <a:xfrm>
            <a:off x="1230164" y="2212721"/>
            <a:ext cx="3499736" cy="2045502"/>
          </a:xfrm>
          <a:custGeom>
            <a:avLst/>
            <a:gdLst>
              <a:gd name="connsiteX0" fmla="*/ 0 w 3499736"/>
              <a:gd name="connsiteY0" fmla="*/ 898870 h 2045502"/>
              <a:gd name="connsiteX1" fmla="*/ 868351 w 3499736"/>
              <a:gd name="connsiteY1" fmla="*/ 116039 h 2045502"/>
              <a:gd name="connsiteX2" fmla="*/ 2519534 w 3499736"/>
              <a:gd name="connsiteY2" fmla="*/ 96303 h 2045502"/>
              <a:gd name="connsiteX3" fmla="*/ 3499718 w 3499736"/>
              <a:gd name="connsiteY3" fmla="*/ 997547 h 2045502"/>
              <a:gd name="connsiteX4" fmla="*/ 2545848 w 3499736"/>
              <a:gd name="connsiteY4" fmla="*/ 2036937 h 2045502"/>
              <a:gd name="connsiteX5" fmla="*/ 2440593 w 3499736"/>
              <a:gd name="connsiteY5" fmla="*/ 392332 h 2045502"/>
              <a:gd name="connsiteX6" fmla="*/ 1697232 w 3499736"/>
              <a:gd name="connsiteY6" fmla="*/ 931762 h 2045502"/>
              <a:gd name="connsiteX7" fmla="*/ 2368230 w 3499736"/>
              <a:gd name="connsiteY7" fmla="*/ 1813270 h 2045502"/>
              <a:gd name="connsiteX8" fmla="*/ 1078860 w 3499736"/>
              <a:gd name="connsiteY8" fmla="*/ 1905368 h 2045502"/>
              <a:gd name="connsiteX9" fmla="*/ 1532771 w 3499736"/>
              <a:gd name="connsiteY9" fmla="*/ 1135693 h 2045502"/>
              <a:gd name="connsiteX10" fmla="*/ 940714 w 3499736"/>
              <a:gd name="connsiteY10" fmla="*/ 425224 h 2045502"/>
              <a:gd name="connsiteX11" fmla="*/ 855194 w 3499736"/>
              <a:gd name="connsiteY11" fmla="*/ 1780378 h 2045502"/>
              <a:gd name="connsiteX12" fmla="*/ 190774 w 3499736"/>
              <a:gd name="connsiteY12" fmla="*/ 1115958 h 2045502"/>
              <a:gd name="connsiteX13" fmla="*/ 190774 w 3499736"/>
              <a:gd name="connsiteY13" fmla="*/ 1115958 h 2045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499736" h="2045502">
                <a:moveTo>
                  <a:pt x="0" y="898870"/>
                </a:moveTo>
                <a:cubicBezTo>
                  <a:pt x="224214" y="574335"/>
                  <a:pt x="448429" y="249800"/>
                  <a:pt x="868351" y="116039"/>
                </a:cubicBezTo>
                <a:cubicBezTo>
                  <a:pt x="1288273" y="-17722"/>
                  <a:pt x="2080973" y="-50615"/>
                  <a:pt x="2519534" y="96303"/>
                </a:cubicBezTo>
                <a:cubicBezTo>
                  <a:pt x="2958095" y="243221"/>
                  <a:pt x="3495332" y="674108"/>
                  <a:pt x="3499718" y="997547"/>
                </a:cubicBezTo>
                <a:cubicBezTo>
                  <a:pt x="3504104" y="1320986"/>
                  <a:pt x="2722369" y="2137806"/>
                  <a:pt x="2545848" y="2036937"/>
                </a:cubicBezTo>
                <a:cubicBezTo>
                  <a:pt x="2369327" y="1936068"/>
                  <a:pt x="2582029" y="576528"/>
                  <a:pt x="2440593" y="392332"/>
                </a:cubicBezTo>
                <a:cubicBezTo>
                  <a:pt x="2299157" y="208136"/>
                  <a:pt x="1709293" y="694939"/>
                  <a:pt x="1697232" y="931762"/>
                </a:cubicBezTo>
                <a:cubicBezTo>
                  <a:pt x="1685172" y="1168585"/>
                  <a:pt x="2471292" y="1651003"/>
                  <a:pt x="2368230" y="1813270"/>
                </a:cubicBezTo>
                <a:cubicBezTo>
                  <a:pt x="2265168" y="1975537"/>
                  <a:pt x="1218103" y="2018297"/>
                  <a:pt x="1078860" y="1905368"/>
                </a:cubicBezTo>
                <a:cubicBezTo>
                  <a:pt x="939617" y="1792439"/>
                  <a:pt x="1555795" y="1382384"/>
                  <a:pt x="1532771" y="1135693"/>
                </a:cubicBezTo>
                <a:cubicBezTo>
                  <a:pt x="1509747" y="889002"/>
                  <a:pt x="1053643" y="317777"/>
                  <a:pt x="940714" y="425224"/>
                </a:cubicBezTo>
                <a:cubicBezTo>
                  <a:pt x="827785" y="532671"/>
                  <a:pt x="980184" y="1665256"/>
                  <a:pt x="855194" y="1780378"/>
                </a:cubicBezTo>
                <a:cubicBezTo>
                  <a:pt x="730204" y="1895500"/>
                  <a:pt x="190774" y="1115958"/>
                  <a:pt x="190774" y="1115958"/>
                </a:cubicBezTo>
                <a:lnTo>
                  <a:pt x="190774" y="1115958"/>
                </a:lnTo>
              </a:path>
            </a:pathLst>
          </a:custGeom>
          <a:noFill/>
          <a:ln>
            <a:solidFill>
              <a:schemeClr val="accent2">
                <a:lumMod val="50000"/>
              </a:schemeClr>
            </a:solidFill>
            <a:prstDash val="sysDash"/>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任意多边形: 形状 13">
            <a:extLst>
              <a:ext uri="{FF2B5EF4-FFF2-40B4-BE49-F238E27FC236}">
                <a16:creationId xmlns:a16="http://schemas.microsoft.com/office/drawing/2014/main" id="{FFCB04E2-02BE-4F69-9BE5-DA4DDC327495}"/>
              </a:ext>
            </a:extLst>
          </p:cNvPr>
          <p:cNvSpPr/>
          <p:nvPr/>
        </p:nvSpPr>
        <p:spPr>
          <a:xfrm>
            <a:off x="5702261" y="2278623"/>
            <a:ext cx="3632650" cy="2087885"/>
          </a:xfrm>
          <a:custGeom>
            <a:avLst/>
            <a:gdLst>
              <a:gd name="connsiteX0" fmla="*/ 2757584 w 3632650"/>
              <a:gd name="connsiteY0" fmla="*/ 129078 h 2087885"/>
              <a:gd name="connsiteX1" fmla="*/ 3632513 w 3632650"/>
              <a:gd name="connsiteY1" fmla="*/ 1056635 h 2087885"/>
              <a:gd name="connsiteX2" fmla="*/ 2823368 w 3632650"/>
              <a:gd name="connsiteY2" fmla="*/ 1944721 h 2087885"/>
              <a:gd name="connsiteX3" fmla="*/ 2586545 w 3632650"/>
              <a:gd name="connsiteY3" fmla="*/ 280381 h 2087885"/>
              <a:gd name="connsiteX4" fmla="*/ 1027460 w 3632650"/>
              <a:gd name="connsiteY4" fmla="*/ 69872 h 2087885"/>
              <a:gd name="connsiteX5" fmla="*/ 1227 w 3632650"/>
              <a:gd name="connsiteY5" fmla="*/ 1017164 h 2087885"/>
              <a:gd name="connsiteX6" fmla="*/ 823529 w 3632650"/>
              <a:gd name="connsiteY6" fmla="*/ 1911829 h 2087885"/>
              <a:gd name="connsiteX7" fmla="*/ 1047195 w 3632650"/>
              <a:gd name="connsiteY7" fmla="*/ 359322 h 2087885"/>
              <a:gd name="connsiteX8" fmla="*/ 2481290 w 3632650"/>
              <a:gd name="connsiteY8" fmla="*/ 1957878 h 2087885"/>
              <a:gd name="connsiteX9" fmla="*/ 1020881 w 3632650"/>
              <a:gd name="connsiteY9" fmla="*/ 1990770 h 2087885"/>
              <a:gd name="connsiteX10" fmla="*/ 1020881 w 3632650"/>
              <a:gd name="connsiteY10" fmla="*/ 1990770 h 2087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32650" h="2087885">
                <a:moveTo>
                  <a:pt x="2757584" y="129078"/>
                </a:moveTo>
                <a:cubicBezTo>
                  <a:pt x="3189566" y="441553"/>
                  <a:pt x="3621549" y="754028"/>
                  <a:pt x="3632513" y="1056635"/>
                </a:cubicBezTo>
                <a:cubicBezTo>
                  <a:pt x="3643477" y="1359242"/>
                  <a:pt x="2997696" y="2074097"/>
                  <a:pt x="2823368" y="1944721"/>
                </a:cubicBezTo>
                <a:cubicBezTo>
                  <a:pt x="2649040" y="1815345"/>
                  <a:pt x="2885863" y="592856"/>
                  <a:pt x="2586545" y="280381"/>
                </a:cubicBezTo>
                <a:cubicBezTo>
                  <a:pt x="2287227" y="-32094"/>
                  <a:pt x="1458346" y="-52925"/>
                  <a:pt x="1027460" y="69872"/>
                </a:cubicBezTo>
                <a:cubicBezTo>
                  <a:pt x="596574" y="192669"/>
                  <a:pt x="35215" y="710171"/>
                  <a:pt x="1227" y="1017164"/>
                </a:cubicBezTo>
                <a:cubicBezTo>
                  <a:pt x="-32761" y="1324157"/>
                  <a:pt x="649201" y="2021469"/>
                  <a:pt x="823529" y="1911829"/>
                </a:cubicBezTo>
                <a:cubicBezTo>
                  <a:pt x="997857" y="1802189"/>
                  <a:pt x="770902" y="351647"/>
                  <a:pt x="1047195" y="359322"/>
                </a:cubicBezTo>
                <a:cubicBezTo>
                  <a:pt x="1323488" y="366997"/>
                  <a:pt x="2485676" y="1685970"/>
                  <a:pt x="2481290" y="1957878"/>
                </a:cubicBezTo>
                <a:cubicBezTo>
                  <a:pt x="2476904" y="2229786"/>
                  <a:pt x="1020881" y="1990770"/>
                  <a:pt x="1020881" y="1990770"/>
                </a:cubicBezTo>
                <a:lnTo>
                  <a:pt x="1020881" y="1990770"/>
                </a:lnTo>
              </a:path>
            </a:pathLst>
          </a:custGeom>
          <a:noFill/>
          <a:ln>
            <a:solidFill>
              <a:schemeClr val="accent2">
                <a:lumMod val="50000"/>
              </a:schemeClr>
            </a:solidFill>
            <a:prstDash val="sysDash"/>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707918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欧拉图</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第三十一讲  一些特殊的图</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21</a:t>
            </a:fld>
            <a:r>
              <a:rPr lang="en-US" altLang="zh-CN" dirty="0">
                <a:latin typeface="Arial" panose="020B0604020202020204" pitchFamily="34" charset="0"/>
                <a:ea typeface="楷体" panose="02010609060101010101" pitchFamily="49" charset="-122"/>
                <a:cs typeface="Arial" panose="020B0604020202020204" pitchFamily="34" charset="0"/>
              </a:rPr>
              <a:t>/32</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欧拉图相关问题</a:t>
            </a:r>
          </a:p>
        </p:txBody>
      </p:sp>
      <p:sp>
        <p:nvSpPr>
          <p:cNvPr id="2" name="矩形 1">
            <a:extLst>
              <a:ext uri="{FF2B5EF4-FFF2-40B4-BE49-F238E27FC236}">
                <a16:creationId xmlns:a16="http://schemas.microsoft.com/office/drawing/2014/main" id="{DE1BAD47-45BF-44B0-B91B-4FC3A755814E}"/>
              </a:ext>
            </a:extLst>
          </p:cNvPr>
          <p:cNvSpPr/>
          <p:nvPr/>
        </p:nvSpPr>
        <p:spPr>
          <a:xfrm>
            <a:off x="1214903" y="3173292"/>
            <a:ext cx="6598487" cy="2145396"/>
          </a:xfrm>
          <a:prstGeom prst="rect">
            <a:avLst/>
          </a:prstGeom>
          <a:solidFill>
            <a:schemeClr val="accent5">
              <a:lumMod val="20000"/>
              <a:lumOff val="80000"/>
              <a:alpha val="50000"/>
            </a:schemeClr>
          </a:solidFill>
        </p:spPr>
        <p:txBody>
          <a:bodyPr wrap="square">
            <a:spAutoFit/>
          </a:bodyPr>
          <a:lstStyle/>
          <a:p>
            <a:pPr>
              <a:lnSpc>
                <a:spcPts val="2500"/>
              </a:lnSpc>
              <a:spcBef>
                <a:spcPts val="600"/>
              </a:spcBef>
              <a:spcAft>
                <a:spcPts val="600"/>
              </a:spcAft>
            </a:pPr>
            <a:r>
              <a:rPr lang="en-US" altLang="zh-CN" sz="2000" b="1">
                <a:solidFill>
                  <a:srgbClr val="002060"/>
                </a:solidFill>
                <a:latin typeface="+mn-ea"/>
              </a:rPr>
              <a:t>Fleury</a:t>
            </a:r>
            <a:r>
              <a:rPr lang="zh-CN" altLang="en-US" sz="2000" b="1">
                <a:solidFill>
                  <a:srgbClr val="002060"/>
                </a:solidFill>
                <a:latin typeface="楷体" panose="02010609060101010101" pitchFamily="49" charset="-122"/>
                <a:ea typeface="楷体" panose="02010609060101010101" pitchFamily="49" charset="-122"/>
              </a:rPr>
              <a:t>提出了一个构造欧拉图中欧拉回路的方法</a:t>
            </a:r>
          </a:p>
          <a:p>
            <a:pPr marL="285750" indent="-285750">
              <a:lnSpc>
                <a:spcPts val="2500"/>
              </a:lnSpc>
              <a:spcBef>
                <a:spcPts val="600"/>
              </a:spcBef>
              <a:spcAft>
                <a:spcPts val="600"/>
              </a:spcAft>
              <a:buFont typeface="Arial" panose="020B0604020202020204" pitchFamily="34" charset="0"/>
              <a:buChar char="•"/>
            </a:pPr>
            <a:r>
              <a:rPr lang="zh-CN" altLang="en-US" sz="2000" b="1">
                <a:solidFill>
                  <a:schemeClr val="accent6">
                    <a:lumMod val="50000"/>
                  </a:schemeClr>
                </a:solidFill>
              </a:rPr>
              <a:t>任选一个顶点，不断选相连的边形成回路</a:t>
            </a:r>
            <a:endParaRPr lang="en-US" altLang="zh-CN" sz="2000" b="1">
              <a:solidFill>
                <a:schemeClr val="accent6">
                  <a:lumMod val="50000"/>
                </a:schemeClr>
              </a:solidFill>
            </a:endParaRPr>
          </a:p>
          <a:p>
            <a:pPr marL="285750" indent="-285750">
              <a:lnSpc>
                <a:spcPts val="2500"/>
              </a:lnSpc>
              <a:spcBef>
                <a:spcPts val="600"/>
              </a:spcBef>
              <a:spcAft>
                <a:spcPts val="600"/>
              </a:spcAft>
              <a:buFont typeface="Arial" panose="020B0604020202020204" pitchFamily="34" charset="0"/>
              <a:buChar char="•"/>
            </a:pPr>
            <a:r>
              <a:rPr lang="zh-CN" altLang="en-US" sz="2000" b="1">
                <a:solidFill>
                  <a:schemeClr val="accent6">
                    <a:lumMod val="50000"/>
                  </a:schemeClr>
                </a:solidFill>
              </a:rPr>
              <a:t>选的过程中下一条边要与已经选的最后一条边相邻，且</a:t>
            </a:r>
            <a:endParaRPr lang="en-US" altLang="zh-CN" sz="2000" b="1">
              <a:solidFill>
                <a:schemeClr val="accent6">
                  <a:lumMod val="50000"/>
                </a:schemeClr>
              </a:solidFill>
            </a:endParaRPr>
          </a:p>
          <a:p>
            <a:pPr marL="285750" indent="-285750">
              <a:lnSpc>
                <a:spcPts val="2500"/>
              </a:lnSpc>
              <a:spcBef>
                <a:spcPts val="600"/>
              </a:spcBef>
              <a:spcAft>
                <a:spcPts val="600"/>
              </a:spcAft>
              <a:buFont typeface="Arial" panose="020B0604020202020204" pitchFamily="34" charset="0"/>
              <a:buChar char="•"/>
            </a:pPr>
            <a:r>
              <a:rPr lang="zh-CN" altLang="en-US" sz="2000" b="1">
                <a:solidFill>
                  <a:schemeClr val="accent6">
                    <a:lumMod val="50000"/>
                  </a:schemeClr>
                </a:solidFill>
              </a:rPr>
              <a:t>在原图删除所有已选边后待选的下一条边</a:t>
            </a:r>
            <a:r>
              <a:rPr lang="zh-CN" altLang="en-US" sz="2000" b="1">
                <a:solidFill>
                  <a:srgbClr val="C00000"/>
                </a:solidFill>
              </a:rPr>
              <a:t>不是桥</a:t>
            </a:r>
            <a:r>
              <a:rPr lang="zh-CN" altLang="en-US" sz="2000" b="1">
                <a:solidFill>
                  <a:schemeClr val="accent6">
                    <a:lumMod val="50000"/>
                  </a:schemeClr>
                </a:solidFill>
              </a:rPr>
              <a:t>（除非已无其他边可选）</a:t>
            </a:r>
          </a:p>
        </p:txBody>
      </p:sp>
      <p:sp>
        <p:nvSpPr>
          <p:cNvPr id="3" name="文本框 2">
            <a:extLst>
              <a:ext uri="{FF2B5EF4-FFF2-40B4-BE49-F238E27FC236}">
                <a16:creationId xmlns:a16="http://schemas.microsoft.com/office/drawing/2014/main" id="{8C001A4A-D12F-4BD6-9FF4-493E41FB6908}"/>
              </a:ext>
            </a:extLst>
          </p:cNvPr>
          <p:cNvSpPr txBox="1"/>
          <p:nvPr/>
        </p:nvSpPr>
        <p:spPr>
          <a:xfrm>
            <a:off x="1214903" y="1788864"/>
            <a:ext cx="8597555" cy="943143"/>
          </a:xfrm>
          <a:prstGeom prst="rect">
            <a:avLst/>
          </a:prstGeom>
          <a:solidFill>
            <a:schemeClr val="accent5">
              <a:lumMod val="20000"/>
              <a:lumOff val="80000"/>
              <a:alpha val="50000"/>
            </a:schemeClr>
          </a:solidFill>
        </p:spPr>
        <p:txBody>
          <a:bodyPr wrap="square" rtlCol="0">
            <a:spAutoFit/>
          </a:bodyPr>
          <a:lstStyle/>
          <a:p>
            <a:pPr>
              <a:lnSpc>
                <a:spcPts val="2800"/>
              </a:lnSpc>
              <a:spcBef>
                <a:spcPts val="600"/>
              </a:spcBef>
              <a:spcAft>
                <a:spcPts val="600"/>
              </a:spcAft>
            </a:pPr>
            <a:r>
              <a:rPr lang="zh-CN" altLang="en-US" sz="2000" b="1">
                <a:solidFill>
                  <a:srgbClr val="002060"/>
                </a:solidFill>
                <a:latin typeface="楷体" panose="02010609060101010101" pitchFamily="49" charset="-122"/>
                <a:ea typeface="楷体" panose="02010609060101010101" pitchFamily="49" charset="-122"/>
              </a:rPr>
              <a:t>欧拉图也是所谓的“一笔画”的图</a:t>
            </a:r>
          </a:p>
          <a:p>
            <a:pPr marL="285750" indent="-285750">
              <a:lnSpc>
                <a:spcPts val="2800"/>
              </a:lnSpc>
              <a:spcBef>
                <a:spcPts val="600"/>
              </a:spcBef>
              <a:spcAft>
                <a:spcPts val="600"/>
              </a:spcAft>
              <a:buFont typeface="Arial" panose="020B0604020202020204" pitchFamily="34" charset="0"/>
              <a:buChar char="•"/>
            </a:pPr>
            <a:r>
              <a:rPr lang="zh-CN" altLang="en-US" sz="2000" b="1">
                <a:solidFill>
                  <a:schemeClr val="accent6">
                    <a:lumMod val="50000"/>
                  </a:schemeClr>
                </a:solidFill>
              </a:rPr>
              <a:t>即在用笔画这样的图时，可笔尖不离开纸面，一次性将图的所有边画出来</a:t>
            </a:r>
          </a:p>
        </p:txBody>
      </p:sp>
      <p:grpSp>
        <p:nvGrpSpPr>
          <p:cNvPr id="13" name="组合 12">
            <a:extLst>
              <a:ext uri="{FF2B5EF4-FFF2-40B4-BE49-F238E27FC236}">
                <a16:creationId xmlns:a16="http://schemas.microsoft.com/office/drawing/2014/main" id="{AB38D45E-CA01-4C01-ACC6-AC9044472E33}"/>
              </a:ext>
            </a:extLst>
          </p:cNvPr>
          <p:cNvGrpSpPr/>
          <p:nvPr/>
        </p:nvGrpSpPr>
        <p:grpSpPr>
          <a:xfrm>
            <a:off x="8356700" y="3273176"/>
            <a:ext cx="2108346" cy="1938766"/>
            <a:chOff x="9189119" y="2789675"/>
            <a:chExt cx="2108346" cy="1938766"/>
          </a:xfrm>
        </p:grpSpPr>
        <p:pic>
          <p:nvPicPr>
            <p:cNvPr id="12" name="图片 11">
              <a:extLst>
                <a:ext uri="{FF2B5EF4-FFF2-40B4-BE49-F238E27FC236}">
                  <a16:creationId xmlns:a16="http://schemas.microsoft.com/office/drawing/2014/main" id="{10D49520-3A54-4DC6-9EC1-BF74A5F49D43}"/>
                </a:ext>
              </a:extLst>
            </p:cNvPr>
            <p:cNvPicPr>
              <a:picLocks noChangeAspect="1"/>
            </p:cNvPicPr>
            <p:nvPr/>
          </p:nvPicPr>
          <p:blipFill>
            <a:blip r:embed="rId2"/>
            <a:stretch>
              <a:fillRect/>
            </a:stretch>
          </p:blipFill>
          <p:spPr>
            <a:xfrm>
              <a:off x="9270124" y="2918690"/>
              <a:ext cx="1946336" cy="1809751"/>
            </a:xfrm>
            <a:prstGeom prst="rect">
              <a:avLst/>
            </a:prstGeom>
          </p:spPr>
        </p:pic>
        <p:sp>
          <p:nvSpPr>
            <p:cNvPr id="11" name="任意多边形: 形状 10">
              <a:extLst>
                <a:ext uri="{FF2B5EF4-FFF2-40B4-BE49-F238E27FC236}">
                  <a16:creationId xmlns:a16="http://schemas.microsoft.com/office/drawing/2014/main" id="{36CDC660-7B06-4F44-AEFB-F0A075F9F473}"/>
                </a:ext>
              </a:extLst>
            </p:cNvPr>
            <p:cNvSpPr/>
            <p:nvPr/>
          </p:nvSpPr>
          <p:spPr>
            <a:xfrm>
              <a:off x="9189119" y="2789675"/>
              <a:ext cx="1997276" cy="1179632"/>
            </a:xfrm>
            <a:custGeom>
              <a:avLst/>
              <a:gdLst>
                <a:gd name="connsiteX0" fmla="*/ 962513 w 1997276"/>
                <a:gd name="connsiteY0" fmla="*/ 81010 h 1179632"/>
                <a:gd name="connsiteX1" fmla="*/ 107319 w 1997276"/>
                <a:gd name="connsiteY1" fmla="*/ 113902 h 1179632"/>
                <a:gd name="connsiteX2" fmla="*/ 127054 w 1997276"/>
                <a:gd name="connsiteY2" fmla="*/ 1179606 h 1179632"/>
                <a:gd name="connsiteX3" fmla="*/ 1146709 w 1997276"/>
                <a:gd name="connsiteY3" fmla="*/ 146794 h 1179632"/>
                <a:gd name="connsiteX4" fmla="*/ 1896648 w 1997276"/>
                <a:gd name="connsiteY4" fmla="*/ 113902 h 1179632"/>
                <a:gd name="connsiteX5" fmla="*/ 1969011 w 1997276"/>
                <a:gd name="connsiteY5" fmla="*/ 1120400 h 1179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97276" h="1179632">
                  <a:moveTo>
                    <a:pt x="962513" y="81010"/>
                  </a:moveTo>
                  <a:cubicBezTo>
                    <a:pt x="604537" y="5906"/>
                    <a:pt x="246562" y="-69197"/>
                    <a:pt x="107319" y="113902"/>
                  </a:cubicBezTo>
                  <a:cubicBezTo>
                    <a:pt x="-31924" y="297001"/>
                    <a:pt x="-46178" y="1174124"/>
                    <a:pt x="127054" y="1179606"/>
                  </a:cubicBezTo>
                  <a:cubicBezTo>
                    <a:pt x="300286" y="1185088"/>
                    <a:pt x="851777" y="324411"/>
                    <a:pt x="1146709" y="146794"/>
                  </a:cubicBezTo>
                  <a:cubicBezTo>
                    <a:pt x="1441641" y="-30823"/>
                    <a:pt x="1759598" y="-48366"/>
                    <a:pt x="1896648" y="113902"/>
                  </a:cubicBezTo>
                  <a:cubicBezTo>
                    <a:pt x="2033698" y="276170"/>
                    <a:pt x="2001354" y="698285"/>
                    <a:pt x="1969011" y="1120400"/>
                  </a:cubicBezTo>
                </a:path>
              </a:pathLst>
            </a:custGeom>
            <a:noFill/>
            <a:ln>
              <a:solidFill>
                <a:schemeClr val="accent4">
                  <a:lumMod val="50000"/>
                </a:schemeClr>
              </a:solidFill>
              <a:prstDash val="sysDash"/>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4" name="直接箭头连接符 13">
              <a:extLst>
                <a:ext uri="{FF2B5EF4-FFF2-40B4-BE49-F238E27FC236}">
                  <a16:creationId xmlns:a16="http://schemas.microsoft.com/office/drawing/2014/main" id="{E5773AE5-F106-4A14-B4E2-1C5E22B1D2EC}"/>
                </a:ext>
              </a:extLst>
            </p:cNvPr>
            <p:cNvCxnSpPr/>
            <p:nvPr/>
          </p:nvCxnSpPr>
          <p:spPr>
            <a:xfrm flipH="1" flipV="1">
              <a:off x="10223995" y="3173292"/>
              <a:ext cx="611792" cy="611793"/>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接箭头连接符 15">
              <a:extLst>
                <a:ext uri="{FF2B5EF4-FFF2-40B4-BE49-F238E27FC236}">
                  <a16:creationId xmlns:a16="http://schemas.microsoft.com/office/drawing/2014/main" id="{87583EFC-7AAE-4F94-A92D-6A62ADBEA098}"/>
                </a:ext>
              </a:extLst>
            </p:cNvPr>
            <p:cNvCxnSpPr>
              <a:cxnSpLocks/>
            </p:cNvCxnSpPr>
            <p:nvPr/>
          </p:nvCxnSpPr>
          <p:spPr>
            <a:xfrm>
              <a:off x="11186395" y="3969307"/>
              <a:ext cx="0" cy="644647"/>
            </a:xfrm>
            <a:prstGeom prst="straightConnector1">
              <a:avLst/>
            </a:prstGeom>
            <a:ln w="12700">
              <a:solidFill>
                <a:schemeClr val="accent6">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9" name="文本框 18">
              <a:extLst>
                <a:ext uri="{FF2B5EF4-FFF2-40B4-BE49-F238E27FC236}">
                  <a16:creationId xmlns:a16="http://schemas.microsoft.com/office/drawing/2014/main" id="{8DDC0F50-3C02-415A-A986-2EB41519EECF}"/>
                </a:ext>
              </a:extLst>
            </p:cNvPr>
            <p:cNvSpPr txBox="1"/>
            <p:nvPr/>
          </p:nvSpPr>
          <p:spPr>
            <a:xfrm>
              <a:off x="10881966" y="4098322"/>
              <a:ext cx="415499" cy="369332"/>
            </a:xfrm>
            <a:prstGeom prst="rect">
              <a:avLst/>
            </a:prstGeom>
            <a:noFill/>
          </p:spPr>
          <p:txBody>
            <a:bodyPr wrap="square" rtlCol="0">
              <a:spAutoFit/>
            </a:bodyPr>
            <a:lstStyle/>
            <a:p>
              <a:pPr algn="ctr"/>
              <a:r>
                <a:rPr lang="zh-CN" altLang="en-US">
                  <a:solidFill>
                    <a:srgbClr val="C00000"/>
                  </a:solidFill>
                </a:rPr>
                <a:t>✔</a:t>
              </a:r>
            </a:p>
          </p:txBody>
        </p:sp>
        <p:sp>
          <p:nvSpPr>
            <p:cNvPr id="20" name="文本框 19">
              <a:extLst>
                <a:ext uri="{FF2B5EF4-FFF2-40B4-BE49-F238E27FC236}">
                  <a16:creationId xmlns:a16="http://schemas.microsoft.com/office/drawing/2014/main" id="{6E0E77A8-EF82-4D3F-AA93-6A8341485DD2}"/>
                </a:ext>
              </a:extLst>
            </p:cNvPr>
            <p:cNvSpPr txBox="1"/>
            <p:nvPr/>
          </p:nvSpPr>
          <p:spPr>
            <a:xfrm>
              <a:off x="10374952" y="3280433"/>
              <a:ext cx="415498" cy="369332"/>
            </a:xfrm>
            <a:prstGeom prst="rect">
              <a:avLst/>
            </a:prstGeom>
            <a:noFill/>
          </p:spPr>
          <p:txBody>
            <a:bodyPr wrap="none" rtlCol="0">
              <a:spAutoFit/>
            </a:bodyPr>
            <a:lstStyle/>
            <a:p>
              <a:pPr algn="ctr"/>
              <a:r>
                <a:rPr lang="zh-CN" altLang="en-US">
                  <a:solidFill>
                    <a:srgbClr val="C00000"/>
                  </a:solidFill>
                </a:rPr>
                <a:t>✘</a:t>
              </a:r>
            </a:p>
          </p:txBody>
        </p:sp>
      </p:grpSp>
    </p:spTree>
    <p:extLst>
      <p:ext uri="{BB962C8B-B14F-4D97-AF65-F5344CB8AC3E}">
        <p14:creationId xmlns:p14="http://schemas.microsoft.com/office/powerpoint/2010/main" val="34332067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欧拉图</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第三十一讲  一些特殊的图</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22</a:t>
            </a:fld>
            <a:r>
              <a:rPr lang="en-US" altLang="zh-CN" dirty="0">
                <a:latin typeface="Arial" panose="020B0604020202020204" pitchFamily="34" charset="0"/>
                <a:ea typeface="楷体" panose="02010609060101010101" pitchFamily="49" charset="-122"/>
                <a:cs typeface="Arial" panose="020B0604020202020204" pitchFamily="34" charset="0"/>
              </a:rPr>
              <a:t>/32</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欧拉图相关问题</a:t>
            </a:r>
          </a:p>
        </p:txBody>
      </p:sp>
      <p:sp>
        <p:nvSpPr>
          <p:cNvPr id="4" name="文本框 3">
            <a:extLst>
              <a:ext uri="{FF2B5EF4-FFF2-40B4-BE49-F238E27FC236}">
                <a16:creationId xmlns:a16="http://schemas.microsoft.com/office/drawing/2014/main" id="{7CB9B09D-B4D6-4F56-8678-73573C9AD4F2}"/>
              </a:ext>
            </a:extLst>
          </p:cNvPr>
          <p:cNvSpPr txBox="1"/>
          <p:nvPr/>
        </p:nvSpPr>
        <p:spPr>
          <a:xfrm>
            <a:off x="1079662" y="1675314"/>
            <a:ext cx="7683589" cy="1347100"/>
          </a:xfrm>
          <a:prstGeom prst="rect">
            <a:avLst/>
          </a:prstGeom>
          <a:solidFill>
            <a:schemeClr val="accent5">
              <a:lumMod val="20000"/>
              <a:lumOff val="80000"/>
              <a:alpha val="50000"/>
            </a:schemeClr>
          </a:solidFill>
        </p:spPr>
        <p:txBody>
          <a:bodyPr wrap="square" rtlCol="0">
            <a:spAutoFit/>
          </a:bodyPr>
          <a:lstStyle/>
          <a:p>
            <a:pPr>
              <a:lnSpc>
                <a:spcPts val="2800"/>
              </a:lnSpc>
              <a:spcBef>
                <a:spcPts val="600"/>
              </a:spcBef>
              <a:spcAft>
                <a:spcPts val="600"/>
              </a:spcAft>
            </a:pPr>
            <a:r>
              <a:rPr lang="zh-CN" altLang="en-US" sz="2000" b="1" dirty="0">
                <a:solidFill>
                  <a:srgbClr val="002060"/>
                </a:solidFill>
                <a:latin typeface="楷体" panose="02010609060101010101" pitchFamily="49" charset="-122"/>
                <a:ea typeface="楷体" panose="02010609060101010101" pitchFamily="49" charset="-122"/>
              </a:rPr>
              <a:t>欧拉图是由实际应用问题抽象而得到的模型，实际中有许多应用</a:t>
            </a:r>
          </a:p>
          <a:p>
            <a:pPr marL="285750" indent="-285750">
              <a:lnSpc>
                <a:spcPts val="3000"/>
              </a:lnSpc>
              <a:spcBef>
                <a:spcPts val="600"/>
              </a:spcBef>
              <a:spcAft>
                <a:spcPts val="600"/>
              </a:spcAft>
              <a:buFont typeface="Arial" panose="020B0604020202020204" pitchFamily="34" charset="0"/>
              <a:buChar char="•"/>
            </a:pPr>
            <a:r>
              <a:rPr lang="zh-CN" altLang="en-US" sz="2000" b="1" dirty="0">
                <a:solidFill>
                  <a:schemeClr val="accent6">
                    <a:lumMod val="50000"/>
                  </a:schemeClr>
                </a:solidFill>
              </a:rPr>
              <a:t>邮递员可能需要投递信件到辖区的每个街道，电力或网络检修员需要检修一定范围内所有的电线或网线等</a:t>
            </a:r>
          </a:p>
        </p:txBody>
      </p:sp>
      <p:sp>
        <p:nvSpPr>
          <p:cNvPr id="6" name="文本框 5">
            <a:extLst>
              <a:ext uri="{FF2B5EF4-FFF2-40B4-BE49-F238E27FC236}">
                <a16:creationId xmlns:a16="http://schemas.microsoft.com/office/drawing/2014/main" id="{1E15864D-AD3C-453E-A1D6-C15DF526A09C}"/>
              </a:ext>
            </a:extLst>
          </p:cNvPr>
          <p:cNvSpPr txBox="1"/>
          <p:nvPr/>
        </p:nvSpPr>
        <p:spPr>
          <a:xfrm>
            <a:off x="1079662" y="3509404"/>
            <a:ext cx="9905751" cy="1969065"/>
          </a:xfrm>
          <a:prstGeom prst="rect">
            <a:avLst/>
          </a:prstGeom>
          <a:solidFill>
            <a:schemeClr val="accent5">
              <a:lumMod val="20000"/>
              <a:lumOff val="80000"/>
              <a:alpha val="50000"/>
            </a:schemeClr>
          </a:solidFill>
        </p:spPr>
        <p:txBody>
          <a:bodyPr wrap="square" rtlCol="0">
            <a:spAutoFit/>
          </a:bodyPr>
          <a:lstStyle/>
          <a:p>
            <a:pPr algn="ctr">
              <a:lnSpc>
                <a:spcPts val="2800"/>
              </a:lnSpc>
              <a:spcBef>
                <a:spcPts val="600"/>
              </a:spcBef>
              <a:spcAft>
                <a:spcPts val="600"/>
              </a:spcAft>
            </a:pPr>
            <a:r>
              <a:rPr lang="zh-CN" altLang="en-US" sz="2000" b="1">
                <a:solidFill>
                  <a:srgbClr val="C00000"/>
                </a:solidFill>
              </a:rPr>
              <a:t>中国邮递员问题</a:t>
            </a:r>
            <a:r>
              <a:rPr lang="en-US" altLang="zh-CN" sz="2000" b="1">
                <a:solidFill>
                  <a:srgbClr val="C00000"/>
                </a:solidFill>
              </a:rPr>
              <a:t>(Chinese Postman Problem)</a:t>
            </a:r>
          </a:p>
          <a:p>
            <a:pPr>
              <a:lnSpc>
                <a:spcPts val="2800"/>
              </a:lnSpc>
              <a:spcBef>
                <a:spcPts val="600"/>
              </a:spcBef>
              <a:spcAft>
                <a:spcPts val="600"/>
              </a:spcAft>
            </a:pPr>
            <a:r>
              <a:rPr lang="zh-CN" altLang="en-US" sz="2000" b="1">
                <a:solidFill>
                  <a:srgbClr val="002060"/>
                </a:solidFill>
                <a:latin typeface="楷体" panose="02010609060101010101" pitchFamily="49" charset="-122"/>
                <a:ea typeface="楷体" panose="02010609060101010101" pitchFamily="49" charset="-122"/>
              </a:rPr>
              <a:t>在带权连通图寻找一条最短的回路以至少包含每条边一次的问题，称为</a:t>
            </a:r>
            <a:r>
              <a:rPr lang="zh-CN" altLang="en-US" sz="2000" b="1">
                <a:solidFill>
                  <a:srgbClr val="C00000"/>
                </a:solidFill>
                <a:latin typeface="+mn-ea"/>
              </a:rPr>
              <a:t>中国邮递员问题</a:t>
            </a:r>
            <a:endParaRPr lang="en-US" altLang="zh-CN" sz="2000" b="1">
              <a:solidFill>
                <a:srgbClr val="C00000"/>
              </a:solidFill>
              <a:latin typeface="+mn-ea"/>
            </a:endParaRPr>
          </a:p>
          <a:p>
            <a:pPr marL="285750" indent="-285750">
              <a:lnSpc>
                <a:spcPts val="2800"/>
              </a:lnSpc>
              <a:spcBef>
                <a:spcPts val="600"/>
              </a:spcBef>
              <a:spcAft>
                <a:spcPts val="600"/>
              </a:spcAft>
              <a:buFont typeface="Arial" panose="020B0604020202020204" pitchFamily="34" charset="0"/>
              <a:buChar char="•"/>
            </a:pPr>
            <a:r>
              <a:rPr lang="zh-CN" altLang="en-US" sz="2000" b="1">
                <a:solidFill>
                  <a:schemeClr val="accent6">
                    <a:lumMod val="50000"/>
                  </a:schemeClr>
                </a:solidFill>
              </a:rPr>
              <a:t>当不是欧拉图时可能包含一条边超过一次（但整个回路要最短）</a:t>
            </a:r>
          </a:p>
          <a:p>
            <a:pPr marL="285750" indent="-285750">
              <a:lnSpc>
                <a:spcPts val="2800"/>
              </a:lnSpc>
              <a:spcBef>
                <a:spcPts val="600"/>
              </a:spcBef>
              <a:spcAft>
                <a:spcPts val="600"/>
              </a:spcAft>
              <a:buFont typeface="Arial" panose="020B0604020202020204" pitchFamily="34" charset="0"/>
              <a:buChar char="•"/>
            </a:pPr>
            <a:r>
              <a:rPr lang="zh-CN" altLang="en-US" sz="2000" b="1">
                <a:solidFill>
                  <a:schemeClr val="accent6">
                    <a:lumMod val="50000"/>
                  </a:schemeClr>
                </a:solidFill>
              </a:rPr>
              <a:t>这个问题由我国著名图论学者管梅谷教授在</a:t>
            </a:r>
            <a:r>
              <a:rPr lang="en-US" altLang="zh-CN" sz="2000" b="1">
                <a:solidFill>
                  <a:schemeClr val="accent6">
                    <a:lumMod val="50000"/>
                  </a:schemeClr>
                </a:solidFill>
              </a:rPr>
              <a:t>1962</a:t>
            </a:r>
            <a:r>
              <a:rPr lang="zh-CN" altLang="en-US" sz="2000" b="1">
                <a:solidFill>
                  <a:schemeClr val="accent6">
                    <a:lumMod val="50000"/>
                  </a:schemeClr>
                </a:solidFill>
              </a:rPr>
              <a:t>年提出并解决</a:t>
            </a:r>
          </a:p>
        </p:txBody>
      </p:sp>
    </p:spTree>
    <p:extLst>
      <p:ext uri="{BB962C8B-B14F-4D97-AF65-F5344CB8AC3E}">
        <p14:creationId xmlns:p14="http://schemas.microsoft.com/office/powerpoint/2010/main" val="12183436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第三十一讲  一些特殊的图</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91646C22-BFA0-4263-ADC6-D1CE69BFEFF6}" type="slidenum">
              <a:rPr lang="en-US" altLang="zh-CN" smtClean="0">
                <a:latin typeface="Arial" panose="020B0604020202020204" pitchFamily="34" charset="0"/>
                <a:ea typeface="楷体" panose="02010609060101010101" pitchFamily="49" charset="-122"/>
                <a:cs typeface="Arial" panose="020B0604020202020204" pitchFamily="34" charset="0"/>
              </a:rPr>
              <a:t>23</a:t>
            </a:fld>
            <a:r>
              <a:rPr lang="en-US" altLang="zh-CN" dirty="0">
                <a:latin typeface="Arial" panose="020B0604020202020204" pitchFamily="34" charset="0"/>
                <a:ea typeface="楷体" panose="02010609060101010101" pitchFamily="49" charset="-122"/>
                <a:cs typeface="Arial" panose="020B0604020202020204" pitchFamily="34" charset="0"/>
              </a:rPr>
              <a:t>/32</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内容提要</a:t>
            </a:r>
          </a:p>
        </p:txBody>
      </p:sp>
      <p:sp>
        <p:nvSpPr>
          <p:cNvPr id="2" name="文本框 1">
            <a:extLst>
              <a:ext uri="{FF2B5EF4-FFF2-40B4-BE49-F238E27FC236}">
                <a16:creationId xmlns:a16="http://schemas.microsoft.com/office/drawing/2014/main" id="{85BA4EFF-667B-4FC6-8446-13B52B94D7E0}"/>
              </a:ext>
            </a:extLst>
          </p:cNvPr>
          <p:cNvSpPr txBox="1"/>
          <p:nvPr/>
        </p:nvSpPr>
        <p:spPr>
          <a:xfrm>
            <a:off x="1107232" y="1448010"/>
            <a:ext cx="4733731" cy="3547125"/>
          </a:xfrm>
          <a:prstGeom prst="rect">
            <a:avLst/>
          </a:prstGeom>
          <a:noFill/>
        </p:spPr>
        <p:txBody>
          <a:bodyPr wrap="square" rtlCol="0">
            <a:spAutoFit/>
          </a:bodyPr>
          <a:lstStyle/>
          <a:p>
            <a:pPr>
              <a:lnSpc>
                <a:spcPct val="250000"/>
              </a:lnSpc>
            </a:pPr>
            <a:r>
              <a:rPr lang="zh-CN" altLang="en-US" sz="3200" b="1">
                <a:solidFill>
                  <a:schemeClr val="bg2">
                    <a:lumMod val="90000"/>
                  </a:schemeClr>
                </a:solidFill>
                <a:latin typeface="仿宋" panose="02010609060101010101" pitchFamily="49" charset="-122"/>
                <a:ea typeface="仿宋" panose="02010609060101010101" pitchFamily="49" charset="-122"/>
              </a:rPr>
              <a:t>平面图</a:t>
            </a:r>
            <a:endParaRPr lang="en-US" altLang="zh-CN" sz="3200" b="1">
              <a:solidFill>
                <a:schemeClr val="bg2">
                  <a:lumMod val="90000"/>
                </a:schemeClr>
              </a:solidFill>
              <a:latin typeface="仿宋" panose="02010609060101010101" pitchFamily="49" charset="-122"/>
              <a:ea typeface="仿宋" panose="02010609060101010101" pitchFamily="49" charset="-122"/>
            </a:endParaRPr>
          </a:p>
          <a:p>
            <a:pPr>
              <a:lnSpc>
                <a:spcPct val="250000"/>
              </a:lnSpc>
            </a:pPr>
            <a:r>
              <a:rPr lang="zh-CN" altLang="en-US" sz="3200" b="1">
                <a:solidFill>
                  <a:schemeClr val="bg2">
                    <a:lumMod val="90000"/>
                  </a:schemeClr>
                </a:solidFill>
                <a:latin typeface="仿宋" panose="02010609060101010101" pitchFamily="49" charset="-122"/>
                <a:ea typeface="仿宋" panose="02010609060101010101" pitchFamily="49" charset="-122"/>
              </a:rPr>
              <a:t>欧拉图</a:t>
            </a:r>
            <a:endParaRPr lang="en-US" altLang="zh-CN" sz="3200" b="1">
              <a:solidFill>
                <a:schemeClr val="bg2">
                  <a:lumMod val="90000"/>
                </a:schemeClr>
              </a:solidFill>
              <a:latin typeface="仿宋" panose="02010609060101010101" pitchFamily="49" charset="-122"/>
              <a:ea typeface="仿宋" panose="02010609060101010101" pitchFamily="49" charset="-122"/>
            </a:endParaRPr>
          </a:p>
          <a:p>
            <a:pPr>
              <a:lnSpc>
                <a:spcPct val="250000"/>
              </a:lnSpc>
            </a:pPr>
            <a:r>
              <a:rPr lang="zh-CN" altLang="en-US" sz="3200" b="1">
                <a:solidFill>
                  <a:schemeClr val="accent6">
                    <a:lumMod val="50000"/>
                  </a:schemeClr>
                </a:solidFill>
                <a:latin typeface="仿宋" panose="02010609060101010101" pitchFamily="49" charset="-122"/>
                <a:ea typeface="仿宋" panose="02010609060101010101" pitchFamily="49" charset="-122"/>
              </a:rPr>
              <a:t>哈密顿图</a:t>
            </a:r>
            <a:endParaRPr lang="en-US" altLang="zh-CN" sz="3200" b="1">
              <a:solidFill>
                <a:schemeClr val="accent6">
                  <a:lumMod val="50000"/>
                </a:schemeClr>
              </a:solidFill>
              <a:latin typeface="仿宋" panose="02010609060101010101" pitchFamily="49" charset="-122"/>
              <a:ea typeface="仿宋" panose="02010609060101010101" pitchFamily="49" charset="-122"/>
            </a:endParaRPr>
          </a:p>
        </p:txBody>
      </p:sp>
    </p:spTree>
    <p:extLst>
      <p:ext uri="{BB962C8B-B14F-4D97-AF65-F5344CB8AC3E}">
        <p14:creationId xmlns:p14="http://schemas.microsoft.com/office/powerpoint/2010/main" val="9776019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哈密顿图</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第三十一讲  一些特殊的图</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t>24</a:t>
            </a:fld>
            <a:r>
              <a:rPr lang="en-US" altLang="zh-CN" dirty="0">
                <a:latin typeface="Arial" panose="020B0604020202020204" pitchFamily="34" charset="0"/>
                <a:ea typeface="楷体" panose="02010609060101010101" pitchFamily="49" charset="-122"/>
                <a:cs typeface="Arial" panose="020B0604020202020204" pitchFamily="34" charset="0"/>
              </a:rPr>
              <a:t>/32</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哈密顿图的定义</a:t>
            </a:r>
          </a:p>
        </p:txBody>
      </p:sp>
      <p:sp>
        <p:nvSpPr>
          <p:cNvPr id="2" name="文本框 1">
            <a:extLst>
              <a:ext uri="{FF2B5EF4-FFF2-40B4-BE49-F238E27FC236}">
                <a16:creationId xmlns:a16="http://schemas.microsoft.com/office/drawing/2014/main" id="{9D94BA60-08D1-4DE3-9078-718E1553BA48}"/>
              </a:ext>
            </a:extLst>
          </p:cNvPr>
          <p:cNvSpPr txBox="1"/>
          <p:nvPr/>
        </p:nvSpPr>
        <p:spPr>
          <a:xfrm>
            <a:off x="799276" y="1380411"/>
            <a:ext cx="7666050" cy="1569660"/>
          </a:xfrm>
          <a:prstGeom prst="rect">
            <a:avLst/>
          </a:prstGeom>
          <a:solidFill>
            <a:schemeClr val="accent5">
              <a:lumMod val="20000"/>
              <a:lumOff val="80000"/>
              <a:alpha val="50000"/>
            </a:schemeClr>
          </a:solidFill>
        </p:spPr>
        <p:txBody>
          <a:bodyPr wrap="square" rtlCol="0">
            <a:spAutoFit/>
          </a:bodyPr>
          <a:lstStyle/>
          <a:p>
            <a:pPr>
              <a:spcBef>
                <a:spcPts val="600"/>
              </a:spcBef>
              <a:spcAft>
                <a:spcPts val="600"/>
              </a:spcAft>
            </a:pPr>
            <a:r>
              <a:rPr lang="zh-CN" altLang="en-US" sz="2000" b="1">
                <a:solidFill>
                  <a:srgbClr val="C00000"/>
                </a:solidFill>
                <a:latin typeface="+mn-ea"/>
              </a:rPr>
              <a:t>哈密顿图</a:t>
            </a:r>
            <a:r>
              <a:rPr lang="zh-CN" altLang="en-US" sz="2000" b="1">
                <a:solidFill>
                  <a:srgbClr val="002060"/>
                </a:solidFill>
                <a:latin typeface="楷体" panose="02010609060101010101" pitchFamily="49" charset="-122"/>
                <a:ea typeface="楷体" panose="02010609060101010101" pitchFamily="49" charset="-122"/>
              </a:rPr>
              <a:t>来源于</a:t>
            </a:r>
            <a:r>
              <a:rPr lang="en-US" altLang="zh-CN" sz="2000" b="1">
                <a:solidFill>
                  <a:srgbClr val="002060"/>
                </a:solidFill>
                <a:latin typeface="+mn-ea"/>
              </a:rPr>
              <a:t>19</a:t>
            </a:r>
            <a:r>
              <a:rPr lang="zh-CN" altLang="en-US" sz="2000" b="1">
                <a:solidFill>
                  <a:srgbClr val="002060"/>
                </a:solidFill>
                <a:latin typeface="楷体" panose="02010609060101010101" pitchFamily="49" charset="-122"/>
                <a:ea typeface="楷体" panose="02010609060101010101" pitchFamily="49" charset="-122"/>
              </a:rPr>
              <a:t>世纪数学家哈密顿提出的一个问题</a:t>
            </a:r>
          </a:p>
          <a:p>
            <a:pPr marL="342900" indent="-342900">
              <a:spcBef>
                <a:spcPts val="600"/>
              </a:spcBef>
              <a:spcAft>
                <a:spcPts val="600"/>
              </a:spcAft>
              <a:buFont typeface="Arial" panose="020B0604020202020204" pitchFamily="34" charset="0"/>
              <a:buChar char="•"/>
            </a:pPr>
            <a:r>
              <a:rPr lang="zh-CN" altLang="en-US" sz="2000" b="1">
                <a:solidFill>
                  <a:schemeClr val="accent6">
                    <a:lumMod val="50000"/>
                  </a:schemeClr>
                </a:solidFill>
              </a:rPr>
              <a:t>正十二面体图是否存在一条经过所有顶点一次且仅一次的回路？</a:t>
            </a:r>
          </a:p>
          <a:p>
            <a:pPr marL="800100" lvl="1" indent="-342900">
              <a:spcBef>
                <a:spcPts val="600"/>
              </a:spcBef>
              <a:spcAft>
                <a:spcPts val="600"/>
              </a:spcAft>
              <a:buFont typeface="Arial" panose="020B0604020202020204" pitchFamily="34" charset="0"/>
              <a:buChar char="•"/>
            </a:pPr>
            <a:r>
              <a:rPr lang="zh-CN" altLang="en-US" b="1">
                <a:solidFill>
                  <a:schemeClr val="accent2">
                    <a:lumMod val="50000"/>
                  </a:schemeClr>
                </a:solidFill>
                <a:latin typeface="楷体" panose="02010609060101010101" pitchFamily="49" charset="-122"/>
                <a:ea typeface="楷体" panose="02010609060101010101" pitchFamily="49" charset="-122"/>
              </a:rPr>
              <a:t>形象地将每个顶点看做一个城市，连接两顶点之间的边看做城市之间的交通线路，于是这个问题又称为</a:t>
            </a:r>
            <a:r>
              <a:rPr lang="zh-CN" altLang="en-US" b="1">
                <a:solidFill>
                  <a:srgbClr val="0000FF"/>
                </a:solidFill>
                <a:latin typeface="楷体" panose="02010609060101010101" pitchFamily="49" charset="-122"/>
                <a:ea typeface="楷体" panose="02010609060101010101" pitchFamily="49" charset="-122"/>
              </a:rPr>
              <a:t>哈密顿的周游世界问题</a:t>
            </a: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9B01266B-2FDC-4630-8F2F-5FCD7D1BE147}"/>
                  </a:ext>
                </a:extLst>
              </p:cNvPr>
              <p:cNvSpPr txBox="1"/>
              <p:nvPr/>
            </p:nvSpPr>
            <p:spPr>
              <a:xfrm>
                <a:off x="799276" y="3547268"/>
                <a:ext cx="10593445" cy="2308324"/>
              </a:xfrm>
              <a:prstGeom prst="rect">
                <a:avLst/>
              </a:prstGeom>
              <a:solidFill>
                <a:schemeClr val="accent2">
                  <a:lumMod val="20000"/>
                  <a:lumOff val="80000"/>
                  <a:alpha val="50000"/>
                </a:schemeClr>
              </a:solidFill>
            </p:spPr>
            <p:txBody>
              <a:bodyPr wrap="square" rtlCol="0">
                <a:spAutoFit/>
              </a:bodyPr>
              <a:lstStyle/>
              <a:p>
                <a:pPr algn="ctr">
                  <a:spcBef>
                    <a:spcPts val="600"/>
                  </a:spcBef>
                  <a:spcAft>
                    <a:spcPts val="600"/>
                  </a:spcAft>
                </a:pPr>
                <a:r>
                  <a:rPr lang="zh-CN" altLang="en-US" sz="2400" b="1">
                    <a:solidFill>
                      <a:srgbClr val="C00000"/>
                    </a:solidFill>
                  </a:rPr>
                  <a:t>哈密顿图</a:t>
                </a:r>
                <a:r>
                  <a:rPr lang="en-US" altLang="zh-CN" sz="2400" b="1">
                    <a:solidFill>
                      <a:srgbClr val="C00000"/>
                    </a:solidFill>
                  </a:rPr>
                  <a:t>(Hamilton graph)</a:t>
                </a:r>
                <a:r>
                  <a:rPr lang="zh-CN" altLang="en-US" sz="2400" b="1">
                    <a:solidFill>
                      <a:srgbClr val="C00000"/>
                    </a:solidFill>
                  </a:rPr>
                  <a:t>与半哈密顿图</a:t>
                </a:r>
                <a:r>
                  <a:rPr lang="en-US" altLang="zh-CN" sz="2400" b="1">
                    <a:solidFill>
                      <a:srgbClr val="C00000"/>
                    </a:solidFill>
                  </a:rPr>
                  <a:t>(semi-Hamilton graph)</a:t>
                </a:r>
              </a:p>
              <a:p>
                <a:pPr marL="342900" indent="-342900">
                  <a:spcBef>
                    <a:spcPts val="600"/>
                  </a:spcBef>
                  <a:spcAft>
                    <a:spcPts val="600"/>
                  </a:spcAft>
                  <a:buFont typeface="Arial" panose="020B0604020202020204" pitchFamily="34" charset="0"/>
                  <a:buChar char="•"/>
                </a:pPr>
                <a:r>
                  <a:rPr lang="zh-CN" altLang="en-US" sz="2000" b="1">
                    <a:solidFill>
                      <a:srgbClr val="002060"/>
                    </a:solidFill>
                    <a:latin typeface="楷体" panose="02010609060101010101" pitchFamily="49" charset="-122"/>
                    <a:ea typeface="楷体" panose="02010609060101010101" pitchFamily="49" charset="-122"/>
                  </a:rPr>
                  <a:t>无向图</a:t>
                </a: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rPr>
                      <m:t>𝑮</m:t>
                    </m:r>
                  </m:oMath>
                </a14:m>
                <a:r>
                  <a:rPr lang="zh-CN" altLang="en-US" sz="2000" b="1">
                    <a:solidFill>
                      <a:srgbClr val="002060"/>
                    </a:solidFill>
                    <a:latin typeface="楷体" panose="02010609060101010101" pitchFamily="49" charset="-122"/>
                    <a:ea typeface="楷体" panose="02010609060101010101" pitchFamily="49" charset="-122"/>
                  </a:rPr>
                  <a:t>的一条经过全部顶点的初级回路（即不含重复顶点的回路），称为</a:t>
                </a: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rPr>
                      <m:t>𝑮</m:t>
                    </m:r>
                  </m:oMath>
                </a14:m>
                <a:r>
                  <a:rPr lang="zh-CN" altLang="en-US" sz="2000" b="1">
                    <a:solidFill>
                      <a:srgbClr val="002060"/>
                    </a:solidFill>
                    <a:latin typeface="楷体" panose="02010609060101010101" pitchFamily="49" charset="-122"/>
                    <a:ea typeface="楷体" panose="02010609060101010101" pitchFamily="49" charset="-122"/>
                  </a:rPr>
                  <a:t>的</a:t>
                </a:r>
                <a:r>
                  <a:rPr lang="zh-CN" altLang="en-US" sz="2000" b="1">
                    <a:solidFill>
                      <a:srgbClr val="C00000"/>
                    </a:solidFill>
                    <a:latin typeface="+mn-ea"/>
                  </a:rPr>
                  <a:t>哈密顿回路</a:t>
                </a:r>
                <a:endParaRPr lang="en-US" altLang="zh-CN" sz="2000" b="1">
                  <a:solidFill>
                    <a:srgbClr val="C00000"/>
                  </a:solidFill>
                  <a:latin typeface="+mn-ea"/>
                </a:endParaRPr>
              </a:p>
              <a:p>
                <a:pPr marL="800100" lvl="1" indent="-342900">
                  <a:spcBef>
                    <a:spcPts val="600"/>
                  </a:spcBef>
                  <a:spcAft>
                    <a:spcPts val="600"/>
                  </a:spcAft>
                  <a:buFont typeface="Arial" panose="020B0604020202020204" pitchFamily="34" charset="0"/>
                  <a:buChar char="•"/>
                </a:pPr>
                <a:r>
                  <a:rPr lang="zh-CN" altLang="en-US" sz="2000" b="1">
                    <a:solidFill>
                      <a:schemeClr val="accent6">
                        <a:lumMod val="50000"/>
                      </a:schemeClr>
                    </a:solidFill>
                  </a:rPr>
                  <a:t>无向图</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𝑮</m:t>
                    </m:r>
                  </m:oMath>
                </a14:m>
                <a:r>
                  <a:rPr lang="zh-CN" altLang="en-US" sz="2000" b="1">
                    <a:solidFill>
                      <a:schemeClr val="accent6">
                        <a:lumMod val="50000"/>
                      </a:schemeClr>
                    </a:solidFill>
                  </a:rPr>
                  <a:t>的一条经过全部顶点的初级通路，称为</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𝑮</m:t>
                    </m:r>
                  </m:oMath>
                </a14:m>
                <a:r>
                  <a:rPr lang="zh-CN" altLang="en-US" sz="2000" b="1">
                    <a:solidFill>
                      <a:schemeClr val="accent6">
                        <a:lumMod val="50000"/>
                      </a:schemeClr>
                    </a:solidFill>
                  </a:rPr>
                  <a:t>的</a:t>
                </a:r>
                <a:r>
                  <a:rPr lang="zh-CN" altLang="en-US" sz="2000" b="1">
                    <a:solidFill>
                      <a:srgbClr val="C00000"/>
                    </a:solidFill>
                    <a:latin typeface="+mn-ea"/>
                  </a:rPr>
                  <a:t>哈密顿通路</a:t>
                </a:r>
                <a:endParaRPr lang="en-US" altLang="zh-CN" sz="2000" b="1">
                  <a:solidFill>
                    <a:srgbClr val="C00000"/>
                  </a:solidFill>
                  <a:latin typeface="+mn-ea"/>
                </a:endParaRPr>
              </a:p>
              <a:p>
                <a:pPr marL="342900" indent="-342900">
                  <a:spcBef>
                    <a:spcPts val="600"/>
                  </a:spcBef>
                  <a:spcAft>
                    <a:spcPts val="600"/>
                  </a:spcAft>
                  <a:buFont typeface="Arial" panose="020B0604020202020204" pitchFamily="34" charset="0"/>
                  <a:buChar char="•"/>
                </a:pPr>
                <a:r>
                  <a:rPr lang="zh-CN" altLang="en-US" sz="2000" b="1">
                    <a:solidFill>
                      <a:srgbClr val="002060"/>
                    </a:solidFill>
                    <a:latin typeface="楷体" panose="02010609060101010101" pitchFamily="49" charset="-122"/>
                    <a:ea typeface="楷体" panose="02010609060101010101" pitchFamily="49" charset="-122"/>
                  </a:rPr>
                  <a:t>存在哈密顿回路的无向图称为</a:t>
                </a:r>
                <a:r>
                  <a:rPr lang="zh-CN" altLang="en-US" sz="2000" b="1">
                    <a:solidFill>
                      <a:srgbClr val="C00000"/>
                    </a:solidFill>
                    <a:latin typeface="+mn-ea"/>
                  </a:rPr>
                  <a:t>哈密顿图</a:t>
                </a:r>
                <a:endParaRPr lang="en-US" altLang="zh-CN" sz="2000" b="1">
                  <a:solidFill>
                    <a:srgbClr val="C00000"/>
                  </a:solidFill>
                  <a:latin typeface="+mn-ea"/>
                </a:endParaRPr>
              </a:p>
              <a:p>
                <a:pPr marL="800100" lvl="1" indent="-342900">
                  <a:spcBef>
                    <a:spcPts val="600"/>
                  </a:spcBef>
                  <a:spcAft>
                    <a:spcPts val="600"/>
                  </a:spcAft>
                  <a:buFont typeface="Arial" panose="020B0604020202020204" pitchFamily="34" charset="0"/>
                  <a:buChar char="•"/>
                </a:pPr>
                <a:r>
                  <a:rPr lang="zh-CN" altLang="en-US" sz="2000" b="1">
                    <a:solidFill>
                      <a:schemeClr val="accent6">
                        <a:lumMod val="50000"/>
                      </a:schemeClr>
                    </a:solidFill>
                  </a:rPr>
                  <a:t>存在哈密顿通路的图称为</a:t>
                </a:r>
                <a:r>
                  <a:rPr lang="zh-CN" altLang="en-US" sz="2000" b="1">
                    <a:solidFill>
                      <a:srgbClr val="C00000"/>
                    </a:solidFill>
                    <a:latin typeface="+mn-ea"/>
                  </a:rPr>
                  <a:t>半哈密顿图</a:t>
                </a:r>
                <a:endParaRPr lang="en-US" altLang="zh-CN" sz="2000" b="1">
                  <a:solidFill>
                    <a:srgbClr val="C00000"/>
                  </a:solidFill>
                  <a:latin typeface="+mn-ea"/>
                </a:endParaRPr>
              </a:p>
            </p:txBody>
          </p:sp>
        </mc:Choice>
        <mc:Fallback xmlns="">
          <p:sp>
            <p:nvSpPr>
              <p:cNvPr id="3" name="文本框 2">
                <a:extLst>
                  <a:ext uri="{FF2B5EF4-FFF2-40B4-BE49-F238E27FC236}">
                    <a16:creationId xmlns:a16="http://schemas.microsoft.com/office/drawing/2014/main" id="{9B01266B-2FDC-4630-8F2F-5FCD7D1BE147}"/>
                  </a:ext>
                </a:extLst>
              </p:cNvPr>
              <p:cNvSpPr txBox="1">
                <a:spLocks noRot="1" noChangeAspect="1" noMove="1" noResize="1" noEditPoints="1" noAdjustHandles="1" noChangeArrowheads="1" noChangeShapeType="1" noTextEdit="1"/>
              </p:cNvSpPr>
              <p:nvPr/>
            </p:nvSpPr>
            <p:spPr>
              <a:xfrm>
                <a:off x="799276" y="3547268"/>
                <a:ext cx="10593445" cy="2308324"/>
              </a:xfrm>
              <a:prstGeom prst="rect">
                <a:avLst/>
              </a:prstGeom>
              <a:blipFill>
                <a:blip r:embed="rId2"/>
                <a:stretch>
                  <a:fillRect l="-518" t="-1847" r="-575" b="-3694"/>
                </a:stretch>
              </a:blipFill>
            </p:spPr>
            <p:txBody>
              <a:bodyPr/>
              <a:lstStyle/>
              <a:p>
                <a:r>
                  <a:rPr lang="zh-CN" altLang="en-US">
                    <a:noFill/>
                  </a:rPr>
                  <a:t> </a:t>
                </a:r>
              </a:p>
            </p:txBody>
          </p:sp>
        </mc:Fallback>
      </mc:AlternateContent>
      <p:pic>
        <p:nvPicPr>
          <p:cNvPr id="4" name="图片 3">
            <a:extLst>
              <a:ext uri="{FF2B5EF4-FFF2-40B4-BE49-F238E27FC236}">
                <a16:creationId xmlns:a16="http://schemas.microsoft.com/office/drawing/2014/main" id="{661A1839-998E-4FDB-90CA-1A0DF634ADFF}"/>
              </a:ext>
            </a:extLst>
          </p:cNvPr>
          <p:cNvPicPr>
            <a:picLocks noChangeAspect="1"/>
          </p:cNvPicPr>
          <p:nvPr/>
        </p:nvPicPr>
        <p:blipFill>
          <a:blip r:embed="rId3"/>
          <a:stretch>
            <a:fillRect/>
          </a:stretch>
        </p:blipFill>
        <p:spPr>
          <a:xfrm>
            <a:off x="8650599" y="1449328"/>
            <a:ext cx="1442906" cy="1384183"/>
          </a:xfrm>
          <a:prstGeom prst="rect">
            <a:avLst/>
          </a:prstGeom>
        </p:spPr>
      </p:pic>
      <p:pic>
        <p:nvPicPr>
          <p:cNvPr id="6" name="图片 5">
            <a:extLst>
              <a:ext uri="{FF2B5EF4-FFF2-40B4-BE49-F238E27FC236}">
                <a16:creationId xmlns:a16="http://schemas.microsoft.com/office/drawing/2014/main" id="{EC3E2F80-78AF-42C2-8B95-2CA0268AD3BD}"/>
              </a:ext>
            </a:extLst>
          </p:cNvPr>
          <p:cNvPicPr>
            <a:picLocks noChangeAspect="1"/>
          </p:cNvPicPr>
          <p:nvPr/>
        </p:nvPicPr>
        <p:blipFill>
          <a:blip r:embed="rId4"/>
          <a:stretch>
            <a:fillRect/>
          </a:stretch>
        </p:blipFill>
        <p:spPr>
          <a:xfrm>
            <a:off x="10278778" y="1415132"/>
            <a:ext cx="1510018" cy="1442906"/>
          </a:xfrm>
          <a:prstGeom prst="rect">
            <a:avLst/>
          </a:prstGeom>
        </p:spPr>
      </p:pic>
      <p:sp>
        <p:nvSpPr>
          <p:cNvPr id="11" name="箭头: 右 10">
            <a:extLst>
              <a:ext uri="{FF2B5EF4-FFF2-40B4-BE49-F238E27FC236}">
                <a16:creationId xmlns:a16="http://schemas.microsoft.com/office/drawing/2014/main" id="{06D0A303-6659-4512-8DE6-59F01545AC66}"/>
              </a:ext>
            </a:extLst>
          </p:cNvPr>
          <p:cNvSpPr/>
          <p:nvPr/>
        </p:nvSpPr>
        <p:spPr>
          <a:xfrm>
            <a:off x="10093505" y="2091937"/>
            <a:ext cx="241189" cy="12499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1100058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哈密顿图</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第三十一讲  一些特殊的图</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t>25</a:t>
            </a:fld>
            <a:r>
              <a:rPr lang="en-US" altLang="zh-CN" dirty="0">
                <a:latin typeface="Arial" panose="020B0604020202020204" pitchFamily="34" charset="0"/>
                <a:ea typeface="楷体" panose="02010609060101010101" pitchFamily="49" charset="-122"/>
                <a:cs typeface="Arial" panose="020B0604020202020204" pitchFamily="34" charset="0"/>
              </a:rPr>
              <a:t>/32</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极长通路</a:t>
            </a: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CD169256-B5D5-4AA1-8339-AF56B36CAF01}"/>
                  </a:ext>
                </a:extLst>
              </p:cNvPr>
              <p:cNvSpPr txBox="1"/>
              <p:nvPr/>
            </p:nvSpPr>
            <p:spPr>
              <a:xfrm>
                <a:off x="1096402" y="2907173"/>
                <a:ext cx="9823772" cy="1962076"/>
              </a:xfrm>
              <a:prstGeom prst="rect">
                <a:avLst/>
              </a:prstGeom>
              <a:solidFill>
                <a:schemeClr val="accent2">
                  <a:lumMod val="20000"/>
                  <a:lumOff val="80000"/>
                  <a:alpha val="50000"/>
                </a:schemeClr>
              </a:solidFill>
            </p:spPr>
            <p:txBody>
              <a:bodyPr wrap="square" rtlCol="0">
                <a:spAutoFit/>
              </a:bodyPr>
              <a:lstStyle/>
              <a:p>
                <a:pPr algn="ctr">
                  <a:spcBef>
                    <a:spcPts val="600"/>
                  </a:spcBef>
                  <a:spcAft>
                    <a:spcPts val="900"/>
                  </a:spcAft>
                </a:pPr>
                <a:r>
                  <a:rPr lang="zh-CN" altLang="en-US" sz="2400" b="1">
                    <a:solidFill>
                      <a:srgbClr val="C00000"/>
                    </a:solidFill>
                  </a:rPr>
                  <a:t>极长通路</a:t>
                </a:r>
                <a:r>
                  <a:rPr lang="en-US" altLang="zh-CN" sz="2400" b="1">
                    <a:solidFill>
                      <a:srgbClr val="C00000"/>
                    </a:solidFill>
                  </a:rPr>
                  <a:t>(maximal path)</a:t>
                </a:r>
                <a:endParaRPr lang="zh-CN" altLang="en-US" sz="2400" b="1">
                  <a:solidFill>
                    <a:srgbClr val="C00000"/>
                  </a:solidFill>
                </a:endParaRPr>
              </a:p>
              <a:p>
                <a:pPr>
                  <a:spcBef>
                    <a:spcPts val="600"/>
                  </a:spcBef>
                  <a:spcAft>
                    <a:spcPts val="900"/>
                  </a:spcAft>
                </a:pPr>
                <a:r>
                  <a:rPr lang="zh-CN" altLang="en-US" sz="2000" b="1">
                    <a:solidFill>
                      <a:srgbClr val="002060"/>
                    </a:solidFill>
                    <a:latin typeface="楷体" panose="02010609060101010101" pitchFamily="49" charset="-122"/>
                    <a:ea typeface="楷体" panose="02010609060101010101" pitchFamily="49" charset="-122"/>
                  </a:rPr>
                  <a:t>设</a:t>
                </a:r>
                <a14:m>
                  <m:oMath xmlns:m="http://schemas.openxmlformats.org/officeDocument/2006/math">
                    <m:r>
                      <a:rPr lang="en-US" altLang="zh-CN" sz="2000" b="1" i="1" smtClean="0">
                        <a:solidFill>
                          <a:srgbClr val="002060"/>
                        </a:solidFill>
                        <a:latin typeface="Cambria Math" panose="02040503050406030204" pitchFamily="18" charset="0"/>
                      </a:rPr>
                      <m:t>𝑮</m:t>
                    </m:r>
                    <m:r>
                      <a:rPr lang="en-US" altLang="zh-CN" sz="2000" b="1" i="1" smtClean="0">
                        <a:solidFill>
                          <a:srgbClr val="002060"/>
                        </a:solidFill>
                        <a:latin typeface="Cambria Math" panose="02040503050406030204" pitchFamily="18" charset="0"/>
                      </a:rPr>
                      <m:t> = (</m:t>
                    </m:r>
                    <m:r>
                      <a:rPr lang="en-US" altLang="zh-CN" sz="2000" b="1" i="1" smtClean="0">
                        <a:solidFill>
                          <a:srgbClr val="002060"/>
                        </a:solidFill>
                        <a:latin typeface="Cambria Math" panose="02040503050406030204" pitchFamily="18" charset="0"/>
                      </a:rPr>
                      <m:t>𝑽</m:t>
                    </m:r>
                    <m:r>
                      <a:rPr lang="en-US" altLang="zh-CN" sz="2000" b="1" i="1" smtClean="0">
                        <a:solidFill>
                          <a:srgbClr val="002060"/>
                        </a:solidFill>
                        <a:latin typeface="Cambria Math" panose="02040503050406030204" pitchFamily="18" charset="0"/>
                      </a:rPr>
                      <m:t>, </m:t>
                    </m:r>
                    <m:r>
                      <a:rPr lang="en-US" altLang="zh-CN" sz="2000" b="1" i="1" smtClean="0">
                        <a:solidFill>
                          <a:srgbClr val="002060"/>
                        </a:solidFill>
                        <a:latin typeface="Cambria Math" panose="02040503050406030204" pitchFamily="18" charset="0"/>
                      </a:rPr>
                      <m:t>𝑬</m:t>
                    </m:r>
                    <m:r>
                      <a:rPr lang="en-US" altLang="zh-CN" sz="2000" b="1" i="1" smtClean="0">
                        <a:solidFill>
                          <a:srgbClr val="002060"/>
                        </a:solidFill>
                        <a:latin typeface="Cambria Math" panose="02040503050406030204" pitchFamily="18" charset="0"/>
                      </a:rPr>
                      <m:t>)</m:t>
                    </m:r>
                  </m:oMath>
                </a14:m>
                <a:r>
                  <a:rPr lang="zh-CN" altLang="en-US" sz="2000" b="1">
                    <a:solidFill>
                      <a:srgbClr val="002060"/>
                    </a:solidFill>
                    <a:latin typeface="楷体" panose="02010609060101010101" pitchFamily="49" charset="-122"/>
                    <a:ea typeface="楷体" panose="02010609060101010101" pitchFamily="49" charset="-122"/>
                  </a:rPr>
                  <a:t>是无向图，称</a:t>
                </a:r>
                <a14:m>
                  <m:oMath xmlns:m="http://schemas.openxmlformats.org/officeDocument/2006/math">
                    <m:r>
                      <a:rPr lang="en-US" altLang="zh-CN" sz="2000" b="1" i="1" smtClean="0">
                        <a:solidFill>
                          <a:srgbClr val="002060"/>
                        </a:solidFill>
                        <a:latin typeface="Cambria Math" panose="02040503050406030204" pitchFamily="18" charset="0"/>
                      </a:rPr>
                      <m:t>𝑮</m:t>
                    </m:r>
                  </m:oMath>
                </a14:m>
                <a:r>
                  <a:rPr lang="zh-CN" altLang="en-US" sz="2000" b="1">
                    <a:solidFill>
                      <a:srgbClr val="002060"/>
                    </a:solidFill>
                    <a:latin typeface="楷体" panose="02010609060101010101" pitchFamily="49" charset="-122"/>
                    <a:ea typeface="楷体" panose="02010609060101010101" pitchFamily="49" charset="-122"/>
                  </a:rPr>
                  <a:t>的一条简单通路</a:t>
                </a:r>
                <a14:m>
                  <m:oMath xmlns:m="http://schemas.openxmlformats.org/officeDocument/2006/math">
                    <m:r>
                      <a:rPr lang="en-US" altLang="zh-CN" sz="2000" b="1" i="0" smtClean="0">
                        <a:solidFill>
                          <a:srgbClr val="002060"/>
                        </a:solidFill>
                        <a:latin typeface="Cambria Math" panose="02040503050406030204" pitchFamily="18" charset="0"/>
                      </a:rPr>
                      <m:t>𝚪</m:t>
                    </m:r>
                    <m:r>
                      <a:rPr lang="en-US" altLang="zh-CN" sz="2000" b="1" i="1" smtClean="0">
                        <a:solidFill>
                          <a:srgbClr val="002060"/>
                        </a:solidFill>
                        <a:latin typeface="Cambria Math" panose="02040503050406030204" pitchFamily="18" charset="0"/>
                      </a:rPr>
                      <m:t>= </m:t>
                    </m:r>
                    <m:sSub>
                      <m:sSubPr>
                        <m:ctrlPr>
                          <a:rPr lang="en-US" altLang="zh-CN" sz="2000" b="1" i="1" smtClean="0">
                            <a:solidFill>
                              <a:srgbClr val="002060"/>
                            </a:solidFill>
                            <a:latin typeface="Cambria Math" panose="02040503050406030204" pitchFamily="18" charset="0"/>
                          </a:rPr>
                        </m:ctrlPr>
                      </m:sSubPr>
                      <m:e>
                        <m:r>
                          <a:rPr lang="en-US" altLang="zh-CN" sz="2000" b="1" i="1" smtClean="0">
                            <a:solidFill>
                              <a:srgbClr val="002060"/>
                            </a:solidFill>
                            <a:latin typeface="Cambria Math" panose="02040503050406030204" pitchFamily="18" charset="0"/>
                          </a:rPr>
                          <m:t>𝒗</m:t>
                        </m:r>
                      </m:e>
                      <m:sub>
                        <m:r>
                          <a:rPr lang="en-US" altLang="zh-CN" sz="2000" b="1" i="1" smtClean="0">
                            <a:solidFill>
                              <a:srgbClr val="002060"/>
                            </a:solidFill>
                            <a:latin typeface="Cambria Math" panose="02040503050406030204" pitchFamily="18" charset="0"/>
                          </a:rPr>
                          <m:t>𝟎</m:t>
                        </m:r>
                      </m:sub>
                    </m:sSub>
                    <m:sSub>
                      <m:sSubPr>
                        <m:ctrlPr>
                          <a:rPr lang="en-US" altLang="zh-CN" sz="2000" b="1" i="1" smtClean="0">
                            <a:solidFill>
                              <a:srgbClr val="002060"/>
                            </a:solidFill>
                            <a:latin typeface="Cambria Math" panose="02040503050406030204" pitchFamily="18" charset="0"/>
                          </a:rPr>
                        </m:ctrlPr>
                      </m:sSubPr>
                      <m:e>
                        <m:r>
                          <a:rPr lang="en-US" altLang="zh-CN" sz="2000" b="1" i="1" smtClean="0">
                            <a:solidFill>
                              <a:srgbClr val="002060"/>
                            </a:solidFill>
                            <a:latin typeface="Cambria Math" panose="02040503050406030204" pitchFamily="18" charset="0"/>
                          </a:rPr>
                          <m:t>𝒆</m:t>
                        </m:r>
                      </m:e>
                      <m:sub>
                        <m:r>
                          <a:rPr lang="en-US" altLang="zh-CN" sz="2000" b="1" i="1" smtClean="0">
                            <a:solidFill>
                              <a:srgbClr val="002060"/>
                            </a:solidFill>
                            <a:latin typeface="Cambria Math" panose="02040503050406030204" pitchFamily="18" charset="0"/>
                          </a:rPr>
                          <m:t>𝟏</m:t>
                        </m:r>
                      </m:sub>
                    </m:sSub>
                    <m:sSub>
                      <m:sSubPr>
                        <m:ctrlPr>
                          <a:rPr lang="en-US" altLang="zh-CN" sz="2000" b="1" i="1" smtClean="0">
                            <a:solidFill>
                              <a:srgbClr val="002060"/>
                            </a:solidFill>
                            <a:latin typeface="Cambria Math" panose="02040503050406030204" pitchFamily="18" charset="0"/>
                          </a:rPr>
                        </m:ctrlPr>
                      </m:sSubPr>
                      <m:e>
                        <m:r>
                          <a:rPr lang="en-US" altLang="zh-CN" sz="2000" b="1" i="1" smtClean="0">
                            <a:solidFill>
                              <a:srgbClr val="002060"/>
                            </a:solidFill>
                            <a:latin typeface="Cambria Math" panose="02040503050406030204" pitchFamily="18" charset="0"/>
                          </a:rPr>
                          <m:t>𝒗</m:t>
                        </m:r>
                      </m:e>
                      <m:sub>
                        <m:r>
                          <a:rPr lang="en-US" altLang="zh-CN" sz="2000" b="1" i="1" smtClean="0">
                            <a:solidFill>
                              <a:srgbClr val="002060"/>
                            </a:solidFill>
                            <a:latin typeface="Cambria Math" panose="02040503050406030204" pitchFamily="18" charset="0"/>
                          </a:rPr>
                          <m:t>𝟏</m:t>
                        </m:r>
                      </m:sub>
                    </m:sSub>
                    <m:sSub>
                      <m:sSubPr>
                        <m:ctrlPr>
                          <a:rPr lang="en-US" altLang="zh-CN" sz="2000" b="1" i="1" smtClean="0">
                            <a:solidFill>
                              <a:srgbClr val="002060"/>
                            </a:solidFill>
                            <a:latin typeface="Cambria Math" panose="02040503050406030204" pitchFamily="18" charset="0"/>
                          </a:rPr>
                        </m:ctrlPr>
                      </m:sSubPr>
                      <m:e>
                        <m:r>
                          <a:rPr lang="en-US" altLang="zh-CN" sz="2000" b="1" i="1" smtClean="0">
                            <a:solidFill>
                              <a:srgbClr val="002060"/>
                            </a:solidFill>
                            <a:latin typeface="Cambria Math" panose="02040503050406030204" pitchFamily="18" charset="0"/>
                          </a:rPr>
                          <m:t>𝒆</m:t>
                        </m:r>
                      </m:e>
                      <m:sub>
                        <m:r>
                          <a:rPr lang="en-US" altLang="zh-CN" sz="2000" b="1" i="1" smtClean="0">
                            <a:solidFill>
                              <a:srgbClr val="002060"/>
                            </a:solidFill>
                            <a:latin typeface="Cambria Math" panose="02040503050406030204" pitchFamily="18" charset="0"/>
                          </a:rPr>
                          <m:t>𝟐</m:t>
                        </m:r>
                      </m:sub>
                    </m:sSub>
                    <m:r>
                      <a:rPr lang="en-US" altLang="zh-CN" sz="2000" b="1" i="1" smtClean="0">
                        <a:solidFill>
                          <a:srgbClr val="002060"/>
                        </a:solidFill>
                        <a:latin typeface="Cambria Math" panose="02040503050406030204" pitchFamily="18" charset="0"/>
                      </a:rPr>
                      <m:t>⋯</m:t>
                    </m:r>
                    <m:sSub>
                      <m:sSubPr>
                        <m:ctrlPr>
                          <a:rPr lang="en-US" altLang="zh-CN" sz="2000" b="1" i="1" smtClean="0">
                            <a:solidFill>
                              <a:srgbClr val="002060"/>
                            </a:solidFill>
                            <a:latin typeface="Cambria Math" panose="02040503050406030204" pitchFamily="18" charset="0"/>
                          </a:rPr>
                        </m:ctrlPr>
                      </m:sSubPr>
                      <m:e>
                        <m:r>
                          <a:rPr lang="en-US" altLang="zh-CN" sz="2000" b="1" i="1" smtClean="0">
                            <a:solidFill>
                              <a:srgbClr val="002060"/>
                            </a:solidFill>
                            <a:latin typeface="Cambria Math" panose="02040503050406030204" pitchFamily="18" charset="0"/>
                          </a:rPr>
                          <m:t>𝒆</m:t>
                        </m:r>
                      </m:e>
                      <m:sub>
                        <m:r>
                          <a:rPr lang="en-US" altLang="zh-CN" sz="2000" b="1" i="1" smtClean="0">
                            <a:solidFill>
                              <a:srgbClr val="002060"/>
                            </a:solidFill>
                            <a:latin typeface="Cambria Math" panose="02040503050406030204" pitchFamily="18" charset="0"/>
                          </a:rPr>
                          <m:t>𝒏</m:t>
                        </m:r>
                      </m:sub>
                    </m:sSub>
                    <m:sSub>
                      <m:sSubPr>
                        <m:ctrlPr>
                          <a:rPr lang="en-US" altLang="zh-CN" sz="2000" b="1" i="1" smtClean="0">
                            <a:solidFill>
                              <a:srgbClr val="002060"/>
                            </a:solidFill>
                            <a:latin typeface="Cambria Math" panose="02040503050406030204" pitchFamily="18" charset="0"/>
                          </a:rPr>
                        </m:ctrlPr>
                      </m:sSubPr>
                      <m:e>
                        <m:r>
                          <a:rPr lang="en-US" altLang="zh-CN" sz="2000" b="1" i="1" smtClean="0">
                            <a:solidFill>
                              <a:srgbClr val="002060"/>
                            </a:solidFill>
                            <a:latin typeface="Cambria Math" panose="02040503050406030204" pitchFamily="18" charset="0"/>
                          </a:rPr>
                          <m:t>𝒗</m:t>
                        </m:r>
                      </m:e>
                      <m:sub>
                        <m:r>
                          <a:rPr lang="en-US" altLang="zh-CN" sz="2000" b="1" i="1" smtClean="0">
                            <a:solidFill>
                              <a:srgbClr val="002060"/>
                            </a:solidFill>
                            <a:latin typeface="Cambria Math" panose="02040503050406030204" pitchFamily="18" charset="0"/>
                          </a:rPr>
                          <m:t>𝒏</m:t>
                        </m:r>
                      </m:sub>
                    </m:sSub>
                  </m:oMath>
                </a14:m>
                <a:r>
                  <a:rPr lang="zh-CN" altLang="en-US" sz="2000" b="1">
                    <a:solidFill>
                      <a:srgbClr val="002060"/>
                    </a:solidFill>
                    <a:latin typeface="楷体" panose="02010609060101010101" pitchFamily="49" charset="-122"/>
                    <a:ea typeface="楷体" panose="02010609060101010101" pitchFamily="49" charset="-122"/>
                  </a:rPr>
                  <a:t>是</a:t>
                </a:r>
                <a:r>
                  <a:rPr lang="zh-CN" altLang="en-US" sz="2000" b="1">
                    <a:solidFill>
                      <a:srgbClr val="C00000"/>
                    </a:solidFill>
                    <a:latin typeface="+mn-ea"/>
                  </a:rPr>
                  <a:t>极长通路</a:t>
                </a:r>
                <a:r>
                  <a:rPr lang="zh-CN" altLang="en-US" sz="2000" b="1">
                    <a:solidFill>
                      <a:srgbClr val="002060"/>
                    </a:solidFill>
                    <a:latin typeface="楷体" panose="02010609060101010101" pitchFamily="49" charset="-122"/>
                    <a:ea typeface="楷体" panose="02010609060101010101" pitchFamily="49" charset="-122"/>
                  </a:rPr>
                  <a:t>，如果</a:t>
                </a:r>
                <a:endParaRPr lang="en-US" altLang="zh-CN" sz="2000" b="1">
                  <a:solidFill>
                    <a:srgbClr val="002060"/>
                  </a:solidFill>
                  <a:latin typeface="楷体" panose="02010609060101010101" pitchFamily="49" charset="-122"/>
                  <a:ea typeface="楷体" panose="02010609060101010101" pitchFamily="49" charset="-122"/>
                </a:endParaRPr>
              </a:p>
              <a:p>
                <a:pPr marL="342900" indent="-342900">
                  <a:spcBef>
                    <a:spcPts val="600"/>
                  </a:spcBef>
                  <a:spcAft>
                    <a:spcPts val="900"/>
                  </a:spcAft>
                  <a:buFont typeface="Arial" panose="020B0604020202020204" pitchFamily="34" charset="0"/>
                  <a:buChar char="•"/>
                </a:pPr>
                <a:r>
                  <a:rPr lang="zh-CN" altLang="en-US" sz="2000" b="1">
                    <a:solidFill>
                      <a:schemeClr val="accent6">
                        <a:lumMod val="50000"/>
                      </a:schemeClr>
                    </a:solidFill>
                  </a:rPr>
                  <a:t>不存在顶点</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𝒗</m:t>
                    </m:r>
                    <m:r>
                      <a:rPr lang="en-US" altLang="zh-CN" sz="2000" b="1" i="1" smtClean="0">
                        <a:solidFill>
                          <a:schemeClr val="accent6">
                            <a:lumMod val="50000"/>
                          </a:schemeClr>
                        </a:solidFill>
                        <a:latin typeface="Cambria Math" panose="02040503050406030204" pitchFamily="18" charset="0"/>
                      </a:rPr>
                      <m:t>∈</m:t>
                    </m:r>
                    <m:r>
                      <a:rPr lang="en-US" altLang="zh-CN" sz="2000" b="1" i="1" smtClean="0">
                        <a:solidFill>
                          <a:schemeClr val="accent6">
                            <a:lumMod val="50000"/>
                          </a:schemeClr>
                        </a:solidFill>
                        <a:latin typeface="Cambria Math" panose="02040503050406030204" pitchFamily="18" charset="0"/>
                      </a:rPr>
                      <m:t>𝑽</m:t>
                    </m:r>
                  </m:oMath>
                </a14:m>
                <a:r>
                  <a:rPr lang="zh-CN" altLang="en-US" sz="2000" b="1">
                    <a:solidFill>
                      <a:schemeClr val="accent6">
                        <a:lumMod val="50000"/>
                      </a:schemeClr>
                    </a:solidFill>
                  </a:rPr>
                  <a:t>，</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𝒗</m:t>
                    </m:r>
                    <m:r>
                      <a:rPr lang="en-US" altLang="zh-CN" sz="2000" b="1" i="1" smtClean="0">
                        <a:solidFill>
                          <a:schemeClr val="accent6">
                            <a:lumMod val="50000"/>
                          </a:schemeClr>
                        </a:solidFill>
                        <a:latin typeface="Cambria Math" panose="02040503050406030204" pitchFamily="18" charset="0"/>
                      </a:rPr>
                      <m:t>≠</m:t>
                    </m:r>
                    <m:sSub>
                      <m:sSubPr>
                        <m:ctrlPr>
                          <a:rPr lang="en-US" altLang="zh-CN" sz="2000" b="1" i="1" smtClean="0">
                            <a:solidFill>
                              <a:schemeClr val="accent6">
                                <a:lumMod val="50000"/>
                              </a:schemeClr>
                            </a:solidFill>
                            <a:latin typeface="Cambria Math" panose="02040503050406030204" pitchFamily="18" charset="0"/>
                          </a:rPr>
                        </m:ctrlPr>
                      </m:sSubPr>
                      <m:e>
                        <m:r>
                          <a:rPr lang="en-US" altLang="zh-CN" sz="2000" b="1" i="1" smtClean="0">
                            <a:solidFill>
                              <a:schemeClr val="accent6">
                                <a:lumMod val="50000"/>
                              </a:schemeClr>
                            </a:solidFill>
                            <a:latin typeface="Cambria Math" panose="02040503050406030204" pitchFamily="18" charset="0"/>
                          </a:rPr>
                          <m:t>𝒗</m:t>
                        </m:r>
                      </m:e>
                      <m:sub>
                        <m:r>
                          <a:rPr lang="en-US" altLang="zh-CN" sz="2000" b="1" i="1" smtClean="0">
                            <a:solidFill>
                              <a:schemeClr val="accent6">
                                <a:lumMod val="50000"/>
                              </a:schemeClr>
                            </a:solidFill>
                            <a:latin typeface="Cambria Math" panose="02040503050406030204" pitchFamily="18" charset="0"/>
                          </a:rPr>
                          <m:t>𝒊</m:t>
                        </m:r>
                      </m:sub>
                    </m:sSub>
                    <m:d>
                      <m:dPr>
                        <m:ctrlPr>
                          <a:rPr lang="en-US" altLang="zh-CN" sz="2000" b="1" i="1" smtClean="0">
                            <a:solidFill>
                              <a:schemeClr val="accent6">
                                <a:lumMod val="50000"/>
                              </a:schemeClr>
                            </a:solidFill>
                            <a:latin typeface="Cambria Math" panose="02040503050406030204" pitchFamily="18" charset="0"/>
                          </a:rPr>
                        </m:ctrlPr>
                      </m:dPr>
                      <m:e>
                        <m:r>
                          <a:rPr lang="en-US" altLang="zh-CN" sz="2000" b="1" i="1" smtClean="0">
                            <a:solidFill>
                              <a:schemeClr val="accent6">
                                <a:lumMod val="50000"/>
                              </a:schemeClr>
                            </a:solidFill>
                            <a:latin typeface="Cambria Math" panose="02040503050406030204" pitchFamily="18" charset="0"/>
                          </a:rPr>
                          <m:t>𝟎</m:t>
                        </m:r>
                        <m:r>
                          <a:rPr lang="en-US" altLang="zh-CN" sz="2000" b="1" i="1" smtClean="0">
                            <a:solidFill>
                              <a:schemeClr val="accent6">
                                <a:lumMod val="50000"/>
                              </a:schemeClr>
                            </a:solidFill>
                            <a:latin typeface="Cambria Math" panose="02040503050406030204" pitchFamily="18" charset="0"/>
                          </a:rPr>
                          <m:t>≤</m:t>
                        </m:r>
                        <m:r>
                          <a:rPr lang="en-US" altLang="zh-CN" sz="2000" b="1" i="1" smtClean="0">
                            <a:solidFill>
                              <a:schemeClr val="accent6">
                                <a:lumMod val="50000"/>
                              </a:schemeClr>
                            </a:solidFill>
                            <a:latin typeface="Cambria Math" panose="02040503050406030204" pitchFamily="18" charset="0"/>
                          </a:rPr>
                          <m:t>𝒊</m:t>
                        </m:r>
                        <m:r>
                          <a:rPr lang="en-US" altLang="zh-CN" sz="2000" b="1" i="1" smtClean="0">
                            <a:solidFill>
                              <a:schemeClr val="accent6">
                                <a:lumMod val="50000"/>
                              </a:schemeClr>
                            </a:solidFill>
                            <a:latin typeface="Cambria Math" panose="02040503050406030204" pitchFamily="18" charset="0"/>
                          </a:rPr>
                          <m:t>≤</m:t>
                        </m:r>
                        <m:r>
                          <a:rPr lang="en-US" altLang="zh-CN" sz="2000" b="1" i="1" smtClean="0">
                            <a:solidFill>
                              <a:schemeClr val="accent6">
                                <a:lumMod val="50000"/>
                              </a:schemeClr>
                            </a:solidFill>
                            <a:latin typeface="Cambria Math" panose="02040503050406030204" pitchFamily="18" charset="0"/>
                          </a:rPr>
                          <m:t>𝒏</m:t>
                        </m:r>
                      </m:e>
                    </m:d>
                  </m:oMath>
                </a14:m>
                <a:r>
                  <a:rPr lang="zh-CN" altLang="en-US" sz="2000" b="1">
                    <a:solidFill>
                      <a:schemeClr val="accent6">
                        <a:lumMod val="50000"/>
                      </a:schemeClr>
                    </a:solidFill>
                  </a:rPr>
                  <a:t>使得</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𝒗</m:t>
                    </m:r>
                  </m:oMath>
                </a14:m>
                <a:r>
                  <a:rPr lang="zh-CN" altLang="en-US" sz="2000" b="1">
                    <a:solidFill>
                      <a:schemeClr val="accent6">
                        <a:lumMod val="50000"/>
                      </a:schemeClr>
                    </a:solidFill>
                  </a:rPr>
                  <a:t>与</a:t>
                </a:r>
                <a14:m>
                  <m:oMath xmlns:m="http://schemas.openxmlformats.org/officeDocument/2006/math">
                    <m:r>
                      <a:rPr lang="en-US" altLang="zh-CN" sz="2000" b="1" i="0" smtClean="0">
                        <a:solidFill>
                          <a:schemeClr val="accent6">
                            <a:lumMod val="50000"/>
                          </a:schemeClr>
                        </a:solidFill>
                        <a:latin typeface="Cambria Math" panose="02040503050406030204" pitchFamily="18" charset="0"/>
                      </a:rPr>
                      <m:t>𝚪</m:t>
                    </m:r>
                  </m:oMath>
                </a14:m>
                <a:r>
                  <a:rPr lang="zh-CN" altLang="en-US" sz="2000" b="1">
                    <a:solidFill>
                      <a:schemeClr val="accent6">
                        <a:lumMod val="50000"/>
                      </a:schemeClr>
                    </a:solidFill>
                  </a:rPr>
                  <a:t>的端点</a:t>
                </a:r>
                <a14:m>
                  <m:oMath xmlns:m="http://schemas.openxmlformats.org/officeDocument/2006/math">
                    <m:sSub>
                      <m:sSubPr>
                        <m:ctrlPr>
                          <a:rPr lang="en-US" altLang="zh-CN" sz="2000" b="1" i="1" smtClean="0">
                            <a:solidFill>
                              <a:schemeClr val="accent6">
                                <a:lumMod val="50000"/>
                              </a:schemeClr>
                            </a:solidFill>
                            <a:latin typeface="Cambria Math" panose="02040503050406030204" pitchFamily="18" charset="0"/>
                          </a:rPr>
                        </m:ctrlPr>
                      </m:sSubPr>
                      <m:e>
                        <m:r>
                          <a:rPr lang="en-US" altLang="zh-CN" sz="2000" b="1" i="1" smtClean="0">
                            <a:solidFill>
                              <a:schemeClr val="accent6">
                                <a:lumMod val="50000"/>
                              </a:schemeClr>
                            </a:solidFill>
                            <a:latin typeface="Cambria Math" panose="02040503050406030204" pitchFamily="18" charset="0"/>
                          </a:rPr>
                          <m:t>𝒗</m:t>
                        </m:r>
                      </m:e>
                      <m:sub>
                        <m:r>
                          <a:rPr lang="en-US" altLang="zh-CN" sz="2000" b="1" i="1" smtClean="0">
                            <a:solidFill>
                              <a:schemeClr val="accent6">
                                <a:lumMod val="50000"/>
                              </a:schemeClr>
                            </a:solidFill>
                            <a:latin typeface="Cambria Math" panose="02040503050406030204" pitchFamily="18" charset="0"/>
                          </a:rPr>
                          <m:t>𝟎</m:t>
                        </m:r>
                      </m:sub>
                    </m:sSub>
                  </m:oMath>
                </a14:m>
                <a:r>
                  <a:rPr lang="zh-CN" altLang="en-US" sz="2000" b="1">
                    <a:solidFill>
                      <a:schemeClr val="accent6">
                        <a:lumMod val="50000"/>
                      </a:schemeClr>
                    </a:solidFill>
                  </a:rPr>
                  <a:t>或</a:t>
                </a:r>
                <a14:m>
                  <m:oMath xmlns:m="http://schemas.openxmlformats.org/officeDocument/2006/math">
                    <m:sSub>
                      <m:sSubPr>
                        <m:ctrlPr>
                          <a:rPr lang="en-US" altLang="zh-CN" sz="2000" b="1" i="1" smtClean="0">
                            <a:solidFill>
                              <a:schemeClr val="accent6">
                                <a:lumMod val="50000"/>
                              </a:schemeClr>
                            </a:solidFill>
                            <a:latin typeface="Cambria Math" panose="02040503050406030204" pitchFamily="18" charset="0"/>
                          </a:rPr>
                        </m:ctrlPr>
                      </m:sSubPr>
                      <m:e>
                        <m:r>
                          <a:rPr lang="en-US" altLang="zh-CN" sz="2000" b="1" i="1" smtClean="0">
                            <a:solidFill>
                              <a:schemeClr val="accent6">
                                <a:lumMod val="50000"/>
                              </a:schemeClr>
                            </a:solidFill>
                            <a:latin typeface="Cambria Math" panose="02040503050406030204" pitchFamily="18" charset="0"/>
                          </a:rPr>
                          <m:t>𝒗</m:t>
                        </m:r>
                      </m:e>
                      <m:sub>
                        <m:r>
                          <a:rPr lang="en-US" altLang="zh-CN" sz="2000" b="1" i="1" smtClean="0">
                            <a:solidFill>
                              <a:schemeClr val="accent6">
                                <a:lumMod val="50000"/>
                              </a:schemeClr>
                            </a:solidFill>
                            <a:latin typeface="Cambria Math" panose="02040503050406030204" pitchFamily="18" charset="0"/>
                          </a:rPr>
                          <m:t>𝒏</m:t>
                        </m:r>
                      </m:sub>
                    </m:sSub>
                  </m:oMath>
                </a14:m>
                <a:r>
                  <a:rPr lang="zh-CN" altLang="en-US" sz="2000" b="1">
                    <a:solidFill>
                      <a:schemeClr val="accent6">
                        <a:lumMod val="50000"/>
                      </a:schemeClr>
                    </a:solidFill>
                  </a:rPr>
                  <a:t>相邻</a:t>
                </a:r>
              </a:p>
              <a:p>
                <a:pPr marL="800100" lvl="1" indent="-342900">
                  <a:spcBef>
                    <a:spcPts val="600"/>
                  </a:spcBef>
                  <a:spcAft>
                    <a:spcPts val="900"/>
                  </a:spcAft>
                  <a:buFont typeface="Arial" panose="020B0604020202020204" pitchFamily="34" charset="0"/>
                  <a:buChar char="•"/>
                </a:pPr>
                <a:r>
                  <a:rPr lang="zh-CN" altLang="en-US" sz="2000" b="1">
                    <a:solidFill>
                      <a:schemeClr val="accent2">
                        <a:lumMod val="50000"/>
                      </a:schemeClr>
                    </a:solidFill>
                    <a:latin typeface="楷体" panose="02010609060101010101" pitchFamily="49" charset="-122"/>
                    <a:ea typeface="楷体" panose="02010609060101010101" pitchFamily="49" charset="-122"/>
                  </a:rPr>
                  <a:t>若极长通路</a:t>
                </a:r>
                <a14:m>
                  <m:oMath xmlns:m="http://schemas.openxmlformats.org/officeDocument/2006/math">
                    <m:r>
                      <a:rPr lang="en-US" altLang="zh-CN" sz="2000" b="1" i="0" smtClean="0">
                        <a:solidFill>
                          <a:schemeClr val="accent2">
                            <a:lumMod val="50000"/>
                          </a:schemeClr>
                        </a:solidFill>
                        <a:latin typeface="Cambria Math" panose="02040503050406030204" pitchFamily="18" charset="0"/>
                      </a:rPr>
                      <m:t>𝚪</m:t>
                    </m:r>
                  </m:oMath>
                </a14:m>
                <a:r>
                  <a:rPr lang="zh-CN" altLang="en-US" sz="2000" b="1">
                    <a:solidFill>
                      <a:schemeClr val="accent2">
                        <a:lumMod val="50000"/>
                      </a:schemeClr>
                    </a:solidFill>
                    <a:latin typeface="楷体" panose="02010609060101010101" pitchFamily="49" charset="-122"/>
                    <a:ea typeface="楷体" panose="02010609060101010101" pitchFamily="49" charset="-122"/>
                  </a:rPr>
                  <a:t>又是初级通路，则称为极长初级通路</a:t>
                </a:r>
              </a:p>
            </p:txBody>
          </p:sp>
        </mc:Choice>
        <mc:Fallback xmlns="">
          <p:sp>
            <p:nvSpPr>
              <p:cNvPr id="2" name="文本框 1">
                <a:extLst>
                  <a:ext uri="{FF2B5EF4-FFF2-40B4-BE49-F238E27FC236}">
                    <a16:creationId xmlns:a16="http://schemas.microsoft.com/office/drawing/2014/main" id="{CD169256-B5D5-4AA1-8339-AF56B36CAF01}"/>
                  </a:ext>
                </a:extLst>
              </p:cNvPr>
              <p:cNvSpPr txBox="1">
                <a:spLocks noRot="1" noChangeAspect="1" noMove="1" noResize="1" noEditPoints="1" noAdjustHandles="1" noChangeArrowheads="1" noChangeShapeType="1" noTextEdit="1"/>
              </p:cNvSpPr>
              <p:nvPr/>
            </p:nvSpPr>
            <p:spPr>
              <a:xfrm>
                <a:off x="1096402" y="2907173"/>
                <a:ext cx="9823772" cy="1962076"/>
              </a:xfrm>
              <a:prstGeom prst="rect">
                <a:avLst/>
              </a:prstGeom>
              <a:blipFill>
                <a:blip r:embed="rId2"/>
                <a:stretch>
                  <a:fillRect l="-683" t="-2174" b="-4037"/>
                </a:stretch>
              </a:blipFill>
            </p:spPr>
            <p:txBody>
              <a:bodyPr/>
              <a:lstStyle/>
              <a:p>
                <a:r>
                  <a:rPr lang="zh-CN" altLang="en-US">
                    <a:noFill/>
                  </a:rPr>
                  <a:t> </a:t>
                </a:r>
              </a:p>
            </p:txBody>
          </p:sp>
        </mc:Fallback>
      </mc:AlternateContent>
      <p:sp>
        <p:nvSpPr>
          <p:cNvPr id="3" name="文本框 2">
            <a:extLst>
              <a:ext uri="{FF2B5EF4-FFF2-40B4-BE49-F238E27FC236}">
                <a16:creationId xmlns:a16="http://schemas.microsoft.com/office/drawing/2014/main" id="{97B9F48A-F5CF-42BB-AEF6-EB268ECB6463}"/>
              </a:ext>
            </a:extLst>
          </p:cNvPr>
          <p:cNvSpPr txBox="1"/>
          <p:nvPr/>
        </p:nvSpPr>
        <p:spPr>
          <a:xfrm>
            <a:off x="1096402" y="1577928"/>
            <a:ext cx="9999194" cy="861774"/>
          </a:xfrm>
          <a:prstGeom prst="rect">
            <a:avLst/>
          </a:prstGeom>
          <a:solidFill>
            <a:schemeClr val="accent5">
              <a:lumMod val="20000"/>
              <a:lumOff val="80000"/>
              <a:alpha val="50000"/>
            </a:schemeClr>
          </a:solidFill>
        </p:spPr>
        <p:txBody>
          <a:bodyPr wrap="square" rtlCol="0">
            <a:spAutoFit/>
          </a:bodyPr>
          <a:lstStyle/>
          <a:p>
            <a:pPr>
              <a:spcBef>
                <a:spcPts val="600"/>
              </a:spcBef>
              <a:spcAft>
                <a:spcPts val="600"/>
              </a:spcAft>
            </a:pPr>
            <a:r>
              <a:rPr lang="zh-CN" altLang="en-US" sz="2000" b="1">
                <a:solidFill>
                  <a:srgbClr val="002060"/>
                </a:solidFill>
                <a:latin typeface="楷体" panose="02010609060101010101" pitchFamily="49" charset="-122"/>
                <a:ea typeface="楷体" panose="02010609060101010101" pitchFamily="49" charset="-122"/>
              </a:rPr>
              <a:t>目前为止还没有找到一个图存在哈密顿回路的充分且必要的条件</a:t>
            </a:r>
          </a:p>
          <a:p>
            <a:pPr marL="342900" indent="-342900">
              <a:spcBef>
                <a:spcPts val="600"/>
              </a:spcBef>
              <a:spcAft>
                <a:spcPts val="600"/>
              </a:spcAft>
              <a:buFont typeface="Arial" panose="020B0604020202020204" pitchFamily="34" charset="0"/>
              <a:buChar char="•"/>
            </a:pPr>
            <a:r>
              <a:rPr lang="zh-CN" altLang="en-US" sz="2000" b="1">
                <a:solidFill>
                  <a:schemeClr val="accent6">
                    <a:lumMod val="50000"/>
                  </a:schemeClr>
                </a:solidFill>
              </a:rPr>
              <a:t>下面给出一个存在哈密顿回路的充分条件，为证明这个定理需要用到</a:t>
            </a:r>
            <a:r>
              <a:rPr lang="zh-CN" altLang="en-US" sz="2000" b="1">
                <a:solidFill>
                  <a:srgbClr val="C00000"/>
                </a:solidFill>
              </a:rPr>
              <a:t>极长通路</a:t>
            </a:r>
            <a:r>
              <a:rPr lang="zh-CN" altLang="en-US" sz="2000" b="1">
                <a:solidFill>
                  <a:schemeClr val="accent6">
                    <a:lumMod val="50000"/>
                  </a:schemeClr>
                </a:solidFill>
              </a:rPr>
              <a:t>的概念</a:t>
            </a:r>
          </a:p>
        </p:txBody>
      </p:sp>
      <p:sp>
        <p:nvSpPr>
          <p:cNvPr id="4" name="文本框 3">
            <a:extLst>
              <a:ext uri="{FF2B5EF4-FFF2-40B4-BE49-F238E27FC236}">
                <a16:creationId xmlns:a16="http://schemas.microsoft.com/office/drawing/2014/main" id="{C55B4254-23E7-4160-8E34-474F1F8C54A3}"/>
              </a:ext>
            </a:extLst>
          </p:cNvPr>
          <p:cNvSpPr txBox="1"/>
          <p:nvPr/>
        </p:nvSpPr>
        <p:spPr>
          <a:xfrm>
            <a:off x="1104789" y="5307848"/>
            <a:ext cx="5896456" cy="369332"/>
          </a:xfrm>
          <a:prstGeom prst="rect">
            <a:avLst/>
          </a:prstGeom>
          <a:solidFill>
            <a:schemeClr val="accent4">
              <a:lumMod val="20000"/>
              <a:lumOff val="80000"/>
            </a:schemeClr>
          </a:solidFill>
        </p:spPr>
        <p:txBody>
          <a:bodyPr wrap="square" rtlCol="0">
            <a:spAutoFit/>
          </a:bodyPr>
          <a:lstStyle/>
          <a:p>
            <a:r>
              <a:rPr lang="zh-CN" altLang="en-US" b="1" dirty="0">
                <a:solidFill>
                  <a:schemeClr val="accent2">
                    <a:lumMod val="50000"/>
                  </a:schemeClr>
                </a:solidFill>
              </a:rPr>
              <a:t>与极长通路端点相邻的顶点都已经被包含在极长通路中</a:t>
            </a:r>
          </a:p>
        </p:txBody>
      </p:sp>
      <p:sp>
        <p:nvSpPr>
          <p:cNvPr id="6" name="文本框 5">
            <a:extLst>
              <a:ext uri="{FF2B5EF4-FFF2-40B4-BE49-F238E27FC236}">
                <a16:creationId xmlns:a16="http://schemas.microsoft.com/office/drawing/2014/main" id="{ED3EFB54-FB84-20B0-422F-68EC72F789AA}"/>
              </a:ext>
            </a:extLst>
          </p:cNvPr>
          <p:cNvSpPr txBox="1"/>
          <p:nvPr/>
        </p:nvSpPr>
        <p:spPr>
          <a:xfrm>
            <a:off x="4500979" y="879851"/>
            <a:ext cx="1099981" cy="369332"/>
          </a:xfrm>
          <a:prstGeom prst="rect">
            <a:avLst/>
          </a:prstGeom>
          <a:noFill/>
        </p:spPr>
        <p:txBody>
          <a:bodyPr wrap="none" rtlCol="0">
            <a:spAutoFit/>
          </a:bodyPr>
          <a:lstStyle/>
          <a:p>
            <a:r>
              <a:rPr lang="zh-CN" altLang="en-US" b="1" dirty="0">
                <a:solidFill>
                  <a:srgbClr val="FF0000"/>
                </a:solidFill>
              </a:rPr>
              <a:t>简单了解</a:t>
            </a:r>
          </a:p>
        </p:txBody>
      </p:sp>
    </p:spTree>
    <p:extLst>
      <p:ext uri="{BB962C8B-B14F-4D97-AF65-F5344CB8AC3E}">
        <p14:creationId xmlns:p14="http://schemas.microsoft.com/office/powerpoint/2010/main" val="20104140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哈密顿图</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第三十一讲  一些特殊的图</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t>26</a:t>
            </a:fld>
            <a:r>
              <a:rPr lang="en-US" altLang="zh-CN" dirty="0">
                <a:latin typeface="Arial" panose="020B0604020202020204" pitchFamily="34" charset="0"/>
                <a:ea typeface="楷体" panose="02010609060101010101" pitchFamily="49" charset="-122"/>
                <a:cs typeface="Arial" panose="020B0604020202020204" pitchFamily="34" charset="0"/>
              </a:rPr>
              <a:t>/32</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哈密顿图的一个充分条件</a:t>
            </a: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3A1E3794-85C8-4F2D-BF6E-9AF0D8BD4DB7}"/>
                  </a:ext>
                </a:extLst>
              </p:cNvPr>
              <p:cNvSpPr txBox="1"/>
              <p:nvPr/>
            </p:nvSpPr>
            <p:spPr>
              <a:xfrm>
                <a:off x="609599" y="1950178"/>
                <a:ext cx="10972800" cy="2664768"/>
              </a:xfrm>
              <a:prstGeom prst="rect">
                <a:avLst/>
              </a:prstGeom>
              <a:solidFill>
                <a:schemeClr val="accent5">
                  <a:lumMod val="20000"/>
                  <a:lumOff val="80000"/>
                  <a:alpha val="50000"/>
                </a:schemeClr>
              </a:solidFill>
            </p:spPr>
            <p:txBody>
              <a:bodyPr wrap="square" rtlCol="0">
                <a:spAutoFit/>
              </a:bodyPr>
              <a:lstStyle/>
              <a:p>
                <a:pPr marL="285750" indent="-285750">
                  <a:spcBef>
                    <a:spcPts val="600"/>
                  </a:spcBef>
                  <a:spcAft>
                    <a:spcPts val="600"/>
                  </a:spcAft>
                  <a:buFont typeface="Arial" panose="020B0604020202020204" pitchFamily="34" charset="0"/>
                  <a:buChar char="•"/>
                </a:pPr>
                <a14:m>
                  <m:oMath xmlns:m="http://schemas.openxmlformats.org/officeDocument/2006/math">
                    <m:r>
                      <a:rPr lang="en-US" altLang="zh-CN" b="1" i="1" smtClean="0">
                        <a:solidFill>
                          <a:srgbClr val="C00000"/>
                        </a:solidFill>
                        <a:latin typeface="Cambria Math" panose="02040503050406030204" pitchFamily="18" charset="0"/>
                      </a:rPr>
                      <m:t>𝑮</m:t>
                    </m:r>
                  </m:oMath>
                </a14:m>
                <a:r>
                  <a:rPr lang="zh-CN" altLang="en-US" b="1" dirty="0">
                    <a:solidFill>
                      <a:srgbClr val="C00000"/>
                    </a:solidFill>
                    <a:latin typeface="+mn-ea"/>
                  </a:rPr>
                  <a:t>是连通</a:t>
                </a:r>
                <a:r>
                  <a:rPr lang="zh-CN" altLang="en-US" b="1" dirty="0">
                    <a:solidFill>
                      <a:srgbClr val="002060"/>
                    </a:solidFill>
                    <a:latin typeface="楷体" panose="02010609060101010101" pitchFamily="49" charset="-122"/>
                    <a:ea typeface="楷体" panose="02010609060101010101" pitchFamily="49" charset="-122"/>
                  </a:rPr>
                  <a:t>的：因为若有两个或更多连通分支，不同连通分支的两个顶点度数之和不可能大于等于</a:t>
                </a:r>
                <a14:m>
                  <m:oMath xmlns:m="http://schemas.openxmlformats.org/officeDocument/2006/math">
                    <m:r>
                      <a:rPr lang="en-US" altLang="zh-CN" b="1" i="1" smtClean="0">
                        <a:solidFill>
                          <a:srgbClr val="002060"/>
                        </a:solidFill>
                        <a:latin typeface="Cambria Math" panose="02040503050406030204" pitchFamily="18" charset="0"/>
                      </a:rPr>
                      <m:t>𝒏</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𝟏</m:t>
                    </m:r>
                  </m:oMath>
                </a14:m>
                <a:endParaRPr lang="en-US" altLang="zh-CN" b="1" dirty="0">
                  <a:solidFill>
                    <a:srgbClr val="002060"/>
                  </a:solidFill>
                  <a:latin typeface="楷体" panose="02010609060101010101" pitchFamily="49" charset="-122"/>
                  <a:ea typeface="楷体" panose="02010609060101010101" pitchFamily="49" charset="-122"/>
                </a:endParaRPr>
              </a:p>
              <a:p>
                <a:pPr marL="285750" indent="-285750">
                  <a:spcBef>
                    <a:spcPts val="600"/>
                  </a:spcBef>
                  <a:spcAft>
                    <a:spcPts val="600"/>
                  </a:spcAft>
                  <a:buFont typeface="Arial" panose="020B0604020202020204" pitchFamily="34" charset="0"/>
                  <a:buChar char="•"/>
                </a:pPr>
                <a:r>
                  <a:rPr lang="zh-CN" altLang="en-US" b="1" dirty="0">
                    <a:solidFill>
                      <a:srgbClr val="C00000"/>
                    </a:solidFill>
                    <a:latin typeface="+mn-ea"/>
                  </a:rPr>
                  <a:t>不断扩展</a:t>
                </a:r>
                <a14:m>
                  <m:oMath xmlns:m="http://schemas.openxmlformats.org/officeDocument/2006/math">
                    <m:r>
                      <a:rPr lang="en-US" altLang="zh-CN" b="1" i="1" smtClean="0">
                        <a:solidFill>
                          <a:srgbClr val="002060"/>
                        </a:solidFill>
                        <a:latin typeface="Cambria Math" panose="02040503050406030204" pitchFamily="18" charset="0"/>
                      </a:rPr>
                      <m:t>𝑮</m:t>
                    </m:r>
                  </m:oMath>
                </a14:m>
                <a:r>
                  <a:rPr lang="zh-CN" altLang="en-US" b="1" dirty="0">
                    <a:solidFill>
                      <a:srgbClr val="002060"/>
                    </a:solidFill>
                    <a:latin typeface="楷体" panose="02010609060101010101" pitchFamily="49" charset="-122"/>
                    <a:ea typeface="楷体" panose="02010609060101010101" pitchFamily="49" charset="-122"/>
                  </a:rPr>
                  <a:t>的一个</a:t>
                </a:r>
                <a:r>
                  <a:rPr lang="zh-CN" altLang="en-US" b="1" dirty="0">
                    <a:solidFill>
                      <a:srgbClr val="C00000"/>
                    </a:solidFill>
                    <a:latin typeface="+mn-ea"/>
                  </a:rPr>
                  <a:t>极长初级通路</a:t>
                </a:r>
                <a14:m>
                  <m:oMath xmlns:m="http://schemas.openxmlformats.org/officeDocument/2006/math">
                    <m:r>
                      <a:rPr lang="en-US" altLang="zh-CN" b="1" i="0" smtClean="0">
                        <a:solidFill>
                          <a:srgbClr val="002060"/>
                        </a:solidFill>
                        <a:latin typeface="Cambria Math" panose="02040503050406030204" pitchFamily="18" charset="0"/>
                      </a:rPr>
                      <m:t>𝚪</m:t>
                    </m:r>
                    <m:r>
                      <a:rPr lang="en-US" altLang="zh-CN" b="1" i="1" smtClean="0">
                        <a:solidFill>
                          <a:srgbClr val="002060"/>
                        </a:solidFill>
                        <a:latin typeface="Cambria Math" panose="02040503050406030204" pitchFamily="18" charset="0"/>
                      </a:rPr>
                      <m:t>= </m:t>
                    </m:r>
                    <m:sSub>
                      <m:sSubPr>
                        <m:ctrlPr>
                          <a:rPr lang="en-US" altLang="zh-CN" b="1" i="1" smtClean="0">
                            <a:solidFill>
                              <a:srgbClr val="002060"/>
                            </a:solidFill>
                            <a:latin typeface="Cambria Math" panose="02040503050406030204" pitchFamily="18" charset="0"/>
                          </a:rPr>
                        </m:ctrlPr>
                      </m:sSubPr>
                      <m:e>
                        <m:r>
                          <a:rPr lang="en-US" altLang="zh-CN" b="1" i="1" smtClean="0">
                            <a:solidFill>
                              <a:srgbClr val="002060"/>
                            </a:solidFill>
                            <a:latin typeface="Cambria Math" panose="02040503050406030204" pitchFamily="18" charset="0"/>
                          </a:rPr>
                          <m:t>𝒗</m:t>
                        </m:r>
                      </m:e>
                      <m:sub>
                        <m:sSub>
                          <m:sSubPr>
                            <m:ctrlPr>
                              <a:rPr lang="en-US" altLang="zh-CN" b="1" i="1" smtClean="0">
                                <a:solidFill>
                                  <a:srgbClr val="002060"/>
                                </a:solidFill>
                                <a:latin typeface="Cambria Math" panose="02040503050406030204" pitchFamily="18" charset="0"/>
                              </a:rPr>
                            </m:ctrlPr>
                          </m:sSubPr>
                          <m:e>
                            <m:r>
                              <a:rPr lang="en-US" altLang="zh-CN" b="1" i="1" smtClean="0">
                                <a:solidFill>
                                  <a:srgbClr val="002060"/>
                                </a:solidFill>
                                <a:latin typeface="Cambria Math" panose="02040503050406030204" pitchFamily="18" charset="0"/>
                              </a:rPr>
                              <m:t>𝒊</m:t>
                            </m:r>
                          </m:e>
                          <m:sub>
                            <m:r>
                              <a:rPr lang="en-US" altLang="zh-CN" b="1" i="1">
                                <a:solidFill>
                                  <a:srgbClr val="002060"/>
                                </a:solidFill>
                                <a:latin typeface="Cambria Math" panose="02040503050406030204" pitchFamily="18" charset="0"/>
                              </a:rPr>
                              <m:t>𝟏</m:t>
                            </m:r>
                          </m:sub>
                        </m:sSub>
                      </m:sub>
                    </m:sSub>
                    <m:sSub>
                      <m:sSubPr>
                        <m:ctrlPr>
                          <a:rPr lang="en-US" altLang="zh-CN" b="1" i="1" smtClean="0">
                            <a:solidFill>
                              <a:srgbClr val="002060"/>
                            </a:solidFill>
                            <a:latin typeface="Cambria Math" panose="02040503050406030204" pitchFamily="18" charset="0"/>
                          </a:rPr>
                        </m:ctrlPr>
                      </m:sSubPr>
                      <m:e>
                        <m:r>
                          <a:rPr lang="en-US" altLang="zh-CN" b="1" i="1" smtClean="0">
                            <a:solidFill>
                              <a:srgbClr val="002060"/>
                            </a:solidFill>
                            <a:latin typeface="Cambria Math" panose="02040503050406030204" pitchFamily="18" charset="0"/>
                          </a:rPr>
                          <m:t>𝒗</m:t>
                        </m:r>
                      </m:e>
                      <m:sub>
                        <m:sSub>
                          <m:sSubPr>
                            <m:ctrlPr>
                              <a:rPr lang="en-US" altLang="zh-CN" b="1" i="1" smtClean="0">
                                <a:solidFill>
                                  <a:srgbClr val="002060"/>
                                </a:solidFill>
                                <a:latin typeface="Cambria Math" panose="02040503050406030204" pitchFamily="18" charset="0"/>
                              </a:rPr>
                            </m:ctrlPr>
                          </m:sSubPr>
                          <m:e>
                            <m:r>
                              <a:rPr lang="en-US" altLang="zh-CN" b="1" i="1">
                                <a:solidFill>
                                  <a:srgbClr val="002060"/>
                                </a:solidFill>
                                <a:latin typeface="Cambria Math" panose="02040503050406030204" pitchFamily="18" charset="0"/>
                              </a:rPr>
                              <m:t>𝒊</m:t>
                            </m:r>
                          </m:e>
                          <m:sub>
                            <m:r>
                              <a:rPr lang="en-US" altLang="zh-CN" b="1" i="1">
                                <a:solidFill>
                                  <a:srgbClr val="002060"/>
                                </a:solidFill>
                                <a:latin typeface="Cambria Math" panose="02040503050406030204" pitchFamily="18" charset="0"/>
                              </a:rPr>
                              <m:t>𝟐</m:t>
                            </m:r>
                          </m:sub>
                        </m:sSub>
                      </m:sub>
                    </m:sSub>
                    <m:r>
                      <a:rPr lang="en-US" altLang="zh-CN" b="1" i="1" smtClean="0">
                        <a:solidFill>
                          <a:srgbClr val="002060"/>
                        </a:solidFill>
                        <a:latin typeface="Cambria Math" panose="02040503050406030204" pitchFamily="18" charset="0"/>
                      </a:rPr>
                      <m:t>⋯</m:t>
                    </m:r>
                    <m:sSub>
                      <m:sSubPr>
                        <m:ctrlPr>
                          <a:rPr lang="en-US" altLang="zh-CN" b="1" i="1">
                            <a:solidFill>
                              <a:srgbClr val="002060"/>
                            </a:solidFill>
                            <a:latin typeface="Cambria Math" panose="02040503050406030204" pitchFamily="18" charset="0"/>
                          </a:rPr>
                        </m:ctrlPr>
                      </m:sSubPr>
                      <m:e>
                        <m:r>
                          <a:rPr lang="en-US" altLang="zh-CN" b="1" i="1">
                            <a:solidFill>
                              <a:srgbClr val="002060"/>
                            </a:solidFill>
                            <a:latin typeface="Cambria Math" panose="02040503050406030204" pitchFamily="18" charset="0"/>
                          </a:rPr>
                          <m:t>𝒗</m:t>
                        </m:r>
                      </m:e>
                      <m:sub>
                        <m:sSub>
                          <m:sSubPr>
                            <m:ctrlPr>
                              <a:rPr lang="en-US" altLang="zh-CN" b="1" i="1">
                                <a:solidFill>
                                  <a:srgbClr val="002060"/>
                                </a:solidFill>
                                <a:latin typeface="Cambria Math" panose="02040503050406030204" pitchFamily="18" charset="0"/>
                              </a:rPr>
                            </m:ctrlPr>
                          </m:sSubPr>
                          <m:e>
                            <m:r>
                              <a:rPr lang="en-US" altLang="zh-CN" b="1" i="1">
                                <a:solidFill>
                                  <a:srgbClr val="002060"/>
                                </a:solidFill>
                                <a:latin typeface="Cambria Math" panose="02040503050406030204" pitchFamily="18" charset="0"/>
                              </a:rPr>
                              <m:t>𝒊</m:t>
                            </m:r>
                          </m:e>
                          <m:sub>
                            <m:r>
                              <a:rPr lang="en-US" altLang="zh-CN" b="1" i="1">
                                <a:solidFill>
                                  <a:srgbClr val="002060"/>
                                </a:solidFill>
                                <a:latin typeface="Cambria Math" panose="02040503050406030204" pitchFamily="18" charset="0"/>
                              </a:rPr>
                              <m:t>𝒎</m:t>
                            </m:r>
                          </m:sub>
                        </m:sSub>
                      </m:sub>
                    </m:sSub>
                  </m:oMath>
                </a14:m>
                <a:r>
                  <a:rPr lang="zh-CN" altLang="en-US" b="1" dirty="0">
                    <a:solidFill>
                      <a:srgbClr val="002060"/>
                    </a:solidFill>
                    <a:latin typeface="楷体" panose="02010609060101010101" pitchFamily="49" charset="-122"/>
                    <a:ea typeface="楷体" panose="02010609060101010101" pitchFamily="49" charset="-122"/>
                  </a:rPr>
                  <a:t>可得到包含所有顶点的通路</a:t>
                </a:r>
              </a:p>
              <a:p>
                <a:pPr marL="742950" lvl="1" indent="-285750">
                  <a:spcBef>
                    <a:spcPts val="600"/>
                  </a:spcBef>
                  <a:spcAft>
                    <a:spcPts val="600"/>
                  </a:spcAft>
                  <a:buFont typeface="Arial" panose="020B0604020202020204" pitchFamily="34" charset="0"/>
                  <a:buChar char="•"/>
                </a:pPr>
                <a:r>
                  <a:rPr lang="zh-CN" altLang="en-US" b="1" dirty="0">
                    <a:solidFill>
                      <a:schemeClr val="accent6">
                        <a:lumMod val="50000"/>
                      </a:schemeClr>
                    </a:solidFill>
                  </a:rPr>
                  <a:t>这个极长初级通路必存在简单回路</a:t>
                </a:r>
                <a14:m>
                  <m:oMath xmlns:m="http://schemas.openxmlformats.org/officeDocument/2006/math">
                    <m:r>
                      <a:rPr lang="en-US" altLang="zh-CN" b="1" i="1" smtClean="0">
                        <a:solidFill>
                          <a:srgbClr val="C00000"/>
                        </a:solidFill>
                        <a:latin typeface="Cambria Math" panose="02040503050406030204" pitchFamily="18" charset="0"/>
                      </a:rPr>
                      <m:t>𝑪</m:t>
                    </m:r>
                    <m:r>
                      <a:rPr lang="en-US" altLang="zh-CN" b="1" i="1" smtClean="0">
                        <a:solidFill>
                          <a:srgbClr val="C00000"/>
                        </a:solidFill>
                        <a:latin typeface="Cambria Math" panose="02040503050406030204" pitchFamily="18" charset="0"/>
                      </a:rPr>
                      <m:t> = </m:t>
                    </m:r>
                    <m:sSub>
                      <m:sSubPr>
                        <m:ctrlPr>
                          <a:rPr lang="en-US" altLang="zh-CN" b="1" i="1" smtClean="0">
                            <a:solidFill>
                              <a:srgbClr val="C00000"/>
                            </a:solidFill>
                            <a:latin typeface="Cambria Math" panose="02040503050406030204" pitchFamily="18" charset="0"/>
                          </a:rPr>
                        </m:ctrlPr>
                      </m:sSubPr>
                      <m:e>
                        <m:r>
                          <a:rPr lang="en-US" altLang="zh-CN" b="1" i="1" smtClean="0">
                            <a:solidFill>
                              <a:srgbClr val="C00000"/>
                            </a:solidFill>
                            <a:latin typeface="Cambria Math" panose="02040503050406030204" pitchFamily="18" charset="0"/>
                          </a:rPr>
                          <m:t>𝒗</m:t>
                        </m:r>
                      </m:e>
                      <m:sub>
                        <m:sSub>
                          <m:sSubPr>
                            <m:ctrlPr>
                              <a:rPr lang="en-US" altLang="zh-CN" b="1" i="1" smtClean="0">
                                <a:solidFill>
                                  <a:srgbClr val="C00000"/>
                                </a:solidFill>
                                <a:latin typeface="Cambria Math" panose="02040503050406030204" pitchFamily="18" charset="0"/>
                              </a:rPr>
                            </m:ctrlPr>
                          </m:sSubPr>
                          <m:e>
                            <m:r>
                              <a:rPr lang="en-US" altLang="zh-CN" b="1" i="1" smtClean="0">
                                <a:solidFill>
                                  <a:srgbClr val="C00000"/>
                                </a:solidFill>
                                <a:latin typeface="Cambria Math" panose="02040503050406030204" pitchFamily="18" charset="0"/>
                              </a:rPr>
                              <m:t>𝒊</m:t>
                            </m:r>
                          </m:e>
                          <m:sub>
                            <m:r>
                              <a:rPr lang="en-US" altLang="zh-CN" b="1" i="1">
                                <a:solidFill>
                                  <a:srgbClr val="C00000"/>
                                </a:solidFill>
                                <a:latin typeface="Cambria Math" panose="02040503050406030204" pitchFamily="18" charset="0"/>
                              </a:rPr>
                              <m:t>𝟏</m:t>
                            </m:r>
                          </m:sub>
                        </m:sSub>
                      </m:sub>
                    </m:sSub>
                    <m:r>
                      <a:rPr lang="en-US" altLang="zh-CN" b="1" i="1" smtClean="0">
                        <a:solidFill>
                          <a:srgbClr val="C00000"/>
                        </a:solidFill>
                        <a:latin typeface="Cambria Math" panose="02040503050406030204" pitchFamily="18" charset="0"/>
                      </a:rPr>
                      <m:t>⋯</m:t>
                    </m:r>
                    <m:sSub>
                      <m:sSubPr>
                        <m:ctrlPr>
                          <a:rPr lang="en-US" altLang="zh-CN" b="1" i="1" smtClean="0">
                            <a:solidFill>
                              <a:srgbClr val="C00000"/>
                            </a:solidFill>
                            <a:latin typeface="Cambria Math" panose="02040503050406030204" pitchFamily="18" charset="0"/>
                          </a:rPr>
                        </m:ctrlPr>
                      </m:sSubPr>
                      <m:e>
                        <m:r>
                          <a:rPr lang="en-US" altLang="zh-CN" b="1" i="1">
                            <a:solidFill>
                              <a:srgbClr val="C00000"/>
                            </a:solidFill>
                            <a:latin typeface="Cambria Math" panose="02040503050406030204" pitchFamily="18" charset="0"/>
                          </a:rPr>
                          <m:t>𝒗</m:t>
                        </m:r>
                      </m:e>
                      <m:sub>
                        <m:sSub>
                          <m:sSubPr>
                            <m:ctrlPr>
                              <a:rPr lang="en-US" altLang="zh-CN" b="1" i="1">
                                <a:solidFill>
                                  <a:srgbClr val="C00000"/>
                                </a:solidFill>
                                <a:latin typeface="Cambria Math" panose="02040503050406030204" pitchFamily="18" charset="0"/>
                              </a:rPr>
                            </m:ctrlPr>
                          </m:sSubPr>
                          <m:e>
                            <m:r>
                              <a:rPr lang="en-US" altLang="zh-CN" b="1" i="1">
                                <a:solidFill>
                                  <a:srgbClr val="C00000"/>
                                </a:solidFill>
                                <a:latin typeface="Cambria Math" panose="02040503050406030204" pitchFamily="18" charset="0"/>
                              </a:rPr>
                              <m:t>𝒊</m:t>
                            </m:r>
                          </m:e>
                          <m:sub>
                            <m:r>
                              <a:rPr lang="en-US" altLang="zh-CN" b="1" i="1">
                                <a:solidFill>
                                  <a:srgbClr val="C00000"/>
                                </a:solidFill>
                                <a:latin typeface="Cambria Math" panose="02040503050406030204" pitchFamily="18" charset="0"/>
                              </a:rPr>
                              <m:t>𝒑</m:t>
                            </m:r>
                            <m:r>
                              <a:rPr lang="en-US" altLang="zh-CN" b="1" i="1">
                                <a:solidFill>
                                  <a:srgbClr val="C00000"/>
                                </a:solidFill>
                                <a:latin typeface="Cambria Math" panose="02040503050406030204" pitchFamily="18" charset="0"/>
                              </a:rPr>
                              <m:t>−</m:t>
                            </m:r>
                            <m:r>
                              <a:rPr lang="en-US" altLang="zh-CN" b="1" i="1">
                                <a:solidFill>
                                  <a:srgbClr val="C00000"/>
                                </a:solidFill>
                                <a:latin typeface="Cambria Math" panose="02040503050406030204" pitchFamily="18" charset="0"/>
                              </a:rPr>
                              <m:t>𝟏</m:t>
                            </m:r>
                          </m:sub>
                        </m:sSub>
                      </m:sub>
                    </m:sSub>
                    <m:sSub>
                      <m:sSubPr>
                        <m:ctrlPr>
                          <a:rPr lang="en-US" altLang="zh-CN" b="1" i="1">
                            <a:solidFill>
                              <a:srgbClr val="C00000"/>
                            </a:solidFill>
                            <a:latin typeface="Cambria Math" panose="02040503050406030204" pitchFamily="18" charset="0"/>
                          </a:rPr>
                        </m:ctrlPr>
                      </m:sSubPr>
                      <m:e>
                        <m:r>
                          <a:rPr lang="en-US" altLang="zh-CN" b="1" i="1" smtClean="0">
                            <a:solidFill>
                              <a:srgbClr val="C00000"/>
                            </a:solidFill>
                            <a:latin typeface="Cambria Math" panose="02040503050406030204" pitchFamily="18" charset="0"/>
                          </a:rPr>
                          <m:t>𝒗</m:t>
                        </m:r>
                      </m:e>
                      <m:sub>
                        <m:sSub>
                          <m:sSubPr>
                            <m:ctrlPr>
                              <a:rPr lang="en-US" altLang="zh-CN" b="1" i="1" smtClean="0">
                                <a:solidFill>
                                  <a:srgbClr val="C00000"/>
                                </a:solidFill>
                                <a:latin typeface="Cambria Math" panose="02040503050406030204" pitchFamily="18" charset="0"/>
                              </a:rPr>
                            </m:ctrlPr>
                          </m:sSubPr>
                          <m:e>
                            <m:r>
                              <a:rPr lang="en-US" altLang="zh-CN" b="1" i="1">
                                <a:solidFill>
                                  <a:srgbClr val="C00000"/>
                                </a:solidFill>
                                <a:latin typeface="Cambria Math" panose="02040503050406030204" pitchFamily="18" charset="0"/>
                              </a:rPr>
                              <m:t>𝒊</m:t>
                            </m:r>
                          </m:e>
                          <m:sub>
                            <m:r>
                              <a:rPr lang="en-US" altLang="zh-CN" b="1" i="1">
                                <a:solidFill>
                                  <a:srgbClr val="C00000"/>
                                </a:solidFill>
                                <a:latin typeface="Cambria Math" panose="02040503050406030204" pitchFamily="18" charset="0"/>
                              </a:rPr>
                              <m:t>𝒎</m:t>
                            </m:r>
                          </m:sub>
                        </m:sSub>
                      </m:sub>
                    </m:sSub>
                    <m:r>
                      <a:rPr lang="en-US" altLang="zh-CN" b="1" i="1" smtClean="0">
                        <a:solidFill>
                          <a:srgbClr val="C00000"/>
                        </a:solidFill>
                        <a:latin typeface="Cambria Math" panose="02040503050406030204" pitchFamily="18" charset="0"/>
                      </a:rPr>
                      <m:t>⋯</m:t>
                    </m:r>
                    <m:sSub>
                      <m:sSubPr>
                        <m:ctrlPr>
                          <a:rPr lang="en-US" altLang="zh-CN" b="1" i="1" smtClean="0">
                            <a:solidFill>
                              <a:srgbClr val="C00000"/>
                            </a:solidFill>
                            <a:latin typeface="Cambria Math" panose="02040503050406030204" pitchFamily="18" charset="0"/>
                          </a:rPr>
                        </m:ctrlPr>
                      </m:sSubPr>
                      <m:e>
                        <m:r>
                          <a:rPr lang="en-US" altLang="zh-CN" b="1" i="1" smtClean="0">
                            <a:solidFill>
                              <a:srgbClr val="C00000"/>
                            </a:solidFill>
                            <a:latin typeface="Cambria Math" panose="02040503050406030204" pitchFamily="18" charset="0"/>
                          </a:rPr>
                          <m:t>𝒗</m:t>
                        </m:r>
                      </m:e>
                      <m:sub>
                        <m:sSub>
                          <m:sSubPr>
                            <m:ctrlPr>
                              <a:rPr lang="en-US" altLang="zh-CN" b="1" i="1" smtClean="0">
                                <a:solidFill>
                                  <a:srgbClr val="C00000"/>
                                </a:solidFill>
                                <a:latin typeface="Cambria Math" panose="02040503050406030204" pitchFamily="18" charset="0"/>
                              </a:rPr>
                            </m:ctrlPr>
                          </m:sSubPr>
                          <m:e>
                            <m:r>
                              <a:rPr lang="en-US" altLang="zh-CN" b="1" i="1" smtClean="0">
                                <a:solidFill>
                                  <a:srgbClr val="C00000"/>
                                </a:solidFill>
                                <a:latin typeface="Cambria Math" panose="02040503050406030204" pitchFamily="18" charset="0"/>
                              </a:rPr>
                              <m:t>𝒊</m:t>
                            </m:r>
                          </m:e>
                          <m:sub>
                            <m:r>
                              <a:rPr lang="en-US" altLang="zh-CN" b="1" i="1">
                                <a:solidFill>
                                  <a:srgbClr val="C00000"/>
                                </a:solidFill>
                                <a:latin typeface="Cambria Math" panose="02040503050406030204" pitchFamily="18" charset="0"/>
                              </a:rPr>
                              <m:t>𝒑</m:t>
                            </m:r>
                          </m:sub>
                        </m:sSub>
                      </m:sub>
                    </m:sSub>
                    <m:sSub>
                      <m:sSubPr>
                        <m:ctrlPr>
                          <a:rPr lang="en-US" altLang="zh-CN" b="1" i="1" smtClean="0">
                            <a:solidFill>
                              <a:srgbClr val="C00000"/>
                            </a:solidFill>
                            <a:latin typeface="Cambria Math" panose="02040503050406030204" pitchFamily="18" charset="0"/>
                          </a:rPr>
                        </m:ctrlPr>
                      </m:sSubPr>
                      <m:e>
                        <m:r>
                          <a:rPr lang="en-US" altLang="zh-CN" b="1" i="1" smtClean="0">
                            <a:solidFill>
                              <a:srgbClr val="C00000"/>
                            </a:solidFill>
                            <a:latin typeface="Cambria Math" panose="02040503050406030204" pitchFamily="18" charset="0"/>
                          </a:rPr>
                          <m:t>𝒗</m:t>
                        </m:r>
                      </m:e>
                      <m:sub>
                        <m:sSub>
                          <m:sSubPr>
                            <m:ctrlPr>
                              <a:rPr lang="en-US" altLang="zh-CN" b="1" i="1" smtClean="0">
                                <a:solidFill>
                                  <a:srgbClr val="C00000"/>
                                </a:solidFill>
                                <a:latin typeface="Cambria Math" panose="02040503050406030204" pitchFamily="18" charset="0"/>
                              </a:rPr>
                            </m:ctrlPr>
                          </m:sSubPr>
                          <m:e>
                            <m:r>
                              <a:rPr lang="en-US" altLang="zh-CN" b="1" i="1">
                                <a:solidFill>
                                  <a:srgbClr val="C00000"/>
                                </a:solidFill>
                                <a:latin typeface="Cambria Math" panose="02040503050406030204" pitchFamily="18" charset="0"/>
                              </a:rPr>
                              <m:t>𝒊</m:t>
                            </m:r>
                          </m:e>
                          <m:sub>
                            <m:r>
                              <a:rPr lang="en-US" altLang="zh-CN" b="1" i="1">
                                <a:solidFill>
                                  <a:srgbClr val="C00000"/>
                                </a:solidFill>
                                <a:latin typeface="Cambria Math" panose="02040503050406030204" pitchFamily="18" charset="0"/>
                              </a:rPr>
                              <m:t>𝟏</m:t>
                            </m:r>
                          </m:sub>
                        </m:sSub>
                      </m:sub>
                    </m:sSub>
                  </m:oMath>
                </a14:m>
                <a:endParaRPr lang="en-US" altLang="zh-CN" b="1" dirty="0"/>
              </a:p>
              <a:p>
                <a:pPr marL="1200150" lvl="2" indent="-285750">
                  <a:lnSpc>
                    <a:spcPts val="2800"/>
                  </a:lnSpc>
                  <a:spcBef>
                    <a:spcPts val="600"/>
                  </a:spcBef>
                  <a:spcAft>
                    <a:spcPts val="600"/>
                  </a:spcAft>
                  <a:buFont typeface="Arial" panose="020B0604020202020204" pitchFamily="34" charset="0"/>
                  <a:buChar char="•"/>
                </a:pPr>
                <a:r>
                  <a:rPr lang="zh-CN" altLang="en-US" sz="1600" b="1" dirty="0">
                    <a:solidFill>
                      <a:schemeClr val="accent2">
                        <a:lumMod val="50000"/>
                      </a:schemeClr>
                    </a:solidFill>
                    <a:latin typeface="楷体" panose="02010609060101010101" pitchFamily="49" charset="-122"/>
                    <a:ea typeface="楷体" panose="02010609060101010101" pitchFamily="49" charset="-122"/>
                  </a:rPr>
                  <a:t>否则：对任意</a:t>
                </a:r>
                <a14:m>
                  <m:oMath xmlns:m="http://schemas.openxmlformats.org/officeDocument/2006/math">
                    <m:sSub>
                      <m:sSubPr>
                        <m:ctrlPr>
                          <a:rPr lang="en-US" altLang="zh-CN" sz="1600" b="1" i="1" smtClean="0">
                            <a:solidFill>
                              <a:schemeClr val="accent2">
                                <a:lumMod val="50000"/>
                              </a:schemeClr>
                            </a:solidFill>
                            <a:latin typeface="Cambria Math" panose="02040503050406030204" pitchFamily="18" charset="0"/>
                          </a:rPr>
                        </m:ctrlPr>
                      </m:sSubPr>
                      <m:e>
                        <m:r>
                          <a:rPr lang="en-US" altLang="zh-CN" sz="1600" b="1" i="1" smtClean="0">
                            <a:solidFill>
                              <a:schemeClr val="accent2">
                                <a:lumMod val="50000"/>
                              </a:schemeClr>
                            </a:solidFill>
                            <a:latin typeface="Cambria Math" panose="02040503050406030204" pitchFamily="18" charset="0"/>
                          </a:rPr>
                          <m:t>𝒗</m:t>
                        </m:r>
                      </m:e>
                      <m:sub>
                        <m:sSub>
                          <m:sSubPr>
                            <m:ctrlPr>
                              <a:rPr lang="en-US" altLang="zh-CN" sz="1600" b="1" i="1" smtClean="0">
                                <a:solidFill>
                                  <a:schemeClr val="accent2">
                                    <a:lumMod val="50000"/>
                                  </a:schemeClr>
                                </a:solidFill>
                                <a:latin typeface="Cambria Math" panose="02040503050406030204" pitchFamily="18" charset="0"/>
                              </a:rPr>
                            </m:ctrlPr>
                          </m:sSubPr>
                          <m:e>
                            <m:r>
                              <a:rPr lang="en-US" altLang="zh-CN" sz="1600" b="1" i="1" smtClean="0">
                                <a:solidFill>
                                  <a:schemeClr val="accent2">
                                    <a:lumMod val="50000"/>
                                  </a:schemeClr>
                                </a:solidFill>
                                <a:latin typeface="Cambria Math" panose="02040503050406030204" pitchFamily="18" charset="0"/>
                              </a:rPr>
                              <m:t>𝒊</m:t>
                            </m:r>
                          </m:e>
                          <m:sub>
                            <m:r>
                              <a:rPr lang="en-US" altLang="zh-CN" sz="1600" b="1" i="1" smtClean="0">
                                <a:solidFill>
                                  <a:schemeClr val="accent2">
                                    <a:lumMod val="50000"/>
                                  </a:schemeClr>
                                </a:solidFill>
                                <a:latin typeface="Cambria Math" panose="02040503050406030204" pitchFamily="18" charset="0"/>
                              </a:rPr>
                              <m:t>𝒑</m:t>
                            </m:r>
                          </m:sub>
                        </m:sSub>
                      </m:sub>
                    </m:sSub>
                    <m:r>
                      <a:rPr lang="zh-CN" altLang="en-US" sz="1600" b="1" i="1">
                        <a:solidFill>
                          <a:schemeClr val="accent2">
                            <a:lumMod val="50000"/>
                          </a:schemeClr>
                        </a:solidFill>
                        <a:latin typeface="Cambria Math" panose="02040503050406030204" pitchFamily="18" charset="0"/>
                      </a:rPr>
                      <m:t>，</m:t>
                    </m:r>
                    <m:sSub>
                      <m:sSubPr>
                        <m:ctrlPr>
                          <a:rPr lang="en-US" altLang="zh-CN" sz="1600" b="1" i="1" smtClean="0">
                            <a:solidFill>
                              <a:schemeClr val="accent2">
                                <a:lumMod val="50000"/>
                              </a:schemeClr>
                            </a:solidFill>
                            <a:latin typeface="Cambria Math" panose="02040503050406030204" pitchFamily="18" charset="0"/>
                          </a:rPr>
                        </m:ctrlPr>
                      </m:sSubPr>
                      <m:e>
                        <m:r>
                          <a:rPr lang="en-US" altLang="zh-CN" sz="1600" b="1" i="1">
                            <a:solidFill>
                              <a:schemeClr val="accent2">
                                <a:lumMod val="50000"/>
                              </a:schemeClr>
                            </a:solidFill>
                            <a:latin typeface="Cambria Math" panose="02040503050406030204" pitchFamily="18" charset="0"/>
                          </a:rPr>
                          <m:t>𝒗</m:t>
                        </m:r>
                      </m:e>
                      <m:sub>
                        <m:sSub>
                          <m:sSubPr>
                            <m:ctrlPr>
                              <a:rPr lang="en-US" altLang="zh-CN" sz="1600" b="1" i="1">
                                <a:solidFill>
                                  <a:schemeClr val="accent2">
                                    <a:lumMod val="50000"/>
                                  </a:schemeClr>
                                </a:solidFill>
                                <a:latin typeface="Cambria Math" panose="02040503050406030204" pitchFamily="18" charset="0"/>
                              </a:rPr>
                            </m:ctrlPr>
                          </m:sSubPr>
                          <m:e>
                            <m:r>
                              <a:rPr lang="en-US" altLang="zh-CN" sz="1600" b="1" i="1">
                                <a:solidFill>
                                  <a:schemeClr val="accent2">
                                    <a:lumMod val="50000"/>
                                  </a:schemeClr>
                                </a:solidFill>
                                <a:latin typeface="Cambria Math" panose="02040503050406030204" pitchFamily="18" charset="0"/>
                              </a:rPr>
                              <m:t>𝒊</m:t>
                            </m:r>
                          </m:e>
                          <m:sub>
                            <m:r>
                              <a:rPr lang="en-US" altLang="zh-CN" sz="1600" b="1" i="1">
                                <a:solidFill>
                                  <a:schemeClr val="accent2">
                                    <a:lumMod val="50000"/>
                                  </a:schemeClr>
                                </a:solidFill>
                                <a:latin typeface="Cambria Math" panose="02040503050406030204" pitchFamily="18" charset="0"/>
                              </a:rPr>
                              <m:t>𝟏</m:t>
                            </m:r>
                          </m:sub>
                        </m:sSub>
                      </m:sub>
                    </m:sSub>
                  </m:oMath>
                </a14:m>
                <a:r>
                  <a:rPr lang="zh-CN" altLang="en-US" sz="1600" b="1" dirty="0">
                    <a:solidFill>
                      <a:schemeClr val="accent2">
                        <a:lumMod val="50000"/>
                      </a:schemeClr>
                    </a:solidFill>
                    <a:latin typeface="楷体" panose="02010609060101010101" pitchFamily="49" charset="-122"/>
                    <a:ea typeface="楷体" panose="02010609060101010101" pitchFamily="49" charset="-122"/>
                  </a:rPr>
                  <a:t>与</a:t>
                </a:r>
                <a14:m>
                  <m:oMath xmlns:m="http://schemas.openxmlformats.org/officeDocument/2006/math">
                    <m:sSub>
                      <m:sSubPr>
                        <m:ctrlPr>
                          <a:rPr lang="en-US" altLang="zh-CN" sz="1600" b="1" i="1" smtClean="0">
                            <a:solidFill>
                              <a:schemeClr val="accent2">
                                <a:lumMod val="50000"/>
                              </a:schemeClr>
                            </a:solidFill>
                            <a:latin typeface="Cambria Math" panose="02040503050406030204" pitchFamily="18" charset="0"/>
                          </a:rPr>
                        </m:ctrlPr>
                      </m:sSubPr>
                      <m:e>
                        <m:r>
                          <a:rPr lang="en-US" altLang="zh-CN" sz="1600" b="1" i="1" smtClean="0">
                            <a:solidFill>
                              <a:schemeClr val="accent2">
                                <a:lumMod val="50000"/>
                              </a:schemeClr>
                            </a:solidFill>
                            <a:latin typeface="Cambria Math" panose="02040503050406030204" pitchFamily="18" charset="0"/>
                          </a:rPr>
                          <m:t>𝒗</m:t>
                        </m:r>
                      </m:e>
                      <m:sub>
                        <m:sSub>
                          <m:sSubPr>
                            <m:ctrlPr>
                              <a:rPr lang="en-US" altLang="zh-CN" sz="1600" b="1" i="1" smtClean="0">
                                <a:solidFill>
                                  <a:schemeClr val="accent2">
                                    <a:lumMod val="50000"/>
                                  </a:schemeClr>
                                </a:solidFill>
                                <a:latin typeface="Cambria Math" panose="02040503050406030204" pitchFamily="18" charset="0"/>
                              </a:rPr>
                            </m:ctrlPr>
                          </m:sSubPr>
                          <m:e>
                            <m:r>
                              <a:rPr lang="en-US" altLang="zh-CN" sz="1600" b="1" i="1" smtClean="0">
                                <a:solidFill>
                                  <a:schemeClr val="accent2">
                                    <a:lumMod val="50000"/>
                                  </a:schemeClr>
                                </a:solidFill>
                                <a:latin typeface="Cambria Math" panose="02040503050406030204" pitchFamily="18" charset="0"/>
                              </a:rPr>
                              <m:t>𝒊</m:t>
                            </m:r>
                          </m:e>
                          <m:sub>
                            <m:r>
                              <a:rPr lang="en-US" altLang="zh-CN" sz="1600" b="1" i="1" smtClean="0">
                                <a:solidFill>
                                  <a:schemeClr val="accent2">
                                    <a:lumMod val="50000"/>
                                  </a:schemeClr>
                                </a:solidFill>
                                <a:latin typeface="Cambria Math" panose="02040503050406030204" pitchFamily="18" charset="0"/>
                              </a:rPr>
                              <m:t>𝒑</m:t>
                            </m:r>
                          </m:sub>
                        </m:sSub>
                      </m:sub>
                    </m:sSub>
                  </m:oMath>
                </a14:m>
                <a:r>
                  <a:rPr lang="zh-CN" altLang="en-US" sz="1600" b="1" dirty="0">
                    <a:solidFill>
                      <a:schemeClr val="accent2">
                        <a:lumMod val="50000"/>
                      </a:schemeClr>
                    </a:solidFill>
                    <a:latin typeface="楷体" panose="02010609060101010101" pitchFamily="49" charset="-122"/>
                    <a:ea typeface="楷体" panose="02010609060101010101" pitchFamily="49" charset="-122"/>
                  </a:rPr>
                  <a:t>相邻，</a:t>
                </a:r>
                <a14:m>
                  <m:oMath xmlns:m="http://schemas.openxmlformats.org/officeDocument/2006/math">
                    <m:sSub>
                      <m:sSubPr>
                        <m:ctrlPr>
                          <a:rPr lang="en-US" altLang="zh-CN" sz="1600" b="1" i="1" smtClean="0">
                            <a:solidFill>
                              <a:schemeClr val="accent2">
                                <a:lumMod val="50000"/>
                              </a:schemeClr>
                            </a:solidFill>
                            <a:latin typeface="Cambria Math" panose="02040503050406030204" pitchFamily="18" charset="0"/>
                          </a:rPr>
                        </m:ctrlPr>
                      </m:sSubPr>
                      <m:e>
                        <m:r>
                          <a:rPr lang="en-US" altLang="zh-CN" sz="1600" b="1" i="1" smtClean="0">
                            <a:solidFill>
                              <a:schemeClr val="accent2">
                                <a:lumMod val="50000"/>
                              </a:schemeClr>
                            </a:solidFill>
                            <a:latin typeface="Cambria Math" panose="02040503050406030204" pitchFamily="18" charset="0"/>
                          </a:rPr>
                          <m:t>𝒗</m:t>
                        </m:r>
                      </m:e>
                      <m:sub>
                        <m:sSub>
                          <m:sSubPr>
                            <m:ctrlPr>
                              <a:rPr lang="en-US" altLang="zh-CN" sz="1600" b="1" i="1" smtClean="0">
                                <a:solidFill>
                                  <a:schemeClr val="accent2">
                                    <a:lumMod val="50000"/>
                                  </a:schemeClr>
                                </a:solidFill>
                                <a:latin typeface="Cambria Math" panose="02040503050406030204" pitchFamily="18" charset="0"/>
                              </a:rPr>
                            </m:ctrlPr>
                          </m:sSubPr>
                          <m:e>
                            <m:r>
                              <a:rPr lang="en-US" altLang="zh-CN" sz="1600" b="1" i="1" smtClean="0">
                                <a:solidFill>
                                  <a:schemeClr val="accent2">
                                    <a:lumMod val="50000"/>
                                  </a:schemeClr>
                                </a:solidFill>
                                <a:latin typeface="Cambria Math" panose="02040503050406030204" pitchFamily="18" charset="0"/>
                              </a:rPr>
                              <m:t>𝒊</m:t>
                            </m:r>
                          </m:e>
                          <m:sub>
                            <m:r>
                              <a:rPr lang="en-US" altLang="zh-CN" sz="1600" b="1" i="1" smtClean="0">
                                <a:solidFill>
                                  <a:schemeClr val="accent2">
                                    <a:lumMod val="50000"/>
                                  </a:schemeClr>
                                </a:solidFill>
                                <a:latin typeface="Cambria Math" panose="02040503050406030204" pitchFamily="18" charset="0"/>
                              </a:rPr>
                              <m:t>𝒎</m:t>
                            </m:r>
                          </m:sub>
                        </m:sSub>
                      </m:sub>
                    </m:sSub>
                  </m:oMath>
                </a14:m>
                <a:r>
                  <a:rPr lang="zh-CN" altLang="en-US" sz="1600" b="1" dirty="0">
                    <a:solidFill>
                      <a:schemeClr val="accent2">
                        <a:lumMod val="50000"/>
                      </a:schemeClr>
                    </a:solidFill>
                    <a:latin typeface="楷体" panose="02010609060101010101" pitchFamily="49" charset="-122"/>
                    <a:ea typeface="楷体" panose="02010609060101010101" pitchFamily="49" charset="-122"/>
                  </a:rPr>
                  <a:t>就不能与</a:t>
                </a:r>
                <a14:m>
                  <m:oMath xmlns:m="http://schemas.openxmlformats.org/officeDocument/2006/math">
                    <m:sSub>
                      <m:sSubPr>
                        <m:ctrlPr>
                          <a:rPr lang="en-US" altLang="zh-CN" sz="1600" b="1" i="1" smtClean="0">
                            <a:solidFill>
                              <a:schemeClr val="accent2">
                                <a:lumMod val="50000"/>
                              </a:schemeClr>
                            </a:solidFill>
                            <a:latin typeface="Cambria Math" panose="02040503050406030204" pitchFamily="18" charset="0"/>
                          </a:rPr>
                        </m:ctrlPr>
                      </m:sSubPr>
                      <m:e>
                        <m:r>
                          <a:rPr lang="en-US" altLang="zh-CN" sz="1600" b="1" i="1" smtClean="0">
                            <a:solidFill>
                              <a:schemeClr val="accent2">
                                <a:lumMod val="50000"/>
                              </a:schemeClr>
                            </a:solidFill>
                            <a:latin typeface="Cambria Math" panose="02040503050406030204" pitchFamily="18" charset="0"/>
                          </a:rPr>
                          <m:t>𝒗</m:t>
                        </m:r>
                      </m:e>
                      <m:sub>
                        <m:sSub>
                          <m:sSubPr>
                            <m:ctrlPr>
                              <a:rPr lang="en-US" altLang="zh-CN" sz="1600" b="1" i="1" smtClean="0">
                                <a:solidFill>
                                  <a:schemeClr val="accent2">
                                    <a:lumMod val="50000"/>
                                  </a:schemeClr>
                                </a:solidFill>
                                <a:latin typeface="Cambria Math" panose="02040503050406030204" pitchFamily="18" charset="0"/>
                              </a:rPr>
                            </m:ctrlPr>
                          </m:sSubPr>
                          <m:e>
                            <m:r>
                              <a:rPr lang="en-US" altLang="zh-CN" sz="1600" b="1" i="1" smtClean="0">
                                <a:solidFill>
                                  <a:schemeClr val="accent2">
                                    <a:lumMod val="50000"/>
                                  </a:schemeClr>
                                </a:solidFill>
                                <a:latin typeface="Cambria Math" panose="02040503050406030204" pitchFamily="18" charset="0"/>
                              </a:rPr>
                              <m:t>𝒊</m:t>
                            </m:r>
                          </m:e>
                          <m:sub>
                            <m:r>
                              <a:rPr lang="en-US" altLang="zh-CN" sz="1600" b="1" i="1" smtClean="0">
                                <a:solidFill>
                                  <a:schemeClr val="accent2">
                                    <a:lumMod val="50000"/>
                                  </a:schemeClr>
                                </a:solidFill>
                                <a:latin typeface="Cambria Math" panose="02040503050406030204" pitchFamily="18" charset="0"/>
                              </a:rPr>
                              <m:t>𝒑</m:t>
                            </m:r>
                            <m:r>
                              <a:rPr lang="en-US" altLang="zh-CN" sz="1600" b="1" i="1" smtClean="0">
                                <a:solidFill>
                                  <a:schemeClr val="accent2">
                                    <a:lumMod val="50000"/>
                                  </a:schemeClr>
                                </a:solidFill>
                                <a:latin typeface="Cambria Math" panose="02040503050406030204" pitchFamily="18" charset="0"/>
                              </a:rPr>
                              <m:t>−</m:t>
                            </m:r>
                            <m:r>
                              <a:rPr lang="en-US" altLang="zh-CN" sz="1600" b="1" i="1" smtClean="0">
                                <a:solidFill>
                                  <a:schemeClr val="accent2">
                                    <a:lumMod val="50000"/>
                                  </a:schemeClr>
                                </a:solidFill>
                                <a:latin typeface="Cambria Math" panose="02040503050406030204" pitchFamily="18" charset="0"/>
                              </a:rPr>
                              <m:t>𝟏</m:t>
                            </m:r>
                          </m:sub>
                        </m:sSub>
                      </m:sub>
                    </m:sSub>
                  </m:oMath>
                </a14:m>
                <a:r>
                  <a:rPr lang="zh-CN" altLang="en-US" sz="1600" b="1" dirty="0">
                    <a:solidFill>
                      <a:schemeClr val="accent2">
                        <a:lumMod val="50000"/>
                      </a:schemeClr>
                    </a:solidFill>
                    <a:latin typeface="楷体" panose="02010609060101010101" pitchFamily="49" charset="-122"/>
                    <a:ea typeface="楷体" panose="02010609060101010101" pitchFamily="49" charset="-122"/>
                  </a:rPr>
                  <a:t>相邻，而</a:t>
                </a:r>
                <a14:m>
                  <m:oMath xmlns:m="http://schemas.openxmlformats.org/officeDocument/2006/math">
                    <m:sSub>
                      <m:sSubPr>
                        <m:ctrlPr>
                          <a:rPr lang="en-US" altLang="zh-CN" sz="1600" b="1" i="1" smtClean="0">
                            <a:solidFill>
                              <a:schemeClr val="accent2">
                                <a:lumMod val="50000"/>
                              </a:schemeClr>
                            </a:solidFill>
                            <a:latin typeface="Cambria Math" panose="02040503050406030204" pitchFamily="18" charset="0"/>
                          </a:rPr>
                        </m:ctrlPr>
                      </m:sSubPr>
                      <m:e>
                        <m:r>
                          <a:rPr lang="en-US" altLang="zh-CN" sz="1600" b="1" i="1" smtClean="0">
                            <a:solidFill>
                              <a:schemeClr val="accent2">
                                <a:lumMod val="50000"/>
                              </a:schemeClr>
                            </a:solidFill>
                            <a:latin typeface="Cambria Math" panose="02040503050406030204" pitchFamily="18" charset="0"/>
                          </a:rPr>
                          <m:t>𝒗</m:t>
                        </m:r>
                      </m:e>
                      <m:sub>
                        <m:sSub>
                          <m:sSubPr>
                            <m:ctrlPr>
                              <a:rPr lang="en-US" altLang="zh-CN" sz="1600" b="1" i="1" smtClean="0">
                                <a:solidFill>
                                  <a:schemeClr val="accent2">
                                    <a:lumMod val="50000"/>
                                  </a:schemeClr>
                                </a:solidFill>
                                <a:latin typeface="Cambria Math" panose="02040503050406030204" pitchFamily="18" charset="0"/>
                              </a:rPr>
                            </m:ctrlPr>
                          </m:sSubPr>
                          <m:e>
                            <m:r>
                              <a:rPr lang="en-US" altLang="zh-CN" sz="1600" b="1" i="1" smtClean="0">
                                <a:solidFill>
                                  <a:schemeClr val="accent2">
                                    <a:lumMod val="50000"/>
                                  </a:schemeClr>
                                </a:solidFill>
                                <a:latin typeface="Cambria Math" panose="02040503050406030204" pitchFamily="18" charset="0"/>
                              </a:rPr>
                              <m:t>𝒊</m:t>
                            </m:r>
                          </m:e>
                          <m:sub>
                            <m:r>
                              <a:rPr lang="en-US" altLang="zh-CN" sz="1600" b="1" i="1" smtClean="0">
                                <a:solidFill>
                                  <a:schemeClr val="accent2">
                                    <a:lumMod val="50000"/>
                                  </a:schemeClr>
                                </a:solidFill>
                                <a:latin typeface="Cambria Math" panose="02040503050406030204" pitchFamily="18" charset="0"/>
                              </a:rPr>
                              <m:t>𝟏</m:t>
                            </m:r>
                          </m:sub>
                        </m:sSub>
                      </m:sub>
                    </m:sSub>
                  </m:oMath>
                </a14:m>
                <a:r>
                  <a:rPr lang="zh-CN" altLang="en-US" sz="1600" b="1" dirty="0">
                    <a:solidFill>
                      <a:schemeClr val="accent2">
                        <a:lumMod val="50000"/>
                      </a:schemeClr>
                    </a:solidFill>
                    <a:latin typeface="楷体" panose="02010609060101010101" pitchFamily="49" charset="-122"/>
                    <a:ea typeface="楷体" panose="02010609060101010101" pitchFamily="49" charset="-122"/>
                  </a:rPr>
                  <a:t>和</a:t>
                </a:r>
                <a14:m>
                  <m:oMath xmlns:m="http://schemas.openxmlformats.org/officeDocument/2006/math">
                    <m:sSub>
                      <m:sSubPr>
                        <m:ctrlPr>
                          <a:rPr lang="en-US" altLang="zh-CN" sz="1600" b="1" i="1" smtClean="0">
                            <a:solidFill>
                              <a:schemeClr val="accent2">
                                <a:lumMod val="50000"/>
                              </a:schemeClr>
                            </a:solidFill>
                            <a:latin typeface="Cambria Math" panose="02040503050406030204" pitchFamily="18" charset="0"/>
                          </a:rPr>
                        </m:ctrlPr>
                      </m:sSubPr>
                      <m:e>
                        <m:r>
                          <a:rPr lang="en-US" altLang="zh-CN" sz="1600" b="1" i="1" smtClean="0">
                            <a:solidFill>
                              <a:schemeClr val="accent2">
                                <a:lumMod val="50000"/>
                              </a:schemeClr>
                            </a:solidFill>
                            <a:latin typeface="Cambria Math" panose="02040503050406030204" pitchFamily="18" charset="0"/>
                          </a:rPr>
                          <m:t>𝒗</m:t>
                        </m:r>
                      </m:e>
                      <m:sub>
                        <m:sSub>
                          <m:sSubPr>
                            <m:ctrlPr>
                              <a:rPr lang="en-US" altLang="zh-CN" sz="1600" b="1" i="1" smtClean="0">
                                <a:solidFill>
                                  <a:schemeClr val="accent2">
                                    <a:lumMod val="50000"/>
                                  </a:schemeClr>
                                </a:solidFill>
                                <a:latin typeface="Cambria Math" panose="02040503050406030204" pitchFamily="18" charset="0"/>
                              </a:rPr>
                            </m:ctrlPr>
                          </m:sSubPr>
                          <m:e>
                            <m:r>
                              <a:rPr lang="en-US" altLang="zh-CN" sz="1600" b="1" i="1" smtClean="0">
                                <a:solidFill>
                                  <a:schemeClr val="accent2">
                                    <a:lumMod val="50000"/>
                                  </a:schemeClr>
                                </a:solidFill>
                                <a:latin typeface="Cambria Math" panose="02040503050406030204" pitchFamily="18" charset="0"/>
                              </a:rPr>
                              <m:t>𝒊</m:t>
                            </m:r>
                          </m:e>
                          <m:sub>
                            <m:r>
                              <a:rPr lang="en-US" altLang="zh-CN" sz="1600" b="1" i="1" smtClean="0">
                                <a:solidFill>
                                  <a:schemeClr val="accent2">
                                    <a:lumMod val="50000"/>
                                  </a:schemeClr>
                                </a:solidFill>
                                <a:latin typeface="Cambria Math" panose="02040503050406030204" pitchFamily="18" charset="0"/>
                              </a:rPr>
                              <m:t>𝒎</m:t>
                            </m:r>
                          </m:sub>
                        </m:sSub>
                      </m:sub>
                    </m:sSub>
                  </m:oMath>
                </a14:m>
                <a:r>
                  <a:rPr lang="zh-CN" altLang="en-US" sz="1600" b="1" dirty="0">
                    <a:solidFill>
                      <a:schemeClr val="accent2">
                        <a:lumMod val="50000"/>
                      </a:schemeClr>
                    </a:solidFill>
                    <a:latin typeface="楷体" panose="02010609060101010101" pitchFamily="49" charset="-122"/>
                    <a:ea typeface="楷体" panose="02010609060101010101" pitchFamily="49" charset="-122"/>
                  </a:rPr>
                  <a:t>相邻的顶点都在这个初级通路中，这会使得</a:t>
                </a:r>
                <a14:m>
                  <m:oMath xmlns:m="http://schemas.openxmlformats.org/officeDocument/2006/math">
                    <m:r>
                      <a:rPr lang="en-US" altLang="zh-CN" sz="1600" b="1" i="1" smtClean="0">
                        <a:solidFill>
                          <a:schemeClr val="accent2">
                            <a:lumMod val="50000"/>
                          </a:schemeClr>
                        </a:solidFill>
                        <a:latin typeface="Cambria Math" panose="02040503050406030204" pitchFamily="18" charset="0"/>
                      </a:rPr>
                      <m:t>𝒅</m:t>
                    </m:r>
                    <m:d>
                      <m:dPr>
                        <m:ctrlPr>
                          <a:rPr lang="en-US" altLang="zh-CN" sz="1600" b="1" i="1" smtClean="0">
                            <a:solidFill>
                              <a:schemeClr val="accent2">
                                <a:lumMod val="50000"/>
                              </a:schemeClr>
                            </a:solidFill>
                            <a:latin typeface="Cambria Math" panose="02040503050406030204" pitchFamily="18" charset="0"/>
                          </a:rPr>
                        </m:ctrlPr>
                      </m:dPr>
                      <m:e>
                        <m:sSub>
                          <m:sSubPr>
                            <m:ctrlPr>
                              <a:rPr lang="en-US" altLang="zh-CN" sz="1600" b="1" i="1" smtClean="0">
                                <a:solidFill>
                                  <a:schemeClr val="accent2">
                                    <a:lumMod val="50000"/>
                                  </a:schemeClr>
                                </a:solidFill>
                                <a:latin typeface="Cambria Math" panose="02040503050406030204" pitchFamily="18" charset="0"/>
                              </a:rPr>
                            </m:ctrlPr>
                          </m:sSubPr>
                          <m:e>
                            <m:r>
                              <a:rPr lang="en-US" altLang="zh-CN" sz="1600" b="1" i="1" smtClean="0">
                                <a:solidFill>
                                  <a:schemeClr val="accent2">
                                    <a:lumMod val="50000"/>
                                  </a:schemeClr>
                                </a:solidFill>
                                <a:latin typeface="Cambria Math" panose="02040503050406030204" pitchFamily="18" charset="0"/>
                              </a:rPr>
                              <m:t>𝒗</m:t>
                            </m:r>
                          </m:e>
                          <m:sub>
                            <m:sSub>
                              <m:sSubPr>
                                <m:ctrlPr>
                                  <a:rPr lang="en-US" altLang="zh-CN" sz="1600" b="1" i="1" smtClean="0">
                                    <a:solidFill>
                                      <a:schemeClr val="accent2">
                                        <a:lumMod val="50000"/>
                                      </a:schemeClr>
                                    </a:solidFill>
                                    <a:latin typeface="Cambria Math" panose="02040503050406030204" pitchFamily="18" charset="0"/>
                                  </a:rPr>
                                </m:ctrlPr>
                              </m:sSubPr>
                              <m:e>
                                <m:r>
                                  <a:rPr lang="en-US" altLang="zh-CN" sz="1600" b="1" i="1" smtClean="0">
                                    <a:solidFill>
                                      <a:schemeClr val="accent2">
                                        <a:lumMod val="50000"/>
                                      </a:schemeClr>
                                    </a:solidFill>
                                    <a:latin typeface="Cambria Math" panose="02040503050406030204" pitchFamily="18" charset="0"/>
                                  </a:rPr>
                                  <m:t>𝒊</m:t>
                                </m:r>
                              </m:e>
                              <m:sub>
                                <m:r>
                                  <a:rPr lang="en-US" altLang="zh-CN" sz="1600" b="1" i="1" smtClean="0">
                                    <a:solidFill>
                                      <a:schemeClr val="accent2">
                                        <a:lumMod val="50000"/>
                                      </a:schemeClr>
                                    </a:solidFill>
                                    <a:latin typeface="Cambria Math" panose="02040503050406030204" pitchFamily="18" charset="0"/>
                                  </a:rPr>
                                  <m:t>𝟏</m:t>
                                </m:r>
                              </m:sub>
                            </m:sSub>
                          </m:sub>
                        </m:sSub>
                      </m:e>
                    </m:d>
                    <m:r>
                      <a:rPr lang="en-US" altLang="zh-CN" sz="1600" b="1" i="1" smtClean="0">
                        <a:solidFill>
                          <a:schemeClr val="accent2">
                            <a:lumMod val="50000"/>
                          </a:schemeClr>
                        </a:solidFill>
                        <a:latin typeface="Cambria Math" panose="02040503050406030204" pitchFamily="18" charset="0"/>
                      </a:rPr>
                      <m:t>+</m:t>
                    </m:r>
                    <m:r>
                      <a:rPr lang="en-US" altLang="zh-CN" sz="1600" b="1" i="1" smtClean="0">
                        <a:solidFill>
                          <a:schemeClr val="accent2">
                            <a:lumMod val="50000"/>
                          </a:schemeClr>
                        </a:solidFill>
                        <a:latin typeface="Cambria Math" panose="02040503050406030204" pitchFamily="18" charset="0"/>
                      </a:rPr>
                      <m:t>𝒅</m:t>
                    </m:r>
                    <m:d>
                      <m:dPr>
                        <m:ctrlPr>
                          <a:rPr lang="en-US" altLang="zh-CN" sz="1600" b="1" i="1" smtClean="0">
                            <a:solidFill>
                              <a:schemeClr val="accent2">
                                <a:lumMod val="50000"/>
                              </a:schemeClr>
                            </a:solidFill>
                            <a:latin typeface="Cambria Math" panose="02040503050406030204" pitchFamily="18" charset="0"/>
                          </a:rPr>
                        </m:ctrlPr>
                      </m:dPr>
                      <m:e>
                        <m:sSub>
                          <m:sSubPr>
                            <m:ctrlPr>
                              <a:rPr lang="en-US" altLang="zh-CN" sz="1600" b="1" i="1" smtClean="0">
                                <a:solidFill>
                                  <a:schemeClr val="accent2">
                                    <a:lumMod val="50000"/>
                                  </a:schemeClr>
                                </a:solidFill>
                                <a:latin typeface="Cambria Math" panose="02040503050406030204" pitchFamily="18" charset="0"/>
                              </a:rPr>
                            </m:ctrlPr>
                          </m:sSubPr>
                          <m:e>
                            <m:r>
                              <a:rPr lang="en-US" altLang="zh-CN" sz="1600" b="1" i="1" smtClean="0">
                                <a:solidFill>
                                  <a:schemeClr val="accent2">
                                    <a:lumMod val="50000"/>
                                  </a:schemeClr>
                                </a:solidFill>
                                <a:latin typeface="Cambria Math" panose="02040503050406030204" pitchFamily="18" charset="0"/>
                              </a:rPr>
                              <m:t>𝒗</m:t>
                            </m:r>
                          </m:e>
                          <m:sub>
                            <m:sSub>
                              <m:sSubPr>
                                <m:ctrlPr>
                                  <a:rPr lang="en-US" altLang="zh-CN" sz="1600" b="1" i="1" smtClean="0">
                                    <a:solidFill>
                                      <a:schemeClr val="accent2">
                                        <a:lumMod val="50000"/>
                                      </a:schemeClr>
                                    </a:solidFill>
                                    <a:latin typeface="Cambria Math" panose="02040503050406030204" pitchFamily="18" charset="0"/>
                                  </a:rPr>
                                </m:ctrlPr>
                              </m:sSubPr>
                              <m:e>
                                <m:r>
                                  <a:rPr lang="en-US" altLang="zh-CN" sz="1600" b="1" i="1" smtClean="0">
                                    <a:solidFill>
                                      <a:schemeClr val="accent2">
                                        <a:lumMod val="50000"/>
                                      </a:schemeClr>
                                    </a:solidFill>
                                    <a:latin typeface="Cambria Math" panose="02040503050406030204" pitchFamily="18" charset="0"/>
                                  </a:rPr>
                                  <m:t>𝒊</m:t>
                                </m:r>
                              </m:e>
                              <m:sub>
                                <m:r>
                                  <a:rPr lang="en-US" altLang="zh-CN" sz="1600" b="1" i="1" smtClean="0">
                                    <a:solidFill>
                                      <a:schemeClr val="accent2">
                                        <a:lumMod val="50000"/>
                                      </a:schemeClr>
                                    </a:solidFill>
                                    <a:latin typeface="Cambria Math" panose="02040503050406030204" pitchFamily="18" charset="0"/>
                                  </a:rPr>
                                  <m:t>𝒎</m:t>
                                </m:r>
                              </m:sub>
                            </m:sSub>
                          </m:sub>
                        </m:sSub>
                      </m:e>
                    </m:d>
                  </m:oMath>
                </a14:m>
                <a:r>
                  <a:rPr lang="zh-CN" altLang="en-US" sz="1600" b="1" dirty="0">
                    <a:solidFill>
                      <a:schemeClr val="accent2">
                        <a:lumMod val="50000"/>
                      </a:schemeClr>
                    </a:solidFill>
                    <a:latin typeface="楷体" panose="02010609060101010101" pitchFamily="49" charset="-122"/>
                    <a:ea typeface="楷体" panose="02010609060101010101" pitchFamily="49" charset="-122"/>
                  </a:rPr>
                  <a:t>小于等于这个初级通路的长度减</a:t>
                </a:r>
                <a14:m>
                  <m:oMath xmlns:m="http://schemas.openxmlformats.org/officeDocument/2006/math">
                    <m:r>
                      <a:rPr lang="en-US" altLang="zh-CN" sz="1600" b="1" i="1" smtClean="0">
                        <a:solidFill>
                          <a:schemeClr val="accent2">
                            <a:lumMod val="50000"/>
                          </a:schemeClr>
                        </a:solidFill>
                        <a:latin typeface="Cambria Math" panose="02040503050406030204" pitchFamily="18" charset="0"/>
                      </a:rPr>
                      <m:t>𝟏</m:t>
                    </m:r>
                  </m:oMath>
                </a14:m>
                <a:r>
                  <a:rPr lang="zh-CN" altLang="en-US" sz="1600" b="1" dirty="0">
                    <a:solidFill>
                      <a:schemeClr val="accent2">
                        <a:lumMod val="50000"/>
                      </a:schemeClr>
                    </a:solidFill>
                    <a:latin typeface="楷体" panose="02010609060101010101" pitchFamily="49" charset="-122"/>
                    <a:ea typeface="楷体" panose="02010609060101010101" pitchFamily="49" charset="-122"/>
                  </a:rPr>
                  <a:t>，从而小于</a:t>
                </a:r>
                <a14:m>
                  <m:oMath xmlns:m="http://schemas.openxmlformats.org/officeDocument/2006/math">
                    <m:r>
                      <a:rPr lang="en-US" altLang="zh-CN" sz="1600" b="1" i="1" smtClean="0">
                        <a:solidFill>
                          <a:schemeClr val="accent2">
                            <a:lumMod val="50000"/>
                          </a:schemeClr>
                        </a:solidFill>
                        <a:latin typeface="Cambria Math" panose="02040503050406030204" pitchFamily="18" charset="0"/>
                      </a:rPr>
                      <m:t>𝒏</m:t>
                    </m:r>
                    <m:r>
                      <a:rPr lang="en-US" altLang="zh-CN" sz="1600" b="1" i="1" smtClean="0">
                        <a:solidFill>
                          <a:schemeClr val="accent2">
                            <a:lumMod val="50000"/>
                          </a:schemeClr>
                        </a:solidFill>
                        <a:latin typeface="Cambria Math" panose="02040503050406030204" pitchFamily="18" charset="0"/>
                      </a:rPr>
                      <m:t>−</m:t>
                    </m:r>
                    <m:r>
                      <a:rPr lang="en-US" altLang="zh-CN" sz="1600" b="1" i="1" smtClean="0">
                        <a:solidFill>
                          <a:schemeClr val="accent2">
                            <a:lumMod val="50000"/>
                          </a:schemeClr>
                        </a:solidFill>
                        <a:latin typeface="Cambria Math" panose="02040503050406030204" pitchFamily="18" charset="0"/>
                      </a:rPr>
                      <m:t>𝟏</m:t>
                    </m:r>
                  </m:oMath>
                </a14:m>
                <a:endParaRPr lang="zh-CN" altLang="en-US" sz="1600" b="1" dirty="0">
                  <a:solidFill>
                    <a:schemeClr val="accent2">
                      <a:lumMod val="50000"/>
                    </a:schemeClr>
                  </a:solidFill>
                  <a:latin typeface="楷体" panose="02010609060101010101" pitchFamily="49" charset="-122"/>
                  <a:ea typeface="楷体" panose="02010609060101010101" pitchFamily="49" charset="-122"/>
                </a:endParaRPr>
              </a:p>
              <a:p>
                <a:pPr marL="742950" lvl="1" indent="-285750">
                  <a:spcBef>
                    <a:spcPts val="600"/>
                  </a:spcBef>
                  <a:spcAft>
                    <a:spcPts val="600"/>
                  </a:spcAft>
                  <a:buFont typeface="Arial" panose="020B0604020202020204" pitchFamily="34" charset="0"/>
                  <a:buChar char="•"/>
                </a:pPr>
                <a:r>
                  <a:rPr lang="zh-CN" altLang="en-US" b="1" dirty="0">
                    <a:solidFill>
                      <a:schemeClr val="accent6">
                        <a:lumMod val="50000"/>
                      </a:schemeClr>
                    </a:solidFill>
                  </a:rPr>
                  <a:t>对于</a:t>
                </a:r>
                <a14:m>
                  <m:oMath xmlns:m="http://schemas.openxmlformats.org/officeDocument/2006/math">
                    <m:r>
                      <a:rPr lang="en-US" altLang="zh-CN" b="1">
                        <a:solidFill>
                          <a:schemeClr val="accent6">
                            <a:lumMod val="50000"/>
                          </a:schemeClr>
                        </a:solidFill>
                        <a:latin typeface="Cambria Math" panose="02040503050406030204" pitchFamily="18" charset="0"/>
                      </a:rPr>
                      <m:t>𝑪</m:t>
                    </m:r>
                  </m:oMath>
                </a14:m>
                <a:r>
                  <a:rPr lang="zh-CN" altLang="en-US" b="1" dirty="0">
                    <a:solidFill>
                      <a:schemeClr val="accent6">
                        <a:lumMod val="50000"/>
                      </a:schemeClr>
                    </a:solidFill>
                  </a:rPr>
                  <a:t>外的顶点</a:t>
                </a:r>
                <a14:m>
                  <m:oMath xmlns:m="http://schemas.openxmlformats.org/officeDocument/2006/math">
                    <m:sSub>
                      <m:sSubPr>
                        <m:ctrlPr>
                          <a:rPr lang="en-US" altLang="zh-CN" b="1" i="1">
                            <a:solidFill>
                              <a:schemeClr val="accent6">
                                <a:lumMod val="50000"/>
                              </a:schemeClr>
                            </a:solidFill>
                            <a:latin typeface="Cambria Math" panose="02040503050406030204" pitchFamily="18" charset="0"/>
                          </a:rPr>
                        </m:ctrlPr>
                      </m:sSubPr>
                      <m:e>
                        <m:r>
                          <a:rPr lang="en-US" altLang="zh-CN" b="1">
                            <a:solidFill>
                              <a:schemeClr val="accent6">
                                <a:lumMod val="50000"/>
                              </a:schemeClr>
                            </a:solidFill>
                            <a:latin typeface="Cambria Math" panose="02040503050406030204" pitchFamily="18" charset="0"/>
                          </a:rPr>
                          <m:t>𝒗</m:t>
                        </m:r>
                      </m:e>
                      <m:sub>
                        <m:r>
                          <a:rPr lang="en-US" altLang="zh-CN" b="1">
                            <a:solidFill>
                              <a:schemeClr val="accent6">
                                <a:lumMod val="50000"/>
                              </a:schemeClr>
                            </a:solidFill>
                            <a:latin typeface="Cambria Math" panose="02040503050406030204" pitchFamily="18" charset="0"/>
                          </a:rPr>
                          <m:t>𝒕</m:t>
                        </m:r>
                      </m:sub>
                    </m:sSub>
                  </m:oMath>
                </a14:m>
                <a:r>
                  <a:rPr lang="zh-CN" altLang="en-US" b="1" dirty="0">
                    <a:solidFill>
                      <a:schemeClr val="accent6">
                        <a:lumMod val="50000"/>
                      </a:schemeClr>
                    </a:solidFill>
                  </a:rPr>
                  <a:t>，若它与</a:t>
                </a:r>
                <a14:m>
                  <m:oMath xmlns:m="http://schemas.openxmlformats.org/officeDocument/2006/math">
                    <m:r>
                      <a:rPr lang="en-US" altLang="zh-CN" b="1">
                        <a:solidFill>
                          <a:schemeClr val="accent6">
                            <a:lumMod val="50000"/>
                          </a:schemeClr>
                        </a:solidFill>
                        <a:latin typeface="Cambria Math" panose="02040503050406030204" pitchFamily="18" charset="0"/>
                      </a:rPr>
                      <m:t>𝑪</m:t>
                    </m:r>
                  </m:oMath>
                </a14:m>
                <a:r>
                  <a:rPr lang="zh-CN" altLang="en-US" b="1" dirty="0">
                    <a:solidFill>
                      <a:schemeClr val="accent6">
                        <a:lumMod val="50000"/>
                      </a:schemeClr>
                    </a:solidFill>
                  </a:rPr>
                  <a:t>的顶点</a:t>
                </a:r>
                <a14:m>
                  <m:oMath xmlns:m="http://schemas.openxmlformats.org/officeDocument/2006/math">
                    <m:sSub>
                      <m:sSubPr>
                        <m:ctrlPr>
                          <a:rPr lang="en-US" altLang="zh-CN" b="1" i="1">
                            <a:solidFill>
                              <a:schemeClr val="accent6">
                                <a:lumMod val="50000"/>
                              </a:schemeClr>
                            </a:solidFill>
                            <a:latin typeface="Cambria Math" panose="02040503050406030204" pitchFamily="18" charset="0"/>
                          </a:rPr>
                        </m:ctrlPr>
                      </m:sSubPr>
                      <m:e>
                        <m:r>
                          <a:rPr lang="en-US" altLang="zh-CN" b="1">
                            <a:solidFill>
                              <a:schemeClr val="accent6">
                                <a:lumMod val="50000"/>
                              </a:schemeClr>
                            </a:solidFill>
                            <a:latin typeface="Cambria Math" panose="02040503050406030204" pitchFamily="18" charset="0"/>
                          </a:rPr>
                          <m:t>𝒗</m:t>
                        </m:r>
                      </m:e>
                      <m:sub>
                        <m:sSub>
                          <m:sSubPr>
                            <m:ctrlPr>
                              <a:rPr lang="en-US" altLang="zh-CN" b="1" i="1">
                                <a:solidFill>
                                  <a:schemeClr val="accent6">
                                    <a:lumMod val="50000"/>
                                  </a:schemeClr>
                                </a:solidFill>
                                <a:latin typeface="Cambria Math" panose="02040503050406030204" pitchFamily="18" charset="0"/>
                              </a:rPr>
                            </m:ctrlPr>
                          </m:sSubPr>
                          <m:e>
                            <m:r>
                              <a:rPr lang="en-US" altLang="zh-CN" b="1">
                                <a:solidFill>
                                  <a:schemeClr val="accent6">
                                    <a:lumMod val="50000"/>
                                  </a:schemeClr>
                                </a:solidFill>
                                <a:latin typeface="Cambria Math" panose="02040503050406030204" pitchFamily="18" charset="0"/>
                              </a:rPr>
                              <m:t>𝒊</m:t>
                            </m:r>
                          </m:e>
                          <m:sub>
                            <m:r>
                              <a:rPr lang="en-US" altLang="zh-CN" b="1">
                                <a:solidFill>
                                  <a:schemeClr val="accent6">
                                    <a:lumMod val="50000"/>
                                  </a:schemeClr>
                                </a:solidFill>
                                <a:latin typeface="Cambria Math" panose="02040503050406030204" pitchFamily="18" charset="0"/>
                              </a:rPr>
                              <m:t>𝒒</m:t>
                            </m:r>
                          </m:sub>
                        </m:sSub>
                      </m:sub>
                    </m:sSub>
                  </m:oMath>
                </a14:m>
                <a:r>
                  <a:rPr lang="zh-CN" altLang="en-US" b="1" dirty="0">
                    <a:solidFill>
                      <a:schemeClr val="accent6">
                        <a:lumMod val="50000"/>
                      </a:schemeClr>
                    </a:solidFill>
                  </a:rPr>
                  <a:t>相邻，则得到更长的初级通路</a:t>
                </a:r>
                <a14:m>
                  <m:oMath xmlns:m="http://schemas.openxmlformats.org/officeDocument/2006/math">
                    <m:sSub>
                      <m:sSubPr>
                        <m:ctrlPr>
                          <a:rPr lang="en-US" altLang="zh-CN" b="1" i="1" smtClean="0">
                            <a:solidFill>
                              <a:srgbClr val="C00000"/>
                            </a:solidFill>
                            <a:latin typeface="Cambria Math" panose="02040503050406030204" pitchFamily="18" charset="0"/>
                          </a:rPr>
                        </m:ctrlPr>
                      </m:sSubPr>
                      <m:e>
                        <m:r>
                          <a:rPr lang="en-US" altLang="zh-CN" b="1">
                            <a:solidFill>
                              <a:srgbClr val="C00000"/>
                            </a:solidFill>
                            <a:latin typeface="Cambria Math" panose="02040503050406030204" pitchFamily="18" charset="0"/>
                          </a:rPr>
                          <m:t>𝒗</m:t>
                        </m:r>
                      </m:e>
                      <m:sub>
                        <m:r>
                          <a:rPr lang="en-US" altLang="zh-CN" b="1">
                            <a:solidFill>
                              <a:srgbClr val="C00000"/>
                            </a:solidFill>
                            <a:latin typeface="Cambria Math" panose="02040503050406030204" pitchFamily="18" charset="0"/>
                          </a:rPr>
                          <m:t>𝒕</m:t>
                        </m:r>
                      </m:sub>
                    </m:sSub>
                    <m:sSub>
                      <m:sSubPr>
                        <m:ctrlPr>
                          <a:rPr lang="en-US" altLang="zh-CN" b="1" i="1">
                            <a:solidFill>
                              <a:srgbClr val="C00000"/>
                            </a:solidFill>
                            <a:latin typeface="Cambria Math" panose="02040503050406030204" pitchFamily="18" charset="0"/>
                          </a:rPr>
                        </m:ctrlPr>
                      </m:sSubPr>
                      <m:e>
                        <m:r>
                          <a:rPr lang="en-US" altLang="zh-CN" b="1">
                            <a:solidFill>
                              <a:srgbClr val="C00000"/>
                            </a:solidFill>
                            <a:latin typeface="Cambria Math" panose="02040503050406030204" pitchFamily="18" charset="0"/>
                          </a:rPr>
                          <m:t>𝒗</m:t>
                        </m:r>
                      </m:e>
                      <m:sub>
                        <m:sSub>
                          <m:sSubPr>
                            <m:ctrlPr>
                              <a:rPr lang="en-US" altLang="zh-CN" b="1" i="1">
                                <a:solidFill>
                                  <a:srgbClr val="C00000"/>
                                </a:solidFill>
                                <a:latin typeface="Cambria Math" panose="02040503050406030204" pitchFamily="18" charset="0"/>
                              </a:rPr>
                            </m:ctrlPr>
                          </m:sSubPr>
                          <m:e>
                            <m:r>
                              <a:rPr lang="en-US" altLang="zh-CN" b="1">
                                <a:solidFill>
                                  <a:srgbClr val="C00000"/>
                                </a:solidFill>
                                <a:latin typeface="Cambria Math" panose="02040503050406030204" pitchFamily="18" charset="0"/>
                              </a:rPr>
                              <m:t>𝒊</m:t>
                            </m:r>
                          </m:e>
                          <m:sub>
                            <m:r>
                              <a:rPr lang="en-US" altLang="zh-CN" b="1">
                                <a:solidFill>
                                  <a:srgbClr val="C00000"/>
                                </a:solidFill>
                                <a:latin typeface="Cambria Math" panose="02040503050406030204" pitchFamily="18" charset="0"/>
                              </a:rPr>
                              <m:t>𝒒</m:t>
                            </m:r>
                          </m:sub>
                        </m:sSub>
                      </m:sub>
                    </m:sSub>
                    <m:r>
                      <a:rPr lang="en-US" altLang="zh-CN" b="1">
                        <a:solidFill>
                          <a:srgbClr val="C00000"/>
                        </a:solidFill>
                        <a:latin typeface="Cambria Math" panose="02040503050406030204" pitchFamily="18" charset="0"/>
                      </a:rPr>
                      <m:t>⋯</m:t>
                    </m:r>
                    <m:sSub>
                      <m:sSubPr>
                        <m:ctrlPr>
                          <a:rPr lang="en-US" altLang="zh-CN" b="1" i="1">
                            <a:solidFill>
                              <a:srgbClr val="C00000"/>
                            </a:solidFill>
                            <a:latin typeface="Cambria Math" panose="02040503050406030204" pitchFamily="18" charset="0"/>
                          </a:rPr>
                        </m:ctrlPr>
                      </m:sSubPr>
                      <m:e>
                        <m:r>
                          <a:rPr lang="en-US" altLang="zh-CN" b="1">
                            <a:solidFill>
                              <a:srgbClr val="C00000"/>
                            </a:solidFill>
                            <a:latin typeface="Cambria Math" panose="02040503050406030204" pitchFamily="18" charset="0"/>
                          </a:rPr>
                          <m:t>𝒗</m:t>
                        </m:r>
                      </m:e>
                      <m:sub>
                        <m:sSub>
                          <m:sSubPr>
                            <m:ctrlPr>
                              <a:rPr lang="en-US" altLang="zh-CN" b="1" i="1">
                                <a:solidFill>
                                  <a:srgbClr val="C00000"/>
                                </a:solidFill>
                                <a:latin typeface="Cambria Math" panose="02040503050406030204" pitchFamily="18" charset="0"/>
                              </a:rPr>
                            </m:ctrlPr>
                          </m:sSubPr>
                          <m:e>
                            <m:r>
                              <a:rPr lang="en-US" altLang="zh-CN" b="1">
                                <a:solidFill>
                                  <a:srgbClr val="C00000"/>
                                </a:solidFill>
                                <a:latin typeface="Cambria Math" panose="02040503050406030204" pitchFamily="18" charset="0"/>
                              </a:rPr>
                              <m:t>𝒊</m:t>
                            </m:r>
                          </m:e>
                          <m:sub>
                            <m:r>
                              <a:rPr lang="en-US" altLang="zh-CN" b="1">
                                <a:solidFill>
                                  <a:srgbClr val="C00000"/>
                                </a:solidFill>
                                <a:latin typeface="Cambria Math" panose="02040503050406030204" pitchFamily="18" charset="0"/>
                              </a:rPr>
                              <m:t>𝒎</m:t>
                            </m:r>
                          </m:sub>
                        </m:sSub>
                      </m:sub>
                    </m:sSub>
                    <m:sSub>
                      <m:sSubPr>
                        <m:ctrlPr>
                          <a:rPr lang="en-US" altLang="zh-CN" b="1" i="1">
                            <a:solidFill>
                              <a:srgbClr val="C00000"/>
                            </a:solidFill>
                            <a:latin typeface="Cambria Math" panose="02040503050406030204" pitchFamily="18" charset="0"/>
                          </a:rPr>
                        </m:ctrlPr>
                      </m:sSubPr>
                      <m:e>
                        <m:r>
                          <a:rPr lang="en-US" altLang="zh-CN" b="1">
                            <a:solidFill>
                              <a:srgbClr val="C00000"/>
                            </a:solidFill>
                            <a:latin typeface="Cambria Math" panose="02040503050406030204" pitchFamily="18" charset="0"/>
                          </a:rPr>
                          <m:t>𝒗</m:t>
                        </m:r>
                      </m:e>
                      <m:sub>
                        <m:sSub>
                          <m:sSubPr>
                            <m:ctrlPr>
                              <a:rPr lang="en-US" altLang="zh-CN" b="1" i="1">
                                <a:solidFill>
                                  <a:srgbClr val="C00000"/>
                                </a:solidFill>
                                <a:latin typeface="Cambria Math" panose="02040503050406030204" pitchFamily="18" charset="0"/>
                              </a:rPr>
                            </m:ctrlPr>
                          </m:sSubPr>
                          <m:e>
                            <m:r>
                              <a:rPr lang="en-US" altLang="zh-CN" b="1">
                                <a:solidFill>
                                  <a:srgbClr val="C00000"/>
                                </a:solidFill>
                                <a:latin typeface="Cambria Math" panose="02040503050406030204" pitchFamily="18" charset="0"/>
                              </a:rPr>
                              <m:t>𝒊</m:t>
                            </m:r>
                          </m:e>
                          <m:sub>
                            <m:r>
                              <a:rPr lang="en-US" altLang="zh-CN" b="1">
                                <a:solidFill>
                                  <a:srgbClr val="C00000"/>
                                </a:solidFill>
                                <a:latin typeface="Cambria Math" panose="02040503050406030204" pitchFamily="18" charset="0"/>
                              </a:rPr>
                              <m:t>𝒑</m:t>
                            </m:r>
                            <m:r>
                              <a:rPr lang="en-US" altLang="zh-CN" b="1">
                                <a:solidFill>
                                  <a:srgbClr val="C00000"/>
                                </a:solidFill>
                                <a:latin typeface="Cambria Math" panose="02040503050406030204" pitchFamily="18" charset="0"/>
                              </a:rPr>
                              <m:t>−</m:t>
                            </m:r>
                            <m:r>
                              <a:rPr lang="en-US" altLang="zh-CN" b="1">
                                <a:solidFill>
                                  <a:srgbClr val="C00000"/>
                                </a:solidFill>
                                <a:latin typeface="Cambria Math" panose="02040503050406030204" pitchFamily="18" charset="0"/>
                              </a:rPr>
                              <m:t>𝟏</m:t>
                            </m:r>
                          </m:sub>
                        </m:sSub>
                      </m:sub>
                    </m:sSub>
                    <m:r>
                      <a:rPr lang="en-US" altLang="zh-CN" b="1">
                        <a:solidFill>
                          <a:srgbClr val="C00000"/>
                        </a:solidFill>
                        <a:latin typeface="Cambria Math" panose="02040503050406030204" pitchFamily="18" charset="0"/>
                      </a:rPr>
                      <m:t>⋯</m:t>
                    </m:r>
                    <m:sSub>
                      <m:sSubPr>
                        <m:ctrlPr>
                          <a:rPr lang="en-US" altLang="zh-CN" b="1" i="1">
                            <a:solidFill>
                              <a:srgbClr val="C00000"/>
                            </a:solidFill>
                            <a:latin typeface="Cambria Math" panose="02040503050406030204" pitchFamily="18" charset="0"/>
                          </a:rPr>
                        </m:ctrlPr>
                      </m:sSubPr>
                      <m:e>
                        <m:r>
                          <a:rPr lang="en-US" altLang="zh-CN" b="1">
                            <a:solidFill>
                              <a:srgbClr val="C00000"/>
                            </a:solidFill>
                            <a:latin typeface="Cambria Math" panose="02040503050406030204" pitchFamily="18" charset="0"/>
                          </a:rPr>
                          <m:t>𝒗</m:t>
                        </m:r>
                      </m:e>
                      <m:sub>
                        <m:sSub>
                          <m:sSubPr>
                            <m:ctrlPr>
                              <a:rPr lang="en-US" altLang="zh-CN" b="1" i="1">
                                <a:solidFill>
                                  <a:srgbClr val="C00000"/>
                                </a:solidFill>
                                <a:latin typeface="Cambria Math" panose="02040503050406030204" pitchFamily="18" charset="0"/>
                              </a:rPr>
                            </m:ctrlPr>
                          </m:sSubPr>
                          <m:e>
                            <m:r>
                              <a:rPr lang="en-US" altLang="zh-CN" b="1">
                                <a:solidFill>
                                  <a:srgbClr val="C00000"/>
                                </a:solidFill>
                                <a:latin typeface="Cambria Math" panose="02040503050406030204" pitchFamily="18" charset="0"/>
                              </a:rPr>
                              <m:t>𝒊</m:t>
                            </m:r>
                          </m:e>
                          <m:sub>
                            <m:r>
                              <a:rPr lang="en-US" altLang="zh-CN" b="1">
                                <a:solidFill>
                                  <a:srgbClr val="C00000"/>
                                </a:solidFill>
                                <a:latin typeface="Cambria Math" panose="02040503050406030204" pitchFamily="18" charset="0"/>
                              </a:rPr>
                              <m:t>𝟏</m:t>
                            </m:r>
                          </m:sub>
                        </m:sSub>
                      </m:sub>
                    </m:sSub>
                    <m:sSub>
                      <m:sSubPr>
                        <m:ctrlPr>
                          <a:rPr lang="en-US" altLang="zh-CN" b="1" i="1">
                            <a:solidFill>
                              <a:srgbClr val="C00000"/>
                            </a:solidFill>
                            <a:latin typeface="Cambria Math" panose="02040503050406030204" pitchFamily="18" charset="0"/>
                          </a:rPr>
                        </m:ctrlPr>
                      </m:sSubPr>
                      <m:e>
                        <m:r>
                          <a:rPr lang="en-US" altLang="zh-CN" b="1">
                            <a:solidFill>
                              <a:srgbClr val="C00000"/>
                            </a:solidFill>
                            <a:latin typeface="Cambria Math" panose="02040503050406030204" pitchFamily="18" charset="0"/>
                          </a:rPr>
                          <m:t>𝒗</m:t>
                        </m:r>
                      </m:e>
                      <m:sub>
                        <m:sSub>
                          <m:sSubPr>
                            <m:ctrlPr>
                              <a:rPr lang="en-US" altLang="zh-CN" b="1" i="1">
                                <a:solidFill>
                                  <a:srgbClr val="C00000"/>
                                </a:solidFill>
                                <a:latin typeface="Cambria Math" panose="02040503050406030204" pitchFamily="18" charset="0"/>
                              </a:rPr>
                            </m:ctrlPr>
                          </m:sSubPr>
                          <m:e>
                            <m:r>
                              <a:rPr lang="en-US" altLang="zh-CN" b="1">
                                <a:solidFill>
                                  <a:srgbClr val="C00000"/>
                                </a:solidFill>
                                <a:latin typeface="Cambria Math" panose="02040503050406030204" pitchFamily="18" charset="0"/>
                              </a:rPr>
                              <m:t>𝒊</m:t>
                            </m:r>
                          </m:e>
                          <m:sub>
                            <m:r>
                              <a:rPr lang="en-US" altLang="zh-CN" b="1">
                                <a:solidFill>
                                  <a:srgbClr val="C00000"/>
                                </a:solidFill>
                                <a:latin typeface="Cambria Math" panose="02040503050406030204" pitchFamily="18" charset="0"/>
                              </a:rPr>
                              <m:t>𝒑</m:t>
                            </m:r>
                          </m:sub>
                        </m:sSub>
                      </m:sub>
                    </m:sSub>
                    <m:r>
                      <a:rPr lang="en-US" altLang="zh-CN" b="1">
                        <a:solidFill>
                          <a:srgbClr val="C00000"/>
                        </a:solidFill>
                        <a:latin typeface="Cambria Math" panose="02040503050406030204" pitchFamily="18" charset="0"/>
                      </a:rPr>
                      <m:t>⋯</m:t>
                    </m:r>
                    <m:sSub>
                      <m:sSubPr>
                        <m:ctrlPr>
                          <a:rPr lang="en-US" altLang="zh-CN" b="1" i="1">
                            <a:solidFill>
                              <a:srgbClr val="C00000"/>
                            </a:solidFill>
                            <a:latin typeface="Cambria Math" panose="02040503050406030204" pitchFamily="18" charset="0"/>
                          </a:rPr>
                        </m:ctrlPr>
                      </m:sSubPr>
                      <m:e>
                        <m:r>
                          <a:rPr lang="en-US" altLang="zh-CN" b="1">
                            <a:solidFill>
                              <a:srgbClr val="C00000"/>
                            </a:solidFill>
                            <a:latin typeface="Cambria Math" panose="02040503050406030204" pitchFamily="18" charset="0"/>
                          </a:rPr>
                          <m:t>𝒗</m:t>
                        </m:r>
                      </m:e>
                      <m:sub>
                        <m:sSub>
                          <m:sSubPr>
                            <m:ctrlPr>
                              <a:rPr lang="en-US" altLang="zh-CN" b="1" i="1">
                                <a:solidFill>
                                  <a:srgbClr val="C00000"/>
                                </a:solidFill>
                                <a:latin typeface="Cambria Math" panose="02040503050406030204" pitchFamily="18" charset="0"/>
                              </a:rPr>
                            </m:ctrlPr>
                          </m:sSubPr>
                          <m:e>
                            <m:r>
                              <a:rPr lang="en-US" altLang="zh-CN" b="1">
                                <a:solidFill>
                                  <a:srgbClr val="C00000"/>
                                </a:solidFill>
                                <a:latin typeface="Cambria Math" panose="02040503050406030204" pitchFamily="18" charset="0"/>
                              </a:rPr>
                              <m:t>𝒊</m:t>
                            </m:r>
                          </m:e>
                          <m:sub>
                            <m:r>
                              <a:rPr lang="en-US" altLang="zh-CN" b="1">
                                <a:solidFill>
                                  <a:srgbClr val="C00000"/>
                                </a:solidFill>
                                <a:latin typeface="Cambria Math" panose="02040503050406030204" pitchFamily="18" charset="0"/>
                              </a:rPr>
                              <m:t>𝒒</m:t>
                            </m:r>
                            <m:r>
                              <a:rPr lang="en-US" altLang="zh-CN" b="1">
                                <a:solidFill>
                                  <a:srgbClr val="C00000"/>
                                </a:solidFill>
                                <a:latin typeface="Cambria Math" panose="02040503050406030204" pitchFamily="18" charset="0"/>
                              </a:rPr>
                              <m:t>−</m:t>
                            </m:r>
                            <m:r>
                              <a:rPr lang="en-US" altLang="zh-CN" b="1">
                                <a:solidFill>
                                  <a:srgbClr val="C00000"/>
                                </a:solidFill>
                                <a:latin typeface="Cambria Math" panose="02040503050406030204" pitchFamily="18" charset="0"/>
                              </a:rPr>
                              <m:t>𝟏</m:t>
                            </m:r>
                          </m:sub>
                        </m:sSub>
                      </m:sub>
                    </m:sSub>
                  </m:oMath>
                </a14:m>
                <a:endParaRPr lang="en-US" altLang="zh-CN" b="1" dirty="0">
                  <a:solidFill>
                    <a:schemeClr val="accent6">
                      <a:lumMod val="50000"/>
                    </a:schemeClr>
                  </a:solidFill>
                </a:endParaRPr>
              </a:p>
            </p:txBody>
          </p:sp>
        </mc:Choice>
        <mc:Fallback xmlns="">
          <p:sp>
            <p:nvSpPr>
              <p:cNvPr id="2" name="文本框 1">
                <a:extLst>
                  <a:ext uri="{FF2B5EF4-FFF2-40B4-BE49-F238E27FC236}">
                    <a16:creationId xmlns:a16="http://schemas.microsoft.com/office/drawing/2014/main" id="{3A1E3794-85C8-4F2D-BF6E-9AF0D8BD4DB7}"/>
                  </a:ext>
                </a:extLst>
              </p:cNvPr>
              <p:cNvSpPr txBox="1">
                <a:spLocks noRot="1" noChangeAspect="1" noMove="1" noResize="1" noEditPoints="1" noAdjustHandles="1" noChangeArrowheads="1" noChangeShapeType="1" noTextEdit="1"/>
              </p:cNvSpPr>
              <p:nvPr/>
            </p:nvSpPr>
            <p:spPr>
              <a:xfrm>
                <a:off x="609599" y="1950178"/>
                <a:ext cx="10972800" cy="2664768"/>
              </a:xfrm>
              <a:prstGeom prst="rect">
                <a:avLst/>
              </a:prstGeom>
              <a:blipFill>
                <a:blip r:embed="rId2"/>
                <a:stretch>
                  <a:fillRect l="-333" t="-2059" b="-91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65179347-67DA-47F0-B81F-90061F212800}"/>
                  </a:ext>
                </a:extLst>
              </p:cNvPr>
              <p:cNvSpPr txBox="1"/>
              <p:nvPr/>
            </p:nvSpPr>
            <p:spPr>
              <a:xfrm>
                <a:off x="609599" y="1247017"/>
                <a:ext cx="9157156" cy="461665"/>
              </a:xfrm>
              <a:prstGeom prst="rect">
                <a:avLst/>
              </a:prstGeom>
              <a:solidFill>
                <a:schemeClr val="accent6">
                  <a:lumMod val="20000"/>
                  <a:lumOff val="80000"/>
                  <a:alpha val="50000"/>
                </a:schemeClr>
              </a:solidFill>
            </p:spPr>
            <p:txBody>
              <a:bodyPr wrap="square" rtlCol="0">
                <a:spAutoFit/>
              </a:bodyPr>
              <a:lstStyle/>
              <a:p>
                <a14:m>
                  <m:oMath xmlns:m="http://schemas.openxmlformats.org/officeDocument/2006/math">
                    <m:r>
                      <a:rPr lang="en-US" altLang="zh-CN" sz="2400" b="1" i="1" smtClean="0">
                        <a:solidFill>
                          <a:srgbClr val="002060"/>
                        </a:solidFill>
                        <a:latin typeface="Cambria Math" panose="02040503050406030204" pitchFamily="18" charset="0"/>
                      </a:rPr>
                      <m:t>𝒏</m:t>
                    </m:r>
                  </m:oMath>
                </a14:m>
                <a:r>
                  <a:rPr lang="zh-CN" altLang="en-US" sz="2400" b="1">
                    <a:solidFill>
                      <a:srgbClr val="002060"/>
                    </a:solidFill>
                    <a:latin typeface="楷体" panose="02010609060101010101" pitchFamily="49" charset="-122"/>
                    <a:ea typeface="楷体" panose="02010609060101010101" pitchFamily="49" charset="-122"/>
                  </a:rPr>
                  <a:t>阶简单图</a:t>
                </a:r>
                <a14:m>
                  <m:oMath xmlns:m="http://schemas.openxmlformats.org/officeDocument/2006/math">
                    <m:r>
                      <a:rPr lang="en-US" altLang="zh-CN" sz="2400" b="1" i="1" smtClean="0">
                        <a:solidFill>
                          <a:srgbClr val="002060"/>
                        </a:solidFill>
                        <a:latin typeface="Cambria Math" panose="02040503050406030204" pitchFamily="18" charset="0"/>
                      </a:rPr>
                      <m:t>𝑮</m:t>
                    </m:r>
                  </m:oMath>
                </a14:m>
                <a:r>
                  <a:rPr lang="zh-CN" altLang="en-US" sz="2400" b="1">
                    <a:solidFill>
                      <a:srgbClr val="002060"/>
                    </a:solidFill>
                    <a:latin typeface="楷体" panose="02010609060101010101" pitchFamily="49" charset="-122"/>
                    <a:ea typeface="楷体" panose="02010609060101010101" pitchFamily="49" charset="-122"/>
                  </a:rPr>
                  <a:t>任意两个顶点度数之和</a:t>
                </a:r>
                <a14:m>
                  <m:oMath xmlns:m="http://schemas.openxmlformats.org/officeDocument/2006/math">
                    <m:r>
                      <a:rPr lang="en-US" altLang="zh-CN" sz="2400" b="1" i="1" smtClean="0">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𝒏</m:t>
                    </m:r>
                    <m:r>
                      <a:rPr lang="en-US" altLang="zh-CN" sz="2400" b="1" i="1" smtClean="0">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𝟏</m:t>
                    </m:r>
                  </m:oMath>
                </a14:m>
                <a:r>
                  <a:rPr lang="zh-CN" altLang="en-US" sz="2400" b="1">
                    <a:solidFill>
                      <a:srgbClr val="002060"/>
                    </a:solidFill>
                    <a:latin typeface="楷体" panose="02010609060101010101" pitchFamily="49" charset="-122"/>
                    <a:ea typeface="楷体" panose="02010609060101010101" pitchFamily="49" charset="-122"/>
                  </a:rPr>
                  <a:t>，则</a:t>
                </a:r>
                <a14:m>
                  <m:oMath xmlns:m="http://schemas.openxmlformats.org/officeDocument/2006/math">
                    <m:r>
                      <a:rPr lang="en-US" altLang="zh-CN" sz="2400" b="1" i="1" smtClean="0">
                        <a:solidFill>
                          <a:srgbClr val="002060"/>
                        </a:solidFill>
                        <a:latin typeface="Cambria Math" panose="02040503050406030204" pitchFamily="18" charset="0"/>
                      </a:rPr>
                      <m:t>𝑮</m:t>
                    </m:r>
                  </m:oMath>
                </a14:m>
                <a:r>
                  <a:rPr lang="zh-CN" altLang="en-US" sz="2400" b="1">
                    <a:solidFill>
                      <a:srgbClr val="002060"/>
                    </a:solidFill>
                    <a:latin typeface="楷体" panose="02010609060101010101" pitchFamily="49" charset="-122"/>
                    <a:ea typeface="楷体" panose="02010609060101010101" pitchFamily="49" charset="-122"/>
                  </a:rPr>
                  <a:t>存在哈密顿通路</a:t>
                </a:r>
              </a:p>
            </p:txBody>
          </p:sp>
        </mc:Choice>
        <mc:Fallback xmlns="">
          <p:sp>
            <p:nvSpPr>
              <p:cNvPr id="3" name="文本框 2">
                <a:extLst>
                  <a:ext uri="{FF2B5EF4-FFF2-40B4-BE49-F238E27FC236}">
                    <a16:creationId xmlns:a16="http://schemas.microsoft.com/office/drawing/2014/main" id="{65179347-67DA-47F0-B81F-90061F212800}"/>
                  </a:ext>
                </a:extLst>
              </p:cNvPr>
              <p:cNvSpPr txBox="1">
                <a:spLocks noRot="1" noChangeAspect="1" noMove="1" noResize="1" noEditPoints="1" noAdjustHandles="1" noChangeArrowheads="1" noChangeShapeType="1" noTextEdit="1"/>
              </p:cNvSpPr>
              <p:nvPr/>
            </p:nvSpPr>
            <p:spPr>
              <a:xfrm>
                <a:off x="609599" y="1247017"/>
                <a:ext cx="9157156" cy="461665"/>
              </a:xfrm>
              <a:prstGeom prst="rect">
                <a:avLst/>
              </a:prstGeom>
              <a:blipFill>
                <a:blip r:embed="rId3"/>
                <a:stretch>
                  <a:fillRect t="-14667" b="-26667"/>
                </a:stretch>
              </a:blipFill>
            </p:spPr>
            <p:txBody>
              <a:bodyPr/>
              <a:lstStyle/>
              <a:p>
                <a:r>
                  <a:rPr lang="zh-CN" altLang="en-US">
                    <a:noFill/>
                  </a:rPr>
                  <a:t> </a:t>
                </a:r>
              </a:p>
            </p:txBody>
          </p:sp>
        </mc:Fallback>
      </mc:AlternateContent>
      <p:pic>
        <p:nvPicPr>
          <p:cNvPr id="4" name="图片 3">
            <a:extLst>
              <a:ext uri="{FF2B5EF4-FFF2-40B4-BE49-F238E27FC236}">
                <a16:creationId xmlns:a16="http://schemas.microsoft.com/office/drawing/2014/main" id="{46A81D07-B7DA-4364-A943-DF43D0BC281D}"/>
              </a:ext>
            </a:extLst>
          </p:cNvPr>
          <p:cNvPicPr>
            <a:picLocks noChangeAspect="1"/>
          </p:cNvPicPr>
          <p:nvPr/>
        </p:nvPicPr>
        <p:blipFill>
          <a:blip r:embed="rId4"/>
          <a:stretch>
            <a:fillRect/>
          </a:stretch>
        </p:blipFill>
        <p:spPr>
          <a:xfrm>
            <a:off x="1889979" y="4614946"/>
            <a:ext cx="8412039" cy="1626636"/>
          </a:xfrm>
          <a:prstGeom prst="rect">
            <a:avLst/>
          </a:prstGeom>
        </p:spPr>
      </p:pic>
      <p:sp>
        <p:nvSpPr>
          <p:cNvPr id="6" name="文本框 5">
            <a:extLst>
              <a:ext uri="{FF2B5EF4-FFF2-40B4-BE49-F238E27FC236}">
                <a16:creationId xmlns:a16="http://schemas.microsoft.com/office/drawing/2014/main" id="{2761D218-9D6D-A2C1-73F9-46557A584BAE}"/>
              </a:ext>
            </a:extLst>
          </p:cNvPr>
          <p:cNvSpPr txBox="1"/>
          <p:nvPr/>
        </p:nvSpPr>
        <p:spPr>
          <a:xfrm>
            <a:off x="4500979" y="811902"/>
            <a:ext cx="1099981" cy="369332"/>
          </a:xfrm>
          <a:prstGeom prst="rect">
            <a:avLst/>
          </a:prstGeom>
          <a:noFill/>
        </p:spPr>
        <p:txBody>
          <a:bodyPr wrap="none" rtlCol="0">
            <a:spAutoFit/>
          </a:bodyPr>
          <a:lstStyle/>
          <a:p>
            <a:r>
              <a:rPr lang="zh-CN" altLang="en-US" b="1" dirty="0">
                <a:solidFill>
                  <a:srgbClr val="FF0000"/>
                </a:solidFill>
              </a:rPr>
              <a:t>简单了解</a:t>
            </a:r>
          </a:p>
        </p:txBody>
      </p:sp>
    </p:spTree>
    <p:extLst>
      <p:ext uri="{BB962C8B-B14F-4D97-AF65-F5344CB8AC3E}">
        <p14:creationId xmlns:p14="http://schemas.microsoft.com/office/powerpoint/2010/main" val="871093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哈密顿图</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第三十一讲  一些特殊的图</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t>27</a:t>
            </a:fld>
            <a:r>
              <a:rPr lang="en-US" altLang="zh-CN" dirty="0">
                <a:latin typeface="Arial" panose="020B0604020202020204" pitchFamily="34" charset="0"/>
                <a:ea typeface="楷体" panose="02010609060101010101" pitchFamily="49" charset="-122"/>
                <a:cs typeface="Arial" panose="020B0604020202020204" pitchFamily="34" charset="0"/>
              </a:rPr>
              <a:t>/32</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哈密顿图判断练习</a:t>
            </a:r>
          </a:p>
        </p:txBody>
      </p:sp>
      <p:sp>
        <p:nvSpPr>
          <p:cNvPr id="2" name="文本框 1">
            <a:extLst>
              <a:ext uri="{FF2B5EF4-FFF2-40B4-BE49-F238E27FC236}">
                <a16:creationId xmlns:a16="http://schemas.microsoft.com/office/drawing/2014/main" id="{8DD72BD2-CAFC-4DFF-9B22-8D73E3B1ADD3}"/>
              </a:ext>
            </a:extLst>
          </p:cNvPr>
          <p:cNvSpPr txBox="1"/>
          <p:nvPr/>
        </p:nvSpPr>
        <p:spPr>
          <a:xfrm>
            <a:off x="1140259" y="1387282"/>
            <a:ext cx="6299931" cy="461665"/>
          </a:xfrm>
          <a:prstGeom prst="rect">
            <a:avLst/>
          </a:prstGeom>
          <a:solidFill>
            <a:srgbClr val="E5EFE5"/>
          </a:solidFill>
        </p:spPr>
        <p:txBody>
          <a:bodyPr wrap="square" rtlCol="0">
            <a:spAutoFit/>
          </a:bodyPr>
          <a:lstStyle/>
          <a:p>
            <a:r>
              <a:rPr lang="zh-CN" altLang="en-US" sz="2400" b="1">
                <a:solidFill>
                  <a:srgbClr val="002060"/>
                </a:solidFill>
                <a:latin typeface="楷体" panose="02010609060101010101" pitchFamily="49" charset="-122"/>
                <a:ea typeface="楷体" panose="02010609060101010101" pitchFamily="49" charset="-122"/>
              </a:rPr>
              <a:t>下面给出的两个图是否是哈密顿图？为什么？</a:t>
            </a:r>
          </a:p>
        </p:txBody>
      </p:sp>
      <p:pic>
        <p:nvPicPr>
          <p:cNvPr id="6" name="图片 5">
            <a:extLst>
              <a:ext uri="{FF2B5EF4-FFF2-40B4-BE49-F238E27FC236}">
                <a16:creationId xmlns:a16="http://schemas.microsoft.com/office/drawing/2014/main" id="{89B45B49-76D5-48F7-AA69-125A96943703}"/>
              </a:ext>
            </a:extLst>
          </p:cNvPr>
          <p:cNvPicPr>
            <a:picLocks noChangeAspect="1"/>
          </p:cNvPicPr>
          <p:nvPr/>
        </p:nvPicPr>
        <p:blipFill>
          <a:blip r:embed="rId2"/>
          <a:stretch>
            <a:fillRect/>
          </a:stretch>
        </p:blipFill>
        <p:spPr>
          <a:xfrm>
            <a:off x="1140259" y="2030000"/>
            <a:ext cx="4594441" cy="2680677"/>
          </a:xfrm>
          <a:prstGeom prst="rect">
            <a:avLst/>
          </a:prstGeom>
          <a:solidFill>
            <a:srgbClr val="E5EFE5"/>
          </a:solidFill>
        </p:spPr>
      </p:pic>
      <p:pic>
        <p:nvPicPr>
          <p:cNvPr id="12" name="图片 11">
            <a:extLst>
              <a:ext uri="{FF2B5EF4-FFF2-40B4-BE49-F238E27FC236}">
                <a16:creationId xmlns:a16="http://schemas.microsoft.com/office/drawing/2014/main" id="{157BB24D-7C04-4A2F-BFC6-70426513CA93}"/>
              </a:ext>
            </a:extLst>
          </p:cNvPr>
          <p:cNvPicPr>
            <a:picLocks noChangeAspect="1"/>
          </p:cNvPicPr>
          <p:nvPr/>
        </p:nvPicPr>
        <p:blipFill>
          <a:blip r:embed="rId3"/>
          <a:stretch>
            <a:fillRect/>
          </a:stretch>
        </p:blipFill>
        <p:spPr>
          <a:xfrm>
            <a:off x="6398992" y="2030000"/>
            <a:ext cx="4857066" cy="2647413"/>
          </a:xfrm>
          <a:prstGeom prst="rect">
            <a:avLst/>
          </a:prstGeom>
          <a:solidFill>
            <a:srgbClr val="E5EFE5"/>
          </a:solidFill>
        </p:spPr>
      </p:pic>
    </p:spTree>
    <p:extLst>
      <p:ext uri="{BB962C8B-B14F-4D97-AF65-F5344CB8AC3E}">
        <p14:creationId xmlns:p14="http://schemas.microsoft.com/office/powerpoint/2010/main" val="302937048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哈密顿图</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第三十一讲  一些特殊的图</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t>28</a:t>
            </a:fld>
            <a:r>
              <a:rPr lang="en-US" altLang="zh-CN" dirty="0">
                <a:latin typeface="Arial" panose="020B0604020202020204" pitchFamily="34" charset="0"/>
                <a:ea typeface="楷体" panose="02010609060101010101" pitchFamily="49" charset="-122"/>
                <a:cs typeface="Arial" panose="020B0604020202020204" pitchFamily="34" charset="0"/>
              </a:rPr>
              <a:t>/32</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哈密顿图判断练习</a:t>
            </a:r>
          </a:p>
        </p:txBody>
      </p:sp>
      <p:sp>
        <p:nvSpPr>
          <p:cNvPr id="2" name="文本框 1">
            <a:extLst>
              <a:ext uri="{FF2B5EF4-FFF2-40B4-BE49-F238E27FC236}">
                <a16:creationId xmlns:a16="http://schemas.microsoft.com/office/drawing/2014/main" id="{8DD72BD2-CAFC-4DFF-9B22-8D73E3B1ADD3}"/>
              </a:ext>
            </a:extLst>
          </p:cNvPr>
          <p:cNvSpPr txBox="1"/>
          <p:nvPr/>
        </p:nvSpPr>
        <p:spPr>
          <a:xfrm>
            <a:off x="1140259" y="1387282"/>
            <a:ext cx="6299931" cy="461665"/>
          </a:xfrm>
          <a:prstGeom prst="rect">
            <a:avLst/>
          </a:prstGeom>
          <a:solidFill>
            <a:srgbClr val="E5EFE5"/>
          </a:solidFill>
        </p:spPr>
        <p:txBody>
          <a:bodyPr wrap="square" rtlCol="0">
            <a:spAutoFit/>
          </a:bodyPr>
          <a:lstStyle/>
          <a:p>
            <a:r>
              <a:rPr lang="zh-CN" altLang="en-US" sz="2400" b="1">
                <a:solidFill>
                  <a:srgbClr val="002060"/>
                </a:solidFill>
                <a:latin typeface="楷体" panose="02010609060101010101" pitchFamily="49" charset="-122"/>
                <a:ea typeface="楷体" panose="02010609060101010101" pitchFamily="49" charset="-122"/>
              </a:rPr>
              <a:t>下面给出的两个图是否是哈密顿图？为什么？</a:t>
            </a: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2F771A5D-1819-4FD5-967F-5004963403C7}"/>
                  </a:ext>
                </a:extLst>
              </p:cNvPr>
              <p:cNvSpPr txBox="1"/>
              <p:nvPr/>
            </p:nvSpPr>
            <p:spPr>
              <a:xfrm>
                <a:off x="659980" y="4996693"/>
                <a:ext cx="5647513" cy="1153393"/>
              </a:xfrm>
              <a:prstGeom prst="rect">
                <a:avLst/>
              </a:prstGeom>
              <a:solidFill>
                <a:schemeClr val="accent4">
                  <a:lumMod val="20000"/>
                  <a:lumOff val="80000"/>
                </a:schemeClr>
              </a:solidFill>
            </p:spPr>
            <p:txBody>
              <a:bodyPr wrap="square" rtlCol="0">
                <a:spAutoFit/>
              </a:bodyPr>
              <a:lstStyle/>
              <a:p>
                <a:pPr>
                  <a:lnSpc>
                    <a:spcPts val="2400"/>
                  </a:lnSpc>
                  <a:spcBef>
                    <a:spcPts val="600"/>
                  </a:spcBef>
                </a:pPr>
                <a:r>
                  <a:rPr lang="zh-CN" altLang="en-US" b="1">
                    <a:solidFill>
                      <a:schemeClr val="accent2">
                        <a:lumMod val="50000"/>
                      </a:schemeClr>
                    </a:solidFill>
                  </a:rPr>
                  <a:t>半哈密顿图，一条哈密顿道路是</a:t>
                </a:r>
                <a14:m>
                  <m:oMath xmlns:m="http://schemas.openxmlformats.org/officeDocument/2006/math">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𝒗</m:t>
                        </m:r>
                      </m:e>
                      <m:sub>
                        <m:r>
                          <a:rPr lang="en-US" altLang="zh-CN" b="1" i="1" smtClean="0">
                            <a:solidFill>
                              <a:schemeClr val="accent2">
                                <a:lumMod val="50000"/>
                              </a:schemeClr>
                            </a:solidFill>
                            <a:latin typeface="Cambria Math" panose="02040503050406030204" pitchFamily="18" charset="0"/>
                          </a:rPr>
                          <m:t>𝟓</m:t>
                        </m:r>
                      </m:sub>
                    </m:sSub>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𝒗</m:t>
                        </m:r>
                      </m:e>
                      <m:sub>
                        <m:r>
                          <a:rPr lang="en-US" altLang="zh-CN" b="1" i="1" smtClean="0">
                            <a:solidFill>
                              <a:schemeClr val="accent2">
                                <a:lumMod val="50000"/>
                              </a:schemeClr>
                            </a:solidFill>
                            <a:latin typeface="Cambria Math" panose="02040503050406030204" pitchFamily="18" charset="0"/>
                          </a:rPr>
                          <m:t>𝟐</m:t>
                        </m:r>
                      </m:sub>
                    </m:sSub>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𝒗</m:t>
                        </m:r>
                      </m:e>
                      <m:sub>
                        <m:r>
                          <a:rPr lang="en-US" altLang="zh-CN" b="1" i="1" smtClean="0">
                            <a:solidFill>
                              <a:schemeClr val="accent2">
                                <a:lumMod val="50000"/>
                              </a:schemeClr>
                            </a:solidFill>
                            <a:latin typeface="Cambria Math" panose="02040503050406030204" pitchFamily="18" charset="0"/>
                          </a:rPr>
                          <m:t>𝟏</m:t>
                        </m:r>
                      </m:sub>
                    </m:sSub>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𝒗</m:t>
                        </m:r>
                      </m:e>
                      <m:sub>
                        <m:r>
                          <a:rPr lang="en-US" altLang="zh-CN" b="1" i="1" smtClean="0">
                            <a:solidFill>
                              <a:schemeClr val="accent2">
                                <a:lumMod val="50000"/>
                              </a:schemeClr>
                            </a:solidFill>
                            <a:latin typeface="Cambria Math" panose="02040503050406030204" pitchFamily="18" charset="0"/>
                          </a:rPr>
                          <m:t>𝟒</m:t>
                        </m:r>
                      </m:sub>
                    </m:sSub>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𝒗</m:t>
                        </m:r>
                      </m:e>
                      <m:sub>
                        <m:r>
                          <a:rPr lang="en-US" altLang="zh-CN" b="1" i="1" smtClean="0">
                            <a:solidFill>
                              <a:schemeClr val="accent2">
                                <a:lumMod val="50000"/>
                              </a:schemeClr>
                            </a:solidFill>
                            <a:latin typeface="Cambria Math" panose="02040503050406030204" pitchFamily="18" charset="0"/>
                          </a:rPr>
                          <m:t>𝟑</m:t>
                        </m:r>
                      </m:sub>
                    </m:sSub>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𝒗</m:t>
                        </m:r>
                      </m:e>
                      <m:sub>
                        <m:r>
                          <a:rPr lang="en-US" altLang="zh-CN" b="1" i="1" smtClean="0">
                            <a:solidFill>
                              <a:schemeClr val="accent2">
                                <a:lumMod val="50000"/>
                              </a:schemeClr>
                            </a:solidFill>
                            <a:latin typeface="Cambria Math" panose="02040503050406030204" pitchFamily="18" charset="0"/>
                          </a:rPr>
                          <m:t>𝟕</m:t>
                        </m:r>
                      </m:sub>
                    </m:sSub>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𝒗</m:t>
                        </m:r>
                      </m:e>
                      <m:sub>
                        <m:r>
                          <a:rPr lang="en-US" altLang="zh-CN" b="1" i="1" smtClean="0">
                            <a:solidFill>
                              <a:schemeClr val="accent2">
                                <a:lumMod val="50000"/>
                              </a:schemeClr>
                            </a:solidFill>
                            <a:latin typeface="Cambria Math" panose="02040503050406030204" pitchFamily="18" charset="0"/>
                          </a:rPr>
                          <m:t>𝟗</m:t>
                        </m:r>
                      </m:sub>
                    </m:sSub>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𝒗</m:t>
                        </m:r>
                      </m:e>
                      <m:sub>
                        <m:r>
                          <a:rPr lang="en-US" altLang="zh-CN" b="1" i="1" smtClean="0">
                            <a:solidFill>
                              <a:schemeClr val="accent2">
                                <a:lumMod val="50000"/>
                              </a:schemeClr>
                            </a:solidFill>
                            <a:latin typeface="Cambria Math" panose="02040503050406030204" pitchFamily="18" charset="0"/>
                          </a:rPr>
                          <m:t>𝟖</m:t>
                        </m:r>
                      </m:sub>
                    </m:sSub>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𝒗</m:t>
                        </m:r>
                      </m:e>
                      <m:sub>
                        <m:r>
                          <a:rPr lang="en-US" altLang="zh-CN" b="1" i="1" smtClean="0">
                            <a:solidFill>
                              <a:schemeClr val="accent2">
                                <a:lumMod val="50000"/>
                              </a:schemeClr>
                            </a:solidFill>
                            <a:latin typeface="Cambria Math" panose="02040503050406030204" pitchFamily="18" charset="0"/>
                          </a:rPr>
                          <m:t>𝟔</m:t>
                        </m:r>
                      </m:sub>
                    </m:sSub>
                  </m:oMath>
                </a14:m>
                <a:endParaRPr lang="en-US" altLang="zh-CN" b="1">
                  <a:solidFill>
                    <a:schemeClr val="accent2">
                      <a:lumMod val="50000"/>
                    </a:schemeClr>
                  </a:solidFill>
                </a:endParaRPr>
              </a:p>
              <a:p>
                <a:pPr marL="285750" indent="-285750">
                  <a:lnSpc>
                    <a:spcPts val="2400"/>
                  </a:lnSpc>
                  <a:spcBef>
                    <a:spcPts val="600"/>
                  </a:spcBef>
                  <a:buFont typeface="Arial" panose="020B0604020202020204" pitchFamily="34" charset="0"/>
                  <a:buChar char="•"/>
                </a:pPr>
                <a:r>
                  <a:rPr lang="zh-CN" altLang="en-US" b="1">
                    <a:solidFill>
                      <a:srgbClr val="002060"/>
                    </a:solidFill>
                    <a:latin typeface="楷体" panose="02010609060101010101" pitchFamily="49" charset="-122"/>
                    <a:ea typeface="楷体" panose="02010609060101010101" pitchFamily="49" charset="-122"/>
                  </a:rPr>
                  <a:t>但不是任意两个顶点度数之和</a:t>
                </a:r>
                <a14:m>
                  <m:oMath xmlns:m="http://schemas.openxmlformats.org/officeDocument/2006/math">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𝒏</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𝟏</m:t>
                    </m:r>
                  </m:oMath>
                </a14:m>
                <a:endParaRPr lang="en-US" altLang="zh-CN" b="1">
                  <a:solidFill>
                    <a:srgbClr val="002060"/>
                  </a:solidFill>
                  <a:latin typeface="楷体" panose="02010609060101010101" pitchFamily="49" charset="-122"/>
                  <a:ea typeface="楷体" panose="02010609060101010101" pitchFamily="49" charset="-122"/>
                </a:endParaRPr>
              </a:p>
              <a:p>
                <a:pPr marL="742950" lvl="1" indent="-285750">
                  <a:lnSpc>
                    <a:spcPts val="2400"/>
                  </a:lnSpc>
                  <a:spcBef>
                    <a:spcPts val="600"/>
                  </a:spcBef>
                  <a:buFont typeface="Arial" panose="020B0604020202020204" pitchFamily="34" charset="0"/>
                  <a:buChar char="•"/>
                </a:pPr>
                <a14:m>
                  <m:oMath xmlns:m="http://schemas.openxmlformats.org/officeDocument/2006/math">
                    <m:r>
                      <a:rPr lang="en-US" altLang="zh-CN" b="1" i="1" smtClean="0">
                        <a:solidFill>
                          <a:schemeClr val="accent4">
                            <a:lumMod val="50000"/>
                          </a:schemeClr>
                        </a:solidFill>
                        <a:latin typeface="Cambria Math" panose="02040503050406030204" pitchFamily="18" charset="0"/>
                      </a:rPr>
                      <m:t>𝒏</m:t>
                    </m:r>
                    <m:r>
                      <a:rPr lang="en-US" altLang="zh-CN" b="1" i="1" smtClean="0">
                        <a:solidFill>
                          <a:schemeClr val="accent4">
                            <a:lumMod val="50000"/>
                          </a:schemeClr>
                        </a:solidFill>
                        <a:latin typeface="Cambria Math" panose="02040503050406030204" pitchFamily="18" charset="0"/>
                      </a:rPr>
                      <m:t>=</m:t>
                    </m:r>
                    <m:r>
                      <a:rPr lang="en-US" altLang="zh-CN" b="1" i="1" smtClean="0">
                        <a:solidFill>
                          <a:schemeClr val="accent4">
                            <a:lumMod val="50000"/>
                          </a:schemeClr>
                        </a:solidFill>
                        <a:latin typeface="Cambria Math" panose="02040503050406030204" pitchFamily="18" charset="0"/>
                      </a:rPr>
                      <m:t>𝟔</m:t>
                    </m:r>
                  </m:oMath>
                </a14:m>
                <a:r>
                  <a:rPr lang="zh-CN" altLang="en-US" b="1">
                    <a:solidFill>
                      <a:schemeClr val="accent4">
                        <a:lumMod val="50000"/>
                      </a:schemeClr>
                    </a:solidFill>
                  </a:rPr>
                  <a:t>，</a:t>
                </a:r>
                <a14:m>
                  <m:oMath xmlns:m="http://schemas.openxmlformats.org/officeDocument/2006/math">
                    <m:sSub>
                      <m:sSubPr>
                        <m:ctrlPr>
                          <a:rPr lang="en-US" altLang="zh-CN" b="1" i="1" smtClean="0">
                            <a:solidFill>
                              <a:schemeClr val="accent4">
                                <a:lumMod val="50000"/>
                              </a:schemeClr>
                            </a:solidFill>
                            <a:latin typeface="Cambria Math" panose="02040503050406030204" pitchFamily="18" charset="0"/>
                          </a:rPr>
                        </m:ctrlPr>
                      </m:sSubPr>
                      <m:e>
                        <m:r>
                          <a:rPr lang="en-US" altLang="zh-CN" b="1" i="1" smtClean="0">
                            <a:solidFill>
                              <a:schemeClr val="accent4">
                                <a:lumMod val="50000"/>
                              </a:schemeClr>
                            </a:solidFill>
                            <a:latin typeface="Cambria Math" panose="02040503050406030204" pitchFamily="18" charset="0"/>
                          </a:rPr>
                          <m:t>𝒗</m:t>
                        </m:r>
                      </m:e>
                      <m:sub>
                        <m:r>
                          <a:rPr lang="en-US" altLang="zh-CN" b="1" i="1">
                            <a:solidFill>
                              <a:schemeClr val="accent4">
                                <a:lumMod val="50000"/>
                              </a:schemeClr>
                            </a:solidFill>
                            <a:latin typeface="Cambria Math" panose="02040503050406030204" pitchFamily="18" charset="0"/>
                          </a:rPr>
                          <m:t>𝟏</m:t>
                        </m:r>
                      </m:sub>
                    </m:sSub>
                  </m:oMath>
                </a14:m>
                <a:r>
                  <a:rPr lang="zh-CN" altLang="en-US" b="1">
                    <a:solidFill>
                      <a:schemeClr val="accent4">
                        <a:lumMod val="50000"/>
                      </a:schemeClr>
                    </a:solidFill>
                  </a:rPr>
                  <a:t>和</a:t>
                </a:r>
                <a14:m>
                  <m:oMath xmlns:m="http://schemas.openxmlformats.org/officeDocument/2006/math">
                    <m:sSub>
                      <m:sSubPr>
                        <m:ctrlPr>
                          <a:rPr lang="en-US" altLang="zh-CN" b="1" i="1" smtClean="0">
                            <a:solidFill>
                              <a:schemeClr val="accent4">
                                <a:lumMod val="50000"/>
                              </a:schemeClr>
                            </a:solidFill>
                            <a:latin typeface="Cambria Math" panose="02040503050406030204" pitchFamily="18" charset="0"/>
                          </a:rPr>
                        </m:ctrlPr>
                      </m:sSubPr>
                      <m:e>
                        <m:r>
                          <a:rPr lang="en-US" altLang="zh-CN" b="1" i="1" smtClean="0">
                            <a:solidFill>
                              <a:schemeClr val="accent4">
                                <a:lumMod val="50000"/>
                              </a:schemeClr>
                            </a:solidFill>
                            <a:latin typeface="Cambria Math" panose="02040503050406030204" pitchFamily="18" charset="0"/>
                          </a:rPr>
                          <m:t>𝒗</m:t>
                        </m:r>
                      </m:e>
                      <m:sub>
                        <m:r>
                          <a:rPr lang="en-US" altLang="zh-CN" b="1" i="1">
                            <a:solidFill>
                              <a:schemeClr val="accent4">
                                <a:lumMod val="50000"/>
                              </a:schemeClr>
                            </a:solidFill>
                            <a:latin typeface="Cambria Math" panose="02040503050406030204" pitchFamily="18" charset="0"/>
                          </a:rPr>
                          <m:t>𝟔</m:t>
                        </m:r>
                      </m:sub>
                    </m:sSub>
                  </m:oMath>
                </a14:m>
                <a:r>
                  <a:rPr lang="zh-CN" altLang="en-US" b="1">
                    <a:solidFill>
                      <a:schemeClr val="accent4">
                        <a:lumMod val="50000"/>
                      </a:schemeClr>
                    </a:solidFill>
                  </a:rPr>
                  <a:t>的度数都是</a:t>
                </a:r>
                <a14:m>
                  <m:oMath xmlns:m="http://schemas.openxmlformats.org/officeDocument/2006/math">
                    <m:r>
                      <a:rPr lang="en-US" altLang="zh-CN" b="1" i="1" smtClean="0">
                        <a:solidFill>
                          <a:schemeClr val="accent4">
                            <a:lumMod val="50000"/>
                          </a:schemeClr>
                        </a:solidFill>
                        <a:latin typeface="Cambria Math" panose="02040503050406030204" pitchFamily="18" charset="0"/>
                      </a:rPr>
                      <m:t>𝟐</m:t>
                    </m:r>
                  </m:oMath>
                </a14:m>
                <a:r>
                  <a:rPr lang="zh-CN" altLang="en-US" b="1">
                    <a:solidFill>
                      <a:schemeClr val="accent4">
                        <a:lumMod val="50000"/>
                      </a:schemeClr>
                    </a:solidFill>
                  </a:rPr>
                  <a:t>，和小于</a:t>
                </a:r>
                <a14:m>
                  <m:oMath xmlns:m="http://schemas.openxmlformats.org/officeDocument/2006/math">
                    <m:r>
                      <a:rPr lang="en-US" altLang="zh-CN" b="1" i="1" smtClean="0">
                        <a:solidFill>
                          <a:schemeClr val="accent4">
                            <a:lumMod val="50000"/>
                          </a:schemeClr>
                        </a:solidFill>
                        <a:latin typeface="Cambria Math" panose="02040503050406030204" pitchFamily="18" charset="0"/>
                      </a:rPr>
                      <m:t>𝟓</m:t>
                    </m:r>
                  </m:oMath>
                </a14:m>
                <a:endParaRPr lang="en-US" altLang="zh-CN" b="1">
                  <a:solidFill>
                    <a:schemeClr val="accent4">
                      <a:lumMod val="50000"/>
                    </a:schemeClr>
                  </a:solidFill>
                </a:endParaRPr>
              </a:p>
            </p:txBody>
          </p:sp>
        </mc:Choice>
        <mc:Fallback xmlns="">
          <p:sp>
            <p:nvSpPr>
              <p:cNvPr id="3" name="文本框 2">
                <a:extLst>
                  <a:ext uri="{FF2B5EF4-FFF2-40B4-BE49-F238E27FC236}">
                    <a16:creationId xmlns:a16="http://schemas.microsoft.com/office/drawing/2014/main" id="{2F771A5D-1819-4FD5-967F-5004963403C7}"/>
                  </a:ext>
                </a:extLst>
              </p:cNvPr>
              <p:cNvSpPr txBox="1">
                <a:spLocks noRot="1" noChangeAspect="1" noMove="1" noResize="1" noEditPoints="1" noAdjustHandles="1" noChangeArrowheads="1" noChangeShapeType="1" noTextEdit="1"/>
              </p:cNvSpPr>
              <p:nvPr/>
            </p:nvSpPr>
            <p:spPr>
              <a:xfrm>
                <a:off x="659980" y="4996693"/>
                <a:ext cx="5647513" cy="1153393"/>
              </a:xfrm>
              <a:prstGeom prst="rect">
                <a:avLst/>
              </a:prstGeom>
              <a:blipFill>
                <a:blip r:embed="rId2"/>
                <a:stretch>
                  <a:fillRect l="-863" t="-1587" b="-7937"/>
                </a:stretch>
              </a:blipFill>
            </p:spPr>
            <p:txBody>
              <a:bodyPr/>
              <a:lstStyle/>
              <a:p>
                <a:r>
                  <a:rPr lang="zh-CN" altLang="en-US">
                    <a:noFill/>
                  </a:rPr>
                  <a:t> </a:t>
                </a:r>
              </a:p>
            </p:txBody>
          </p:sp>
        </mc:Fallback>
      </mc:AlternateContent>
      <p:sp>
        <p:nvSpPr>
          <p:cNvPr id="4" name="文本框 3">
            <a:extLst>
              <a:ext uri="{FF2B5EF4-FFF2-40B4-BE49-F238E27FC236}">
                <a16:creationId xmlns:a16="http://schemas.microsoft.com/office/drawing/2014/main" id="{9B2DA324-058C-4F88-95D3-3547AEEE76E0}"/>
              </a:ext>
            </a:extLst>
          </p:cNvPr>
          <p:cNvSpPr txBox="1"/>
          <p:nvPr/>
        </p:nvSpPr>
        <p:spPr>
          <a:xfrm>
            <a:off x="6603309" y="4996693"/>
            <a:ext cx="4652749" cy="737510"/>
          </a:xfrm>
          <a:prstGeom prst="rect">
            <a:avLst/>
          </a:prstGeom>
          <a:solidFill>
            <a:schemeClr val="accent4">
              <a:lumMod val="20000"/>
              <a:lumOff val="80000"/>
            </a:schemeClr>
          </a:solidFill>
        </p:spPr>
        <p:txBody>
          <a:bodyPr wrap="square" rtlCol="0">
            <a:spAutoFit/>
          </a:bodyPr>
          <a:lstStyle/>
          <a:p>
            <a:pPr>
              <a:lnSpc>
                <a:spcPts val="2600"/>
              </a:lnSpc>
            </a:pPr>
            <a:r>
              <a:rPr lang="zh-CN" altLang="en-US" b="1">
                <a:solidFill>
                  <a:schemeClr val="accent2">
                    <a:lumMod val="50000"/>
                  </a:schemeClr>
                </a:solidFill>
              </a:rPr>
              <a:t>哈密顿图，任意顶点度数都大于等于</a:t>
            </a:r>
            <a:r>
              <a:rPr lang="en-US" altLang="zh-CN" b="1">
                <a:solidFill>
                  <a:schemeClr val="accent2">
                    <a:lumMod val="50000"/>
                  </a:schemeClr>
                </a:solidFill>
              </a:rPr>
              <a:t>3</a:t>
            </a:r>
            <a:r>
              <a:rPr lang="zh-CN" altLang="en-US" b="1">
                <a:solidFill>
                  <a:schemeClr val="accent2">
                    <a:lumMod val="50000"/>
                  </a:schemeClr>
                </a:solidFill>
              </a:rPr>
              <a:t>，因此任意两个顶点的度数之和都大于等于</a:t>
            </a:r>
            <a:r>
              <a:rPr lang="en-US" altLang="zh-CN" b="1">
                <a:solidFill>
                  <a:schemeClr val="accent2">
                    <a:lumMod val="50000"/>
                  </a:schemeClr>
                </a:solidFill>
              </a:rPr>
              <a:t>6</a:t>
            </a:r>
          </a:p>
        </p:txBody>
      </p:sp>
      <p:pic>
        <p:nvPicPr>
          <p:cNvPr id="6" name="图片 5">
            <a:extLst>
              <a:ext uri="{FF2B5EF4-FFF2-40B4-BE49-F238E27FC236}">
                <a16:creationId xmlns:a16="http://schemas.microsoft.com/office/drawing/2014/main" id="{89B45B49-76D5-48F7-AA69-125A96943703}"/>
              </a:ext>
            </a:extLst>
          </p:cNvPr>
          <p:cNvPicPr>
            <a:picLocks noChangeAspect="1"/>
          </p:cNvPicPr>
          <p:nvPr/>
        </p:nvPicPr>
        <p:blipFill>
          <a:blip r:embed="rId3"/>
          <a:stretch>
            <a:fillRect/>
          </a:stretch>
        </p:blipFill>
        <p:spPr>
          <a:xfrm>
            <a:off x="1140259" y="2030000"/>
            <a:ext cx="4594441" cy="2680677"/>
          </a:xfrm>
          <a:prstGeom prst="rect">
            <a:avLst/>
          </a:prstGeom>
          <a:solidFill>
            <a:srgbClr val="E5EFE5"/>
          </a:solidFill>
        </p:spPr>
      </p:pic>
      <p:pic>
        <p:nvPicPr>
          <p:cNvPr id="13" name="图片 12">
            <a:extLst>
              <a:ext uri="{FF2B5EF4-FFF2-40B4-BE49-F238E27FC236}">
                <a16:creationId xmlns:a16="http://schemas.microsoft.com/office/drawing/2014/main" id="{EE32B26F-DAFE-403C-BC3A-D462A1A98316}"/>
              </a:ext>
            </a:extLst>
          </p:cNvPr>
          <p:cNvPicPr>
            <a:picLocks noChangeAspect="1"/>
          </p:cNvPicPr>
          <p:nvPr/>
        </p:nvPicPr>
        <p:blipFill>
          <a:blip r:embed="rId4"/>
          <a:stretch>
            <a:fillRect/>
          </a:stretch>
        </p:blipFill>
        <p:spPr>
          <a:xfrm>
            <a:off x="6398992" y="2030000"/>
            <a:ext cx="4857066" cy="2647413"/>
          </a:xfrm>
          <a:prstGeom prst="rect">
            <a:avLst/>
          </a:prstGeom>
          <a:solidFill>
            <a:srgbClr val="E5EFE5"/>
          </a:solidFill>
        </p:spPr>
      </p:pic>
    </p:spTree>
    <p:extLst>
      <p:ext uri="{BB962C8B-B14F-4D97-AF65-F5344CB8AC3E}">
        <p14:creationId xmlns:p14="http://schemas.microsoft.com/office/powerpoint/2010/main" val="332536515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哈密顿图</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第三十一讲  一些特殊的图</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t>29</a:t>
            </a:fld>
            <a:r>
              <a:rPr lang="en-US" altLang="zh-CN" dirty="0">
                <a:latin typeface="Arial" panose="020B0604020202020204" pitchFamily="34" charset="0"/>
                <a:ea typeface="楷体" panose="02010609060101010101" pitchFamily="49" charset="-122"/>
                <a:cs typeface="Arial" panose="020B0604020202020204" pitchFamily="34" charset="0"/>
              </a:rPr>
              <a:t>/32</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哈密顿图的相关问题</a:t>
            </a:r>
          </a:p>
        </p:txBody>
      </p:sp>
      <p:sp>
        <p:nvSpPr>
          <p:cNvPr id="2" name="矩形 1">
            <a:extLst>
              <a:ext uri="{FF2B5EF4-FFF2-40B4-BE49-F238E27FC236}">
                <a16:creationId xmlns:a16="http://schemas.microsoft.com/office/drawing/2014/main" id="{83778223-0156-4328-A53D-C8AEF8707EF7}"/>
              </a:ext>
            </a:extLst>
          </p:cNvPr>
          <p:cNvSpPr/>
          <p:nvPr/>
        </p:nvSpPr>
        <p:spPr>
          <a:xfrm>
            <a:off x="1461682" y="3013824"/>
            <a:ext cx="9268634" cy="2554545"/>
          </a:xfrm>
          <a:prstGeom prst="rect">
            <a:avLst/>
          </a:prstGeom>
          <a:solidFill>
            <a:schemeClr val="accent5">
              <a:lumMod val="20000"/>
              <a:lumOff val="80000"/>
              <a:alpha val="50000"/>
            </a:schemeClr>
          </a:solidFill>
        </p:spPr>
        <p:txBody>
          <a:bodyPr wrap="square">
            <a:spAutoFit/>
          </a:bodyPr>
          <a:lstStyle/>
          <a:p>
            <a:pPr indent="-342900">
              <a:spcBef>
                <a:spcPts val="600"/>
              </a:spcBef>
              <a:spcAft>
                <a:spcPts val="1200"/>
              </a:spcAft>
              <a:buFont typeface="Arial" panose="020B0604020202020204" pitchFamily="34" charset="0"/>
              <a:buChar char="•"/>
            </a:pPr>
            <a:r>
              <a:rPr lang="zh-CN" altLang="en-US" sz="2000" b="1">
                <a:solidFill>
                  <a:srgbClr val="002060"/>
                </a:solidFill>
                <a:latin typeface="楷体" panose="02010609060101010101" pitchFamily="49" charset="-122"/>
                <a:ea typeface="楷体" panose="02010609060101010101" pitchFamily="49" charset="-122"/>
              </a:rPr>
              <a:t>哈密顿回路在生活以及一些研究中有十分重要的应用</a:t>
            </a:r>
          </a:p>
          <a:p>
            <a:pPr marL="800100" lvl="1" indent="-342900">
              <a:spcBef>
                <a:spcPts val="600"/>
              </a:spcBef>
              <a:spcAft>
                <a:spcPts val="1200"/>
              </a:spcAft>
              <a:buFont typeface="Arial" panose="020B0604020202020204" pitchFamily="34" charset="0"/>
              <a:buChar char="•"/>
            </a:pPr>
            <a:r>
              <a:rPr lang="zh-CN" altLang="en-US" sz="2000" b="1">
                <a:solidFill>
                  <a:schemeClr val="accent6">
                    <a:lumMod val="50000"/>
                  </a:schemeClr>
                </a:solidFill>
              </a:rPr>
              <a:t>其中旅行商问题与哈密顿回路的关系十分密切</a:t>
            </a:r>
          </a:p>
          <a:p>
            <a:pPr indent="-342900">
              <a:spcBef>
                <a:spcPts val="600"/>
              </a:spcBef>
              <a:spcAft>
                <a:spcPts val="1200"/>
              </a:spcAft>
              <a:buFont typeface="Arial" panose="020B0604020202020204" pitchFamily="34" charset="0"/>
              <a:buChar char="•"/>
            </a:pPr>
            <a:r>
              <a:rPr lang="zh-CN" altLang="en-US" sz="2000" b="1">
                <a:solidFill>
                  <a:srgbClr val="C00000"/>
                </a:solidFill>
                <a:latin typeface="+mn-ea"/>
              </a:rPr>
              <a:t>旅行商问题</a:t>
            </a:r>
            <a:r>
              <a:rPr lang="zh-CN" altLang="en-US" sz="2000" b="1">
                <a:solidFill>
                  <a:srgbClr val="002060"/>
                </a:solidFill>
                <a:latin typeface="楷体" panose="02010609060101010101" pitchFamily="49" charset="-122"/>
                <a:ea typeface="楷体" panose="02010609060101010101" pitchFamily="49" charset="-122"/>
              </a:rPr>
              <a:t>，简称</a:t>
            </a:r>
            <a:r>
              <a:rPr lang="zh-CN" altLang="en-US" sz="2000" b="1">
                <a:solidFill>
                  <a:srgbClr val="C00000"/>
                </a:solidFill>
                <a:latin typeface="+mn-ea"/>
              </a:rPr>
              <a:t>TSP问题</a:t>
            </a:r>
            <a:r>
              <a:rPr lang="zh-CN" altLang="en-US" sz="2000" b="1">
                <a:solidFill>
                  <a:srgbClr val="002060"/>
                </a:solidFill>
                <a:latin typeface="楷体" panose="02010609060101010101" pitchFamily="49" charset="-122"/>
                <a:ea typeface="楷体" panose="02010609060101010101" pitchFamily="49" charset="-122"/>
              </a:rPr>
              <a:t>，即在带权连通图中寻找经过所有顶点的最短通路</a:t>
            </a:r>
          </a:p>
          <a:p>
            <a:pPr marL="800100" lvl="1" indent="-342900">
              <a:spcBef>
                <a:spcPts val="600"/>
              </a:spcBef>
              <a:spcAft>
                <a:spcPts val="1200"/>
              </a:spcAft>
              <a:buFont typeface="Arial" panose="020B0604020202020204" pitchFamily="34" charset="0"/>
              <a:buChar char="•"/>
            </a:pPr>
            <a:r>
              <a:rPr lang="zh-CN" altLang="en-US" sz="2000" b="1">
                <a:solidFill>
                  <a:schemeClr val="accent6">
                    <a:lumMod val="50000"/>
                  </a:schemeClr>
                </a:solidFill>
              </a:rPr>
              <a:t>旅行商问题是一个典型的</a:t>
            </a:r>
            <a:r>
              <a:rPr lang="zh-CN" altLang="en-US" sz="2000" b="1">
                <a:solidFill>
                  <a:srgbClr val="C00000"/>
                </a:solidFill>
              </a:rPr>
              <a:t>NP问题</a:t>
            </a:r>
          </a:p>
          <a:p>
            <a:pPr marL="800100" lvl="1" indent="-342900">
              <a:spcBef>
                <a:spcPts val="600"/>
              </a:spcBef>
              <a:spcAft>
                <a:spcPts val="1200"/>
              </a:spcAft>
              <a:buFont typeface="Arial" panose="020B0604020202020204" pitchFamily="34" charset="0"/>
              <a:buChar char="•"/>
            </a:pPr>
            <a:r>
              <a:rPr lang="zh-CN" altLang="en-US" sz="2000" b="1">
                <a:solidFill>
                  <a:schemeClr val="accent6">
                    <a:lumMod val="50000"/>
                  </a:schemeClr>
                </a:solidFill>
              </a:rPr>
              <a:t>在计算机科学的可计算性理论及算法复杂性理论研究中有十分重要的地位</a:t>
            </a:r>
          </a:p>
        </p:txBody>
      </p:sp>
      <p:sp>
        <p:nvSpPr>
          <p:cNvPr id="3" name="文本框 2">
            <a:extLst>
              <a:ext uri="{FF2B5EF4-FFF2-40B4-BE49-F238E27FC236}">
                <a16:creationId xmlns:a16="http://schemas.microsoft.com/office/drawing/2014/main" id="{DA0AD9E6-DCD0-41E6-B0C0-75BE31F29DF1}"/>
              </a:ext>
            </a:extLst>
          </p:cNvPr>
          <p:cNvSpPr txBox="1"/>
          <p:nvPr/>
        </p:nvSpPr>
        <p:spPr>
          <a:xfrm>
            <a:off x="1461682" y="1540195"/>
            <a:ext cx="6927073" cy="938719"/>
          </a:xfrm>
          <a:prstGeom prst="rect">
            <a:avLst/>
          </a:prstGeom>
          <a:solidFill>
            <a:schemeClr val="accent4">
              <a:lumMod val="20000"/>
              <a:lumOff val="80000"/>
              <a:alpha val="50000"/>
            </a:schemeClr>
          </a:solidFill>
        </p:spPr>
        <p:txBody>
          <a:bodyPr wrap="square" rtlCol="0">
            <a:spAutoFit/>
          </a:bodyPr>
          <a:lstStyle/>
          <a:p>
            <a:pPr>
              <a:spcBef>
                <a:spcPts val="600"/>
              </a:spcBef>
              <a:spcAft>
                <a:spcPts val="1200"/>
              </a:spcAft>
            </a:pPr>
            <a:r>
              <a:rPr lang="zh-CN" altLang="en-US" sz="2000" b="1">
                <a:solidFill>
                  <a:srgbClr val="002060"/>
                </a:solidFill>
                <a:latin typeface="楷体" panose="02010609060101010101" pitchFamily="49" charset="-122"/>
                <a:ea typeface="楷体" panose="02010609060101010101" pitchFamily="49" charset="-122"/>
              </a:rPr>
              <a:t>目前还没有有效的算法，即时间复杂度为</a:t>
            </a:r>
            <a:r>
              <a:rPr lang="zh-CN" altLang="en-US" sz="2000" b="1">
                <a:solidFill>
                  <a:srgbClr val="0000FF"/>
                </a:solidFill>
                <a:latin typeface="楷体" panose="02010609060101010101" pitchFamily="49" charset="-122"/>
                <a:ea typeface="楷体" panose="02010609060101010101" pitchFamily="49" charset="-122"/>
              </a:rPr>
              <a:t>多项式</a:t>
            </a:r>
            <a:r>
              <a:rPr lang="zh-CN" altLang="en-US" sz="2000" b="1">
                <a:solidFill>
                  <a:srgbClr val="002060"/>
                </a:solidFill>
                <a:latin typeface="楷体" panose="02010609060101010101" pitchFamily="49" charset="-122"/>
                <a:ea typeface="楷体" panose="02010609060101010101" pitchFamily="49" charset="-122"/>
              </a:rPr>
              <a:t>的算法</a:t>
            </a:r>
          </a:p>
          <a:p>
            <a:pPr marL="342900" indent="-342900">
              <a:spcBef>
                <a:spcPts val="600"/>
              </a:spcBef>
              <a:spcAft>
                <a:spcPts val="1200"/>
              </a:spcAft>
              <a:buFont typeface="Arial" panose="020B0604020202020204" pitchFamily="34" charset="0"/>
              <a:buChar char="•"/>
            </a:pPr>
            <a:r>
              <a:rPr lang="zh-CN" altLang="en-US" sz="2000" b="1">
                <a:solidFill>
                  <a:schemeClr val="accent6">
                    <a:lumMod val="50000"/>
                  </a:schemeClr>
                </a:solidFill>
              </a:rPr>
              <a:t>判断一个图是否是哈密顿图或给出一个图的哈密顿回路</a:t>
            </a:r>
          </a:p>
        </p:txBody>
      </p:sp>
    </p:spTree>
    <p:extLst>
      <p:ext uri="{BB962C8B-B14F-4D97-AF65-F5344CB8AC3E}">
        <p14:creationId xmlns:p14="http://schemas.microsoft.com/office/powerpoint/2010/main" val="30749457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平面图</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第三十一讲  一些特殊的图</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30</a:t>
            </a:fld>
            <a:r>
              <a:rPr lang="en-US" altLang="zh-CN" dirty="0">
                <a:latin typeface="Arial" panose="020B0604020202020204" pitchFamily="34" charset="0"/>
                <a:ea typeface="楷体" panose="02010609060101010101" pitchFamily="49" charset="-122"/>
                <a:cs typeface="Arial" panose="020B0604020202020204" pitchFamily="34" charset="0"/>
              </a:rPr>
              <a:t>/32</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欧拉图和哈密顿图练习</a:t>
            </a:r>
          </a:p>
        </p:txBody>
      </p:sp>
      <p:pic>
        <p:nvPicPr>
          <p:cNvPr id="6" name="图片 5">
            <a:extLst>
              <a:ext uri="{FF2B5EF4-FFF2-40B4-BE49-F238E27FC236}">
                <a16:creationId xmlns:a16="http://schemas.microsoft.com/office/drawing/2014/main" id="{5AFA9AA3-9D0C-4F38-9250-3577C1B14E24}"/>
              </a:ext>
            </a:extLst>
          </p:cNvPr>
          <p:cNvPicPr>
            <a:picLocks noChangeAspect="1"/>
          </p:cNvPicPr>
          <p:nvPr/>
        </p:nvPicPr>
        <p:blipFill>
          <a:blip r:embed="rId2"/>
          <a:stretch>
            <a:fillRect/>
          </a:stretch>
        </p:blipFill>
        <p:spPr>
          <a:xfrm>
            <a:off x="1153739" y="1457191"/>
            <a:ext cx="8371809" cy="927858"/>
          </a:xfrm>
          <a:prstGeom prst="rect">
            <a:avLst/>
          </a:prstGeom>
        </p:spPr>
      </p:pic>
      <p:pic>
        <p:nvPicPr>
          <p:cNvPr id="11" name="图片 10">
            <a:extLst>
              <a:ext uri="{FF2B5EF4-FFF2-40B4-BE49-F238E27FC236}">
                <a16:creationId xmlns:a16="http://schemas.microsoft.com/office/drawing/2014/main" id="{5E391114-F738-46E7-B5B8-770131FF4E44}"/>
              </a:ext>
            </a:extLst>
          </p:cNvPr>
          <p:cNvPicPr>
            <a:picLocks noChangeAspect="1"/>
          </p:cNvPicPr>
          <p:nvPr/>
        </p:nvPicPr>
        <p:blipFill>
          <a:blip r:embed="rId3"/>
          <a:stretch>
            <a:fillRect/>
          </a:stretch>
        </p:blipFill>
        <p:spPr>
          <a:xfrm>
            <a:off x="1153739" y="2694560"/>
            <a:ext cx="8542848" cy="931947"/>
          </a:xfrm>
          <a:prstGeom prst="rect">
            <a:avLst/>
          </a:prstGeom>
        </p:spPr>
      </p:pic>
      <p:pic>
        <p:nvPicPr>
          <p:cNvPr id="12" name="图片 11">
            <a:extLst>
              <a:ext uri="{FF2B5EF4-FFF2-40B4-BE49-F238E27FC236}">
                <a16:creationId xmlns:a16="http://schemas.microsoft.com/office/drawing/2014/main" id="{6EDD1006-8F34-45B5-B9E6-45B72042AA91}"/>
              </a:ext>
            </a:extLst>
          </p:cNvPr>
          <p:cNvPicPr>
            <a:picLocks noChangeAspect="1"/>
          </p:cNvPicPr>
          <p:nvPr/>
        </p:nvPicPr>
        <p:blipFill>
          <a:blip r:embed="rId4"/>
          <a:stretch>
            <a:fillRect/>
          </a:stretch>
        </p:blipFill>
        <p:spPr>
          <a:xfrm>
            <a:off x="1153739" y="3922931"/>
            <a:ext cx="7798473" cy="2047875"/>
          </a:xfrm>
          <a:prstGeom prst="rect">
            <a:avLst/>
          </a:prstGeom>
        </p:spPr>
      </p:pic>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78E7D080-7CDF-46EB-B93D-49F0FC2041E1}"/>
                  </a:ext>
                </a:extLst>
              </p:cNvPr>
              <p:cNvSpPr txBox="1"/>
              <p:nvPr/>
            </p:nvSpPr>
            <p:spPr>
              <a:xfrm>
                <a:off x="8275649" y="1773615"/>
                <a:ext cx="2986601" cy="923330"/>
              </a:xfrm>
              <a:prstGeom prst="rect">
                <a:avLst/>
              </a:prstGeom>
              <a:solidFill>
                <a:schemeClr val="accent4">
                  <a:lumMod val="20000"/>
                  <a:lumOff val="80000"/>
                </a:schemeClr>
              </a:solidFill>
            </p:spPr>
            <p:txBody>
              <a:bodyPr wrap="square" rtlCol="0">
                <a:spAutoFit/>
              </a:bodyPr>
              <a:lstStyle/>
              <a:p>
                <a14:m>
                  <m:oMath xmlns:m="http://schemas.openxmlformats.org/officeDocument/2006/math">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𝑲</m:t>
                        </m:r>
                      </m:e>
                      <m:sub>
                        <m:r>
                          <a:rPr lang="en-US" altLang="zh-CN" b="1" i="1" smtClean="0">
                            <a:solidFill>
                              <a:schemeClr val="accent2">
                                <a:lumMod val="50000"/>
                              </a:schemeClr>
                            </a:solidFill>
                            <a:latin typeface="Cambria Math" panose="02040503050406030204" pitchFamily="18" charset="0"/>
                          </a:rPr>
                          <m:t>𝟔</m:t>
                        </m:r>
                      </m:sub>
                    </m:sSub>
                  </m:oMath>
                </a14:m>
                <a:r>
                  <a:rPr lang="zh-CN" altLang="en-US" b="1">
                    <a:solidFill>
                      <a:schemeClr val="accent2">
                        <a:lumMod val="50000"/>
                      </a:schemeClr>
                    </a:solidFill>
                  </a:rPr>
                  <a:t>的每个顶点度数为</a:t>
                </a:r>
                <a14:m>
                  <m:oMath xmlns:m="http://schemas.openxmlformats.org/officeDocument/2006/math">
                    <m:r>
                      <a:rPr lang="en-US" altLang="zh-CN" b="1" i="1" smtClean="0">
                        <a:solidFill>
                          <a:schemeClr val="accent2">
                            <a:lumMod val="50000"/>
                          </a:schemeClr>
                        </a:solidFill>
                        <a:latin typeface="Cambria Math" panose="02040503050406030204" pitchFamily="18" charset="0"/>
                      </a:rPr>
                      <m:t>𝟓</m:t>
                    </m:r>
                  </m:oMath>
                </a14:m>
                <a:r>
                  <a:rPr lang="zh-CN" altLang="en-US" b="1">
                    <a:solidFill>
                      <a:schemeClr val="accent2">
                        <a:lumMod val="50000"/>
                      </a:schemeClr>
                    </a:solidFill>
                  </a:rPr>
                  <a:t>，</a:t>
                </a:r>
                <a14:m>
                  <m:oMath xmlns:m="http://schemas.openxmlformats.org/officeDocument/2006/math">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𝑾</m:t>
                        </m:r>
                      </m:e>
                      <m:sub>
                        <m:r>
                          <a:rPr lang="en-US" altLang="zh-CN" b="1" i="1" smtClean="0">
                            <a:solidFill>
                              <a:schemeClr val="accent2">
                                <a:lumMod val="50000"/>
                              </a:schemeClr>
                            </a:solidFill>
                            <a:latin typeface="Cambria Math" panose="02040503050406030204" pitchFamily="18" charset="0"/>
                          </a:rPr>
                          <m:t>𝟔</m:t>
                        </m:r>
                      </m:sub>
                    </m:sSub>
                  </m:oMath>
                </a14:m>
                <a:r>
                  <a:rPr lang="zh-CN" altLang="en-US" b="1">
                    <a:solidFill>
                      <a:schemeClr val="accent2">
                        <a:lumMod val="50000"/>
                      </a:schemeClr>
                    </a:solidFill>
                  </a:rPr>
                  <a:t>的除中间顶点的度数为</a:t>
                </a:r>
                <a14:m>
                  <m:oMath xmlns:m="http://schemas.openxmlformats.org/officeDocument/2006/math">
                    <m:r>
                      <a:rPr lang="en-US" altLang="zh-CN" b="1" i="1" smtClean="0">
                        <a:solidFill>
                          <a:schemeClr val="accent2">
                            <a:lumMod val="50000"/>
                          </a:schemeClr>
                        </a:solidFill>
                        <a:latin typeface="Cambria Math" panose="02040503050406030204" pitchFamily="18" charset="0"/>
                      </a:rPr>
                      <m:t>𝟔</m:t>
                    </m:r>
                  </m:oMath>
                </a14:m>
                <a:r>
                  <a:rPr lang="zh-CN" altLang="en-US" b="1">
                    <a:solidFill>
                      <a:schemeClr val="accent2">
                        <a:lumMod val="50000"/>
                      </a:schemeClr>
                    </a:solidFill>
                  </a:rPr>
                  <a:t>外，其他顶点的度数都是</a:t>
                </a:r>
                <a14:m>
                  <m:oMath xmlns:m="http://schemas.openxmlformats.org/officeDocument/2006/math">
                    <m:r>
                      <a:rPr lang="en-US" altLang="zh-CN" b="1" i="1" smtClean="0">
                        <a:solidFill>
                          <a:schemeClr val="accent2">
                            <a:lumMod val="50000"/>
                          </a:schemeClr>
                        </a:solidFill>
                        <a:latin typeface="Cambria Math" panose="02040503050406030204" pitchFamily="18" charset="0"/>
                      </a:rPr>
                      <m:t>𝟑</m:t>
                    </m:r>
                  </m:oMath>
                </a14:m>
                <a:endParaRPr lang="zh-CN" altLang="en-US" b="1">
                  <a:solidFill>
                    <a:schemeClr val="accent2">
                      <a:lumMod val="50000"/>
                    </a:schemeClr>
                  </a:solidFill>
                </a:endParaRPr>
              </a:p>
            </p:txBody>
          </p:sp>
        </mc:Choice>
        <mc:Fallback xmlns="">
          <p:sp>
            <p:nvSpPr>
              <p:cNvPr id="13" name="文本框 12">
                <a:extLst>
                  <a:ext uri="{FF2B5EF4-FFF2-40B4-BE49-F238E27FC236}">
                    <a16:creationId xmlns:a16="http://schemas.microsoft.com/office/drawing/2014/main" id="{78E7D080-7CDF-46EB-B93D-49F0FC2041E1}"/>
                  </a:ext>
                </a:extLst>
              </p:cNvPr>
              <p:cNvSpPr txBox="1">
                <a:spLocks noRot="1" noChangeAspect="1" noMove="1" noResize="1" noEditPoints="1" noAdjustHandles="1" noChangeArrowheads="1" noChangeShapeType="1" noTextEdit="1"/>
              </p:cNvSpPr>
              <p:nvPr/>
            </p:nvSpPr>
            <p:spPr>
              <a:xfrm>
                <a:off x="8275649" y="1773615"/>
                <a:ext cx="2986601" cy="923330"/>
              </a:xfrm>
              <a:prstGeom prst="rect">
                <a:avLst/>
              </a:prstGeom>
              <a:blipFill>
                <a:blip r:embed="rId5"/>
                <a:stretch>
                  <a:fillRect l="-1840" t="-3974" b="-9934"/>
                </a:stretch>
              </a:blipFill>
            </p:spPr>
            <p:txBody>
              <a:bodyPr/>
              <a:lstStyle/>
              <a:p>
                <a:r>
                  <a:rPr lang="zh-CN" altLang="en-US">
                    <a:noFill/>
                  </a:rPr>
                  <a:t> </a:t>
                </a:r>
              </a:p>
            </p:txBody>
          </p:sp>
        </mc:Fallback>
      </mc:AlternateContent>
      <p:sp>
        <p:nvSpPr>
          <p:cNvPr id="14" name="矩形 13">
            <a:extLst>
              <a:ext uri="{FF2B5EF4-FFF2-40B4-BE49-F238E27FC236}">
                <a16:creationId xmlns:a16="http://schemas.microsoft.com/office/drawing/2014/main" id="{AA8906FF-052C-49F6-86B4-D09614465B9E}"/>
              </a:ext>
            </a:extLst>
          </p:cNvPr>
          <p:cNvSpPr/>
          <p:nvPr/>
        </p:nvSpPr>
        <p:spPr>
          <a:xfrm>
            <a:off x="2828681" y="2197535"/>
            <a:ext cx="310983" cy="276999"/>
          </a:xfrm>
          <a:prstGeom prst="rect">
            <a:avLst/>
          </a:prstGeom>
        </p:spPr>
        <p:txBody>
          <a:bodyPr wrap="none" lIns="0" tIns="0" rIns="0" bIns="0">
            <a:spAutoFit/>
          </a:bodyPr>
          <a:lstStyle/>
          <a:p>
            <a:r>
              <a:rPr lang="zh-CN" altLang="en-US" b="1">
                <a:solidFill>
                  <a:srgbClr val="C00000"/>
                </a:solidFill>
              </a:rPr>
              <a:t>✔</a:t>
            </a:r>
            <a:endParaRPr lang="zh-CN" altLang="en-US">
              <a:solidFill>
                <a:srgbClr val="C00000"/>
              </a:solidFill>
            </a:endParaRPr>
          </a:p>
        </p:txBody>
      </p:sp>
      <p:sp>
        <p:nvSpPr>
          <p:cNvPr id="20" name="矩形 19">
            <a:extLst>
              <a:ext uri="{FF2B5EF4-FFF2-40B4-BE49-F238E27FC236}">
                <a16:creationId xmlns:a16="http://schemas.microsoft.com/office/drawing/2014/main" id="{D8578A95-51A3-4707-BE85-37C50057D8D1}"/>
              </a:ext>
            </a:extLst>
          </p:cNvPr>
          <p:cNvSpPr/>
          <p:nvPr/>
        </p:nvSpPr>
        <p:spPr>
          <a:xfrm>
            <a:off x="5785016" y="2169049"/>
            <a:ext cx="310983" cy="276999"/>
          </a:xfrm>
          <a:prstGeom prst="rect">
            <a:avLst/>
          </a:prstGeom>
        </p:spPr>
        <p:txBody>
          <a:bodyPr wrap="none" lIns="0" tIns="0" rIns="0" bIns="0">
            <a:spAutoFit/>
          </a:bodyPr>
          <a:lstStyle/>
          <a:p>
            <a:r>
              <a:rPr lang="zh-CN" altLang="en-US" b="1">
                <a:solidFill>
                  <a:srgbClr val="C00000"/>
                </a:solidFill>
              </a:rPr>
              <a:t>✔</a:t>
            </a:r>
            <a:endParaRPr lang="zh-CN" altLang="en-US">
              <a:solidFill>
                <a:srgbClr val="C00000"/>
              </a:solidFill>
            </a:endParaRPr>
          </a:p>
        </p:txBody>
      </p:sp>
      <p:sp>
        <p:nvSpPr>
          <p:cNvPr id="21" name="矩形 20">
            <a:extLst>
              <a:ext uri="{FF2B5EF4-FFF2-40B4-BE49-F238E27FC236}">
                <a16:creationId xmlns:a16="http://schemas.microsoft.com/office/drawing/2014/main" id="{B1BFA9E6-6165-4360-B791-AA64DEFD1578}"/>
              </a:ext>
            </a:extLst>
          </p:cNvPr>
          <p:cNvSpPr/>
          <p:nvPr/>
        </p:nvSpPr>
        <p:spPr>
          <a:xfrm>
            <a:off x="1153739" y="3417946"/>
            <a:ext cx="310983" cy="276999"/>
          </a:xfrm>
          <a:prstGeom prst="rect">
            <a:avLst/>
          </a:prstGeom>
        </p:spPr>
        <p:txBody>
          <a:bodyPr wrap="none" lIns="0" tIns="0" rIns="0" bIns="0">
            <a:spAutoFit/>
          </a:bodyPr>
          <a:lstStyle/>
          <a:p>
            <a:r>
              <a:rPr lang="zh-CN" altLang="en-US" b="1">
                <a:solidFill>
                  <a:srgbClr val="C00000"/>
                </a:solidFill>
              </a:rPr>
              <a:t>✔</a:t>
            </a:r>
            <a:endParaRPr lang="zh-CN" altLang="en-US">
              <a:solidFill>
                <a:srgbClr val="C00000"/>
              </a:solidFill>
            </a:endParaRPr>
          </a:p>
        </p:txBody>
      </p:sp>
      <p:sp>
        <p:nvSpPr>
          <p:cNvPr id="22" name="矩形 21">
            <a:extLst>
              <a:ext uri="{FF2B5EF4-FFF2-40B4-BE49-F238E27FC236}">
                <a16:creationId xmlns:a16="http://schemas.microsoft.com/office/drawing/2014/main" id="{FCC27575-56A9-4D9D-B731-EEDAF500F679}"/>
              </a:ext>
            </a:extLst>
          </p:cNvPr>
          <p:cNvSpPr/>
          <p:nvPr/>
        </p:nvSpPr>
        <p:spPr>
          <a:xfrm>
            <a:off x="2828681" y="3429000"/>
            <a:ext cx="310983" cy="276999"/>
          </a:xfrm>
          <a:prstGeom prst="rect">
            <a:avLst/>
          </a:prstGeom>
        </p:spPr>
        <p:txBody>
          <a:bodyPr wrap="none" lIns="0" tIns="0" rIns="0" bIns="0">
            <a:spAutoFit/>
          </a:bodyPr>
          <a:lstStyle/>
          <a:p>
            <a:r>
              <a:rPr lang="zh-CN" altLang="en-US" b="1">
                <a:solidFill>
                  <a:srgbClr val="C00000"/>
                </a:solidFill>
              </a:rPr>
              <a:t>✔</a:t>
            </a:r>
            <a:endParaRPr lang="zh-CN" altLang="en-US">
              <a:solidFill>
                <a:srgbClr val="C00000"/>
              </a:solidFill>
            </a:endParaRPr>
          </a:p>
        </p:txBody>
      </p:sp>
      <p:sp>
        <p:nvSpPr>
          <p:cNvPr id="23" name="矩形 22">
            <a:extLst>
              <a:ext uri="{FF2B5EF4-FFF2-40B4-BE49-F238E27FC236}">
                <a16:creationId xmlns:a16="http://schemas.microsoft.com/office/drawing/2014/main" id="{058BB0E6-2136-4FD5-B95C-AB7CF4D282A0}"/>
              </a:ext>
            </a:extLst>
          </p:cNvPr>
          <p:cNvSpPr/>
          <p:nvPr/>
        </p:nvSpPr>
        <p:spPr>
          <a:xfrm>
            <a:off x="4321819" y="3393440"/>
            <a:ext cx="310983" cy="276999"/>
          </a:xfrm>
          <a:prstGeom prst="rect">
            <a:avLst/>
          </a:prstGeom>
        </p:spPr>
        <p:txBody>
          <a:bodyPr wrap="none" lIns="0" tIns="0" rIns="0" bIns="0">
            <a:spAutoFit/>
          </a:bodyPr>
          <a:lstStyle/>
          <a:p>
            <a:r>
              <a:rPr lang="zh-CN" altLang="en-US" b="1">
                <a:solidFill>
                  <a:srgbClr val="C00000"/>
                </a:solidFill>
              </a:rPr>
              <a:t>✔</a:t>
            </a:r>
            <a:endParaRPr lang="zh-CN" altLang="en-US">
              <a:solidFill>
                <a:srgbClr val="C00000"/>
              </a:solidFill>
            </a:endParaRPr>
          </a:p>
        </p:txBody>
      </p:sp>
      <p:sp>
        <p:nvSpPr>
          <p:cNvPr id="24" name="矩形 23">
            <a:extLst>
              <a:ext uri="{FF2B5EF4-FFF2-40B4-BE49-F238E27FC236}">
                <a16:creationId xmlns:a16="http://schemas.microsoft.com/office/drawing/2014/main" id="{2000E7DD-8863-49BE-9D7F-5083A754864F}"/>
              </a:ext>
            </a:extLst>
          </p:cNvPr>
          <p:cNvSpPr/>
          <p:nvPr/>
        </p:nvSpPr>
        <p:spPr>
          <a:xfrm>
            <a:off x="5841269" y="3393383"/>
            <a:ext cx="310983" cy="276999"/>
          </a:xfrm>
          <a:prstGeom prst="rect">
            <a:avLst/>
          </a:prstGeom>
        </p:spPr>
        <p:txBody>
          <a:bodyPr wrap="none" lIns="0" tIns="0" rIns="0" bIns="0">
            <a:spAutoFit/>
          </a:bodyPr>
          <a:lstStyle/>
          <a:p>
            <a:r>
              <a:rPr lang="zh-CN" altLang="en-US" b="1">
                <a:solidFill>
                  <a:srgbClr val="C00000"/>
                </a:solidFill>
              </a:rPr>
              <a:t>✔</a:t>
            </a:r>
            <a:endParaRPr lang="zh-CN" altLang="en-US">
              <a:solidFill>
                <a:srgbClr val="C00000"/>
              </a:solidFill>
            </a:endParaRPr>
          </a:p>
        </p:txBody>
      </p:sp>
      <p:sp>
        <p:nvSpPr>
          <p:cNvPr id="25" name="矩形 24">
            <a:extLst>
              <a:ext uri="{FF2B5EF4-FFF2-40B4-BE49-F238E27FC236}">
                <a16:creationId xmlns:a16="http://schemas.microsoft.com/office/drawing/2014/main" id="{D8835127-5AFC-4ACA-9C8C-02C38014F685}"/>
              </a:ext>
            </a:extLst>
          </p:cNvPr>
          <p:cNvSpPr/>
          <p:nvPr/>
        </p:nvSpPr>
        <p:spPr>
          <a:xfrm>
            <a:off x="1197523" y="5123810"/>
            <a:ext cx="310983" cy="276999"/>
          </a:xfrm>
          <a:prstGeom prst="rect">
            <a:avLst/>
          </a:prstGeom>
        </p:spPr>
        <p:txBody>
          <a:bodyPr wrap="none" lIns="0" tIns="0" rIns="0" bIns="0">
            <a:spAutoFit/>
          </a:bodyPr>
          <a:lstStyle/>
          <a:p>
            <a:r>
              <a:rPr lang="zh-CN" altLang="en-US" b="1">
                <a:solidFill>
                  <a:srgbClr val="C00000"/>
                </a:solidFill>
              </a:rPr>
              <a:t>✔</a:t>
            </a:r>
            <a:endParaRPr lang="zh-CN" altLang="en-US">
              <a:solidFill>
                <a:srgbClr val="C00000"/>
              </a:solidFill>
            </a:endParaRPr>
          </a:p>
        </p:txBody>
      </p:sp>
      <mc:AlternateContent xmlns:mc="http://schemas.openxmlformats.org/markup-compatibility/2006" xmlns:a14="http://schemas.microsoft.com/office/drawing/2010/main">
        <mc:Choice Requires="a14">
          <p:sp>
            <p:nvSpPr>
              <p:cNvPr id="26" name="矩形 25">
                <a:extLst>
                  <a:ext uri="{FF2B5EF4-FFF2-40B4-BE49-F238E27FC236}">
                    <a16:creationId xmlns:a16="http://schemas.microsoft.com/office/drawing/2014/main" id="{E88D674F-1496-4321-A968-EB98F5495410}"/>
                  </a:ext>
                </a:extLst>
              </p:cNvPr>
              <p:cNvSpPr/>
              <p:nvPr/>
            </p:nvSpPr>
            <p:spPr>
              <a:xfrm>
                <a:off x="9003381" y="4172134"/>
                <a:ext cx="2664260" cy="1754326"/>
              </a:xfrm>
              <a:prstGeom prst="rect">
                <a:avLst/>
              </a:prstGeom>
              <a:solidFill>
                <a:schemeClr val="accent4">
                  <a:lumMod val="20000"/>
                  <a:lumOff val="80000"/>
                </a:schemeClr>
              </a:solidFill>
            </p:spPr>
            <p:txBody>
              <a:bodyPr wrap="square">
                <a:spAutoFit/>
              </a:bodyPr>
              <a:lstStyle/>
              <a:p>
                <a:r>
                  <a:rPr lang="en-US" altLang="zh-CN" b="1">
                    <a:solidFill>
                      <a:schemeClr val="accent2">
                        <a:lumMod val="50000"/>
                      </a:schemeClr>
                    </a:solidFill>
                  </a:rPr>
                  <a:t>A</a:t>
                </a:r>
                <a:r>
                  <a:rPr lang="zh-CN" altLang="en-US" b="1">
                    <a:solidFill>
                      <a:schemeClr val="accent2">
                        <a:lumMod val="50000"/>
                      </a:schemeClr>
                    </a:solidFill>
                  </a:rPr>
                  <a:t>不成立，因为还需要是连通图；</a:t>
                </a:r>
                <a:r>
                  <a:rPr lang="en-US" altLang="zh-CN" b="1">
                    <a:solidFill>
                      <a:schemeClr val="accent2">
                        <a:lumMod val="50000"/>
                      </a:schemeClr>
                    </a:solidFill>
                  </a:rPr>
                  <a:t>C</a:t>
                </a:r>
                <a:r>
                  <a:rPr lang="zh-CN" altLang="en-US" b="1">
                    <a:solidFill>
                      <a:schemeClr val="accent2">
                        <a:lumMod val="50000"/>
                      </a:schemeClr>
                    </a:solidFill>
                  </a:rPr>
                  <a:t>不成立，因为还需要是简单图；</a:t>
                </a:r>
                <a:r>
                  <a:rPr lang="en-US" altLang="zh-CN" b="1">
                    <a:solidFill>
                      <a:schemeClr val="accent2">
                        <a:lumMod val="50000"/>
                      </a:schemeClr>
                    </a:solidFill>
                  </a:rPr>
                  <a:t>D</a:t>
                </a:r>
                <a:r>
                  <a:rPr lang="zh-CN" altLang="en-US" b="1">
                    <a:solidFill>
                      <a:schemeClr val="accent2">
                        <a:lumMod val="50000"/>
                      </a:schemeClr>
                    </a:solidFill>
                  </a:rPr>
                  <a:t>不成立，因为任意两个顶点度数之和大于等于</a:t>
                </a:r>
                <a14:m>
                  <m:oMath xmlns:m="http://schemas.openxmlformats.org/officeDocument/2006/math">
                    <m:r>
                      <a:rPr lang="en-US" altLang="zh-CN" b="1" i="1" smtClean="0">
                        <a:solidFill>
                          <a:schemeClr val="accent2">
                            <a:lumMod val="50000"/>
                          </a:schemeClr>
                        </a:solidFill>
                        <a:latin typeface="Cambria Math" panose="02040503050406030204" pitchFamily="18" charset="0"/>
                      </a:rPr>
                      <m:t>𝒏</m:t>
                    </m:r>
                  </m:oMath>
                </a14:m>
                <a:r>
                  <a:rPr lang="zh-CN" altLang="en-US" b="1">
                    <a:solidFill>
                      <a:schemeClr val="accent2">
                        <a:lumMod val="50000"/>
                      </a:schemeClr>
                    </a:solidFill>
                  </a:rPr>
                  <a:t>是充分而非必要条件。</a:t>
                </a:r>
              </a:p>
            </p:txBody>
          </p:sp>
        </mc:Choice>
        <mc:Fallback xmlns="">
          <p:sp>
            <p:nvSpPr>
              <p:cNvPr id="26" name="矩形 25">
                <a:extLst>
                  <a:ext uri="{FF2B5EF4-FFF2-40B4-BE49-F238E27FC236}">
                    <a16:creationId xmlns:a16="http://schemas.microsoft.com/office/drawing/2014/main" id="{E88D674F-1496-4321-A968-EB98F5495410}"/>
                  </a:ext>
                </a:extLst>
              </p:cNvPr>
              <p:cNvSpPr>
                <a:spLocks noRot="1" noChangeAspect="1" noMove="1" noResize="1" noEditPoints="1" noAdjustHandles="1" noChangeArrowheads="1" noChangeShapeType="1" noTextEdit="1"/>
              </p:cNvSpPr>
              <p:nvPr/>
            </p:nvSpPr>
            <p:spPr>
              <a:xfrm>
                <a:off x="9003381" y="4172134"/>
                <a:ext cx="2664260" cy="1754326"/>
              </a:xfrm>
              <a:prstGeom prst="rect">
                <a:avLst/>
              </a:prstGeom>
              <a:blipFill>
                <a:blip r:embed="rId6"/>
                <a:stretch>
                  <a:fillRect l="-2059" t="-1736" r="-1373" b="-451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2749344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barn(inVertical)">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500"/>
                                        <p:tgtEl>
                                          <p:spTgt spid="20"/>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21"/>
                                        </p:tgtEl>
                                        <p:attrNameLst>
                                          <p:attrName>style.visibility</p:attrName>
                                        </p:attrNameLst>
                                      </p:cBhvr>
                                      <p:to>
                                        <p:strVal val="visible"/>
                                      </p:to>
                                    </p:set>
                                    <p:animEffect transition="in" filter="fade">
                                      <p:cBhvr>
                                        <p:cTn id="20" dur="500"/>
                                        <p:tgtEl>
                                          <p:spTgt spid="21"/>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2"/>
                                        </p:tgtEl>
                                        <p:attrNameLst>
                                          <p:attrName>style.visibility</p:attrName>
                                        </p:attrNameLst>
                                      </p:cBhvr>
                                      <p:to>
                                        <p:strVal val="visible"/>
                                      </p:to>
                                    </p:set>
                                    <p:animEffect transition="in" filter="fade">
                                      <p:cBhvr>
                                        <p:cTn id="23" dur="500"/>
                                        <p:tgtEl>
                                          <p:spTgt spid="22"/>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3"/>
                                        </p:tgtEl>
                                        <p:attrNameLst>
                                          <p:attrName>style.visibility</p:attrName>
                                        </p:attrNameLst>
                                      </p:cBhvr>
                                      <p:to>
                                        <p:strVal val="visible"/>
                                      </p:to>
                                    </p:set>
                                    <p:animEffect transition="in" filter="fade">
                                      <p:cBhvr>
                                        <p:cTn id="26" dur="500"/>
                                        <p:tgtEl>
                                          <p:spTgt spid="23"/>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4"/>
                                        </p:tgtEl>
                                        <p:attrNameLst>
                                          <p:attrName>style.visibility</p:attrName>
                                        </p:attrNameLst>
                                      </p:cBhvr>
                                      <p:to>
                                        <p:strVal val="visible"/>
                                      </p:to>
                                    </p:set>
                                    <p:animEffect transition="in" filter="fade">
                                      <p:cBhvr>
                                        <p:cTn id="29" dur="500"/>
                                        <p:tgtEl>
                                          <p:spTgt spid="24"/>
                                        </p:tgtEl>
                                      </p:cBhvr>
                                    </p:animEffect>
                                  </p:childTnLst>
                                </p:cTn>
                              </p:par>
                            </p:childTnLst>
                          </p:cTn>
                        </p:par>
                      </p:childTnLst>
                    </p:cTn>
                  </p:par>
                  <p:par>
                    <p:cTn id="30" fill="hold">
                      <p:stCondLst>
                        <p:cond delay="indefinite"/>
                      </p:stCondLst>
                      <p:childTnLst>
                        <p:par>
                          <p:cTn id="31" fill="hold">
                            <p:stCondLst>
                              <p:cond delay="0"/>
                            </p:stCondLst>
                            <p:childTnLst>
                              <p:par>
                                <p:cTn id="32" presetID="16" presetClass="entr" presetSubtype="21" fill="hold" grpId="0" nodeType="clickEffect">
                                  <p:stCondLst>
                                    <p:cond delay="0"/>
                                  </p:stCondLst>
                                  <p:childTnLst>
                                    <p:set>
                                      <p:cBhvr>
                                        <p:cTn id="33" dur="1" fill="hold">
                                          <p:stCondLst>
                                            <p:cond delay="0"/>
                                          </p:stCondLst>
                                        </p:cTn>
                                        <p:tgtEl>
                                          <p:spTgt spid="26"/>
                                        </p:tgtEl>
                                        <p:attrNameLst>
                                          <p:attrName>style.visibility</p:attrName>
                                        </p:attrNameLst>
                                      </p:cBhvr>
                                      <p:to>
                                        <p:strVal val="visible"/>
                                      </p:to>
                                    </p:set>
                                    <p:animEffect transition="in" filter="barn(inVertical)">
                                      <p:cBhvr>
                                        <p:cTn id="34" dur="500"/>
                                        <p:tgtEl>
                                          <p:spTgt spid="26"/>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25"/>
                                        </p:tgtEl>
                                        <p:attrNameLst>
                                          <p:attrName>style.visibility</p:attrName>
                                        </p:attrNameLst>
                                      </p:cBhvr>
                                      <p:to>
                                        <p:strVal val="visible"/>
                                      </p:to>
                                    </p:set>
                                    <p:animEffect transition="in" filter="fade">
                                      <p:cBhvr>
                                        <p:cTn id="39"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p:bldP spid="20" grpId="0"/>
      <p:bldP spid="21" grpId="0"/>
      <p:bldP spid="22" grpId="0"/>
      <p:bldP spid="23" grpId="0"/>
      <p:bldP spid="24" grpId="0"/>
      <p:bldP spid="25" grpId="0"/>
      <p:bldP spid="26"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总结</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第三十一讲  一些特殊的图</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31</a:t>
            </a:fld>
            <a:r>
              <a:rPr lang="en-US" altLang="zh-CN" dirty="0">
                <a:latin typeface="Arial" panose="020B0604020202020204" pitchFamily="34" charset="0"/>
                <a:ea typeface="楷体" panose="02010609060101010101" pitchFamily="49" charset="-122"/>
                <a:cs typeface="Arial" panose="020B0604020202020204" pitchFamily="34" charset="0"/>
              </a:rPr>
              <a:t>/32</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总结</a:t>
            </a:r>
          </a:p>
        </p:txBody>
      </p:sp>
      <p:sp>
        <p:nvSpPr>
          <p:cNvPr id="2" name="文本框 1">
            <a:extLst>
              <a:ext uri="{FF2B5EF4-FFF2-40B4-BE49-F238E27FC236}">
                <a16:creationId xmlns:a16="http://schemas.microsoft.com/office/drawing/2014/main" id="{EF550948-0A88-4D14-B7D1-47069CABE5F1}"/>
              </a:ext>
            </a:extLst>
          </p:cNvPr>
          <p:cNvSpPr txBox="1"/>
          <p:nvPr/>
        </p:nvSpPr>
        <p:spPr>
          <a:xfrm>
            <a:off x="2319462" y="1103964"/>
            <a:ext cx="7553069" cy="1708160"/>
          </a:xfrm>
          <a:prstGeom prst="rect">
            <a:avLst/>
          </a:prstGeom>
          <a:solidFill>
            <a:schemeClr val="accent5">
              <a:lumMod val="20000"/>
              <a:lumOff val="80000"/>
              <a:alpha val="50000"/>
            </a:schemeClr>
          </a:solidFill>
        </p:spPr>
        <p:txBody>
          <a:bodyPr wrap="square" rtlCol="0">
            <a:spAutoFit/>
          </a:bodyPr>
          <a:lstStyle/>
          <a:p>
            <a:pPr algn="ctr">
              <a:spcBef>
                <a:spcPts val="600"/>
              </a:spcBef>
              <a:spcAft>
                <a:spcPts val="600"/>
              </a:spcAft>
            </a:pPr>
            <a:r>
              <a:rPr lang="zh-CN" altLang="en-US" sz="2000" b="1">
                <a:solidFill>
                  <a:srgbClr val="002060"/>
                </a:solidFill>
              </a:rPr>
              <a:t>平面图、欧拉图和哈密顿图</a:t>
            </a:r>
          </a:p>
          <a:p>
            <a:pPr marL="342900" indent="-342900">
              <a:spcBef>
                <a:spcPts val="600"/>
              </a:spcBef>
              <a:spcAft>
                <a:spcPts val="300"/>
              </a:spcAft>
              <a:buFont typeface="Arial" panose="020B0604020202020204" pitchFamily="34" charset="0"/>
              <a:buChar char="•"/>
            </a:pPr>
            <a:r>
              <a:rPr lang="zh-CN" altLang="en-US" sz="2000" b="1">
                <a:solidFill>
                  <a:schemeClr val="accent6">
                    <a:lumMod val="50000"/>
                  </a:schemeClr>
                </a:solidFill>
                <a:latin typeface="楷体" panose="02010609060101010101" pitchFamily="49" charset="-122"/>
                <a:ea typeface="楷体" panose="02010609060101010101" pitchFamily="49" charset="-122"/>
              </a:rPr>
              <a:t>平面图的面、面的度数及其握手定理、欧拉公式、极大平面图</a:t>
            </a:r>
            <a:endParaRPr lang="en-US" altLang="zh-CN" sz="2000" b="1">
              <a:solidFill>
                <a:schemeClr val="accent6">
                  <a:lumMod val="50000"/>
                </a:schemeClr>
              </a:solidFill>
              <a:latin typeface="楷体" panose="02010609060101010101" pitchFamily="49" charset="-122"/>
              <a:ea typeface="楷体" panose="02010609060101010101" pitchFamily="49" charset="-122"/>
            </a:endParaRPr>
          </a:p>
          <a:p>
            <a:pPr marL="342900" indent="-342900">
              <a:spcBef>
                <a:spcPts val="600"/>
              </a:spcBef>
              <a:spcAft>
                <a:spcPts val="300"/>
              </a:spcAft>
              <a:buFont typeface="Arial" panose="020B0604020202020204" pitchFamily="34" charset="0"/>
              <a:buChar char="•"/>
            </a:pPr>
            <a:r>
              <a:rPr lang="zh-CN" altLang="en-US" sz="2000" b="1">
                <a:solidFill>
                  <a:schemeClr val="accent6">
                    <a:lumMod val="50000"/>
                  </a:schemeClr>
                </a:solidFill>
                <a:latin typeface="楷体" panose="02010609060101010101" pitchFamily="49" charset="-122"/>
                <a:ea typeface="楷体" panose="02010609060101010101" pitchFamily="49" charset="-122"/>
              </a:rPr>
              <a:t>欧拉图及一个图是欧拉图充分必要条件</a:t>
            </a:r>
            <a:endParaRPr lang="en-US" altLang="zh-CN" sz="2000" b="1">
              <a:solidFill>
                <a:schemeClr val="accent6">
                  <a:lumMod val="50000"/>
                </a:schemeClr>
              </a:solidFill>
              <a:latin typeface="楷体" panose="02010609060101010101" pitchFamily="49" charset="-122"/>
              <a:ea typeface="楷体" panose="02010609060101010101" pitchFamily="49" charset="-122"/>
            </a:endParaRPr>
          </a:p>
          <a:p>
            <a:pPr marL="342900" indent="-342900">
              <a:spcBef>
                <a:spcPts val="600"/>
              </a:spcBef>
              <a:spcAft>
                <a:spcPts val="300"/>
              </a:spcAft>
              <a:buFont typeface="Arial" panose="020B0604020202020204" pitchFamily="34" charset="0"/>
              <a:buChar char="•"/>
            </a:pPr>
            <a:r>
              <a:rPr lang="zh-CN" altLang="en-US" sz="2000" b="1">
                <a:solidFill>
                  <a:schemeClr val="accent6">
                    <a:lumMod val="50000"/>
                  </a:schemeClr>
                </a:solidFill>
                <a:latin typeface="楷体" panose="02010609060101010101" pitchFamily="49" charset="-122"/>
                <a:ea typeface="楷体" panose="02010609060101010101" pitchFamily="49" charset="-122"/>
              </a:rPr>
              <a:t>哈密顿图及一个图是哈密顿图的充分条件</a:t>
            </a:r>
          </a:p>
        </p:txBody>
      </p:sp>
      <p:sp>
        <p:nvSpPr>
          <p:cNvPr id="4" name="文本框 3">
            <a:extLst>
              <a:ext uri="{FF2B5EF4-FFF2-40B4-BE49-F238E27FC236}">
                <a16:creationId xmlns:a16="http://schemas.microsoft.com/office/drawing/2014/main" id="{79046192-3E11-4E79-BCD3-91093B8CC99E}"/>
              </a:ext>
            </a:extLst>
          </p:cNvPr>
          <p:cNvSpPr txBox="1"/>
          <p:nvPr/>
        </p:nvSpPr>
        <p:spPr>
          <a:xfrm>
            <a:off x="1511426" y="3086280"/>
            <a:ext cx="9169139" cy="2977738"/>
          </a:xfrm>
          <a:prstGeom prst="rect">
            <a:avLst/>
          </a:prstGeom>
          <a:solidFill>
            <a:schemeClr val="accent2">
              <a:lumMod val="20000"/>
              <a:lumOff val="80000"/>
            </a:schemeClr>
          </a:solidFill>
        </p:spPr>
        <p:txBody>
          <a:bodyPr wrap="square" rtlCol="0">
            <a:spAutoFit/>
          </a:bodyPr>
          <a:lstStyle/>
          <a:p>
            <a:pPr algn="ctr">
              <a:spcAft>
                <a:spcPts val="600"/>
              </a:spcAft>
            </a:pPr>
            <a:r>
              <a:rPr lang="zh-CN" altLang="en-US" sz="2000" b="1" dirty="0">
                <a:solidFill>
                  <a:srgbClr val="C00000"/>
                </a:solidFill>
              </a:rPr>
              <a:t>学习这一部分的目标</a:t>
            </a:r>
          </a:p>
          <a:p>
            <a:pPr marL="342900" indent="-342900">
              <a:spcBef>
                <a:spcPts val="600"/>
              </a:spcBef>
              <a:spcAft>
                <a:spcPts val="300"/>
              </a:spcAft>
              <a:buFont typeface="Arial" panose="020B0604020202020204" pitchFamily="34" charset="0"/>
              <a:buChar char="•"/>
            </a:pPr>
            <a:r>
              <a:rPr lang="zh-CN" altLang="en-US" sz="2000" b="1" dirty="0">
                <a:solidFill>
                  <a:schemeClr val="accent2">
                    <a:lumMod val="50000"/>
                  </a:schemeClr>
                </a:solidFill>
                <a:latin typeface="楷体" panose="02010609060101010101" pitchFamily="49" charset="-122"/>
                <a:ea typeface="楷体" panose="02010609060101010101" pitchFamily="49" charset="-122"/>
              </a:rPr>
              <a:t>判断一个图是否是平面图，能给出一个平面图的面和面的度数</a:t>
            </a:r>
          </a:p>
          <a:p>
            <a:pPr marL="800100" lvl="1" indent="-342900">
              <a:spcBef>
                <a:spcPts val="600"/>
              </a:spcBef>
              <a:spcAft>
                <a:spcPts val="300"/>
              </a:spcAft>
              <a:buFont typeface="Arial" panose="020B0604020202020204" pitchFamily="34" charset="0"/>
              <a:buChar char="•"/>
            </a:pPr>
            <a:r>
              <a:rPr lang="zh-CN" altLang="en-US" sz="2000" b="1" dirty="0">
                <a:solidFill>
                  <a:schemeClr val="accent4">
                    <a:lumMod val="50000"/>
                  </a:schemeClr>
                </a:solidFill>
                <a:latin typeface="等线" panose="02010600030101010101" pitchFamily="2" charset="-122"/>
                <a:ea typeface="等线" panose="02010600030101010101" pitchFamily="2" charset="-122"/>
              </a:rPr>
              <a:t>使用欧拉公式、握手定理等证明平面图的简单性质</a:t>
            </a:r>
          </a:p>
          <a:p>
            <a:pPr marL="342900" indent="-342900">
              <a:spcBef>
                <a:spcPts val="600"/>
              </a:spcBef>
              <a:spcAft>
                <a:spcPts val="300"/>
              </a:spcAft>
              <a:buFont typeface="Arial" panose="020B0604020202020204" pitchFamily="34" charset="0"/>
              <a:buChar char="•"/>
            </a:pPr>
            <a:r>
              <a:rPr lang="zh-CN" altLang="en-US" sz="2000" b="1" dirty="0">
                <a:solidFill>
                  <a:schemeClr val="accent2">
                    <a:lumMod val="50000"/>
                  </a:schemeClr>
                </a:solidFill>
                <a:latin typeface="楷体" panose="02010609060101010101" pitchFamily="49" charset="-122"/>
                <a:ea typeface="楷体" panose="02010609060101010101" pitchFamily="49" charset="-122"/>
              </a:rPr>
              <a:t>能判断一个图是否是欧拉图、半欧拉图</a:t>
            </a:r>
          </a:p>
          <a:p>
            <a:pPr marL="800100" lvl="1" indent="-342900">
              <a:spcBef>
                <a:spcPts val="600"/>
              </a:spcBef>
              <a:spcAft>
                <a:spcPts val="300"/>
              </a:spcAft>
              <a:buFont typeface="Arial" panose="020B0604020202020204" pitchFamily="34" charset="0"/>
              <a:buChar char="•"/>
            </a:pPr>
            <a:r>
              <a:rPr lang="zh-CN" altLang="en-US" sz="2000" b="1" dirty="0">
                <a:solidFill>
                  <a:schemeClr val="accent4">
                    <a:lumMod val="50000"/>
                  </a:schemeClr>
                </a:solidFill>
                <a:latin typeface="等线" panose="02010600030101010101" pitchFamily="2" charset="-122"/>
                <a:ea typeface="等线" panose="02010600030101010101" pitchFamily="2" charset="-122"/>
              </a:rPr>
              <a:t>如果是欧拉图或半欧拉图，能给出图的一个欧拉回路或欧拉道路</a:t>
            </a:r>
          </a:p>
          <a:p>
            <a:pPr marL="342900" indent="-342900">
              <a:spcBef>
                <a:spcPts val="600"/>
              </a:spcBef>
              <a:spcAft>
                <a:spcPts val="300"/>
              </a:spcAft>
              <a:buFont typeface="Arial" panose="020B0604020202020204" pitchFamily="34" charset="0"/>
              <a:buChar char="•"/>
            </a:pPr>
            <a:r>
              <a:rPr lang="zh-CN" altLang="en-US" sz="2000" b="1" dirty="0">
                <a:solidFill>
                  <a:schemeClr val="accent2">
                    <a:lumMod val="50000"/>
                  </a:schemeClr>
                </a:solidFill>
                <a:latin typeface="楷体" panose="02010609060101010101" pitchFamily="49" charset="-122"/>
                <a:ea typeface="楷体" panose="02010609060101010101" pitchFamily="49" charset="-122"/>
              </a:rPr>
              <a:t>能判断一个图是否是哈密顿图、半哈密顿图（了解概念即可）</a:t>
            </a:r>
          </a:p>
          <a:p>
            <a:pPr marL="800100" lvl="1" indent="-342900">
              <a:spcBef>
                <a:spcPts val="600"/>
              </a:spcBef>
              <a:spcAft>
                <a:spcPts val="300"/>
              </a:spcAft>
              <a:buFont typeface="Arial" panose="020B0604020202020204" pitchFamily="34" charset="0"/>
              <a:buChar char="•"/>
            </a:pPr>
            <a:r>
              <a:rPr lang="zh-CN" altLang="en-US" sz="2000" b="1" dirty="0">
                <a:solidFill>
                  <a:schemeClr val="accent4">
                    <a:lumMod val="50000"/>
                  </a:schemeClr>
                </a:solidFill>
                <a:latin typeface="等线" panose="02010600030101010101" pitchFamily="2" charset="-122"/>
                <a:ea typeface="等线" panose="02010600030101010101" pitchFamily="2" charset="-122"/>
              </a:rPr>
              <a:t>如果是哈密顿图或半哈密顿图，能给出图的一个哈密顿回路或哈密顿道路</a:t>
            </a:r>
          </a:p>
        </p:txBody>
      </p:sp>
    </p:spTree>
    <p:extLst>
      <p:ext uri="{BB962C8B-B14F-4D97-AF65-F5344CB8AC3E}">
        <p14:creationId xmlns:p14="http://schemas.microsoft.com/office/powerpoint/2010/main" val="37531340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作业</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第三十一讲  一些特殊的图</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511C6389-7226-43B9-9250-70FB7F990DBF}" type="slidenum">
              <a:rPr lang="en-US" altLang="zh-CN" smtClean="0">
                <a:latin typeface="Arial" panose="020B0604020202020204" pitchFamily="34" charset="0"/>
                <a:ea typeface="楷体" panose="02010609060101010101" pitchFamily="49" charset="-122"/>
                <a:cs typeface="Arial" panose="020B0604020202020204" pitchFamily="34" charset="0"/>
              </a:rPr>
              <a:t>32</a:t>
            </a:fld>
            <a:r>
              <a:rPr lang="en-US" altLang="zh-CN" dirty="0">
                <a:latin typeface="Arial" panose="020B0604020202020204" pitchFamily="34" charset="0"/>
                <a:ea typeface="楷体" panose="02010609060101010101" pitchFamily="49" charset="-122"/>
                <a:cs typeface="Arial" panose="020B0604020202020204" pitchFamily="34" charset="0"/>
              </a:rPr>
              <a:t>/32</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作业</a:t>
            </a:r>
          </a:p>
        </p:txBody>
      </p:sp>
      <p:sp>
        <p:nvSpPr>
          <p:cNvPr id="2" name="文本框 1">
            <a:extLst>
              <a:ext uri="{FF2B5EF4-FFF2-40B4-BE49-F238E27FC236}">
                <a16:creationId xmlns:a16="http://schemas.microsoft.com/office/drawing/2014/main" id="{89EF1AFF-D150-4D24-BB32-695DDFCBCE6E}"/>
              </a:ext>
            </a:extLst>
          </p:cNvPr>
          <p:cNvSpPr txBox="1"/>
          <p:nvPr/>
        </p:nvSpPr>
        <p:spPr>
          <a:xfrm>
            <a:off x="1108064" y="3136612"/>
            <a:ext cx="7758463" cy="584775"/>
          </a:xfrm>
          <a:prstGeom prst="rect">
            <a:avLst/>
          </a:prstGeom>
          <a:solidFill>
            <a:schemeClr val="accent4">
              <a:lumMod val="20000"/>
              <a:lumOff val="80000"/>
            </a:schemeClr>
          </a:solidFill>
        </p:spPr>
        <p:txBody>
          <a:bodyPr wrap="square" rtlCol="0">
            <a:spAutoFit/>
          </a:bodyPr>
          <a:lstStyle/>
          <a:p>
            <a:r>
              <a:rPr lang="zh-CN" altLang="en-US" sz="3200" b="1">
                <a:solidFill>
                  <a:srgbClr val="C00000"/>
                </a:solidFill>
                <a:latin typeface="Arial" panose="020B0604020202020204" pitchFamily="34" charset="0"/>
                <a:ea typeface="楷体" panose="02010609060101010101" pitchFamily="49" charset="-122"/>
                <a:cs typeface="Arial" panose="020B0604020202020204" pitchFamily="34" charset="0"/>
              </a:rPr>
              <a:t>教材练习</a:t>
            </a:r>
            <a:r>
              <a:rPr lang="en-US" altLang="zh-CN" sz="3200" b="1">
                <a:solidFill>
                  <a:srgbClr val="C00000"/>
                </a:solidFill>
                <a:latin typeface="Arial" panose="020B0604020202020204" pitchFamily="34" charset="0"/>
                <a:ea typeface="楷体" panose="02010609060101010101" pitchFamily="49" charset="-122"/>
                <a:cs typeface="Arial" panose="020B0604020202020204" pitchFamily="34" charset="0"/>
              </a:rPr>
              <a:t>9.48</a:t>
            </a:r>
            <a:r>
              <a:rPr lang="zh-CN" altLang="en-US" sz="3200" b="1">
                <a:solidFill>
                  <a:srgbClr val="C00000"/>
                </a:solidFill>
                <a:latin typeface="Arial" panose="020B0604020202020204" pitchFamily="34" charset="0"/>
                <a:ea typeface="楷体" panose="02010609060101010101" pitchFamily="49" charset="-122"/>
                <a:cs typeface="Arial" panose="020B0604020202020204" pitchFamily="34" charset="0"/>
              </a:rPr>
              <a:t>、练习</a:t>
            </a:r>
            <a:r>
              <a:rPr lang="en-US" altLang="zh-CN" sz="3200" b="1">
                <a:solidFill>
                  <a:srgbClr val="C00000"/>
                </a:solidFill>
                <a:latin typeface="Arial" panose="020B0604020202020204" pitchFamily="34" charset="0"/>
                <a:ea typeface="楷体" panose="02010609060101010101" pitchFamily="49" charset="-122"/>
                <a:cs typeface="Arial" panose="020B0604020202020204" pitchFamily="34" charset="0"/>
              </a:rPr>
              <a:t>9.51</a:t>
            </a:r>
            <a:r>
              <a:rPr lang="zh-CN" altLang="en-US" sz="3200" b="1">
                <a:solidFill>
                  <a:srgbClr val="C00000"/>
                </a:solidFill>
                <a:latin typeface="Arial" panose="020B0604020202020204" pitchFamily="34" charset="0"/>
                <a:ea typeface="楷体" panose="02010609060101010101" pitchFamily="49" charset="-122"/>
                <a:cs typeface="Arial" panose="020B0604020202020204" pitchFamily="34" charset="0"/>
              </a:rPr>
              <a:t>和练习</a:t>
            </a:r>
            <a:r>
              <a:rPr lang="en-US" altLang="zh-CN" sz="3200" b="1">
                <a:solidFill>
                  <a:srgbClr val="C00000"/>
                </a:solidFill>
                <a:latin typeface="Arial" panose="020B0604020202020204" pitchFamily="34" charset="0"/>
                <a:ea typeface="楷体" panose="02010609060101010101" pitchFamily="49" charset="-122"/>
                <a:cs typeface="Arial" panose="020B0604020202020204" pitchFamily="34" charset="0"/>
              </a:rPr>
              <a:t>9.53</a:t>
            </a:r>
            <a:endParaRPr lang="zh-CN" altLang="en-US" sz="3200" b="1" dirty="0">
              <a:solidFill>
                <a:srgbClr val="C00000"/>
              </a:solidFill>
              <a:latin typeface="Arial" panose="020B0604020202020204" pitchFamily="34" charset="0"/>
              <a:ea typeface="楷体" panose="02010609060101010101" pitchFamily="49" charset="-122"/>
              <a:cs typeface="Arial" panose="020B0604020202020204" pitchFamily="34" charset="0"/>
            </a:endParaRPr>
          </a:p>
        </p:txBody>
      </p:sp>
    </p:spTree>
    <p:extLst>
      <p:ext uri="{BB962C8B-B14F-4D97-AF65-F5344CB8AC3E}">
        <p14:creationId xmlns:p14="http://schemas.microsoft.com/office/powerpoint/2010/main" val="11865644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第三十一讲  一些特殊的图</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a:t>
            </a: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a:p>
        </p:txBody>
      </p:sp>
      <p:sp>
        <p:nvSpPr>
          <p:cNvPr id="2" name="文本框 1">
            <a:extLst>
              <a:ext uri="{FF2B5EF4-FFF2-40B4-BE49-F238E27FC236}">
                <a16:creationId xmlns:a16="http://schemas.microsoft.com/office/drawing/2014/main" id="{F3778FC1-0A49-4C7B-8763-0ABD47A13328}"/>
              </a:ext>
            </a:extLst>
          </p:cNvPr>
          <p:cNvSpPr txBox="1"/>
          <p:nvPr/>
        </p:nvSpPr>
        <p:spPr>
          <a:xfrm>
            <a:off x="1921252" y="2001283"/>
            <a:ext cx="8571678" cy="2383794"/>
          </a:xfrm>
          <a:prstGeom prst="rect">
            <a:avLst/>
          </a:prstGeom>
          <a:noFill/>
        </p:spPr>
        <p:txBody>
          <a:bodyPr wrap="square" rtlCol="0">
            <a:spAutoFit/>
          </a:bodyPr>
          <a:lstStyle/>
          <a:p>
            <a:pPr algn="ctr">
              <a:lnSpc>
                <a:spcPct val="200000"/>
              </a:lnSpc>
            </a:pPr>
            <a:r>
              <a:rPr lang="zh-CN" altLang="en-US" sz="4000">
                <a:solidFill>
                  <a:srgbClr val="C00000"/>
                </a:solidFill>
                <a:latin typeface="华文新魏" panose="02010800040101010101" pitchFamily="2" charset="-122"/>
                <a:ea typeface="华文新魏" panose="02010800040101010101" pitchFamily="2" charset="-122"/>
              </a:rPr>
              <a:t>谢谢大家！</a:t>
            </a:r>
            <a:endParaRPr lang="en-US" altLang="zh-CN" sz="4000">
              <a:solidFill>
                <a:srgbClr val="C00000"/>
              </a:solidFill>
              <a:latin typeface="华文新魏" panose="02010800040101010101" pitchFamily="2" charset="-122"/>
              <a:ea typeface="华文新魏" panose="02010800040101010101" pitchFamily="2" charset="-122"/>
            </a:endParaRPr>
          </a:p>
          <a:p>
            <a:pPr algn="ctr">
              <a:lnSpc>
                <a:spcPct val="200000"/>
              </a:lnSpc>
            </a:pPr>
            <a:r>
              <a:rPr lang="zh-CN" altLang="en-US" sz="4000">
                <a:solidFill>
                  <a:srgbClr val="C00000"/>
                </a:solidFill>
                <a:latin typeface="华文新魏" panose="02010800040101010101" pitchFamily="2" charset="-122"/>
                <a:ea typeface="华文新魏" panose="02010800040101010101" pitchFamily="2" charset="-122"/>
              </a:rPr>
              <a:t>有什么问题和建议请及时反馈给老师！</a:t>
            </a:r>
          </a:p>
        </p:txBody>
      </p:sp>
    </p:spTree>
    <p:extLst>
      <p:ext uri="{BB962C8B-B14F-4D97-AF65-F5344CB8AC3E}">
        <p14:creationId xmlns:p14="http://schemas.microsoft.com/office/powerpoint/2010/main" val="3807570176"/>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1610</TotalTime>
  <Words>3260</Words>
  <Application>Microsoft Office PowerPoint</Application>
  <PresentationFormat>宽屏</PresentationFormat>
  <Paragraphs>370</Paragraphs>
  <Slides>33</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33</vt:i4>
      </vt:variant>
    </vt:vector>
  </HeadingPairs>
  <TitlesOfParts>
    <vt:vector size="41" baseType="lpstr">
      <vt:lpstr>等线</vt:lpstr>
      <vt:lpstr>等线 Light</vt:lpstr>
      <vt:lpstr>仿宋</vt:lpstr>
      <vt:lpstr>华文新魏</vt:lpstr>
      <vt:lpstr>楷体</vt:lpstr>
      <vt:lpstr>Arial</vt:lpstr>
      <vt:lpstr>Cambria Math</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user</dc:creator>
  <cp:lastModifiedBy>380514873@qq.com</cp:lastModifiedBy>
  <cp:revision>82</cp:revision>
  <dcterms:created xsi:type="dcterms:W3CDTF">2022-01-01T06:39:40Z</dcterms:created>
  <dcterms:modified xsi:type="dcterms:W3CDTF">2024-12-25T14:52:52Z</dcterms:modified>
</cp:coreProperties>
</file>