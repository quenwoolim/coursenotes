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6083" r:id="rId3"/>
    <p:sldId id="257" r:id="rId4"/>
    <p:sldId id="258" r:id="rId5"/>
    <p:sldId id="267" r:id="rId6"/>
    <p:sldId id="259" r:id="rId7"/>
    <p:sldId id="261" r:id="rId8"/>
    <p:sldId id="6084" r:id="rId9"/>
    <p:sldId id="260" r:id="rId10"/>
    <p:sldId id="6079" r:id="rId11"/>
    <p:sldId id="6080" r:id="rId12"/>
    <p:sldId id="6081" r:id="rId13"/>
    <p:sldId id="6082" r:id="rId14"/>
    <p:sldId id="6085" r:id="rId15"/>
    <p:sldId id="264" r:id="rId16"/>
    <p:sldId id="265" r:id="rId17"/>
    <p:sldId id="266" r:id="rId18"/>
    <p:sldId id="263" r:id="rId19"/>
    <p:sldId id="6086" r:id="rId20"/>
    <p:sldId id="262" r:id="rId2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6" d="100"/>
          <a:sy n="156" d="100"/>
        </p:scale>
        <p:origin x="444" y="80"/>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61EE24-F0DF-4D94-8479-BC371ED2C632}" type="datetimeFigureOut">
              <a:rPr lang="zh-CN" altLang="en-US" smtClean="0"/>
              <a:t>2024/9/9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68B9A2-C81C-4F72-9C0A-FA65850EDE34}" type="slidenum">
              <a:rPr lang="zh-CN" altLang="en-US" smtClean="0"/>
              <a:t>‹#›</a:t>
            </a:fld>
            <a:endParaRPr lang="zh-CN" altLang="en-US"/>
          </a:p>
        </p:txBody>
      </p:sp>
    </p:spTree>
    <p:extLst>
      <p:ext uri="{BB962C8B-B14F-4D97-AF65-F5344CB8AC3E}">
        <p14:creationId xmlns:p14="http://schemas.microsoft.com/office/powerpoint/2010/main" val="3350925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2024/9/9</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http://i.chaoxing.com/"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826740" y="1185233"/>
            <a:ext cx="8538519"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dirty="0">
                <a:latin typeface="仿宋" panose="02010609060101010101" pitchFamily="49" charset="-122"/>
                <a:ea typeface="仿宋" panose="02010609060101010101" pitchFamily="49" charset="-122"/>
              </a:rPr>
              <a:t>第一讲</a:t>
            </a:r>
            <a:r>
              <a:rPr lang="en-US" altLang="zh-CN" sz="4800" b="1" dirty="0">
                <a:latin typeface="仿宋" panose="02010609060101010101" pitchFamily="49" charset="-122"/>
                <a:ea typeface="仿宋" panose="02010609060101010101" pitchFamily="49" charset="-122"/>
              </a:rPr>
              <a:t>	</a:t>
            </a:r>
            <a:r>
              <a:rPr lang="zh-CN" altLang="en-US" sz="4800" b="1" dirty="0">
                <a:latin typeface="仿宋" panose="02010609060101010101" pitchFamily="49" charset="-122"/>
                <a:ea typeface="仿宋" panose="02010609060101010101" pitchFamily="49" charset="-122"/>
              </a:rPr>
              <a:t>课程简介</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4144403" y="3600682"/>
            <a:ext cx="4341755" cy="584775"/>
          </a:xfrm>
          <a:prstGeom prst="rect">
            <a:avLst/>
          </a:prstGeom>
          <a:noFill/>
        </p:spPr>
        <p:txBody>
          <a:bodyPr wrap="square" rtlCol="0">
            <a:spAutoFit/>
          </a:bodyPr>
          <a:lstStyle/>
          <a:p>
            <a:pPr algn="ctr"/>
            <a:r>
              <a:rPr lang="zh-CN" altLang="en-US" sz="3200" b="1" dirty="0">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9</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8" name="图片 17">
            <a:extLst>
              <a:ext uri="{FF2B5EF4-FFF2-40B4-BE49-F238E27FC236}">
                <a16:creationId xmlns:a16="http://schemas.microsoft.com/office/drawing/2014/main" id="{4A828246-949C-405C-A5D1-C3F1FB398B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2"/>
            <a:ext cx="6096000" cy="32234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5"/>
            <a:ext cx="6096000" cy="322343"/>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1" y="6523301"/>
            <a:ext cx="4053017" cy="32234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302"/>
            <a:ext cx="4085968" cy="322343"/>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302"/>
            <a:ext cx="4053016" cy="322343"/>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002769C7-0A4A-4025-BCF3-623A6AED0D05}"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3" y="1448010"/>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课程教学内容与教材</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课程教学目标与理念</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课程教学资源与考核</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76DD8A71-C2E1-44EE-B65A-03DF5D8D03C3}"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离散数学与离散数学基础课程</a:t>
            </a:r>
          </a:p>
        </p:txBody>
      </p:sp>
      <p:sp>
        <p:nvSpPr>
          <p:cNvPr id="2" name="矩形: 圆角 1">
            <a:extLst>
              <a:ext uri="{FF2B5EF4-FFF2-40B4-BE49-F238E27FC236}">
                <a16:creationId xmlns:a16="http://schemas.microsoft.com/office/drawing/2014/main" id="{80C4F851-D062-4837-B59C-B529B8DC7DE6}"/>
              </a:ext>
            </a:extLst>
          </p:cNvPr>
          <p:cNvSpPr/>
          <p:nvPr/>
        </p:nvSpPr>
        <p:spPr>
          <a:xfrm>
            <a:off x="556824" y="1250985"/>
            <a:ext cx="306225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2">
                    <a:lumMod val="50000"/>
                  </a:schemeClr>
                </a:solidFill>
              </a:rPr>
              <a:t>什么是离散数学？</a:t>
            </a:r>
          </a:p>
        </p:txBody>
      </p:sp>
      <p:sp>
        <p:nvSpPr>
          <p:cNvPr id="4" name="文本框 3">
            <a:extLst>
              <a:ext uri="{FF2B5EF4-FFF2-40B4-BE49-F238E27FC236}">
                <a16:creationId xmlns:a16="http://schemas.microsoft.com/office/drawing/2014/main" id="{6D02DE61-DBA0-4F84-B4ED-D7FA9318CB1B}"/>
              </a:ext>
            </a:extLst>
          </p:cNvPr>
          <p:cNvSpPr txBox="1"/>
          <p:nvPr/>
        </p:nvSpPr>
        <p:spPr>
          <a:xfrm>
            <a:off x="556824" y="2196014"/>
            <a:ext cx="6485814" cy="3831818"/>
          </a:xfrm>
          <a:prstGeom prst="rect">
            <a:avLst/>
          </a:prstGeom>
          <a:solidFill>
            <a:schemeClr val="accent5">
              <a:lumMod val="20000"/>
              <a:lumOff val="80000"/>
            </a:schemeClr>
          </a:solidFill>
        </p:spPr>
        <p:txBody>
          <a:bodyPr wrap="square" rtlCol="0">
            <a:spAutoFit/>
          </a:bodyPr>
          <a:lstStyle/>
          <a:p>
            <a:pPr>
              <a:lnSpc>
                <a:spcPts val="3200"/>
              </a:lnSpc>
              <a:spcBef>
                <a:spcPts val="600"/>
              </a:spcBef>
              <a:spcAft>
                <a:spcPts val="600"/>
              </a:spcAft>
            </a:pPr>
            <a:r>
              <a:rPr lang="zh-CN" altLang="en-US" sz="2400" b="1" dirty="0">
                <a:solidFill>
                  <a:srgbClr val="210694"/>
                </a:solidFill>
                <a:latin typeface="Arial" panose="020B0604020202020204" pitchFamily="34" charset="0"/>
                <a:ea typeface="楷体" panose="02010609060101010101" pitchFamily="49" charset="-122"/>
                <a:cs typeface="Arial" panose="020B0604020202020204" pitchFamily="34" charset="0"/>
              </a:rPr>
              <a:t>离散数学</a:t>
            </a:r>
            <a:r>
              <a:rPr lang="en-US" altLang="zh-CN" sz="2400" b="1" dirty="0">
                <a:solidFill>
                  <a:srgbClr val="210694"/>
                </a:solidFill>
                <a:latin typeface="Arial" panose="020B0604020202020204" pitchFamily="34" charset="0"/>
                <a:ea typeface="楷体" panose="02010609060101010101" pitchFamily="49" charset="-122"/>
                <a:cs typeface="Arial" panose="020B0604020202020204" pitchFamily="34" charset="0"/>
              </a:rPr>
              <a:t>(Discrete mathematics)</a:t>
            </a:r>
            <a:r>
              <a:rPr lang="zh-CN" altLang="en-US" sz="2400" b="1" dirty="0">
                <a:solidFill>
                  <a:srgbClr val="210694"/>
                </a:solidFill>
                <a:latin typeface="Arial" panose="020B0604020202020204" pitchFamily="34" charset="0"/>
                <a:ea typeface="楷体" panose="02010609060101010101" pitchFamily="49" charset="-122"/>
                <a:cs typeface="Arial" panose="020B0604020202020204" pitchFamily="34" charset="0"/>
              </a:rPr>
              <a:t>是以可枚举</a:t>
            </a:r>
            <a:r>
              <a:rPr lang="en-US" altLang="zh-CN" sz="2400" b="1" dirty="0">
                <a:solidFill>
                  <a:srgbClr val="210694"/>
                </a:solidFill>
                <a:latin typeface="Arial" panose="020B0604020202020204" pitchFamily="34" charset="0"/>
                <a:ea typeface="楷体" panose="02010609060101010101" pitchFamily="49" charset="-122"/>
                <a:cs typeface="Arial" panose="020B0604020202020204" pitchFamily="34" charset="0"/>
              </a:rPr>
              <a:t>(enumerable)</a:t>
            </a:r>
            <a:r>
              <a:rPr lang="zh-CN" altLang="en-US" sz="2400" b="1" dirty="0">
                <a:solidFill>
                  <a:srgbClr val="210694"/>
                </a:solidFill>
                <a:latin typeface="Arial" panose="020B0604020202020204" pitchFamily="34" charset="0"/>
                <a:ea typeface="楷体" panose="02010609060101010101" pitchFamily="49" charset="-122"/>
                <a:cs typeface="Arial" panose="020B0604020202020204" pitchFamily="34" charset="0"/>
              </a:rPr>
              <a:t>的数量或形状作为研究对象的数学分支</a:t>
            </a:r>
            <a:endParaRPr lang="en-US" altLang="zh-CN" sz="2400" b="1" dirty="0">
              <a:solidFill>
                <a:srgbClr val="210694"/>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1200"/>
              </a:spcBef>
              <a:spcAft>
                <a:spcPts val="600"/>
              </a:spcAft>
              <a:buFont typeface="Arial" panose="020B0604020202020204" pitchFamily="34" charset="0"/>
              <a:buChar char="•"/>
            </a:pPr>
            <a:r>
              <a:rPr lang="zh-CN" altLang="en-US" sz="2000" b="1" dirty="0">
                <a:solidFill>
                  <a:schemeClr val="accent6">
                    <a:lumMod val="50000"/>
                  </a:schemeClr>
                </a:solidFill>
                <a:latin typeface="宋体" panose="02010600030101010101" pitchFamily="2" charset="-122"/>
                <a:ea typeface="宋体" panose="02010600030101010101" pitchFamily="2" charset="-122"/>
              </a:rPr>
              <a:t>可枚举指对象与对象间有清晰明确界限，可一一罗列</a:t>
            </a:r>
            <a:endParaRPr lang="en-US" altLang="zh-CN" sz="2000" b="1" dirty="0">
              <a:solidFill>
                <a:schemeClr val="accent6">
                  <a:lumMod val="50000"/>
                </a:schemeClr>
              </a:solidFill>
              <a:latin typeface="宋体" panose="02010600030101010101" pitchFamily="2" charset="-122"/>
              <a:ea typeface="宋体" panose="02010600030101010101" pitchFamily="2" charset="-122"/>
            </a:endParaRPr>
          </a:p>
          <a:p>
            <a:pPr marL="742950" lvl="1" indent="-285750">
              <a:spcBef>
                <a:spcPts val="1200"/>
              </a:spcBef>
              <a:spcAft>
                <a:spcPts val="600"/>
              </a:spcAft>
              <a:buFont typeface="Arial" panose="020B0604020202020204" pitchFamily="34" charset="0"/>
              <a:buChar char="•"/>
            </a:pPr>
            <a:r>
              <a:rPr lang="zh-CN" altLang="en-US" sz="1600" b="1" dirty="0">
                <a:solidFill>
                  <a:srgbClr val="C00000"/>
                </a:solidFill>
                <a:latin typeface="楷体" panose="02010609060101010101" pitchFamily="49" charset="-122"/>
                <a:ea typeface="楷体" panose="02010609060101010101" pitchFamily="49" charset="-122"/>
              </a:rPr>
              <a:t>离散数学研究与自然数集或其子集有一一对应关系的对象集合</a:t>
            </a:r>
            <a:endParaRPr lang="en-US" altLang="zh-CN" sz="1600" b="1" dirty="0">
              <a:solidFill>
                <a:srgbClr val="C00000"/>
              </a:solidFill>
              <a:latin typeface="楷体" panose="02010609060101010101" pitchFamily="49" charset="-122"/>
              <a:ea typeface="楷体" panose="02010609060101010101" pitchFamily="49" charset="-122"/>
            </a:endParaRPr>
          </a:p>
          <a:p>
            <a:pPr marL="285750" indent="-285750">
              <a:spcBef>
                <a:spcPts val="1200"/>
              </a:spcBef>
              <a:spcAft>
                <a:spcPts val="600"/>
              </a:spcAft>
              <a:buFont typeface="Arial" panose="020B0604020202020204" pitchFamily="34" charset="0"/>
              <a:buChar char="•"/>
            </a:pPr>
            <a:r>
              <a:rPr lang="zh-CN" altLang="en-US" sz="2000" b="1" dirty="0">
                <a:solidFill>
                  <a:schemeClr val="accent6">
                    <a:lumMod val="50000"/>
                  </a:schemeClr>
                </a:solidFill>
                <a:latin typeface="宋体" panose="02010600030101010101" pitchFamily="2" charset="-122"/>
                <a:ea typeface="宋体" panose="02010600030101010101" pitchFamily="2" charset="-122"/>
              </a:rPr>
              <a:t>现在的计算机只能处理可枚举的信息</a:t>
            </a:r>
            <a:endParaRPr lang="en-US" altLang="zh-CN" sz="2000" b="1" dirty="0">
              <a:solidFill>
                <a:schemeClr val="accent6">
                  <a:lumMod val="50000"/>
                </a:schemeClr>
              </a:solidFill>
              <a:latin typeface="宋体" panose="02010600030101010101" pitchFamily="2" charset="-122"/>
              <a:ea typeface="宋体" panose="02010600030101010101" pitchFamily="2" charset="-122"/>
            </a:endParaRPr>
          </a:p>
          <a:p>
            <a:pPr marL="742950" lvl="1" indent="-285750">
              <a:spcBef>
                <a:spcPts val="1200"/>
              </a:spcBef>
              <a:spcAft>
                <a:spcPts val="600"/>
              </a:spcAft>
              <a:buFont typeface="Arial" panose="020B0604020202020204" pitchFamily="34" charset="0"/>
              <a:buChar char="•"/>
            </a:pPr>
            <a:r>
              <a:rPr lang="zh-CN" altLang="en-US" sz="1600" b="1" dirty="0">
                <a:solidFill>
                  <a:srgbClr val="C00000"/>
                </a:solidFill>
                <a:latin typeface="楷体" panose="02010609060101010101" pitchFamily="49" charset="-122"/>
                <a:ea typeface="楷体" panose="02010609060101010101" pitchFamily="49" charset="-122"/>
              </a:rPr>
              <a:t>任何由计算机处理的信息都必须编码为可枚举的二进制数据</a:t>
            </a:r>
            <a:endParaRPr lang="en-US" altLang="zh-CN" sz="1600" b="1" dirty="0">
              <a:solidFill>
                <a:srgbClr val="C00000"/>
              </a:solidFill>
              <a:latin typeface="楷体" panose="02010609060101010101" pitchFamily="49" charset="-122"/>
              <a:ea typeface="楷体" panose="02010609060101010101" pitchFamily="49" charset="-122"/>
            </a:endParaRPr>
          </a:p>
          <a:p>
            <a:pPr marL="742950" lvl="1" indent="-285750">
              <a:spcBef>
                <a:spcPts val="1200"/>
              </a:spcBef>
              <a:spcAft>
                <a:spcPts val="600"/>
              </a:spcAft>
              <a:buFont typeface="Arial" panose="020B0604020202020204" pitchFamily="34" charset="0"/>
              <a:buChar char="•"/>
            </a:pPr>
            <a:r>
              <a:rPr lang="zh-CN" altLang="en-US" sz="1600" b="1" dirty="0">
                <a:solidFill>
                  <a:srgbClr val="C00000"/>
                </a:solidFill>
                <a:latin typeface="楷体" panose="02010609060101010101" pitchFamily="49" charset="-122"/>
                <a:ea typeface="楷体" panose="02010609060101010101" pitchFamily="49" charset="-122"/>
              </a:rPr>
              <a:t>离散数学在计算机科学有广泛应用</a:t>
            </a:r>
            <a:endParaRPr lang="en-US" altLang="zh-CN" sz="1600" b="1" dirty="0">
              <a:solidFill>
                <a:srgbClr val="C00000"/>
              </a:solidFill>
              <a:latin typeface="楷体" panose="02010609060101010101" pitchFamily="49" charset="-122"/>
              <a:ea typeface="楷体" panose="02010609060101010101" pitchFamily="49" charset="-122"/>
            </a:endParaRPr>
          </a:p>
        </p:txBody>
      </p:sp>
      <p:sp>
        <p:nvSpPr>
          <p:cNvPr id="18" name="矩形: 圆角 17">
            <a:extLst>
              <a:ext uri="{FF2B5EF4-FFF2-40B4-BE49-F238E27FC236}">
                <a16:creationId xmlns:a16="http://schemas.microsoft.com/office/drawing/2014/main" id="{E1FF5D85-C517-4BD5-8C44-F6087047320C}"/>
              </a:ext>
            </a:extLst>
          </p:cNvPr>
          <p:cNvSpPr/>
          <p:nvPr/>
        </p:nvSpPr>
        <p:spPr>
          <a:xfrm>
            <a:off x="7499838" y="1250985"/>
            <a:ext cx="3982916"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accent2">
                    <a:lumMod val="50000"/>
                  </a:schemeClr>
                </a:solidFill>
              </a:rPr>
              <a:t>什么是离散数学基础课程？</a:t>
            </a:r>
          </a:p>
        </p:txBody>
      </p:sp>
      <p:sp>
        <p:nvSpPr>
          <p:cNvPr id="19" name="文本框 18">
            <a:extLst>
              <a:ext uri="{FF2B5EF4-FFF2-40B4-BE49-F238E27FC236}">
                <a16:creationId xmlns:a16="http://schemas.microsoft.com/office/drawing/2014/main" id="{6B56BE12-EE1D-4621-9CE7-AEA395A94DD4}"/>
              </a:ext>
            </a:extLst>
          </p:cNvPr>
          <p:cNvSpPr txBox="1"/>
          <p:nvPr/>
        </p:nvSpPr>
        <p:spPr>
          <a:xfrm>
            <a:off x="7571759" y="2196014"/>
            <a:ext cx="3910995" cy="3862596"/>
          </a:xfrm>
          <a:prstGeom prst="rect">
            <a:avLst/>
          </a:prstGeom>
          <a:solidFill>
            <a:schemeClr val="accent5">
              <a:lumMod val="20000"/>
              <a:lumOff val="80000"/>
            </a:schemeClr>
          </a:solidFill>
        </p:spPr>
        <p:txBody>
          <a:bodyPr wrap="square" rtlCol="0">
            <a:spAutoFit/>
          </a:bodyPr>
          <a:lstStyle/>
          <a:p>
            <a:pPr>
              <a:lnSpc>
                <a:spcPts val="3000"/>
              </a:lnSpc>
              <a:spcBef>
                <a:spcPts val="600"/>
              </a:spcBef>
              <a:spcAft>
                <a:spcPts val="600"/>
              </a:spcAft>
            </a:pPr>
            <a:r>
              <a:rPr lang="zh-CN" altLang="en-US" sz="2400" b="1" dirty="0">
                <a:solidFill>
                  <a:srgbClr val="210694"/>
                </a:solidFill>
                <a:latin typeface="Arial" panose="020B0604020202020204" pitchFamily="34" charset="0"/>
                <a:ea typeface="楷体" panose="02010609060101010101" pitchFamily="49" charset="-122"/>
                <a:cs typeface="Arial" panose="020B0604020202020204" pitchFamily="34" charset="0"/>
              </a:rPr>
              <a:t>离散数学基础是计算机专业学生的核心理论基础课程</a:t>
            </a:r>
            <a:endParaRPr lang="en-US" altLang="zh-CN" sz="2400" b="1" dirty="0">
              <a:solidFill>
                <a:srgbClr val="210694"/>
              </a:solidFill>
              <a:latin typeface="Arial" panose="020B0604020202020204" pitchFamily="34" charset="0"/>
              <a:ea typeface="楷体" panose="02010609060101010101" pitchFamily="49" charset="-122"/>
              <a:cs typeface="Arial" panose="020B0604020202020204" pitchFamily="34" charset="0"/>
            </a:endParaRPr>
          </a:p>
          <a:p>
            <a:pPr marL="285750" indent="-285750">
              <a:lnSpc>
                <a:spcPts val="3000"/>
              </a:lnSpc>
              <a:spcBef>
                <a:spcPts val="600"/>
              </a:spcBef>
              <a:spcAft>
                <a:spcPts val="600"/>
              </a:spcAft>
              <a:buFont typeface="Arial" panose="020B0604020202020204" pitchFamily="34" charset="0"/>
              <a:buChar char="•"/>
            </a:pP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提供逻辑</a:t>
            </a:r>
            <a:r>
              <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(logic)</a:t>
            </a: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、集合</a:t>
            </a:r>
            <a:r>
              <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(set)</a:t>
            </a: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、算法</a:t>
            </a:r>
            <a:r>
              <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(algorithm)</a:t>
            </a: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、图论</a:t>
            </a:r>
            <a:r>
              <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(graph)</a:t>
            </a: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和代数</a:t>
            </a:r>
            <a:r>
              <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(algebra)</a:t>
            </a: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等数学语言描述可枚举的数学对象</a:t>
            </a:r>
            <a:endPar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742950" lvl="1" indent="-285750">
              <a:lnSpc>
                <a:spcPts val="3000"/>
              </a:lnSpc>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使得人们在利用计算机求解问题时可建立合适的离散数学模型并对其进行分析</a:t>
            </a:r>
            <a:endParaRPr lang="en-US" altLang="zh-CN" b="1" dirty="0">
              <a:solidFill>
                <a:srgbClr val="C0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425273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8D8642A-0BEE-4CA4-A2A5-39EDCDA8148E}"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利用计算机求解问题和离散建模</a:t>
            </a:r>
          </a:p>
        </p:txBody>
      </p:sp>
      <p:sp>
        <p:nvSpPr>
          <p:cNvPr id="2" name="文本框 1">
            <a:extLst>
              <a:ext uri="{FF2B5EF4-FFF2-40B4-BE49-F238E27FC236}">
                <a16:creationId xmlns:a16="http://schemas.microsoft.com/office/drawing/2014/main" id="{C3A8E00C-03BE-4F03-8ED0-91CB21B2D8E7}"/>
              </a:ext>
            </a:extLst>
          </p:cNvPr>
          <p:cNvSpPr txBox="1"/>
          <p:nvPr/>
        </p:nvSpPr>
        <p:spPr>
          <a:xfrm>
            <a:off x="386813" y="1017757"/>
            <a:ext cx="10972848" cy="120609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800" b="1" dirty="0">
                <a:solidFill>
                  <a:srgbClr val="210694"/>
                </a:solidFill>
                <a:latin typeface="Arial" panose="020B0604020202020204" pitchFamily="34" charset="0"/>
                <a:ea typeface="楷体" panose="02010609060101010101" pitchFamily="49" charset="-122"/>
                <a:cs typeface="Arial" panose="020B0604020202020204" pitchFamily="34" charset="0"/>
              </a:rPr>
              <a:t>建立离散模型通常是利用计算机求解问题的第一步</a:t>
            </a:r>
            <a:endParaRPr lang="en-US" altLang="zh-CN" sz="2800" b="1" dirty="0">
              <a:solidFill>
                <a:srgbClr val="210694"/>
              </a:solidFill>
              <a:latin typeface="Arial" panose="020B0604020202020204" pitchFamily="34" charset="0"/>
              <a:ea typeface="楷体" panose="02010609060101010101" pitchFamily="49" charset="-122"/>
              <a:cs typeface="Arial" panose="020B0604020202020204" pitchFamily="34" charset="0"/>
            </a:endParaRPr>
          </a:p>
          <a:p>
            <a:pPr marL="742950" lvl="1" indent="-285750">
              <a:lnSpc>
                <a:spcPct val="150000"/>
              </a:lnSpc>
              <a:buFont typeface="Arial" panose="020B0604020202020204" pitchFamily="34" charset="0"/>
              <a:buChar char="•"/>
            </a:pPr>
            <a:r>
              <a:rPr lang="zh-CN" altLang="en-US" sz="2400" b="1" dirty="0">
                <a:solidFill>
                  <a:schemeClr val="accent6">
                    <a:lumMod val="50000"/>
                  </a:schemeClr>
                </a:solidFill>
                <a:latin typeface="宋体" panose="02010600030101010101" pitchFamily="2" charset="-122"/>
                <a:ea typeface="宋体" panose="02010600030101010101" pitchFamily="2" charset="-122"/>
              </a:rPr>
              <a:t>离散数学基础课程的核心目标应该是培养学生具备初步的离散建模能力</a:t>
            </a:r>
          </a:p>
        </p:txBody>
      </p:sp>
      <p:pic>
        <p:nvPicPr>
          <p:cNvPr id="4" name="图片 3">
            <a:extLst>
              <a:ext uri="{FF2B5EF4-FFF2-40B4-BE49-F238E27FC236}">
                <a16:creationId xmlns:a16="http://schemas.microsoft.com/office/drawing/2014/main" id="{5A194DCE-5389-413B-8DC0-BB2541CBF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52" y="2579749"/>
            <a:ext cx="7822509" cy="3107685"/>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A58394E-76A7-4931-A48A-DC0A3917B7EE}"/>
                  </a:ext>
                </a:extLst>
              </p:cNvPr>
              <p:cNvSpPr txBox="1"/>
              <p:nvPr/>
            </p:nvSpPr>
            <p:spPr>
              <a:xfrm>
                <a:off x="8264407" y="2670144"/>
                <a:ext cx="3525714" cy="3170099"/>
              </a:xfrm>
              <a:prstGeom prst="rect">
                <a:avLst/>
              </a:prstGeom>
              <a:solidFill>
                <a:schemeClr val="accent4">
                  <a:lumMod val="20000"/>
                  <a:lumOff val="8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sz="2000" b="1" dirty="0">
                    <a:solidFill>
                      <a:srgbClr val="210694"/>
                    </a:solidFill>
                    <a:latin typeface="Arial" panose="020B0604020202020204" pitchFamily="34" charset="0"/>
                    <a:ea typeface="楷体" panose="02010609060101010101" pitchFamily="49" charset="-122"/>
                    <a:cs typeface="Arial" panose="020B0604020202020204" pitchFamily="34" charset="0"/>
                  </a:rPr>
                  <a:t>为什么用计算机求解问题要建立离散模型？如何建立离散模型？</a:t>
                </a:r>
                <a:endParaRPr lang="en-US" altLang="zh-CN" sz="2000" b="1" dirty="0">
                  <a:solidFill>
                    <a:srgbClr val="210694"/>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600"/>
                  </a:spcBef>
                  <a:spcAft>
                    <a:spcPts val="600"/>
                  </a:spcAft>
                  <a:buBlip>
                    <a:blip r:embed="rId3">
                      <a:extLst>
                        <a:ext uri="{96DAC541-7B7A-43D3-8B79-37D633B846F1}">
                          <asvg:svgBlip xmlns:asvg="http://schemas.microsoft.com/office/drawing/2016/SVG/main" r:embed="rId4"/>
                        </a:ext>
                      </a:extLst>
                    </a:blip>
                  </a:buBlip>
                </a:pPr>
                <a:r>
                  <a:rPr lang="zh-CN" altLang="en-US" sz="2000" b="1" dirty="0">
                    <a:solidFill>
                      <a:srgbClr val="210694"/>
                    </a:solidFill>
                    <a:latin typeface="Arial" panose="020B0604020202020204" pitchFamily="34" charset="0"/>
                    <a:ea typeface="楷体" panose="02010609060101010101" pitchFamily="49" charset="-122"/>
                    <a:cs typeface="Arial" panose="020B0604020202020204" pitchFamily="34" charset="0"/>
                  </a:rPr>
                  <a:t>在线课程平台的章节“拓展：离散建模举例”</a:t>
                </a:r>
                <a:endParaRPr lang="en-US" altLang="zh-CN" sz="2000" b="1" dirty="0">
                  <a:solidFill>
                    <a:srgbClr val="210694"/>
                  </a:solidFill>
                  <a:latin typeface="Arial" panose="020B0604020202020204" pitchFamily="34" charset="0"/>
                  <a:ea typeface="楷体" panose="02010609060101010101" pitchFamily="49" charset="-122"/>
                  <a:cs typeface="Arial" panose="020B0604020202020204" pitchFamily="34" charset="0"/>
                </a:endParaRPr>
              </a:p>
              <a:p>
                <a:pPr marL="742950" lvl="1"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使用不带刻度、容量为</a:t>
                </a:r>
                <a14:m>
                  <m:oMath xmlns:m="http://schemas.openxmlformats.org/officeDocument/2006/math">
                    <m:r>
                      <a:rPr lang="en-US" altLang="zh-CN" b="1" i="1" dirty="0" smtClean="0">
                        <a:solidFill>
                          <a:schemeClr val="accent6">
                            <a:lumMod val="50000"/>
                          </a:schemeClr>
                        </a:solidFill>
                        <a:latin typeface="Cambria Math"/>
                        <a:ea typeface="宋体" panose="02010600030101010101" pitchFamily="2" charset="-122"/>
                        <a:cs typeface="Arial" panose="020B0604020202020204" pitchFamily="34" charset="0"/>
                      </a:rPr>
                      <m:t>𝒂</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升和</a:t>
                </a:r>
                <a14:m>
                  <m:oMath xmlns:m="http://schemas.openxmlformats.org/officeDocument/2006/math">
                    <m:r>
                      <a:rPr lang="en-US" altLang="zh-CN" b="1" i="1" dirty="0" smtClean="0">
                        <a:solidFill>
                          <a:schemeClr val="accent6">
                            <a:lumMod val="50000"/>
                          </a:schemeClr>
                        </a:solidFill>
                        <a:latin typeface="Cambria Math"/>
                        <a:ea typeface="宋体" panose="02010600030101010101" pitchFamily="2" charset="-122"/>
                        <a:cs typeface="Arial" panose="020B0604020202020204" pitchFamily="34" charset="0"/>
                      </a:rPr>
                      <m:t>𝒃</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升的两个桶从井里打上</a:t>
                </a:r>
                <a14:m>
                  <m:oMath xmlns:m="http://schemas.openxmlformats.org/officeDocument/2006/math">
                    <m:r>
                      <a:rPr lang="en-US" altLang="zh-CN" b="1" i="1" dirty="0" smtClean="0">
                        <a:solidFill>
                          <a:schemeClr val="accent6">
                            <a:lumMod val="50000"/>
                          </a:schemeClr>
                        </a:solidFill>
                        <a:latin typeface="Cambria Math"/>
                        <a:ea typeface="宋体" panose="02010600030101010101" pitchFamily="2" charset="-122"/>
                        <a:cs typeface="Arial" panose="020B0604020202020204" pitchFamily="34" charset="0"/>
                      </a:rPr>
                      <m:t>𝒄</m:t>
                    </m:r>
                  </m:oMath>
                </a14:m>
                <a:r>
                  <a:rPr lang="zh-CN" altLang="en-US"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升水</a:t>
                </a:r>
                <a:endParaRPr lang="en-US" altLang="zh-CN"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1200150" lvl="2" indent="-285750">
                  <a:spcBef>
                    <a:spcPts val="600"/>
                  </a:spcBef>
                  <a:spcAft>
                    <a:spcPts val="600"/>
                  </a:spcAft>
                  <a:buFont typeface="Arial" panose="020B0604020202020204" pitchFamily="34" charset="0"/>
                  <a:buChar char="•"/>
                </a:pPr>
                <a:r>
                  <a:rPr lang="zh-CN" altLang="en-US" sz="1600" b="1" dirty="0">
                    <a:solidFill>
                      <a:srgbClr val="C00000"/>
                    </a:solidFill>
                    <a:latin typeface="楷体" panose="02010609060101010101" pitchFamily="49" charset="-122"/>
                    <a:ea typeface="楷体" panose="02010609060101010101" pitchFamily="49" charset="-122"/>
                  </a:rPr>
                  <a:t>编写程序给出打水步骤</a:t>
                </a:r>
              </a:p>
            </p:txBody>
          </p:sp>
        </mc:Choice>
        <mc:Fallback xmlns="">
          <p:sp>
            <p:nvSpPr>
              <p:cNvPr id="6" name="文本框 5">
                <a:extLst>
                  <a:ext uri="{FF2B5EF4-FFF2-40B4-BE49-F238E27FC236}">
                    <a16:creationId xmlns:a16="http://schemas.microsoft.com/office/drawing/2014/main" id="{4A58394E-76A7-4931-A48A-DC0A3917B7EE}"/>
                  </a:ext>
                </a:extLst>
              </p:cNvPr>
              <p:cNvSpPr txBox="1">
                <a:spLocks noRot="1" noChangeAspect="1" noMove="1" noResize="1" noEditPoints="1" noAdjustHandles="1" noChangeArrowheads="1" noChangeShapeType="1" noTextEdit="1"/>
              </p:cNvSpPr>
              <p:nvPr/>
            </p:nvSpPr>
            <p:spPr>
              <a:xfrm>
                <a:off x="8264407" y="2670144"/>
                <a:ext cx="3525714" cy="3170099"/>
              </a:xfrm>
              <a:prstGeom prst="rect">
                <a:avLst/>
              </a:prstGeom>
              <a:blipFill>
                <a:blip r:embed="rId5"/>
                <a:stretch>
                  <a:fillRect l="-1557" t="-962" b="-153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3361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76DD8A71-C2E1-44EE-B65A-03DF5D8D03C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计算机求解问题时的离散语言建模与分析</a:t>
            </a:r>
          </a:p>
        </p:txBody>
      </p:sp>
      <p:pic>
        <p:nvPicPr>
          <p:cNvPr id="38" name="图片 37">
            <a:extLst>
              <a:ext uri="{FF2B5EF4-FFF2-40B4-BE49-F238E27FC236}">
                <a16:creationId xmlns:a16="http://schemas.microsoft.com/office/drawing/2014/main" id="{3AF8BDFB-2A35-48FD-87FF-309D79CC9675}"/>
              </a:ext>
            </a:extLst>
          </p:cNvPr>
          <p:cNvPicPr>
            <a:picLocks noChangeAspect="1"/>
          </p:cNvPicPr>
          <p:nvPr/>
        </p:nvPicPr>
        <p:blipFill>
          <a:blip r:embed="rId2"/>
          <a:stretch>
            <a:fillRect/>
          </a:stretch>
        </p:blipFill>
        <p:spPr>
          <a:xfrm>
            <a:off x="619236" y="1516382"/>
            <a:ext cx="2426328" cy="1812609"/>
          </a:xfrm>
          <a:prstGeom prst="rect">
            <a:avLst/>
          </a:prstGeom>
        </p:spPr>
      </p:pic>
      <p:sp>
        <p:nvSpPr>
          <p:cNvPr id="39" name="文本框 38">
            <a:extLst>
              <a:ext uri="{FF2B5EF4-FFF2-40B4-BE49-F238E27FC236}">
                <a16:creationId xmlns:a16="http://schemas.microsoft.com/office/drawing/2014/main" id="{80CC2F08-8DD4-4614-B607-949C91EAB2CC}"/>
              </a:ext>
            </a:extLst>
          </p:cNvPr>
          <p:cNvSpPr txBox="1"/>
          <p:nvPr/>
        </p:nvSpPr>
        <p:spPr>
          <a:xfrm>
            <a:off x="897335" y="1998333"/>
            <a:ext cx="1723175" cy="830997"/>
          </a:xfrm>
          <a:prstGeom prst="rect">
            <a:avLst/>
          </a:prstGeom>
          <a:solidFill>
            <a:schemeClr val="accent6">
              <a:lumMod val="50000"/>
            </a:schemeClr>
          </a:solidFill>
        </p:spPr>
        <p:txBody>
          <a:bodyPr wrap="square" rtlCol="0">
            <a:spAutoFit/>
          </a:bodyPr>
          <a:lstStyle/>
          <a:p>
            <a:r>
              <a:rPr lang="zh-CN" altLang="en-US" sz="1600" b="1">
                <a:solidFill>
                  <a:schemeClr val="bg1"/>
                </a:solidFill>
              </a:rPr>
              <a:t>针对问题建立一个使用集合语言描述的离散模型</a:t>
            </a:r>
          </a:p>
        </p:txBody>
      </p:sp>
      <p:pic>
        <p:nvPicPr>
          <p:cNvPr id="40" name="图片 39">
            <a:extLst>
              <a:ext uri="{FF2B5EF4-FFF2-40B4-BE49-F238E27FC236}">
                <a16:creationId xmlns:a16="http://schemas.microsoft.com/office/drawing/2014/main" id="{81853E55-9783-44BD-BEF3-925BC9E0AE8D}"/>
              </a:ext>
            </a:extLst>
          </p:cNvPr>
          <p:cNvPicPr>
            <a:picLocks noChangeAspect="1"/>
          </p:cNvPicPr>
          <p:nvPr/>
        </p:nvPicPr>
        <p:blipFill>
          <a:blip r:embed="rId3"/>
          <a:stretch>
            <a:fillRect/>
          </a:stretch>
        </p:blipFill>
        <p:spPr>
          <a:xfrm rot="5400000">
            <a:off x="3462450" y="1348566"/>
            <a:ext cx="2385945" cy="2161309"/>
          </a:xfrm>
          <a:prstGeom prst="rect">
            <a:avLst/>
          </a:prstGeom>
        </p:spPr>
      </p:pic>
      <p:sp>
        <p:nvSpPr>
          <p:cNvPr id="41" name="文本框 40">
            <a:extLst>
              <a:ext uri="{FF2B5EF4-FFF2-40B4-BE49-F238E27FC236}">
                <a16:creationId xmlns:a16="http://schemas.microsoft.com/office/drawing/2014/main" id="{2EFD2247-AA37-4685-B37E-13396FBB8CAE}"/>
              </a:ext>
            </a:extLst>
          </p:cNvPr>
          <p:cNvSpPr txBox="1"/>
          <p:nvPr/>
        </p:nvSpPr>
        <p:spPr>
          <a:xfrm>
            <a:off x="3891746" y="1991798"/>
            <a:ext cx="1260764" cy="830997"/>
          </a:xfrm>
          <a:prstGeom prst="rect">
            <a:avLst/>
          </a:prstGeom>
          <a:solidFill>
            <a:schemeClr val="accent6">
              <a:lumMod val="50000"/>
            </a:schemeClr>
          </a:solidFill>
        </p:spPr>
        <p:txBody>
          <a:bodyPr wrap="square" rtlCol="0">
            <a:spAutoFit/>
          </a:bodyPr>
          <a:lstStyle/>
          <a:p>
            <a:r>
              <a:rPr lang="zh-CN" altLang="en-US" sz="1600" b="1">
                <a:solidFill>
                  <a:schemeClr val="bg1"/>
                </a:solidFill>
              </a:rPr>
              <a:t>使用图直观表示出其中的状态转换</a:t>
            </a:r>
          </a:p>
        </p:txBody>
      </p:sp>
      <p:pic>
        <p:nvPicPr>
          <p:cNvPr id="42" name="图片 41">
            <a:extLst>
              <a:ext uri="{FF2B5EF4-FFF2-40B4-BE49-F238E27FC236}">
                <a16:creationId xmlns:a16="http://schemas.microsoft.com/office/drawing/2014/main" id="{F7ABE1A4-E0D4-4EE4-ABF9-CEA755E5062D}"/>
              </a:ext>
            </a:extLst>
          </p:cNvPr>
          <p:cNvPicPr>
            <a:picLocks noChangeAspect="1"/>
          </p:cNvPicPr>
          <p:nvPr/>
        </p:nvPicPr>
        <p:blipFill>
          <a:blip r:embed="rId4"/>
          <a:stretch>
            <a:fillRect/>
          </a:stretch>
        </p:blipFill>
        <p:spPr>
          <a:xfrm>
            <a:off x="9098541" y="1516381"/>
            <a:ext cx="2546257" cy="1905211"/>
          </a:xfrm>
          <a:prstGeom prst="rect">
            <a:avLst/>
          </a:prstGeom>
        </p:spPr>
      </p:pic>
      <p:pic>
        <p:nvPicPr>
          <p:cNvPr id="43" name="图片 42">
            <a:extLst>
              <a:ext uri="{FF2B5EF4-FFF2-40B4-BE49-F238E27FC236}">
                <a16:creationId xmlns:a16="http://schemas.microsoft.com/office/drawing/2014/main" id="{AE35E008-A391-4606-B698-37D5243AE466}"/>
              </a:ext>
            </a:extLst>
          </p:cNvPr>
          <p:cNvPicPr>
            <a:picLocks noChangeAspect="1"/>
          </p:cNvPicPr>
          <p:nvPr/>
        </p:nvPicPr>
        <p:blipFill>
          <a:blip r:embed="rId5"/>
          <a:stretch>
            <a:fillRect/>
          </a:stretch>
        </p:blipFill>
        <p:spPr>
          <a:xfrm>
            <a:off x="5982973" y="1516381"/>
            <a:ext cx="2539287" cy="1905211"/>
          </a:xfrm>
          <a:prstGeom prst="rect">
            <a:avLst/>
          </a:prstGeom>
        </p:spPr>
      </p:pic>
      <p:pic>
        <p:nvPicPr>
          <p:cNvPr id="44" name="图片 43">
            <a:extLst>
              <a:ext uri="{FF2B5EF4-FFF2-40B4-BE49-F238E27FC236}">
                <a16:creationId xmlns:a16="http://schemas.microsoft.com/office/drawing/2014/main" id="{6C7E3C71-C268-4DA6-81FC-17BEF1CA70EF}"/>
              </a:ext>
            </a:extLst>
          </p:cNvPr>
          <p:cNvPicPr>
            <a:picLocks noChangeAspect="1"/>
          </p:cNvPicPr>
          <p:nvPr/>
        </p:nvPicPr>
        <p:blipFill>
          <a:blip r:embed="rId6"/>
          <a:stretch>
            <a:fillRect/>
          </a:stretch>
        </p:blipFill>
        <p:spPr>
          <a:xfrm>
            <a:off x="9106509" y="4151779"/>
            <a:ext cx="2538289" cy="1905211"/>
          </a:xfrm>
          <a:prstGeom prst="rect">
            <a:avLst/>
          </a:prstGeom>
        </p:spPr>
      </p:pic>
      <p:pic>
        <p:nvPicPr>
          <p:cNvPr id="45" name="图片 44">
            <a:extLst>
              <a:ext uri="{FF2B5EF4-FFF2-40B4-BE49-F238E27FC236}">
                <a16:creationId xmlns:a16="http://schemas.microsoft.com/office/drawing/2014/main" id="{7DCFE974-E496-4A84-B831-822AA297BBC9}"/>
              </a:ext>
            </a:extLst>
          </p:cNvPr>
          <p:cNvPicPr>
            <a:picLocks noChangeAspect="1"/>
          </p:cNvPicPr>
          <p:nvPr/>
        </p:nvPicPr>
        <p:blipFill>
          <a:blip r:embed="rId7"/>
          <a:stretch>
            <a:fillRect/>
          </a:stretch>
        </p:blipFill>
        <p:spPr>
          <a:xfrm>
            <a:off x="6149741" y="4145814"/>
            <a:ext cx="2539287" cy="1906335"/>
          </a:xfrm>
          <a:prstGeom prst="rect">
            <a:avLst/>
          </a:prstGeom>
        </p:spPr>
      </p:pic>
      <p:pic>
        <p:nvPicPr>
          <p:cNvPr id="46" name="图片 45">
            <a:extLst>
              <a:ext uri="{FF2B5EF4-FFF2-40B4-BE49-F238E27FC236}">
                <a16:creationId xmlns:a16="http://schemas.microsoft.com/office/drawing/2014/main" id="{40C8D9C9-A7AF-4422-9A5C-67CC067C4DC5}"/>
              </a:ext>
            </a:extLst>
          </p:cNvPr>
          <p:cNvPicPr>
            <a:picLocks noChangeAspect="1"/>
          </p:cNvPicPr>
          <p:nvPr/>
        </p:nvPicPr>
        <p:blipFill>
          <a:blip r:embed="rId8"/>
          <a:stretch>
            <a:fillRect/>
          </a:stretch>
        </p:blipFill>
        <p:spPr>
          <a:xfrm>
            <a:off x="3319509" y="4139697"/>
            <a:ext cx="2539287" cy="1902971"/>
          </a:xfrm>
          <a:prstGeom prst="rect">
            <a:avLst/>
          </a:prstGeom>
        </p:spPr>
      </p:pic>
      <p:pic>
        <p:nvPicPr>
          <p:cNvPr id="47" name="图片 46">
            <a:extLst>
              <a:ext uri="{FF2B5EF4-FFF2-40B4-BE49-F238E27FC236}">
                <a16:creationId xmlns:a16="http://schemas.microsoft.com/office/drawing/2014/main" id="{DC6072F6-E4B9-4967-AB2B-BB3C2FB36F9B}"/>
              </a:ext>
            </a:extLst>
          </p:cNvPr>
          <p:cNvPicPr>
            <a:picLocks noChangeAspect="1"/>
          </p:cNvPicPr>
          <p:nvPr/>
        </p:nvPicPr>
        <p:blipFill>
          <a:blip r:embed="rId9"/>
          <a:stretch>
            <a:fillRect/>
          </a:stretch>
        </p:blipFill>
        <p:spPr>
          <a:xfrm>
            <a:off x="489278" y="4142300"/>
            <a:ext cx="2539287" cy="1900369"/>
          </a:xfrm>
          <a:prstGeom prst="rect">
            <a:avLst/>
          </a:prstGeom>
        </p:spPr>
      </p:pic>
      <p:sp>
        <p:nvSpPr>
          <p:cNvPr id="48" name="文本框 47">
            <a:extLst>
              <a:ext uri="{FF2B5EF4-FFF2-40B4-BE49-F238E27FC236}">
                <a16:creationId xmlns:a16="http://schemas.microsoft.com/office/drawing/2014/main" id="{44CF9865-6B32-41D9-9628-A9643217BB65}"/>
              </a:ext>
            </a:extLst>
          </p:cNvPr>
          <p:cNvSpPr txBox="1"/>
          <p:nvPr/>
        </p:nvSpPr>
        <p:spPr>
          <a:xfrm>
            <a:off x="6511397" y="1998333"/>
            <a:ext cx="1482436" cy="830997"/>
          </a:xfrm>
          <a:prstGeom prst="rect">
            <a:avLst/>
          </a:prstGeom>
          <a:solidFill>
            <a:schemeClr val="accent6">
              <a:lumMod val="50000"/>
            </a:schemeClr>
          </a:solidFill>
        </p:spPr>
        <p:txBody>
          <a:bodyPr wrap="square" rtlCol="0">
            <a:spAutoFit/>
          </a:bodyPr>
          <a:lstStyle/>
          <a:p>
            <a:r>
              <a:rPr lang="zh-CN" altLang="en-US" sz="1600" b="1">
                <a:solidFill>
                  <a:schemeClr val="bg1"/>
                </a:solidFill>
              </a:rPr>
              <a:t>通过分析状态图发现解决问题的简单策略</a:t>
            </a:r>
          </a:p>
        </p:txBody>
      </p:sp>
      <p:sp>
        <p:nvSpPr>
          <p:cNvPr id="49" name="文本框 48">
            <a:extLst>
              <a:ext uri="{FF2B5EF4-FFF2-40B4-BE49-F238E27FC236}">
                <a16:creationId xmlns:a16="http://schemas.microsoft.com/office/drawing/2014/main" id="{C12EF6A3-CC5C-4F1A-94A3-5D22E5777899}"/>
              </a:ext>
            </a:extLst>
          </p:cNvPr>
          <p:cNvSpPr txBox="1"/>
          <p:nvPr/>
        </p:nvSpPr>
        <p:spPr>
          <a:xfrm>
            <a:off x="9739747" y="1998333"/>
            <a:ext cx="1295400" cy="830997"/>
          </a:xfrm>
          <a:prstGeom prst="rect">
            <a:avLst/>
          </a:prstGeom>
          <a:solidFill>
            <a:schemeClr val="accent6">
              <a:lumMod val="50000"/>
            </a:schemeClr>
          </a:solidFill>
        </p:spPr>
        <p:txBody>
          <a:bodyPr wrap="square" rtlCol="0">
            <a:spAutoFit/>
          </a:bodyPr>
          <a:lstStyle/>
          <a:p>
            <a:r>
              <a:rPr lang="zh-CN" altLang="en-US" sz="1600" b="1">
                <a:solidFill>
                  <a:schemeClr val="bg1"/>
                </a:solidFill>
              </a:rPr>
              <a:t>使用数学归纳法证明策略的正确性</a:t>
            </a:r>
          </a:p>
        </p:txBody>
      </p:sp>
      <p:sp>
        <p:nvSpPr>
          <p:cNvPr id="50" name="文本框 49">
            <a:extLst>
              <a:ext uri="{FF2B5EF4-FFF2-40B4-BE49-F238E27FC236}">
                <a16:creationId xmlns:a16="http://schemas.microsoft.com/office/drawing/2014/main" id="{3EDCB46F-E171-440A-80A1-C644C36901BC}"/>
              </a:ext>
            </a:extLst>
          </p:cNvPr>
          <p:cNvSpPr txBox="1"/>
          <p:nvPr/>
        </p:nvSpPr>
        <p:spPr>
          <a:xfrm>
            <a:off x="9632374" y="4673497"/>
            <a:ext cx="1510145" cy="830997"/>
          </a:xfrm>
          <a:prstGeom prst="rect">
            <a:avLst/>
          </a:prstGeom>
          <a:solidFill>
            <a:schemeClr val="accent6">
              <a:lumMod val="50000"/>
            </a:schemeClr>
          </a:solidFill>
        </p:spPr>
        <p:txBody>
          <a:bodyPr wrap="square" rtlCol="0">
            <a:spAutoFit/>
          </a:bodyPr>
          <a:lstStyle/>
          <a:p>
            <a:r>
              <a:rPr lang="zh-CN" altLang="en-US" sz="1600" b="1">
                <a:solidFill>
                  <a:schemeClr val="bg1"/>
                </a:solidFill>
              </a:rPr>
              <a:t>基于策略使用算法语言描述问题求解算法</a:t>
            </a:r>
          </a:p>
        </p:txBody>
      </p:sp>
      <p:sp>
        <p:nvSpPr>
          <p:cNvPr id="51" name="文本框 50">
            <a:extLst>
              <a:ext uri="{FF2B5EF4-FFF2-40B4-BE49-F238E27FC236}">
                <a16:creationId xmlns:a16="http://schemas.microsoft.com/office/drawing/2014/main" id="{1C9EE099-F05E-47B7-B426-39742A79E569}"/>
              </a:ext>
            </a:extLst>
          </p:cNvPr>
          <p:cNvSpPr txBox="1"/>
          <p:nvPr/>
        </p:nvSpPr>
        <p:spPr>
          <a:xfrm>
            <a:off x="6591179" y="4673497"/>
            <a:ext cx="1322868" cy="830997"/>
          </a:xfrm>
          <a:prstGeom prst="rect">
            <a:avLst/>
          </a:prstGeom>
          <a:solidFill>
            <a:schemeClr val="accent6">
              <a:lumMod val="50000"/>
            </a:schemeClr>
          </a:solidFill>
        </p:spPr>
        <p:txBody>
          <a:bodyPr wrap="square" rtlCol="0">
            <a:spAutoFit/>
          </a:bodyPr>
          <a:lstStyle/>
          <a:p>
            <a:r>
              <a:rPr lang="zh-CN" altLang="en-US" sz="1600" b="1">
                <a:solidFill>
                  <a:schemeClr val="bg1"/>
                </a:solidFill>
              </a:rPr>
              <a:t>基于策略正确性可证明算法正确性</a:t>
            </a:r>
          </a:p>
        </p:txBody>
      </p:sp>
      <p:sp>
        <p:nvSpPr>
          <p:cNvPr id="52" name="文本框 51">
            <a:extLst>
              <a:ext uri="{FF2B5EF4-FFF2-40B4-BE49-F238E27FC236}">
                <a16:creationId xmlns:a16="http://schemas.microsoft.com/office/drawing/2014/main" id="{FC3D042E-B374-441E-B7B8-6A9E6DEBCAE1}"/>
              </a:ext>
            </a:extLst>
          </p:cNvPr>
          <p:cNvSpPr txBox="1"/>
          <p:nvPr/>
        </p:nvSpPr>
        <p:spPr>
          <a:xfrm>
            <a:off x="3782293" y="4783406"/>
            <a:ext cx="1281545" cy="584775"/>
          </a:xfrm>
          <a:prstGeom prst="rect">
            <a:avLst/>
          </a:prstGeom>
          <a:solidFill>
            <a:schemeClr val="accent6">
              <a:lumMod val="50000"/>
            </a:schemeClr>
          </a:solidFill>
        </p:spPr>
        <p:txBody>
          <a:bodyPr wrap="square" rtlCol="0">
            <a:spAutoFit/>
          </a:bodyPr>
          <a:lstStyle/>
          <a:p>
            <a:r>
              <a:rPr lang="zh-CN" altLang="en-US" sz="1600" b="1">
                <a:solidFill>
                  <a:schemeClr val="bg1"/>
                </a:solidFill>
              </a:rPr>
              <a:t>编写</a:t>
            </a:r>
            <a:r>
              <a:rPr lang="en-US" altLang="zh-CN" sz="1600" b="1">
                <a:solidFill>
                  <a:schemeClr val="bg1"/>
                </a:solidFill>
              </a:rPr>
              <a:t>Java</a:t>
            </a:r>
            <a:r>
              <a:rPr lang="zh-CN" altLang="en-US" sz="1600" b="1">
                <a:solidFill>
                  <a:schemeClr val="bg1"/>
                </a:solidFill>
              </a:rPr>
              <a:t>程序实现算法</a:t>
            </a:r>
          </a:p>
        </p:txBody>
      </p:sp>
      <p:sp>
        <p:nvSpPr>
          <p:cNvPr id="53" name="文本框 52">
            <a:extLst>
              <a:ext uri="{FF2B5EF4-FFF2-40B4-BE49-F238E27FC236}">
                <a16:creationId xmlns:a16="http://schemas.microsoft.com/office/drawing/2014/main" id="{1A1637B8-25DE-4B55-9368-CBB769A9F73D}"/>
              </a:ext>
            </a:extLst>
          </p:cNvPr>
          <p:cNvSpPr txBox="1"/>
          <p:nvPr/>
        </p:nvSpPr>
        <p:spPr>
          <a:xfrm>
            <a:off x="1073727" y="4673497"/>
            <a:ext cx="1298623" cy="830997"/>
          </a:xfrm>
          <a:prstGeom prst="rect">
            <a:avLst/>
          </a:prstGeom>
          <a:solidFill>
            <a:schemeClr val="accent6">
              <a:lumMod val="50000"/>
            </a:schemeClr>
          </a:solidFill>
        </p:spPr>
        <p:txBody>
          <a:bodyPr wrap="square" rtlCol="0">
            <a:spAutoFit/>
          </a:bodyPr>
          <a:lstStyle/>
          <a:p>
            <a:r>
              <a:rPr lang="zh-CN" altLang="en-US" sz="1600" b="1">
                <a:solidFill>
                  <a:schemeClr val="bg1"/>
                </a:solidFill>
              </a:rPr>
              <a:t>通过测试用例验证问题求解正确性</a:t>
            </a:r>
          </a:p>
        </p:txBody>
      </p:sp>
      <p:sp>
        <p:nvSpPr>
          <p:cNvPr id="54" name="箭头: 右 53">
            <a:extLst>
              <a:ext uri="{FF2B5EF4-FFF2-40B4-BE49-F238E27FC236}">
                <a16:creationId xmlns:a16="http://schemas.microsoft.com/office/drawing/2014/main" id="{AB12B420-1124-439E-9C3D-46C48518205E}"/>
              </a:ext>
            </a:extLst>
          </p:cNvPr>
          <p:cNvSpPr/>
          <p:nvPr/>
        </p:nvSpPr>
        <p:spPr>
          <a:xfrm>
            <a:off x="2630393" y="2362201"/>
            <a:ext cx="1260764" cy="110836"/>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55" name="箭头: 右 54">
            <a:extLst>
              <a:ext uri="{FF2B5EF4-FFF2-40B4-BE49-F238E27FC236}">
                <a16:creationId xmlns:a16="http://schemas.microsoft.com/office/drawing/2014/main" id="{49CB5BB1-7081-4544-9761-CAC7DF0DB85D}"/>
              </a:ext>
            </a:extLst>
          </p:cNvPr>
          <p:cNvSpPr/>
          <p:nvPr/>
        </p:nvSpPr>
        <p:spPr>
          <a:xfrm>
            <a:off x="5152511" y="2320881"/>
            <a:ext cx="1358885" cy="110836"/>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3200"/>
          </a:p>
        </p:txBody>
      </p:sp>
      <p:sp>
        <p:nvSpPr>
          <p:cNvPr id="56" name="箭头: 右 55">
            <a:extLst>
              <a:ext uri="{FF2B5EF4-FFF2-40B4-BE49-F238E27FC236}">
                <a16:creationId xmlns:a16="http://schemas.microsoft.com/office/drawing/2014/main" id="{4FA8B180-A8EB-4AB4-BAF1-C85BA06BA45C}"/>
              </a:ext>
            </a:extLst>
          </p:cNvPr>
          <p:cNvSpPr/>
          <p:nvPr/>
        </p:nvSpPr>
        <p:spPr>
          <a:xfrm>
            <a:off x="7993832" y="2317185"/>
            <a:ext cx="1745915" cy="114532"/>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3200"/>
          </a:p>
        </p:txBody>
      </p:sp>
      <p:sp>
        <p:nvSpPr>
          <p:cNvPr id="57" name="箭头: 右 56">
            <a:extLst>
              <a:ext uri="{FF2B5EF4-FFF2-40B4-BE49-F238E27FC236}">
                <a16:creationId xmlns:a16="http://schemas.microsoft.com/office/drawing/2014/main" id="{A1B62D10-E3D2-461D-9776-9276200DDECD}"/>
              </a:ext>
            </a:extLst>
          </p:cNvPr>
          <p:cNvSpPr/>
          <p:nvPr/>
        </p:nvSpPr>
        <p:spPr>
          <a:xfrm rot="10800000">
            <a:off x="7929417" y="5035762"/>
            <a:ext cx="1702956" cy="114529"/>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3200"/>
          </a:p>
        </p:txBody>
      </p:sp>
      <p:sp>
        <p:nvSpPr>
          <p:cNvPr id="58" name="箭头: 右 57">
            <a:extLst>
              <a:ext uri="{FF2B5EF4-FFF2-40B4-BE49-F238E27FC236}">
                <a16:creationId xmlns:a16="http://schemas.microsoft.com/office/drawing/2014/main" id="{231D398B-6C65-4BA5-9FFE-806C661CDDDF}"/>
              </a:ext>
            </a:extLst>
          </p:cNvPr>
          <p:cNvSpPr/>
          <p:nvPr/>
        </p:nvSpPr>
        <p:spPr>
          <a:xfrm rot="10800000">
            <a:off x="5063838" y="5030987"/>
            <a:ext cx="1511973" cy="110835"/>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3200"/>
          </a:p>
        </p:txBody>
      </p:sp>
      <p:sp>
        <p:nvSpPr>
          <p:cNvPr id="59" name="箭头: 右 58">
            <a:extLst>
              <a:ext uri="{FF2B5EF4-FFF2-40B4-BE49-F238E27FC236}">
                <a16:creationId xmlns:a16="http://schemas.microsoft.com/office/drawing/2014/main" id="{AB00C71C-510B-44A0-AFCB-4C4C65A8CA70}"/>
              </a:ext>
            </a:extLst>
          </p:cNvPr>
          <p:cNvSpPr/>
          <p:nvPr/>
        </p:nvSpPr>
        <p:spPr>
          <a:xfrm rot="10800000">
            <a:off x="2372349" y="5027292"/>
            <a:ext cx="1394575" cy="122997"/>
          </a:xfrm>
          <a:prstGeom prst="right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3200"/>
          </a:p>
        </p:txBody>
      </p:sp>
      <p:sp>
        <p:nvSpPr>
          <p:cNvPr id="60" name="箭头: 下 59">
            <a:extLst>
              <a:ext uri="{FF2B5EF4-FFF2-40B4-BE49-F238E27FC236}">
                <a16:creationId xmlns:a16="http://schemas.microsoft.com/office/drawing/2014/main" id="{846BAD3C-742C-434D-A82F-40AA456A7434}"/>
              </a:ext>
            </a:extLst>
          </p:cNvPr>
          <p:cNvSpPr/>
          <p:nvPr/>
        </p:nvSpPr>
        <p:spPr>
          <a:xfrm>
            <a:off x="10326641" y="2860107"/>
            <a:ext cx="90055" cy="1813389"/>
          </a:xfrm>
          <a:prstGeom prst="downArrow">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zh-CN" altLang="en-US" sz="3200"/>
          </a:p>
        </p:txBody>
      </p:sp>
    </p:spTree>
    <p:extLst>
      <p:ext uri="{BB962C8B-B14F-4D97-AF65-F5344CB8AC3E}">
        <p14:creationId xmlns:p14="http://schemas.microsoft.com/office/powerpoint/2010/main" val="2193897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E2D336C-CB65-485B-B2E3-A5A4BF79CE40}"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课程基础与课程内容架构</a:t>
            </a:r>
          </a:p>
        </p:txBody>
      </p:sp>
      <p:sp>
        <p:nvSpPr>
          <p:cNvPr id="2" name="文本框 1">
            <a:extLst>
              <a:ext uri="{FF2B5EF4-FFF2-40B4-BE49-F238E27FC236}">
                <a16:creationId xmlns:a16="http://schemas.microsoft.com/office/drawing/2014/main" id="{B181DF01-A2E6-4314-B797-7AADA7DCEB77}"/>
              </a:ext>
            </a:extLst>
          </p:cNvPr>
          <p:cNvSpPr txBox="1"/>
          <p:nvPr/>
        </p:nvSpPr>
        <p:spPr>
          <a:xfrm>
            <a:off x="596442" y="1720807"/>
            <a:ext cx="10886314" cy="1200329"/>
          </a:xfrm>
          <a:prstGeom prst="rect">
            <a:avLst/>
          </a:prstGeom>
          <a:solidFill>
            <a:schemeClr val="accent5">
              <a:lumMod val="20000"/>
              <a:lumOff val="80000"/>
            </a:schemeClr>
          </a:solidFill>
        </p:spPr>
        <p:txBody>
          <a:bodyPr wrap="square" rtlCol="0">
            <a:spAutoFit/>
          </a:bodyPr>
          <a:lstStyle/>
          <a:p>
            <a:pPr marL="285750" indent="-285750">
              <a:spcBef>
                <a:spcPts val="600"/>
              </a:spcBef>
              <a:buFont typeface="Arial" panose="020B0604020202020204" pitchFamily="34" charset="0"/>
              <a:buChar char="•"/>
            </a:pPr>
            <a:r>
              <a:rPr lang="zh-CN" altLang="en-US" sz="2400" b="1" dirty="0">
                <a:solidFill>
                  <a:srgbClr val="210694"/>
                </a:solidFill>
                <a:latin typeface="Arial" panose="020B0604020202020204" pitchFamily="34" charset="0"/>
                <a:ea typeface="楷体" panose="02010609060101010101" pitchFamily="49" charset="-122"/>
                <a:cs typeface="Arial" panose="020B0604020202020204" pitchFamily="34" charset="0"/>
              </a:rPr>
              <a:t>课程只假定学生有中学数学知识</a:t>
            </a:r>
            <a:endParaRPr lang="en-US" altLang="zh-CN" sz="2400" b="1" dirty="0">
              <a:solidFill>
                <a:srgbClr val="210694"/>
              </a:solidFill>
              <a:latin typeface="Arial" panose="020B0604020202020204" pitchFamily="34" charset="0"/>
              <a:ea typeface="楷体" panose="02010609060101010101" pitchFamily="49" charset="-122"/>
              <a:cs typeface="Arial" panose="020B0604020202020204" pitchFamily="34" charset="0"/>
            </a:endParaRPr>
          </a:p>
          <a:p>
            <a:pPr marL="742950" lvl="1" indent="-285750">
              <a:spcBef>
                <a:spcPts val="600"/>
              </a:spcBef>
              <a:buFont typeface="Arial" panose="020B0604020202020204" pitchFamily="34" charset="0"/>
              <a:buChar char="•"/>
            </a:pPr>
            <a:r>
              <a:rPr lang="zh-CN" altLang="en-US" sz="2000" b="1" dirty="0">
                <a:solidFill>
                  <a:schemeClr val="accent6">
                    <a:lumMod val="50000"/>
                  </a:schemeClr>
                </a:solidFill>
                <a:latin typeface="宋体" panose="02010600030101010101" pitchFamily="2" charset="-122"/>
                <a:ea typeface="宋体" panose="02010600030101010101" pitchFamily="2" charset="-122"/>
              </a:rPr>
              <a:t>主要是初等代数（包括整数、函数、方程）等方面的知识</a:t>
            </a:r>
            <a:endParaRPr lang="en-US" altLang="zh-CN" sz="2000" b="1" dirty="0">
              <a:solidFill>
                <a:schemeClr val="accent6">
                  <a:lumMod val="50000"/>
                </a:schemeClr>
              </a:solidFill>
              <a:latin typeface="宋体" panose="02010600030101010101" pitchFamily="2" charset="-122"/>
              <a:ea typeface="宋体" panose="02010600030101010101" pitchFamily="2" charset="-122"/>
            </a:endParaRPr>
          </a:p>
          <a:p>
            <a:pPr marL="1200150" lvl="2" indent="-285750">
              <a:spcBef>
                <a:spcPts val="600"/>
              </a:spcBef>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如果已经接触过矩阵的基础知识，以及使用某门程序设计语言编写过简单的计算机程序则更好</a:t>
            </a:r>
          </a:p>
        </p:txBody>
      </p:sp>
      <p:sp>
        <p:nvSpPr>
          <p:cNvPr id="11" name="矩形: 圆角 10">
            <a:extLst>
              <a:ext uri="{FF2B5EF4-FFF2-40B4-BE49-F238E27FC236}">
                <a16:creationId xmlns:a16="http://schemas.microsoft.com/office/drawing/2014/main" id="{1DAA45A2-A6CE-48EF-835C-6B5FE28BD11B}"/>
              </a:ext>
            </a:extLst>
          </p:cNvPr>
          <p:cNvSpPr/>
          <p:nvPr/>
        </p:nvSpPr>
        <p:spPr>
          <a:xfrm>
            <a:off x="596442" y="1103964"/>
            <a:ext cx="3852466"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accent2">
                    <a:lumMod val="50000"/>
                  </a:schemeClr>
                </a:solidFill>
              </a:rPr>
              <a:t>课程需要学生有什么基础？</a:t>
            </a:r>
          </a:p>
        </p:txBody>
      </p:sp>
      <p:sp>
        <p:nvSpPr>
          <p:cNvPr id="12" name="矩形: 圆角 11">
            <a:extLst>
              <a:ext uri="{FF2B5EF4-FFF2-40B4-BE49-F238E27FC236}">
                <a16:creationId xmlns:a16="http://schemas.microsoft.com/office/drawing/2014/main" id="{D3AFFDB3-9085-46BC-87DC-EAB5B24EF591}"/>
              </a:ext>
            </a:extLst>
          </p:cNvPr>
          <p:cNvSpPr/>
          <p:nvPr/>
        </p:nvSpPr>
        <p:spPr>
          <a:xfrm>
            <a:off x="596441" y="3323904"/>
            <a:ext cx="3456576"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dirty="0">
                <a:solidFill>
                  <a:schemeClr val="accent2">
                    <a:lumMod val="50000"/>
                  </a:schemeClr>
                </a:solidFill>
              </a:rPr>
              <a:t>课程主要包括哪些内容？</a:t>
            </a:r>
          </a:p>
        </p:txBody>
      </p:sp>
      <p:pic>
        <p:nvPicPr>
          <p:cNvPr id="4" name="图片 3">
            <a:extLst>
              <a:ext uri="{FF2B5EF4-FFF2-40B4-BE49-F238E27FC236}">
                <a16:creationId xmlns:a16="http://schemas.microsoft.com/office/drawing/2014/main" id="{D4E3C916-EF10-4008-8C96-9F6A5913ED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607" y="3258763"/>
            <a:ext cx="7466909" cy="2905214"/>
          </a:xfrm>
          <a:prstGeom prst="rect">
            <a:avLst/>
          </a:prstGeom>
        </p:spPr>
      </p:pic>
      <p:sp>
        <p:nvSpPr>
          <p:cNvPr id="13" name="文本框 12">
            <a:extLst>
              <a:ext uri="{FF2B5EF4-FFF2-40B4-BE49-F238E27FC236}">
                <a16:creationId xmlns:a16="http://schemas.microsoft.com/office/drawing/2014/main" id="{4C26F543-9FA0-48AC-884C-52A14B10DDC1}"/>
              </a:ext>
            </a:extLst>
          </p:cNvPr>
          <p:cNvSpPr txBox="1"/>
          <p:nvPr/>
        </p:nvSpPr>
        <p:spPr>
          <a:xfrm>
            <a:off x="596442" y="3951320"/>
            <a:ext cx="3456576" cy="2212657"/>
          </a:xfrm>
          <a:prstGeom prst="rect">
            <a:avLst/>
          </a:prstGeom>
          <a:solidFill>
            <a:schemeClr val="accent2">
              <a:lumMod val="20000"/>
              <a:lumOff val="80000"/>
            </a:schemeClr>
          </a:solidFill>
        </p:spPr>
        <p:txBody>
          <a:bodyPr wrap="square" rtlCol="0">
            <a:spAutoFit/>
          </a:bodyPr>
          <a:lstStyle/>
          <a:p>
            <a:pPr>
              <a:lnSpc>
                <a:spcPts val="2800"/>
              </a:lnSpc>
              <a:spcBef>
                <a:spcPts val="600"/>
              </a:spcBef>
              <a:spcAft>
                <a:spcPts val="600"/>
              </a:spcAft>
            </a:pPr>
            <a:r>
              <a:rPr lang="zh-CN" altLang="en-US" sz="2000" b="1" dirty="0">
                <a:solidFill>
                  <a:srgbClr val="210694"/>
                </a:solidFill>
                <a:latin typeface="Arial" panose="020B0604020202020204" pitchFamily="34" charset="0"/>
                <a:ea typeface="楷体" panose="02010609060101010101" pitchFamily="49" charset="-122"/>
                <a:cs typeface="Arial" panose="020B0604020202020204" pitchFamily="34" charset="0"/>
              </a:rPr>
              <a:t>命题逻辑、一阶逻辑、证明方法（含归纳定义与归纳证明）、集合、关系、函数（含函数增长与算法效率分析初步）、计数与组合、图与树、代数系统基础知识</a:t>
            </a:r>
            <a:endParaRPr lang="en-US" altLang="zh-CN" sz="2000" b="1" dirty="0">
              <a:solidFill>
                <a:srgbClr val="210694"/>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243724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424A2C79-5205-4908-8AC9-A6BB41E524CC}"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教材与主要参考书籍</a:t>
            </a:r>
          </a:p>
        </p:txBody>
      </p:sp>
      <p:grpSp>
        <p:nvGrpSpPr>
          <p:cNvPr id="6" name="组合 5">
            <a:extLst>
              <a:ext uri="{FF2B5EF4-FFF2-40B4-BE49-F238E27FC236}">
                <a16:creationId xmlns:a16="http://schemas.microsoft.com/office/drawing/2014/main" id="{D6257E7A-4F2A-4C76-BFDD-0F2241F3306B}"/>
              </a:ext>
            </a:extLst>
          </p:cNvPr>
          <p:cNvGrpSpPr/>
          <p:nvPr/>
        </p:nvGrpSpPr>
        <p:grpSpPr>
          <a:xfrm>
            <a:off x="532852" y="1388046"/>
            <a:ext cx="2453749" cy="4766569"/>
            <a:chOff x="532852" y="1388046"/>
            <a:chExt cx="2453749" cy="4137825"/>
          </a:xfrm>
        </p:grpSpPr>
        <p:sp>
          <p:nvSpPr>
            <p:cNvPr id="2" name="矩形 1">
              <a:extLst>
                <a:ext uri="{FF2B5EF4-FFF2-40B4-BE49-F238E27FC236}">
                  <a16:creationId xmlns:a16="http://schemas.microsoft.com/office/drawing/2014/main" id="{274ED22D-3E8F-4380-A83C-03A294FAEB9E}"/>
                </a:ext>
              </a:extLst>
            </p:cNvPr>
            <p:cNvSpPr/>
            <p:nvPr/>
          </p:nvSpPr>
          <p:spPr>
            <a:xfrm>
              <a:off x="532852" y="1388046"/>
              <a:ext cx="2453749" cy="4137825"/>
            </a:xfrm>
            <a:prstGeom prst="rect">
              <a:avLst/>
            </a:prstGeom>
            <a:solidFill>
              <a:schemeClr val="accent4">
                <a:lumMod val="20000"/>
                <a:lumOff val="80000"/>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zh-CN" altLang="en-US" sz="2000" b="1" dirty="0">
                  <a:solidFill>
                    <a:srgbClr val="C00000"/>
                  </a:solidFill>
                </a:rPr>
                <a:t>教材</a:t>
              </a:r>
              <a:endParaRPr lang="en-US" altLang="zh-CN" sz="2000" b="1" dirty="0">
                <a:solidFill>
                  <a:srgbClr val="C00000"/>
                </a:solidFill>
              </a:endParaRPr>
            </a:p>
            <a:p>
              <a:pPr marL="285750" indent="-285750">
                <a:lnSpc>
                  <a:spcPts val="2000"/>
                </a:lnSpc>
                <a:buFont typeface="Arial" panose="020B0604020202020204" pitchFamily="34" charset="0"/>
                <a:buChar char="•"/>
              </a:pPr>
              <a:r>
                <a:rPr lang="zh-CN" altLang="en-US" sz="1600" b="1" dirty="0">
                  <a:solidFill>
                    <a:srgbClr val="210694"/>
                  </a:solidFill>
                  <a:latin typeface="楷体" panose="02010609060101010101" pitchFamily="49" charset="-122"/>
                  <a:ea typeface="楷体" panose="02010609060101010101" pitchFamily="49" charset="-122"/>
                </a:rPr>
                <a:t>周晓聪</a:t>
              </a:r>
              <a:r>
                <a:rPr lang="zh-CN" altLang="en-US" sz="1600" b="1">
                  <a:solidFill>
                    <a:srgbClr val="210694"/>
                  </a:solidFill>
                  <a:latin typeface="楷体" panose="02010609060101010101" pitchFamily="49" charset="-122"/>
                  <a:ea typeface="楷体" panose="02010609060101010101" pitchFamily="49" charset="-122"/>
                </a:rPr>
                <a:t>、乔海燕，</a:t>
              </a:r>
              <a:r>
                <a:rPr lang="en-US" altLang="zh-CN" sz="1600" b="1" dirty="0">
                  <a:solidFill>
                    <a:srgbClr val="210694"/>
                  </a:solidFill>
                  <a:latin typeface="楷体" panose="02010609060101010101" pitchFamily="49" charset="-122"/>
                  <a:ea typeface="楷体" panose="02010609060101010101" pitchFamily="49" charset="-122"/>
                </a:rPr>
                <a:t>《</a:t>
              </a:r>
              <a:r>
                <a:rPr lang="zh-CN" altLang="en-US" sz="1600" b="1" dirty="0">
                  <a:solidFill>
                    <a:srgbClr val="210694"/>
                  </a:solidFill>
                  <a:latin typeface="楷体" panose="02010609060101010101" pitchFamily="49" charset="-122"/>
                  <a:ea typeface="楷体" panose="02010609060101010101" pitchFamily="49" charset="-122"/>
                </a:rPr>
                <a:t>离散数学基础</a:t>
              </a:r>
              <a:r>
                <a:rPr lang="en-US" altLang="zh-CN" sz="1600" b="1" dirty="0">
                  <a:solidFill>
                    <a:srgbClr val="210694"/>
                  </a:solidFill>
                  <a:latin typeface="楷体" panose="02010609060101010101" pitchFamily="49" charset="-122"/>
                  <a:ea typeface="楷体" panose="02010609060101010101" pitchFamily="49" charset="-122"/>
                </a:rPr>
                <a:t>》</a:t>
              </a:r>
              <a:r>
                <a:rPr lang="zh-CN" altLang="en-US" sz="1600" b="1" dirty="0">
                  <a:solidFill>
                    <a:srgbClr val="210694"/>
                  </a:solidFill>
                  <a:latin typeface="楷体" panose="02010609060101010101" pitchFamily="49" charset="-122"/>
                  <a:ea typeface="楷体" panose="02010609060101010101" pitchFamily="49" charset="-122"/>
                </a:rPr>
                <a:t>，清华大学出版社</a:t>
              </a:r>
            </a:p>
          </p:txBody>
        </p:sp>
        <p:pic>
          <p:nvPicPr>
            <p:cNvPr id="4" name="图片 3">
              <a:extLst>
                <a:ext uri="{FF2B5EF4-FFF2-40B4-BE49-F238E27FC236}">
                  <a16:creationId xmlns:a16="http://schemas.microsoft.com/office/drawing/2014/main" id="{748FBD33-9316-423C-BAA5-3D0D02887A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762" y="2465223"/>
              <a:ext cx="2116901" cy="2843560"/>
            </a:xfrm>
            <a:prstGeom prst="rect">
              <a:avLst/>
            </a:prstGeom>
          </p:spPr>
        </p:pic>
      </p:grpSp>
      <p:sp>
        <p:nvSpPr>
          <p:cNvPr id="11" name="矩形 10">
            <a:extLst>
              <a:ext uri="{FF2B5EF4-FFF2-40B4-BE49-F238E27FC236}">
                <a16:creationId xmlns:a16="http://schemas.microsoft.com/office/drawing/2014/main" id="{2943C3AB-80B0-4FC2-8801-78603E069270}"/>
              </a:ext>
            </a:extLst>
          </p:cNvPr>
          <p:cNvSpPr/>
          <p:nvPr/>
        </p:nvSpPr>
        <p:spPr>
          <a:xfrm>
            <a:off x="3427355" y="1388046"/>
            <a:ext cx="8231793" cy="4766569"/>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zh-CN" altLang="en-US" sz="2000" b="1" dirty="0">
                <a:solidFill>
                  <a:srgbClr val="210694"/>
                </a:solidFill>
              </a:rPr>
              <a:t>主要参考书籍</a:t>
            </a:r>
            <a:endParaRPr lang="en-US" altLang="zh-CN" sz="2000" b="1" dirty="0">
              <a:solidFill>
                <a:srgbClr val="210694"/>
              </a:solidFill>
            </a:endParaRPr>
          </a:p>
          <a:p>
            <a:pPr marL="285750" indent="-285750">
              <a:spcBef>
                <a:spcPts val="600"/>
              </a:spcBef>
              <a:buFont typeface="Arial" panose="020B0604020202020204" pitchFamily="34" charset="0"/>
              <a:buChar char="•"/>
            </a:pPr>
            <a:r>
              <a:rPr lang="en-US" altLang="zh-CN" sz="1600" b="1" dirty="0">
                <a:solidFill>
                  <a:srgbClr val="C00000"/>
                </a:solidFill>
              </a:rPr>
              <a:t>R. L. Graham, D. E. Knuth, O. </a:t>
            </a:r>
            <a:r>
              <a:rPr lang="en-US" altLang="zh-CN" sz="1600" b="1" dirty="0" err="1">
                <a:solidFill>
                  <a:srgbClr val="C00000"/>
                </a:solidFill>
              </a:rPr>
              <a:t>Patashnik</a:t>
            </a:r>
            <a:r>
              <a:rPr lang="en-US" altLang="zh-CN" sz="1600" b="1" dirty="0">
                <a:solidFill>
                  <a:srgbClr val="C00000"/>
                </a:solidFill>
              </a:rPr>
              <a:t>, Concrete Mathematics: A Foundation for Computer  Science (Second Edition)</a:t>
            </a:r>
          </a:p>
          <a:p>
            <a:pPr marL="742950" lvl="1" indent="-285750">
              <a:spcBef>
                <a:spcPts val="600"/>
              </a:spcBef>
              <a:buFont typeface="Arial" panose="020B0604020202020204" pitchFamily="34" charset="0"/>
              <a:buChar char="•"/>
            </a:pPr>
            <a:r>
              <a:rPr lang="zh-CN" altLang="en-US" sz="1400" b="1" dirty="0">
                <a:solidFill>
                  <a:schemeClr val="accent6">
                    <a:lumMod val="50000"/>
                  </a:schemeClr>
                </a:solidFill>
                <a:latin typeface="楷体" panose="02010609060101010101" pitchFamily="49" charset="-122"/>
                <a:ea typeface="楷体" panose="02010609060101010101" pitchFamily="49" charset="-122"/>
              </a:rPr>
              <a:t>张明尧、张凡译，</a:t>
            </a:r>
            <a:r>
              <a:rPr lang="en-US" altLang="zh-CN" sz="1400" b="1" dirty="0">
                <a:solidFill>
                  <a:schemeClr val="accent6">
                    <a:lumMod val="50000"/>
                  </a:schemeClr>
                </a:solidFill>
                <a:latin typeface="楷体" panose="02010609060101010101" pitchFamily="49" charset="-122"/>
                <a:ea typeface="楷体" panose="02010609060101010101" pitchFamily="49" charset="-122"/>
              </a:rPr>
              <a:t>《</a:t>
            </a:r>
            <a:r>
              <a:rPr lang="zh-CN" altLang="en-US" sz="1400" b="1" dirty="0">
                <a:solidFill>
                  <a:schemeClr val="accent6">
                    <a:lumMod val="50000"/>
                  </a:schemeClr>
                </a:solidFill>
                <a:latin typeface="楷体" panose="02010609060101010101" pitchFamily="49" charset="-122"/>
                <a:ea typeface="楷体" panose="02010609060101010101" pitchFamily="49" charset="-122"/>
              </a:rPr>
              <a:t>具体数学：计算机科学基础</a:t>
            </a:r>
            <a:r>
              <a:rPr lang="en-US" altLang="zh-CN" sz="1400" b="1" dirty="0">
                <a:solidFill>
                  <a:schemeClr val="accent6">
                    <a:lumMod val="50000"/>
                  </a:schemeClr>
                </a:solidFill>
                <a:latin typeface="楷体" panose="02010609060101010101" pitchFamily="49" charset="-122"/>
                <a:ea typeface="楷体" panose="02010609060101010101" pitchFamily="49" charset="-122"/>
              </a:rPr>
              <a:t>》</a:t>
            </a:r>
            <a:r>
              <a:rPr lang="zh-CN" altLang="en-US" sz="1400" b="1" dirty="0">
                <a:solidFill>
                  <a:schemeClr val="accent6">
                    <a:lumMod val="50000"/>
                  </a:schemeClr>
                </a:solidFill>
                <a:latin typeface="楷体" panose="02010609060101010101" pitchFamily="49" charset="-122"/>
                <a:ea typeface="楷体" panose="02010609060101010101" pitchFamily="49" charset="-122"/>
              </a:rPr>
              <a:t>，人民邮电出版社，</a:t>
            </a:r>
            <a:r>
              <a:rPr lang="en-US" altLang="zh-CN" sz="1400" b="1" dirty="0">
                <a:solidFill>
                  <a:schemeClr val="accent6">
                    <a:lumMod val="50000"/>
                  </a:schemeClr>
                </a:solidFill>
                <a:latin typeface="楷体" panose="02010609060101010101" pitchFamily="49" charset="-122"/>
                <a:ea typeface="楷体" panose="02010609060101010101" pitchFamily="49" charset="-122"/>
              </a:rPr>
              <a:t>2013</a:t>
            </a:r>
          </a:p>
          <a:p>
            <a:pPr marL="285750" indent="-285750">
              <a:spcBef>
                <a:spcPts val="600"/>
              </a:spcBef>
              <a:buFont typeface="Arial" panose="020B0604020202020204" pitchFamily="34" charset="0"/>
              <a:buChar char="•"/>
            </a:pPr>
            <a:r>
              <a:rPr lang="en-US" altLang="zh-CN" sz="1600" b="1" dirty="0">
                <a:solidFill>
                  <a:srgbClr val="C00000"/>
                </a:solidFill>
              </a:rPr>
              <a:t>K. H. Rosen. Discrete Mathematics and its Applications (Seventh Edition)</a:t>
            </a:r>
          </a:p>
          <a:p>
            <a:pPr marL="742950" lvl="1" indent="-285750">
              <a:spcBef>
                <a:spcPts val="600"/>
              </a:spcBef>
              <a:buFont typeface="Arial" panose="020B0604020202020204" pitchFamily="34" charset="0"/>
              <a:buChar char="•"/>
            </a:pPr>
            <a:r>
              <a:rPr lang="zh-CN" altLang="en-US" sz="1400" b="1" dirty="0">
                <a:solidFill>
                  <a:schemeClr val="accent6">
                    <a:lumMod val="50000"/>
                  </a:schemeClr>
                </a:solidFill>
                <a:latin typeface="楷体" panose="02010609060101010101" pitchFamily="49" charset="-122"/>
                <a:ea typeface="楷体" panose="02010609060101010101" pitchFamily="49" charset="-122"/>
              </a:rPr>
              <a:t>徐六通等译，陈琼改编，</a:t>
            </a:r>
            <a:r>
              <a:rPr lang="en-US" altLang="zh-CN" sz="1400" b="1" dirty="0">
                <a:solidFill>
                  <a:schemeClr val="accent6">
                    <a:lumMod val="50000"/>
                  </a:schemeClr>
                </a:solidFill>
                <a:latin typeface="楷体" panose="02010609060101010101" pitchFamily="49" charset="-122"/>
                <a:ea typeface="楷体" panose="02010609060101010101" pitchFamily="49" charset="-122"/>
              </a:rPr>
              <a:t>《</a:t>
            </a:r>
            <a:r>
              <a:rPr lang="zh-CN" altLang="en-US" sz="1400" b="1" dirty="0">
                <a:solidFill>
                  <a:schemeClr val="accent6">
                    <a:lumMod val="50000"/>
                  </a:schemeClr>
                </a:solidFill>
                <a:latin typeface="楷体" panose="02010609060101010101" pitchFamily="49" charset="-122"/>
                <a:ea typeface="楷体" panose="02010609060101010101" pitchFamily="49" charset="-122"/>
              </a:rPr>
              <a:t>离散数学及其应用</a:t>
            </a:r>
            <a:r>
              <a:rPr lang="en-US" altLang="zh-CN" sz="1400" b="1" dirty="0">
                <a:solidFill>
                  <a:schemeClr val="accent6">
                    <a:lumMod val="50000"/>
                  </a:schemeClr>
                </a:solidFill>
                <a:latin typeface="楷体" panose="02010609060101010101" pitchFamily="49" charset="-122"/>
                <a:ea typeface="楷体" panose="02010609060101010101" pitchFamily="49" charset="-122"/>
              </a:rPr>
              <a:t>》</a:t>
            </a:r>
            <a:r>
              <a:rPr lang="zh-CN" altLang="en-US" sz="1400" b="1" dirty="0">
                <a:solidFill>
                  <a:schemeClr val="accent6">
                    <a:lumMod val="50000"/>
                  </a:schemeClr>
                </a:solidFill>
                <a:latin typeface="楷体" panose="02010609060101010101" pitchFamily="49" charset="-122"/>
                <a:ea typeface="楷体" panose="02010609060101010101" pitchFamily="49" charset="-122"/>
              </a:rPr>
              <a:t>第</a:t>
            </a:r>
            <a:r>
              <a:rPr lang="en-US" altLang="zh-CN" sz="1400" b="1" dirty="0">
                <a:solidFill>
                  <a:schemeClr val="accent6">
                    <a:lumMod val="50000"/>
                  </a:schemeClr>
                </a:solidFill>
                <a:latin typeface="楷体" panose="02010609060101010101" pitchFamily="49" charset="-122"/>
                <a:ea typeface="楷体" panose="02010609060101010101" pitchFamily="49" charset="-122"/>
              </a:rPr>
              <a:t>7</a:t>
            </a:r>
            <a:r>
              <a:rPr lang="zh-CN" altLang="en-US" sz="1400" b="1" dirty="0">
                <a:solidFill>
                  <a:schemeClr val="accent6">
                    <a:lumMod val="50000"/>
                  </a:schemeClr>
                </a:solidFill>
                <a:latin typeface="楷体" panose="02010609060101010101" pitchFamily="49" charset="-122"/>
                <a:ea typeface="楷体" panose="02010609060101010101" pitchFamily="49" charset="-122"/>
              </a:rPr>
              <a:t>版，本科教学版，机械工业出版社，</a:t>
            </a:r>
            <a:r>
              <a:rPr lang="en-US" altLang="zh-CN" sz="1400" b="1" dirty="0">
                <a:solidFill>
                  <a:schemeClr val="accent6">
                    <a:lumMod val="50000"/>
                  </a:schemeClr>
                </a:solidFill>
                <a:latin typeface="楷体" panose="02010609060101010101" pitchFamily="49" charset="-122"/>
                <a:ea typeface="楷体" panose="02010609060101010101" pitchFamily="49" charset="-122"/>
              </a:rPr>
              <a:t>2017</a:t>
            </a:r>
          </a:p>
          <a:p>
            <a:pPr marL="285750" indent="-285750">
              <a:spcBef>
                <a:spcPts val="600"/>
              </a:spcBef>
              <a:buFont typeface="Arial" panose="020B0604020202020204" pitchFamily="34" charset="0"/>
              <a:buChar char="•"/>
            </a:pPr>
            <a:r>
              <a:rPr lang="zh-CN" altLang="en-US" sz="1600" b="1" dirty="0">
                <a:solidFill>
                  <a:srgbClr val="C00000"/>
                </a:solidFill>
              </a:rPr>
              <a:t>耿素云、屈婉玲、王悍贫，</a:t>
            </a:r>
            <a:r>
              <a:rPr lang="en-US" altLang="zh-CN" sz="1600" b="1" dirty="0">
                <a:solidFill>
                  <a:srgbClr val="C00000"/>
                </a:solidFill>
              </a:rPr>
              <a:t>《</a:t>
            </a:r>
            <a:r>
              <a:rPr lang="zh-CN" altLang="en-US" sz="1600" b="1" dirty="0">
                <a:solidFill>
                  <a:srgbClr val="C00000"/>
                </a:solidFill>
              </a:rPr>
              <a:t>离散数学教程</a:t>
            </a:r>
            <a:r>
              <a:rPr lang="en-US" altLang="zh-CN" sz="1600" b="1" dirty="0">
                <a:solidFill>
                  <a:srgbClr val="C00000"/>
                </a:solidFill>
              </a:rPr>
              <a:t>》</a:t>
            </a:r>
            <a:r>
              <a:rPr lang="zh-CN" altLang="en-US" sz="1600" b="1" dirty="0">
                <a:solidFill>
                  <a:srgbClr val="C00000"/>
                </a:solidFill>
              </a:rPr>
              <a:t>，北京大学出版社，</a:t>
            </a:r>
            <a:r>
              <a:rPr lang="en-US" altLang="zh-CN" sz="1600" b="1" dirty="0">
                <a:solidFill>
                  <a:srgbClr val="C00000"/>
                </a:solidFill>
              </a:rPr>
              <a:t>2002</a:t>
            </a:r>
          </a:p>
          <a:p>
            <a:endParaRPr lang="zh-CN" altLang="en-US" dirty="0">
              <a:solidFill>
                <a:srgbClr val="210694"/>
              </a:solidFill>
            </a:endParaRPr>
          </a:p>
        </p:txBody>
      </p:sp>
      <p:pic>
        <p:nvPicPr>
          <p:cNvPr id="13" name="图片 12">
            <a:extLst>
              <a:ext uri="{FF2B5EF4-FFF2-40B4-BE49-F238E27FC236}">
                <a16:creationId xmlns:a16="http://schemas.microsoft.com/office/drawing/2014/main" id="{8D42F43D-B60C-4C67-9873-8332A62FB4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017" y="3669658"/>
            <a:ext cx="1739342" cy="2274139"/>
          </a:xfrm>
          <a:prstGeom prst="rect">
            <a:avLst/>
          </a:prstGeom>
        </p:spPr>
      </p:pic>
      <p:pic>
        <p:nvPicPr>
          <p:cNvPr id="15" name="图片 14">
            <a:extLst>
              <a:ext uri="{FF2B5EF4-FFF2-40B4-BE49-F238E27FC236}">
                <a16:creationId xmlns:a16="http://schemas.microsoft.com/office/drawing/2014/main" id="{3DF34179-3DB6-4A48-8AD9-606A993A5B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6238" y="3669658"/>
            <a:ext cx="1739343" cy="2067948"/>
          </a:xfrm>
          <a:prstGeom prst="rect">
            <a:avLst/>
          </a:prstGeom>
        </p:spPr>
      </p:pic>
      <p:pic>
        <p:nvPicPr>
          <p:cNvPr id="18" name="图片 17">
            <a:extLst>
              <a:ext uri="{FF2B5EF4-FFF2-40B4-BE49-F238E27FC236}">
                <a16:creationId xmlns:a16="http://schemas.microsoft.com/office/drawing/2014/main" id="{BCAE5B46-D17D-4597-96FA-79A0194D55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49768" y="3624390"/>
            <a:ext cx="1631447" cy="2319407"/>
          </a:xfrm>
          <a:prstGeom prst="rect">
            <a:avLst/>
          </a:prstGeom>
        </p:spPr>
      </p:pic>
    </p:spTree>
    <p:extLst>
      <p:ext uri="{BB962C8B-B14F-4D97-AF65-F5344CB8AC3E}">
        <p14:creationId xmlns:p14="http://schemas.microsoft.com/office/powerpoint/2010/main" val="2625423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2"/>
            <a:ext cx="6096000" cy="32234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5"/>
            <a:ext cx="6096000" cy="322343"/>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1" y="6523301"/>
            <a:ext cx="4053017" cy="32234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302"/>
            <a:ext cx="4085968" cy="322343"/>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302"/>
            <a:ext cx="4053016" cy="322343"/>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002769C7-0A4A-4025-BCF3-623A6AED0D05}"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3" y="1448010"/>
            <a:ext cx="4733731" cy="3547125"/>
          </a:xfrm>
          <a:prstGeom prst="rect">
            <a:avLst/>
          </a:prstGeom>
          <a:noFill/>
        </p:spPr>
        <p:txBody>
          <a:bodyPr wrap="square" rtlCol="0">
            <a:spAutoFit/>
          </a:bodyPr>
          <a:lstStyle/>
          <a:p>
            <a:pPr>
              <a:lnSpc>
                <a:spcPct val="250000"/>
              </a:lnSpc>
            </a:pPr>
            <a:r>
              <a:rPr lang="zh-CN" altLang="en-US" sz="3200" b="1">
                <a:solidFill>
                  <a:schemeClr val="bg1">
                    <a:lumMod val="95000"/>
                  </a:schemeClr>
                </a:solidFill>
                <a:latin typeface="仿宋" panose="02010609060101010101" pitchFamily="49" charset="-122"/>
                <a:ea typeface="仿宋" panose="02010609060101010101" pitchFamily="49" charset="-122"/>
              </a:rPr>
              <a:t>课程教学内容与教材</a:t>
            </a:r>
            <a:endParaRPr lang="en-US" altLang="zh-CN" sz="3200" b="1" dirty="0">
              <a:solidFill>
                <a:schemeClr val="bg1">
                  <a:lumMod val="95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课程教学目标与理念</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课程教学资源与考核</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689263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76FA1B2B-A5EA-4E91-A185-9617A6D36344}"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课程教学目标</a:t>
            </a:r>
          </a:p>
        </p:txBody>
      </p:sp>
      <p:graphicFrame>
        <p:nvGraphicFramePr>
          <p:cNvPr id="11" name="表格 10">
            <a:extLst>
              <a:ext uri="{FF2B5EF4-FFF2-40B4-BE49-F238E27FC236}">
                <a16:creationId xmlns:a16="http://schemas.microsoft.com/office/drawing/2014/main" id="{7B2676AC-0E7B-4D36-9EED-37DF95B259C9}"/>
              </a:ext>
            </a:extLst>
          </p:cNvPr>
          <p:cNvGraphicFramePr>
            <a:graphicFrameLocks noGrp="1"/>
          </p:cNvGraphicFramePr>
          <p:nvPr>
            <p:extLst>
              <p:ext uri="{D42A27DB-BD31-4B8C-83A1-F6EECF244321}">
                <p14:modId xmlns:p14="http://schemas.microsoft.com/office/powerpoint/2010/main" val="333857041"/>
              </p:ext>
            </p:extLst>
          </p:nvPr>
        </p:nvGraphicFramePr>
        <p:xfrm>
          <a:off x="691245" y="3114290"/>
          <a:ext cx="5196209" cy="1076339"/>
        </p:xfrm>
        <a:graphic>
          <a:graphicData uri="http://schemas.openxmlformats.org/drawingml/2006/table">
            <a:tbl>
              <a:tblPr>
                <a:solidFill>
                  <a:srgbClr val="99CC00">
                    <a:alpha val="50196"/>
                  </a:srgbClr>
                </a:solidFill>
                <a:tableStyleId>{8799B23B-EC83-4686-B30A-512413B5E67A}</a:tableStyleId>
              </a:tblPr>
              <a:tblGrid>
                <a:gridCol w="1031677">
                  <a:extLst>
                    <a:ext uri="{9D8B030D-6E8A-4147-A177-3AD203B41FA5}">
                      <a16:colId xmlns:a16="http://schemas.microsoft.com/office/drawing/2014/main" val="3327222827"/>
                    </a:ext>
                  </a:extLst>
                </a:gridCol>
                <a:gridCol w="4164532">
                  <a:extLst>
                    <a:ext uri="{9D8B030D-6E8A-4147-A177-3AD203B41FA5}">
                      <a16:colId xmlns:a16="http://schemas.microsoft.com/office/drawing/2014/main" val="443997373"/>
                    </a:ext>
                  </a:extLst>
                </a:gridCol>
              </a:tblGrid>
              <a:tr h="422425">
                <a:tc rowSpan="2">
                  <a:txBody>
                    <a:bodyPr/>
                    <a:lstStyle/>
                    <a:p>
                      <a:pPr marL="0" algn="ctr" defTabSz="914400" rtl="0" eaLnBrk="1" latinLnBrk="0" hangingPunct="1"/>
                      <a:r>
                        <a:rPr lang="zh-CN" altLang="en-US" sz="3200" b="1" kern="1200" cap="none" spc="0" dirty="0">
                          <a:ln w="6600">
                            <a:solidFill>
                              <a:schemeClr val="accent2"/>
                            </a:solidFill>
                            <a:prstDash val="solid"/>
                          </a:ln>
                          <a:solidFill>
                            <a:srgbClr val="FFFFFF"/>
                          </a:solidFill>
                          <a:effectLst>
                            <a:outerShdw dist="38100" dir="2700000" algn="tl" rotWithShape="0">
                              <a:schemeClr val="accent2"/>
                            </a:outerShdw>
                          </a:effectLst>
                          <a:latin typeface="幼圆" panose="02010509060101010101" pitchFamily="49" charset="-122"/>
                          <a:ea typeface="幼圆" panose="02010509060101010101" pitchFamily="49" charset="-122"/>
                          <a:cs typeface="+mn-cs"/>
                        </a:rPr>
                        <a:t>知识目标</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0" dirty="0">
                          <a:solidFill>
                            <a:srgbClr val="333399"/>
                          </a:solidFill>
                          <a:latin typeface="等线" panose="02010600030101010101" pitchFamily="2" charset="-122"/>
                          <a:ea typeface="等线" panose="02010600030101010101" pitchFamily="2" charset="-122"/>
                        </a:rPr>
                        <a:t>多门专业课的知识准备</a:t>
                      </a:r>
                      <a:endParaRPr lang="zh-CN" altLang="en-US"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accent3">
                        <a:lumMod val="20000"/>
                        <a:lumOff val="80000"/>
                      </a:schemeClr>
                    </a:solidFill>
                  </a:tcPr>
                </a:tc>
                <a:extLst>
                  <a:ext uri="{0D108BD9-81ED-4DB2-BD59-A6C34878D82A}">
                    <a16:rowId xmlns:a16="http://schemas.microsoft.com/office/drawing/2014/main" val="2056542815"/>
                  </a:ext>
                </a:extLst>
              </a:tr>
              <a:tr h="653914">
                <a:tc vMerge="1">
                  <a:txBody>
                    <a:bodyPr/>
                    <a:lstStyle/>
                    <a:p>
                      <a:endParaRPr lang="zh-CN" altLang="en-US"/>
                    </a:p>
                  </a:txBody>
                  <a:tcPr/>
                </a:tc>
                <a:tc>
                  <a:txBody>
                    <a:bodyPr/>
                    <a:lstStyle/>
                    <a:p>
                      <a:pPr algn="ctr"/>
                      <a:r>
                        <a:rPr lang="zh-CN" altLang="en-US" b="1" dirty="0">
                          <a:solidFill>
                            <a:srgbClr val="C00000"/>
                          </a:solidFill>
                          <a:latin typeface="楷体" panose="02010609060101010101" pitchFamily="49" charset="-122"/>
                          <a:ea typeface="楷体" panose="02010609060101010101" pitchFamily="49" charset="-122"/>
                        </a:rPr>
                        <a:t>熟练掌握逻辑与证明、集合关系与函数、计数与组合、图与树、代数结构</a:t>
                      </a:r>
                      <a:endParaRPr lang="zh-CN" altLang="en-US"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accent3">
                        <a:lumMod val="20000"/>
                        <a:lumOff val="80000"/>
                      </a:schemeClr>
                    </a:solidFill>
                  </a:tcPr>
                </a:tc>
                <a:extLst>
                  <a:ext uri="{0D108BD9-81ED-4DB2-BD59-A6C34878D82A}">
                    <a16:rowId xmlns:a16="http://schemas.microsoft.com/office/drawing/2014/main" val="1172638521"/>
                  </a:ext>
                </a:extLst>
              </a:tr>
            </a:tbl>
          </a:graphicData>
        </a:graphic>
      </p:graphicFrame>
      <p:graphicFrame>
        <p:nvGraphicFramePr>
          <p:cNvPr id="12" name="表格 11">
            <a:extLst>
              <a:ext uri="{FF2B5EF4-FFF2-40B4-BE49-F238E27FC236}">
                <a16:creationId xmlns:a16="http://schemas.microsoft.com/office/drawing/2014/main" id="{0376AAF4-17B4-47DD-8A05-0CCD4F997CCA}"/>
              </a:ext>
            </a:extLst>
          </p:cNvPr>
          <p:cNvGraphicFramePr>
            <a:graphicFrameLocks noGrp="1"/>
          </p:cNvGraphicFramePr>
          <p:nvPr>
            <p:extLst>
              <p:ext uri="{D42A27DB-BD31-4B8C-83A1-F6EECF244321}">
                <p14:modId xmlns:p14="http://schemas.microsoft.com/office/powerpoint/2010/main" val="2698222581"/>
              </p:ext>
            </p:extLst>
          </p:nvPr>
        </p:nvGraphicFramePr>
        <p:xfrm>
          <a:off x="691245" y="1411661"/>
          <a:ext cx="5227355" cy="1076339"/>
        </p:xfrm>
        <a:graphic>
          <a:graphicData uri="http://schemas.openxmlformats.org/drawingml/2006/table">
            <a:tbl>
              <a:tblPr>
                <a:tableStyleId>{8799B23B-EC83-4686-B30A-512413B5E67A}</a:tableStyleId>
              </a:tblPr>
              <a:tblGrid>
                <a:gridCol w="1012427">
                  <a:extLst>
                    <a:ext uri="{9D8B030D-6E8A-4147-A177-3AD203B41FA5}">
                      <a16:colId xmlns:a16="http://schemas.microsoft.com/office/drawing/2014/main" val="3327222827"/>
                    </a:ext>
                  </a:extLst>
                </a:gridCol>
                <a:gridCol w="4214928">
                  <a:extLst>
                    <a:ext uri="{9D8B030D-6E8A-4147-A177-3AD203B41FA5}">
                      <a16:colId xmlns:a16="http://schemas.microsoft.com/office/drawing/2014/main" val="443997373"/>
                    </a:ext>
                  </a:extLst>
                </a:gridCol>
              </a:tblGrid>
              <a:tr h="422425">
                <a:tc rowSpan="2">
                  <a:txBody>
                    <a:bodyPr/>
                    <a:lstStyle/>
                    <a:p>
                      <a:pPr marL="0" algn="ctr" defTabSz="914400" rtl="0" eaLnBrk="1" latinLnBrk="0" hangingPunct="1"/>
                      <a:r>
                        <a:rPr lang="zh-CN" altLang="en-US" sz="3200" b="1" kern="1200" cap="none" spc="0" dirty="0">
                          <a:ln w="6600">
                            <a:solidFill>
                              <a:schemeClr val="accent2"/>
                            </a:solidFill>
                            <a:prstDash val="solid"/>
                          </a:ln>
                          <a:solidFill>
                            <a:srgbClr val="FFFFFF"/>
                          </a:solidFill>
                          <a:effectLst>
                            <a:outerShdw dist="38100" dir="2700000" algn="tl" rotWithShape="0">
                              <a:schemeClr val="accent2"/>
                            </a:outerShdw>
                          </a:effectLst>
                          <a:latin typeface="幼圆" panose="02010509060101010101" pitchFamily="49" charset="-122"/>
                          <a:ea typeface="幼圆" panose="02010509060101010101" pitchFamily="49" charset="-122"/>
                          <a:cs typeface="+mn-cs"/>
                        </a:rPr>
                        <a:t>素质目标</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1" dirty="0">
                          <a:solidFill>
                            <a:srgbClr val="333399"/>
                          </a:solidFill>
                          <a:latin typeface="等线" panose="02010600030101010101" pitchFamily="2" charset="-122"/>
                          <a:ea typeface="等线" panose="02010600030101010101" pitchFamily="2" charset="-122"/>
                        </a:rPr>
                        <a:t>培育学生专业思维、科学精神、人文精神</a:t>
                      </a:r>
                      <a:endParaRPr lang="zh-CN" altLang="en-US" sz="1600" b="1"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bg1"/>
                    </a:solidFill>
                  </a:tcPr>
                </a:tc>
                <a:extLst>
                  <a:ext uri="{0D108BD9-81ED-4DB2-BD59-A6C34878D82A}">
                    <a16:rowId xmlns:a16="http://schemas.microsoft.com/office/drawing/2014/main" val="2056542815"/>
                  </a:ext>
                </a:extLst>
              </a:tr>
              <a:tr h="653914">
                <a:tc vMerge="1">
                  <a:txBody>
                    <a:bodyPr/>
                    <a:lstStyle/>
                    <a:p>
                      <a:endParaRPr lang="zh-CN" altLang="en-US"/>
                    </a:p>
                  </a:txBody>
                  <a:tcPr/>
                </a:tc>
                <a:tc>
                  <a:txBody>
                    <a:bodyPr/>
                    <a:lstStyle/>
                    <a:p>
                      <a:pPr algn="ctr"/>
                      <a:r>
                        <a:rPr lang="zh-CN" altLang="en-US" b="1" dirty="0">
                          <a:solidFill>
                            <a:srgbClr val="C00000"/>
                          </a:solidFill>
                          <a:latin typeface="楷体" panose="02010609060101010101" pitchFamily="49" charset="-122"/>
                          <a:ea typeface="楷体" panose="02010609060101010101" pitchFamily="49" charset="-122"/>
                        </a:rPr>
                        <a:t>感受家国情怀与人文关怀，培养勇于探索等科学精神，树立专业精神</a:t>
                      </a:r>
                      <a:endParaRPr lang="zh-CN" altLang="en-US"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bg1"/>
                    </a:solidFill>
                  </a:tcPr>
                </a:tc>
                <a:extLst>
                  <a:ext uri="{0D108BD9-81ED-4DB2-BD59-A6C34878D82A}">
                    <a16:rowId xmlns:a16="http://schemas.microsoft.com/office/drawing/2014/main" val="1172638521"/>
                  </a:ext>
                </a:extLst>
              </a:tr>
            </a:tbl>
          </a:graphicData>
        </a:graphic>
      </p:graphicFrame>
      <p:graphicFrame>
        <p:nvGraphicFramePr>
          <p:cNvPr id="13" name="表格 12">
            <a:extLst>
              <a:ext uri="{FF2B5EF4-FFF2-40B4-BE49-F238E27FC236}">
                <a16:creationId xmlns:a16="http://schemas.microsoft.com/office/drawing/2014/main" id="{27FDE851-3D8D-47A9-9288-3F47DF02A0BC}"/>
              </a:ext>
            </a:extLst>
          </p:cNvPr>
          <p:cNvGraphicFramePr>
            <a:graphicFrameLocks noGrp="1"/>
          </p:cNvGraphicFramePr>
          <p:nvPr>
            <p:extLst>
              <p:ext uri="{D42A27DB-BD31-4B8C-83A1-F6EECF244321}">
                <p14:modId xmlns:p14="http://schemas.microsoft.com/office/powerpoint/2010/main" val="3694051632"/>
              </p:ext>
            </p:extLst>
          </p:nvPr>
        </p:nvGraphicFramePr>
        <p:xfrm>
          <a:off x="691245" y="4816919"/>
          <a:ext cx="5196208" cy="1076339"/>
        </p:xfrm>
        <a:graphic>
          <a:graphicData uri="http://schemas.openxmlformats.org/drawingml/2006/table">
            <a:tbl>
              <a:tblPr>
                <a:tableStyleId>{8799B23B-EC83-4686-B30A-512413B5E67A}</a:tableStyleId>
              </a:tblPr>
              <a:tblGrid>
                <a:gridCol w="1050928">
                  <a:extLst>
                    <a:ext uri="{9D8B030D-6E8A-4147-A177-3AD203B41FA5}">
                      <a16:colId xmlns:a16="http://schemas.microsoft.com/office/drawing/2014/main" val="3327222827"/>
                    </a:ext>
                  </a:extLst>
                </a:gridCol>
                <a:gridCol w="4145280">
                  <a:extLst>
                    <a:ext uri="{9D8B030D-6E8A-4147-A177-3AD203B41FA5}">
                      <a16:colId xmlns:a16="http://schemas.microsoft.com/office/drawing/2014/main" val="443997373"/>
                    </a:ext>
                  </a:extLst>
                </a:gridCol>
              </a:tblGrid>
              <a:tr h="422425">
                <a:tc rowSpan="2">
                  <a:txBody>
                    <a:bodyPr/>
                    <a:lstStyle/>
                    <a:p>
                      <a:pPr marL="0" algn="ctr" defTabSz="914400" rtl="0" eaLnBrk="1" latinLnBrk="0" hangingPunct="1"/>
                      <a:r>
                        <a:rPr lang="zh-CN" altLang="en-US" sz="3200" b="1" kern="1200" cap="none" spc="0" dirty="0">
                          <a:ln w="6600">
                            <a:solidFill>
                              <a:schemeClr val="accent2"/>
                            </a:solidFill>
                            <a:prstDash val="solid"/>
                          </a:ln>
                          <a:solidFill>
                            <a:srgbClr val="FFFFFF"/>
                          </a:solidFill>
                          <a:effectLst>
                            <a:outerShdw dist="38100" dir="2700000" algn="tl" rotWithShape="0">
                              <a:schemeClr val="accent2"/>
                            </a:outerShdw>
                          </a:effectLst>
                          <a:latin typeface="幼圆" panose="02010509060101010101" pitchFamily="49" charset="-122"/>
                          <a:ea typeface="幼圆" panose="02010509060101010101" pitchFamily="49" charset="-122"/>
                          <a:cs typeface="+mn-cs"/>
                        </a:rPr>
                        <a:t>能力目标</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accent5">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0" dirty="0">
                          <a:solidFill>
                            <a:srgbClr val="333399"/>
                          </a:solidFill>
                          <a:latin typeface="等线" panose="02010600030101010101" pitchFamily="2" charset="-122"/>
                          <a:ea typeface="等线" panose="02010600030101010101" pitchFamily="2" charset="-122"/>
                        </a:rPr>
                        <a:t>提升学生利用计算机求解问题能力</a:t>
                      </a:r>
                      <a:endParaRPr lang="zh-CN" altLang="en-US"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accent5">
                        <a:lumMod val="20000"/>
                        <a:lumOff val="80000"/>
                      </a:schemeClr>
                    </a:solidFill>
                  </a:tcPr>
                </a:tc>
                <a:extLst>
                  <a:ext uri="{0D108BD9-81ED-4DB2-BD59-A6C34878D82A}">
                    <a16:rowId xmlns:a16="http://schemas.microsoft.com/office/drawing/2014/main" val="2056542815"/>
                  </a:ext>
                </a:extLst>
              </a:tr>
              <a:tr h="653914">
                <a:tc vMerge="1">
                  <a:txBody>
                    <a:bodyPr/>
                    <a:lstStyle/>
                    <a:p>
                      <a:endParaRPr lang="zh-CN" altLang="en-US"/>
                    </a:p>
                  </a:txBody>
                  <a:tcPr/>
                </a:tc>
                <a:tc>
                  <a:txBody>
                    <a:bodyPr/>
                    <a:lstStyle/>
                    <a:p>
                      <a:pPr algn="ctr"/>
                      <a:r>
                        <a:rPr lang="zh-CN" altLang="en-US" b="1" dirty="0">
                          <a:solidFill>
                            <a:srgbClr val="C00000"/>
                          </a:solidFill>
                          <a:latin typeface="楷体" panose="02010609060101010101" pitchFamily="49" charset="-122"/>
                          <a:ea typeface="楷体" panose="02010609060101010101" pitchFamily="49" charset="-122"/>
                        </a:rPr>
                        <a:t>在利用计算机求解问题时能初步运用逻辑、集合、图论和代数语言建模与分析</a:t>
                      </a:r>
                      <a:endParaRPr lang="zh-CN" altLang="en-US"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chemeClr val="accent5">
                        <a:lumMod val="20000"/>
                        <a:lumOff val="80000"/>
                      </a:schemeClr>
                    </a:solidFill>
                  </a:tcPr>
                </a:tc>
                <a:extLst>
                  <a:ext uri="{0D108BD9-81ED-4DB2-BD59-A6C34878D82A}">
                    <a16:rowId xmlns:a16="http://schemas.microsoft.com/office/drawing/2014/main" val="1172638521"/>
                  </a:ext>
                </a:extLst>
              </a:tr>
            </a:tbl>
          </a:graphicData>
        </a:graphic>
      </p:graphicFrame>
      <p:sp>
        <p:nvSpPr>
          <p:cNvPr id="14" name="箭头: 下 13">
            <a:extLst>
              <a:ext uri="{FF2B5EF4-FFF2-40B4-BE49-F238E27FC236}">
                <a16:creationId xmlns:a16="http://schemas.microsoft.com/office/drawing/2014/main" id="{AC882BB1-16FA-4930-A471-9B64FEB71EAA}"/>
              </a:ext>
            </a:extLst>
          </p:cNvPr>
          <p:cNvSpPr/>
          <p:nvPr/>
        </p:nvSpPr>
        <p:spPr>
          <a:xfrm>
            <a:off x="3028432" y="4190629"/>
            <a:ext cx="160544" cy="626290"/>
          </a:xfrm>
          <a:prstGeom prst="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5" name="箭头: 上 14">
            <a:extLst>
              <a:ext uri="{FF2B5EF4-FFF2-40B4-BE49-F238E27FC236}">
                <a16:creationId xmlns:a16="http://schemas.microsoft.com/office/drawing/2014/main" id="{FE4D5661-0FEE-41E9-8F82-6B59024D759A}"/>
              </a:ext>
            </a:extLst>
          </p:cNvPr>
          <p:cNvSpPr/>
          <p:nvPr/>
        </p:nvSpPr>
        <p:spPr>
          <a:xfrm>
            <a:off x="3015634" y="2488000"/>
            <a:ext cx="160544" cy="626290"/>
          </a:xfrm>
          <a:prstGeom prst="up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E1D2B9D4-3A05-4C36-85EE-DF188B875F1E}"/>
              </a:ext>
            </a:extLst>
          </p:cNvPr>
          <p:cNvSpPr txBox="1"/>
          <p:nvPr/>
        </p:nvSpPr>
        <p:spPr>
          <a:xfrm>
            <a:off x="3062168" y="2678034"/>
            <a:ext cx="533983" cy="246221"/>
          </a:xfrm>
          <a:prstGeom prst="rect">
            <a:avLst/>
          </a:prstGeom>
          <a:noFill/>
          <a:ln>
            <a:noFill/>
          </a:ln>
        </p:spPr>
        <p:txBody>
          <a:bodyPr wrap="square" rtlCol="0">
            <a:spAutoFit/>
          </a:bodyPr>
          <a:lstStyle/>
          <a:p>
            <a:r>
              <a:rPr lang="zh-CN" altLang="en-US" sz="1000" b="1">
                <a:solidFill>
                  <a:srgbClr val="050A27"/>
                </a:solidFill>
                <a:latin typeface="仿宋" panose="02010609060101010101" pitchFamily="49" charset="-122"/>
                <a:ea typeface="仿宋" panose="02010609060101010101" pitchFamily="49" charset="-122"/>
              </a:rPr>
              <a:t>内化</a:t>
            </a:r>
            <a:endParaRPr lang="zh-CN" altLang="en-US" sz="1000" b="1" dirty="0" err="1">
              <a:solidFill>
                <a:srgbClr val="050A27"/>
              </a:solidFill>
              <a:latin typeface="仿宋" panose="02010609060101010101" pitchFamily="49" charset="-122"/>
              <a:ea typeface="仿宋" panose="02010609060101010101" pitchFamily="49" charset="-122"/>
            </a:endParaRPr>
          </a:p>
        </p:txBody>
      </p:sp>
      <p:sp>
        <p:nvSpPr>
          <p:cNvPr id="18" name="文本框 17">
            <a:extLst>
              <a:ext uri="{FF2B5EF4-FFF2-40B4-BE49-F238E27FC236}">
                <a16:creationId xmlns:a16="http://schemas.microsoft.com/office/drawing/2014/main" id="{4F59AFCF-691E-49C2-B4F9-98868F15C5BC}"/>
              </a:ext>
            </a:extLst>
          </p:cNvPr>
          <p:cNvSpPr txBox="1"/>
          <p:nvPr/>
        </p:nvSpPr>
        <p:spPr>
          <a:xfrm>
            <a:off x="3095904" y="4306415"/>
            <a:ext cx="466509" cy="246221"/>
          </a:xfrm>
          <a:prstGeom prst="rect">
            <a:avLst/>
          </a:prstGeom>
          <a:noFill/>
          <a:ln>
            <a:noFill/>
          </a:ln>
        </p:spPr>
        <p:txBody>
          <a:bodyPr wrap="square" rtlCol="0">
            <a:spAutoFit/>
          </a:bodyPr>
          <a:lstStyle/>
          <a:p>
            <a:r>
              <a:rPr lang="zh-CN" altLang="en-US" sz="1000" b="1">
                <a:solidFill>
                  <a:srgbClr val="050A27"/>
                </a:solidFill>
                <a:latin typeface="仿宋" panose="02010609060101010101" pitchFamily="49" charset="-122"/>
                <a:ea typeface="仿宋" panose="02010609060101010101" pitchFamily="49" charset="-122"/>
              </a:rPr>
              <a:t>外显</a:t>
            </a:r>
            <a:endParaRPr lang="zh-CN" altLang="en-US" sz="1000" b="1" dirty="0" err="1">
              <a:solidFill>
                <a:srgbClr val="050A27"/>
              </a:solidFill>
              <a:latin typeface="仿宋" panose="02010609060101010101" pitchFamily="49" charset="-122"/>
              <a:ea typeface="仿宋" panose="02010609060101010101" pitchFamily="49" charset="-122"/>
            </a:endParaRPr>
          </a:p>
        </p:txBody>
      </p:sp>
      <p:sp>
        <p:nvSpPr>
          <p:cNvPr id="19" name="文本框 18">
            <a:extLst>
              <a:ext uri="{FF2B5EF4-FFF2-40B4-BE49-F238E27FC236}">
                <a16:creationId xmlns:a16="http://schemas.microsoft.com/office/drawing/2014/main" id="{28AE5F53-34F7-4732-A6A3-6C37FC16B8FC}"/>
              </a:ext>
            </a:extLst>
          </p:cNvPr>
          <p:cNvSpPr txBox="1"/>
          <p:nvPr/>
        </p:nvSpPr>
        <p:spPr>
          <a:xfrm>
            <a:off x="6474425" y="3027193"/>
            <a:ext cx="5430355" cy="1154162"/>
          </a:xfrm>
          <a:prstGeom prst="rect">
            <a:avLst/>
          </a:prstGeom>
          <a:solidFill>
            <a:schemeClr val="accent2">
              <a:lumMod val="20000"/>
              <a:lumOff val="80000"/>
            </a:schemeClr>
          </a:solidFill>
          <a:ln>
            <a:solidFill>
              <a:schemeClr val="bg2"/>
            </a:solidFill>
          </a:ln>
        </p:spPr>
        <p:txBody>
          <a:bodyPr wrap="square" rtlCol="0">
            <a:spAutoFit/>
          </a:bodyPr>
          <a:lstStyle/>
          <a:p>
            <a:pPr marL="285750" indent="-285750">
              <a:spcBef>
                <a:spcPts val="600"/>
              </a:spcBef>
              <a:buFont typeface="Arial" panose="020B0604020202020204" pitchFamily="34" charset="0"/>
              <a:buChar char="•"/>
            </a:pPr>
            <a:r>
              <a:rPr lang="zh-CN" altLang="en-US" sz="1600" b="1" dirty="0">
                <a:solidFill>
                  <a:srgbClr val="210694"/>
                </a:solidFill>
                <a:latin typeface="楷体" panose="02010609060101010101" pitchFamily="49" charset="-122"/>
                <a:ea typeface="楷体" panose="02010609060101010101" pitchFamily="49" charset="-122"/>
              </a:rPr>
              <a:t>提供学习计算机类专业后续课程，特别是数据结构与算法、数据库系统、编译原理等课程必不可少的知识</a:t>
            </a:r>
            <a:endParaRPr lang="en-US" altLang="zh-CN" sz="1600" b="1" dirty="0">
              <a:solidFill>
                <a:srgbClr val="210694"/>
              </a:solidFill>
              <a:latin typeface="楷体" panose="02010609060101010101" pitchFamily="49" charset="-122"/>
              <a:ea typeface="楷体" panose="02010609060101010101" pitchFamily="49" charset="-122"/>
            </a:endParaRPr>
          </a:p>
          <a:p>
            <a:pPr marL="285750" indent="-285750">
              <a:spcBef>
                <a:spcPts val="600"/>
              </a:spcBef>
              <a:buFont typeface="Arial" panose="020B0604020202020204" pitchFamily="34" charset="0"/>
              <a:buChar char="•"/>
            </a:pPr>
            <a:r>
              <a:rPr lang="zh-CN" altLang="en-US" sz="1600" b="1" dirty="0">
                <a:solidFill>
                  <a:srgbClr val="210694"/>
                </a:solidFill>
                <a:latin typeface="楷体" panose="02010609060101010101" pitchFamily="49" charset="-122"/>
                <a:ea typeface="楷体" panose="02010609060101010101" pitchFamily="49" charset="-122"/>
              </a:rPr>
              <a:t>离散数学类高级课程，图论及其应用、数理逻辑、代数结构、组合数学与数论、形式语言与自动机的先修课程</a:t>
            </a:r>
          </a:p>
        </p:txBody>
      </p:sp>
      <p:sp>
        <p:nvSpPr>
          <p:cNvPr id="3" name="箭头: 右 2">
            <a:extLst>
              <a:ext uri="{FF2B5EF4-FFF2-40B4-BE49-F238E27FC236}">
                <a16:creationId xmlns:a16="http://schemas.microsoft.com/office/drawing/2014/main" id="{69C7D676-6573-4DC8-8417-2E5A261D17BC}"/>
              </a:ext>
            </a:extLst>
          </p:cNvPr>
          <p:cNvSpPr/>
          <p:nvPr/>
        </p:nvSpPr>
        <p:spPr>
          <a:xfrm>
            <a:off x="5887453" y="3543915"/>
            <a:ext cx="586972" cy="21333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AE45F8E7-6403-42B1-B65E-48C036A704C8}"/>
              </a:ext>
            </a:extLst>
          </p:cNvPr>
          <p:cNvSpPr txBox="1"/>
          <p:nvPr/>
        </p:nvSpPr>
        <p:spPr>
          <a:xfrm>
            <a:off x="6474425" y="4541006"/>
            <a:ext cx="5393524" cy="1615827"/>
          </a:xfrm>
          <a:prstGeom prst="rect">
            <a:avLst/>
          </a:prstGeom>
          <a:solidFill>
            <a:schemeClr val="accent6">
              <a:lumMod val="20000"/>
              <a:lumOff val="80000"/>
              <a:alpha val="20000"/>
            </a:schemeClr>
          </a:solidFill>
        </p:spPr>
        <p:txBody>
          <a:bodyPr wrap="square" rtlCol="0">
            <a:spAutoFit/>
          </a:bodyPr>
          <a:lstStyle/>
          <a:p>
            <a:pPr marL="285750" indent="-285750">
              <a:spcBef>
                <a:spcPts val="300"/>
              </a:spcBef>
              <a:spcAft>
                <a:spcPts val="300"/>
              </a:spcAft>
              <a:buFont typeface="Arial" panose="020B0604020202020204" pitchFamily="34" charset="0"/>
              <a:buChar char="•"/>
            </a:pPr>
            <a:r>
              <a:rPr lang="zh-CN" altLang="en-US" sz="1400" b="1" dirty="0">
                <a:solidFill>
                  <a:schemeClr val="accent6">
                    <a:lumMod val="50000"/>
                  </a:schemeClr>
                </a:solidFill>
                <a:latin typeface="+mn-ea"/>
              </a:rPr>
              <a:t>识别与判断问题是否能使用离散数学知识进行建模</a:t>
            </a:r>
          </a:p>
          <a:p>
            <a:pPr marL="285750" indent="-285750">
              <a:spcBef>
                <a:spcPts val="300"/>
              </a:spcBef>
              <a:spcAft>
                <a:spcPts val="300"/>
              </a:spcAft>
              <a:buFont typeface="Arial" panose="020B0604020202020204" pitchFamily="34" charset="0"/>
              <a:buChar char="•"/>
            </a:pPr>
            <a:r>
              <a:rPr lang="zh-CN" altLang="en-US" sz="1400" b="1" dirty="0">
                <a:solidFill>
                  <a:schemeClr val="accent6">
                    <a:lumMod val="50000"/>
                  </a:schemeClr>
                </a:solidFill>
                <a:latin typeface="+mn-ea"/>
              </a:rPr>
              <a:t>使用适当的数学语言表示问题所涉及的概念（元素）及概念之间的关联（结构），从而建立起基本的离散模型</a:t>
            </a:r>
          </a:p>
          <a:p>
            <a:pPr marL="285750" indent="-285750">
              <a:spcBef>
                <a:spcPts val="300"/>
              </a:spcBef>
              <a:spcAft>
                <a:spcPts val="300"/>
              </a:spcAft>
              <a:buFont typeface="Arial" panose="020B0604020202020204" pitchFamily="34" charset="0"/>
              <a:buChar char="•"/>
            </a:pPr>
            <a:r>
              <a:rPr lang="zh-CN" altLang="en-US" sz="1400" b="1" dirty="0">
                <a:solidFill>
                  <a:schemeClr val="accent6">
                    <a:lumMod val="50000"/>
                  </a:schemeClr>
                </a:solidFill>
                <a:latin typeface="+mn-ea"/>
              </a:rPr>
              <a:t>使用适当的数学语言描述并推导与验证模型的性质</a:t>
            </a:r>
          </a:p>
          <a:p>
            <a:pPr marL="285750" indent="-285750">
              <a:spcBef>
                <a:spcPts val="300"/>
              </a:spcBef>
              <a:spcAft>
                <a:spcPts val="300"/>
              </a:spcAft>
              <a:buFont typeface="Arial" panose="020B0604020202020204" pitchFamily="34" charset="0"/>
              <a:buChar char="•"/>
            </a:pPr>
            <a:r>
              <a:rPr lang="zh-CN" altLang="en-US" sz="1400" b="1" dirty="0">
                <a:solidFill>
                  <a:schemeClr val="accent6">
                    <a:lumMod val="50000"/>
                  </a:schemeClr>
                </a:solidFill>
                <a:latin typeface="+mn-ea"/>
              </a:rPr>
              <a:t>根据离散模型设计算法从而用计算机辅助解决问题，并初步分析算法效率</a:t>
            </a:r>
            <a:endParaRPr lang="en-US" altLang="zh-CN" sz="1400" b="1" dirty="0">
              <a:solidFill>
                <a:schemeClr val="accent6">
                  <a:lumMod val="50000"/>
                </a:schemeClr>
              </a:solidFill>
              <a:latin typeface="+mn-ea"/>
            </a:endParaRPr>
          </a:p>
        </p:txBody>
      </p:sp>
      <p:sp>
        <p:nvSpPr>
          <p:cNvPr id="6" name="箭头: 右 5">
            <a:extLst>
              <a:ext uri="{FF2B5EF4-FFF2-40B4-BE49-F238E27FC236}">
                <a16:creationId xmlns:a16="http://schemas.microsoft.com/office/drawing/2014/main" id="{42524CDF-B70E-40E7-A139-AFF1E7562BE3}"/>
              </a:ext>
            </a:extLst>
          </p:cNvPr>
          <p:cNvSpPr/>
          <p:nvPr/>
        </p:nvSpPr>
        <p:spPr>
          <a:xfrm>
            <a:off x="5887453" y="5246543"/>
            <a:ext cx="586972" cy="217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9D688755-635F-4964-AA41-14570A8A4A84}"/>
              </a:ext>
            </a:extLst>
          </p:cNvPr>
          <p:cNvSpPr txBox="1"/>
          <p:nvPr/>
        </p:nvSpPr>
        <p:spPr>
          <a:xfrm>
            <a:off x="6481840" y="1497141"/>
            <a:ext cx="5422940" cy="827278"/>
          </a:xfrm>
          <a:prstGeom prst="rect">
            <a:avLst/>
          </a:prstGeom>
          <a:solidFill>
            <a:schemeClr val="accent4"/>
          </a:solidFill>
        </p:spPr>
        <p:txBody>
          <a:bodyPr wrap="square" rtlCol="0">
            <a:spAutoFit/>
          </a:bodyPr>
          <a:lstStyle/>
          <a:p>
            <a:pPr>
              <a:lnSpc>
                <a:spcPts val="3000"/>
              </a:lnSpc>
            </a:pPr>
            <a:r>
              <a:rPr lang="zh-CN" altLang="en-US" b="1" dirty="0">
                <a:solidFill>
                  <a:srgbClr val="C00000"/>
                </a:solidFill>
              </a:rPr>
              <a:t>立德树人，培养有担当、有责任、富有使命感、德智体美劳全面发展的新时代社会主义建设接班人</a:t>
            </a:r>
          </a:p>
        </p:txBody>
      </p:sp>
      <p:sp>
        <p:nvSpPr>
          <p:cNvPr id="21" name="箭头: 右 20">
            <a:extLst>
              <a:ext uri="{FF2B5EF4-FFF2-40B4-BE49-F238E27FC236}">
                <a16:creationId xmlns:a16="http://schemas.microsoft.com/office/drawing/2014/main" id="{4FD5CBAB-C114-496D-B4EA-0968474D1942}"/>
              </a:ext>
            </a:extLst>
          </p:cNvPr>
          <p:cNvSpPr/>
          <p:nvPr/>
        </p:nvSpPr>
        <p:spPr>
          <a:xfrm>
            <a:off x="5926015" y="1810940"/>
            <a:ext cx="548410" cy="2436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7248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p:bldP spid="18" grpId="0"/>
      <p:bldP spid="19" grpId="0" animBg="1"/>
      <p:bldP spid="3" grpId="0" animBg="1"/>
      <p:bldP spid="4" grpId="0" animBg="1"/>
      <p:bldP spid="6" grpId="0" animBg="1"/>
      <p:bldP spid="20" grpId="0" animBg="1"/>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76DD8A71-C2E1-44EE-B65A-03DF5D8D03C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课程教学理念</a:t>
            </a:r>
            <a:r>
              <a:rPr lang="en-US" altLang="zh-CN"/>
              <a:t>-</a:t>
            </a:r>
            <a:r>
              <a:rPr lang="zh-CN" altLang="en-US"/>
              <a:t>强化课程知识模块之间关系</a:t>
            </a:r>
          </a:p>
        </p:txBody>
      </p:sp>
      <p:sp>
        <p:nvSpPr>
          <p:cNvPr id="31" name="文本框 30">
            <a:extLst>
              <a:ext uri="{FF2B5EF4-FFF2-40B4-BE49-F238E27FC236}">
                <a16:creationId xmlns:a16="http://schemas.microsoft.com/office/drawing/2014/main" id="{518ACC93-4A4E-4EFB-A316-B92CF5387A11}"/>
              </a:ext>
            </a:extLst>
          </p:cNvPr>
          <p:cNvSpPr txBox="1"/>
          <p:nvPr/>
        </p:nvSpPr>
        <p:spPr>
          <a:xfrm>
            <a:off x="763383" y="1275279"/>
            <a:ext cx="2195944" cy="1528945"/>
          </a:xfrm>
          <a:prstGeom prst="rect">
            <a:avLst/>
          </a:prstGeom>
          <a:solidFill>
            <a:schemeClr val="accent4">
              <a:lumMod val="20000"/>
              <a:lumOff val="80000"/>
              <a:alpha val="45000"/>
            </a:schemeClr>
          </a:solidFill>
        </p:spPr>
        <p:txBody>
          <a:bodyPr wrap="square" rtlCol="0">
            <a:spAutoFit/>
          </a:bodyPr>
          <a:lstStyle/>
          <a:p>
            <a:r>
              <a:rPr lang="zh-CN" altLang="en-US" sz="1867" b="1">
                <a:solidFill>
                  <a:schemeClr val="accent2">
                    <a:lumMod val="50000"/>
                  </a:schemeClr>
                </a:solidFill>
              </a:rPr>
              <a:t>引入</a:t>
            </a:r>
            <a:r>
              <a:rPr lang="zh-CN" altLang="en-US" sz="1867" b="1">
                <a:solidFill>
                  <a:srgbClr val="C00000"/>
                </a:solidFill>
              </a:rPr>
              <a:t>基础知识</a:t>
            </a:r>
            <a:r>
              <a:rPr lang="zh-CN" altLang="en-US" sz="1867" b="1">
                <a:solidFill>
                  <a:schemeClr val="accent2">
                    <a:lumMod val="50000"/>
                  </a:schemeClr>
                </a:solidFill>
              </a:rPr>
              <a:t>章节，概述课程最基础概念，并让学生尽早接触集合的归纳定义与算法基本概念</a:t>
            </a:r>
          </a:p>
        </p:txBody>
      </p:sp>
      <p:sp>
        <p:nvSpPr>
          <p:cNvPr id="32" name="文本框 31">
            <a:extLst>
              <a:ext uri="{FF2B5EF4-FFF2-40B4-BE49-F238E27FC236}">
                <a16:creationId xmlns:a16="http://schemas.microsoft.com/office/drawing/2014/main" id="{144EFF7F-9986-4F8A-8C19-ABC8D6744886}"/>
              </a:ext>
            </a:extLst>
          </p:cNvPr>
          <p:cNvSpPr txBox="1"/>
          <p:nvPr/>
        </p:nvSpPr>
        <p:spPr>
          <a:xfrm>
            <a:off x="3590801" y="1275278"/>
            <a:ext cx="2195945" cy="1528945"/>
          </a:xfrm>
          <a:prstGeom prst="rect">
            <a:avLst/>
          </a:prstGeom>
          <a:solidFill>
            <a:schemeClr val="accent4">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solidFill>
                  <a:srgbClr val="C00000"/>
                </a:solidFill>
              </a:rPr>
              <a:t>命题逻辑</a:t>
            </a:r>
            <a:r>
              <a:rPr lang="zh-CN" altLang="en-US" sz="1867"/>
              <a:t>部分使用归纳法严格定义语法语义，强化算法与程序在求解命题逻辑问题的应用</a:t>
            </a:r>
          </a:p>
        </p:txBody>
      </p:sp>
      <p:sp>
        <p:nvSpPr>
          <p:cNvPr id="33" name="文本框 32">
            <a:extLst>
              <a:ext uri="{FF2B5EF4-FFF2-40B4-BE49-F238E27FC236}">
                <a16:creationId xmlns:a16="http://schemas.microsoft.com/office/drawing/2014/main" id="{62E71010-B8B9-4139-892C-49E1B20E8313}"/>
              </a:ext>
            </a:extLst>
          </p:cNvPr>
          <p:cNvSpPr txBox="1"/>
          <p:nvPr/>
        </p:nvSpPr>
        <p:spPr>
          <a:xfrm>
            <a:off x="6405257" y="1275284"/>
            <a:ext cx="2195945" cy="1528945"/>
          </a:xfrm>
          <a:prstGeom prst="rect">
            <a:avLst/>
          </a:prstGeom>
          <a:solidFill>
            <a:schemeClr val="accent4">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solidFill>
                  <a:srgbClr val="C00000"/>
                </a:solidFill>
              </a:rPr>
              <a:t>一阶逻辑</a:t>
            </a:r>
            <a:r>
              <a:rPr lang="zh-CN" altLang="en-US" sz="1867"/>
              <a:t>部分采用与命题逻辑部分相同的知识框架，强调命题逻辑知识在一阶逻辑的应用</a:t>
            </a:r>
          </a:p>
        </p:txBody>
      </p:sp>
      <p:sp>
        <p:nvSpPr>
          <p:cNvPr id="34" name="文本框 33">
            <a:extLst>
              <a:ext uri="{FF2B5EF4-FFF2-40B4-BE49-F238E27FC236}">
                <a16:creationId xmlns:a16="http://schemas.microsoft.com/office/drawing/2014/main" id="{F1C31D95-60EB-4F0C-9DC7-7D49489037DC}"/>
              </a:ext>
            </a:extLst>
          </p:cNvPr>
          <p:cNvSpPr txBox="1"/>
          <p:nvPr/>
        </p:nvSpPr>
        <p:spPr>
          <a:xfrm>
            <a:off x="9232673" y="1275282"/>
            <a:ext cx="2195945" cy="1528945"/>
          </a:xfrm>
          <a:prstGeom prst="rect">
            <a:avLst/>
          </a:prstGeom>
          <a:solidFill>
            <a:schemeClr val="accent4">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t>将</a:t>
            </a:r>
            <a:r>
              <a:rPr lang="zh-CN" altLang="en-US" sz="1867">
                <a:solidFill>
                  <a:srgbClr val="C00000"/>
                </a:solidFill>
              </a:rPr>
              <a:t>数学证明</a:t>
            </a:r>
            <a:r>
              <a:rPr lang="zh-CN" altLang="en-US" sz="1867"/>
              <a:t>部分看做逻辑知识的应用，强调逻辑知识在分析定理含义及其证明中的作用</a:t>
            </a:r>
          </a:p>
        </p:txBody>
      </p:sp>
      <p:sp>
        <p:nvSpPr>
          <p:cNvPr id="35" name="文本框 34">
            <a:extLst>
              <a:ext uri="{FF2B5EF4-FFF2-40B4-BE49-F238E27FC236}">
                <a16:creationId xmlns:a16="http://schemas.microsoft.com/office/drawing/2014/main" id="{7355E375-B18D-44D7-8B2C-45CA5DFF225F}"/>
              </a:ext>
            </a:extLst>
          </p:cNvPr>
          <p:cNvSpPr txBox="1"/>
          <p:nvPr/>
        </p:nvSpPr>
        <p:spPr>
          <a:xfrm>
            <a:off x="4998028" y="3210887"/>
            <a:ext cx="2195945" cy="1241622"/>
          </a:xfrm>
          <a:prstGeom prst="rect">
            <a:avLst/>
          </a:prstGeom>
          <a:solidFill>
            <a:schemeClr val="accent4">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solidFill>
                  <a:srgbClr val="C00000"/>
                </a:solidFill>
              </a:rPr>
              <a:t>集合</a:t>
            </a:r>
            <a:r>
              <a:rPr lang="zh-CN" altLang="en-US" sz="1867"/>
              <a:t>部分以集合等式的证明为核心，演示证明方法在证明集合等式的应用</a:t>
            </a:r>
          </a:p>
        </p:txBody>
      </p:sp>
      <p:sp>
        <p:nvSpPr>
          <p:cNvPr id="36" name="文本框 35">
            <a:extLst>
              <a:ext uri="{FF2B5EF4-FFF2-40B4-BE49-F238E27FC236}">
                <a16:creationId xmlns:a16="http://schemas.microsoft.com/office/drawing/2014/main" id="{EC060E67-48F8-4189-AA59-9928BEC84C7E}"/>
              </a:ext>
            </a:extLst>
          </p:cNvPr>
          <p:cNvSpPr txBox="1"/>
          <p:nvPr/>
        </p:nvSpPr>
        <p:spPr>
          <a:xfrm>
            <a:off x="8399318" y="3218809"/>
            <a:ext cx="2195945" cy="1241622"/>
          </a:xfrm>
          <a:prstGeom prst="rect">
            <a:avLst/>
          </a:prstGeom>
          <a:solidFill>
            <a:schemeClr val="accent4">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solidFill>
                  <a:srgbClr val="C00000"/>
                </a:solidFill>
              </a:rPr>
              <a:t>关系函数</a:t>
            </a:r>
            <a:r>
              <a:rPr lang="zh-CN" altLang="en-US" sz="1867"/>
              <a:t>部分强调从集合对应角度研究性质，强调集合等式证明的应用</a:t>
            </a:r>
          </a:p>
        </p:txBody>
      </p:sp>
      <p:sp>
        <p:nvSpPr>
          <p:cNvPr id="37" name="文本框 36">
            <a:extLst>
              <a:ext uri="{FF2B5EF4-FFF2-40B4-BE49-F238E27FC236}">
                <a16:creationId xmlns:a16="http://schemas.microsoft.com/office/drawing/2014/main" id="{04C7F65B-EA26-4425-8FD1-ADBE228C71C1}"/>
              </a:ext>
            </a:extLst>
          </p:cNvPr>
          <p:cNvSpPr txBox="1"/>
          <p:nvPr/>
        </p:nvSpPr>
        <p:spPr>
          <a:xfrm>
            <a:off x="4998026" y="4859230"/>
            <a:ext cx="2195945" cy="1241622"/>
          </a:xfrm>
          <a:prstGeom prst="rect">
            <a:avLst/>
          </a:prstGeom>
          <a:solidFill>
            <a:schemeClr val="accent5">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solidFill>
                  <a:srgbClr val="C00000"/>
                </a:solidFill>
              </a:rPr>
              <a:t>组合计数</a:t>
            </a:r>
            <a:r>
              <a:rPr lang="zh-CN" altLang="en-US" sz="1867"/>
              <a:t>部分强调是对有限集合元素的计数，强调集合语言的运用</a:t>
            </a:r>
          </a:p>
        </p:txBody>
      </p:sp>
      <p:sp>
        <p:nvSpPr>
          <p:cNvPr id="61" name="文本框 60">
            <a:extLst>
              <a:ext uri="{FF2B5EF4-FFF2-40B4-BE49-F238E27FC236}">
                <a16:creationId xmlns:a16="http://schemas.microsoft.com/office/drawing/2014/main" id="{D9EBF7D9-9330-49F5-9528-FE8514AED0A2}"/>
              </a:ext>
            </a:extLst>
          </p:cNvPr>
          <p:cNvSpPr txBox="1"/>
          <p:nvPr/>
        </p:nvSpPr>
        <p:spPr>
          <a:xfrm>
            <a:off x="8399320" y="4859231"/>
            <a:ext cx="2195945" cy="1241622"/>
          </a:xfrm>
          <a:prstGeom prst="rect">
            <a:avLst/>
          </a:prstGeom>
          <a:solidFill>
            <a:schemeClr val="accent5">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solidFill>
                  <a:srgbClr val="C00000"/>
                </a:solidFill>
              </a:rPr>
              <a:t>代数系统</a:t>
            </a:r>
            <a:r>
              <a:rPr lang="zh-CN" altLang="en-US" sz="1867"/>
              <a:t>部分以代数的构造为核心，强调函数、关系等知识的运用</a:t>
            </a:r>
          </a:p>
        </p:txBody>
      </p:sp>
      <p:sp>
        <p:nvSpPr>
          <p:cNvPr id="62" name="文本框 61">
            <a:extLst>
              <a:ext uri="{FF2B5EF4-FFF2-40B4-BE49-F238E27FC236}">
                <a16:creationId xmlns:a16="http://schemas.microsoft.com/office/drawing/2014/main" id="{DA7FB0ED-3E66-441B-8989-FBA89DB1CC99}"/>
              </a:ext>
            </a:extLst>
          </p:cNvPr>
          <p:cNvSpPr txBox="1"/>
          <p:nvPr/>
        </p:nvSpPr>
        <p:spPr>
          <a:xfrm>
            <a:off x="1596737" y="4859231"/>
            <a:ext cx="2195945" cy="1241622"/>
          </a:xfrm>
          <a:prstGeom prst="rect">
            <a:avLst/>
          </a:prstGeom>
          <a:solidFill>
            <a:schemeClr val="accent5">
              <a:lumMod val="20000"/>
              <a:lumOff val="80000"/>
              <a:alpha val="45000"/>
            </a:schemeClr>
          </a:solidFill>
        </p:spPr>
        <p:txBody>
          <a:bodyPr wrap="square" rtlCol="0">
            <a:spAutoFit/>
          </a:bodyPr>
          <a:lstStyle>
            <a:defPPr>
              <a:defRPr lang="en-US"/>
            </a:defPPr>
            <a:lvl1pPr>
              <a:defRPr sz="1400" b="1">
                <a:solidFill>
                  <a:schemeClr val="accent2">
                    <a:lumMod val="50000"/>
                  </a:schemeClr>
                </a:solidFill>
              </a:defRPr>
            </a:lvl1pPr>
          </a:lstStyle>
          <a:p>
            <a:r>
              <a:rPr lang="zh-CN" altLang="en-US" sz="1867">
                <a:solidFill>
                  <a:srgbClr val="C00000"/>
                </a:solidFill>
              </a:rPr>
              <a:t>图论</a:t>
            </a:r>
            <a:r>
              <a:rPr lang="zh-CN" altLang="en-US" sz="1867"/>
              <a:t>部分强调集合语言的运用以及对实际应用问题的建模和求解算法设计</a:t>
            </a:r>
          </a:p>
        </p:txBody>
      </p:sp>
      <p:sp>
        <p:nvSpPr>
          <p:cNvPr id="63" name="箭头: 右 62">
            <a:extLst>
              <a:ext uri="{FF2B5EF4-FFF2-40B4-BE49-F238E27FC236}">
                <a16:creationId xmlns:a16="http://schemas.microsoft.com/office/drawing/2014/main" id="{580936C2-2D55-4220-B971-C180A8CC218A}"/>
              </a:ext>
            </a:extLst>
          </p:cNvPr>
          <p:cNvSpPr/>
          <p:nvPr/>
        </p:nvSpPr>
        <p:spPr>
          <a:xfrm>
            <a:off x="2959328" y="1955883"/>
            <a:ext cx="631473" cy="1246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4" name="箭头: 右 63">
            <a:extLst>
              <a:ext uri="{FF2B5EF4-FFF2-40B4-BE49-F238E27FC236}">
                <a16:creationId xmlns:a16="http://schemas.microsoft.com/office/drawing/2014/main" id="{056F290D-4FB0-4BFF-AE1B-CCED4E29F1D6}"/>
              </a:ext>
            </a:extLst>
          </p:cNvPr>
          <p:cNvSpPr/>
          <p:nvPr/>
        </p:nvSpPr>
        <p:spPr>
          <a:xfrm>
            <a:off x="5786746" y="1955883"/>
            <a:ext cx="631473" cy="1246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5" name="箭头: 右 64">
            <a:extLst>
              <a:ext uri="{FF2B5EF4-FFF2-40B4-BE49-F238E27FC236}">
                <a16:creationId xmlns:a16="http://schemas.microsoft.com/office/drawing/2014/main" id="{F8C01462-89CB-4796-9CD9-6955C8551C38}"/>
              </a:ext>
            </a:extLst>
          </p:cNvPr>
          <p:cNvSpPr/>
          <p:nvPr/>
        </p:nvSpPr>
        <p:spPr>
          <a:xfrm>
            <a:off x="8619554" y="1955883"/>
            <a:ext cx="631473" cy="1246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6" name="箭头: 右 65">
            <a:extLst>
              <a:ext uri="{FF2B5EF4-FFF2-40B4-BE49-F238E27FC236}">
                <a16:creationId xmlns:a16="http://schemas.microsoft.com/office/drawing/2014/main" id="{0FDAF257-3080-4F2B-872A-1A670B301E5D}"/>
              </a:ext>
            </a:extLst>
          </p:cNvPr>
          <p:cNvSpPr/>
          <p:nvPr/>
        </p:nvSpPr>
        <p:spPr>
          <a:xfrm rot="9740965">
            <a:off x="7123617" y="3062167"/>
            <a:ext cx="2263224" cy="1126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7" name="箭头: 右 66">
            <a:extLst>
              <a:ext uri="{FF2B5EF4-FFF2-40B4-BE49-F238E27FC236}">
                <a16:creationId xmlns:a16="http://schemas.microsoft.com/office/drawing/2014/main" id="{6A63B10C-0BB5-4952-A362-101F7696D3E3}"/>
              </a:ext>
            </a:extLst>
          </p:cNvPr>
          <p:cNvSpPr/>
          <p:nvPr/>
        </p:nvSpPr>
        <p:spPr>
          <a:xfrm>
            <a:off x="7193973" y="3803738"/>
            <a:ext cx="1205345" cy="1246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8" name="箭头: 右 67">
            <a:extLst>
              <a:ext uri="{FF2B5EF4-FFF2-40B4-BE49-F238E27FC236}">
                <a16:creationId xmlns:a16="http://schemas.microsoft.com/office/drawing/2014/main" id="{54628562-37FE-4841-B599-5F23ABF0A3B9}"/>
              </a:ext>
            </a:extLst>
          </p:cNvPr>
          <p:cNvSpPr/>
          <p:nvPr/>
        </p:nvSpPr>
        <p:spPr>
          <a:xfrm rot="9255043">
            <a:off x="2822697" y="4261613"/>
            <a:ext cx="2263224" cy="11265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69" name="箭头: 下 68">
            <a:extLst>
              <a:ext uri="{FF2B5EF4-FFF2-40B4-BE49-F238E27FC236}">
                <a16:creationId xmlns:a16="http://schemas.microsoft.com/office/drawing/2014/main" id="{1B65F2D8-D47B-401B-81A8-4688841DE6F7}"/>
              </a:ext>
            </a:extLst>
          </p:cNvPr>
          <p:cNvSpPr/>
          <p:nvPr/>
        </p:nvSpPr>
        <p:spPr>
          <a:xfrm rot="20301048">
            <a:off x="2174583" y="2791682"/>
            <a:ext cx="107844" cy="210546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0" name="箭头: 下 69">
            <a:extLst>
              <a:ext uri="{FF2B5EF4-FFF2-40B4-BE49-F238E27FC236}">
                <a16:creationId xmlns:a16="http://schemas.microsoft.com/office/drawing/2014/main" id="{ACA7DD5C-3F0C-4332-B5E0-F6467961EA10}"/>
              </a:ext>
            </a:extLst>
          </p:cNvPr>
          <p:cNvSpPr/>
          <p:nvPr/>
        </p:nvSpPr>
        <p:spPr>
          <a:xfrm>
            <a:off x="6019801" y="4490952"/>
            <a:ext cx="103908"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1" name="箭头: 下 70">
            <a:extLst>
              <a:ext uri="{FF2B5EF4-FFF2-40B4-BE49-F238E27FC236}">
                <a16:creationId xmlns:a16="http://schemas.microsoft.com/office/drawing/2014/main" id="{0AA04DB5-06A2-4E9E-9ADE-EEE3F72B228A}"/>
              </a:ext>
            </a:extLst>
          </p:cNvPr>
          <p:cNvSpPr/>
          <p:nvPr/>
        </p:nvSpPr>
        <p:spPr>
          <a:xfrm>
            <a:off x="9445335" y="4509485"/>
            <a:ext cx="103908" cy="3693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72" name="箭头: 下 71">
            <a:extLst>
              <a:ext uri="{FF2B5EF4-FFF2-40B4-BE49-F238E27FC236}">
                <a16:creationId xmlns:a16="http://schemas.microsoft.com/office/drawing/2014/main" id="{F9A80975-1EBC-47CB-88BB-537F5BE210E9}"/>
              </a:ext>
            </a:extLst>
          </p:cNvPr>
          <p:cNvSpPr/>
          <p:nvPr/>
        </p:nvSpPr>
        <p:spPr>
          <a:xfrm rot="17274376">
            <a:off x="8050444" y="3594678"/>
            <a:ext cx="112395" cy="18819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373007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76DD8A71-C2E1-44EE-B65A-03DF5D8D03C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课程教学理念</a:t>
            </a:r>
            <a:r>
              <a:rPr lang="en-US" altLang="zh-CN"/>
              <a:t>-</a:t>
            </a:r>
            <a:r>
              <a:rPr lang="zh-CN" altLang="en-US"/>
              <a:t>强化与计算机问题求解间的联系</a:t>
            </a:r>
          </a:p>
        </p:txBody>
      </p:sp>
      <p:pic>
        <p:nvPicPr>
          <p:cNvPr id="27" name="图片 26">
            <a:extLst>
              <a:ext uri="{FF2B5EF4-FFF2-40B4-BE49-F238E27FC236}">
                <a16:creationId xmlns:a16="http://schemas.microsoft.com/office/drawing/2014/main" id="{7F483BBB-B3E5-43FD-908F-DE31373D9836}"/>
              </a:ext>
            </a:extLst>
          </p:cNvPr>
          <p:cNvPicPr/>
          <p:nvPr/>
        </p:nvPicPr>
        <p:blipFill>
          <a:blip r:embed="rId2"/>
          <a:stretch>
            <a:fillRect/>
          </a:stretch>
        </p:blipFill>
        <p:spPr>
          <a:xfrm>
            <a:off x="472287" y="1556225"/>
            <a:ext cx="5311987" cy="4384040"/>
          </a:xfrm>
          <a:prstGeom prst="rect">
            <a:avLst/>
          </a:prstGeom>
        </p:spPr>
      </p:pic>
      <p:sp>
        <p:nvSpPr>
          <p:cNvPr id="28" name="文本框 27">
            <a:extLst>
              <a:ext uri="{FF2B5EF4-FFF2-40B4-BE49-F238E27FC236}">
                <a16:creationId xmlns:a16="http://schemas.microsoft.com/office/drawing/2014/main" id="{90333E6E-C594-4204-BF9C-E8483CD3B5F2}"/>
              </a:ext>
            </a:extLst>
          </p:cNvPr>
          <p:cNvSpPr txBox="1"/>
          <p:nvPr/>
        </p:nvSpPr>
        <p:spPr>
          <a:xfrm>
            <a:off x="5721927" y="1364653"/>
            <a:ext cx="5832764" cy="4544064"/>
          </a:xfrm>
          <a:prstGeom prst="rect">
            <a:avLst/>
          </a:prstGeom>
          <a:solidFill>
            <a:schemeClr val="accent4">
              <a:lumMod val="20000"/>
              <a:lumOff val="80000"/>
              <a:alpha val="52000"/>
            </a:schemeClr>
          </a:solidFill>
        </p:spPr>
        <p:txBody>
          <a:bodyPr wrap="square" rtlCol="0">
            <a:spAutoFit/>
          </a:bodyPr>
          <a:lstStyle/>
          <a:p>
            <a:pPr>
              <a:spcBef>
                <a:spcPts val="800"/>
              </a:spcBef>
            </a:pPr>
            <a:r>
              <a:rPr lang="zh-CN" altLang="en-US" sz="2133" b="1">
                <a:solidFill>
                  <a:schemeClr val="accent2">
                    <a:lumMod val="50000"/>
                  </a:schemeClr>
                </a:solidFill>
              </a:rPr>
              <a:t>计算机问题求解时的五种思考方向（计算机专业意识，或计算思维的具体体现）</a:t>
            </a:r>
            <a:endParaRPr lang="en-US" altLang="zh-CN" sz="2133" b="1">
              <a:solidFill>
                <a:schemeClr val="accent2">
                  <a:lumMod val="50000"/>
                </a:schemeClr>
              </a:solidFill>
            </a:endParaRPr>
          </a:p>
          <a:p>
            <a:pPr marL="380990" indent="-380990">
              <a:spcBef>
                <a:spcPts val="800"/>
              </a:spcBef>
              <a:buFont typeface="Arial" panose="020B0604020202020204" pitchFamily="34" charset="0"/>
              <a:buChar char="•"/>
            </a:pPr>
            <a:r>
              <a:rPr lang="zh-CN" altLang="en-US" sz="2133" b="1">
                <a:solidFill>
                  <a:srgbClr val="C00000"/>
                </a:solidFill>
                <a:latin typeface="+mn-ea"/>
              </a:rPr>
              <a:t>离散化</a:t>
            </a:r>
            <a:r>
              <a:rPr lang="zh-CN" altLang="en-US" sz="2133" b="1">
                <a:solidFill>
                  <a:srgbClr val="002060"/>
                </a:solidFill>
                <a:latin typeface="楷体" panose="02010609060101010101" pitchFamily="49" charset="-122"/>
                <a:ea typeface="楷体" panose="02010609060101010101" pitchFamily="49" charset="-122"/>
              </a:rPr>
              <a:t>是在求解问题时应将复杂问题分解为一系列可枚举的简单问题</a:t>
            </a:r>
            <a:endParaRPr lang="en-US" altLang="zh-CN" sz="2133" b="1">
              <a:solidFill>
                <a:srgbClr val="002060"/>
              </a:solidFill>
              <a:latin typeface="楷体" panose="02010609060101010101" pitchFamily="49" charset="-122"/>
              <a:ea typeface="楷体" panose="02010609060101010101" pitchFamily="49" charset="-122"/>
            </a:endParaRPr>
          </a:p>
          <a:p>
            <a:pPr marL="380990" indent="-380990">
              <a:spcBef>
                <a:spcPts val="800"/>
              </a:spcBef>
              <a:buFont typeface="Arial" panose="020B0604020202020204" pitchFamily="34" charset="0"/>
              <a:buChar char="•"/>
            </a:pPr>
            <a:r>
              <a:rPr lang="zh-CN" altLang="en-US" sz="2133" b="1">
                <a:solidFill>
                  <a:srgbClr val="C00000"/>
                </a:solidFill>
                <a:latin typeface="+mn-ea"/>
              </a:rPr>
              <a:t>模块化</a:t>
            </a:r>
            <a:r>
              <a:rPr lang="zh-CN" altLang="en-US" sz="2133" b="1">
                <a:solidFill>
                  <a:srgbClr val="002060"/>
                </a:solidFill>
                <a:latin typeface="楷体" panose="02010609060101010101" pitchFamily="49" charset="-122"/>
                <a:ea typeface="楷体" panose="02010609060101010101" pitchFamily="49" charset="-122"/>
              </a:rPr>
              <a:t>是指这种分解应尽量得到一个个可独立求解的问题，或称为模块</a:t>
            </a:r>
            <a:endParaRPr lang="en-US" altLang="zh-CN" sz="2133" b="1">
              <a:solidFill>
                <a:srgbClr val="002060"/>
              </a:solidFill>
              <a:latin typeface="楷体" panose="02010609060101010101" pitchFamily="49" charset="-122"/>
              <a:ea typeface="楷体" panose="02010609060101010101" pitchFamily="49" charset="-122"/>
            </a:endParaRPr>
          </a:p>
          <a:p>
            <a:pPr marL="380990" indent="-380990">
              <a:spcBef>
                <a:spcPts val="800"/>
              </a:spcBef>
              <a:buFont typeface="Arial" panose="020B0604020202020204" pitchFamily="34" charset="0"/>
              <a:buChar char="•"/>
            </a:pPr>
            <a:r>
              <a:rPr lang="zh-CN" altLang="en-US" sz="2133" b="1">
                <a:solidFill>
                  <a:srgbClr val="C00000"/>
                </a:solidFill>
                <a:latin typeface="+mn-ea"/>
              </a:rPr>
              <a:t>层次化</a:t>
            </a:r>
            <a:r>
              <a:rPr lang="zh-CN" altLang="en-US" sz="2133" b="1">
                <a:solidFill>
                  <a:srgbClr val="002060"/>
                </a:solidFill>
                <a:latin typeface="楷体" panose="02010609060101010101" pitchFamily="49" charset="-122"/>
                <a:ea typeface="楷体" panose="02010609060101010101" pitchFamily="49" charset="-122"/>
              </a:rPr>
              <a:t>是指这些模块可形成不同的抽象层次</a:t>
            </a:r>
            <a:endParaRPr lang="en-US" altLang="zh-CN" sz="2133" b="1">
              <a:solidFill>
                <a:srgbClr val="002060"/>
              </a:solidFill>
              <a:latin typeface="楷体" panose="02010609060101010101" pitchFamily="49" charset="-122"/>
              <a:ea typeface="楷体" panose="02010609060101010101" pitchFamily="49" charset="-122"/>
            </a:endParaRPr>
          </a:p>
          <a:p>
            <a:pPr marL="380990" indent="-380990">
              <a:spcBef>
                <a:spcPts val="800"/>
              </a:spcBef>
              <a:buFont typeface="Arial" panose="020B0604020202020204" pitchFamily="34" charset="0"/>
              <a:buChar char="•"/>
            </a:pPr>
            <a:r>
              <a:rPr lang="zh-CN" altLang="en-US" sz="2133" b="1">
                <a:solidFill>
                  <a:srgbClr val="C00000"/>
                </a:solidFill>
                <a:latin typeface="+mn-ea"/>
              </a:rPr>
              <a:t>系统化</a:t>
            </a:r>
            <a:r>
              <a:rPr lang="zh-CN" altLang="en-US" sz="2133" b="1">
                <a:solidFill>
                  <a:srgbClr val="002060"/>
                </a:solidFill>
                <a:latin typeface="楷体" panose="02010609060101010101" pitchFamily="49" charset="-122"/>
                <a:ea typeface="楷体" panose="02010609060101010101" pitchFamily="49" charset="-122"/>
              </a:rPr>
              <a:t>是指分解应遵循某种统一的标准，保证可不遗漏地求解原来的问题</a:t>
            </a:r>
            <a:endParaRPr lang="en-US" altLang="zh-CN" sz="2133" b="1">
              <a:solidFill>
                <a:srgbClr val="002060"/>
              </a:solidFill>
              <a:latin typeface="楷体" panose="02010609060101010101" pitchFamily="49" charset="-122"/>
              <a:ea typeface="楷体" panose="02010609060101010101" pitchFamily="49" charset="-122"/>
            </a:endParaRPr>
          </a:p>
          <a:p>
            <a:pPr marL="380990" indent="-380990">
              <a:spcBef>
                <a:spcPts val="800"/>
              </a:spcBef>
              <a:buFont typeface="Arial" panose="020B0604020202020204" pitchFamily="34" charset="0"/>
              <a:buChar char="•"/>
            </a:pPr>
            <a:r>
              <a:rPr lang="zh-CN" altLang="en-US" sz="2133" b="1">
                <a:solidFill>
                  <a:srgbClr val="C00000"/>
                </a:solidFill>
                <a:latin typeface="+mn-ea"/>
              </a:rPr>
              <a:t>公理化</a:t>
            </a:r>
            <a:r>
              <a:rPr lang="zh-CN" altLang="en-US" sz="2133" b="1">
                <a:solidFill>
                  <a:srgbClr val="002060"/>
                </a:solidFill>
                <a:latin typeface="楷体" panose="02010609060101010101" pitchFamily="49" charset="-122"/>
                <a:ea typeface="楷体" panose="02010609060101010101" pitchFamily="49" charset="-122"/>
              </a:rPr>
              <a:t>是指在分解得到的一堆问题中应尽量发现其中最基本的问题，以便通过组合最基本问题的解来解决其他问题</a:t>
            </a:r>
            <a:endParaRPr lang="en-US" altLang="zh-CN" sz="2133" b="1">
              <a:solidFill>
                <a:srgbClr val="00206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67073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76DD8A71-C2E1-44EE-B65A-03DF5D8D03C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课程教学理念</a:t>
            </a:r>
            <a:r>
              <a:rPr lang="en-US" altLang="zh-CN"/>
              <a:t>-</a:t>
            </a:r>
            <a:r>
              <a:rPr lang="zh-CN" altLang="en-US"/>
              <a:t>强化与计算机问题求解间的联系</a:t>
            </a:r>
          </a:p>
        </p:txBody>
      </p:sp>
      <p:graphicFrame>
        <p:nvGraphicFramePr>
          <p:cNvPr id="11" name="表格 10">
            <a:extLst>
              <a:ext uri="{FF2B5EF4-FFF2-40B4-BE49-F238E27FC236}">
                <a16:creationId xmlns:a16="http://schemas.microsoft.com/office/drawing/2014/main" id="{E7BFF342-6582-4EDC-940A-2468C87CEAFE}"/>
              </a:ext>
            </a:extLst>
          </p:cNvPr>
          <p:cNvGraphicFramePr>
            <a:graphicFrameLocks noGrp="1"/>
          </p:cNvGraphicFramePr>
          <p:nvPr>
            <p:extLst>
              <p:ext uri="{D42A27DB-BD31-4B8C-83A1-F6EECF244321}">
                <p14:modId xmlns:p14="http://schemas.microsoft.com/office/powerpoint/2010/main" val="3988138580"/>
              </p:ext>
            </p:extLst>
          </p:nvPr>
        </p:nvGraphicFramePr>
        <p:xfrm>
          <a:off x="793169" y="1184635"/>
          <a:ext cx="10605660" cy="4935649"/>
        </p:xfrm>
        <a:graphic>
          <a:graphicData uri="http://schemas.openxmlformats.org/drawingml/2006/table">
            <a:tbl>
              <a:tblPr firstRow="1" firstCol="1" bandRow="1">
                <a:tableStyleId>{5C22544A-7EE6-4342-B048-85BDC9FD1C3A}</a:tableStyleId>
              </a:tblPr>
              <a:tblGrid>
                <a:gridCol w="991796">
                  <a:extLst>
                    <a:ext uri="{9D8B030D-6E8A-4147-A177-3AD203B41FA5}">
                      <a16:colId xmlns:a16="http://schemas.microsoft.com/office/drawing/2014/main" val="3882999823"/>
                    </a:ext>
                  </a:extLst>
                </a:gridCol>
                <a:gridCol w="3869428">
                  <a:extLst>
                    <a:ext uri="{9D8B030D-6E8A-4147-A177-3AD203B41FA5}">
                      <a16:colId xmlns:a16="http://schemas.microsoft.com/office/drawing/2014/main" val="2899789165"/>
                    </a:ext>
                  </a:extLst>
                </a:gridCol>
                <a:gridCol w="5744436">
                  <a:extLst>
                    <a:ext uri="{9D8B030D-6E8A-4147-A177-3AD203B41FA5}">
                      <a16:colId xmlns:a16="http://schemas.microsoft.com/office/drawing/2014/main" val="1793700"/>
                    </a:ext>
                  </a:extLst>
                </a:gridCol>
              </a:tblGrid>
              <a:tr h="465691">
                <a:tc>
                  <a:txBody>
                    <a:bodyPr/>
                    <a:lstStyle/>
                    <a:p>
                      <a:pPr indent="266700" algn="ctr">
                        <a:lnSpc>
                          <a:spcPts val="1600"/>
                        </a:lnSpc>
                        <a:spcBef>
                          <a:spcPts val="465"/>
                        </a:spcBef>
                        <a:spcAft>
                          <a:spcPts val="0"/>
                        </a:spcAft>
                      </a:pPr>
                      <a:r>
                        <a:rPr lang="en-US" sz="1600">
                          <a:effectLst/>
                        </a:rPr>
                        <a:t> </a:t>
                      </a:r>
                      <a:endParaRPr lang="zh-CN" sz="1600">
                        <a:effectLst/>
                        <a:latin typeface="Times New Roman" panose="02020603050405020304" pitchFamily="18" charset="0"/>
                        <a:ea typeface="宋体" panose="02010600030101010101" pitchFamily="2" charset="-122"/>
                      </a:endParaRPr>
                    </a:p>
                  </a:txBody>
                  <a:tcPr marL="71973" marR="71973" marT="0" marB="0" anchor="ctr"/>
                </a:tc>
                <a:tc>
                  <a:txBody>
                    <a:bodyPr/>
                    <a:lstStyle/>
                    <a:p>
                      <a:pPr indent="266700" algn="ctr">
                        <a:lnSpc>
                          <a:spcPts val="1600"/>
                        </a:lnSpc>
                        <a:spcAft>
                          <a:spcPts val="0"/>
                        </a:spcAft>
                      </a:pPr>
                      <a:r>
                        <a:rPr lang="zh-CN" sz="1900">
                          <a:effectLst/>
                        </a:rPr>
                        <a:t>程序设计课程</a:t>
                      </a:r>
                      <a:endParaRPr lang="zh-CN" sz="1900">
                        <a:effectLst/>
                        <a:latin typeface="Times New Roman" panose="02020603050405020304" pitchFamily="18" charset="0"/>
                        <a:ea typeface="宋体" panose="02010600030101010101" pitchFamily="2" charset="-122"/>
                      </a:endParaRPr>
                    </a:p>
                  </a:txBody>
                  <a:tcPr marL="71973" marR="71973" marT="0" marB="0" anchor="ctr"/>
                </a:tc>
                <a:tc>
                  <a:txBody>
                    <a:bodyPr/>
                    <a:lstStyle/>
                    <a:p>
                      <a:pPr indent="266700" algn="ctr">
                        <a:lnSpc>
                          <a:spcPts val="1600"/>
                        </a:lnSpc>
                        <a:spcAft>
                          <a:spcPts val="0"/>
                        </a:spcAft>
                      </a:pPr>
                      <a:r>
                        <a:rPr lang="zh-CN" sz="1900">
                          <a:effectLst/>
                        </a:rPr>
                        <a:t>离散数学课程</a:t>
                      </a:r>
                      <a:endParaRPr lang="zh-CN" sz="1900">
                        <a:effectLst/>
                        <a:latin typeface="Times New Roman" panose="02020603050405020304" pitchFamily="18" charset="0"/>
                        <a:ea typeface="宋体" panose="02010600030101010101" pitchFamily="2" charset="-122"/>
                      </a:endParaRPr>
                    </a:p>
                  </a:txBody>
                  <a:tcPr marL="71973" marR="71973" marT="0" marB="0" anchor="ctr"/>
                </a:tc>
                <a:extLst>
                  <a:ext uri="{0D108BD9-81ED-4DB2-BD59-A6C34878D82A}">
                    <a16:rowId xmlns:a16="http://schemas.microsoft.com/office/drawing/2014/main" val="3761253125"/>
                  </a:ext>
                </a:extLst>
              </a:tr>
              <a:tr h="547507">
                <a:tc>
                  <a:txBody>
                    <a:bodyPr/>
                    <a:lstStyle/>
                    <a:p>
                      <a:pPr indent="0" algn="ctr">
                        <a:lnSpc>
                          <a:spcPts val="1600"/>
                        </a:lnSpc>
                        <a:spcBef>
                          <a:spcPts val="0"/>
                        </a:spcBef>
                        <a:spcAft>
                          <a:spcPts val="0"/>
                        </a:spcAft>
                      </a:pPr>
                      <a:r>
                        <a:rPr lang="zh-CN" sz="1900">
                          <a:effectLst/>
                        </a:rPr>
                        <a:t>离散化</a:t>
                      </a:r>
                      <a:endParaRPr lang="zh-CN" sz="1900">
                        <a:effectLst/>
                        <a:latin typeface="Times New Roman" panose="02020603050405020304" pitchFamily="18" charset="0"/>
                        <a:ea typeface="宋体" panose="02010600030101010101" pitchFamily="2" charset="-122"/>
                      </a:endParaRP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编程求解复杂问题时的功能</a:t>
                      </a:r>
                      <a:r>
                        <a:rPr lang="zh-CN" sz="1600" b="1">
                          <a:solidFill>
                            <a:srgbClr val="C00000"/>
                          </a:solidFill>
                          <a:effectLst/>
                          <a:latin typeface="楷体" panose="02010609060101010101" pitchFamily="49" charset="-122"/>
                          <a:ea typeface="楷体" panose="02010609060101010101" pitchFamily="49" charset="-122"/>
                        </a:rPr>
                        <a:t>自顶向下分解</a:t>
                      </a: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构造非形式化证明或形式化论证的分析思路（或称为</a:t>
                      </a:r>
                      <a:r>
                        <a:rPr lang="zh-CN" altLang="en-US" sz="1600" b="1" kern="1200">
                          <a:solidFill>
                            <a:srgbClr val="C00000"/>
                          </a:solidFill>
                          <a:effectLst/>
                          <a:latin typeface="楷体" panose="02010609060101010101" pitchFamily="49" charset="-122"/>
                          <a:ea typeface="楷体" panose="02010609060101010101" pitchFamily="49" charset="-122"/>
                          <a:cs typeface="+mn-cs"/>
                        </a:rPr>
                        <a:t>反向推理</a:t>
                      </a:r>
                      <a:r>
                        <a:rPr lang="zh-CN" sz="1600" b="1">
                          <a:solidFill>
                            <a:schemeClr val="accent2">
                              <a:lumMod val="50000"/>
                            </a:schemeClr>
                          </a:solidFill>
                          <a:effectLst/>
                          <a:latin typeface="楷体" panose="02010609060101010101" pitchFamily="49" charset="-122"/>
                          <a:ea typeface="楷体" panose="02010609060101010101" pitchFamily="49" charset="-122"/>
                        </a:rPr>
                        <a:t>）</a:t>
                      </a:r>
                    </a:p>
                  </a:txBody>
                  <a:tcPr marL="71973" marR="71973" marT="0" marB="0" anchor="ctr"/>
                </a:tc>
                <a:extLst>
                  <a:ext uri="{0D108BD9-81ED-4DB2-BD59-A6C34878D82A}">
                    <a16:rowId xmlns:a16="http://schemas.microsoft.com/office/drawing/2014/main" val="1108031259"/>
                  </a:ext>
                </a:extLst>
              </a:tr>
              <a:tr h="1316181">
                <a:tc>
                  <a:txBody>
                    <a:bodyPr/>
                    <a:lstStyle/>
                    <a:p>
                      <a:pPr indent="0" algn="ctr">
                        <a:lnSpc>
                          <a:spcPts val="1600"/>
                        </a:lnSpc>
                        <a:spcBef>
                          <a:spcPts val="0"/>
                        </a:spcBef>
                        <a:spcAft>
                          <a:spcPts val="0"/>
                        </a:spcAft>
                      </a:pPr>
                      <a:r>
                        <a:rPr lang="zh-CN" sz="1900">
                          <a:effectLst/>
                        </a:rPr>
                        <a:t>模块化</a:t>
                      </a:r>
                      <a:endParaRPr lang="zh-CN" sz="1900">
                        <a:effectLst/>
                        <a:latin typeface="Times New Roman" panose="02020603050405020304" pitchFamily="18" charset="0"/>
                        <a:ea typeface="宋体" panose="02010600030101010101" pitchFamily="2" charset="-122"/>
                      </a:endParaRP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程序中引入函数、类等模块</a:t>
                      </a: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形式化论证中使用基本推理规则及</a:t>
                      </a:r>
                      <a:r>
                        <a:rPr lang="zh-CN" altLang="en-US" sz="1600" b="1" kern="1200">
                          <a:solidFill>
                            <a:srgbClr val="C00000"/>
                          </a:solidFill>
                          <a:effectLst/>
                          <a:latin typeface="楷体" panose="02010609060101010101" pitchFamily="49" charset="-122"/>
                          <a:ea typeface="楷体" panose="02010609060101010101" pitchFamily="49" charset="-122"/>
                          <a:cs typeface="+mn-cs"/>
                        </a:rPr>
                        <a:t>派生规则</a:t>
                      </a:r>
                      <a:r>
                        <a:rPr lang="zh-CN" sz="1600" b="1">
                          <a:solidFill>
                            <a:schemeClr val="accent2">
                              <a:lumMod val="50000"/>
                            </a:schemeClr>
                          </a:solidFill>
                          <a:effectLst/>
                          <a:latin typeface="楷体" panose="02010609060101010101" pitchFamily="49" charset="-122"/>
                          <a:ea typeface="楷体" panose="02010609060101010101" pitchFamily="49" charset="-122"/>
                        </a:rPr>
                        <a:t>、非形式化证明中引用已有引理、非形式化证明的</a:t>
                      </a:r>
                      <a:r>
                        <a:rPr lang="zh-CN" altLang="en-US" sz="1600" b="1" kern="1200">
                          <a:solidFill>
                            <a:srgbClr val="C00000"/>
                          </a:solidFill>
                          <a:effectLst/>
                          <a:latin typeface="楷体" panose="02010609060101010101" pitchFamily="49" charset="-122"/>
                          <a:ea typeface="楷体" panose="02010609060101010101" pitchFamily="49" charset="-122"/>
                          <a:cs typeface="+mn-cs"/>
                        </a:rPr>
                        <a:t>分情况证明</a:t>
                      </a:r>
                      <a:r>
                        <a:rPr lang="zh-CN" sz="1600" b="1">
                          <a:solidFill>
                            <a:schemeClr val="accent2">
                              <a:lumMod val="50000"/>
                            </a:schemeClr>
                          </a:solidFill>
                          <a:effectLst/>
                          <a:latin typeface="楷体" panose="02010609060101010101" pitchFamily="49" charset="-122"/>
                          <a:ea typeface="楷体" panose="02010609060101010101" pitchFamily="49" charset="-122"/>
                        </a:rPr>
                        <a:t>、逻辑等值演算使用已有逻辑等值式、集合等式证明使用已有集合等式、组合计数的加法原理的</a:t>
                      </a:r>
                      <a:r>
                        <a:rPr lang="zh-CN" altLang="en-US" sz="1600" b="1" kern="1200">
                          <a:solidFill>
                            <a:srgbClr val="C00000"/>
                          </a:solidFill>
                          <a:effectLst/>
                          <a:latin typeface="楷体" panose="02010609060101010101" pitchFamily="49" charset="-122"/>
                          <a:ea typeface="楷体" panose="02010609060101010101" pitchFamily="49" charset="-122"/>
                          <a:cs typeface="+mn-cs"/>
                        </a:rPr>
                        <a:t>分类处理</a:t>
                      </a:r>
                    </a:p>
                  </a:txBody>
                  <a:tcPr marL="71973" marR="71973" marT="0" marB="0" anchor="ctr"/>
                </a:tc>
                <a:extLst>
                  <a:ext uri="{0D108BD9-81ED-4DB2-BD59-A6C34878D82A}">
                    <a16:rowId xmlns:a16="http://schemas.microsoft.com/office/drawing/2014/main" val="4069890081"/>
                  </a:ext>
                </a:extLst>
              </a:tr>
              <a:tr h="900547">
                <a:tc>
                  <a:txBody>
                    <a:bodyPr/>
                    <a:lstStyle/>
                    <a:p>
                      <a:pPr indent="0" algn="ctr">
                        <a:lnSpc>
                          <a:spcPts val="1600"/>
                        </a:lnSpc>
                        <a:spcBef>
                          <a:spcPts val="0"/>
                        </a:spcBef>
                        <a:spcAft>
                          <a:spcPts val="0"/>
                        </a:spcAft>
                      </a:pPr>
                      <a:r>
                        <a:rPr lang="zh-CN" sz="1900">
                          <a:effectLst/>
                        </a:rPr>
                        <a:t>层次化</a:t>
                      </a:r>
                      <a:endParaRPr lang="zh-CN" sz="1900">
                        <a:effectLst/>
                        <a:latin typeface="Times New Roman" panose="02020603050405020304" pitchFamily="18" charset="0"/>
                        <a:ea typeface="宋体" panose="02010600030101010101" pitchFamily="2" charset="-122"/>
                      </a:endParaRP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函数、类等模块的接口使得模块的</a:t>
                      </a:r>
                      <a:r>
                        <a:rPr lang="zh-CN" altLang="en-US" sz="1600" b="1" kern="1200">
                          <a:solidFill>
                            <a:srgbClr val="C00000"/>
                          </a:solidFill>
                          <a:effectLst/>
                          <a:latin typeface="楷体" panose="02010609060101010101" pitchFamily="49" charset="-122"/>
                          <a:ea typeface="楷体" panose="02010609060101010101" pitchFamily="49" charset="-122"/>
                          <a:cs typeface="+mn-cs"/>
                        </a:rPr>
                        <a:t>使用者和实现者分离</a:t>
                      </a:r>
                      <a:r>
                        <a:rPr lang="zh-CN" sz="1600" b="1">
                          <a:solidFill>
                            <a:schemeClr val="accent2">
                              <a:lumMod val="50000"/>
                            </a:schemeClr>
                          </a:solidFill>
                          <a:effectLst/>
                          <a:latin typeface="楷体" panose="02010609060101010101" pitchFamily="49" charset="-122"/>
                          <a:ea typeface="楷体" panose="02010609060101010101" pitchFamily="49" charset="-122"/>
                        </a:rPr>
                        <a:t>，从而模块形成不同的抽象层次</a:t>
                      </a: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通过分析在不同层次把握证明或论证的构造思路、组合计数加法原理和乘法原理</a:t>
                      </a:r>
                      <a:r>
                        <a:rPr lang="zh-CN" altLang="en-US" sz="1600" b="1" kern="1200">
                          <a:solidFill>
                            <a:srgbClr val="C00000"/>
                          </a:solidFill>
                          <a:effectLst/>
                          <a:latin typeface="楷体" panose="02010609060101010101" pitchFamily="49" charset="-122"/>
                          <a:ea typeface="楷体" panose="02010609060101010101" pitchFamily="49" charset="-122"/>
                          <a:cs typeface="+mn-cs"/>
                        </a:rPr>
                        <a:t>分层综合运用</a:t>
                      </a:r>
                      <a:r>
                        <a:rPr lang="zh-CN" sz="1600" b="1">
                          <a:solidFill>
                            <a:schemeClr val="accent2">
                              <a:lumMod val="50000"/>
                            </a:schemeClr>
                          </a:solidFill>
                          <a:effectLst/>
                          <a:latin typeface="楷体" panose="02010609060101010101" pitchFamily="49" charset="-122"/>
                          <a:ea typeface="楷体" panose="02010609060101010101" pitchFamily="49" charset="-122"/>
                        </a:rPr>
                        <a:t>、一般代数和群格等具体代数形成不同抽象层次</a:t>
                      </a:r>
                    </a:p>
                  </a:txBody>
                  <a:tcPr marL="71973" marR="71973" marT="0" marB="0" anchor="ctr"/>
                </a:tc>
                <a:extLst>
                  <a:ext uri="{0D108BD9-81ED-4DB2-BD59-A6C34878D82A}">
                    <a16:rowId xmlns:a16="http://schemas.microsoft.com/office/drawing/2014/main" val="1708509383"/>
                  </a:ext>
                </a:extLst>
              </a:tr>
              <a:tr h="797528">
                <a:tc>
                  <a:txBody>
                    <a:bodyPr/>
                    <a:lstStyle/>
                    <a:p>
                      <a:pPr indent="0" algn="ctr">
                        <a:lnSpc>
                          <a:spcPts val="1600"/>
                        </a:lnSpc>
                        <a:spcBef>
                          <a:spcPts val="0"/>
                        </a:spcBef>
                        <a:spcAft>
                          <a:spcPts val="0"/>
                        </a:spcAft>
                      </a:pPr>
                      <a:r>
                        <a:rPr lang="zh-CN" sz="1900">
                          <a:effectLst/>
                        </a:rPr>
                        <a:t>系统化</a:t>
                      </a:r>
                      <a:endParaRPr lang="zh-CN" sz="1900">
                        <a:effectLst/>
                        <a:latin typeface="Times New Roman" panose="02020603050405020304" pitchFamily="18" charset="0"/>
                        <a:ea typeface="宋体" panose="02010600030101010101" pitchFamily="2" charset="-122"/>
                      </a:endParaRP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系统化地考虑正常情况、异常情况和边界情况以保证分支语句或循环语句能处理各种情况</a:t>
                      </a: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非形式化证明的分情况证明所分情况要</a:t>
                      </a:r>
                      <a:r>
                        <a:rPr lang="zh-CN" altLang="en-US" sz="1600" b="1" kern="1200">
                          <a:solidFill>
                            <a:srgbClr val="C00000"/>
                          </a:solidFill>
                          <a:effectLst/>
                          <a:latin typeface="楷体" panose="02010609060101010101" pitchFamily="49" charset="-122"/>
                          <a:ea typeface="楷体" panose="02010609060101010101" pitchFamily="49" charset="-122"/>
                          <a:cs typeface="+mn-cs"/>
                        </a:rPr>
                        <a:t>不遗漏不重复</a:t>
                      </a:r>
                      <a:r>
                        <a:rPr lang="zh-CN" sz="1600" b="1">
                          <a:solidFill>
                            <a:schemeClr val="accent2">
                              <a:lumMod val="50000"/>
                            </a:schemeClr>
                          </a:solidFill>
                          <a:effectLst/>
                          <a:latin typeface="楷体" panose="02010609060101010101" pitchFamily="49" charset="-122"/>
                          <a:ea typeface="楷体" panose="02010609060101010101" pitchFamily="49" charset="-122"/>
                        </a:rPr>
                        <a:t>各种情况、组合计数加法原理的分类处理要</a:t>
                      </a:r>
                      <a:r>
                        <a:rPr lang="zh-CN" altLang="en-US" sz="1600" b="1" kern="1200">
                          <a:solidFill>
                            <a:srgbClr val="C00000"/>
                          </a:solidFill>
                          <a:effectLst/>
                          <a:latin typeface="楷体" panose="02010609060101010101" pitchFamily="49" charset="-122"/>
                          <a:ea typeface="楷体" panose="02010609060101010101" pitchFamily="49" charset="-122"/>
                          <a:cs typeface="+mn-cs"/>
                        </a:rPr>
                        <a:t>不遗漏不重复</a:t>
                      </a:r>
                      <a:r>
                        <a:rPr lang="zh-CN" sz="1600" b="1">
                          <a:solidFill>
                            <a:schemeClr val="accent2">
                              <a:lumMod val="50000"/>
                            </a:schemeClr>
                          </a:solidFill>
                          <a:effectLst/>
                          <a:latin typeface="楷体" panose="02010609060101010101" pitchFamily="49" charset="-122"/>
                          <a:ea typeface="楷体" panose="02010609060101010101" pitchFamily="49" charset="-122"/>
                        </a:rPr>
                        <a:t>各种类别</a:t>
                      </a:r>
                    </a:p>
                  </a:txBody>
                  <a:tcPr marL="71973" marR="71973" marT="0" marB="0" anchor="ctr"/>
                </a:tc>
                <a:extLst>
                  <a:ext uri="{0D108BD9-81ED-4DB2-BD59-A6C34878D82A}">
                    <a16:rowId xmlns:a16="http://schemas.microsoft.com/office/drawing/2014/main" val="1157394125"/>
                  </a:ext>
                </a:extLst>
              </a:tr>
              <a:tr h="908195">
                <a:tc>
                  <a:txBody>
                    <a:bodyPr/>
                    <a:lstStyle/>
                    <a:p>
                      <a:pPr indent="0" algn="ctr">
                        <a:lnSpc>
                          <a:spcPts val="1600"/>
                        </a:lnSpc>
                        <a:spcBef>
                          <a:spcPts val="0"/>
                        </a:spcBef>
                        <a:spcAft>
                          <a:spcPts val="0"/>
                        </a:spcAft>
                      </a:pPr>
                      <a:r>
                        <a:rPr lang="zh-CN" sz="1900">
                          <a:effectLst/>
                        </a:rPr>
                        <a:t>公理化</a:t>
                      </a:r>
                      <a:endParaRPr lang="zh-CN" sz="1900">
                        <a:effectLst/>
                        <a:latin typeface="Times New Roman" panose="02020603050405020304" pitchFamily="18" charset="0"/>
                        <a:ea typeface="宋体" panose="02010600030101010101" pitchFamily="2" charset="-122"/>
                      </a:endParaRP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找出最基本的函数和最基本的类提高程序的可重用性</a:t>
                      </a:r>
                    </a:p>
                  </a:txBody>
                  <a:tcPr marL="71973" marR="71973" marT="0" marB="0" anchor="ctr"/>
                </a:tc>
                <a:tc>
                  <a:txBody>
                    <a:bodyPr/>
                    <a:lstStyle/>
                    <a:p>
                      <a:pPr indent="0" algn="just">
                        <a:lnSpc>
                          <a:spcPts val="1600"/>
                        </a:lnSpc>
                        <a:spcAft>
                          <a:spcPts val="0"/>
                        </a:spcAft>
                      </a:pPr>
                      <a:r>
                        <a:rPr lang="zh-CN" sz="1600" b="1">
                          <a:solidFill>
                            <a:schemeClr val="accent2">
                              <a:lumMod val="50000"/>
                            </a:schemeClr>
                          </a:solidFill>
                          <a:effectLst/>
                          <a:latin typeface="楷体" panose="02010609060101010101" pitchFamily="49" charset="-122"/>
                          <a:ea typeface="楷体" panose="02010609060101010101" pitchFamily="49" charset="-122"/>
                        </a:rPr>
                        <a:t>逻辑等值演算的</a:t>
                      </a:r>
                      <a:r>
                        <a:rPr lang="zh-CN" altLang="en-US" sz="1600" b="1" kern="1200">
                          <a:solidFill>
                            <a:srgbClr val="C00000"/>
                          </a:solidFill>
                          <a:effectLst/>
                          <a:latin typeface="楷体" panose="02010609060101010101" pitchFamily="49" charset="-122"/>
                          <a:ea typeface="楷体" panose="02010609060101010101" pitchFamily="49" charset="-122"/>
                          <a:cs typeface="+mn-cs"/>
                        </a:rPr>
                        <a:t>基本等值式</a:t>
                      </a:r>
                      <a:r>
                        <a:rPr lang="zh-CN" sz="1600" b="1">
                          <a:solidFill>
                            <a:schemeClr val="accent2">
                              <a:lumMod val="50000"/>
                            </a:schemeClr>
                          </a:solidFill>
                          <a:effectLst/>
                          <a:latin typeface="楷体" panose="02010609060101010101" pitchFamily="49" charset="-122"/>
                          <a:ea typeface="楷体" panose="02010609060101010101" pitchFamily="49" charset="-122"/>
                        </a:rPr>
                        <a:t>、逻辑推理系统的</a:t>
                      </a:r>
                      <a:r>
                        <a:rPr lang="zh-CN" altLang="en-US" sz="1600" b="1" kern="1200">
                          <a:solidFill>
                            <a:srgbClr val="C00000"/>
                          </a:solidFill>
                          <a:effectLst/>
                          <a:latin typeface="楷体" panose="02010609060101010101" pitchFamily="49" charset="-122"/>
                          <a:ea typeface="楷体" panose="02010609060101010101" pitchFamily="49" charset="-122"/>
                          <a:cs typeface="+mn-cs"/>
                        </a:rPr>
                        <a:t>基本推理规则</a:t>
                      </a:r>
                      <a:r>
                        <a:rPr lang="zh-CN" sz="1600" b="1">
                          <a:solidFill>
                            <a:schemeClr val="accent2">
                              <a:lumMod val="50000"/>
                            </a:schemeClr>
                          </a:solidFill>
                          <a:effectLst/>
                          <a:latin typeface="楷体" panose="02010609060101010101" pitchFamily="49" charset="-122"/>
                          <a:ea typeface="楷体" panose="02010609060101010101" pitchFamily="49" charset="-122"/>
                        </a:rPr>
                        <a:t>、集合恒等式的基本等式、</a:t>
                      </a:r>
                      <a:r>
                        <a:rPr lang="zh-CN" altLang="en-US" sz="1600" b="1" kern="1200">
                          <a:solidFill>
                            <a:srgbClr val="C00000"/>
                          </a:solidFill>
                          <a:effectLst/>
                          <a:latin typeface="楷体" panose="02010609060101010101" pitchFamily="49" charset="-122"/>
                          <a:ea typeface="楷体" panose="02010609060101010101" pitchFamily="49" charset="-122"/>
                          <a:cs typeface="+mn-cs"/>
                        </a:rPr>
                        <a:t>组合计数问题的基本计数问题</a:t>
                      </a:r>
                      <a:r>
                        <a:rPr lang="zh-CN" sz="1600" b="1">
                          <a:solidFill>
                            <a:schemeClr val="accent2">
                              <a:lumMod val="50000"/>
                            </a:schemeClr>
                          </a:solidFill>
                          <a:effectLst/>
                          <a:latin typeface="楷体" panose="02010609060101010101" pitchFamily="49" charset="-122"/>
                          <a:ea typeface="楷体" panose="02010609060101010101" pitchFamily="49" charset="-122"/>
                        </a:rPr>
                        <a:t>、群格等代数系统的基本性质</a:t>
                      </a:r>
                    </a:p>
                  </a:txBody>
                  <a:tcPr marL="71973" marR="71973" marT="0" marB="0" anchor="ctr"/>
                </a:tc>
                <a:extLst>
                  <a:ext uri="{0D108BD9-81ED-4DB2-BD59-A6C34878D82A}">
                    <a16:rowId xmlns:a16="http://schemas.microsoft.com/office/drawing/2014/main" val="4240827034"/>
                  </a:ext>
                </a:extLst>
              </a:tr>
            </a:tbl>
          </a:graphicData>
        </a:graphic>
      </p:graphicFrame>
    </p:spTree>
    <p:extLst>
      <p:ext uri="{BB962C8B-B14F-4D97-AF65-F5344CB8AC3E}">
        <p14:creationId xmlns:p14="http://schemas.microsoft.com/office/powerpoint/2010/main" val="893779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76DD8A71-C2E1-44EE-B65A-03DF5D8D03C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课程教学理念</a:t>
            </a:r>
            <a:r>
              <a:rPr lang="en-US" altLang="zh-CN"/>
              <a:t>-</a:t>
            </a:r>
            <a:r>
              <a:rPr lang="zh-CN" altLang="en-US"/>
              <a:t>鼓励编写计算机程序求解离散数学问题</a:t>
            </a:r>
          </a:p>
        </p:txBody>
      </p:sp>
      <p:sp>
        <p:nvSpPr>
          <p:cNvPr id="11" name="文本框 10">
            <a:extLst>
              <a:ext uri="{FF2B5EF4-FFF2-40B4-BE49-F238E27FC236}">
                <a16:creationId xmlns:a16="http://schemas.microsoft.com/office/drawing/2014/main" id="{1904FB6A-D79F-4702-B9CD-BE4E95ABC66C}"/>
              </a:ext>
            </a:extLst>
          </p:cNvPr>
          <p:cNvSpPr txBox="1"/>
          <p:nvPr/>
        </p:nvSpPr>
        <p:spPr>
          <a:xfrm>
            <a:off x="958277" y="1416829"/>
            <a:ext cx="2736273" cy="748795"/>
          </a:xfrm>
          <a:prstGeom prst="rect">
            <a:avLst/>
          </a:prstGeom>
          <a:solidFill>
            <a:schemeClr val="accent4">
              <a:lumMod val="20000"/>
              <a:lumOff val="80000"/>
            </a:schemeClr>
          </a:solidFill>
        </p:spPr>
        <p:txBody>
          <a:bodyPr wrap="square" rtlCol="0">
            <a:spAutoFit/>
          </a:bodyPr>
          <a:lstStyle/>
          <a:p>
            <a:r>
              <a:rPr lang="zh-CN" altLang="en-US" sz="2133" b="1">
                <a:solidFill>
                  <a:schemeClr val="accent2">
                    <a:lumMod val="50000"/>
                  </a:schemeClr>
                </a:solidFill>
              </a:rPr>
              <a:t>对离散数学课程知识进行面向对象建模</a:t>
            </a:r>
          </a:p>
        </p:txBody>
      </p:sp>
      <p:sp>
        <p:nvSpPr>
          <p:cNvPr id="12" name="文本框 11">
            <a:extLst>
              <a:ext uri="{FF2B5EF4-FFF2-40B4-BE49-F238E27FC236}">
                <a16:creationId xmlns:a16="http://schemas.microsoft.com/office/drawing/2014/main" id="{26DB2BF3-8F06-40E6-BF18-2C43D76483A8}"/>
              </a:ext>
            </a:extLst>
          </p:cNvPr>
          <p:cNvSpPr txBox="1"/>
          <p:nvPr/>
        </p:nvSpPr>
        <p:spPr>
          <a:xfrm>
            <a:off x="4465784" y="1416832"/>
            <a:ext cx="2736273" cy="748795"/>
          </a:xfrm>
          <a:prstGeom prst="rect">
            <a:avLst/>
          </a:prstGeom>
          <a:solidFill>
            <a:schemeClr val="accent4">
              <a:lumMod val="20000"/>
              <a:lumOff val="80000"/>
            </a:schemeClr>
          </a:solidFill>
        </p:spPr>
        <p:txBody>
          <a:bodyPr wrap="square" rtlCol="0">
            <a:spAutoFit/>
          </a:bodyPr>
          <a:lstStyle/>
          <a:p>
            <a:r>
              <a:rPr lang="zh-CN" altLang="en-US" sz="2133" b="1">
                <a:solidFill>
                  <a:schemeClr val="accent2">
                    <a:lumMod val="50000"/>
                  </a:schemeClr>
                </a:solidFill>
              </a:rPr>
              <a:t>编写教学软件演示离散数学问题求解过程</a:t>
            </a:r>
          </a:p>
        </p:txBody>
      </p:sp>
      <p:sp>
        <p:nvSpPr>
          <p:cNvPr id="13" name="文本框 12">
            <a:extLst>
              <a:ext uri="{FF2B5EF4-FFF2-40B4-BE49-F238E27FC236}">
                <a16:creationId xmlns:a16="http://schemas.microsoft.com/office/drawing/2014/main" id="{A4FAF90A-5F64-4FC2-9FE5-EEF255FF0331}"/>
              </a:ext>
            </a:extLst>
          </p:cNvPr>
          <p:cNvSpPr txBox="1"/>
          <p:nvPr/>
        </p:nvSpPr>
        <p:spPr>
          <a:xfrm>
            <a:off x="7973292" y="1416832"/>
            <a:ext cx="3260433" cy="748795"/>
          </a:xfrm>
          <a:prstGeom prst="rect">
            <a:avLst/>
          </a:prstGeom>
          <a:solidFill>
            <a:schemeClr val="accent4">
              <a:lumMod val="20000"/>
              <a:lumOff val="80000"/>
            </a:schemeClr>
          </a:solidFill>
        </p:spPr>
        <p:txBody>
          <a:bodyPr wrap="square" rtlCol="0">
            <a:spAutoFit/>
          </a:bodyPr>
          <a:lstStyle/>
          <a:p>
            <a:r>
              <a:rPr lang="zh-CN" altLang="en-US" sz="2133" b="1">
                <a:solidFill>
                  <a:schemeClr val="accent2">
                    <a:lumMod val="50000"/>
                  </a:schemeClr>
                </a:solidFill>
              </a:rPr>
              <a:t>开放源代码作为学生编程基础，提升学生工程能力</a:t>
            </a:r>
          </a:p>
        </p:txBody>
      </p:sp>
      <p:sp>
        <p:nvSpPr>
          <p:cNvPr id="14" name="箭头: 右 13">
            <a:extLst>
              <a:ext uri="{FF2B5EF4-FFF2-40B4-BE49-F238E27FC236}">
                <a16:creationId xmlns:a16="http://schemas.microsoft.com/office/drawing/2014/main" id="{B240FA6A-7DD4-4741-9626-391F764E8868}"/>
              </a:ext>
            </a:extLst>
          </p:cNvPr>
          <p:cNvSpPr/>
          <p:nvPr/>
        </p:nvSpPr>
        <p:spPr>
          <a:xfrm>
            <a:off x="3694550" y="1742414"/>
            <a:ext cx="771233" cy="131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箭头: 右 14">
            <a:extLst>
              <a:ext uri="{FF2B5EF4-FFF2-40B4-BE49-F238E27FC236}">
                <a16:creationId xmlns:a16="http://schemas.microsoft.com/office/drawing/2014/main" id="{93CF1CF7-3E5D-4BE2-AA66-B0B18139DC9F}"/>
              </a:ext>
            </a:extLst>
          </p:cNvPr>
          <p:cNvSpPr/>
          <p:nvPr/>
        </p:nvSpPr>
        <p:spPr>
          <a:xfrm>
            <a:off x="7202057" y="1742414"/>
            <a:ext cx="771233" cy="1316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6" name="图片 15">
            <a:extLst>
              <a:ext uri="{FF2B5EF4-FFF2-40B4-BE49-F238E27FC236}">
                <a16:creationId xmlns:a16="http://schemas.microsoft.com/office/drawing/2014/main" id="{7C99F2F5-E1F4-48A7-8B31-CFBB735EA0D4}"/>
              </a:ext>
            </a:extLst>
          </p:cNvPr>
          <p:cNvPicPr>
            <a:picLocks noChangeAspect="1"/>
          </p:cNvPicPr>
          <p:nvPr/>
        </p:nvPicPr>
        <p:blipFill>
          <a:blip r:embed="rId2"/>
          <a:stretch>
            <a:fillRect/>
          </a:stretch>
        </p:blipFill>
        <p:spPr>
          <a:xfrm>
            <a:off x="605086" y="2600394"/>
            <a:ext cx="3017381" cy="2646827"/>
          </a:xfrm>
          <a:prstGeom prst="rect">
            <a:avLst/>
          </a:prstGeom>
        </p:spPr>
      </p:pic>
      <p:pic>
        <p:nvPicPr>
          <p:cNvPr id="18" name="图片 17">
            <a:extLst>
              <a:ext uri="{FF2B5EF4-FFF2-40B4-BE49-F238E27FC236}">
                <a16:creationId xmlns:a16="http://schemas.microsoft.com/office/drawing/2014/main" id="{645A5179-8941-4C77-B923-24FF44E630AA}"/>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80166" y="3048635"/>
            <a:ext cx="4202276" cy="1915391"/>
          </a:xfrm>
          <a:prstGeom prst="rect">
            <a:avLst/>
          </a:prstGeom>
          <a:noFill/>
          <a:ln>
            <a:noFill/>
          </a:ln>
        </p:spPr>
      </p:pic>
      <p:pic>
        <p:nvPicPr>
          <p:cNvPr id="19" name="图片 18">
            <a:extLst>
              <a:ext uri="{FF2B5EF4-FFF2-40B4-BE49-F238E27FC236}">
                <a16:creationId xmlns:a16="http://schemas.microsoft.com/office/drawing/2014/main" id="{74D79F8D-AC8B-483B-8575-9C86D52DE773}"/>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65399" y="2654077"/>
            <a:ext cx="2821516" cy="2539465"/>
          </a:xfrm>
          <a:prstGeom prst="rect">
            <a:avLst/>
          </a:prstGeom>
          <a:noFill/>
          <a:ln>
            <a:noFill/>
          </a:ln>
        </p:spPr>
      </p:pic>
      <p:sp>
        <p:nvSpPr>
          <p:cNvPr id="20" name="文本框 19">
            <a:extLst>
              <a:ext uri="{FF2B5EF4-FFF2-40B4-BE49-F238E27FC236}">
                <a16:creationId xmlns:a16="http://schemas.microsoft.com/office/drawing/2014/main" id="{BCBFEF32-290B-4931-A594-AF2105A03AFE}"/>
              </a:ext>
            </a:extLst>
          </p:cNvPr>
          <p:cNvSpPr txBox="1"/>
          <p:nvPr/>
        </p:nvSpPr>
        <p:spPr>
          <a:xfrm>
            <a:off x="958276" y="5545912"/>
            <a:ext cx="2133600" cy="338554"/>
          </a:xfrm>
          <a:prstGeom prst="rect">
            <a:avLst/>
          </a:prstGeom>
          <a:solidFill>
            <a:schemeClr val="accent6">
              <a:lumMod val="50000"/>
            </a:schemeClr>
          </a:solidFill>
        </p:spPr>
        <p:txBody>
          <a:bodyPr wrap="square" rtlCol="0">
            <a:spAutoFit/>
          </a:bodyPr>
          <a:lstStyle/>
          <a:p>
            <a:r>
              <a:rPr lang="zh-CN" altLang="en-US" sz="1600" b="1">
                <a:solidFill>
                  <a:schemeClr val="bg1"/>
                </a:solidFill>
              </a:rPr>
              <a:t>命题逻辑部分的模型</a:t>
            </a:r>
          </a:p>
        </p:txBody>
      </p:sp>
      <p:sp>
        <p:nvSpPr>
          <p:cNvPr id="21" name="文本框 20">
            <a:extLst>
              <a:ext uri="{FF2B5EF4-FFF2-40B4-BE49-F238E27FC236}">
                <a16:creationId xmlns:a16="http://schemas.microsoft.com/office/drawing/2014/main" id="{39F33F8C-123A-45EB-9E29-E5BC7D9039D0}"/>
              </a:ext>
            </a:extLst>
          </p:cNvPr>
          <p:cNvSpPr txBox="1"/>
          <p:nvPr/>
        </p:nvSpPr>
        <p:spPr>
          <a:xfrm>
            <a:off x="4903984" y="5545911"/>
            <a:ext cx="2491513" cy="338554"/>
          </a:xfrm>
          <a:prstGeom prst="rect">
            <a:avLst/>
          </a:prstGeom>
          <a:solidFill>
            <a:schemeClr val="accent6">
              <a:lumMod val="50000"/>
            </a:schemeClr>
          </a:solidFill>
        </p:spPr>
        <p:txBody>
          <a:bodyPr wrap="square" rtlCol="0">
            <a:spAutoFit/>
          </a:bodyPr>
          <a:lstStyle/>
          <a:p>
            <a:r>
              <a:rPr lang="zh-CN" altLang="en-US" sz="1600" b="1">
                <a:solidFill>
                  <a:schemeClr val="bg1"/>
                </a:solidFill>
              </a:rPr>
              <a:t>教学辅助软件的整体架构</a:t>
            </a:r>
          </a:p>
        </p:txBody>
      </p:sp>
      <p:sp>
        <p:nvSpPr>
          <p:cNvPr id="22" name="文本框 21">
            <a:extLst>
              <a:ext uri="{FF2B5EF4-FFF2-40B4-BE49-F238E27FC236}">
                <a16:creationId xmlns:a16="http://schemas.microsoft.com/office/drawing/2014/main" id="{AF77E2DF-3ACF-4309-86C2-DEBD476143A6}"/>
              </a:ext>
            </a:extLst>
          </p:cNvPr>
          <p:cNvSpPr txBox="1"/>
          <p:nvPr/>
        </p:nvSpPr>
        <p:spPr>
          <a:xfrm>
            <a:off x="8930400" y="5549535"/>
            <a:ext cx="2491513" cy="338554"/>
          </a:xfrm>
          <a:prstGeom prst="rect">
            <a:avLst/>
          </a:prstGeom>
          <a:solidFill>
            <a:schemeClr val="accent6">
              <a:lumMod val="50000"/>
            </a:schemeClr>
          </a:solidFill>
        </p:spPr>
        <p:txBody>
          <a:bodyPr wrap="square" rtlCol="0">
            <a:spAutoFit/>
          </a:bodyPr>
          <a:lstStyle/>
          <a:p>
            <a:r>
              <a:rPr lang="zh-CN" altLang="en-US" sz="1600" b="1">
                <a:solidFill>
                  <a:schemeClr val="bg1"/>
                </a:solidFill>
              </a:rPr>
              <a:t>教学辅助软件的用户界面</a:t>
            </a:r>
          </a:p>
        </p:txBody>
      </p:sp>
    </p:spTree>
    <p:extLst>
      <p:ext uri="{BB962C8B-B14F-4D97-AF65-F5344CB8AC3E}">
        <p14:creationId xmlns:p14="http://schemas.microsoft.com/office/powerpoint/2010/main" val="3794706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2"/>
            <a:ext cx="6096000" cy="32234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5"/>
            <a:ext cx="6096000" cy="322343"/>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1" y="6523301"/>
            <a:ext cx="4053017" cy="32234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302"/>
            <a:ext cx="4085968" cy="322343"/>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302"/>
            <a:ext cx="4053016" cy="322343"/>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002769C7-0A4A-4025-BCF3-623A6AED0D05}"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3" y="1448010"/>
            <a:ext cx="4733731" cy="3547125"/>
          </a:xfrm>
          <a:prstGeom prst="rect">
            <a:avLst/>
          </a:prstGeom>
          <a:noFill/>
        </p:spPr>
        <p:txBody>
          <a:bodyPr wrap="square" rtlCol="0">
            <a:spAutoFit/>
          </a:bodyPr>
          <a:lstStyle/>
          <a:p>
            <a:pPr>
              <a:lnSpc>
                <a:spcPct val="250000"/>
              </a:lnSpc>
            </a:pPr>
            <a:r>
              <a:rPr lang="zh-CN" altLang="en-US" sz="3200" b="1">
                <a:solidFill>
                  <a:schemeClr val="bg1">
                    <a:lumMod val="95000"/>
                  </a:schemeClr>
                </a:solidFill>
                <a:latin typeface="仿宋" panose="02010609060101010101" pitchFamily="49" charset="-122"/>
                <a:ea typeface="仿宋" panose="02010609060101010101" pitchFamily="49" charset="-122"/>
              </a:rPr>
              <a:t>课程教学内容与教材</a:t>
            </a:r>
            <a:endParaRPr lang="en-US" altLang="zh-CN" sz="3200" b="1" dirty="0">
              <a:solidFill>
                <a:schemeClr val="bg1">
                  <a:lumMod val="95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1">
                    <a:lumMod val="95000"/>
                  </a:schemeClr>
                </a:solidFill>
                <a:latin typeface="仿宋" panose="02010609060101010101" pitchFamily="49" charset="-122"/>
                <a:ea typeface="仿宋" panose="02010609060101010101" pitchFamily="49" charset="-122"/>
              </a:rPr>
              <a:t>课程教学目标与理念</a:t>
            </a:r>
            <a:endParaRPr lang="en-US" altLang="zh-CN" sz="3200" b="1" dirty="0">
              <a:solidFill>
                <a:schemeClr val="bg1">
                  <a:lumMod val="95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课程教学资源与考核</a:t>
            </a:r>
            <a:endParaRPr lang="en-US" altLang="zh-CN" sz="3200" b="1" dirty="0">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750102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F6581421-9074-448A-93B2-9A059C25E48F}"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课程在线资源</a:t>
            </a:r>
          </a:p>
        </p:txBody>
      </p:sp>
      <p:sp>
        <p:nvSpPr>
          <p:cNvPr id="2" name="矩形 1">
            <a:extLst>
              <a:ext uri="{FF2B5EF4-FFF2-40B4-BE49-F238E27FC236}">
                <a16:creationId xmlns:a16="http://schemas.microsoft.com/office/drawing/2014/main" id="{822F338E-7A71-4EF3-90D3-D6B1BB2A35B7}"/>
              </a:ext>
            </a:extLst>
          </p:cNvPr>
          <p:cNvSpPr/>
          <p:nvPr/>
        </p:nvSpPr>
        <p:spPr>
          <a:xfrm>
            <a:off x="563897" y="1046867"/>
            <a:ext cx="5301724" cy="5155605"/>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spcBef>
                <a:spcPts val="300"/>
              </a:spcBef>
              <a:spcAft>
                <a:spcPts val="600"/>
              </a:spcAft>
              <a:buFont typeface="Arial" panose="020B0604020202020204" pitchFamily="34" charset="0"/>
              <a:buChar char="•"/>
            </a:pPr>
            <a:r>
              <a:rPr lang="zh-CN" altLang="en-US" sz="2000" b="1" dirty="0">
                <a:solidFill>
                  <a:srgbClr val="210694"/>
                </a:solidFill>
              </a:rPr>
              <a:t>超星泛雅在线课程平台</a:t>
            </a:r>
            <a:endParaRPr lang="en-US" altLang="zh-CN" sz="2000" b="1" dirty="0">
              <a:solidFill>
                <a:srgbClr val="210694"/>
              </a:solidFill>
            </a:endParaRPr>
          </a:p>
          <a:p>
            <a:pPr marL="742950" lvl="1" indent="-285750">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电脑：</a:t>
            </a:r>
            <a:r>
              <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hlinkClick r:id="rId2">
                  <a:extLst>
                    <a:ext uri="{A12FA001-AC4F-418D-AE19-62706E023703}">
                      <ahyp:hlinkClr xmlns:ahyp="http://schemas.microsoft.com/office/drawing/2018/hyperlinkcolor" val="tx"/>
                    </a:ext>
                  </a:extLst>
                </a:hlinkClick>
              </a:rPr>
              <a:t>http://i.chaoxing.com</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marL="742950" lvl="1" indent="-285750">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手机：</a:t>
            </a: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学习通</a:t>
            </a:r>
            <a:r>
              <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rPr>
              <a:t>App</a:t>
            </a:r>
          </a:p>
          <a:p>
            <a:pPr marL="285750" indent="-285750">
              <a:spcBef>
                <a:spcPts val="600"/>
              </a:spcBef>
              <a:spcAft>
                <a:spcPts val="600"/>
              </a:spcAft>
              <a:buFont typeface="Arial" panose="020B0604020202020204" pitchFamily="34" charset="0"/>
              <a:buChar char="•"/>
            </a:pPr>
            <a:r>
              <a:rPr lang="zh-CN" altLang="en-US" sz="2000" b="1" dirty="0">
                <a:solidFill>
                  <a:srgbClr val="210694"/>
                </a:solidFill>
              </a:rPr>
              <a:t>手机号注册，登录后凭邀请码加入自己班级</a:t>
            </a:r>
            <a:endParaRPr lang="en-US" altLang="zh-CN" sz="2000" b="1" dirty="0">
              <a:solidFill>
                <a:srgbClr val="210694"/>
              </a:solidFill>
            </a:endParaRPr>
          </a:p>
          <a:p>
            <a:pPr marL="742950" lvl="1" indent="-285750">
              <a:lnSpc>
                <a:spcPts val="2800"/>
              </a:lnSpc>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刘咏梅老师班级邀请码：</a:t>
            </a:r>
            <a:r>
              <a:rPr lang="en-US" altLang="zh-CN" sz="2000" b="1" dirty="0">
                <a:solidFill>
                  <a:srgbClr val="C00000"/>
                </a:solidFill>
                <a:latin typeface="楷体" panose="02010609060101010101" pitchFamily="49" charset="-122"/>
                <a:ea typeface="楷体" panose="02010609060101010101" pitchFamily="49" charset="-122"/>
              </a:rPr>
              <a:t>3052907</a:t>
            </a:r>
          </a:p>
          <a:p>
            <a:pPr marL="742950" lvl="1" indent="-285750">
              <a:lnSpc>
                <a:spcPts val="2800"/>
              </a:lnSpc>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王瑞轩老师班级邀请码：</a:t>
            </a:r>
            <a:r>
              <a:rPr lang="en-US" altLang="zh-CN" sz="2000" b="1" dirty="0">
                <a:solidFill>
                  <a:srgbClr val="C00000"/>
                </a:solidFill>
                <a:latin typeface="楷体" panose="02010609060101010101" pitchFamily="49" charset="-122"/>
                <a:ea typeface="楷体" panose="02010609060101010101" pitchFamily="49" charset="-122"/>
              </a:rPr>
              <a:t>6138053</a:t>
            </a:r>
          </a:p>
          <a:p>
            <a:pPr marL="742950" lvl="1" indent="-285750">
              <a:lnSpc>
                <a:spcPts val="2800"/>
              </a:lnSpc>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杨跃东老师班级邀请码：</a:t>
            </a:r>
            <a:r>
              <a:rPr lang="en-US" altLang="zh-CN" sz="2000" b="1" dirty="0">
                <a:solidFill>
                  <a:srgbClr val="C00000"/>
                </a:solidFill>
                <a:latin typeface="楷体" panose="02010609060101010101" pitchFamily="49" charset="-122"/>
                <a:ea typeface="楷体" panose="02010609060101010101" pitchFamily="49" charset="-122"/>
              </a:rPr>
              <a:t>7733049</a:t>
            </a:r>
          </a:p>
          <a:p>
            <a:pPr marL="742950" lvl="1" indent="-285750">
              <a:lnSpc>
                <a:spcPts val="2800"/>
              </a:lnSpc>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李绿周老师班级邀请码：</a:t>
            </a:r>
            <a:r>
              <a:rPr lang="en-US" altLang="zh-CN" sz="2000" b="1" dirty="0">
                <a:solidFill>
                  <a:srgbClr val="C00000"/>
                </a:solidFill>
                <a:latin typeface="楷体" panose="02010609060101010101" pitchFamily="49" charset="-122"/>
                <a:ea typeface="楷体" panose="02010609060101010101" pitchFamily="49" charset="-122"/>
              </a:rPr>
              <a:t>8934257</a:t>
            </a:r>
          </a:p>
          <a:p>
            <a:pPr marL="742950" lvl="1" indent="-285750">
              <a:lnSpc>
                <a:spcPts val="2800"/>
              </a:lnSpc>
              <a:spcBef>
                <a:spcPts val="600"/>
              </a:spcBef>
              <a:spcAft>
                <a:spcPts val="6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周晓聪老师班级邀请码：</a:t>
            </a:r>
            <a:r>
              <a:rPr lang="en-US" altLang="zh-CN" sz="2000" b="1" dirty="0">
                <a:solidFill>
                  <a:srgbClr val="C00000"/>
                </a:solidFill>
                <a:latin typeface="楷体" panose="02010609060101010101" pitchFamily="49" charset="-122"/>
                <a:ea typeface="楷体" panose="02010609060101010101" pitchFamily="49" charset="-122"/>
              </a:rPr>
              <a:t>8182472</a:t>
            </a:r>
          </a:p>
          <a:p>
            <a:pPr marL="285750" indent="-285750">
              <a:spcBef>
                <a:spcPts val="600"/>
              </a:spcBef>
              <a:spcAft>
                <a:spcPts val="600"/>
              </a:spcAft>
              <a:buFont typeface="Arial" panose="020B0604020202020204" pitchFamily="34" charset="0"/>
              <a:buChar char="•"/>
            </a:pPr>
            <a:r>
              <a:rPr lang="zh-CN" altLang="en-US" sz="2000" b="1" dirty="0">
                <a:solidFill>
                  <a:srgbClr val="210694"/>
                </a:solidFill>
              </a:rPr>
              <a:t>请将用户名改为学生真实姓名</a:t>
            </a:r>
            <a:endParaRPr lang="en-US" altLang="zh-CN" sz="2000" b="1" dirty="0">
              <a:solidFill>
                <a:srgbClr val="210694"/>
              </a:solidFill>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不是班级名单中的学生将会清除去班级</a:t>
            </a:r>
          </a:p>
        </p:txBody>
      </p:sp>
      <p:sp>
        <p:nvSpPr>
          <p:cNvPr id="11" name="文本框 10">
            <a:extLst>
              <a:ext uri="{FF2B5EF4-FFF2-40B4-BE49-F238E27FC236}">
                <a16:creationId xmlns:a16="http://schemas.microsoft.com/office/drawing/2014/main" id="{D522DB89-A365-4EAB-8307-F180513D4F69}"/>
              </a:ext>
            </a:extLst>
          </p:cNvPr>
          <p:cNvSpPr txBox="1"/>
          <p:nvPr/>
        </p:nvSpPr>
        <p:spPr>
          <a:xfrm>
            <a:off x="6095999" y="4699194"/>
            <a:ext cx="4988209" cy="954107"/>
          </a:xfrm>
          <a:prstGeom prst="rect">
            <a:avLst/>
          </a:prstGeom>
          <a:solidFill>
            <a:schemeClr val="accent4">
              <a:lumMod val="20000"/>
              <a:lumOff val="80000"/>
            </a:schemeClr>
          </a:solidFill>
        </p:spPr>
        <p:txBody>
          <a:bodyPr wrap="square" rtlCol="0">
            <a:spAutoFit/>
          </a:bodyPr>
          <a:lstStyle/>
          <a:p>
            <a:r>
              <a:rPr lang="zh-CN" altLang="en-US" sz="2800" b="1" dirty="0">
                <a:solidFill>
                  <a:schemeClr val="accent2">
                    <a:lumMod val="50000"/>
                  </a:schemeClr>
                </a:solidFill>
              </a:rPr>
              <a:t>邀请码在</a:t>
            </a:r>
            <a:r>
              <a:rPr lang="en-US" altLang="zh-CN" sz="2800" b="1" dirty="0">
                <a:solidFill>
                  <a:schemeClr val="accent2">
                    <a:lumMod val="50000"/>
                  </a:schemeClr>
                </a:solidFill>
              </a:rPr>
              <a:t>2024</a:t>
            </a:r>
            <a:r>
              <a:rPr lang="zh-CN" altLang="en-US" sz="2800" b="1" dirty="0">
                <a:solidFill>
                  <a:schemeClr val="accent2">
                    <a:lumMod val="50000"/>
                  </a:schemeClr>
                </a:solidFill>
              </a:rPr>
              <a:t>年</a:t>
            </a:r>
            <a:r>
              <a:rPr lang="en-US" altLang="zh-CN" sz="2800" b="1" dirty="0">
                <a:solidFill>
                  <a:schemeClr val="accent2">
                    <a:lumMod val="50000"/>
                  </a:schemeClr>
                </a:solidFill>
              </a:rPr>
              <a:t>12</a:t>
            </a:r>
            <a:r>
              <a:rPr lang="zh-CN" altLang="en-US" sz="2800" b="1" dirty="0">
                <a:solidFill>
                  <a:schemeClr val="accent2">
                    <a:lumMod val="50000"/>
                  </a:schemeClr>
                </a:solidFill>
              </a:rPr>
              <a:t>月</a:t>
            </a:r>
            <a:r>
              <a:rPr lang="en-US" altLang="zh-CN" sz="2800" b="1" dirty="0">
                <a:solidFill>
                  <a:schemeClr val="accent2">
                    <a:lumMod val="50000"/>
                  </a:schemeClr>
                </a:solidFill>
              </a:rPr>
              <a:t>24</a:t>
            </a:r>
            <a:r>
              <a:rPr lang="zh-CN" altLang="en-US" sz="2800" b="1" dirty="0">
                <a:solidFill>
                  <a:schemeClr val="accent2">
                    <a:lumMod val="50000"/>
                  </a:schemeClr>
                </a:solidFill>
              </a:rPr>
              <a:t>日之前有效，请在此之前加入班级</a:t>
            </a:r>
          </a:p>
        </p:txBody>
      </p:sp>
      <p:pic>
        <p:nvPicPr>
          <p:cNvPr id="4" name="图片 3">
            <a:extLst>
              <a:ext uri="{FF2B5EF4-FFF2-40B4-BE49-F238E27FC236}">
                <a16:creationId xmlns:a16="http://schemas.microsoft.com/office/drawing/2014/main" id="{8DAEF6FA-03FE-4571-A461-D025E3902B3F}"/>
              </a:ext>
            </a:extLst>
          </p:cNvPr>
          <p:cNvPicPr>
            <a:picLocks noChangeAspect="1"/>
          </p:cNvPicPr>
          <p:nvPr/>
        </p:nvPicPr>
        <p:blipFill>
          <a:blip r:embed="rId3"/>
          <a:stretch>
            <a:fillRect/>
          </a:stretch>
        </p:blipFill>
        <p:spPr>
          <a:xfrm>
            <a:off x="6095999" y="1681752"/>
            <a:ext cx="5635236" cy="2132103"/>
          </a:xfrm>
          <a:prstGeom prst="rect">
            <a:avLst/>
          </a:prstGeom>
        </p:spPr>
      </p:pic>
    </p:spTree>
    <p:extLst>
      <p:ext uri="{BB962C8B-B14F-4D97-AF65-F5344CB8AC3E}">
        <p14:creationId xmlns:p14="http://schemas.microsoft.com/office/powerpoint/2010/main" val="1646397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00EE3E79-5F27-4D08-9E50-5DBBFF16FD69}"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课程在线资源</a:t>
            </a:r>
          </a:p>
        </p:txBody>
      </p:sp>
      <p:sp>
        <p:nvSpPr>
          <p:cNvPr id="2" name="矩形 1">
            <a:extLst>
              <a:ext uri="{FF2B5EF4-FFF2-40B4-BE49-F238E27FC236}">
                <a16:creationId xmlns:a16="http://schemas.microsoft.com/office/drawing/2014/main" id="{822F338E-7A71-4EF3-90D3-D6B1BB2A35B7}"/>
              </a:ext>
            </a:extLst>
          </p:cNvPr>
          <p:cNvSpPr/>
          <p:nvPr/>
        </p:nvSpPr>
        <p:spPr>
          <a:xfrm>
            <a:off x="430152" y="1084207"/>
            <a:ext cx="6090466" cy="5175916"/>
          </a:xfrm>
          <a:prstGeom prst="rect">
            <a:avLst/>
          </a:prstGeom>
          <a:solidFill>
            <a:schemeClr val="accent6">
              <a:lumMod val="20000"/>
              <a:lumOff val="80000"/>
              <a:alpha val="5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spcBef>
                <a:spcPts val="300"/>
              </a:spcBef>
              <a:spcAft>
                <a:spcPts val="600"/>
              </a:spcAft>
              <a:buFont typeface="Arial" panose="020B0604020202020204" pitchFamily="34" charset="0"/>
              <a:buChar char="•"/>
            </a:pPr>
            <a:r>
              <a:rPr lang="zh-CN" altLang="en-US" sz="2000" b="1" dirty="0">
                <a:solidFill>
                  <a:srgbClr val="210694"/>
                </a:solidFill>
              </a:rPr>
              <a:t>在线课程平台章节学习</a:t>
            </a:r>
            <a:endParaRPr lang="en-US" altLang="zh-CN" sz="2000" b="1" dirty="0">
              <a:solidFill>
                <a:srgbClr val="210694"/>
              </a:solidFill>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学习指导：教材内容总结与思维导图</a:t>
            </a:r>
            <a:endParaRPr lang="en-US" altLang="zh-CN" b="1" dirty="0">
              <a:solidFill>
                <a:srgbClr val="C00000"/>
              </a:solidFill>
              <a:latin typeface="楷体" panose="02010609060101010101" pitchFamily="49" charset="-122"/>
              <a:ea typeface="楷体" panose="02010609060101010101" pitchFamily="49" charset="-122"/>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cs typeface="Arial" panose="020B0604020202020204" pitchFamily="34" charset="0"/>
              </a:rPr>
              <a:t>章节自测：从题库随机抽取题目自我测验</a:t>
            </a:r>
            <a:endParaRPr lang="en-US" altLang="zh-CN" b="1" dirty="0">
              <a:solidFill>
                <a:srgbClr val="C00000"/>
              </a:solidFill>
              <a:latin typeface="楷体" panose="02010609060101010101" pitchFamily="49" charset="-122"/>
              <a:ea typeface="楷体" panose="02010609060101010101" pitchFamily="49" charset="-122"/>
              <a:cs typeface="Arial" panose="020B0604020202020204" pitchFamily="34" charset="0"/>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cs typeface="Arial" panose="020B0604020202020204" pitchFamily="34" charset="0"/>
              </a:rPr>
              <a:t>详解视频：详细讲解教材内容的视频</a:t>
            </a:r>
            <a:endParaRPr lang="en-US" altLang="zh-CN" b="1" dirty="0">
              <a:solidFill>
                <a:srgbClr val="C00000"/>
              </a:solidFill>
              <a:latin typeface="楷体" panose="02010609060101010101" pitchFamily="49" charset="-122"/>
              <a:ea typeface="楷体" panose="02010609060101010101" pitchFamily="49" charset="-122"/>
              <a:cs typeface="Arial" panose="020B0604020202020204" pitchFamily="34" charset="0"/>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cs typeface="Arial" panose="020B0604020202020204" pitchFamily="34" charset="0"/>
              </a:rPr>
              <a:t>其他内容：拓展阅读、程序源代码等</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300"/>
              </a:spcBef>
              <a:spcAft>
                <a:spcPts val="600"/>
              </a:spcAft>
              <a:buFont typeface="Arial" panose="020B0604020202020204" pitchFamily="34" charset="0"/>
              <a:buChar char="•"/>
            </a:pPr>
            <a:r>
              <a:rPr lang="zh-CN" altLang="en-US" sz="2000" b="1" dirty="0">
                <a:solidFill>
                  <a:srgbClr val="210694"/>
                </a:solidFill>
              </a:rPr>
              <a:t>在线课程平台的可能使用方式</a:t>
            </a:r>
            <a:endParaRPr lang="en-US" altLang="zh-CN" sz="2000" b="1" dirty="0">
              <a:solidFill>
                <a:srgbClr val="210694"/>
              </a:solidFill>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课前预习课后复习阅读学习指导、浏览视频</a:t>
            </a:r>
            <a:endParaRPr lang="en-US" altLang="zh-CN" b="1" dirty="0">
              <a:solidFill>
                <a:srgbClr val="C00000"/>
              </a:solidFill>
              <a:latin typeface="楷体" panose="02010609060101010101" pitchFamily="49" charset="-122"/>
              <a:ea typeface="楷体" panose="02010609060101010101" pitchFamily="49" charset="-122"/>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进行章节自测检验自己的掌握情况</a:t>
            </a:r>
            <a:endParaRPr lang="en-US" altLang="zh-CN" b="1" dirty="0">
              <a:solidFill>
                <a:srgbClr val="C00000"/>
              </a:solidFill>
              <a:latin typeface="楷体" panose="02010609060101010101" pitchFamily="49" charset="-122"/>
              <a:ea typeface="楷体" panose="02010609060101010101" pitchFamily="49" charset="-122"/>
            </a:endParaRPr>
          </a:p>
          <a:p>
            <a:pPr marL="1200150" lvl="2" indent="-285750">
              <a:spcBef>
                <a:spcPts val="300"/>
              </a:spcBef>
              <a:spcAft>
                <a:spcPts val="300"/>
              </a:spcAft>
              <a:buFont typeface="Arial" panose="020B0604020202020204" pitchFamily="34" charset="0"/>
              <a:buChar char="•"/>
            </a:pPr>
            <a:r>
              <a:rPr lang="zh-CN" altLang="en-US" sz="1600" b="1" dirty="0">
                <a:solidFill>
                  <a:srgbClr val="0070C0"/>
                </a:solidFill>
                <a:latin typeface="宋体" panose="02010600030101010101" pitchFamily="2" charset="-122"/>
                <a:ea typeface="宋体" panose="02010600030101010101" pitchFamily="2" charset="-122"/>
              </a:rPr>
              <a:t>期中、期末考试的客观题与章节自测题类似</a:t>
            </a:r>
            <a:endParaRPr lang="en-US" altLang="zh-CN" sz="1600" b="1" dirty="0">
              <a:solidFill>
                <a:srgbClr val="0070C0"/>
              </a:solidFill>
              <a:latin typeface="宋体" panose="02010600030101010101" pitchFamily="2" charset="-122"/>
              <a:ea typeface="宋体" panose="02010600030101010101" pitchFamily="2" charset="-122"/>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用在线平台进行签到、课堂练习互动等</a:t>
            </a:r>
            <a:endParaRPr lang="en-US" altLang="zh-CN" b="1" dirty="0">
              <a:solidFill>
                <a:srgbClr val="C00000"/>
              </a:solidFill>
              <a:latin typeface="楷体" panose="02010609060101010101" pitchFamily="49" charset="-122"/>
              <a:ea typeface="楷体" panose="02010609060101010101" pitchFamily="49" charset="-122"/>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用在线平台进行讨论，发布通知、作业答案等</a:t>
            </a:r>
            <a:endParaRPr lang="en-US" altLang="zh-CN" b="1" dirty="0">
              <a:solidFill>
                <a:srgbClr val="C00000"/>
              </a:solidFill>
              <a:latin typeface="楷体" panose="02010609060101010101" pitchFamily="49" charset="-122"/>
              <a:ea typeface="楷体" panose="02010609060101010101" pitchFamily="49" charset="-122"/>
            </a:endParaRPr>
          </a:p>
          <a:p>
            <a:pPr marL="285750" indent="-285750">
              <a:spcBef>
                <a:spcPts val="300"/>
              </a:spcBef>
              <a:spcAft>
                <a:spcPts val="600"/>
              </a:spcAft>
              <a:buFont typeface="Arial" panose="020B0604020202020204" pitchFamily="34" charset="0"/>
              <a:buChar char="•"/>
            </a:pPr>
            <a:r>
              <a:rPr lang="zh-CN" altLang="en-US" sz="2000" b="1" dirty="0">
                <a:solidFill>
                  <a:srgbClr val="210694"/>
                </a:solidFill>
              </a:rPr>
              <a:t>周末腾讯会议进行在线集中答疑、讨论与作业点评</a:t>
            </a:r>
            <a:endParaRPr lang="en-US" altLang="zh-CN" sz="2000" b="1" dirty="0">
              <a:solidFill>
                <a:srgbClr val="210694"/>
              </a:solidFill>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面向全年级，学生自愿参加</a:t>
            </a:r>
            <a:endParaRPr lang="en-US" altLang="zh-CN" b="1" dirty="0">
              <a:solidFill>
                <a:srgbClr val="C00000"/>
              </a:solidFill>
              <a:latin typeface="楷体" panose="02010609060101010101" pitchFamily="49" charset="-122"/>
              <a:ea typeface="楷体" panose="02010609060101010101" pitchFamily="49" charset="-122"/>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腾讯会议号会在超星在线平台及时推送</a:t>
            </a:r>
            <a:endParaRPr lang="en-US" altLang="zh-CN" b="1" dirty="0">
              <a:solidFill>
                <a:srgbClr val="C00000"/>
              </a:solidFill>
              <a:latin typeface="楷体" panose="02010609060101010101" pitchFamily="49" charset="-122"/>
              <a:ea typeface="楷体" panose="02010609060101010101" pitchFamily="49" charset="-122"/>
            </a:endParaRPr>
          </a:p>
          <a:p>
            <a:pPr lvl="1">
              <a:spcBef>
                <a:spcPts val="300"/>
              </a:spcBef>
              <a:spcAft>
                <a:spcPts val="600"/>
              </a:spcAft>
            </a:pPr>
            <a:endParaRPr lang="en-US" altLang="zh-CN" sz="1600" dirty="0">
              <a:solidFill>
                <a:srgbClr val="C00000"/>
              </a:solidFill>
              <a:latin typeface="楷体" panose="02010609060101010101" pitchFamily="49" charset="-122"/>
              <a:ea typeface="楷体" panose="02010609060101010101" pitchFamily="49" charset="-122"/>
            </a:endParaRPr>
          </a:p>
        </p:txBody>
      </p:sp>
      <p:pic>
        <p:nvPicPr>
          <p:cNvPr id="3" name="图片 2">
            <a:extLst>
              <a:ext uri="{FF2B5EF4-FFF2-40B4-BE49-F238E27FC236}">
                <a16:creationId xmlns:a16="http://schemas.microsoft.com/office/drawing/2014/main" id="{F5C7F6EE-0620-4F34-8BF5-B9DE087BED08}"/>
              </a:ext>
            </a:extLst>
          </p:cNvPr>
          <p:cNvPicPr>
            <a:picLocks noChangeAspect="1"/>
          </p:cNvPicPr>
          <p:nvPr/>
        </p:nvPicPr>
        <p:blipFill>
          <a:blip r:embed="rId2"/>
          <a:stretch>
            <a:fillRect/>
          </a:stretch>
        </p:blipFill>
        <p:spPr>
          <a:xfrm>
            <a:off x="6608904" y="2204205"/>
            <a:ext cx="5416978" cy="2935919"/>
          </a:xfrm>
          <a:prstGeom prst="rect">
            <a:avLst/>
          </a:prstGeom>
        </p:spPr>
      </p:pic>
    </p:spTree>
    <p:extLst>
      <p:ext uri="{BB962C8B-B14F-4D97-AF65-F5344CB8AC3E}">
        <p14:creationId xmlns:p14="http://schemas.microsoft.com/office/powerpoint/2010/main" val="1586832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442F02-BA54-4535-9207-356BC7FD6E27}"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教材例题演示软件</a:t>
            </a:r>
          </a:p>
        </p:txBody>
      </p:sp>
      <p:sp>
        <p:nvSpPr>
          <p:cNvPr id="2" name="矩形 1">
            <a:extLst>
              <a:ext uri="{FF2B5EF4-FFF2-40B4-BE49-F238E27FC236}">
                <a16:creationId xmlns:a16="http://schemas.microsoft.com/office/drawing/2014/main" id="{822F338E-7A71-4EF3-90D3-D6B1BB2A35B7}"/>
              </a:ext>
            </a:extLst>
          </p:cNvPr>
          <p:cNvSpPr/>
          <p:nvPr/>
        </p:nvSpPr>
        <p:spPr>
          <a:xfrm>
            <a:off x="316523" y="1062267"/>
            <a:ext cx="5846885" cy="5101335"/>
          </a:xfrm>
          <a:prstGeom prst="rect">
            <a:avLst/>
          </a:prstGeom>
          <a:solidFill>
            <a:schemeClr val="tx2">
              <a:lumMod val="20000"/>
              <a:lumOff val="80000"/>
              <a:alpha val="5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spcBef>
                <a:spcPts val="300"/>
              </a:spcBef>
              <a:spcAft>
                <a:spcPts val="600"/>
              </a:spcAft>
              <a:buFont typeface="Arial" panose="020B0604020202020204" pitchFamily="34" charset="0"/>
              <a:buChar char="•"/>
            </a:pPr>
            <a:r>
              <a:rPr lang="zh-CN" altLang="en-US" sz="2000" b="1" dirty="0">
                <a:solidFill>
                  <a:srgbClr val="210694"/>
                </a:solidFill>
              </a:rPr>
              <a:t>下载与安装</a:t>
            </a:r>
            <a:endParaRPr lang="en-US" altLang="zh-CN" sz="2000" b="1" dirty="0">
              <a:solidFill>
                <a:srgbClr val="210694"/>
              </a:solidFill>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楷体" panose="02010609060101010101" pitchFamily="49" charset="-122"/>
                <a:ea typeface="楷体" panose="02010609060101010101" pitchFamily="49" charset="-122"/>
              </a:rPr>
              <a:t>从在线课程平台章节“拓展：例题习题演示软件”处下载压缩包</a:t>
            </a:r>
            <a:r>
              <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rPr>
              <a:t>Deedm.zip</a:t>
            </a: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解压后运行其中的</a:t>
            </a:r>
            <a:r>
              <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rPr>
              <a:t>Deedm.jar</a:t>
            </a: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文件即可</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marL="1200150" lvl="2"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如果电脑没有安装</a:t>
            </a:r>
            <a:r>
              <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JDK</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则需要先安装</a:t>
            </a:r>
            <a:r>
              <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JDK</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以保证</a:t>
            </a:r>
            <a:r>
              <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Deedm.jar</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可运行而不是被解压</a:t>
            </a:r>
            <a:endPar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1200150" lvl="2"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解压后的</a:t>
            </a:r>
            <a:r>
              <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Software</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目录中有</a:t>
            </a:r>
            <a:r>
              <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JDK</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安装程序</a:t>
            </a:r>
            <a:endPar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1200150" lvl="2"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为了</a:t>
            </a:r>
            <a:r>
              <a:rPr lang="en-US" altLang="zh-CN" sz="1600" b="1" dirty="0" err="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Deedm</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中正确显示图形需要安装</a:t>
            </a:r>
            <a:r>
              <a:rPr lang="en-US" altLang="zh-CN" sz="1600" b="1" dirty="0" err="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GraphViz</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并在</a:t>
            </a:r>
            <a:r>
              <a:rPr lang="en-US" altLang="zh-CN" sz="1600" b="1" dirty="0" err="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Deedm</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中配置好目录</a:t>
            </a:r>
            <a:endPar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1200150" lvl="2" indent="-285750">
              <a:spcBef>
                <a:spcPts val="300"/>
              </a:spcBef>
              <a:spcAft>
                <a:spcPts val="300"/>
              </a:spcAft>
              <a:buFont typeface="Arial" panose="020B0604020202020204" pitchFamily="34" charset="0"/>
              <a:buChar char="•"/>
            </a:pP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解压后的</a:t>
            </a:r>
            <a:r>
              <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Software</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目录中也有</a:t>
            </a:r>
            <a:r>
              <a:rPr lang="en-US" altLang="zh-CN" sz="1600" b="1" dirty="0" err="1">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GraphViz</a:t>
            </a:r>
            <a:r>
              <a:rPr lang="zh-CN" altLang="en-US"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rPr>
              <a:t>安装程序</a:t>
            </a:r>
            <a:endParaRPr lang="en-US" altLang="zh-CN" sz="1600" b="1" dirty="0">
              <a:solidFill>
                <a:schemeClr val="accent6">
                  <a:lumMod val="50000"/>
                </a:schemeClr>
              </a:solidFill>
              <a:latin typeface="Arial" panose="020B0604020202020204" pitchFamily="34" charset="0"/>
              <a:ea typeface="宋体" panose="02010600030101010101" pitchFamily="2" charset="-122"/>
              <a:cs typeface="Arial" panose="020B0604020202020204" pitchFamily="34" charset="0"/>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该章节有详细说明软件如何使用的视频</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300"/>
              </a:spcBef>
              <a:spcAft>
                <a:spcPts val="600"/>
              </a:spcAft>
              <a:buFont typeface="Arial" panose="020B0604020202020204" pitchFamily="34" charset="0"/>
              <a:buChar char="•"/>
            </a:pPr>
            <a:r>
              <a:rPr lang="zh-CN" altLang="en-US" sz="2000" b="1" dirty="0">
                <a:solidFill>
                  <a:srgbClr val="210694"/>
                </a:solidFill>
              </a:rPr>
              <a:t>例题演示软件的可能使用方式</a:t>
            </a:r>
            <a:endParaRPr lang="en-US" altLang="zh-CN" sz="2000" b="1" dirty="0">
              <a:solidFill>
                <a:srgbClr val="210694"/>
              </a:solidFill>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学习教材许多例题的详细解答过程</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随机生成更多习题进行课堂练习</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a:p>
            <a:pPr marL="742950" lvl="1" indent="-285750">
              <a:spcBef>
                <a:spcPts val="300"/>
              </a:spcBef>
              <a:spcAft>
                <a:spcPts val="300"/>
              </a:spcAft>
              <a:buFont typeface="Arial" panose="020B0604020202020204" pitchFamily="34" charset="0"/>
              <a:buChar char="•"/>
            </a:pPr>
            <a:r>
              <a:rPr lang="zh-CN" altLang="en-US" b="1" dirty="0">
                <a:solidFill>
                  <a:srgbClr val="C00000"/>
                </a:solidFill>
                <a:latin typeface="Arial" panose="020B0604020202020204" pitchFamily="34" charset="0"/>
                <a:ea typeface="楷体" panose="02010609060101010101" pitchFamily="49" charset="-122"/>
                <a:cs typeface="Arial" panose="020B0604020202020204" pitchFamily="34" charset="0"/>
              </a:rPr>
              <a:t>模仿软件自己编写程序求解离散数学问题</a:t>
            </a:r>
            <a:endParaRPr lang="en-US" altLang="zh-CN"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pic>
        <p:nvPicPr>
          <p:cNvPr id="11" name="图片 10">
            <a:extLst>
              <a:ext uri="{FF2B5EF4-FFF2-40B4-BE49-F238E27FC236}">
                <a16:creationId xmlns:a16="http://schemas.microsoft.com/office/drawing/2014/main" id="{E56305FD-1F7E-4D8B-AE03-478A19E3351E}"/>
              </a:ext>
            </a:extLst>
          </p:cNvPr>
          <p:cNvPicPr>
            <a:picLocks noChangeAspect="1"/>
          </p:cNvPicPr>
          <p:nvPr/>
        </p:nvPicPr>
        <p:blipFill>
          <a:blip r:embed="rId2"/>
          <a:stretch>
            <a:fillRect/>
          </a:stretch>
        </p:blipFill>
        <p:spPr>
          <a:xfrm>
            <a:off x="6298101" y="824905"/>
            <a:ext cx="5463746" cy="2981504"/>
          </a:xfrm>
          <a:prstGeom prst="rect">
            <a:avLst/>
          </a:prstGeom>
        </p:spPr>
      </p:pic>
      <p:pic>
        <p:nvPicPr>
          <p:cNvPr id="12" name="图片 11">
            <a:extLst>
              <a:ext uri="{FF2B5EF4-FFF2-40B4-BE49-F238E27FC236}">
                <a16:creationId xmlns:a16="http://schemas.microsoft.com/office/drawing/2014/main" id="{44D6571E-C9FD-493E-978C-FE03C2668DDE}"/>
              </a:ext>
            </a:extLst>
          </p:cNvPr>
          <p:cNvPicPr>
            <a:picLocks noChangeAspect="1"/>
          </p:cNvPicPr>
          <p:nvPr/>
        </p:nvPicPr>
        <p:blipFill>
          <a:blip r:embed="rId3"/>
          <a:stretch>
            <a:fillRect/>
          </a:stretch>
        </p:blipFill>
        <p:spPr>
          <a:xfrm>
            <a:off x="6955587" y="3849692"/>
            <a:ext cx="4148774" cy="2270482"/>
          </a:xfrm>
          <a:prstGeom prst="rect">
            <a:avLst/>
          </a:prstGeom>
        </p:spPr>
      </p:pic>
      <p:sp>
        <p:nvSpPr>
          <p:cNvPr id="13" name="文本框 12">
            <a:extLst>
              <a:ext uri="{FF2B5EF4-FFF2-40B4-BE49-F238E27FC236}">
                <a16:creationId xmlns:a16="http://schemas.microsoft.com/office/drawing/2014/main" id="{0F6A5817-95CE-4D62-B34C-03ED72AE9828}"/>
              </a:ext>
            </a:extLst>
          </p:cNvPr>
          <p:cNvSpPr txBox="1"/>
          <p:nvPr/>
        </p:nvSpPr>
        <p:spPr>
          <a:xfrm>
            <a:off x="7596590" y="6153590"/>
            <a:ext cx="2866767" cy="261610"/>
          </a:xfrm>
          <a:prstGeom prst="rect">
            <a:avLst/>
          </a:prstGeom>
          <a:noFill/>
          <a:ln>
            <a:noFill/>
          </a:ln>
        </p:spPr>
        <p:txBody>
          <a:bodyPr wrap="square" rtlCol="0">
            <a:spAutoFit/>
          </a:bodyPr>
          <a:lstStyle/>
          <a:p>
            <a:pPr algn="ctr"/>
            <a:r>
              <a:rPr lang="zh-CN" altLang="en-US" sz="1100" b="1">
                <a:solidFill>
                  <a:srgbClr val="003366"/>
                </a:solidFill>
                <a:latin typeface="仿宋" panose="02010609060101010101" pitchFamily="49" charset="-122"/>
                <a:ea typeface="仿宋" panose="02010609060101010101" pitchFamily="49" charset="-122"/>
              </a:rPr>
              <a:t>离散数学基础例题演示软件</a:t>
            </a:r>
            <a:r>
              <a:rPr lang="en-US" altLang="zh-CN" sz="1100" b="1">
                <a:solidFill>
                  <a:srgbClr val="003366"/>
                </a:solidFill>
                <a:latin typeface="仿宋" panose="02010609060101010101" pitchFamily="49" charset="-122"/>
                <a:ea typeface="仿宋" panose="02010609060101010101" pitchFamily="49" charset="-122"/>
              </a:rPr>
              <a:t>Deedm</a:t>
            </a:r>
            <a:r>
              <a:rPr lang="zh-CN" altLang="en-US" sz="1100" b="1">
                <a:solidFill>
                  <a:srgbClr val="003366"/>
                </a:solidFill>
                <a:latin typeface="仿宋" panose="02010609060101010101" pitchFamily="49" charset="-122"/>
                <a:ea typeface="仿宋" panose="02010609060101010101" pitchFamily="49" charset="-122"/>
              </a:rPr>
              <a:t>界面截图</a:t>
            </a:r>
            <a:endParaRPr lang="zh-CN" altLang="en-US" sz="1100" b="1" dirty="0" err="1">
              <a:solidFill>
                <a:srgbClr val="003366"/>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958083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8486712D-47C2-4CEC-98B6-9E7B9DC19B31}"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/20</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课程考核与成绩评定</a:t>
            </a:r>
          </a:p>
        </p:txBody>
      </p:sp>
      <p:sp>
        <p:nvSpPr>
          <p:cNvPr id="2" name="矩形 1">
            <a:extLst>
              <a:ext uri="{FF2B5EF4-FFF2-40B4-BE49-F238E27FC236}">
                <a16:creationId xmlns:a16="http://schemas.microsoft.com/office/drawing/2014/main" id="{EAFCBB1E-326C-4032-8943-0C52FC6DD7EE}"/>
              </a:ext>
            </a:extLst>
          </p:cNvPr>
          <p:cNvSpPr/>
          <p:nvPr/>
        </p:nvSpPr>
        <p:spPr>
          <a:xfrm>
            <a:off x="781982" y="1418325"/>
            <a:ext cx="10628036" cy="448428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lnSpc>
                <a:spcPct val="200000"/>
              </a:lnSpc>
            </a:pPr>
            <a:r>
              <a:rPr lang="zh-CN" altLang="en-US" sz="3200" b="1" dirty="0">
                <a:solidFill>
                  <a:srgbClr val="C00000"/>
                </a:solidFill>
              </a:rPr>
              <a:t>课程成绩 </a:t>
            </a:r>
            <a:r>
              <a:rPr lang="en-US" altLang="zh-CN" sz="3200" b="1" dirty="0">
                <a:solidFill>
                  <a:srgbClr val="C00000"/>
                </a:solidFill>
              </a:rPr>
              <a:t>= </a:t>
            </a:r>
            <a:r>
              <a:rPr lang="zh-CN" altLang="en-US" sz="3200" b="1" dirty="0">
                <a:solidFill>
                  <a:srgbClr val="C00000"/>
                </a:solidFill>
              </a:rPr>
              <a:t>平时成绩</a:t>
            </a:r>
            <a:r>
              <a:rPr lang="en-US" altLang="zh-CN" sz="3200" b="1" dirty="0">
                <a:solidFill>
                  <a:srgbClr val="C00000"/>
                </a:solidFill>
              </a:rPr>
              <a:t>50% + </a:t>
            </a:r>
            <a:r>
              <a:rPr lang="zh-CN" altLang="en-US" sz="3200" b="1" dirty="0">
                <a:solidFill>
                  <a:srgbClr val="C00000"/>
                </a:solidFill>
              </a:rPr>
              <a:t>期末考试卷面成绩</a:t>
            </a:r>
            <a:r>
              <a:rPr lang="en-US" altLang="zh-CN" sz="3200" b="1" dirty="0">
                <a:solidFill>
                  <a:srgbClr val="C00000"/>
                </a:solidFill>
              </a:rPr>
              <a:t>50%</a:t>
            </a:r>
          </a:p>
          <a:p>
            <a:pPr marL="285750" indent="-285750">
              <a:lnSpc>
                <a:spcPct val="200000"/>
              </a:lnSpc>
              <a:buFont typeface="Arial" panose="020B0604020202020204" pitchFamily="34" charset="0"/>
              <a:buChar char="•"/>
            </a:pPr>
            <a:r>
              <a:rPr lang="zh-CN" altLang="en-US" sz="2000" b="1" dirty="0">
                <a:solidFill>
                  <a:srgbClr val="002060"/>
                </a:solidFill>
                <a:latin typeface="仿宋" panose="02010609060101010101" pitchFamily="49" charset="-122"/>
                <a:ea typeface="仿宋" panose="02010609060101010101" pitchFamily="49" charset="-122"/>
              </a:rPr>
              <a:t>平时成绩 </a:t>
            </a:r>
            <a:r>
              <a:rPr lang="en-US" altLang="zh-CN" sz="2000" b="1" dirty="0">
                <a:solidFill>
                  <a:srgbClr val="002060"/>
                </a:solidFill>
                <a:latin typeface="仿宋" panose="02010609060101010101" pitchFamily="49" charset="-122"/>
                <a:ea typeface="仿宋" panose="02010609060101010101" pitchFamily="49" charset="-122"/>
              </a:rPr>
              <a:t>= </a:t>
            </a:r>
            <a:r>
              <a:rPr lang="zh-CN" altLang="en-US" sz="2000" b="1" dirty="0">
                <a:solidFill>
                  <a:srgbClr val="002060"/>
                </a:solidFill>
                <a:latin typeface="仿宋" panose="02010609060101010101" pitchFamily="49" charset="-122"/>
                <a:ea typeface="仿宋" panose="02010609060101010101" pitchFamily="49" charset="-122"/>
              </a:rPr>
              <a:t>平时作业</a:t>
            </a:r>
            <a:r>
              <a:rPr lang="en-US" altLang="zh-CN" sz="2000" b="1" dirty="0">
                <a:solidFill>
                  <a:srgbClr val="002060"/>
                </a:solidFill>
                <a:latin typeface="仿宋" panose="02010609060101010101" pitchFamily="49" charset="-122"/>
                <a:ea typeface="仿宋" panose="02010609060101010101" pitchFamily="49" charset="-122"/>
              </a:rPr>
              <a:t>30% + </a:t>
            </a:r>
            <a:r>
              <a:rPr lang="zh-CN" altLang="en-US" sz="2000" b="1" dirty="0">
                <a:solidFill>
                  <a:srgbClr val="002060"/>
                </a:solidFill>
                <a:latin typeface="仿宋" panose="02010609060101010101" pitchFamily="49" charset="-122"/>
                <a:ea typeface="仿宋" panose="02010609060101010101" pitchFamily="49" charset="-122"/>
              </a:rPr>
              <a:t>线上学习</a:t>
            </a:r>
            <a:r>
              <a:rPr lang="en-US" altLang="zh-CN" sz="2000" b="1" dirty="0">
                <a:solidFill>
                  <a:srgbClr val="002060"/>
                </a:solidFill>
                <a:latin typeface="仿宋" panose="02010609060101010101" pitchFamily="49" charset="-122"/>
                <a:ea typeface="仿宋" panose="02010609060101010101" pitchFamily="49" charset="-122"/>
              </a:rPr>
              <a:t>20% + </a:t>
            </a:r>
            <a:r>
              <a:rPr lang="zh-CN" altLang="en-US" sz="2000" b="1" dirty="0">
                <a:solidFill>
                  <a:srgbClr val="002060"/>
                </a:solidFill>
                <a:latin typeface="仿宋" panose="02010609060101010101" pitchFamily="49" charset="-122"/>
                <a:ea typeface="仿宋" panose="02010609060101010101" pitchFamily="49" charset="-122"/>
              </a:rPr>
              <a:t>一次或多次课堂测验</a:t>
            </a:r>
            <a:r>
              <a:rPr lang="en-US" altLang="zh-CN" sz="2000" b="1" dirty="0">
                <a:solidFill>
                  <a:srgbClr val="002060"/>
                </a:solidFill>
                <a:latin typeface="仿宋" panose="02010609060101010101" pitchFamily="49" charset="-122"/>
                <a:ea typeface="仿宋" panose="02010609060101010101" pitchFamily="49" charset="-122"/>
              </a:rPr>
              <a:t>50%</a:t>
            </a:r>
          </a:p>
          <a:p>
            <a:pPr marL="742950" lvl="1" indent="-285750">
              <a:lnSpc>
                <a:spcPct val="200000"/>
              </a:lnSpc>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平时作业成绩根据学生提交作业次数、完成作业态度，以及作业正确程度综合评分</a:t>
            </a:r>
            <a:endParaRPr lang="en-US" altLang="zh-CN"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endParaRPr>
          </a:p>
          <a:p>
            <a:pPr marL="742950" lvl="1" indent="-285750">
              <a:lnSpc>
                <a:spcPct val="200000"/>
              </a:lnSpc>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线上学习包括课堂签到（按次数计算，占</a:t>
            </a:r>
            <a:r>
              <a:rPr lang="en-US" altLang="zh-CN"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10%</a:t>
            </a:r>
            <a:r>
              <a:rPr lang="zh-CN" altLang="en-US"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）、章节学习（学习</a:t>
            </a:r>
            <a:r>
              <a:rPr lang="en-US" altLang="zh-CN"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100</a:t>
            </a:r>
            <a:r>
              <a:rPr lang="zh-CN" altLang="en-US"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次算满分，占</a:t>
            </a:r>
            <a:r>
              <a:rPr lang="en-US" altLang="zh-CN"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40%</a:t>
            </a:r>
            <a:r>
              <a:rPr lang="zh-CN" altLang="en-US"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）、课程活动积分（</a:t>
            </a:r>
            <a:r>
              <a:rPr lang="en-US" altLang="zh-CN"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120</a:t>
            </a:r>
            <a:r>
              <a:rPr lang="zh-CN" altLang="en-US"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积分算满分，占</a:t>
            </a:r>
            <a:r>
              <a:rPr lang="en-US" altLang="zh-CN"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50%</a:t>
            </a:r>
            <a:r>
              <a:rPr lang="zh-CN" altLang="en-US"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rPr>
              <a:t>）</a:t>
            </a:r>
            <a:endParaRPr lang="en-US" altLang="zh-CN" b="1" dirty="0">
              <a:solidFill>
                <a:schemeClr val="accent2">
                  <a:lumMod val="50000"/>
                </a:schemeClr>
              </a:solidFill>
              <a:latin typeface="楷体" panose="02010609060101010101" pitchFamily="49" charset="-122"/>
              <a:ea typeface="楷体" panose="02010609060101010101" pitchFamily="49" charset="-122"/>
              <a:cs typeface="Arial" panose="020B0604020202020204" pitchFamily="34" charset="0"/>
            </a:endParaRPr>
          </a:p>
          <a:p>
            <a:pPr marL="742950" lvl="1" indent="-285750">
              <a:lnSpc>
                <a:spcPct val="200000"/>
              </a:lnSpc>
              <a:buFont typeface="Arial" panose="020B0604020202020204" pitchFamily="34" charset="0"/>
              <a:buChar char="•"/>
            </a:pPr>
            <a:r>
              <a:rPr lang="zh-CN" altLang="en-US" b="1" dirty="0">
                <a:solidFill>
                  <a:schemeClr val="accent2">
                    <a:lumMod val="50000"/>
                  </a:schemeClr>
                </a:solidFill>
                <a:latin typeface="楷体" panose="02010609060101010101" pitchFamily="49" charset="-122"/>
                <a:ea typeface="楷体" panose="02010609060101010101" pitchFamily="49" charset="-122"/>
              </a:rPr>
              <a:t>根据课程具体进度情况，安排一次或多次课堂线上测验，根据测验成绩综合评分</a:t>
            </a:r>
            <a:endParaRPr lang="en-US" altLang="zh-CN" b="1" dirty="0">
              <a:solidFill>
                <a:schemeClr val="accent2">
                  <a:lumMod val="50000"/>
                </a:schemeClr>
              </a:solidFill>
              <a:latin typeface="楷体" panose="02010609060101010101" pitchFamily="49" charset="-122"/>
              <a:ea typeface="楷体" panose="02010609060101010101" pitchFamily="49" charset="-122"/>
            </a:endParaRPr>
          </a:p>
          <a:p>
            <a:pPr marL="285750" indent="-285750">
              <a:lnSpc>
                <a:spcPct val="200000"/>
              </a:lnSpc>
              <a:spcBef>
                <a:spcPts val="1200"/>
              </a:spcBef>
              <a:buFont typeface="Arial" panose="020B0604020202020204" pitchFamily="34" charset="0"/>
              <a:buChar char="•"/>
            </a:pPr>
            <a:r>
              <a:rPr lang="zh-CN" altLang="en-US" b="1" dirty="0">
                <a:solidFill>
                  <a:srgbClr val="002060"/>
                </a:solidFill>
                <a:latin typeface="仿宋" panose="02010609060101010101" pitchFamily="49" charset="-122"/>
                <a:ea typeface="仿宋" panose="02010609060101010101" pitchFamily="49" charset="-122"/>
              </a:rPr>
              <a:t>期末考试可能包括多种题型，覆盖教材第二章到第九章课堂讲授的内容</a:t>
            </a:r>
          </a:p>
        </p:txBody>
      </p:sp>
    </p:spTree>
    <p:extLst>
      <p:ext uri="{BB962C8B-B14F-4D97-AF65-F5344CB8AC3E}">
        <p14:creationId xmlns:p14="http://schemas.microsoft.com/office/powerpoint/2010/main" val="4287424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A2B3547-BF97-1395-75D6-B921235A2862}"/>
              </a:ext>
            </a:extLst>
          </p:cNvPr>
          <p:cNvPicPr>
            <a:picLocks noChangeAspect="1"/>
          </p:cNvPicPr>
          <p:nvPr/>
        </p:nvPicPr>
        <p:blipFill>
          <a:blip r:embed="rId2">
            <a:extLst>
              <a:ext uri="{28A0092B-C50C-407E-A947-70E740481C1C}">
                <a14:useLocalDpi xmlns:a14="http://schemas.microsoft.com/office/drawing/2010/main" val="0"/>
              </a:ext>
            </a:extLst>
          </a:blip>
          <a:srcRect l="1184" t="14226" b="23749"/>
          <a:stretch/>
        </p:blipFill>
        <p:spPr>
          <a:xfrm>
            <a:off x="5845628" y="2069646"/>
            <a:ext cx="3812146" cy="4253593"/>
          </a:xfrm>
          <a:prstGeom prst="rect">
            <a:avLst/>
          </a:prstGeom>
        </p:spPr>
      </p:pic>
      <p:sp>
        <p:nvSpPr>
          <p:cNvPr id="7" name="文本框 6">
            <a:extLst>
              <a:ext uri="{FF2B5EF4-FFF2-40B4-BE49-F238E27FC236}">
                <a16:creationId xmlns:a16="http://schemas.microsoft.com/office/drawing/2014/main" id="{FF7AFFA0-E02D-7A92-914E-E668FD72A339}"/>
              </a:ext>
            </a:extLst>
          </p:cNvPr>
          <p:cNvSpPr txBox="1"/>
          <p:nvPr/>
        </p:nvSpPr>
        <p:spPr>
          <a:xfrm>
            <a:off x="6564085" y="1382876"/>
            <a:ext cx="2788103" cy="369332"/>
          </a:xfrm>
          <a:prstGeom prst="rect">
            <a:avLst/>
          </a:prstGeom>
          <a:noFill/>
        </p:spPr>
        <p:txBody>
          <a:bodyPr wrap="square">
            <a:spAutoFit/>
          </a:bodyPr>
          <a:lstStyle/>
          <a:p>
            <a:r>
              <a:rPr lang="zh-CN" altLang="en-US" dirty="0"/>
              <a:t>课程</a:t>
            </a:r>
            <a:r>
              <a:rPr lang="en-US" altLang="zh-CN" dirty="0"/>
              <a:t>QQ</a:t>
            </a:r>
            <a:r>
              <a:rPr lang="zh-CN" altLang="en-US" dirty="0"/>
              <a:t>群：916274705</a:t>
            </a:r>
          </a:p>
        </p:txBody>
      </p:sp>
      <p:sp>
        <p:nvSpPr>
          <p:cNvPr id="8" name="文本框 7">
            <a:extLst>
              <a:ext uri="{FF2B5EF4-FFF2-40B4-BE49-F238E27FC236}">
                <a16:creationId xmlns:a16="http://schemas.microsoft.com/office/drawing/2014/main" id="{4B547716-1D28-1FB8-1BED-591D56A3169D}"/>
              </a:ext>
            </a:extLst>
          </p:cNvPr>
          <p:cNvSpPr txBox="1"/>
          <p:nvPr/>
        </p:nvSpPr>
        <p:spPr>
          <a:xfrm>
            <a:off x="1710418" y="794342"/>
            <a:ext cx="1620957" cy="523220"/>
          </a:xfrm>
          <a:prstGeom prst="rect">
            <a:avLst/>
          </a:prstGeom>
          <a:noFill/>
        </p:spPr>
        <p:txBody>
          <a:bodyPr wrap="none" rtlCol="0">
            <a:spAutoFit/>
          </a:bodyPr>
          <a:lstStyle/>
          <a:p>
            <a:r>
              <a:rPr lang="zh-CN" altLang="en-US" sz="2800" b="1" dirty="0"/>
              <a:t>教学团队</a:t>
            </a:r>
          </a:p>
        </p:txBody>
      </p:sp>
      <p:sp>
        <p:nvSpPr>
          <p:cNvPr id="9" name="文本框 8">
            <a:extLst>
              <a:ext uri="{FF2B5EF4-FFF2-40B4-BE49-F238E27FC236}">
                <a16:creationId xmlns:a16="http://schemas.microsoft.com/office/drawing/2014/main" id="{D243F2E1-26D5-91B3-8BFF-BBA5E523D8A3}"/>
              </a:ext>
            </a:extLst>
          </p:cNvPr>
          <p:cNvSpPr txBox="1"/>
          <p:nvPr/>
        </p:nvSpPr>
        <p:spPr>
          <a:xfrm>
            <a:off x="571499" y="2461914"/>
            <a:ext cx="4727122" cy="400110"/>
          </a:xfrm>
          <a:prstGeom prst="rect">
            <a:avLst/>
          </a:prstGeom>
          <a:noFill/>
        </p:spPr>
        <p:txBody>
          <a:bodyPr wrap="square" rtlCol="0">
            <a:spAutoFit/>
          </a:bodyPr>
          <a:lstStyle/>
          <a:p>
            <a:r>
              <a:rPr lang="zh-CN" altLang="en-US" sz="2000" dirty="0"/>
              <a:t>李绿周教授： </a:t>
            </a:r>
            <a:r>
              <a:rPr lang="en-US" altLang="zh-CN" sz="2000" dirty="0"/>
              <a:t>lilvzh@mail.sysu.edu.cn</a:t>
            </a:r>
            <a:endParaRPr lang="zh-CN" altLang="en-US" sz="2000" dirty="0"/>
          </a:p>
        </p:txBody>
      </p:sp>
      <p:sp>
        <p:nvSpPr>
          <p:cNvPr id="10" name="文本框 9">
            <a:extLst>
              <a:ext uri="{FF2B5EF4-FFF2-40B4-BE49-F238E27FC236}">
                <a16:creationId xmlns:a16="http://schemas.microsoft.com/office/drawing/2014/main" id="{08C4ECA8-0CFF-6B8C-DA4C-44988BCD71BB}"/>
              </a:ext>
            </a:extLst>
          </p:cNvPr>
          <p:cNvSpPr txBox="1"/>
          <p:nvPr/>
        </p:nvSpPr>
        <p:spPr>
          <a:xfrm>
            <a:off x="514350" y="2966086"/>
            <a:ext cx="4727121" cy="1604414"/>
          </a:xfrm>
          <a:prstGeom prst="rect">
            <a:avLst/>
          </a:prstGeom>
          <a:noFill/>
        </p:spPr>
        <p:txBody>
          <a:bodyPr wrap="square" rtlCol="0">
            <a:spAutoFit/>
          </a:bodyPr>
          <a:lstStyle/>
          <a:p>
            <a:r>
              <a:rPr lang="zh-CN" altLang="en-US" sz="2000" b="1" dirty="0"/>
              <a:t>助教（三位博士生）：</a:t>
            </a:r>
            <a:endParaRPr lang="en-US" altLang="zh-CN" sz="2000" b="1" dirty="0"/>
          </a:p>
          <a:p>
            <a:pPr>
              <a:lnSpc>
                <a:spcPct val="150000"/>
              </a:lnSpc>
            </a:pPr>
            <a:r>
              <a:rPr lang="zh-CN" altLang="en-US" dirty="0"/>
              <a:t>齐文韬</a:t>
            </a:r>
            <a:endParaRPr lang="en-US" altLang="zh-CN" dirty="0"/>
          </a:p>
          <a:p>
            <a:pPr>
              <a:lnSpc>
                <a:spcPct val="150000"/>
              </a:lnSpc>
            </a:pPr>
            <a:r>
              <a:rPr lang="zh-CN" altLang="en-US" dirty="0"/>
              <a:t>徐博研</a:t>
            </a:r>
            <a:endParaRPr lang="en-US" altLang="zh-CN" dirty="0"/>
          </a:p>
          <a:p>
            <a:pPr>
              <a:lnSpc>
                <a:spcPct val="150000"/>
              </a:lnSpc>
            </a:pPr>
            <a:r>
              <a:rPr lang="zh-CN" altLang="en-US" dirty="0"/>
              <a:t>范祖宁</a:t>
            </a:r>
          </a:p>
        </p:txBody>
      </p:sp>
      <p:sp>
        <p:nvSpPr>
          <p:cNvPr id="11" name="文本框 10">
            <a:extLst>
              <a:ext uri="{FF2B5EF4-FFF2-40B4-BE49-F238E27FC236}">
                <a16:creationId xmlns:a16="http://schemas.microsoft.com/office/drawing/2014/main" id="{2477903C-46D6-A3CF-8595-9902178B31DD}"/>
              </a:ext>
            </a:extLst>
          </p:cNvPr>
          <p:cNvSpPr txBox="1"/>
          <p:nvPr/>
        </p:nvSpPr>
        <p:spPr>
          <a:xfrm>
            <a:off x="514350" y="1845129"/>
            <a:ext cx="1723549" cy="461665"/>
          </a:xfrm>
          <a:prstGeom prst="rect">
            <a:avLst/>
          </a:prstGeom>
          <a:noFill/>
        </p:spPr>
        <p:txBody>
          <a:bodyPr wrap="none" rtlCol="0">
            <a:spAutoFit/>
          </a:bodyPr>
          <a:lstStyle/>
          <a:p>
            <a:r>
              <a:rPr lang="zh-CN" altLang="en-US" sz="2400" b="1" dirty="0"/>
              <a:t>主讲教师：</a:t>
            </a:r>
          </a:p>
        </p:txBody>
      </p:sp>
      <p:sp>
        <p:nvSpPr>
          <p:cNvPr id="12" name="文本框 11">
            <a:extLst>
              <a:ext uri="{FF2B5EF4-FFF2-40B4-BE49-F238E27FC236}">
                <a16:creationId xmlns:a16="http://schemas.microsoft.com/office/drawing/2014/main" id="{2D73E13D-0698-6DF2-D558-C72942C1DA66}"/>
              </a:ext>
            </a:extLst>
          </p:cNvPr>
          <p:cNvSpPr txBox="1"/>
          <p:nvPr/>
        </p:nvSpPr>
        <p:spPr>
          <a:xfrm>
            <a:off x="514350" y="4758190"/>
            <a:ext cx="4355646" cy="369332"/>
          </a:xfrm>
          <a:prstGeom prst="rect">
            <a:avLst/>
          </a:prstGeom>
          <a:noFill/>
        </p:spPr>
        <p:txBody>
          <a:bodyPr wrap="square" rtlCol="0">
            <a:spAutoFit/>
          </a:bodyPr>
          <a:lstStyle/>
          <a:p>
            <a:r>
              <a:rPr lang="zh-CN" altLang="en-US" b="1" dirty="0"/>
              <a:t>作业：</a:t>
            </a:r>
            <a:r>
              <a:rPr lang="zh-CN" altLang="en-US" dirty="0"/>
              <a:t>每周二上课时间交上一周的作业</a:t>
            </a:r>
          </a:p>
        </p:txBody>
      </p:sp>
    </p:spTree>
    <p:extLst>
      <p:ext uri="{BB962C8B-B14F-4D97-AF65-F5344CB8AC3E}">
        <p14:creationId xmlns:p14="http://schemas.microsoft.com/office/powerpoint/2010/main" val="3874652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第一讲</a:t>
            </a:r>
            <a:r>
              <a:rPr lang="en-US" altLang="zh-CN">
                <a:latin typeface="楷体" panose="02010609060101010101" pitchFamily="49" charset="-122"/>
                <a:ea typeface="楷体" panose="02010609060101010101" pitchFamily="49" charset="-122"/>
              </a:rPr>
              <a:t>	</a:t>
            </a:r>
            <a:r>
              <a:rPr lang="zh-CN" altLang="en-US">
                <a:latin typeface="楷体" panose="02010609060101010101" pitchFamily="49" charset="-122"/>
                <a:ea typeface="楷体" panose="02010609060101010101" pitchFamily="49" charset="-122"/>
              </a:rPr>
              <a:t>课程简介</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7</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1040</TotalTime>
  <Words>2337</Words>
  <Application>Microsoft Office PowerPoint</Application>
  <PresentationFormat>宽屏</PresentationFormat>
  <Paragraphs>241</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等线</vt:lpstr>
      <vt:lpstr>等线 Light</vt:lpstr>
      <vt:lpstr>仿宋</vt:lpstr>
      <vt:lpstr>华文新魏</vt:lpstr>
      <vt:lpstr>楷体</vt:lpstr>
      <vt:lpstr>宋体</vt:lpstr>
      <vt:lpstr>幼圆</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69</cp:revision>
  <dcterms:created xsi:type="dcterms:W3CDTF">2022-01-01T06:39:40Z</dcterms:created>
  <dcterms:modified xsi:type="dcterms:W3CDTF">2024-09-09T09:42:03Z</dcterms:modified>
</cp:coreProperties>
</file>