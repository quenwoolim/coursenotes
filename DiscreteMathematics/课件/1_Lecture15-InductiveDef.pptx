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7" r:id="rId4"/>
    <p:sldId id="281" r:id="rId5"/>
    <p:sldId id="282" r:id="rId6"/>
    <p:sldId id="283" r:id="rId7"/>
    <p:sldId id="286" r:id="rId8"/>
    <p:sldId id="288" r:id="rId9"/>
    <p:sldId id="285" r:id="rId10"/>
    <p:sldId id="290" r:id="rId11"/>
    <p:sldId id="289" r:id="rId12"/>
    <p:sldId id="284" r:id="rId13"/>
    <p:sldId id="291" r:id="rId14"/>
    <p:sldId id="287" r:id="rId15"/>
    <p:sldId id="292" r:id="rId16"/>
    <p:sldId id="293" r:id="rId17"/>
    <p:sldId id="261" r:id="rId18"/>
    <p:sldId id="295" r:id="rId19"/>
    <p:sldId id="294" r:id="rId20"/>
    <p:sldId id="297" r:id="rId21"/>
    <p:sldId id="296" r:id="rId22"/>
    <p:sldId id="260" r:id="rId23"/>
    <p:sldId id="301" r:id="rId24"/>
    <p:sldId id="299" r:id="rId25"/>
    <p:sldId id="302" r:id="rId26"/>
    <p:sldId id="300" r:id="rId27"/>
    <p:sldId id="304" r:id="rId28"/>
    <p:sldId id="306" r:id="rId29"/>
    <p:sldId id="305" r:id="rId30"/>
    <p:sldId id="272" r:id="rId31"/>
    <p:sldId id="280" r:id="rId32"/>
    <p:sldId id="26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E6EFE6"/>
    <a:srgbClr val="E5EFE5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9.png"/><Relationship Id="rId1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1.png"/><Relationship Id="rId2" Type="http://schemas.openxmlformats.org/officeDocument/2006/relationships/image" Target="../media/image25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39.png"/><Relationship Id="rId10" Type="http://schemas.openxmlformats.org/officeDocument/2006/relationships/image" Target="../media/image35.png"/><Relationship Id="rId4" Type="http://schemas.openxmlformats.org/officeDocument/2006/relationships/image" Target="../media/image27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6.png"/><Relationship Id="rId7" Type="http://schemas.openxmlformats.org/officeDocument/2006/relationships/image" Target="../media/image92.png"/><Relationship Id="rId12" Type="http://schemas.openxmlformats.org/officeDocument/2006/relationships/image" Target="../media/image10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86.png"/><Relationship Id="rId10" Type="http://schemas.openxmlformats.org/officeDocument/2006/relationships/image" Target="../media/image99.png"/><Relationship Id="rId4" Type="http://schemas.openxmlformats.org/officeDocument/2006/relationships/image" Target="../media/image85.png"/><Relationship Id="rId9" Type="http://schemas.openxmlformats.org/officeDocument/2006/relationships/image" Target="../media/image9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6.png"/><Relationship Id="rId7" Type="http://schemas.openxmlformats.org/officeDocument/2006/relationships/image" Target="../media/image9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82.png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106.png"/><Relationship Id="rId5" Type="http://schemas.openxmlformats.org/officeDocument/2006/relationships/image" Target="../media/image86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4" Type="http://schemas.openxmlformats.org/officeDocument/2006/relationships/image" Target="../media/image85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6.png"/><Relationship Id="rId7" Type="http://schemas.openxmlformats.org/officeDocument/2006/relationships/image" Target="../media/image9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82.png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106.png"/><Relationship Id="rId5" Type="http://schemas.openxmlformats.org/officeDocument/2006/relationships/image" Target="../media/image86.png"/><Relationship Id="rId15" Type="http://schemas.openxmlformats.org/officeDocument/2006/relationships/image" Target="../media/image110.png"/><Relationship Id="rId10" Type="http://schemas.openxmlformats.org/officeDocument/2006/relationships/image" Target="../media/image113.png"/><Relationship Id="rId4" Type="http://schemas.openxmlformats.org/officeDocument/2006/relationships/image" Target="../media/image85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96.png"/><Relationship Id="rId7" Type="http://schemas.openxmlformats.org/officeDocument/2006/relationships/image" Target="../media/image92.png"/><Relationship Id="rId12" Type="http://schemas.openxmlformats.org/officeDocument/2006/relationships/image" Target="../media/image11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117.png"/><Relationship Id="rId5" Type="http://schemas.openxmlformats.org/officeDocument/2006/relationships/image" Target="../media/image86.png"/><Relationship Id="rId10" Type="http://schemas.openxmlformats.org/officeDocument/2006/relationships/image" Target="../media/image116.png"/><Relationship Id="rId4" Type="http://schemas.openxmlformats.org/officeDocument/2006/relationships/image" Target="../media/image85.png"/><Relationship Id="rId9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96.png"/><Relationship Id="rId7" Type="http://schemas.openxmlformats.org/officeDocument/2006/relationships/image" Target="../media/image92.png"/><Relationship Id="rId12" Type="http://schemas.openxmlformats.org/officeDocument/2006/relationships/image" Target="../media/image12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117.png"/><Relationship Id="rId5" Type="http://schemas.openxmlformats.org/officeDocument/2006/relationships/image" Target="../media/image86.png"/><Relationship Id="rId10" Type="http://schemas.openxmlformats.org/officeDocument/2006/relationships/image" Target="../media/image119.png"/><Relationship Id="rId4" Type="http://schemas.openxmlformats.org/officeDocument/2006/relationships/image" Target="../media/image85.png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4.png"/><Relationship Id="rId4" Type="http://schemas.openxmlformats.org/officeDocument/2006/relationships/image" Target="../media/image1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5" Type="http://schemas.openxmlformats.org/officeDocument/2006/relationships/image" Target="../media/image130.png"/><Relationship Id="rId4" Type="http://schemas.openxmlformats.org/officeDocument/2006/relationships/image" Target="../media/image1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第十五讲</a:t>
            </a:r>
            <a:r>
              <a:rPr lang="en-US" altLang="zh-CN" sz="4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归纳定义与归纳证明*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李绿周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43849" y="4559643"/>
            <a:ext cx="28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lilvzh@mail.sysu.edu.cn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51249" y="1342262"/>
            <a:ext cx="4733731" cy="3177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归纳定义和结构归纳法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3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递归算法与归纳证明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集合归纳定义的形式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10884" y="1548881"/>
                <a:ext cx="5349130" cy="393883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chemeClr val="accent2">
                        <a:lumMod val="50000"/>
                      </a:schemeClr>
                    </a:solidFill>
                  </a:rPr>
                  <a:t>归纳定义集合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8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：给出集合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的一些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基本元素</a:t>
                </a: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：给出从集合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的一些元素构造另外一个元素的若干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规则</a:t>
                </a: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最小化声明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的所有元素要么是基本元素，要么是由已有元素根据某个规则构造得到</a:t>
                </a: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实际使用时常省略最小化声明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84" y="1548881"/>
                <a:ext cx="5349130" cy="3938835"/>
              </a:xfrm>
              <a:prstGeom prst="rect">
                <a:avLst/>
              </a:prstGeom>
              <a:blipFill rotWithShape="1">
                <a:blip r:embed="rId2"/>
                <a:stretch>
                  <a:fillRect l="-5" t="-3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7107977" y="1452205"/>
            <a:ext cx="3901003" cy="1791080"/>
            <a:chOff x="7117846" y="1574967"/>
            <a:chExt cx="3901003" cy="1791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7117846" y="1574967"/>
                  <a:ext cx="3756277" cy="138499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</a:rPr>
                    <a:t>归纳定义自然数集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a14:m>
                  <a:endParaRPr lang="en-US" altLang="zh-CN" sz="2400" b="1">
                    <a:solidFill>
                      <a:schemeClr val="accent4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归纳基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归纳步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：若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zh-CN" alt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则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a14:m>
                  <a:endPara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7846" y="1574967"/>
                  <a:ext cx="3756277" cy="138499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9387400" y="2147791"/>
                  <a:ext cx="1427517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基本元素：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7400" y="2147791"/>
                  <a:ext cx="1427517" cy="27699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9387400" y="3089048"/>
                  <a:ext cx="1631449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构造规则：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7400" y="3089048"/>
                  <a:ext cx="1631449" cy="27699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/>
          <p:cNvGrpSpPr/>
          <p:nvPr/>
        </p:nvGrpSpPr>
        <p:grpSpPr>
          <a:xfrm>
            <a:off x="6637622" y="3731307"/>
            <a:ext cx="4841715" cy="2332711"/>
            <a:chOff x="6723140" y="3825614"/>
            <a:chExt cx="4841715" cy="2332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6723140" y="3825614"/>
                  <a:ext cx="4841715" cy="138499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</a:rPr>
                    <a:t>归纳定义整数集的子集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endParaRPr lang="en-US" altLang="zh-CN" sz="2400" b="1">
                    <a:solidFill>
                      <a:schemeClr val="accent4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归纳基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𝟔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归纳步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：若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𝒙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𝒚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，则</a:t>
                  </a:r>
                  <a14:m>
                    <m:oMath xmlns:m="http://schemas.openxmlformats.org/officeDocument/2006/math"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𝒙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𝒚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且</a:t>
                  </a:r>
                  <a14:m>
                    <m:oMath xmlns:m="http://schemas.openxmlformats.org/officeDocument/2006/math"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𝒙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𝒚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000" b="1" i="1" spc="-3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</m:oMath>
                  </a14:m>
                  <a:endParaRPr lang="zh-CN" altLang="en-US" sz="2000" b="1" spc="-30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140" y="3825614"/>
                  <a:ext cx="4841715" cy="1384995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9143999" y="4452036"/>
                  <a:ext cx="2203771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两个基本元素：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b="1" i="0">
                      <a:solidFill>
                        <a:schemeClr val="accent2">
                          <a:lumMod val="50000"/>
                        </a:schemeClr>
                      </a:solidFill>
                      <a:latin typeface="+mj-lt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3999" y="4452036"/>
                  <a:ext cx="2203771" cy="276999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9143997" y="5250256"/>
                  <a:ext cx="1950503" cy="90806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ts val="2400"/>
                    </a:lnSpc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两个构造规则：分别用已有两个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的元素做加法与减法</a:t>
                  </a:r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3997" y="5250256"/>
                  <a:ext cx="1950503" cy="90806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归纳定义集合元素的构造树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27555" y="1164234"/>
            <a:ext cx="3276052" cy="1508105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归纳定义集合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归纳基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：给出</a:t>
            </a: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基本元素</a:t>
            </a:r>
            <a:endParaRPr lang="en-US" altLang="zh-CN" sz="2400" b="1">
              <a:solidFill>
                <a:srgbClr val="C00000"/>
              </a:solidFill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归纳步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：给出</a:t>
            </a: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构造规则</a:t>
            </a:r>
            <a:endParaRPr lang="en-US" altLang="zh-CN" sz="2400" b="1">
              <a:solidFill>
                <a:srgbClr val="C0000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783991" y="1164234"/>
                <a:ext cx="6398606" cy="251350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归纳定义集合元素的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构造树</a:t>
                </a:r>
                <a:endParaRPr lang="en-US" altLang="zh-CN" sz="2000" b="1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归纳定义集合的每个元素都至少对应一棵树描述它的构造过程</a:t>
                </a:r>
                <a:endParaRPr lang="en-US" altLang="zh-CN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根节点是这个元素，对于每个内部节点（包括根）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altLang="zh-CN" b="1" dirty="0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如果它是由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⋯, 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使用某个规则构造，则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b="1" dirty="0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的儿子节点是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i="0" dirty="0">
                    <a:solidFill>
                      <a:schemeClr val="accent4">
                        <a:lumMod val="50000"/>
                      </a:schemeClr>
                    </a:solidFill>
                    <a:latin typeface="+mj-lt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i="0" dirty="0">
                    <a:solidFill>
                      <a:schemeClr val="accent4">
                        <a:lumMod val="50000"/>
                      </a:schemeClr>
                    </a:solidFill>
                    <a:latin typeface="+mj-lt"/>
                    <a:ea typeface="楷体" panose="02010609060101010101" pitchFamily="49" charset="-122"/>
                  </a:rPr>
                  <a:t>，</a:t>
                </a:r>
                <a:r>
                  <a:rPr lang="zh-CN" altLang="en-US" b="1" dirty="0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等等，和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b="1" dirty="0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叶子节点是归纳基给出的某个基本元素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991" y="1164234"/>
                <a:ext cx="6398606" cy="2513509"/>
              </a:xfrm>
              <a:prstGeom prst="rect">
                <a:avLst/>
              </a:prstGeom>
              <a:blipFill rotWithShape="1">
                <a:blip r:embed="rId2"/>
                <a:stretch>
                  <a:fillRect l="-8" t="-11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927555" y="2940233"/>
            <a:ext cx="3276051" cy="7375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每个元素至少对应一棵构造树，但也可能对应多棵构造树！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2855286" y="4288788"/>
                <a:ext cx="3421326" cy="169277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归纳定义整数集的子集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286" y="4288788"/>
                <a:ext cx="3421326" cy="1692771"/>
              </a:xfrm>
              <a:prstGeom prst="rect">
                <a:avLst/>
              </a:prstGeom>
              <a:blipFill rotWithShape="1">
                <a:blip r:embed="rId3"/>
                <a:stretch>
                  <a:fillRect l="-10" t="-37" r="8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组合 87"/>
          <p:cNvGrpSpPr/>
          <p:nvPr/>
        </p:nvGrpSpPr>
        <p:grpSpPr>
          <a:xfrm>
            <a:off x="6485433" y="3886516"/>
            <a:ext cx="4946258" cy="2401122"/>
            <a:chOff x="6163977" y="3887845"/>
            <a:chExt cx="4946258" cy="2401122"/>
          </a:xfrm>
        </p:grpSpPr>
        <p:grpSp>
          <p:nvGrpSpPr>
            <p:cNvPr id="70" name="组合 69"/>
            <p:cNvGrpSpPr/>
            <p:nvPr/>
          </p:nvGrpSpPr>
          <p:grpSpPr>
            <a:xfrm>
              <a:off x="6297224" y="3966508"/>
              <a:ext cx="2025776" cy="1788977"/>
              <a:chOff x="4781408" y="3987088"/>
              <a:chExt cx="2025776" cy="1788977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5854240" y="3987088"/>
                <a:ext cx="405123" cy="402464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b="1"/>
                  <a:t>10</a:t>
                </a:r>
                <a:endParaRPr lang="zh-CN" altLang="en-US" b="1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5311410" y="4702468"/>
                <a:ext cx="405123" cy="402464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b="1"/>
                  <a:t>4</a:t>
                </a:r>
                <a:endParaRPr lang="zh-CN" altLang="en-US" b="1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4781408" y="5453723"/>
                <a:ext cx="380453" cy="3223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2</a:t>
                </a:r>
                <a:endParaRPr lang="zh-CN" altLang="en-US" b="1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5878077" y="5452918"/>
                <a:ext cx="380453" cy="3223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2</a:t>
                </a:r>
                <a:endParaRPr lang="zh-CN" altLang="en-US" b="1"/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6426731" y="4723651"/>
                <a:ext cx="380453" cy="3223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6</a:t>
                </a:r>
                <a:endParaRPr lang="zh-CN" altLang="en-US" b="1"/>
              </a:p>
            </p:txBody>
          </p:sp>
          <p:cxnSp>
            <p:nvCxnSpPr>
              <p:cNvPr id="47" name="直接连接符 46"/>
              <p:cNvCxnSpPr>
                <a:stCxn id="35" idx="3"/>
                <a:endCxn id="36" idx="0"/>
              </p:cNvCxnSpPr>
              <p:nvPr/>
            </p:nvCxnSpPr>
            <p:spPr>
              <a:xfrm flipH="1">
                <a:off x="5513972" y="4330613"/>
                <a:ext cx="399597" cy="37185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>
                <a:stCxn id="35" idx="5"/>
                <a:endCxn id="42" idx="0"/>
              </p:cNvCxnSpPr>
              <p:nvPr/>
            </p:nvCxnSpPr>
            <p:spPr>
              <a:xfrm>
                <a:off x="6200034" y="4330613"/>
                <a:ext cx="416924" cy="39303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>
                <a:stCxn id="36" idx="3"/>
                <a:endCxn id="40" idx="0"/>
              </p:cNvCxnSpPr>
              <p:nvPr/>
            </p:nvCxnSpPr>
            <p:spPr>
              <a:xfrm flipH="1">
                <a:off x="4971635" y="5045993"/>
                <a:ext cx="399104" cy="40773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>
                <a:stCxn id="36" idx="5"/>
                <a:endCxn id="41" idx="0"/>
              </p:cNvCxnSpPr>
              <p:nvPr/>
            </p:nvCxnSpPr>
            <p:spPr>
              <a:xfrm>
                <a:off x="5657204" y="5045993"/>
                <a:ext cx="411100" cy="40692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矩形 53"/>
              <p:cNvSpPr/>
              <p:nvPr/>
            </p:nvSpPr>
            <p:spPr>
              <a:xfrm>
                <a:off x="5910982" y="4430546"/>
                <a:ext cx="291640" cy="180989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+</a:t>
                </a:r>
                <a:endParaRPr lang="zh-CN" altLang="en-US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5365564" y="5128074"/>
                <a:ext cx="291640" cy="180989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+</a:t>
                </a:r>
                <a:endParaRPr lang="zh-CN" altLang="en-US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8882980" y="3981372"/>
              <a:ext cx="2084142" cy="1792984"/>
              <a:chOff x="8249330" y="3951859"/>
              <a:chExt cx="2084142" cy="1792984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9414257" y="4644930"/>
                <a:ext cx="405123" cy="402464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b="1"/>
                  <a:t>12</a:t>
                </a:r>
                <a:endParaRPr lang="zh-CN" altLang="en-US" b="1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8812336" y="3951859"/>
                <a:ext cx="405123" cy="402464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b="1"/>
                  <a:t>10</a:t>
                </a:r>
                <a:endParaRPr lang="zh-CN" altLang="en-US" b="1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8249330" y="4685868"/>
                <a:ext cx="380453" cy="3223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2</a:t>
                </a:r>
                <a:endParaRPr lang="zh-CN" altLang="en-US" b="1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8931527" y="5422501"/>
                <a:ext cx="380453" cy="3223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6</a:t>
                </a:r>
                <a:endParaRPr lang="zh-CN" altLang="en-US" b="1"/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9953019" y="5422501"/>
                <a:ext cx="380453" cy="3223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6</a:t>
                </a:r>
                <a:endParaRPr lang="zh-CN" altLang="en-US" b="1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8893881" y="4410932"/>
                <a:ext cx="242031" cy="180989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-</a:t>
                </a:r>
                <a:endParaRPr lang="zh-CN" altLang="en-US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9470999" y="5106990"/>
                <a:ext cx="291640" cy="180989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+</a:t>
                </a:r>
                <a:endParaRPr lang="zh-CN" altLang="en-US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  <p:cxnSp>
            <p:nvCxnSpPr>
              <p:cNvPr id="59" name="直接连接符 58"/>
              <p:cNvCxnSpPr>
                <a:stCxn id="39" idx="3"/>
                <a:endCxn id="43" idx="0"/>
              </p:cNvCxnSpPr>
              <p:nvPr/>
            </p:nvCxnSpPr>
            <p:spPr>
              <a:xfrm flipH="1">
                <a:off x="8439557" y="4295384"/>
                <a:ext cx="432108" cy="390484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>
                <a:stCxn id="39" idx="5"/>
                <a:endCxn id="37" idx="0"/>
              </p:cNvCxnSpPr>
              <p:nvPr/>
            </p:nvCxnSpPr>
            <p:spPr>
              <a:xfrm>
                <a:off x="9158130" y="4295384"/>
                <a:ext cx="458689" cy="349546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>
                <a:stCxn id="37" idx="3"/>
                <a:endCxn id="44" idx="0"/>
              </p:cNvCxnSpPr>
              <p:nvPr/>
            </p:nvCxnSpPr>
            <p:spPr>
              <a:xfrm flipH="1">
                <a:off x="9121754" y="4988455"/>
                <a:ext cx="351832" cy="434046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>
                <a:stCxn id="37" idx="5"/>
                <a:endCxn id="45" idx="0"/>
              </p:cNvCxnSpPr>
              <p:nvPr/>
            </p:nvCxnSpPr>
            <p:spPr>
              <a:xfrm>
                <a:off x="9760051" y="4988455"/>
                <a:ext cx="383195" cy="434046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/>
                <p:cNvSpPr txBox="1"/>
                <p:nvPr/>
              </p:nvSpPr>
              <p:spPr>
                <a:xfrm>
                  <a:off x="7370055" y="5886060"/>
                  <a:ext cx="2481053" cy="33855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元素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的两棵构造树</a:t>
                  </a:r>
                </a:p>
              </p:txBody>
            </p:sp>
          </mc:Choice>
          <mc:Fallback xmlns="">
            <p:sp>
              <p:nvSpPr>
                <p:cNvPr id="86" name="文本框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0055" y="5886060"/>
                  <a:ext cx="2481053" cy="33855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: 圆角 86"/>
            <p:cNvSpPr/>
            <p:nvPr/>
          </p:nvSpPr>
          <p:spPr>
            <a:xfrm>
              <a:off x="6163977" y="3887845"/>
              <a:ext cx="4946258" cy="2401122"/>
            </a:xfrm>
            <a:prstGeom prst="roundRect">
              <a:avLst>
                <a:gd name="adj" fmla="val 10249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760309" y="3902878"/>
            <a:ext cx="1675941" cy="2401122"/>
            <a:chOff x="657202" y="3862897"/>
            <a:chExt cx="1675941" cy="2401122"/>
          </a:xfrm>
        </p:grpSpPr>
        <p:grpSp>
          <p:nvGrpSpPr>
            <p:cNvPr id="89" name="组合 88"/>
            <p:cNvGrpSpPr/>
            <p:nvPr/>
          </p:nvGrpSpPr>
          <p:grpSpPr>
            <a:xfrm>
              <a:off x="657202" y="3862897"/>
              <a:ext cx="1675941" cy="2401122"/>
              <a:chOff x="3290897" y="1471822"/>
              <a:chExt cx="1675941" cy="2321159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4323662" y="1597316"/>
                <a:ext cx="355235" cy="322342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3</a:t>
                </a:r>
                <a:endParaRPr lang="zh-CN" altLang="en-US" b="1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4321472" y="2170275"/>
                <a:ext cx="355235" cy="322342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2</a:t>
                </a:r>
                <a:endParaRPr lang="zh-CN" altLang="en-US" b="1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323662" y="2740552"/>
                <a:ext cx="355235" cy="322342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1</a:t>
                </a:r>
                <a:endParaRPr lang="zh-CN" altLang="en-US" b="1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308862" y="3330118"/>
                <a:ext cx="380453" cy="3223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/>
                  <a:t>0</a:t>
                </a:r>
                <a:endParaRPr lang="zh-CN" altLang="en-US" b="1"/>
              </a:p>
            </p:txBody>
          </p:sp>
          <p:cxnSp>
            <p:nvCxnSpPr>
              <p:cNvPr id="16" name="直接连接符 15"/>
              <p:cNvCxnSpPr>
                <a:stCxn id="6" idx="4"/>
                <a:endCxn id="13" idx="0"/>
              </p:cNvCxnSpPr>
              <p:nvPr/>
            </p:nvCxnSpPr>
            <p:spPr>
              <a:xfrm flipH="1">
                <a:off x="4499090" y="1919658"/>
                <a:ext cx="2190" cy="250617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>
                <a:stCxn id="13" idx="4"/>
                <a:endCxn id="14" idx="0"/>
              </p:cNvCxnSpPr>
              <p:nvPr/>
            </p:nvCxnSpPr>
            <p:spPr>
              <a:xfrm>
                <a:off x="4499090" y="2492617"/>
                <a:ext cx="2190" cy="24793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>
                <a:stCxn id="14" idx="4"/>
                <a:endCxn id="12" idx="0"/>
              </p:cNvCxnSpPr>
              <p:nvPr/>
            </p:nvCxnSpPr>
            <p:spPr>
              <a:xfrm flipH="1">
                <a:off x="4499089" y="3062894"/>
                <a:ext cx="2191" cy="267224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矩形: 圆角 31"/>
              <p:cNvSpPr/>
              <p:nvPr/>
            </p:nvSpPr>
            <p:spPr>
              <a:xfrm>
                <a:off x="3290897" y="1471822"/>
                <a:ext cx="1675941" cy="2321159"/>
              </a:xfrm>
              <a:prstGeom prst="roundRect">
                <a:avLst>
                  <a:gd name="adj" fmla="val 11957"/>
                </a:avLst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0" name="文本框 89"/>
            <p:cNvSpPr txBox="1"/>
            <p:nvPr/>
          </p:nvSpPr>
          <p:spPr>
            <a:xfrm>
              <a:off x="887756" y="3955618"/>
              <a:ext cx="450440" cy="214770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zh-CN" altLang="en-US" sz="1600" b="1">
                  <a:solidFill>
                    <a:schemeClr val="accent2">
                      <a:lumMod val="50000"/>
                    </a:schemeClr>
                  </a:solidFill>
                </a:rPr>
                <a:t>自然数</a:t>
              </a:r>
              <a:r>
                <a:rPr lang="en-US" altLang="zh-CN" sz="1600" b="1">
                  <a:solidFill>
                    <a:schemeClr val="accent2">
                      <a:lumMod val="50000"/>
                    </a:schemeClr>
                  </a:solidFill>
                </a:rPr>
                <a:t>3</a:t>
              </a:r>
              <a:r>
                <a:rPr lang="zh-CN" altLang="en-US" sz="1600" b="1">
                  <a:solidFill>
                    <a:schemeClr val="accent2">
                      <a:lumMod val="50000"/>
                    </a:schemeClr>
                  </a:solidFill>
                </a:rPr>
                <a:t>的唯一构造树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</a:t>
            </a:r>
            <a:r>
              <a:rPr lang="en-US" altLang="zh-CN"/>
              <a:t>(proof by structural induction)</a:t>
            </a:r>
            <a:r>
              <a:rPr lang="zh-CN" altLang="en-US"/>
              <a:t>的证明形式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947294" y="1335707"/>
                <a:ext cx="5591654" cy="8617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归纳定义集合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：给出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基本元素；归纳步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：给出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构造规则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94" y="1335707"/>
                <a:ext cx="5591654" cy="861774"/>
              </a:xfrm>
              <a:prstGeom prst="rect">
                <a:avLst/>
              </a:prstGeom>
              <a:blipFill rotWithShape="1">
                <a:blip r:embed="rId2"/>
                <a:stretch>
                  <a:fillRect l="-9" t="-35" r="6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65746" y="2663815"/>
                <a:ext cx="6354750" cy="33704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chemeClr val="accent2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b="1">
                    <a:solidFill>
                      <a:schemeClr val="accent2">
                        <a:lumMod val="50000"/>
                      </a:schemeClr>
                    </a:solidFill>
                  </a:rPr>
                  <a:t>的结构归纳证明法</a:t>
                </a:r>
                <a:endParaRPr lang="en-US" altLang="zh-CN" sz="28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33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用于证明命题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论域是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，或写为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的结构进行归纳证明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是基本元素，则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直接验证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为真</a:t>
                </a:r>
              </a:p>
              <a:p>
                <a:pPr marL="342900" indent="-342900">
                  <a:lnSpc>
                    <a:spcPts val="33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是使用某个规则由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构造得到，则在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为真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的情况下，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也为真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46" y="2663815"/>
                <a:ext cx="6354750" cy="3370410"/>
              </a:xfrm>
              <a:prstGeom prst="rect">
                <a:avLst/>
              </a:prstGeom>
              <a:blipFill rotWithShape="1">
                <a:blip r:embed="rId3"/>
                <a:stretch>
                  <a:fillRect l="-9" t="-19" r="4" b="-11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7191273" y="1701466"/>
                <a:ext cx="4358589" cy="11849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chemeClr val="accent4">
                        <a:lumMod val="50000"/>
                      </a:schemeClr>
                    </a:solidFill>
                  </a:rPr>
                  <a:t>归纳定义整数集的子集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b="1" dirty="0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en-US" altLang="zh-CN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b="1" dirty="0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pc="-3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b="1" spc="-300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273" y="1701466"/>
                <a:ext cx="4358589" cy="1184940"/>
              </a:xfrm>
              <a:prstGeom prst="rect">
                <a:avLst/>
              </a:prstGeom>
              <a:blipFill rotWithShape="1">
                <a:blip r:embed="rId4"/>
                <a:stretch>
                  <a:fillRect l="-12" t="-25" r="11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327584" y="3069234"/>
                <a:ext cx="4085968" cy="214161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zh-CN" sz="24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C00000"/>
                    </a:solidFill>
                  </a:rPr>
                  <a:t>归纳基：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b="1" i="0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 i="0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US" altLang="zh-CN" sz="2000" b="1" dirty="0"/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C00000"/>
                    </a:solidFill>
                  </a:rPr>
                  <a:t>归纳步：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，显然有</a:t>
                </a:r>
                <a14:m>
                  <m:oMath xmlns:m="http://schemas.openxmlformats.org/officeDocument/2006/math"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en-US" altLang="zh-CN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综上，由结构归纳法，命题得证。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584" y="3069234"/>
                <a:ext cx="4085968" cy="2141612"/>
              </a:xfrm>
              <a:prstGeom prst="rect">
                <a:avLst/>
              </a:prstGeom>
              <a:blipFill rotWithShape="1">
                <a:blip r:embed="rId5"/>
                <a:stretch>
                  <a:fillRect l="-8" t="-13" r="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124426" y="5393674"/>
                <a:ext cx="3354993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“假定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”为真是归纳假设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426" y="5393674"/>
                <a:ext cx="3354993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11" t="-96" b="-34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左 5"/>
          <p:cNvSpPr/>
          <p:nvPr/>
        </p:nvSpPr>
        <p:spPr>
          <a:xfrm>
            <a:off x="6920496" y="5679560"/>
            <a:ext cx="203930" cy="10525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92469" y="1175866"/>
            <a:ext cx="475619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自然数集的结构归纳证明就是数学归纳法</a:t>
            </a:r>
          </a:p>
        </p:txBody>
      </p:sp>
      <p:sp>
        <p:nvSpPr>
          <p:cNvPr id="14" name="箭头: 右 13"/>
          <p:cNvSpPr/>
          <p:nvPr/>
        </p:nvSpPr>
        <p:spPr>
          <a:xfrm>
            <a:off x="6920496" y="4089626"/>
            <a:ext cx="407088" cy="1052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  <p:bldP spid="4" grpId="0" animBg="1"/>
      <p:bldP spid="6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结构归纳法与分情况证明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67936" y="3424716"/>
                <a:ext cx="8742713" cy="268624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结构归纳法实质上是分情况证明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just">
                  <a:lnSpc>
                    <a:spcPts val="32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基于归纳定义集合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的最小化声明，结构归纳法是针对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的结构进行分情况证明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 algn="just">
                  <a:lnSpc>
                    <a:spcPts val="28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归纳基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：针对每个基本元素，如果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是该基本元素，则直接验证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 algn="just">
                  <a:lnSpc>
                    <a:spcPts val="32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：针对每个构造规则，如果存在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使用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该规则构造，则在假定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为真的情况下证明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36" y="3424716"/>
                <a:ext cx="8742713" cy="2686248"/>
              </a:xfrm>
              <a:prstGeom prst="rect">
                <a:avLst/>
              </a:prstGeom>
              <a:blipFill rotWithShape="1">
                <a:blip r:embed="rId2"/>
                <a:stretch>
                  <a:fillRect l="-3" t="-6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67936" y="1166887"/>
                <a:ext cx="8742714" cy="186294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的结构归纳证明法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是基本元素，则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直接验证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为真</a:t>
                </a:r>
              </a:p>
              <a:p>
                <a:pPr marL="342900" indent="-342900" algn="just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是使用某个规则由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构造得到，则在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为真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的情况下，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也为真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36" y="1166887"/>
                <a:ext cx="8742714" cy="1862946"/>
              </a:xfrm>
              <a:prstGeom prst="rect">
                <a:avLst/>
              </a:prstGeom>
              <a:blipFill rotWithShape="1">
                <a:blip r:embed="rId3"/>
                <a:stretch>
                  <a:fillRect l="-3" t="-21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462695" y="2098360"/>
                <a:ext cx="2161368" cy="312777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集合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A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归纳定义的最小化声明断定，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：</a:t>
                </a:r>
                <a:endParaRPr lang="en-US" altLang="zh-CN" sz="16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要么是某个基本元素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 algn="just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要么存在元素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通过某个规则构造得到！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695" y="2098360"/>
                <a:ext cx="2161368" cy="3127779"/>
              </a:xfrm>
              <a:prstGeom prst="rect">
                <a:avLst/>
              </a:prstGeom>
              <a:blipFill rotWithShape="1">
                <a:blip r:embed="rId4"/>
                <a:stretch>
                  <a:fillRect l="-26" t="-10" r="18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下 5"/>
          <p:cNvSpPr/>
          <p:nvPr/>
        </p:nvSpPr>
        <p:spPr>
          <a:xfrm>
            <a:off x="4892694" y="3039451"/>
            <a:ext cx="93196" cy="3852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结构归纳法的分情况证明形式举例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61636" y="2265510"/>
                <a:ext cx="5668126" cy="38584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结构归纳证明的实质含义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ea typeface="楷体" panose="02010609060101010101" pitchFamily="49" charset="-122"/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的结构进行分情况证明：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3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归纳基：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2000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，显然有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3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归纳步：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742950" lvl="1" indent="-285750">
                  <a:lnSpc>
                    <a:spcPts val="2800"/>
                  </a:lnSpc>
                  <a:spcBef>
                    <a:spcPts val="3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(1) </a:t>
                </a: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，则由归纳假设有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，则也有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lnSpc>
                    <a:spcPts val="2800"/>
                  </a:lnSpc>
                  <a:spcBef>
                    <a:spcPts val="3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(2) </a:t>
                </a: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，则由归纳假设有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，则也有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600"/>
                  </a:lnSpc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综上，由结构归纳法，命题得证。</a:t>
                </a: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36" y="2265510"/>
                <a:ext cx="5668126" cy="3858429"/>
              </a:xfrm>
              <a:prstGeom prst="rect">
                <a:avLst/>
              </a:prstGeom>
              <a:blipFill rotWithShape="1">
                <a:blip r:embed="rId2"/>
                <a:stretch>
                  <a:fillRect l="-5" t="-12" r="7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184136" y="3866911"/>
                <a:ext cx="4243350" cy="225702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结构归纳证明</a:t>
                </a:r>
                <a:r>
                  <a:rPr lang="zh-CN" altLang="en-US" sz="2400" b="1" i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的简化版</a:t>
                </a:r>
                <a:r>
                  <a:rPr lang="en-US" altLang="zh-CN" sz="2400" b="1" i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 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归纳基：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b="1" i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 i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US" altLang="zh-CN" sz="2000" b="1"/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，显然有</a:t>
                </a:r>
                <a14:m>
                  <m:oMath xmlns:m="http://schemas.openxmlformats.org/officeDocument/2006/math"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综上，由结构归纳法，命题得证。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136" y="3866911"/>
                <a:ext cx="4243350" cy="2257028"/>
              </a:xfrm>
              <a:prstGeom prst="rect">
                <a:avLst/>
              </a:prstGeom>
              <a:blipFill rotWithShape="1">
                <a:blip r:embed="rId3"/>
                <a:stretch>
                  <a:fillRect l="-9" t="-18" r="1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61636" y="1103964"/>
                <a:ext cx="7319308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归纳定义整数集的子集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36" y="1103964"/>
                <a:ext cx="7319308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4" t="-36" r="8" b="-27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584835" y="1334796"/>
                <a:ext cx="2460328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835" y="1334796"/>
                <a:ext cx="2460328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1" t="-6" r="2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924424" y="2221298"/>
                <a:ext cx="4705940" cy="143116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归纳定义集合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的最小化声明断定，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要么是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2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，要么是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6</a:t>
                </a: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要么存在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  <a:p>
                <a:pPr marL="285750" indent="-285750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要么存在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424" y="2221298"/>
                <a:ext cx="4705940" cy="1431161"/>
              </a:xfrm>
              <a:prstGeom prst="rect">
                <a:avLst/>
              </a:prstGeom>
              <a:blipFill rotWithShape="1">
                <a:blip r:embed="rId6"/>
                <a:stretch>
                  <a:fillRect l="-8" t="-5" r="7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左 5"/>
          <p:cNvSpPr/>
          <p:nvPr/>
        </p:nvSpPr>
        <p:spPr>
          <a:xfrm>
            <a:off x="6229762" y="2855656"/>
            <a:ext cx="651262" cy="1624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/>
          <p:cNvSpPr/>
          <p:nvPr/>
        </p:nvSpPr>
        <p:spPr>
          <a:xfrm>
            <a:off x="6229762" y="4887764"/>
            <a:ext cx="954374" cy="204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归纳定义和结构归纳法练习（一）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归纳定义正整数对集的子集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：对任意正整数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1" b="-17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5214" y="2802793"/>
                <a:ext cx="6808662" cy="448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𝒚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的结构进行归纳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2802793"/>
                <a:ext cx="6808662" cy="448456"/>
              </a:xfrm>
              <a:prstGeom prst="rect">
                <a:avLst/>
              </a:prstGeom>
              <a:blipFill rotWithShape="1">
                <a:blip r:embed="rId3"/>
                <a:stretch>
                  <a:fillRect l="-1" t="-120" r="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369859" y="1235361"/>
                <a:ext cx="2216927" cy="7882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是奇数或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是奇数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59" y="1235361"/>
                <a:ext cx="2216927" cy="788293"/>
              </a:xfrm>
              <a:prstGeom prst="rect">
                <a:avLst/>
              </a:prstGeom>
              <a:blipFill rotWithShape="1">
                <a:blip r:embed="rId4"/>
                <a:stretch>
                  <a:fillRect l="-20" t="-36" r="2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8968576" y="2253309"/>
                <a:ext cx="3019492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画出元素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𝟓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𝟔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的两棵构造树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576" y="2253309"/>
                <a:ext cx="301949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6" t="-89" r="1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607404" y="3429000"/>
            <a:ext cx="8238719" cy="2916549"/>
            <a:chOff x="607404" y="3429000"/>
            <a:chExt cx="8238719" cy="291654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7404" y="3429000"/>
              <a:ext cx="8238719" cy="2916549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5835055" y="3903719"/>
              <a:ext cx="1052547" cy="307777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835055" y="4323953"/>
              <a:ext cx="1052547" cy="307777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(2)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434450" y="5940402"/>
              <a:ext cx="1052547" cy="307777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(3)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361329" y="5946980"/>
              <a:ext cx="1052547" cy="307777"/>
            </a:xfrm>
            <a:prstGeom prst="rect">
              <a:avLst/>
            </a:prstGeom>
            <a:solidFill>
              <a:srgbClr val="E5EFE5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(4)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归纳定义和结构归纳法练习（一）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归纳定义正整数对集的子集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：对任意正整数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1" b="-17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5214" y="2802793"/>
                <a:ext cx="6808662" cy="448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𝒚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的结构进行归纳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2802793"/>
                <a:ext cx="6808662" cy="448456"/>
              </a:xfrm>
              <a:prstGeom prst="rect">
                <a:avLst/>
              </a:prstGeom>
              <a:blipFill rotWithShape="1">
                <a:blip r:embed="rId3"/>
                <a:stretch>
                  <a:fillRect l="-1" t="-120" r="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369859" y="1232046"/>
                <a:ext cx="2216927" cy="7882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是奇数或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是奇数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59" y="1232046"/>
                <a:ext cx="2216927" cy="788293"/>
              </a:xfrm>
              <a:prstGeom prst="rect">
                <a:avLst/>
              </a:prstGeom>
              <a:blipFill rotWithShape="1">
                <a:blip r:embed="rId4"/>
                <a:stretch>
                  <a:fillRect l="-20" t="-19" r="26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/>
          <p:cNvGrpSpPr/>
          <p:nvPr/>
        </p:nvGrpSpPr>
        <p:grpSpPr>
          <a:xfrm>
            <a:off x="9441673" y="2850399"/>
            <a:ext cx="2073298" cy="2979859"/>
            <a:chOff x="9369859" y="2521163"/>
            <a:chExt cx="2073298" cy="2979859"/>
          </a:xfrm>
        </p:grpSpPr>
        <p:grpSp>
          <p:nvGrpSpPr>
            <p:cNvPr id="35" name="组合 34"/>
            <p:cNvGrpSpPr/>
            <p:nvPr/>
          </p:nvGrpSpPr>
          <p:grpSpPr>
            <a:xfrm>
              <a:off x="9369859" y="2561307"/>
              <a:ext cx="697312" cy="2939715"/>
              <a:chOff x="9369859" y="2561307"/>
              <a:chExt cx="697312" cy="29397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椭圆 13"/>
                  <p:cNvSpPr/>
                  <p:nvPr/>
                </p:nvSpPr>
                <p:spPr>
                  <a:xfrm>
                    <a:off x="9369859" y="2561307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𝟓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𝟔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4" name="椭圆 1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2561307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5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椭圆 15"/>
                  <p:cNvSpPr/>
                  <p:nvPr/>
                </p:nvSpPr>
                <p:spPr>
                  <a:xfrm>
                    <a:off x="9369859" y="3152805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𝟑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𝟔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6" name="椭圆 1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3152805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6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椭圆 17"/>
                  <p:cNvSpPr/>
                  <p:nvPr/>
                </p:nvSpPr>
                <p:spPr>
                  <a:xfrm>
                    <a:off x="9369859" y="3806262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𝟔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8" name="椭圆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3806262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7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椭圆 18"/>
                  <p:cNvSpPr/>
                  <p:nvPr/>
                </p:nvSpPr>
                <p:spPr>
                  <a:xfrm>
                    <a:off x="9369859" y="4443291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𝟒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9" name="椭圆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4443291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8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接连接符 21"/>
              <p:cNvCxnSpPr>
                <a:stCxn id="14" idx="4"/>
                <a:endCxn id="16" idx="0"/>
              </p:cNvCxnSpPr>
              <p:nvPr/>
            </p:nvCxnSpPr>
            <p:spPr>
              <a:xfrm>
                <a:off x="9718515" y="3020587"/>
                <a:ext cx="0" cy="13221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>
                <a:stCxn id="16" idx="4"/>
                <a:endCxn id="18" idx="0"/>
              </p:cNvCxnSpPr>
              <p:nvPr/>
            </p:nvCxnSpPr>
            <p:spPr>
              <a:xfrm>
                <a:off x="9718515" y="3612085"/>
                <a:ext cx="0" cy="194177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>
                <a:stCxn id="18" idx="4"/>
                <a:endCxn id="19" idx="0"/>
              </p:cNvCxnSpPr>
              <p:nvPr/>
            </p:nvCxnSpPr>
            <p:spPr>
              <a:xfrm>
                <a:off x="9718515" y="4265542"/>
                <a:ext cx="0" cy="177749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矩形 31"/>
                  <p:cNvSpPr/>
                  <p:nvPr/>
                </p:nvSpPr>
                <p:spPr>
                  <a:xfrm>
                    <a:off x="9369859" y="5107720"/>
                    <a:ext cx="697312" cy="393302"/>
                  </a:xfrm>
                  <a:prstGeom prst="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𝟐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32" name="矩形 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5107720"/>
                    <a:ext cx="697312" cy="393302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接连接符 33"/>
              <p:cNvCxnSpPr>
                <a:stCxn id="19" idx="4"/>
                <a:endCxn id="32" idx="0"/>
              </p:cNvCxnSpPr>
              <p:nvPr/>
            </p:nvCxnSpPr>
            <p:spPr>
              <a:xfrm>
                <a:off x="9718515" y="4902571"/>
                <a:ext cx="0" cy="205149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10745845" y="2521163"/>
              <a:ext cx="697312" cy="2939715"/>
              <a:chOff x="9369859" y="2561307"/>
              <a:chExt cx="697312" cy="29397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椭圆 36"/>
                  <p:cNvSpPr/>
                  <p:nvPr/>
                </p:nvSpPr>
                <p:spPr>
                  <a:xfrm>
                    <a:off x="9369859" y="2561307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𝟓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𝟔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37" name="椭圆 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2561307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5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椭圆 37"/>
                  <p:cNvSpPr/>
                  <p:nvPr/>
                </p:nvSpPr>
                <p:spPr>
                  <a:xfrm>
                    <a:off x="9369859" y="3152805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𝟓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𝟒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38" name="椭圆 3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3152805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10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椭圆 38"/>
                  <p:cNvSpPr/>
                  <p:nvPr/>
                </p:nvSpPr>
                <p:spPr>
                  <a:xfrm>
                    <a:off x="9369859" y="3806262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𝟓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𝟐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39" name="椭圆 3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3806262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11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椭圆 39"/>
                  <p:cNvSpPr/>
                  <p:nvPr/>
                </p:nvSpPr>
                <p:spPr>
                  <a:xfrm>
                    <a:off x="9369859" y="4443291"/>
                    <a:ext cx="697312" cy="459280"/>
                  </a:xfrm>
                  <a:prstGeom prst="ellipse">
                    <a:avLst/>
                  </a:prstGeom>
                  <a:solidFill>
                    <a:srgbClr val="00206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𝟑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𝟐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40" name="椭圆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4443291"/>
                    <a:ext cx="697312" cy="459280"/>
                  </a:xfrm>
                  <a:prstGeom prst="ellipse">
                    <a:avLst/>
                  </a:prstGeom>
                  <a:blipFill rotWithShape="1">
                    <a:blip r:embed="rId12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直接连接符 40"/>
              <p:cNvCxnSpPr>
                <a:stCxn id="37" idx="4"/>
                <a:endCxn id="38" idx="0"/>
              </p:cNvCxnSpPr>
              <p:nvPr/>
            </p:nvCxnSpPr>
            <p:spPr>
              <a:xfrm>
                <a:off x="9718515" y="3020587"/>
                <a:ext cx="0" cy="13221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>
                <a:stCxn id="38" idx="4"/>
                <a:endCxn id="39" idx="0"/>
              </p:cNvCxnSpPr>
              <p:nvPr/>
            </p:nvCxnSpPr>
            <p:spPr>
              <a:xfrm>
                <a:off x="9718515" y="3612085"/>
                <a:ext cx="0" cy="194177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>
                <a:stCxn id="39" idx="4"/>
                <a:endCxn id="40" idx="0"/>
              </p:cNvCxnSpPr>
              <p:nvPr/>
            </p:nvCxnSpPr>
            <p:spPr>
              <a:xfrm>
                <a:off x="9718515" y="4265542"/>
                <a:ext cx="0" cy="177749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矩形 43"/>
                  <p:cNvSpPr/>
                  <p:nvPr/>
                </p:nvSpPr>
                <p:spPr>
                  <a:xfrm>
                    <a:off x="9369859" y="5107720"/>
                    <a:ext cx="697312" cy="393302"/>
                  </a:xfrm>
                  <a:prstGeom prst="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𝟐</m:t>
                              </m:r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44" name="矩形 4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9859" y="5107720"/>
                    <a:ext cx="697312" cy="393302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" name="直接连接符 44"/>
              <p:cNvCxnSpPr>
                <a:stCxn id="40" idx="4"/>
                <a:endCxn id="44" idx="0"/>
              </p:cNvCxnSpPr>
              <p:nvPr/>
            </p:nvCxnSpPr>
            <p:spPr>
              <a:xfrm>
                <a:off x="9718515" y="4902571"/>
                <a:ext cx="0" cy="205149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组合 53"/>
          <p:cNvGrpSpPr/>
          <p:nvPr/>
        </p:nvGrpSpPr>
        <p:grpSpPr>
          <a:xfrm>
            <a:off x="607404" y="3429000"/>
            <a:ext cx="8238719" cy="2916549"/>
            <a:chOff x="607404" y="3429000"/>
            <a:chExt cx="8238719" cy="291654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07404" y="3429000"/>
              <a:ext cx="8238719" cy="291654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/>
                <p:cNvSpPr txBox="1"/>
                <p:nvPr/>
              </p:nvSpPr>
              <p:spPr>
                <a:xfrm>
                  <a:off x="5762694" y="3912721"/>
                  <a:ext cx="1164380" cy="307777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𝟏</m:t>
                                </m:r>
                                <m: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𝟐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 xmlns="">
            <p:sp>
              <p:nvSpPr>
                <p:cNvPr id="48" name="文本框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694" y="3912721"/>
                  <a:ext cx="1164380" cy="30777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/>
                <p:cNvSpPr txBox="1"/>
                <p:nvPr/>
              </p:nvSpPr>
              <p:spPr>
                <a:xfrm>
                  <a:off x="5762694" y="4340329"/>
                  <a:ext cx="1164380" cy="307777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𝟐</m:t>
                                </m:r>
                                <m: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𝟏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sz="2000" b="1"/>
                </a:p>
              </p:txBody>
            </p:sp>
          </mc:Choice>
          <mc:Fallback xmlns=""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694" y="4340329"/>
                  <a:ext cx="1164380" cy="307777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/>
                <p:cNvSpPr txBox="1"/>
                <p:nvPr/>
              </p:nvSpPr>
              <p:spPr>
                <a:xfrm>
                  <a:off x="1329937" y="5951325"/>
                  <a:ext cx="1164380" cy="307777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𝒂</m:t>
                                </m:r>
                                <m: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𝒃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 xmlns="">
            <p:sp>
              <p:nvSpPr>
                <p:cNvPr id="50" name="文本框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9937" y="5951325"/>
                  <a:ext cx="1164380" cy="307777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6155205" y="5943799"/>
                  <a:ext cx="1442867" cy="307777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𝒂</m:t>
                                </m:r>
                                <m: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𝟐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sz="2000" b="1"/>
                </a:p>
              </p:txBody>
            </p:sp>
          </mc:Choice>
          <mc:Fallback xmlns=""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5205" y="5943799"/>
                  <a:ext cx="1442867" cy="307777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8968576" y="2252120"/>
                <a:ext cx="3019492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画出元素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𝟓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𝟔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的两棵构造树</a:t>
                </a:r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576" y="2252120"/>
                <a:ext cx="3019492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16" t="-111" r="18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: 圆角 52"/>
          <p:cNvSpPr/>
          <p:nvPr/>
        </p:nvSpPr>
        <p:spPr>
          <a:xfrm>
            <a:off x="8968576" y="2198088"/>
            <a:ext cx="3019492" cy="3722908"/>
          </a:xfrm>
          <a:prstGeom prst="roundRect">
            <a:avLst>
              <a:gd name="adj" fmla="val 293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归纳定义和结构归纳法练习（二）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归纳定义正整数对集的子集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：对任意正整数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1" b="-17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5213" y="2802793"/>
                <a:ext cx="7854631" cy="448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的结构进行归纳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3" y="2802793"/>
                <a:ext cx="7854631" cy="448456"/>
              </a:xfrm>
              <a:prstGeom prst="rect">
                <a:avLst/>
              </a:prstGeom>
              <a:blipFill rotWithShape="1">
                <a:blip r:embed="rId3"/>
                <a:stretch>
                  <a:fillRect l="-1" t="-120" r="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369860" y="1535996"/>
                <a:ext cx="2145112" cy="7882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  <m: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∣(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60" y="1535996"/>
                <a:ext cx="2145112" cy="788293"/>
              </a:xfrm>
              <a:prstGeom prst="rect">
                <a:avLst/>
              </a:prstGeom>
              <a:blipFill rotWithShape="1">
                <a:blip r:embed="rId4"/>
                <a:stretch>
                  <a:fillRect l="-20" t="-72" r="2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05214" y="3573640"/>
                <a:ext cx="7683592" cy="132343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+mn-ea"/>
                  </a:rPr>
                  <a:t>归纳基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：验证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     </a:t>
                </a:r>
                <a:r>
                  <a:rPr lang="en-US" altLang="zh-CN" sz="2000" b="1" i="0" dirty="0">
                    <a:solidFill>
                      <a:srgbClr val="C00000"/>
                    </a:solidFill>
                  </a:rPr>
                  <a:t>(1)    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成立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+mn-ea"/>
                  </a:rPr>
                  <a:t>归纳步之一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：假定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成立，证明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也成立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C00000"/>
                    </a:solidFill>
                  </a:rPr>
                  <a:t>且       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(3)      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也成立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3573640"/>
                <a:ext cx="7683592" cy="1323439"/>
              </a:xfrm>
              <a:prstGeom prst="rect">
                <a:avLst/>
              </a:prstGeom>
              <a:blipFill rotWithShape="1">
                <a:blip r:embed="rId5"/>
                <a:stretch>
                  <a:fillRect l="-1" t="-37" r="2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/>
          <p:cNvCxnSpPr/>
          <p:nvPr/>
        </p:nvCxnSpPr>
        <p:spPr>
          <a:xfrm>
            <a:off x="4053017" y="3895982"/>
            <a:ext cx="1262344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262619" y="4841522"/>
            <a:ext cx="1262344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归纳定义和结构归纳法练习（二）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归纳定义正整数对集的子集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：对任意正整数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1" b="-17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369860" y="1535996"/>
                <a:ext cx="2145112" cy="7882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  <m:r>
                              <a:rPr lang="en-US" altLang="zh-CN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∣(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60" y="1535996"/>
                <a:ext cx="2145112" cy="788293"/>
              </a:xfrm>
              <a:prstGeom prst="rect">
                <a:avLst/>
              </a:prstGeom>
              <a:blipFill rotWithShape="1">
                <a:blip r:embed="rId3"/>
                <a:stretch>
                  <a:fillRect l="-20" t="-72" r="2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/>
          <p:cNvGrpSpPr/>
          <p:nvPr/>
        </p:nvGrpSpPr>
        <p:grpSpPr>
          <a:xfrm>
            <a:off x="605214" y="3573640"/>
            <a:ext cx="7683592" cy="1323439"/>
            <a:chOff x="605214" y="3573640"/>
            <a:chExt cx="7683592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605214" y="3573640"/>
                  <a:ext cx="7683592" cy="132343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 dirty="0">
                      <a:solidFill>
                        <a:srgbClr val="002060"/>
                      </a:solidFill>
                      <a:latin typeface="+mn-ea"/>
                    </a:rPr>
                    <a:t>归纳基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：验证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成立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 dirty="0">
                      <a:solidFill>
                        <a:srgbClr val="002060"/>
                      </a:solidFill>
                      <a:latin typeface="+mn-ea"/>
                    </a:rPr>
                    <a:t>归纳步之一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：假定 </a:t>
                  </a:r>
                  <a14:m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成立，证明 </a:t>
                  </a:r>
                  <a14:m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且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也成立</a:t>
                  </a: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214" y="3573640"/>
                  <a:ext cx="7683592" cy="132343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/>
            <p:cNvCxnSpPr/>
            <p:nvPr/>
          </p:nvCxnSpPr>
          <p:spPr>
            <a:xfrm>
              <a:off x="4053017" y="3895982"/>
              <a:ext cx="1262344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444633" y="4878201"/>
              <a:ext cx="1262344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/>
              <p:cNvSpPr txBox="1"/>
              <p:nvPr/>
            </p:nvSpPr>
            <p:spPr>
              <a:xfrm>
                <a:off x="605213" y="2802793"/>
                <a:ext cx="7854631" cy="448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的结构进行归纳</a:t>
                </a:r>
              </a:p>
            </p:txBody>
          </p:sp>
        </mc:Choice>
        <mc:Fallback xmlns=""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3" y="2802793"/>
                <a:ext cx="7854631" cy="448456"/>
              </a:xfrm>
              <a:prstGeom prst="rect">
                <a:avLst/>
              </a:prstGeom>
              <a:blipFill rotWithShape="1">
                <a:blip r:embed="rId5"/>
                <a:stretch>
                  <a:fillRect l="-1" t="-120" r="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归纳定义集合的概括性定义</a:t>
            </a:r>
            <a:r>
              <a:rPr lang="en-US" altLang="zh-CN"/>
              <a:t>*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归纳定义正整数对集的子集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：对任意正整数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237646"/>
                <a:ext cx="8321699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1" b="-17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05213" y="2802793"/>
                <a:ext cx="4368070" cy="448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∣(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3" y="2802793"/>
                <a:ext cx="4368070" cy="448456"/>
              </a:xfrm>
              <a:prstGeom prst="rect">
                <a:avLst/>
              </a:prstGeom>
              <a:blipFill rotWithShape="1">
                <a:blip r:embed="rId3"/>
                <a:stretch>
                  <a:fillRect l="-1" t="-120" r="1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9350121" y="1426874"/>
            <a:ext cx="2249818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4">
                    <a:lumMod val="50000"/>
                  </a:schemeClr>
                </a:solidFill>
              </a:rPr>
              <a:t>注意，这里逻辑公式中个体变量的论域总是正整数！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605213" y="2681157"/>
            <a:ext cx="10683351" cy="3655114"/>
            <a:chOff x="605213" y="2681157"/>
            <a:chExt cx="10683351" cy="3655114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5213" y="4102826"/>
              <a:ext cx="8366648" cy="22334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5602617" y="2681157"/>
                  <a:ext cx="4258430" cy="640112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200"/>
                    </a:lnSpc>
                  </a:pP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不是证明所有属于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的正整数对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6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16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的性质，</a:t>
                  </a:r>
                  <a:r>
                    <a:rPr lang="zh-CN" altLang="en-US" sz="1600" b="1">
                      <a:solidFill>
                        <a:srgbClr val="C00000"/>
                      </a:solidFill>
                    </a:rPr>
                    <a:t>不能</a:t>
                  </a: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对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的元素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6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16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的结构进行</a:t>
                  </a:r>
                  <a:r>
                    <a:rPr lang="zh-CN" altLang="en-US" sz="1600" b="1">
                      <a:solidFill>
                        <a:srgbClr val="C00000"/>
                      </a:solidFill>
                    </a:rPr>
                    <a:t>结构归纳证明</a:t>
                  </a: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2617" y="2681157"/>
                  <a:ext cx="4258430" cy="64011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605213" y="3543537"/>
                  <a:ext cx="7617810" cy="40498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rgbClr val="002060"/>
                      </a:solidFill>
                    </a:rPr>
                    <a:t>令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表示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sepChr m:val="∣"/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𝒂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，则是要证明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𝒏𝑸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a14:m>
                  <a:endParaRPr lang="zh-CN" altLang="en-US" b="1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213" y="3543537"/>
                  <a:ext cx="7617810" cy="404983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箭头: 左 3"/>
            <p:cNvSpPr/>
            <p:nvPr/>
          </p:nvSpPr>
          <p:spPr>
            <a:xfrm>
              <a:off x="4973283" y="2973445"/>
              <a:ext cx="629334" cy="68704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8712018" y="3418721"/>
                  <a:ext cx="2576546" cy="61767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100"/>
                    </a:lnSpc>
                  </a:pP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证明所有正整数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满足性质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，可对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实施强归纳</a:t>
                  </a:r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2018" y="3418721"/>
                  <a:ext cx="2576546" cy="61767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箭头: 左 15"/>
            <p:cNvSpPr/>
            <p:nvPr/>
          </p:nvSpPr>
          <p:spPr>
            <a:xfrm>
              <a:off x="8223023" y="3701443"/>
              <a:ext cx="440753" cy="8088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4414118" y="4102828"/>
                  <a:ext cx="2808984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这里为什么要验证到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？</a:t>
                  </a:r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118" y="4102828"/>
                  <a:ext cx="2808984" cy="27699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9144000" y="5131428"/>
                  <a:ext cx="1696135" cy="59939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这里为什么需要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或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？</a:t>
                  </a:r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5131428"/>
                  <a:ext cx="1696135" cy="599395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9499235" y="4121440"/>
                  <a:ext cx="1789329" cy="61767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100"/>
                    </a:lnSpc>
                  </a:pPr>
                  <a:r>
                    <a:rPr lang="zh-CN" altLang="en-US" sz="1600" b="1">
                      <a:solidFill>
                        <a:srgbClr val="002060"/>
                      </a:solidFill>
                    </a:rPr>
                    <a:t>也可认为是对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1600" b="1">
                      <a:solidFill>
                        <a:srgbClr val="C00000"/>
                      </a:solidFill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1600" b="1">
                      <a:solidFill>
                        <a:srgbClr val="C00000"/>
                      </a:solidFill>
                    </a:rPr>
                    <a:t>的和</a:t>
                  </a:r>
                  <a:r>
                    <a:rPr lang="zh-CN" altLang="en-US" sz="1600" b="1">
                      <a:solidFill>
                        <a:srgbClr val="002060"/>
                      </a:solidFill>
                    </a:rPr>
                    <a:t>实施归纳！</a:t>
                  </a:r>
                </a:p>
              </p:txBody>
            </p:sp>
          </mc:Choice>
          <mc:Fallback xmlns=""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9235" y="4121440"/>
                  <a:ext cx="1789329" cy="61767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集合的归纳定义和概括性定义</a:t>
            </a:r>
            <a:r>
              <a:rPr lang="en-US" altLang="zh-CN"/>
              <a:t>*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72322" y="1096818"/>
                <a:ext cx="5150901" cy="176971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归纳定义正整数对集的子集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：对任意正整数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22" y="1096818"/>
                <a:ext cx="5150901" cy="1769715"/>
              </a:xfrm>
              <a:prstGeom prst="rect">
                <a:avLst/>
              </a:prstGeom>
              <a:blipFill rotWithShape="1">
                <a:blip r:embed="rId2"/>
                <a:stretch>
                  <a:fillRect l="-4" t="-10" r="1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402995" y="1099209"/>
                <a:ext cx="5150901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性质概括法定义正整数对集的子集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𝑻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×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  <a:ea typeface="楷体" panose="02010609060101010101" pitchFamily="49" charset="-122"/>
                  </a:rPr>
                  <a:t>是偶数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zh-CN" altLang="en-US" sz="2000" b="1" spc="-3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995" y="1099209"/>
                <a:ext cx="5150901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6" t="-3" r="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502685" y="2129528"/>
                <a:ext cx="3216846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给出了归纳定义的集合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的性质概括法定义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685" y="2129528"/>
                <a:ext cx="3216846" cy="707886"/>
              </a:xfrm>
              <a:prstGeom prst="rect">
                <a:avLst/>
              </a:prstGeom>
              <a:blipFill rotWithShape="1">
                <a:blip r:embed="rId4"/>
                <a:stretch>
                  <a:fillRect l="-5" t="-53" r="3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/>
          <p:cNvGrpSpPr/>
          <p:nvPr/>
        </p:nvGrpSpPr>
        <p:grpSpPr>
          <a:xfrm>
            <a:off x="513117" y="3097091"/>
            <a:ext cx="10985956" cy="1116269"/>
            <a:chOff x="552587" y="3146545"/>
            <a:chExt cx="10985956" cy="11162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611792" y="3229361"/>
                  <a:ext cx="8920334" cy="44845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3000"/>
                    </a:lnSpc>
                  </a:pP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前面针对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</a:rPr>
                    <a:t>的元素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</a:rPr>
                    <a:t>使用结构归纳法</a:t>
                  </a: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证明的</a:t>
                  </a:r>
                  <a14:m>
                    <m:oMath xmlns:m="http://schemas.openxmlformats.org/officeDocument/2006/math">
                      <m:r>
                        <a:rPr lang="en-US" altLang="zh-CN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→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∣(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))</m:t>
                      </m:r>
                    </m:oMath>
                  </a14:m>
                  <a:endParaRPr lang="zh-CN" altLang="en-US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92" y="3229361"/>
                  <a:ext cx="8920334" cy="448456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箭头: 右 1"/>
            <p:cNvSpPr/>
            <p:nvPr/>
          </p:nvSpPr>
          <p:spPr>
            <a:xfrm>
              <a:off x="9532126" y="3429446"/>
              <a:ext cx="837296" cy="4834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10369422" y="3253534"/>
                  <a:ext cx="1111752" cy="40011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zh-CN" altLang="en-US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9422" y="3253534"/>
                  <a:ext cx="1111752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611792" y="3750365"/>
                  <a:ext cx="8920334" cy="44845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3000"/>
                    </a:lnSpc>
                  </a:pP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前面针对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正整数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</a:rPr>
                    <a:t>的和使用强归纳法</a:t>
                  </a: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证明的</a:t>
                  </a:r>
                  <a14:m>
                    <m:oMath xmlns:m="http://schemas.openxmlformats.org/officeDocument/2006/math">
                      <m:r>
                        <a:rPr lang="en-US" altLang="zh-CN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∣(</m:t>
                      </m:r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92" y="3750365"/>
                  <a:ext cx="8920334" cy="448456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箭头: 右 14"/>
            <p:cNvSpPr/>
            <p:nvPr/>
          </p:nvSpPr>
          <p:spPr>
            <a:xfrm>
              <a:off x="9532126" y="3974623"/>
              <a:ext cx="837296" cy="4834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10369422" y="3798711"/>
                  <a:ext cx="1111752" cy="40011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zh-CN" altLang="en-US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9422" y="3798711"/>
                  <a:ext cx="1111752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: 圆角 17"/>
            <p:cNvSpPr/>
            <p:nvPr/>
          </p:nvSpPr>
          <p:spPr>
            <a:xfrm>
              <a:off x="552587" y="3146545"/>
              <a:ext cx="10985956" cy="1116269"/>
            </a:xfrm>
            <a:prstGeom prst="roundRect">
              <a:avLst>
                <a:gd name="adj" fmla="val 12745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箭头: 上 18"/>
          <p:cNvSpPr/>
          <p:nvPr/>
        </p:nvSpPr>
        <p:spPr>
          <a:xfrm>
            <a:off x="9038745" y="2837288"/>
            <a:ext cx="144725" cy="24893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1135873" y="4373625"/>
            <a:ext cx="9920253" cy="1933372"/>
            <a:chOff x="1151223" y="4401644"/>
            <a:chExt cx="9920253" cy="1933372"/>
          </a:xfrm>
        </p:grpSpPr>
        <p:sp>
          <p:nvSpPr>
            <p:cNvPr id="20" name="文本框 19"/>
            <p:cNvSpPr txBox="1"/>
            <p:nvPr/>
          </p:nvSpPr>
          <p:spPr>
            <a:xfrm>
              <a:off x="1214813" y="4760320"/>
              <a:ext cx="4558843" cy="1488164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ts val="26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容易根据集合的性质概括法定义给出算法判断元素是否属于该集合</a:t>
              </a:r>
            </a:p>
            <a:p>
              <a:pPr marL="342900" indent="-342900">
                <a:lnSpc>
                  <a:spcPts val="26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rPr>
                <a:t>性质概括法使用逻辑语言给出了一个问题的解的一个规范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466585" y="4760321"/>
              <a:ext cx="4504021" cy="1488164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ts val="26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根据集合的归纳定义则容易设计算法构造集合的元素</a:t>
              </a:r>
            </a:p>
            <a:p>
              <a:pPr marL="342900" indent="-342900">
                <a:lnSpc>
                  <a:spcPts val="26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zh-CN" altLang="en-US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rPr>
                <a:t>归纳定义法使用算法语言给出了一个问题的解的构造方法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226452" y="4401644"/>
              <a:ext cx="37873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C00000"/>
                  </a:solidFill>
                </a:rPr>
                <a:t>从算法设计（计算思维）角度看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151223" y="4423079"/>
              <a:ext cx="9920253" cy="1911937"/>
            </a:xfrm>
            <a:prstGeom prst="rect">
              <a:avLst/>
            </a:prstGeom>
            <a:noFill/>
            <a:ln w="12700"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串集的归纳定义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92059" y="1368311"/>
                <a:ext cx="7913835" cy="46166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</a:rPr>
                  <a:t>给定集合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</a:rPr>
                  <a:t>，称为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字母表</a:t>
                </a:r>
                <a:r>
                  <a:rPr lang="en-US" altLang="zh-CN" sz="2400" b="1">
                    <a:solidFill>
                      <a:srgbClr val="002060"/>
                    </a:solidFill>
                  </a:rPr>
                  <a:t> </a:t>
                </a:r>
                <a:r>
                  <a:rPr lang="en-US" altLang="zh-CN" sz="2400">
                    <a:solidFill>
                      <a:srgbClr val="002060"/>
                    </a:solidFill>
                  </a:rPr>
                  <a:t>(alphabet)</a:t>
                </a:r>
                <a:r>
                  <a:rPr lang="zh-CN" altLang="en-US" sz="2400" b="1">
                    <a:solidFill>
                      <a:srgbClr val="002060"/>
                    </a:solidFill>
                  </a:rPr>
                  <a:t>，其中的元素称为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字符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59" y="1368311"/>
                <a:ext cx="7913835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" t="-113" r="1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78288" y="2236662"/>
                <a:ext cx="9149867" cy="13849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字母表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上所有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字符串</a:t>
                </a:r>
                <a:r>
                  <a:rPr lang="en-US" altLang="zh-CN" sz="2400">
                    <a:solidFill>
                      <a:srgbClr val="002060"/>
                    </a:solidFill>
                    <a:latin typeface="+mn-ea"/>
                  </a:rPr>
                  <a:t>(string)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构成的集合记为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，归纳定义为：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归纳基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：不包含任何字符的串，称为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空串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altLang="zh-CN" sz="2000">
                    <a:solidFill>
                      <a:schemeClr val="accent6">
                        <a:lumMod val="50000"/>
                      </a:schemeClr>
                    </a:solidFill>
                  </a:rPr>
                  <a:t>(empty string)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，属于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是字符串，而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是字符，则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𝒖𝒙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也是字符串，即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𝒖𝒙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88" y="2236662"/>
                <a:ext cx="9149867" cy="1384995"/>
              </a:xfrm>
              <a:prstGeom prst="rect">
                <a:avLst/>
              </a:prstGeom>
              <a:blipFill rotWithShape="1">
                <a:blip r:embed="rId3"/>
                <a:stretch>
                  <a:fillRect l="-1" t="-14" r="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902001" y="2621255"/>
                <a:ext cx="1611711" cy="100040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𝒖𝒙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是将字符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放在字符串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之后得到的串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001" y="2621255"/>
                <a:ext cx="1611711" cy="1000402"/>
              </a:xfrm>
              <a:prstGeom prst="rect">
                <a:avLst/>
              </a:prstGeom>
              <a:blipFill rotWithShape="1">
                <a:blip r:embed="rId4"/>
                <a:stretch>
                  <a:fillRect l="-28" t="-61" r="3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592059" y="3779394"/>
            <a:ext cx="11047283" cy="2528461"/>
            <a:chOff x="592059" y="3779394"/>
            <a:chExt cx="11047283" cy="25284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592059" y="3865589"/>
                  <a:ext cx="4085969" cy="46166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rgbClr val="002060"/>
                      </a:solidFill>
                    </a:rPr>
                    <a:t>给定字母表集合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</m:oMath>
                  </a14:m>
                  <a:endParaRPr lang="zh-CN" altLang="en-US" sz="2400" b="1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59" y="3865589"/>
                  <a:ext cx="4085969" cy="46166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/>
                <p:cNvSpPr txBox="1"/>
                <p:nvPr/>
              </p:nvSpPr>
              <p:spPr>
                <a:xfrm>
                  <a:off x="9229519" y="4971028"/>
                  <a:ext cx="4957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5" name="文本框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9519" y="4971028"/>
                  <a:ext cx="495770" cy="461665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组合 47"/>
            <p:cNvGrpSpPr/>
            <p:nvPr/>
          </p:nvGrpSpPr>
          <p:grpSpPr>
            <a:xfrm>
              <a:off x="622371" y="4552108"/>
              <a:ext cx="8607148" cy="1755747"/>
              <a:chOff x="622371" y="4552108"/>
              <a:chExt cx="8607148" cy="17557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678288" y="4971377"/>
                    <a:ext cx="893954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空串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文本框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288" y="4971377"/>
                    <a:ext cx="893954" cy="400110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文本框 12"/>
              <p:cNvSpPr txBox="1"/>
              <p:nvPr/>
            </p:nvSpPr>
            <p:spPr>
              <a:xfrm>
                <a:off x="622371" y="5938523"/>
                <a:ext cx="100578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长度为</a:t>
                </a:r>
                <a:r>
                  <a:rPr lang="en-US" altLang="zh-CN" b="1">
                    <a:solidFill>
                      <a:schemeClr val="accent4">
                        <a:lumMod val="50000"/>
                      </a:schemeClr>
                    </a:solidFill>
                  </a:rPr>
                  <a:t>0</a:t>
                </a:r>
                <a:endParaRPr lang="zh-CN" altLang="en-US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2394541" y="4571186"/>
                    <a:ext cx="1151223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4541" y="4571186"/>
                    <a:ext cx="1151223" cy="400110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2394540" y="5015173"/>
                    <a:ext cx="1151223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4540" y="5015173"/>
                    <a:ext cx="1151223" cy="400110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/>
                  <p:cNvSpPr txBox="1"/>
                  <p:nvPr/>
                </p:nvSpPr>
                <p:spPr>
                  <a:xfrm>
                    <a:off x="2394540" y="5457215"/>
                    <a:ext cx="1151223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文本框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4540" y="5457215"/>
                    <a:ext cx="1151223" cy="400110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文本框 18"/>
              <p:cNvSpPr txBox="1"/>
              <p:nvPr/>
            </p:nvSpPr>
            <p:spPr>
              <a:xfrm>
                <a:off x="2467260" y="5938523"/>
                <a:ext cx="100578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长度为</a:t>
                </a:r>
                <a:r>
                  <a:rPr lang="en-US" altLang="zh-CN" b="1">
                    <a:solidFill>
                      <a:schemeClr val="accent4">
                        <a:lumMod val="50000"/>
                      </a:schemeClr>
                    </a:solidFill>
                  </a:rPr>
                  <a:t>1</a:t>
                </a:r>
                <a:endParaRPr lang="zh-CN" altLang="en-US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/>
                  <p:cNvSpPr txBox="1"/>
                  <p:nvPr/>
                </p:nvSpPr>
                <p:spPr>
                  <a:xfrm>
                    <a:off x="4244174" y="4571186"/>
                    <a:ext cx="2071108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𝒂𝒂</m:t>
                        </m:r>
                        <m:r>
                          <a:rPr lang="en-US" altLang="zh-CN" sz="20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𝒂𝒃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𝒂𝒄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4174" y="4571186"/>
                    <a:ext cx="2071108" cy="400110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/>
                  <p:cNvSpPr txBox="1"/>
                  <p:nvPr/>
                </p:nvSpPr>
                <p:spPr>
                  <a:xfrm>
                    <a:off x="4243981" y="5015173"/>
                    <a:ext cx="2071108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𝒃𝒃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𝒃𝒄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文本框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3981" y="5015173"/>
                    <a:ext cx="2071108" cy="400110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/>
                  <p:cNvSpPr txBox="1"/>
                  <p:nvPr/>
                </p:nvSpPr>
                <p:spPr>
                  <a:xfrm>
                    <a:off x="4243981" y="5462926"/>
                    <a:ext cx="2071108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𝒄𝒃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𝒄𝒄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文本框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3981" y="5462926"/>
                    <a:ext cx="2071108" cy="400110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7103430" y="4552108"/>
                    <a:ext cx="1731384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𝒂𝒃𝒄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⋯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本框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3430" y="4552108"/>
                    <a:ext cx="1731384" cy="400110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/>
                  <p:cNvSpPr txBox="1"/>
                  <p:nvPr/>
                </p:nvSpPr>
                <p:spPr>
                  <a:xfrm>
                    <a:off x="7103237" y="4996095"/>
                    <a:ext cx="1731384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𝒃𝒂𝒃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⋯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3237" y="4996095"/>
                    <a:ext cx="1731384" cy="400110"/>
                  </a:xfrm>
                  <a:prstGeom prst="rect">
                    <a:avLst/>
                  </a:prstGeom>
                  <a:blipFill rotWithShape="1">
                    <a:blip r:embed="rId1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7103237" y="5443848"/>
                    <a:ext cx="1731384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𝒄𝒂𝒃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⋯</m:t>
                        </m:r>
                      </m:oMath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3237" y="5443848"/>
                    <a:ext cx="1731384" cy="400110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文本框 25"/>
              <p:cNvSpPr txBox="1"/>
              <p:nvPr/>
            </p:nvSpPr>
            <p:spPr>
              <a:xfrm>
                <a:off x="4750327" y="5933290"/>
                <a:ext cx="100578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长度为</a:t>
                </a:r>
                <a:r>
                  <a:rPr lang="en-US" altLang="zh-CN" b="1">
                    <a:solidFill>
                      <a:schemeClr val="accent4">
                        <a:lumMod val="50000"/>
                      </a:schemeClr>
                    </a:solidFill>
                  </a:rPr>
                  <a:t>2</a:t>
                </a:r>
                <a:endParaRPr lang="zh-CN" altLang="en-US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7466035" y="5933290"/>
                <a:ext cx="100578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长度为</a:t>
                </a:r>
                <a:r>
                  <a:rPr lang="en-US" altLang="zh-CN" b="1">
                    <a:solidFill>
                      <a:schemeClr val="accent4">
                        <a:lumMod val="50000"/>
                      </a:schemeClr>
                    </a:solidFill>
                  </a:rPr>
                  <a:t>3</a:t>
                </a:r>
                <a:endParaRPr lang="zh-CN" altLang="en-US" b="1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8" name="直接箭头连接符 27"/>
              <p:cNvCxnSpPr>
                <a:stCxn id="12" idx="3"/>
                <a:endCxn id="14" idx="1"/>
              </p:cNvCxnSpPr>
              <p:nvPr/>
            </p:nvCxnSpPr>
            <p:spPr>
              <a:xfrm flipV="1">
                <a:off x="1572242" y="4771241"/>
                <a:ext cx="822299" cy="4001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>
                <a:stCxn id="12" idx="3"/>
                <a:endCxn id="16" idx="1"/>
              </p:cNvCxnSpPr>
              <p:nvPr/>
            </p:nvCxnSpPr>
            <p:spPr>
              <a:xfrm>
                <a:off x="1572242" y="5171432"/>
                <a:ext cx="822298" cy="437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>
                <a:stCxn id="12" idx="3"/>
                <a:endCxn id="18" idx="1"/>
              </p:cNvCxnSpPr>
              <p:nvPr/>
            </p:nvCxnSpPr>
            <p:spPr>
              <a:xfrm>
                <a:off x="1572242" y="5171432"/>
                <a:ext cx="822298" cy="4858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4" idx="3"/>
                <a:endCxn id="20" idx="1"/>
              </p:cNvCxnSpPr>
              <p:nvPr/>
            </p:nvCxnSpPr>
            <p:spPr>
              <a:xfrm>
                <a:off x="3545764" y="4771241"/>
                <a:ext cx="69841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16" idx="3"/>
                <a:endCxn id="21" idx="1"/>
              </p:cNvCxnSpPr>
              <p:nvPr/>
            </p:nvCxnSpPr>
            <p:spPr>
              <a:xfrm>
                <a:off x="3545763" y="5215228"/>
                <a:ext cx="6982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18" idx="3"/>
                <a:endCxn id="22" idx="1"/>
              </p:cNvCxnSpPr>
              <p:nvPr/>
            </p:nvCxnSpPr>
            <p:spPr>
              <a:xfrm>
                <a:off x="3545763" y="5657270"/>
                <a:ext cx="698218" cy="57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stCxn id="20" idx="3"/>
                <a:endCxn id="23" idx="1"/>
              </p:cNvCxnSpPr>
              <p:nvPr/>
            </p:nvCxnSpPr>
            <p:spPr>
              <a:xfrm flipV="1">
                <a:off x="6315282" y="4752163"/>
                <a:ext cx="788148" cy="190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4" idx="1"/>
              </p:cNvCxnSpPr>
              <p:nvPr/>
            </p:nvCxnSpPr>
            <p:spPr>
              <a:xfrm flipV="1">
                <a:off x="6315089" y="5196150"/>
                <a:ext cx="788148" cy="114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2" idx="3"/>
                <a:endCxn id="25" idx="1"/>
              </p:cNvCxnSpPr>
              <p:nvPr/>
            </p:nvCxnSpPr>
            <p:spPr>
              <a:xfrm flipV="1">
                <a:off x="6315089" y="5643903"/>
                <a:ext cx="788148" cy="190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箭头: 右 45"/>
              <p:cNvSpPr/>
              <p:nvPr/>
            </p:nvSpPr>
            <p:spPr>
              <a:xfrm>
                <a:off x="8894020" y="5124587"/>
                <a:ext cx="335499" cy="19077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/>
                <p:cNvSpPr txBox="1"/>
                <p:nvPr/>
              </p:nvSpPr>
              <p:spPr>
                <a:xfrm>
                  <a:off x="5819613" y="3779394"/>
                  <a:ext cx="2872033" cy="64633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字符串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是将字符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放在空串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</m:oMath>
                  </a14:m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后面，空串记号被省略</a:t>
                  </a:r>
                </a:p>
              </p:txBody>
            </p:sp>
          </mc:Choice>
          <mc:Fallback xmlns=""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9613" y="3779394"/>
                  <a:ext cx="2872033" cy="646331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/>
                <p:cNvSpPr txBox="1"/>
                <p:nvPr/>
              </p:nvSpPr>
              <p:spPr>
                <a:xfrm>
                  <a:off x="9242893" y="3779394"/>
                  <a:ext cx="2270819" cy="64633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字符串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𝒂𝒃𝒄</m:t>
                      </m:r>
                    </m:oMath>
                  </a14:m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是将字符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a14:m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放在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</m:oMath>
                  </a14:m>
                  <a:r>
                    <a:rPr lang="zh-CN" altLang="en-US" b="1">
                      <a:solidFill>
                        <a:schemeClr val="accent4">
                          <a:lumMod val="50000"/>
                        </a:schemeClr>
                      </a:solidFill>
                    </a:rPr>
                    <a:t>后面，等等</a:t>
                  </a:r>
                </a:p>
              </p:txBody>
            </p:sp>
          </mc:Choice>
          <mc:Fallback xmlns="">
            <p:sp>
              <p:nvSpPr>
                <p:cNvPr id="50" name="文本框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2893" y="3779394"/>
                  <a:ext cx="2270819" cy="646331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9117261" y="5476858"/>
                  <a:ext cx="2522081" cy="64633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一个长度为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的字符串实质上就是一个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en-US" altLang="zh-CN" b="1">
                      <a:solidFill>
                        <a:srgbClr val="C00000"/>
                      </a:solidFill>
                    </a:rPr>
                    <a:t>-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元组</a:t>
                  </a:r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7261" y="5476858"/>
                  <a:ext cx="2522081" cy="646331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函数的递归定义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168764" y="1454406"/>
                <a:ext cx="9854470" cy="181806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的定义域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为归纳定义的集合时，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也可归纳定义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归纳基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直接给出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归纳定义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时给出的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基本元素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的函数值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：对归纳定义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时给出的每个由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,⋯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构造得到元素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的规则，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利用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64" y="1454406"/>
                <a:ext cx="9854470" cy="1818062"/>
              </a:xfrm>
              <a:prstGeom prst="rect">
                <a:avLst/>
              </a:prstGeom>
              <a:blipFill rotWithShape="1">
                <a:blip r:embed="rId2"/>
                <a:stretch>
                  <a:fillRect l="-4" t="-14" r="3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67161" y="3954146"/>
                <a:ext cx="5037972" cy="15365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函数的归纳定义也称为递归定义</a:t>
                </a:r>
                <a:endParaRPr lang="en-US" altLang="zh-CN" sz="2400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3400"/>
                  </a:lnSpc>
                  <a:spcBef>
                    <a:spcPts val="600"/>
                  </a:spcBef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在归纳定义元素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的函数值时用到了构造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的函数值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61" y="3954146"/>
                <a:ext cx="5037972" cy="1536574"/>
              </a:xfrm>
              <a:prstGeom prst="rect">
                <a:avLst/>
              </a:prstGeom>
              <a:blipFill rotWithShape="1">
                <a:blip r:embed="rId3"/>
                <a:stretch>
                  <a:fillRect l="-8" r="6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6046884" y="3515629"/>
            <a:ext cx="5477955" cy="2413609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b="1">
                <a:solidFill>
                  <a:schemeClr val="accent2">
                    <a:lumMod val="50000"/>
                  </a:schemeClr>
                </a:solidFill>
              </a:rPr>
              <a:t>归纳</a:t>
            </a:r>
            <a:r>
              <a:rPr lang="en-US" altLang="zh-CN" sz="2800" b="1">
                <a:solidFill>
                  <a:schemeClr val="accent2">
                    <a:lumMod val="50000"/>
                  </a:schemeClr>
                </a:solidFill>
              </a:rPr>
              <a:t>(induction)</a:t>
            </a:r>
            <a:r>
              <a:rPr lang="zh-CN" altLang="en-US" sz="2800" b="1">
                <a:solidFill>
                  <a:schemeClr val="accent2">
                    <a:lumMod val="50000"/>
                  </a:schemeClr>
                </a:solidFill>
              </a:rPr>
              <a:t>与递归</a:t>
            </a:r>
            <a:r>
              <a:rPr lang="en-US" altLang="zh-CN" sz="2800" b="1">
                <a:solidFill>
                  <a:schemeClr val="accent2">
                    <a:lumMod val="50000"/>
                  </a:schemeClr>
                </a:solidFill>
              </a:rPr>
              <a:t>(recursion)</a:t>
            </a:r>
          </a:p>
          <a:p>
            <a:pPr marL="342900" indent="-342900">
              <a:lnSpc>
                <a:spcPts val="32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归纳强调从特殊到一般，归纳定义强调从</a:t>
            </a: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基本元素构造一般元素</a:t>
            </a:r>
          </a:p>
          <a:p>
            <a:pPr marL="342900" indent="-342900">
              <a:lnSpc>
                <a:spcPts val="32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递归强调分解与归结，将</a:t>
            </a: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大规模问题归结为小规模问题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字符串集上函数的归纳定义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86804" y="1230283"/>
                <a:ext cx="1966945" cy="46166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给定字母表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4" y="1230283"/>
                <a:ext cx="1966945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0" t="-62" r="6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717965" y="1897860"/>
                <a:ext cx="9297496" cy="400110"/>
              </a:xfrm>
              <a:prstGeom prst="rect">
                <a:avLst/>
              </a:prstGeom>
              <a:solidFill>
                <a:srgbClr val="E6EFE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递归定义字符串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长度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函数：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，对任意字符串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的结构递归定义：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65" y="1897860"/>
                <a:ext cx="9297496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4" t="-120" r="3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65" y="2566047"/>
            <a:ext cx="6801337" cy="1087917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8285336" y="2710499"/>
            <a:ext cx="2644524" cy="799012"/>
            <a:chOff x="8453266" y="3723384"/>
            <a:chExt cx="2644524" cy="799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𝒖𝒙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左大括号 13"/>
            <p:cNvSpPr/>
            <p:nvPr/>
          </p:nvSpPr>
          <p:spPr>
            <a:xfrm>
              <a:off x="8453266" y="3776012"/>
              <a:ext cx="124990" cy="662178"/>
            </a:xfrm>
            <a:prstGeom prst="leftBrace">
              <a:avLst>
                <a:gd name="adj1" fmla="val 43333"/>
                <a:gd name="adj2" fmla="val 50000"/>
              </a:avLst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箭头: 右 17"/>
          <p:cNvSpPr/>
          <p:nvPr/>
        </p:nvSpPr>
        <p:spPr>
          <a:xfrm>
            <a:off x="7601182" y="3038299"/>
            <a:ext cx="572322" cy="111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4829831" y="2631558"/>
                <a:ext cx="259847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实质是分情况定义函数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831" y="2631558"/>
                <a:ext cx="2598475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" t="-32" r="3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9989858" y="2461674"/>
                <a:ext cx="1457861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这称为函数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的递归方程</a:t>
                </a: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858" y="2461674"/>
                <a:ext cx="1457861" cy="646331"/>
              </a:xfrm>
              <a:prstGeom prst="rect">
                <a:avLst/>
              </a:prstGeom>
              <a:blipFill rotWithShape="1">
                <a:blip r:embed="rId8"/>
                <a:stretch>
                  <a:fillRect l="-3" t="-64" r="39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717965" y="3992341"/>
            <a:ext cx="11088650" cy="2302359"/>
            <a:chOff x="717965" y="3992341"/>
            <a:chExt cx="11088650" cy="23023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717965" y="3992341"/>
                  <a:ext cx="10669275" cy="400110"/>
                </a:xfrm>
                <a:prstGeom prst="rect">
                  <a:avLst/>
                </a:prstGeom>
                <a:solidFill>
                  <a:srgbClr val="E6EFE6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递归定义两个字符串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的</a:t>
                  </a:r>
                  <a:r>
                    <a:rPr lang="zh-CN" altLang="en-US" sz="2000" b="1" dirty="0">
                      <a:solidFill>
                        <a:srgbClr val="C00000"/>
                      </a:solidFill>
                    </a:rPr>
                    <a:t>连接</a:t>
                  </a:r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(concatenation)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，记为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，</a:t>
                  </a:r>
                  <a:r>
                    <a:rPr lang="zh-CN" altLang="en-US" sz="2000" b="1" dirty="0">
                      <a:solidFill>
                        <a:srgbClr val="C00000"/>
                      </a:solidFill>
                    </a:rPr>
                    <a:t>针对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zh-CN" altLang="en-US" sz="2000" b="1" dirty="0">
                      <a:solidFill>
                        <a:srgbClr val="C00000"/>
                      </a:solidFill>
                    </a:rPr>
                    <a:t>的结构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进行递归定义</a:t>
                  </a: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965" y="3992341"/>
                  <a:ext cx="10669275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7966" y="4628833"/>
              <a:ext cx="6801337" cy="1023538"/>
            </a:xfrm>
            <a:prstGeom prst="rect">
              <a:avLst/>
            </a:prstGeom>
          </p:spPr>
        </p:pic>
        <p:grpSp>
          <p:nvGrpSpPr>
            <p:cNvPr id="31" name="组合 30"/>
            <p:cNvGrpSpPr/>
            <p:nvPr/>
          </p:nvGrpSpPr>
          <p:grpSpPr>
            <a:xfrm>
              <a:off x="8331204" y="4767041"/>
              <a:ext cx="3056036" cy="817942"/>
              <a:chOff x="8331204" y="4767041"/>
              <a:chExt cx="3056036" cy="8179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8476110" y="4767041"/>
                    <a:ext cx="1542108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oMath>
                      </m:oMathPara>
                    </a14:m>
                    <a:endParaRPr lang="zh-CN" altLang="en-US" sz="2400" b="1" dirty="0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本框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6110" y="4767041"/>
                    <a:ext cx="1542108" cy="369332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/>
                  <p:cNvSpPr txBox="1"/>
                  <p:nvPr/>
                </p:nvSpPr>
                <p:spPr>
                  <a:xfrm>
                    <a:off x="8476110" y="5215651"/>
                    <a:ext cx="2911130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𝒖𝒙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6110" y="5215651"/>
                    <a:ext cx="2911130" cy="369332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左大括号 24"/>
              <p:cNvSpPr/>
              <p:nvPr/>
            </p:nvSpPr>
            <p:spPr>
              <a:xfrm>
                <a:off x="8331204" y="4805284"/>
                <a:ext cx="124990" cy="662178"/>
              </a:xfrm>
              <a:prstGeom prst="leftBrace">
                <a:avLst>
                  <a:gd name="adj1" fmla="val 43333"/>
                  <a:gd name="adj2" fmla="val 50000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箭头: 右 25"/>
            <p:cNvSpPr/>
            <p:nvPr/>
          </p:nvSpPr>
          <p:spPr>
            <a:xfrm>
              <a:off x="7601004" y="5080456"/>
              <a:ext cx="572322" cy="1118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4829832" y="4711124"/>
                  <a:ext cx="2598475" cy="3693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分情况定义运算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</m:oMath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832" y="4711124"/>
                  <a:ext cx="2598475" cy="369332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10141976" y="4480885"/>
                  <a:ext cx="1153626" cy="64633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运算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的递归方程</a:t>
                  </a:r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1976" y="4480885"/>
                  <a:ext cx="1153626" cy="646331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7776973" y="5648369"/>
                  <a:ext cx="4029642" cy="64633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递归调用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的连接，然后将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放计算结果字符串的后面</a:t>
                  </a:r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973" y="5648369"/>
                  <a:ext cx="4029642" cy="646331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结构归纳法证明函数的性质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86804" y="1397828"/>
                <a:ext cx="1966945" cy="46166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给定字母表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4" y="1397828"/>
                <a:ext cx="1966945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0" t="-42" r="6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634567" y="1317675"/>
                <a:ext cx="2845256" cy="69172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计算字符串长度函数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和字符串连接运算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的递归方程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567" y="1317675"/>
                <a:ext cx="2845256" cy="691728"/>
              </a:xfrm>
              <a:prstGeom prst="rect">
                <a:avLst/>
              </a:prstGeom>
              <a:blipFill rotWithShape="1">
                <a:blip r:embed="rId3"/>
                <a:stretch>
                  <a:fillRect l="-21" t="-7" r="1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5660641" y="1261174"/>
            <a:ext cx="2644524" cy="799012"/>
            <a:chOff x="8453266" y="3723384"/>
            <a:chExt cx="2644524" cy="799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𝒖𝒙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左大括号 14"/>
            <p:cNvSpPr/>
            <p:nvPr/>
          </p:nvSpPr>
          <p:spPr>
            <a:xfrm>
              <a:off x="8453266" y="3776012"/>
              <a:ext cx="124990" cy="662178"/>
            </a:xfrm>
            <a:prstGeom prst="leftBrace">
              <a:avLst>
                <a:gd name="adj1" fmla="val 43333"/>
                <a:gd name="adj2" fmla="val 50000"/>
              </a:avLst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535135" y="1281883"/>
            <a:ext cx="3056036" cy="817942"/>
            <a:chOff x="8331204" y="4767041"/>
            <a:chExt cx="3056036" cy="8179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476110" y="4767041"/>
                  <a:ext cx="1542108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110" y="4767041"/>
                  <a:ext cx="1542108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8476110" y="5215651"/>
                  <a:ext cx="2911130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𝒖𝒙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110" y="5215651"/>
                  <a:ext cx="2911130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左大括号 19"/>
            <p:cNvSpPr/>
            <p:nvPr/>
          </p:nvSpPr>
          <p:spPr>
            <a:xfrm>
              <a:off x="8331204" y="4805284"/>
              <a:ext cx="124990" cy="662178"/>
            </a:xfrm>
            <a:prstGeom prst="leftBrace">
              <a:avLst>
                <a:gd name="adj1" fmla="val 43333"/>
                <a:gd name="adj2" fmla="val 50000"/>
              </a:avLst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86804" y="2579377"/>
                <a:ext cx="9683429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002060"/>
                    </a:solidFill>
                  </a:rPr>
                  <a:t>使用结构归纳法证明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，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的结构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进行归纳证明：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4" y="2579377"/>
                <a:ext cx="9683429" cy="400110"/>
              </a:xfrm>
              <a:prstGeom prst="rect">
                <a:avLst/>
              </a:prstGeom>
              <a:blipFill rotWithShape="1">
                <a:blip r:embed="rId8"/>
                <a:stretch>
                  <a:fillRect l="-4" t="-2" r="1" b="-63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/>
          <p:cNvGrpSpPr/>
          <p:nvPr/>
        </p:nvGrpSpPr>
        <p:grpSpPr>
          <a:xfrm>
            <a:off x="537237" y="3144641"/>
            <a:ext cx="11117525" cy="2909338"/>
            <a:chOff x="342078" y="2855033"/>
            <a:chExt cx="11117525" cy="29093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486804" y="2922874"/>
                  <a:ext cx="10703084" cy="40011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C00000"/>
                      </a:solidFill>
                    </a:rPr>
                    <a:t>归纳基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：</a:t>
                  </a:r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，因此有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endParaRPr lang="zh-CN" altLang="en-US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804" y="2922874"/>
                  <a:ext cx="10703084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/>
            <p:cNvSpPr txBox="1"/>
            <p:nvPr/>
          </p:nvSpPr>
          <p:spPr>
            <a:xfrm>
              <a:off x="498776" y="3435420"/>
              <a:ext cx="6473164" cy="40011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</a:rPr>
                <a:t>归纳步：假设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p(u)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成立，证明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P(</a:t>
              </a:r>
              <a:r>
                <a:rPr lang="en-US" altLang="zh-CN" sz="2000" b="1" dirty="0" err="1">
                  <a:solidFill>
                    <a:srgbClr val="C00000"/>
                  </a:solidFill>
                </a:rPr>
                <a:t>ux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)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也成立，其中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x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是字符。</a:t>
              </a:r>
              <a:endParaRPr lang="zh-CN" altLang="en-US" sz="2000" b="1" dirty="0"/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804" y="3947966"/>
              <a:ext cx="6821441" cy="174270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/>
                <p:cNvSpPr txBox="1"/>
                <p:nvPr/>
              </p:nvSpPr>
              <p:spPr>
                <a:xfrm>
                  <a:off x="7505975" y="3535017"/>
                  <a:ext cx="3841795" cy="116955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要证明的命题实际上是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𝒗𝑷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，</a:t>
                  </a:r>
                  <a:endParaRPr lang="en-US" altLang="zh-CN" sz="2000" b="1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Aft>
                      <a:spcPts val="600"/>
                    </a:spcAft>
                  </a:pP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其中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是：</a:t>
                  </a:r>
                  <a:endParaRPr lang="en-US" altLang="zh-CN" sz="2000" b="1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5975" y="3535017"/>
                  <a:ext cx="3841795" cy="1169551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/>
                <p:cNvSpPr txBox="1"/>
                <p:nvPr/>
              </p:nvSpPr>
              <p:spPr>
                <a:xfrm>
                  <a:off x="7515482" y="4877321"/>
                  <a:ext cx="3674406" cy="73661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ts val="2600"/>
                    </a:lnSpc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归纳步是假设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成立，证明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，因此归纳假设是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成立！</a:t>
                  </a:r>
                </a:p>
              </p:txBody>
            </p:sp>
          </mc:Choice>
          <mc:Fallback xmlns="">
            <p:sp>
              <p:nvSpPr>
                <p:cNvPr id="37" name="文本框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5482" y="4877321"/>
                  <a:ext cx="3674406" cy="736612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矩形: 圆角 37"/>
            <p:cNvSpPr/>
            <p:nvPr/>
          </p:nvSpPr>
          <p:spPr>
            <a:xfrm>
              <a:off x="342078" y="2855033"/>
              <a:ext cx="11117525" cy="2909338"/>
            </a:xfrm>
            <a:prstGeom prst="roundRect">
              <a:avLst>
                <a:gd name="adj" fmla="val 7170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结构归纳法证明函数的性质练习（一）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86804" y="1397828"/>
                <a:ext cx="1966945" cy="46166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给定字母表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4" y="1397828"/>
                <a:ext cx="1966945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0" t="-42" r="6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634567" y="1317675"/>
                <a:ext cx="2845256" cy="69172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计算字符串长度函数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和字符串连接运算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的递归方程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567" y="1317675"/>
                <a:ext cx="2845256" cy="691728"/>
              </a:xfrm>
              <a:prstGeom prst="rect">
                <a:avLst/>
              </a:prstGeom>
              <a:blipFill rotWithShape="1">
                <a:blip r:embed="rId3"/>
                <a:stretch>
                  <a:fillRect l="-21" t="-7" r="1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5660641" y="1261174"/>
            <a:ext cx="2644524" cy="799012"/>
            <a:chOff x="8453266" y="3723384"/>
            <a:chExt cx="2644524" cy="799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𝒖𝒙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左大括号 14"/>
            <p:cNvSpPr/>
            <p:nvPr/>
          </p:nvSpPr>
          <p:spPr>
            <a:xfrm>
              <a:off x="8453266" y="3776012"/>
              <a:ext cx="124990" cy="662178"/>
            </a:xfrm>
            <a:prstGeom prst="leftBrace">
              <a:avLst>
                <a:gd name="adj1" fmla="val 43333"/>
                <a:gd name="adj2" fmla="val 50000"/>
              </a:avLst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535135" y="1281883"/>
            <a:ext cx="3056036" cy="817942"/>
            <a:chOff x="8331204" y="4767041"/>
            <a:chExt cx="3056036" cy="8179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476110" y="4767041"/>
                  <a:ext cx="1542108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110" y="4767041"/>
                  <a:ext cx="1542108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8476110" y="5215651"/>
                  <a:ext cx="2911130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𝒖𝒙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110" y="5215651"/>
                  <a:ext cx="2911130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左大括号 19"/>
            <p:cNvSpPr/>
            <p:nvPr/>
          </p:nvSpPr>
          <p:spPr>
            <a:xfrm>
              <a:off x="8331204" y="4805284"/>
              <a:ext cx="124990" cy="662178"/>
            </a:xfrm>
            <a:prstGeom prst="leftBrace">
              <a:avLst>
                <a:gd name="adj1" fmla="val 43333"/>
                <a:gd name="adj2" fmla="val 50000"/>
              </a:avLst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86804" y="2579377"/>
                <a:ext cx="10275487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002060"/>
                    </a:solidFill>
                  </a:rPr>
                  <a:t>使用结构归纳法证明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，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的结构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进行归纳证明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：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4" y="2579377"/>
                <a:ext cx="10275487" cy="400110"/>
              </a:xfrm>
              <a:prstGeom prst="rect">
                <a:avLst/>
              </a:prstGeom>
              <a:blipFill rotWithShape="1">
                <a:blip r:embed="rId8"/>
                <a:stretch>
                  <a:fillRect l="-4" t="-2" r="3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930848" y="3196487"/>
            <a:ext cx="9097950" cy="2840646"/>
            <a:chOff x="486805" y="3132557"/>
            <a:chExt cx="9097950" cy="2840646"/>
          </a:xfrm>
        </p:grpSpPr>
        <p:grpSp>
          <p:nvGrpSpPr>
            <p:cNvPr id="39" name="组合 38"/>
            <p:cNvGrpSpPr/>
            <p:nvPr/>
          </p:nvGrpSpPr>
          <p:grpSpPr>
            <a:xfrm>
              <a:off x="486805" y="3132557"/>
              <a:ext cx="9097950" cy="2840646"/>
              <a:chOff x="342079" y="2855033"/>
              <a:chExt cx="9097950" cy="28406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/>
                  <p:cNvSpPr txBox="1"/>
                  <p:nvPr/>
                </p:nvSpPr>
                <p:spPr>
                  <a:xfrm>
                    <a:off x="486804" y="2922874"/>
                    <a:ext cx="6485136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归纳基</a:t>
                    </a:r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：</a:t>
                    </a:r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如果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，因此命题成立</a:t>
                    </a:r>
                    <a:endPara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文本框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04" y="2922874"/>
                    <a:ext cx="6485136" cy="400110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498776" y="3435420"/>
                    <a:ext cx="8785564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归纳步：</a:t>
                    </a:r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如果存在字符串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和字符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使得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𝒖𝒙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，这时归纳假设是      </a:t>
                    </a:r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 </a:t>
                    </a:r>
                    <a:r>
                      <a:rPr lang="en-US" altLang="zh-CN" sz="2000" b="1">
                        <a:solidFill>
                          <a:srgbClr val="C00000"/>
                        </a:solidFill>
                      </a:rPr>
                      <a:t>(1)</a:t>
                    </a:r>
                    <a:endParaRPr lang="zh-CN" altLang="en-US" sz="20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文本框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8776" y="3435420"/>
                    <a:ext cx="8785564" cy="400110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6071880" y="4552464"/>
                    <a:ext cx="3205882" cy="707886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要证明的命题是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，</a:t>
                    </a:r>
                    <a:endPara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spcAft>
                        <a:spcPts val="600"/>
                      </a:spcAft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其中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是：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a14:m>
                    <a:endParaRPr lang="zh-CN" altLang="en-US" sz="20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1880" y="4552464"/>
                    <a:ext cx="3205882" cy="707886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/>
                  <p:cNvSpPr txBox="1"/>
                  <p:nvPr/>
                </p:nvSpPr>
                <p:spPr>
                  <a:xfrm>
                    <a:off x="6772832" y="3938897"/>
                    <a:ext cx="2511508" cy="403187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ts val="2600"/>
                      </a:lnSpc>
                    </a:pPr>
                    <a:r>
                      <a:rPr lang="zh-CN" altLang="en-US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归纳假设是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成立！</a:t>
                    </a:r>
                  </a:p>
                </p:txBody>
              </p:sp>
            </mc:Choice>
            <mc:Fallback xmlns="">
              <p:sp>
                <p:nvSpPr>
                  <p:cNvPr id="37" name="文本框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2832" y="3938897"/>
                    <a:ext cx="2511508" cy="40318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矩形: 圆角 37"/>
              <p:cNvSpPr/>
              <p:nvPr/>
            </p:nvSpPr>
            <p:spPr>
              <a:xfrm>
                <a:off x="342079" y="2855033"/>
                <a:ext cx="9097950" cy="2840646"/>
              </a:xfrm>
              <a:prstGeom prst="roundRect">
                <a:avLst>
                  <a:gd name="adj" fmla="val 7170"/>
                </a:avLst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114761" y="4290292"/>
              <a:ext cx="4053876" cy="1557788"/>
              <a:chOff x="912120" y="4349631"/>
              <a:chExt cx="3804605" cy="1197820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912120" y="4349631"/>
                <a:ext cx="3804605" cy="119782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912120" y="4349631"/>
                    <a:ext cx="1975805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𝒖𝒙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文本框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120" y="4349631"/>
                    <a:ext cx="1975805" cy="307777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/>
                  <p:cNvSpPr txBox="1"/>
                  <p:nvPr/>
                </p:nvSpPr>
                <p:spPr>
                  <a:xfrm>
                    <a:off x="1526193" y="4662730"/>
                    <a:ext cx="1361732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6193" y="4662730"/>
                    <a:ext cx="1361732" cy="307777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/>
                  <p:cNvSpPr txBox="1"/>
                  <p:nvPr/>
                </p:nvSpPr>
                <p:spPr>
                  <a:xfrm>
                    <a:off x="1526193" y="4947639"/>
                    <a:ext cx="809145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𝒖𝒙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文本框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6193" y="4947639"/>
                    <a:ext cx="809145" cy="307777"/>
                  </a:xfrm>
                  <a:prstGeom prst="rect">
                    <a:avLst/>
                  </a:prstGeom>
                  <a:blipFill rotWithShape="1">
                    <a:blip r:embed="rId1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3048000" y="4380409"/>
                    <a:ext cx="1320069" cy="276999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r>
                      <a:rPr lang="en-US" altLang="zh-CN">
                        <a:solidFill>
                          <a:srgbClr val="0070C0"/>
                        </a:solidFill>
                      </a:rPr>
                      <a:t>//</a:t>
                    </a:r>
                    <a:r>
                      <a:rPr lang="en-US" altLang="zh-CN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𝒖𝒙</m:t>
                        </m:r>
                      </m:oMath>
                    </a14:m>
                    <a:endParaRPr lang="zh-CN" altLang="en-US" b="1"/>
                  </a:p>
                </p:txBody>
              </p:sp>
            </mc:Choice>
            <mc:Fallback xmlns="">
              <p:sp>
                <p:nvSpPr>
                  <p:cNvPr id="23" name="文本框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8000" y="4380409"/>
                    <a:ext cx="1320069" cy="276999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1526194" y="5232548"/>
                    <a:ext cx="730204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文本框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6194" y="5232548"/>
                    <a:ext cx="730204" cy="307777"/>
                  </a:xfrm>
                  <a:prstGeom prst="rect">
                    <a:avLst/>
                  </a:prstGeom>
                  <a:blipFill rotWithShape="1">
                    <a:blip r:embed="rId1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3014558" y="5237505"/>
                    <a:ext cx="1320069" cy="276999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r>
                      <a:rPr lang="en-US" altLang="zh-CN">
                        <a:solidFill>
                          <a:srgbClr val="0070C0"/>
                        </a:solidFill>
                      </a:rPr>
                      <a:t>//</a:t>
                    </a:r>
                    <a:r>
                      <a:rPr lang="en-US" altLang="zh-CN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𝒖𝒙</m:t>
                        </m:r>
                      </m:oMath>
                    </a14:m>
                    <a:endParaRPr lang="zh-CN" altLang="en-US" b="1"/>
                  </a:p>
                </p:txBody>
              </p:sp>
            </mc:Choice>
            <mc:Fallback xmlns="">
              <p:sp>
                <p:nvSpPr>
                  <p:cNvPr id="33" name="文本框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14558" y="5237505"/>
                    <a:ext cx="1320069" cy="276999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文本框 33"/>
              <p:cNvSpPr txBox="1"/>
              <p:nvPr/>
            </p:nvSpPr>
            <p:spPr>
              <a:xfrm>
                <a:off x="3014560" y="4697730"/>
                <a:ext cx="1596912" cy="21299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r>
                  <a:rPr lang="en-US" altLang="zh-CN">
                    <a:solidFill>
                      <a:srgbClr val="0070C0"/>
                    </a:solidFill>
                  </a:rPr>
                  <a:t>//        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(2)</a:t>
                </a:r>
                <a:endParaRPr lang="zh-CN" altLang="en-US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3014558" y="4974576"/>
                <a:ext cx="1596912" cy="21299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r>
                  <a:rPr lang="en-US" altLang="zh-CN">
                    <a:solidFill>
                      <a:srgbClr val="0070C0"/>
                    </a:solidFill>
                  </a:rPr>
                  <a:t>//        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(3)</a:t>
                </a:r>
                <a:endParaRPr lang="zh-CN" altLang="en-US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cxnSp>
        <p:nvCxnSpPr>
          <p:cNvPr id="30" name="直接连接符 29"/>
          <p:cNvCxnSpPr/>
          <p:nvPr/>
        </p:nvCxnSpPr>
        <p:spPr>
          <a:xfrm>
            <a:off x="8597630" y="4098354"/>
            <a:ext cx="1059487" cy="0"/>
          </a:xfrm>
          <a:prstGeom prst="line">
            <a:avLst/>
          </a:prstGeom>
          <a:ln w="158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124668" y="5052224"/>
            <a:ext cx="1116513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124667" y="5415133"/>
            <a:ext cx="1116513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结构归纳法证明函数的性质练习（一）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86804" y="1397828"/>
                <a:ext cx="1966945" cy="46166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给定字母表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4" y="1397828"/>
                <a:ext cx="1966945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0" t="-42" r="6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634567" y="1317675"/>
                <a:ext cx="2845256" cy="69172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计算字符串长度函数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和字符串连接运算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的递归方程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567" y="1317675"/>
                <a:ext cx="2845256" cy="691728"/>
              </a:xfrm>
              <a:prstGeom prst="rect">
                <a:avLst/>
              </a:prstGeom>
              <a:blipFill rotWithShape="1">
                <a:blip r:embed="rId3"/>
                <a:stretch>
                  <a:fillRect l="-21" t="-7" r="1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5660641" y="1261174"/>
            <a:ext cx="2644524" cy="799012"/>
            <a:chOff x="8453266" y="3723384"/>
            <a:chExt cx="2644524" cy="799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40" y="3723384"/>
                  <a:ext cx="1315684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𝒖𝒙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039" y="4153064"/>
                  <a:ext cx="2453751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左大括号 14"/>
            <p:cNvSpPr/>
            <p:nvPr/>
          </p:nvSpPr>
          <p:spPr>
            <a:xfrm>
              <a:off x="8453266" y="3776012"/>
              <a:ext cx="124990" cy="662178"/>
            </a:xfrm>
            <a:prstGeom prst="leftBrace">
              <a:avLst>
                <a:gd name="adj1" fmla="val 43333"/>
                <a:gd name="adj2" fmla="val 50000"/>
              </a:avLst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535135" y="1281883"/>
            <a:ext cx="3056036" cy="817942"/>
            <a:chOff x="8331204" y="4767041"/>
            <a:chExt cx="3056036" cy="8179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476110" y="4767041"/>
                  <a:ext cx="1542108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110" y="4767041"/>
                  <a:ext cx="1542108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8476110" y="5215651"/>
                  <a:ext cx="2911130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𝒖𝒙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110" y="5215651"/>
                  <a:ext cx="2911130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左大括号 19"/>
            <p:cNvSpPr/>
            <p:nvPr/>
          </p:nvSpPr>
          <p:spPr>
            <a:xfrm>
              <a:off x="8331204" y="4805284"/>
              <a:ext cx="124990" cy="662178"/>
            </a:xfrm>
            <a:prstGeom prst="leftBrace">
              <a:avLst>
                <a:gd name="adj1" fmla="val 43333"/>
                <a:gd name="adj2" fmla="val 50000"/>
              </a:avLst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86804" y="2579377"/>
                <a:ext cx="10275487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002060"/>
                    </a:solidFill>
                  </a:rPr>
                  <a:t>使用结构归纳法证明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，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的结构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进行归纳证明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：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4" y="2579377"/>
                <a:ext cx="10275487" cy="400110"/>
              </a:xfrm>
              <a:prstGeom prst="rect">
                <a:avLst/>
              </a:prstGeom>
              <a:blipFill rotWithShape="1">
                <a:blip r:embed="rId8"/>
                <a:stretch>
                  <a:fillRect l="-4" t="-2" r="3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930848" y="3196487"/>
            <a:ext cx="9097950" cy="2840646"/>
            <a:chOff x="486805" y="3132557"/>
            <a:chExt cx="9097950" cy="2840646"/>
          </a:xfrm>
        </p:grpSpPr>
        <p:grpSp>
          <p:nvGrpSpPr>
            <p:cNvPr id="39" name="组合 38"/>
            <p:cNvGrpSpPr/>
            <p:nvPr/>
          </p:nvGrpSpPr>
          <p:grpSpPr>
            <a:xfrm>
              <a:off x="486805" y="3132557"/>
              <a:ext cx="9097950" cy="2840646"/>
              <a:chOff x="342079" y="2855033"/>
              <a:chExt cx="9097950" cy="28406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/>
                  <p:cNvSpPr txBox="1"/>
                  <p:nvPr/>
                </p:nvSpPr>
                <p:spPr>
                  <a:xfrm>
                    <a:off x="486804" y="2922874"/>
                    <a:ext cx="6485136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归纳基</a:t>
                    </a:r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：</a:t>
                    </a:r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如果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，因此命题成立</a:t>
                    </a:r>
                    <a:endPara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文本框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04" y="2922874"/>
                    <a:ext cx="6485136" cy="400110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498776" y="3435420"/>
                    <a:ext cx="8785564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归纳步：</a:t>
                    </a:r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如果存在字符串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和字符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使得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𝒖𝒙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，这时归纳假设是</a:t>
                    </a:r>
                    <a14:m>
                      <m:oMath xmlns:m="http://schemas.openxmlformats.org/officeDocument/2006/math">
                        <m:r>
                          <a:rPr lang="en-US" altLang="zh-CN" sz="20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endParaRPr lang="zh-CN" altLang="en-US" sz="2000" b="1"/>
                  </a:p>
                </p:txBody>
              </p:sp>
            </mc:Choice>
            <mc:Fallback xmlns="">
              <p:sp>
                <p:nvSpPr>
                  <p:cNvPr id="6" name="文本框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8776" y="3435420"/>
                    <a:ext cx="8785564" cy="400110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6071880" y="4552464"/>
                    <a:ext cx="3205882" cy="707886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要证明的命题是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，</a:t>
                    </a:r>
                    <a:endPara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spcAft>
                        <a:spcPts val="600"/>
                      </a:spcAft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其中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是：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a14:m>
                    <a:endParaRPr lang="zh-CN" altLang="en-US" sz="20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1880" y="4552464"/>
                    <a:ext cx="3205882" cy="707886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/>
                  <p:cNvSpPr txBox="1"/>
                  <p:nvPr/>
                </p:nvSpPr>
                <p:spPr>
                  <a:xfrm>
                    <a:off x="6772832" y="3938897"/>
                    <a:ext cx="2511508" cy="403187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ts val="2600"/>
                      </a:lnSpc>
                    </a:pPr>
                    <a:r>
                      <a:rPr lang="zh-CN" altLang="en-US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归纳假设是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成立！</a:t>
                    </a:r>
                  </a:p>
                </p:txBody>
              </p:sp>
            </mc:Choice>
            <mc:Fallback xmlns="">
              <p:sp>
                <p:nvSpPr>
                  <p:cNvPr id="37" name="文本框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2832" y="3938897"/>
                    <a:ext cx="2511508" cy="40318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矩形: 圆角 37"/>
              <p:cNvSpPr/>
              <p:nvPr/>
            </p:nvSpPr>
            <p:spPr>
              <a:xfrm>
                <a:off x="342079" y="2855033"/>
                <a:ext cx="9097950" cy="2840646"/>
              </a:xfrm>
              <a:prstGeom prst="roundRect">
                <a:avLst>
                  <a:gd name="adj" fmla="val 7170"/>
                </a:avLst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114761" y="4290292"/>
              <a:ext cx="4053876" cy="1557788"/>
              <a:chOff x="912120" y="4349631"/>
              <a:chExt cx="3804605" cy="1197820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912120" y="4349631"/>
                <a:ext cx="3804605" cy="119782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912120" y="4349631"/>
                    <a:ext cx="1975805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𝒖𝒙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文本框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120" y="4349631"/>
                    <a:ext cx="1975805" cy="307777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/>
                  <p:cNvSpPr txBox="1"/>
                  <p:nvPr/>
                </p:nvSpPr>
                <p:spPr>
                  <a:xfrm>
                    <a:off x="1526193" y="4662730"/>
                    <a:ext cx="1361732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6193" y="4662730"/>
                    <a:ext cx="1361732" cy="307777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/>
                  <p:cNvSpPr txBox="1"/>
                  <p:nvPr/>
                </p:nvSpPr>
                <p:spPr>
                  <a:xfrm>
                    <a:off x="1526193" y="4947639"/>
                    <a:ext cx="809145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𝒖𝒙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文本框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6193" y="4947639"/>
                    <a:ext cx="809145" cy="307777"/>
                  </a:xfrm>
                  <a:prstGeom prst="rect">
                    <a:avLst/>
                  </a:prstGeom>
                  <a:blipFill rotWithShape="1">
                    <a:blip r:embed="rId1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3048000" y="4380409"/>
                    <a:ext cx="1320069" cy="276999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r>
                      <a:rPr lang="en-US" altLang="zh-CN">
                        <a:solidFill>
                          <a:srgbClr val="0070C0"/>
                        </a:solidFill>
                      </a:rPr>
                      <a:t>//</a:t>
                    </a:r>
                    <a:r>
                      <a:rPr lang="en-US" altLang="zh-CN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𝒖𝒙</m:t>
                        </m:r>
                      </m:oMath>
                    </a14:m>
                    <a:endParaRPr lang="zh-CN" altLang="en-US" b="1"/>
                  </a:p>
                </p:txBody>
              </p:sp>
            </mc:Choice>
            <mc:Fallback xmlns="">
              <p:sp>
                <p:nvSpPr>
                  <p:cNvPr id="23" name="文本框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8000" y="4380409"/>
                    <a:ext cx="1320069" cy="276999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1526194" y="5232548"/>
                    <a:ext cx="730204" cy="307777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文本框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6194" y="5232548"/>
                    <a:ext cx="730204" cy="307777"/>
                  </a:xfrm>
                  <a:prstGeom prst="rect">
                    <a:avLst/>
                  </a:prstGeom>
                  <a:blipFill rotWithShape="1">
                    <a:blip r:embed="rId1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3014558" y="5237505"/>
                    <a:ext cx="1320069" cy="276999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r>
                      <a:rPr lang="en-US" altLang="zh-CN">
                        <a:solidFill>
                          <a:srgbClr val="0070C0"/>
                        </a:solidFill>
                      </a:rPr>
                      <a:t>//</a:t>
                    </a:r>
                    <a:r>
                      <a:rPr lang="en-US" altLang="zh-CN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𝒖𝒙</m:t>
                        </m:r>
                      </m:oMath>
                    </a14:m>
                    <a:endParaRPr lang="zh-CN" altLang="en-US" b="1"/>
                  </a:p>
                </p:txBody>
              </p:sp>
            </mc:Choice>
            <mc:Fallback xmlns="">
              <p:sp>
                <p:nvSpPr>
                  <p:cNvPr id="33" name="文本框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14558" y="5237505"/>
                    <a:ext cx="1320069" cy="276999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文本框 33"/>
              <p:cNvSpPr txBox="1"/>
              <p:nvPr/>
            </p:nvSpPr>
            <p:spPr>
              <a:xfrm>
                <a:off x="3014560" y="4697730"/>
                <a:ext cx="1596912" cy="21299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r>
                  <a:rPr lang="en-US" altLang="zh-CN">
                    <a:solidFill>
                      <a:srgbClr val="0070C0"/>
                    </a:solidFill>
                  </a:rPr>
                  <a:t>//</a:t>
                </a:r>
                <a:r>
                  <a:rPr lang="en-US" altLang="zh-CN"/>
                  <a:t> </a:t>
                </a:r>
                <a:r>
                  <a:rPr lang="zh-CN" altLang="en-US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连接</a:t>
                </a:r>
                <a:r>
                  <a:rPr lang="zh-CN" altLang="en-US" b="1" i="0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的定义</a:t>
                </a:r>
                <a:endParaRPr lang="zh-CN" altLang="en-US" b="1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3014558" y="4974576"/>
                <a:ext cx="1596912" cy="21299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r>
                  <a:rPr lang="en-US" altLang="zh-CN">
                    <a:solidFill>
                      <a:srgbClr val="0070C0"/>
                    </a:solidFill>
                  </a:rPr>
                  <a:t>//</a:t>
                </a:r>
                <a:r>
                  <a:rPr lang="en-US" altLang="zh-CN"/>
                  <a:t> </a:t>
                </a:r>
                <a:r>
                  <a:rPr lang="zh-CN" altLang="en-US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归纳假设</a:t>
                </a:r>
              </a:p>
            </p:txBody>
          </p:sp>
        </p:grpSp>
      </p:grpSp>
      <p:cxnSp>
        <p:nvCxnSpPr>
          <p:cNvPr id="30" name="直接连接符 29"/>
          <p:cNvCxnSpPr/>
          <p:nvPr/>
        </p:nvCxnSpPr>
        <p:spPr>
          <a:xfrm>
            <a:off x="8597630" y="4098354"/>
            <a:ext cx="1059487" cy="0"/>
          </a:xfrm>
          <a:prstGeom prst="line">
            <a:avLst/>
          </a:prstGeom>
          <a:ln w="158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124668" y="5052224"/>
            <a:ext cx="1116513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124667" y="5415133"/>
            <a:ext cx="1116513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FA24C48-95D8-B5B2-399F-C962309BBB15}"/>
              </a:ext>
            </a:extLst>
          </p:cNvPr>
          <p:cNvSpPr txBox="1"/>
          <p:nvPr/>
        </p:nvSpPr>
        <p:spPr>
          <a:xfrm>
            <a:off x="10626571" y="35333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可略过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结构归纳法证明函数的性质练习（二）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482626" y="1098504"/>
            <a:ext cx="11104367" cy="838651"/>
            <a:chOff x="482626" y="1025363"/>
            <a:chExt cx="11104367" cy="8386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482626" y="1162017"/>
                  <a:ext cx="1966945" cy="461665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给定字母表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</m:oMath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626" y="1162017"/>
                  <a:ext cx="1966945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2630389" y="1081864"/>
                  <a:ext cx="2845256" cy="69172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b="1">
                      <a:solidFill>
                        <a:schemeClr val="accent6">
                          <a:lumMod val="50000"/>
                        </a:schemeClr>
                      </a:solidFill>
                    </a:rPr>
                    <a:t>计算字符串长度函数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a14:m>
                  <a:r>
                    <a:rPr lang="zh-CN" altLang="en-US" b="1">
                      <a:solidFill>
                        <a:schemeClr val="accent6">
                          <a:lumMod val="50000"/>
                        </a:schemeClr>
                      </a:solidFill>
                    </a:rPr>
                    <a:t>和字符串连接运算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</m:oMath>
                  </a14:m>
                  <a:r>
                    <a:rPr lang="zh-CN" altLang="en-US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的递归方程</a:t>
                  </a: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0389" y="1081864"/>
                  <a:ext cx="2845256" cy="69172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/>
            <p:cNvGrpSpPr/>
            <p:nvPr/>
          </p:nvGrpSpPr>
          <p:grpSpPr>
            <a:xfrm>
              <a:off x="5656463" y="1025363"/>
              <a:ext cx="2644524" cy="799012"/>
              <a:chOff x="8453266" y="3723384"/>
              <a:chExt cx="2644524" cy="7990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8644040" y="3723384"/>
                    <a:ext cx="1315684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文本框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4040" y="3723384"/>
                    <a:ext cx="1315684" cy="369332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8644039" y="4153064"/>
                    <a:ext cx="2453751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𝒖𝒙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4039" y="4153064"/>
                    <a:ext cx="2453751" cy="369332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左大括号 14"/>
              <p:cNvSpPr/>
              <p:nvPr/>
            </p:nvSpPr>
            <p:spPr>
              <a:xfrm>
                <a:off x="8453266" y="3776012"/>
                <a:ext cx="124990" cy="662178"/>
              </a:xfrm>
              <a:prstGeom prst="leftBrace">
                <a:avLst>
                  <a:gd name="adj1" fmla="val 43333"/>
                  <a:gd name="adj2" fmla="val 50000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530957" y="1046072"/>
              <a:ext cx="3056036" cy="817942"/>
              <a:chOff x="8331204" y="4767041"/>
              <a:chExt cx="3056036" cy="8179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/>
                  <p:cNvSpPr txBox="1"/>
                  <p:nvPr/>
                </p:nvSpPr>
                <p:spPr>
                  <a:xfrm>
                    <a:off x="8476110" y="4767041"/>
                    <a:ext cx="1542108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文本框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6110" y="4767041"/>
                    <a:ext cx="1542108" cy="369332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8476110" y="5215651"/>
                    <a:ext cx="2911130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𝒖𝒙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6110" y="5215651"/>
                    <a:ext cx="2911130" cy="369332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左大括号 19"/>
              <p:cNvSpPr/>
              <p:nvPr/>
            </p:nvSpPr>
            <p:spPr>
              <a:xfrm>
                <a:off x="8331204" y="4805284"/>
                <a:ext cx="124990" cy="662178"/>
              </a:xfrm>
              <a:prstGeom prst="leftBrace">
                <a:avLst>
                  <a:gd name="adj1" fmla="val 43333"/>
                  <a:gd name="adj2" fmla="val 50000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82626" y="2078553"/>
                <a:ext cx="10788603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002060"/>
                    </a:solidFill>
                  </a:rPr>
                  <a:t>使用结构归纳法证明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，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的结构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进行归纳证明：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6" y="2078553"/>
                <a:ext cx="10788603" cy="400110"/>
              </a:xfrm>
              <a:prstGeom prst="rect">
                <a:avLst/>
              </a:prstGeom>
              <a:blipFill rotWithShape="1">
                <a:blip r:embed="rId8"/>
                <a:stretch>
                  <a:fillRect t="-49" r="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/>
          <p:cNvGrpSpPr/>
          <p:nvPr/>
        </p:nvGrpSpPr>
        <p:grpSpPr>
          <a:xfrm>
            <a:off x="482626" y="2598264"/>
            <a:ext cx="11279583" cy="3801189"/>
            <a:chOff x="482626" y="2598264"/>
            <a:chExt cx="11279583" cy="3801189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4389" y="3714158"/>
              <a:ext cx="6204475" cy="2579388"/>
            </a:xfrm>
            <a:prstGeom prst="rect">
              <a:avLst/>
            </a:prstGeom>
          </p:spPr>
        </p:pic>
        <p:grpSp>
          <p:nvGrpSpPr>
            <p:cNvPr id="39" name="组合 38"/>
            <p:cNvGrpSpPr/>
            <p:nvPr/>
          </p:nvGrpSpPr>
          <p:grpSpPr>
            <a:xfrm>
              <a:off x="482626" y="2598264"/>
              <a:ext cx="11279583" cy="3801189"/>
              <a:chOff x="342078" y="2855033"/>
              <a:chExt cx="11279583" cy="380118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/>
                  <p:cNvSpPr txBox="1"/>
                  <p:nvPr/>
                </p:nvSpPr>
                <p:spPr>
                  <a:xfrm>
                    <a:off x="486803" y="2922874"/>
                    <a:ext cx="10904613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归纳基</a:t>
                    </a:r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：</a:t>
                    </a:r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如果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altLang="zh-CN" sz="2000" b="1" i="0">
                        <a:solidFill>
                          <a:srgbClr val="C00000"/>
                        </a:solidFill>
                        <a:latin typeface="+mn-ea"/>
                      </a:rPr>
                      <a:t>    (1)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altLang="zh-CN" sz="2000" b="1" i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m:rPr>
                            <m:nor/>
                          </m:rPr>
                          <a:rPr lang="en-US" altLang="zh-CN" sz="2000" b="1">
                            <a:solidFill>
                              <a:srgbClr val="C00000"/>
                            </a:solidFill>
                            <a:latin typeface="+mn-ea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000" b="1" i="0" smtClean="0">
                            <a:solidFill>
                              <a:srgbClr val="C00000"/>
                            </a:solidFill>
                            <a:latin typeface="+mn-ea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000" b="1">
                            <a:solidFill>
                              <a:srgbClr val="C00000"/>
                            </a:solidFill>
                            <a:latin typeface="+mn-ea"/>
                          </a:rPr>
                          <m:t>)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  。</a:t>
                    </a:r>
                  </a:p>
                </p:txBody>
              </p:sp>
            </mc:Choice>
            <mc:Fallback xmlns="">
              <p:sp>
                <p:nvSpPr>
                  <p:cNvPr id="4" name="文本框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03" y="2922874"/>
                    <a:ext cx="10904613" cy="400110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7288886" y="4675845"/>
                    <a:ext cx="3841795" cy="1169551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要证明的命题实际上是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，</a:t>
                    </a:r>
                    <a:endPara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spcAft>
                        <a:spcPts val="600"/>
                      </a:spcAft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其中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是：</a:t>
                    </a:r>
                    <a:endPara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∘(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8886" y="4675845"/>
                    <a:ext cx="3841795" cy="1169551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矩形: 圆角 37"/>
              <p:cNvSpPr/>
              <p:nvPr/>
            </p:nvSpPr>
            <p:spPr>
              <a:xfrm>
                <a:off x="342078" y="2855033"/>
                <a:ext cx="11279583" cy="3801189"/>
              </a:xfrm>
              <a:prstGeom prst="roundRect">
                <a:avLst>
                  <a:gd name="adj" fmla="val 7170"/>
                </a:avLst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639323" y="3178651"/>
                  <a:ext cx="10254536" cy="40011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C00000"/>
                      </a:solidFill>
                    </a:rPr>
                    <a:t>归纳步：</a:t>
                  </a:r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如果存在字符串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和字符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使得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𝒔𝒙</m:t>
                      </m:r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，这时归纳假设是   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b="1">
                          <a:solidFill>
                            <a:srgbClr val="C00000"/>
                          </a:solidFill>
                          <a:latin typeface="+mn-ea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b="1" i="0" smtClean="0">
                          <a:solidFill>
                            <a:srgbClr val="C00000"/>
                          </a:solidFill>
                          <a:latin typeface="+mn-ea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CN" sz="2000" b="1">
                          <a:solidFill>
                            <a:srgbClr val="C00000"/>
                          </a:solidFill>
                          <a:latin typeface="+mn-ea"/>
                        </a:rPr>
                        <m:t>)</m:t>
                      </m:r>
                    </m:oMath>
                  </a14:m>
                  <a:r>
                    <a:rPr lang="en-US" altLang="zh-CN" sz="2000" b="1"/>
                    <a:t>                :</a:t>
                  </a:r>
                  <a:endParaRPr lang="zh-CN" altLang="en-US" sz="2000" b="1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323" y="3178651"/>
                  <a:ext cx="10254536" cy="40011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26"/>
            <p:cNvCxnSpPr/>
            <p:nvPr/>
          </p:nvCxnSpPr>
          <p:spPr>
            <a:xfrm>
              <a:off x="6223183" y="2986601"/>
              <a:ext cx="749939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10368682" y="2986601"/>
              <a:ext cx="749939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8053079" y="3520549"/>
              <a:ext cx="2617114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5656463" y="4426750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5656463" y="4875179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5656463" y="5329090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5705646" y="5776422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5781453" y="4118088"/>
            <a:ext cx="1277189" cy="276999"/>
          </a:xfrm>
          <a:prstGeom prst="rect">
            <a:avLst/>
          </a:prstGeom>
          <a:solidFill>
            <a:srgbClr val="FFFFC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(4)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804477" y="4567965"/>
            <a:ext cx="1277189" cy="276999"/>
          </a:xfrm>
          <a:prstGeom prst="rect">
            <a:avLst/>
          </a:prstGeom>
          <a:solidFill>
            <a:srgbClr val="FFFFC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(5)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816625" y="5017058"/>
            <a:ext cx="1277189" cy="276999"/>
          </a:xfrm>
          <a:prstGeom prst="rect">
            <a:avLst/>
          </a:prstGeom>
          <a:solidFill>
            <a:srgbClr val="FFFFC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(6)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29781" y="5464389"/>
            <a:ext cx="1277189" cy="276999"/>
          </a:xfrm>
          <a:prstGeom prst="rect">
            <a:avLst/>
          </a:prstGeom>
          <a:solidFill>
            <a:srgbClr val="FFFFC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(7)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F75415-A63D-E13B-DD9E-7C4C8E4DCD60}"/>
              </a:ext>
            </a:extLst>
          </p:cNvPr>
          <p:cNvSpPr txBox="1"/>
          <p:nvPr/>
        </p:nvSpPr>
        <p:spPr>
          <a:xfrm>
            <a:off x="10793289" y="38872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可略过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结构归纳法证明函数的性质练习（二）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482626" y="1098504"/>
            <a:ext cx="11104367" cy="838651"/>
            <a:chOff x="482626" y="1025363"/>
            <a:chExt cx="11104367" cy="8386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482626" y="1162017"/>
                  <a:ext cx="1966945" cy="461665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给定字母表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</m:oMath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626" y="1162017"/>
                  <a:ext cx="1966945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2630389" y="1081864"/>
                  <a:ext cx="2845256" cy="69172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b="1">
                      <a:solidFill>
                        <a:schemeClr val="accent6">
                          <a:lumMod val="50000"/>
                        </a:schemeClr>
                      </a:solidFill>
                    </a:rPr>
                    <a:t>计算字符串长度函数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a14:m>
                  <a:r>
                    <a:rPr lang="zh-CN" altLang="en-US" b="1">
                      <a:solidFill>
                        <a:schemeClr val="accent6">
                          <a:lumMod val="50000"/>
                        </a:schemeClr>
                      </a:solidFill>
                    </a:rPr>
                    <a:t>和字符串连接运算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</m:oMath>
                  </a14:m>
                  <a:r>
                    <a:rPr lang="zh-CN" altLang="en-US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的递归方程</a:t>
                  </a: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0389" y="1081864"/>
                  <a:ext cx="2845256" cy="69172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/>
            <p:cNvGrpSpPr/>
            <p:nvPr/>
          </p:nvGrpSpPr>
          <p:grpSpPr>
            <a:xfrm>
              <a:off x="5656463" y="1025363"/>
              <a:ext cx="2644524" cy="799012"/>
              <a:chOff x="8453266" y="3723384"/>
              <a:chExt cx="2644524" cy="7990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8644040" y="3723384"/>
                    <a:ext cx="1315684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文本框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4040" y="3723384"/>
                    <a:ext cx="1315684" cy="369332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8644039" y="4153064"/>
                    <a:ext cx="2453751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𝒖𝒙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4039" y="4153064"/>
                    <a:ext cx="2453751" cy="369332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左大括号 14"/>
              <p:cNvSpPr/>
              <p:nvPr/>
            </p:nvSpPr>
            <p:spPr>
              <a:xfrm>
                <a:off x="8453266" y="3776012"/>
                <a:ext cx="124990" cy="662178"/>
              </a:xfrm>
              <a:prstGeom prst="leftBrace">
                <a:avLst>
                  <a:gd name="adj1" fmla="val 43333"/>
                  <a:gd name="adj2" fmla="val 50000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530957" y="1046072"/>
              <a:ext cx="3056036" cy="817942"/>
              <a:chOff x="8331204" y="4767041"/>
              <a:chExt cx="3056036" cy="8179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/>
                  <p:cNvSpPr txBox="1"/>
                  <p:nvPr/>
                </p:nvSpPr>
                <p:spPr>
                  <a:xfrm>
                    <a:off x="8476110" y="4767041"/>
                    <a:ext cx="1542108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文本框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6110" y="4767041"/>
                    <a:ext cx="1542108" cy="369332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8476110" y="5215651"/>
                    <a:ext cx="2911130" cy="36933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𝒖𝒙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6110" y="5215651"/>
                    <a:ext cx="2911130" cy="369332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左大括号 19"/>
              <p:cNvSpPr/>
              <p:nvPr/>
            </p:nvSpPr>
            <p:spPr>
              <a:xfrm>
                <a:off x="8331204" y="4805284"/>
                <a:ext cx="124990" cy="662178"/>
              </a:xfrm>
              <a:prstGeom prst="leftBrace">
                <a:avLst>
                  <a:gd name="adj1" fmla="val 43333"/>
                  <a:gd name="adj2" fmla="val 50000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82626" y="2078553"/>
                <a:ext cx="10788603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002060"/>
                    </a:solidFill>
                  </a:rPr>
                  <a:t>使用结构归纳法证明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，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的结构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进行归纳证明：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6" y="2078553"/>
                <a:ext cx="10788603" cy="400110"/>
              </a:xfrm>
              <a:prstGeom prst="rect">
                <a:avLst/>
              </a:prstGeom>
              <a:blipFill rotWithShape="1">
                <a:blip r:embed="rId8"/>
                <a:stretch>
                  <a:fillRect t="-49" r="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/>
          <p:cNvGrpSpPr/>
          <p:nvPr/>
        </p:nvGrpSpPr>
        <p:grpSpPr>
          <a:xfrm>
            <a:off x="482626" y="2598264"/>
            <a:ext cx="11279583" cy="3801189"/>
            <a:chOff x="482626" y="2598264"/>
            <a:chExt cx="11279583" cy="3801189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4389" y="3714158"/>
              <a:ext cx="6204475" cy="2579388"/>
            </a:xfrm>
            <a:prstGeom prst="rect">
              <a:avLst/>
            </a:prstGeom>
          </p:spPr>
        </p:pic>
        <p:grpSp>
          <p:nvGrpSpPr>
            <p:cNvPr id="39" name="组合 38"/>
            <p:cNvGrpSpPr/>
            <p:nvPr/>
          </p:nvGrpSpPr>
          <p:grpSpPr>
            <a:xfrm>
              <a:off x="482626" y="2598264"/>
              <a:ext cx="11279583" cy="3801189"/>
              <a:chOff x="342078" y="2855033"/>
              <a:chExt cx="11279583" cy="380118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/>
                  <p:cNvSpPr txBox="1"/>
                  <p:nvPr/>
                </p:nvSpPr>
                <p:spPr>
                  <a:xfrm>
                    <a:off x="486803" y="2922874"/>
                    <a:ext cx="10904613" cy="40011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归纳基</a:t>
                    </a:r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：</a:t>
                    </a:r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如果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，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 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。</a:t>
                    </a:r>
                  </a:p>
                </p:txBody>
              </p:sp>
            </mc:Choice>
            <mc:Fallback xmlns="">
              <p:sp>
                <p:nvSpPr>
                  <p:cNvPr id="4" name="文本框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03" y="2922874"/>
                    <a:ext cx="10904613" cy="400110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7288886" y="4675845"/>
                    <a:ext cx="3841795" cy="1169551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要证明的命题实际上是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，</a:t>
                    </a:r>
                    <a:endPara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spcAft>
                        <a:spcPts val="600"/>
                      </a:spcAft>
                    </a:pPr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其中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是：</a:t>
                    </a:r>
                    <a:endPara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∘(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oMath>
                      </m:oMathPara>
                    </a14:m>
                    <a:endParaRPr lang="zh-CN" altLang="en-US" sz="20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8886" y="4675845"/>
                    <a:ext cx="3841795" cy="1169551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矩形: 圆角 37"/>
              <p:cNvSpPr/>
              <p:nvPr/>
            </p:nvSpPr>
            <p:spPr>
              <a:xfrm>
                <a:off x="342078" y="2855033"/>
                <a:ext cx="11279583" cy="3801189"/>
              </a:xfrm>
              <a:prstGeom prst="roundRect">
                <a:avLst>
                  <a:gd name="adj" fmla="val 7170"/>
                </a:avLst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639323" y="3178651"/>
                  <a:ext cx="10254536" cy="40011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C00000"/>
                      </a:solidFill>
                    </a:rPr>
                    <a:t>归纳步：</a:t>
                  </a:r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如果存在字符串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和字符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使得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𝒔𝒙</m:t>
                      </m:r>
                    </m:oMath>
                  </a14:m>
                  <a:r>
                    <a:rPr lang="zh-CN" altLang="en-US" sz="2000" b="1">
                      <a:solidFill>
                        <a:schemeClr val="accent4">
                          <a:lumMod val="50000"/>
                        </a:schemeClr>
                      </a:solidFill>
                    </a:rPr>
                    <a:t>，这时归纳假设是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a14:m>
                  <a:r>
                    <a:rPr lang="en-US" altLang="zh-CN" sz="2000" b="1"/>
                    <a:t>:</a:t>
                  </a:r>
                  <a:endParaRPr lang="zh-CN" altLang="en-US" sz="2000" b="1"/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323" y="3178651"/>
                  <a:ext cx="10254536" cy="40011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26"/>
            <p:cNvCxnSpPr/>
            <p:nvPr/>
          </p:nvCxnSpPr>
          <p:spPr>
            <a:xfrm>
              <a:off x="6223183" y="2986601"/>
              <a:ext cx="749939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10368682" y="2986601"/>
              <a:ext cx="749939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8053079" y="3520549"/>
              <a:ext cx="2617114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5656463" y="4426750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5656463" y="4875179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5656463" y="5329090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5705646" y="5776422"/>
              <a:ext cx="1573218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序列的归纳定义和归纳法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19333" y="1198710"/>
                <a:ext cx="10353333" cy="301621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序列与数列</a:t>
                </a:r>
                <a:endParaRPr lang="en-US" altLang="zh-CN" sz="28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自然数集是归纳定义的，因此可递归定义以自然数集为定义域的函数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以自然数集为定义域的函数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也称为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序列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</a:rPr>
                  <a:t>(sequence)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的元素的一个序列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通常将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而省略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的元素序列为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，简记为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是数集，即是实数集、有理数集或整数集的子集，则称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数列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33" y="1198710"/>
                <a:ext cx="10353333" cy="3016210"/>
              </a:xfrm>
              <a:prstGeom prst="rect">
                <a:avLst/>
              </a:prstGeom>
              <a:blipFill rotWithShape="1">
                <a:blip r:embed="rId2"/>
                <a:stretch>
                  <a:fillRect l="-5" t="-15" r="1" b="-9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919333" y="4441870"/>
                <a:ext cx="9099597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根据自然数的归纳定义，递归定义一个序列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</a:rPr>
                  <a:t>的最基本形式是：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33" y="4441870"/>
                <a:ext cx="9099597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5" t="-10" r="6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170" y="4991728"/>
            <a:ext cx="8614279" cy="1114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0018930" y="5087848"/>
                <a:ext cx="1670918" cy="922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是一个函数（或说表达式），使用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8930" y="5087848"/>
                <a:ext cx="1670918" cy="922240"/>
              </a:xfrm>
              <a:prstGeom prst="rect">
                <a:avLst/>
              </a:prstGeom>
              <a:blipFill rotWithShape="1">
                <a:blip r:embed="rId5"/>
                <a:stretch>
                  <a:fillRect l="-32" t="-25" r="-2728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斐波那契数列及其性质练习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74930" y="1215798"/>
                <a:ext cx="9913674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C00000"/>
                    </a:solidFill>
                  </a:rPr>
                  <a:t>斐波那契数列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30" y="1215798"/>
                <a:ext cx="9913674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" t="-88" r="6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74930" y="2059041"/>
                <a:ext cx="8479580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使用数学归纳法证明：对所有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和所有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30" y="2059041"/>
                <a:ext cx="8479580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6" t="-93" r="4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874930" y="2840729"/>
            <a:ext cx="8242757" cy="1323439"/>
            <a:chOff x="874930" y="2840729"/>
            <a:chExt cx="8242757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874930" y="2840729"/>
                  <a:ext cx="8242757" cy="132343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对自然数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实施</a:t>
                  </a: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强归纳法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证明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归纳基：验证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成立</a:t>
                  </a: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归纳步：对任意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，假定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⋯, 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        </a:t>
                  </a:r>
                  <a:r>
                    <a:rPr lang="en-US" altLang="zh-CN" sz="2000" b="1" i="0">
                      <a:solidFill>
                        <a:srgbClr val="C00000"/>
                      </a:solidFill>
                      <a:latin typeface="+mn-ea"/>
                    </a:rPr>
                    <a:t>(1)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    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成立，考虑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30" y="2840729"/>
                  <a:ext cx="8242757" cy="132343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/>
            <p:cNvCxnSpPr/>
            <p:nvPr/>
          </p:nvCxnSpPr>
          <p:spPr>
            <a:xfrm>
              <a:off x="5367989" y="4088228"/>
              <a:ext cx="1256478" cy="0"/>
            </a:xfrm>
            <a:prstGeom prst="line">
              <a:avLst/>
            </a:prstGeom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943601" y="2840727"/>
                <a:ext cx="5279179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𝒎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𝒎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1" y="2840727"/>
                <a:ext cx="5279179" cy="400110"/>
              </a:xfrm>
              <a:prstGeom prst="rect">
                <a:avLst/>
              </a:prstGeom>
              <a:blipFill rotWithShape="1">
                <a:blip r:embed="rId5"/>
                <a:stretch>
                  <a:fillRect t="-93" r="8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874930" y="4360179"/>
            <a:ext cx="9563134" cy="1845122"/>
            <a:chOff x="874930" y="4360179"/>
            <a:chExt cx="9563134" cy="1845122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4930" y="4360179"/>
              <a:ext cx="9563134" cy="1845122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8022380" y="4394084"/>
              <a:ext cx="2190613" cy="276999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(2)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048693" y="5855589"/>
              <a:ext cx="2190613" cy="276999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(4)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72173" y="4867148"/>
              <a:ext cx="1423131" cy="276999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(3)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归纳定义和结构归纳法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斐波那契数列及其性质练习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74930" y="1215798"/>
                <a:ext cx="9913674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C00000"/>
                    </a:solidFill>
                  </a:rPr>
                  <a:t>斐波那契数列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30" y="1215798"/>
                <a:ext cx="9913674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" t="-88" r="6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74930" y="2059041"/>
                <a:ext cx="8479580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使用数学归纳法证明：对所有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和所有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30" y="2059041"/>
                <a:ext cx="8479580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6" t="-93" r="4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30" y="4360179"/>
            <a:ext cx="9563134" cy="1845122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874930" y="2840729"/>
            <a:ext cx="8242757" cy="1323439"/>
            <a:chOff x="874930" y="2840729"/>
            <a:chExt cx="8242757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874930" y="2840729"/>
                  <a:ext cx="8242757" cy="132343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对自然数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实施</a:t>
                  </a: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强归纳法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证明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归纳基：验证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成立</a:t>
                  </a: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归纳步：对任意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，假定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⋯, 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    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成立，考虑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30" y="2840729"/>
                  <a:ext cx="8242757" cy="132343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/>
            <p:cNvCxnSpPr/>
            <p:nvPr/>
          </p:nvCxnSpPr>
          <p:spPr>
            <a:xfrm>
              <a:off x="5367989" y="4088228"/>
              <a:ext cx="1256478" cy="0"/>
            </a:xfrm>
            <a:prstGeom prst="line">
              <a:avLst/>
            </a:prstGeom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943601" y="2840727"/>
                <a:ext cx="5279179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𝒎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𝒎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1" y="2840727"/>
                <a:ext cx="5279179" cy="400110"/>
              </a:xfrm>
              <a:prstGeom prst="rect">
                <a:avLst/>
              </a:prstGeom>
              <a:blipFill rotWithShape="1">
                <a:blip r:embed="rId6"/>
                <a:stretch>
                  <a:fillRect t="-93" r="8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51249" y="1342262"/>
            <a:ext cx="4733731" cy="3177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归纳定义和结构归纳法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3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递归算法与归纳证明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递归算法与归纳证明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递归算法及其正确性证明练习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0734" y="1650624"/>
            <a:ext cx="9380824" cy="106182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从计算机实现角度看，递归定义的函数最适合用</a:t>
            </a: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递归算法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计算函数值</a:t>
            </a:r>
            <a:endParaRPr lang="en-US" altLang="zh-CN" sz="24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C00000"/>
                </a:solidFill>
              </a:rPr>
              <a:t>归纳法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可用于证明</a:t>
            </a:r>
            <a:r>
              <a:rPr lang="zh-CN" altLang="en-US" sz="2400" b="1">
                <a:solidFill>
                  <a:srgbClr val="C00000"/>
                </a:solidFill>
              </a:rPr>
              <a:t>递归算法的正确性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90734" y="3388866"/>
                <a:ext cx="8690090" cy="15938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定义序列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编写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递归算法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计算该序列的第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项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使用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归纳法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证明该递归算法的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正确性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34" y="3388866"/>
                <a:ext cx="8690090" cy="1593898"/>
              </a:xfrm>
              <a:prstGeom prst="rect">
                <a:avLst/>
              </a:prstGeom>
              <a:blipFill rotWithShape="1">
                <a:blip r:embed="rId2"/>
                <a:stretch>
                  <a:fillRect l="-6" t="-32" r="7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递归算法与归纳证明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递归算法及其正确性证明练习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5214" y="1191674"/>
                <a:ext cx="8690090" cy="9937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定义序列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编写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递归算法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计算该序列的第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项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191674"/>
                <a:ext cx="8690090" cy="993734"/>
              </a:xfrm>
              <a:prstGeom prst="rect">
                <a:avLst/>
              </a:prstGeom>
              <a:blipFill rotWithShape="1">
                <a:blip r:embed="rId2"/>
                <a:stretch>
                  <a:fillRect l="-1" t="-42" r="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223" y="2286550"/>
            <a:ext cx="7362071" cy="39334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782187" y="4520371"/>
                <a:ext cx="1723545" cy="114595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假定已有函数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𝒑𝒐𝒘𝒆𝒓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p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187" y="4520371"/>
                <a:ext cx="1723545" cy="1145955"/>
              </a:xfrm>
              <a:prstGeom prst="rect">
                <a:avLst/>
              </a:prstGeom>
              <a:blipFill rotWithShape="1">
                <a:blip r:embed="rId4"/>
                <a:stretch>
                  <a:fillRect l="-8" t="-38" r="17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/>
          <p:cNvCxnSpPr/>
          <p:nvPr/>
        </p:nvCxnSpPr>
        <p:spPr>
          <a:xfrm>
            <a:off x="4053017" y="4197031"/>
            <a:ext cx="180835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046081" y="4678351"/>
            <a:ext cx="180835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095999" y="3762855"/>
            <a:ext cx="1725739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两次递归调用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递归算法与归纳证明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递归算法及其正确性证明练习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5214" y="1191674"/>
                <a:ext cx="8690090" cy="9937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定义序列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使用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归纳法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证明该递归算法的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正确性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191674"/>
                <a:ext cx="8690090" cy="993734"/>
              </a:xfrm>
              <a:prstGeom prst="rect">
                <a:avLst/>
              </a:prstGeom>
              <a:blipFill rotWithShape="1">
                <a:blip r:embed="rId2"/>
                <a:stretch>
                  <a:fillRect l="-1" t="-42" r="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13" y="3402810"/>
            <a:ext cx="5310286" cy="28372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59192" y="2347465"/>
                <a:ext cx="3802327" cy="8331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𝒄𝒂𝒍𝒔𝒆𝒒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实施强归纳法证明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2" y="2347465"/>
                <a:ext cx="3802327" cy="833177"/>
              </a:xfrm>
              <a:prstGeom prst="rect">
                <a:avLst/>
              </a:prstGeom>
              <a:blipFill rotWithShape="1">
                <a:blip r:embed="rId4"/>
                <a:stretch>
                  <a:fillRect l="-8" t="-61" r="6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038984" y="2375198"/>
                <a:ext cx="5598233" cy="77771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b="1">
                    <a:solidFill>
                      <a:srgbClr val="C00000"/>
                    </a:solidFill>
                  </a:rPr>
                  <a:t>归纳基：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时，算法只执行第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行，返回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      </a:t>
                </a:r>
                <a:r>
                  <a:rPr lang="en-US" altLang="zh-CN" b="1">
                    <a:solidFill>
                      <a:srgbClr val="C00000"/>
                    </a:solidFill>
                    <a:latin typeface="+mn-ea"/>
                  </a:rPr>
                  <a:t>(1)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r>
                  <a:rPr lang="en-US" altLang="zh-CN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  <a:r>
                  <a:rPr lang="zh-CN" altLang="en-US" b="1">
                    <a:solidFill>
                      <a:srgbClr val="002060"/>
                    </a:solidFill>
                  </a:rPr>
                  <a:t>；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984" y="2375198"/>
                <a:ext cx="5598233" cy="777713"/>
              </a:xfrm>
              <a:prstGeom prst="rect">
                <a:avLst/>
              </a:prstGeom>
              <a:blipFill rotWithShape="1">
                <a:blip r:embed="rId5"/>
                <a:stretch>
                  <a:fillRect l="-2" t="-38" r="4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/>
          <p:cNvCxnSpPr/>
          <p:nvPr/>
        </p:nvCxnSpPr>
        <p:spPr>
          <a:xfrm>
            <a:off x="9425420" y="3089910"/>
            <a:ext cx="148014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6038984" y="3268326"/>
                <a:ext cx="5598233" cy="295632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rgbClr val="C00000"/>
                    </a:solidFill>
                  </a:rPr>
                  <a:t>归纳步：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成立。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为输入算法将执行第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4,5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行，根据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归纳假设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这时有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en-US" altLang="zh-CN" b="1">
                        <a:solidFill>
                          <a:srgbClr val="C00000"/>
                        </a:solidFill>
                        <a:latin typeface="+mn-ea"/>
                      </a:rPr>
                      <m:t>(</m:t>
                    </m:r>
                    <m:r>
                      <m:rPr>
                        <m:nor/>
                      </m:rPr>
                      <a:rPr lang="en-US" altLang="zh-CN" b="1" i="0" smtClean="0">
                        <a:solidFill>
                          <a:srgbClr val="C00000"/>
                        </a:solidFill>
                        <a:latin typeface="+mn-ea"/>
                      </a:rPr>
                      <m:t>2</m:t>
                    </m:r>
                    <m:r>
                      <m:rPr>
                        <m:nor/>
                      </m:rPr>
                      <a:rPr lang="en-US" altLang="zh-CN" b="1">
                        <a:solidFill>
                          <a:srgbClr val="C00000"/>
                        </a:solidFill>
                        <a:latin typeface="+mn-ea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成立，即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𝒄𝒂𝒍𝒔𝒆𝒒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pc="-3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pc="-3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>
                        <a:solidFill>
                          <a:srgbClr val="C00000"/>
                        </a:solidFill>
                        <a:latin typeface="+mn-ea"/>
                      </a:rPr>
                      <m:t>(</m:t>
                    </m:r>
                    <m:r>
                      <m:rPr>
                        <m:nor/>
                      </m:rPr>
                      <a:rPr lang="en-US" altLang="zh-CN" b="1" i="0" smtClean="0">
                        <a:solidFill>
                          <a:srgbClr val="C00000"/>
                        </a:solidFill>
                        <a:latin typeface="+mn-ea"/>
                      </a:rPr>
                      <m:t>3</m:t>
                    </m:r>
                    <m:r>
                      <m:rPr>
                        <m:nor/>
                      </m:rPr>
                      <a:rPr lang="en-US" altLang="zh-CN" b="1">
                        <a:solidFill>
                          <a:srgbClr val="C00000"/>
                        </a:solidFill>
                        <a:latin typeface="+mn-ea"/>
                      </a:rPr>
                      <m:t>)</m:t>
                    </m:r>
                    <m:r>
                      <m:rPr>
                        <m:nor/>
                      </m:rPr>
                      <a:rPr lang="en-US" altLang="zh-CN" b="1" i="0" smtClean="0">
                        <a:solidFill>
                          <a:srgbClr val="C00000"/>
                        </a:solidFill>
                        <a:latin typeface="+mn-ea"/>
                      </a:rPr>
                      <m:t>                  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从而算法会在第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7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行返回</a:t>
                </a:r>
                <a14:m>
                  <m:oMath xmlns:m="http://schemas.openxmlformats.org/officeDocument/2006/math"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𝒑𝒐𝒘𝒆𝒓</m:t>
                    </m:r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，即返回</a:t>
                </a:r>
                <a14:m>
                  <m:oMath xmlns:m="http://schemas.openxmlformats.org/officeDocument/2006/math"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的值，根据数列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的定义，这等于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，也即    </a:t>
                </a:r>
                <a:r>
                  <a:rPr lang="en-US" altLang="zh-CN" b="1">
                    <a:solidFill>
                      <a:srgbClr val="C00000"/>
                    </a:solidFill>
                    <a:latin typeface="+mn-ea"/>
                  </a:rPr>
                  <a:t>(4)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成立。</a:t>
                </a: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984" y="3268326"/>
                <a:ext cx="5598233" cy="2956322"/>
              </a:xfrm>
              <a:prstGeom prst="rect">
                <a:avLst/>
              </a:prstGeom>
              <a:blipFill rotWithShape="1">
                <a:blip r:embed="rId6"/>
                <a:stretch>
                  <a:fillRect l="-2" t="-21" r="-1550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/>
          <p:cNvCxnSpPr/>
          <p:nvPr/>
        </p:nvCxnSpPr>
        <p:spPr>
          <a:xfrm>
            <a:off x="9005853" y="4746487"/>
            <a:ext cx="86177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864417" y="5118256"/>
            <a:ext cx="26478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144000" y="6157645"/>
            <a:ext cx="115451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递归算法与归纳证明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递归算法及其正确性证明练习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5214" y="1191674"/>
                <a:ext cx="8690090" cy="9937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定义序列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使用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归纳法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证明该递归算法的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正确性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4" y="1191674"/>
                <a:ext cx="8690090" cy="993734"/>
              </a:xfrm>
              <a:prstGeom prst="rect">
                <a:avLst/>
              </a:prstGeom>
              <a:blipFill rotWithShape="1">
                <a:blip r:embed="rId2"/>
                <a:stretch>
                  <a:fillRect l="-1" t="-42" r="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13" y="3402810"/>
            <a:ext cx="5310286" cy="28372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59192" y="2347465"/>
                <a:ext cx="3802327" cy="8331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𝒄𝒂𝒍𝒔𝒆𝒒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实施强归纳法证明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2" y="2347465"/>
                <a:ext cx="3802327" cy="833177"/>
              </a:xfrm>
              <a:prstGeom prst="rect">
                <a:avLst/>
              </a:prstGeom>
              <a:blipFill rotWithShape="1">
                <a:blip r:embed="rId4"/>
                <a:stretch>
                  <a:fillRect l="-8" t="-61" r="6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038984" y="2375198"/>
                <a:ext cx="5598233" cy="77771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b="1">
                    <a:solidFill>
                      <a:srgbClr val="C00000"/>
                    </a:solidFill>
                  </a:rPr>
                  <a:t>归纳基：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时，算法只执行第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行，返回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  <a:r>
                  <a:rPr lang="zh-CN" altLang="en-US" b="1">
                    <a:solidFill>
                      <a:srgbClr val="002060"/>
                    </a:solidFill>
                  </a:rPr>
                  <a:t>；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984" y="2375198"/>
                <a:ext cx="5598233" cy="777713"/>
              </a:xfrm>
              <a:prstGeom prst="rect">
                <a:avLst/>
              </a:prstGeom>
              <a:blipFill rotWithShape="1">
                <a:blip r:embed="rId5"/>
                <a:stretch>
                  <a:fillRect l="-2" t="-38" r="4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/>
          <p:cNvCxnSpPr/>
          <p:nvPr/>
        </p:nvCxnSpPr>
        <p:spPr>
          <a:xfrm>
            <a:off x="9425420" y="3089910"/>
            <a:ext cx="148014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6038984" y="3268326"/>
                <a:ext cx="5598233" cy="295632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rgbClr val="C00000"/>
                    </a:solidFill>
                  </a:rPr>
                  <a:t>归纳步：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成立。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为输入算法将执行第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4,5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行，根据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归纳假设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这时有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pc="-3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pc="-3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pc="-3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pc="-3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𝒄𝒂𝒍𝒔𝒆𝒒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pc="-3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pc="-3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𝒄𝒂𝒍𝒔𝒆𝒒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pc="-3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pc="-3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从而算法会在第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7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行返回</a:t>
                </a:r>
                <a14:m>
                  <m:oMath xmlns:m="http://schemas.openxmlformats.org/officeDocument/2006/math"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𝒑𝒐𝒘𝒆𝒓</m:t>
                    </m:r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，即返回</a:t>
                </a:r>
                <a14:m>
                  <m:oMath xmlns:m="http://schemas.openxmlformats.org/officeDocument/2006/math">
                    <m:r>
                      <a:rPr lang="en-US" altLang="zh-CN" b="1" i="1" spc="-1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pc="-1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的值，根据数列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的定义，这等于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，也即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成立。</a:t>
                </a: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984" y="3268326"/>
                <a:ext cx="5598233" cy="2956322"/>
              </a:xfrm>
              <a:prstGeom prst="rect">
                <a:avLst/>
              </a:prstGeom>
              <a:blipFill rotWithShape="1">
                <a:blip r:embed="rId6"/>
                <a:stretch>
                  <a:fillRect l="-2" t="-21" r="-1550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/>
          <p:cNvCxnSpPr/>
          <p:nvPr/>
        </p:nvCxnSpPr>
        <p:spPr>
          <a:xfrm>
            <a:off x="9005853" y="4746487"/>
            <a:ext cx="86177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864417" y="5118256"/>
            <a:ext cx="26478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144000" y="6157645"/>
            <a:ext cx="115451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534855" y="1673196"/>
            <a:ext cx="4188606" cy="6002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t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证明的关键在于明确描述</a:t>
            </a:r>
            <a:r>
              <a:rPr lang="zh-CN" altLang="en-US" b="1">
                <a:solidFill>
                  <a:srgbClr val="C00000"/>
                </a:solidFill>
              </a:rPr>
              <a:t>算法正确性的命题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及归纳步的</a:t>
            </a:r>
            <a:r>
              <a:rPr lang="zh-CN" altLang="en-US" b="1">
                <a:solidFill>
                  <a:srgbClr val="C00000"/>
                </a:solidFill>
              </a:rPr>
              <a:t>归纳假设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到底是什么！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1479" y="1373911"/>
            <a:ext cx="5843007" cy="4777398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归纳定义与归纳证明</a:t>
            </a:r>
          </a:p>
          <a:p>
            <a:pPr marL="342900" indent="-342900"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集合的归纳定义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800100" lvl="1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在给出集合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基本元素</a:t>
            </a: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的基础上</a:t>
            </a:r>
            <a:r>
              <a:rPr lang="en-US" altLang="zh-CN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给出一些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规则</a:t>
            </a: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从已有元素构造集合的更多元素</a:t>
            </a:r>
          </a:p>
          <a:p>
            <a:pPr marL="342900" indent="-342900"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latin typeface="+mn-ea"/>
              </a:rPr>
              <a:t>结构归纳法</a:t>
            </a: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证明归纳定义集合的所有元素满足某性质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800100" lvl="1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归纳基证明集合的基本元素满足该性质</a:t>
            </a:r>
            <a:endParaRPr lang="en-US" altLang="zh-CN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归纳步假定构造某元素的已有元素满足该性质，证明构造得到的该元素也满足此性质</a:t>
            </a:r>
            <a:endParaRPr lang="en-US" altLang="zh-CN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函数定义域是归纳定义的集合时，函数也可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递归定义</a:t>
            </a:r>
          </a:p>
          <a:p>
            <a:pPr marL="800100" lvl="1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递归定义的函数常使用归纳法证明函数的性质</a:t>
            </a:r>
          </a:p>
          <a:p>
            <a:pPr marL="800100" lvl="1" indent="-342900"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递归定义的函数常使用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递归算法</a:t>
            </a: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计算函数值，并可利用归纳法证明递归算法的正确性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627478" y="1663477"/>
            <a:ext cx="5033043" cy="41982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学习这一部分的目标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能理解简单集合的归纳定义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800100" lvl="1" indent="-342900">
              <a:lnSpc>
                <a:spcPts val="32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并能运用结构归纳证明法证明归纳定义集合的所有元素满足某性质</a:t>
            </a:r>
            <a:endParaRPr lang="en-US" altLang="zh-CN" sz="20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2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能设计递归算法计算使用初始值和递推关系式确定的函数</a:t>
            </a:r>
            <a:endParaRPr lang="en-US" altLang="zh-CN" sz="200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800100" lvl="1" indent="-342900">
              <a:lnSpc>
                <a:spcPts val="32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并初步能利用归纳法证明这类递归算法的正确性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07165" y="3167390"/>
            <a:ext cx="910386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日：教材练习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4.47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4.50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第十五讲  归纳定义与归纳证明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5109</Words>
  <Application>Microsoft Office PowerPoint</Application>
  <PresentationFormat>宽屏</PresentationFormat>
  <Paragraphs>521</Paragraphs>
  <Slides>32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380514873@qq.com</cp:lastModifiedBy>
  <cp:revision>111</cp:revision>
  <dcterms:created xsi:type="dcterms:W3CDTF">2022-01-01T06:39:00Z</dcterms:created>
  <dcterms:modified xsi:type="dcterms:W3CDTF">2024-10-31T01:47:54Z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B0247AA1C1BA486897EE6545048E4ACB</vt:lpwstr>
  </property>
  <property fmtid="{D5CDD505-2E9C-101B-9397-08002B2CF9AE}" pid="3" name="KSOProductBuildVer">
    <vt:lpwstr>2052-11.1.0.11220</vt:lpwstr>
  </property>
</Properties>
</file>