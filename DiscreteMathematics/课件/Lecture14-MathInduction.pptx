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81" r:id="rId5"/>
    <p:sldId id="282" r:id="rId6"/>
    <p:sldId id="283" r:id="rId7"/>
    <p:sldId id="289" r:id="rId8"/>
    <p:sldId id="287" r:id="rId9"/>
    <p:sldId id="285" r:id="rId10"/>
    <p:sldId id="290" r:id="rId11"/>
    <p:sldId id="291" r:id="rId12"/>
    <p:sldId id="288" r:id="rId13"/>
    <p:sldId id="293" r:id="rId14"/>
    <p:sldId id="292" r:id="rId15"/>
    <p:sldId id="294" r:id="rId16"/>
    <p:sldId id="296" r:id="rId17"/>
    <p:sldId id="295" r:id="rId18"/>
    <p:sldId id="297" r:id="rId19"/>
    <p:sldId id="286" r:id="rId20"/>
    <p:sldId id="298" r:id="rId21"/>
    <p:sldId id="261" r:id="rId22"/>
    <p:sldId id="302" r:id="rId23"/>
    <p:sldId id="304" r:id="rId24"/>
    <p:sldId id="303" r:id="rId25"/>
    <p:sldId id="307" r:id="rId26"/>
    <p:sldId id="301" r:id="rId27"/>
    <p:sldId id="308" r:id="rId28"/>
    <p:sldId id="306" r:id="rId29"/>
    <p:sldId id="305" r:id="rId30"/>
    <p:sldId id="299" r:id="rId31"/>
    <p:sldId id="272" r:id="rId32"/>
    <p:sldId id="280" r:id="rId33"/>
    <p:sldId id="26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5C966-37BD-47D9-B990-1A6A1FE5F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9D9C34-EDDD-43FE-AA35-963FFD1F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C7551-9C6F-433E-BFE6-8AEE56E5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B5C2D-712F-4BD8-8984-2E37A2E7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68131-A3B7-4C5E-B375-3F29F68D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472E-5B0D-4E91-BB50-ECBA94C2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77F74-E5FC-4615-B7E8-20F6A6DB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970FA-6208-41BC-9952-B73C8408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E956F-7F1A-45B2-B0A8-4B3F89E0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7906B-5520-4C03-AF06-04CC1D32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2F85A-8626-4377-9B95-C3BCE689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CC3ED-9C63-44ED-B9B0-6DEF5888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6DFFE-3901-49AD-A23B-DAADBF81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A56A1-C10E-4508-8423-482B54B9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F4EA9-AE40-466B-8BBA-D73061D2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4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194D-B1A6-423E-8567-1D4773BE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5B8A5-9958-4755-8578-AB3E7F5EA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5FEEF-9B48-4FEF-B214-814D954FB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78CEB-CAC4-44A7-BF8C-619E5F63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4D173-9554-4FD1-934F-E056085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20FE5-6E21-40AD-B421-66883AE5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4D51D-48AE-4549-AF1D-56C75AC8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13486-A6B7-4936-82B0-E10BDB21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BDFA65-5C0E-4252-8C9B-B90DD4CCD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4E4F45-9135-423B-8512-3D3B66E0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069E3F-B963-45F3-91B6-D205A1191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41007C-6C31-4736-97F0-D4F386B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96F3D-805F-4F39-B2E8-793DA2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E010EE-B88E-45E1-9D23-68338C37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ADC8-2060-472F-B376-EF7735FF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F03157-24D5-4CF4-A9B9-8E1585E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58797F-EEA8-48BE-8B26-A4DEC089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EC0BF-A5F1-4329-A69F-A2E97F2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2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62F89-7924-4C29-8A36-A187864F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F266C-AFEF-45A5-849E-297FB204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EA0BA-3C3D-49EE-9CDB-87DE9AE7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FB4FE-648E-4EF3-8D1A-8E1FB94A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48A91-18A2-4585-8FDF-BAE04178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5E1E5-EFFB-4FD1-8582-04C87F689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D2070-3C57-4261-8F23-7139B000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315EF-988A-4D48-94A2-7B85AA02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DAB40-17E3-4D3D-9132-0FEDD2CC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A4F2-A211-43F3-B4AE-5D35DBC7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7303EC-6B14-4714-9E94-FD36DED8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0D91FB-F948-4784-92D1-13CA77D9C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4118E-4303-4C16-BA52-67E49781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5F793C-DBEE-4D2E-B22D-70585B8F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8868A-A114-4C16-9D0F-1CAA668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A9BE9-63C1-4F8E-844D-93871FFA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754CE-AA03-4C5D-9359-E7AE5A11D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52E5-B11B-4F5B-8551-6267E7C8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F89DB-DECC-4D63-BF05-24260613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E0C33-663E-4115-AC5B-2C23224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8AE2C3-9AE9-49EA-B7E2-12F63A48C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8F4C53-4136-4531-A949-086F434A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55AA-9A48-44A9-BF3D-A07C5FFC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CA7E8-2754-4253-BF45-4E276321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F171A-2876-4457-86B9-F066CC51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868106-C205-436E-8C0C-8BAB4B7B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1F50B-DF05-43A7-9B36-B803C2B89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9B4F8B-AC06-4B25-80DD-3BAF3D822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4677A-6874-4B15-ACA7-822132D65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CA72A-3BD7-4EBD-84CD-DBC722C3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openxmlformats.org/officeDocument/2006/relationships/image" Target="../media/image64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第十四讲</a:t>
            </a:r>
            <a:r>
              <a:rPr lang="en-US" altLang="zh-CN" sz="4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数学归纳法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第一数学归纳法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第二数学归纳法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良序原理及应用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第一数学归纳法导入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80FCCC-9A11-48CF-A2CE-D252C75A8799}"/>
              </a:ext>
            </a:extLst>
          </p:cNvPr>
          <p:cNvSpPr txBox="1"/>
          <p:nvPr/>
        </p:nvSpPr>
        <p:spPr>
          <a:xfrm>
            <a:off x="1436912" y="1813515"/>
            <a:ext cx="9318171" cy="138499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最基本的数学归纳法</a:t>
            </a:r>
            <a:r>
              <a:rPr lang="en-US" altLang="zh-CN" sz="2400">
                <a:solidFill>
                  <a:srgbClr val="C00000"/>
                </a:solidFill>
              </a:rPr>
              <a:t>(Mathematical Induction)</a:t>
            </a:r>
            <a:r>
              <a:rPr lang="zh-CN" altLang="en-US" sz="2400" b="1">
                <a:solidFill>
                  <a:srgbClr val="C00000"/>
                </a:solidFill>
              </a:rPr>
              <a:t>也称为第一数学归纳法</a:t>
            </a:r>
            <a:endParaRPr lang="en-US" altLang="zh-CN" sz="2400" b="1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中学时数学归纳法就用于证明与自然数或正整数有关的性质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特别是一些与自然数或正整数有关的数列、和式以及不等式的证明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E44462-0D88-4EC2-A7E5-B19C7311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77" y="4053828"/>
            <a:ext cx="8814842" cy="96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第一数学归纳法导入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E44462-0D88-4EC2-A7E5-B19C7311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83" y="1025376"/>
            <a:ext cx="7330432" cy="8004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234C643-55EE-411B-AB9B-56CA1441A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066" y="2040148"/>
            <a:ext cx="8233866" cy="4268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37D491-26C5-4689-AA4B-BAF302B2A037}"/>
                  </a:ext>
                </a:extLst>
              </p:cNvPr>
              <p:cNvSpPr txBox="1"/>
              <p:nvPr/>
            </p:nvSpPr>
            <p:spPr>
              <a:xfrm>
                <a:off x="496152" y="2801909"/>
                <a:ext cx="1374889" cy="12127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中学应掌握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zh-CN" altLang="en-US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等公式及其证明！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37D491-26C5-4689-AA4B-BAF302B2A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52" y="2801909"/>
                <a:ext cx="1374889" cy="1212768"/>
              </a:xfrm>
              <a:prstGeom prst="rect">
                <a:avLst/>
              </a:prstGeom>
              <a:blipFill>
                <a:blip r:embed="rId4"/>
                <a:stretch>
                  <a:fillRect l="-3540" t="-3015" r="-1327" b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19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第一数学归纳法的形式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A32F365-8001-4E44-855A-F23A95B4C620}"/>
                  </a:ext>
                </a:extLst>
              </p:cNvPr>
              <p:cNvSpPr txBox="1"/>
              <p:nvPr/>
            </p:nvSpPr>
            <p:spPr>
              <a:xfrm>
                <a:off x="605215" y="2274838"/>
                <a:ext cx="4664098" cy="29238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第一数学归纳法证明命题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成立，也即证明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也成立</a:t>
                </a:r>
              </a:p>
              <a:p>
                <a:pPr marL="800100" lvl="1" indent="-342900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这里假定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成立称为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归纳假设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A32F365-8001-4E44-855A-F23A95B4C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5" y="2274838"/>
                <a:ext cx="4664098" cy="2923877"/>
              </a:xfrm>
              <a:prstGeom prst="rect">
                <a:avLst/>
              </a:prstGeom>
              <a:blipFill>
                <a:blip r:embed="rId2"/>
                <a:stretch>
                  <a:fillRect l="-1961" t="-1458" b="-2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6709251-2B2B-4519-8E89-490ABD899522}"/>
                  </a:ext>
                </a:extLst>
              </p:cNvPr>
              <p:cNvSpPr txBox="1"/>
              <p:nvPr/>
            </p:nvSpPr>
            <p:spPr>
              <a:xfrm>
                <a:off x="5705679" y="1600658"/>
                <a:ext cx="5881106" cy="118628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归纳步是证明蕴涵式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400" b="1"/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⟹⋯⟹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⟹⋯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6709251-2B2B-4519-8E89-490ABD899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679" y="1600658"/>
                <a:ext cx="5881106" cy="1186287"/>
              </a:xfrm>
              <a:prstGeom prst="rect">
                <a:avLst/>
              </a:prstGeom>
              <a:blipFill>
                <a:blip r:embed="rId3"/>
                <a:stretch>
                  <a:fillRect l="-1658" t="-1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E8295F8-CC0A-4544-A32D-352448F4235B}"/>
              </a:ext>
            </a:extLst>
          </p:cNvPr>
          <p:cNvSpPr txBox="1"/>
          <p:nvPr/>
        </p:nvSpPr>
        <p:spPr>
          <a:xfrm>
            <a:off x="6314182" y="3256677"/>
            <a:ext cx="4664099" cy="239264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类似多米诺骨牌</a:t>
            </a: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归纳步对应于多米诺骨牌的每张牌倒下都可令它的下张牌倒下</a:t>
            </a:r>
          </a:p>
          <a:p>
            <a:pPr marL="342900" indent="-3429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归纳基对应于推到第一张骨牌，从而就可令所有牌都倒下</a:t>
            </a:r>
          </a:p>
        </p:txBody>
      </p:sp>
    </p:spTree>
    <p:extLst>
      <p:ext uri="{BB962C8B-B14F-4D97-AF65-F5344CB8AC3E}">
        <p14:creationId xmlns:p14="http://schemas.microsoft.com/office/powerpoint/2010/main" val="346909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数学归纳法证明的关键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C073F2B-7592-408E-AAEE-D9CE074BCB37}"/>
              </a:ext>
            </a:extLst>
          </p:cNvPr>
          <p:cNvGrpSpPr/>
          <p:nvPr/>
        </p:nvGrpSpPr>
        <p:grpSpPr>
          <a:xfrm>
            <a:off x="1146644" y="1291713"/>
            <a:ext cx="9898709" cy="1952458"/>
            <a:chOff x="620180" y="1470014"/>
            <a:chExt cx="9898709" cy="1952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F0908B9-91A7-41DB-A24E-0D8E78E2C73F}"/>
                    </a:ext>
                  </a:extLst>
                </p:cNvPr>
                <p:cNvSpPr txBox="1"/>
                <p:nvPr/>
              </p:nvSpPr>
              <p:spPr>
                <a:xfrm>
                  <a:off x="620180" y="1928470"/>
                  <a:ext cx="3979942" cy="98129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3600"/>
                    </a:lnSpc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使用数学归纳法证明的命题都能符号化为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𝒏𝑷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的形式</a:t>
                  </a: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F0908B9-91A7-41DB-A24E-0D8E78E2C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180" y="1928470"/>
                  <a:ext cx="3979942" cy="981294"/>
                </a:xfrm>
                <a:prstGeom prst="rect">
                  <a:avLst/>
                </a:prstGeom>
                <a:blipFill>
                  <a:blip r:embed="rId2"/>
                  <a:stretch>
                    <a:fillRect l="-2297" r="-2297" b="-136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FF61DFC-B04B-45A4-A510-0116A6D52EE8}"/>
                    </a:ext>
                  </a:extLst>
                </p:cNvPr>
                <p:cNvSpPr txBox="1"/>
                <p:nvPr/>
              </p:nvSpPr>
              <p:spPr>
                <a:xfrm>
                  <a:off x="5638800" y="1470014"/>
                  <a:ext cx="4880089" cy="195245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lnSpc>
                      <a:spcPts val="36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在整个证明过程中必须清楚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到底是什么</a:t>
                  </a:r>
                </a:p>
                <a:p>
                  <a:pPr marL="342900" indent="-342900">
                    <a:lnSpc>
                      <a:spcPts val="36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建议尽量使用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严谨的逻辑公式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给出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的具体形式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FF61DFC-B04B-45A4-A510-0116A6D52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1470014"/>
                  <a:ext cx="4880089" cy="1952458"/>
                </a:xfrm>
                <a:prstGeom prst="rect">
                  <a:avLst/>
                </a:prstGeom>
                <a:blipFill>
                  <a:blip r:embed="rId3"/>
                  <a:stretch>
                    <a:fillRect l="-1623" t="-1250" r="-749" b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9E109530-A8C5-4CC6-BA0E-D7C5668CA1A9}"/>
                </a:ext>
              </a:extLst>
            </p:cNvPr>
            <p:cNvSpPr/>
            <p:nvPr/>
          </p:nvSpPr>
          <p:spPr>
            <a:xfrm>
              <a:off x="4625724" y="2346755"/>
              <a:ext cx="977992" cy="1447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C9B99E4-0841-4A94-A256-C478C78BAE3C}"/>
              </a:ext>
            </a:extLst>
          </p:cNvPr>
          <p:cNvGrpSpPr/>
          <p:nvPr/>
        </p:nvGrpSpPr>
        <p:grpSpPr>
          <a:xfrm>
            <a:off x="1146644" y="3649668"/>
            <a:ext cx="9898709" cy="2427652"/>
            <a:chOff x="620180" y="3806119"/>
            <a:chExt cx="9898709" cy="2427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C3529ED-3C3E-4124-B843-D27EAAD90865}"/>
                    </a:ext>
                  </a:extLst>
                </p:cNvPr>
                <p:cNvSpPr txBox="1"/>
                <p:nvPr/>
              </p:nvSpPr>
              <p:spPr>
                <a:xfrm>
                  <a:off x="620180" y="4529297"/>
                  <a:ext cx="3979942" cy="98129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3600"/>
                    </a:lnSpc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归纳步是对任意自然数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证明</a:t>
                  </a:r>
                  <a:r>
                    <a:rPr lang="zh-CN" altLang="en-US" sz="2400" b="1">
                      <a:solidFill>
                        <a:srgbClr val="C00000"/>
                      </a:solidFill>
                    </a:rPr>
                    <a:t>蕴涵式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C3529ED-3C3E-4124-B843-D27EAAD90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180" y="4529297"/>
                  <a:ext cx="3979942" cy="981294"/>
                </a:xfrm>
                <a:prstGeom prst="rect">
                  <a:avLst/>
                </a:prstGeom>
                <a:blipFill>
                  <a:blip r:embed="rId4"/>
                  <a:stretch>
                    <a:fillRect b="-136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6B34141-A46F-461E-8879-2CBFE42343C7}"/>
                    </a:ext>
                  </a:extLst>
                </p:cNvPr>
                <p:cNvSpPr txBox="1"/>
                <p:nvPr/>
              </p:nvSpPr>
              <p:spPr>
                <a:xfrm>
                  <a:off x="5638800" y="3806119"/>
                  <a:ext cx="4880089" cy="242765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lnSpc>
                      <a:spcPts val="36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证明的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主要目标是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，应利用归纳假设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作为附加前提证明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lnSpc>
                      <a:spcPts val="36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建议在明确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的基础上给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出归纳假设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zh-CN" altLang="en-US" sz="2400" b="1">
                      <a:solidFill>
                        <a:srgbClr val="C00000"/>
                      </a:solidFill>
                      <a:latin typeface="+mn-ea"/>
                    </a:rPr>
                    <a:t>的具体含义</a:t>
                  </a:r>
                  <a:endParaRPr lang="zh-CN" altLang="en-US" sz="2400" b="1">
                    <a:solidFill>
                      <a:srgbClr val="002060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6B34141-A46F-461E-8879-2CBFE4234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806119"/>
                  <a:ext cx="4880089" cy="2427652"/>
                </a:xfrm>
                <a:prstGeom prst="rect">
                  <a:avLst/>
                </a:prstGeom>
                <a:blipFill>
                  <a:blip r:embed="rId5"/>
                  <a:stretch>
                    <a:fillRect l="-1623" t="-1005" r="-1873" b="-57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CF8572D7-D345-410D-88B8-7F4CD458BC7B}"/>
                </a:ext>
              </a:extLst>
            </p:cNvPr>
            <p:cNvSpPr/>
            <p:nvPr/>
          </p:nvSpPr>
          <p:spPr>
            <a:xfrm>
              <a:off x="4625724" y="4947582"/>
              <a:ext cx="1013076" cy="1447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27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数学归纳法证明常见错误举例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86392E-39C9-46EE-96C2-A762DC5EE3BB}"/>
                  </a:ext>
                </a:extLst>
              </p:cNvPr>
              <p:cNvSpPr txBox="1"/>
              <p:nvPr/>
            </p:nvSpPr>
            <p:spPr>
              <a:xfrm>
                <a:off x="672639" y="1241800"/>
                <a:ext cx="10214641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试图证明：对任意正整数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是正整数且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𝐦𝐚𝐱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86392E-39C9-46EE-96C2-A762DC5E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9" y="1241800"/>
                <a:ext cx="10214641" cy="461665"/>
              </a:xfrm>
              <a:prstGeom prst="rect">
                <a:avLst/>
              </a:prstGeom>
              <a:blipFill>
                <a:blip r:embed="rId2"/>
                <a:stretch>
                  <a:fillRect l="-895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03AAF-1604-4AC1-80C3-2CC7331FD37A}"/>
                  </a:ext>
                </a:extLst>
              </p:cNvPr>
              <p:cNvSpPr txBox="1"/>
              <p:nvPr/>
            </p:nvSpPr>
            <p:spPr>
              <a:xfrm>
                <a:off x="672639" y="2071529"/>
                <a:ext cx="8854549" cy="20935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>
                    <a:solidFill>
                      <a:srgbClr val="C00000"/>
                    </a:solidFill>
                  </a:rPr>
                  <a:t>“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】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”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𝐦𝐚𝐱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都是正整数，则有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是正整数，假设当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是正整数时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。令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，根据归纳假设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03AAF-1604-4AC1-80C3-2CC7331FD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9" y="2071529"/>
                <a:ext cx="8854549" cy="2093586"/>
              </a:xfrm>
              <a:prstGeom prst="rect">
                <a:avLst/>
              </a:prstGeom>
              <a:blipFill>
                <a:blip r:embed="rId3"/>
                <a:stretch>
                  <a:fillRect l="-688" t="-2041" b="-3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8987BCC9-AAD7-42CE-A81D-3BAB295AD48C}"/>
              </a:ext>
            </a:extLst>
          </p:cNvPr>
          <p:cNvSpPr txBox="1"/>
          <p:nvPr/>
        </p:nvSpPr>
        <p:spPr>
          <a:xfrm>
            <a:off x="672639" y="4680513"/>
            <a:ext cx="361155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上述证明的错误在哪里？</a:t>
            </a:r>
          </a:p>
        </p:txBody>
      </p:sp>
    </p:spTree>
    <p:extLst>
      <p:ext uri="{BB962C8B-B14F-4D97-AF65-F5344CB8AC3E}">
        <p14:creationId xmlns:p14="http://schemas.microsoft.com/office/powerpoint/2010/main" val="307355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数学归纳法证明常见错误举例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86392E-39C9-46EE-96C2-A762DC5EE3BB}"/>
                  </a:ext>
                </a:extLst>
              </p:cNvPr>
              <p:cNvSpPr txBox="1"/>
              <p:nvPr/>
            </p:nvSpPr>
            <p:spPr>
              <a:xfrm>
                <a:off x="672639" y="1241800"/>
                <a:ext cx="10214641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试图证明：对任意正整数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是正整数且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𝐦𝐚𝐱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86392E-39C9-46EE-96C2-A762DC5E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9" y="1241800"/>
                <a:ext cx="10214641" cy="461665"/>
              </a:xfrm>
              <a:prstGeom prst="rect">
                <a:avLst/>
              </a:prstGeom>
              <a:blipFill>
                <a:blip r:embed="rId2"/>
                <a:stretch>
                  <a:fillRect l="-895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03AAF-1604-4AC1-80C3-2CC7331FD37A}"/>
                  </a:ext>
                </a:extLst>
              </p:cNvPr>
              <p:cNvSpPr txBox="1"/>
              <p:nvPr/>
            </p:nvSpPr>
            <p:spPr>
              <a:xfrm>
                <a:off x="672639" y="2071529"/>
                <a:ext cx="8854549" cy="20935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>
                    <a:solidFill>
                      <a:srgbClr val="C00000"/>
                    </a:solidFill>
                  </a:rPr>
                  <a:t>“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】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”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𝐦𝐚𝐱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都是正整数，则有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是正整数，假设当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是正整数时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。令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𝐦𝐚𝐱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𝒚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e>
                        </m:d>
                      </m:e>
                    </m:func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，根据归纳假设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F03AAF-1604-4AC1-80C3-2CC7331FD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9" y="2071529"/>
                <a:ext cx="8854549" cy="2093586"/>
              </a:xfrm>
              <a:prstGeom prst="rect">
                <a:avLst/>
              </a:prstGeom>
              <a:blipFill>
                <a:blip r:embed="rId3"/>
                <a:stretch>
                  <a:fillRect l="-688" t="-2041" b="-3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BB6F99-031F-4B2F-B683-71583B64DCC3}"/>
                  </a:ext>
                </a:extLst>
              </p:cNvPr>
              <p:cNvSpPr txBox="1"/>
              <p:nvPr/>
            </p:nvSpPr>
            <p:spPr>
              <a:xfrm>
                <a:off x="9699329" y="2088953"/>
                <a:ext cx="2043695" cy="14043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简单说，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不一定是正整数，不满足应用归纳假设的条件！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BB6F99-031F-4B2F-B683-71583B64D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329" y="2088953"/>
                <a:ext cx="2043695" cy="1404359"/>
              </a:xfrm>
              <a:prstGeom prst="rect">
                <a:avLst/>
              </a:prstGeom>
              <a:blipFill>
                <a:blip r:embed="rId4"/>
                <a:stretch>
                  <a:fillRect l="-2388" r="-2090" b="-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983FA1-86CA-4541-9C75-3A94E81CEE57}"/>
                  </a:ext>
                </a:extLst>
              </p:cNvPr>
              <p:cNvSpPr txBox="1"/>
              <p:nvPr/>
            </p:nvSpPr>
            <p:spPr>
              <a:xfrm>
                <a:off x="672639" y="4453527"/>
                <a:ext cx="5992938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</a:rPr>
                  <a:t>是：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func>
                          <m:func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zh-CN" altLang="en-US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6983FA1-86CA-4541-9C75-3A94E81CE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9" y="4453527"/>
                <a:ext cx="5992938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CD28BA7-63E4-4998-BD34-57C6FA508CA4}"/>
                  </a:ext>
                </a:extLst>
              </p:cNvPr>
              <p:cNvSpPr txBox="1"/>
              <p:nvPr/>
            </p:nvSpPr>
            <p:spPr>
              <a:xfrm>
                <a:off x="1001560" y="4922662"/>
                <a:ext cx="5335097" cy="10002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归纳步要证明</a:t>
                </a:r>
                <a:endParaRPr lang="en-US" altLang="zh-CN" b="1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func>
                            <m:func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b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func>
                            <m:func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b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CD28BA7-63E4-4998-BD34-57C6FA50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60" y="4922662"/>
                <a:ext cx="5335097" cy="1000274"/>
              </a:xfrm>
              <a:prstGeom prst="rect">
                <a:avLst/>
              </a:prstGeom>
              <a:blipFill>
                <a:blip r:embed="rId6"/>
                <a:stretch>
                  <a:fillRect t="-3659" b="-1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A6BA560C-7DFB-4C76-BD7E-C0F0602A1A41}"/>
              </a:ext>
            </a:extLst>
          </p:cNvPr>
          <p:cNvGrpSpPr/>
          <p:nvPr/>
        </p:nvGrpSpPr>
        <p:grpSpPr>
          <a:xfrm>
            <a:off x="6860117" y="4425876"/>
            <a:ext cx="5008992" cy="1638142"/>
            <a:chOff x="7057470" y="4607028"/>
            <a:chExt cx="5008992" cy="16381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9309579-4AD0-443B-B31C-DBED156950F5}"/>
                    </a:ext>
                  </a:extLst>
                </p:cNvPr>
                <p:cNvSpPr txBox="1"/>
                <p:nvPr/>
              </p:nvSpPr>
              <p:spPr>
                <a:xfrm>
                  <a:off x="7057470" y="4622824"/>
                  <a:ext cx="1891296" cy="57913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func>
                        <m:funcPr>
                          <m:ctrlPr>
                            <a:rPr lang="en-US" altLang="zh-C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6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altLang="zh-CN" sz="1600" b="1">
                      <a:solidFill>
                        <a:srgbClr val="00206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9309579-4AD0-443B-B31C-DBED15695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7470" y="4622824"/>
                  <a:ext cx="1891296" cy="579133"/>
                </a:xfrm>
                <a:prstGeom prst="rect">
                  <a:avLst/>
                </a:prstGeom>
                <a:blipFill>
                  <a:blip r:embed="rId7"/>
                  <a:stretch>
                    <a:fillRect b="-10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6348820-40D3-4316-8501-236E35D918C5}"/>
                    </a:ext>
                  </a:extLst>
                </p:cNvPr>
                <p:cNvSpPr txBox="1"/>
                <p:nvPr/>
              </p:nvSpPr>
              <p:spPr>
                <a:xfrm>
                  <a:off x="9222357" y="4607028"/>
                  <a:ext cx="1490011" cy="60529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000"/>
                    </a:lnSpc>
                  </a:pP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1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6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en-US" altLang="zh-CN" b="1">
                      <a:solidFill>
                        <a:srgbClr val="00206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6348820-40D3-4316-8501-236E35D91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2357" y="4607028"/>
                  <a:ext cx="1490011" cy="605294"/>
                </a:xfrm>
                <a:prstGeom prst="rect">
                  <a:avLst/>
                </a:prstGeom>
                <a:blipFill>
                  <a:blip r:embed="rId8"/>
                  <a:stretch>
                    <a:fillRect t="-59596" b="-939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97C508D-BE02-4616-A70C-ED79B48924C6}"/>
                    </a:ext>
                  </a:extLst>
                </p:cNvPr>
                <p:cNvSpPr txBox="1"/>
                <p:nvPr/>
              </p:nvSpPr>
              <p:spPr>
                <a:xfrm>
                  <a:off x="8336019" y="5414173"/>
                  <a:ext cx="2418049" cy="83099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</m:oMath>
                    </m:oMathPara>
                  </a14:m>
                  <a:endParaRPr lang="en-US" altLang="zh-CN" sz="1600" b="1" i="1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16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16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6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altLang="zh-CN" sz="1600" b="1" i="1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97C508D-BE02-4616-A70C-ED79B4892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6019" y="5414173"/>
                  <a:ext cx="2418049" cy="830997"/>
                </a:xfrm>
                <a:prstGeom prst="rect">
                  <a:avLst/>
                </a:prstGeom>
                <a:blipFill>
                  <a:blip r:embed="rId9"/>
                  <a:stretch>
                    <a:fillRect b="-7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B1B54E26-FC3B-4220-A501-13FC07C4ED29}"/>
                </a:ext>
              </a:extLst>
            </p:cNvPr>
            <p:cNvSpPr/>
            <p:nvPr/>
          </p:nvSpPr>
          <p:spPr>
            <a:xfrm>
              <a:off x="8948766" y="4882054"/>
              <a:ext cx="273591" cy="10438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3A610B0-4341-43A5-82B4-99D209D3C0B1}"/>
                    </a:ext>
                  </a:extLst>
                </p:cNvPr>
                <p:cNvSpPr txBox="1"/>
                <p:nvPr/>
              </p:nvSpPr>
              <p:spPr>
                <a:xfrm>
                  <a:off x="11184956" y="5053831"/>
                  <a:ext cx="881506" cy="57913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60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3A610B0-4341-43A5-82B4-99D209D3C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4956" y="5053831"/>
                  <a:ext cx="881506" cy="579133"/>
                </a:xfrm>
                <a:prstGeom prst="rect">
                  <a:avLst/>
                </a:prstGeom>
                <a:blipFill>
                  <a:blip r:embed="rId10"/>
                  <a:stretch>
                    <a:fillRect b="-2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7CB37411-3B12-42A1-BDD3-BEBFC4EB21C9}"/>
                </a:ext>
              </a:extLst>
            </p:cNvPr>
            <p:cNvSpPr/>
            <p:nvPr/>
          </p:nvSpPr>
          <p:spPr>
            <a:xfrm>
              <a:off x="10887281" y="5267044"/>
              <a:ext cx="297675" cy="152709"/>
            </a:xfrm>
            <a:prstGeom prst="rightArrow">
              <a:avLst/>
            </a:prstGeom>
            <a:solidFill>
              <a:schemeClr val="accent1">
                <a:alpha val="2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右大括号 19">
              <a:extLst>
                <a:ext uri="{FF2B5EF4-FFF2-40B4-BE49-F238E27FC236}">
                  <a16:creationId xmlns:a16="http://schemas.microsoft.com/office/drawing/2014/main" id="{88125B57-04AB-4521-A150-E51F431165B2}"/>
                </a:ext>
              </a:extLst>
            </p:cNvPr>
            <p:cNvSpPr/>
            <p:nvPr/>
          </p:nvSpPr>
          <p:spPr>
            <a:xfrm>
              <a:off x="10754068" y="4986440"/>
              <a:ext cx="164462" cy="653615"/>
            </a:xfrm>
            <a:prstGeom prst="rightBrace">
              <a:avLst>
                <a:gd name="adj1" fmla="val 68333"/>
                <a:gd name="adj2" fmla="val 5503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76D6B37-28E0-4FAA-A18D-FB0D7E1785EF}"/>
                </a:ext>
              </a:extLst>
            </p:cNvPr>
            <p:cNvSpPr txBox="1"/>
            <p:nvPr/>
          </p:nvSpPr>
          <p:spPr>
            <a:xfrm>
              <a:off x="10836299" y="5014576"/>
              <a:ext cx="265258" cy="369332"/>
            </a:xfrm>
            <a:prstGeom prst="rect">
              <a:avLst/>
            </a:prstGeom>
            <a:noFill/>
            <a:ln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？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E331087-95A1-402F-A85E-8F3C1C6CDA28}"/>
                </a:ext>
              </a:extLst>
            </p:cNvPr>
            <p:cNvSpPr txBox="1"/>
            <p:nvPr/>
          </p:nvSpPr>
          <p:spPr>
            <a:xfrm>
              <a:off x="7138085" y="5938116"/>
              <a:ext cx="1131328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C00000"/>
                  </a:solidFill>
                </a:rPr>
                <a:t>归纳假设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E8AF418-99F6-4831-B285-32C31CC75F09}"/>
                </a:ext>
              </a:extLst>
            </p:cNvPr>
            <p:cNvSpPr txBox="1"/>
            <p:nvPr/>
          </p:nvSpPr>
          <p:spPr>
            <a:xfrm>
              <a:off x="7071478" y="5223211"/>
              <a:ext cx="1131328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002060"/>
                  </a:solidFill>
                </a:rPr>
                <a:t>附加前提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3DAFCC9-13A3-42F5-B795-80FD39E84E47}"/>
                  </a:ext>
                </a:extLst>
              </p:cNvPr>
              <p:cNvSpPr txBox="1"/>
              <p:nvPr/>
            </p:nvSpPr>
            <p:spPr>
              <a:xfrm>
                <a:off x="9857652" y="3837883"/>
                <a:ext cx="1873564" cy="492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 algn="ctr"/>
                <a:r>
                  <a:rPr lang="zh-CN" altLang="en-US" sz="1600" b="1">
                    <a:solidFill>
                      <a:srgbClr val="C00000"/>
                    </a:solidFill>
                  </a:rPr>
                  <a:t>缺少条件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3DAFCC9-13A3-42F5-B795-80FD39E8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652" y="3837883"/>
                <a:ext cx="1873564" cy="492443"/>
              </a:xfrm>
              <a:prstGeom prst="rect">
                <a:avLst/>
              </a:prstGeom>
              <a:blipFill>
                <a:blip r:embed="rId11"/>
                <a:stretch>
                  <a:fillRect l="-1303" t="-1375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箭头: 下 27">
            <a:extLst>
              <a:ext uri="{FF2B5EF4-FFF2-40B4-BE49-F238E27FC236}">
                <a16:creationId xmlns:a16="http://schemas.microsoft.com/office/drawing/2014/main" id="{F7A20FA4-83F7-4F21-8F8E-FD37C0A5C4F5}"/>
              </a:ext>
            </a:extLst>
          </p:cNvPr>
          <p:cNvSpPr/>
          <p:nvPr/>
        </p:nvSpPr>
        <p:spPr>
          <a:xfrm>
            <a:off x="10771575" y="4358463"/>
            <a:ext cx="45719" cy="474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68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数学归纳法证明蕴涵式举例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474BCB-9FFB-45CF-8AE7-BF3C914E9857}"/>
              </a:ext>
            </a:extLst>
          </p:cNvPr>
          <p:cNvSpPr txBox="1"/>
          <p:nvPr/>
        </p:nvSpPr>
        <p:spPr>
          <a:xfrm>
            <a:off x="598637" y="1209689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/>
              <p:nvPr/>
            </p:nvSpPr>
            <p:spPr>
              <a:xfrm>
                <a:off x="598637" y="2016190"/>
                <a:ext cx="10624143" cy="146424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符号化命题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令论域是自然数，则待证命题可符号化为：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→∃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000" b="1"/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，要证明的命题是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，或简写为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2016190"/>
                <a:ext cx="10624143" cy="1464247"/>
              </a:xfrm>
              <a:prstGeom prst="rect">
                <a:avLst/>
              </a:prstGeom>
              <a:blipFill>
                <a:blip r:embed="rId2"/>
                <a:stretch>
                  <a:fillRect l="-574" t="-2917" b="-5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/>
              <p:nvPr/>
            </p:nvSpPr>
            <p:spPr>
              <a:xfrm>
                <a:off x="598637" y="3743119"/>
                <a:ext cx="4828557" cy="4397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sz="2000" b="1" dirty="0">
                    <a:solidFill>
                      <a:schemeClr val="accent4">
                        <a:lumMod val="50000"/>
                      </a:schemeClr>
                    </a:solidFill>
                  </a:rPr>
                  <a:t>命题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accent4">
                        <a:lumMod val="50000"/>
                      </a:schemeClr>
                    </a:solidFill>
                  </a:rPr>
                  <a:t>平凡成立！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3743119"/>
                <a:ext cx="4828557" cy="439736"/>
              </a:xfrm>
              <a:prstGeom prst="rect">
                <a:avLst/>
              </a:prstGeom>
              <a:blipFill>
                <a:blip r:embed="rId3"/>
                <a:stretch>
                  <a:fillRect l="-1263" t="-1389" b="-20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/>
              <p:nvPr/>
            </p:nvSpPr>
            <p:spPr>
              <a:xfrm>
                <a:off x="598638" y="4473324"/>
                <a:ext cx="5756113" cy="8244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归纳步</a:t>
                </a:r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要证明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8" y="4473324"/>
                <a:ext cx="5756113" cy="824456"/>
              </a:xfrm>
              <a:prstGeom prst="rect">
                <a:avLst/>
              </a:prstGeom>
              <a:blipFill>
                <a:blip r:embed="rId4"/>
                <a:stretch>
                  <a:fillRect l="-1059" t="-4444" b="-8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3CCA2814-EAE7-4557-BE24-C3F1162C4618}"/>
              </a:ext>
            </a:extLst>
          </p:cNvPr>
          <p:cNvGrpSpPr/>
          <p:nvPr/>
        </p:nvGrpSpPr>
        <p:grpSpPr>
          <a:xfrm>
            <a:off x="6354751" y="3840778"/>
            <a:ext cx="5111430" cy="2089546"/>
            <a:chOff x="6354751" y="3840778"/>
            <a:chExt cx="5111430" cy="2089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803A0E-89D5-4574-BEB9-FD3D2A53038A}"/>
                    </a:ext>
                  </a:extLst>
                </p:cNvPr>
                <p:cNvSpPr txBox="1"/>
                <p:nvPr/>
              </p:nvSpPr>
              <p:spPr>
                <a:xfrm>
                  <a:off x="7084954" y="3840778"/>
                  <a:ext cx="4381227" cy="208954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0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待证命题是蕴涵式时使用</a:t>
                  </a:r>
                  <a:r>
                    <a:rPr lang="zh-CN" altLang="en-US" sz="2000" b="1" dirty="0">
                      <a:solidFill>
                        <a:srgbClr val="C00000"/>
                      </a:solidFill>
                    </a:rPr>
                    <a:t>附加前提法</a:t>
                  </a:r>
                  <a:endParaRPr lang="en-US" altLang="zh-CN" sz="2000" b="1" dirty="0">
                    <a:solidFill>
                      <a:srgbClr val="C00000"/>
                    </a:solidFill>
                  </a:endParaRPr>
                </a:p>
                <a:p>
                  <a:pPr>
                    <a:lnSpc>
                      <a:spcPts val="2600"/>
                    </a:lnSpc>
                    <a:spcBef>
                      <a:spcPts val="600"/>
                    </a:spcBef>
                  </a:pPr>
                  <a:r>
                    <a:rPr lang="zh-CN" altLang="en-US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以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a14:m>
                  <a:r>
                    <a:rPr lang="zh-CN" altLang="en-US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及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zh-CN" altLang="en-US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为附加前提，分情况：</a:t>
                  </a:r>
                </a:p>
                <a:p>
                  <a:pPr marL="285750" indent="-285750">
                    <a:lnSpc>
                      <a:spcPts val="28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a14:m>
                  <a:r>
                    <a:rPr lang="zh-CN" altLang="en-US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，证明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endParaRPr lang="en-US" altLang="zh-CN" b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lnSpc>
                      <a:spcPts val="28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a14:m>
                  <a:r>
                    <a:rPr lang="zh-CN" altLang="en-US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，直接验证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b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803A0E-89D5-4574-BEB9-FD3D2A530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4954" y="3840778"/>
                  <a:ext cx="4381227" cy="2089546"/>
                </a:xfrm>
                <a:prstGeom prst="rect">
                  <a:avLst/>
                </a:prstGeom>
                <a:blipFill>
                  <a:blip r:embed="rId5"/>
                  <a:stretch>
                    <a:fillRect l="-1113" r="-6398" b="-11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8D9256AD-5061-4146-B9EE-3253E9F5AF91}"/>
                </a:ext>
              </a:extLst>
            </p:cNvPr>
            <p:cNvSpPr/>
            <p:nvPr/>
          </p:nvSpPr>
          <p:spPr>
            <a:xfrm>
              <a:off x="6354751" y="4829635"/>
              <a:ext cx="730203" cy="1118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4ACE98B-C6D5-4BA5-9643-DDD42CF029B2}"/>
                  </a:ext>
                </a:extLst>
              </p:cNvPr>
              <p:cNvSpPr txBox="1"/>
              <p:nvPr/>
            </p:nvSpPr>
            <p:spPr>
              <a:xfrm>
                <a:off x="598637" y="5565366"/>
                <a:ext cx="3236937" cy="4049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4">
                        <a:lumMod val="50000"/>
                      </a:schemeClr>
                    </a:solidFill>
                  </a:rPr>
                  <a:t>归纳假设是：</a:t>
                </a:r>
                <a:r>
                  <a:rPr lang="en-US" altLang="zh-CN" b="1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4ACE98B-C6D5-4BA5-9643-DDD42CF02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5565366"/>
                <a:ext cx="3236937" cy="404983"/>
              </a:xfrm>
              <a:prstGeom prst="rect">
                <a:avLst/>
              </a:prstGeom>
              <a:blipFill>
                <a:blip r:embed="rId6"/>
                <a:stretch>
                  <a:fillRect l="-1507" t="-3030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D8B11A-FE81-4F6A-88C4-712A3FBD20C1}"/>
                  </a:ext>
                </a:extLst>
              </p:cNvPr>
              <p:cNvSpPr txBox="1"/>
              <p:nvPr/>
            </p:nvSpPr>
            <p:spPr>
              <a:xfrm>
                <a:off x="5290142" y="5409287"/>
                <a:ext cx="1669823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时无法利用归纳假设！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DD8B11A-FE81-4F6A-88C4-712A3FBD2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142" y="5409287"/>
                <a:ext cx="1669823" cy="584775"/>
              </a:xfrm>
              <a:prstGeom prst="rect">
                <a:avLst/>
              </a:prstGeom>
              <a:blipFill>
                <a:blip r:embed="rId7"/>
                <a:stretch>
                  <a:fillRect l="-2190" t="-3125" r="-146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9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数学归纳法证明蕴涵式举例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474BCB-9FFB-45CF-8AE7-BF3C914E9857}"/>
              </a:ext>
            </a:extLst>
          </p:cNvPr>
          <p:cNvSpPr txBox="1"/>
          <p:nvPr/>
        </p:nvSpPr>
        <p:spPr>
          <a:xfrm>
            <a:off x="598637" y="1209689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/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论域是自然数，待证命题符号化为：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blipFill>
                <a:blip r:embed="rId2"/>
                <a:stretch>
                  <a:fillRect l="-587" t="-8333" b="-15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/>
              <p:nvPr/>
            </p:nvSpPr>
            <p:spPr>
              <a:xfrm>
                <a:off x="598636" y="2580894"/>
                <a:ext cx="4828557" cy="4397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命题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平凡成立！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2580894"/>
                <a:ext cx="4828557" cy="439736"/>
              </a:xfrm>
              <a:prstGeom prst="rect">
                <a:avLst/>
              </a:prstGeom>
              <a:blipFill>
                <a:blip r:embed="rId3"/>
                <a:stretch>
                  <a:fillRect l="-1263" t="-1370" b="-19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/>
              <p:nvPr/>
            </p:nvSpPr>
            <p:spPr>
              <a:xfrm>
                <a:off x="598636" y="3145598"/>
                <a:ext cx="10216281" cy="14927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，要证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，分情况考虑：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57200" indent="-457200">
                  <a:spcBef>
                    <a:spcPts val="600"/>
                  </a:spcBef>
                  <a:buAutoNum type="arabicPeriod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，则令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，即有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成立；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457200" indent="-457200">
                  <a:spcBef>
                    <a:spcPts val="600"/>
                  </a:spcBef>
                  <a:buAutoNum type="arabicPeriod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，按归纳假设有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成立，即存在自然数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。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3145598"/>
                <a:ext cx="10216281" cy="1492716"/>
              </a:xfrm>
              <a:prstGeom prst="rect">
                <a:avLst/>
              </a:prstGeom>
              <a:blipFill>
                <a:blip r:embed="rId4"/>
                <a:stretch>
                  <a:fillRect l="-597" t="-2041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2CA5366-F17F-44A2-B171-40F284EE0E1A}"/>
                  </a:ext>
                </a:extLst>
              </p:cNvPr>
              <p:cNvSpPr txBox="1"/>
              <p:nvPr/>
            </p:nvSpPr>
            <p:spPr>
              <a:xfrm>
                <a:off x="598636" y="4819902"/>
                <a:ext cx="10222859" cy="1385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300"/>
                  </a:spcBef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这时要证明的目标是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成立，即要存在自然数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比较知需要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′−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′−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，可令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。注意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必须是自然数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，因此这要求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时，注意到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，再由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，可令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2CA5366-F17F-44A2-B171-40F284EE0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4819902"/>
                <a:ext cx="10222859" cy="1385123"/>
              </a:xfrm>
              <a:prstGeom prst="rect">
                <a:avLst/>
              </a:prstGeom>
              <a:blipFill>
                <a:blip r:embed="rId5"/>
                <a:stretch>
                  <a:fillRect l="-477" t="-3084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ECA0010-700A-4DB9-8429-CFE46255E20A}"/>
              </a:ext>
            </a:extLst>
          </p:cNvPr>
          <p:cNvSpPr/>
          <p:nvPr/>
        </p:nvSpPr>
        <p:spPr>
          <a:xfrm>
            <a:off x="598636" y="4828558"/>
            <a:ext cx="10216281" cy="1355154"/>
          </a:xfrm>
          <a:prstGeom prst="roundRect">
            <a:avLst>
              <a:gd name="adj" fmla="val 938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F5FAE3-D697-46D0-95AC-FE701CDEDF5E}"/>
              </a:ext>
            </a:extLst>
          </p:cNvPr>
          <p:cNvSpPr txBox="1"/>
          <p:nvPr/>
        </p:nvSpPr>
        <p:spPr>
          <a:xfrm>
            <a:off x="9961561" y="5523056"/>
            <a:ext cx="1118331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进一步证明的思路</a:t>
            </a:r>
          </a:p>
        </p:txBody>
      </p:sp>
    </p:spTree>
    <p:extLst>
      <p:ext uri="{BB962C8B-B14F-4D97-AF65-F5344CB8AC3E}">
        <p14:creationId xmlns:p14="http://schemas.microsoft.com/office/powerpoint/2010/main" val="60324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数学归纳法证明蕴涵式举例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474BCB-9FFB-45CF-8AE7-BF3C914E9857}"/>
              </a:ext>
            </a:extLst>
          </p:cNvPr>
          <p:cNvSpPr txBox="1"/>
          <p:nvPr/>
        </p:nvSpPr>
        <p:spPr>
          <a:xfrm>
            <a:off x="598637" y="1209689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/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论域是自然数，待证命题符号化为：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blipFill>
                <a:blip r:embed="rId2"/>
                <a:stretch>
                  <a:fillRect l="-587" t="-8333" b="-15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/>
              <p:nvPr/>
            </p:nvSpPr>
            <p:spPr>
              <a:xfrm>
                <a:off x="598636" y="2580894"/>
                <a:ext cx="4828557" cy="4397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C00000"/>
                    </a:solidFill>
                  </a:rPr>
                  <a:t>归纳基：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命题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平凡成立！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2580894"/>
                <a:ext cx="4828557" cy="439736"/>
              </a:xfrm>
              <a:prstGeom prst="rect">
                <a:avLst/>
              </a:prstGeom>
              <a:blipFill>
                <a:blip r:embed="rId3"/>
                <a:stretch>
                  <a:fillRect l="-1263" t="-1370" b="-19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/>
              <p:nvPr/>
            </p:nvSpPr>
            <p:spPr>
              <a:xfrm>
                <a:off x="598636" y="3145598"/>
                <a:ext cx="10387321" cy="29800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，要证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，分情况考虑：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57200" indent="-457200">
                  <a:spcBef>
                    <a:spcPts val="600"/>
                  </a:spcBef>
                  <a:buAutoNum type="arabicPeriod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，则令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，即有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成立；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457200" indent="-457200">
                  <a:spcBef>
                    <a:spcPts val="600"/>
                  </a:spcBef>
                  <a:buAutoNum type="arabicPeriod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，按归纳假设有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成立，即存在自然数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，再分情况：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914400" lvl="1" indent="-457200">
                  <a:spcBef>
                    <a:spcPts val="600"/>
                  </a:spcBef>
                  <a:buAutoNum type="alphaLcParenR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，可令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成立；</a:t>
                </a:r>
                <a:endParaRPr lang="en-US" altLang="zh-CN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914400" lvl="1" indent="-457200">
                  <a:lnSpc>
                    <a:spcPts val="2600"/>
                  </a:lnSpc>
                  <a:spcBef>
                    <a:spcPts val="600"/>
                  </a:spcBef>
                  <a:buFontTx/>
                  <a:buAutoNum type="alphaLcParenR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，注意到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，可令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𝒔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′=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也成立。</a:t>
                </a:r>
                <a:endParaRPr lang="en-US" altLang="zh-CN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综上，根据数学归纳法，命题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成立。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3145598"/>
                <a:ext cx="10387321" cy="2980047"/>
              </a:xfrm>
              <a:prstGeom prst="rect">
                <a:avLst/>
              </a:prstGeom>
              <a:blipFill>
                <a:blip r:embed="rId4"/>
                <a:stretch>
                  <a:fillRect l="-587" t="-1022" r="-235" b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129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第一数学归纳法的一般形式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A132E2-55C1-4054-9EEC-E302294C0189}"/>
                  </a:ext>
                </a:extLst>
              </p:cNvPr>
              <p:cNvSpPr txBox="1"/>
              <p:nvPr/>
            </p:nvSpPr>
            <p:spPr>
              <a:xfrm>
                <a:off x="1147932" y="1087719"/>
                <a:ext cx="9896134" cy="285065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对命题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是常数</a:t>
                </a:r>
                <a:r>
                  <a:rPr lang="en-US" altLang="zh-CN" sz="2000" b="1">
                    <a:solidFill>
                      <a:schemeClr val="accent4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，严格运用第一数学归纳法</a:t>
                </a:r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归纳基是要证明蕴涵式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就是要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；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时，这个蕴涵式前件为假，整个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蕴涵式平凡成立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归纳步是证明对任意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成立（归纳假设）时，有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  <a:p>
                <a:pPr marL="742950" lvl="1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这时对于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要直接验证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，即要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而对于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，则由归纳假设有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成立，再证明也有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</a:p>
              <a:p>
                <a:pPr marL="1200150" lvl="2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也就是说，对于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的情况实际上是要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证明蕴涵式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CN" altLang="en-US" b="1"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0A132E2-55C1-4054-9EEC-E302294C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932" y="1087719"/>
                <a:ext cx="9896134" cy="2850652"/>
              </a:xfrm>
              <a:prstGeom prst="rect">
                <a:avLst/>
              </a:prstGeom>
              <a:blipFill>
                <a:blip r:embed="rId2"/>
                <a:stretch>
                  <a:fillRect l="-369" t="-214" r="-185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77E8B8-2632-4283-BC74-7C08AFFF43A6}"/>
                  </a:ext>
                </a:extLst>
              </p:cNvPr>
              <p:cNvSpPr txBox="1"/>
              <p:nvPr/>
            </p:nvSpPr>
            <p:spPr>
              <a:xfrm>
                <a:off x="1468082" y="4303657"/>
                <a:ext cx="9255834" cy="18543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一般形式的第一数学归纳法证明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归纳基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成立；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归纳步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，证明当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成立时也有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这里假定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成立是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归纳假设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77E8B8-2632-4283-BC74-7C08AFFF4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2" y="4303657"/>
                <a:ext cx="9255834" cy="1854354"/>
              </a:xfrm>
              <a:prstGeom prst="rect">
                <a:avLst/>
              </a:prstGeom>
              <a:blipFill>
                <a:blip r:embed="rId3"/>
                <a:stretch>
                  <a:fillRect l="-1054" t="-2303" r="-593" b="-4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下 3">
            <a:extLst>
              <a:ext uri="{FF2B5EF4-FFF2-40B4-BE49-F238E27FC236}">
                <a16:creationId xmlns:a16="http://schemas.microsoft.com/office/drawing/2014/main" id="{3E71E239-9BCF-4335-A652-C823EE0C6071}"/>
              </a:ext>
            </a:extLst>
          </p:cNvPr>
          <p:cNvSpPr/>
          <p:nvPr/>
        </p:nvSpPr>
        <p:spPr>
          <a:xfrm>
            <a:off x="6025830" y="3959843"/>
            <a:ext cx="124990" cy="3438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77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使用数学归纳法一般形式证明举例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474BCB-9FFB-45CF-8AE7-BF3C914E9857}"/>
              </a:ext>
            </a:extLst>
          </p:cNvPr>
          <p:cNvSpPr txBox="1"/>
          <p:nvPr/>
        </p:nvSpPr>
        <p:spPr>
          <a:xfrm>
            <a:off x="598637" y="1209689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/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论域是自然数，待证命题符号化为：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065AF1E-3F36-422B-975D-0B49FC198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8" y="2016190"/>
                <a:ext cx="10387320" cy="439736"/>
              </a:xfrm>
              <a:prstGeom prst="rect">
                <a:avLst/>
              </a:prstGeom>
              <a:blipFill>
                <a:blip r:embed="rId2"/>
                <a:stretch>
                  <a:fillRect l="-587" t="-8333" b="-15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/>
              <p:nvPr/>
            </p:nvSpPr>
            <p:spPr>
              <a:xfrm>
                <a:off x="598636" y="2580894"/>
                <a:ext cx="5137744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C00000"/>
                    </a:solidFill>
                  </a:rPr>
                  <a:t>归纳基：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显然成立，取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</a:rPr>
                  <a:t>即可！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5B7CF7-3D80-4DA9-82E3-40CDFFEE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2580894"/>
                <a:ext cx="5137744" cy="400110"/>
              </a:xfrm>
              <a:prstGeom prst="rect">
                <a:avLst/>
              </a:prstGeom>
              <a:blipFill>
                <a:blip r:embed="rId3"/>
                <a:stretch>
                  <a:fillRect l="-1186" t="-7576" r="-6168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/>
              <p:nvPr/>
            </p:nvSpPr>
            <p:spPr>
              <a:xfrm>
                <a:off x="598636" y="3131083"/>
                <a:ext cx="10038665" cy="25172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成立，即存在自然数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，分情况考虑：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57200" indent="-457200">
                  <a:lnSpc>
                    <a:spcPts val="3000"/>
                  </a:lnSpc>
                  <a:spcBef>
                    <a:spcPts val="600"/>
                  </a:spcBef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，可令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，从而有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成立； 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457200" indent="-457200">
                  <a:lnSpc>
                    <a:spcPts val="3000"/>
                  </a:lnSpc>
                  <a:spcBef>
                    <a:spcPts val="600"/>
                  </a:spcBef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，注意到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，可令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，从而有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也成立。</a:t>
                </a:r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综上，根据数学归纳法，命题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000" b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≥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𝟖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→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成立。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98EDD2-DAEA-4FA9-BBA1-DC3B73C8E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6" y="3131083"/>
                <a:ext cx="10038665" cy="2517228"/>
              </a:xfrm>
              <a:prstGeom prst="rect">
                <a:avLst/>
              </a:prstGeom>
              <a:blipFill>
                <a:blip r:embed="rId4"/>
                <a:stretch>
                  <a:fillRect l="-607" t="-1453" r="-486" b="-1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F395F9E-FFEB-4B9A-BBD9-E720BA53A714}"/>
              </a:ext>
            </a:extLst>
          </p:cNvPr>
          <p:cNvSpPr txBox="1"/>
          <p:nvPr/>
        </p:nvSpPr>
        <p:spPr>
          <a:xfrm>
            <a:off x="8111189" y="5678980"/>
            <a:ext cx="287476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这显然简化了证明的书写！</a:t>
            </a:r>
          </a:p>
        </p:txBody>
      </p:sp>
    </p:spTree>
    <p:extLst>
      <p:ext uri="{BB962C8B-B14F-4D97-AF65-F5344CB8AC3E}">
        <p14:creationId xmlns:p14="http://schemas.microsoft.com/office/powerpoint/2010/main" val="690662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数学归纳法证明中逻辑知识的运用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B16B3E-0996-4570-9504-2CBAC625B0C1}"/>
                  </a:ext>
                </a:extLst>
              </p:cNvPr>
              <p:cNvSpPr txBox="1"/>
              <p:nvPr/>
            </p:nvSpPr>
            <p:spPr>
              <a:xfrm>
                <a:off x="1369952" y="1042209"/>
                <a:ext cx="9452091" cy="300216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chemeClr val="accent2">
                        <a:lumMod val="50000"/>
                      </a:schemeClr>
                    </a:solidFill>
                  </a:rPr>
                  <a:t>养成用逻辑公式严谨表达需要证明的命题的习惯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特别是当命题是蕴涵式时：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数学证明很多时候是证明蕴涵式，通过这种符号化强化对蕴涵式的理解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通过逻辑分析可对归纳基不从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开始的数学归纳法证明有更深了解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归纳基不从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开始的形式是最基本形式（即从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开始的形式）的逻辑推论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这种逻辑分析的基础是要对蕴涵式的真值有正确的理解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B16B3E-0996-4570-9504-2CBAC625B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952" y="1042209"/>
                <a:ext cx="9452091" cy="3002169"/>
              </a:xfrm>
              <a:prstGeom prst="rect">
                <a:avLst/>
              </a:prstGeom>
              <a:blipFill>
                <a:blip r:embed="rId2"/>
                <a:stretch>
                  <a:fillRect l="-903" t="-2439" b="-2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6818100-A1E2-4A57-B2C8-5244CE457871}"/>
                  </a:ext>
                </a:extLst>
              </p:cNvPr>
              <p:cNvSpPr txBox="1"/>
              <p:nvPr/>
            </p:nvSpPr>
            <p:spPr>
              <a:xfrm>
                <a:off x="1698326" y="4416052"/>
                <a:ext cx="8795344" cy="1846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2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C00000"/>
                    </a:solidFill>
                  </a:rPr>
                  <a:t>用逻辑公式严谨表达命题能从更广阔的视野进行探索</a:t>
                </a:r>
                <a:endParaRPr lang="en-US" altLang="zh-CN" sz="24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,∃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可联想到不定方程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这个不定方程解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的上界与欧几里得算法、斐波那契数列有密切关系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华东师范大学附中</a:t>
                </a:r>
                <a:r>
                  <a:rPr lang="en-US" altLang="zh-CN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15</a:t>
                </a: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岁女生谈方琳对此进行了探讨，获得了好评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6818100-A1E2-4A57-B2C8-5244CE457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326" y="4416052"/>
                <a:ext cx="8795344" cy="1846659"/>
              </a:xfrm>
              <a:prstGeom prst="rect">
                <a:avLst/>
              </a:prstGeom>
              <a:blipFill>
                <a:blip r:embed="rId3"/>
                <a:stretch>
                  <a:fillRect l="-763" t="-2310" r="-693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82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第一数学归纳法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从数学归纳法开始探索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1DC48AE-C8C9-4360-9C39-FD9D2BC21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34" y="803072"/>
            <a:ext cx="3414199" cy="56987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7CAE0E4-9D57-4472-8FD2-E2B78AC73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67" y="791391"/>
            <a:ext cx="4302285" cy="573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09783C-E951-40C8-AAB2-AB7BBE3CA817}"/>
                  </a:ext>
                </a:extLst>
              </p:cNvPr>
              <p:cNvSpPr txBox="1"/>
              <p:nvPr/>
            </p:nvSpPr>
            <p:spPr>
              <a:xfrm>
                <a:off x="9203205" y="3190795"/>
                <a:ext cx="2519533" cy="10709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b="1" i="0">
                    <a:solidFill>
                      <a:schemeClr val="accent4">
                        <a:lumMod val="50000"/>
                      </a:schemeClr>
                    </a:solidFill>
                    <a:latin typeface="+mj-lt"/>
                  </a:rPr>
                  <a:t>中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的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s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和</a:t>
                </a:r>
                <a:r>
                  <a:rPr lang="en-US" altLang="zh-CN" b="1">
                    <a:solidFill>
                      <a:schemeClr val="accent4">
                        <a:lumMod val="50000"/>
                      </a:schemeClr>
                    </a:solidFill>
                  </a:rPr>
                  <a:t>t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贝祖数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，后面将讲到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贝祖定理</a:t>
                </a:r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的证明。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309783C-E951-40C8-AAB2-AB7BBE3CA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205" y="3190795"/>
                <a:ext cx="2519533" cy="1070934"/>
              </a:xfrm>
              <a:prstGeom prst="rect">
                <a:avLst/>
              </a:prstGeom>
              <a:blipFill>
                <a:blip r:embed="rId4"/>
                <a:stretch>
                  <a:fillRect l="-2179" r="-8959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17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第一数学归纳法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第二数学归纳法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良序原理及应用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641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第二数学归纳法的形式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2D1D80-6015-4EBF-AFBC-E00EC5F3DB64}"/>
                  </a:ext>
                </a:extLst>
              </p:cNvPr>
              <p:cNvSpPr txBox="1"/>
              <p:nvPr/>
            </p:nvSpPr>
            <p:spPr>
              <a:xfrm>
                <a:off x="1260862" y="1363869"/>
                <a:ext cx="9670273" cy="31947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第二数学归纳法证明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400" b="1"/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选择合适的自然数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逐一验证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都为真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𝒋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这里假定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成立都是归纳假设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2D1D80-6015-4EBF-AFBC-E00EC5F3D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862" y="1363869"/>
                <a:ext cx="9670273" cy="3194785"/>
              </a:xfrm>
              <a:prstGeom prst="rect">
                <a:avLst/>
              </a:prstGeom>
              <a:blipFill>
                <a:blip r:embed="rId2"/>
                <a:stretch>
                  <a:fillRect l="-883" t="-1145" r="-567" b="-3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D968C77-0C7D-491E-B421-9D26314F8812}"/>
              </a:ext>
            </a:extLst>
          </p:cNvPr>
          <p:cNvSpPr txBox="1"/>
          <p:nvPr/>
        </p:nvSpPr>
        <p:spPr>
          <a:xfrm>
            <a:off x="1583204" y="4925905"/>
            <a:ext cx="9025587" cy="946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zh-CN" altLang="en-US" sz="2400" b="1">
                <a:solidFill>
                  <a:schemeClr val="accent4">
                    <a:lumMod val="50000"/>
                  </a:schemeClr>
                </a:solidFill>
              </a:rPr>
              <a:t>第二数学归纳法，又称为</a:t>
            </a:r>
            <a:r>
              <a:rPr lang="zh-CN" altLang="en-US" sz="2400" b="1">
                <a:solidFill>
                  <a:srgbClr val="C00000"/>
                </a:solidFill>
              </a:rPr>
              <a:t>强归纳法</a:t>
            </a:r>
            <a:r>
              <a:rPr lang="en-US" altLang="zh-CN" sz="2400">
                <a:solidFill>
                  <a:schemeClr val="accent4">
                    <a:lumMod val="50000"/>
                  </a:schemeClr>
                </a:solidFill>
              </a:rPr>
              <a:t>(strong mathematical induction)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通过增强归纳假设简化第一数学归纳法的归纳步证明</a:t>
            </a:r>
          </a:p>
        </p:txBody>
      </p:sp>
    </p:spTree>
    <p:extLst>
      <p:ext uri="{BB962C8B-B14F-4D97-AF65-F5344CB8AC3E}">
        <p14:creationId xmlns:p14="http://schemas.microsoft.com/office/powerpoint/2010/main" val="2421706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第二数学归纳法举例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FAD55B-8835-4874-AF5E-60761D4139B8}"/>
              </a:ext>
            </a:extLst>
          </p:cNvPr>
          <p:cNvSpPr txBox="1"/>
          <p:nvPr/>
        </p:nvSpPr>
        <p:spPr>
          <a:xfrm>
            <a:off x="598637" y="1209689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C8408E-6F89-474C-B9F4-E0486D8148C2}"/>
                  </a:ext>
                </a:extLst>
              </p:cNvPr>
              <p:cNvSpPr txBox="1"/>
              <p:nvPr/>
            </p:nvSpPr>
            <p:spPr>
              <a:xfrm>
                <a:off x="1425870" y="1908647"/>
                <a:ext cx="9340257" cy="33393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验证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𝟏𝟎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𝟖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𝟗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⋯, 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都成立</a:t>
                </a:r>
              </a:p>
              <a:p>
                <a:pPr marL="800100" lvl="1" indent="-342900">
                  <a:lnSpc>
                    <a:spcPts val="34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考虑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，根据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归纳假设有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成立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，即存在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，取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成立。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综上由强归纳法有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C8408E-6F89-474C-B9F4-E0486D814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70" y="1908647"/>
                <a:ext cx="9340257" cy="3339376"/>
              </a:xfrm>
              <a:prstGeom prst="rect">
                <a:avLst/>
              </a:prstGeom>
              <a:blipFill>
                <a:blip r:embed="rId2"/>
                <a:stretch>
                  <a:fillRect l="-1044" t="-1277" r="-718" b="-2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FBDD5D-7DAD-4319-AF2E-83126446BC46}"/>
                  </a:ext>
                </a:extLst>
              </p:cNvPr>
              <p:cNvSpPr txBox="1"/>
              <p:nvPr/>
            </p:nvSpPr>
            <p:spPr>
              <a:xfrm>
                <a:off x="2724558" y="5406375"/>
                <a:ext cx="6742879" cy="7848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归纳步假定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也成立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可用的归纳假设增多，从而简化了归纳步的证明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FBDD5D-7DAD-4319-AF2E-83126446B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558" y="5406375"/>
                <a:ext cx="6742879" cy="784830"/>
              </a:xfrm>
              <a:prstGeom prst="rect">
                <a:avLst/>
              </a:prstGeom>
              <a:blipFill>
                <a:blip r:embed="rId3"/>
                <a:stretch>
                  <a:fillRect l="-995" t="-4651" b="-12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77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第二数学归纳法的归纳基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627BCA-403F-48B7-BBB3-7D8EFC0F93E7}"/>
                  </a:ext>
                </a:extLst>
              </p:cNvPr>
              <p:cNvSpPr txBox="1"/>
              <p:nvPr/>
            </p:nvSpPr>
            <p:spPr>
              <a:xfrm>
                <a:off x="1260862" y="1363869"/>
                <a:ext cx="9670273" cy="31947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第二数学归纳法证明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400" b="1"/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归纳基：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选择合适的自然数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逐一验证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都为真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归纳步：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对任意自然数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𝒌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𝒋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这里假定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成立都是归纳假设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627BCA-403F-48B7-BBB3-7D8EFC0F9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862" y="1363869"/>
                <a:ext cx="9670273" cy="3194785"/>
              </a:xfrm>
              <a:prstGeom prst="rect">
                <a:avLst/>
              </a:prstGeom>
              <a:blipFill>
                <a:blip r:embed="rId2"/>
                <a:stretch>
                  <a:fillRect l="-883" t="-1145" r="-567" b="-3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792B54-154F-4DE8-97F1-EFEA352D86A0}"/>
                  </a:ext>
                </a:extLst>
              </p:cNvPr>
              <p:cNvSpPr txBox="1"/>
              <p:nvPr/>
            </p:nvSpPr>
            <p:spPr>
              <a:xfrm>
                <a:off x="1745472" y="4920656"/>
                <a:ext cx="8701052" cy="9848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强归纳法的归纳基证明中如何选择合适的自然数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？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上述邮资支付例子中归纳基为什么要验证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𝟏𝟎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？</a:t>
                </a:r>
                <a:endParaRPr lang="zh-CN" altLang="en-US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792B54-154F-4DE8-97F1-EFEA352D8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472" y="4920656"/>
                <a:ext cx="8701052" cy="984885"/>
              </a:xfrm>
              <a:prstGeom prst="rect">
                <a:avLst/>
              </a:prstGeom>
              <a:blipFill>
                <a:blip r:embed="rId3"/>
                <a:stretch>
                  <a:fillRect l="-1050" t="-4321" r="-980" b="-117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95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第二数学归纳法的归纳基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458ACD8-31CE-450A-A18C-54C5E0688524}"/>
                  </a:ext>
                </a:extLst>
              </p:cNvPr>
              <p:cNvSpPr txBox="1"/>
              <p:nvPr/>
            </p:nvSpPr>
            <p:spPr>
              <a:xfrm>
                <a:off x="866158" y="1519614"/>
                <a:ext cx="10459682" cy="243143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虽然强归纳法归纳步证明的归纳假设是假定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但通常证明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只需用到其中部分命题，设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是用到的最前命题</a:t>
                </a: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是最大的自然数使得在证明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成立时要用到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用到的归纳假设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要在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4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之中，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因此要求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altLang="zh-CN" sz="2400" b="1" dirty="0">
                  <a:solidFill>
                    <a:srgbClr val="FF0000"/>
                  </a:solidFill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这意味着在归纳基需要验证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⋯, 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</m:t>
                        </m:r>
                      </m:e>
                    </m:d>
                  </m:oMath>
                </a14:m>
                <a:endPara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458ACD8-31CE-450A-A18C-54C5E0688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58" y="1519614"/>
                <a:ext cx="10459682" cy="2431435"/>
              </a:xfrm>
              <a:prstGeom prst="rect">
                <a:avLst/>
              </a:prstGeom>
              <a:blipFill>
                <a:blip r:embed="rId2"/>
                <a:stretch>
                  <a:fillRect l="-874" t="-2757" r="-408" b="-3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46F7879-3262-48A4-BF0A-51CF1CA9CC0F}"/>
                  </a:ext>
                </a:extLst>
              </p:cNvPr>
              <p:cNvSpPr txBox="1"/>
              <p:nvPr/>
            </p:nvSpPr>
            <p:spPr>
              <a:xfrm>
                <a:off x="1575530" y="4353472"/>
                <a:ext cx="9040938" cy="14465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强归纳法的归纳基部分要选择合适的自然数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由归纳步证明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时用到的最前命题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确定：要有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邮资支付例子中由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，归纳基需验证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46F7879-3262-48A4-BF0A-51CF1CA9C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530" y="4353472"/>
                <a:ext cx="9040938" cy="1446550"/>
              </a:xfrm>
              <a:prstGeom prst="rect">
                <a:avLst/>
              </a:prstGeom>
              <a:blipFill>
                <a:blip r:embed="rId3"/>
                <a:stretch>
                  <a:fillRect l="-1011" t="-2954" b="-6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691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数学归纳法练习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BE537C-2556-4257-AAB7-4F45148030C8}"/>
              </a:ext>
            </a:extLst>
          </p:cNvPr>
          <p:cNvSpPr txBox="1"/>
          <p:nvPr/>
        </p:nvSpPr>
        <p:spPr>
          <a:xfrm>
            <a:off x="598637" y="1176797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AAABEE-A8DB-4D6B-A21F-175D6C1147C1}"/>
                  </a:ext>
                </a:extLst>
              </p:cNvPr>
              <p:cNvSpPr txBox="1"/>
              <p:nvPr/>
            </p:nvSpPr>
            <p:spPr>
              <a:xfrm>
                <a:off x="652359" y="2578238"/>
                <a:ext cx="10887280" cy="249299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强归纳法证明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归纳步应该是对合适的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，假设</a:t>
                </a:r>
                <a:r>
                  <a:rPr lang="en-US" altLang="zh-CN" sz="2400" b="1" u="sng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en-US" altLang="zh-CN" sz="2400" b="1" u="sng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en-US" altLang="zh-CN" sz="2400" b="1" u="sng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⋯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en-US" altLang="zh-CN" sz="2400" b="1" u="sng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en-US" altLang="zh-CN" sz="2400" b="1" u="sng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en-US" altLang="zh-CN" sz="2400" b="1" u="sng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</a:p>
              <a:p>
                <a:pPr marL="342900" indent="-3429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在证明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时，应该用到归纳假设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</a:t>
                </a:r>
                <a:r>
                  <a:rPr lang="en-US" altLang="zh-CN" sz="2400" b="1" u="sng">
                    <a:solidFill>
                      <a:srgbClr val="C00000"/>
                    </a:solidFill>
                  </a:rPr>
                  <a:t>(3)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成立，从而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应满足</a:t>
                </a:r>
                <a:r>
                  <a:rPr lang="zh-CN" altLang="en-US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 </a:t>
                </a:r>
                <a:r>
                  <a:rPr lang="en-US" altLang="zh-CN" sz="2400" b="1" u="sng">
                    <a:solidFill>
                      <a:srgbClr val="C00000"/>
                    </a:solidFill>
                  </a:rPr>
                  <a:t>(4)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 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</a:t>
                </a:r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因此强归纳法的归纳基应该验证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⋯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,  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</a:t>
                </a:r>
                <a:r>
                  <a:rPr lang="en-US" altLang="zh-CN" sz="2400" b="1" u="sng">
                    <a:solidFill>
                      <a:srgbClr val="C00000"/>
                    </a:solidFill>
                  </a:rPr>
                  <a:t>(5)</a:t>
                </a:r>
                <a:r>
                  <a:rPr lang="en-US" altLang="zh-CN" sz="2400" b="1" u="sng">
                    <a:solidFill>
                      <a:schemeClr val="accent2">
                        <a:lumMod val="50000"/>
                      </a:schemeClr>
                    </a:solidFill>
                  </a:rPr>
                  <a:t>    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成立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AAABEE-A8DB-4D6B-A21F-175D6C114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59" y="2578238"/>
                <a:ext cx="10887280" cy="2492990"/>
              </a:xfrm>
              <a:prstGeom prst="rect">
                <a:avLst/>
              </a:prstGeom>
              <a:blipFill>
                <a:blip r:embed="rId2"/>
                <a:stretch>
                  <a:fillRect l="-840" t="-1711" r="-728" b="-1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/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表示命题“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分邮资可由若干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分和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7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分的邮票支付”，要证明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blipFill>
                <a:blip r:embed="rId3"/>
                <a:stretch>
                  <a:fillRect l="-661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774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数学归纳法练习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BE537C-2556-4257-AAB7-4F45148030C8}"/>
              </a:ext>
            </a:extLst>
          </p:cNvPr>
          <p:cNvSpPr txBox="1"/>
          <p:nvPr/>
        </p:nvSpPr>
        <p:spPr>
          <a:xfrm>
            <a:off x="598637" y="1176797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/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表示命题“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分邮资可由若干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分和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7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分的邮票支付”，要证明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blipFill>
                <a:blip r:embed="rId2"/>
                <a:stretch>
                  <a:fillRect l="-661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EC330C01-BE96-4180-8AC6-754241FDFD07}"/>
              </a:ext>
            </a:extLst>
          </p:cNvPr>
          <p:cNvGrpSpPr/>
          <p:nvPr/>
        </p:nvGrpSpPr>
        <p:grpSpPr>
          <a:xfrm>
            <a:off x="652359" y="2578238"/>
            <a:ext cx="10887280" cy="2416046"/>
            <a:chOff x="652359" y="2578238"/>
            <a:chExt cx="10887280" cy="2416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/>
                <p:nvPr/>
              </p:nvSpPr>
              <p:spPr>
                <a:xfrm>
                  <a:off x="652359" y="2578238"/>
                  <a:ext cx="10887280" cy="241604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12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强归纳法证明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归纳步应该是对合适的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，假设</a:t>
                  </a:r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⋯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成立，证明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</a:t>
                  </a:r>
                </a:p>
                <a:p>
                  <a:pPr marL="342900" indent="-342900">
                    <a:spcBef>
                      <a:spcPts val="120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在证明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时，应该用到归纳假设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成立，从而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应满足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。</a:t>
                  </a:r>
                  <a:r>
                    <a:rPr lang="en-US" altLang="zh-CN" sz="2400" b="1" u="sng">
                      <a:solidFill>
                        <a:schemeClr val="accent2">
                          <a:lumMod val="50000"/>
                        </a:schemeClr>
                      </a:solidFill>
                    </a:rPr>
                    <a:t>   </a:t>
                  </a:r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spcBef>
                      <a:spcPts val="120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因此强归纳法的归纳基应该验证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), ⋯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,  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>
                      <a:solidFill>
                        <a:srgbClr val="C00000"/>
                      </a:solidFill>
                    </a:rPr>
                    <a:t> 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成立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59" y="2578238"/>
                  <a:ext cx="10887280" cy="2416046"/>
                </a:xfrm>
                <a:prstGeom prst="rect">
                  <a:avLst/>
                </a:prstGeom>
                <a:blipFill>
                  <a:blip r:embed="rId3"/>
                  <a:stretch>
                    <a:fillRect l="-840" t="-1768" b="-50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247CD2E-4BD2-4A70-BC1F-96B85267E3F1}"/>
                </a:ext>
              </a:extLst>
            </p:cNvPr>
            <p:cNvCxnSpPr/>
            <p:nvPr/>
          </p:nvCxnSpPr>
          <p:spPr>
            <a:xfrm>
              <a:off x="5006176" y="3545767"/>
              <a:ext cx="901243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A7FE823-33BD-4E6B-8A4D-1774D433DF61}"/>
                </a:ext>
              </a:extLst>
            </p:cNvPr>
            <p:cNvCxnSpPr/>
            <p:nvPr/>
          </p:nvCxnSpPr>
          <p:spPr>
            <a:xfrm>
              <a:off x="6743975" y="3545767"/>
              <a:ext cx="901243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507A62D-816C-41F7-A505-1F3933B0608A}"/>
                </a:ext>
              </a:extLst>
            </p:cNvPr>
            <p:cNvCxnSpPr>
              <a:cxnSpLocks/>
            </p:cNvCxnSpPr>
            <p:nvPr/>
          </p:nvCxnSpPr>
          <p:spPr>
            <a:xfrm>
              <a:off x="6230858" y="4204705"/>
              <a:ext cx="1176440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DE76D23-07E3-4228-AAF7-02AED3FE48A1}"/>
                </a:ext>
              </a:extLst>
            </p:cNvPr>
            <p:cNvCxnSpPr>
              <a:cxnSpLocks/>
            </p:cNvCxnSpPr>
            <p:nvPr/>
          </p:nvCxnSpPr>
          <p:spPr>
            <a:xfrm>
              <a:off x="9994809" y="4204705"/>
              <a:ext cx="1176440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DA70D89-A564-4F65-AAC6-3D67F275084C}"/>
                </a:ext>
              </a:extLst>
            </p:cNvPr>
            <p:cNvCxnSpPr>
              <a:cxnSpLocks/>
            </p:cNvCxnSpPr>
            <p:nvPr/>
          </p:nvCxnSpPr>
          <p:spPr>
            <a:xfrm>
              <a:off x="6743975" y="4876800"/>
              <a:ext cx="1025136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5389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数学归纳法练习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BE537C-2556-4257-AAB7-4F45148030C8}"/>
              </a:ext>
            </a:extLst>
          </p:cNvPr>
          <p:cNvSpPr txBox="1"/>
          <p:nvPr/>
        </p:nvSpPr>
        <p:spPr>
          <a:xfrm>
            <a:off x="598637" y="1176797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/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表示命题“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分邮资可由若干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分和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7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分的邮票支付”，要证明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blipFill>
                <a:blip r:embed="rId2"/>
                <a:stretch>
                  <a:fillRect l="-661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B2D57A91-D9E8-40CF-A787-2AD8F8FA3BD6}"/>
              </a:ext>
            </a:extLst>
          </p:cNvPr>
          <p:cNvGrpSpPr/>
          <p:nvPr/>
        </p:nvGrpSpPr>
        <p:grpSpPr>
          <a:xfrm>
            <a:off x="652359" y="2578238"/>
            <a:ext cx="10887280" cy="3474093"/>
            <a:chOff x="652359" y="2578238"/>
            <a:chExt cx="10887280" cy="34740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/>
                <p:nvPr/>
              </p:nvSpPr>
              <p:spPr>
                <a:xfrm>
                  <a:off x="652359" y="2578238"/>
                  <a:ext cx="10887280" cy="34740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第一数学归纳法证明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归纳基验证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成立；归纳步对任意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，假定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成立，证明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意味着存在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使得       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+mn-ea"/>
                    </a:rPr>
                    <a:t>(1)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  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成立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,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则要找到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使得           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+mn-ea"/>
                    </a:rPr>
                    <a:t>(2)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       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成立</a:t>
                  </a: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证明需要使用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表示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，注意上两式相减有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endParaRPr>
                </a:p>
                <a:p>
                  <a:pPr marL="742950" lvl="1" indent="-28575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，因此当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时可令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𝒔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𝒕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，即在用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分邮资方案基础上，当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时将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(3)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分邮票换成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(4)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分邮票则可支付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</a:t>
                  </a:r>
                </a:p>
                <a:p>
                  <a:pPr marL="742950" lvl="1" indent="-28575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时，注意到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，必有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，从而利用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可令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′=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′=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，其直观含义是在支付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分邮资方案中将  </a:t>
                  </a:r>
                  <a:r>
                    <a:rPr lang="en-US" altLang="zh-CN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(5)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分邮票换成  </a:t>
                  </a:r>
                  <a:r>
                    <a:rPr lang="en-US" altLang="zh-CN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(6)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分邮票而支付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59" y="2578238"/>
                  <a:ext cx="10887280" cy="3474093"/>
                </a:xfrm>
                <a:prstGeom prst="rect">
                  <a:avLst/>
                </a:prstGeom>
                <a:blipFill>
                  <a:blip r:embed="rId3"/>
                  <a:stretch>
                    <a:fillRect l="-560" t="-1228" b="-19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ED5B494-7BD1-4259-95CB-188B9567C36A}"/>
                </a:ext>
              </a:extLst>
            </p:cNvPr>
            <p:cNvCxnSpPr/>
            <p:nvPr/>
          </p:nvCxnSpPr>
          <p:spPr>
            <a:xfrm>
              <a:off x="3670757" y="3822060"/>
              <a:ext cx="1322262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AB102C-8EDE-4F4D-BAA5-17A094FBF93B}"/>
                </a:ext>
              </a:extLst>
            </p:cNvPr>
            <p:cNvCxnSpPr>
              <a:cxnSpLocks/>
            </p:cNvCxnSpPr>
            <p:nvPr/>
          </p:nvCxnSpPr>
          <p:spPr>
            <a:xfrm>
              <a:off x="8651715" y="3829734"/>
              <a:ext cx="1847439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0EA8FAE-E0F3-4DA7-AAB7-5D72724AC85B}"/>
                </a:ext>
              </a:extLst>
            </p:cNvPr>
            <p:cNvCxnSpPr/>
            <p:nvPr/>
          </p:nvCxnSpPr>
          <p:spPr>
            <a:xfrm>
              <a:off x="5394302" y="5091695"/>
              <a:ext cx="57232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122661D-7B39-4933-AFCC-FC7C0AF0BC85}"/>
                </a:ext>
              </a:extLst>
            </p:cNvPr>
            <p:cNvCxnSpPr/>
            <p:nvPr/>
          </p:nvCxnSpPr>
          <p:spPr>
            <a:xfrm>
              <a:off x="7513649" y="5091695"/>
              <a:ext cx="57232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35F1B27-C0FA-4DC6-BDAA-BB2BAF2B2469}"/>
                </a:ext>
              </a:extLst>
            </p:cNvPr>
            <p:cNvCxnSpPr>
              <a:cxnSpLocks/>
            </p:cNvCxnSpPr>
            <p:nvPr/>
          </p:nvCxnSpPr>
          <p:spPr>
            <a:xfrm>
              <a:off x="5342771" y="5941408"/>
              <a:ext cx="66990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B76F855-4CED-4C9C-BE50-BBD3741DDF9A}"/>
                </a:ext>
              </a:extLst>
            </p:cNvPr>
            <p:cNvCxnSpPr>
              <a:cxnSpLocks/>
            </p:cNvCxnSpPr>
            <p:nvPr/>
          </p:nvCxnSpPr>
          <p:spPr>
            <a:xfrm>
              <a:off x="7555312" y="5941408"/>
              <a:ext cx="753229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285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数学归纳法练习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BE537C-2556-4257-AAB7-4F45148030C8}"/>
              </a:ext>
            </a:extLst>
          </p:cNvPr>
          <p:cNvSpPr txBox="1"/>
          <p:nvPr/>
        </p:nvSpPr>
        <p:spPr>
          <a:xfrm>
            <a:off x="598637" y="1176797"/>
            <a:ext cx="92229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证明任意大于等于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分的邮资都可以由若干张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分和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分的邮票支付。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/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表示命题“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分邮资可由若干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分和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7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分的邮票支付”，要证明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1AA13B2-A396-484F-A728-AF4072E6A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7" y="1833582"/>
                <a:ext cx="9222940" cy="400110"/>
              </a:xfrm>
              <a:prstGeom prst="rect">
                <a:avLst/>
              </a:prstGeom>
              <a:blipFill>
                <a:blip r:embed="rId2"/>
                <a:stretch>
                  <a:fillRect l="-661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B2D57A91-D9E8-40CF-A787-2AD8F8FA3BD6}"/>
              </a:ext>
            </a:extLst>
          </p:cNvPr>
          <p:cNvGrpSpPr/>
          <p:nvPr/>
        </p:nvGrpSpPr>
        <p:grpSpPr>
          <a:xfrm>
            <a:off x="652359" y="2578238"/>
            <a:ext cx="10887280" cy="3473130"/>
            <a:chOff x="652359" y="2578238"/>
            <a:chExt cx="10887280" cy="3473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/>
                <p:nvPr/>
              </p:nvSpPr>
              <p:spPr>
                <a:xfrm>
                  <a:off x="652359" y="2578238"/>
                  <a:ext cx="10887280" cy="347313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第一数学归纳法证明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归纳基验证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成立；归纳步对任意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，假定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成立，证明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意味着存在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使得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成立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,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则要找到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使得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′+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成立</a:t>
                  </a: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证明需要使用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表示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  <a:latin typeface="+mn-ea"/>
                    </a:rPr>
                    <a:t>，注意上两式相减有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endParaRPr>
                </a:p>
                <a:p>
                  <a:pPr marL="742950" lvl="1" indent="-28575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注意到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，因此当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时可令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𝒔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𝒕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，即在用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分邮资方案基础上，当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时将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分邮票换成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分邮票则可支付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</a:t>
                  </a:r>
                </a:p>
                <a:p>
                  <a:pPr marL="742950" lvl="1" indent="-285750">
                    <a:lnSpc>
                      <a:spcPts val="28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当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时，注意到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，必有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，从而利用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可令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′=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𝒔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′=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𝒕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，其直观含义是在支付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分邮资方案中将 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7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分邮票换成   </a:t>
                  </a:r>
                  <a:r>
                    <a:rPr lang="en-US" altLang="zh-CN" sz="2000" b="1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张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分邮票而支付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𝒌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分邮资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AAABEE-A8DB-4D6B-A21F-175D6C114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59" y="2578238"/>
                  <a:ext cx="10887280" cy="3473130"/>
                </a:xfrm>
                <a:prstGeom prst="rect">
                  <a:avLst/>
                </a:prstGeom>
                <a:blipFill>
                  <a:blip r:embed="rId3"/>
                  <a:stretch>
                    <a:fillRect l="-560" t="-1228" b="-24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ED5B494-7BD1-4259-95CB-188B9567C36A}"/>
                </a:ext>
              </a:extLst>
            </p:cNvPr>
            <p:cNvCxnSpPr/>
            <p:nvPr/>
          </p:nvCxnSpPr>
          <p:spPr>
            <a:xfrm>
              <a:off x="3670757" y="3822060"/>
              <a:ext cx="1322262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AB102C-8EDE-4F4D-BAA5-17A094FBF93B}"/>
                </a:ext>
              </a:extLst>
            </p:cNvPr>
            <p:cNvCxnSpPr>
              <a:cxnSpLocks/>
            </p:cNvCxnSpPr>
            <p:nvPr/>
          </p:nvCxnSpPr>
          <p:spPr>
            <a:xfrm>
              <a:off x="8651715" y="3829734"/>
              <a:ext cx="1847439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0EA8FAE-E0F3-4DA7-AAB7-5D72724AC85B}"/>
                </a:ext>
              </a:extLst>
            </p:cNvPr>
            <p:cNvCxnSpPr/>
            <p:nvPr/>
          </p:nvCxnSpPr>
          <p:spPr>
            <a:xfrm>
              <a:off x="5394302" y="5091695"/>
              <a:ext cx="57232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122661D-7B39-4933-AFCC-FC7C0AF0BC85}"/>
                </a:ext>
              </a:extLst>
            </p:cNvPr>
            <p:cNvCxnSpPr/>
            <p:nvPr/>
          </p:nvCxnSpPr>
          <p:spPr>
            <a:xfrm>
              <a:off x="7513649" y="5091695"/>
              <a:ext cx="57232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35F1B27-C0FA-4DC6-BDAA-BB2BAF2B2469}"/>
                </a:ext>
              </a:extLst>
            </p:cNvPr>
            <p:cNvCxnSpPr>
              <a:cxnSpLocks/>
            </p:cNvCxnSpPr>
            <p:nvPr/>
          </p:nvCxnSpPr>
          <p:spPr>
            <a:xfrm>
              <a:off x="5342771" y="5941408"/>
              <a:ext cx="669902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B76F855-4CED-4C9C-BE50-BBD3741DDF9A}"/>
                </a:ext>
              </a:extLst>
            </p:cNvPr>
            <p:cNvCxnSpPr>
              <a:cxnSpLocks/>
            </p:cNvCxnSpPr>
            <p:nvPr/>
          </p:nvCxnSpPr>
          <p:spPr>
            <a:xfrm>
              <a:off x="7555312" y="5941408"/>
              <a:ext cx="753229" cy="0"/>
            </a:xfrm>
            <a:prstGeom prst="line">
              <a:avLst/>
            </a:prstGeom>
            <a:ln w="1587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3216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归纳法：引导从特殊到一般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45C07A-CFF9-4B32-8B14-EEDA82E54812}"/>
              </a:ext>
            </a:extLst>
          </p:cNvPr>
          <p:cNvSpPr txBox="1"/>
          <p:nvPr/>
        </p:nvSpPr>
        <p:spPr>
          <a:xfrm>
            <a:off x="598637" y="1176797"/>
            <a:ext cx="714577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的自然数都可表示成两个合数的和。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EB8D7B6-D79A-474D-AB2B-9F2F8E0D4A34}"/>
                  </a:ext>
                </a:extLst>
              </p:cNvPr>
              <p:cNvSpPr txBox="1"/>
              <p:nvPr/>
            </p:nvSpPr>
            <p:spPr>
              <a:xfrm>
                <a:off x="598635" y="2033637"/>
                <a:ext cx="8881267" cy="39395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用强归纳法证明大于等于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12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的自然数可表示成一个合数和一个偶合数的和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是“存在合数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是偶数，使得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”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归纳基：验证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；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归纳步：对任意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，利用归纳假设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成立证明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通过上述归纳证明可导出一个一般性的存在证明：对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(1)</a:t>
                </a: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(2)</a:t>
                </a: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(3)</a:t>
                </a: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zh-CN" b="1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EB8D7B6-D79A-474D-AB2B-9F2F8E0D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5" y="2033637"/>
                <a:ext cx="8881267" cy="3939540"/>
              </a:xfrm>
              <a:prstGeom prst="rect">
                <a:avLst/>
              </a:prstGeom>
              <a:blipFill>
                <a:blip r:embed="rId2"/>
                <a:stretch>
                  <a:fillRect l="-618" t="-929" r="-480" b="-1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5223AAC-AE5D-4411-A4A7-7511231D1CF5}"/>
              </a:ext>
            </a:extLst>
          </p:cNvPr>
          <p:cNvSpPr txBox="1"/>
          <p:nvPr/>
        </p:nvSpPr>
        <p:spPr>
          <a:xfrm>
            <a:off x="9545283" y="3147542"/>
            <a:ext cx="17959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详细证明见教材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9DC1ED-C116-4AE0-8E0E-8BA6FC53B209}"/>
              </a:ext>
            </a:extLst>
          </p:cNvPr>
          <p:cNvCxnSpPr/>
          <p:nvPr/>
        </p:nvCxnSpPr>
        <p:spPr>
          <a:xfrm>
            <a:off x="4604892" y="4611471"/>
            <a:ext cx="1868271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255EB1-3C91-429D-B420-4FBB897F7F90}"/>
              </a:ext>
            </a:extLst>
          </p:cNvPr>
          <p:cNvCxnSpPr>
            <a:cxnSpLocks/>
          </p:cNvCxnSpPr>
          <p:nvPr/>
        </p:nvCxnSpPr>
        <p:spPr>
          <a:xfrm>
            <a:off x="5039268" y="5046743"/>
            <a:ext cx="194043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25E101-0475-46FB-BD0B-78AD2D3A8DCB}"/>
              </a:ext>
            </a:extLst>
          </p:cNvPr>
          <p:cNvCxnSpPr>
            <a:cxnSpLocks/>
          </p:cNvCxnSpPr>
          <p:nvPr/>
        </p:nvCxnSpPr>
        <p:spPr>
          <a:xfrm>
            <a:off x="5045645" y="5455701"/>
            <a:ext cx="199984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49449F8-8F6C-DE4D-40B2-4EB2A3D307C9}"/>
              </a:ext>
            </a:extLst>
          </p:cNvPr>
          <p:cNvSpPr txBox="1"/>
          <p:nvPr/>
        </p:nvSpPr>
        <p:spPr>
          <a:xfrm>
            <a:off x="9995609" y="1103964"/>
            <a:ext cx="1538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略过</a:t>
            </a:r>
          </a:p>
        </p:txBody>
      </p:sp>
    </p:spTree>
    <p:extLst>
      <p:ext uri="{BB962C8B-B14F-4D97-AF65-F5344CB8AC3E}">
        <p14:creationId xmlns:p14="http://schemas.microsoft.com/office/powerpoint/2010/main" val="1016335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第二数学归纳法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归纳法：引导从特殊到一般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45C07A-CFF9-4B32-8B14-EEDA82E54812}"/>
              </a:ext>
            </a:extLst>
          </p:cNvPr>
          <p:cNvSpPr txBox="1"/>
          <p:nvPr/>
        </p:nvSpPr>
        <p:spPr>
          <a:xfrm>
            <a:off x="598637" y="1176797"/>
            <a:ext cx="714577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证明任意大于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的自然数都可表示成两个合数的和。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EB8D7B6-D79A-474D-AB2B-9F2F8E0D4A34}"/>
                  </a:ext>
                </a:extLst>
              </p:cNvPr>
              <p:cNvSpPr txBox="1"/>
              <p:nvPr/>
            </p:nvSpPr>
            <p:spPr>
              <a:xfrm>
                <a:off x="598635" y="2033637"/>
                <a:ext cx="8881267" cy="39395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用强归纳法证明大于等于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12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的自然数可表示成一个合数和一个偶合数的和</a:t>
                </a:r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是“存在合数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是偶数，使得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”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归纳基：验证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；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归纳步：对任意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，利用归纳假设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成立证明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成立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通过上述归纳证明可导出一个一般性的存在证明：对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US" altLang="zh-CN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914400" lvl="1" indent="-457200">
                  <a:spcBef>
                    <a:spcPts val="600"/>
                  </a:spcBef>
                  <a:spcAft>
                    <a:spcPts val="30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EB8D7B6-D79A-474D-AB2B-9F2F8E0D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35" y="2033637"/>
                <a:ext cx="8881267" cy="3939540"/>
              </a:xfrm>
              <a:prstGeom prst="rect">
                <a:avLst/>
              </a:prstGeom>
              <a:blipFill>
                <a:blip r:embed="rId4"/>
                <a:stretch>
                  <a:fillRect l="-618" t="-929" r="-480" b="-1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9DC1ED-C116-4AE0-8E0E-8BA6FC53B209}"/>
              </a:ext>
            </a:extLst>
          </p:cNvPr>
          <p:cNvCxnSpPr/>
          <p:nvPr/>
        </p:nvCxnSpPr>
        <p:spPr>
          <a:xfrm>
            <a:off x="4604892" y="4611471"/>
            <a:ext cx="1868271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255EB1-3C91-429D-B420-4FBB897F7F90}"/>
              </a:ext>
            </a:extLst>
          </p:cNvPr>
          <p:cNvCxnSpPr>
            <a:cxnSpLocks/>
          </p:cNvCxnSpPr>
          <p:nvPr/>
        </p:nvCxnSpPr>
        <p:spPr>
          <a:xfrm>
            <a:off x="5039268" y="5046743"/>
            <a:ext cx="194043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25E101-0475-46FB-BD0B-78AD2D3A8DCB}"/>
              </a:ext>
            </a:extLst>
          </p:cNvPr>
          <p:cNvCxnSpPr>
            <a:cxnSpLocks/>
          </p:cNvCxnSpPr>
          <p:nvPr/>
        </p:nvCxnSpPr>
        <p:spPr>
          <a:xfrm>
            <a:off x="5045645" y="5455701"/>
            <a:ext cx="199984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08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第一数学归纳法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第二数学归纳法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良序原理及应用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1270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良序原理及应用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良序原理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9AF423-21CC-4C4E-8B84-A294EB665F2F}"/>
                  </a:ext>
                </a:extLst>
              </p:cNvPr>
              <p:cNvSpPr txBox="1"/>
              <p:nvPr/>
            </p:nvSpPr>
            <p:spPr>
              <a:xfrm>
                <a:off x="1293754" y="1294695"/>
                <a:ext cx="9604488" cy="10464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良序原理</a:t>
                </a:r>
                <a:r>
                  <a:rPr lang="en-US" altLang="zh-CN" sz="2800" b="1">
                    <a:solidFill>
                      <a:srgbClr val="C00000"/>
                    </a:solidFill>
                  </a:rPr>
                  <a:t>(well-ordering principle)</a:t>
                </a:r>
                <a:endParaRPr lang="zh-CN" altLang="en-US" sz="28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自然数集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的良序性质：自然数集的任意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非空子集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都存在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最小的自然数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9AF423-21CC-4C4E-8B84-A294EB665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754" y="1294695"/>
                <a:ext cx="9604488" cy="1046440"/>
              </a:xfrm>
              <a:prstGeom prst="rect">
                <a:avLst/>
              </a:prstGeom>
              <a:blipFill>
                <a:blip r:embed="rId2"/>
                <a:stretch>
                  <a:fillRect l="-952" t="-6395" r="-888" b="-13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A681CC-6488-4797-80A6-B5A3F457B2C5}"/>
                  </a:ext>
                </a:extLst>
              </p:cNvPr>
              <p:cNvSpPr txBox="1"/>
              <p:nvPr/>
            </p:nvSpPr>
            <p:spPr>
              <a:xfrm>
                <a:off x="1792613" y="2738791"/>
                <a:ext cx="8606765" cy="23698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良序原理说明数学归纳法证明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的有效性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不成立的大于等于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构成的集合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根据良序原理，第一数学归纳法或强归纳法的证明过程表明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只能是空集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因此数学归纳法的证明表明对任意大于等于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的自然数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成立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A681CC-6488-4797-80A6-B5A3F457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613" y="2738791"/>
                <a:ext cx="8606765" cy="2369880"/>
              </a:xfrm>
              <a:prstGeom prst="rect">
                <a:avLst/>
              </a:prstGeom>
              <a:blipFill>
                <a:blip r:embed="rId4"/>
                <a:stretch>
                  <a:fillRect l="-1062" t="-1799" r="-283" b="-3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7F460AA-44B0-42F8-B6AC-C5FD307D6C9F}"/>
              </a:ext>
            </a:extLst>
          </p:cNvPr>
          <p:cNvSpPr txBox="1"/>
          <p:nvPr/>
        </p:nvSpPr>
        <p:spPr>
          <a:xfrm>
            <a:off x="817364" y="5506328"/>
            <a:ext cx="1055726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也可用数学归纳法证明自然数集的良序性质，因此良序原理与数学归纳法等价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4EC640-61C5-BF39-480A-FCBE21CDB419}"/>
              </a:ext>
            </a:extLst>
          </p:cNvPr>
          <p:cNvSpPr txBox="1"/>
          <p:nvPr/>
        </p:nvSpPr>
        <p:spPr>
          <a:xfrm>
            <a:off x="817364" y="36889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解释</a:t>
            </a:r>
          </a:p>
        </p:txBody>
      </p:sp>
    </p:spTree>
    <p:extLst>
      <p:ext uri="{BB962C8B-B14F-4D97-AF65-F5344CB8AC3E}">
        <p14:creationId xmlns:p14="http://schemas.microsoft.com/office/powerpoint/2010/main" val="2120542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良序原理及应用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良序原理证明贝祖定理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1614B8-91EE-4FED-A55C-9418B8042560}"/>
                  </a:ext>
                </a:extLst>
              </p:cNvPr>
              <p:cNvSpPr txBox="1"/>
              <p:nvPr/>
            </p:nvSpPr>
            <p:spPr>
              <a:xfrm>
                <a:off x="1533867" y="1276213"/>
                <a:ext cx="9124264" cy="10618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贝祖定理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：两个整数的最大公因数可表示成这两个整数的线性组合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是正整数，则存在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𝒂𝒔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𝒃𝒕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400" b="1" i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𝐠𝐜𝐝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1614B8-91EE-4FED-A55C-9418B804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867" y="1276213"/>
                <a:ext cx="9124264" cy="1061829"/>
              </a:xfrm>
              <a:prstGeom prst="rect">
                <a:avLst/>
              </a:prstGeom>
              <a:blipFill>
                <a:blip r:embed="rId2"/>
                <a:stretch>
                  <a:fillRect l="-869" t="-6857" r="-802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63A87FDD-12F0-432B-985F-86F9C84DC7DF}"/>
              </a:ext>
            </a:extLst>
          </p:cNvPr>
          <p:cNvGrpSpPr/>
          <p:nvPr/>
        </p:nvGrpSpPr>
        <p:grpSpPr>
          <a:xfrm>
            <a:off x="783135" y="2629733"/>
            <a:ext cx="10625730" cy="3544135"/>
            <a:chOff x="783135" y="2629733"/>
            <a:chExt cx="10625730" cy="354413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27B92DA-9B6C-4AC6-A3BE-31FFF86860BD}"/>
                </a:ext>
              </a:extLst>
            </p:cNvPr>
            <p:cNvGrpSpPr/>
            <p:nvPr/>
          </p:nvGrpSpPr>
          <p:grpSpPr>
            <a:xfrm>
              <a:off x="921719" y="2711009"/>
              <a:ext cx="10339660" cy="833177"/>
              <a:chOff x="926170" y="2685334"/>
              <a:chExt cx="10339660" cy="8331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id="{7F8AA24E-2BAB-47DF-A3E6-8932FF82E9FA}"/>
                      </a:ext>
                    </a:extLst>
                  </p:cNvPr>
                  <p:cNvSpPr txBox="1"/>
                  <p:nvPr/>
                </p:nvSpPr>
                <p:spPr>
                  <a:xfrm>
                    <a:off x="926170" y="2858572"/>
                    <a:ext cx="4476996" cy="46166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>
                        <a:solidFill>
                          <a:srgbClr val="C00000"/>
                        </a:solidFill>
                      </a:rPr>
                      <a:t>记</a:t>
                    </a:r>
                    <a14:m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d>
                          <m:dPr>
                            <m:begChr m:val="{"/>
                            <m:endChr m:val="}"/>
                            <m:sepChr m:val="∣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𝒂𝒔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𝒃𝒕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</m:oMath>
                    </a14:m>
                    <a:endParaRPr lang="zh-CN" altLang="en-US" sz="2400" b="1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id="{7F8AA24E-2BAB-47DF-A3E6-8932FF82E9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6170" y="2858572"/>
                    <a:ext cx="4476996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41" t="-9211" b="-302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5E6776BC-E209-4D8D-AD9E-F5292D2D4EDF}"/>
                      </a:ext>
                    </a:extLst>
                  </p:cNvPr>
                  <p:cNvSpPr txBox="1"/>
                  <p:nvPr/>
                </p:nvSpPr>
                <p:spPr>
                  <a:xfrm>
                    <a:off x="6614007" y="2685334"/>
                    <a:ext cx="4651823" cy="833177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30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是非空集</a:t>
                    </a:r>
                    <a:r>
                      <a:rPr lang="en-US" altLang="zh-CN" sz="2000" b="1">
                        <a:solidFill>
                          <a:srgbClr val="002060"/>
                        </a:solidFill>
                      </a:rPr>
                      <a:t>(</a:t>
                    </a: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因为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US" altLang="zh-CN" sz="2000" b="1">
                        <a:solidFill>
                          <a:srgbClr val="002060"/>
                        </a:solidFill>
                      </a:rPr>
                      <a:t>)</a:t>
                    </a: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，根据良序原理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存在最小正整数，记为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5E6776BC-E209-4D8D-AD9E-F5292D2D4E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4007" y="2685334"/>
                    <a:ext cx="4651823" cy="8331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442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箭头: 右 14">
                <a:extLst>
                  <a:ext uri="{FF2B5EF4-FFF2-40B4-BE49-F238E27FC236}">
                    <a16:creationId xmlns:a16="http://schemas.microsoft.com/office/drawing/2014/main" id="{8653B7FA-F50D-40BD-A363-5A750E9CE367}"/>
                  </a:ext>
                </a:extLst>
              </p:cNvPr>
              <p:cNvSpPr/>
              <p:nvPr/>
            </p:nvSpPr>
            <p:spPr>
              <a:xfrm>
                <a:off x="5403166" y="3024562"/>
                <a:ext cx="1197868" cy="11910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B6BBA20-9A28-4BE8-8169-7AFAE3F88846}"/>
                </a:ext>
              </a:extLst>
            </p:cNvPr>
            <p:cNvGrpSpPr/>
            <p:nvPr/>
          </p:nvGrpSpPr>
          <p:grpSpPr>
            <a:xfrm>
              <a:off x="982188" y="3821357"/>
              <a:ext cx="10218721" cy="2295179"/>
              <a:chOff x="679215" y="3875920"/>
              <a:chExt cx="10218721" cy="22951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C2CCFE98-CFC8-4B8C-85A5-E7AD4D966D92}"/>
                      </a:ext>
                    </a:extLst>
                  </p:cNvPr>
                  <p:cNvSpPr txBox="1"/>
                  <p:nvPr/>
                </p:nvSpPr>
                <p:spPr>
                  <a:xfrm>
                    <a:off x="679215" y="4177891"/>
                    <a:ext cx="2694586" cy="691728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ts val="2400"/>
                      </a:lnSpc>
                      <a:spcBef>
                        <a:spcPts val="600"/>
                      </a:spcBef>
                    </a:pPr>
                    <a:r>
                      <a:rPr lang="zh-CN" altLang="en-US" b="1" dirty="0">
                        <a:solidFill>
                          <a:srgbClr val="002060"/>
                        </a:solidFill>
                      </a:rPr>
                      <a:t>考虑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b="1" dirty="0">
                        <a:solidFill>
                          <a:srgbClr val="002060"/>
                        </a:solidFill>
                      </a:rPr>
                      <a:t>除以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 dirty="0">
                        <a:solidFill>
                          <a:srgbClr val="002060"/>
                        </a:solidFill>
                      </a:rPr>
                      <a:t>的</a:t>
                    </a:r>
                    <a:r>
                      <a:rPr lang="zh-CN" altLang="en-US" b="1" dirty="0">
                        <a:solidFill>
                          <a:srgbClr val="C00000"/>
                        </a:solidFill>
                      </a:rPr>
                      <a:t>余数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a14:m>
                    <a:r>
                      <a:rPr lang="zh-CN" altLang="en-US" b="1" dirty="0">
                        <a:solidFill>
                          <a:srgbClr val="002060"/>
                        </a:solidFill>
                      </a:rPr>
                      <a:t>，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𝒒𝒅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zh-CN" alt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&lt; 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endParaRPr lang="zh-CN" altLang="en-US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C2CCFE98-CFC8-4B8C-85A5-E7AD4D966D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215" y="4177891"/>
                    <a:ext cx="2694586" cy="69172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754" b="-701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4C1D3AAF-EF5D-40A0-B393-396F31531F87}"/>
                      </a:ext>
                    </a:extLst>
                  </p:cNvPr>
                  <p:cNvSpPr txBox="1"/>
                  <p:nvPr/>
                </p:nvSpPr>
                <p:spPr>
                  <a:xfrm>
                    <a:off x="3934260" y="3875920"/>
                    <a:ext cx="3748036" cy="1307281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ts val="2400"/>
                      </a:lnSpc>
                    </a:pPr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若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是正整数，由于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𝒒𝒅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，则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a14:m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属于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且小于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，与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的最小正整数矛盾！因此有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，即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的因子。</a:t>
                    </a:r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4C1D3AAF-EF5D-40A0-B393-396F31531F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4260" y="3875920"/>
                    <a:ext cx="3748036" cy="130728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01" t="-1402" r="-7480" b="-700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BC3FF84-FDC9-4DBD-B5F4-1067E4A4EF34}"/>
                      </a:ext>
                    </a:extLst>
                  </p:cNvPr>
                  <p:cNvSpPr txBox="1"/>
                  <p:nvPr/>
                </p:nvSpPr>
                <p:spPr>
                  <a:xfrm>
                    <a:off x="4485232" y="5479371"/>
                    <a:ext cx="2442849" cy="691728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400"/>
                      </a:lnSpc>
                    </a:pPr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同理可证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的因子，因此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和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的公因子</a:t>
                    </a:r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BC3FF84-FDC9-4DBD-B5F4-1067E4A4EF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85232" y="5479371"/>
                    <a:ext cx="2442849" cy="69172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95" t="-2655" r="-11471" b="-1415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5D74987E-B34C-49CD-A3D2-F45B673D082D}"/>
                      </a:ext>
                    </a:extLst>
                  </p:cNvPr>
                  <p:cNvSpPr txBox="1"/>
                  <p:nvPr/>
                </p:nvSpPr>
                <p:spPr>
                  <a:xfrm>
                    <a:off x="8605263" y="4111199"/>
                    <a:ext cx="2142499" cy="92333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对任意正整数</a:t>
                    </a:r>
                    <a:r>
                      <a:rPr lang="en-US" altLang="zh-CN" b="1">
                        <a:solidFill>
                          <a:srgbClr val="002060"/>
                        </a:solidFill>
                      </a:rPr>
                      <a:t>c</a:t>
                    </a:r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，若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且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，则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，即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endParaRPr lang="zh-CN" altLang="en-US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5D74987E-B34C-49CD-A3D2-F45B673D08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5263" y="4111199"/>
                    <a:ext cx="2142499" cy="92333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73" t="-3289" r="-2273" b="-92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C735FF8-58B6-4A6C-A635-A26B598DB38F}"/>
                      </a:ext>
                    </a:extLst>
                  </p:cNvPr>
                  <p:cNvSpPr txBox="1"/>
                  <p:nvPr/>
                </p:nvSpPr>
                <p:spPr>
                  <a:xfrm>
                    <a:off x="8455087" y="5640569"/>
                    <a:ext cx="2442849" cy="369332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a14:m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和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a14:m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的最大公因子</a:t>
                    </a: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C735FF8-58B6-4A6C-A635-A26B598DB3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5087" y="5640569"/>
                    <a:ext cx="244284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197" r="-2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箭头: 右 15">
                <a:extLst>
                  <a:ext uri="{FF2B5EF4-FFF2-40B4-BE49-F238E27FC236}">
                    <a16:creationId xmlns:a16="http://schemas.microsoft.com/office/drawing/2014/main" id="{6F4A281C-377F-4B12-9067-D00F03BEFE78}"/>
                  </a:ext>
                </a:extLst>
              </p:cNvPr>
              <p:cNvSpPr/>
              <p:nvPr/>
            </p:nvSpPr>
            <p:spPr>
              <a:xfrm>
                <a:off x="3373801" y="4492771"/>
                <a:ext cx="560459" cy="8009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箭头: 下 18">
                <a:extLst>
                  <a:ext uri="{FF2B5EF4-FFF2-40B4-BE49-F238E27FC236}">
                    <a16:creationId xmlns:a16="http://schemas.microsoft.com/office/drawing/2014/main" id="{4F1D4671-9C01-4FA8-8758-5B64DE4C5309}"/>
                  </a:ext>
                </a:extLst>
              </p:cNvPr>
              <p:cNvSpPr/>
              <p:nvPr/>
            </p:nvSpPr>
            <p:spPr>
              <a:xfrm>
                <a:off x="5773401" y="5183201"/>
                <a:ext cx="60071" cy="29616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箭头: 下 19">
                <a:extLst>
                  <a:ext uri="{FF2B5EF4-FFF2-40B4-BE49-F238E27FC236}">
                    <a16:creationId xmlns:a16="http://schemas.microsoft.com/office/drawing/2014/main" id="{E02FC833-4948-4D3F-ABFF-C2B387B78911}"/>
                  </a:ext>
                </a:extLst>
              </p:cNvPr>
              <p:cNvSpPr/>
              <p:nvPr/>
            </p:nvSpPr>
            <p:spPr>
              <a:xfrm>
                <a:off x="9644584" y="5056389"/>
                <a:ext cx="60071" cy="57082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箭头: 右 20">
                <a:extLst>
                  <a:ext uri="{FF2B5EF4-FFF2-40B4-BE49-F238E27FC236}">
                    <a16:creationId xmlns:a16="http://schemas.microsoft.com/office/drawing/2014/main" id="{1E4DFB57-A782-4095-9CCE-2A83E9CF6DEF}"/>
                  </a:ext>
                </a:extLst>
              </p:cNvPr>
              <p:cNvSpPr/>
              <p:nvPr/>
            </p:nvSpPr>
            <p:spPr>
              <a:xfrm>
                <a:off x="6928081" y="5804478"/>
                <a:ext cx="1527006" cy="8009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67104F2-BE5C-44CB-A005-145EFC248B13}"/>
                </a:ext>
              </a:extLst>
            </p:cNvPr>
            <p:cNvSpPr/>
            <p:nvPr/>
          </p:nvSpPr>
          <p:spPr>
            <a:xfrm>
              <a:off x="783135" y="2629733"/>
              <a:ext cx="10625730" cy="3544135"/>
            </a:xfrm>
            <a:prstGeom prst="roundRect">
              <a:avLst>
                <a:gd name="adj" fmla="val 7670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280A33-46A2-45E4-B277-3EDFD7C76F55}"/>
                  </a:ext>
                </a:extLst>
              </p:cNvPr>
              <p:cNvSpPr txBox="1"/>
              <p:nvPr/>
            </p:nvSpPr>
            <p:spPr>
              <a:xfrm>
                <a:off x="1002514" y="5096086"/>
                <a:ext cx="2685683" cy="9927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 dirty="0">
                    <a:solidFill>
                      <a:srgbClr val="C00000"/>
                    </a:solidFill>
                  </a:rPr>
                  <a:t>带余数除法</a:t>
                </a:r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：对任意整数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和正整数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，存在整数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𝒒𝒃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sz="16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280A33-46A2-45E4-B277-3EDFD7C76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14" y="5096086"/>
                <a:ext cx="2685683" cy="992772"/>
              </a:xfrm>
              <a:prstGeom prst="rect">
                <a:avLst/>
              </a:prstGeom>
              <a:blipFill>
                <a:blip r:embed="rId10"/>
                <a:stretch>
                  <a:fillRect l="-1134" b="-7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箭头: 上 26">
            <a:extLst>
              <a:ext uri="{FF2B5EF4-FFF2-40B4-BE49-F238E27FC236}">
                <a16:creationId xmlns:a16="http://schemas.microsoft.com/office/drawing/2014/main" id="{A36D06DD-2C62-4486-AFB6-93DBA14D36F6}"/>
              </a:ext>
            </a:extLst>
          </p:cNvPr>
          <p:cNvSpPr/>
          <p:nvPr/>
        </p:nvSpPr>
        <p:spPr>
          <a:xfrm>
            <a:off x="2306621" y="4828151"/>
            <a:ext cx="45719" cy="24417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50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良序原理及应用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良序原理证明带余数除法定理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5D3D13-464B-49A5-A183-BC16B12780A7}"/>
                  </a:ext>
                </a:extLst>
              </p:cNvPr>
              <p:cNvSpPr txBox="1"/>
              <p:nvPr/>
            </p:nvSpPr>
            <p:spPr>
              <a:xfrm>
                <a:off x="783134" y="1282728"/>
                <a:ext cx="10625729" cy="11849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C00000"/>
                    </a:solidFill>
                  </a:rPr>
                  <a:t>带余数除法定理</a:t>
                </a:r>
                <a:endParaRPr lang="en-US" altLang="zh-CN" sz="28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和正整数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，存在整数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𝒒𝒃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sz="280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5D3D13-464B-49A5-A183-BC16B1278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4" y="1282728"/>
                <a:ext cx="10625729" cy="1184940"/>
              </a:xfrm>
              <a:prstGeom prst="rect">
                <a:avLst/>
              </a:prstGeom>
              <a:blipFill>
                <a:blip r:embed="rId2"/>
                <a:stretch>
                  <a:fillRect l="-1147" t="-5641" b="-11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DCBE37-1798-4498-87F4-B82E1957B253}"/>
                  </a:ext>
                </a:extLst>
              </p:cNvPr>
              <p:cNvSpPr txBox="1"/>
              <p:nvPr/>
            </p:nvSpPr>
            <p:spPr>
              <a:xfrm>
                <a:off x="783134" y="3276165"/>
                <a:ext cx="5319540" cy="8331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运用良序原理的关键在于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构造合适的非空自然数集合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，再利用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存在最小自然数进行证明！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DCBE37-1798-4498-87F4-B82E1957B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4" y="3276165"/>
                <a:ext cx="5319540" cy="833177"/>
              </a:xfrm>
              <a:prstGeom prst="rect">
                <a:avLst/>
              </a:prstGeom>
              <a:blipFill>
                <a:blip r:embed="rId3"/>
                <a:stretch>
                  <a:fillRect l="-1145" r="-1145" b="-11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7858FFF4-3BC4-4655-95FA-39FA854E7DD2}"/>
              </a:ext>
            </a:extLst>
          </p:cNvPr>
          <p:cNvSpPr txBox="1"/>
          <p:nvPr/>
        </p:nvSpPr>
        <p:spPr>
          <a:xfrm>
            <a:off x="1340451" y="4358416"/>
            <a:ext cx="420490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4">
                    <a:lumMod val="50000"/>
                  </a:schemeClr>
                </a:solidFill>
              </a:rPr>
              <a:t>这种构造具有技巧性，没有规律可遵循！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A906CB-77F1-4057-B289-37485BB7722E}"/>
                  </a:ext>
                </a:extLst>
              </p:cNvPr>
              <p:cNvSpPr txBox="1"/>
              <p:nvPr/>
            </p:nvSpPr>
            <p:spPr>
              <a:xfrm>
                <a:off x="7037655" y="3122469"/>
                <a:ext cx="3771065" cy="11405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b="1">
                    <a:solidFill>
                      <a:srgbClr val="002060"/>
                    </a:solidFill>
                  </a:rPr>
                  <a:t>带余数除法定理中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</a:rPr>
                  <a:t>是给定的，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</a:rPr>
                  <a:t>是整数而非自然数，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</a:rPr>
                  <a:t>，这意味着应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针对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的特点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构造自然数集合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zh-CN" altLang="en-US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6A906CB-77F1-4057-B289-37485BB77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655" y="3122469"/>
                <a:ext cx="3771065" cy="1140569"/>
              </a:xfrm>
              <a:prstGeom prst="rect">
                <a:avLst/>
              </a:prstGeom>
              <a:blipFill>
                <a:blip r:embed="rId4"/>
                <a:stretch>
                  <a:fillRect l="-1292" r="-162" b="-7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C21AE0F-6BD8-4842-8169-612FE6DFD0A1}"/>
                  </a:ext>
                </a:extLst>
              </p:cNvPr>
              <p:cNvSpPr txBox="1"/>
              <p:nvPr/>
            </p:nvSpPr>
            <p:spPr>
              <a:xfrm>
                <a:off x="6988152" y="4918154"/>
                <a:ext cx="3870073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，说明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为什么非空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，然后根据良序原理，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存在最小自然数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，再证明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即可！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C21AE0F-6BD8-4842-8169-612FE6DFD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152" y="4918154"/>
                <a:ext cx="3870073" cy="923330"/>
              </a:xfrm>
              <a:prstGeom prst="rect">
                <a:avLst/>
              </a:prstGeom>
              <a:blipFill>
                <a:blip r:embed="rId5"/>
                <a:stretch>
                  <a:fillRect l="-1260" t="-3974" r="-724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AD7C4B2B-97FF-4C45-92DC-3E2399CA9306}"/>
              </a:ext>
            </a:extLst>
          </p:cNvPr>
          <p:cNvSpPr txBox="1"/>
          <p:nvPr/>
        </p:nvSpPr>
        <p:spPr>
          <a:xfrm>
            <a:off x="878801" y="5440856"/>
            <a:ext cx="512820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带余数除法定理的具体证明作为课后的选做作业！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526C4B15-F0F2-428A-95C7-E12B77F7ABA6}"/>
              </a:ext>
            </a:extLst>
          </p:cNvPr>
          <p:cNvSpPr/>
          <p:nvPr/>
        </p:nvSpPr>
        <p:spPr>
          <a:xfrm>
            <a:off x="8859779" y="4263038"/>
            <a:ext cx="126815" cy="6818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B71A9D-17CD-7967-2C43-5CEEFCF6B847}"/>
              </a:ext>
            </a:extLst>
          </p:cNvPr>
          <p:cNvSpPr txBox="1"/>
          <p:nvPr/>
        </p:nvSpPr>
        <p:spPr>
          <a:xfrm>
            <a:off x="8153991" y="728537"/>
            <a:ext cx="1538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</a:rPr>
              <a:t>略过</a:t>
            </a:r>
          </a:p>
        </p:txBody>
      </p:sp>
    </p:spTree>
    <p:extLst>
      <p:ext uri="{BB962C8B-B14F-4D97-AF65-F5344CB8AC3E}">
        <p14:creationId xmlns:p14="http://schemas.microsoft.com/office/powerpoint/2010/main" val="179588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/>
              <p:nvPr/>
            </p:nvSpPr>
            <p:spPr>
              <a:xfrm>
                <a:off x="2262205" y="1068579"/>
                <a:ext cx="7667584" cy="246221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数学归纳法用于证明论域是自然数或正整数的命题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数学归纳法证明的关键在于将待证命题符号化为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的形式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+mn-ea"/>
                  </a:rPr>
                  <a:t>数学归纳法证明的归纳步要明确归纳假设到底是什么</a:t>
                </a:r>
                <a:endParaRPr lang="en-US" altLang="zh-CN" sz="2000" b="1">
                  <a:solidFill>
                    <a:schemeClr val="accent4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强归纳法通过增强归纳步中的归纳假设从而简化归纳步的证明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4">
                        <a:lumMod val="50000"/>
                      </a:schemeClr>
                    </a:solidFill>
                    <a:latin typeface="+mn-ea"/>
                  </a:rPr>
                  <a:t>强归纳法可能需要基于归纳步的需求而验证合适的归纳基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205" y="1068579"/>
                <a:ext cx="7667584" cy="2462213"/>
              </a:xfrm>
              <a:prstGeom prst="rect">
                <a:avLst/>
              </a:prstGeom>
              <a:blipFill>
                <a:blip r:embed="rId2"/>
                <a:stretch>
                  <a:fillRect l="-715" t="-1733" b="-3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B454D62-D95A-49D5-9CE8-5DF2CFBD3372}"/>
              </a:ext>
            </a:extLst>
          </p:cNvPr>
          <p:cNvSpPr txBox="1"/>
          <p:nvPr/>
        </p:nvSpPr>
        <p:spPr>
          <a:xfrm>
            <a:off x="2144356" y="3730918"/>
            <a:ext cx="7903282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</a:rPr>
              <a:t>良序原理指自然数集或正整数集的任意子集有最小元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良序集是自然数集、正整数集的基本性质，可用于证明一些基础命题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1864733" y="4792818"/>
            <a:ext cx="8462529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能使用基本的数学归纳法和强归纳法证明与自然数相关的命题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初步理解良序原理及其应用，初步理解良序原理与数学归纳法的等价性</a:t>
            </a: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987142" y="3013878"/>
            <a:ext cx="9103862" cy="1231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必做：教材练习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4.25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4.34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4.35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选做：教材练习</a:t>
            </a: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4.37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第十四讲  数学归纳法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5138</Words>
  <Application>Microsoft Office PowerPoint</Application>
  <PresentationFormat>宽屏</PresentationFormat>
  <Paragraphs>404</Paragraphs>
  <Slides>33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89</cp:revision>
  <dcterms:created xsi:type="dcterms:W3CDTF">2022-01-01T06:39:40Z</dcterms:created>
  <dcterms:modified xsi:type="dcterms:W3CDTF">2024-10-28T08:04:39Z</dcterms:modified>
</cp:coreProperties>
</file>