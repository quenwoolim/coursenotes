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57" r:id="rId4"/>
    <p:sldId id="285" r:id="rId5"/>
    <p:sldId id="281" r:id="rId6"/>
    <p:sldId id="282" r:id="rId7"/>
    <p:sldId id="288" r:id="rId8"/>
    <p:sldId id="286" r:id="rId9"/>
    <p:sldId id="289" r:id="rId10"/>
    <p:sldId id="290" r:id="rId11"/>
    <p:sldId id="287" r:id="rId12"/>
    <p:sldId id="284" r:id="rId13"/>
    <p:sldId id="291" r:id="rId14"/>
    <p:sldId id="294" r:id="rId15"/>
    <p:sldId id="292" r:id="rId16"/>
    <p:sldId id="295" r:id="rId17"/>
    <p:sldId id="261" r:id="rId18"/>
    <p:sldId id="297" r:id="rId19"/>
    <p:sldId id="283" r:id="rId20"/>
    <p:sldId id="296" r:id="rId21"/>
    <p:sldId id="298" r:id="rId22"/>
    <p:sldId id="300" r:id="rId23"/>
    <p:sldId id="301" r:id="rId24"/>
    <p:sldId id="303" r:id="rId25"/>
    <p:sldId id="302" r:id="rId26"/>
    <p:sldId id="299" r:id="rId27"/>
    <p:sldId id="304" r:id="rId28"/>
    <p:sldId id="306" r:id="rId29"/>
    <p:sldId id="305" r:id="rId30"/>
    <p:sldId id="272" r:id="rId31"/>
    <p:sldId id="280" r:id="rId32"/>
    <p:sldId id="262" r:id="rId33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7EC"/>
    <a:srgbClr val="FDF2EA"/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mooc1-1.chaoxing.com/course/216273730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1315614" y="1186782"/>
            <a:ext cx="9560767" cy="889686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>
                <a:latin typeface="仿宋" panose="02010609060101010101" pitchFamily="49" charset="-122"/>
                <a:ea typeface="仿宋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372231" y="2549433"/>
            <a:ext cx="34475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李绿周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608174" y="3600682"/>
            <a:ext cx="51774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843849" y="4559643"/>
            <a:ext cx="286676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2024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11</a:t>
            </a:r>
            <a:r>
              <a:rPr lang="zh-CN" altLang="en-US" sz="2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705232" y="5288692"/>
            <a:ext cx="9094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hlinkClick r:id="rId2"/>
              </a:rPr>
              <a:t>https://mooc1-1.chaoxing.com/course/216273730.html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algn="ctr"/>
            <a:r>
              <a:rPr lang="en-US" altLang="zh-CN" sz="2400" dirty="0">
                <a:solidFill>
                  <a:srgbClr val="FF0000"/>
                </a:solidFill>
              </a:rPr>
              <a:t>lilvzh@mail.sysu.edu.cn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649" y="3112777"/>
            <a:ext cx="1766582" cy="1560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19673" y="1597299"/>
            <a:ext cx="4733731" cy="2746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等价关系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3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偏序关系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等价关系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等价关系和等价类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579572" y="1405781"/>
                <a:ext cx="10393228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非空集合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上的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等价关系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是集合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上同时满足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自反性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、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对称性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传递性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的关系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72" y="1405781"/>
                <a:ext cx="10393228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4" t="-114" b="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70346" y="2716639"/>
                <a:ext cx="5689659" cy="276998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等价类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(equivalence class)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是非空集合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上的等价关系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∀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所在的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等价类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0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, 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定义为：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m:rPr>
                          <m:lit/>
                        </m:rP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即对任意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当且仅当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altLang="zh-CN" b="1">
                  <a:solidFill>
                    <a:schemeClr val="tx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800100" lvl="1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的每个元素所在的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等价类都是一个集合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346" y="2716639"/>
                <a:ext cx="5689659" cy="2769989"/>
              </a:xfrm>
              <a:prstGeom prst="rect">
                <a:avLst/>
              </a:prstGeom>
              <a:blipFill rotWithShape="1">
                <a:blip r:embed="rId3"/>
                <a:stretch>
                  <a:fillRect l="-2" t="-4" r="3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908860" y="2516583"/>
                <a:ext cx="4512794" cy="31700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商集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(quotient set)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是非空集合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上的等价关系</a:t>
                </a: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的所有等价类构成的集合称为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关于等价</a:t>
                </a:r>
                <a:r>
                  <a:rPr lang="zh-CN" altLang="en-US" sz="2000" b="1" i="0">
                    <a:solidFill>
                      <a:schemeClr val="accent6">
                        <a:lumMod val="50000"/>
                      </a:schemeClr>
                    </a:solidFill>
                    <a:latin typeface="+mj-lt"/>
                  </a:rPr>
                  <a:t>关系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商集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，即</a:t>
                </a:r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0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m:rPr>
                          <m:lit/>
                        </m:rPr>
                        <a:rPr lang="en-US" altLang="zh-CN" sz="20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742950" lvl="1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注意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是集合的集合，即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集合族</a:t>
                </a:r>
              </a:p>
              <a:p>
                <a:pPr marL="742950" lvl="1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注意要剔除重复的等价类</a:t>
                </a:r>
                <a:endParaRPr lang="en-US" altLang="zh-CN" b="1">
                  <a:solidFill>
                    <a:schemeClr val="tx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860" y="2516583"/>
                <a:ext cx="4512794" cy="3170099"/>
              </a:xfrm>
              <a:prstGeom prst="rect">
                <a:avLst/>
              </a:prstGeom>
              <a:blipFill rotWithShape="1">
                <a:blip r:embed="rId4"/>
                <a:stretch>
                  <a:fillRect l="-1" t="-2" r="1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等价关系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等价关系和等价类练习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24950" y="1376098"/>
                <a:ext cx="8354590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zh-CN" altLang="en-US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50" y="1376098"/>
                <a:ext cx="8354590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1" t="-11" b="-683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/>
          <p:cNvSpPr txBox="1"/>
          <p:nvPr/>
        </p:nvSpPr>
        <p:spPr>
          <a:xfrm>
            <a:off x="1187403" y="5220031"/>
            <a:ext cx="4256237" cy="6926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判断一个关系是否是等价关系，只需分别判断它是否是自反、对称和传递关系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756517" y="2630609"/>
            <a:ext cx="5118010" cy="2178160"/>
            <a:chOff x="756517" y="2630609"/>
            <a:chExt cx="5118010" cy="21781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756517" y="2630609"/>
                  <a:ext cx="5118010" cy="217816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1200"/>
                    </a:spcAft>
                  </a:pPr>
                  <a:r>
                    <a:rPr lang="zh-CN" altLang="en-US" sz="2800" b="1">
                      <a:solidFill>
                        <a:srgbClr val="C00000"/>
                      </a:solidFill>
                    </a:rPr>
                    <a:t>关系</a:t>
                  </a:r>
                  <a14:m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800" b="1">
                      <a:solidFill>
                        <a:srgbClr val="C00000"/>
                      </a:solidFill>
                    </a:rPr>
                    <a:t>是等价关系</a:t>
                  </a: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chemeClr val="tx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关系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400" b="1">
                      <a:solidFill>
                        <a:schemeClr val="tx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是自反的，因为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𝚫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altLang="zh-CN" sz="240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chemeClr val="tx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关系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400" b="1">
                      <a:solidFill>
                        <a:schemeClr val="tx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是对称的，因为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altLang="zh-CN" sz="240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chemeClr val="tx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关系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400" b="1">
                      <a:solidFill>
                        <a:schemeClr val="tx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是传递的，因为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altLang="zh-CN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endParaRPr lang="en-US" altLang="zh-CN" sz="240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517" y="2630609"/>
                  <a:ext cx="5118010" cy="217816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连接符 11"/>
            <p:cNvCxnSpPr/>
            <p:nvPr/>
          </p:nvCxnSpPr>
          <p:spPr>
            <a:xfrm>
              <a:off x="4223344" y="3683914"/>
              <a:ext cx="1322262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V="1">
              <a:off x="4223344" y="4197031"/>
              <a:ext cx="1322262" cy="1097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文本框 1"/>
            <p:cNvSpPr txBox="1"/>
            <p:nvPr/>
          </p:nvSpPr>
          <p:spPr>
            <a:xfrm>
              <a:off x="4223344" y="3298964"/>
              <a:ext cx="1192886" cy="380480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36000" bIns="3600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(1)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140020" y="3803395"/>
              <a:ext cx="1385852" cy="380480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36000" bIns="3600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(2)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327346" y="2442416"/>
            <a:ext cx="5108140" cy="2554545"/>
            <a:chOff x="6327346" y="2442416"/>
            <a:chExt cx="5108140" cy="25545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6327346" y="2442416"/>
                  <a:ext cx="5108140" cy="255454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chemeClr val="accent6">
                          <a:lumMod val="50000"/>
                        </a:schemeClr>
                      </a:solidFill>
                    </a:rPr>
                    <a:t>集合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sz="2400" b="1">
                      <a:solidFill>
                        <a:schemeClr val="accent6">
                          <a:lumMod val="50000"/>
                        </a:schemeClr>
                      </a:solidFill>
                    </a:rPr>
                    <a:t>的各个元素所在的等价类</a:t>
                  </a: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 </a:t>
                  </a: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因此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24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zh-CN" altLang="en-US" sz="2400" b="1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7346" y="2442416"/>
                  <a:ext cx="5108140" cy="255454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连接符 20"/>
            <p:cNvCxnSpPr/>
            <p:nvPr/>
          </p:nvCxnSpPr>
          <p:spPr>
            <a:xfrm>
              <a:off x="7802003" y="3409265"/>
              <a:ext cx="999919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7802003" y="3897164"/>
              <a:ext cx="999919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7802003" y="4449751"/>
              <a:ext cx="999919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10105545" y="3405428"/>
              <a:ext cx="999919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10105545" y="3897164"/>
              <a:ext cx="999919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8479580" y="4923398"/>
              <a:ext cx="1993260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7802003" y="3003568"/>
              <a:ext cx="999919" cy="380480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36000" bIns="3600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(3)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0093484" y="2999543"/>
              <a:ext cx="999919" cy="380480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36000" bIns="3600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(4)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802003" y="3491466"/>
              <a:ext cx="999919" cy="380480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36000" bIns="3600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(5)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0093483" y="3491278"/>
              <a:ext cx="999919" cy="380480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36000" bIns="3600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(6)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7802003" y="4047327"/>
              <a:ext cx="999919" cy="380480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36000" bIns="3600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(7)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8436819" y="4529905"/>
              <a:ext cx="2078781" cy="380480"/>
            </a:xfrm>
            <a:prstGeom prst="rect">
              <a:avLst/>
            </a:prstGeom>
            <a:solidFill>
              <a:srgbClr val="F0F7EC"/>
            </a:solidFill>
          </p:spPr>
          <p:txBody>
            <a:bodyPr wrap="square" tIns="36000" bIns="36000" rtlCol="0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C00000"/>
                  </a:solidFill>
                </a:rPr>
                <a:t>(8)</a:t>
              </a:r>
              <a:endParaRPr lang="zh-CN" altLang="en-US" sz="2000" b="1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等价关系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等价关系和等价类练习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24950" y="1376098"/>
                <a:ext cx="8354590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zh-CN" altLang="en-US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50" y="1376098"/>
                <a:ext cx="8354590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1" t="-11" b="-683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组合 30"/>
          <p:cNvGrpSpPr/>
          <p:nvPr/>
        </p:nvGrpSpPr>
        <p:grpSpPr>
          <a:xfrm>
            <a:off x="756517" y="2630609"/>
            <a:ext cx="5118010" cy="2178160"/>
            <a:chOff x="756517" y="2630609"/>
            <a:chExt cx="5118010" cy="21781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756517" y="2630609"/>
                  <a:ext cx="5118010" cy="217816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1200"/>
                    </a:spcAft>
                  </a:pPr>
                  <a:r>
                    <a:rPr lang="zh-CN" altLang="en-US" sz="2800" b="1">
                      <a:solidFill>
                        <a:srgbClr val="C00000"/>
                      </a:solidFill>
                    </a:rPr>
                    <a:t>关系</a:t>
                  </a:r>
                  <a14:m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800" b="1">
                      <a:solidFill>
                        <a:srgbClr val="C00000"/>
                      </a:solidFill>
                    </a:rPr>
                    <a:t>是等价关系</a:t>
                  </a: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chemeClr val="tx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关系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400" b="1">
                      <a:solidFill>
                        <a:schemeClr val="tx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是自反的，因为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𝚫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altLang="zh-CN" sz="240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chemeClr val="tx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关系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400" b="1">
                      <a:solidFill>
                        <a:schemeClr val="tx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是对称的，因为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altLang="zh-CN" sz="240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chemeClr val="tx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关系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400" b="1">
                      <a:solidFill>
                        <a:schemeClr val="tx2">
                          <a:lumMod val="50000"/>
                        </a:schemeClr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是传递的，因为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altLang="zh-CN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endParaRPr lang="en-US" altLang="zh-CN" sz="2400" b="1">
                    <a:solidFill>
                      <a:schemeClr val="tx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517" y="2630609"/>
                  <a:ext cx="5118010" cy="217816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接连接符 11"/>
            <p:cNvCxnSpPr/>
            <p:nvPr/>
          </p:nvCxnSpPr>
          <p:spPr>
            <a:xfrm>
              <a:off x="4223344" y="3683914"/>
              <a:ext cx="1322262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V="1">
              <a:off x="4223344" y="4197031"/>
              <a:ext cx="1322262" cy="1097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/>
        </p:nvGrpSpPr>
        <p:grpSpPr>
          <a:xfrm>
            <a:off x="6327346" y="2442416"/>
            <a:ext cx="5108140" cy="2554545"/>
            <a:chOff x="6327346" y="2442416"/>
            <a:chExt cx="5108140" cy="25545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6327346" y="2442416"/>
                  <a:ext cx="5108140" cy="255454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chemeClr val="accent6">
                          <a:lumMod val="50000"/>
                        </a:schemeClr>
                      </a:solidFill>
                    </a:rPr>
                    <a:t>集合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a14:m>
                  <a:r>
                    <a:rPr lang="zh-CN" altLang="en-US" sz="2400" b="1">
                      <a:solidFill>
                        <a:schemeClr val="accent6">
                          <a:lumMod val="50000"/>
                        </a:schemeClr>
                      </a:solidFill>
                    </a:rPr>
                    <a:t>的各个元素所在的等价类</a:t>
                  </a: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	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en-US" altLang="zh-CN" sz="240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  <a:p>
                  <a:pPr lvl="1"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r>
                    <a:rPr lang="en-US" altLang="zh-CN" sz="2400" b="1">
                      <a:solidFill>
                        <a:schemeClr val="accent2">
                          <a:lumMod val="50000"/>
                        </a:schemeClr>
                      </a:solidFill>
                    </a:rPr>
                    <a:t> </a:t>
                  </a: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zh-CN" altLang="en-US" sz="2400" b="1">
                      <a:solidFill>
                        <a:schemeClr val="accent6">
                          <a:lumMod val="50000"/>
                        </a:schemeClr>
                      </a:solidFill>
                    </a:rPr>
                    <a:t>因此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CN" sz="24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sz="24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4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m:rPr>
                          <m:lit/>
                        </m:rPr>
                        <a:rPr lang="en-US" altLang="zh-CN" sz="24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zh-CN" altLang="en-US" sz="2400" b="1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7346" y="2442416"/>
                  <a:ext cx="5108140" cy="2554545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连接符 20"/>
            <p:cNvCxnSpPr/>
            <p:nvPr/>
          </p:nvCxnSpPr>
          <p:spPr>
            <a:xfrm>
              <a:off x="7802003" y="3409265"/>
              <a:ext cx="999919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7802003" y="3897164"/>
              <a:ext cx="999919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7802003" y="4449751"/>
              <a:ext cx="999919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10105545" y="3405428"/>
              <a:ext cx="999919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10105545" y="3897164"/>
              <a:ext cx="999919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8479580" y="4923398"/>
              <a:ext cx="1993260" cy="0"/>
            </a:xfrm>
            <a:prstGeom prst="line">
              <a:avLst/>
            </a:prstGeom>
            <a:ln w="19050">
              <a:solidFill>
                <a:schemeClr val="tx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文本框 28"/>
          <p:cNvSpPr txBox="1"/>
          <p:nvPr/>
        </p:nvSpPr>
        <p:spPr>
          <a:xfrm>
            <a:off x="1618290" y="5206509"/>
            <a:ext cx="3394463" cy="6926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可利用关系性质的性质概括法定义说明一个关系具有某个性质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476924" y="5206509"/>
            <a:ext cx="2808984" cy="6926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每个等价类都是一个集合，商集是集合的集合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等价关系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等价关系和等价类举例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611792" y="1180756"/>
                <a:ext cx="6782349" cy="224676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是班上所有学生构成的集合，下面哪些是等价关系？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同一年出生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 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(2)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有相同姓氏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有共同的朋友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 b="1">
                    <a:solidFill>
                      <a:schemeClr val="tx2">
                        <a:lumMod val="50000"/>
                      </a:schemeClr>
                    </a:solidFill>
                  </a:rPr>
                  <a:t>(4)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000" b="1">
                    <a:solidFill>
                      <a:schemeClr val="tx2">
                        <a:lumMod val="50000"/>
                      </a:schemeClr>
                    </a:solidFill>
                  </a:rPr>
                  <a:t>选修同一门课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92" y="1180756"/>
                <a:ext cx="6782349" cy="2246769"/>
              </a:xfrm>
              <a:prstGeom prst="rect">
                <a:avLst/>
              </a:prstGeom>
              <a:blipFill rotWithShape="1">
                <a:blip r:embed="rId2"/>
                <a:stretch>
                  <a:fillRect l="-4" t="-13" r="3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11792" y="3654568"/>
                <a:ext cx="8321699" cy="25982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很多等价关系都概括了集合某些元素的某个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属性具有相同的值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因此很多等价关系本质上是相等关系，是元素某个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属性值相等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的关系</a:t>
                </a:r>
              </a:p>
              <a:p>
                <a:pPr marL="800100" lvl="1" indent="-342900">
                  <a:spcBef>
                    <a:spcPts val="3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班上同学出生年相同导出上述等价关系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，姓氏相同导出等价关系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zh-CN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虽然也是使用“共同”、“同一”等词汇定义</a:t>
                </a:r>
              </a:p>
              <a:p>
                <a:pPr marL="800100" lvl="1" indent="-342900">
                  <a:lnSpc>
                    <a:spcPts val="28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但“朋友”和 “选课”都是同学之间的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关系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，不是某一位同学的属性，因此它们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没有导出等价关系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92" y="3654568"/>
                <a:ext cx="8321699" cy="2598275"/>
              </a:xfrm>
              <a:prstGeom prst="rect">
                <a:avLst/>
              </a:prstGeom>
              <a:blipFill rotWithShape="1">
                <a:blip r:embed="rId3"/>
                <a:stretch>
                  <a:fillRect l="-3" t="-6" r="4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788707" y="1696239"/>
            <a:ext cx="415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rgbClr val="C00000"/>
                </a:solidFill>
              </a:rPr>
              <a:t>✔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88706" y="2119474"/>
            <a:ext cx="415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rgbClr val="C00000"/>
                </a:solidFill>
              </a:rPr>
              <a:t>✔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88707" y="256066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>
                <a:solidFill>
                  <a:srgbClr val="C00000"/>
                </a:solidFill>
              </a:rPr>
              <a:t>✘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88707" y="304465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>
                <a:solidFill>
                  <a:srgbClr val="C00000"/>
                </a:solidFill>
              </a:rPr>
              <a:t>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7546935" y="1180756"/>
                <a:ext cx="4118792" cy="174034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等价类</a:t>
                </a:r>
                <a:endParaRPr lang="en-US" altLang="zh-CN" sz="2000" b="1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对于班上某位学生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rgbClr val="C00000"/>
                    </a:solidFill>
                  </a:rPr>
                  <a:t>同年出生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的所有学生集合</a:t>
                </a:r>
                <a:endParaRPr lang="en-US" altLang="zh-CN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b="1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是与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rgbClr val="C00000"/>
                    </a:solidFill>
                  </a:rPr>
                  <a:t>姓氏相同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的所有学生集合</a:t>
                </a:r>
                <a:endParaRPr lang="zh-CN" altLang="en-US" b="1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935" y="1180756"/>
                <a:ext cx="4118792" cy="1740348"/>
              </a:xfrm>
              <a:prstGeom prst="rect">
                <a:avLst/>
              </a:prstGeom>
              <a:blipFill rotWithShape="1">
                <a:blip r:embed="rId4"/>
                <a:stretch>
                  <a:fillRect l="-14" t="-17" r="3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等价关系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等价关系证明举例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87216" y="1439545"/>
                <a:ext cx="6262654" cy="147527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，定义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证明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是等价关系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16" y="1439545"/>
                <a:ext cx="6262654" cy="1475276"/>
              </a:xfrm>
              <a:prstGeom prst="rect">
                <a:avLst/>
              </a:prstGeom>
              <a:blipFill rotWithShape="1">
                <a:blip r:embed="rId2"/>
                <a:stretch>
                  <a:fillRect l="-7" r="2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/>
          <p:cNvGrpSpPr/>
          <p:nvPr/>
        </p:nvGrpSpPr>
        <p:grpSpPr>
          <a:xfrm>
            <a:off x="787216" y="3239277"/>
            <a:ext cx="10617566" cy="2754024"/>
            <a:chOff x="787216" y="3239277"/>
            <a:chExt cx="10617566" cy="27540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787216" y="3239277"/>
                  <a:ext cx="10617566" cy="2754024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400" b="1">
                      <a:solidFill>
                        <a:srgbClr val="C00000"/>
                      </a:solidFill>
                      <a:latin typeface="Cambria Math" panose="02040503050406030204" pitchFamily="18" charset="0"/>
                    </a:rPr>
                    <a:t>【</a:t>
                  </a:r>
                  <a:r>
                    <a:rPr lang="zh-CN" altLang="en-US" sz="2400" b="1">
                      <a:solidFill>
                        <a:srgbClr val="C00000"/>
                      </a:solidFill>
                      <a:latin typeface="Cambria Math" panose="02040503050406030204" pitchFamily="18" charset="0"/>
                    </a:rPr>
                    <a:t>证明</a:t>
                  </a:r>
                  <a:r>
                    <a:rPr lang="en-US" altLang="zh-CN" sz="2400" b="1">
                      <a:solidFill>
                        <a:srgbClr val="C00000"/>
                      </a:solidFill>
                      <a:latin typeface="Cambria Math" panose="02040503050406030204" pitchFamily="18" charset="0"/>
                    </a:rPr>
                    <a:t>】</a:t>
                  </a: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是</a:t>
                  </a:r>
                  <a:r>
                    <a:rPr lang="zh-CN" altLang="en-US" sz="2000" b="1">
                      <a:solidFill>
                        <a:srgbClr val="C00000"/>
                      </a:solidFill>
                    </a:rPr>
                    <a:t>自反关系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，从而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endParaRPr lang="en-US" altLang="zh-CN" sz="2000" b="1">
                    <a:solidFill>
                      <a:schemeClr val="accent6">
                        <a:lumMod val="50000"/>
                      </a:schemeClr>
                    </a:solidFill>
                  </a:endParaRPr>
                </a:p>
                <a:p>
                  <a:pPr marL="342900" indent="-342900">
                    <a:lnSpc>
                      <a:spcPts val="30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是</a:t>
                  </a:r>
                  <a:r>
                    <a:rPr lang="zh-CN" altLang="en-US" sz="2000" b="1">
                      <a:solidFill>
                        <a:srgbClr val="C00000"/>
                      </a:solidFill>
                    </a:rPr>
                    <a:t>对称关系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，若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</m:d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，则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，从而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，即有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⟨⟨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⟨, ⟨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⟩⟩∈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endParaRPr lang="en-US" altLang="zh-CN" sz="2000" b="1">
                    <a:solidFill>
                      <a:schemeClr val="accent6">
                        <a:lumMod val="50000"/>
                      </a:schemeClr>
                    </a:solidFill>
                  </a:endParaRPr>
                </a:p>
                <a:p>
                  <a:pPr marL="342900" indent="-342900">
                    <a:lnSpc>
                      <a:spcPts val="30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是</a:t>
                  </a:r>
                  <a:r>
                    <a:rPr lang="zh-CN" altLang="en-US" sz="2000" b="1">
                      <a:solidFill>
                        <a:srgbClr val="C00000"/>
                      </a:solidFill>
                    </a:rPr>
                    <a:t>传递关系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，若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</m:d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且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  <m:r>
                            <a:rPr lang="en-US" altLang="zh-CN" sz="20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d>
                        </m:e>
                      </m:d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，则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且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，从而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，即有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sz="20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d>
                        </m:e>
                      </m:d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endParaRPr lang="en-US" altLang="zh-CN" sz="2000" b="1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216" y="3239277"/>
                  <a:ext cx="10617566" cy="2754024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直接连接符 5"/>
            <p:cNvCxnSpPr/>
            <p:nvPr/>
          </p:nvCxnSpPr>
          <p:spPr>
            <a:xfrm>
              <a:off x="3729963" y="4091776"/>
              <a:ext cx="1559084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9237195" y="4616289"/>
              <a:ext cx="1559084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3729963" y="5901937"/>
              <a:ext cx="1559084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/>
            <p:cNvSpPr txBox="1"/>
            <p:nvPr/>
          </p:nvSpPr>
          <p:spPr>
            <a:xfrm>
              <a:off x="3729963" y="3791049"/>
              <a:ext cx="1559084" cy="276999"/>
            </a:xfrm>
            <a:prstGeom prst="rect">
              <a:avLst/>
            </a:prstGeom>
            <a:solidFill>
              <a:srgbClr val="FDF2EA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C00000"/>
                  </a:solidFill>
                </a:rPr>
                <a:t>(1)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217461" y="4311961"/>
              <a:ext cx="1559084" cy="276999"/>
            </a:xfrm>
            <a:prstGeom prst="rect">
              <a:avLst/>
            </a:prstGeom>
            <a:solidFill>
              <a:srgbClr val="FDF2EA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C00000"/>
                  </a:solidFill>
                </a:rPr>
                <a:t>(2)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729963" y="5608728"/>
              <a:ext cx="1559084" cy="276999"/>
            </a:xfrm>
            <a:prstGeom prst="rect">
              <a:avLst/>
            </a:prstGeom>
            <a:solidFill>
              <a:srgbClr val="FDF2EA"/>
            </a:solidFill>
          </p:spPr>
          <p:txBody>
            <a:bodyPr wrap="square" tIns="0" bIns="0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C00000"/>
                  </a:solidFill>
                </a:rPr>
                <a:t>(3)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等价关系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等价关系证明举例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87216" y="1439545"/>
                <a:ext cx="6262654" cy="147527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，定义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sz="240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4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</m:d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lang="en-US" altLang="zh-CN" sz="240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证明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是等价关系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16" y="1439545"/>
                <a:ext cx="6262654" cy="1475276"/>
              </a:xfrm>
              <a:prstGeom prst="rect">
                <a:avLst/>
              </a:prstGeom>
              <a:blipFill rotWithShape="1">
                <a:blip r:embed="rId2"/>
                <a:stretch>
                  <a:fillRect l="-7" r="2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/>
          <p:cNvGrpSpPr/>
          <p:nvPr/>
        </p:nvGrpSpPr>
        <p:grpSpPr>
          <a:xfrm>
            <a:off x="787216" y="3239277"/>
            <a:ext cx="10617566" cy="2754024"/>
            <a:chOff x="787216" y="3239277"/>
            <a:chExt cx="10617566" cy="27540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787216" y="3239277"/>
                  <a:ext cx="10617566" cy="2754024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US" altLang="zh-CN" sz="2400" b="1">
                      <a:solidFill>
                        <a:srgbClr val="C00000"/>
                      </a:solidFill>
                      <a:latin typeface="Cambria Math" panose="02040503050406030204" pitchFamily="18" charset="0"/>
                    </a:rPr>
                    <a:t>【</a:t>
                  </a:r>
                  <a:r>
                    <a:rPr lang="zh-CN" altLang="en-US" sz="2400" b="1">
                      <a:solidFill>
                        <a:srgbClr val="C00000"/>
                      </a:solidFill>
                      <a:latin typeface="Cambria Math" panose="02040503050406030204" pitchFamily="18" charset="0"/>
                    </a:rPr>
                    <a:t>证明</a:t>
                  </a:r>
                  <a:r>
                    <a:rPr lang="en-US" altLang="zh-CN" sz="2400" b="1">
                      <a:solidFill>
                        <a:srgbClr val="C00000"/>
                      </a:solidFill>
                      <a:latin typeface="Cambria Math" panose="02040503050406030204" pitchFamily="18" charset="0"/>
                    </a:rPr>
                    <a:t>】</a:t>
                  </a:r>
                </a:p>
                <a:p>
                  <a:pPr marL="342900" indent="-3429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是</a:t>
                  </a:r>
                  <a:r>
                    <a:rPr lang="zh-CN" altLang="en-US" sz="2000" b="1">
                      <a:solidFill>
                        <a:srgbClr val="C00000"/>
                      </a:solidFill>
                    </a:rPr>
                    <a:t>自反关系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，从而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endParaRPr lang="en-US" altLang="zh-CN" sz="2000" b="1">
                    <a:solidFill>
                      <a:schemeClr val="accent6">
                        <a:lumMod val="50000"/>
                      </a:schemeClr>
                    </a:solidFill>
                  </a:endParaRPr>
                </a:p>
                <a:p>
                  <a:pPr marL="342900" indent="-342900">
                    <a:lnSpc>
                      <a:spcPts val="30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是</a:t>
                  </a:r>
                  <a:r>
                    <a:rPr lang="zh-CN" altLang="en-US" sz="2000" b="1">
                      <a:solidFill>
                        <a:srgbClr val="C00000"/>
                      </a:solidFill>
                    </a:rPr>
                    <a:t>对称关系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，若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</m:d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，则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，从而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，即有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⟨⟨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⟨, ⟨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⟩⟩∈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endParaRPr lang="en-US" altLang="zh-CN" sz="2000" b="1">
                    <a:solidFill>
                      <a:schemeClr val="accent6">
                        <a:lumMod val="50000"/>
                      </a:schemeClr>
                    </a:solidFill>
                  </a:endParaRPr>
                </a:p>
                <a:p>
                  <a:pPr marL="342900" indent="-342900">
                    <a:lnSpc>
                      <a:spcPts val="3000"/>
                    </a:lnSpc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是</a:t>
                  </a:r>
                  <a:r>
                    <a:rPr lang="zh-CN" altLang="en-US" sz="2000" b="1">
                      <a:solidFill>
                        <a:srgbClr val="C00000"/>
                      </a:solidFill>
                    </a:rPr>
                    <a:t>传递关系</a:t>
                  </a: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，若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</m:d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且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  <m:r>
                            <a:rPr lang="en-US" altLang="zh-CN" sz="20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d>
                        </m:e>
                      </m:d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，则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且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，从而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，即有</a:t>
                  </a:r>
                  <a14:m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2000" b="1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sz="2000" b="1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d>
                        </m:e>
                      </m:d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000" b="1" i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endParaRPr lang="en-US" altLang="zh-CN" sz="2000" b="1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216" y="3239277"/>
                  <a:ext cx="10617566" cy="2754024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直接连接符 5"/>
            <p:cNvCxnSpPr/>
            <p:nvPr/>
          </p:nvCxnSpPr>
          <p:spPr>
            <a:xfrm>
              <a:off x="3729963" y="4091776"/>
              <a:ext cx="1559084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9237195" y="4616289"/>
              <a:ext cx="1559084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3729963" y="5901937"/>
              <a:ext cx="1559084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等价关系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等价类练习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596442" y="1281663"/>
                <a:ext cx="10999114" cy="50577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lIns="0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，定义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</m:d>
                      </m:e>
                    </m:d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nor/>
                      </m:rPr>
                      <a:rPr lang="zh-CN" altLang="en-US" sz="2400" b="1">
                        <a:solidFill>
                          <a:srgbClr val="00206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，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m:rPr>
                        <m:nor/>
                      </m:rPr>
                      <a:rPr lang="zh-CN" altLang="en-US" sz="2400" b="1">
                        <a:solidFill>
                          <a:srgbClr val="00206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是等价关系</m:t>
                    </m:r>
                  </m:oMath>
                </a14:m>
                <a:endParaRPr lang="zh-CN" altLang="en-US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42" y="1281663"/>
                <a:ext cx="10999114" cy="505779"/>
              </a:xfrm>
              <a:prstGeom prst="rect">
                <a:avLst/>
              </a:prstGeom>
              <a:blipFill rotWithShape="1">
                <a:blip r:embed="rId2"/>
                <a:stretch>
                  <a:fillRect l="-2" t="-46" r="4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96442" y="2025206"/>
                <a:ext cx="7650699" cy="52455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lIns="0" bIns="10800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下面属于等价类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的元素有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    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C, E</a:t>
                </a:r>
                <a:r>
                  <a:rPr lang="en-US" altLang="zh-CN" sz="2400" b="1">
                    <a:solidFill>
                      <a:schemeClr val="tx2">
                        <a:lumMod val="50000"/>
                      </a:schemeClr>
                    </a:solidFill>
                  </a:rPr>
                  <a:t>     </a:t>
                </a: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：（多选）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42" y="2025206"/>
                <a:ext cx="7650699" cy="524553"/>
              </a:xfrm>
              <a:prstGeom prst="rect">
                <a:avLst/>
              </a:prstGeom>
              <a:blipFill rotWithShape="1">
                <a:blip r:embed="rId3"/>
                <a:stretch>
                  <a:fillRect l="-2" t="-36" r="5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/>
              <p:cNvGraphicFramePr>
                <a:graphicFrameLocks noGrp="1"/>
              </p:cNvGraphicFramePr>
              <p:nvPr/>
            </p:nvGraphicFramePr>
            <p:xfrm>
              <a:off x="596442" y="2549759"/>
              <a:ext cx="10533691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481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A. </a:t>
                          </a:r>
                          <a14:m>
                            <m:oMath xmlns:m="http://schemas.openxmlformats.org/officeDocument/2006/math">
                              <m:r>
                                <a:rPr lang="da-DK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B. </a:t>
                          </a:r>
                          <a14:m>
                            <m:oMath xmlns:m="http://schemas.openxmlformats.org/officeDocument/2006/math">
                              <m:r>
                                <a:rPr lang="da-DK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a-DK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C.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D.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da-DK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𝟏</m:t>
                                  </m:r>
                                  <m:r>
                                    <a:rPr lang="da-DK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, </m:t>
                                  </m:r>
                                  <m:r>
                                    <a:rPr lang="da-DK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𝟎</m:t>
                                  </m:r>
                                </m:e>
                              </m:d>
                            </m:oMath>
                          </a14:m>
                          <a:endParaRPr lang="zh-CN" altLang="en-US" sz="2000" b="1" i="1" kern="12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E. </a:t>
                          </a:r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F.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G.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/>
              <p:cNvGraphicFramePr>
                <a:graphicFrameLocks noGrp="1"/>
              </p:cNvGraphicFramePr>
              <p:nvPr/>
            </p:nvGraphicFramePr>
            <p:xfrm>
              <a:off x="596442" y="2549759"/>
              <a:ext cx="10533691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4813"/>
                    <a:gridCol w="1504813"/>
                    <a:gridCol w="1504813"/>
                    <a:gridCol w="1504813"/>
                    <a:gridCol w="1504813"/>
                    <a:gridCol w="1504813"/>
                    <a:gridCol w="1504813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596442" y="3166679"/>
                <a:ext cx="7650699" cy="52455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lIns="0" bIns="10800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下面属于等价类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的元素有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    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F, G</a:t>
                </a:r>
                <a:r>
                  <a:rPr lang="en-US" altLang="zh-CN" sz="2400" b="1">
                    <a:solidFill>
                      <a:schemeClr val="tx2">
                        <a:lumMod val="50000"/>
                      </a:schemeClr>
                    </a:solidFill>
                  </a:rPr>
                  <a:t>     </a:t>
                </a: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：（多选）</a:t>
                </a: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42" y="3166679"/>
                <a:ext cx="7650699" cy="524553"/>
              </a:xfrm>
              <a:prstGeom prst="rect">
                <a:avLst/>
              </a:prstGeom>
              <a:blipFill rotWithShape="1">
                <a:blip r:embed="rId5"/>
                <a:stretch>
                  <a:fillRect l="-2" t="-108" r="5" b="1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2"/>
              <p:cNvGraphicFramePr>
                <a:graphicFrameLocks noGrp="1"/>
              </p:cNvGraphicFramePr>
              <p:nvPr/>
            </p:nvGraphicFramePr>
            <p:xfrm>
              <a:off x="596442" y="3691232"/>
              <a:ext cx="10533691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481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A.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B. </a:t>
                          </a:r>
                          <a14:m>
                            <m:oMath xmlns:m="http://schemas.openxmlformats.org/officeDocument/2006/math">
                              <m:r>
                                <a:rPr lang="da-DK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C.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D.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𝟐</m:t>
                                  </m:r>
                                  <m:r>
                                    <a:rPr lang="da-DK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, </m:t>
                                  </m:r>
                                  <m:r>
                                    <a:rPr lang="da-DK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𝟎</m:t>
                                  </m:r>
                                </m:e>
                              </m:d>
                            </m:oMath>
                          </a14:m>
                          <a:endParaRPr lang="zh-CN" altLang="en-US" sz="2000" b="1" i="1" kern="12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E. </a:t>
                          </a:r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</m:d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F.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G.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2"/>
              <p:cNvGraphicFramePr>
                <a:graphicFrameLocks noGrp="1"/>
              </p:cNvGraphicFramePr>
              <p:nvPr/>
            </p:nvGraphicFramePr>
            <p:xfrm>
              <a:off x="596442" y="3691232"/>
              <a:ext cx="10533691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4813"/>
                    <a:gridCol w="1504813"/>
                    <a:gridCol w="1504813"/>
                    <a:gridCol w="1504813"/>
                    <a:gridCol w="1504813"/>
                    <a:gridCol w="1504813"/>
                    <a:gridCol w="1504813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596443" y="4289722"/>
                <a:ext cx="6087230" cy="1846659"/>
              </a:xfrm>
              <a:prstGeom prst="rect">
                <a:avLst/>
              </a:prstGeom>
              <a:solidFill>
                <a:srgbClr val="F0F7EC"/>
              </a:solidFill>
            </p:spPr>
            <p:txBody>
              <a:bodyPr wrap="square" lIns="0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给出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0, 0</m:t>
                        </m:r>
                      </m:e>
                    </m:d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1, 0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的等价类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43" y="4289722"/>
                <a:ext cx="6087230" cy="1846659"/>
              </a:xfrm>
              <a:prstGeom prst="rect">
                <a:avLst/>
              </a:prstGeom>
              <a:blipFill rotWithShape="1">
                <a:blip r:embed="rId7"/>
                <a:stretch>
                  <a:fillRect l="-3" t="-16" r="5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/>
          <p:cNvCxnSpPr/>
          <p:nvPr/>
        </p:nvCxnSpPr>
        <p:spPr>
          <a:xfrm>
            <a:off x="5078538" y="2440593"/>
            <a:ext cx="1124909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078538" y="3573177"/>
            <a:ext cx="1124909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2855033" y="5157479"/>
            <a:ext cx="1566758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2928108" y="5624547"/>
            <a:ext cx="3084565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928108" y="6070597"/>
            <a:ext cx="2935179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5044549" y="2049288"/>
            <a:ext cx="1192886" cy="380480"/>
          </a:xfrm>
          <a:prstGeom prst="rect">
            <a:avLst/>
          </a:prstGeom>
          <a:solidFill>
            <a:srgbClr val="F0F7EC"/>
          </a:solidFill>
        </p:spPr>
        <p:txBody>
          <a:bodyPr wrap="square" tIns="36000" bIns="3600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(1)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078538" y="3166677"/>
            <a:ext cx="1192886" cy="380480"/>
          </a:xfrm>
          <a:prstGeom prst="rect">
            <a:avLst/>
          </a:prstGeom>
          <a:solidFill>
            <a:srgbClr val="F0F7EC"/>
          </a:solidFill>
        </p:spPr>
        <p:txBody>
          <a:bodyPr wrap="square" tIns="36000" bIns="3600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(2)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928107" y="4766895"/>
            <a:ext cx="1493683" cy="380480"/>
          </a:xfrm>
          <a:prstGeom prst="rect">
            <a:avLst/>
          </a:prstGeom>
          <a:solidFill>
            <a:srgbClr val="F0F7EC"/>
          </a:solidFill>
        </p:spPr>
        <p:txBody>
          <a:bodyPr wrap="square" tIns="36000" bIns="3600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(3)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928106" y="5212944"/>
            <a:ext cx="3084565" cy="380480"/>
          </a:xfrm>
          <a:prstGeom prst="rect">
            <a:avLst/>
          </a:prstGeom>
          <a:solidFill>
            <a:srgbClr val="F0F7EC"/>
          </a:solidFill>
        </p:spPr>
        <p:txBody>
          <a:bodyPr wrap="square" tIns="36000" bIns="3600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(4)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928105" y="5680244"/>
            <a:ext cx="2935179" cy="380480"/>
          </a:xfrm>
          <a:prstGeom prst="rect">
            <a:avLst/>
          </a:prstGeom>
          <a:solidFill>
            <a:srgbClr val="F0F7EC"/>
          </a:solidFill>
        </p:spPr>
        <p:txBody>
          <a:bodyPr wrap="square" tIns="36000" bIns="3600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(5)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等价关系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等价类练习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596442" y="1281663"/>
                <a:ext cx="10999114" cy="50577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lIns="0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，定义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𝒄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</m:d>
                      </m:e>
                    </m:d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nor/>
                      </m:rPr>
                      <a:rPr lang="zh-CN" altLang="en-US" sz="2400" b="1">
                        <a:solidFill>
                          <a:srgbClr val="00206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，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m:rPr>
                        <m:nor/>
                      </m:rPr>
                      <a:rPr lang="zh-CN" altLang="en-US" sz="2400" b="1">
                        <a:solidFill>
                          <a:srgbClr val="00206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是等价关系</m:t>
                    </m:r>
                  </m:oMath>
                </a14:m>
                <a:endParaRPr lang="zh-CN" altLang="en-US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42" y="1281663"/>
                <a:ext cx="10999114" cy="505779"/>
              </a:xfrm>
              <a:prstGeom prst="rect">
                <a:avLst/>
              </a:prstGeom>
              <a:blipFill rotWithShape="1">
                <a:blip r:embed="rId2"/>
                <a:stretch>
                  <a:fillRect l="-2" t="-46" r="4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96442" y="2025206"/>
                <a:ext cx="7650699" cy="52455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lIns="0" bIns="10800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下面属于等价类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的元素有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    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C, E</a:t>
                </a:r>
                <a:r>
                  <a:rPr lang="en-US" altLang="zh-CN" sz="2400" b="1">
                    <a:solidFill>
                      <a:schemeClr val="tx2">
                        <a:lumMod val="50000"/>
                      </a:schemeClr>
                    </a:solidFill>
                  </a:rPr>
                  <a:t>     </a:t>
                </a: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：（多选）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42" y="2025206"/>
                <a:ext cx="7650699" cy="524553"/>
              </a:xfrm>
              <a:prstGeom prst="rect">
                <a:avLst/>
              </a:prstGeom>
              <a:blipFill rotWithShape="1">
                <a:blip r:embed="rId3"/>
                <a:stretch>
                  <a:fillRect l="-2" t="-36" r="5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/>
              <p:cNvGraphicFramePr>
                <a:graphicFrameLocks noGrp="1"/>
              </p:cNvGraphicFramePr>
              <p:nvPr/>
            </p:nvGraphicFramePr>
            <p:xfrm>
              <a:off x="596442" y="2549759"/>
              <a:ext cx="10533691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481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A. </a:t>
                          </a:r>
                          <a14:m>
                            <m:oMath xmlns:m="http://schemas.openxmlformats.org/officeDocument/2006/math">
                              <m:r>
                                <a:rPr lang="da-DK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B. </a:t>
                          </a:r>
                          <a14:m>
                            <m:oMath xmlns:m="http://schemas.openxmlformats.org/officeDocument/2006/math">
                              <m:r>
                                <a:rPr lang="da-DK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a-DK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C.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D.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da-DK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𝟏</m:t>
                                  </m:r>
                                  <m:r>
                                    <a:rPr lang="da-DK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, </m:t>
                                  </m:r>
                                  <m:r>
                                    <a:rPr lang="da-DK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𝟎</m:t>
                                  </m:r>
                                </m:e>
                              </m:d>
                            </m:oMath>
                          </a14:m>
                          <a:endParaRPr lang="zh-CN" altLang="en-US" sz="2000" b="1" i="1" kern="12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E. </a:t>
                          </a:r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F.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G.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/>
              <p:cNvGraphicFramePr>
                <a:graphicFrameLocks noGrp="1"/>
              </p:cNvGraphicFramePr>
              <p:nvPr/>
            </p:nvGraphicFramePr>
            <p:xfrm>
              <a:off x="596442" y="2549759"/>
              <a:ext cx="10533691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4813"/>
                    <a:gridCol w="1504813"/>
                    <a:gridCol w="1504813"/>
                    <a:gridCol w="1504813"/>
                    <a:gridCol w="1504813"/>
                    <a:gridCol w="1504813"/>
                    <a:gridCol w="1504813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596442" y="3166679"/>
                <a:ext cx="7650699" cy="52455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lIns="0" bIns="10800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下面属于等价类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 smtClean="0">
                                <a:solidFill>
                                  <a:schemeClr val="tx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chemeClr val="tx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的元素有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    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F, G</a:t>
                </a:r>
                <a:r>
                  <a:rPr lang="en-US" altLang="zh-CN" sz="2400" b="1">
                    <a:solidFill>
                      <a:schemeClr val="tx2">
                        <a:lumMod val="50000"/>
                      </a:schemeClr>
                    </a:solidFill>
                  </a:rPr>
                  <a:t>     </a:t>
                </a: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：（多选）</a:t>
                </a: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42" y="3166679"/>
                <a:ext cx="7650699" cy="524553"/>
              </a:xfrm>
              <a:prstGeom prst="rect">
                <a:avLst/>
              </a:prstGeom>
              <a:blipFill rotWithShape="1">
                <a:blip r:embed="rId5"/>
                <a:stretch>
                  <a:fillRect l="-2" t="-108" r="5" b="1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2"/>
              <p:cNvGraphicFramePr>
                <a:graphicFrameLocks noGrp="1"/>
              </p:cNvGraphicFramePr>
              <p:nvPr/>
            </p:nvGraphicFramePr>
            <p:xfrm>
              <a:off x="596442" y="3691232"/>
              <a:ext cx="10533691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481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50481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A.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B. </a:t>
                          </a:r>
                          <a14:m>
                            <m:oMath xmlns:m="http://schemas.openxmlformats.org/officeDocument/2006/math">
                              <m:r>
                                <a:rPr lang="da-DK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C.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D.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𝟐</m:t>
                                  </m:r>
                                  <m:r>
                                    <a:rPr lang="da-DK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, </m:t>
                                  </m:r>
                                  <m:r>
                                    <a:rPr lang="da-DK" altLang="zh-CN" sz="2000" b="1" i="1" kern="120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𝟎</m:t>
                                  </m:r>
                                </m:e>
                              </m:d>
                            </m:oMath>
                          </a14:m>
                          <a:endParaRPr lang="zh-CN" altLang="en-US" sz="2000" b="1" i="1" kern="12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E. </a:t>
                          </a:r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</m:d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F.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G.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  <m:r>
                                    <a:rPr lang="da-DK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oMath>
                          </a14:m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2"/>
              <p:cNvGraphicFramePr>
                <a:graphicFrameLocks noGrp="1"/>
              </p:cNvGraphicFramePr>
              <p:nvPr/>
            </p:nvGraphicFramePr>
            <p:xfrm>
              <a:off x="596442" y="3691232"/>
              <a:ext cx="10533691" cy="39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04813"/>
                    <a:gridCol w="1504813"/>
                    <a:gridCol w="1504813"/>
                    <a:gridCol w="1504813"/>
                    <a:gridCol w="1504813"/>
                    <a:gridCol w="1504813"/>
                    <a:gridCol w="1504813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596442" y="4289722"/>
                <a:ext cx="9823771" cy="1846659"/>
              </a:xfrm>
              <a:prstGeom prst="rect">
                <a:avLst/>
              </a:prstGeom>
              <a:solidFill>
                <a:srgbClr val="F0F7EC"/>
              </a:solidFill>
            </p:spPr>
            <p:txBody>
              <a:bodyPr wrap="square" lIns="0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给出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0, 0</m:t>
                        </m:r>
                      </m:e>
                    </m:d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  <m:r>
                      <a:rPr lang="en-US" altLang="zh-CN" sz="2400" b="1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1, 0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chemeClr val="tx2">
                        <a:lumMod val="50000"/>
                      </a:schemeClr>
                    </a:solidFill>
                  </a:rPr>
                  <a:t>的等价类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(2)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altLang="zh-CN" sz="2000" b="1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42" y="4289722"/>
                <a:ext cx="9823771" cy="1846659"/>
              </a:xfrm>
              <a:prstGeom prst="rect">
                <a:avLst/>
              </a:prstGeom>
              <a:blipFill rotWithShape="1">
                <a:blip r:embed="rId7"/>
                <a:stretch>
                  <a:fillRect l="-2" t="-16" r="5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/>
          <p:cNvCxnSpPr/>
          <p:nvPr/>
        </p:nvCxnSpPr>
        <p:spPr>
          <a:xfrm>
            <a:off x="5078538" y="2440593"/>
            <a:ext cx="1124909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078538" y="3573177"/>
            <a:ext cx="1124909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2855033" y="5157479"/>
            <a:ext cx="1566758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2928108" y="5624547"/>
            <a:ext cx="3084565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928108" y="6070597"/>
            <a:ext cx="2935179" cy="0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等价关系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等价类基本性质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605215" y="1236743"/>
                <a:ext cx="4085969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是非空集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上的等价关系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15" y="1236743"/>
                <a:ext cx="4085969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1" t="-86" r="11" b="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2741004" y="1980735"/>
                <a:ext cx="6709987" cy="150810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两个等价类之间的关系</a:t>
                </a: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sz="2400" b="1">
                    <a:solidFill>
                      <a:schemeClr val="accent2">
                        <a:lumMod val="50000"/>
                      </a:schemeClr>
                    </a:solidFill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 当且仅当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altLang="zh-CN" sz="2400" b="1">
                    <a:solidFill>
                      <a:schemeClr val="accent2">
                        <a:lumMod val="50000"/>
                      </a:schemeClr>
                    </a:solidFill>
                  </a:rPr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 当且仅当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004" y="1980735"/>
                <a:ext cx="6709987" cy="1508105"/>
              </a:xfrm>
              <a:prstGeom prst="rect">
                <a:avLst/>
              </a:prstGeom>
              <a:blipFill rotWithShape="1">
                <a:blip r:embed="rId3"/>
                <a:stretch>
                  <a:fillRect l="-5" t="-11" r="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650631" y="3887073"/>
                <a:ext cx="8890734" cy="203132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等价类的基本性质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，要么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，要么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所有等价类的</a:t>
                </a:r>
                <a:r>
                  <a:rPr lang="zh-CN" altLang="en-US" sz="2400" b="1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广义并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等于</a:t>
                </a:r>
                <a:r>
                  <a: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</m:e>
                    </m:nary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，也即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bHide m:val="on"/>
                        <m:supHide m:val="on"/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nary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zh-CN" altLang="en-US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631" y="3887073"/>
                <a:ext cx="8890734" cy="2031325"/>
              </a:xfrm>
              <a:prstGeom prst="rect">
                <a:avLst/>
              </a:prstGeom>
              <a:blipFill rotWithShape="1">
                <a:blip r:embed="rId4"/>
                <a:stretch>
                  <a:fillRect l="-3" t="-12" r="4" b="-147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箭头: 下 5"/>
          <p:cNvSpPr/>
          <p:nvPr/>
        </p:nvSpPr>
        <p:spPr>
          <a:xfrm>
            <a:off x="6009381" y="3512875"/>
            <a:ext cx="173234" cy="3741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663694" y="2411621"/>
            <a:ext cx="213798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这些性质实质上都是用集合等式描述！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等价关系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等价类基本性质证明举例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747746" y="1143379"/>
                <a:ext cx="6940230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是非空集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上的等价关系，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的任意元素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46" y="1143379"/>
                <a:ext cx="6940230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5" t="-82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47746" y="1804608"/>
                <a:ext cx="10696506" cy="211282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</a:rPr>
                  <a:t>当且仅当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⟹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：因为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，所以当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时有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⟸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，有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，而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是对称的，所有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，由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的传递性得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，这表明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。反之，对任意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，即有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，从而由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及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的传递性有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，这表明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endParaRPr lang="zh-CN" altLang="en-US" sz="2000" b="1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746" y="1804608"/>
                <a:ext cx="10696506" cy="2112822"/>
              </a:xfrm>
              <a:prstGeom prst="rect">
                <a:avLst/>
              </a:prstGeom>
              <a:blipFill rotWithShape="1">
                <a:blip r:embed="rId3"/>
                <a:stretch>
                  <a:fillRect l="-3" t="-27" r="3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337884" y="4111278"/>
                <a:ext cx="9516230" cy="221817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3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 ∅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</a:rPr>
                  <a:t>当且仅当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altLang="zh-CN" sz="24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en-US" altLang="zh-CN" sz="2400" b="1">
                  <a:solidFill>
                    <a:srgbClr val="C00000"/>
                  </a:solidFill>
                </a:endParaRPr>
              </a:p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⟹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反证法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sub>
                    </m:sSub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sub>
                    </m:sSub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∩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sub>
                    </m:sSub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∩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sub>
                    </m:sSub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 ∅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矛盾！因此这时必有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∉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⟸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反证法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sub>
                    </m:sSub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∩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sub>
                    </m:sSub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≠∅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，即存在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𝒄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𝒂</m:t>
                            </m:r>
                          </m:e>
                        </m:d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sub>
                    </m:sSub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∩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𝒃</m:t>
                            </m:r>
                          </m:e>
                        </m:d>
                      </m:e>
                      <m:sub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，从而有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𝒄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𝒄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，由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的对称性和传递性不难得到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𝒂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𝒃</m:t>
                        </m:r>
                      </m:e>
                    </m:d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𝑹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，矛盾！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884" y="4111278"/>
                <a:ext cx="9516230" cy="2218171"/>
              </a:xfrm>
              <a:prstGeom prst="rect">
                <a:avLst/>
              </a:prstGeom>
              <a:blipFill rotWithShape="1">
                <a:blip r:embed="rId4"/>
                <a:stretch>
                  <a:fillRect l="-6" t="-13" r="1" b="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9321618" y="1605044"/>
            <a:ext cx="202615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当且仅当需要证两个方向的蕴涵关系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321617" y="3975574"/>
            <a:ext cx="2026154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含有空集的命题也适合用反证法证明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等价关系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等价类与集合的划分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916503" y="1205650"/>
                <a:ext cx="10358994" cy="284693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集合的划分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(partition)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是非空集合，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𝓕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集合族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，其中每个集合都是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的子集。说集合族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𝓕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的划分，如果：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非空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：对任意的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𝓕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两两不交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：对任意两个集合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𝓕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覆盖集合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⋃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𝓕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非空集合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的划分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𝓕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的每个集合称为这个划分的一个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划分块</a:t>
                </a:r>
                <a:r>
                  <a:rPr lang="en-US" altLang="zh-CN" sz="2000" b="1">
                    <a:solidFill>
                      <a:srgbClr val="C00000"/>
                    </a:solidFill>
                    <a:latin typeface="+mn-ea"/>
                  </a:rPr>
                  <a:t>(block)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03" y="1205650"/>
                <a:ext cx="10358994" cy="2846933"/>
              </a:xfrm>
              <a:prstGeom prst="rect">
                <a:avLst/>
              </a:prstGeom>
              <a:blipFill rotWithShape="1">
                <a:blip r:embed="rId2"/>
                <a:stretch>
                  <a:fillRect l="-2" t="-15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35089" y="4298885"/>
                <a:ext cx="10921819" cy="18565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9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非空集合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C00000"/>
                    </a:solidFill>
                  </a:rPr>
                  <a:t>上的等价关系与它的划分有一一对应关系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关于一个等价关系的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商集是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的划分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，而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  <a:latin typeface="+mn-ea"/>
                  </a:rPr>
                  <a:t>的一个划分导出的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“在同一划分块”关系是等价关系</a:t>
                </a: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进一步，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关于“在同一划分块”这个等价关系的商集就是这个划分，而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关于等价关系的商集作为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的划分所导出的“在同一划分块”关系就是这个等价关系本身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89" y="4298885"/>
                <a:ext cx="10921819" cy="1856534"/>
              </a:xfrm>
              <a:prstGeom prst="rect">
                <a:avLst/>
              </a:prstGeom>
              <a:blipFill rotWithShape="1">
                <a:blip r:embed="rId3"/>
                <a:stretch>
                  <a:fillRect l="-1" t="-31" r="5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等价关系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等价关系与集合划分练习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881506" y="1366702"/>
                <a:ext cx="9939988" cy="58610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bIns="108000" rtlCol="0">
                <a:spAutoFit/>
              </a:bodyPr>
              <a:lstStyle/>
              <a:p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m:rPr>
                        <m:lit/>
                      </m:rP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，下面集合族是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的划分有 </a:t>
                </a:r>
                <a:r>
                  <a:rPr lang="en-US" altLang="zh-CN" sz="2800" b="1">
                    <a:solidFill>
                      <a:srgbClr val="C00000"/>
                    </a:solidFill>
                    <a:latin typeface="+mn-ea"/>
                  </a:rPr>
                  <a:t>B, D</a:t>
                </a:r>
                <a:r>
                  <a:rPr lang="en-US" altLang="zh-CN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2800" b="1">
                    <a:solidFill>
                      <a:srgbClr val="002060"/>
                    </a:solidFill>
                    <a:latin typeface="+mn-ea"/>
                  </a:rPr>
                  <a:t>（</a:t>
                </a:r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多选</a:t>
                </a:r>
                <a:r>
                  <a:rPr lang="zh-CN" altLang="en-US" sz="2800" b="1">
                    <a:solidFill>
                      <a:srgbClr val="002060"/>
                    </a:solidFill>
                    <a:latin typeface="+mn-ea"/>
                  </a:rPr>
                  <a:t>）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06" y="1366702"/>
                <a:ext cx="9939988" cy="586108"/>
              </a:xfrm>
              <a:prstGeom prst="rect">
                <a:avLst/>
              </a:prstGeom>
              <a:blipFill rotWithShape="1">
                <a:blip r:embed="rId2"/>
                <a:stretch>
                  <a:fillRect l="-1" t="-31" r="-1599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/>
              <p:cNvGraphicFramePr>
                <a:graphicFrameLocks noGrp="1"/>
              </p:cNvGraphicFramePr>
              <p:nvPr/>
            </p:nvGraphicFramePr>
            <p:xfrm>
              <a:off x="881507" y="1952811"/>
              <a:ext cx="9939987" cy="7924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46874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71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         A.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𝓕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{{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}}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B.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𝓕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{{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}}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 kern="120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        C.</a:t>
                          </a:r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𝓕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{{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}}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 kern="120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D.</a:t>
                          </a:r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𝓕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{{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}}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/>
              <p:cNvGraphicFramePr>
                <a:graphicFrameLocks noGrp="1"/>
              </p:cNvGraphicFramePr>
              <p:nvPr/>
            </p:nvGraphicFramePr>
            <p:xfrm>
              <a:off x="881507" y="1952811"/>
              <a:ext cx="9939987" cy="7924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468747"/>
                    <a:gridCol w="4471240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2" name="文本框 11"/>
          <p:cNvSpPr txBox="1"/>
          <p:nvPr/>
        </p:nvSpPr>
        <p:spPr>
          <a:xfrm>
            <a:off x="881508" y="2745291"/>
            <a:ext cx="9939986" cy="514738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tIns="108000" bIns="3600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tx2">
                    <a:lumMod val="50000"/>
                  </a:schemeClr>
                </a:solidFill>
                <a:latin typeface="+mn-ea"/>
              </a:rPr>
              <a:t>不是划分的说明原因，是划分则给出所导出的等价关系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8203286" y="1828800"/>
            <a:ext cx="1052548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8249335" y="1449619"/>
            <a:ext cx="1111753" cy="369332"/>
          </a:xfrm>
          <a:prstGeom prst="rect">
            <a:avLst/>
          </a:prstGeom>
          <a:solidFill>
            <a:srgbClr val="F0F7EC"/>
          </a:solidFill>
        </p:spPr>
        <p:txBody>
          <a:bodyPr wrap="square" tIns="0" bIns="0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C00000"/>
                </a:solidFill>
              </a:rPr>
              <a:t>(1)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等价关系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等价关系与集合划分练习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881506" y="1366702"/>
                <a:ext cx="9939988" cy="58610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bIns="108000" rtlCol="0">
                <a:spAutoFit/>
              </a:bodyPr>
              <a:lstStyle/>
              <a:p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m:rPr>
                        <m:lit/>
                      </m:rPr>
                      <a:rPr lang="en-US" altLang="zh-CN" sz="28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，下面集合族是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的划分有 </a:t>
                </a:r>
                <a:r>
                  <a:rPr lang="en-US" altLang="zh-CN" sz="2800" b="1">
                    <a:solidFill>
                      <a:srgbClr val="C00000"/>
                    </a:solidFill>
                    <a:latin typeface="+mn-ea"/>
                  </a:rPr>
                  <a:t>B, D</a:t>
                </a:r>
                <a:r>
                  <a:rPr lang="en-US" altLang="zh-CN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sz="2800" b="1">
                    <a:solidFill>
                      <a:srgbClr val="002060"/>
                    </a:solidFill>
                    <a:latin typeface="+mn-ea"/>
                  </a:rPr>
                  <a:t>（</a:t>
                </a:r>
                <a:r>
                  <a:rPr lang="zh-CN" altLang="en-US" sz="28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多选</a:t>
                </a:r>
                <a:r>
                  <a:rPr lang="zh-CN" altLang="en-US" sz="2800" b="1">
                    <a:solidFill>
                      <a:srgbClr val="002060"/>
                    </a:solidFill>
                    <a:latin typeface="+mn-ea"/>
                  </a:rPr>
                  <a:t>）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06" y="1366702"/>
                <a:ext cx="9939988" cy="586108"/>
              </a:xfrm>
              <a:prstGeom prst="rect">
                <a:avLst/>
              </a:prstGeom>
              <a:blipFill rotWithShape="1">
                <a:blip r:embed="rId2"/>
                <a:stretch>
                  <a:fillRect l="-1" t="-31" r="-1599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/>
              <p:cNvGraphicFramePr>
                <a:graphicFrameLocks noGrp="1"/>
              </p:cNvGraphicFramePr>
              <p:nvPr/>
            </p:nvGraphicFramePr>
            <p:xfrm>
              <a:off x="881507" y="1952811"/>
              <a:ext cx="9939987" cy="7924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46874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71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         A.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𝓕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{{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}}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>
                              <a:solidFill>
                                <a:srgbClr val="C00000"/>
                              </a:solidFill>
                            </a:rPr>
                            <a:t>B.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𝓕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{{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}}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 kern="120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        C.</a:t>
                          </a:r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𝓕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{{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}}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1" kern="120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D.</a:t>
                          </a:r>
                          <a:r>
                            <a:rPr lang="en-US" altLang="zh-CN" sz="20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𝓕</m:t>
                                  </m:r>
                                </m:e>
                                <m:sub>
                                  <m:r>
                                    <a:rPr lang="en-US" altLang="zh-CN" sz="20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b>
                              </m:sSub>
                              <m: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{{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000" b="1" i="1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m:rPr>
                                  <m:lit/>
                                </m:rPr>
                                <a:rPr lang="en-US" altLang="zh-CN" sz="20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}}</m:t>
                              </m:r>
                            </m:oMath>
                          </a14:m>
                          <a:endParaRPr lang="zh-CN" altLang="en-US" sz="20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/>
              <p:cNvGraphicFramePr>
                <a:graphicFrameLocks noGrp="1"/>
              </p:cNvGraphicFramePr>
              <p:nvPr/>
            </p:nvGraphicFramePr>
            <p:xfrm>
              <a:off x="881507" y="1952811"/>
              <a:ext cx="9939987" cy="7924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468747"/>
                    <a:gridCol w="4471240"/>
                  </a:tblGrid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</a:blipFill>
                      </a:tcPr>
                    </a:tc>
                  </a:tr>
                  <a:tr h="3962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2" name="文本框 11"/>
          <p:cNvSpPr txBox="1"/>
          <p:nvPr/>
        </p:nvSpPr>
        <p:spPr>
          <a:xfrm>
            <a:off x="881508" y="2745291"/>
            <a:ext cx="9939986" cy="514738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tIns="108000" bIns="3600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>
                <a:solidFill>
                  <a:schemeClr val="tx2">
                    <a:lumMod val="50000"/>
                  </a:schemeClr>
                </a:solidFill>
                <a:latin typeface="+mn-ea"/>
              </a:rPr>
              <a:t>不是划分的说明原因，是划分则给出所导出的等价关系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881507" y="3620252"/>
                <a:ext cx="9847891" cy="102335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划分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𝓕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导出的等价关系是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划分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𝓕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导出的等价关系是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⟩, ⟨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⟩, ⟨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⟩, ⟨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⟩}∪</m:t>
                    </m:r>
                    <m:r>
                      <a:rPr lang="en-US" altLang="zh-CN" sz="2400" b="1" i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07" y="3620252"/>
                <a:ext cx="9847891" cy="1023357"/>
              </a:xfrm>
              <a:prstGeom prst="rect">
                <a:avLst/>
              </a:prstGeom>
              <a:blipFill rotWithShape="1">
                <a:blip r:embed="rId4"/>
                <a:stretch>
                  <a:fillRect l="-1" t="-11" r="4" b="-302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881508" y="4914860"/>
                <a:ext cx="10064978" cy="102335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𝓕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不是划分，因为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，即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𝓕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不是划分，因为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∉⋃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𝓕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⋃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𝓕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altLang="zh-CN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08" y="4914860"/>
                <a:ext cx="10064978" cy="1023357"/>
              </a:xfrm>
              <a:prstGeom prst="rect">
                <a:avLst/>
              </a:prstGeom>
              <a:blipFill rotWithShape="1">
                <a:blip r:embed="rId5"/>
                <a:stretch>
                  <a:fillRect l="-1" t="-58" r="4" b="-302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/>
          <p:cNvCxnSpPr/>
          <p:nvPr/>
        </p:nvCxnSpPr>
        <p:spPr>
          <a:xfrm>
            <a:off x="8203286" y="1828800"/>
            <a:ext cx="1052548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683591" y="5426538"/>
            <a:ext cx="3262895" cy="6926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说明一个集合族不是划分时，只要说明它违反哪项条件即可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91646C22-BFA0-4263-ADC6-D1CE69BFEFF6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内容提要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19673" y="1597299"/>
            <a:ext cx="4733731" cy="2746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等价关系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300000"/>
              </a:lnSpc>
            </a:pPr>
            <a:r>
              <a:rPr lang="zh-CN" altLang="en-US" sz="32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偏序关系</a:t>
            </a:r>
            <a:endParaRPr lang="en-US" altLang="zh-CN" sz="32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偏序关系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偏序</a:t>
            </a:r>
            <a:r>
              <a:rPr lang="en-US" altLang="zh-CN"/>
              <a:t>(partial order)</a:t>
            </a:r>
            <a:r>
              <a:rPr lang="zh-CN" altLang="en-US"/>
              <a:t>关系的一些术语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579571" y="1405781"/>
                <a:ext cx="10684173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非空集合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上的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偏序关系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是集合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上同时满足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自反性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、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反对称性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:r>
                  <a:rPr lang="zh-CN" altLang="en-US" sz="2400" b="1">
                    <a:solidFill>
                      <a:srgbClr val="C00000"/>
                    </a:solidFill>
                  </a:rPr>
                  <a:t>传递性</a:t>
                </a:r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的关系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71" y="1405781"/>
                <a:ext cx="10684173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4" t="-114" r="1" b="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812470" y="2208295"/>
                <a:ext cx="4994564" cy="98488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偏序集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(poset)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</a:rPr>
                  <a:t>非空集合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</a:rPr>
                  <a:t>及其上的一个偏序关系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≼</m:t>
                    </m:r>
                  </m:oMath>
                </a14:m>
                <a:endParaRPr lang="zh-CN" altLang="en-US" sz="24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70" y="2208295"/>
                <a:ext cx="4994564" cy="984885"/>
              </a:xfrm>
              <a:prstGeom prst="rect">
                <a:avLst/>
              </a:prstGeom>
              <a:blipFill rotWithShape="1">
                <a:blip r:embed="rId3"/>
                <a:stretch>
                  <a:fillRect l="-6" t="-41" r="12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545426" y="3762223"/>
                <a:ext cx="5528651" cy="224676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可比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(comparable)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与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不可比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(non-comparable)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≼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是偏序集，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≼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≼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可比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若既没有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≼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也没有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≼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不可比</a:t>
                </a: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并非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的任意两个元素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都可比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26" y="3762223"/>
                <a:ext cx="5528651" cy="2246769"/>
              </a:xfrm>
              <a:prstGeom prst="rect">
                <a:avLst/>
              </a:prstGeom>
              <a:blipFill rotWithShape="1">
                <a:blip r:embed="rId4"/>
                <a:stretch>
                  <a:fillRect l="-11" t="-21" r="5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384968" y="2208295"/>
                <a:ext cx="4994562" cy="137274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全序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(total order)</a:t>
                </a:r>
              </a:p>
              <a:p>
                <a:pPr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</a:rPr>
                  <a:t>若偏序集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的任意两个元素都可比，则偏序集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</a:rPr>
                  <a:t>是全序，也称为线序</a:t>
                </a:r>
                <a:r>
                  <a:rPr lang="en-US" altLang="zh-CN" sz="2000" b="1">
                    <a:solidFill>
                      <a:srgbClr val="002060"/>
                    </a:solidFill>
                  </a:rPr>
                  <a:t>(linear order)</a:t>
                </a:r>
                <a:endParaRPr lang="zh-CN" altLang="en-US" sz="2000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968" y="2208295"/>
                <a:ext cx="4994562" cy="1372748"/>
              </a:xfrm>
              <a:prstGeom prst="rect">
                <a:avLst/>
              </a:prstGeom>
              <a:blipFill rotWithShape="1">
                <a:blip r:embed="rId5"/>
                <a:stretch>
                  <a:fillRect l="-1" t="-29" r="7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7048005" y="3808389"/>
                <a:ext cx="4191990" cy="215443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覆盖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(cover)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  <m:r>
                          <a:rPr lang="en-US" altLang="zh-CN" sz="20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≼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是偏序集，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≼</m:t>
                    </m:r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记为</a:t>
                </a:r>
                <a14:m>
                  <m:oMath xmlns:m="http://schemas.openxmlformats.org/officeDocument/2006/math"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≺</m:t>
                    </m:r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≺</m:t>
                    </m:r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，且不存在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≺</m:t>
                    </m:r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≺</m:t>
                    </m:r>
                    <m:r>
                      <a:rPr lang="en-US" altLang="zh-CN" sz="20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，则称</a:t>
                </a:r>
                <a14:m>
                  <m:oMath xmlns:m="http://schemas.openxmlformats.org/officeDocument/2006/math">
                    <m:r>
                      <a:rPr lang="en-US" altLang="zh-CN" sz="2000" b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rgbClr val="C00000"/>
                    </a:solidFill>
                  </a:rPr>
                  <a:t>覆盖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endParaRPr lang="zh-CN" altLang="en-US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005" y="3808389"/>
                <a:ext cx="4191990" cy="2154436"/>
              </a:xfrm>
              <a:prstGeom prst="rect">
                <a:avLst/>
              </a:prstGeom>
              <a:blipFill rotWithShape="1">
                <a:blip r:embed="rId6"/>
                <a:stretch>
                  <a:fillRect l="-3" t="-14" r="1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偏序关系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偏序关系判断练习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/>
            </p:nvGraphicFramePr>
            <p:xfrm>
              <a:off x="760888" y="1904741"/>
              <a:ext cx="10619054" cy="7416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4016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924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3511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898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>
                              <a:solidFill>
                                <a:srgbClr val="C00000"/>
                              </a:solidFill>
                            </a:rPr>
                            <a:t>A. </a:t>
                          </a:r>
                          <a:r>
                            <a:rPr lang="zh-CN" altLang="en-US" sz="1800" b="1" i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+mj-lt"/>
                            </a:rPr>
                            <a:t>整数间的大于关系</a:t>
                          </a:r>
                          <a:endParaRPr lang="zh-CN" altLang="en-US" sz="18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>
                              <a:solidFill>
                                <a:srgbClr val="C00000"/>
                              </a:solidFill>
                            </a:rPr>
                            <a:t>B. </a:t>
                          </a:r>
                          <a:r>
                            <a:rPr lang="zh-CN" altLang="en-US" sz="1800" b="1" i="0" kern="12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集合间的子集关系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>
                              <a:solidFill>
                                <a:srgbClr val="C00000"/>
                              </a:solidFill>
                            </a:rPr>
                            <a:t>C. </a:t>
                          </a:r>
                          <a:r>
                            <a:rPr lang="zh-CN" altLang="en-US" sz="1800" b="1" i="0" kern="12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正整数间的整除关系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>
                              <a:solidFill>
                                <a:srgbClr val="C00000"/>
                              </a:solidFill>
                            </a:rPr>
                            <a:t>D. </a:t>
                          </a:r>
                          <a:r>
                            <a:rPr lang="zh-CN" altLang="en-US" sz="1800" b="1" i="0" kern="12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逻辑公式间的蕴含关系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 kern="120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E.</a:t>
                          </a:r>
                          <a:r>
                            <a:rPr lang="en-US" altLang="zh-CN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r>
                            <a:rPr lang="zh-CN" altLang="en-US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程序语言</a:t>
                          </a:r>
                          <a:r>
                            <a:rPr lang="en-US" altLang="zh-CN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C++</a:t>
                          </a:r>
                          <a:r>
                            <a:rPr lang="zh-CN" altLang="en-US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中类之间的继承关系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 kern="120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F.</a:t>
                          </a:r>
                          <a:r>
                            <a:rPr lang="en-US" altLang="zh-CN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lit/>
                                </m:rP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m:rPr>
                                  <m:lit/>
                                </m:rP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r>
                            <a:rPr lang="zh-CN" altLang="en-US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上的关系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lit/>
                                </m:rP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  <m:r>
                                <m:rPr>
                                  <m:lit/>
                                </m:rP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𝚫</m:t>
                                  </m:r>
                                </m:e>
                                <m:sub>
                                  <m: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sub>
                              </m:sSub>
                            </m:oMath>
                          </a14:m>
                          <a:endParaRPr lang="en-US" altLang="zh-CN" sz="18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/>
            </p:nvGraphicFramePr>
            <p:xfrm>
              <a:off x="760888" y="1904741"/>
              <a:ext cx="10619054" cy="7416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401696"/>
                    <a:gridCol w="2492428"/>
                    <a:gridCol w="2735111"/>
                    <a:gridCol w="2989819"/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>
                              <a:solidFill>
                                <a:srgbClr val="C00000"/>
                              </a:solidFill>
                            </a:rPr>
                            <a:t>A. </a:t>
                          </a:r>
                          <a:r>
                            <a:rPr lang="zh-CN" altLang="en-US" sz="1800" b="1" i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+mj-lt"/>
                            </a:rPr>
                            <a:t>整数间的大于关系</a:t>
                          </a:r>
                          <a:endParaRPr lang="zh-CN" altLang="en-US" sz="18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>
                              <a:solidFill>
                                <a:srgbClr val="C00000"/>
                              </a:solidFill>
                            </a:rPr>
                            <a:t>B. </a:t>
                          </a:r>
                          <a:r>
                            <a:rPr lang="zh-CN" altLang="en-US" sz="1800" b="1" i="0" kern="12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集合间的子集关系</a:t>
                          </a:r>
                          <a:endParaRPr lang="zh-CN" altLang="en-US" sz="1800" b="1" i="0" kern="12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>
                              <a:solidFill>
                                <a:srgbClr val="C00000"/>
                              </a:solidFill>
                            </a:rPr>
                            <a:t>C. </a:t>
                          </a:r>
                          <a:r>
                            <a:rPr lang="zh-CN" altLang="en-US" sz="1800" b="1" i="0" kern="12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正整数间的整除关系</a:t>
                          </a:r>
                          <a:endParaRPr lang="zh-CN" altLang="en-US" sz="1800" b="1" i="0" kern="12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>
                              <a:solidFill>
                                <a:srgbClr val="C00000"/>
                              </a:solidFill>
                            </a:rPr>
                            <a:t>D. </a:t>
                          </a:r>
                          <a:r>
                            <a:rPr lang="zh-CN" altLang="en-US" sz="1800" b="1" i="0" kern="12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逻辑公式间的蕴含关系</a:t>
                          </a:r>
                          <a:endParaRPr lang="zh-CN" altLang="en-US" sz="1800" b="1" i="0" kern="12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 kern="120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E.</a:t>
                          </a:r>
                          <a:r>
                            <a:rPr lang="en-US" altLang="zh-CN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r>
                            <a:rPr lang="zh-CN" altLang="en-US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程序语言</a:t>
                          </a:r>
                          <a:r>
                            <a:rPr lang="en-US" altLang="zh-CN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C++</a:t>
                          </a:r>
                          <a:r>
                            <a:rPr lang="zh-CN" altLang="en-US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中类之间的继承关系</a:t>
                          </a:r>
                          <a:endParaRPr lang="zh-CN" altLang="en-US" sz="18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 hMerge="1"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</a:blipFill>
                      </a:tcPr>
                    </a:tc>
                    <a:tc hMerge="1"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文本框 2"/>
          <p:cNvSpPr txBox="1"/>
          <p:nvPr/>
        </p:nvSpPr>
        <p:spPr>
          <a:xfrm>
            <a:off x="760888" y="1380187"/>
            <a:ext cx="6073752" cy="524553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lIns="0" bIns="108000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下面是偏序关系的有</a:t>
            </a:r>
            <a:r>
              <a:rPr lang="zh-CN" altLang="en-US" sz="2400" b="1">
                <a:solidFill>
                  <a:srgbClr val="002060"/>
                </a:solidFill>
                <a:latin typeface="+mn-ea"/>
              </a:rPr>
              <a:t>   </a:t>
            </a:r>
            <a:r>
              <a:rPr lang="en-US" altLang="zh-CN" sz="2400" b="1">
                <a:solidFill>
                  <a:srgbClr val="C00000"/>
                </a:solidFill>
                <a:latin typeface="+mn-ea"/>
              </a:rPr>
              <a:t>B, C, F</a:t>
            </a:r>
            <a:r>
              <a:rPr lang="en-US" altLang="zh-CN" sz="2400" b="1">
                <a:solidFill>
                  <a:srgbClr val="002060"/>
                </a:solidFill>
                <a:latin typeface="+mn-ea"/>
              </a:rPr>
              <a:t>  </a:t>
            </a:r>
            <a:r>
              <a:rPr lang="zh-CN" altLang="en-US" sz="2400" b="1">
                <a:solidFill>
                  <a:srgbClr val="002060"/>
                </a:solidFill>
                <a:latin typeface="+mn-ea"/>
              </a:rPr>
              <a:t>（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多选</a:t>
            </a:r>
            <a:r>
              <a:rPr lang="zh-CN" altLang="en-US" sz="2400" b="1">
                <a:solidFill>
                  <a:srgbClr val="002060"/>
                </a:solidFill>
                <a:latin typeface="+mn-ea"/>
              </a:rPr>
              <a:t>）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3517436" y="1815451"/>
            <a:ext cx="13749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597530" y="1419828"/>
            <a:ext cx="1341565" cy="369332"/>
          </a:xfrm>
          <a:prstGeom prst="rect">
            <a:avLst/>
          </a:prstGeom>
          <a:solidFill>
            <a:srgbClr val="F0F7EC"/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14284" y="3143667"/>
            <a:ext cx="4078089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对于其中不是偏序关系的说明原因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偏序关系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偏序关系判断练习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/>
            </p:nvGraphicFramePr>
            <p:xfrm>
              <a:off x="760888" y="1904741"/>
              <a:ext cx="10619054" cy="7416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4016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924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3511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898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>
                              <a:solidFill>
                                <a:srgbClr val="C00000"/>
                              </a:solidFill>
                            </a:rPr>
                            <a:t>A. </a:t>
                          </a:r>
                          <a:r>
                            <a:rPr lang="zh-CN" altLang="en-US" sz="1800" b="1" i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+mj-lt"/>
                            </a:rPr>
                            <a:t>整数间的大于关系</a:t>
                          </a:r>
                          <a:endParaRPr lang="zh-CN" altLang="en-US" sz="18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>
                              <a:solidFill>
                                <a:srgbClr val="C00000"/>
                              </a:solidFill>
                            </a:rPr>
                            <a:t>B. </a:t>
                          </a:r>
                          <a:r>
                            <a:rPr lang="zh-CN" altLang="en-US" sz="1800" b="1" i="0" kern="12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集合间的子集关系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>
                              <a:solidFill>
                                <a:srgbClr val="C00000"/>
                              </a:solidFill>
                            </a:rPr>
                            <a:t>C. </a:t>
                          </a:r>
                          <a:r>
                            <a:rPr lang="zh-CN" altLang="en-US" sz="1800" b="1" i="0" kern="12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正整数间的整除关系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>
                              <a:solidFill>
                                <a:srgbClr val="C00000"/>
                              </a:solidFill>
                            </a:rPr>
                            <a:t>D. </a:t>
                          </a:r>
                          <a:r>
                            <a:rPr lang="zh-CN" altLang="en-US" sz="1800" b="1" i="0" kern="12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逻辑公式间的蕴含关系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 kern="120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E.</a:t>
                          </a:r>
                          <a:r>
                            <a:rPr lang="en-US" altLang="zh-CN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r>
                            <a:rPr lang="zh-CN" altLang="en-US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程序语言</a:t>
                          </a:r>
                          <a:r>
                            <a:rPr lang="en-US" altLang="zh-CN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C++</a:t>
                          </a:r>
                          <a:r>
                            <a:rPr lang="zh-CN" altLang="en-US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中类之间的继承关系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 kern="120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F.</a:t>
                          </a:r>
                          <a:r>
                            <a:rPr lang="en-US" altLang="zh-CN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lit/>
                                </m:rP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m:rPr>
                                  <m:lit/>
                                </m:rP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oMath>
                          </a14:m>
                          <a:r>
                            <a:rPr lang="zh-CN" altLang="en-US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上的关系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lit/>
                                </m:rP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  <m:r>
                                <m:rPr>
                                  <m:lit/>
                                </m:rP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a:rPr lang="en-US" altLang="zh-CN" sz="18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sSub>
                                <m:sSubPr>
                                  <m:ctrlP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b="1" i="0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𝚫</m:t>
                                  </m:r>
                                </m:e>
                                <m:sub>
                                  <m:r>
                                    <a:rPr lang="en-US" altLang="zh-CN" sz="1800" b="1" i="1" smtClean="0">
                                      <a:solidFill>
                                        <a:schemeClr val="accent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sub>
                              </m:sSub>
                            </m:oMath>
                          </a14:m>
                          <a:endParaRPr lang="en-US" altLang="zh-CN" sz="18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/>
            </p:nvGraphicFramePr>
            <p:xfrm>
              <a:off x="760888" y="1904741"/>
              <a:ext cx="10619054" cy="7416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401696"/>
                    <a:gridCol w="2492428"/>
                    <a:gridCol w="2735111"/>
                    <a:gridCol w="2989819"/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>
                              <a:solidFill>
                                <a:srgbClr val="C00000"/>
                              </a:solidFill>
                            </a:rPr>
                            <a:t>A. </a:t>
                          </a:r>
                          <a:r>
                            <a:rPr lang="zh-CN" altLang="en-US" sz="1800" b="1" i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+mj-lt"/>
                            </a:rPr>
                            <a:t>整数间的大于关系</a:t>
                          </a:r>
                          <a:endParaRPr lang="zh-CN" altLang="en-US" sz="18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>
                              <a:solidFill>
                                <a:srgbClr val="C00000"/>
                              </a:solidFill>
                            </a:rPr>
                            <a:t>B. </a:t>
                          </a:r>
                          <a:r>
                            <a:rPr lang="zh-CN" altLang="en-US" sz="1800" b="1" i="0" kern="12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集合间的子集关系</a:t>
                          </a:r>
                          <a:endParaRPr lang="zh-CN" altLang="en-US" sz="1800" b="1" i="0" kern="12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>
                              <a:solidFill>
                                <a:srgbClr val="C00000"/>
                              </a:solidFill>
                            </a:rPr>
                            <a:t>C. </a:t>
                          </a:r>
                          <a:r>
                            <a:rPr lang="zh-CN" altLang="en-US" sz="1800" b="1" i="0" kern="12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正整数间的整除关系</a:t>
                          </a:r>
                          <a:endParaRPr lang="zh-CN" altLang="en-US" sz="1800" b="1" i="0" kern="12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>
                              <a:solidFill>
                                <a:srgbClr val="C00000"/>
                              </a:solidFill>
                            </a:rPr>
                            <a:t>D. </a:t>
                          </a:r>
                          <a:r>
                            <a:rPr lang="zh-CN" altLang="en-US" sz="1800" b="1" i="0" kern="120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逻辑公式间的蕴含关系</a:t>
                          </a:r>
                          <a:endParaRPr lang="zh-CN" altLang="en-US" sz="1800" b="1" i="0" kern="12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</a:tr>
                  <a:tr h="370840">
                    <a:tc grid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1800" b="1" kern="1200">
                              <a:solidFill>
                                <a:srgbClr val="C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E.</a:t>
                          </a:r>
                          <a:r>
                            <a:rPr lang="en-US" altLang="zh-CN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 </a:t>
                          </a:r>
                          <a:r>
                            <a:rPr lang="zh-CN" altLang="en-US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程序语言</a:t>
                          </a:r>
                          <a:r>
                            <a:rPr lang="en-US" altLang="zh-CN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C++</a:t>
                          </a:r>
                          <a:r>
                            <a:rPr lang="zh-CN" altLang="en-US" sz="1800" b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</a:rPr>
                            <a:t>中类之间的继承关系</a:t>
                          </a:r>
                          <a:endParaRPr lang="zh-CN" altLang="en-US" sz="18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 hMerge="1"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</a:blipFill>
                      </a:tcPr>
                    </a:tc>
                    <a:tc hMerge="1"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20000"/>
                            <a:lumOff val="80000"/>
                            <a:alpha val="5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文本框 2"/>
          <p:cNvSpPr txBox="1"/>
          <p:nvPr/>
        </p:nvSpPr>
        <p:spPr>
          <a:xfrm>
            <a:off x="760888" y="1380187"/>
            <a:ext cx="6073752" cy="524553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lIns="0" bIns="108000" rtlCol="0">
            <a:spAutoFit/>
          </a:bodyPr>
          <a:lstStyle/>
          <a:p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下面是偏序关系的有</a:t>
            </a:r>
            <a:r>
              <a:rPr lang="zh-CN" altLang="en-US" sz="2400" b="1">
                <a:solidFill>
                  <a:srgbClr val="002060"/>
                </a:solidFill>
                <a:latin typeface="+mn-ea"/>
              </a:rPr>
              <a:t>   </a:t>
            </a:r>
            <a:r>
              <a:rPr lang="en-US" altLang="zh-CN" sz="2400" b="1">
                <a:solidFill>
                  <a:srgbClr val="C00000"/>
                </a:solidFill>
                <a:latin typeface="+mn-ea"/>
              </a:rPr>
              <a:t>B, C, F</a:t>
            </a:r>
            <a:r>
              <a:rPr lang="en-US" altLang="zh-CN" sz="2400" b="1">
                <a:solidFill>
                  <a:srgbClr val="002060"/>
                </a:solidFill>
                <a:latin typeface="+mn-ea"/>
              </a:rPr>
              <a:t>  </a:t>
            </a:r>
            <a:r>
              <a:rPr lang="zh-CN" altLang="en-US" sz="2400" b="1">
                <a:solidFill>
                  <a:srgbClr val="002060"/>
                </a:solidFill>
                <a:latin typeface="+mn-ea"/>
              </a:rPr>
              <a:t>（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多选</a:t>
            </a:r>
            <a:r>
              <a:rPr lang="zh-CN" altLang="en-US" sz="2400" b="1">
                <a:solidFill>
                  <a:srgbClr val="002060"/>
                </a:solidFill>
                <a:latin typeface="+mn-ea"/>
              </a:rPr>
              <a:t>）</a:t>
            </a:r>
            <a:r>
              <a:rPr lang="zh-CN" altLang="en-US" sz="24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760888" y="2909675"/>
                <a:ext cx="8156181" cy="221393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整数间的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+mn-ea"/>
                  </a:rPr>
                  <a:t>大于关系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zh-CN" altLang="en-US" sz="2000" b="1" dirty="0">
                    <a:solidFill>
                      <a:srgbClr val="C00000"/>
                    </a:solidFill>
                    <a:latin typeface="+mn-ea"/>
                  </a:rPr>
                  <a:t>不是自反关系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，例如没有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2000" b="1" dirty="0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逻辑公式之间的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+mn-ea"/>
                  </a:rPr>
                  <a:t>蕴含关系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zh-CN" altLang="en-US" sz="2000" b="1" dirty="0">
                    <a:solidFill>
                      <a:srgbClr val="C00000"/>
                    </a:solidFill>
                    <a:latin typeface="+mn-ea"/>
                  </a:rPr>
                  <a:t>不是反对称关系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，例如任何两个等价的公式都是可以双向蕴含的</a:t>
                </a: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程序语言</a:t>
                </a:r>
                <a:r>
                  <a:rPr lang="en-US" altLang="zh-CN" sz="2000" b="1" dirty="0">
                    <a:solidFill>
                      <a:srgbClr val="002060"/>
                    </a:solidFill>
                    <a:latin typeface="+mn-ea"/>
                  </a:rPr>
                  <a:t>C++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中类之间的</a:t>
                </a:r>
                <a:r>
                  <a:rPr lang="zh-CN" altLang="en-US" sz="2000" b="1" dirty="0">
                    <a:solidFill>
                      <a:srgbClr val="C00000"/>
                    </a:solidFill>
                    <a:latin typeface="+mn-ea"/>
                  </a:rPr>
                  <a:t>继承关系不是自反关系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，因为在语法上，</a:t>
                </a:r>
                <a:r>
                  <a:rPr lang="en-US" altLang="zh-CN" sz="2000" b="1" dirty="0">
                    <a:solidFill>
                      <a:srgbClr val="002060"/>
                    </a:solidFill>
                    <a:latin typeface="+mn-ea"/>
                  </a:rPr>
                  <a:t>C++</a:t>
                </a:r>
                <a:r>
                  <a:rPr lang="zh-CN" altLang="en-US" sz="2000" b="1" dirty="0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语言不允许一个类继承自己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88" y="2909675"/>
                <a:ext cx="8156181" cy="2213939"/>
              </a:xfrm>
              <a:prstGeom prst="rect">
                <a:avLst/>
              </a:prstGeom>
              <a:blipFill rotWithShape="1">
                <a:blip r:embed="rId3"/>
                <a:stretch>
                  <a:fillRect l="-2" t="-5" r="5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760888" y="5294146"/>
                <a:ext cx="8730184" cy="48551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注意</a:t>
                </a:r>
                <a:r>
                  <a:rPr lang="en-US" altLang="zh-CN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F</a:t>
                </a:r>
                <a:r>
                  <a:rPr lang="zh-CN" altLang="en-US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给出的关系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是偏序，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bSup>
                      <m:sSubSup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，而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altLang="zh-CN" sz="2000" b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88" y="5294146"/>
                <a:ext cx="8730184" cy="485518"/>
              </a:xfrm>
              <a:prstGeom prst="rect">
                <a:avLst/>
              </a:prstGeom>
              <a:blipFill rotWithShape="1">
                <a:blip r:embed="rId4"/>
                <a:stretch>
                  <a:fillRect l="-2" t="-31" r="4" b="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/>
          <p:cNvCxnSpPr/>
          <p:nvPr/>
        </p:nvCxnSpPr>
        <p:spPr>
          <a:xfrm>
            <a:off x="3517436" y="1815451"/>
            <a:ext cx="137493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偏序关系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偏序关系的哈斯图</a:t>
            </a:r>
            <a:r>
              <a:rPr lang="en-US" altLang="zh-CN"/>
              <a:t>(Hasse diagram)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20957" y="1116976"/>
            <a:ext cx="7955947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偏序关系可用比关系图更简洁的图形</a:t>
            </a:r>
            <a:r>
              <a:rPr lang="en-US" altLang="zh-CN" sz="2400" b="1">
                <a:solidFill>
                  <a:schemeClr val="accent2">
                    <a:lumMod val="50000"/>
                  </a:schemeClr>
                </a:solidFill>
              </a:rPr>
              <a:t>——</a:t>
            </a:r>
            <a:r>
              <a:rPr lang="zh-CN" altLang="en-US" sz="2400" b="1">
                <a:solidFill>
                  <a:srgbClr val="C00000"/>
                </a:solidFill>
              </a:rPr>
              <a:t>哈斯图</a:t>
            </a:r>
            <a:r>
              <a:rPr lang="zh-CN" altLang="en-US" sz="2400" b="1">
                <a:solidFill>
                  <a:schemeClr val="accent2">
                    <a:lumMod val="50000"/>
                  </a:schemeClr>
                </a:solidFill>
              </a:rPr>
              <a:t>直观描述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857204" y="1880850"/>
            <a:ext cx="10477590" cy="4340237"/>
            <a:chOff x="879567" y="1980912"/>
            <a:chExt cx="10477590" cy="4340237"/>
          </a:xfrm>
        </p:grpSpPr>
        <p:sp>
          <p:nvSpPr>
            <p:cNvPr id="3" name="文本框 2"/>
            <p:cNvSpPr txBox="1"/>
            <p:nvPr/>
          </p:nvSpPr>
          <p:spPr>
            <a:xfrm>
              <a:off x="1886345" y="1981661"/>
              <a:ext cx="2839168" cy="461665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accent2">
                      <a:lumMod val="50000"/>
                    </a:schemeClr>
                  </a:solidFill>
                </a:rPr>
                <a:t>偏序关系的关系图</a:t>
              </a: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879567" y="2726804"/>
              <a:ext cx="4851491" cy="1231106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2400" b="1">
                  <a:solidFill>
                    <a:srgbClr val="C00000"/>
                  </a:solidFill>
                </a:rPr>
                <a:t>去掉环</a:t>
              </a:r>
              <a:endParaRPr lang="en-US" altLang="zh-CN" sz="2400" b="1">
                <a:solidFill>
                  <a:srgbClr val="C00000"/>
                </a:solidFill>
              </a:endParaRPr>
            </a:p>
            <a:p>
              <a:pPr>
                <a:spcBef>
                  <a:spcPts val="600"/>
                </a:spcBef>
              </a:pPr>
              <a:r>
                <a:rPr lang="zh-CN" altLang="en-US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偏序关系是自反关系</a:t>
              </a:r>
              <a:endParaRPr lang="en-US" altLang="zh-CN" sz="20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marL="342900" indent="-3429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zh-CN" altLang="en-US" sz="2000" b="1">
                  <a:solidFill>
                    <a:schemeClr val="accent6">
                      <a:lumMod val="50000"/>
                    </a:schemeClr>
                  </a:solidFill>
                </a:rPr>
                <a:t>每个顶点都有环，所以可将所有环去掉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997483" y="4300788"/>
                  <a:ext cx="4615660" cy="2020361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ts val="2800"/>
                    </a:lnSpc>
                    <a:spcBef>
                      <a:spcPts val="600"/>
                    </a:spcBef>
                  </a:pPr>
                  <a:r>
                    <a:rPr lang="zh-CN" altLang="en-US" sz="2400" b="1" dirty="0">
                      <a:solidFill>
                        <a:srgbClr val="C00000"/>
                      </a:solidFill>
                    </a:rPr>
                    <a:t>去掉传递边</a:t>
                  </a:r>
                  <a:endParaRPr lang="en-US" altLang="zh-CN" sz="2400" b="1" dirty="0">
                    <a:solidFill>
                      <a:srgbClr val="C00000"/>
                    </a:solidFill>
                  </a:endParaRPr>
                </a:p>
                <a:p>
                  <a:pPr>
                    <a:lnSpc>
                      <a:spcPts val="2800"/>
                    </a:lnSpc>
                    <a:spcBef>
                      <a:spcPts val="600"/>
                    </a:spcBef>
                  </a:pPr>
                  <a:r>
                    <a:rPr lang="zh-CN" altLang="en-US" sz="2000" b="1" dirty="0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偏序关系是传递关系，它的关系图中任意两个顶点若有有向通路就有直接边</a:t>
                  </a:r>
                </a:p>
                <a:p>
                  <a:pPr marL="342900" indent="-342900">
                    <a:lnSpc>
                      <a:spcPts val="2800"/>
                    </a:lnSpc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为简化这点，只有当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a14:m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覆盖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时才画出从</a:t>
                  </a:r>
                  <a:r>
                    <a:rPr lang="en-US" altLang="zh-CN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a</a:t>
                  </a:r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到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1" i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r>
                    <a:rPr lang="zh-CN" altLang="en-US" sz="2000" b="1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的边</a:t>
                  </a:r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483" y="4300788"/>
                  <a:ext cx="4615660" cy="2020361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/>
                <p:cNvSpPr txBox="1"/>
                <p:nvPr/>
              </p:nvSpPr>
              <p:spPr>
                <a:xfrm>
                  <a:off x="6741497" y="4475194"/>
                  <a:ext cx="4615660" cy="1671548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5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400" b="1">
                      <a:solidFill>
                        <a:srgbClr val="C00000"/>
                      </a:solidFill>
                    </a:rPr>
                    <a:t>省略边的方向</a:t>
                  </a:r>
                  <a:endParaRPr lang="en-US" altLang="zh-CN" sz="2400" b="1">
                    <a:solidFill>
                      <a:srgbClr val="C00000"/>
                    </a:solidFill>
                  </a:endParaRPr>
                </a:p>
                <a:p>
                  <a:pPr>
                    <a:lnSpc>
                      <a:spcPts val="2800"/>
                    </a:lnSpc>
                    <a:spcBef>
                      <a:spcPts val="600"/>
                    </a:spcBef>
                  </a:pP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若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𝒃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覆盖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𝒂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，总是将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𝒃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画在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𝒂</m:t>
                      </m:r>
                    </m:oMath>
                  </a14:m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上方，边的方向总是从下面元素指向上面元素</a:t>
                  </a:r>
                  <a:endPara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342900" indent="-342900">
                    <a:lnSpc>
                      <a:spcPts val="2800"/>
                    </a:lnSpc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这样可省略边的方向，简化成无向图</a:t>
                  </a:r>
                </a:p>
              </p:txBody>
            </p:sp>
          </mc:Choice>
          <mc:Fallback xmlns=""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1497" y="4475194"/>
                  <a:ext cx="4615660" cy="1671548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7118183" y="1980912"/>
                  <a:ext cx="3862285" cy="1671548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400" b="1">
                      <a:solidFill>
                        <a:srgbClr val="C00000"/>
                      </a:solidFill>
                    </a:rPr>
                    <a:t>偏序关系的哈斯图</a:t>
                  </a:r>
                  <a:endParaRPr lang="en-US" altLang="zh-CN" sz="2400" b="1">
                    <a:solidFill>
                      <a:srgbClr val="C00000"/>
                    </a:solidFill>
                  </a:endParaRPr>
                </a:p>
                <a:p>
                  <a:pPr>
                    <a:lnSpc>
                      <a:spcPts val="2800"/>
                    </a:lnSpc>
                    <a:spcBef>
                      <a:spcPts val="600"/>
                    </a:spcBef>
                  </a:pPr>
                  <a:r>
                    <a:rPr lang="zh-CN" altLang="en-US" sz="2000" b="1">
                      <a:solidFill>
                        <a:srgbClr val="00206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没有环也没有重复边的无向图</a:t>
                  </a:r>
                  <a:endParaRPr lang="en-US" altLang="zh-CN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marL="342900" indent="-342900">
                    <a:lnSpc>
                      <a:spcPts val="2800"/>
                    </a:lnSpc>
                    <a:spcBef>
                      <a:spcPts val="600"/>
                    </a:spcBef>
                    <a:buFont typeface="Arial" panose="020B0604020202020204" pitchFamily="34" charset="0"/>
                    <a:buChar char="•"/>
                  </a:pPr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上方顶点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与下方顶点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之间有边当且仅当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a14:m>
                  <a:r>
                    <a:rPr lang="zh-CN" altLang="en-US" sz="2000" b="1">
                      <a:solidFill>
                        <a:schemeClr val="accent6">
                          <a:lumMod val="50000"/>
                        </a:schemeClr>
                      </a:solidFill>
                    </a:rPr>
                    <a:t>覆盖</a:t>
                  </a:r>
                  <a14:m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endParaRPr lang="zh-CN" altLang="en-US" sz="2000" b="1">
                    <a:solidFill>
                      <a:schemeClr val="accent6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8183" y="1980912"/>
                  <a:ext cx="3862285" cy="1671548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箭头: 下 11"/>
            <p:cNvSpPr/>
            <p:nvPr/>
          </p:nvSpPr>
          <p:spPr>
            <a:xfrm>
              <a:off x="3246702" y="2443326"/>
              <a:ext cx="117222" cy="28347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箭头: 下 13"/>
            <p:cNvSpPr/>
            <p:nvPr/>
          </p:nvSpPr>
          <p:spPr>
            <a:xfrm>
              <a:off x="3246702" y="3957910"/>
              <a:ext cx="117222" cy="34287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箭头: 右 14"/>
            <p:cNvSpPr/>
            <p:nvPr/>
          </p:nvSpPr>
          <p:spPr>
            <a:xfrm>
              <a:off x="5613143" y="5239938"/>
              <a:ext cx="1128354" cy="14206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箭头: 上 15"/>
            <p:cNvSpPr/>
            <p:nvPr/>
          </p:nvSpPr>
          <p:spPr>
            <a:xfrm>
              <a:off x="8990715" y="3652460"/>
              <a:ext cx="117222" cy="82273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箭头: 右 17"/>
            <p:cNvSpPr/>
            <p:nvPr/>
          </p:nvSpPr>
          <p:spPr>
            <a:xfrm>
              <a:off x="4725513" y="2137800"/>
              <a:ext cx="2392670" cy="137755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accent2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偏序关系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偏序关系的哈斯图举例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881027" y="1184057"/>
                <a:ext cx="9497746" cy="98488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给定集合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是由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的所有正因子构成的集合，即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定义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上的关系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，对任意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zh-CN" sz="24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27" y="1184057"/>
                <a:ext cx="9497746" cy="984885"/>
              </a:xfrm>
              <a:prstGeom prst="rect">
                <a:avLst/>
              </a:prstGeom>
              <a:blipFill rotWithShape="1">
                <a:blip r:embed="rId2"/>
                <a:stretch>
                  <a:fillRect l="-3" t="-42" r="4" b="-314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28" y="3211202"/>
            <a:ext cx="2778589" cy="256334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512" y="3545093"/>
            <a:ext cx="3349795" cy="189556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9002" y="3225510"/>
            <a:ext cx="2181770" cy="24721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881026" y="2271363"/>
                <a:ext cx="7257958" cy="6463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a-DK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da-DK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r>
                  <a:rPr lang="en-US" altLang="zh-CN" b="1" i="1">
                    <a:solidFill>
                      <a:schemeClr val="accent2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da-DK" altLang="zh-CN" b="1">
                    <a:solidFill>
                      <a:schemeClr val="accent2">
                        <a:lumMod val="50000"/>
                      </a:schemeClr>
                    </a:solidFill>
                  </a:rPr>
                  <a:t>         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e>
                    </m:d>
                    <m: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a-DK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e>
                    </m:d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da-DK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26" y="2271363"/>
                <a:ext cx="7257958" cy="646331"/>
              </a:xfrm>
              <a:prstGeom prst="rect">
                <a:avLst/>
              </a:prstGeom>
              <a:blipFill rotWithShape="1">
                <a:blip r:embed="rId6"/>
                <a:stretch>
                  <a:fillRect l="-4" t="-93" r="-452" b="-767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1621785" y="5879355"/>
                <a:ext cx="1261473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的关系图</a:t>
                </a: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785" y="5879355"/>
                <a:ext cx="1261473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50" t="-142" r="28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5422601" y="5797311"/>
                <a:ext cx="1955616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掉环后的中间图</a:t>
                </a: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601" y="5797311"/>
                <a:ext cx="1955616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17" t="-107" r="8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9612477" y="5797311"/>
                <a:ext cx="1274820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的哈斯图</a:t>
                </a: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477" y="5797311"/>
                <a:ext cx="1274820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38" t="-107" r="17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8897274" y="2269850"/>
            <a:ext cx="2705225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为使被覆盖元素总排列在覆盖它的元素下面，哈斯图中调整了元素排列位置</a:t>
            </a:r>
          </a:p>
        </p:txBody>
      </p:sp>
      <p:sp>
        <p:nvSpPr>
          <p:cNvPr id="18" name="箭头: 右 17"/>
          <p:cNvSpPr/>
          <p:nvPr/>
        </p:nvSpPr>
        <p:spPr>
          <a:xfrm>
            <a:off x="3641817" y="4416118"/>
            <a:ext cx="1083695" cy="1535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/>
          <p:cNvSpPr/>
          <p:nvPr/>
        </p:nvSpPr>
        <p:spPr>
          <a:xfrm>
            <a:off x="8075307" y="4407435"/>
            <a:ext cx="1083695" cy="131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偏序关系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22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偏序集的特殊元素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745315" y="1196549"/>
                <a:ext cx="2621982" cy="46166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,≼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是偏序集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315" y="1196549"/>
                <a:ext cx="2621982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18" t="-45" r="20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745315" y="1996693"/>
                <a:ext cx="4927970" cy="161505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极大元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(maximal element)</a:t>
                </a:r>
              </a:p>
              <a:p>
                <a:pPr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极大元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，如果对任意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≼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，即：</a:t>
                </a:r>
              </a:p>
              <a:p>
                <a:pPr algn="ctr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是极大元当且仅当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≼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endParaRPr lang="zh-CN" altLang="en-US" b="1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315" y="1996693"/>
                <a:ext cx="4927970" cy="1615058"/>
              </a:xfrm>
              <a:prstGeom prst="rect">
                <a:avLst/>
              </a:prstGeom>
              <a:blipFill rotWithShape="1">
                <a:blip r:embed="rId3"/>
                <a:stretch>
                  <a:fillRect l="-9" t="-16" r="4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518716" y="1996693"/>
                <a:ext cx="4927970" cy="161505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极小元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(minimal element)</a:t>
                </a:r>
              </a:p>
              <a:p>
                <a:pPr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极小元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，如果对任意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≼</m:t>
                    </m:r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</a:p>
              <a:p>
                <a:pPr algn="ctr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是极小元当且仅当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≼</m:t>
                        </m:r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716" y="1996693"/>
                <a:ext cx="4927970" cy="1615058"/>
              </a:xfrm>
              <a:prstGeom prst="rect">
                <a:avLst/>
              </a:prstGeom>
              <a:blipFill rotWithShape="1">
                <a:blip r:embed="rId4"/>
                <a:stretch>
                  <a:fillRect l="-9" t="-16" r="4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260870" y="4173630"/>
                <a:ext cx="4099318" cy="161505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最大元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(greatest element)</a:t>
                </a:r>
              </a:p>
              <a:p>
                <a:pPr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最大元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，如果对任意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≼</m:t>
                    </m:r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，即：</a:t>
                </a:r>
              </a:p>
              <a:p>
                <a:pPr algn="ctr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是最大元当且仅当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≼</m:t>
                        </m:r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870" y="4173630"/>
                <a:ext cx="4099318" cy="1615058"/>
              </a:xfrm>
              <a:prstGeom prst="rect">
                <a:avLst/>
              </a:prstGeom>
              <a:blipFill rotWithShape="1">
                <a:blip r:embed="rId5"/>
                <a:stretch>
                  <a:fillRect l="-10" t="-25" r="4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6906946" y="4173630"/>
                <a:ext cx="4151510" cy="161505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C00000"/>
                    </a:solidFill>
                  </a:rPr>
                  <a:t>最小元</a:t>
                </a:r>
                <a:r>
                  <a:rPr lang="en-US" altLang="zh-CN" sz="2000" b="1">
                    <a:solidFill>
                      <a:srgbClr val="C00000"/>
                    </a:solidFill>
                  </a:rPr>
                  <a:t>(greatest element)</a:t>
                </a:r>
              </a:p>
              <a:p>
                <a:pPr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b="1">
                    <a:solidFill>
                      <a:srgbClr val="C00000"/>
                    </a:solidFill>
                    <a:latin typeface="+mn-ea"/>
                  </a:rPr>
                  <a:t>最小元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，如果对任意的元素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≼</m:t>
                    </m:r>
                    <m:r>
                      <a:rPr lang="en-US" altLang="zh-CN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，即：</a:t>
                </a:r>
              </a:p>
              <a:p>
                <a:pPr algn="ctr">
                  <a:lnSpc>
                    <a:spcPts val="2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是最小元当且仅当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≼</m:t>
                        </m:r>
                        <m:r>
                          <a:rPr lang="en-US" altLang="zh-CN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6946" y="4173630"/>
                <a:ext cx="4151510" cy="1615058"/>
              </a:xfrm>
              <a:prstGeom prst="rect">
                <a:avLst/>
              </a:prstGeom>
              <a:blipFill rotWithShape="1">
                <a:blip r:embed="rId6"/>
                <a:stretch>
                  <a:fillRect l="-1" t="-25" r="14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6844651" y="1081068"/>
            <a:ext cx="4598698" cy="6926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没有元素比极大元大、没有元素比极小元小</a:t>
            </a:r>
            <a:endParaRPr lang="en-US" altLang="zh-CN" b="1">
              <a:solidFill>
                <a:schemeClr val="accent2">
                  <a:lumMod val="50000"/>
                </a:schemeClr>
              </a:solidFill>
            </a:endParaRPr>
          </a:p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最大元比所有元素大、最小元比所有元素小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偏序关系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23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偏序集特殊元素举例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50874" y="1204081"/>
                <a:ext cx="9120641" cy="184665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，考虑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，而：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endParaRPr lang="en-US" altLang="zh-CN" sz="20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endParaRPr lang="en-US" altLang="zh-CN" sz="2000" b="1">
                  <a:solidFill>
                    <a:srgbClr val="002060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给出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分别以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为偏序的偏序集的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最大元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最小元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极大元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极小元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74" y="1204081"/>
                <a:ext cx="9120641" cy="1846659"/>
              </a:xfrm>
              <a:prstGeom prst="rect">
                <a:avLst/>
              </a:prstGeom>
              <a:blipFill rotWithShape="1">
                <a:blip r:embed="rId2"/>
                <a:stretch>
                  <a:fillRect l="-3" t="-7" r="-1979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10071749" y="1804244"/>
            <a:ext cx="1822125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画出偏序集的哈斯图以方便判断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546201" y="3256785"/>
            <a:ext cx="9529986" cy="2996650"/>
            <a:chOff x="1184715" y="3288693"/>
            <a:chExt cx="9529986" cy="29966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74935" y="3846177"/>
              <a:ext cx="2391957" cy="583404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66138" y="3288693"/>
              <a:ext cx="1770815" cy="169837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23810" y="3288693"/>
              <a:ext cx="1690891" cy="1698373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1576421" y="5085014"/>
              <a:ext cx="1988987" cy="120032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rgbClr val="C00000"/>
                  </a:solidFill>
                </a:rPr>
                <a:t>最大元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：没有</a:t>
              </a:r>
              <a:endParaRPr lang="en-US" altLang="zh-CN" b="1">
                <a:solidFill>
                  <a:schemeClr val="accent2">
                    <a:lumMod val="50000"/>
                  </a:schemeClr>
                </a:solidFill>
              </a:endParaRPr>
            </a:p>
            <a:p>
              <a:r>
                <a:rPr lang="zh-CN" altLang="en-US" b="1">
                  <a:solidFill>
                    <a:srgbClr val="C00000"/>
                  </a:solidFill>
                </a:rPr>
                <a:t>最小元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：没有</a:t>
              </a:r>
              <a:endParaRPr lang="en-US" altLang="zh-CN" b="1">
                <a:solidFill>
                  <a:schemeClr val="accent2">
                    <a:lumMod val="50000"/>
                  </a:schemeClr>
                </a:solidFill>
              </a:endParaRPr>
            </a:p>
            <a:p>
              <a:r>
                <a:rPr lang="zh-CN" altLang="en-US" b="1">
                  <a:solidFill>
                    <a:srgbClr val="C00000"/>
                  </a:solidFill>
                </a:rPr>
                <a:t>极大元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：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1, 2, 3, 4</a:t>
              </a:r>
              <a:r>
                <a:rPr lang="zh-CN" altLang="en-US" b="1">
                  <a:solidFill>
                    <a:srgbClr val="C00000"/>
                  </a:solidFill>
                </a:rPr>
                <a:t>极小元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：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1, 2, 3, 4</a:t>
              </a:r>
              <a:endParaRPr lang="zh-CN" altLang="en-US" b="1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350910" y="5085014"/>
              <a:ext cx="1601270" cy="120032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rgbClr val="C00000"/>
                  </a:solidFill>
                </a:rPr>
                <a:t>最大元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：没有</a:t>
              </a:r>
              <a:endParaRPr lang="en-US" altLang="zh-CN" b="1">
                <a:solidFill>
                  <a:schemeClr val="accent2">
                    <a:lumMod val="50000"/>
                  </a:schemeClr>
                </a:solidFill>
              </a:endParaRPr>
            </a:p>
            <a:p>
              <a:r>
                <a:rPr lang="zh-CN" altLang="en-US" b="1">
                  <a:solidFill>
                    <a:srgbClr val="C00000"/>
                  </a:solidFill>
                </a:rPr>
                <a:t>最小元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：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1</a:t>
              </a:r>
            </a:p>
            <a:p>
              <a:r>
                <a:rPr lang="zh-CN" altLang="en-US" b="1">
                  <a:solidFill>
                    <a:srgbClr val="C00000"/>
                  </a:solidFill>
                </a:rPr>
                <a:t>极大元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：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3, 4</a:t>
              </a:r>
            </a:p>
            <a:p>
              <a:r>
                <a:rPr lang="zh-CN" altLang="en-US" b="1">
                  <a:solidFill>
                    <a:srgbClr val="C00000"/>
                  </a:solidFill>
                </a:rPr>
                <a:t>极小元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：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1</a:t>
              </a:r>
              <a:endParaRPr lang="zh-CN" altLang="en-US" b="1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196536" y="5085014"/>
              <a:ext cx="1345437" cy="120032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rgbClr val="C00000"/>
                  </a:solidFill>
                </a:rPr>
                <a:t>最大元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：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4</a:t>
              </a:r>
            </a:p>
            <a:p>
              <a:r>
                <a:rPr lang="zh-CN" altLang="en-US" b="1">
                  <a:solidFill>
                    <a:srgbClr val="C00000"/>
                  </a:solidFill>
                </a:rPr>
                <a:t>最小元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：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1</a:t>
              </a:r>
            </a:p>
            <a:p>
              <a:r>
                <a:rPr lang="zh-CN" altLang="en-US" b="1">
                  <a:solidFill>
                    <a:srgbClr val="C00000"/>
                  </a:solidFill>
                </a:rPr>
                <a:t>极大元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：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4</a:t>
              </a:r>
            </a:p>
            <a:p>
              <a:r>
                <a:rPr lang="zh-CN" altLang="en-US" b="1">
                  <a:solidFill>
                    <a:srgbClr val="C00000"/>
                  </a:solidFill>
                </a:rPr>
                <a:t>极小元</a:t>
              </a:r>
              <a:r>
                <a:rPr lang="zh-CN" altLang="en-US" b="1">
                  <a:solidFill>
                    <a:schemeClr val="accent2">
                      <a:lumMod val="50000"/>
                    </a:schemeClr>
                  </a:solidFill>
                </a:rPr>
                <a:t>：</a:t>
              </a:r>
              <a:r>
                <a:rPr lang="en-US" altLang="zh-CN" b="1">
                  <a:solidFill>
                    <a:schemeClr val="accent2">
                      <a:lumMod val="50000"/>
                    </a:schemeClr>
                  </a:solidFill>
                </a:rPr>
                <a:t>1</a:t>
              </a:r>
              <a:endParaRPr lang="zh-CN" altLang="en-US" b="1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1184715" y="3428999"/>
                  <a:ext cx="1378275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的哈斯图</a:t>
                  </a:r>
                </a:p>
              </p:txBody>
            </p:sp>
          </mc:Choice>
          <mc:Fallback xmlns=""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4715" y="3428999"/>
                  <a:ext cx="1378275" cy="369332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3847816" y="3288693"/>
                  <a:ext cx="1378275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的哈斯图</a:t>
                  </a:r>
                </a:p>
              </p:txBody>
            </p:sp>
          </mc:Choice>
          <mc:Fallback xmlns=""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7816" y="3288693"/>
                  <a:ext cx="1378275" cy="369332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7601541" y="3288693"/>
                  <a:ext cx="1378275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a14:m>
                  <a:r>
                    <a:rPr lang="zh-CN" altLang="en-US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的哈斯图</a:t>
                  </a:r>
                </a:p>
              </p:txBody>
            </p:sp>
          </mc:Choice>
          <mc:Fallback xmlns=""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1541" y="3288693"/>
                  <a:ext cx="1378275" cy="369332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文本框 19"/>
          <p:cNvSpPr txBox="1"/>
          <p:nvPr/>
        </p:nvSpPr>
        <p:spPr>
          <a:xfrm>
            <a:off x="10231412" y="3294699"/>
            <a:ext cx="1575693" cy="10004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极大元或极小元可能没有也可能有多个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0231412" y="4755110"/>
            <a:ext cx="1575693" cy="13081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最大元或最小元可能没有，但如果存在则是唯一的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偏序关系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24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偏序集特殊元素练习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750874" y="1204081"/>
                <a:ext cx="9120641" cy="166199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𝟑𝟔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，以整除关系为偏序：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(1) 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极小元：</a:t>
                </a:r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1</a:t>
                </a:r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			(2) 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极大元：</a:t>
                </a:r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20,36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(3) 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最小元：</a:t>
                </a:r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1</a:t>
                </a:r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			(4) 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最大元：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没有</a:t>
                </a:r>
                <a:endParaRPr lang="en-US" altLang="zh-CN" sz="2400" b="1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74" y="1204081"/>
                <a:ext cx="9120641" cy="1661993"/>
              </a:xfrm>
              <a:prstGeom prst="rect">
                <a:avLst/>
              </a:prstGeom>
              <a:blipFill rotWithShape="1">
                <a:blip r:embed="rId2"/>
                <a:stretch>
                  <a:fillRect l="-3" t="-7" r="5" b="-18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10038376" y="1711911"/>
            <a:ext cx="161521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建议画出哈斯图以方便判断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50874" y="2939493"/>
            <a:ext cx="928750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填“没有”或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中的元素，有多个元素时用英文逗号分隔，从小到大排列，中间不留任何空格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2843317" y="2201459"/>
            <a:ext cx="172868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853328" y="2795484"/>
            <a:ext cx="172868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053784" y="2228156"/>
            <a:ext cx="172868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7053784" y="2795484"/>
            <a:ext cx="172868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853328" y="1831380"/>
            <a:ext cx="1728683" cy="353943"/>
          </a:xfrm>
          <a:prstGeom prst="rect">
            <a:avLst/>
          </a:prstGeom>
          <a:solidFill>
            <a:srgbClr val="F0F7EC"/>
          </a:solidFill>
        </p:spPr>
        <p:txBody>
          <a:bodyPr wrap="square" bIns="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(1)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853328" y="2408578"/>
            <a:ext cx="1728683" cy="353943"/>
          </a:xfrm>
          <a:prstGeom prst="rect">
            <a:avLst/>
          </a:prstGeom>
          <a:solidFill>
            <a:srgbClr val="F0F7EC"/>
          </a:solidFill>
        </p:spPr>
        <p:txBody>
          <a:bodyPr wrap="square" bIns="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(3)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048734" y="1850628"/>
            <a:ext cx="1728683" cy="353943"/>
          </a:xfrm>
          <a:prstGeom prst="rect">
            <a:avLst/>
          </a:prstGeom>
          <a:solidFill>
            <a:srgbClr val="F0F7EC"/>
          </a:solidFill>
        </p:spPr>
        <p:txBody>
          <a:bodyPr wrap="square" bIns="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(2)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48734" y="2417955"/>
            <a:ext cx="1728683" cy="353943"/>
          </a:xfrm>
          <a:prstGeom prst="rect">
            <a:avLst/>
          </a:prstGeom>
          <a:solidFill>
            <a:srgbClr val="F0F7EC"/>
          </a:solidFill>
        </p:spPr>
        <p:txBody>
          <a:bodyPr wrap="square" bIns="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(4)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偏序关系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25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偏序集特殊元素练习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750874" y="1204081"/>
                <a:ext cx="9120641" cy="166199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𝟑𝟔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，以整除关系为偏序：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(1) 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极小元：</a:t>
                </a:r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1</a:t>
                </a:r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			(2) 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极大元：</a:t>
                </a:r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20,36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(3) 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最小元：</a:t>
                </a:r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1</a:t>
                </a:r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			(4) </a:t>
                </a:r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最大元：</a:t>
                </a:r>
                <a:r>
                  <a:rPr lang="zh-CN" altLang="en-US" sz="2400" b="1">
                    <a:solidFill>
                      <a:srgbClr val="C00000"/>
                    </a:solidFill>
                    <a:latin typeface="+mn-ea"/>
                  </a:rPr>
                  <a:t>没有</a:t>
                </a:r>
                <a:endParaRPr lang="en-US" altLang="zh-CN" sz="2400" b="1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74" y="1204081"/>
                <a:ext cx="9120641" cy="1661993"/>
              </a:xfrm>
              <a:prstGeom prst="rect">
                <a:avLst/>
              </a:prstGeom>
              <a:blipFill rotWithShape="1">
                <a:blip r:embed="rId2"/>
                <a:stretch>
                  <a:fillRect l="-3" t="-7" r="5" b="-18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710" y="3026512"/>
            <a:ext cx="5078967" cy="312065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918125" y="3026512"/>
            <a:ext cx="23465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偏序集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(A, |)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的哈斯图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2843317" y="2201459"/>
            <a:ext cx="172868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2853328" y="2795484"/>
            <a:ext cx="172868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053784" y="2228156"/>
            <a:ext cx="172868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7053784" y="2795484"/>
            <a:ext cx="172868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偏序关系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26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偏序集子集的上下界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745315" y="1196549"/>
                <a:ext cx="5909114" cy="46166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,≼</m:t>
                        </m:r>
                      </m:e>
                    </m:d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是偏序集，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chemeClr val="accent2">
                        <a:lumMod val="50000"/>
                      </a:schemeClr>
                    </a:solidFill>
                  </a:rPr>
                  <a:t>的子集，即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zh-CN" altLang="en-US" sz="2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315" y="1196549"/>
                <a:ext cx="5909114" cy="461665"/>
              </a:xfrm>
              <a:prstGeom prst="rect">
                <a:avLst/>
              </a:prstGeom>
              <a:blipFill rotWithShape="1">
                <a:blip r:embed="rId2"/>
                <a:stretch>
                  <a:fillRect l="-8" t="-45" r="4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912176" y="2008507"/>
                <a:ext cx="4801156" cy="175650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3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上界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(upper bound)</a:t>
                </a:r>
              </a:p>
              <a:p>
                <a:pPr>
                  <a:lnSpc>
                    <a:spcPts val="28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上界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，如果对任意元素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≼</m:t>
                    </m:r>
                    <m:r>
                      <a:rPr lang="en-US" altLang="zh-CN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，即：</a:t>
                </a:r>
              </a:p>
              <a:p>
                <a:pPr algn="ctr">
                  <a:lnSpc>
                    <a:spcPts val="3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上界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≼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endParaRPr lang="en-US" altLang="zh-CN" sz="2000" b="1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176" y="2008507"/>
                <a:ext cx="4801156" cy="1756506"/>
              </a:xfrm>
              <a:prstGeom prst="rect">
                <a:avLst/>
              </a:prstGeom>
              <a:blipFill rotWithShape="1">
                <a:blip r:embed="rId3"/>
                <a:stretch>
                  <a:fillRect l="-7" r="5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478670" y="2008507"/>
                <a:ext cx="4801155" cy="175650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3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下界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(lower bound)</a:t>
                </a:r>
              </a:p>
              <a:p>
                <a:pPr>
                  <a:lnSpc>
                    <a:spcPts val="28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下界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，如果对任意元素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∈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≼</m:t>
                    </m:r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，即：</a:t>
                </a:r>
              </a:p>
              <a:p>
                <a:pPr algn="ctr">
                  <a:lnSpc>
                    <a:spcPts val="3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下界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≼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endParaRPr lang="en-US" altLang="zh-CN" sz="2000" b="1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670" y="2008507"/>
                <a:ext cx="4801155" cy="1756506"/>
              </a:xfrm>
              <a:prstGeom prst="rect">
                <a:avLst/>
              </a:prstGeom>
              <a:blipFill rotWithShape="1">
                <a:blip r:embed="rId4"/>
                <a:stretch>
                  <a:fillRect l="-8" r="7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857112" y="3922792"/>
                <a:ext cx="4911284" cy="214122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3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上确界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(least upper bound)</a:t>
                </a:r>
              </a:p>
              <a:p>
                <a:pPr>
                  <a:lnSpc>
                    <a:spcPts val="3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上确界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所有上界中最小元，即</a:t>
                </a:r>
                <a:endParaRPr lang="en-US" altLang="zh-CN" sz="20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ts val="3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上确界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的上界且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的上界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≼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12" y="3922792"/>
                <a:ext cx="4911284" cy="2141227"/>
              </a:xfrm>
              <a:prstGeom prst="rect">
                <a:avLst/>
              </a:prstGeom>
              <a:blipFill rotWithShape="1">
                <a:blip r:embed="rId5"/>
                <a:stretch>
                  <a:fillRect l="-10" t="-19" r="1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6390509" y="3922792"/>
                <a:ext cx="4977475" cy="214122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3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en-US" sz="2400" b="1">
                    <a:solidFill>
                      <a:srgbClr val="C00000"/>
                    </a:solidFill>
                  </a:rPr>
                  <a:t>下确界</a:t>
                </a:r>
                <a:r>
                  <a:rPr lang="en-US" altLang="zh-CN" sz="2400" b="1">
                    <a:solidFill>
                      <a:srgbClr val="C00000"/>
                    </a:solidFill>
                  </a:rPr>
                  <a:t>(greatest lower bound)</a:t>
                </a:r>
              </a:p>
              <a:p>
                <a:pPr>
                  <a:lnSpc>
                    <a:spcPts val="3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的元素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下确界</a:t>
                </a:r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所有下界中最大元，即</a:t>
                </a:r>
              </a:p>
              <a:p>
                <a:pPr marL="342900" indent="-342900">
                  <a:lnSpc>
                    <a:spcPts val="3000"/>
                  </a:lnSpc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  <a:latin typeface="+mn-ea"/>
                  </a:rPr>
                  <a:t>下确界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的下界且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的下界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≼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509" y="3922792"/>
                <a:ext cx="4977475" cy="2141227"/>
              </a:xfrm>
              <a:prstGeom prst="rect">
                <a:avLst/>
              </a:prstGeom>
              <a:blipFill rotWithShape="1">
                <a:blip r:embed="rId6"/>
                <a:stretch>
                  <a:fillRect l="-10" t="-19" r="4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7123034" y="1081068"/>
                <a:ext cx="4244950" cy="69262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子集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的上下界、上下确界都可能是整个集合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的元素，而不一定只是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的元素</a:t>
                </a: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034" y="1081068"/>
                <a:ext cx="4244950" cy="692626"/>
              </a:xfrm>
              <a:prstGeom prst="rect">
                <a:avLst/>
              </a:prstGeom>
              <a:blipFill rotWithShape="1">
                <a:blip r:embed="rId7"/>
                <a:stretch>
                  <a:fillRect l="-6" t="-43" r="5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偏序关系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27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偏序集子集的上下界举例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06378" y="1161854"/>
                <a:ext cx="10406585" cy="178215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4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𝟏𝟐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的正因子和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𝟏𝟖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的正因子构成的集合，即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𝟔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𝟗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𝟏𝟖</m:t>
                    </m:r>
                    <m:r>
                      <m:rPr>
                        <m:lit/>
                      </m:rP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，以整除关系构成偏序集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|)</m:t>
                    </m:r>
                  </m:oMath>
                </a14:m>
                <a:endParaRPr lang="en-US" altLang="zh-CN" sz="2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(A, |)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极大元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、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极小元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、 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最大元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、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最小元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分别是什么？</a:t>
                </a:r>
              </a:p>
              <a:p>
                <a:pPr marL="342900" indent="-342900">
                  <a:lnSpc>
                    <a:spcPts val="3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000" b="1">
                    <a:solidFill>
                      <a:schemeClr val="accent6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0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m:rPr>
                        <m:lit/>
                      </m:rPr>
                      <a:rPr lang="en-US" altLang="zh-CN" sz="20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，给出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上界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、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下界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、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上确界</a:t>
                </a:r>
                <a:r>
                  <a:rPr lang="zh-CN" altLang="en-US" sz="200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:r>
                  <a:rPr lang="zh-CN" altLang="en-US" sz="2000" b="1">
                    <a:solidFill>
                      <a:srgbClr val="C00000"/>
                    </a:solidFill>
                  </a:rPr>
                  <a:t>下确界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78" y="1161854"/>
                <a:ext cx="10406585" cy="1782155"/>
              </a:xfrm>
              <a:prstGeom prst="rect">
                <a:avLst/>
              </a:prstGeom>
              <a:blipFill rotWithShape="1">
                <a:blip r:embed="rId2"/>
                <a:stretch>
                  <a:fillRect l="-2" t="-25" r="4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8" y="3145336"/>
            <a:ext cx="3197369" cy="25508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: 圆角 3"/>
              <p:cNvSpPr/>
              <p:nvPr/>
            </p:nvSpPr>
            <p:spPr>
              <a:xfrm>
                <a:off x="654096" y="3771163"/>
                <a:ext cx="3784415" cy="589750"/>
              </a:xfrm>
              <a:prstGeom prst="roundRect">
                <a:avLst/>
              </a:prstGeom>
              <a:noFill/>
              <a:ln>
                <a:solidFill>
                  <a:srgbClr val="00206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b="1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矩形: 圆角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96" y="3771163"/>
                <a:ext cx="3784415" cy="589750"/>
              </a:xfrm>
              <a:prstGeom prst="roundRect">
                <a:avLst/>
              </a:prstGeom>
              <a:blipFill rotWithShape="1">
                <a:blip r:embed="rId4"/>
                <a:stretch>
                  <a:fillRect l="-169" t="-1167" r="-155" b="-1014"/>
                </a:stretch>
              </a:blipFill>
              <a:ln>
                <a:solidFill>
                  <a:srgbClr val="00206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: 圆角 5"/>
              <p:cNvSpPr/>
              <p:nvPr/>
            </p:nvSpPr>
            <p:spPr>
              <a:xfrm>
                <a:off x="1348239" y="3771162"/>
                <a:ext cx="1835475" cy="1335233"/>
              </a:xfrm>
              <a:prstGeom prst="roundRect">
                <a:avLst>
                  <a:gd name="adj" fmla="val 17139"/>
                </a:avLst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 xmlns="">
          <p:sp>
            <p:nvSpPr>
              <p:cNvPr id="6" name="矩形: 圆角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239" y="3771162"/>
                <a:ext cx="1835475" cy="1335233"/>
              </a:xfrm>
              <a:prstGeom prst="roundRect">
                <a:avLst>
                  <a:gd name="adj" fmla="val 17139"/>
                </a:avLst>
              </a:prstGeom>
              <a:blipFill rotWithShape="1">
                <a:blip r:embed="rId5"/>
                <a:stretch>
                  <a:fillRect l="-353" t="-515" r="-321" b="-449"/>
                </a:stretch>
              </a:blipFill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4592022" y="3141213"/>
            <a:ext cx="710829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chemeClr val="accent2">
                    <a:lumMod val="50000"/>
                  </a:schemeClr>
                </a:solidFill>
              </a:rPr>
              <a:t>(A, |)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的极大元有</a:t>
            </a:r>
            <a:r>
              <a:rPr lang="en-US" altLang="zh-CN" sz="2000" b="1">
                <a:solidFill>
                  <a:schemeClr val="accent2">
                    <a:lumMod val="50000"/>
                  </a:schemeClr>
                </a:solidFill>
              </a:rPr>
              <a:t>12, 18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，极小元有</a:t>
            </a:r>
            <a:r>
              <a:rPr lang="en-US" altLang="zh-CN" sz="2000" b="1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zh-CN" altLang="en-US" sz="2000" b="1">
                <a:solidFill>
                  <a:schemeClr val="accent2">
                    <a:lumMod val="50000"/>
                  </a:schemeClr>
                </a:solidFill>
              </a:rPr>
              <a:t>，没有最大元，最小元是</a:t>
            </a:r>
            <a:r>
              <a:rPr lang="en-US" altLang="zh-CN" sz="2000" b="1">
                <a:solidFill>
                  <a:schemeClr val="accent2">
                    <a:lumMod val="50000"/>
                  </a:schemeClr>
                </a:solidFill>
              </a:rPr>
              <a:t>1</a:t>
            </a:r>
            <a:endParaRPr lang="zh-CN" altLang="en-US" sz="2000" b="1">
              <a:solidFill>
                <a:schemeClr val="accent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4592022" y="3770862"/>
                <a:ext cx="6807943" cy="4001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没有上界，下界有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1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，没有上确界，下确界是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1</a:t>
                </a:r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022" y="3770862"/>
                <a:ext cx="6807943" cy="400110"/>
              </a:xfrm>
              <a:prstGeom prst="rect">
                <a:avLst/>
              </a:prstGeom>
              <a:blipFill rotWithShape="1">
                <a:blip r:embed="rId6"/>
                <a:stretch>
                  <a:fillRect l="-5" t="-58" r="7" b="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4592022" y="4395911"/>
                <a:ext cx="7205988" cy="40011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</m:oMath>
                </a14:m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上界有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6,12,18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，下界有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1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，上确界是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6</a:t>
                </a:r>
                <a:r>
                  <a:rPr lang="zh-CN" altLang="en-US" sz="2000" b="1">
                    <a:solidFill>
                      <a:schemeClr val="accent2">
                        <a:lumMod val="50000"/>
                      </a:schemeClr>
                    </a:solidFill>
                  </a:rPr>
                  <a:t>，下确界是</a:t>
                </a:r>
                <a:r>
                  <a:rPr lang="en-US" altLang="zh-CN" sz="2000" b="1">
                    <a:solidFill>
                      <a:schemeClr val="accent2">
                        <a:lumMod val="50000"/>
                      </a:schemeClr>
                    </a:solidFill>
                  </a:rPr>
                  <a:t>1</a:t>
                </a:r>
                <a:endParaRPr lang="zh-CN" altLang="en-US" sz="20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022" y="4395911"/>
                <a:ext cx="7205988" cy="400110"/>
              </a:xfrm>
              <a:prstGeom prst="rect">
                <a:avLst/>
              </a:prstGeom>
              <a:blipFill rotWithShape="1">
                <a:blip r:embed="rId7"/>
                <a:stretch>
                  <a:fillRect l="-5" t="-110" r="5" b="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4592022" y="5003520"/>
            <a:ext cx="6893600" cy="6926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偏序集的一个子集可能没有上界或下界，也可能有多个上界或下界；可能没有上确界或下确界，但如果有，则有唯一的上确界或下确界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96249" y="5899044"/>
            <a:ext cx="109995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偏序集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本身的上确界、下确界如果存在是什么？空集作为偏序集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zh-CN" altLang="en-US" b="1" dirty="0">
                <a:solidFill>
                  <a:srgbClr val="FF0000"/>
                </a:solidFill>
              </a:rPr>
              <a:t>的子集，其上下确界如果存在又是什么？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偏序关系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28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偏序集特殊元素练习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750874" y="1204081"/>
                <a:ext cx="10295345" cy="166199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𝟑𝟔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，以整除关系为偏序</a:t>
                </a:r>
                <a:r>
                  <a: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,S={2,3,4}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(1)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的上界：</a:t>
                </a:r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12,36</a:t>
                </a:r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			(2)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的下界：</a:t>
                </a:r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1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(3)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的上确界：</a:t>
                </a:r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12</a:t>
                </a:r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			(4)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的下确界：</a:t>
                </a:r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1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74" y="1204081"/>
                <a:ext cx="10295345" cy="1661993"/>
              </a:xfrm>
              <a:prstGeom prst="rect">
                <a:avLst/>
              </a:prstGeom>
              <a:blipFill rotWithShape="1">
                <a:blip r:embed="rId2"/>
                <a:stretch>
                  <a:fillRect l="-3" t="-7" r="4" b="-18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/>
          <p:cNvCxnSpPr/>
          <p:nvPr/>
        </p:nvCxnSpPr>
        <p:spPr>
          <a:xfrm>
            <a:off x="3030202" y="2228156"/>
            <a:ext cx="172868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300516" y="2795484"/>
            <a:ext cx="172868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8041603" y="2228156"/>
            <a:ext cx="172868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341953" y="2795484"/>
            <a:ext cx="172868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0038376" y="1711911"/>
            <a:ext cx="161521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建议画出哈斯图以方便判断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50874" y="3047100"/>
            <a:ext cx="928750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填“没有”或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中的元素，有多个元素时用英文逗号分隔，从小到大排列，中间不留任何空格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048000" y="1856810"/>
            <a:ext cx="1728683" cy="353943"/>
          </a:xfrm>
          <a:prstGeom prst="rect">
            <a:avLst/>
          </a:prstGeom>
          <a:solidFill>
            <a:srgbClr val="F0F7EC"/>
          </a:solidFill>
        </p:spPr>
        <p:txBody>
          <a:bodyPr wrap="square" bIns="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(1)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300516" y="2398954"/>
            <a:ext cx="1728683" cy="353943"/>
          </a:xfrm>
          <a:prstGeom prst="rect">
            <a:avLst/>
          </a:prstGeom>
          <a:solidFill>
            <a:srgbClr val="F0F7EC"/>
          </a:solidFill>
        </p:spPr>
        <p:txBody>
          <a:bodyPr wrap="square" bIns="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(3)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041602" y="1814114"/>
            <a:ext cx="1728683" cy="353943"/>
          </a:xfrm>
          <a:prstGeom prst="rect">
            <a:avLst/>
          </a:prstGeom>
          <a:solidFill>
            <a:srgbClr val="F0F7EC"/>
          </a:solidFill>
        </p:spPr>
        <p:txBody>
          <a:bodyPr wrap="square" bIns="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(2)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341953" y="2398953"/>
            <a:ext cx="1728683" cy="353943"/>
          </a:xfrm>
          <a:prstGeom prst="rect">
            <a:avLst/>
          </a:prstGeom>
          <a:solidFill>
            <a:srgbClr val="F0F7EC"/>
          </a:solidFill>
        </p:spPr>
        <p:txBody>
          <a:bodyPr wrap="square" bIns="0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C00000"/>
                </a:solidFill>
              </a:rPr>
              <a:t>(4)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偏序关系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29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偏序集特殊元素练习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750874" y="1204081"/>
                <a:ext cx="10455532" cy="166199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𝟑𝟔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，以整除关系为偏序</a:t>
                </a:r>
                <a:r>
                  <a:rPr lang="en-US" altLang="zh-CN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,S={2,3,4}</a:t>
                </a:r>
                <a:r>
                  <a:rPr lang="zh-CN" altLang="en-US" sz="2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(1)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的上界：</a:t>
                </a:r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12,36</a:t>
                </a:r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			(2)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的下界：</a:t>
                </a:r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1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(3)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的上确界：</a:t>
                </a:r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12</a:t>
                </a:r>
                <a:r>
                  <a:rPr lang="en-US" altLang="zh-CN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			(4)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24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的下确界：</a:t>
                </a:r>
                <a:r>
                  <a:rPr lang="en-US" altLang="zh-CN" sz="2400" b="1">
                    <a:solidFill>
                      <a:srgbClr val="C00000"/>
                    </a:solidFill>
                    <a:latin typeface="+mn-ea"/>
                  </a:rPr>
                  <a:t>1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74" y="1204081"/>
                <a:ext cx="10455532" cy="1661993"/>
              </a:xfrm>
              <a:prstGeom prst="rect">
                <a:avLst/>
              </a:prstGeom>
              <a:blipFill rotWithShape="1">
                <a:blip r:embed="rId2"/>
                <a:stretch>
                  <a:fillRect l="-3" t="-7" r="5" b="-18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710" y="3026512"/>
            <a:ext cx="5078967" cy="312065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918125" y="3026512"/>
            <a:ext cx="23465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偏序集</a:t>
            </a:r>
            <a:r>
              <a:rPr lang="en-US" altLang="zh-CN" b="1">
                <a:solidFill>
                  <a:schemeClr val="accent2">
                    <a:lumMod val="50000"/>
                  </a:schemeClr>
                </a:solidFill>
              </a:rPr>
              <a:t>(A, |)</a:t>
            </a: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的哈斯图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3030202" y="2228156"/>
            <a:ext cx="172868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3300516" y="2795484"/>
            <a:ext cx="172868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8041603" y="2228156"/>
            <a:ext cx="172868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341953" y="2795484"/>
            <a:ext cx="1728683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椭圆 11"/>
              <p:cNvSpPr/>
              <p:nvPr/>
            </p:nvSpPr>
            <p:spPr>
              <a:xfrm rot="20673278">
                <a:off x="3252361" y="4557864"/>
                <a:ext cx="3827691" cy="112291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 anchorCtr="0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椭圆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73278">
                <a:off x="3252361" y="4557864"/>
                <a:ext cx="3827691" cy="1122915"/>
              </a:xfrm>
              <a:prstGeom prst="ellipse">
                <a:avLst/>
              </a:prstGeom>
              <a:blipFill rotWithShape="1">
                <a:blip r:embed="rId4"/>
                <a:stretch>
                  <a:fillRect l="1479" t="-16780" r="1488" b="-16732"/>
                </a:stretch>
              </a:blipFill>
              <a:ln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30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总结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200281" y="1339219"/>
            <a:ext cx="3939011" cy="130805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002060"/>
                </a:solidFill>
              </a:rPr>
              <a:t>等价关系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等价类和商集</a:t>
            </a:r>
            <a:endParaRPr lang="en-US" altLang="zh-CN" sz="20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等价类和划分之间的对应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76474" y="2981663"/>
            <a:ext cx="10239049" cy="32117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zh-CN" altLang="en-US" sz="2400" b="1" dirty="0">
                <a:solidFill>
                  <a:srgbClr val="C00000"/>
                </a:solidFill>
              </a:rPr>
              <a:t>学习这一部分的目标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能证明一个关系是否是等价关系</a:t>
            </a:r>
          </a:p>
          <a:p>
            <a:pPr marL="800100" lvl="1" indent="-342900">
              <a:lnSpc>
                <a:spcPts val="3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能给出一个等价关系的等价类和商集，能判断一个集合族是否是划分，并能给出划分所导出的等价关系</a:t>
            </a:r>
            <a:endParaRPr lang="en-US" altLang="zh-CN" sz="20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能证明一个关系是否偏序关系</a:t>
            </a:r>
          </a:p>
          <a:p>
            <a:pPr marL="800100" lvl="1" indent="-342900">
              <a:lnSpc>
                <a:spcPts val="3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能画出一个偏序关系的哈斯图，找给出偏序集的极大元、极小元、最大元和最小元，并能给出偏序集一个子集的上下界和上下确界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766578" y="1146858"/>
            <a:ext cx="5225141" cy="1692771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>
                <a:solidFill>
                  <a:srgbClr val="002060"/>
                </a:solidFill>
              </a:rPr>
              <a:t>偏序关系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哈斯图</a:t>
            </a:r>
            <a:endParaRPr lang="en-US" altLang="zh-CN" sz="20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极大元、极小元、最大元、最小元</a:t>
            </a:r>
            <a:endParaRPr lang="en-US" altLang="zh-CN" sz="2000" b="1">
              <a:solidFill>
                <a:schemeClr val="accent6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000" b="1">
                <a:solidFill>
                  <a:schemeClr val="accent6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上界、下界、上确界、下确界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511C6389-7226-43B9-9250-70FB7F990DBF}" type="slidenum">
              <a:rPr lang="en-US" altLang="zh-CN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31</a:t>
            </a:fld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/32</a:t>
            </a: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作业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07165" y="3167390"/>
            <a:ext cx="9103862" cy="1077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教材练习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6.34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、练习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6.40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、</a:t>
            </a:r>
            <a:endParaRPr lang="zh-CN" altLang="en-US" sz="4400" dirty="0"/>
          </a:p>
          <a:p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6.42</a:t>
            </a:r>
            <a:r>
              <a:rPr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和练习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6.43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6096000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96000" y="0"/>
            <a:ext cx="6096000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523300"/>
            <a:ext cx="4053017" cy="32234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离散数学基础</a:t>
            </a:r>
          </a:p>
        </p:txBody>
      </p:sp>
      <p:sp>
        <p:nvSpPr>
          <p:cNvPr id="9" name="矩形 8"/>
          <p:cNvSpPr/>
          <p:nvPr/>
        </p:nvSpPr>
        <p:spPr>
          <a:xfrm>
            <a:off x="4053017" y="6523298"/>
            <a:ext cx="4085968" cy="322342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楷体" panose="02010609060101010101" pitchFamily="49" charset="-122"/>
                <a:ea typeface="楷体" panose="02010609060101010101" pitchFamily="49" charset="-122"/>
              </a:rPr>
              <a:t>第二十一讲  等价关系和偏序关系</a:t>
            </a:r>
          </a:p>
        </p:txBody>
      </p:sp>
      <p:sp>
        <p:nvSpPr>
          <p:cNvPr id="10" name="矩形 9"/>
          <p:cNvSpPr/>
          <p:nvPr/>
        </p:nvSpPr>
        <p:spPr>
          <a:xfrm>
            <a:off x="8138984" y="6523298"/>
            <a:ext cx="4053016" cy="322342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2022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</a:p>
        </p:txBody>
      </p:sp>
      <p:sp>
        <p:nvSpPr>
          <p:cNvPr id="17" name="矩形 16"/>
          <p:cNvSpPr/>
          <p:nvPr/>
        </p:nvSpPr>
        <p:spPr>
          <a:xfrm>
            <a:off x="-2" y="322342"/>
            <a:ext cx="12192002" cy="45928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921252" y="2001283"/>
            <a:ext cx="8571678" cy="2383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4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谢谢大家！</a:t>
            </a:r>
            <a:endParaRPr lang="en-US" altLang="zh-CN" sz="4000">
              <a:solidFill>
                <a:srgbClr val="C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400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有什么问题和建议请及时反馈给老师！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cb9e1ce-55ca-45ac-a636-bdf3857c869e"/>
  <p:tag name="COMMONDATA" val="eyJoZGlkIjoiY2UzZTczZTIzZjEzNTM5OWU2ZjI1MTk1YmJhYzI0Mj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4964</Words>
  <Application>Microsoft Office PowerPoint</Application>
  <PresentationFormat>宽屏</PresentationFormat>
  <Paragraphs>493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等线</vt:lpstr>
      <vt:lpstr>等线 Light</vt:lpstr>
      <vt:lpstr>仿宋</vt:lpstr>
      <vt:lpstr>华文新魏</vt:lpstr>
      <vt:lpstr>楷体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380514873@qq.com</cp:lastModifiedBy>
  <cp:revision>95</cp:revision>
  <dcterms:created xsi:type="dcterms:W3CDTF">2022-01-01T06:39:00Z</dcterms:created>
  <dcterms:modified xsi:type="dcterms:W3CDTF">2024-11-20T07:10:48Z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9AE4AE3210FD49EFA9F1A0EC85EFC41F_12</vt:lpwstr>
  </property>
  <property fmtid="{D5CDD505-2E9C-101B-9397-08002B2CF9AE}" pid="3" name="KSOProductBuildVer">
    <vt:lpwstr>2052-11.1.0.14036</vt:lpwstr>
  </property>
</Properties>
</file>