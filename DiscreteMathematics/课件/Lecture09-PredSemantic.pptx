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57" r:id="rId4"/>
    <p:sldId id="261" r:id="rId5"/>
    <p:sldId id="260" r:id="rId6"/>
    <p:sldId id="285" r:id="rId7"/>
    <p:sldId id="286" r:id="rId8"/>
    <p:sldId id="287" r:id="rId9"/>
    <p:sldId id="288" r:id="rId10"/>
    <p:sldId id="291" r:id="rId11"/>
    <p:sldId id="284" r:id="rId12"/>
    <p:sldId id="292" r:id="rId13"/>
    <p:sldId id="289" r:id="rId14"/>
    <p:sldId id="293" r:id="rId15"/>
    <p:sldId id="294" r:id="rId16"/>
    <p:sldId id="295" r:id="rId17"/>
    <p:sldId id="297" r:id="rId18"/>
    <p:sldId id="302" r:id="rId19"/>
    <p:sldId id="301" r:id="rId20"/>
    <p:sldId id="281" r:id="rId21"/>
    <p:sldId id="282" r:id="rId22"/>
    <p:sldId id="304" r:id="rId23"/>
    <p:sldId id="305" r:id="rId24"/>
    <p:sldId id="303" r:id="rId25"/>
    <p:sldId id="306" r:id="rId26"/>
    <p:sldId id="307" r:id="rId27"/>
    <p:sldId id="299" r:id="rId28"/>
    <p:sldId id="308" r:id="rId29"/>
    <p:sldId id="272" r:id="rId30"/>
    <p:sldId id="280" r:id="rId31"/>
    <p:sldId id="262" r:id="rId32"/>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2.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61.png"/><Relationship Id="rId5" Type="http://schemas.openxmlformats.org/officeDocument/2006/relationships/image" Target="../media/image57.png"/><Relationship Id="rId10" Type="http://schemas.openxmlformats.org/officeDocument/2006/relationships/image" Target="../media/image60.png"/><Relationship Id="rId4" Type="http://schemas.openxmlformats.org/officeDocument/2006/relationships/image" Target="../media/image56.png"/><Relationship Id="rId9" Type="http://schemas.openxmlformats.org/officeDocument/2006/relationships/image" Target="../media/image50.png"/></Relationships>
</file>

<file path=ppt/slides/_rels/slide1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1.png"/></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 Id="rId5" Type="http://schemas.openxmlformats.org/officeDocument/2006/relationships/image" Target="../media/image78.png"/><Relationship Id="rId4" Type="http://schemas.openxmlformats.org/officeDocument/2006/relationships/image" Target="../media/image7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2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2022</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1</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第九讲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一阶逻辑公式的语义</a:t>
            </a:r>
          </a:p>
        </p:txBody>
      </p:sp>
      <p:sp>
        <p:nvSpPr>
          <p:cNvPr id="13" name="文本框 12"/>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10</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749986" y="781622"/>
            <a:ext cx="4733731" cy="2870016"/>
          </a:xfrm>
          <a:prstGeom prst="rect">
            <a:avLst/>
          </a:prstGeom>
          <a:noFill/>
        </p:spPr>
        <p:txBody>
          <a:bodyPr wrap="square" rtlCol="0">
            <a:spAutoFit/>
          </a:bodyPr>
          <a:lstStyle/>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一阶逻辑公式的解释</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一阶逻辑公式的真值</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一阶逻辑公式的分类</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
        <p:nvSpPr>
          <p:cNvPr id="11" name="文本框 10"/>
          <p:cNvSpPr txBox="1"/>
          <p:nvPr/>
        </p:nvSpPr>
        <p:spPr>
          <a:xfrm>
            <a:off x="1519816" y="3898859"/>
            <a:ext cx="9081787" cy="2177519"/>
          </a:xfrm>
          <a:prstGeom prst="rect">
            <a:avLst/>
          </a:prstGeom>
          <a:solidFill>
            <a:schemeClr val="accent2">
              <a:lumMod val="20000"/>
              <a:lumOff val="80000"/>
            </a:schemeClr>
          </a:solidFill>
        </p:spPr>
        <p:txBody>
          <a:bodyPr wrap="square" rtlCol="0">
            <a:spAutoFit/>
          </a:bodyPr>
          <a:lstStyle/>
          <a:p>
            <a:pPr algn="ctr">
              <a:spcAft>
                <a:spcPts val="900"/>
              </a:spcAft>
            </a:pPr>
            <a:r>
              <a:rPr lang="zh-CN" altLang="en-US" b="1">
                <a:solidFill>
                  <a:srgbClr val="C00000"/>
                </a:solidFill>
              </a:rPr>
              <a:t>学习这一部分的目标</a:t>
            </a: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能自己给出一组一阶逻辑公式的解释和个体变量指派函数</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能在给定的解释和个体变量指派函数时确定一个公式的真值</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能在论域有限时，正确使用类似等值演算的形式确定量词公式的真值</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能判断一个一阶逻辑公式是否是命题逻辑公式的替换实例</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能判断一个一阶逻辑公式是否是永真式、矛盾式还是非永真的可满足式，并说明理由</a:t>
            </a:r>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一阶逻辑公式解释的引入</a:t>
            </a:r>
          </a:p>
        </p:txBody>
      </p:sp>
      <p:sp>
        <p:nvSpPr>
          <p:cNvPr id="2" name="文本框 1"/>
          <p:cNvSpPr txBox="1"/>
          <p:nvPr/>
        </p:nvSpPr>
        <p:spPr>
          <a:xfrm>
            <a:off x="449563" y="1126752"/>
            <a:ext cx="7714986" cy="461665"/>
          </a:xfrm>
          <a:prstGeom prst="rect">
            <a:avLst/>
          </a:prstGeom>
          <a:solidFill>
            <a:schemeClr val="accent5">
              <a:lumMod val="20000"/>
              <a:lumOff val="80000"/>
            </a:schemeClr>
          </a:solidFill>
        </p:spPr>
        <p:txBody>
          <a:bodyPr wrap="square" rtlCol="0">
            <a:spAutoFit/>
          </a:bodyPr>
          <a:lstStyle/>
          <a:p>
            <a:r>
              <a:rPr lang="zh-CN" altLang="en-US" sz="2400" b="1" dirty="0">
                <a:solidFill>
                  <a:srgbClr val="002060"/>
                </a:solidFill>
              </a:rPr>
              <a:t>一阶逻辑公式的语义是指如何确定一阶逻辑公式的真值</a:t>
            </a:r>
          </a:p>
        </p:txBody>
      </p:sp>
      <p:sp>
        <p:nvSpPr>
          <p:cNvPr id="11" name="矩形: 圆角 10"/>
          <p:cNvSpPr/>
          <p:nvPr/>
        </p:nvSpPr>
        <p:spPr>
          <a:xfrm>
            <a:off x="553617" y="1887586"/>
            <a:ext cx="4511764"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如何确定一阶逻辑公式的真值？</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3" name="文本框 2"/>
              <p:cNvSpPr txBox="1"/>
              <p:nvPr/>
            </p:nvSpPr>
            <p:spPr>
              <a:xfrm>
                <a:off x="622372" y="2598952"/>
                <a:ext cx="6861289" cy="2126351"/>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对于下面一组一阶逻辑公式，如何确定它的真值？</a:t>
                </a:r>
                <a:endParaRPr lang="en-US" altLang="zh-CN" sz="2400" b="1">
                  <a:solidFill>
                    <a:srgbClr val="002060"/>
                  </a:solidFill>
                  <a:latin typeface="楷体" panose="02010609060101010101" pitchFamily="49" charset="-122"/>
                  <a:ea typeface="楷体" panose="02010609060101010101" pitchFamily="49" charset="-122"/>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oMath>
                </a14:m>
                <a:endParaRPr lang="zh-CN" altLang="en-US" sz="2400" b="1">
                  <a:solidFill>
                    <a:schemeClr val="accent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622372" y="2598952"/>
                <a:ext cx="6861289" cy="2126351"/>
              </a:xfrm>
              <a:prstGeom prst="rect">
                <a:avLst/>
              </a:prstGeom>
              <a:blipFill rotWithShape="1">
                <a:blip r:embed="rId2"/>
                <a:stretch>
                  <a:fillRect l="-1" t="-25" r="3" b="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449563" y="5466045"/>
                <a:ext cx="8149629" cy="400110"/>
              </a:xfrm>
              <a:prstGeom prst="rect">
                <a:avLst/>
              </a:prstGeom>
              <a:solidFill>
                <a:schemeClr val="accent4">
                  <a:lumMod val="20000"/>
                  <a:lumOff val="80000"/>
                </a:schemeClr>
              </a:solidFill>
            </p:spPr>
            <p:txBody>
              <a:bodyPr wrap="square" rtlCol="0">
                <a:spAutoFit/>
              </a:bodyPr>
              <a:lstStyle/>
              <a:p>
                <a:r>
                  <a:rPr lang="zh-CN" altLang="en-US" sz="2000" b="1">
                    <a:solidFill>
                      <a:srgbClr val="C00000"/>
                    </a:solidFill>
                  </a:rPr>
                  <a:t>直观上，需要先确定个体变量</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𝒚</m:t>
                    </m:r>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𝒛</m:t>
                    </m:r>
                  </m:oMath>
                </a14:m>
                <a:r>
                  <a:rPr lang="zh-CN" altLang="en-US" sz="2000" b="1">
                    <a:solidFill>
                      <a:srgbClr val="C00000"/>
                    </a:solidFill>
                  </a:rPr>
                  <a:t>的值，以及谓词符号</a:t>
                </a:r>
                <a14:m>
                  <m:oMath xmlns:m="http://schemas.openxmlformats.org/officeDocument/2006/math">
                    <m:r>
                      <a:rPr lang="en-US" altLang="zh-CN" sz="2000" b="1" i="1" smtClean="0">
                        <a:solidFill>
                          <a:srgbClr val="C00000"/>
                        </a:solidFill>
                        <a:latin typeface="Cambria Math" panose="02040503050406030204" pitchFamily="18" charset="0"/>
                      </a:rPr>
                      <m:t>𝑭</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𝑮</m:t>
                    </m:r>
                    <m:r>
                      <a:rPr lang="en-US" altLang="zh-CN" sz="2000" b="1" i="1">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𝑯</m:t>
                    </m:r>
                  </m:oMath>
                </a14:m>
                <a:r>
                  <a:rPr lang="zh-CN" altLang="en-US" sz="2000" b="1">
                    <a:solidFill>
                      <a:srgbClr val="C00000"/>
                    </a:solidFill>
                  </a:rPr>
                  <a:t>的含义！</a:t>
                </a:r>
              </a:p>
            </p:txBody>
          </p:sp>
        </mc:Choice>
        <mc:Fallback xmlns="">
          <p:sp>
            <p:nvSpPr>
              <p:cNvPr id="4" name="文本框 3"/>
              <p:cNvSpPr txBox="1">
                <a:spLocks noRot="1" noChangeAspect="1" noMove="1" noResize="1" noEditPoints="1" noAdjustHandles="1" noChangeArrowheads="1" noChangeShapeType="1" noTextEdit="1"/>
              </p:cNvSpPr>
              <p:nvPr/>
            </p:nvSpPr>
            <p:spPr>
              <a:xfrm>
                <a:off x="449563" y="5466045"/>
                <a:ext cx="8149629" cy="400110"/>
              </a:xfrm>
              <a:prstGeom prst="rect">
                <a:avLst/>
              </a:prstGeom>
              <a:blipFill rotWithShape="1">
                <a:blip r:embed="rId3"/>
                <a:stretch>
                  <a:fillRect l="-8" t="-150" r="-1379" b="6"/>
                </a:stretch>
              </a:blipFill>
            </p:spPr>
            <p:txBody>
              <a:bodyPr/>
              <a:lstStyle/>
              <a:p>
                <a:r>
                  <a:rPr lang="zh-CN" altLang="en-US">
                    <a:noFill/>
                  </a:rPr>
                  <a:t> </a:t>
                </a:r>
              </a:p>
            </p:txBody>
          </p:sp>
        </mc:Fallback>
      </mc:AlternateContent>
      <p:sp>
        <p:nvSpPr>
          <p:cNvPr id="6" name="文本框 5"/>
          <p:cNvSpPr txBox="1"/>
          <p:nvPr/>
        </p:nvSpPr>
        <p:spPr>
          <a:xfrm>
            <a:off x="8021282" y="1870599"/>
            <a:ext cx="3294305" cy="2039982"/>
          </a:xfrm>
          <a:prstGeom prst="rect">
            <a:avLst/>
          </a:prstGeom>
          <a:solidFill>
            <a:schemeClr val="accent2">
              <a:lumMod val="20000"/>
              <a:lumOff val="80000"/>
              <a:alpha val="50000"/>
            </a:schemeClr>
          </a:solidFill>
        </p:spPr>
        <p:txBody>
          <a:bodyPr wrap="square" rtlCol="0">
            <a:spAutoFit/>
          </a:bodyPr>
          <a:lstStyle/>
          <a:p>
            <a:pPr>
              <a:lnSpc>
                <a:spcPts val="3000"/>
              </a:lnSpc>
              <a:spcBef>
                <a:spcPts val="600"/>
              </a:spcBef>
            </a:pPr>
            <a:r>
              <a:rPr lang="zh-CN" altLang="en-US" sz="2000" b="1" dirty="0">
                <a:solidFill>
                  <a:srgbClr val="002060"/>
                </a:solidFill>
              </a:rPr>
              <a:t>预先给出一个</a:t>
            </a:r>
            <a:r>
              <a:rPr lang="zh-CN" altLang="en-US" sz="2000" b="1" dirty="0">
                <a:solidFill>
                  <a:srgbClr val="C00000"/>
                </a:solidFill>
              </a:rPr>
              <a:t>解释</a:t>
            </a:r>
            <a:r>
              <a:rPr lang="zh-CN" altLang="en-US" sz="2000" b="1" dirty="0">
                <a:solidFill>
                  <a:srgbClr val="002060"/>
                </a:solidFill>
              </a:rPr>
              <a:t>确定一阶逻辑公式个体变量的取值范围和谓词符号的含义</a:t>
            </a:r>
            <a:endParaRPr lang="en-US" altLang="zh-CN" sz="2000" b="1" dirty="0">
              <a:solidFill>
                <a:srgbClr val="002060"/>
              </a:solidFill>
            </a:endParaRPr>
          </a:p>
          <a:p>
            <a:pPr marL="285750" indent="-285750">
              <a:lnSpc>
                <a:spcPts val="3000"/>
              </a:lnSpc>
              <a:spcBef>
                <a:spcPts val="600"/>
              </a:spcBef>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一阶逻辑公式的解释也称为一阶逻辑公式的</a:t>
            </a:r>
            <a:r>
              <a:rPr lang="zh-CN" altLang="en-US" sz="2000" b="1" dirty="0">
                <a:solidFill>
                  <a:srgbClr val="C00000"/>
                </a:solidFill>
                <a:latin typeface="黑体" panose="02010609060101010101" pitchFamily="49" charset="-122"/>
                <a:ea typeface="黑体" panose="02010609060101010101" pitchFamily="49" charset="-122"/>
              </a:rPr>
              <a:t>模型</a:t>
            </a:r>
          </a:p>
        </p:txBody>
      </p:sp>
      <p:sp>
        <p:nvSpPr>
          <p:cNvPr id="12" name="文本框 11"/>
          <p:cNvSpPr txBox="1"/>
          <p:nvPr/>
        </p:nvSpPr>
        <p:spPr>
          <a:xfrm>
            <a:off x="8021281" y="4078883"/>
            <a:ext cx="3294305" cy="1218860"/>
          </a:xfrm>
          <a:prstGeom prst="rect">
            <a:avLst/>
          </a:prstGeom>
          <a:solidFill>
            <a:schemeClr val="accent2">
              <a:lumMod val="20000"/>
              <a:lumOff val="80000"/>
              <a:alpha val="75000"/>
            </a:schemeClr>
          </a:solidFill>
        </p:spPr>
        <p:txBody>
          <a:bodyPr wrap="square" rtlCol="0">
            <a:spAutoFit/>
          </a:bodyPr>
          <a:lstStyle/>
          <a:p>
            <a:pPr>
              <a:lnSpc>
                <a:spcPts val="3000"/>
              </a:lnSpc>
            </a:pPr>
            <a:r>
              <a:rPr lang="zh-CN" altLang="en-US" sz="2000" b="1">
                <a:solidFill>
                  <a:srgbClr val="002060"/>
                </a:solidFill>
              </a:rPr>
              <a:t>预先给出</a:t>
            </a:r>
            <a:r>
              <a:rPr lang="zh-CN" altLang="en-US" sz="2000" b="1">
                <a:solidFill>
                  <a:srgbClr val="C00000"/>
                </a:solidFill>
              </a:rPr>
              <a:t>一个个体变量指派函数</a:t>
            </a:r>
            <a:r>
              <a:rPr lang="zh-CN" altLang="en-US" sz="2000" b="1">
                <a:solidFill>
                  <a:srgbClr val="002060"/>
                </a:solidFill>
              </a:rPr>
              <a:t>确定一阶逻辑公式个体变量的具体取值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一阶逻辑公式解释的定义</a:t>
            </a:r>
            <a:r>
              <a:rPr lang="en-US" altLang="zh-CN"/>
              <a:t>*</a:t>
            </a:r>
            <a:endParaRPr lang="zh-CN" altLang="en-US"/>
          </a:p>
        </p:txBody>
      </p:sp>
      <p:pic>
        <p:nvPicPr>
          <p:cNvPr id="2" name="图片 1"/>
          <p:cNvPicPr>
            <a:picLocks noChangeAspect="1"/>
          </p:cNvPicPr>
          <p:nvPr/>
        </p:nvPicPr>
        <p:blipFill>
          <a:blip r:embed="rId2"/>
          <a:stretch>
            <a:fillRect/>
          </a:stretch>
        </p:blipFill>
        <p:spPr>
          <a:xfrm>
            <a:off x="862865" y="1107861"/>
            <a:ext cx="10466263" cy="4083932"/>
          </a:xfrm>
          <a:prstGeom prst="rect">
            <a:avLst/>
          </a:prstGeom>
        </p:spPr>
      </p:pic>
      <p:sp>
        <p:nvSpPr>
          <p:cNvPr id="3" name="文本框 2"/>
          <p:cNvSpPr txBox="1"/>
          <p:nvPr/>
        </p:nvSpPr>
        <p:spPr>
          <a:xfrm>
            <a:off x="2428528" y="5250002"/>
            <a:ext cx="7334935" cy="1000274"/>
          </a:xfrm>
          <a:prstGeom prst="rect">
            <a:avLst/>
          </a:prstGeom>
          <a:solidFill>
            <a:schemeClr val="accent4">
              <a:lumMod val="20000"/>
              <a:lumOff val="80000"/>
              <a:alpha val="50000"/>
            </a:schemeClr>
          </a:solidFill>
        </p:spPr>
        <p:txBody>
          <a:bodyPr wrap="square" rtlCol="0">
            <a:spAutoFit/>
          </a:bodyPr>
          <a:lstStyle/>
          <a:p>
            <a:pPr>
              <a:spcBef>
                <a:spcPts val="300"/>
              </a:spcBef>
            </a:pPr>
            <a:r>
              <a:rPr lang="zh-CN" altLang="en-US" b="1">
                <a:solidFill>
                  <a:srgbClr val="002060"/>
                </a:solidFill>
              </a:rPr>
              <a:t>解释实际上是将一阶逻辑公式中的非逻辑符号与具体应用领域进行对应</a:t>
            </a:r>
            <a:endParaRPr lang="en-US" altLang="zh-CN" b="1">
              <a:solidFill>
                <a:srgbClr val="002060"/>
              </a:solidFill>
            </a:endParaRPr>
          </a:p>
          <a:p>
            <a:pPr marL="285750" indent="-285750">
              <a:spcBef>
                <a:spcPts val="3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一阶逻辑公式是应用领域中事物性质、关系或约束的抽象</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285750" indent="-285750">
              <a:spcBef>
                <a:spcPts val="3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应用领域是一阶逻辑公式的解释或说模型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一阶逻辑公式解释的直观理解</a:t>
            </a:r>
          </a:p>
        </p:txBody>
      </p:sp>
      <mc:AlternateContent xmlns:mc="http://schemas.openxmlformats.org/markup-compatibility/2006" xmlns:a14="http://schemas.microsoft.com/office/drawing/2010/main">
        <mc:Choice Requires="a14">
          <p:sp>
            <p:nvSpPr>
              <p:cNvPr id="3" name="文本框 2"/>
              <p:cNvSpPr txBox="1"/>
              <p:nvPr/>
            </p:nvSpPr>
            <p:spPr>
              <a:xfrm>
                <a:off x="971589" y="1290274"/>
                <a:ext cx="10248819" cy="4724370"/>
              </a:xfrm>
              <a:prstGeom prst="rect">
                <a:avLst/>
              </a:prstGeom>
              <a:solidFill>
                <a:schemeClr val="accent5">
                  <a:lumMod val="20000"/>
                  <a:lumOff val="80000"/>
                  <a:alpha val="50000"/>
                </a:schemeClr>
              </a:solidFill>
            </p:spPr>
            <p:txBody>
              <a:bodyPr wrap="square" rtlCol="0">
                <a:spAutoFit/>
              </a:bodyPr>
              <a:lstStyle/>
              <a:p>
                <a:pPr algn="ctr">
                  <a:spcBef>
                    <a:spcPts val="1200"/>
                  </a:spcBef>
                  <a:spcAft>
                    <a:spcPts val="600"/>
                  </a:spcAft>
                </a:pPr>
                <a:r>
                  <a:rPr lang="en-US" altLang="zh-CN" sz="2000"/>
                  <a:t> </a:t>
                </a:r>
                <a:r>
                  <a:rPr lang="zh-CN" altLang="en-US" sz="2800" b="1">
                    <a:solidFill>
                      <a:srgbClr val="C00000"/>
                    </a:solidFill>
                    <a:latin typeface="黑体" panose="02010609060101010101" pitchFamily="49" charset="-122"/>
                    <a:ea typeface="黑体" panose="02010609060101010101" pitchFamily="49" charset="-122"/>
                  </a:rPr>
                  <a:t>一阶逻辑公式解释的直观理解</a:t>
                </a:r>
                <a:endParaRPr lang="zh-CN" altLang="en-US" sz="2400" b="1">
                  <a:solidFill>
                    <a:srgbClr val="C00000"/>
                  </a:solidFill>
                  <a:latin typeface="黑体" panose="02010609060101010101" pitchFamily="49" charset="-122"/>
                  <a:ea typeface="黑体" panose="02010609060101010101" pitchFamily="49" charset="-122"/>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给定一个非空集合作为公式中所有个体变量的可能取值范围</a:t>
                </a:r>
              </a:p>
              <a:p>
                <a:pPr marL="800100" lvl="1" indent="-342900">
                  <a:spcBef>
                    <a:spcPts val="1200"/>
                  </a:spcBef>
                  <a:spcAft>
                    <a:spcPts val="600"/>
                  </a:spcAft>
                  <a:buFont typeface="Arial" panose="020B0604020202020204" pitchFamily="34" charset="0"/>
                  <a:buChar char="•"/>
                </a:pPr>
                <a:r>
                  <a:rPr lang="zh-CN" altLang="en-US" sz="2400" b="1">
                    <a:solidFill>
                      <a:schemeClr val="accent6">
                        <a:lumMod val="50000"/>
                      </a:schemeClr>
                    </a:solidFill>
                    <a:latin typeface="宋体" panose="02010600030101010101" pitchFamily="2" charset="-122"/>
                    <a:ea typeface="宋体" panose="02010600030101010101" pitchFamily="2" charset="-122"/>
                  </a:rPr>
                  <a:t>这个集合称为解释的论域</a:t>
                </a:r>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基于解释的论域</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𝑫</m:t>
                    </m:r>
                  </m:oMath>
                </a14:m>
                <a:r>
                  <a:rPr lang="zh-CN" altLang="en-US" sz="2400" b="1">
                    <a:solidFill>
                      <a:srgbClr val="002060"/>
                    </a:solidFill>
                    <a:latin typeface="楷体" panose="02010609060101010101" pitchFamily="49" charset="-122"/>
                    <a:ea typeface="楷体" panose="02010609060101010101" pitchFamily="49" charset="-122"/>
                  </a:rPr>
                  <a:t>，确定一阶逻辑公式中出现的所有非逻辑符号的解释</a:t>
                </a:r>
              </a:p>
              <a:p>
                <a:pPr marL="800100" lvl="1" indent="-342900">
                  <a:spcBef>
                    <a:spcPts val="1200"/>
                  </a:spcBef>
                  <a:spcAft>
                    <a:spcPts val="600"/>
                  </a:spcAft>
                  <a:buFont typeface="Arial" panose="020B0604020202020204" pitchFamily="34" charset="0"/>
                  <a:buChar char="•"/>
                </a:pPr>
                <a:r>
                  <a:rPr lang="zh-CN" altLang="en-US" sz="2400" b="1">
                    <a:solidFill>
                      <a:schemeClr val="accent6">
                        <a:lumMod val="50000"/>
                      </a:schemeClr>
                    </a:solidFill>
                    <a:latin typeface="宋体" panose="02010600030101010101" pitchFamily="2" charset="-122"/>
                    <a:ea typeface="宋体" panose="02010600030101010101" pitchFamily="2" charset="-122"/>
                  </a:rPr>
                  <a:t>个体常量</a:t>
                </a:r>
                <a14:m>
                  <m:oMath xmlns:m="http://schemas.openxmlformats.org/officeDocument/2006/math">
                    <m:r>
                      <a:rPr lang="en-US" altLang="zh-CN" sz="2400" b="1">
                        <a:solidFill>
                          <a:schemeClr val="accent6">
                            <a:lumMod val="50000"/>
                          </a:schemeClr>
                        </a:solidFill>
                        <a:latin typeface="Cambria Math" panose="02040503050406030204" pitchFamily="18" charset="0"/>
                        <a:ea typeface="宋体" panose="02010600030101010101" pitchFamily="2" charset="-122"/>
                      </a:rPr>
                      <m:t>𝒄</m:t>
                    </m:r>
                  </m:oMath>
                </a14:m>
                <a:r>
                  <a:rPr lang="zh-CN" altLang="en-US" sz="2400" b="1">
                    <a:solidFill>
                      <a:schemeClr val="accent6">
                        <a:lumMod val="50000"/>
                      </a:schemeClr>
                    </a:solidFill>
                    <a:latin typeface="宋体" panose="02010600030101010101" pitchFamily="2" charset="-122"/>
                    <a:ea typeface="宋体" panose="02010600030101010101" pitchFamily="2" charset="-122"/>
                  </a:rPr>
                  <a:t>解释为论域中具体的元素</a:t>
                </a:r>
                <a14:m>
                  <m:oMath xmlns:m="http://schemas.openxmlformats.org/officeDocument/2006/math">
                    <m:d>
                      <m:dPr>
                        <m:begChr m:val="⟦"/>
                        <m:endChr m:val="⟧"/>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a:solidFill>
                              <a:schemeClr val="accent6">
                                <a:lumMod val="50000"/>
                              </a:schemeClr>
                            </a:solidFill>
                            <a:latin typeface="Cambria Math" panose="02040503050406030204" pitchFamily="18" charset="0"/>
                            <a:ea typeface="宋体" panose="02010600030101010101" pitchFamily="2" charset="-122"/>
                          </a:rPr>
                          <m:t>𝒄</m:t>
                        </m:r>
                      </m:e>
                    </m:d>
                    <m:r>
                      <a:rPr lang="en-US" altLang="zh-CN" sz="2400" b="1">
                        <a:solidFill>
                          <a:schemeClr val="accent6">
                            <a:lumMod val="50000"/>
                          </a:schemeClr>
                        </a:solidFill>
                        <a:latin typeface="Cambria Math" panose="02040503050406030204" pitchFamily="18" charset="0"/>
                        <a:ea typeface="宋体" panose="02010600030101010101" pitchFamily="2" charset="-122"/>
                      </a:rPr>
                      <m:t>∈</m:t>
                    </m:r>
                    <m:r>
                      <a:rPr lang="en-US" altLang="zh-CN" sz="2400" b="1">
                        <a:solidFill>
                          <a:schemeClr val="accent6">
                            <a:lumMod val="50000"/>
                          </a:schemeClr>
                        </a:solidFill>
                        <a:latin typeface="Cambria Math" panose="02040503050406030204" pitchFamily="18" charset="0"/>
                        <a:ea typeface="宋体" panose="02010600030101010101" pitchFamily="2" charset="-122"/>
                      </a:rPr>
                      <m:t>𝑫</m:t>
                    </m:r>
                  </m:oMath>
                </a14:m>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800100" lvl="1" indent="-342900">
                  <a:spcBef>
                    <a:spcPts val="1200"/>
                  </a:spcBef>
                  <a:spcAft>
                    <a:spcPts val="600"/>
                  </a:spcAft>
                  <a:buFont typeface="Arial" panose="020B0604020202020204" pitchFamily="34" charset="0"/>
                  <a:buChar char="•"/>
                </a:pPr>
                <a14:m>
                  <m:oMath xmlns:m="http://schemas.openxmlformats.org/officeDocument/2006/math">
                    <m:r>
                      <a:rPr lang="en-US" altLang="zh-CN" sz="2400" b="1">
                        <a:solidFill>
                          <a:schemeClr val="accent6">
                            <a:lumMod val="50000"/>
                          </a:schemeClr>
                        </a:solidFill>
                        <a:latin typeface="Cambria Math" panose="02040503050406030204" pitchFamily="18" charset="0"/>
                        <a:ea typeface="宋体" panose="02010600030101010101" pitchFamily="2" charset="-122"/>
                      </a:rPr>
                      <m:t>𝒏</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元函数符号</a:t>
                </a:r>
                <a14:m>
                  <m:oMath xmlns:m="http://schemas.openxmlformats.org/officeDocument/2006/math">
                    <m:r>
                      <a:rPr lang="en-US" altLang="zh-CN" sz="2400" b="1">
                        <a:solidFill>
                          <a:schemeClr val="accent6">
                            <a:lumMod val="50000"/>
                          </a:schemeClr>
                        </a:solidFill>
                        <a:latin typeface="Cambria Math" panose="02040503050406030204" pitchFamily="18" charset="0"/>
                        <a:ea typeface="宋体" panose="02010600030101010101" pitchFamily="2" charset="-122"/>
                      </a:rPr>
                      <m:t>𝒇</m:t>
                    </m:r>
                  </m:oMath>
                </a14:m>
                <a:r>
                  <a:rPr lang="zh-CN" altLang="en-US" sz="2400" b="1">
                    <a:solidFill>
                      <a:schemeClr val="accent6">
                        <a:lumMod val="50000"/>
                      </a:schemeClr>
                    </a:solidFill>
                    <a:latin typeface="宋体" panose="02010600030101010101" pitchFamily="2" charset="-122"/>
                    <a:ea typeface="宋体" panose="02010600030101010101" pitchFamily="2" charset="-122"/>
                  </a:rPr>
                  <a:t>解释为论域上的函数</a:t>
                </a:r>
                <a14:m>
                  <m:oMath xmlns:m="http://schemas.openxmlformats.org/officeDocument/2006/math">
                    <m:d>
                      <m:dPr>
                        <m:begChr m:val="⟦"/>
                        <m:endChr m:val="⟧"/>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a:solidFill>
                              <a:schemeClr val="accent6">
                                <a:lumMod val="50000"/>
                              </a:schemeClr>
                            </a:solidFill>
                            <a:latin typeface="Cambria Math" panose="02040503050406030204" pitchFamily="18" charset="0"/>
                            <a:ea typeface="宋体" panose="02010600030101010101" pitchFamily="2" charset="-122"/>
                          </a:rPr>
                          <m:t>𝒇</m:t>
                        </m:r>
                      </m:e>
                    </m:d>
                    <m:r>
                      <a:rPr lang="en-US" altLang="zh-CN" sz="2400" b="1">
                        <a:solidFill>
                          <a:schemeClr val="accent6">
                            <a:lumMod val="50000"/>
                          </a:schemeClr>
                        </a:solidFill>
                        <a:latin typeface="Cambria Math" panose="02040503050406030204" pitchFamily="18" charset="0"/>
                        <a:ea typeface="宋体" panose="02010600030101010101" pitchFamily="2" charset="-122"/>
                      </a:rPr>
                      <m:t>:</m:t>
                    </m:r>
                    <m:sSup>
                      <m:sSup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sSupPr>
                      <m:e>
                        <m:r>
                          <a:rPr lang="en-US" altLang="zh-CN" sz="2400" b="1">
                            <a:solidFill>
                              <a:schemeClr val="accent6">
                                <a:lumMod val="50000"/>
                              </a:schemeClr>
                            </a:solidFill>
                            <a:latin typeface="Cambria Math" panose="02040503050406030204" pitchFamily="18" charset="0"/>
                            <a:ea typeface="宋体" panose="02010600030101010101" pitchFamily="2" charset="-122"/>
                          </a:rPr>
                          <m:t>𝑫</m:t>
                        </m:r>
                      </m:e>
                      <m:sup>
                        <m:r>
                          <a:rPr lang="en-US" altLang="zh-CN" sz="2400" b="1">
                            <a:solidFill>
                              <a:schemeClr val="accent6">
                                <a:lumMod val="50000"/>
                              </a:schemeClr>
                            </a:solidFill>
                            <a:latin typeface="Cambria Math" panose="02040503050406030204" pitchFamily="18" charset="0"/>
                            <a:ea typeface="宋体" panose="02010600030101010101" pitchFamily="2" charset="-122"/>
                          </a:rPr>
                          <m:t>𝒏</m:t>
                        </m:r>
                      </m:sup>
                    </m:sSup>
                    <m:r>
                      <a:rPr lang="en-US" altLang="zh-CN" sz="2400" b="1">
                        <a:solidFill>
                          <a:schemeClr val="accent6">
                            <a:lumMod val="50000"/>
                          </a:schemeClr>
                        </a:solidFill>
                        <a:latin typeface="Cambria Math" panose="02040503050406030204" pitchFamily="18" charset="0"/>
                        <a:ea typeface="宋体" panose="02010600030101010101" pitchFamily="2" charset="-122"/>
                      </a:rPr>
                      <m:t>→</m:t>
                    </m:r>
                    <m:r>
                      <a:rPr lang="en-US" altLang="zh-CN" sz="2400" b="1">
                        <a:solidFill>
                          <a:schemeClr val="accent6">
                            <a:lumMod val="50000"/>
                          </a:schemeClr>
                        </a:solidFill>
                        <a:latin typeface="Cambria Math" panose="02040503050406030204" pitchFamily="18" charset="0"/>
                        <a:ea typeface="宋体" panose="02010600030101010101" pitchFamily="2" charset="-122"/>
                      </a:rPr>
                      <m:t>𝑫</m:t>
                    </m:r>
                  </m:oMath>
                </a14:m>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800100" lvl="1" indent="-342900">
                  <a:spcBef>
                    <a:spcPts val="1200"/>
                  </a:spcBef>
                  <a:spcAft>
                    <a:spcPts val="600"/>
                  </a:spcAft>
                  <a:buFont typeface="Arial" panose="020B0604020202020204" pitchFamily="34" charset="0"/>
                  <a:buChar char="•"/>
                </a:pPr>
                <a14:m>
                  <m:oMath xmlns:m="http://schemas.openxmlformats.org/officeDocument/2006/math">
                    <m:r>
                      <a:rPr lang="en-US" altLang="zh-CN" sz="2400" b="1">
                        <a:solidFill>
                          <a:schemeClr val="accent6">
                            <a:lumMod val="50000"/>
                          </a:schemeClr>
                        </a:solidFill>
                        <a:latin typeface="Cambria Math" panose="02040503050406030204" pitchFamily="18" charset="0"/>
                        <a:ea typeface="宋体" panose="02010600030101010101" pitchFamily="2" charset="-122"/>
                      </a:rPr>
                      <m:t>𝒏</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元谓词符号</a:t>
                </a:r>
                <a14:m>
                  <m:oMath xmlns:m="http://schemas.openxmlformats.org/officeDocument/2006/math">
                    <m:r>
                      <a:rPr lang="en-US" altLang="zh-CN" sz="2400" b="1">
                        <a:solidFill>
                          <a:schemeClr val="accent6">
                            <a:lumMod val="50000"/>
                          </a:schemeClr>
                        </a:solidFill>
                        <a:latin typeface="Cambria Math" panose="02040503050406030204" pitchFamily="18" charset="0"/>
                        <a:ea typeface="宋体" panose="02010600030101010101" pitchFamily="2" charset="-122"/>
                      </a:rPr>
                      <m:t>𝑭</m:t>
                    </m:r>
                  </m:oMath>
                </a14:m>
                <a:r>
                  <a:rPr lang="zh-CN" altLang="en-US" sz="2400" b="1">
                    <a:solidFill>
                      <a:schemeClr val="accent6">
                        <a:lumMod val="50000"/>
                      </a:schemeClr>
                    </a:solidFill>
                    <a:latin typeface="宋体" panose="02010600030101010101" pitchFamily="2" charset="-122"/>
                    <a:ea typeface="宋体" panose="02010600030101010101" pitchFamily="2" charset="-122"/>
                  </a:rPr>
                  <a:t>解释为论域上的关系</a:t>
                </a:r>
                <a14:m>
                  <m:oMath xmlns:m="http://schemas.openxmlformats.org/officeDocument/2006/math">
                    <m:d>
                      <m:dPr>
                        <m:begChr m:val="⟦"/>
                        <m:endChr m:val="⟧"/>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a:solidFill>
                              <a:schemeClr val="accent6">
                                <a:lumMod val="50000"/>
                              </a:schemeClr>
                            </a:solidFill>
                            <a:latin typeface="Cambria Math" panose="02040503050406030204" pitchFamily="18" charset="0"/>
                            <a:ea typeface="宋体" panose="02010600030101010101" pitchFamily="2" charset="-122"/>
                          </a:rPr>
                          <m:t>𝑭</m:t>
                        </m:r>
                      </m:e>
                    </m:d>
                    <m:r>
                      <a:rPr lang="en-US" altLang="zh-CN" sz="2400" b="1">
                        <a:solidFill>
                          <a:schemeClr val="accent6">
                            <a:lumMod val="50000"/>
                          </a:schemeClr>
                        </a:solidFill>
                        <a:latin typeface="Cambria Math" panose="02040503050406030204" pitchFamily="18" charset="0"/>
                        <a:ea typeface="宋体" panose="02010600030101010101" pitchFamily="2" charset="-122"/>
                      </a:rPr>
                      <m:t>⊆</m:t>
                    </m:r>
                    <m:sSup>
                      <m:sSup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sSupPr>
                      <m:e>
                        <m:r>
                          <a:rPr lang="en-US" altLang="zh-CN" sz="2400" b="1">
                            <a:solidFill>
                              <a:schemeClr val="accent6">
                                <a:lumMod val="50000"/>
                              </a:schemeClr>
                            </a:solidFill>
                            <a:latin typeface="Cambria Math" panose="02040503050406030204" pitchFamily="18" charset="0"/>
                            <a:ea typeface="宋体" panose="02010600030101010101" pitchFamily="2" charset="-122"/>
                          </a:rPr>
                          <m:t>𝑫</m:t>
                        </m:r>
                      </m:e>
                      <m:sup>
                        <m:r>
                          <a:rPr lang="en-US" altLang="zh-CN" sz="2400" b="1">
                            <a:solidFill>
                              <a:schemeClr val="accent6">
                                <a:lumMod val="50000"/>
                              </a:schemeClr>
                            </a:solidFill>
                            <a:latin typeface="Cambria Math" panose="02040503050406030204" pitchFamily="18" charset="0"/>
                            <a:ea typeface="宋体" panose="02010600030101010101" pitchFamily="2" charset="-122"/>
                          </a:rPr>
                          <m:t>𝒏</m:t>
                        </m:r>
                      </m:sup>
                    </m:sSup>
                  </m:oMath>
                </a14:m>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𝝈</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𝑽</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𝑫</m:t>
                    </m:r>
                  </m:oMath>
                </a14:m>
                <a:r>
                  <a:rPr lang="zh-CN" altLang="en-US" sz="2400" b="1">
                    <a:solidFill>
                      <a:srgbClr val="002060"/>
                    </a:solidFill>
                    <a:latin typeface="楷体" panose="02010609060101010101" pitchFamily="49" charset="-122"/>
                    <a:ea typeface="楷体" panose="02010609060101010101" pitchFamily="49" charset="-122"/>
                  </a:rPr>
                  <a:t>将个体变量</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𝒙</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𝑽</m:t>
                    </m:r>
                  </m:oMath>
                </a14:m>
                <a:r>
                  <a:rPr lang="zh-CN" altLang="en-US" sz="2400" b="1">
                    <a:solidFill>
                      <a:srgbClr val="002060"/>
                    </a:solidFill>
                    <a:latin typeface="楷体" panose="02010609060101010101" pitchFamily="49" charset="-122"/>
                    <a:ea typeface="楷体" panose="02010609060101010101" pitchFamily="49" charset="-122"/>
                  </a:rPr>
                  <a:t>指派为论域</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𝑫</m:t>
                    </m:r>
                  </m:oMath>
                </a14:m>
                <a:r>
                  <a:rPr lang="zh-CN" altLang="en-US" sz="2400" b="1">
                    <a:solidFill>
                      <a:srgbClr val="002060"/>
                    </a:solidFill>
                    <a:latin typeface="楷体" panose="02010609060101010101" pitchFamily="49" charset="-122"/>
                    <a:ea typeface="楷体" panose="02010609060101010101" pitchFamily="49" charset="-122"/>
                  </a:rPr>
                  <a:t>的元素</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𝝈</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a:solidFill>
                              <a:srgbClr val="002060"/>
                            </a:solidFill>
                            <a:latin typeface="Cambria Math" panose="02040503050406030204" pitchFamily="18" charset="0"/>
                            <a:ea typeface="楷体" panose="02010609060101010101" pitchFamily="49" charset="-122"/>
                          </a:rPr>
                          <m:t>𝒙</m:t>
                        </m:r>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971589" y="1290274"/>
                <a:ext cx="10248819" cy="4724370"/>
              </a:xfrm>
              <a:prstGeom prst="rect">
                <a:avLst/>
              </a:prstGeom>
              <a:blipFill rotWithShape="1">
                <a:blip r:embed="rId2"/>
                <a:stretch>
                  <a:fillRect t="-12" r="6" b="12"/>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一阶逻辑公式的解释举例</a:t>
            </a:r>
          </a:p>
        </p:txBody>
      </p:sp>
      <p:sp>
        <p:nvSpPr>
          <p:cNvPr id="2" name="文本框 1"/>
          <p:cNvSpPr txBox="1"/>
          <p:nvPr/>
        </p:nvSpPr>
        <p:spPr>
          <a:xfrm>
            <a:off x="553617" y="1129051"/>
            <a:ext cx="8662745" cy="784830"/>
          </a:xfrm>
          <a:prstGeom prst="rect">
            <a:avLst/>
          </a:prstGeom>
          <a:solidFill>
            <a:schemeClr val="accent5">
              <a:lumMod val="20000"/>
              <a:lumOff val="80000"/>
            </a:schemeClr>
          </a:solidFill>
        </p:spPr>
        <p:txBody>
          <a:bodyPr wrap="square" rtlCol="0">
            <a:spAutoFit/>
          </a:bodyPr>
          <a:lstStyle/>
          <a:p>
            <a:pPr marL="285750" indent="-285750">
              <a:spcBef>
                <a:spcPts val="600"/>
              </a:spcBef>
              <a:buFont typeface="Arial" panose="020B0604020202020204" pitchFamily="34" charset="0"/>
              <a:buChar char="•"/>
            </a:pPr>
            <a:r>
              <a:rPr lang="zh-CN" altLang="en-US" sz="2000" b="1">
                <a:solidFill>
                  <a:srgbClr val="002060"/>
                </a:solidFill>
              </a:rPr>
              <a:t>语法：给定非逻辑符号集和个体变量集归纳构造一阶逻辑公式</a:t>
            </a:r>
            <a:endParaRPr lang="en-US" altLang="zh-CN" sz="2000" b="1">
              <a:solidFill>
                <a:srgbClr val="002060"/>
              </a:solidFill>
            </a:endParaRPr>
          </a:p>
          <a:p>
            <a:pPr marL="285750" indent="-285750">
              <a:spcBef>
                <a:spcPts val="600"/>
              </a:spcBef>
              <a:buFont typeface="Arial" panose="020B0604020202020204" pitchFamily="34" charset="0"/>
              <a:buChar char="•"/>
            </a:pPr>
            <a:r>
              <a:rPr lang="zh-CN" altLang="en-US" sz="2000" b="1">
                <a:solidFill>
                  <a:srgbClr val="002060"/>
                </a:solidFill>
              </a:rPr>
              <a:t>语义：给定非逻辑符号集的解释和个体变量指派函数归纳定义公式的真值</a:t>
            </a:r>
          </a:p>
        </p:txBody>
      </p:sp>
      <mc:AlternateContent xmlns:mc="http://schemas.openxmlformats.org/markup-compatibility/2006" xmlns:a14="http://schemas.microsoft.com/office/drawing/2010/main">
        <mc:Choice Requires="a14">
          <p:sp>
            <p:nvSpPr>
              <p:cNvPr id="3" name="文本框 2"/>
              <p:cNvSpPr txBox="1"/>
              <p:nvPr/>
            </p:nvSpPr>
            <p:spPr>
              <a:xfrm>
                <a:off x="553618" y="2443555"/>
                <a:ext cx="5606557" cy="2126351"/>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如何确定下面一组一阶逻辑公式的真值？</a:t>
                </a:r>
                <a:endParaRPr lang="en-US" altLang="zh-CN" sz="2400" b="1">
                  <a:solidFill>
                    <a:srgbClr val="002060"/>
                  </a:solidFill>
                  <a:latin typeface="楷体" panose="02010609060101010101" pitchFamily="49" charset="-122"/>
                  <a:ea typeface="楷体" panose="02010609060101010101" pitchFamily="49" charset="-122"/>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oMath>
                </a14:m>
                <a:endParaRPr lang="zh-CN" altLang="en-US" sz="2400" b="1">
                  <a:solidFill>
                    <a:schemeClr val="accent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53618" y="2443555"/>
                <a:ext cx="5606557" cy="2126351"/>
              </a:xfrm>
              <a:prstGeom prst="rect">
                <a:avLst/>
              </a:prstGeom>
              <a:blipFill rotWithShape="1">
                <a:blip r:embed="rId2"/>
                <a:stretch>
                  <a:fillRect l="-10" t="-4" r="1"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6311989" y="2101445"/>
                <a:ext cx="5407459" cy="196977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这组公式的一个解释</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oMath>
                </a14:m>
                <a:r>
                  <a:rPr lang="zh-CN" altLang="en-US" b="1">
                    <a:solidFill>
                      <a:srgbClr val="002060"/>
                    </a:solidFill>
                    <a:latin typeface="楷体" panose="02010609060101010101" pitchFamily="49" charset="-122"/>
                    <a:ea typeface="楷体" panose="02010609060101010101" pitchFamily="49" charset="-122"/>
                  </a:rPr>
                  <a:t>，是有限集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         </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b="1" i="1"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oMath>
                </a14:m>
                <a:endParaRPr lang="zh-CN" altLang="en-US" b="1">
                  <a:solidFill>
                    <a:srgbClr val="002060"/>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6311989" y="2101445"/>
                <a:ext cx="5407459" cy="1969770"/>
              </a:xfrm>
              <a:prstGeom prst="rect">
                <a:avLst/>
              </a:prstGeom>
              <a:blipFill rotWithShape="1">
                <a:blip r:embed="rId3"/>
                <a:stretch>
                  <a:fillRect l="-119" t="-334" r="-108" b="-10627"/>
                </a:stretch>
              </a:blipFill>
              <a:ln w="12700">
                <a:solidFill>
                  <a:schemeClr val="accent1">
                    <a:shade val="50000"/>
                  </a:schemeClr>
                </a:solidFill>
                <a:prstDash val="sysDash"/>
              </a:ln>
            </p:spPr>
            <p:txBody>
              <a:bodyPr/>
              <a:lstStyle/>
              <a:p>
                <a:r>
                  <a:rPr lang="zh-CN" altLang="en-US">
                    <a:noFill/>
                  </a:rPr>
                  <a:t> </a:t>
                </a:r>
              </a:p>
            </p:txBody>
          </p:sp>
        </mc:Fallback>
      </mc:AlternateContent>
      <p:sp>
        <p:nvSpPr>
          <p:cNvPr id="15" name="文本框 14"/>
          <p:cNvSpPr txBox="1"/>
          <p:nvPr/>
        </p:nvSpPr>
        <p:spPr>
          <a:xfrm>
            <a:off x="909724" y="4993315"/>
            <a:ext cx="5037165" cy="830997"/>
          </a:xfrm>
          <a:prstGeom prst="rect">
            <a:avLst/>
          </a:prstGeom>
          <a:solidFill>
            <a:schemeClr val="accent2">
              <a:lumMod val="20000"/>
              <a:lumOff val="80000"/>
            </a:schemeClr>
          </a:solidFill>
        </p:spPr>
        <p:txBody>
          <a:bodyPr wrap="square" rtlCol="0">
            <a:spAutoFit/>
          </a:bodyPr>
          <a:lstStyle/>
          <a:p>
            <a:r>
              <a:rPr lang="zh-CN" altLang="en-US" sz="2400" b="1">
                <a:solidFill>
                  <a:srgbClr val="002060"/>
                </a:solidFill>
                <a:latin typeface="楷体" panose="02010609060101010101" pitchFamily="49" charset="-122"/>
                <a:ea typeface="楷体" panose="02010609060101010101" pitchFamily="49" charset="-122"/>
              </a:rPr>
              <a:t>只需关心公式中出现的非逻辑符号的解释以及出现的个体变量的指派</a:t>
            </a:r>
          </a:p>
        </p:txBody>
      </p:sp>
      <mc:AlternateContent xmlns:mc="http://schemas.openxmlformats.org/markup-compatibility/2006" xmlns:a14="http://schemas.microsoft.com/office/drawing/2010/main">
        <mc:Choice Requires="a14">
          <p:sp>
            <p:nvSpPr>
              <p:cNvPr id="19" name="文本框 18"/>
              <p:cNvSpPr txBox="1"/>
              <p:nvPr/>
            </p:nvSpPr>
            <p:spPr>
              <a:xfrm>
                <a:off x="6352524" y="4182627"/>
                <a:ext cx="5326391" cy="2140330"/>
              </a:xfrm>
              <a:prstGeom prst="rect">
                <a:avLst/>
              </a:prstGeom>
              <a:solidFill>
                <a:schemeClr val="accent4">
                  <a:lumMod val="20000"/>
                  <a:lumOff val="80000"/>
                  <a:alpha val="15000"/>
                </a:schemeClr>
              </a:solidFill>
              <a:ln w="12700">
                <a:solidFill>
                  <a:schemeClr val="accent1">
                    <a:shade val="50000"/>
                  </a:schemeClr>
                </a:solidFill>
                <a:prstDash val="dash"/>
              </a:ln>
            </p:spPr>
            <p:txBody>
              <a:bodyPr wrap="square" rtlCol="0">
                <a:spAutoFit/>
              </a:bodyPr>
              <a:lstStyle/>
              <a:p>
                <a:pPr algn="ctr">
                  <a:lnSpc>
                    <a:spcPts val="2400"/>
                  </a:lnSpc>
                  <a:spcBef>
                    <a:spcPts val="600"/>
                  </a:spcBef>
                </a:pPr>
                <a:r>
                  <a:rPr lang="zh-CN" altLang="en-US" b="1" dirty="0">
                    <a:solidFill>
                      <a:srgbClr val="002060"/>
                    </a:solidFill>
                  </a:rPr>
                  <a:t>谓词解释的直观含义</a:t>
                </a:r>
                <a:endParaRPr lang="en-US" altLang="zh-CN" b="1" dirty="0">
                  <a:solidFill>
                    <a:srgbClr val="002060"/>
                  </a:solidFill>
                </a:endParaRPr>
              </a:p>
              <a:p>
                <a:pPr marL="285750" indent="-285750">
                  <a:lnSpc>
                    <a:spcPts val="2000"/>
                  </a:lnSpc>
                  <a:spcBef>
                    <a:spcPts val="600"/>
                  </a:spcBef>
                  <a:buFont typeface="Arial" panose="020B0604020202020204" pitchFamily="34" charset="0"/>
                  <a:buChar char="•"/>
                </a:pPr>
                <a14:m>
                  <m:oMath xmlns:m="http://schemas.openxmlformats.org/officeDocument/2006/math">
                    <m:d>
                      <m:dPr>
                        <m:begChr m:val="⟦"/>
                        <m:endChr m:val="⟧"/>
                        <m:ctrlPr>
                          <a:rPr lang="en-US" altLang="zh-CN" sz="1600" b="1" i="1" smtClean="0">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𝑭</m:t>
                        </m:r>
                      </m:e>
                    </m:d>
                    <m:r>
                      <a:rPr lang="en-US" altLang="zh-CN" sz="1600" b="1" i="1">
                        <a:solidFill>
                          <a:schemeClr val="accent6">
                            <a:lumMod val="50000"/>
                          </a:schemeClr>
                        </a:solidFill>
                        <a:latin typeface="Cambria Math" panose="02040503050406030204" pitchFamily="18" charset="0"/>
                      </a:rPr>
                      <m:t>=</m:t>
                    </m:r>
                    <m:d>
                      <m:dPr>
                        <m:begChr m:val="{"/>
                        <m:endChr m:val="}"/>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𝒂</m:t>
                        </m:r>
                        <m:r>
                          <a:rPr lang="en-US" altLang="zh-CN" sz="1600" b="1" i="1">
                            <a:solidFill>
                              <a:schemeClr val="accent6">
                                <a:lumMod val="50000"/>
                              </a:schemeClr>
                            </a:solidFill>
                            <a:latin typeface="Cambria Math" panose="02040503050406030204" pitchFamily="18" charset="0"/>
                          </a:rPr>
                          <m:t>, </m:t>
                        </m:r>
                        <m:r>
                          <a:rPr lang="en-US" altLang="zh-CN" sz="1600" b="1" i="1">
                            <a:solidFill>
                              <a:schemeClr val="accent6">
                                <a:lumMod val="50000"/>
                              </a:schemeClr>
                            </a:solidFill>
                            <a:latin typeface="Cambria Math" panose="02040503050406030204" pitchFamily="18" charset="0"/>
                          </a:rPr>
                          <m:t>𝒃</m:t>
                        </m:r>
                      </m:e>
                    </m:d>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：表示</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𝒂</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𝒃</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具有性质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𝑭</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（一元谓词的解释是性质），而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𝒄</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不具有性质</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𝑭</m:t>
                    </m:r>
                  </m:oMath>
                </a14:m>
                <a:endParaRPr lang="en-US" altLang="zh-CN" sz="1600" b="1" dirty="0">
                  <a:solidFill>
                    <a:schemeClr val="accent6">
                      <a:lumMod val="50000"/>
                    </a:schemeClr>
                  </a:solidFill>
                  <a:latin typeface="楷体" panose="02010609060101010101" pitchFamily="49" charset="-122"/>
                  <a:ea typeface="楷体" panose="02010609060101010101" pitchFamily="49" charset="-122"/>
                </a:endParaRPr>
              </a:p>
              <a:p>
                <a:pPr marL="285750" indent="-285750">
                  <a:lnSpc>
                    <a:spcPts val="2000"/>
                  </a:lnSpc>
                  <a:spcBef>
                    <a:spcPts val="600"/>
                  </a:spcBef>
                  <a:buFont typeface="Arial" panose="020B0604020202020204" pitchFamily="34" charset="0"/>
                  <a:buChar char="•"/>
                </a:pPr>
                <a14:m>
                  <m:oMath xmlns:m="http://schemas.openxmlformats.org/officeDocument/2006/math">
                    <m:d>
                      <m:dPr>
                        <m:begChr m:val="⟦"/>
                        <m:endChr m:val="⟧"/>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𝑮</m:t>
                        </m:r>
                      </m:e>
                    </m:d>
                    <m:r>
                      <a:rPr lang="en-US" altLang="zh-CN" sz="1600" b="1" i="1">
                        <a:solidFill>
                          <a:schemeClr val="accent6">
                            <a:lumMod val="50000"/>
                          </a:schemeClr>
                        </a:solidFill>
                        <a:latin typeface="Cambria Math" panose="02040503050406030204" pitchFamily="18" charset="0"/>
                      </a:rPr>
                      <m:t>=</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𝒂</m:t>
                    </m:r>
                    <m:r>
                      <a:rPr lang="en-US" altLang="zh-CN" sz="1600" b="1" i="1">
                        <a:solidFill>
                          <a:schemeClr val="accent6">
                            <a:lumMod val="50000"/>
                          </a:schemeClr>
                        </a:solidFill>
                        <a:latin typeface="Cambria Math" panose="02040503050406030204" pitchFamily="18" charset="0"/>
                      </a:rPr>
                      <m:t>, </m:t>
                    </m:r>
                    <m:r>
                      <a:rPr lang="en-US" altLang="zh-CN" sz="1600" b="1" i="1">
                        <a:solidFill>
                          <a:schemeClr val="accent6">
                            <a:lumMod val="50000"/>
                          </a:schemeClr>
                        </a:solidFill>
                        <a:latin typeface="Cambria Math" panose="02040503050406030204" pitchFamily="18" charset="0"/>
                      </a:rPr>
                      <m:t>𝒃</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𝒃</m:t>
                    </m:r>
                    <m:r>
                      <a:rPr lang="en-US" altLang="zh-CN" sz="1600" b="1" i="1">
                        <a:solidFill>
                          <a:schemeClr val="accent6">
                            <a:lumMod val="50000"/>
                          </a:schemeClr>
                        </a:solidFill>
                        <a:latin typeface="Cambria Math" panose="02040503050406030204" pitchFamily="18" charset="0"/>
                      </a:rPr>
                      <m:t>, </m:t>
                    </m:r>
                    <m:r>
                      <a:rPr lang="en-US" altLang="zh-CN" sz="1600" b="1" i="1">
                        <a:solidFill>
                          <a:schemeClr val="accent6">
                            <a:lumMod val="50000"/>
                          </a:schemeClr>
                        </a:solidFill>
                        <a:latin typeface="Cambria Math" panose="02040503050406030204" pitchFamily="18" charset="0"/>
                      </a:rPr>
                      <m:t>𝒄</m:t>
                    </m:r>
                    <m:r>
                      <m:rPr>
                        <m:lit/>
                      </m:rPr>
                      <a:rPr lang="en-US" altLang="zh-CN" sz="1600" b="1" i="1">
                        <a:solidFill>
                          <a:schemeClr val="accent6">
                            <a:lumMod val="50000"/>
                          </a:schemeClr>
                        </a:solidFill>
                        <a:latin typeface="Cambria Math" panose="02040503050406030204" pitchFamily="18" charset="0"/>
                      </a:rPr>
                      <m:t>⟩}</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：表示</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𝒂</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𝒃</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，以及</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𝒃</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𝒄</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有关系</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𝑮</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（二元谓词的解释是关系），其他元素对没有关系</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𝑮</m:t>
                    </m:r>
                  </m:oMath>
                </a14:m>
                <a:endParaRPr lang="en-US" altLang="zh-CN" sz="1600" b="1" dirty="0">
                  <a:solidFill>
                    <a:schemeClr val="accent6">
                      <a:lumMod val="50000"/>
                    </a:schemeClr>
                  </a:solidFill>
                  <a:latin typeface="楷体" panose="02010609060101010101" pitchFamily="49" charset="-122"/>
                  <a:ea typeface="楷体" panose="02010609060101010101" pitchFamily="49" charset="-122"/>
                </a:endParaRPr>
              </a:p>
              <a:p>
                <a:pPr marL="285750" indent="-285750">
                  <a:lnSpc>
                    <a:spcPts val="2000"/>
                  </a:lnSpc>
                  <a:spcBef>
                    <a:spcPts val="600"/>
                  </a:spcBef>
                  <a:buFont typeface="Arial" panose="020B0604020202020204" pitchFamily="34" charset="0"/>
                  <a:buChar char="•"/>
                </a:pPr>
                <a14:m>
                  <m:oMath xmlns:m="http://schemas.openxmlformats.org/officeDocument/2006/math">
                    <m:d>
                      <m:dPr>
                        <m:begChr m:val="⟦"/>
                        <m:endChr m:val="⟧"/>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𝑯</m:t>
                        </m:r>
                      </m:e>
                    </m:d>
                    <m:r>
                      <a:rPr lang="en-US" altLang="zh-CN" sz="1600" b="1" i="1">
                        <a:solidFill>
                          <a:schemeClr val="accent6">
                            <a:lumMod val="50000"/>
                          </a:schemeClr>
                        </a:solidFill>
                        <a:latin typeface="Cambria Math" panose="02040503050406030204" pitchFamily="18" charset="0"/>
                      </a:rPr>
                      <m:t>=</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𝒂</m:t>
                    </m:r>
                    <m:r>
                      <a:rPr lang="en-US" altLang="zh-CN" sz="1600" b="1" i="1">
                        <a:solidFill>
                          <a:schemeClr val="accent6">
                            <a:lumMod val="50000"/>
                          </a:schemeClr>
                        </a:solidFill>
                        <a:latin typeface="Cambria Math" panose="02040503050406030204" pitchFamily="18" charset="0"/>
                      </a:rPr>
                      <m:t>, </m:t>
                    </m:r>
                    <m:r>
                      <a:rPr lang="en-US" altLang="zh-CN" sz="1600" b="1" i="1">
                        <a:solidFill>
                          <a:schemeClr val="accent6">
                            <a:lumMod val="50000"/>
                          </a:schemeClr>
                        </a:solidFill>
                        <a:latin typeface="Cambria Math" panose="02040503050406030204" pitchFamily="18" charset="0"/>
                      </a:rPr>
                      <m:t>𝒂</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m:t>
                    </m:r>
                    <m:r>
                      <m:rPr>
                        <m:lit/>
                      </m:rP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𝒄</m:t>
                    </m:r>
                    <m:r>
                      <a:rPr lang="en-US" altLang="zh-CN" sz="1600" b="1" i="1">
                        <a:solidFill>
                          <a:schemeClr val="accent6">
                            <a:lumMod val="50000"/>
                          </a:schemeClr>
                        </a:solidFill>
                        <a:latin typeface="Cambria Math" panose="02040503050406030204" pitchFamily="18" charset="0"/>
                      </a:rPr>
                      <m:t>, </m:t>
                    </m:r>
                    <m:r>
                      <a:rPr lang="en-US" altLang="zh-CN" sz="1600" b="1" i="1">
                        <a:solidFill>
                          <a:schemeClr val="accent6">
                            <a:lumMod val="50000"/>
                          </a:schemeClr>
                        </a:solidFill>
                        <a:latin typeface="Cambria Math" panose="02040503050406030204" pitchFamily="18" charset="0"/>
                      </a:rPr>
                      <m:t>𝒄</m:t>
                    </m:r>
                    <m:r>
                      <m:rPr>
                        <m:lit/>
                      </m:rPr>
                      <a:rPr lang="en-US" altLang="zh-CN" sz="1600" b="1" i="1">
                        <a:solidFill>
                          <a:schemeClr val="accent6">
                            <a:lumMod val="50000"/>
                          </a:schemeClr>
                        </a:solidFill>
                        <a:latin typeface="Cambria Math" panose="02040503050406030204" pitchFamily="18" charset="0"/>
                      </a:rPr>
                      <m:t>⟩}</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：表示</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𝒂</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𝒂</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，以及</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𝒄</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和</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𝒄</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有关系</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𝑯</m:t>
                    </m:r>
                  </m:oMath>
                </a14:m>
                <a:r>
                  <a:rPr lang="zh-CN" altLang="en-US" sz="1600" b="1" dirty="0">
                    <a:solidFill>
                      <a:schemeClr val="accent6">
                        <a:lumMod val="50000"/>
                      </a:schemeClr>
                    </a:solidFill>
                    <a:latin typeface="楷体" panose="02010609060101010101" pitchFamily="49" charset="-122"/>
                    <a:ea typeface="楷体" panose="02010609060101010101" pitchFamily="49" charset="-122"/>
                  </a:rPr>
                  <a:t>，其他元素对的两个元素之间没有关系</a:t>
                </a:r>
                <a14:m>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𝑯</m:t>
                    </m:r>
                  </m:oMath>
                </a14:m>
                <a:endParaRPr lang="zh-CN" altLang="en-US" sz="1600" b="1"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6352524" y="4182627"/>
                <a:ext cx="5326391" cy="2140330"/>
              </a:xfrm>
              <a:prstGeom prst="rect">
                <a:avLst/>
              </a:prstGeom>
              <a:blipFill rotWithShape="1">
                <a:blip r:embed="rId4"/>
                <a:stretch>
                  <a:fillRect l="-131" t="-321" r="-107" b="-284"/>
                </a:stretch>
              </a:blipFill>
              <a:ln w="12700">
                <a:solidFill>
                  <a:schemeClr val="accent1">
                    <a:shade val="50000"/>
                  </a:schemeClr>
                </a:solidFill>
                <a:prstDash val="dash"/>
              </a:ln>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一阶逻辑公式的解释举例</a:t>
            </a:r>
          </a:p>
        </p:txBody>
      </p:sp>
      <mc:AlternateContent xmlns:mc="http://schemas.openxmlformats.org/markup-compatibility/2006" xmlns:a14="http://schemas.microsoft.com/office/drawing/2010/main">
        <mc:Choice Requires="a14">
          <p:sp>
            <p:nvSpPr>
              <p:cNvPr id="3" name="文本框 2"/>
              <p:cNvSpPr txBox="1"/>
              <p:nvPr/>
            </p:nvSpPr>
            <p:spPr>
              <a:xfrm>
                <a:off x="1457341" y="1354894"/>
                <a:ext cx="5606557" cy="2126351"/>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如何确定下面一组一阶逻辑公式的真值？</a:t>
                </a:r>
                <a:endParaRPr lang="en-US" altLang="zh-CN" sz="2400" b="1">
                  <a:solidFill>
                    <a:srgbClr val="002060"/>
                  </a:solidFill>
                  <a:latin typeface="楷体" panose="02010609060101010101" pitchFamily="49" charset="-122"/>
                  <a:ea typeface="楷体" panose="02010609060101010101" pitchFamily="49" charset="-122"/>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e>
                    </m:d>
                  </m:oMath>
                </a14:m>
                <a:endParaRPr lang="en-US" altLang="zh-CN" sz="2400" b="1">
                  <a:solidFill>
                    <a:schemeClr val="accent2">
                      <a:lumMod val="50000"/>
                    </a:schemeClr>
                  </a:solidFill>
                </a:endParaRPr>
              </a:p>
              <a:p>
                <a:pPr marL="457200" indent="-457200">
                  <a:spcBef>
                    <a:spcPts val="600"/>
                  </a:spcBef>
                  <a:spcAft>
                    <a:spcPts val="6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𝒛𝑯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𝒛</m:t>
                        </m:r>
                      </m:e>
                    </m:d>
                  </m:oMath>
                </a14:m>
                <a:endParaRPr lang="zh-CN" altLang="en-US" sz="2400" b="1">
                  <a:solidFill>
                    <a:schemeClr val="accent2">
                      <a:lumMod val="50000"/>
                    </a:schemeClr>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457341" y="1354894"/>
                <a:ext cx="5606557" cy="2126351"/>
              </a:xfrm>
              <a:prstGeom prst="rect">
                <a:avLst/>
              </a:prstGeom>
              <a:blipFill rotWithShape="1">
                <a:blip r:embed="rId2"/>
                <a:stretch>
                  <a:fillRect t="-21" r="3" b="8"/>
                </a:stretch>
              </a:blipFill>
            </p:spPr>
            <p:txBody>
              <a:bodyPr/>
              <a:lstStyle/>
              <a:p>
                <a:r>
                  <a:rPr lang="zh-CN" altLang="en-US">
                    <a:noFill/>
                  </a:rPr>
                  <a:t> </a:t>
                </a:r>
              </a:p>
            </p:txBody>
          </p:sp>
        </mc:Fallback>
      </mc:AlternateContent>
      <p:sp>
        <p:nvSpPr>
          <p:cNvPr id="4" name="文本框 3"/>
          <p:cNvSpPr txBox="1"/>
          <p:nvPr/>
        </p:nvSpPr>
        <p:spPr>
          <a:xfrm>
            <a:off x="7822900" y="1956405"/>
            <a:ext cx="2780476" cy="923330"/>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b="1">
                <a:solidFill>
                  <a:srgbClr val="C00000"/>
                </a:solidFill>
                <a:latin typeface="黑体" panose="02010609060101010101" pitchFamily="49" charset="-122"/>
                <a:ea typeface="黑体" panose="02010609060101010101" pitchFamily="49" charset="-122"/>
              </a:rPr>
              <a:t>后面会看到，公式在不同解释或不同个体变量指派函数下有不同的真值</a:t>
            </a:r>
          </a:p>
        </p:txBody>
      </p:sp>
      <mc:AlternateContent xmlns:mc="http://schemas.openxmlformats.org/markup-compatibility/2006" xmlns:a14="http://schemas.microsoft.com/office/drawing/2010/main">
        <mc:Choice Requires="a14">
          <p:sp>
            <p:nvSpPr>
              <p:cNvPr id="14" name="文本框 13"/>
              <p:cNvSpPr txBox="1"/>
              <p:nvPr/>
            </p:nvSpPr>
            <p:spPr>
              <a:xfrm>
                <a:off x="494412" y="3904869"/>
                <a:ext cx="5407459" cy="196977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这组公式的第一个解释</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oMath>
                </a14:m>
                <a:r>
                  <a:rPr lang="zh-CN" altLang="en-US" b="1">
                    <a:solidFill>
                      <a:srgbClr val="002060"/>
                    </a:solidFill>
                    <a:latin typeface="楷体" panose="02010609060101010101" pitchFamily="49" charset="-122"/>
                    <a:ea typeface="楷体" panose="02010609060101010101" pitchFamily="49" charset="-122"/>
                  </a:rPr>
                  <a:t>，是有限集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         </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b="1" i="1"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oMath>
                </a14:m>
                <a:endParaRPr lang="zh-CN" altLang="en-US" b="1">
                  <a:solidFill>
                    <a:srgbClr val="002060"/>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494412" y="3904869"/>
                <a:ext cx="5407459" cy="1969770"/>
              </a:xfrm>
              <a:prstGeom prst="rect">
                <a:avLst/>
              </a:prstGeom>
              <a:blipFill rotWithShape="1">
                <a:blip r:embed="rId3"/>
                <a:stretch>
                  <a:fillRect l="-124" t="-335" r="-114" b="-10625"/>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6290129" y="3727897"/>
                <a:ext cx="5407459" cy="2323713"/>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这组公式的第二个解释</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ea typeface="Cambria Math" panose="02040503050406030204" pitchFamily="18" charset="0"/>
                      </a:rPr>
                      <m:t>ℤ</m:t>
                    </m:r>
                  </m:oMath>
                </a14:m>
                <a:r>
                  <a:rPr lang="zh-CN" altLang="en-US" b="1">
                    <a:solidFill>
                      <a:srgbClr val="002060"/>
                    </a:solidFill>
                    <a:latin typeface="楷体" panose="02010609060101010101" pitchFamily="49" charset="-122"/>
                    <a:ea typeface="楷体" panose="02010609060101010101" pitchFamily="49" charset="-122"/>
                  </a:rPr>
                  <a:t>，是整数集合，是无限集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ea typeface="Cambria Math" panose="02040503050406030204" pitchFamily="18" charset="0"/>
                            </a:rPr>
                            <m:t>ℤ</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&gt;</m:t>
                          </m:r>
                          <m:r>
                            <a:rPr lang="en-US" altLang="zh-CN" b="1" i="1" smtClean="0">
                              <a:solidFill>
                                <a:srgbClr val="002060"/>
                              </a:solidFill>
                              <a:latin typeface="Cambria Math" panose="02040503050406030204" pitchFamily="18" charset="0"/>
                            </a:rPr>
                            <m:t>𝟏</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lgn="ctr">
                  <a:spcAft>
                    <a:spcPts val="600"/>
                  </a:spcAft>
                </a:pP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oMath>
                </a14:m>
                <a:r>
                  <a:rPr lang="zh-CN" altLang="en-US" b="1" i="0">
                    <a:solidFill>
                      <a:srgbClr val="002060"/>
                    </a:solidFill>
                    <a:latin typeface="+mj-lt"/>
                  </a:rPr>
                  <a:t>是</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i="0">
                    <a:solidFill>
                      <a:srgbClr val="002060"/>
                    </a:solidFill>
                    <a:latin typeface="+mj-lt"/>
                  </a:rPr>
                  <a:t>的倍数</a:t>
                </a:r>
                <a14:m>
                  <m:oMath xmlns:m="http://schemas.openxmlformats.org/officeDocument/2006/math">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b="1" i="1"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𝟐</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𝟑</m:t>
                    </m:r>
                  </m:oMath>
                </a14:m>
                <a:endParaRPr lang="zh-CN" altLang="en-US" b="1">
                  <a:solidFill>
                    <a:srgbClr val="002060"/>
                  </a:solidFill>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6290129" y="3727897"/>
                <a:ext cx="5407459" cy="2323713"/>
              </a:xfrm>
              <a:prstGeom prst="rect">
                <a:avLst/>
              </a:prstGeom>
              <a:blipFill rotWithShape="1">
                <a:blip r:embed="rId4"/>
                <a:stretch>
                  <a:fillRect l="-126" t="-293" r="-113" b="-8851"/>
                </a:stretch>
              </a:blipFill>
              <a:ln w="12700">
                <a:solidFill>
                  <a:schemeClr val="accent1">
                    <a:shade val="50000"/>
                  </a:schemeClr>
                </a:solidFill>
                <a:prstDash val="sysDash"/>
              </a:ln>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一阶逻辑公式的解释</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研究逻辑时的对象语言和元语言</a:t>
            </a:r>
            <a:r>
              <a:rPr lang="en-US" altLang="zh-CN"/>
              <a:t>*</a:t>
            </a:r>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551120" y="1164031"/>
                <a:ext cx="4872784" cy="1502976"/>
              </a:xfrm>
              <a:prstGeom prst="rect">
                <a:avLst/>
              </a:prstGeom>
              <a:solidFill>
                <a:schemeClr val="accent6">
                  <a:lumMod val="20000"/>
                  <a:lumOff val="80000"/>
                  <a:alpha val="50000"/>
                </a:schemeClr>
              </a:solidFill>
            </p:spPr>
            <p:txBody>
              <a:bodyPr wrap="square" rtlCol="0">
                <a:spAutoFit/>
              </a:bodyPr>
              <a:lstStyle/>
              <a:p>
                <a:pPr>
                  <a:lnSpc>
                    <a:spcPts val="2800"/>
                  </a:lnSpc>
                </a:pPr>
                <a:r>
                  <a:rPr lang="zh-CN" altLang="en-US" b="1">
                    <a:solidFill>
                      <a:srgbClr val="002060"/>
                    </a:solidFill>
                    <a:latin typeface="楷体" panose="02010609060101010101" pitchFamily="49" charset="-122"/>
                    <a:ea typeface="楷体" panose="02010609060101010101" pitchFamily="49" charset="-122"/>
                  </a:rPr>
                  <a:t>对于下面公式，非逻辑符号集</a:t>
                </a:r>
                <a14:m>
                  <m:oMath xmlns:m="http://schemas.openxmlformats.org/officeDocument/2006/math">
                    <m:r>
                      <a:rPr lang="en-US" altLang="zh-CN" b="1" i="1" smtClean="0">
                        <a:solidFill>
                          <a:srgbClr val="002060"/>
                        </a:solidFill>
                        <a:latin typeface="Cambria Math" panose="02040503050406030204" pitchFamily="18" charset="0"/>
                        <a:ea typeface="Cambria Math" panose="02040503050406030204" pitchFamily="18" charset="0"/>
                      </a:rPr>
                      <m:t>𝓛</m:t>
                    </m:r>
                  </m:oMath>
                </a14:m>
                <a:r>
                  <a:rPr lang="zh-CN" altLang="en-US" b="1">
                    <a:solidFill>
                      <a:srgbClr val="002060"/>
                    </a:solidFill>
                    <a:latin typeface="楷体" panose="02010609060101010101" pitchFamily="49" charset="-122"/>
                    <a:ea typeface="楷体" panose="02010609060101010101" pitchFamily="49" charset="-122"/>
                  </a:rPr>
                  <a:t>有个体常量</a:t>
                </a:r>
                <a14:m>
                  <m:oMath xmlns:m="http://schemas.openxmlformats.org/officeDocument/2006/math">
                    <m:r>
                      <a:rPr lang="en-US" altLang="zh-CN" b="1" i="1" smtClean="0">
                        <a:solidFill>
                          <a:srgbClr val="002060"/>
                        </a:solidFill>
                        <a:latin typeface="Cambria Math" panose="02040503050406030204" pitchFamily="18" charset="0"/>
                      </a:rPr>
                      <m:t>𝟎</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𝟏</m:t>
                    </m:r>
                  </m:oMath>
                </a14:m>
                <a:r>
                  <a:rPr lang="zh-CN" altLang="en-US" b="1">
                    <a:solidFill>
                      <a:srgbClr val="002060"/>
                    </a:solidFill>
                    <a:latin typeface="楷体" panose="02010609060101010101" pitchFamily="49" charset="-122"/>
                    <a:ea typeface="楷体" panose="02010609060101010101" pitchFamily="49" charset="-122"/>
                  </a:rPr>
                  <a:t>，</a:t>
                </a:r>
                <a:r>
                  <a:rPr lang="zh-CN" altLang="en-US" b="1" i="0">
                    <a:solidFill>
                      <a:srgbClr val="002060"/>
                    </a:solidFill>
                    <a:latin typeface="楷体" panose="02010609060101010101" pitchFamily="49" charset="-122"/>
                    <a:ea typeface="楷体" panose="02010609060101010101" pitchFamily="49" charset="-122"/>
                  </a:rPr>
                  <a:t>二元谓词符号</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，二元函数符号</a:t>
                </a:r>
                <a14:m>
                  <m:oMath xmlns:m="http://schemas.openxmlformats.org/officeDocument/2006/math">
                    <m:r>
                      <a:rPr lang="en-US" altLang="zh-CN" b="1" i="1">
                        <a:solidFill>
                          <a:srgbClr val="002060"/>
                        </a:solidFill>
                        <a:latin typeface="Cambria Math" panose="02040503050406030204" pitchFamily="18" charset="0"/>
                      </a:rPr>
                      <m:t>+</m:t>
                    </m:r>
                  </m:oMath>
                </a14:m>
                <a:r>
                  <a:rPr lang="zh-CN" altLang="en-US" b="1" i="0">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a:solidFill>
                      <a:srgbClr val="002060"/>
                    </a:solidFill>
                    <a:latin typeface="楷体" panose="02010609060101010101" pitchFamily="49" charset="-122"/>
                    <a:ea typeface="楷体" panose="02010609060101010101" pitchFamily="49" charset="-122"/>
                  </a:rPr>
                  <a:t>：</a:t>
                </a:r>
                <a:endParaRPr lang="en-US" altLang="zh-CN" b="1">
                  <a:solidFill>
                    <a:srgbClr val="002060"/>
                  </a:solidFill>
                  <a:latin typeface="楷体" panose="02010609060101010101" pitchFamily="49" charset="-122"/>
                  <a:ea typeface="楷体" panose="02010609060101010101" pitchFamily="49" charset="-122"/>
                </a:endParaRPr>
              </a:p>
              <a:p>
                <a:pPr algn="ctr">
                  <a:lnSpc>
                    <a:spcPts val="2400"/>
                  </a:lnSpc>
                  <a:spcBef>
                    <a:spcPts val="600"/>
                  </a:spcBef>
                  <a:spcAft>
                    <a:spcPts val="600"/>
                  </a:spcAft>
                </a:pPr>
                <a14:m>
                  <m:oMath xmlns:m="http://schemas.openxmlformats.org/officeDocument/2006/math">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d>
                      <m:dPr>
                        <m:ctrlPr>
                          <a:rPr lang="es-ES" altLang="zh-CN" b="1" i="1" smtClean="0">
                            <a:solidFill>
                              <a:schemeClr val="accent2">
                                <a:lumMod val="50000"/>
                              </a:schemeClr>
                            </a:solidFill>
                            <a:latin typeface="Cambria Math" panose="02040503050406030204" pitchFamily="18" charset="0"/>
                          </a:rPr>
                        </m:ctrlPr>
                      </m:dPr>
                      <m:e>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𝟎</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𝒚</m:t>
                            </m:r>
                          </m:e>
                        </m:d>
                      </m:e>
                    </m:d>
                  </m:oMath>
                </a14:m>
                <a:r>
                  <a:rPr lang="es-ES" altLang="zh-CN" b="1">
                    <a:solidFill>
                      <a:schemeClr val="accent2">
                        <a:lumMod val="50000"/>
                      </a:schemeClr>
                    </a:solidFill>
                  </a:rPr>
                  <a:t>           </a:t>
                </a:r>
                <a14:m>
                  <m:oMath xmlns:m="http://schemas.openxmlformats.org/officeDocument/2006/math">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𝟏</m:t>
                            </m:r>
                          </m:e>
                        </m:d>
                      </m:e>
                    </m:d>
                  </m:oMath>
                </a14:m>
                <a:endParaRPr lang="es-ES" altLang="zh-CN" b="1">
                  <a:solidFill>
                    <a:schemeClr val="accent2">
                      <a:lumMod val="50000"/>
                    </a:schemeClr>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551120" y="1164031"/>
                <a:ext cx="4872784" cy="1502976"/>
              </a:xfrm>
              <a:prstGeom prst="rect">
                <a:avLst/>
              </a:prstGeom>
              <a:blipFill rotWithShape="1">
                <a:blip r:embed="rId2"/>
                <a:stretch>
                  <a:fillRect l="-12" t="-5" r="8" b="-196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5624544" y="1205381"/>
                <a:ext cx="6016335" cy="1431161"/>
              </a:xfrm>
              <a:prstGeom prst="rect">
                <a:avLst/>
              </a:prstGeom>
              <a:solidFill>
                <a:schemeClr val="accent2">
                  <a:lumMod val="20000"/>
                  <a:lumOff val="80000"/>
                  <a:alpha val="25000"/>
                </a:schemeClr>
              </a:solidFill>
              <a:ln w="12700">
                <a:solidFill>
                  <a:schemeClr val="accent1">
                    <a:shade val="50000"/>
                  </a:schemeClr>
                </a:solidFill>
                <a:prstDash val="sysDash"/>
              </a:ln>
            </p:spPr>
            <p:txBody>
              <a:bodyPr wrap="square" rtlCol="0">
                <a:spAutoFit/>
              </a:bodyPr>
              <a:lstStyle/>
              <a:p>
                <a:pPr>
                  <a:spcBef>
                    <a:spcPts val="600"/>
                  </a:spcBef>
                </a:pPr>
                <a:r>
                  <a:rPr lang="zh-CN" altLang="en-US" b="1">
                    <a:solidFill>
                      <a:srgbClr val="002060"/>
                    </a:solidFill>
                    <a:latin typeface="楷体" panose="02010609060101010101" pitchFamily="49" charset="-122"/>
                    <a:ea typeface="楷体" panose="02010609060101010101" pitchFamily="49" charset="-122"/>
                  </a:rPr>
                  <a:t>给定这些公式的一个解释，论域是自然数集</a:t>
                </a:r>
                <a14:m>
                  <m:oMath xmlns:m="http://schemas.openxmlformats.org/officeDocument/2006/math">
                    <m:r>
                      <a:rPr lang="en-US" altLang="zh-CN" b="1" i="1">
                        <a:solidFill>
                          <a:srgbClr val="002060"/>
                        </a:solidFill>
                        <a:latin typeface="Cambria Math" panose="02040503050406030204" pitchFamily="18" charset="0"/>
                        <a:ea typeface="Cambria Math" panose="02040503050406030204" pitchFamily="18" charset="0"/>
                      </a:rPr>
                      <m:t>ℕ</m:t>
                    </m:r>
                  </m:oMath>
                </a14:m>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常量符号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分别解释为自然数</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二元函数符号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分别解释为</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b="1">
                    <a:solidFill>
                      <a:schemeClr val="accent6">
                        <a:lumMod val="50000"/>
                      </a:schemeClr>
                    </a:solidFill>
                    <a:latin typeface="宋体" panose="02010600030101010101" pitchFamily="2" charset="-122"/>
                    <a:ea typeface="宋体" panose="02010600030101010101" pitchFamily="2" charset="-122"/>
                  </a:rPr>
                  <a:t>上的加法和乘法运算</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二元谓词符号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b="1">
                    <a:solidFill>
                      <a:schemeClr val="accent6">
                        <a:lumMod val="50000"/>
                      </a:schemeClr>
                    </a:solidFill>
                    <a:latin typeface="宋体" panose="02010600030101010101" pitchFamily="2" charset="-122"/>
                    <a:ea typeface="宋体" panose="02010600030101010101" pitchFamily="2" charset="-122"/>
                  </a:rPr>
                  <a:t>上的小于等于和相等关系</a:t>
                </a:r>
              </a:p>
            </p:txBody>
          </p:sp>
        </mc:Choice>
        <mc:Fallback xmlns="">
          <p:sp>
            <p:nvSpPr>
              <p:cNvPr id="2" name="文本框 1"/>
              <p:cNvSpPr txBox="1">
                <a:spLocks noRot="1" noChangeAspect="1" noMove="1" noResize="1" noEditPoints="1" noAdjustHandles="1" noChangeArrowheads="1" noChangeShapeType="1" noTextEdit="1"/>
              </p:cNvSpPr>
              <p:nvPr/>
            </p:nvSpPr>
            <p:spPr>
              <a:xfrm>
                <a:off x="5624544" y="1205381"/>
                <a:ext cx="6016335" cy="1431161"/>
              </a:xfrm>
              <a:prstGeom prst="rect">
                <a:avLst/>
              </a:prstGeom>
              <a:blipFill rotWithShape="1">
                <a:blip r:embed="rId3"/>
                <a:stretch>
                  <a:fillRect l="-111" t="-454" r="-105" b="-14995"/>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42397" y="2988906"/>
                <a:ext cx="5090229" cy="3132076"/>
              </a:xfrm>
              <a:prstGeom prst="rect">
                <a:avLst/>
              </a:prstGeom>
              <a:solidFill>
                <a:schemeClr val="accent5">
                  <a:lumMod val="20000"/>
                  <a:lumOff val="80000"/>
                  <a:alpha val="50000"/>
                </a:schemeClr>
              </a:solidFill>
            </p:spPr>
            <p:txBody>
              <a:bodyPr wrap="square" rtlCol="0">
                <a:spAutoFit/>
              </a:bodyPr>
              <a:lstStyle/>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常出现模型中的符号与非逻辑符号集中符号相同的情况</a:t>
                </a:r>
              </a:p>
              <a:p>
                <a:pPr marL="742950" lvl="1"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因为该模型是非逻辑符号</a:t>
                </a:r>
                <a:r>
                  <a:rPr lang="zh-CN" altLang="en-US" b="1">
                    <a:solidFill>
                      <a:srgbClr val="C00000"/>
                    </a:solidFill>
                    <a:latin typeface="宋体" panose="02010600030101010101" pitchFamily="2" charset="-122"/>
                    <a:ea typeface="宋体" panose="02010600030101010101" pitchFamily="2" charset="-122"/>
                  </a:rPr>
                  <a:t>最自然的解释</a:t>
                </a: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非逻辑符号集的符号仅仅是符号，而模型中的符号已经预先赋予了含义</a:t>
                </a:r>
              </a:p>
              <a:p>
                <a:pPr marL="742950" lvl="1"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作为公式的个体常量符号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oMath>
                </a14:m>
                <a:r>
                  <a:rPr lang="zh-CN" altLang="en-US" b="1">
                    <a:solidFill>
                      <a:schemeClr val="accent6">
                        <a:lumMod val="50000"/>
                      </a:schemeClr>
                    </a:solidFill>
                    <a:latin typeface="宋体" panose="02010600030101010101" pitchFamily="2" charset="-122"/>
                    <a:ea typeface="宋体" panose="02010600030101010101" pitchFamily="2" charset="-122"/>
                  </a:rPr>
                  <a:t>，</a:t>
                </a:r>
                <a:r>
                  <a:rPr lang="zh-CN" altLang="en-US" b="1">
                    <a:solidFill>
                      <a:srgbClr val="C00000"/>
                    </a:solidFill>
                    <a:latin typeface="宋体" panose="02010600030101010101" pitchFamily="2" charset="-122"/>
                    <a:ea typeface="宋体" panose="02010600030101010101" pitchFamily="2" charset="-122"/>
                  </a:rPr>
                  <a:t>仅仅是符号</a:t>
                </a:r>
                <a:r>
                  <a:rPr lang="zh-CN" altLang="en-US" b="1">
                    <a:solidFill>
                      <a:schemeClr val="accent6">
                        <a:lumMod val="50000"/>
                      </a:schemeClr>
                    </a:solidFill>
                    <a:latin typeface="宋体" panose="02010600030101010101" pitchFamily="2" charset="-122"/>
                    <a:ea typeface="宋体" panose="02010600030101010101" pitchFamily="2" charset="-122"/>
                  </a:rPr>
                  <a:t>，没有含义</a:t>
                </a:r>
              </a:p>
              <a:p>
                <a:pPr marL="742950" lvl="1"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作为以自然数集为论域的解释，</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oMath>
                </a14:m>
                <a:r>
                  <a:rPr lang="zh-CN" altLang="en-US" b="1">
                    <a:solidFill>
                      <a:srgbClr val="C00000"/>
                    </a:solidFill>
                    <a:latin typeface="宋体" panose="02010600030101010101" pitchFamily="2" charset="-122"/>
                    <a:ea typeface="宋体" panose="02010600030101010101" pitchFamily="2" charset="-122"/>
                  </a:rPr>
                  <a:t>不仅仅是符号</a:t>
                </a:r>
                <a:r>
                  <a:rPr lang="zh-CN" altLang="en-US" b="1">
                    <a:solidFill>
                      <a:schemeClr val="accent6">
                        <a:lumMod val="50000"/>
                      </a:schemeClr>
                    </a:solidFill>
                    <a:latin typeface="宋体" panose="02010600030101010101" pitchFamily="2" charset="-122"/>
                    <a:ea typeface="宋体" panose="02010600030101010101" pitchFamily="2" charset="-122"/>
                  </a:rPr>
                  <a:t>，且是人们熟知的那个自然数</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oMath>
                </a14:m>
                <a:endParaRPr lang="en-US" altLang="zh-CN" b="1">
                  <a:solidFill>
                    <a:schemeClr val="accent6">
                      <a:lumMod val="50000"/>
                    </a:schemeClr>
                  </a:solidFill>
                  <a:latin typeface="宋体" panose="02010600030101010101" pitchFamily="2" charset="-122"/>
                  <a:ea typeface="宋体" panose="02010600030101010101" pitchFamily="2"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42397" y="2988906"/>
                <a:ext cx="5090229" cy="3132076"/>
              </a:xfrm>
              <a:prstGeom prst="rect">
                <a:avLst/>
              </a:prstGeom>
              <a:blipFill rotWithShape="1">
                <a:blip r:embed="rId4"/>
                <a:stretch>
                  <a:fillRect l="-9" t="-19" r="-352" b="7"/>
                </a:stretch>
              </a:blipFill>
            </p:spPr>
            <p:txBody>
              <a:bodyPr/>
              <a:lstStyle/>
              <a:p>
                <a:r>
                  <a:rPr lang="zh-CN" altLang="en-US">
                    <a:noFill/>
                  </a:rPr>
                  <a:t> </a:t>
                </a:r>
              </a:p>
            </p:txBody>
          </p:sp>
        </mc:Fallback>
      </mc:AlternateContent>
      <p:sp>
        <p:nvSpPr>
          <p:cNvPr id="4" name="文本框 3"/>
          <p:cNvSpPr txBox="1"/>
          <p:nvPr/>
        </p:nvSpPr>
        <p:spPr>
          <a:xfrm>
            <a:off x="5774389" y="3079445"/>
            <a:ext cx="5716644" cy="3000950"/>
          </a:xfrm>
          <a:prstGeom prst="rect">
            <a:avLst/>
          </a:prstGeom>
          <a:solidFill>
            <a:schemeClr val="accent2">
              <a:lumMod val="20000"/>
              <a:lumOff val="80000"/>
              <a:alpha val="25000"/>
            </a:schemeClr>
          </a:solidFill>
        </p:spPr>
        <p:txBody>
          <a:bodyPr wrap="square" rtlCol="0">
            <a:spAutoFit/>
          </a:bodyPr>
          <a:lstStyle/>
          <a:p>
            <a:pPr algn="ctr">
              <a:lnSpc>
                <a:spcPts val="2400"/>
              </a:lnSpc>
              <a:spcBef>
                <a:spcPts val="600"/>
              </a:spcBef>
              <a:spcAft>
                <a:spcPts val="600"/>
              </a:spcAft>
            </a:pPr>
            <a:r>
              <a:rPr lang="zh-CN" altLang="en-US" b="1">
                <a:solidFill>
                  <a:srgbClr val="C00000"/>
                </a:solidFill>
              </a:rPr>
              <a:t>对象语言</a:t>
            </a:r>
            <a:r>
              <a:rPr lang="en-US" altLang="zh-CN">
                <a:solidFill>
                  <a:srgbClr val="C00000"/>
                </a:solidFill>
              </a:rPr>
              <a:t>(object language)</a:t>
            </a:r>
            <a:r>
              <a:rPr lang="zh-CN" altLang="en-US" b="1">
                <a:solidFill>
                  <a:srgbClr val="C00000"/>
                </a:solidFill>
              </a:rPr>
              <a:t>与元语言</a:t>
            </a:r>
            <a:r>
              <a:rPr lang="en-US" altLang="zh-CN">
                <a:solidFill>
                  <a:srgbClr val="C00000"/>
                </a:solidFill>
              </a:rPr>
              <a:t>(meta-language)</a:t>
            </a: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逻辑学研究的逻辑公式，如命题逻辑公式、一阶逻辑公式称为</a:t>
            </a:r>
            <a:r>
              <a:rPr lang="zh-CN" altLang="en-US" b="1">
                <a:solidFill>
                  <a:srgbClr val="C00000"/>
                </a:solidFill>
                <a:latin typeface="黑体" panose="02010609060101010101" pitchFamily="49" charset="-122"/>
                <a:ea typeface="黑体" panose="02010609060101010101" pitchFamily="49" charset="-122"/>
              </a:rPr>
              <a:t>对象语言</a:t>
            </a:r>
            <a:endParaRPr lang="en-US" altLang="zh-CN" b="1">
              <a:solidFill>
                <a:srgbClr val="C00000"/>
              </a:solidFill>
              <a:latin typeface="黑体" panose="02010609060101010101" pitchFamily="49" charset="-122"/>
              <a:ea typeface="黑体" panose="02010609060101010101" pitchFamily="49" charset="-122"/>
            </a:endParaRPr>
          </a:p>
          <a:p>
            <a:pPr marL="742950" lvl="1"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对象语言可使用归纳定义给出严格的定义</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研究逻辑时使用的语言，如自然语言称为</a:t>
            </a:r>
            <a:r>
              <a:rPr lang="zh-CN" altLang="en-US" b="1">
                <a:solidFill>
                  <a:srgbClr val="C00000"/>
                </a:solidFill>
                <a:latin typeface="黑体" panose="02010609060101010101" pitchFamily="49" charset="-122"/>
                <a:ea typeface="黑体" panose="02010609060101010101" pitchFamily="49" charset="-122"/>
              </a:rPr>
              <a:t>元语言</a:t>
            </a:r>
            <a:endParaRPr lang="en-US" altLang="zh-CN" b="1">
              <a:solidFill>
                <a:srgbClr val="C00000"/>
              </a:solidFill>
              <a:latin typeface="黑体" panose="02010609060101010101" pitchFamily="49" charset="-122"/>
              <a:ea typeface="黑体" panose="02010609060101010101" pitchFamily="49" charset="-122"/>
            </a:endParaRPr>
          </a:p>
          <a:p>
            <a:pPr marL="742950" lvl="1" indent="-285750">
              <a:lnSpc>
                <a:spcPts val="24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我们采用的元语言是汉语，无法严格定义</a:t>
            </a: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一阶逻辑公式的</a:t>
            </a:r>
            <a:r>
              <a:rPr lang="zh-CN" altLang="en-US" b="1">
                <a:solidFill>
                  <a:srgbClr val="C00000"/>
                </a:solidFill>
                <a:latin typeface="楷体" panose="02010609060101010101" pitchFamily="49" charset="-122"/>
                <a:ea typeface="楷体" panose="02010609060101010101" pitchFamily="49" charset="-122"/>
              </a:rPr>
              <a:t>非逻辑符号中的符号是对象语言的符号</a:t>
            </a:r>
            <a:r>
              <a:rPr lang="zh-CN" altLang="en-US" b="1">
                <a:solidFill>
                  <a:srgbClr val="002060"/>
                </a:solidFill>
                <a:latin typeface="楷体" panose="02010609060101010101" pitchFamily="49" charset="-122"/>
                <a:ea typeface="楷体" panose="02010609060101010101" pitchFamily="49" charset="-122"/>
              </a:rPr>
              <a:t>，而它的</a:t>
            </a:r>
            <a:r>
              <a:rPr lang="zh-CN" altLang="en-US" b="1">
                <a:solidFill>
                  <a:srgbClr val="C00000"/>
                </a:solidFill>
                <a:latin typeface="楷体" panose="02010609060101010101" pitchFamily="49" charset="-122"/>
                <a:ea typeface="楷体" panose="02010609060101010101" pitchFamily="49" charset="-122"/>
              </a:rPr>
              <a:t>解释中的符号是元语言符号</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101012" y="1895880"/>
            <a:ext cx="4733731"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一阶逻辑公式的解释</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一阶逻辑公式的真值</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一阶逻辑公式的分类</a:t>
            </a:r>
            <a:endParaRPr lang="en-US" altLang="zh-CN" sz="3200" b="1">
              <a:solidFill>
                <a:schemeClr val="bg2"/>
              </a:solidFill>
              <a:latin typeface="仿宋" panose="02010609060101010101" pitchFamily="49" charset="-122"/>
              <a:ea typeface="仿宋" panose="02010609060101010101"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一阶逻辑公式真值计算的直观理解</a:t>
            </a:r>
          </a:p>
        </p:txBody>
      </p:sp>
      <mc:AlternateContent xmlns:mc="http://schemas.openxmlformats.org/markup-compatibility/2006" xmlns:a14="http://schemas.microsoft.com/office/drawing/2010/main">
        <mc:Choice Requires="a14">
          <p:sp>
            <p:nvSpPr>
              <p:cNvPr id="11" name="文本框 10"/>
              <p:cNvSpPr txBox="1"/>
              <p:nvPr/>
            </p:nvSpPr>
            <p:spPr>
              <a:xfrm>
                <a:off x="445653" y="1055025"/>
                <a:ext cx="10698186" cy="461665"/>
              </a:xfrm>
              <a:prstGeom prst="rect">
                <a:avLst/>
              </a:prstGeom>
              <a:solidFill>
                <a:schemeClr val="accent5">
                  <a:lumMod val="20000"/>
                  <a:lumOff val="80000"/>
                </a:schemeClr>
              </a:solidFill>
            </p:spPr>
            <p:txBody>
              <a:bodyPr wrap="square" rtlCol="0">
                <a:spAutoFit/>
              </a:bodyPr>
              <a:lstStyle/>
              <a:p>
                <a:pPr>
                  <a:spcBef>
                    <a:spcPts val="600"/>
                  </a:spcBef>
                </a:pPr>
                <a:r>
                  <a:rPr lang="zh-CN" altLang="en-US" sz="2400" b="1">
                    <a:solidFill>
                      <a:srgbClr val="002060"/>
                    </a:solidFill>
                  </a:rPr>
                  <a:t>给定非逻辑符号集的解释和个体变量指派函数</a:t>
                </a:r>
                <a14:m>
                  <m:oMath xmlns:m="http://schemas.openxmlformats.org/officeDocument/2006/math">
                    <m:r>
                      <a:rPr lang="en-US" altLang="zh-CN" sz="2400" b="1" i="1" smtClean="0">
                        <a:solidFill>
                          <a:srgbClr val="002060"/>
                        </a:solidFill>
                        <a:latin typeface="Cambria Math" panose="02040503050406030204" pitchFamily="18" charset="0"/>
                      </a:rPr>
                      <m:t>𝝈</m:t>
                    </m:r>
                  </m:oMath>
                </a14:m>
                <a:r>
                  <a:rPr lang="zh-CN" altLang="en-US" sz="2400" b="1" i="0">
                    <a:solidFill>
                      <a:srgbClr val="002060"/>
                    </a:solidFill>
                    <a:latin typeface="+mj-lt"/>
                  </a:rPr>
                  <a:t>确定</a:t>
                </a:r>
                <a:r>
                  <a:rPr lang="zh-CN" altLang="en-US" sz="2400" b="1">
                    <a:solidFill>
                      <a:srgbClr val="002060"/>
                    </a:solidFill>
                  </a:rPr>
                  <a:t>一阶逻辑公式</a:t>
                </a:r>
                <a:r>
                  <a:rPr lang="en-US" altLang="zh-CN" sz="2400" b="1">
                    <a:solidFill>
                      <a:srgbClr val="002060"/>
                    </a:solidFill>
                  </a:rPr>
                  <a:t>A</a:t>
                </a:r>
                <a:r>
                  <a:rPr lang="zh-CN" altLang="en-US" sz="2400" b="1">
                    <a:solidFill>
                      <a:srgbClr val="002060"/>
                    </a:solidFill>
                  </a:rPr>
                  <a:t>的真值</a:t>
                </a:r>
                <a14:m>
                  <m:oMath xmlns:m="http://schemas.openxmlformats.org/officeDocument/2006/math">
                    <m:r>
                      <a:rPr lang="en-US" altLang="zh-CN" sz="2400" b="1" i="1" smtClean="0">
                        <a:solidFill>
                          <a:srgbClr val="002060"/>
                        </a:solidFill>
                        <a:latin typeface="Cambria Math" panose="02040503050406030204" pitchFamily="18" charset="0"/>
                      </a:rPr>
                      <m:t>𝝈</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e>
                    </m:d>
                  </m:oMath>
                </a14:m>
                <a:endParaRPr lang="zh-CN" altLang="en-US" sz="2400" b="1">
                  <a:solidFill>
                    <a:srgbClr val="002060"/>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45653" y="1055025"/>
                <a:ext cx="10698186" cy="461665"/>
              </a:xfrm>
              <a:prstGeom prst="rect">
                <a:avLst/>
              </a:prstGeom>
              <a:blipFill rotWithShape="1">
                <a:blip r:embed="rId2"/>
                <a:stretch>
                  <a:fillRect l="-5" t="-63" r="2" b="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445654" y="4554657"/>
                <a:ext cx="7106370" cy="1554272"/>
              </a:xfrm>
              <a:prstGeom prst="rect">
                <a:avLst/>
              </a:prstGeom>
              <a:solidFill>
                <a:schemeClr val="accent2">
                  <a:lumMod val="20000"/>
                  <a:lumOff val="80000"/>
                  <a:alpha val="50000"/>
                </a:schemeClr>
              </a:solidFill>
            </p:spPr>
            <p:txBody>
              <a:bodyPr wrap="square" rtlCol="0">
                <a:spAutoFit/>
              </a:bodyPr>
              <a:lstStyle/>
              <a:p>
                <a:pPr algn="ctr">
                  <a:spcBef>
                    <a:spcPts val="600"/>
                  </a:spcBef>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𝝈</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𝒙𝑨</m:t>
                        </m:r>
                      </m:e>
                    </m:d>
                  </m:oMath>
                </a14:m>
                <a:r>
                  <a:rPr lang="zh-CN" altLang="en-US" sz="2000" b="1">
                    <a:solidFill>
                      <a:schemeClr val="accent2">
                        <a:lumMod val="50000"/>
                      </a:schemeClr>
                    </a:solidFill>
                  </a:rPr>
                  <a:t>为真当且仅当</a:t>
                </a:r>
                <a:r>
                  <a:rPr lang="zh-CN" altLang="en-US" sz="2000" b="1">
                    <a:solidFill>
                      <a:srgbClr val="C00000"/>
                    </a:solidFill>
                  </a:rPr>
                  <a:t>对论域</a:t>
                </a:r>
                <a14:m>
                  <m:oMath xmlns:m="http://schemas.openxmlformats.org/officeDocument/2006/math">
                    <m:r>
                      <a:rPr lang="en-US" altLang="zh-CN" sz="2000" b="1" i="1" smtClean="0">
                        <a:solidFill>
                          <a:srgbClr val="C00000"/>
                        </a:solidFill>
                        <a:latin typeface="Cambria Math" panose="02040503050406030204" pitchFamily="18" charset="0"/>
                      </a:rPr>
                      <m:t>𝑫</m:t>
                    </m:r>
                  </m:oMath>
                </a14:m>
                <a:r>
                  <a:rPr lang="zh-CN" altLang="en-US" sz="2000" b="1">
                    <a:solidFill>
                      <a:srgbClr val="C00000"/>
                    </a:solidFill>
                  </a:rPr>
                  <a:t>的任意元素</a:t>
                </a:r>
                <a14:m>
                  <m:oMath xmlns:m="http://schemas.openxmlformats.org/officeDocument/2006/math">
                    <m:r>
                      <a:rPr lang="en-US" altLang="zh-CN" sz="2000" b="1" i="1" smtClean="0">
                        <a:solidFill>
                          <a:srgbClr val="C00000"/>
                        </a:solidFill>
                        <a:latin typeface="Cambria Math" panose="02040503050406030204" pitchFamily="18" charset="0"/>
                      </a:rPr>
                      <m:t>𝒅</m:t>
                    </m:r>
                  </m:oMath>
                </a14:m>
                <a:r>
                  <a:rPr lang="zh-CN" altLang="en-US" sz="2000" b="1">
                    <a:solidFill>
                      <a:schemeClr val="accent2">
                        <a:lumMod val="50000"/>
                      </a:schemeClr>
                    </a:solidFill>
                  </a:rPr>
                  <a:t>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𝝈</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𝒅</m:t>
                        </m:r>
                      </m:e>
                    </m:d>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oMath>
                </a14:m>
                <a:r>
                  <a:rPr lang="zh-CN" altLang="en-US" sz="2000" b="1">
                    <a:solidFill>
                      <a:schemeClr val="accent2">
                        <a:lumMod val="50000"/>
                      </a:schemeClr>
                    </a:solidFill>
                  </a:rPr>
                  <a:t>为真</a:t>
                </a:r>
                <a:endParaRPr lang="en-US" altLang="zh-CN" sz="2000" b="1">
                  <a:solidFill>
                    <a:schemeClr val="accent2">
                      <a:lumMod val="50000"/>
                    </a:schemeClr>
                  </a:solidFill>
                </a:endParaRPr>
              </a:p>
              <a:p>
                <a:pPr algn="ctr">
                  <a:spcBef>
                    <a:spcPts val="600"/>
                  </a:spcBef>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𝝈</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𝒙𝑨</m:t>
                        </m:r>
                      </m:e>
                    </m:d>
                  </m:oMath>
                </a14:m>
                <a:r>
                  <a:rPr lang="zh-CN" altLang="en-US" sz="2000" b="1">
                    <a:solidFill>
                      <a:schemeClr val="accent2">
                        <a:lumMod val="50000"/>
                      </a:schemeClr>
                    </a:solidFill>
                  </a:rPr>
                  <a:t>为真当且仅当</a:t>
                </a:r>
                <a:r>
                  <a:rPr lang="zh-CN" altLang="en-US" sz="2000" b="1">
                    <a:solidFill>
                      <a:srgbClr val="C00000"/>
                    </a:solidFill>
                  </a:rPr>
                  <a:t>存在论域</a:t>
                </a:r>
                <a14:m>
                  <m:oMath xmlns:m="http://schemas.openxmlformats.org/officeDocument/2006/math">
                    <m:r>
                      <a:rPr lang="en-US" altLang="zh-CN" sz="2000" b="1" i="1" smtClean="0">
                        <a:solidFill>
                          <a:srgbClr val="C00000"/>
                        </a:solidFill>
                        <a:latin typeface="Cambria Math" panose="02040503050406030204" pitchFamily="18" charset="0"/>
                      </a:rPr>
                      <m:t>𝑫</m:t>
                    </m:r>
                  </m:oMath>
                </a14:m>
                <a:r>
                  <a:rPr lang="zh-CN" altLang="en-US" sz="2000" b="1">
                    <a:solidFill>
                      <a:srgbClr val="C00000"/>
                    </a:solidFill>
                  </a:rPr>
                  <a:t>的元素</a:t>
                </a:r>
                <a14:m>
                  <m:oMath xmlns:m="http://schemas.openxmlformats.org/officeDocument/2006/math">
                    <m:r>
                      <a:rPr lang="en-US" altLang="zh-CN" sz="2000" b="1" i="1" smtClean="0">
                        <a:solidFill>
                          <a:srgbClr val="C00000"/>
                        </a:solidFill>
                        <a:latin typeface="Cambria Math" panose="02040503050406030204" pitchFamily="18" charset="0"/>
                      </a:rPr>
                      <m:t>𝒅</m:t>
                    </m:r>
                  </m:oMath>
                </a14:m>
                <a:r>
                  <a:rPr lang="zh-CN" altLang="en-US" sz="2000" b="1">
                    <a:solidFill>
                      <a:schemeClr val="accent2">
                        <a:lumMod val="50000"/>
                      </a:schemeClr>
                    </a:solidFill>
                  </a:rPr>
                  <a:t>有</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𝝈</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𝒅</m:t>
                        </m:r>
                      </m:e>
                    </m:d>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𝑨</m:t>
                        </m:r>
                      </m:e>
                    </m:d>
                  </m:oMath>
                </a14:m>
                <a:r>
                  <a:rPr lang="zh-CN" altLang="en-US" sz="2000" b="1">
                    <a:solidFill>
                      <a:schemeClr val="accent2">
                        <a:lumMod val="50000"/>
                      </a:schemeClr>
                    </a:solidFill>
                  </a:rPr>
                  <a:t>为真</a:t>
                </a:r>
                <a:endParaRPr lang="zh-CN" altLang="en-US" sz="2000" b="1">
                  <a:solidFill>
                    <a:srgbClr val="C00000"/>
                  </a:solidFill>
                </a:endParaRPr>
              </a:p>
              <a:p>
                <a:pPr algn="ctr">
                  <a:spcBef>
                    <a:spcPts val="600"/>
                  </a:spcBef>
                </a:pPr>
                <a:r>
                  <a:rPr lang="zh-CN" altLang="en-US" sz="2000" b="1">
                    <a:solidFill>
                      <a:srgbClr val="002060"/>
                    </a:solidFill>
                    <a:latin typeface="楷体" panose="02010609060101010101" pitchFamily="49" charset="-122"/>
                    <a:ea typeface="楷体" panose="02010609060101010101" pitchFamily="49" charset="-122"/>
                  </a:rPr>
                  <a:t>全称量词的语义是“论域的任意元素” </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pPr>
                <a:r>
                  <a:rPr lang="zh-CN" altLang="en-US" sz="2000" b="1">
                    <a:solidFill>
                      <a:srgbClr val="002060"/>
                    </a:solidFill>
                    <a:latin typeface="楷体" panose="02010609060101010101" pitchFamily="49" charset="-122"/>
                    <a:ea typeface="楷体" panose="02010609060101010101" pitchFamily="49" charset="-122"/>
                  </a:rPr>
                  <a:t>存在量词的语义是“存在论域的元素”</a:t>
                </a:r>
              </a:p>
            </p:txBody>
          </p:sp>
        </mc:Choice>
        <mc:Fallback xmlns="">
          <p:sp>
            <p:nvSpPr>
              <p:cNvPr id="2" name="文本框 1"/>
              <p:cNvSpPr txBox="1">
                <a:spLocks noRot="1" noChangeAspect="1" noMove="1" noResize="1" noEditPoints="1" noAdjustHandles="1" noChangeArrowheads="1" noChangeShapeType="1" noTextEdit="1"/>
              </p:cNvSpPr>
              <p:nvPr/>
            </p:nvSpPr>
            <p:spPr>
              <a:xfrm>
                <a:off x="445654" y="4554657"/>
                <a:ext cx="7106370" cy="1554272"/>
              </a:xfrm>
              <a:prstGeom prst="rect">
                <a:avLst/>
              </a:prstGeom>
              <a:blipFill rotWithShape="1">
                <a:blip r:embed="rId3"/>
                <a:stretch>
                  <a:fillRect l="-7" t="-28" r="8" b="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445653" y="1814919"/>
                <a:ext cx="3993485" cy="784830"/>
              </a:xfrm>
              <a:prstGeom prst="rect">
                <a:avLst/>
              </a:prstGeom>
              <a:solidFill>
                <a:schemeClr val="accent2">
                  <a:lumMod val="20000"/>
                  <a:lumOff val="80000"/>
                  <a:alpha val="25000"/>
                </a:schemeClr>
              </a:solidFill>
            </p:spPr>
            <p:txBody>
              <a:bodyPr wrap="square" rtlCol="0">
                <a:spAutoFit/>
              </a:bodyPr>
              <a:lstStyle/>
              <a:p>
                <a:pPr algn="ctr">
                  <a:spcBef>
                    <a:spcPts val="600"/>
                  </a:spcBef>
                </a:pPr>
                <a:r>
                  <a:rPr lang="zh-CN" altLang="en-US" sz="2000" b="1">
                    <a:solidFill>
                      <a:srgbClr val="C00000"/>
                    </a:solidFill>
                  </a:rPr>
                  <a:t>项的语义是论域的元素</a:t>
                </a:r>
                <a:endParaRPr lang="en-US" altLang="zh-CN" sz="2000" b="1">
                  <a:solidFill>
                    <a:srgbClr val="C00000"/>
                  </a:solidFill>
                </a:endParaRPr>
              </a:p>
              <a:p>
                <a:pPr algn="ctr">
                  <a:spcBef>
                    <a:spcPts val="600"/>
                  </a:spcBef>
                </a:pPr>
                <a:r>
                  <a:rPr lang="zh-CN" altLang="en-US" sz="2000" b="1">
                    <a:solidFill>
                      <a:srgbClr val="002060"/>
                    </a:solidFill>
                    <a:latin typeface="楷体" panose="02010609060101010101" pitchFamily="49" charset="-122"/>
                    <a:ea typeface="楷体" panose="02010609060101010101" pitchFamily="49" charset="-122"/>
                  </a:rPr>
                  <a:t>项</a:t>
                </a:r>
                <a14:m>
                  <m:oMath xmlns:m="http://schemas.openxmlformats.org/officeDocument/2006/math">
                    <m:r>
                      <a:rPr lang="en-US" altLang="zh-CN" sz="2000" b="1" i="1">
                        <a:solidFill>
                          <a:srgbClr val="002060"/>
                        </a:solidFill>
                        <a:latin typeface="Cambria Math" panose="02040503050406030204" pitchFamily="18" charset="0"/>
                      </a:rPr>
                      <m:t>𝒕</m:t>
                    </m:r>
                  </m:oMath>
                </a14:m>
                <a:r>
                  <a:rPr lang="zh-CN" altLang="en-US" sz="2000" b="1">
                    <a:solidFill>
                      <a:srgbClr val="002060"/>
                    </a:solidFill>
                    <a:latin typeface="楷体" panose="02010609060101010101" pitchFamily="49" charset="-122"/>
                    <a:ea typeface="楷体" panose="02010609060101010101" pitchFamily="49" charset="-122"/>
                  </a:rPr>
                  <a:t>被解释成论域</a:t>
                </a:r>
                <a14:m>
                  <m:oMath xmlns:m="http://schemas.openxmlformats.org/officeDocument/2006/math">
                    <m:r>
                      <a:rPr lang="en-US" altLang="zh-CN" sz="2000" b="1" i="1">
                        <a:solidFill>
                          <a:srgbClr val="002060"/>
                        </a:solidFill>
                        <a:latin typeface="Cambria Math" panose="02040503050406030204" pitchFamily="18" charset="0"/>
                      </a:rPr>
                      <m:t>𝑫</m:t>
                    </m:r>
                  </m:oMath>
                </a14:m>
                <a:r>
                  <a:rPr lang="zh-CN" altLang="en-US" sz="2000" b="1">
                    <a:solidFill>
                      <a:srgbClr val="002060"/>
                    </a:solidFill>
                    <a:latin typeface="楷体" panose="02010609060101010101" pitchFamily="49" charset="-122"/>
                    <a:ea typeface="楷体" panose="02010609060101010101" pitchFamily="49" charset="-122"/>
                  </a:rPr>
                  <a:t>的元素</a:t>
                </a:r>
                <a14:m>
                  <m:oMath xmlns:m="http://schemas.openxmlformats.org/officeDocument/2006/math">
                    <m:sSub>
                      <m:sSubPr>
                        <m:ctrlPr>
                          <a:rPr lang="en-US" altLang="zh-CN" sz="2000" b="1" i="1">
                            <a:solidFill>
                              <a:srgbClr val="002060"/>
                            </a:solidFill>
                            <a:latin typeface="Cambria Math" panose="02040503050406030204" pitchFamily="18" charset="0"/>
                          </a:rPr>
                        </m:ctrlPr>
                      </m:sSubPr>
                      <m:e>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𝒕</m:t>
                            </m:r>
                          </m:e>
                        </m:d>
                      </m:e>
                      <m:sub>
                        <m:r>
                          <a:rPr lang="en-US" altLang="zh-CN" sz="2000" b="1" i="1">
                            <a:solidFill>
                              <a:srgbClr val="002060"/>
                            </a:solidFill>
                            <a:latin typeface="Cambria Math" panose="02040503050406030204" pitchFamily="18" charset="0"/>
                          </a:rPr>
                          <m:t>𝝈</m:t>
                        </m:r>
                      </m:sub>
                    </m:sSub>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𝑫</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45653" y="1814919"/>
                <a:ext cx="3993485" cy="784830"/>
              </a:xfrm>
              <a:prstGeom prst="rect">
                <a:avLst/>
              </a:prstGeom>
              <a:blipFill rotWithShape="1">
                <a:blip r:embed="rId4"/>
                <a:stretch>
                  <a:fillRect l="-13" t="-11" r="12" b="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4545687" y="1817932"/>
                <a:ext cx="7361248" cy="785984"/>
              </a:xfrm>
              <a:prstGeom prst="rect">
                <a:avLst/>
              </a:prstGeom>
              <a:solidFill>
                <a:schemeClr val="accent2">
                  <a:lumMod val="20000"/>
                  <a:lumOff val="80000"/>
                  <a:alpha val="25000"/>
                </a:schemeClr>
              </a:solidFill>
            </p:spPr>
            <p:txBody>
              <a:bodyPr wrap="square" rtlCol="0">
                <a:spAutoFit/>
              </a:bodyPr>
              <a:lstStyle/>
              <a:p>
                <a:pPr algn="ctr">
                  <a:spcBef>
                    <a:spcPts val="300"/>
                  </a:spcBef>
                </a:pPr>
                <a14:m>
                  <m:oMath xmlns:m="http://schemas.openxmlformats.org/officeDocument/2006/math">
                    <m:r>
                      <a:rPr lang="en-US" altLang="zh-CN" sz="2000" b="1" i="1" smtClean="0">
                        <a:solidFill>
                          <a:srgbClr val="C00000"/>
                        </a:solidFill>
                        <a:latin typeface="Cambria Math" panose="02040503050406030204" pitchFamily="18" charset="0"/>
                      </a:rPr>
                      <m:t>𝝈</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𝑭</m:t>
                        </m:r>
                        <m:d>
                          <m:dPr>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𝒕</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𝒕</m:t>
                                </m:r>
                              </m:e>
                              <m:sub>
                                <m:r>
                                  <a:rPr lang="en-US" altLang="zh-CN" sz="2000" b="1" i="1">
                                    <a:solidFill>
                                      <a:srgbClr val="C00000"/>
                                    </a:solidFill>
                                    <a:latin typeface="Cambria Math" panose="02040503050406030204" pitchFamily="18" charset="0"/>
                                  </a:rPr>
                                  <m:t>𝒏</m:t>
                                </m:r>
                              </m:sub>
                            </m:sSub>
                          </m:e>
                        </m:d>
                      </m:e>
                    </m:d>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 </m:t>
                    </m:r>
                  </m:oMath>
                </a14:m>
                <a:r>
                  <a:rPr lang="zh-CN" altLang="en-US" sz="2000" b="1">
                    <a:solidFill>
                      <a:srgbClr val="C00000"/>
                    </a:solidFill>
                  </a:rPr>
                  <a:t> 当且仅当  </a:t>
                </a:r>
                <a14:m>
                  <m:oMath xmlns:m="http://schemas.openxmlformats.org/officeDocument/2006/math">
                    <m:d>
                      <m:dPr>
                        <m:begChr m:val="⟨"/>
                        <m:endChr m:val="⟩"/>
                        <m:ctrlPr>
                          <a:rPr lang="en-US" altLang="zh-CN" sz="2000" b="1" i="1">
                            <a:solidFill>
                              <a:srgbClr val="C00000"/>
                            </a:solidFill>
                            <a:latin typeface="Cambria Math" panose="02040503050406030204" pitchFamily="18" charset="0"/>
                          </a:rPr>
                        </m:ctrlPr>
                      </m:dPr>
                      <m:e>
                        <m:d>
                          <m:dPr>
                            <m:begChr m:val="⟦"/>
                            <m:endChr m:val="⟧"/>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𝒕</m:t>
                                </m:r>
                              </m:e>
                              <m:sub>
                                <m:r>
                                  <a:rPr lang="en-US" altLang="zh-CN" sz="2000" b="1" i="1">
                                    <a:solidFill>
                                      <a:srgbClr val="C00000"/>
                                    </a:solidFill>
                                    <a:latin typeface="Cambria Math" panose="02040503050406030204" pitchFamily="18" charset="0"/>
                                  </a:rPr>
                                  <m:t>𝟏</m:t>
                                </m:r>
                              </m:sub>
                            </m:sSub>
                          </m:e>
                        </m:d>
                        <m:r>
                          <a:rPr lang="en-US" altLang="zh-CN" sz="2000" b="1" i="1" baseline="-25000">
                            <a:solidFill>
                              <a:srgbClr val="C00000"/>
                            </a:solidFill>
                            <a:latin typeface="Cambria Math" panose="02040503050406030204" pitchFamily="18" charset="0"/>
                          </a:rPr>
                          <m:t>𝝈</m:t>
                        </m:r>
                        <m:r>
                          <a:rPr lang="en-US" altLang="zh-CN" sz="2000" b="1" i="1">
                            <a:solidFill>
                              <a:srgbClr val="C00000"/>
                            </a:solidFill>
                            <a:latin typeface="Cambria Math" panose="02040503050406030204" pitchFamily="18" charset="0"/>
                          </a:rPr>
                          <m:t>, ⋯,</m:t>
                        </m:r>
                        <m:d>
                          <m:dPr>
                            <m:begChr m:val="⟦"/>
                            <m:endChr m:val="⟧"/>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𝒕</m:t>
                                </m:r>
                              </m:e>
                              <m:sub>
                                <m:r>
                                  <a:rPr lang="en-US" altLang="zh-CN" sz="2000" b="1" i="1">
                                    <a:solidFill>
                                      <a:srgbClr val="C00000"/>
                                    </a:solidFill>
                                    <a:latin typeface="Cambria Math" panose="02040503050406030204" pitchFamily="18" charset="0"/>
                                  </a:rPr>
                                  <m:t>𝒏</m:t>
                                </m:r>
                              </m:sub>
                            </m:sSub>
                          </m:e>
                        </m:d>
                        <m:r>
                          <a:rPr lang="en-US" altLang="zh-CN" sz="2000" b="1" i="1" baseline="-25000">
                            <a:solidFill>
                              <a:srgbClr val="C00000"/>
                            </a:solidFill>
                            <a:latin typeface="Cambria Math" panose="02040503050406030204" pitchFamily="18" charset="0"/>
                          </a:rPr>
                          <m:t>𝝈</m:t>
                        </m:r>
                      </m:e>
                    </m:d>
                    <m:r>
                      <a:rPr lang="en-US" altLang="zh-CN" sz="2000" b="1" i="1">
                        <a:solidFill>
                          <a:srgbClr val="C00000"/>
                        </a:solidFill>
                        <a:latin typeface="Cambria Math" panose="02040503050406030204" pitchFamily="18" charset="0"/>
                      </a:rPr>
                      <m:t>∈</m:t>
                    </m:r>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𝑭</m:t>
                        </m:r>
                      </m:e>
                    </m:d>
                  </m:oMath>
                </a14:m>
                <a:endParaRPr lang="zh-CN" altLang="en-US" sz="2000" b="1">
                  <a:solidFill>
                    <a:srgbClr val="C00000"/>
                  </a:solidFill>
                </a:endParaRPr>
              </a:p>
              <a:p>
                <a:pPr>
                  <a:spcBef>
                    <a:spcPts val="300"/>
                  </a:spcBef>
                </a:pPr>
                <a:r>
                  <a:rPr lang="zh-CN" altLang="en-US" sz="2000" b="1">
                    <a:solidFill>
                      <a:srgbClr val="002060"/>
                    </a:solidFill>
                    <a:latin typeface="楷体" panose="02010609060101010101" pitchFamily="49" charset="-122"/>
                    <a:ea typeface="楷体" panose="02010609060101010101" pitchFamily="49" charset="-122"/>
                  </a:rPr>
                  <a:t>原子公式真值为真当且仅当谓词作用的项具有解释该谓词的关系</a:t>
                </a:r>
              </a:p>
            </p:txBody>
          </p:sp>
        </mc:Choice>
        <mc:Fallback xmlns="">
          <p:sp>
            <p:nvSpPr>
              <p:cNvPr id="4" name="文本框 3"/>
              <p:cNvSpPr txBox="1">
                <a:spLocks noRot="1" noChangeAspect="1" noMove="1" noResize="1" noEditPoints="1" noAdjustHandles="1" noChangeArrowheads="1" noChangeShapeType="1" noTextEdit="1"/>
              </p:cNvSpPr>
              <p:nvPr/>
            </p:nvSpPr>
            <p:spPr>
              <a:xfrm>
                <a:off x="4545687" y="1817932"/>
                <a:ext cx="7361248" cy="785984"/>
              </a:xfrm>
              <a:prstGeom prst="rect">
                <a:avLst/>
              </a:prstGeom>
              <a:blipFill rotWithShape="1">
                <a:blip r:embed="rId5"/>
                <a:stretch>
                  <a:fillRect l="-5" t="-72" r="1" b="53"/>
                </a:stretch>
              </a:blipFill>
            </p:spPr>
            <p:txBody>
              <a:bodyPr/>
              <a:lstStyle/>
              <a:p>
                <a:r>
                  <a:rPr lang="zh-CN" altLang="en-US">
                    <a:noFill/>
                  </a:rPr>
                  <a:t> </a:t>
                </a:r>
              </a:p>
            </p:txBody>
          </p:sp>
        </mc:Fallback>
      </mc:AlternateContent>
      <p:sp>
        <p:nvSpPr>
          <p:cNvPr id="12" name="文本框 11"/>
          <p:cNvSpPr txBox="1"/>
          <p:nvPr/>
        </p:nvSpPr>
        <p:spPr>
          <a:xfrm>
            <a:off x="3015106" y="2693122"/>
            <a:ext cx="6161785"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逻辑运算符构造的一阶公式的真值计算方式与命题逻辑相同</a:t>
            </a:r>
          </a:p>
        </p:txBody>
      </p:sp>
      <mc:AlternateContent xmlns:mc="http://schemas.openxmlformats.org/markup-compatibility/2006" xmlns:a14="http://schemas.microsoft.com/office/drawing/2010/main">
        <mc:Choice Requires="a14">
          <p:sp>
            <p:nvSpPr>
              <p:cNvPr id="13" name="文本框 12"/>
              <p:cNvSpPr txBox="1"/>
              <p:nvPr/>
            </p:nvSpPr>
            <p:spPr>
              <a:xfrm>
                <a:off x="667145" y="3407761"/>
                <a:ext cx="6663388" cy="1077218"/>
              </a:xfrm>
              <a:prstGeom prst="rect">
                <a:avLst/>
              </a:prstGeom>
              <a:solidFill>
                <a:schemeClr val="accent5">
                  <a:lumMod val="20000"/>
                  <a:lumOff val="80000"/>
                  <a:alpha val="25000"/>
                </a:schemeClr>
              </a:solidFill>
            </p:spPr>
            <p:txBody>
              <a:bodyPr wrap="square" rtlCol="0">
                <a:spAutoFit/>
              </a:bodyPr>
              <a:lstStyle/>
              <a:p>
                <a:pPr algn="ctr">
                  <a:spcBef>
                    <a:spcPts val="600"/>
                  </a:spcBef>
                </a:pPr>
                <a:r>
                  <a:rPr lang="zh-CN" altLang="en-US" b="1">
                    <a:solidFill>
                      <a:srgbClr val="C00000"/>
                    </a:solidFill>
                  </a:rPr>
                  <a:t>个体变量指派函数的变换</a:t>
                </a:r>
                <a14:m>
                  <m:oMath xmlns:m="http://schemas.openxmlformats.org/officeDocument/2006/math">
                    <m:r>
                      <a:rPr lang="en-US" altLang="zh-CN" b="1" i="1">
                        <a:solidFill>
                          <a:srgbClr val="C00000"/>
                        </a:solidFill>
                        <a:latin typeface="Cambria Math" panose="02040503050406030204" pitchFamily="18" charset="0"/>
                      </a:rPr>
                      <m:t>𝝈</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𝒅</m:t>
                        </m:r>
                      </m:e>
                    </m:d>
                  </m:oMath>
                </a14:m>
                <a:endParaRPr lang="en-US" altLang="zh-CN" b="1">
                  <a:solidFill>
                    <a:srgbClr val="C00000"/>
                  </a:solidFill>
                </a:endParaRPr>
              </a:p>
              <a:p>
                <a:pPr>
                  <a:spcBef>
                    <a:spcPts val="600"/>
                  </a:spcBef>
                </a:pPr>
                <a:r>
                  <a:rPr lang="zh-CN" altLang="en-US" b="1">
                    <a:solidFill>
                      <a:srgbClr val="002060"/>
                    </a:solidFill>
                    <a:latin typeface="楷体" panose="02010609060101010101" pitchFamily="49" charset="-122"/>
                    <a:ea typeface="楷体" panose="02010609060101010101" pitchFamily="49" charset="-122"/>
                  </a:rPr>
                  <a:t>给定</a:t>
                </a:r>
                <a14:m>
                  <m:oMath xmlns:m="http://schemas.openxmlformats.org/officeDocument/2006/math">
                    <m:r>
                      <a:rPr lang="en-US" altLang="zh-CN" b="1" i="1">
                        <a:solidFill>
                          <a:srgbClr val="002060"/>
                        </a:solidFill>
                        <a:latin typeface="Cambria Math" panose="02040503050406030204" pitchFamily="18" charset="0"/>
                      </a:rPr>
                      <m:t>𝝈</m:t>
                    </m:r>
                  </m:oMath>
                </a14:m>
                <a:r>
                  <a:rPr lang="zh-CN" altLang="en-US" b="1">
                    <a:solidFill>
                      <a:srgbClr val="002060"/>
                    </a:solidFill>
                    <a:latin typeface="楷体" panose="02010609060101010101" pitchFamily="49" charset="-122"/>
                    <a:ea typeface="楷体" panose="02010609060101010101" pitchFamily="49" charset="-122"/>
                  </a:rPr>
                  <a:t>，变量</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b="1" i="1">
                        <a:solidFill>
                          <a:srgbClr val="002060"/>
                        </a:solidFill>
                        <a:latin typeface="Cambria Math" panose="02040503050406030204" pitchFamily="18" charset="0"/>
                      </a:rPr>
                      <m:t>𝒅</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𝑫</m:t>
                    </m:r>
                  </m:oMath>
                </a14:m>
                <a:r>
                  <a:rPr lang="zh-CN" altLang="en-US"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b="1" i="1">
                        <a:solidFill>
                          <a:srgbClr val="002060"/>
                        </a:solidFill>
                        <a:latin typeface="Cambria Math" panose="02040503050406030204" pitchFamily="18" charset="0"/>
                      </a:rPr>
                      <m:t>𝝈</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𝒅</m:t>
                        </m:r>
                      </m:e>
                    </m:d>
                  </m:oMath>
                </a14:m>
                <a:r>
                  <a:rPr lang="zh-CN" altLang="en-US" b="1">
                    <a:solidFill>
                      <a:srgbClr val="002060"/>
                    </a:solidFill>
                    <a:latin typeface="楷体" panose="02010609060101010101" pitchFamily="49" charset="-122"/>
                    <a:ea typeface="楷体" panose="02010609060101010101" pitchFamily="49" charset="-122"/>
                  </a:rPr>
                  <a:t>特别地、显式地</a:t>
                </a:r>
                <a:r>
                  <a:rPr lang="zh-CN" altLang="en-US" b="1">
                    <a:solidFill>
                      <a:srgbClr val="C00000"/>
                    </a:solidFill>
                    <a:latin typeface="黑体" panose="02010609060101010101" pitchFamily="49" charset="-122"/>
                    <a:ea typeface="黑体" panose="02010609060101010101" pitchFamily="49" charset="-122"/>
                  </a:rPr>
                  <a:t>将</a:t>
                </a:r>
                <a14:m>
                  <m:oMath xmlns:m="http://schemas.openxmlformats.org/officeDocument/2006/math">
                    <m:r>
                      <a:rPr lang="en-US" altLang="zh-CN" b="1" i="1">
                        <a:solidFill>
                          <a:srgbClr val="C00000"/>
                        </a:solidFill>
                        <a:latin typeface="Cambria Math" panose="02040503050406030204" pitchFamily="18" charset="0"/>
                      </a:rPr>
                      <m:t>𝒙</m:t>
                    </m:r>
                  </m:oMath>
                </a14:m>
                <a:r>
                  <a:rPr lang="zh-CN" altLang="en-US" b="1">
                    <a:solidFill>
                      <a:srgbClr val="C00000"/>
                    </a:solidFill>
                    <a:latin typeface="黑体" panose="02010609060101010101" pitchFamily="49" charset="-122"/>
                    <a:ea typeface="黑体" panose="02010609060101010101" pitchFamily="49" charset="-122"/>
                  </a:rPr>
                  <a:t>指派为</a:t>
                </a:r>
                <a14:m>
                  <m:oMath xmlns:m="http://schemas.openxmlformats.org/officeDocument/2006/math">
                    <m:r>
                      <a:rPr lang="en-US" altLang="zh-CN" b="1" i="1">
                        <a:solidFill>
                          <a:srgbClr val="C00000"/>
                        </a:solidFill>
                        <a:latin typeface="Cambria Math" panose="02040503050406030204" pitchFamily="18" charset="0"/>
                      </a:rPr>
                      <m:t>𝒅</m:t>
                    </m:r>
                    <m:r>
                      <a:rPr lang="en-US" altLang="zh-CN" b="1" i="1">
                        <a:solidFill>
                          <a:srgbClr val="C00000"/>
                        </a:solidFill>
                        <a:latin typeface="Cambria Math" panose="02040503050406030204" pitchFamily="18" charset="0"/>
                      </a:rPr>
                      <m:t> </m:t>
                    </m:r>
                  </m:oMath>
                </a14:m>
                <a:endParaRPr lang="en-US" altLang="zh-CN" b="1" i="1">
                  <a:solidFill>
                    <a:srgbClr val="002060"/>
                  </a:solidFill>
                  <a:latin typeface="黑体" panose="02010609060101010101" pitchFamily="49" charset="-122"/>
                  <a:ea typeface="黑体" panose="02010609060101010101" pitchFamily="49" charset="-122"/>
                </a:endParaRPr>
              </a:p>
              <a:p>
                <a:pPr marL="285750" indent="-285750">
                  <a:spcBef>
                    <a:spcPts val="600"/>
                  </a:spcBef>
                  <a:buFont typeface="Arial" panose="020B0604020202020204" pitchFamily="34" charset="0"/>
                  <a:buChar char="•"/>
                </a:pP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𝒙</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𝒅</m:t>
                        </m:r>
                      </m:e>
                    </m:d>
                  </m:oMath>
                </a14:m>
                <a:r>
                  <a:rPr lang="zh-CN" altLang="en-US" b="1">
                    <a:solidFill>
                      <a:schemeClr val="accent6">
                        <a:lumMod val="50000"/>
                      </a:schemeClr>
                    </a:solidFill>
                    <a:latin typeface="宋体" panose="02010600030101010101" pitchFamily="2" charset="-122"/>
                    <a:ea typeface="宋体" panose="02010600030101010101" pitchFamily="2" charset="-122"/>
                  </a:rPr>
                  <a:t>除将</a:t>
                </a:r>
                <a14:m>
                  <m:oMath xmlns:m="http://schemas.openxmlformats.org/officeDocument/2006/math">
                    <m:r>
                      <a:rPr lang="en-US" altLang="zh-CN" b="1" i="1">
                        <a:solidFill>
                          <a:schemeClr val="accent6">
                            <a:lumMod val="50000"/>
                          </a:schemeClr>
                        </a:solidFill>
                        <a:latin typeface="Cambria Math" panose="02040503050406030204" pitchFamily="18" charset="0"/>
                      </a:rPr>
                      <m:t>𝒙</m:t>
                    </m:r>
                  </m:oMath>
                </a14:m>
                <a:r>
                  <a:rPr lang="zh-CN" altLang="en-US" b="1">
                    <a:solidFill>
                      <a:schemeClr val="accent6">
                        <a:lumMod val="50000"/>
                      </a:schemeClr>
                    </a:solidFill>
                    <a:latin typeface="宋体" panose="02010600030101010101" pitchFamily="2" charset="-122"/>
                    <a:ea typeface="宋体" panose="02010600030101010101" pitchFamily="2" charset="-122"/>
                  </a:rPr>
                  <a:t>指派为</a:t>
                </a:r>
                <a14:m>
                  <m:oMath xmlns:m="http://schemas.openxmlformats.org/officeDocument/2006/math">
                    <m:r>
                      <a:rPr lang="en-US" altLang="zh-CN" b="1" i="1">
                        <a:solidFill>
                          <a:schemeClr val="accent6">
                            <a:lumMod val="50000"/>
                          </a:schemeClr>
                        </a:solidFill>
                        <a:latin typeface="Cambria Math" panose="02040503050406030204" pitchFamily="18" charset="0"/>
                      </a:rPr>
                      <m:t>𝒅</m:t>
                    </m:r>
                  </m:oMath>
                </a14:m>
                <a:r>
                  <a:rPr lang="zh-CN" altLang="en-US" b="1">
                    <a:solidFill>
                      <a:schemeClr val="accent6">
                        <a:lumMod val="50000"/>
                      </a:schemeClr>
                    </a:solidFill>
                    <a:latin typeface="宋体" panose="02010600030101010101" pitchFamily="2" charset="-122"/>
                    <a:ea typeface="宋体" panose="02010600030101010101" pitchFamily="2" charset="-122"/>
                  </a:rPr>
                  <a:t>外，对其他变量的指派与</a:t>
                </a:r>
                <a14:m>
                  <m:oMath xmlns:m="http://schemas.openxmlformats.org/officeDocument/2006/math">
                    <m:r>
                      <a:rPr lang="en-US" altLang="zh-CN" b="1" i="1">
                        <a:solidFill>
                          <a:schemeClr val="accent6">
                            <a:lumMod val="50000"/>
                          </a:schemeClr>
                        </a:solidFill>
                        <a:latin typeface="Cambria Math" panose="02040503050406030204" pitchFamily="18" charset="0"/>
                      </a:rPr>
                      <m:t>𝝈</m:t>
                    </m:r>
                  </m:oMath>
                </a14:m>
                <a:r>
                  <a:rPr lang="zh-CN" altLang="en-US" b="1">
                    <a:solidFill>
                      <a:schemeClr val="accent6">
                        <a:lumMod val="50000"/>
                      </a:schemeClr>
                    </a:solidFill>
                    <a:latin typeface="宋体" panose="02010600030101010101" pitchFamily="2" charset="-122"/>
                    <a:ea typeface="宋体" panose="02010600030101010101" pitchFamily="2" charset="-122"/>
                  </a:rPr>
                  <a:t>的指派相同</a:t>
                </a:r>
                <a:endParaRPr lang="zh-CN" altLang="en-US" sz="2000" b="1">
                  <a:solidFill>
                    <a:schemeClr val="accent6">
                      <a:lumMod val="50000"/>
                    </a:schemeClr>
                  </a:solidFill>
                  <a:latin typeface="宋体" panose="02010600030101010101" pitchFamily="2" charset="-122"/>
                  <a:ea typeface="宋体" panose="02010600030101010101" pitchFamily="2" charset="-122"/>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67145" y="3407761"/>
                <a:ext cx="6663388" cy="1077218"/>
              </a:xfrm>
              <a:prstGeom prst="rect">
                <a:avLst/>
              </a:prstGeom>
              <a:blipFill rotWithShape="1">
                <a:blip r:embed="rId6"/>
                <a:stretch>
                  <a:fillRect l="-6" t="-33" r="1" b="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8145563" y="3671337"/>
                <a:ext cx="3533124" cy="2077620"/>
              </a:xfrm>
              <a:prstGeom prst="rect">
                <a:avLst/>
              </a:prstGeom>
              <a:solidFill>
                <a:schemeClr val="accent4">
                  <a:lumMod val="20000"/>
                  <a:lumOff val="80000"/>
                </a:schemeClr>
              </a:solidFill>
            </p:spPr>
            <p:txBody>
              <a:bodyPr wrap="square" rtlCol="0">
                <a:spAutoFit/>
              </a:bodyPr>
              <a:lstStyle/>
              <a:p>
                <a:pPr>
                  <a:lnSpc>
                    <a:spcPts val="2400"/>
                  </a:lnSpc>
                  <a:spcAft>
                    <a:spcPts val="600"/>
                  </a:spcAft>
                </a:pPr>
                <a:r>
                  <a:rPr lang="zh-CN" altLang="en-US" b="1">
                    <a:solidFill>
                      <a:srgbClr val="002060"/>
                    </a:solidFill>
                  </a:rPr>
                  <a:t>公式</a:t>
                </a:r>
                <a14:m>
                  <m:oMath xmlns:m="http://schemas.openxmlformats.org/officeDocument/2006/math">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𝒙𝑨</m:t>
                    </m:r>
                  </m:oMath>
                </a14:m>
                <a:r>
                  <a:rPr lang="zh-CN" altLang="en-US" b="1">
                    <a:solidFill>
                      <a:srgbClr val="002060"/>
                    </a:solidFill>
                  </a:rPr>
                  <a:t>和</a:t>
                </a:r>
                <a14:m>
                  <m:oMath xmlns:m="http://schemas.openxmlformats.org/officeDocument/2006/math">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𝒙𝑨</m:t>
                    </m:r>
                  </m:oMath>
                </a14:m>
                <a:r>
                  <a:rPr lang="zh-CN" altLang="en-US" b="1">
                    <a:solidFill>
                      <a:srgbClr val="002060"/>
                    </a:solidFill>
                  </a:rPr>
                  <a:t>在</a:t>
                </a:r>
                <a14:m>
                  <m:oMath xmlns:m="http://schemas.openxmlformats.org/officeDocument/2006/math">
                    <m:r>
                      <a:rPr lang="en-US" altLang="zh-CN" b="1" i="1">
                        <a:solidFill>
                          <a:srgbClr val="002060"/>
                        </a:solidFill>
                        <a:latin typeface="Cambria Math" panose="02040503050406030204" pitchFamily="18" charset="0"/>
                      </a:rPr>
                      <m:t>𝝈</m:t>
                    </m:r>
                  </m:oMath>
                </a14:m>
                <a:r>
                  <a:rPr lang="zh-CN" altLang="en-US" b="1">
                    <a:solidFill>
                      <a:srgbClr val="002060"/>
                    </a:solidFill>
                  </a:rPr>
                  <a:t>下的真值与</a:t>
                </a:r>
                <a14:m>
                  <m:oMath xmlns:m="http://schemas.openxmlformats.org/officeDocument/2006/math">
                    <m:r>
                      <a:rPr lang="en-US" altLang="zh-CN" b="1" i="1">
                        <a:solidFill>
                          <a:srgbClr val="002060"/>
                        </a:solidFill>
                        <a:latin typeface="Cambria Math" panose="02040503050406030204" pitchFamily="18" charset="0"/>
                      </a:rPr>
                      <m:t>𝝈</m:t>
                    </m:r>
                  </m:oMath>
                </a14:m>
                <a:r>
                  <a:rPr lang="zh-CN" altLang="en-US" b="1">
                    <a:solidFill>
                      <a:srgbClr val="002060"/>
                    </a:solidFill>
                  </a:rPr>
                  <a:t>对个体变量</a:t>
                </a:r>
                <a14:m>
                  <m:oMath xmlns:m="http://schemas.openxmlformats.org/officeDocument/2006/math">
                    <m:r>
                      <a:rPr lang="en-US" altLang="zh-CN" b="1" i="1">
                        <a:solidFill>
                          <a:srgbClr val="002060"/>
                        </a:solidFill>
                        <a:latin typeface="Cambria Math" panose="02040503050406030204" pitchFamily="18" charset="0"/>
                      </a:rPr>
                      <m:t>𝒙</m:t>
                    </m:r>
                  </m:oMath>
                </a14:m>
                <a:r>
                  <a:rPr lang="zh-CN" altLang="en-US" b="1">
                    <a:solidFill>
                      <a:srgbClr val="002060"/>
                    </a:solidFill>
                  </a:rPr>
                  <a:t>的指派无关</a:t>
                </a:r>
              </a:p>
              <a:p>
                <a:pPr marL="285750" indent="-285750">
                  <a:lnSpc>
                    <a:spcPts val="2400"/>
                  </a:lnSpc>
                  <a:spcAft>
                    <a:spcPts val="600"/>
                  </a:spcAft>
                  <a:buFont typeface="Arial" panose="020B0604020202020204" pitchFamily="34" charset="0"/>
                  <a:buChar char="•"/>
                </a:pPr>
                <a:r>
                  <a:rPr lang="zh-CN" altLang="en-US" b="1">
                    <a:solidFill>
                      <a:srgbClr val="C00000"/>
                    </a:solidFill>
                    <a:latin typeface="楷体" panose="02010609060101010101" pitchFamily="49" charset="-122"/>
                    <a:ea typeface="楷体" panose="02010609060101010101" pitchFamily="49" charset="-122"/>
                  </a:rPr>
                  <a:t>一般地，公式</a:t>
                </a:r>
                <a14:m>
                  <m:oMath xmlns:m="http://schemas.openxmlformats.org/officeDocument/2006/math">
                    <m:r>
                      <a:rPr lang="en-US" altLang="zh-CN" b="1" i="1">
                        <a:solidFill>
                          <a:srgbClr val="C00000"/>
                        </a:solidFill>
                        <a:latin typeface="Cambria Math" panose="02040503050406030204" pitchFamily="18" charset="0"/>
                      </a:rPr>
                      <m:t>𝑨</m:t>
                    </m:r>
                  </m:oMath>
                </a14:m>
                <a:r>
                  <a:rPr lang="zh-CN" altLang="en-US" b="1">
                    <a:solidFill>
                      <a:srgbClr val="C00000"/>
                    </a:solidFill>
                    <a:latin typeface="楷体" panose="02010609060101010101" pitchFamily="49" charset="-122"/>
                    <a:ea typeface="楷体" panose="02010609060101010101" pitchFamily="49" charset="-122"/>
                  </a:rPr>
                  <a:t>在</a:t>
                </a:r>
                <a14:m>
                  <m:oMath xmlns:m="http://schemas.openxmlformats.org/officeDocument/2006/math">
                    <m:r>
                      <a:rPr lang="en-US" altLang="zh-CN" b="1" i="1">
                        <a:solidFill>
                          <a:srgbClr val="C00000"/>
                        </a:solidFill>
                        <a:latin typeface="Cambria Math" panose="02040503050406030204" pitchFamily="18" charset="0"/>
                      </a:rPr>
                      <m:t>𝝈</m:t>
                    </m:r>
                  </m:oMath>
                </a14:m>
                <a:r>
                  <a:rPr lang="zh-CN" altLang="en-US" b="1">
                    <a:solidFill>
                      <a:srgbClr val="C00000"/>
                    </a:solidFill>
                    <a:latin typeface="楷体" panose="02010609060101010101" pitchFamily="49" charset="-122"/>
                    <a:ea typeface="楷体" panose="02010609060101010101" pitchFamily="49" charset="-122"/>
                  </a:rPr>
                  <a:t>下的真值与</a:t>
                </a:r>
                <a14:m>
                  <m:oMath xmlns:m="http://schemas.openxmlformats.org/officeDocument/2006/math">
                    <m:r>
                      <a:rPr lang="en-US" altLang="zh-CN" b="1" i="1">
                        <a:solidFill>
                          <a:srgbClr val="C00000"/>
                        </a:solidFill>
                        <a:latin typeface="Cambria Math" panose="02040503050406030204" pitchFamily="18" charset="0"/>
                      </a:rPr>
                      <m:t>𝝈</m:t>
                    </m:r>
                  </m:oMath>
                </a14:m>
                <a:r>
                  <a:rPr lang="zh-CN" altLang="en-US" b="1">
                    <a:solidFill>
                      <a:srgbClr val="C00000"/>
                    </a:solidFill>
                    <a:latin typeface="楷体" panose="02010609060101010101" pitchFamily="49" charset="-122"/>
                    <a:ea typeface="楷体" panose="02010609060101010101" pitchFamily="49" charset="-122"/>
                  </a:rPr>
                  <a:t>对</a:t>
                </a:r>
                <a14:m>
                  <m:oMath xmlns:m="http://schemas.openxmlformats.org/officeDocument/2006/math">
                    <m:r>
                      <a:rPr lang="en-US" altLang="zh-CN" b="1" i="1">
                        <a:solidFill>
                          <a:srgbClr val="C00000"/>
                        </a:solidFill>
                        <a:latin typeface="Cambria Math" panose="02040503050406030204" pitchFamily="18" charset="0"/>
                      </a:rPr>
                      <m:t>𝑨</m:t>
                    </m:r>
                  </m:oMath>
                </a14:m>
                <a:r>
                  <a:rPr lang="zh-CN" altLang="en-US" b="1">
                    <a:solidFill>
                      <a:srgbClr val="C00000"/>
                    </a:solidFill>
                    <a:latin typeface="楷体" panose="02010609060101010101" pitchFamily="49" charset="-122"/>
                    <a:ea typeface="楷体" panose="02010609060101010101" pitchFamily="49" charset="-122"/>
                  </a:rPr>
                  <a:t>的约束变量的指派无关</a:t>
                </a:r>
                <a:endParaRPr lang="en-US" altLang="zh-CN" b="1">
                  <a:solidFill>
                    <a:srgbClr val="C00000"/>
                  </a:solidFill>
                  <a:latin typeface="楷体" panose="02010609060101010101" pitchFamily="49" charset="-122"/>
                  <a:ea typeface="楷体" panose="02010609060101010101" pitchFamily="49" charset="-122"/>
                </a:endParaRPr>
              </a:p>
              <a:p>
                <a:pPr marL="285750" indent="-285750">
                  <a:lnSpc>
                    <a:spcPts val="2400"/>
                  </a:lnSpc>
                  <a:spcAft>
                    <a:spcPts val="600"/>
                  </a:spcAft>
                  <a:buFont typeface="Arial" panose="020B0604020202020204" pitchFamily="34" charset="0"/>
                  <a:buChar char="•"/>
                </a:pPr>
                <a:r>
                  <a:rPr lang="zh-CN" altLang="en-US" b="1">
                    <a:solidFill>
                      <a:srgbClr val="C00000"/>
                    </a:solidFill>
                    <a:latin typeface="楷体" panose="02010609060101010101" pitchFamily="49" charset="-122"/>
                    <a:ea typeface="楷体" panose="02010609060101010101" pitchFamily="49" charset="-122"/>
                  </a:rPr>
                  <a:t>闭公式的真值确定不需要个体变量指派函数</a:t>
                </a:r>
              </a:p>
            </p:txBody>
          </p:sp>
        </mc:Choice>
        <mc:Fallback xmlns="">
          <p:sp>
            <p:nvSpPr>
              <p:cNvPr id="14" name="文本框 13"/>
              <p:cNvSpPr txBox="1">
                <a:spLocks noRot="1" noChangeAspect="1" noMove="1" noResize="1" noEditPoints="1" noAdjustHandles="1" noChangeArrowheads="1" noChangeShapeType="1" noTextEdit="1"/>
              </p:cNvSpPr>
              <p:nvPr/>
            </p:nvSpPr>
            <p:spPr>
              <a:xfrm>
                <a:off x="8145563" y="3671337"/>
                <a:ext cx="3533124" cy="2077620"/>
              </a:xfrm>
              <a:prstGeom prst="rect">
                <a:avLst/>
              </a:prstGeom>
              <a:blipFill rotWithShape="1">
                <a:blip r:embed="rId7"/>
                <a:stretch>
                  <a:fillRect l="-12" t="-19" r="11" b="15"/>
                </a:stretch>
              </a:blipFill>
            </p:spPr>
            <p:txBody>
              <a:bodyPr/>
              <a:lstStyle/>
              <a:p>
                <a:r>
                  <a:rPr lang="zh-CN" altLang="en-US">
                    <a:noFill/>
                  </a:rPr>
                  <a:t> </a:t>
                </a:r>
              </a:p>
            </p:txBody>
          </p:sp>
        </mc:Fallback>
      </mc:AlternateContent>
      <p:sp>
        <p:nvSpPr>
          <p:cNvPr id="15" name="矩形: 圆角 14"/>
          <p:cNvSpPr/>
          <p:nvPr/>
        </p:nvSpPr>
        <p:spPr>
          <a:xfrm>
            <a:off x="381548" y="3302365"/>
            <a:ext cx="7282308" cy="2920818"/>
          </a:xfrm>
          <a:prstGeom prst="roundRect">
            <a:avLst>
              <a:gd name="adj" fmla="val 833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p:nvSpPr>
        <p:spPr>
          <a:xfrm>
            <a:off x="7670435" y="4710147"/>
            <a:ext cx="468549" cy="1052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p>
        </p:txBody>
      </p:sp>
      <mc:AlternateContent xmlns:mc="http://schemas.openxmlformats.org/markup-compatibility/2006" xmlns:a14="http://schemas.microsoft.com/office/drawing/2010/main">
        <mc:Choice Requires="a14">
          <p:sp>
            <p:nvSpPr>
              <p:cNvPr id="12" name="文本框 11"/>
              <p:cNvSpPr txBox="1"/>
              <p:nvPr/>
            </p:nvSpPr>
            <p:spPr>
              <a:xfrm>
                <a:off x="332868" y="3182797"/>
                <a:ext cx="6462636" cy="46166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确定公式</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𝒛𝑯</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r>
                  <a:rPr lang="zh-CN" altLang="en-US" sz="2400" b="1">
                    <a:solidFill>
                      <a:srgbClr val="002060"/>
                    </a:solidFill>
                    <a:latin typeface="楷体" panose="02010609060101010101" pitchFamily="49" charset="-122"/>
                    <a:ea typeface="楷体" panose="02010609060101010101" pitchFamily="49" charset="-122"/>
                  </a:rPr>
                  <a:t>的真值</a:t>
                </a:r>
                <a:endParaRPr lang="en-US" altLang="zh-CN" sz="24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32868" y="3182797"/>
                <a:ext cx="6462636" cy="461665"/>
              </a:xfrm>
              <a:prstGeom prst="rect">
                <a:avLst/>
              </a:prstGeom>
              <a:blipFill rotWithShape="1">
                <a:blip r:embed="rId2"/>
                <a:stretch>
                  <a:fillRect l="-2" t="-38" r="6" b="-683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860457" y="1043956"/>
                <a:ext cx="5407459" cy="196977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给定下面的解释和个体变量指派函数</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oMath>
                </a14:m>
                <a:r>
                  <a:rPr lang="zh-CN" altLang="en-US" b="1">
                    <a:solidFill>
                      <a:srgbClr val="002060"/>
                    </a:solidFill>
                    <a:latin typeface="楷体" panose="02010609060101010101" pitchFamily="49" charset="-122"/>
                    <a:ea typeface="楷体" panose="02010609060101010101" pitchFamily="49" charset="-122"/>
                  </a:rPr>
                  <a:t>，是有限集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         </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b="1" i="1"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oMath>
                </a14:m>
                <a:endParaRPr lang="zh-CN" altLang="en-US" b="1">
                  <a:solidFill>
                    <a:srgbClr val="00206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860457" y="1043956"/>
                <a:ext cx="5407459" cy="1969770"/>
              </a:xfrm>
              <a:prstGeom prst="rect">
                <a:avLst/>
              </a:prstGeom>
              <a:blipFill rotWithShape="1">
                <a:blip r:embed="rId3"/>
                <a:stretch>
                  <a:fillRect l="-118" t="-323" r="-109" b="-10637"/>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15" name="组合 14"/>
          <p:cNvGrpSpPr/>
          <p:nvPr/>
        </p:nvGrpSpPr>
        <p:grpSpPr>
          <a:xfrm>
            <a:off x="687226" y="3808549"/>
            <a:ext cx="3973364" cy="2370779"/>
            <a:chOff x="802566" y="3834013"/>
            <a:chExt cx="3973364" cy="2370779"/>
          </a:xfrm>
        </p:grpSpPr>
        <p:sp>
          <p:nvSpPr>
            <p:cNvPr id="14" name="箭头: 下 13"/>
            <p:cNvSpPr/>
            <p:nvPr/>
          </p:nvSpPr>
          <p:spPr>
            <a:xfrm>
              <a:off x="2716885" y="4612506"/>
              <a:ext cx="72363" cy="8303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p:cNvSpPr txBox="1"/>
                <p:nvPr/>
              </p:nvSpPr>
              <p:spPr>
                <a:xfrm>
                  <a:off x="860457" y="3834013"/>
                  <a:ext cx="3857583" cy="758926"/>
                </a:xfrm>
                <a:prstGeom prst="rect">
                  <a:avLst/>
                </a:prstGeom>
                <a:solidFill>
                  <a:schemeClr val="accent6">
                    <a:lumMod val="20000"/>
                    <a:lumOff val="80000"/>
                    <a:alpha val="50000"/>
                  </a:schemeClr>
                </a:solidFill>
              </p:spPr>
              <p:txBody>
                <a:bodyPr wrap="square" rtlCol="0">
                  <a:spAutoFit/>
                </a:bodyPr>
                <a:lstStyle/>
                <a:p>
                  <a:pPr algn="ctr">
                    <a:spcBef>
                      <a:spcPts val="600"/>
                    </a:spcBef>
                  </a:pPr>
                  <a14:m>
                    <m:oMath xmlns:m="http://schemas.openxmlformats.org/officeDocument/2006/math">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r>
                    <a:rPr lang="zh-CN" altLang="en-US" b="1">
                      <a:solidFill>
                        <a:srgbClr val="002060"/>
                      </a:solidFill>
                    </a:rPr>
                    <a:t>当且仅当</a:t>
                  </a:r>
                  <a14:m>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baseline="-25000"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oMath>
                  </a14:m>
                  <a:endParaRPr lang="en-US" altLang="zh-CN" b="1">
                    <a:solidFill>
                      <a:srgbClr val="002060"/>
                    </a:solidFill>
                  </a:endParaRPr>
                </a:p>
                <a:p>
                  <a:pPr>
                    <a:spcBef>
                      <a:spcPts val="600"/>
                    </a:spcBef>
                  </a:pPr>
                  <a:r>
                    <a:rPr lang="zh-CN" altLang="en-US" b="1">
                      <a:solidFill>
                        <a:srgbClr val="002060"/>
                      </a:solidFill>
                    </a:rPr>
                    <a:t>当且仅当</a:t>
                  </a:r>
                  <a14:m>
                    <m:oMath xmlns:m="http://schemas.openxmlformats.org/officeDocument/2006/math">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e>
                      </m:d>
                    </m:oMath>
                  </a14:m>
                  <a:r>
                    <a:rPr lang="zh-CN" altLang="en-US" b="1">
                      <a:solidFill>
                        <a:srgbClr val="002060"/>
                      </a:solidFill>
                    </a:rPr>
                    <a:t>当且仅当</a:t>
                  </a:r>
                  <a14:m>
                    <m:oMath xmlns:m="http://schemas.openxmlformats.org/officeDocument/2006/math">
                      <m:r>
                        <a:rPr lang="en-US" altLang="zh-CN" b="1" i="1" smtClean="0">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𝑭</m:t>
                          </m:r>
                        </m:e>
                      </m:d>
                    </m:oMath>
                  </a14:m>
                  <a:endParaRPr lang="zh-CN" altLang="en-US" b="1">
                    <a:solidFill>
                      <a:srgbClr val="002060"/>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860457" y="3834013"/>
                  <a:ext cx="3857583" cy="758926"/>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802566" y="4823451"/>
                  <a:ext cx="3973364" cy="369332"/>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引入</a:t>
                  </a:r>
                  <a14:m>
                    <m:oMath xmlns:m="http://schemas.openxmlformats.org/officeDocument/2006/math">
                      <m:r>
                        <a:rPr lang="en-US" altLang="zh-CN" b="1" i="1" smtClean="0">
                          <a:solidFill>
                            <a:srgbClr val="C00000"/>
                          </a:solidFill>
                          <a:latin typeface="Cambria Math" panose="02040503050406030204" pitchFamily="18" charset="0"/>
                        </a:rPr>
                        <m:t>𝑭</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m:t>
                      </m:r>
                    </m:oMath>
                  </a14:m>
                  <a:r>
                    <a:rPr lang="zh-CN" altLang="en-US" b="1">
                      <a:solidFill>
                        <a:srgbClr val="C00000"/>
                      </a:solidFill>
                    </a:rPr>
                    <a:t>，</a:t>
                  </a:r>
                  <a14:m>
                    <m:oMath xmlns:m="http://schemas.openxmlformats.org/officeDocument/2006/math">
                      <m:r>
                        <a:rPr lang="en-US" altLang="zh-CN" b="1" i="1" smtClean="0">
                          <a:solidFill>
                            <a:srgbClr val="C00000"/>
                          </a:solidFill>
                          <a:latin typeface="Cambria Math" panose="02040503050406030204" pitchFamily="18" charset="0"/>
                        </a:rPr>
                        <m:t>𝑭</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m:t>
                      </m:r>
                    </m:oMath>
                  </a14:m>
                  <a:r>
                    <a:rPr lang="zh-CN" altLang="en-US" b="1">
                      <a:solidFill>
                        <a:srgbClr val="C00000"/>
                      </a:solidFill>
                    </a:rPr>
                    <a:t>为真当且仅当</a:t>
                  </a:r>
                  <a14:m>
                    <m:oMath xmlns:m="http://schemas.openxmlformats.org/officeDocument/2006/math">
                      <m:r>
                        <a:rPr lang="en-US" altLang="zh-CN" b="1" i="1">
                          <a:solidFill>
                            <a:srgbClr val="C00000"/>
                          </a:solidFill>
                          <a:latin typeface="Cambria Math" panose="02040503050406030204" pitchFamily="18" charset="0"/>
                        </a:rPr>
                        <m:t>𝒂</m:t>
                      </m:r>
                      <m:r>
                        <a:rPr lang="en-US" altLang="zh-CN" b="1" i="1">
                          <a:solidFill>
                            <a:srgbClr val="C00000"/>
                          </a:solidFill>
                          <a:latin typeface="Cambria Math" panose="02040503050406030204" pitchFamily="18" charset="0"/>
                        </a:rPr>
                        <m:t>∈</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𝑭</m:t>
                          </m:r>
                        </m:e>
                      </m:d>
                    </m:oMath>
                  </a14:m>
                  <a:endParaRPr lang="zh-CN" altLang="en-US" b="1">
                    <a:solidFill>
                      <a:srgbClr val="C0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802566" y="4823451"/>
                  <a:ext cx="3973364"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828222" y="5423296"/>
                  <a:ext cx="3922052" cy="781496"/>
                </a:xfrm>
                <a:prstGeom prst="rect">
                  <a:avLst/>
                </a:prstGeom>
                <a:solidFill>
                  <a:schemeClr val="accent2">
                    <a:lumMod val="20000"/>
                    <a:lumOff val="80000"/>
                    <a:alpha val="50000"/>
                  </a:schemeClr>
                </a:solidFill>
              </p:spPr>
              <p:txBody>
                <a:bodyPr wrap="square" rtlCol="0">
                  <a:spAutoFit/>
                </a:bodyPr>
                <a:lstStyle/>
                <a:p>
                  <a:pPr>
                    <a:lnSpc>
                      <a:spcPts val="2800"/>
                    </a:lnSpc>
                    <a:spcBef>
                      <a:spcPts val="600"/>
                    </a:spcBef>
                    <a:spcAft>
                      <a:spcPts val="3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oMath>
                  </a14:m>
                  <a:r>
                    <a:rPr lang="zh-CN" altLang="en-US" b="1">
                      <a:solidFill>
                        <a:schemeClr val="accent2">
                          <a:lumMod val="50000"/>
                        </a:schemeClr>
                      </a:solidFill>
                    </a:rPr>
                    <a:t>为真当且仅当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的真值为真</a:t>
                  </a:r>
                </a:p>
              </p:txBody>
            </p:sp>
          </mc:Choice>
          <mc:Fallback xmlns="">
            <p:sp>
              <p:nvSpPr>
                <p:cNvPr id="6" name="文本框 5"/>
                <p:cNvSpPr txBox="1">
                  <a:spLocks noRot="1" noChangeAspect="1" noMove="1" noResize="1" noEditPoints="1" noAdjustHandles="1" noChangeArrowheads="1" noChangeShapeType="1" noTextEdit="1"/>
                </p:cNvSpPr>
                <p:nvPr/>
              </p:nvSpPr>
              <p:spPr>
                <a:xfrm>
                  <a:off x="828222" y="5423296"/>
                  <a:ext cx="3922052" cy="781496"/>
                </a:xfrm>
                <a:prstGeom prst="rect">
                  <a:avLst/>
                </a:prstGeom>
                <a:blipFill rotWithShape="1">
                  <a:blip r:embed="rId6"/>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 name="文本框 15"/>
              <p:cNvSpPr txBox="1"/>
              <p:nvPr/>
            </p:nvSpPr>
            <p:spPr>
              <a:xfrm>
                <a:off x="5220970" y="4508500"/>
                <a:ext cx="2240280" cy="1210945"/>
              </a:xfrm>
              <a:prstGeom prst="rect">
                <a:avLst/>
              </a:prstGeom>
              <a:solidFill>
                <a:schemeClr val="accent5">
                  <a:lumMod val="20000"/>
                  <a:lumOff val="80000"/>
                </a:schemeClr>
              </a:solidFill>
            </p:spPr>
            <p:txBody>
              <a:bodyPr wrap="square" rtlCol="0">
                <a:noAutofit/>
              </a:bodyPr>
              <a:lstStyle/>
              <a:p>
                <a14:m>
                  <m:oMath xmlns:m="http://schemas.openxmlformats.org/officeDocument/2006/math">
                    <m:r>
                      <a:rPr lang="en-US" altLang="zh-CN" b="1" i="1" smtClean="0">
                        <a:solidFill>
                          <a:schemeClr val="accent5">
                            <a:lumMod val="50000"/>
                          </a:schemeClr>
                        </a:solidFill>
                        <a:latin typeface="Cambria Math" panose="02040503050406030204" pitchFamily="18" charset="0"/>
                      </a:rPr>
                      <m:t>𝑭</m:t>
                    </m:r>
                  </m:oMath>
                </a14:m>
                <a:r>
                  <a:rPr lang="zh-CN" altLang="en-US" b="1">
                    <a:solidFill>
                      <a:schemeClr val="accent5">
                        <a:lumMod val="50000"/>
                      </a:schemeClr>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chemeClr val="accent5">
                                <a:lumMod val="50000"/>
                              </a:schemeClr>
                            </a:solidFill>
                            <a:latin typeface="Cambria Math" panose="02040503050406030204" pitchFamily="18" charset="0"/>
                          </a:rPr>
                        </m:ctrlPr>
                      </m:dPr>
                      <m:e>
                        <m:r>
                          <a:rPr lang="en-US" altLang="zh-CN" b="1" i="1">
                            <a:solidFill>
                              <a:schemeClr val="accent5">
                                <a:lumMod val="50000"/>
                              </a:schemeClr>
                            </a:solidFill>
                            <a:latin typeface="Cambria Math" panose="02040503050406030204" pitchFamily="18" charset="0"/>
                          </a:rPr>
                          <m:t>𝑭</m:t>
                        </m:r>
                      </m:e>
                    </m:d>
                    <m:r>
                      <a:rPr lang="en-US" altLang="zh-CN" b="1" i="1">
                        <a:solidFill>
                          <a:schemeClr val="accent5">
                            <a:lumMod val="50000"/>
                          </a:schemeClr>
                        </a:solidFill>
                        <a:latin typeface="Cambria Math" panose="02040503050406030204" pitchFamily="18" charset="0"/>
                      </a:rPr>
                      <m:t>=</m:t>
                    </m:r>
                    <m:d>
                      <m:dPr>
                        <m:begChr m:val="{"/>
                        <m:endChr m:val="}"/>
                        <m:ctrlPr>
                          <a:rPr lang="en-US" altLang="zh-CN" b="1" i="1">
                            <a:solidFill>
                              <a:schemeClr val="accent5">
                                <a:lumMod val="50000"/>
                              </a:schemeClr>
                            </a:solidFill>
                            <a:latin typeface="Cambria Math" panose="02040503050406030204" pitchFamily="18" charset="0"/>
                          </a:rPr>
                        </m:ctrlPr>
                      </m:dPr>
                      <m:e>
                        <m:r>
                          <a:rPr lang="en-US" altLang="zh-CN" b="1" i="1">
                            <a:solidFill>
                              <a:schemeClr val="accent5">
                                <a:lumMod val="50000"/>
                              </a:schemeClr>
                            </a:solidFill>
                            <a:latin typeface="Cambria Math" panose="02040503050406030204" pitchFamily="18" charset="0"/>
                          </a:rPr>
                          <m:t>𝒂</m:t>
                        </m:r>
                        <m:r>
                          <a:rPr lang="en-US" altLang="zh-CN" b="1" i="1">
                            <a:solidFill>
                              <a:schemeClr val="accent5">
                                <a:lumMod val="50000"/>
                              </a:schemeClr>
                            </a:solidFill>
                            <a:latin typeface="Cambria Math" panose="02040503050406030204" pitchFamily="18" charset="0"/>
                          </a:rPr>
                          <m:t>, </m:t>
                        </m:r>
                        <m:r>
                          <a:rPr lang="en-US" altLang="zh-CN" b="1" i="1">
                            <a:solidFill>
                              <a:schemeClr val="accent5">
                                <a:lumMod val="50000"/>
                              </a:schemeClr>
                            </a:solidFill>
                            <a:latin typeface="Cambria Math" panose="02040503050406030204" pitchFamily="18" charset="0"/>
                          </a:rPr>
                          <m:t>𝒃</m:t>
                        </m:r>
                      </m:e>
                    </m:d>
                  </m:oMath>
                </a14:m>
                <a:r>
                  <a:rPr lang="zh-CN" altLang="en-US" b="1">
                    <a:solidFill>
                      <a:schemeClr val="accent5">
                        <a:lumMod val="50000"/>
                      </a:schemeClr>
                    </a:solidFill>
                    <a:latin typeface="楷体" panose="02010609060101010101" pitchFamily="49" charset="-122"/>
                    <a:ea typeface="楷体" panose="02010609060101010101" pitchFamily="49" charset="-122"/>
                  </a:rPr>
                  <a:t> 可认为是</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𝑭</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 </m:t>
                    </m:r>
                    <m:r>
                      <a:rPr lang="en-US" altLang="zh-CN" b="1" i="1" smtClean="0">
                        <a:solidFill>
                          <a:schemeClr val="accent5">
                            <a:lumMod val="50000"/>
                          </a:schemeClr>
                        </a:solidFill>
                        <a:latin typeface="Cambria Math" panose="02040503050406030204" pitchFamily="18" charset="0"/>
                      </a:rPr>
                      <m:t>𝑭</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𝒃</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为真，而</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𝑭</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为假</a:t>
                </a:r>
              </a:p>
            </p:txBody>
          </p:sp>
        </mc:Choice>
        <mc:Fallback xmlns="">
          <p:sp>
            <p:nvSpPr>
              <p:cNvPr id="16" name="文本框 15"/>
              <p:cNvSpPr txBox="1">
                <a:spLocks noRot="1" noChangeAspect="1" noMove="1" noResize="1" noEditPoints="1" noAdjustHandles="1" noChangeArrowheads="1" noChangeShapeType="1" noTextEdit="1"/>
              </p:cNvSpPr>
              <p:nvPr/>
            </p:nvSpPr>
            <p:spPr>
              <a:xfrm>
                <a:off x="5220970" y="4508500"/>
                <a:ext cx="2240280" cy="1210945"/>
              </a:xfrm>
              <a:prstGeom prst="rect">
                <a:avLst/>
              </a:prstGeom>
              <a:blipFill rotWithShape="1">
                <a:blip r:embed="rId7"/>
                <a:stretch>
                  <a:fillRect/>
                </a:stretch>
              </a:blipFill>
            </p:spPr>
            <p:txBody>
              <a:bodyPr/>
              <a:lstStyle/>
              <a:p>
                <a:r>
                  <a:rPr lang="zh-CN" altLang="en-US">
                    <a:noFill/>
                  </a:rPr>
                  <a:t> </a:t>
                </a:r>
              </a:p>
            </p:txBody>
          </p:sp>
        </mc:Fallback>
      </mc:AlternateContent>
      <p:grpSp>
        <p:nvGrpSpPr>
          <p:cNvPr id="25" name="组合 24"/>
          <p:cNvGrpSpPr/>
          <p:nvPr/>
        </p:nvGrpSpPr>
        <p:grpSpPr>
          <a:xfrm>
            <a:off x="6742875" y="1045120"/>
            <a:ext cx="5006176" cy="2363470"/>
            <a:chOff x="6723140" y="981413"/>
            <a:chExt cx="5006176" cy="2363470"/>
          </a:xfrm>
        </p:grpSpPr>
        <p:sp>
          <p:nvSpPr>
            <p:cNvPr id="20" name="箭头: 下 19"/>
            <p:cNvSpPr/>
            <p:nvPr/>
          </p:nvSpPr>
          <p:spPr>
            <a:xfrm>
              <a:off x="9190048" y="1729376"/>
              <a:ext cx="72363" cy="8303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文本框 20"/>
                <p:cNvSpPr txBox="1"/>
                <p:nvPr/>
              </p:nvSpPr>
              <p:spPr>
                <a:xfrm>
                  <a:off x="6723140" y="981413"/>
                  <a:ext cx="5006176" cy="758926"/>
                </a:xfrm>
                <a:prstGeom prst="rect">
                  <a:avLst/>
                </a:prstGeom>
                <a:solidFill>
                  <a:schemeClr val="accent6">
                    <a:lumMod val="20000"/>
                    <a:lumOff val="80000"/>
                    <a:alpha val="50000"/>
                  </a:schemeClr>
                </a:solidFill>
              </p:spPr>
              <p:txBody>
                <a:bodyPr wrap="square" rtlCol="0">
                  <a:spAutoFit/>
                </a:bodyPr>
                <a:lstStyle/>
                <a:p>
                  <a:pPr algn="ctr">
                    <a:spcBef>
                      <a:spcPts val="600"/>
                    </a:spcBef>
                  </a:pPr>
                  <a14:m>
                    <m:oMath xmlns:m="http://schemas.openxmlformats.org/officeDocument/2006/math">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r>
                    <a:rPr lang="zh-CN" altLang="en-US" b="1">
                      <a:solidFill>
                        <a:srgbClr val="002060"/>
                      </a:solidFill>
                    </a:rPr>
                    <a:t>当且仅当</a:t>
                  </a:r>
                  <a14:m>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baseline="-2500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e>
                          </m:d>
                          <m:r>
                            <a:rPr lang="en-US" altLang="zh-CN" b="1" i="1" baseline="-25000">
                              <a:solidFill>
                                <a:srgbClr val="002060"/>
                              </a:solidFill>
                              <a:latin typeface="Cambria Math" panose="02040503050406030204" pitchFamily="18" charset="0"/>
                            </a:rPr>
                            <m:t>𝝈</m:t>
                          </m:r>
                        </m:e>
                      </m:d>
                      <m:r>
                        <a:rPr lang="en-US" altLang="zh-CN" b="1" i="1" smtClean="0">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oMath>
                  </a14:m>
                  <a:endParaRPr lang="en-US" altLang="zh-CN" b="1">
                    <a:solidFill>
                      <a:srgbClr val="002060"/>
                    </a:solidFill>
                  </a:endParaRPr>
                </a:p>
                <a:p>
                  <a:pPr>
                    <a:spcBef>
                      <a:spcPts val="600"/>
                    </a:spcBef>
                  </a:pPr>
                  <a:r>
                    <a:rPr lang="zh-CN" altLang="en-US" b="1">
                      <a:solidFill>
                        <a:srgbClr val="002060"/>
                      </a:solidFill>
                    </a:rPr>
                    <a:t>当且仅当</a:t>
                  </a:r>
                  <a14:m>
                    <m:oMath xmlns:m="http://schemas.openxmlformats.org/officeDocument/2006/math">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e>
                      </m:d>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oMath>
                  </a14:m>
                  <a:r>
                    <a:rPr lang="zh-CN" altLang="en-US" b="1">
                      <a:solidFill>
                        <a:srgbClr val="002060"/>
                      </a:solidFill>
                    </a:rPr>
                    <a:t>当且仅当</a:t>
                  </a:r>
                  <a14:m>
                    <m:oMath xmlns:m="http://schemas.openxmlformats.org/officeDocument/2006/math">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oMath>
                  </a14:m>
                  <a:endParaRPr lang="zh-CN" altLang="en-US" b="1">
                    <a:solidFill>
                      <a:srgbClr val="002060"/>
                    </a:solidFill>
                  </a:endParaRPr>
                </a:p>
              </p:txBody>
            </p:sp>
          </mc:Choice>
          <mc:Fallback xmlns="">
            <p:sp>
              <p:nvSpPr>
                <p:cNvPr id="21" name="文本框 20"/>
                <p:cNvSpPr txBox="1">
                  <a:spLocks noRot="1" noChangeAspect="1" noMove="1" noResize="1" noEditPoints="1" noAdjustHandles="1" noChangeArrowheads="1" noChangeShapeType="1" noTextEdit="1"/>
                </p:cNvSpPr>
                <p:nvPr/>
              </p:nvSpPr>
              <p:spPr>
                <a:xfrm>
                  <a:off x="6723140" y="981413"/>
                  <a:ext cx="5006176" cy="758926"/>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6811951" y="1947951"/>
                  <a:ext cx="4828558" cy="369332"/>
                </a:xfrm>
                <a:prstGeom prst="rect">
                  <a:avLst/>
                </a:prstGeom>
                <a:solidFill>
                  <a:schemeClr val="accent4">
                    <a:lumMod val="20000"/>
                    <a:lumOff val="80000"/>
                  </a:schemeClr>
                </a:solidFill>
              </p:spPr>
              <p:txBody>
                <a:bodyPr wrap="square" rtlCol="0">
                  <a:spAutoFit/>
                </a:bodyPr>
                <a:lstStyle/>
                <a:p>
                  <a:r>
                    <a:rPr lang="zh-CN" altLang="en-US" b="1">
                      <a:solidFill>
                        <a:srgbClr val="C00000"/>
                      </a:solidFill>
                    </a:rPr>
                    <a:t>引入</a:t>
                  </a:r>
                  <a14:m>
                    <m:oMath xmlns:m="http://schemas.openxmlformats.org/officeDocument/2006/math">
                      <m:r>
                        <a:rPr lang="en-US" altLang="zh-CN" b="1" i="1" smtClean="0">
                          <a:solidFill>
                            <a:srgbClr val="C00000"/>
                          </a:solidFill>
                          <a:latin typeface="Cambria Math" panose="02040503050406030204" pitchFamily="18" charset="0"/>
                        </a:rPr>
                        <m:t>𝑮</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𝒃</m:t>
                      </m:r>
                      <m:r>
                        <a:rPr lang="en-US" altLang="zh-CN" b="1" i="1" smtClean="0">
                          <a:solidFill>
                            <a:srgbClr val="C00000"/>
                          </a:solidFill>
                          <a:latin typeface="Cambria Math" panose="02040503050406030204" pitchFamily="18" charset="0"/>
                        </a:rPr>
                        <m:t>)</m:t>
                      </m:r>
                    </m:oMath>
                  </a14:m>
                  <a:r>
                    <a:rPr lang="zh-CN" altLang="en-US" b="1">
                      <a:solidFill>
                        <a:srgbClr val="C00000"/>
                      </a:solidFill>
                    </a:rPr>
                    <a:t>，</a:t>
                  </a:r>
                  <a14:m>
                    <m:oMath xmlns:m="http://schemas.openxmlformats.org/officeDocument/2006/math">
                      <m:r>
                        <a:rPr lang="en-US" altLang="zh-CN" b="1" i="1" smtClean="0">
                          <a:solidFill>
                            <a:srgbClr val="C00000"/>
                          </a:solidFill>
                          <a:latin typeface="Cambria Math" panose="02040503050406030204" pitchFamily="18" charset="0"/>
                        </a:rPr>
                        <m:t>𝑮</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𝒃</m:t>
                      </m:r>
                      <m:r>
                        <a:rPr lang="en-US" altLang="zh-CN" b="1" i="1" smtClean="0">
                          <a:solidFill>
                            <a:srgbClr val="C00000"/>
                          </a:solidFill>
                          <a:latin typeface="Cambria Math" panose="02040503050406030204" pitchFamily="18" charset="0"/>
                        </a:rPr>
                        <m:t>)</m:t>
                      </m:r>
                    </m:oMath>
                  </a14:m>
                  <a:r>
                    <a:rPr lang="zh-CN" altLang="en-US" b="1">
                      <a:solidFill>
                        <a:srgbClr val="C00000"/>
                      </a:solidFill>
                    </a:rPr>
                    <a:t>为真当且仅当</a:t>
                  </a:r>
                  <a14:m>
                    <m:oMath xmlns:m="http://schemas.openxmlformats.org/officeDocument/2006/math">
                      <m:r>
                        <m:rPr>
                          <m:lit/>
                        </m:rPr>
                        <a:rPr lang="en-US" altLang="zh-CN" b="1" i="1" smtClean="0">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𝒂</m:t>
                      </m:r>
                      <m:r>
                        <a:rPr lang="en-US" altLang="zh-CN" b="1" i="1">
                          <a:solidFill>
                            <a:srgbClr val="C00000"/>
                          </a:solidFill>
                          <a:latin typeface="Cambria Math" panose="02040503050406030204" pitchFamily="18" charset="0"/>
                        </a:rPr>
                        <m:t>, </m:t>
                      </m:r>
                      <m:r>
                        <a:rPr lang="en-US" altLang="zh-CN" b="1" i="1">
                          <a:solidFill>
                            <a:srgbClr val="C00000"/>
                          </a:solidFill>
                          <a:latin typeface="Cambria Math" panose="02040503050406030204" pitchFamily="18" charset="0"/>
                        </a:rPr>
                        <m:t>𝒃</m:t>
                      </m:r>
                      <m:r>
                        <m:rPr>
                          <m:lit/>
                        </m:rP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m:t>
                      </m:r>
                      <m:d>
                        <m:dPr>
                          <m:begChr m:val="⟦"/>
                          <m:endChr m:val="⟧"/>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𝑮</m:t>
                          </m:r>
                        </m:e>
                      </m:d>
                    </m:oMath>
                  </a14:m>
                  <a:endParaRPr lang="zh-CN" altLang="en-US" b="1">
                    <a:solidFill>
                      <a:srgbClr val="C00000"/>
                    </a:solidFill>
                  </a:endParaRPr>
                </a:p>
              </p:txBody>
            </p:sp>
          </mc:Choice>
          <mc:Fallback xmlns="">
            <p:sp>
              <p:nvSpPr>
                <p:cNvPr id="22" name="文本框 21"/>
                <p:cNvSpPr txBox="1">
                  <a:spLocks noRot="1" noChangeAspect="1" noMove="1" noResize="1" noEditPoints="1" noAdjustHandles="1" noChangeArrowheads="1" noChangeShapeType="1" noTextEdit="1"/>
                </p:cNvSpPr>
                <p:nvPr/>
              </p:nvSpPr>
              <p:spPr>
                <a:xfrm>
                  <a:off x="6811951" y="1947951"/>
                  <a:ext cx="4828558" cy="369332"/>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6926975" y="2535893"/>
                  <a:ext cx="4801870" cy="808990"/>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spcAft>
                      <a:spcPts val="3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𝝈</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e>
                      </m:d>
                    </m:oMath>
                  </a14:m>
                  <a:r>
                    <a:rPr lang="zh-CN" altLang="en-US" b="1">
                      <a:solidFill>
                        <a:schemeClr val="accent2">
                          <a:lumMod val="50000"/>
                        </a:schemeClr>
                      </a:solidFill>
                    </a:rPr>
                    <a:t>为真当且仅当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的真值为真</a:t>
                  </a:r>
                </a:p>
              </p:txBody>
            </p:sp>
          </mc:Choice>
          <mc:Fallback xmlns="">
            <p:sp>
              <p:nvSpPr>
                <p:cNvPr id="23" name="文本框 22"/>
                <p:cNvSpPr txBox="1">
                  <a:spLocks noRot="1" noChangeAspect="1" noMove="1" noResize="1" noEditPoints="1" noAdjustHandles="1" noChangeArrowheads="1" noChangeShapeType="1" noTextEdit="1"/>
                </p:cNvSpPr>
                <p:nvPr/>
              </p:nvSpPr>
              <p:spPr>
                <a:xfrm>
                  <a:off x="6926975" y="2535893"/>
                  <a:ext cx="4801870" cy="808990"/>
                </a:xfrm>
                <a:prstGeom prst="rect">
                  <a:avLst/>
                </a:prstGeom>
                <a:blipFill rotWithShape="1">
                  <a:blip r:embed="rId10"/>
                </a:blipFill>
              </p:spPr>
              <p:txBody>
                <a:bodyPr/>
                <a:lstStyle/>
                <a:p>
                  <a:r>
                    <a:rPr lang="zh-CN" altLang="en-US">
                      <a:noFill/>
                    </a:rPr>
                    <a:t> </a:t>
                  </a:r>
                </a:p>
              </p:txBody>
            </p:sp>
          </mc:Fallback>
        </mc:AlternateContent>
      </p:grpSp>
      <p:sp>
        <p:nvSpPr>
          <p:cNvPr id="26" name="箭头: 右 25"/>
          <p:cNvSpPr/>
          <p:nvPr/>
        </p:nvSpPr>
        <p:spPr>
          <a:xfrm>
            <a:off x="4660590" y="4948334"/>
            <a:ext cx="560481" cy="95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7" name="文本框 26"/>
              <p:cNvSpPr txBox="1"/>
              <p:nvPr/>
            </p:nvSpPr>
            <p:spPr>
              <a:xfrm>
                <a:off x="7743190" y="3702685"/>
                <a:ext cx="3611245" cy="92202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5">
                            <a:lumMod val="50000"/>
                          </a:schemeClr>
                        </a:solidFill>
                        <a:latin typeface="Cambria Math" panose="02040503050406030204" pitchFamily="18" charset="0"/>
                      </a:rPr>
                      <m:t>𝑮</m:t>
                    </m:r>
                  </m:oMath>
                </a14:m>
                <a:r>
                  <a:rPr lang="zh-CN" altLang="en-US" b="1">
                    <a:solidFill>
                      <a:schemeClr val="accent5">
                        <a:lumMod val="50000"/>
                      </a:schemeClr>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chemeClr val="accent5">
                                <a:lumMod val="50000"/>
                              </a:schemeClr>
                            </a:solidFill>
                            <a:latin typeface="Cambria Math" panose="02040503050406030204" pitchFamily="18" charset="0"/>
                          </a:rPr>
                        </m:ctrlPr>
                      </m:dPr>
                      <m:e>
                        <m:r>
                          <a:rPr lang="en-US" altLang="zh-CN" b="1" i="1">
                            <a:solidFill>
                              <a:schemeClr val="accent5">
                                <a:lumMod val="50000"/>
                              </a:schemeClr>
                            </a:solidFill>
                            <a:latin typeface="Cambria Math" panose="02040503050406030204" pitchFamily="18" charset="0"/>
                          </a:rPr>
                          <m:t>𝑮</m:t>
                        </m:r>
                      </m:e>
                    </m:d>
                    <m:r>
                      <a:rPr lang="en-US" altLang="zh-CN" b="1" i="1">
                        <a:solidFill>
                          <a:schemeClr val="accent5">
                            <a:lumMod val="50000"/>
                          </a:schemeClr>
                        </a:solidFill>
                        <a:latin typeface="Cambria Math" panose="02040503050406030204" pitchFamily="18" charset="0"/>
                      </a:rPr>
                      <m:t>=</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𝒂</m:t>
                    </m:r>
                    <m:r>
                      <a:rPr lang="en-US" altLang="zh-CN" b="1" i="1">
                        <a:solidFill>
                          <a:schemeClr val="accent5">
                            <a:lumMod val="50000"/>
                          </a:schemeClr>
                        </a:solidFill>
                        <a:latin typeface="Cambria Math" panose="02040503050406030204" pitchFamily="18" charset="0"/>
                      </a:rPr>
                      <m:t>, </m:t>
                    </m:r>
                    <m:r>
                      <a:rPr lang="en-US" altLang="zh-CN" b="1" i="1">
                        <a:solidFill>
                          <a:schemeClr val="accent5">
                            <a:lumMod val="50000"/>
                          </a:schemeClr>
                        </a:solidFill>
                        <a:latin typeface="Cambria Math" panose="02040503050406030204" pitchFamily="18" charset="0"/>
                      </a:rPr>
                      <m:t>𝒃</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𝒃</m:t>
                    </m:r>
                    <m:r>
                      <a:rPr lang="en-US" altLang="zh-CN" b="1" i="1">
                        <a:solidFill>
                          <a:schemeClr val="accent5">
                            <a:lumMod val="50000"/>
                          </a:schemeClr>
                        </a:solidFill>
                        <a:latin typeface="Cambria Math" panose="02040503050406030204" pitchFamily="18" charset="0"/>
                      </a:rPr>
                      <m:t>, </m:t>
                    </m:r>
                    <m:r>
                      <a:rPr lang="en-US" altLang="zh-CN" b="1" i="1">
                        <a:solidFill>
                          <a:schemeClr val="accent5">
                            <a:lumMod val="50000"/>
                          </a:schemeClr>
                        </a:solidFill>
                        <a:latin typeface="Cambria Math" panose="02040503050406030204" pitchFamily="18" charset="0"/>
                      </a:rPr>
                      <m:t>𝒄</m:t>
                    </m:r>
                    <m:r>
                      <m:rPr>
                        <m:lit/>
                      </m:rPr>
                      <a:rPr lang="en-US" altLang="zh-CN" b="1" i="1">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可认为是</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𝑮</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𝒃</m:t>
                    </m:r>
                    <m:r>
                      <a:rPr lang="en-US" altLang="zh-CN" b="1" i="1" smtClean="0">
                        <a:solidFill>
                          <a:schemeClr val="accent5">
                            <a:lumMod val="50000"/>
                          </a:schemeClr>
                        </a:solidFill>
                        <a:latin typeface="Cambria Math" panose="02040503050406030204" pitchFamily="18" charset="0"/>
                      </a:rPr>
                      <m:t>), </m:t>
                    </m:r>
                    <m:r>
                      <a:rPr lang="en-US" altLang="zh-CN" b="1" i="1" smtClean="0">
                        <a:solidFill>
                          <a:schemeClr val="accent5">
                            <a:lumMod val="50000"/>
                          </a:schemeClr>
                        </a:solidFill>
                        <a:latin typeface="Cambria Math" panose="02040503050406030204" pitchFamily="18" charset="0"/>
                      </a:rPr>
                      <m:t>𝑮</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𝒃</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为真，而其他诸如</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𝑮</m:t>
                    </m:r>
                    <m:d>
                      <m:dPr>
                        <m:ctrlPr>
                          <a:rPr lang="en-US" altLang="zh-CN" b="1" i="1" smtClean="0">
                            <a:solidFill>
                              <a:schemeClr val="accent5">
                                <a:lumMod val="50000"/>
                              </a:schemeClr>
                            </a:solidFill>
                            <a:latin typeface="Cambria Math" panose="02040503050406030204" pitchFamily="18" charset="0"/>
                          </a:rPr>
                        </m:ctrlPr>
                      </m:dPr>
                      <m:e>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e>
                    </m:d>
                    <m:r>
                      <a:rPr lang="en-US" altLang="zh-CN" b="1" i="1" smtClean="0">
                        <a:solidFill>
                          <a:schemeClr val="accent5">
                            <a:lumMod val="50000"/>
                          </a:schemeClr>
                        </a:solidFill>
                        <a:latin typeface="Cambria Math" panose="02040503050406030204" pitchFamily="18" charset="0"/>
                      </a:rPr>
                      <m:t>, </m:t>
                    </m:r>
                    <m:r>
                      <a:rPr lang="en-US" altLang="zh-CN" b="1" i="1" smtClean="0">
                        <a:solidFill>
                          <a:schemeClr val="accent5">
                            <a:lumMod val="50000"/>
                          </a:schemeClr>
                        </a:solidFill>
                        <a:latin typeface="Cambria Math" panose="02040503050406030204" pitchFamily="18" charset="0"/>
                      </a:rPr>
                      <m:t>𝑮</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等都为假</a:t>
                </a:r>
              </a:p>
            </p:txBody>
          </p:sp>
        </mc:Choice>
        <mc:Fallback xmlns="">
          <p:sp>
            <p:nvSpPr>
              <p:cNvPr id="27" name="文本框 26"/>
              <p:cNvSpPr txBox="1">
                <a:spLocks noRot="1" noChangeAspect="1" noMove="1" noResize="1" noEditPoints="1" noAdjustHandles="1" noChangeArrowheads="1" noChangeShapeType="1" noTextEdit="1"/>
              </p:cNvSpPr>
              <p:nvPr/>
            </p:nvSpPr>
            <p:spPr>
              <a:xfrm>
                <a:off x="7743190" y="3702685"/>
                <a:ext cx="3611245" cy="922020"/>
              </a:xfrm>
              <a:prstGeom prst="rect">
                <a:avLst/>
              </a:prstGeom>
              <a:blipFill rotWithShape="1">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7743190" y="4738370"/>
                <a:ext cx="3733165" cy="92202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5">
                            <a:lumMod val="50000"/>
                          </a:schemeClr>
                        </a:solidFill>
                        <a:latin typeface="Cambria Math" panose="02040503050406030204" pitchFamily="18" charset="0"/>
                      </a:rPr>
                      <m:t>𝑯</m:t>
                    </m:r>
                  </m:oMath>
                </a14:m>
                <a:r>
                  <a:rPr lang="zh-CN" altLang="en-US" b="1">
                    <a:solidFill>
                      <a:schemeClr val="accent5">
                        <a:lumMod val="50000"/>
                      </a:schemeClr>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chemeClr val="accent5">
                                <a:lumMod val="50000"/>
                              </a:schemeClr>
                            </a:solidFill>
                            <a:latin typeface="Cambria Math" panose="02040503050406030204" pitchFamily="18" charset="0"/>
                          </a:rPr>
                        </m:ctrlPr>
                      </m:dPr>
                      <m:e>
                        <m:r>
                          <a:rPr lang="en-US" altLang="zh-CN" b="1" i="1">
                            <a:solidFill>
                              <a:schemeClr val="accent5">
                                <a:lumMod val="50000"/>
                              </a:schemeClr>
                            </a:solidFill>
                            <a:latin typeface="Cambria Math" panose="02040503050406030204" pitchFamily="18" charset="0"/>
                          </a:rPr>
                          <m:t>𝑯</m:t>
                        </m:r>
                      </m:e>
                    </m:d>
                    <m:r>
                      <a:rPr lang="en-US" altLang="zh-CN" b="1" i="1">
                        <a:solidFill>
                          <a:schemeClr val="accent5">
                            <a:lumMod val="50000"/>
                          </a:schemeClr>
                        </a:solidFill>
                        <a:latin typeface="Cambria Math" panose="02040503050406030204" pitchFamily="18" charset="0"/>
                      </a:rPr>
                      <m:t>=</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𝒂</m:t>
                    </m:r>
                    <m:r>
                      <a:rPr lang="en-US" altLang="zh-CN" b="1" i="1">
                        <a:solidFill>
                          <a:schemeClr val="accent5">
                            <a:lumMod val="50000"/>
                          </a:schemeClr>
                        </a:solidFill>
                        <a:latin typeface="Cambria Math" panose="02040503050406030204" pitchFamily="18" charset="0"/>
                      </a:rPr>
                      <m:t>, </m:t>
                    </m:r>
                    <m:r>
                      <a:rPr lang="en-US" altLang="zh-CN" b="1" i="1">
                        <a:solidFill>
                          <a:schemeClr val="accent5">
                            <a:lumMod val="50000"/>
                          </a:schemeClr>
                        </a:solidFill>
                        <a:latin typeface="Cambria Math" panose="02040503050406030204" pitchFamily="18" charset="0"/>
                      </a:rPr>
                      <m:t>𝒂</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m:t>
                    </m:r>
                    <m:r>
                      <m:rPr>
                        <m:lit/>
                      </m:rPr>
                      <a:rPr lang="en-US" altLang="zh-CN" b="1" i="1">
                        <a:solidFill>
                          <a:schemeClr val="accent5">
                            <a:lumMod val="50000"/>
                          </a:schemeClr>
                        </a:solidFill>
                        <a:latin typeface="Cambria Math" panose="02040503050406030204" pitchFamily="18" charset="0"/>
                      </a:rPr>
                      <m:t>⟨</m:t>
                    </m:r>
                    <m:r>
                      <a:rPr lang="en-US" altLang="zh-CN" b="1" i="1">
                        <a:solidFill>
                          <a:schemeClr val="accent5">
                            <a:lumMod val="50000"/>
                          </a:schemeClr>
                        </a:solidFill>
                        <a:latin typeface="Cambria Math" panose="02040503050406030204" pitchFamily="18" charset="0"/>
                      </a:rPr>
                      <m:t>𝒄</m:t>
                    </m:r>
                    <m:r>
                      <a:rPr lang="en-US" altLang="zh-CN" b="1" i="1">
                        <a:solidFill>
                          <a:schemeClr val="accent5">
                            <a:lumMod val="50000"/>
                          </a:schemeClr>
                        </a:solidFill>
                        <a:latin typeface="Cambria Math" panose="02040503050406030204" pitchFamily="18" charset="0"/>
                      </a:rPr>
                      <m:t>, </m:t>
                    </m:r>
                    <m:r>
                      <a:rPr lang="en-US" altLang="zh-CN" b="1" i="1">
                        <a:solidFill>
                          <a:schemeClr val="accent5">
                            <a:lumMod val="50000"/>
                          </a:schemeClr>
                        </a:solidFill>
                        <a:latin typeface="Cambria Math" panose="02040503050406030204" pitchFamily="18" charset="0"/>
                      </a:rPr>
                      <m:t>𝒄</m:t>
                    </m:r>
                    <m:r>
                      <m:rPr>
                        <m:lit/>
                      </m:rPr>
                      <a:rPr lang="en-US" altLang="zh-CN" b="1" i="1">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可认为是</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𝑯</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 </m:t>
                    </m:r>
                    <m:r>
                      <a:rPr lang="en-US" altLang="zh-CN" b="1" i="1" smtClean="0">
                        <a:solidFill>
                          <a:schemeClr val="accent5">
                            <a:lumMod val="50000"/>
                          </a:schemeClr>
                        </a:solidFill>
                        <a:latin typeface="Cambria Math" panose="02040503050406030204" pitchFamily="18" charset="0"/>
                      </a:rPr>
                      <m:t>𝑯</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为真，而其他诸如</a:t>
                </a:r>
                <a14:m>
                  <m:oMath xmlns:m="http://schemas.openxmlformats.org/officeDocument/2006/math">
                    <m:r>
                      <a:rPr lang="en-US" altLang="zh-CN" b="1" i="1" smtClean="0">
                        <a:solidFill>
                          <a:schemeClr val="accent5">
                            <a:lumMod val="50000"/>
                          </a:schemeClr>
                        </a:solidFill>
                        <a:latin typeface="Cambria Math" panose="02040503050406030204" pitchFamily="18" charset="0"/>
                      </a:rPr>
                      <m:t>𝑯</m:t>
                    </m:r>
                    <m:d>
                      <m:dPr>
                        <m:ctrlPr>
                          <a:rPr lang="en-US" altLang="zh-CN" b="1" i="1" smtClean="0">
                            <a:solidFill>
                              <a:schemeClr val="accent5">
                                <a:lumMod val="50000"/>
                              </a:schemeClr>
                            </a:solidFill>
                            <a:latin typeface="Cambria Math" panose="02040503050406030204" pitchFamily="18" charset="0"/>
                          </a:rPr>
                        </m:ctrlPr>
                      </m:dPr>
                      <m:e>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𝒃</m:t>
                        </m:r>
                      </m:e>
                    </m:d>
                    <m:r>
                      <a:rPr lang="en-US" altLang="zh-CN" b="1" i="1" smtClean="0">
                        <a:solidFill>
                          <a:schemeClr val="accent5">
                            <a:lumMod val="50000"/>
                          </a:schemeClr>
                        </a:solidFill>
                        <a:latin typeface="Cambria Math" panose="02040503050406030204" pitchFamily="18" charset="0"/>
                      </a:rPr>
                      <m:t>, </m:t>
                    </m:r>
                    <m:r>
                      <a:rPr lang="en-US" altLang="zh-CN" b="1" i="1" smtClean="0">
                        <a:solidFill>
                          <a:schemeClr val="accent5">
                            <a:lumMod val="50000"/>
                          </a:schemeClr>
                        </a:solidFill>
                        <a:latin typeface="Cambria Math" panose="02040503050406030204" pitchFamily="18" charset="0"/>
                      </a:rPr>
                      <m:t>𝑯</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𝒂</m:t>
                    </m:r>
                    <m:r>
                      <a:rPr lang="en-US" altLang="zh-CN" b="1" i="1" smtClean="0">
                        <a:solidFill>
                          <a:schemeClr val="accent5">
                            <a:lumMod val="50000"/>
                          </a:schemeClr>
                        </a:solidFill>
                        <a:latin typeface="Cambria Math" panose="02040503050406030204" pitchFamily="18" charset="0"/>
                      </a:rPr>
                      <m:t>,</m:t>
                    </m:r>
                    <m:r>
                      <a:rPr lang="en-US" altLang="zh-CN" b="1" i="1" smtClean="0">
                        <a:solidFill>
                          <a:schemeClr val="accent5">
                            <a:lumMod val="50000"/>
                          </a:schemeClr>
                        </a:solidFill>
                        <a:latin typeface="Cambria Math" panose="02040503050406030204" pitchFamily="18" charset="0"/>
                      </a:rPr>
                      <m:t>𝒄</m:t>
                    </m:r>
                    <m:r>
                      <a:rPr lang="en-US" altLang="zh-CN" b="1" i="1" smtClean="0">
                        <a:solidFill>
                          <a:schemeClr val="accent5">
                            <a:lumMod val="50000"/>
                          </a:schemeClr>
                        </a:solidFill>
                        <a:latin typeface="Cambria Math" panose="02040503050406030204" pitchFamily="18" charset="0"/>
                      </a:rPr>
                      <m:t>)</m:t>
                    </m:r>
                  </m:oMath>
                </a14:m>
                <a:r>
                  <a:rPr lang="zh-CN" altLang="en-US" b="1">
                    <a:solidFill>
                      <a:schemeClr val="accent5">
                        <a:lumMod val="50000"/>
                      </a:schemeClr>
                    </a:solidFill>
                    <a:latin typeface="楷体" panose="02010609060101010101" pitchFamily="49" charset="-122"/>
                    <a:ea typeface="楷体" panose="02010609060101010101" pitchFamily="49" charset="-122"/>
                  </a:rPr>
                  <a:t>等都为假</a:t>
                </a:r>
              </a:p>
            </p:txBody>
          </p:sp>
        </mc:Choice>
        <mc:Fallback xmlns="">
          <p:sp>
            <p:nvSpPr>
              <p:cNvPr id="28" name="文本框 27"/>
              <p:cNvSpPr txBox="1">
                <a:spLocks noRot="1" noChangeAspect="1" noMove="1" noResize="1" noEditPoints="1" noAdjustHandles="1" noChangeArrowheads="1" noChangeShapeType="1" noTextEdit="1"/>
              </p:cNvSpPr>
              <p:nvPr/>
            </p:nvSpPr>
            <p:spPr>
              <a:xfrm>
                <a:off x="7743190" y="4738370"/>
                <a:ext cx="3733165" cy="922020"/>
              </a:xfrm>
              <a:prstGeom prst="rect">
                <a:avLst/>
              </a:prstGeom>
              <a:blipFill rotWithShape="1">
                <a:blip r:embed="rId12"/>
                <a:stretch>
                  <a:fillRect/>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p>
        </p:txBody>
      </p:sp>
      <mc:AlternateContent xmlns:mc="http://schemas.openxmlformats.org/markup-compatibility/2006" xmlns:a14="http://schemas.microsoft.com/office/drawing/2010/main">
        <mc:Choice Requires="a14">
          <p:sp>
            <p:nvSpPr>
              <p:cNvPr id="12" name="文本框 11"/>
              <p:cNvSpPr txBox="1"/>
              <p:nvPr/>
            </p:nvSpPr>
            <p:spPr>
              <a:xfrm>
                <a:off x="123190" y="3141980"/>
                <a:ext cx="6671945" cy="46037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确定公式</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𝒛𝑯</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𝒛</m:t>
                        </m:r>
                      </m:e>
                    </m:d>
                  </m:oMath>
                </a14:m>
                <a:r>
                  <a:rPr lang="zh-CN" altLang="en-US" sz="2400" b="1">
                    <a:solidFill>
                      <a:srgbClr val="002060"/>
                    </a:solidFill>
                    <a:latin typeface="楷体" panose="02010609060101010101" pitchFamily="49" charset="-122"/>
                    <a:ea typeface="楷体" panose="02010609060101010101" pitchFamily="49" charset="-122"/>
                  </a:rPr>
                  <a:t>的真值</a:t>
                </a:r>
                <a:endParaRPr lang="en-US" altLang="zh-CN" sz="24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23190" y="3141980"/>
                <a:ext cx="6671945" cy="46037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07060" y="1043940"/>
                <a:ext cx="5661025" cy="196850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给定下面的解释和个体变量指派函数</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oMath>
                </a14:m>
                <a:r>
                  <a:rPr lang="zh-CN" altLang="en-US" b="1">
                    <a:solidFill>
                      <a:srgbClr val="002060"/>
                    </a:solidFill>
                    <a:latin typeface="楷体" panose="02010609060101010101" pitchFamily="49" charset="-122"/>
                    <a:ea typeface="楷体" panose="02010609060101010101" pitchFamily="49" charset="-122"/>
                  </a:rPr>
                  <a:t>，是有限集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         </m:t>
                      </m:r>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a:t>
                </a:r>
                <a14:m>
                  <m:oMath xmlns:m="http://schemas.openxmlformats.org/officeDocument/2006/math">
                    <m:r>
                      <a:rPr lang="en-US" altLang="zh-CN" b="1" i="1" smtClean="0">
                        <a:solidFill>
                          <a:srgbClr val="002060"/>
                        </a:solidFill>
                        <a:latin typeface="Cambria Math" panose="02040503050406030204" pitchFamily="18" charset="0"/>
                      </a:rPr>
                      <m:t>𝝈</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𝝈</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e>
                    </m:d>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oMath>
                </a14:m>
                <a:endParaRPr lang="zh-CN" altLang="en-US" b="1">
                  <a:solidFill>
                    <a:srgbClr val="00206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07060" y="1043940"/>
                <a:ext cx="5661025" cy="1968500"/>
              </a:xfrm>
              <a:prstGeom prst="rect">
                <a:avLst/>
              </a:prstGeom>
              <a:blipFill rotWithShape="1">
                <a:blip r:embed="rId3"/>
                <a:stretch>
                  <a:fillRect l="-112" t="-323" r="-112" b="-323"/>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40749" y="3749654"/>
                <a:ext cx="5762693" cy="435184"/>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spcAft>
                    <a:spcPts val="3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的真值为真</a:t>
                </a:r>
              </a:p>
            </p:txBody>
          </p:sp>
        </mc:Choice>
        <mc:Fallback xmlns="">
          <p:sp>
            <p:nvSpPr>
              <p:cNvPr id="6" name="文本框 5"/>
              <p:cNvSpPr txBox="1">
                <a:spLocks noRot="1" noChangeAspect="1" noMove="1" noResize="1" noEditPoints="1" noAdjustHandles="1" noChangeArrowheads="1" noChangeShapeType="1" noTextEdit="1"/>
              </p:cNvSpPr>
              <p:nvPr/>
            </p:nvSpPr>
            <p:spPr>
              <a:xfrm>
                <a:off x="440749" y="3749654"/>
                <a:ext cx="5762693" cy="435184"/>
              </a:xfrm>
              <a:prstGeom prst="rect">
                <a:avLst/>
              </a:prstGeom>
              <a:blipFill rotWithShape="1">
                <a:blip r:embed="rId4"/>
                <a:stretch>
                  <a:fillRect l="-1" t="-141" r="2"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123825" y="4361180"/>
                <a:ext cx="6337935" cy="450215"/>
              </a:xfrm>
              <a:prstGeom prst="rect">
                <a:avLst/>
              </a:prstGeom>
              <a:solidFill>
                <a:schemeClr val="accent2">
                  <a:lumMod val="20000"/>
                  <a:lumOff val="80000"/>
                  <a:alpha val="50000"/>
                </a:schemeClr>
              </a:solidFill>
            </p:spPr>
            <p:txBody>
              <a:bodyPr wrap="square" rtlCol="0">
                <a:spAutoFit/>
              </a:bodyPr>
              <a:lstStyle/>
              <a:p>
                <a:pPr algn="ctr">
                  <a:lnSpc>
                    <a:spcPts val="2800"/>
                  </a:lnSpc>
                  <a:spcBef>
                    <a:spcPts val="600"/>
                  </a:spcBef>
                  <a:spcAft>
                    <a:spcPts val="300"/>
                  </a:spcAft>
                </a:pP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𝑮</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e>
                    </m:d>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rPr>
                  <a:t>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的真值为真</a:t>
                </a:r>
              </a:p>
            </p:txBody>
          </p:sp>
        </mc:Choice>
        <mc:Fallback xmlns="">
          <p:sp>
            <p:nvSpPr>
              <p:cNvPr id="23" name="文本框 22"/>
              <p:cNvSpPr txBox="1">
                <a:spLocks noRot="1" noChangeAspect="1" noMove="1" noResize="1" noEditPoints="1" noAdjustHandles="1" noChangeArrowheads="1" noChangeShapeType="1" noTextEdit="1"/>
              </p:cNvSpPr>
              <p:nvPr/>
            </p:nvSpPr>
            <p:spPr>
              <a:xfrm>
                <a:off x="123825" y="4361180"/>
                <a:ext cx="6337935" cy="450215"/>
              </a:xfrm>
              <a:prstGeom prst="rect">
                <a:avLst/>
              </a:prstGeom>
              <a:blipFill rotWithShape="1">
                <a:blip r:embed="rId5"/>
                <a:stretch>
                  <a:fillRect/>
                </a:stretch>
              </a:blipFill>
            </p:spPr>
            <p:txBody>
              <a:bodyPr/>
              <a:lstStyle/>
              <a:p>
                <a:r>
                  <a:rPr lang="zh-CN" altLang="en-US">
                    <a:noFill/>
                  </a:rPr>
                  <a:t> </a:t>
                </a:r>
              </a:p>
            </p:txBody>
          </p:sp>
        </mc:Fallback>
      </mc:AlternateContent>
      <p:grpSp>
        <p:nvGrpSpPr>
          <p:cNvPr id="19" name="组合 18"/>
          <p:cNvGrpSpPr/>
          <p:nvPr/>
        </p:nvGrpSpPr>
        <p:grpSpPr>
          <a:xfrm>
            <a:off x="6461546" y="1043956"/>
            <a:ext cx="5466664" cy="3836025"/>
            <a:chOff x="6502764" y="1233799"/>
            <a:chExt cx="5466664" cy="3836025"/>
          </a:xfrm>
        </p:grpSpPr>
        <p:sp>
          <p:nvSpPr>
            <p:cNvPr id="11" name="箭头: 下 10"/>
            <p:cNvSpPr/>
            <p:nvPr/>
          </p:nvSpPr>
          <p:spPr>
            <a:xfrm>
              <a:off x="9170311" y="2743780"/>
              <a:ext cx="153054" cy="16309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p:cNvSpPr txBox="1"/>
                <p:nvPr/>
              </p:nvSpPr>
              <p:spPr>
                <a:xfrm>
                  <a:off x="6795504" y="1233799"/>
                  <a:ext cx="4907498" cy="1496820"/>
                </a:xfrm>
                <a:prstGeom prst="rect">
                  <a:avLst/>
                </a:prstGeom>
                <a:solidFill>
                  <a:schemeClr val="accent6">
                    <a:lumMod val="20000"/>
                    <a:lumOff val="80000"/>
                    <a:alpha val="50000"/>
                  </a:schemeClr>
                </a:solidFill>
              </p:spPr>
              <p:txBody>
                <a:bodyPr wrap="square" rtlCol="0">
                  <a:spAutoFit/>
                </a:bodyPr>
                <a:lstStyle/>
                <a:p>
                  <a:pPr algn="ctr">
                    <a:spcBef>
                      <a:spcPts val="600"/>
                    </a:spcBef>
                  </a:pPr>
                  <a14:m>
                    <m:oMath xmlns:m="http://schemas.openxmlformats.org/officeDocument/2006/math">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r>
                    <a:rPr lang="zh-CN" altLang="en-US" b="1">
                      <a:solidFill>
                        <a:srgbClr val="002060"/>
                      </a:solidFill>
                    </a:rPr>
                    <a:t>当且仅当对</a:t>
                  </a:r>
                  <a14:m>
                    <m:oMath xmlns:m="http://schemas.openxmlformats.org/officeDocument/2006/math">
                      <m:r>
                        <a:rPr lang="en-US" altLang="zh-CN" b="1" i="1" smtClean="0">
                          <a:solidFill>
                            <a:srgbClr val="002060"/>
                          </a:solidFill>
                          <a:latin typeface="Cambria Math" panose="02040503050406030204" pitchFamily="18" charset="0"/>
                        </a:rPr>
                        <m:t>𝑫</m:t>
                      </m:r>
                    </m:oMath>
                  </a14:m>
                  <a:r>
                    <a:rPr lang="zh-CN" altLang="en-US" b="1" i="0">
                      <a:solidFill>
                        <a:srgbClr val="002060"/>
                      </a:solidFill>
                      <a:latin typeface="+mj-lt"/>
                    </a:rPr>
                    <a:t>的任意元素</a:t>
                  </a:r>
                  <a14:m>
                    <m:oMath xmlns:m="http://schemas.openxmlformats.org/officeDocument/2006/math">
                      <m:r>
                        <a:rPr lang="en-US" altLang="zh-CN" b="1" i="1" smtClean="0">
                          <a:solidFill>
                            <a:srgbClr val="002060"/>
                          </a:solidFill>
                          <a:latin typeface="Cambria Math" panose="02040503050406030204" pitchFamily="18" charset="0"/>
                        </a:rPr>
                        <m:t>𝒅</m:t>
                      </m:r>
                    </m:oMath>
                  </a14:m>
                  <a:r>
                    <a:rPr lang="zh-CN" altLang="en-US" b="1" i="0">
                      <a:solidFill>
                        <a:srgbClr val="002060"/>
                      </a:solidFill>
                      <a:latin typeface="+mj-lt"/>
                    </a:rPr>
                    <a:t>有</a:t>
                  </a:r>
                  <a14:m>
                    <m:oMath xmlns:m="http://schemas.openxmlformats.org/officeDocument/2006/math">
                      <m:r>
                        <a:rPr lang="en-US" altLang="zh-CN" b="1" i="1" smtClean="0">
                          <a:solidFill>
                            <a:srgbClr val="002060"/>
                          </a:solidFill>
                          <a:latin typeface="Cambria Math" panose="02040503050406030204" pitchFamily="18" charset="0"/>
                        </a:rPr>
                        <m:t>𝝈</m:t>
                      </m:r>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𝒛</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𝒅</m:t>
                          </m:r>
                        </m:e>
                      </m:d>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endParaRPr lang="en-US" altLang="zh-CN" b="1">
                    <a:solidFill>
                      <a:srgbClr val="002060"/>
                    </a:solidFill>
                  </a:endParaRPr>
                </a:p>
                <a:p>
                  <a:pPr algn="ctr">
                    <a:spcBef>
                      <a:spcPts val="600"/>
                    </a:spcBef>
                  </a:pPr>
                  <a:r>
                    <a:rPr lang="zh-CN" altLang="en-US" b="1">
                      <a:solidFill>
                        <a:srgbClr val="002060"/>
                      </a:solidFill>
                    </a:rPr>
                    <a:t>当且仅当</a:t>
                  </a:r>
                  <a14:m>
                    <m:oMath xmlns:m="http://schemas.openxmlformats.org/officeDocument/2006/math">
                      <m:r>
                        <a:rPr lang="en-US" altLang="zh-CN" b="1" i="1">
                          <a:solidFill>
                            <a:srgbClr val="002060"/>
                          </a:solidFill>
                          <a:latin typeface="Cambria Math" panose="02040503050406030204" pitchFamily="18" charset="0"/>
                        </a:rPr>
                        <m:t>𝝈</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e>
                      </m:d>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𝑯</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𝟏</m:t>
                      </m:r>
                    </m:oMath>
                  </a14:m>
                  <a:r>
                    <a:rPr lang="zh-CN" altLang="en-US" b="1">
                      <a:solidFill>
                        <a:srgbClr val="002060"/>
                      </a:solidFill>
                    </a:rPr>
                    <a:t>且</a:t>
                  </a:r>
                  <a:endParaRPr lang="en-US" altLang="zh-CN" b="1">
                    <a:solidFill>
                      <a:srgbClr val="002060"/>
                    </a:solidFill>
                  </a:endParaRPr>
                </a:p>
                <a:p>
                  <a:pPr algn="ctr">
                    <a:spcBef>
                      <a:spcPts val="600"/>
                    </a:spcBef>
                  </a:pPr>
                  <a14:m>
                    <m:oMath xmlns:m="http://schemas.openxmlformats.org/officeDocument/2006/math">
                      <m:r>
                        <a:rPr lang="en-US" altLang="zh-CN" b="1" i="1">
                          <a:solidFill>
                            <a:srgbClr val="002060"/>
                          </a:solidFill>
                          <a:latin typeface="Cambria Math" panose="02040503050406030204" pitchFamily="18" charset="0"/>
                        </a:rPr>
                        <m:t>𝝈</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e>
                      </m:d>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𝑯</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𝟏</m:t>
                      </m:r>
                    </m:oMath>
                  </a14:m>
                  <a:r>
                    <a:rPr lang="zh-CN" altLang="en-US" b="1">
                      <a:solidFill>
                        <a:srgbClr val="002060"/>
                      </a:solidFill>
                    </a:rPr>
                    <a:t>且</a:t>
                  </a:r>
                  <a14:m>
                    <m:oMath xmlns:m="http://schemas.openxmlformats.org/officeDocument/2006/math">
                      <m:r>
                        <a:rPr lang="en-US" altLang="zh-CN" b="1" i="1">
                          <a:solidFill>
                            <a:srgbClr val="002060"/>
                          </a:solidFill>
                          <a:latin typeface="Cambria Math" panose="02040503050406030204" pitchFamily="18" charset="0"/>
                        </a:rPr>
                        <m:t>𝝈</m:t>
                      </m:r>
                      <m:d>
                        <m:dPr>
                          <m:begChr m:val="["/>
                          <m:endChr m:val="]"/>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𝒛</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𝒄</m:t>
                          </m:r>
                        </m:e>
                      </m:d>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𝑯</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𝒛</m:t>
                              </m:r>
                            </m:e>
                          </m:d>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𝟏</m:t>
                      </m:r>
                    </m:oMath>
                  </a14:m>
                  <a:endParaRPr lang="en-US" altLang="zh-CN" b="1">
                    <a:solidFill>
                      <a:srgbClr val="002060"/>
                    </a:solidFill>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6795504" y="1233799"/>
                  <a:ext cx="4907498" cy="149682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7649818" y="2871259"/>
                  <a:ext cx="3198864" cy="646331"/>
                </a:xfrm>
                <a:prstGeom prst="rect">
                  <a:avLst/>
                </a:prstGeom>
                <a:solidFill>
                  <a:schemeClr val="accent4">
                    <a:lumMod val="20000"/>
                    <a:lumOff val="80000"/>
                  </a:schemeClr>
                </a:solidFill>
              </p:spPr>
              <p:txBody>
                <a:bodyPr wrap="square" rtlCol="0">
                  <a:spAutoFit/>
                </a:bodyPr>
                <a:lstStyle/>
                <a:p>
                  <a:pPr algn="ct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𝒂</m:t>
                          </m:r>
                        </m:e>
                      </m:d>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𝒃</m:t>
                          </m:r>
                        </m:e>
                      </m:d>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𝒚</m:t>
                          </m:r>
                        </m:e>
                      </m:d>
                    </m:oMath>
                  </a14:m>
                  <a:r>
                    <a:rPr lang="en-US" altLang="zh-CN" b="1">
                      <a:solidFill>
                        <a:schemeClr val="accent2">
                          <a:lumMod val="50000"/>
                        </a:schemeClr>
                      </a:solidFill>
                    </a:rPr>
                    <a:t> </a:t>
                  </a:r>
                  <a14:m>
                    <m:oMath xmlns:m="http://schemas.openxmlformats.org/officeDocument/2006/math">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𝒄</m:t>
                          </m:r>
                        </m:e>
                      </m:d>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𝝈</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𝒃</m:t>
                      </m:r>
                    </m:oMath>
                  </a14:m>
                  <a:endParaRPr lang="zh-CN" altLang="en-US">
                    <a:solidFill>
                      <a:schemeClr val="accent2">
                        <a:lumMod val="50000"/>
                      </a:schemeClr>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7649818" y="2871259"/>
                  <a:ext cx="3198864" cy="646331"/>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7342823" y="3565676"/>
                  <a:ext cx="3812853" cy="646331"/>
                </a:xfrm>
                <a:prstGeom prst="rect">
                  <a:avLst/>
                </a:prstGeom>
                <a:solidFill>
                  <a:schemeClr val="accent4">
                    <a:lumMod val="20000"/>
                    <a:lumOff val="80000"/>
                  </a:schemeClr>
                </a:solidFill>
              </p:spPr>
              <p:txBody>
                <a:bodyPr wrap="square" rtlCol="0">
                  <a:spAutoFit/>
                </a:bodyPr>
                <a:lstStyle/>
                <a:p>
                  <a:pPr algn="ctr"/>
                  <a14:m>
                    <m:oMath xmlns:m="http://schemas.openxmlformats.org/officeDocument/2006/math">
                      <m:r>
                        <a:rPr lang="en-US" altLang="zh-CN" b="1" i="1" smtClean="0">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𝒂</m:t>
                          </m:r>
                        </m:e>
                      </m:d>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𝒛</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𝒃</m:t>
                          </m:r>
                        </m:e>
                      </m:d>
                      <m:d>
                        <m:dPr>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𝒛</m:t>
                          </m:r>
                        </m:e>
                      </m:d>
                    </m:oMath>
                  </a14:m>
                  <a:r>
                    <a:rPr lang="en-US" altLang="zh-CN" b="1">
                      <a:solidFill>
                        <a:schemeClr val="accent2">
                          <a:lumMod val="50000"/>
                        </a:schemeClr>
                      </a:solidFill>
                    </a:rPr>
                    <a:t> </a:t>
                  </a:r>
                  <a14:m>
                    <m:oMath xmlns:m="http://schemas.openxmlformats.org/officeDocument/2006/math">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𝒃</m:t>
                      </m:r>
                      <m:r>
                        <a:rPr lang="en-US" altLang="zh-CN" b="1" i="1">
                          <a:solidFill>
                            <a:schemeClr val="accent2">
                              <a:lumMod val="50000"/>
                            </a:schemeClr>
                          </a:solidFill>
                          <a:latin typeface="Cambria Math" panose="02040503050406030204" pitchFamily="18" charset="0"/>
                        </a:rPr>
                        <m:t> </m:t>
                      </m:r>
                    </m:oMath>
                  </a14:m>
                  <a:endParaRPr lang="en-US" altLang="zh-CN" b="1" i="1">
                    <a:solidFill>
                      <a:schemeClr val="accent2">
                        <a:lumMod val="50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b="1" i="1">
                            <a:solidFill>
                              <a:schemeClr val="accent2">
                                <a:lumMod val="50000"/>
                              </a:schemeClr>
                            </a:solidFill>
                            <a:latin typeface="Cambria Math" panose="02040503050406030204" pitchFamily="18" charset="0"/>
                          </a:rPr>
                          <m:t>𝝈</m:t>
                        </m:r>
                        <m:d>
                          <m:dPr>
                            <m:begChr m:val="["/>
                            <m:endChr m:val="]"/>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𝒛</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𝒄</m:t>
                            </m:r>
                          </m:e>
                        </m:d>
                        <m:d>
                          <m:dPr>
                            <m:ctrlPr>
                              <a:rPr lang="en-US" altLang="zh-CN" b="1" i="1">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𝒛</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𝒄</m:t>
                        </m:r>
                      </m:oMath>
                    </m:oMathPara>
                  </a14:m>
                  <a:endParaRPr lang="zh-CN" altLang="en-US">
                    <a:solidFill>
                      <a:schemeClr val="accent2">
                        <a:lumMod val="50000"/>
                      </a:schemeClr>
                    </a:solidFill>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7342823" y="3565676"/>
                  <a:ext cx="3812853" cy="646331"/>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6502764" y="4387842"/>
                  <a:ext cx="5466664" cy="681982"/>
                </a:xfrm>
                <a:prstGeom prst="rect">
                  <a:avLst/>
                </a:prstGeom>
                <a:solidFill>
                  <a:schemeClr val="accent6">
                    <a:lumMod val="20000"/>
                    <a:lumOff val="80000"/>
                    <a:alpha val="50000"/>
                  </a:schemeClr>
                </a:solidFill>
              </p:spPr>
              <p:txBody>
                <a:bodyPr wrap="square" rtlCol="0">
                  <a:spAutoFit/>
                </a:bodyPr>
                <a:lstStyle/>
                <a:p>
                  <a:pPr algn="ctr">
                    <a:spcBef>
                      <a:spcPts val="600"/>
                    </a:spcBef>
                  </a:pPr>
                  <a14:m>
                    <m:oMath xmlns:m="http://schemas.openxmlformats.org/officeDocument/2006/math">
                      <m:r>
                        <a:rPr lang="en-US" altLang="zh-CN" b="1" i="1" smtClean="0">
                          <a:solidFill>
                            <a:srgbClr val="002060"/>
                          </a:solidFill>
                          <a:latin typeface="Cambria Math" panose="02040503050406030204" pitchFamily="18" charset="0"/>
                        </a:rPr>
                        <m:t>𝝈</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e>
                          </m:d>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r>
                    <a:rPr lang="zh-CN" altLang="en-US" b="1">
                      <a:solidFill>
                        <a:srgbClr val="002060"/>
                      </a:solidFill>
                    </a:rPr>
                    <a:t>当且仅当</a:t>
                  </a:r>
                  <a14:m>
                    <m:oMath xmlns:m="http://schemas.openxmlformats.org/officeDocument/2006/math">
                      <m:r>
                        <a:rPr lang="en-US" altLang="zh-CN" b="1" i="1" smtClean="0">
                          <a:solidFill>
                            <a:srgbClr val="002060"/>
                          </a:solidFill>
                          <a:latin typeface="Cambria Math" panose="02040503050406030204" pitchFamily="18" charset="0"/>
                        </a:rPr>
                        <m:t>𝑯</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m:t>
                      </m:r>
                      <m:r>
                        <m:rPr>
                          <m:nor/>
                        </m:rPr>
                        <a:rPr lang="zh-CN" altLang="en-US" b="1">
                          <a:solidFill>
                            <a:srgbClr val="002060"/>
                          </a:solidFill>
                          <a:latin typeface="Cambria Math" panose="02040503050406030204" pitchFamily="18" charset="0"/>
                        </a:rPr>
                        <m:t>为真</m:t>
                      </m:r>
                    </m:oMath>
                  </a14:m>
                  <a:r>
                    <a:rPr lang="zh-CN" altLang="en-US" b="1">
                      <a:solidFill>
                        <a:srgbClr val="002060"/>
                      </a:solidFill>
                    </a:rPr>
                    <a:t>且</a:t>
                  </a:r>
                  <a14:m>
                    <m:oMath xmlns:m="http://schemas.openxmlformats.org/officeDocument/2006/math">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m:t>
                      </m:r>
                    </m:oMath>
                  </a14:m>
                  <a:r>
                    <a:rPr lang="zh-CN" altLang="en-US" b="1">
                      <a:solidFill>
                        <a:srgbClr val="002060"/>
                      </a:solidFill>
                    </a:rPr>
                    <a:t>为真且</a:t>
                  </a:r>
                  <a14:m>
                    <m:oMath xmlns:m="http://schemas.openxmlformats.org/officeDocument/2006/math">
                      <m:r>
                        <a:rPr lang="en-US" altLang="zh-CN" b="1" i="1">
                          <a:solidFill>
                            <a:srgbClr val="002060"/>
                          </a:solidFill>
                          <a:latin typeface="Cambria Math" panose="02040503050406030204" pitchFamily="18" charset="0"/>
                        </a:rPr>
                        <m:t>𝑯</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𝒃</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r>
                        <a:rPr lang="en-US" altLang="zh-CN" b="1" i="1">
                          <a:solidFill>
                            <a:srgbClr val="002060"/>
                          </a:solidFill>
                          <a:latin typeface="Cambria Math" panose="02040503050406030204" pitchFamily="18" charset="0"/>
                        </a:rPr>
                        <m:t>)</m:t>
                      </m:r>
                    </m:oMath>
                  </a14:m>
                  <a:r>
                    <a:rPr lang="zh-CN" altLang="en-US" b="1">
                      <a:solidFill>
                        <a:srgbClr val="002060"/>
                      </a:solidFill>
                    </a:rPr>
                    <a:t>为真，</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𝒛𝑯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𝒛</m:t>
                          </m:r>
                        </m:e>
                      </m:d>
                    </m:oMath>
                  </a14:m>
                  <a:r>
                    <a:rPr lang="zh-CN" altLang="en-US" b="1">
                      <a:solidFill>
                        <a:schemeClr val="accent2">
                          <a:lumMod val="50000"/>
                        </a:schemeClr>
                      </a:solidFill>
                    </a:rPr>
                    <a:t>的真值为假</a:t>
                  </a:r>
                  <a:endParaRPr lang="en-US" altLang="zh-CN" b="1">
                    <a:solidFill>
                      <a:srgbClr val="002060"/>
                    </a:solidFill>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6502764" y="4387842"/>
                  <a:ext cx="5466664" cy="681982"/>
                </a:xfrm>
                <a:prstGeom prst="rect">
                  <a:avLst/>
                </a:prstGeom>
                <a:blipFill rotWithShape="1">
                  <a:blip r:embed="rId9"/>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7" name="文本框 26"/>
              <p:cNvSpPr txBox="1"/>
              <p:nvPr/>
            </p:nvSpPr>
            <p:spPr>
              <a:xfrm>
                <a:off x="2668565" y="5159727"/>
                <a:ext cx="5012399" cy="1077218"/>
              </a:xfrm>
              <a:prstGeom prst="rect">
                <a:avLst/>
              </a:prstGeom>
              <a:solidFill>
                <a:schemeClr val="accent4">
                  <a:lumMod val="20000"/>
                  <a:lumOff val="80000"/>
                  <a:alpha val="25000"/>
                </a:schemeClr>
              </a:solidFill>
              <a:ln w="12700">
                <a:solidFill>
                  <a:schemeClr val="accent1">
                    <a:shade val="50000"/>
                  </a:schemeClr>
                </a:solidFill>
                <a:prstDash val="sysDash"/>
              </a:ln>
            </p:spPr>
            <p:txBody>
              <a:bodyPr wrap="square" rtlCol="0">
                <a:spAutoFit/>
              </a:bodyPr>
              <a:lstStyle/>
              <a:p>
                <a:pPr>
                  <a:spcBef>
                    <a:spcPts val="600"/>
                  </a:spcBef>
                </a:pPr>
                <a:r>
                  <a:rPr lang="en-US" altLang="zh-CN"/>
                  <a:t>     </a:t>
                </a:r>
                <a14:m>
                  <m:oMath xmlns:m="http://schemas.openxmlformats.org/officeDocument/2006/math">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𝒛𝑯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𝒛</m:t>
                        </m:r>
                      </m:e>
                    </m:d>
                  </m:oMath>
                </a14:m>
                <a:endParaRPr lang="en-US" altLang="zh-CN" b="1">
                  <a:solidFill>
                    <a:srgbClr val="002060"/>
                  </a:solidFill>
                </a:endParaRPr>
              </a:p>
              <a:p>
                <a:pPr>
                  <a:spcBef>
                    <a:spcPts val="600"/>
                  </a:spcBef>
                </a:pPr>
                <a:r>
                  <a:rPr lang="en-US" altLang="zh-CN" b="1">
                    <a:solidFill>
                      <a:srgbClr val="002060"/>
                    </a:solidFill>
                  </a:rPr>
                  <a:t> </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𝑭</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𝑮</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𝑯</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r>
                      <a:rPr lang="en-US" altLang="zh-CN" b="1" i="1" smtClean="0">
                        <a:solidFill>
                          <a:srgbClr val="002060"/>
                        </a:solidFill>
                        <a:latin typeface="Cambria Math" panose="02040503050406030204" pitchFamily="18" charset="0"/>
                      </a:rPr>
                      <m:t>)</m:t>
                    </m:r>
                  </m:oMath>
                </a14:m>
                <a:endParaRPr lang="en-US" altLang="zh-CN" b="1">
                  <a:solidFill>
                    <a:srgbClr val="002060"/>
                  </a:solidFill>
                </a:endParaRPr>
              </a:p>
              <a:p>
                <a:pPr>
                  <a:spcBef>
                    <a:spcPts val="600"/>
                  </a:spcBef>
                </a:pPr>
                <a:r>
                  <a:rPr lang="en-US" altLang="zh-CN" b="1">
                    <a:solidFill>
                      <a:srgbClr val="002060"/>
                    </a:solidFill>
                  </a:rPr>
                  <a:t> </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𝟎</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𝟎</m:t>
                    </m:r>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𝟎</m:t>
                    </m:r>
                  </m:oMath>
                </a14:m>
                <a:endParaRPr lang="zh-CN" altLang="en-US" b="1">
                  <a:solidFill>
                    <a:srgbClr val="002060"/>
                  </a:solidFill>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2668565" y="5159727"/>
                <a:ext cx="5012399" cy="1077218"/>
              </a:xfrm>
              <a:prstGeom prst="rect">
                <a:avLst/>
              </a:prstGeom>
              <a:blipFill rotWithShape="1">
                <a:blip r:embed="rId10"/>
                <a:stretch>
                  <a:fillRect l="-133" t="-622" r="-127" b="-20222"/>
                </a:stretch>
              </a:blipFill>
              <a:ln w="12700">
                <a:solidFill>
                  <a:schemeClr val="accent1">
                    <a:shade val="50000"/>
                  </a:schemeClr>
                </a:solidFill>
                <a:prstDash val="sysDash"/>
              </a:ln>
            </p:spPr>
            <p:txBody>
              <a:bodyPr/>
              <a:lstStyle/>
              <a:p>
                <a:r>
                  <a:rPr lang="zh-CN" altLang="en-US">
                    <a:noFill/>
                  </a:rPr>
                  <a:t> </a:t>
                </a:r>
              </a:p>
            </p:txBody>
          </p:sp>
        </mc:Fallback>
      </mc:AlternateContent>
      <p:sp>
        <p:nvSpPr>
          <p:cNvPr id="28" name="文本框 27"/>
          <p:cNvSpPr txBox="1"/>
          <p:nvPr/>
        </p:nvSpPr>
        <p:spPr>
          <a:xfrm>
            <a:off x="440749" y="5236671"/>
            <a:ext cx="1841956" cy="923330"/>
          </a:xfrm>
          <a:prstGeom prst="rect">
            <a:avLst/>
          </a:prstGeom>
          <a:solidFill>
            <a:schemeClr val="accent2">
              <a:lumMod val="20000"/>
              <a:lumOff val="80000"/>
              <a:alpha val="50000"/>
            </a:schemeClr>
          </a:solidFill>
        </p:spPr>
        <p:txBody>
          <a:bodyPr wrap="square" rtlCol="0">
            <a:spAutoFit/>
          </a:bodyPr>
          <a:lstStyle/>
          <a:p>
            <a:r>
              <a:rPr lang="zh-CN" altLang="en-US" b="1">
                <a:solidFill>
                  <a:srgbClr val="C00000"/>
                </a:solidFill>
              </a:rPr>
              <a:t>使用类似等值演算过程简记上述真值计算过程</a:t>
            </a:r>
          </a:p>
        </p:txBody>
      </p:sp>
      <p:sp>
        <p:nvSpPr>
          <p:cNvPr id="29" name="箭头: 右 28"/>
          <p:cNvSpPr/>
          <p:nvPr/>
        </p:nvSpPr>
        <p:spPr>
          <a:xfrm>
            <a:off x="2282705" y="5650859"/>
            <a:ext cx="385860" cy="855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 name="文本框 29"/>
              <p:cNvSpPr txBox="1"/>
              <p:nvPr/>
            </p:nvSpPr>
            <p:spPr>
              <a:xfrm>
                <a:off x="8500469" y="5090049"/>
                <a:ext cx="2769513" cy="646331"/>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b="1" i="1">
                        <a:solidFill>
                          <a:schemeClr val="accent2">
                            <a:lumMod val="50000"/>
                          </a:schemeClr>
                        </a:solidFill>
                        <a:latin typeface="Cambria Math" panose="02040503050406030204" pitchFamily="18" charset="0"/>
                        <a:ea typeface="Cambria Math" panose="02040503050406030204" pitchFamily="18" charset="0"/>
                      </a:rPr>
                      <m:t>∴</m:t>
                    </m:r>
                  </m:oMath>
                </a14:m>
                <a:r>
                  <a:rPr lang="zh-CN" altLang="en-US">
                    <a:solidFill>
                      <a:schemeClr val="accent2">
                        <a:lumMod val="50000"/>
                      </a:schemeClr>
                    </a:solidFill>
                    <a:latin typeface="黑体" panose="02010609060101010101" pitchFamily="49" charset="-122"/>
                    <a:ea typeface="黑体" panose="02010609060101010101" pitchFamily="49" charset="-122"/>
                  </a:rPr>
                  <a:t> 公式</a:t>
                </a:r>
                <a14:m>
                  <m:oMath xmlns:m="http://schemas.openxmlformats.org/officeDocument/2006/math">
                    <m:r>
                      <a:rPr lang="en-US" altLang="zh-CN" i="1" smtClean="0">
                        <a:solidFill>
                          <a:schemeClr val="accent2">
                            <a:lumMod val="50000"/>
                          </a:schemeClr>
                        </a:solidFill>
                        <a:latin typeface="Cambria Math" panose="02040503050406030204" pitchFamily="18" charset="0"/>
                        <a:ea typeface="黑体" panose="02010609060101010101" pitchFamily="49" charset="-122"/>
                      </a:rPr>
                      <m:t>𝐴</m:t>
                    </m:r>
                  </m:oMath>
                </a14:m>
                <a:r>
                  <a:rPr lang="zh-CN" altLang="en-US">
                    <a:solidFill>
                      <a:schemeClr val="accent2">
                        <a:lumMod val="50000"/>
                      </a:schemeClr>
                    </a:solidFill>
                    <a:latin typeface="黑体" panose="02010609060101010101" pitchFamily="49" charset="-122"/>
                    <a:ea typeface="黑体" panose="02010609060101010101" pitchFamily="49" charset="-122"/>
                  </a:rPr>
                  <a:t>在上述解释和指派函数</a:t>
                </a:r>
                <a14:m>
                  <m:oMath xmlns:m="http://schemas.openxmlformats.org/officeDocument/2006/math">
                    <m:r>
                      <a:rPr lang="en-US" altLang="zh-CN" i="1" smtClean="0">
                        <a:solidFill>
                          <a:schemeClr val="accent2">
                            <a:lumMod val="50000"/>
                          </a:schemeClr>
                        </a:solidFill>
                        <a:latin typeface="Cambria Math" panose="02040503050406030204" pitchFamily="18" charset="0"/>
                        <a:ea typeface="黑体" panose="02010609060101010101" pitchFamily="49" charset="-122"/>
                      </a:rPr>
                      <m:t>𝜎</m:t>
                    </m:r>
                  </m:oMath>
                </a14:m>
                <a:r>
                  <a:rPr lang="zh-CN" altLang="en-US">
                    <a:solidFill>
                      <a:schemeClr val="accent2">
                        <a:lumMod val="50000"/>
                      </a:schemeClr>
                    </a:solidFill>
                    <a:latin typeface="黑体" panose="02010609060101010101" pitchFamily="49" charset="-122"/>
                    <a:ea typeface="黑体" panose="02010609060101010101" pitchFamily="49" charset="-122"/>
                  </a:rPr>
                  <a:t>下的真值为</a:t>
                </a:r>
                <a14:m>
                  <m:oMath xmlns:m="http://schemas.openxmlformats.org/officeDocument/2006/math">
                    <m:r>
                      <a:rPr lang="en-US" altLang="zh-CN" i="1" smtClean="0">
                        <a:solidFill>
                          <a:schemeClr val="accent2">
                            <a:lumMod val="50000"/>
                          </a:schemeClr>
                        </a:solidFill>
                        <a:latin typeface="Cambria Math" panose="02040503050406030204" pitchFamily="18" charset="0"/>
                        <a:ea typeface="黑体" panose="02010609060101010101" pitchFamily="49" charset="-122"/>
                      </a:rPr>
                      <m:t>0</m:t>
                    </m:r>
                  </m:oMath>
                </a14:m>
                <a:r>
                  <a:rPr lang="en-US" altLang="zh-CN">
                    <a:solidFill>
                      <a:schemeClr val="accent2">
                        <a:lumMod val="50000"/>
                      </a:schemeClr>
                    </a:solidFill>
                    <a:latin typeface="黑体" panose="02010609060101010101" pitchFamily="49" charset="-122"/>
                    <a:ea typeface="黑体" panose="02010609060101010101" pitchFamily="49" charset="-122"/>
                  </a:rPr>
                  <a:t>(</a:t>
                </a:r>
                <a:r>
                  <a:rPr lang="zh-CN" altLang="en-US">
                    <a:solidFill>
                      <a:schemeClr val="accent2">
                        <a:lumMod val="50000"/>
                      </a:schemeClr>
                    </a:solidFill>
                    <a:latin typeface="黑体" panose="02010609060101010101" pitchFamily="49" charset="-122"/>
                    <a:ea typeface="黑体" panose="02010609060101010101" pitchFamily="49" charset="-122"/>
                  </a:rPr>
                  <a:t>假</a:t>
                </a:r>
                <a:r>
                  <a:rPr lang="en-US" altLang="zh-CN">
                    <a:solidFill>
                      <a:schemeClr val="accent2">
                        <a:lumMod val="50000"/>
                      </a:schemeClr>
                    </a:solidFill>
                    <a:latin typeface="黑体" panose="02010609060101010101" pitchFamily="49" charset="-122"/>
                    <a:ea typeface="黑体" panose="02010609060101010101" pitchFamily="49" charset="-122"/>
                  </a:rPr>
                  <a:t>)</a:t>
                </a:r>
                <a:endParaRPr lang="zh-CN" altLang="en-US">
                  <a:solidFill>
                    <a:schemeClr val="accent2">
                      <a:lumMod val="50000"/>
                    </a:schemeClr>
                  </a:solidFill>
                  <a:latin typeface="黑体" panose="02010609060101010101" pitchFamily="49" charset="-122"/>
                  <a:ea typeface="黑体" panose="02010609060101010101" pitchFamily="49" charset="-122"/>
                </a:endParaRPr>
              </a:p>
            </p:txBody>
          </p:sp>
        </mc:Choice>
        <mc:Fallback xmlns="">
          <p:sp>
            <p:nvSpPr>
              <p:cNvPr id="30" name="文本框 29"/>
              <p:cNvSpPr txBox="1">
                <a:spLocks noRot="1" noChangeAspect="1" noMove="1" noResize="1" noEditPoints="1" noAdjustHandles="1" noChangeArrowheads="1" noChangeShapeType="1" noTextEdit="1"/>
              </p:cNvSpPr>
              <p:nvPr/>
            </p:nvSpPr>
            <p:spPr>
              <a:xfrm>
                <a:off x="8500469" y="5090049"/>
                <a:ext cx="2769513" cy="646331"/>
              </a:xfrm>
              <a:prstGeom prst="rect">
                <a:avLst/>
              </a:prstGeom>
              <a:blipFill rotWithShape="1">
                <a:blip r:embed="rId11"/>
                <a:stretch>
                  <a:fillRect l="-13" t="-81" b="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p:cNvSpPr txBox="1"/>
              <p:nvPr/>
            </p:nvSpPr>
            <p:spPr>
              <a:xfrm>
                <a:off x="7842242" y="5867613"/>
                <a:ext cx="4085968" cy="369332"/>
              </a:xfrm>
              <a:prstGeom prst="rect">
                <a:avLst/>
              </a:prstGeom>
              <a:solidFill>
                <a:schemeClr val="accent2">
                  <a:lumMod val="20000"/>
                  <a:lumOff val="80000"/>
                </a:schemeClr>
              </a:solidFill>
            </p:spPr>
            <p:txBody>
              <a:bodyPr wrap="square" rtlCol="0">
                <a:spAutoFit/>
              </a:bodyPr>
              <a:lstStyle/>
              <a:p>
                <a:r>
                  <a:rPr lang="zh-CN" altLang="en-US" b="1">
                    <a:solidFill>
                      <a:srgbClr val="002060"/>
                    </a:solidFill>
                  </a:rPr>
                  <a:t>公式</a:t>
                </a:r>
                <a14:m>
                  <m:oMath xmlns:m="http://schemas.openxmlformats.org/officeDocument/2006/math">
                    <m:r>
                      <a:rPr lang="en-US" altLang="zh-CN" b="1" i="1" smtClean="0">
                        <a:solidFill>
                          <a:srgbClr val="002060"/>
                        </a:solidFill>
                        <a:latin typeface="Cambria Math" panose="02040503050406030204" pitchFamily="18" charset="0"/>
                      </a:rPr>
                      <m:t>𝑨</m:t>
                    </m:r>
                  </m:oMath>
                </a14:m>
                <a:r>
                  <a:rPr lang="zh-CN" altLang="en-US" b="1">
                    <a:solidFill>
                      <a:srgbClr val="002060"/>
                    </a:solidFill>
                  </a:rPr>
                  <a:t>有自由变量</a:t>
                </a:r>
                <a14:m>
                  <m:oMath xmlns:m="http://schemas.openxmlformats.org/officeDocument/2006/math">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oMath>
                </a14:m>
                <a:r>
                  <a:rPr lang="zh-CN" altLang="en-US" b="1">
                    <a:solidFill>
                      <a:srgbClr val="002060"/>
                    </a:solidFill>
                  </a:rPr>
                  <a:t>，因此与</a:t>
                </a:r>
                <a14:m>
                  <m:oMath xmlns:m="http://schemas.openxmlformats.org/officeDocument/2006/math">
                    <m:r>
                      <a:rPr lang="en-US" altLang="zh-CN" b="1" i="1" smtClean="0">
                        <a:solidFill>
                          <a:srgbClr val="002060"/>
                        </a:solidFill>
                        <a:latin typeface="Cambria Math" panose="02040503050406030204" pitchFamily="18" charset="0"/>
                      </a:rPr>
                      <m:t>𝝈</m:t>
                    </m:r>
                  </m:oMath>
                </a14:m>
                <a:r>
                  <a:rPr lang="zh-CN" altLang="en-US" b="1">
                    <a:solidFill>
                      <a:srgbClr val="002060"/>
                    </a:solidFill>
                  </a:rPr>
                  <a:t>有关！</a:t>
                </a:r>
              </a:p>
            </p:txBody>
          </p:sp>
        </mc:Choice>
        <mc:Fallback xmlns="">
          <p:sp>
            <p:nvSpPr>
              <p:cNvPr id="31" name="文本框 30"/>
              <p:cNvSpPr txBox="1">
                <a:spLocks noRot="1" noChangeAspect="1" noMove="1" noResize="1" noEditPoints="1" noAdjustHandles="1" noChangeArrowheads="1" noChangeShapeType="1" noTextEdit="1"/>
              </p:cNvSpPr>
              <p:nvPr/>
            </p:nvSpPr>
            <p:spPr>
              <a:xfrm>
                <a:off x="7842242" y="5867613"/>
                <a:ext cx="4085968" cy="369332"/>
              </a:xfrm>
              <a:prstGeom prst="rect">
                <a:avLst/>
              </a:prstGeom>
              <a:blipFill rotWithShape="1">
                <a:blip r:embed="rId12"/>
                <a:stretch>
                  <a:fillRect l="-15" t="-58" r="9" b="165"/>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一阶逻辑公式真值的计算</a:t>
            </a:r>
          </a:p>
        </p:txBody>
      </p:sp>
      <mc:AlternateContent xmlns:mc="http://schemas.openxmlformats.org/markup-compatibility/2006" xmlns:a14="http://schemas.microsoft.com/office/drawing/2010/main">
        <mc:Choice Requires="a14">
          <p:sp>
            <p:nvSpPr>
              <p:cNvPr id="2" name="文本框 1"/>
              <p:cNvSpPr txBox="1"/>
              <p:nvPr/>
            </p:nvSpPr>
            <p:spPr>
              <a:xfrm>
                <a:off x="1234548" y="1120676"/>
                <a:ext cx="9722902" cy="2308324"/>
              </a:xfrm>
              <a:prstGeom prst="rect">
                <a:avLst/>
              </a:prstGeom>
              <a:solidFill>
                <a:schemeClr val="accent4">
                  <a:lumMod val="20000"/>
                  <a:lumOff val="80000"/>
                  <a:alpha val="50000"/>
                </a:schemeClr>
              </a:solidFill>
            </p:spPr>
            <p:txBody>
              <a:bodyPr wrap="square" rtlCol="0">
                <a:spAutoFit/>
              </a:bodyPr>
              <a:lstStyle/>
              <a:p>
                <a:pPr algn="ctr">
                  <a:spcAft>
                    <a:spcPts val="600"/>
                  </a:spcAft>
                </a:pPr>
                <a:r>
                  <a:rPr lang="zh-CN" altLang="en-US" sz="2400" b="1">
                    <a:solidFill>
                      <a:srgbClr val="C00000"/>
                    </a:solidFill>
                  </a:rPr>
                  <a:t>量词公式在有限论域的展开</a:t>
                </a:r>
                <a:endParaRPr lang="en-US" altLang="zh-CN" sz="24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当给定的解释的论域</a:t>
                </a:r>
                <a14:m>
                  <m:oMath xmlns:m="http://schemas.openxmlformats.org/officeDocument/2006/math">
                    <m:r>
                      <a:rPr lang="en-US" altLang="zh-CN" sz="2000" b="1" i="1" smtClean="0">
                        <a:solidFill>
                          <a:srgbClr val="002060"/>
                        </a:solidFill>
                        <a:latin typeface="Cambria Math" panose="02040503050406030204" pitchFamily="18" charset="0"/>
                      </a:rPr>
                      <m:t>𝑫</m:t>
                    </m:r>
                  </m:oMath>
                </a14:m>
                <a:r>
                  <a:rPr lang="zh-CN" altLang="en-US" sz="2000" b="1">
                    <a:solidFill>
                      <a:srgbClr val="002060"/>
                    </a:solidFill>
                    <a:latin typeface="楷体" panose="02010609060101010101" pitchFamily="49" charset="-122"/>
                    <a:ea typeface="楷体" panose="02010609060101010101" pitchFamily="49" charset="-122"/>
                  </a:rPr>
                  <a:t>是有限集</a:t>
                </a:r>
                <a14:m>
                  <m:oMath xmlns:m="http://schemas.openxmlformats.org/officeDocument/2006/math">
                    <m:d>
                      <m:dPr>
                        <m:begChr m:val="{"/>
                        <m:endChr m:val="}"/>
                        <m:ctrlPr>
                          <a:rPr lang="en-US" altLang="zh-CN" sz="2000" b="1" i="1" smtClean="0">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𝒏</m:t>
                            </m:r>
                          </m:sub>
                        </m:sSub>
                      </m:e>
                    </m:d>
                  </m:oMath>
                </a14:m>
                <a:r>
                  <a:rPr lang="zh-CN" altLang="en-US" sz="2000" b="1">
                    <a:solidFill>
                      <a:srgbClr val="002060"/>
                    </a:solidFill>
                    <a:latin typeface="楷体" panose="02010609060101010101" pitchFamily="49" charset="-122"/>
                    <a:ea typeface="楷体" panose="02010609060101010101" pitchFamily="49" charset="-122"/>
                  </a:rPr>
                  <a:t>时</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全称量词公式</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𝒙𝑨</m:t>
                    </m:r>
                    <m:d>
                      <m:dPr>
                        <m:ctrlPr>
                          <a:rPr lang="en-US" altLang="zh-CN" sz="2000" b="1" i="1">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e>
                    </m:d>
                  </m:oMath>
                </a14:m>
                <a:r>
                  <a:rPr lang="zh-CN" altLang="en-US" sz="2000" b="1">
                    <a:solidFill>
                      <a:srgbClr val="C00000"/>
                    </a:solidFill>
                  </a:rPr>
                  <a:t>的真值等于</a:t>
                </a:r>
                <a14:m>
                  <m:oMath xmlns:m="http://schemas.openxmlformats.org/officeDocument/2006/math">
                    <m:r>
                      <a:rPr lang="en-US" altLang="zh-CN" sz="2000" b="1" i="1" smtClean="0">
                        <a:solidFill>
                          <a:srgbClr val="C00000"/>
                        </a:solidFill>
                        <a:latin typeface="Cambria Math" panose="02040503050406030204" pitchFamily="18" charset="0"/>
                      </a:rPr>
                      <m:t>𝑨</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d>
                      <m:dPr>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d>
                      <m:dPr>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e>
                    </m:d>
                  </m:oMath>
                </a14:m>
                <a:r>
                  <a:rPr lang="zh-CN" altLang="en-US" sz="2000" b="1">
                    <a:solidFill>
                      <a:srgbClr val="C00000"/>
                    </a:solidFill>
                  </a:rPr>
                  <a:t>的真值</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存在量词公式</a:t>
                </a: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𝒙𝑨</m:t>
                    </m:r>
                    <m:d>
                      <m:dPr>
                        <m:ctrlPr>
                          <a:rPr lang="en-US" altLang="zh-CN" sz="2000" b="1" i="1">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e>
                    </m:d>
                  </m:oMath>
                </a14:m>
                <a:r>
                  <a:rPr lang="zh-CN" altLang="en-US" sz="2000" b="1">
                    <a:solidFill>
                      <a:srgbClr val="C00000"/>
                    </a:solidFill>
                  </a:rPr>
                  <a:t>的真值等于</a:t>
                </a:r>
                <a14:m>
                  <m:oMath xmlns:m="http://schemas.openxmlformats.org/officeDocument/2006/math">
                    <m:r>
                      <a:rPr lang="en-US" altLang="zh-CN" sz="2000" b="1" i="1" smtClean="0">
                        <a:solidFill>
                          <a:srgbClr val="C00000"/>
                        </a:solidFill>
                        <a:latin typeface="Cambria Math" panose="02040503050406030204" pitchFamily="18" charset="0"/>
                      </a:rPr>
                      <m:t>𝑨</m:t>
                    </m:r>
                    <m:d>
                      <m:dPr>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d>
                      <m:dPr>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d>
                      <m:dPr>
                        <m:ctrlPr>
                          <a:rPr lang="en-US" altLang="zh-CN" sz="2000" b="1" i="1">
                            <a:solidFill>
                              <a:srgbClr val="C00000"/>
                            </a:solidFill>
                            <a:latin typeface="Cambria Math" panose="02040503050406030204" pitchFamily="18" charset="0"/>
                          </a:rPr>
                        </m:ctrlPr>
                      </m:dPr>
                      <m:e>
                        <m:sSub>
                          <m:sSubPr>
                            <m:ctrlPr>
                              <a:rPr lang="en-US" altLang="zh-CN" sz="2000" b="1" i="1">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𝒏</m:t>
                            </m:r>
                          </m:sub>
                        </m:sSub>
                      </m:e>
                    </m:d>
                  </m:oMath>
                </a14:m>
                <a:r>
                  <a:rPr lang="zh-CN" altLang="en-US" sz="2000" b="1">
                    <a:solidFill>
                      <a:srgbClr val="C00000"/>
                    </a:solidFill>
                  </a:rPr>
                  <a:t>的真值</a:t>
                </a:r>
              </a:p>
              <a:p>
                <a:pPr marL="800100" lvl="1"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d>
                      <m:dPr>
                        <m:ctrlPr>
                          <a:rPr lang="en-US" altLang="zh-CN" sz="2000" b="1" i="1" smtClean="0">
                            <a:solidFill>
                              <a:schemeClr val="accent6">
                                <a:lumMod val="50000"/>
                              </a:schemeClr>
                            </a:solidFill>
                            <a:latin typeface="Cambria Math" panose="02040503050406030204" pitchFamily="18" charset="0"/>
                          </a:rPr>
                        </m:ctrlPr>
                      </m:dPr>
                      <m:e>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𝒊</m:t>
                            </m:r>
                          </m:sub>
                        </m:sSub>
                      </m:e>
                    </m:d>
                  </m:oMath>
                </a14:m>
                <a:r>
                  <a:rPr lang="zh-CN" altLang="en-US" sz="2000" b="1">
                    <a:solidFill>
                      <a:schemeClr val="accent6">
                        <a:lumMod val="50000"/>
                      </a:schemeClr>
                    </a:solidFill>
                    <a:latin typeface="宋体" panose="02010600030101010101" pitchFamily="2" charset="-122"/>
                    <a:ea typeface="宋体" panose="02010600030101010101" pitchFamily="2" charset="-122"/>
                  </a:rPr>
                  <a:t>是用论域元素</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𝒂</m:t>
                        </m:r>
                      </m:e>
                      <m:sub>
                        <m:r>
                          <a:rPr lang="en-US" altLang="zh-CN" sz="2000" b="1" i="1" smtClean="0">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latin typeface="宋体" panose="02010600030101010101" pitchFamily="2" charset="-122"/>
                    <a:ea typeface="宋体" panose="02010600030101010101" pitchFamily="2" charset="-122"/>
                  </a:rPr>
                  <a:t>替换</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𝒙</m:t>
                        </m:r>
                      </m:e>
                    </m:d>
                  </m:oMath>
                </a14:m>
                <a:r>
                  <a:rPr lang="zh-CN" altLang="en-US" sz="2000" b="1">
                    <a:solidFill>
                      <a:schemeClr val="accent6">
                        <a:lumMod val="50000"/>
                      </a:schemeClr>
                    </a:solidFill>
                    <a:latin typeface="宋体" panose="02010600030101010101" pitchFamily="2" charset="-122"/>
                    <a:ea typeface="宋体" panose="02010600030101010101" pitchFamily="2" charset="-122"/>
                  </a:rPr>
                  <a:t>中个体变量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宋体" panose="02010600030101010101" pitchFamily="2" charset="-122"/>
                    <a:ea typeface="宋体" panose="02010600030101010101" pitchFamily="2" charset="-122"/>
                  </a:rPr>
                  <a:t>的每一处自由出现得到的简记公式</a:t>
                </a:r>
              </a:p>
            </p:txBody>
          </p:sp>
        </mc:Choice>
        <mc:Fallback xmlns="">
          <p:sp>
            <p:nvSpPr>
              <p:cNvPr id="2" name="文本框 1"/>
              <p:cNvSpPr txBox="1">
                <a:spLocks noRot="1" noChangeAspect="1" noMove="1" noResize="1" noEditPoints="1" noAdjustHandles="1" noChangeArrowheads="1" noChangeShapeType="1" noTextEdit="1"/>
              </p:cNvSpPr>
              <p:nvPr/>
            </p:nvSpPr>
            <p:spPr>
              <a:xfrm>
                <a:off x="1234548" y="1120676"/>
                <a:ext cx="9722902" cy="2308324"/>
              </a:xfrm>
              <a:prstGeom prst="rect">
                <a:avLst/>
              </a:prstGeom>
              <a:blipFill rotWithShape="1">
                <a:blip r:embed="rId2"/>
                <a:stretch>
                  <a:fillRect l="-1" t="-23" r="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855603" y="3612653"/>
                <a:ext cx="10480792" cy="2577629"/>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300"/>
                  </a:spcAft>
                </a:pPr>
                <a:r>
                  <a:rPr lang="zh-CN" altLang="en-US" sz="2400" b="1">
                    <a:solidFill>
                      <a:srgbClr val="C00000"/>
                    </a:solidFill>
                  </a:rPr>
                  <a:t>个体变量指派函数只用于指派自由变量的值</a:t>
                </a:r>
                <a:endParaRPr lang="en-US" altLang="zh-CN" sz="2400" b="1">
                  <a:solidFill>
                    <a:srgbClr val="C00000"/>
                  </a:solidFill>
                </a:endParaRP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在给定解释和个体变量指派函数</a:t>
                </a:r>
                <a14:m>
                  <m:oMath xmlns:m="http://schemas.openxmlformats.org/officeDocument/2006/math">
                    <m:r>
                      <a:rPr lang="en-US" altLang="zh-CN" sz="2000" b="1" i="1" smtClean="0">
                        <a:solidFill>
                          <a:srgbClr val="002060"/>
                        </a:solidFill>
                        <a:latin typeface="Cambria Math" panose="02040503050406030204" pitchFamily="18" charset="0"/>
                      </a:rPr>
                      <m:t>𝝈</m:t>
                    </m:r>
                  </m:oMath>
                </a14:m>
                <a:r>
                  <a:rPr lang="zh-CN" altLang="en-US" sz="2000" b="1">
                    <a:solidFill>
                      <a:srgbClr val="002060"/>
                    </a:solidFill>
                    <a:latin typeface="楷体" panose="02010609060101010101" pitchFamily="49" charset="-122"/>
                    <a:ea typeface="楷体" panose="02010609060101010101" pitchFamily="49" charset="-122"/>
                  </a:rPr>
                  <a:t>下的真值与</a:t>
                </a:r>
                <a14:m>
                  <m:oMath xmlns:m="http://schemas.openxmlformats.org/officeDocument/2006/math">
                    <m:r>
                      <a:rPr lang="en-US" altLang="zh-CN" sz="2000" b="1" i="1" smtClean="0">
                        <a:solidFill>
                          <a:srgbClr val="002060"/>
                        </a:solidFill>
                        <a:latin typeface="Cambria Math" panose="02040503050406030204" pitchFamily="18" charset="0"/>
                      </a:rPr>
                      <m:t>𝝈</m:t>
                    </m:r>
                  </m:oMath>
                </a14:m>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中约束变量的指派无关</a:t>
                </a:r>
              </a:p>
              <a:p>
                <a:pPr marL="800100" lvl="1"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个体变量指派函数用于确定公式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oMath>
                </a14:m>
                <a:r>
                  <a:rPr lang="zh-CN" altLang="en-US" sz="2000" b="1">
                    <a:solidFill>
                      <a:schemeClr val="accent6">
                        <a:lumMod val="50000"/>
                      </a:schemeClr>
                    </a:solidFill>
                    <a:latin typeface="宋体" panose="02010600030101010101" pitchFamily="2" charset="-122"/>
                    <a:ea typeface="宋体" panose="02010600030101010101" pitchFamily="2" charset="-122"/>
                  </a:rPr>
                  <a:t>中自由变量被指派为论域的哪个元素</a:t>
                </a:r>
              </a:p>
              <a:p>
                <a:pPr marL="800100" lvl="1"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在确定闭公式（即不含自由变量的公式）的真值时不需要个体变量指派函数</a:t>
                </a:r>
              </a:p>
              <a:p>
                <a:pPr marL="342900" indent="-342900">
                  <a:spcBef>
                    <a:spcPts val="600"/>
                  </a:spcBef>
                  <a:spcAft>
                    <a:spcPts val="3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对公式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使用约束变量改名规则得到的公式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r>
                      <a:rPr lang="en-US" altLang="zh-CN" sz="2000" b="1">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总与公式</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𝑨</m:t>
                    </m:r>
                  </m:oMath>
                </a14:m>
                <a:r>
                  <a:rPr lang="zh-CN" altLang="en-US" sz="2000" b="1">
                    <a:solidFill>
                      <a:srgbClr val="002060"/>
                    </a:solidFill>
                    <a:latin typeface="楷体" panose="02010609060101010101" pitchFamily="49" charset="-122"/>
                    <a:ea typeface="楷体" panose="02010609060101010101" pitchFamily="49" charset="-122"/>
                  </a:rPr>
                  <a:t>有相同的真值</a:t>
                </a:r>
              </a:p>
              <a:p>
                <a:pPr marL="800100" lvl="1" indent="-342900">
                  <a:spcBef>
                    <a:spcPts val="600"/>
                  </a:spcBef>
                  <a:spcAft>
                    <a:spcPts val="3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也即对任意解释和任意个体变量指派函数，使用</a:t>
                </a:r>
                <a:r>
                  <a:rPr lang="zh-CN" altLang="en-US" sz="2000" b="1">
                    <a:solidFill>
                      <a:srgbClr val="C00000"/>
                    </a:solidFill>
                    <a:latin typeface="黑体" panose="02010609060101010101" pitchFamily="49" charset="-122"/>
                    <a:ea typeface="黑体" panose="02010609060101010101" pitchFamily="49" charset="-122"/>
                  </a:rPr>
                  <a:t>约束变量改名规则不改变公式的真值</a:t>
                </a:r>
              </a:p>
            </p:txBody>
          </p:sp>
        </mc:Choice>
        <mc:Fallback xmlns="">
          <p:sp>
            <p:nvSpPr>
              <p:cNvPr id="3" name="文本框 2"/>
              <p:cNvSpPr txBox="1">
                <a:spLocks noRot="1" noChangeAspect="1" noMove="1" noResize="1" noEditPoints="1" noAdjustHandles="1" noChangeArrowheads="1" noChangeShapeType="1" noTextEdit="1"/>
              </p:cNvSpPr>
              <p:nvPr/>
            </p:nvSpPr>
            <p:spPr>
              <a:xfrm>
                <a:off x="855603" y="3612653"/>
                <a:ext cx="10480792" cy="2577629"/>
              </a:xfrm>
              <a:prstGeom prst="rect">
                <a:avLst/>
              </a:prstGeom>
              <a:blipFill rotWithShape="1">
                <a:blip r:embed="rId3"/>
                <a:stretch>
                  <a:fillRect l="-2" t="-5" r="4" b="12"/>
                </a:stretch>
              </a:blipFill>
            </p:spPr>
            <p:txBody>
              <a:bodyPr/>
              <a:lstStyle/>
              <a:p>
                <a:r>
                  <a:rPr lang="zh-CN" altLang="en-US">
                    <a:noFill/>
                  </a:rPr>
                  <a:t> </a:t>
                </a:r>
              </a:p>
            </p:txBody>
          </p:sp>
        </mc:Fallback>
      </mc:AlternateContent>
      <p:sp>
        <p:nvSpPr>
          <p:cNvPr id="4" name="文本框 3"/>
          <p:cNvSpPr txBox="1"/>
          <p:nvPr/>
        </p:nvSpPr>
        <p:spPr>
          <a:xfrm>
            <a:off x="8091453" y="1344883"/>
            <a:ext cx="3447091"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在有限论域，全称量词展开为合取式，存在量词展开为析取式！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p>
        </p:txBody>
      </p:sp>
      <mc:AlternateContent xmlns:mc="http://schemas.openxmlformats.org/markup-compatibility/2006" xmlns:a14="http://schemas.microsoft.com/office/drawing/2010/main">
        <mc:Choice Requires="a14">
          <p:sp>
            <p:nvSpPr>
              <p:cNvPr id="11" name="文本框 10"/>
              <p:cNvSpPr txBox="1"/>
              <p:nvPr/>
            </p:nvSpPr>
            <p:spPr>
              <a:xfrm>
                <a:off x="1276985" y="1431925"/>
                <a:ext cx="9184005" cy="92202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400" b="1">
                    <a:solidFill>
                      <a:srgbClr val="C00000"/>
                    </a:solidFill>
                  </a:rPr>
                  <a:t>给定下面的解释和个体变量指派函数</a:t>
                </a:r>
                <a:endParaRPr lang="en-US" altLang="zh-CN" sz="2400" b="1">
                  <a:solidFill>
                    <a:srgbClr val="C00000"/>
                  </a:solidFill>
                </a:endParaRPr>
              </a:p>
              <a:p>
                <a:pPr marL="285750" indent="-285750">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论域</a:t>
                </a:r>
                <a:r>
                  <a:rPr lang="zh-CN" altLang="en-US" sz="2000"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sz="2000" b="1" i="1" smtClean="0">
                        <a:solidFill>
                          <a:srgbClr val="002060"/>
                        </a:solidFill>
                        <a:latin typeface="Cambria Math" panose="02040503050406030204" pitchFamily="18" charset="0"/>
                      </a:rPr>
                      <m:t>𝑫</m:t>
                    </m:r>
                    <m:r>
                      <a:rPr lang="en-US" altLang="zh-CN" sz="2000" b="1" i="1">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𝒂</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𝒃</m:t>
                        </m:r>
                      </m:e>
                    </m:d>
                  </m:oMath>
                </a14:m>
                <a:r>
                  <a:rPr lang="en-US" altLang="zh-CN" sz="2000" b="1">
                    <a:solidFill>
                      <a:srgbClr val="002060"/>
                    </a:solidFill>
                    <a:latin typeface="楷体" panose="02010609060101010101" pitchFamily="49" charset="-122"/>
                    <a:ea typeface="楷体" panose="02010609060101010101" pitchFamily="49" charset="-122"/>
                  </a:rPr>
                  <a:t>,</a:t>
                </a:r>
                <a:r>
                  <a:rPr lang="zh-CN" altLang="en-US" sz="2000" b="1">
                    <a:solidFill>
                      <a:srgbClr val="002060"/>
                    </a:solidFill>
                    <a:latin typeface="楷体" panose="02010609060101010101" pitchFamily="49" charset="-122"/>
                    <a:ea typeface="楷体" panose="02010609060101010101" pitchFamily="49" charset="-122"/>
                  </a:rPr>
                  <a:t>二元谓词</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𝑭</m:t>
                    </m:r>
                  </m:oMath>
                </a14:m>
                <a:r>
                  <a:rPr lang="zh-CN" altLang="en-US" sz="2000" b="1">
                    <a:solidFill>
                      <a:srgbClr val="002060"/>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𝑭</m:t>
                        </m:r>
                      </m:e>
                    </m:d>
                    <m:r>
                      <a:rPr lang="en-US" altLang="zh-CN" sz="2000" b="1" i="1">
                        <a:solidFill>
                          <a:srgbClr val="002060"/>
                        </a:solidFill>
                        <a:latin typeface="Cambria Math" panose="02040503050406030204" pitchFamily="18" charset="0"/>
                      </a:rPr>
                      <m:t>=</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𝒂</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𝒃</m:t>
                    </m:r>
                    <m:r>
                      <m:rPr>
                        <m:lit/>
                      </m:rP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𝒃</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𝒂</m:t>
                    </m:r>
                    <m:r>
                      <m:rPr>
                        <m:lit/>
                      </m:rPr>
                      <a:rPr lang="en-US" altLang="zh-CN" sz="2000" b="1" i="1">
                        <a:solidFill>
                          <a:srgbClr val="002060"/>
                        </a:solidFill>
                        <a:latin typeface="Cambria Math" panose="02040503050406030204" pitchFamily="18" charset="0"/>
                      </a:rPr>
                      <m:t>⟩</m:t>
                    </m:r>
                    <m:r>
                      <m:rPr>
                        <m:lit/>
                      </m:rP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𝑫</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𝑫</m:t>
                    </m:r>
                  </m:oMath>
                </a14:m>
                <a:endParaRPr lang="en-US" altLang="zh-CN" sz="2000" b="1" i="1">
                  <a:solidFill>
                    <a:srgbClr val="002060"/>
                  </a:solidFill>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1276985" y="1431925"/>
                <a:ext cx="9184005" cy="922020"/>
              </a:xfrm>
              <a:prstGeom prst="rect">
                <a:avLst/>
              </a:prstGeom>
              <a:blipFill rotWithShape="1">
                <a:blip r:embed="rId2"/>
                <a:stretch>
                  <a:fillRect l="-69" t="-689" r="-69" b="-689"/>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4053017" y="2723465"/>
                <a:ext cx="4085968" cy="2309671"/>
              </a:xfrm>
              <a:prstGeom prst="rect">
                <a:avLst/>
              </a:prstGeom>
              <a:solidFill>
                <a:schemeClr val="accent6">
                  <a:lumMod val="20000"/>
                  <a:lumOff val="80000"/>
                  <a:alpha val="50000"/>
                </a:schemeClr>
              </a:solidFill>
            </p:spPr>
            <p:txBody>
              <a:bodyPr wrap="square" rtlCol="0">
                <a:spAutoFit/>
              </a:bodyPr>
              <a:lstStyle/>
              <a:p>
                <a:pPr>
                  <a:spcBef>
                    <a:spcPts val="600"/>
                  </a:spcBef>
                  <a:spcAft>
                    <a:spcPts val="1200"/>
                  </a:spcAft>
                </a:pPr>
                <a:r>
                  <a:rPr lang="zh-CN" altLang="en-US" sz="2400" b="1">
                    <a:solidFill>
                      <a:srgbClr val="002060"/>
                    </a:solidFill>
                  </a:rPr>
                  <a:t>确定下面公式的真值：</a:t>
                </a:r>
                <a:endParaRPr lang="en-US" altLang="zh-CN" sz="2400" b="1">
                  <a:solidFill>
                    <a:srgbClr val="002060"/>
                  </a:solidFill>
                </a:endParaRPr>
              </a:p>
              <a:p>
                <a:pPr marL="457200" indent="-457200">
                  <a:spcBef>
                    <a:spcPts val="600"/>
                  </a:spcBef>
                  <a:spcAft>
                    <a:spcPts val="12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oMath>
                </a14:m>
                <a:endParaRPr lang="en-US" altLang="zh-CN" sz="2400" b="1">
                  <a:solidFill>
                    <a:schemeClr val="accent2">
                      <a:lumMod val="50000"/>
                    </a:schemeClr>
                  </a:solidFill>
                </a:endParaRPr>
              </a:p>
              <a:p>
                <a:pPr marL="457200" indent="-457200">
                  <a:spcBef>
                    <a:spcPts val="600"/>
                  </a:spcBef>
                  <a:spcAft>
                    <a:spcPts val="12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oMath>
                </a14:m>
                <a:endParaRPr lang="en-US" altLang="zh-CN" sz="2400" b="1">
                  <a:solidFill>
                    <a:schemeClr val="accent2">
                      <a:lumMod val="50000"/>
                    </a:schemeClr>
                  </a:solidFill>
                </a:endParaRPr>
              </a:p>
              <a:p>
                <a:pPr marL="457200" indent="-457200">
                  <a:spcBef>
                    <a:spcPts val="600"/>
                  </a:spcBef>
                  <a:spcAft>
                    <a:spcPts val="1200"/>
                  </a:spcAft>
                  <a:buFont typeface="+mj-lt"/>
                  <a:buAutoNum type="arabicPeriod"/>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𝒚</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e>
                        </m:d>
                      </m:e>
                    </m:d>
                  </m:oMath>
                </a14:m>
                <a:endParaRPr lang="zh-CN" altLang="en-US" sz="2400" b="1">
                  <a:solidFill>
                    <a:srgbClr val="002060"/>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053017" y="2723465"/>
                <a:ext cx="4085968" cy="2309671"/>
              </a:xfrm>
              <a:prstGeom prst="rect">
                <a:avLst/>
              </a:prstGeom>
              <a:blipFill rotWithShape="1">
                <a:blip r:embed="rId3"/>
                <a:stretch>
                  <a:fillRect l="-11" t="-25" r="5" b="5"/>
                </a:stretch>
              </a:blipFill>
            </p:spPr>
            <p:txBody>
              <a:bodyPr/>
              <a:lstStyle/>
              <a:p>
                <a:r>
                  <a:rPr lang="zh-CN" altLang="en-US">
                    <a:noFill/>
                  </a:rPr>
                  <a:t> </a:t>
                </a:r>
              </a:p>
            </p:txBody>
          </p:sp>
        </mc:Fallback>
      </mc:AlternateContent>
      <p:sp>
        <p:nvSpPr>
          <p:cNvPr id="3" name="文本框 2"/>
          <p:cNvSpPr txBox="1"/>
          <p:nvPr/>
        </p:nvSpPr>
        <p:spPr>
          <a:xfrm>
            <a:off x="2964849" y="5328518"/>
            <a:ext cx="6262297"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这些公式都是闭公式，因此不需要个体变量指派函数！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p>
        </p:txBody>
      </p:sp>
      <mc:AlternateContent xmlns:mc="http://schemas.openxmlformats.org/markup-compatibility/2006" xmlns:a14="http://schemas.microsoft.com/office/drawing/2010/main">
        <mc:Choice Requires="a14">
          <p:sp>
            <p:nvSpPr>
              <p:cNvPr id="11" name="文本框 10"/>
              <p:cNvSpPr txBox="1"/>
              <p:nvPr/>
            </p:nvSpPr>
            <p:spPr>
              <a:xfrm>
                <a:off x="414877" y="1077004"/>
                <a:ext cx="7873929" cy="830997"/>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给定下面的解释和个体变量指派函数</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e>
                    </m:d>
                  </m:oMath>
                </a14:m>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二元谓词</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𝑭</m:t>
                    </m:r>
                  </m:oMath>
                </a14:m>
                <a:r>
                  <a:rPr lang="zh-CN" altLang="en-US" b="1">
                    <a:solidFill>
                      <a:srgbClr val="002060"/>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a14:m>
                <a:endParaRPr lang="en-US" altLang="zh-CN" b="1" i="1">
                  <a:solidFill>
                    <a:srgbClr val="002060"/>
                  </a:solidFill>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14877" y="1077004"/>
                <a:ext cx="7873929" cy="830997"/>
              </a:xfrm>
              <a:prstGeom prst="rect">
                <a:avLst/>
              </a:prstGeom>
              <a:blipFill rotWithShape="1">
                <a:blip r:embed="rId2"/>
                <a:stretch>
                  <a:fillRect l="-83" t="-769" r="-79" b="-26537"/>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24" name="组合 23"/>
          <p:cNvGrpSpPr/>
          <p:nvPr/>
        </p:nvGrpSpPr>
        <p:grpSpPr>
          <a:xfrm>
            <a:off x="5749893" y="2192054"/>
            <a:ext cx="5077826" cy="4077967"/>
            <a:chOff x="4005844" y="2145216"/>
            <a:chExt cx="5077826" cy="4077967"/>
          </a:xfrm>
        </p:grpSpPr>
        <mc:AlternateContent xmlns:mc="http://schemas.openxmlformats.org/markup-compatibility/2006" xmlns:a14="http://schemas.microsoft.com/office/drawing/2010/main">
          <mc:Choice Requires="a14">
            <p:sp>
              <p:nvSpPr>
                <p:cNvPr id="4" name="文本框 3"/>
                <p:cNvSpPr txBox="1"/>
                <p:nvPr/>
              </p:nvSpPr>
              <p:spPr>
                <a:xfrm>
                  <a:off x="4145388" y="2254313"/>
                  <a:ext cx="1493301" cy="307777"/>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m:oMathPara>
                  </a14:m>
                  <a:endParaRPr lang="en-US" altLang="zh-CN" sz="2000" b="1">
                    <a:solidFill>
                      <a:schemeClr val="accent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45388" y="2254313"/>
                  <a:ext cx="1493301" cy="307777"/>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145388" y="3404742"/>
                  <a:ext cx="2844948" cy="307777"/>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oMath>
                    </m:oMathPara>
                  </a14:m>
                  <a:endParaRPr lang="en-US" altLang="zh-CN"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145388" y="3404742"/>
                  <a:ext cx="2844948" cy="307777"/>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145388" y="4596804"/>
                  <a:ext cx="3805396" cy="347403"/>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𝒚𝑭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oMath>
                    </m:oMathPara>
                  </a14:m>
                  <a:endParaRPr lang="zh-CN" altLang="en-US" b="1">
                    <a:solidFill>
                      <a:schemeClr val="accent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145388" y="4596804"/>
                  <a:ext cx="3805396" cy="347403"/>
                </a:xfrm>
                <a:prstGeom prst="rect">
                  <a:avLst/>
                </a:prstGeom>
                <a:blipFill rotWithShape="1">
                  <a:blip r:embed="rId5"/>
                </a:blipFill>
              </p:spPr>
              <p:txBody>
                <a:bodyPr/>
                <a:lstStyle/>
                <a:p>
                  <a:r>
                    <a:rPr lang="zh-CN" altLang="en-US">
                      <a:noFill/>
                    </a:rPr>
                    <a:t> </a:t>
                  </a:r>
                </a:p>
              </p:txBody>
            </p:sp>
          </mc:Fallback>
        </mc:AlternateContent>
        <p:sp>
          <p:nvSpPr>
            <p:cNvPr id="13" name="箭头: 下 12"/>
            <p:cNvSpPr/>
            <p:nvPr/>
          </p:nvSpPr>
          <p:spPr>
            <a:xfrm>
              <a:off x="4799941" y="2563318"/>
              <a:ext cx="92098" cy="8508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4892038" y="2742533"/>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𝒙</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𝒙</m:t>
                      </m:r>
                    </m:oMath>
                  </a14:m>
                  <a:r>
                    <a:rPr lang="zh-CN" altLang="en-US" sz="1600" b="1">
                      <a:solidFill>
                        <a:srgbClr val="C00000"/>
                      </a:solidFill>
                      <a:latin typeface="楷体" panose="02010609060101010101" pitchFamily="49" charset="-122"/>
                      <a:ea typeface="楷体" panose="02010609060101010101" pitchFamily="49" charset="-122"/>
                    </a:rPr>
                    <a:t>，将得到的每个公式用析取联结</a:t>
                  </a:r>
                </a:p>
              </p:txBody>
            </p:sp>
          </mc:Choice>
          <mc:Fallback xmlns="">
            <p:sp>
              <p:nvSpPr>
                <p:cNvPr id="14" name="文本框 13"/>
                <p:cNvSpPr txBox="1">
                  <a:spLocks noRot="1" noChangeAspect="1" noMove="1" noResize="1" noEditPoints="1" noAdjustHandles="1" noChangeArrowheads="1" noChangeShapeType="1" noTextEdit="1"/>
                </p:cNvSpPr>
                <p:nvPr/>
              </p:nvSpPr>
              <p:spPr>
                <a:xfrm>
                  <a:off x="4892038" y="2742533"/>
                  <a:ext cx="3446654" cy="492443"/>
                </a:xfrm>
                <a:prstGeom prst="rect">
                  <a:avLst/>
                </a:prstGeom>
                <a:blipFill rotWithShape="1">
                  <a:blip r:embed="rId6"/>
                </a:blipFill>
              </p:spPr>
              <p:txBody>
                <a:bodyPr/>
                <a:lstStyle/>
                <a:p>
                  <a:r>
                    <a:rPr lang="zh-CN" altLang="en-US">
                      <a:noFill/>
                    </a:rPr>
                    <a:t> </a:t>
                  </a:r>
                </a:p>
              </p:txBody>
            </p:sp>
          </mc:Fallback>
        </mc:AlternateContent>
        <p:sp>
          <p:nvSpPr>
            <p:cNvPr id="16" name="箭头: 下 15"/>
            <p:cNvSpPr/>
            <p:nvPr/>
          </p:nvSpPr>
          <p:spPr>
            <a:xfrm>
              <a:off x="4789088" y="3729017"/>
              <a:ext cx="102951" cy="865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p:cNvSpPr txBox="1"/>
                <p:nvPr/>
              </p:nvSpPr>
              <p:spPr>
                <a:xfrm>
                  <a:off x="4145388" y="5786142"/>
                  <a:ext cx="4798739" cy="347403"/>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oMath>
                    </m:oMathPara>
                  </a14:m>
                  <a:endParaRPr lang="zh-CN" altLang="en-US" b="1">
                    <a:solidFill>
                      <a:schemeClr val="accent2">
                        <a:lumMod val="50000"/>
                      </a:schemeClr>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4145388" y="5786142"/>
                  <a:ext cx="4798739" cy="347403"/>
                </a:xfrm>
                <a:prstGeom prst="rect">
                  <a:avLst/>
                </a:prstGeom>
                <a:blipFill rotWithShape="1">
                  <a:blip r:embed="rId7"/>
                </a:blipFill>
              </p:spPr>
              <p:txBody>
                <a:bodyPr/>
                <a:lstStyle/>
                <a:p>
                  <a:r>
                    <a:rPr lang="zh-CN" altLang="en-US">
                      <a:noFill/>
                    </a:rPr>
                    <a:t> </a:t>
                  </a:r>
                </a:p>
              </p:txBody>
            </p:sp>
          </mc:Fallback>
        </mc:AlternateContent>
        <p:sp>
          <p:nvSpPr>
            <p:cNvPr id="19" name="箭头: 下 18"/>
            <p:cNvSpPr/>
            <p:nvPr/>
          </p:nvSpPr>
          <p:spPr>
            <a:xfrm>
              <a:off x="4789088" y="4937961"/>
              <a:ext cx="92098" cy="843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文本框 20"/>
                <p:cNvSpPr txBox="1"/>
                <p:nvPr/>
              </p:nvSpPr>
              <p:spPr>
                <a:xfrm>
                  <a:off x="4902893" y="3909484"/>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𝒚</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𝒚</m:t>
                      </m:r>
                    </m:oMath>
                  </a14:m>
                  <a:r>
                    <a:rPr lang="zh-CN" altLang="en-US" sz="1600" b="1">
                      <a:solidFill>
                        <a:srgbClr val="C00000"/>
                      </a:solidFill>
                      <a:latin typeface="楷体" panose="02010609060101010101" pitchFamily="49" charset="-122"/>
                      <a:ea typeface="楷体" panose="02010609060101010101" pitchFamily="49" charset="-122"/>
                    </a:rPr>
                    <a:t>，将得到的每个公式用合取联结</a:t>
                  </a:r>
                </a:p>
              </p:txBody>
            </p:sp>
          </mc:Choice>
          <mc:Fallback xmlns="">
            <p:sp>
              <p:nvSpPr>
                <p:cNvPr id="21" name="文本框 20"/>
                <p:cNvSpPr txBox="1">
                  <a:spLocks noRot="1" noChangeAspect="1" noMove="1" noResize="1" noEditPoints="1" noAdjustHandles="1" noChangeArrowheads="1" noChangeShapeType="1" noTextEdit="1"/>
                </p:cNvSpPr>
                <p:nvPr/>
              </p:nvSpPr>
              <p:spPr>
                <a:xfrm>
                  <a:off x="4902893" y="3909484"/>
                  <a:ext cx="3446654" cy="492443"/>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4902893" y="5119920"/>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𝒚</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𝒚</m:t>
                      </m:r>
                    </m:oMath>
                  </a14:m>
                  <a:r>
                    <a:rPr lang="zh-CN" altLang="en-US" sz="1600" b="1">
                      <a:solidFill>
                        <a:srgbClr val="C00000"/>
                      </a:solidFill>
                      <a:latin typeface="楷体" panose="02010609060101010101" pitchFamily="49" charset="-122"/>
                      <a:ea typeface="楷体" panose="02010609060101010101" pitchFamily="49" charset="-122"/>
                    </a:rPr>
                    <a:t>，将得到的每个公式用合取联结</a:t>
                  </a:r>
                </a:p>
              </p:txBody>
            </p:sp>
          </mc:Choice>
          <mc:Fallback xmlns="">
            <p:sp>
              <p:nvSpPr>
                <p:cNvPr id="22" name="文本框 21"/>
                <p:cNvSpPr txBox="1">
                  <a:spLocks noRot="1" noChangeAspect="1" noMove="1" noResize="1" noEditPoints="1" noAdjustHandles="1" noChangeArrowheads="1" noChangeShapeType="1" noTextEdit="1"/>
                </p:cNvSpPr>
                <p:nvPr/>
              </p:nvSpPr>
              <p:spPr>
                <a:xfrm>
                  <a:off x="4902893" y="5119920"/>
                  <a:ext cx="3446654" cy="492443"/>
                </a:xfrm>
                <a:prstGeom prst="rect">
                  <a:avLst/>
                </a:prstGeom>
                <a:blipFill rotWithShape="1">
                  <a:blip r:embed="rId8"/>
                </a:blipFill>
              </p:spPr>
              <p:txBody>
                <a:bodyPr/>
                <a:lstStyle/>
                <a:p>
                  <a:r>
                    <a:rPr lang="zh-CN" altLang="en-US">
                      <a:noFill/>
                    </a:rPr>
                    <a:t> </a:t>
                  </a:r>
                </a:p>
              </p:txBody>
            </p:sp>
          </mc:Fallback>
        </mc:AlternateContent>
        <p:sp>
          <p:nvSpPr>
            <p:cNvPr id="15" name="矩形: 圆角 14"/>
            <p:cNvSpPr/>
            <p:nvPr/>
          </p:nvSpPr>
          <p:spPr>
            <a:xfrm>
              <a:off x="4005844" y="2145216"/>
              <a:ext cx="5077826" cy="4077967"/>
            </a:xfrm>
            <a:prstGeom prst="roundRect">
              <a:avLst>
                <a:gd name="adj" fmla="val 687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文本框 22"/>
                <p:cNvSpPr txBox="1"/>
                <p:nvPr/>
              </p:nvSpPr>
              <p:spPr>
                <a:xfrm>
                  <a:off x="6048086" y="2239994"/>
                  <a:ext cx="2781186" cy="369332"/>
                </a:xfrm>
                <a:prstGeom prst="rect">
                  <a:avLst/>
                </a:prstGeom>
                <a:solidFill>
                  <a:schemeClr val="accent4">
                    <a:lumMod val="20000"/>
                    <a:lumOff val="80000"/>
                  </a:schemeClr>
                </a:solidFill>
              </p:spPr>
              <p:txBody>
                <a:bodyPr wrap="square" rtlCol="0">
                  <a:spAutoFit/>
                </a:bodyPr>
                <a:lstStyle/>
                <a:p>
                  <a:r>
                    <a:rPr lang="en-US" altLang="zh-CN" b="1" i="1">
                      <a:solidFill>
                        <a:schemeClr val="accent2">
                          <a:lumMod val="50000"/>
                        </a:schemeClr>
                      </a:solidFill>
                      <a:cs typeface="Arial" panose="020B0604020202020204" pitchFamily="34" charset="0"/>
                    </a:rPr>
                    <a:t>1.</a:t>
                  </a:r>
                  <a:r>
                    <a:rPr lang="en-US" altLang="zh-CN" b="1">
                      <a:solidFill>
                        <a:schemeClr val="accent2">
                          <a:lumMod val="50000"/>
                        </a:schemeClr>
                      </a:solidFill>
                    </a:rPr>
                    <a:t> </a:t>
                  </a:r>
                  <a14:m>
                    <m:oMath xmlns:m="http://schemas.openxmlformats.org/officeDocument/2006/math">
                      <m:r>
                        <a:rPr lang="en-US" altLang="zh-CN" b="1" i="0" smtClean="0">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e>
                      </m:d>
                    </m:oMath>
                  </a14:m>
                  <a:r>
                    <a:rPr lang="zh-CN" altLang="en-US" b="1" i="0">
                      <a:solidFill>
                        <a:schemeClr val="accent2">
                          <a:lumMod val="50000"/>
                        </a:schemeClr>
                      </a:solidFill>
                      <a:latin typeface="+mj-lt"/>
                    </a:rPr>
                    <a:t>的</a:t>
                  </a:r>
                  <a:r>
                    <a:rPr lang="zh-CN" altLang="en-US" b="1">
                      <a:solidFill>
                        <a:schemeClr val="accent2">
                          <a:lumMod val="50000"/>
                        </a:schemeClr>
                      </a:solidFill>
                    </a:rPr>
                    <a:t>真值为</a:t>
                  </a:r>
                  <a:r>
                    <a:rPr lang="en-US" altLang="zh-CN" b="1">
                      <a:solidFill>
                        <a:schemeClr val="accent2">
                          <a:lumMod val="50000"/>
                        </a:schemeClr>
                      </a:solidFill>
                    </a:rPr>
                    <a:t>0</a:t>
                  </a:r>
                </a:p>
              </p:txBody>
            </p:sp>
          </mc:Choice>
          <mc:Fallback xmlns="">
            <p:sp>
              <p:nvSpPr>
                <p:cNvPr id="23" name="文本框 22"/>
                <p:cNvSpPr txBox="1">
                  <a:spLocks noRot="1" noChangeAspect="1" noMove="1" noResize="1" noEditPoints="1" noAdjustHandles="1" noChangeArrowheads="1" noChangeShapeType="1" noTextEdit="1"/>
                </p:cNvSpPr>
                <p:nvPr/>
              </p:nvSpPr>
              <p:spPr>
                <a:xfrm>
                  <a:off x="6048086" y="2239994"/>
                  <a:ext cx="2781186" cy="369332"/>
                </a:xfrm>
                <a:prstGeom prst="rect">
                  <a:avLst/>
                </a:prstGeom>
                <a:blipFill rotWithShape="1">
                  <a:blip r:embed="rId9"/>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5" name="文本框 24"/>
              <p:cNvSpPr txBox="1"/>
              <p:nvPr/>
            </p:nvSpPr>
            <p:spPr>
              <a:xfrm>
                <a:off x="1035880" y="2234160"/>
                <a:ext cx="3446654" cy="1593898"/>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000" b="1">
                    <a:solidFill>
                      <a:srgbClr val="002060"/>
                    </a:solidFill>
                  </a:rPr>
                  <a:t>确定下面公式的真值：</a:t>
                </a:r>
                <a:endParaRPr lang="en-US" altLang="zh-CN" sz="2000" b="1">
                  <a:solidFill>
                    <a:srgbClr val="002060"/>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a14:m>
                <a:endParaRPr lang="en-US" altLang="zh-CN" sz="2000" b="1">
                  <a:solidFill>
                    <a:schemeClr val="accent2">
                      <a:lumMod val="50000"/>
                    </a:schemeClr>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a14:m>
                <a:endParaRPr lang="en-US" altLang="zh-CN" sz="2000" b="1">
                  <a:solidFill>
                    <a:schemeClr val="accent2">
                      <a:lumMod val="50000"/>
                    </a:schemeClr>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𝒙</m:t>
                            </m:r>
                          </m:e>
                        </m:d>
                      </m:e>
                    </m:d>
                  </m:oMath>
                </a14:m>
                <a:endParaRPr lang="zh-CN" altLang="en-US" sz="2400" b="1">
                  <a:solidFill>
                    <a:srgbClr val="002060"/>
                  </a:solidFill>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1035880" y="2234160"/>
                <a:ext cx="3446654" cy="1593898"/>
              </a:xfrm>
              <a:prstGeom prst="rect">
                <a:avLst/>
              </a:prstGeom>
              <a:blipFill rotWithShape="1">
                <a:blip r:embed="rId10"/>
                <a:stretch>
                  <a:fillRect l="-6" t="-14" r="2" b="-15122"/>
                </a:stretch>
              </a:blipFill>
            </p:spPr>
            <p:txBody>
              <a:bodyPr/>
              <a:lstStyle/>
              <a:p>
                <a:r>
                  <a:rPr lang="zh-CN" altLang="en-US">
                    <a:noFill/>
                  </a:rPr>
                  <a:t> </a:t>
                </a:r>
              </a:p>
            </p:txBody>
          </p:sp>
        </mc:Fallback>
      </mc:AlternateContent>
      <p:sp>
        <p:nvSpPr>
          <p:cNvPr id="26" name="文本框 25"/>
          <p:cNvSpPr txBox="1"/>
          <p:nvPr/>
        </p:nvSpPr>
        <p:spPr>
          <a:xfrm>
            <a:off x="1114566" y="4476967"/>
            <a:ext cx="3289281" cy="1015663"/>
          </a:xfrm>
          <a:prstGeom prst="rect">
            <a:avLst/>
          </a:prstGeom>
          <a:solidFill>
            <a:schemeClr val="accent2">
              <a:lumMod val="20000"/>
              <a:lumOff val="80000"/>
            </a:schemeClr>
          </a:solidFill>
        </p:spPr>
        <p:txBody>
          <a:bodyPr wrap="square" rtlCol="0">
            <a:spAutoFit/>
          </a:bodyPr>
          <a:lstStyle/>
          <a:p>
            <a:r>
              <a:rPr lang="zh-CN" altLang="en-US" sz="2000" b="1">
                <a:solidFill>
                  <a:srgbClr val="002060"/>
                </a:solidFill>
              </a:rPr>
              <a:t>当一个公式的某个量词辖域中还有（其他指示变量的）量词时，称为</a:t>
            </a:r>
            <a:r>
              <a:rPr lang="zh-CN" altLang="en-US" sz="2000" b="1">
                <a:solidFill>
                  <a:srgbClr val="C00000"/>
                </a:solidFill>
              </a:rPr>
              <a:t>嵌套量词公式</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p>
        </p:txBody>
      </p:sp>
      <mc:AlternateContent xmlns:mc="http://schemas.openxmlformats.org/markup-compatibility/2006" xmlns:a14="http://schemas.microsoft.com/office/drawing/2010/main">
        <mc:Choice Requires="a14">
          <p:sp>
            <p:nvSpPr>
              <p:cNvPr id="11" name="文本框 10"/>
              <p:cNvSpPr txBox="1"/>
              <p:nvPr/>
            </p:nvSpPr>
            <p:spPr>
              <a:xfrm>
                <a:off x="414877" y="1077004"/>
                <a:ext cx="7873929" cy="861774"/>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给定下面的解释和个体变量指派函数</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e>
                    </m:d>
                  </m:oMath>
                </a14:m>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二元谓词</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𝑭</m:t>
                    </m:r>
                  </m:oMath>
                </a14:m>
                <a:r>
                  <a:rPr lang="zh-CN" altLang="en-US" b="1">
                    <a:solidFill>
                      <a:srgbClr val="002060"/>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a14:m>
                <a:endParaRPr lang="en-US" altLang="zh-CN" b="1" i="1">
                  <a:solidFill>
                    <a:srgbClr val="002060"/>
                  </a:solidFill>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14877" y="1077004"/>
                <a:ext cx="7873929" cy="861774"/>
              </a:xfrm>
              <a:prstGeom prst="rect">
                <a:avLst/>
              </a:prstGeom>
              <a:blipFill rotWithShape="1">
                <a:blip r:embed="rId2"/>
                <a:stretch>
                  <a:fillRect l="-83" t="-742" r="-79" b="-22018"/>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035880" y="2234160"/>
                <a:ext cx="3446654" cy="1593898"/>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000" b="1">
                    <a:solidFill>
                      <a:srgbClr val="002060"/>
                    </a:solidFill>
                  </a:rPr>
                  <a:t>确定下面公式的真值：</a:t>
                </a:r>
                <a:endParaRPr lang="en-US" altLang="zh-CN" sz="2000" b="1">
                  <a:solidFill>
                    <a:srgbClr val="002060"/>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a14:m>
                <a:endParaRPr lang="en-US" altLang="zh-CN" sz="2000" b="1">
                  <a:solidFill>
                    <a:schemeClr val="accent2">
                      <a:lumMod val="50000"/>
                    </a:schemeClr>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a14:m>
                <a:endParaRPr lang="en-US" altLang="zh-CN" sz="2000" b="1">
                  <a:solidFill>
                    <a:schemeClr val="accent2">
                      <a:lumMod val="50000"/>
                    </a:schemeClr>
                  </a:solidFill>
                </a:endParaRPr>
              </a:p>
              <a:p>
                <a:pPr marL="457200" indent="-457200">
                  <a:spcBef>
                    <a:spcPts val="600"/>
                  </a:spcBef>
                  <a:buFont typeface="+mj-lt"/>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𝒙</m:t>
                            </m:r>
                          </m:e>
                        </m:d>
                      </m:e>
                    </m:d>
                  </m:oMath>
                </a14:m>
                <a:endParaRPr lang="zh-CN" altLang="en-US" sz="2400" b="1">
                  <a:solidFill>
                    <a:srgbClr val="002060"/>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035880" y="2234160"/>
                <a:ext cx="3446654" cy="1593898"/>
              </a:xfrm>
              <a:prstGeom prst="rect">
                <a:avLst/>
              </a:prstGeom>
              <a:blipFill rotWithShape="1">
                <a:blip r:embed="rId3"/>
                <a:stretch>
                  <a:fillRect l="-6" t="-14" r="2" b="-15122"/>
                </a:stretch>
              </a:blipFill>
            </p:spPr>
            <p:txBody>
              <a:bodyPr/>
              <a:lstStyle/>
              <a:p>
                <a:r>
                  <a:rPr lang="zh-CN" altLang="en-US">
                    <a:noFill/>
                  </a:rPr>
                  <a:t> </a:t>
                </a:r>
              </a:p>
            </p:txBody>
          </p:sp>
        </mc:Fallback>
      </mc:AlternateContent>
      <p:grpSp>
        <p:nvGrpSpPr>
          <p:cNvPr id="24" name="组合 23"/>
          <p:cNvGrpSpPr/>
          <p:nvPr/>
        </p:nvGrpSpPr>
        <p:grpSpPr>
          <a:xfrm>
            <a:off x="5749893" y="2192054"/>
            <a:ext cx="5077826" cy="4077967"/>
            <a:chOff x="4005844" y="2145216"/>
            <a:chExt cx="5077826" cy="4077967"/>
          </a:xfrm>
        </p:grpSpPr>
        <mc:AlternateContent xmlns:mc="http://schemas.openxmlformats.org/markup-compatibility/2006" xmlns:a14="http://schemas.microsoft.com/office/drawing/2010/main">
          <mc:Choice Requires="a14">
            <p:sp>
              <p:nvSpPr>
                <p:cNvPr id="4" name="文本框 3"/>
                <p:cNvSpPr txBox="1"/>
                <p:nvPr/>
              </p:nvSpPr>
              <p:spPr>
                <a:xfrm>
                  <a:off x="4145388" y="2254313"/>
                  <a:ext cx="1493301" cy="307777"/>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oMath>
                    </m:oMathPara>
                  </a14:m>
                  <a:endParaRPr lang="en-US" altLang="zh-CN" sz="2000" b="1">
                    <a:solidFill>
                      <a:schemeClr val="accent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45388" y="2254313"/>
                  <a:ext cx="1493301" cy="307777"/>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4145388" y="3404742"/>
                  <a:ext cx="2844948" cy="307777"/>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oMath>
                    </m:oMathPara>
                  </a14:m>
                  <a:endParaRPr lang="en-US" altLang="zh-CN"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145388" y="3404742"/>
                  <a:ext cx="2844948" cy="307777"/>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145388" y="4596804"/>
                  <a:ext cx="3805396" cy="347403"/>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oMath>
                    </m:oMathPara>
                  </a14:m>
                  <a:endParaRPr lang="zh-CN" altLang="en-US" b="1">
                    <a:solidFill>
                      <a:schemeClr val="accent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145388" y="4596804"/>
                  <a:ext cx="3805396" cy="347403"/>
                </a:xfrm>
                <a:prstGeom prst="rect">
                  <a:avLst/>
                </a:prstGeom>
                <a:blipFill rotWithShape="1">
                  <a:blip r:embed="rId6"/>
                </a:blipFill>
              </p:spPr>
              <p:txBody>
                <a:bodyPr/>
                <a:lstStyle/>
                <a:p>
                  <a:r>
                    <a:rPr lang="zh-CN" altLang="en-US">
                      <a:noFill/>
                    </a:rPr>
                    <a:t> </a:t>
                  </a:r>
                </a:p>
              </p:txBody>
            </p:sp>
          </mc:Fallback>
        </mc:AlternateContent>
        <p:sp>
          <p:nvSpPr>
            <p:cNvPr id="13" name="箭头: 下 12"/>
            <p:cNvSpPr/>
            <p:nvPr/>
          </p:nvSpPr>
          <p:spPr>
            <a:xfrm>
              <a:off x="4799941" y="2563318"/>
              <a:ext cx="92098" cy="8508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4892038" y="2742533"/>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𝒚</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𝒚</m:t>
                      </m:r>
                    </m:oMath>
                  </a14:m>
                  <a:r>
                    <a:rPr lang="zh-CN" altLang="en-US" sz="1600" b="1">
                      <a:solidFill>
                        <a:srgbClr val="C00000"/>
                      </a:solidFill>
                      <a:latin typeface="楷体" panose="02010609060101010101" pitchFamily="49" charset="-122"/>
                      <a:ea typeface="楷体" panose="02010609060101010101" pitchFamily="49" charset="-122"/>
                    </a:rPr>
                    <a:t>，将得到的每个公式用合取联结</a:t>
                  </a:r>
                </a:p>
              </p:txBody>
            </p:sp>
          </mc:Choice>
          <mc:Fallback xmlns="">
            <p:sp>
              <p:nvSpPr>
                <p:cNvPr id="14" name="文本框 13"/>
                <p:cNvSpPr txBox="1">
                  <a:spLocks noRot="1" noChangeAspect="1" noMove="1" noResize="1" noEditPoints="1" noAdjustHandles="1" noChangeArrowheads="1" noChangeShapeType="1" noTextEdit="1"/>
                </p:cNvSpPr>
                <p:nvPr/>
              </p:nvSpPr>
              <p:spPr>
                <a:xfrm>
                  <a:off x="4892038" y="2742533"/>
                  <a:ext cx="3446654" cy="492443"/>
                </a:xfrm>
                <a:prstGeom prst="rect">
                  <a:avLst/>
                </a:prstGeom>
                <a:blipFill rotWithShape="1">
                  <a:blip r:embed="rId7"/>
                </a:blipFill>
              </p:spPr>
              <p:txBody>
                <a:bodyPr/>
                <a:lstStyle/>
                <a:p>
                  <a:r>
                    <a:rPr lang="zh-CN" altLang="en-US">
                      <a:noFill/>
                    </a:rPr>
                    <a:t> </a:t>
                  </a:r>
                </a:p>
              </p:txBody>
            </p:sp>
          </mc:Fallback>
        </mc:AlternateContent>
        <p:sp>
          <p:nvSpPr>
            <p:cNvPr id="16" name="箭头: 下 15"/>
            <p:cNvSpPr/>
            <p:nvPr/>
          </p:nvSpPr>
          <p:spPr>
            <a:xfrm>
              <a:off x="4789088" y="3729017"/>
              <a:ext cx="102951" cy="865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p:cNvSpPr txBox="1"/>
                <p:nvPr/>
              </p:nvSpPr>
              <p:spPr>
                <a:xfrm>
                  <a:off x="4145388" y="5786142"/>
                  <a:ext cx="4798739" cy="347403"/>
                </a:xfrm>
                <a:prstGeom prst="rect">
                  <a:avLst/>
                </a:prstGeom>
                <a:solidFill>
                  <a:schemeClr val="accent6">
                    <a:lumMod val="20000"/>
                    <a:lumOff val="8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oMath>
                    </m:oMathPara>
                  </a14:m>
                  <a:endParaRPr lang="zh-CN" altLang="en-US" b="1">
                    <a:solidFill>
                      <a:schemeClr val="accent2">
                        <a:lumMod val="50000"/>
                      </a:schemeClr>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4145388" y="5786142"/>
                  <a:ext cx="4798739" cy="347403"/>
                </a:xfrm>
                <a:prstGeom prst="rect">
                  <a:avLst/>
                </a:prstGeom>
                <a:blipFill rotWithShape="1">
                  <a:blip r:embed="rId8"/>
                </a:blipFill>
              </p:spPr>
              <p:txBody>
                <a:bodyPr/>
                <a:lstStyle/>
                <a:p>
                  <a:r>
                    <a:rPr lang="zh-CN" altLang="en-US">
                      <a:noFill/>
                    </a:rPr>
                    <a:t> </a:t>
                  </a:r>
                </a:p>
              </p:txBody>
            </p:sp>
          </mc:Fallback>
        </mc:AlternateContent>
        <p:sp>
          <p:nvSpPr>
            <p:cNvPr id="19" name="箭头: 下 18"/>
            <p:cNvSpPr/>
            <p:nvPr/>
          </p:nvSpPr>
          <p:spPr>
            <a:xfrm>
              <a:off x="4789088" y="4937961"/>
              <a:ext cx="92098" cy="843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文本框 20"/>
                <p:cNvSpPr txBox="1"/>
                <p:nvPr/>
              </p:nvSpPr>
              <p:spPr>
                <a:xfrm>
                  <a:off x="4902893" y="3909484"/>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𝒙</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𝒙</m:t>
                      </m:r>
                    </m:oMath>
                  </a14:m>
                  <a:r>
                    <a:rPr lang="zh-CN" altLang="en-US" sz="1600" b="1">
                      <a:solidFill>
                        <a:srgbClr val="C00000"/>
                      </a:solidFill>
                      <a:latin typeface="楷体" panose="02010609060101010101" pitchFamily="49" charset="-122"/>
                      <a:ea typeface="楷体" panose="02010609060101010101" pitchFamily="49" charset="-122"/>
                    </a:rPr>
                    <a:t>，将得到的每个公式用析取联结</a:t>
                  </a:r>
                </a:p>
              </p:txBody>
            </p:sp>
          </mc:Choice>
          <mc:Fallback xmlns="">
            <p:sp>
              <p:nvSpPr>
                <p:cNvPr id="21" name="文本框 20"/>
                <p:cNvSpPr txBox="1">
                  <a:spLocks noRot="1" noChangeAspect="1" noMove="1" noResize="1" noEditPoints="1" noAdjustHandles="1" noChangeArrowheads="1" noChangeShapeType="1" noTextEdit="1"/>
                </p:cNvSpPr>
                <p:nvPr/>
              </p:nvSpPr>
              <p:spPr>
                <a:xfrm>
                  <a:off x="4902893" y="3909484"/>
                  <a:ext cx="3446654" cy="492443"/>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4902893" y="5119920"/>
                  <a:ext cx="3446654" cy="492443"/>
                </a:xfrm>
                <a:prstGeom prst="rect">
                  <a:avLst/>
                </a:prstGeom>
                <a:solidFill>
                  <a:schemeClr val="accent2">
                    <a:lumMod val="20000"/>
                    <a:lumOff val="80000"/>
                  </a:schemeClr>
                </a:solidFill>
              </p:spPr>
              <p:txBody>
                <a:bodyPr wrap="square" lIns="0" tIns="0" rIns="0" bIns="0" rtlCol="0">
                  <a:spAutoFit/>
                </a:bodyPr>
                <a:lstStyle/>
                <a:p>
                  <a:r>
                    <a:rPr lang="zh-CN" altLang="en-US" sz="1600" b="1">
                      <a:solidFill>
                        <a:srgbClr val="C00000"/>
                      </a:solidFill>
                      <a:latin typeface="楷体" panose="02010609060101010101" pitchFamily="49" charset="-122"/>
                      <a:ea typeface="楷体" panose="02010609060101010101" pitchFamily="49" charset="-122"/>
                    </a:rPr>
                    <a:t>用论域每个元素替换</a:t>
                  </a:r>
                  <a14:m>
                    <m:oMath xmlns:m="http://schemas.openxmlformats.org/officeDocument/2006/math">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𝒙</m:t>
                      </m:r>
                      <m:r>
                        <a:rPr lang="en-US" altLang="zh-CN" sz="1600" b="1" i="1" smtClean="0">
                          <a:solidFill>
                            <a:srgbClr val="C00000"/>
                          </a:solidFill>
                          <a:latin typeface="Cambria Math" panose="02040503050406030204" pitchFamily="18" charset="0"/>
                        </a:rPr>
                        <m:t> </m:t>
                      </m:r>
                    </m:oMath>
                  </a14:m>
                  <a:r>
                    <a:rPr lang="zh-CN" altLang="en-US" sz="1600" b="1">
                      <a:solidFill>
                        <a:srgbClr val="C00000"/>
                      </a:solidFill>
                      <a:latin typeface="楷体" panose="02010609060101010101" pitchFamily="49" charset="-122"/>
                      <a:ea typeface="楷体" panose="02010609060101010101" pitchFamily="49" charset="-122"/>
                    </a:rPr>
                    <a:t>辖域中每处出现的</a:t>
                  </a:r>
                  <a14:m>
                    <m:oMath xmlns:m="http://schemas.openxmlformats.org/officeDocument/2006/math">
                      <m:r>
                        <a:rPr lang="en-US" altLang="zh-CN" sz="1600" b="1" i="1" smtClean="0">
                          <a:solidFill>
                            <a:srgbClr val="C00000"/>
                          </a:solidFill>
                          <a:latin typeface="Cambria Math" panose="02040503050406030204" pitchFamily="18" charset="0"/>
                        </a:rPr>
                        <m:t>𝒙</m:t>
                      </m:r>
                    </m:oMath>
                  </a14:m>
                  <a:r>
                    <a:rPr lang="zh-CN" altLang="en-US" sz="1600" b="1">
                      <a:solidFill>
                        <a:srgbClr val="C00000"/>
                      </a:solidFill>
                      <a:latin typeface="楷体" panose="02010609060101010101" pitchFamily="49" charset="-122"/>
                      <a:ea typeface="楷体" panose="02010609060101010101" pitchFamily="49" charset="-122"/>
                    </a:rPr>
                    <a:t>，将得到的每个公式用析取联结</a:t>
                  </a:r>
                </a:p>
              </p:txBody>
            </p:sp>
          </mc:Choice>
          <mc:Fallback xmlns="">
            <p:sp>
              <p:nvSpPr>
                <p:cNvPr id="22" name="文本框 21"/>
                <p:cNvSpPr txBox="1">
                  <a:spLocks noRot="1" noChangeAspect="1" noMove="1" noResize="1" noEditPoints="1" noAdjustHandles="1" noChangeArrowheads="1" noChangeShapeType="1" noTextEdit="1"/>
                </p:cNvSpPr>
                <p:nvPr/>
              </p:nvSpPr>
              <p:spPr>
                <a:xfrm>
                  <a:off x="4902893" y="5119920"/>
                  <a:ext cx="3446654" cy="492443"/>
                </a:xfrm>
                <a:prstGeom prst="rect">
                  <a:avLst/>
                </a:prstGeom>
                <a:blipFill rotWithShape="1">
                  <a:blip r:embed="rId9"/>
                </a:blipFill>
              </p:spPr>
              <p:txBody>
                <a:bodyPr/>
                <a:lstStyle/>
                <a:p>
                  <a:r>
                    <a:rPr lang="zh-CN" altLang="en-US">
                      <a:noFill/>
                    </a:rPr>
                    <a:t> </a:t>
                  </a:r>
                </a:p>
              </p:txBody>
            </p:sp>
          </mc:Fallback>
        </mc:AlternateContent>
        <p:sp>
          <p:nvSpPr>
            <p:cNvPr id="15" name="矩形: 圆角 14"/>
            <p:cNvSpPr/>
            <p:nvPr/>
          </p:nvSpPr>
          <p:spPr>
            <a:xfrm>
              <a:off x="4005844" y="2145216"/>
              <a:ext cx="5077826" cy="4077967"/>
            </a:xfrm>
            <a:prstGeom prst="roundRect">
              <a:avLst>
                <a:gd name="adj" fmla="val 687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文本框 22"/>
                <p:cNvSpPr txBox="1"/>
                <p:nvPr/>
              </p:nvSpPr>
              <p:spPr>
                <a:xfrm>
                  <a:off x="6048086" y="2239994"/>
                  <a:ext cx="2781186" cy="369332"/>
                </a:xfrm>
                <a:prstGeom prst="rect">
                  <a:avLst/>
                </a:prstGeom>
                <a:solidFill>
                  <a:schemeClr val="accent4">
                    <a:lumMod val="20000"/>
                    <a:lumOff val="80000"/>
                  </a:schemeClr>
                </a:solidFill>
              </p:spPr>
              <p:txBody>
                <a:bodyPr wrap="square" rtlCol="0">
                  <a:spAutoFit/>
                </a:bodyPr>
                <a:lstStyle/>
                <a:p>
                  <a:r>
                    <a:rPr lang="en-US" altLang="zh-CN" b="1" i="1">
                      <a:solidFill>
                        <a:schemeClr val="accent2">
                          <a:lumMod val="50000"/>
                        </a:schemeClr>
                      </a:solidFill>
                      <a:cs typeface="Arial" panose="020B0604020202020204" pitchFamily="34" charset="0"/>
                    </a:rPr>
                    <a:t>2.</a:t>
                  </a:r>
                  <a:r>
                    <a:rPr lang="en-US" altLang="zh-CN" b="1">
                      <a:solidFill>
                        <a:schemeClr val="accent2">
                          <a:lumMod val="50000"/>
                        </a:schemeClr>
                      </a:solidFill>
                    </a:rPr>
                    <a:t> </a:t>
                  </a:r>
                  <a14:m>
                    <m:oMath xmlns:m="http://schemas.openxmlformats.org/officeDocument/2006/math">
                      <m:r>
                        <a:rPr lang="en-US" altLang="zh-CN" b="1" i="0" smtClean="0">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𝒚𝑭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𝒚</m:t>
                          </m:r>
                        </m:e>
                      </m:d>
                    </m:oMath>
                  </a14:m>
                  <a:r>
                    <a:rPr lang="zh-CN" altLang="en-US" b="1" i="0">
                      <a:solidFill>
                        <a:schemeClr val="accent2">
                          <a:lumMod val="50000"/>
                        </a:schemeClr>
                      </a:solidFill>
                      <a:latin typeface="+mj-lt"/>
                    </a:rPr>
                    <a:t>的</a:t>
                  </a:r>
                  <a:r>
                    <a:rPr lang="zh-CN" altLang="en-US" b="1">
                      <a:solidFill>
                        <a:schemeClr val="accent2">
                          <a:lumMod val="50000"/>
                        </a:schemeClr>
                      </a:solidFill>
                    </a:rPr>
                    <a:t>真值为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m:t>
                      </m:r>
                    </m:oMath>
                  </a14:m>
                  <a:endParaRPr lang="en-US" altLang="zh-CN" b="1">
                    <a:solidFill>
                      <a:schemeClr val="accent2">
                        <a:lumMod val="50000"/>
                      </a:schemeClr>
                    </a:solidFill>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6048086" y="2239994"/>
                  <a:ext cx="2781186" cy="369332"/>
                </a:xfrm>
                <a:prstGeom prst="rect">
                  <a:avLst/>
                </a:prstGeom>
                <a:blipFill rotWithShape="1">
                  <a:blip r:embed="rId10"/>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5" name="文本框 24"/>
              <p:cNvSpPr txBox="1"/>
              <p:nvPr/>
            </p:nvSpPr>
            <p:spPr>
              <a:xfrm>
                <a:off x="362908" y="4081335"/>
                <a:ext cx="4792598" cy="1497589"/>
              </a:xfrm>
              <a:prstGeom prst="rect">
                <a:avLst/>
              </a:prstGeom>
              <a:solidFill>
                <a:schemeClr val="accent4">
                  <a:lumMod val="20000"/>
                  <a:lumOff val="80000"/>
                </a:schemeClr>
              </a:solidFill>
            </p:spPr>
            <p:txBody>
              <a:bodyPr wrap="square" rtlCol="0">
                <a:spAutoFit/>
              </a:bodyPr>
              <a:lstStyle/>
              <a:p>
                <a:pPr marL="457200" indent="-457200">
                  <a:spcBef>
                    <a:spcPts val="600"/>
                  </a:spcBef>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e>
                    </m:d>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oMath>
                </a14:m>
                <a:endParaRPr lang="en-US" altLang="zh-CN" b="1">
                  <a:solidFill>
                    <a:schemeClr val="accent2">
                      <a:lumMod val="50000"/>
                    </a:schemeClr>
                  </a:solidFill>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362908" y="4081335"/>
                <a:ext cx="4792598" cy="1497589"/>
              </a:xfrm>
              <a:prstGeom prst="rect">
                <a:avLst/>
              </a:prstGeom>
              <a:blipFill rotWithShape="1">
                <a:blip r:embed="rId11"/>
                <a:stretch>
                  <a:fillRect l="-7" t="-13" r="12" b="-16252"/>
                </a:stretch>
              </a:blipFill>
            </p:spPr>
            <p:txBody>
              <a:bodyPr/>
              <a:lstStyle/>
              <a:p>
                <a:r>
                  <a:rPr lang="zh-CN" altLang="en-US">
                    <a:noFill/>
                  </a:rPr>
                  <a:t> </a:t>
                </a:r>
              </a:p>
            </p:txBody>
          </p:sp>
        </mc:Fallback>
      </mc:AlternateContent>
      <p:sp>
        <p:nvSpPr>
          <p:cNvPr id="3" name="文本框 2"/>
          <p:cNvSpPr txBox="1"/>
          <p:nvPr/>
        </p:nvSpPr>
        <p:spPr>
          <a:xfrm>
            <a:off x="8684827" y="1145360"/>
            <a:ext cx="3092296" cy="744371"/>
          </a:xfrm>
          <a:prstGeom prst="rect">
            <a:avLst/>
          </a:prstGeom>
          <a:solidFill>
            <a:schemeClr val="accent4">
              <a:lumMod val="20000"/>
              <a:lumOff val="80000"/>
            </a:schemeClr>
          </a:solidFill>
        </p:spPr>
        <p:txBody>
          <a:bodyPr wrap="square" rtlCol="0">
            <a:spAutoFit/>
          </a:bodyPr>
          <a:lstStyle/>
          <a:p>
            <a:pPr>
              <a:lnSpc>
                <a:spcPts val="2600"/>
              </a:lnSpc>
            </a:pPr>
            <a:r>
              <a:rPr lang="zh-CN" altLang="en-US" sz="2000" b="1">
                <a:solidFill>
                  <a:srgbClr val="C00000"/>
                </a:solidFill>
              </a:rPr>
              <a:t>嵌套量词公式的量词顺序不同，公式的真值也不同</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一阶逻辑公式真值计算举例</a:t>
            </a:r>
            <a:r>
              <a:rPr lang="en-US" altLang="zh-CN"/>
              <a:t>*</a:t>
            </a:r>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381984" y="1274314"/>
                <a:ext cx="7873929" cy="861774"/>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给定下面的解释和个体变量指派函数</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𝒂</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𝒃</m:t>
                        </m:r>
                      </m:e>
                    </m:d>
                  </m:oMath>
                </a14:m>
                <a:r>
                  <a:rPr lang="en-US" altLang="zh-CN" b="1">
                    <a:solidFill>
                      <a:srgbClr val="002060"/>
                    </a:solidFill>
                    <a:latin typeface="楷体" panose="02010609060101010101" pitchFamily="49" charset="-122"/>
                    <a:ea typeface="楷体" panose="02010609060101010101" pitchFamily="49" charset="-122"/>
                  </a:rPr>
                  <a:t>,</a:t>
                </a:r>
                <a:r>
                  <a:rPr lang="zh-CN" altLang="en-US" b="1">
                    <a:solidFill>
                      <a:srgbClr val="002060"/>
                    </a:solidFill>
                    <a:latin typeface="楷体" panose="02010609060101010101" pitchFamily="49" charset="-122"/>
                    <a:ea typeface="楷体" panose="02010609060101010101" pitchFamily="49" charset="-122"/>
                  </a:rPr>
                  <a:t>二元谓词</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𝑭</m:t>
                    </m:r>
                  </m:oMath>
                </a14:m>
                <a:r>
                  <a:rPr lang="zh-CN" altLang="en-US" b="1">
                    <a:solidFill>
                      <a:srgbClr val="002060"/>
                    </a:solidFill>
                    <a:latin typeface="楷体" panose="02010609060101010101" pitchFamily="49" charset="-122"/>
                    <a:ea typeface="楷体" panose="02010609060101010101" pitchFamily="49" charset="-122"/>
                  </a:rPr>
                  <a:t>的解释</a:t>
                </a: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r>
                      <m:rPr>
                        <m:lit/>
                      </m:rP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𝒂</m:t>
                    </m:r>
                    <m:r>
                      <m:rPr>
                        <m:lit/>
                      </m:rP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a14:m>
                <a:endParaRPr lang="en-US" altLang="zh-CN" b="1" i="1">
                  <a:solidFill>
                    <a:srgbClr val="002060"/>
                  </a:solidFill>
                  <a:latin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381984" y="1274314"/>
                <a:ext cx="7873929" cy="861774"/>
              </a:xfrm>
              <a:prstGeom prst="rect">
                <a:avLst/>
              </a:prstGeom>
              <a:blipFill rotWithShape="1">
                <a:blip r:embed="rId2"/>
                <a:stretch>
                  <a:fillRect l="-85" t="-795" r="-77" b="-21964"/>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642051" y="4439425"/>
                <a:ext cx="4792598" cy="1497589"/>
              </a:xfrm>
              <a:prstGeom prst="rect">
                <a:avLst/>
              </a:prstGeom>
              <a:solidFill>
                <a:schemeClr val="accent4">
                  <a:lumMod val="20000"/>
                  <a:lumOff val="80000"/>
                </a:schemeClr>
              </a:solidFill>
            </p:spPr>
            <p:txBody>
              <a:bodyPr wrap="square" rtlCol="0">
                <a:spAutoFit/>
              </a:bodyPr>
              <a:lstStyle/>
              <a:p>
                <a:pPr marL="457200" indent="-457200">
                  <a:spcBef>
                    <a:spcPts val="600"/>
                  </a:spcBef>
                  <a:buFont typeface="+mj-lt"/>
                  <a:buAutoNum type="arabicPeriod" startAt="2"/>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e>
                    </m:d>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endParaRPr lang="en-US" altLang="zh-CN" b="1">
                  <a:solidFill>
                    <a:schemeClr val="accent2">
                      <a:lumMod val="50000"/>
                    </a:schemeClr>
                  </a:solidFill>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642051" y="4439425"/>
                <a:ext cx="4792598" cy="1497589"/>
              </a:xfrm>
              <a:prstGeom prst="rect">
                <a:avLst/>
              </a:prstGeom>
              <a:blipFill rotWithShape="1">
                <a:blip r:embed="rId3"/>
                <a:stretch>
                  <a:fillRect l="-1" t="-9" r="7" b="-16256"/>
                </a:stretch>
              </a:blipFill>
            </p:spPr>
            <p:txBody>
              <a:bodyPr/>
              <a:lstStyle/>
              <a:p>
                <a:r>
                  <a:rPr lang="zh-CN" altLang="en-US">
                    <a:noFill/>
                  </a:rPr>
                  <a:t> </a:t>
                </a:r>
              </a:p>
            </p:txBody>
          </p:sp>
        </mc:Fallback>
      </mc:AlternateContent>
      <p:grpSp>
        <p:nvGrpSpPr>
          <p:cNvPr id="3" name="组合 2"/>
          <p:cNvGrpSpPr/>
          <p:nvPr/>
        </p:nvGrpSpPr>
        <p:grpSpPr>
          <a:xfrm>
            <a:off x="5854793" y="2759709"/>
            <a:ext cx="5609637" cy="2823977"/>
            <a:chOff x="5685504" y="2336064"/>
            <a:chExt cx="5609637" cy="2823977"/>
          </a:xfrm>
        </p:grpSpPr>
        <mc:AlternateContent xmlns:mc="http://schemas.openxmlformats.org/markup-compatibility/2006" xmlns:a14="http://schemas.microsoft.com/office/drawing/2010/main">
          <mc:Choice Requires="a14">
            <p:sp>
              <p:nvSpPr>
                <p:cNvPr id="4" name="文本框 3"/>
                <p:cNvSpPr txBox="1"/>
                <p:nvPr/>
              </p:nvSpPr>
              <p:spPr>
                <a:xfrm>
                  <a:off x="5685505" y="2336064"/>
                  <a:ext cx="3136154" cy="398655"/>
                </a:xfrm>
                <a:prstGeom prst="rect">
                  <a:avLst/>
                </a:prstGeom>
                <a:solidFill>
                  <a:schemeClr val="accent4">
                    <a:lumMod val="20000"/>
                    <a:lumOff val="80000"/>
                    <a:alpha val="50000"/>
                  </a:schemeClr>
                </a:solidFill>
              </p:spPr>
              <p:txBody>
                <a:bodyPr wrap="square" lIns="0" tIns="54000" bIns="36000" rtlCol="0">
                  <a:spAutoFit/>
                </a:bodyPr>
                <a:lstStyle/>
                <a:p>
                  <a:r>
                    <a:rPr lang="en-US" altLang="zh-CN" sz="2000" b="1" i="1">
                      <a:solidFill>
                        <a:schemeClr val="accent2">
                          <a:lumMod val="50000"/>
                        </a:schemeClr>
                      </a:solidFill>
                    </a:rPr>
                    <a:t>3</a:t>
                  </a:r>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685505" y="2336064"/>
                  <a:ext cx="3136154" cy="39865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685505" y="2722669"/>
                  <a:ext cx="5524118" cy="380480"/>
                </a:xfrm>
                <a:prstGeom prst="rect">
                  <a:avLst/>
                </a:prstGeom>
                <a:solidFill>
                  <a:schemeClr val="accent4">
                    <a:lumMod val="20000"/>
                    <a:lumOff val="80000"/>
                  </a:schemeClr>
                </a:solidFill>
              </p:spPr>
              <p:txBody>
                <a:bodyPr wrap="square" lIns="0" tIns="36000"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685505" y="2722669"/>
                  <a:ext cx="5524118" cy="38048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5685505" y="3103407"/>
                  <a:ext cx="5524118" cy="841119"/>
                </a:xfrm>
                <a:prstGeom prst="rect">
                  <a:avLst/>
                </a:prstGeom>
                <a:solidFill>
                  <a:schemeClr val="accent4">
                    <a:lumMod val="20000"/>
                    <a:lumOff val="80000"/>
                  </a:schemeClr>
                </a:solidFill>
              </p:spPr>
              <p:txBody>
                <a:bodyPr wrap="square" lIns="0" tIns="36000"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i="1">
                    <a:solidFill>
                      <a:schemeClr val="accent2">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𝒚</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a:solidFill>
                      <a:schemeClr val="accent2">
                        <a:lumMod val="50000"/>
                      </a:schemeClr>
                    </a:solidFill>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5685505" y="3103407"/>
                  <a:ext cx="5524118" cy="841119"/>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5685505" y="3931893"/>
                  <a:ext cx="5524118" cy="808042"/>
                </a:xfrm>
                <a:prstGeom prst="rect">
                  <a:avLst/>
                </a:prstGeom>
                <a:solidFill>
                  <a:schemeClr val="accent4">
                    <a:lumMod val="20000"/>
                    <a:lumOff val="80000"/>
                    <a:alpha val="50000"/>
                  </a:schemeClr>
                </a:solidFill>
              </p:spPr>
              <p:txBody>
                <a:bodyPr wrap="square" lIns="0" t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e>
                            </m:d>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i="1">
                    <a:solidFill>
                      <a:schemeClr val="accent2">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𝒂</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e>
                            </m:d>
                          </m:e>
                        </m:d>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a:solidFill>
                      <a:schemeClr val="accent2">
                        <a:lumMod val="50000"/>
                      </a:schemeClr>
                    </a:solidFill>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5685505" y="3931893"/>
                  <a:ext cx="5524118" cy="80804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5685504" y="4739935"/>
                  <a:ext cx="5609637" cy="420106"/>
                </a:xfrm>
                <a:prstGeom prst="rect">
                  <a:avLst/>
                </a:prstGeom>
                <a:solidFill>
                  <a:schemeClr val="accent4">
                    <a:lumMod val="20000"/>
                    <a:lumOff val="80000"/>
                  </a:schemeClr>
                </a:solidFill>
              </p:spPr>
              <p:txBody>
                <a:bodyPr wrap="square" lIns="0" tIns="36000"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𝟎</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e>
                            </m:d>
                            <m:r>
                              <a:rPr lang="en-US" altLang="zh-CN" sz="2000" b="1" i="1" smtClean="0">
                                <a:solidFill>
                                  <a:schemeClr val="accent2">
                                    <a:lumMod val="50000"/>
                                  </a:schemeClr>
                                </a:solidFill>
                                <a:latin typeface="Cambria Math" panose="02040503050406030204" pitchFamily="18" charset="0"/>
                              </a:rPr>
                              <m:t>∨</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𝟎</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𝟎</m:t>
                                </m:r>
                              </m:e>
                            </m:d>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oMath>
                    </m:oMathPara>
                  </a14:m>
                  <a:endParaRPr lang="en-US" altLang="zh-CN" sz="2000" b="1">
                    <a:solidFill>
                      <a:schemeClr val="accent2">
                        <a:lumMod val="50000"/>
                      </a:schemeClr>
                    </a:solidFill>
                  </a:endParaRPr>
                </a:p>
              </p:txBody>
            </p:sp>
          </mc:Choice>
          <mc:Fallback xmlns="">
            <p:sp>
              <p:nvSpPr>
                <p:cNvPr id="28" name="文本框 27"/>
                <p:cNvSpPr txBox="1">
                  <a:spLocks noRot="1" noChangeAspect="1" noMove="1" noResize="1" noEditPoints="1" noAdjustHandles="1" noChangeArrowheads="1" noChangeShapeType="1" noTextEdit="1"/>
                </p:cNvSpPr>
                <p:nvPr/>
              </p:nvSpPr>
              <p:spPr>
                <a:xfrm>
                  <a:off x="5685504" y="4739935"/>
                  <a:ext cx="5609637" cy="420106"/>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9" name="文本框 28"/>
              <p:cNvSpPr txBox="1"/>
              <p:nvPr/>
            </p:nvSpPr>
            <p:spPr>
              <a:xfrm>
                <a:off x="642051" y="2509120"/>
                <a:ext cx="4792598" cy="1497589"/>
              </a:xfrm>
              <a:prstGeom prst="rect">
                <a:avLst/>
              </a:prstGeom>
              <a:solidFill>
                <a:schemeClr val="accent4">
                  <a:lumMod val="20000"/>
                  <a:lumOff val="80000"/>
                </a:schemeClr>
              </a:solidFill>
            </p:spPr>
            <p:txBody>
              <a:bodyPr wrap="square" rtlCol="0">
                <a:spAutoFit/>
              </a:bodyPr>
              <a:lstStyle/>
              <a:p>
                <a:pPr marL="457200" indent="-457200">
                  <a:spcBef>
                    <a:spcPts val="600"/>
                  </a:spcBef>
                  <a:buAutoNum type="arabi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𝒚𝑭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𝒂</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e>
                    </m:d>
                  </m:oMath>
                </a14:m>
                <a:endParaRPr lang="en-US" altLang="zh-CN" b="1">
                  <a:solidFill>
                    <a:schemeClr val="accent2">
                      <a:lumMod val="50000"/>
                    </a:schemeClr>
                  </a:solidFill>
                </a:endParaRPr>
              </a:p>
              <a:p>
                <a:pPr>
                  <a:spcBef>
                    <a:spcPts val="600"/>
                  </a:spcBef>
                </a:pPr>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𝟎</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r>
                      <a:rPr lang="en-US" altLang="zh-CN" b="1" i="1" smtClean="0">
                        <a:solidFill>
                          <a:schemeClr val="accent2">
                            <a:lumMod val="50000"/>
                          </a:schemeClr>
                        </a:solidFill>
                        <a:latin typeface="Cambria Math" panose="02040503050406030204" pitchFamily="18" charset="0"/>
                      </a:rPr>
                      <m:t>∨</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𝟏</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e>
                    </m:d>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oMath>
                </a14:m>
                <a:endParaRPr lang="en-US" altLang="zh-CN" b="1">
                  <a:solidFill>
                    <a:schemeClr val="accent2">
                      <a:lumMod val="50000"/>
                    </a:schemeClr>
                  </a:solidFill>
                </a:endParaRPr>
              </a:p>
            </p:txBody>
          </p:sp>
        </mc:Choice>
        <mc:Fallback xmlns="">
          <p:sp>
            <p:nvSpPr>
              <p:cNvPr id="29" name="文本框 28"/>
              <p:cNvSpPr txBox="1">
                <a:spLocks noRot="1" noChangeAspect="1" noMove="1" noResize="1" noEditPoints="1" noAdjustHandles="1" noChangeArrowheads="1" noChangeShapeType="1" noTextEdit="1"/>
              </p:cNvSpPr>
              <p:nvPr/>
            </p:nvSpPr>
            <p:spPr>
              <a:xfrm>
                <a:off x="642051" y="2509120"/>
                <a:ext cx="4792598" cy="1497589"/>
              </a:xfrm>
              <a:prstGeom prst="rect">
                <a:avLst/>
              </a:prstGeom>
              <a:blipFill rotWithShape="1">
                <a:blip r:embed="rId9"/>
                <a:stretch>
                  <a:fillRect l="-1" t="-16" r="7" b="-16249"/>
                </a:stretch>
              </a:blipFill>
            </p:spPr>
            <p:txBody>
              <a:bodyPr/>
              <a:lstStyle/>
              <a:p>
                <a:r>
                  <a:rPr lang="zh-CN" altLang="en-US">
                    <a:noFill/>
                  </a:rPr>
                  <a:t> </a:t>
                </a:r>
              </a:p>
            </p:txBody>
          </p:sp>
        </mc:Fallback>
      </mc:AlternateContent>
      <p:sp>
        <p:nvSpPr>
          <p:cNvPr id="20" name="文本框 19"/>
          <p:cNvSpPr txBox="1"/>
          <p:nvPr/>
        </p:nvSpPr>
        <p:spPr>
          <a:xfrm>
            <a:off x="8407216" y="1382035"/>
            <a:ext cx="3197111" cy="646331"/>
          </a:xfrm>
          <a:prstGeom prst="rect">
            <a:avLst/>
          </a:prstGeom>
          <a:solidFill>
            <a:schemeClr val="accent2">
              <a:lumMod val="20000"/>
              <a:lumOff val="80000"/>
            </a:schemeClr>
          </a:solidFill>
        </p:spPr>
        <p:txBody>
          <a:bodyPr wrap="square" rtlCol="0">
            <a:spAutoFit/>
          </a:bodyPr>
          <a:lstStyle/>
          <a:p>
            <a:r>
              <a:rPr lang="zh-CN" altLang="en-US" b="1">
                <a:solidFill>
                  <a:srgbClr val="C00000"/>
                </a:solidFill>
              </a:rPr>
              <a:t>嵌套量词公式展开时从外到里展开，并注意各量词的辖域！</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一阶逻辑公式在有限论域展开练习</a:t>
            </a:r>
          </a:p>
        </p:txBody>
      </p:sp>
      <mc:AlternateContent xmlns:mc="http://schemas.openxmlformats.org/markup-compatibility/2006" xmlns:a14="http://schemas.microsoft.com/office/drawing/2010/main">
        <mc:Choice Requires="a14">
          <p:sp>
            <p:nvSpPr>
              <p:cNvPr id="4" name="文本框 3"/>
              <p:cNvSpPr txBox="1"/>
              <p:nvPr/>
            </p:nvSpPr>
            <p:spPr>
              <a:xfrm>
                <a:off x="1593070" y="1034130"/>
                <a:ext cx="9005853" cy="2568652"/>
              </a:xfrm>
              <a:prstGeom prst="rect">
                <a:avLst/>
              </a:prstGeom>
              <a:solidFill>
                <a:schemeClr val="accent5">
                  <a:lumMod val="20000"/>
                  <a:lumOff val="80000"/>
                  <a:alpha val="50000"/>
                </a:schemeClr>
              </a:solidFill>
            </p:spPr>
            <p:txBody>
              <a:bodyPr wrap="square" rtlCol="0">
                <a:spAutoFit/>
              </a:bodyPr>
              <a:lstStyle/>
              <a:p>
                <a:pPr>
                  <a:spcBef>
                    <a:spcPts val="600"/>
                  </a:spcBef>
                </a:pPr>
                <a:r>
                  <a:rPr lang="zh-CN" altLang="en-US" sz="2400" b="1">
                    <a:solidFill>
                      <a:srgbClr val="002060"/>
                    </a:solidFill>
                  </a:rPr>
                  <a:t>对公式</a:t>
                </a:r>
                <a14:m>
                  <m:oMath xmlns:m="http://schemas.openxmlformats.org/officeDocument/2006/math">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𝒚</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𝑯</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e>
                            </m:d>
                          </m:e>
                        </m:d>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𝒛</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𝑯</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𝒚</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𝒛</m:t>
                            </m:r>
                          </m:e>
                        </m:d>
                      </m:e>
                    </m:d>
                  </m:oMath>
                </a14:m>
                <a:endParaRPr lang="en-US" altLang="zh-CN" sz="2000" b="1"/>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𝑯</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e>
                    </m:d>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中的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指示变量；</a:t>
                </a:r>
                <a:r>
                  <a:rPr lang="en-US" altLang="zh-CN" sz="2000" b="1" i="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自由出现；</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(C)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约束出现</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e>
                    </m:d>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中的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指示变量；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自由出现；</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(C)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约束出现</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𝒛</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endParaRPr lang="zh-CN" altLang="en-US"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593070" y="1034130"/>
                <a:ext cx="9005853" cy="2568652"/>
              </a:xfrm>
              <a:prstGeom prst="rect">
                <a:avLst/>
              </a:prstGeom>
              <a:blipFill rotWithShape="1">
                <a:blip r:embed="rId2"/>
                <a:stretch>
                  <a:fillRect l="-5" t="-14" r="2" b="-129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152317" y="3752836"/>
                <a:ext cx="9887361" cy="2470356"/>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rPr>
                  <a:t>设解释的论域</a:t>
                </a:r>
                <a14:m>
                  <m:oMath xmlns:m="http://schemas.openxmlformats.org/officeDocument/2006/math">
                    <m:r>
                      <a:rPr lang="en-US" altLang="zh-CN" sz="2400" b="1" i="1" smtClean="0">
                        <a:solidFill>
                          <a:srgbClr val="002060"/>
                        </a:solidFill>
                        <a:latin typeface="Cambria Math" panose="02040503050406030204" pitchFamily="18" charset="0"/>
                      </a:rPr>
                      <m:t>𝑫</m:t>
                    </m:r>
                    <m:r>
                      <a:rPr lang="en-US" altLang="zh-CN" sz="2400" b="1" i="1" smtClean="0">
                        <a:solidFill>
                          <a:srgbClr val="002060"/>
                        </a:solidFill>
                        <a:latin typeface="Cambria Math" panose="02040503050406030204" pitchFamily="18" charset="0"/>
                      </a:rPr>
                      <m:t> = </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𝒂</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𝒃</m:t>
                    </m:r>
                    <m:r>
                      <m:rPr>
                        <m:lit/>
                      </m:rPr>
                      <a:rPr lang="en-US" altLang="zh-CN" sz="2400" b="1" i="1" smtClean="0">
                        <a:solidFill>
                          <a:srgbClr val="002060"/>
                        </a:solidFill>
                        <a:latin typeface="Cambria Math" panose="02040503050406030204" pitchFamily="18" charset="0"/>
                      </a:rPr>
                      <m:t>}</m:t>
                    </m:r>
                  </m:oMath>
                </a14:m>
                <a:r>
                  <a:rPr lang="zh-CN" altLang="en-US" sz="2400" b="1">
                    <a:solidFill>
                      <a:srgbClr val="002060"/>
                    </a:solidFill>
                  </a:rPr>
                  <a:t>，公式</a:t>
                </a:r>
                <a14:m>
                  <m:oMath xmlns:m="http://schemas.openxmlformats.org/officeDocument/2006/math">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𝒚𝑮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𝒚</m:t>
                            </m:r>
                          </m:e>
                        </m:d>
                      </m:e>
                    </m:d>
                  </m:oMath>
                </a14:m>
                <a:r>
                  <a:rPr lang="zh-CN" altLang="en-US" sz="2400" b="1">
                    <a:solidFill>
                      <a:srgbClr val="002060"/>
                    </a:solidFill>
                  </a:rPr>
                  <a:t>在该论域的展开是：</a:t>
                </a:r>
              </a:p>
              <a:p>
                <a:pPr marL="342900" indent="-342900">
                  <a:spcBef>
                    <a:spcPts val="600"/>
                  </a:spcBef>
                  <a:buFont typeface="+mj-lt"/>
                  <a:buAutoNum type="alphaU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oMath>
                </a14:m>
                <a:endParaRPr lang="zh-CN" altLang="en-US"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152317" y="3752836"/>
                <a:ext cx="9887361" cy="2470356"/>
              </a:xfrm>
              <a:prstGeom prst="rect">
                <a:avLst/>
              </a:prstGeom>
              <a:blipFill rotWithShape="1">
                <a:blip r:embed="rId3"/>
                <a:stretch>
                  <a:fillRect l="-4" t="-25" r="2" b="8"/>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一阶逻辑公式在有限论域展开练习</a:t>
            </a:r>
          </a:p>
        </p:txBody>
      </p:sp>
      <mc:AlternateContent xmlns:mc="http://schemas.openxmlformats.org/markup-compatibility/2006" xmlns:a14="http://schemas.microsoft.com/office/drawing/2010/main">
        <mc:Choice Requires="a14">
          <p:sp>
            <p:nvSpPr>
              <p:cNvPr id="4" name="文本框 3"/>
              <p:cNvSpPr txBox="1"/>
              <p:nvPr/>
            </p:nvSpPr>
            <p:spPr>
              <a:xfrm>
                <a:off x="1593070" y="1034130"/>
                <a:ext cx="9005853" cy="2568652"/>
              </a:xfrm>
              <a:prstGeom prst="rect">
                <a:avLst/>
              </a:prstGeom>
              <a:solidFill>
                <a:schemeClr val="accent5">
                  <a:lumMod val="20000"/>
                  <a:lumOff val="80000"/>
                  <a:alpha val="50000"/>
                </a:schemeClr>
              </a:solidFill>
            </p:spPr>
            <p:txBody>
              <a:bodyPr wrap="square" rtlCol="0">
                <a:spAutoFit/>
              </a:bodyPr>
              <a:lstStyle/>
              <a:p>
                <a:pPr>
                  <a:spcBef>
                    <a:spcPts val="600"/>
                  </a:spcBef>
                </a:pPr>
                <a:r>
                  <a:rPr lang="zh-CN" altLang="en-US" sz="2400" b="1">
                    <a:solidFill>
                      <a:srgbClr val="002060"/>
                    </a:solidFill>
                  </a:rPr>
                  <a:t>对公式</a:t>
                </a:r>
                <a14:m>
                  <m:oMath xmlns:m="http://schemas.openxmlformats.org/officeDocument/2006/math">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𝒚</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𝑯</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𝒚</m:t>
                                </m:r>
                              </m:e>
                            </m:d>
                          </m:e>
                        </m:d>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𝒛</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𝑯</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𝒚</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𝒛</m:t>
                            </m:r>
                          </m:e>
                        </m:d>
                      </m:e>
                    </m:d>
                  </m:oMath>
                </a14:m>
                <a:endParaRPr lang="en-US" altLang="zh-CN" sz="2000" b="1"/>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𝑯</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e>
                    </m:d>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中的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指示变量；</a:t>
                </a:r>
                <a:r>
                  <a:rPr lang="en-US" altLang="zh-CN" sz="2000" b="1" i="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自由出现；</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(C)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约束出现</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其中</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𝑮</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𝒙</m:t>
                        </m:r>
                        <m:r>
                          <a:rPr lang="en-US" altLang="zh-CN" sz="2000" b="1" i="1">
                            <a:solidFill>
                              <a:schemeClr val="accent6">
                                <a:lumMod val="50000"/>
                              </a:schemeClr>
                            </a:solidFill>
                            <a:latin typeface="Cambria Math" panose="02040503050406030204" pitchFamily="18" charset="0"/>
                          </a:rPr>
                          <m:t>, </m:t>
                        </m:r>
                        <m:r>
                          <a:rPr lang="en-US" altLang="zh-CN" sz="2000" b="1" i="1">
                            <a:solidFill>
                              <a:schemeClr val="accent6">
                                <a:lumMod val="50000"/>
                              </a:schemeClr>
                            </a:solidFill>
                            <a:latin typeface="Cambria Math" panose="02040503050406030204" pitchFamily="18" charset="0"/>
                          </a:rPr>
                          <m:t>𝒚</m:t>
                        </m:r>
                      </m:e>
                    </m:d>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中的</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指示变量；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自由出现；</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(C)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约束出现</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𝒚</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p>
              <a:p>
                <a:pPr marL="342900" indent="-342900">
                  <a:spcBef>
                    <a:spcPts val="600"/>
                  </a:spcBef>
                  <a:buFont typeface="+mj-lt"/>
                  <a:buAutoNum type="arabicPeriod"/>
                </a:pP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个体变量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𝒛</m:t>
                    </m:r>
                  </m:oMath>
                </a14:m>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是上述公式的：</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(A)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自由变量；</a:t>
                </a:r>
                <a:r>
                  <a:rPr lang="en-US" altLang="zh-CN"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	(B) </a:t>
                </a:r>
                <a:r>
                  <a:rPr lang="zh-CN" altLang="en-US" sz="2000"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约束变量</a:t>
                </a:r>
                <a:endParaRPr lang="zh-CN" altLang="en-US" b="1">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593070" y="1034130"/>
                <a:ext cx="9005853" cy="2568652"/>
              </a:xfrm>
              <a:prstGeom prst="rect">
                <a:avLst/>
              </a:prstGeom>
              <a:blipFill rotWithShape="1">
                <a:blip r:embed="rId2"/>
                <a:stretch>
                  <a:fillRect l="-5" t="-14" r="2" b="-129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152317" y="3752836"/>
                <a:ext cx="9887361" cy="2470356"/>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rPr>
                  <a:t>设解释的论域</a:t>
                </a:r>
                <a14:m>
                  <m:oMath xmlns:m="http://schemas.openxmlformats.org/officeDocument/2006/math">
                    <m:r>
                      <a:rPr lang="en-US" altLang="zh-CN" sz="2400" b="1" i="1" smtClean="0">
                        <a:solidFill>
                          <a:srgbClr val="002060"/>
                        </a:solidFill>
                        <a:latin typeface="Cambria Math" panose="02040503050406030204" pitchFamily="18" charset="0"/>
                      </a:rPr>
                      <m:t>𝑫</m:t>
                    </m:r>
                    <m:r>
                      <a:rPr lang="en-US" altLang="zh-CN" sz="2400" b="1" i="1" smtClean="0">
                        <a:solidFill>
                          <a:srgbClr val="002060"/>
                        </a:solidFill>
                        <a:latin typeface="Cambria Math" panose="02040503050406030204" pitchFamily="18" charset="0"/>
                      </a:rPr>
                      <m:t> = </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𝒂</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𝒃</m:t>
                    </m:r>
                    <m:r>
                      <m:rPr>
                        <m:lit/>
                      </m:rPr>
                      <a:rPr lang="en-US" altLang="zh-CN" sz="2400" b="1" i="1" smtClean="0">
                        <a:solidFill>
                          <a:srgbClr val="002060"/>
                        </a:solidFill>
                        <a:latin typeface="Cambria Math" panose="02040503050406030204" pitchFamily="18" charset="0"/>
                      </a:rPr>
                      <m:t>}</m:t>
                    </m:r>
                  </m:oMath>
                </a14:m>
                <a:r>
                  <a:rPr lang="zh-CN" altLang="en-US" sz="2400" b="1">
                    <a:solidFill>
                      <a:srgbClr val="002060"/>
                    </a:solidFill>
                  </a:rPr>
                  <a:t>，公式</a:t>
                </a:r>
                <a14:m>
                  <m:oMath xmlns:m="http://schemas.openxmlformats.org/officeDocument/2006/math">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𝑭</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𝒚𝑮</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𝒚</m:t>
                            </m:r>
                          </m:e>
                        </m:d>
                      </m:e>
                    </m:d>
                  </m:oMath>
                </a14:m>
                <a:r>
                  <a:rPr lang="zh-CN" altLang="en-US" sz="2400" b="1">
                    <a:solidFill>
                      <a:srgbClr val="002060"/>
                    </a:solidFill>
                  </a:rPr>
                  <a:t>在该论域的展开是：</a:t>
                </a:r>
              </a:p>
              <a:p>
                <a:pPr marL="342900" indent="-342900">
                  <a:spcBef>
                    <a:spcPts val="600"/>
                  </a:spcBef>
                  <a:buFont typeface="+mj-lt"/>
                  <a:buAutoNum type="alphaUcPeriod"/>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𝒂</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e>
                    </m:d>
                  </m:oMath>
                </a14:m>
                <a:endParaRPr lang="en-US" altLang="zh-CN" sz="2000" b="1">
                  <a:solidFill>
                    <a:schemeClr val="accent2">
                      <a:lumMod val="50000"/>
                    </a:schemeClr>
                  </a:solidFill>
                </a:endParaRPr>
              </a:p>
              <a:p>
                <a:pPr marL="342900" indent="-342900">
                  <a:spcBef>
                    <a:spcPts val="600"/>
                  </a:spcBef>
                  <a:buFont typeface="+mj-lt"/>
                  <a:buAutoNum type="alphaUcPeriod"/>
                </a:pPr>
                <a14:m>
                  <m:oMath xmlns:m="http://schemas.openxmlformats.org/officeDocument/2006/math">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𝒂</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𝒃</m:t>
                            </m:r>
                          </m:e>
                        </m:d>
                      </m:e>
                    </m:d>
                  </m:oMath>
                </a14:m>
                <a:endParaRPr lang="zh-CN" altLang="en-US" sz="2000" b="1">
                  <a:solidFill>
                    <a:schemeClr val="accent2">
                      <a:lumMod val="50000"/>
                    </a:schemeClr>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152317" y="3752836"/>
                <a:ext cx="9887361" cy="2470356"/>
              </a:xfrm>
              <a:prstGeom prst="rect">
                <a:avLst/>
              </a:prstGeom>
              <a:blipFill rotWithShape="1">
                <a:blip r:embed="rId3"/>
                <a:stretch>
                  <a:fillRect l="-4" t="-25" r="2" b="8"/>
                </a:stretch>
              </a:blipFill>
            </p:spPr>
            <p:txBody>
              <a:bodyPr/>
              <a:lstStyle/>
              <a:p>
                <a:r>
                  <a:rPr lang="zh-CN" altLang="en-US">
                    <a:noFill/>
                  </a:rPr>
                  <a:t> </a:t>
                </a:r>
              </a:p>
            </p:txBody>
          </p:sp>
        </mc:Fallback>
      </mc:AlternateContent>
      <p:sp>
        <p:nvSpPr>
          <p:cNvPr id="12" name="文本框 11"/>
          <p:cNvSpPr txBox="1"/>
          <p:nvPr/>
        </p:nvSpPr>
        <p:spPr>
          <a:xfrm>
            <a:off x="6174200" y="1716432"/>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3" name="文本框 12"/>
          <p:cNvSpPr txBox="1"/>
          <p:nvPr/>
        </p:nvSpPr>
        <p:spPr>
          <a:xfrm>
            <a:off x="8003000" y="2087623"/>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4" name="文本框 13"/>
          <p:cNvSpPr txBox="1"/>
          <p:nvPr/>
        </p:nvSpPr>
        <p:spPr>
          <a:xfrm>
            <a:off x="4897987" y="2500683"/>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5" name="文本框 14"/>
          <p:cNvSpPr txBox="1"/>
          <p:nvPr/>
        </p:nvSpPr>
        <p:spPr>
          <a:xfrm>
            <a:off x="4897987" y="2831892"/>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6" name="文本框 15"/>
          <p:cNvSpPr txBox="1"/>
          <p:nvPr/>
        </p:nvSpPr>
        <p:spPr>
          <a:xfrm>
            <a:off x="7101757" y="3216144"/>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8" name="文本框 17"/>
          <p:cNvSpPr txBox="1"/>
          <p:nvPr/>
        </p:nvSpPr>
        <p:spPr>
          <a:xfrm>
            <a:off x="1056191" y="5360875"/>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一阶逻辑公式在无穷论域的真值确定</a:t>
            </a:r>
          </a:p>
        </p:txBody>
      </p:sp>
      <mc:AlternateContent xmlns:mc="http://schemas.openxmlformats.org/markup-compatibility/2006" xmlns:a14="http://schemas.microsoft.com/office/drawing/2010/main">
        <mc:Choice Requires="a14">
          <p:sp>
            <p:nvSpPr>
              <p:cNvPr id="11" name="文本框 10"/>
              <p:cNvSpPr txBox="1"/>
              <p:nvPr/>
            </p:nvSpPr>
            <p:spPr>
              <a:xfrm>
                <a:off x="619532" y="1550553"/>
                <a:ext cx="5407459" cy="1969770"/>
              </a:xfrm>
              <a:prstGeom prst="rect">
                <a:avLst/>
              </a:prstGeom>
              <a:solidFill>
                <a:schemeClr val="accent6">
                  <a:lumMod val="20000"/>
                  <a:lumOff val="80000"/>
                  <a:alpha val="15000"/>
                </a:schemeClr>
              </a:solidFill>
              <a:ln w="12700">
                <a:solidFill>
                  <a:schemeClr val="accent1">
                    <a:shade val="50000"/>
                  </a:schemeClr>
                </a:solidFill>
                <a:prstDash val="sysDash"/>
              </a:ln>
            </p:spPr>
            <p:txBody>
              <a:bodyPr wrap="square" rtlCol="0">
                <a:spAutoFit/>
              </a:bodyPr>
              <a:lstStyle/>
              <a:p>
                <a:pPr algn="ctr">
                  <a:spcAft>
                    <a:spcPts val="600"/>
                  </a:spcAft>
                </a:pPr>
                <a:r>
                  <a:rPr lang="zh-CN" altLang="en-US" sz="2000" b="1">
                    <a:solidFill>
                      <a:srgbClr val="C00000"/>
                    </a:solidFill>
                  </a:rPr>
                  <a:t>给定解释</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论域</a:t>
                </a:r>
                <a:r>
                  <a:rPr lang="zh-CN" altLang="en-US" b="1">
                    <a:solidFill>
                      <a:srgbClr val="002060"/>
                    </a:solidFill>
                    <a:latin typeface="楷体" panose="02010609060101010101" pitchFamily="49" charset="-122"/>
                    <a:ea typeface="楷体" panose="02010609060101010101" pitchFamily="49" charset="-122"/>
                  </a:rPr>
                  <a:t>是非空集合</a:t>
                </a:r>
                <a14:m>
                  <m:oMath xmlns:m="http://schemas.openxmlformats.org/officeDocument/2006/math">
                    <m:r>
                      <a:rPr lang="en-US" altLang="zh-CN" b="1" i="1" smtClean="0">
                        <a:solidFill>
                          <a:srgbClr val="002060"/>
                        </a:solidFill>
                        <a:latin typeface="Cambria Math" panose="02040503050406030204" pitchFamily="18" charset="0"/>
                      </a:rPr>
                      <m:t>𝑫</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ea typeface="Cambria Math" panose="02040503050406030204" pitchFamily="18" charset="0"/>
                      </a:rPr>
                      <m:t>ℤ</m:t>
                    </m:r>
                  </m:oMath>
                </a14:m>
                <a:r>
                  <a:rPr lang="zh-CN" altLang="en-US" b="1">
                    <a:solidFill>
                      <a:srgbClr val="002060"/>
                    </a:solidFill>
                    <a:latin typeface="楷体" panose="02010609060101010101" pitchFamily="49" charset="-122"/>
                    <a:ea typeface="楷体" panose="02010609060101010101" pitchFamily="49" charset="-122"/>
                  </a:rPr>
                  <a:t>，是整数集合，是无限集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𝑭</m:t>
                          </m:r>
                        </m:e>
                      </m:d>
                      <m:r>
                        <a:rPr lang="en-US" altLang="zh-CN" b="1" i="1">
                          <a:solidFill>
                            <a:srgbClr val="002060"/>
                          </a:solidFill>
                          <a:latin typeface="Cambria Math" panose="02040503050406030204" pitchFamily="18" charset="0"/>
                        </a:rPr>
                        <m:t>=</m:t>
                      </m:r>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ea typeface="Cambria Math" panose="02040503050406030204" pitchFamily="18" charset="0"/>
                            </a:rPr>
                            <m:t>ℤ</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&gt;</m:t>
                          </m:r>
                          <m:r>
                            <a:rPr lang="en-US" altLang="zh-CN" b="1" i="1" smtClean="0">
                              <a:solidFill>
                                <a:srgbClr val="002060"/>
                              </a:solidFill>
                              <a:latin typeface="Cambria Math" panose="02040503050406030204" pitchFamily="18" charset="0"/>
                            </a:rPr>
                            <m:t>𝟏</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i="1">
                  <a:solidFill>
                    <a:srgbClr val="002060"/>
                  </a:solidFill>
                  <a:latin typeface="Cambria Math" panose="02040503050406030204" pitchFamily="18" charset="0"/>
                </a:endParaRPr>
              </a:p>
              <a:p>
                <a:pPr algn="ctr">
                  <a:spcAft>
                    <a:spcPts val="600"/>
                  </a:spcAft>
                </a:pPr>
                <a14:m>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𝑮</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oMath>
                </a14:m>
                <a:r>
                  <a:rPr lang="zh-CN" altLang="en-US" b="1" i="0">
                    <a:solidFill>
                      <a:srgbClr val="002060"/>
                    </a:solidFill>
                    <a:latin typeface="+mj-lt"/>
                  </a:rPr>
                  <a:t>是</a:t>
                </a:r>
                <a14:m>
                  <m:oMath xmlns:m="http://schemas.openxmlformats.org/officeDocument/2006/math">
                    <m:r>
                      <a:rPr lang="en-US" altLang="zh-CN" b="1" i="1" smtClean="0">
                        <a:solidFill>
                          <a:srgbClr val="002060"/>
                        </a:solidFill>
                        <a:latin typeface="Cambria Math" panose="02040503050406030204" pitchFamily="18" charset="0"/>
                      </a:rPr>
                      <m:t>𝒙</m:t>
                    </m:r>
                  </m:oMath>
                </a14:m>
                <a:r>
                  <a:rPr lang="zh-CN" altLang="en-US" b="1" i="0">
                    <a:solidFill>
                      <a:srgbClr val="002060"/>
                    </a:solidFill>
                    <a:latin typeface="+mj-lt"/>
                  </a:rPr>
                  <a:t>的倍数</a:t>
                </a:r>
                <a14:m>
                  <m:oMath xmlns:m="http://schemas.openxmlformats.org/officeDocument/2006/math">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a14:m>
                <a:endParaRPr lang="en-US" altLang="zh-CN" b="1" i="1">
                  <a:solidFill>
                    <a:srgbClr val="002060"/>
                  </a:solidFill>
                  <a:latin typeface="Cambria Math" panose="02040503050406030204" pitchFamily="18"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en-US" altLang="zh-CN" b="1" i="1">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𝑯</m:t>
                          </m:r>
                        </m:e>
                      </m:d>
                      <m:r>
                        <a:rPr lang="en-US" altLang="zh-CN" b="1" i="1">
                          <a:solidFill>
                            <a:srgbClr val="002060"/>
                          </a:solidFill>
                          <a:latin typeface="Cambria Math" panose="02040503050406030204" pitchFamily="18" charset="0"/>
                        </a:rPr>
                        <m:t>=</m:t>
                      </m:r>
                      <m:r>
                        <m:rPr>
                          <m:lit/>
                        </m:rPr>
                        <a:rPr lang="en-US" altLang="zh-CN" b="1" i="1" smtClean="0">
                          <a:solidFill>
                            <a:srgbClr val="002060"/>
                          </a:solidFill>
                          <a:latin typeface="Cambria Math" panose="02040503050406030204" pitchFamily="18" charset="0"/>
                        </a:rPr>
                        <m:t>{</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𝒚</m:t>
                      </m:r>
                      <m:r>
                        <m:rPr>
                          <m:lit/>
                        </m:rP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m:t>
                      </m:r>
                      <m:r>
                        <m:rPr>
                          <m:lit/>
                        </m:rP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𝑫</m:t>
                      </m:r>
                    </m:oMath>
                  </m:oMathPara>
                </a14:m>
                <a:endParaRPr lang="en-US" altLang="zh-CN" b="1">
                  <a:solidFill>
                    <a:srgbClr val="002060"/>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619532" y="1550553"/>
                <a:ext cx="5407459" cy="1969770"/>
              </a:xfrm>
              <a:prstGeom prst="rect">
                <a:avLst/>
              </a:prstGeom>
              <a:blipFill rotWithShape="1">
                <a:blip r:embed="rId2"/>
                <a:stretch>
                  <a:fillRect l="-125" t="-349" r="-114" b="-296"/>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51790" y="3687044"/>
                <a:ext cx="5942942" cy="509178"/>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确定公式</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e>
                    </m:d>
                  </m:oMath>
                </a14:m>
                <a:r>
                  <a:rPr lang="zh-CN" altLang="en-US" sz="2400" b="1">
                    <a:solidFill>
                      <a:srgbClr val="002060"/>
                    </a:solidFill>
                    <a:latin typeface="楷体" panose="02010609060101010101" pitchFamily="49" charset="-122"/>
                    <a:ea typeface="楷体" panose="02010609060101010101" pitchFamily="49" charset="-122"/>
                  </a:rPr>
                  <a:t>的真值</a:t>
                </a:r>
                <a:endParaRPr lang="en-US" altLang="zh-CN" sz="24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51790" y="3687044"/>
                <a:ext cx="5942942" cy="509178"/>
              </a:xfrm>
              <a:prstGeom prst="rect">
                <a:avLst/>
              </a:prstGeom>
              <a:blipFill rotWithShape="1">
                <a:blip r:embed="rId3"/>
                <a:stretch>
                  <a:fillRect t="-46" r="10" b="-61205"/>
                </a:stretch>
              </a:blipFill>
            </p:spPr>
            <p:txBody>
              <a:bodyPr/>
              <a:lstStyle/>
              <a:p>
                <a:r>
                  <a:rPr lang="zh-CN" altLang="en-US">
                    <a:noFill/>
                  </a:rPr>
                  <a:t> </a:t>
                </a:r>
              </a:p>
            </p:txBody>
          </p:sp>
        </mc:Fallback>
      </mc:AlternateContent>
      <p:sp>
        <p:nvSpPr>
          <p:cNvPr id="13" name="文本框 12"/>
          <p:cNvSpPr txBox="1"/>
          <p:nvPr/>
        </p:nvSpPr>
        <p:spPr>
          <a:xfrm>
            <a:off x="301060" y="5234479"/>
            <a:ext cx="6044404" cy="400110"/>
          </a:xfrm>
          <a:prstGeom prst="rect">
            <a:avLst/>
          </a:prstGeom>
          <a:solidFill>
            <a:schemeClr val="accent4">
              <a:lumMod val="20000"/>
              <a:lumOff val="80000"/>
            </a:schemeClr>
          </a:solidFill>
        </p:spPr>
        <p:txBody>
          <a:bodyPr wrap="square" rtlCol="0">
            <a:spAutoFit/>
          </a:bodyPr>
          <a:lstStyle/>
          <a:p>
            <a:r>
              <a:rPr lang="zh-CN" altLang="en-US" sz="2000" b="1" dirty="0">
                <a:solidFill>
                  <a:schemeClr val="accent2">
                    <a:lumMod val="50000"/>
                  </a:schemeClr>
                </a:solidFill>
              </a:rPr>
              <a:t>这个公式是闭公式，因此不需要个体变量指派函数！</a:t>
            </a:r>
          </a:p>
        </p:txBody>
      </p:sp>
      <mc:AlternateContent xmlns:mc="http://schemas.openxmlformats.org/markup-compatibility/2006" xmlns:a14="http://schemas.microsoft.com/office/drawing/2010/main">
        <mc:Choice Requires="a14">
          <p:sp>
            <p:nvSpPr>
              <p:cNvPr id="2" name="文本框 1"/>
              <p:cNvSpPr txBox="1"/>
              <p:nvPr/>
            </p:nvSpPr>
            <p:spPr>
              <a:xfrm>
                <a:off x="6647488" y="1411387"/>
                <a:ext cx="4993019" cy="3405356"/>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dirty="0">
                    <a:solidFill>
                      <a:srgbClr val="002060"/>
                    </a:solidFill>
                  </a:rPr>
                  <a:t>在给定解释下，公式</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𝑭</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𝒚𝑮</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𝒚</m:t>
                            </m:r>
                          </m:e>
                        </m:d>
                      </m:e>
                    </m:d>
                  </m:oMath>
                </a14:m>
                <a:r>
                  <a:rPr lang="zh-CN" altLang="en-US" sz="2000" b="1" dirty="0">
                    <a:solidFill>
                      <a:srgbClr val="002060"/>
                    </a:solidFill>
                  </a:rPr>
                  <a:t>的含义是：</a:t>
                </a:r>
              </a:p>
              <a:p>
                <a:pPr marL="342900" indent="-342900">
                  <a:lnSpc>
                    <a:spcPts val="2800"/>
                  </a:lnSpc>
                  <a:spcBef>
                    <a:spcPts val="600"/>
                  </a:spcBef>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对任意整数</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dirty="0">
                    <a:solidFill>
                      <a:srgbClr val="C0000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rgbClr val="C00000"/>
                        </a:solidFill>
                        <a:latin typeface="Cambria Math" panose="02040503050406030204" pitchFamily="18" charset="0"/>
                      </a:rPr>
                      <m:t>𝑭</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oMath>
                </a14:m>
                <a:r>
                  <a:rPr lang="zh-CN" altLang="en-US" sz="2000" b="1" dirty="0">
                    <a:solidFill>
                      <a:srgbClr val="C00000"/>
                    </a:solidFill>
                    <a:latin typeface="楷体" panose="02010609060101010101" pitchFamily="49" charset="-122"/>
                    <a:ea typeface="楷体" panose="02010609060101010101" pitchFamily="49" charset="-122"/>
                  </a:rPr>
                  <a:t>，则存在整数</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dirty="0">
                    <a:solidFill>
                      <a:srgbClr val="C00000"/>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rgbClr val="C00000"/>
                        </a:solidFill>
                        <a:latin typeface="Cambria Math" panose="02040503050406030204" pitchFamily="18" charset="0"/>
                      </a:rPr>
                      <m:t>𝑮</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𝒚</m:t>
                    </m:r>
                    <m:r>
                      <a:rPr lang="en-US" altLang="zh-CN" sz="2000" b="1" i="1" smtClean="0">
                        <a:solidFill>
                          <a:srgbClr val="C00000"/>
                        </a:solidFill>
                        <a:latin typeface="Cambria Math" panose="02040503050406030204" pitchFamily="18" charset="0"/>
                      </a:rPr>
                      <m:t>)</m:t>
                    </m:r>
                  </m:oMath>
                </a14:m>
                <a:endParaRPr lang="en-US" altLang="zh-CN" sz="2000" b="1" dirty="0">
                  <a:solidFill>
                    <a:srgbClr val="C00000"/>
                  </a:solidFill>
                  <a:latin typeface="楷体" panose="02010609060101010101" pitchFamily="49" charset="-122"/>
                  <a:ea typeface="楷体" panose="02010609060101010101" pitchFamily="49" charset="-122"/>
                </a:endParaRPr>
              </a:p>
              <a:p>
                <a:pPr marL="342900" indent="-342900">
                  <a:lnSpc>
                    <a:spcPts val="2800"/>
                  </a:lnSpc>
                  <a:spcBef>
                    <a:spcPts val="600"/>
                  </a:spcBef>
                  <a:spcAft>
                    <a:spcPts val="600"/>
                  </a:spcAft>
                  <a:buFont typeface="Arial" panose="020B0604020202020204" pitchFamily="34" charset="0"/>
                  <a:buChar char="•"/>
                </a:pPr>
                <a:r>
                  <a:rPr lang="zh-CN" altLang="en-US" sz="2000" b="1" dirty="0">
                    <a:solidFill>
                      <a:srgbClr val="C00000"/>
                    </a:solidFill>
                    <a:latin typeface="楷体" panose="02010609060101010101" pitchFamily="49" charset="-122"/>
                    <a:ea typeface="楷体" panose="02010609060101010101" pitchFamily="49" charset="-122"/>
                  </a:rPr>
                  <a:t>也即，对任意整数</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dirty="0">
                    <a:solidFill>
                      <a:srgbClr val="C0000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&gt; </m:t>
                    </m:r>
                    <m:r>
                      <a:rPr lang="en-US" altLang="zh-CN" sz="2000" b="1" i="1" smtClean="0">
                        <a:solidFill>
                          <a:srgbClr val="C00000"/>
                        </a:solidFill>
                        <a:latin typeface="Cambria Math" panose="02040503050406030204" pitchFamily="18" charset="0"/>
                      </a:rPr>
                      <m:t>𝟏</m:t>
                    </m:r>
                  </m:oMath>
                </a14:m>
                <a:r>
                  <a:rPr lang="zh-CN" altLang="en-US" sz="2000" b="1" dirty="0">
                    <a:solidFill>
                      <a:srgbClr val="C00000"/>
                    </a:solidFill>
                    <a:latin typeface="楷体" panose="02010609060101010101" pitchFamily="49" charset="-122"/>
                    <a:ea typeface="楷体" panose="02010609060101010101" pitchFamily="49" charset="-122"/>
                  </a:rPr>
                  <a:t>，则存在整数</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dirty="0">
                    <a:solidFill>
                      <a:srgbClr val="C00000"/>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dirty="0">
                    <a:solidFill>
                      <a:srgbClr val="C00000"/>
                    </a:solidFill>
                    <a:latin typeface="楷体" panose="02010609060101010101" pitchFamily="49" charset="-122"/>
                    <a:ea typeface="楷体" panose="02010609060101010101" pitchFamily="49" charset="-122"/>
                  </a:rPr>
                  <a:t>是</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dirty="0">
                    <a:solidFill>
                      <a:srgbClr val="C00000"/>
                    </a:solidFill>
                    <a:latin typeface="楷体" panose="02010609060101010101" pitchFamily="49" charset="-122"/>
                    <a:ea typeface="楷体" panose="02010609060101010101" pitchFamily="49" charset="-122"/>
                  </a:rPr>
                  <a:t>的倍数</a:t>
                </a:r>
              </a:p>
              <a:p>
                <a:pPr>
                  <a:lnSpc>
                    <a:spcPts val="2800"/>
                  </a:lnSpc>
                  <a:spcBef>
                    <a:spcPts val="600"/>
                  </a:spcBef>
                  <a:spcAft>
                    <a:spcPts val="600"/>
                  </a:spcAft>
                </a:pPr>
                <a:r>
                  <a:rPr lang="zh-CN" altLang="en-US" sz="2000" b="1" dirty="0">
                    <a:solidFill>
                      <a:srgbClr val="002060"/>
                    </a:solidFill>
                  </a:rPr>
                  <a:t>因此，根据我们熟知的整数性质，该公式在上述解释下的真值为真</a:t>
                </a:r>
              </a:p>
            </p:txBody>
          </p:sp>
        </mc:Choice>
        <mc:Fallback xmlns="">
          <p:sp>
            <p:nvSpPr>
              <p:cNvPr id="2" name="文本框 1"/>
              <p:cNvSpPr txBox="1">
                <a:spLocks noRot="1" noChangeAspect="1" noMove="1" noResize="1" noEditPoints="1" noAdjustHandles="1" noChangeArrowheads="1" noChangeShapeType="1" noTextEdit="1"/>
              </p:cNvSpPr>
              <p:nvPr/>
            </p:nvSpPr>
            <p:spPr>
              <a:xfrm>
                <a:off x="6647488" y="1411387"/>
                <a:ext cx="4993019" cy="3405356"/>
              </a:xfrm>
              <a:prstGeom prst="rect">
                <a:avLst/>
              </a:prstGeom>
              <a:blipFill rotWithShape="1">
                <a:blip r:embed="rId4"/>
                <a:stretch>
                  <a:fillRect l="-6" t="-12" r="6" b="8"/>
                </a:stretch>
              </a:blipFill>
            </p:spPr>
            <p:txBody>
              <a:bodyPr/>
              <a:lstStyle/>
              <a:p>
                <a:r>
                  <a:rPr lang="zh-CN" altLang="en-US">
                    <a:noFill/>
                  </a:rPr>
                  <a:t> </a:t>
                </a:r>
              </a:p>
            </p:txBody>
          </p:sp>
        </mc:Fallback>
      </mc:AlternateContent>
      <p:sp>
        <p:nvSpPr>
          <p:cNvPr id="3" name="文本框 2"/>
          <p:cNvSpPr txBox="1"/>
          <p:nvPr/>
        </p:nvSpPr>
        <p:spPr>
          <a:xfrm>
            <a:off x="6742876" y="5080591"/>
            <a:ext cx="4802244" cy="707886"/>
          </a:xfrm>
          <a:prstGeom prst="rect">
            <a:avLst/>
          </a:prstGeom>
          <a:solidFill>
            <a:schemeClr val="accent4">
              <a:lumMod val="40000"/>
              <a:lumOff val="60000"/>
            </a:schemeClr>
          </a:solidFill>
        </p:spPr>
        <p:txBody>
          <a:bodyPr wrap="square" rtlCol="0">
            <a:spAutoFit/>
          </a:bodyPr>
          <a:lstStyle/>
          <a:p>
            <a:r>
              <a:rPr lang="zh-CN" altLang="en-US" sz="2000" b="1">
                <a:solidFill>
                  <a:srgbClr val="002060"/>
                </a:solidFill>
              </a:rPr>
              <a:t>论域无穷时只能基于量词的语义，根据与论域相关的常识，直观地确定公式的真值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一阶逻辑公式在无穷论域的真值确定练习</a:t>
            </a:r>
            <a:r>
              <a:rPr lang="en-US" altLang="zh-CN"/>
              <a:t>*</a:t>
            </a:r>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2250913" y="1694132"/>
                <a:ext cx="7690172" cy="2031325"/>
              </a:xfrm>
              <a:prstGeom prst="rect">
                <a:avLst/>
              </a:prstGeom>
              <a:solidFill>
                <a:schemeClr val="accent2">
                  <a:lumMod val="20000"/>
                  <a:lumOff val="80000"/>
                  <a:alpha val="25000"/>
                </a:schemeClr>
              </a:solidFill>
              <a:ln w="12700">
                <a:solidFill>
                  <a:schemeClr val="accent1">
                    <a:shade val="50000"/>
                  </a:schemeClr>
                </a:solidFill>
                <a:prstDash val="sysDash"/>
              </a:ln>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给定下面的解释，论域是自然数集</a:t>
                </a:r>
                <a14:m>
                  <m:oMath xmlns:m="http://schemas.openxmlformats.org/officeDocument/2006/math">
                    <m:r>
                      <a:rPr lang="en-US" altLang="zh-CN" sz="2400" b="1" i="1">
                        <a:solidFill>
                          <a:srgbClr val="002060"/>
                        </a:solidFill>
                        <a:latin typeface="Cambria Math" panose="02040503050406030204" pitchFamily="18" charset="0"/>
                        <a:ea typeface="Cambria Math" panose="02040503050406030204" pitchFamily="18" charset="0"/>
                      </a:rPr>
                      <m:t>ℕ</m:t>
                    </m:r>
                  </m:oMath>
                </a14:m>
                <a:endParaRPr lang="en-US" altLang="zh-CN" sz="24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宋体" panose="02010600030101010101" pitchFamily="2" charset="-122"/>
                    <a:ea typeface="宋体" panose="02010600030101010101" pitchFamily="2" charset="-122"/>
                  </a:rPr>
                  <a:t>常量符号</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分别解释为自然数</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𝟏</m:t>
                    </m:r>
                  </m:oMath>
                </a14:m>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宋体" panose="02010600030101010101" pitchFamily="2" charset="-122"/>
                    <a:ea typeface="宋体" panose="02010600030101010101" pitchFamily="2" charset="-122"/>
                  </a:rPr>
                  <a:t>二元函数符号</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分别解释为</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sz="2400" b="1">
                    <a:solidFill>
                      <a:schemeClr val="accent6">
                        <a:lumMod val="50000"/>
                      </a:schemeClr>
                    </a:solidFill>
                    <a:latin typeface="宋体" panose="02010600030101010101" pitchFamily="2" charset="-122"/>
                    <a:ea typeface="宋体" panose="02010600030101010101" pitchFamily="2" charset="-122"/>
                  </a:rPr>
                  <a:t>上的加法和乘法运算</a:t>
                </a:r>
                <a:endParaRPr lang="en-US" altLang="zh-CN" sz="2400"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宋体" panose="02010600030101010101" pitchFamily="2" charset="-122"/>
                    <a:ea typeface="宋体" panose="02010600030101010101" pitchFamily="2" charset="-122"/>
                  </a:rPr>
                  <a:t>二元谓词符号</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a:solidFill>
                          <a:schemeClr val="accent6">
                            <a:lumMod val="50000"/>
                          </a:schemeClr>
                        </a:solidFill>
                        <a:latin typeface="Cambria Math" panose="02040503050406030204" pitchFamily="18" charset="0"/>
                        <a:ea typeface="宋体" panose="02010600030101010101" pitchFamily="2" charset="-122"/>
                      </a:rPr>
                      <m:t>, </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2400" b="1">
                    <a:solidFill>
                      <a:schemeClr val="accent6">
                        <a:lumMod val="50000"/>
                      </a:schemeClr>
                    </a:solidFill>
                    <a:latin typeface="宋体" panose="02010600030101010101" pitchFamily="2" charset="-122"/>
                    <a:ea typeface="宋体" panose="02010600030101010101" pitchFamily="2" charset="-122"/>
                  </a:rPr>
                  <a:t>分别解释</a:t>
                </a:r>
                <a14:m>
                  <m:oMath xmlns:m="http://schemas.openxmlformats.org/officeDocument/2006/math">
                    <m:r>
                      <a:rPr lang="en-US" altLang="zh-CN" sz="2400"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sz="2400" b="1">
                    <a:solidFill>
                      <a:schemeClr val="accent6">
                        <a:lumMod val="50000"/>
                      </a:schemeClr>
                    </a:solidFill>
                    <a:latin typeface="宋体" panose="02010600030101010101" pitchFamily="2" charset="-122"/>
                    <a:ea typeface="宋体" panose="02010600030101010101" pitchFamily="2" charset="-122"/>
                  </a:rPr>
                  <a:t>上的小于等于和相等关系</a:t>
                </a:r>
              </a:p>
            </p:txBody>
          </p:sp>
        </mc:Choice>
        <mc:Fallback xmlns="">
          <p:sp>
            <p:nvSpPr>
              <p:cNvPr id="11" name="文本框 10"/>
              <p:cNvSpPr txBox="1">
                <a:spLocks noRot="1" noChangeAspect="1" noMove="1" noResize="1" noEditPoints="1" noAdjustHandles="1" noChangeArrowheads="1" noChangeShapeType="1" noTextEdit="1"/>
              </p:cNvSpPr>
              <p:nvPr/>
            </p:nvSpPr>
            <p:spPr>
              <a:xfrm>
                <a:off x="2250913" y="1694132"/>
                <a:ext cx="7690172" cy="2031325"/>
              </a:xfrm>
              <a:prstGeom prst="rect">
                <a:avLst/>
              </a:prstGeom>
              <a:blipFill rotWithShape="1">
                <a:blip r:embed="rId2"/>
                <a:stretch>
                  <a:fillRect l="-89" t="-342" r="-80" b="-14759"/>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3011725" y="3976335"/>
                <a:ext cx="6168548" cy="1600951"/>
              </a:xfrm>
              <a:prstGeom prst="rect">
                <a:avLst/>
              </a:prstGeom>
              <a:solidFill>
                <a:schemeClr val="accent6">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确定下面公式的真值：</a:t>
                </a:r>
                <a:endParaRPr lang="en-US" altLang="zh-CN" sz="2400" b="1">
                  <a:solidFill>
                    <a:srgbClr val="002060"/>
                  </a:solidFill>
                  <a:latin typeface="楷体" panose="02010609060101010101" pitchFamily="49" charset="-122"/>
                  <a:ea typeface="楷体" panose="02010609060101010101" pitchFamily="49" charset="-122"/>
                </a:endParaRPr>
              </a:p>
              <a:p>
                <a:pPr algn="ctr">
                  <a:lnSpc>
                    <a:spcPts val="4000"/>
                  </a:lnSpc>
                  <a:spcBef>
                    <a:spcPts val="600"/>
                  </a:spcBef>
                  <a:spcAft>
                    <a:spcPts val="600"/>
                  </a:spcAft>
                </a:pPr>
                <a14:m>
                  <m:oMath xmlns:m="http://schemas.openxmlformats.org/officeDocument/2006/math">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𝒙</m:t>
                    </m:r>
                    <m:d>
                      <m:dPr>
                        <m:ctrlPr>
                          <a:rPr lang="es-ES" altLang="zh-CN" sz="2400" b="1" i="1" smtClean="0">
                            <a:solidFill>
                              <a:schemeClr val="accent2">
                                <a:lumMod val="50000"/>
                              </a:schemeClr>
                            </a:solidFill>
                            <a:latin typeface="Cambria Math" panose="02040503050406030204" pitchFamily="18" charset="0"/>
                          </a:rPr>
                        </m:ctrlPr>
                      </m:dPr>
                      <m:e>
                        <m:d>
                          <m:dPr>
                            <m:ctrlPr>
                              <a:rPr lang="es-ES" altLang="zh-CN" sz="2400" b="1" i="1" smtClean="0">
                                <a:solidFill>
                                  <a:schemeClr val="accent2">
                                    <a:lumMod val="50000"/>
                                  </a:schemeClr>
                                </a:solidFill>
                                <a:latin typeface="Cambria Math" panose="02040503050406030204" pitchFamily="18" charset="0"/>
                              </a:rPr>
                            </m:ctrlPr>
                          </m:dPr>
                          <m:e>
                            <m:r>
                              <a:rPr lang="es-ES" altLang="zh-CN" sz="2400" b="1" i="1" smtClean="0">
                                <a:solidFill>
                                  <a:schemeClr val="accent2">
                                    <a:lumMod val="50000"/>
                                  </a:schemeClr>
                                </a:solidFill>
                                <a:latin typeface="Cambria Math" panose="02040503050406030204" pitchFamily="18" charset="0"/>
                              </a:rPr>
                              <m:t>𝟎</m:t>
                            </m:r>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𝒙</m:t>
                            </m:r>
                          </m:e>
                        </m:d>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𝒚</m:t>
                        </m:r>
                        <m:d>
                          <m:dPr>
                            <m:ctrlPr>
                              <a:rPr lang="es-ES" altLang="zh-CN" sz="2400" b="1" i="1" smtClean="0">
                                <a:solidFill>
                                  <a:schemeClr val="accent2">
                                    <a:lumMod val="50000"/>
                                  </a:schemeClr>
                                </a:solidFill>
                                <a:latin typeface="Cambria Math" panose="02040503050406030204" pitchFamily="18" charset="0"/>
                              </a:rPr>
                            </m:ctrlPr>
                          </m:dPr>
                          <m:e>
                            <m:r>
                              <a:rPr lang="es-ES" altLang="zh-CN" sz="2400" b="1" i="1" smtClean="0">
                                <a:solidFill>
                                  <a:schemeClr val="accent2">
                                    <a:lumMod val="50000"/>
                                  </a:schemeClr>
                                </a:solidFill>
                                <a:latin typeface="Cambria Math" panose="02040503050406030204" pitchFamily="18" charset="0"/>
                              </a:rPr>
                              <m:t>𝒙</m:t>
                            </m:r>
                            <m:r>
                              <a:rPr lang="es-ES" altLang="zh-CN" sz="2400" b="1" i="1" smtClean="0">
                                <a:solidFill>
                                  <a:schemeClr val="accent2">
                                    <a:lumMod val="50000"/>
                                  </a:schemeClr>
                                </a:solidFill>
                                <a:latin typeface="Cambria Math" panose="02040503050406030204" pitchFamily="18" charset="0"/>
                              </a:rPr>
                              <m:t> = </m:t>
                            </m:r>
                            <m:r>
                              <a:rPr lang="es-ES" altLang="zh-CN" sz="2400" b="1" i="1" smtClean="0">
                                <a:solidFill>
                                  <a:schemeClr val="accent2">
                                    <a:lumMod val="50000"/>
                                  </a:schemeClr>
                                </a:solidFill>
                                <a:latin typeface="Cambria Math" panose="02040503050406030204" pitchFamily="18" charset="0"/>
                              </a:rPr>
                              <m:t>𝒚</m:t>
                            </m:r>
                            <m:r>
                              <a:rPr lang="es-ES" altLang="zh-CN" sz="2400" b="1" i="1" smtClean="0">
                                <a:solidFill>
                                  <a:schemeClr val="accent2">
                                    <a:lumMod val="50000"/>
                                  </a:schemeClr>
                                </a:solidFill>
                                <a:latin typeface="Cambria Math" panose="02040503050406030204" pitchFamily="18" charset="0"/>
                              </a:rPr>
                              <m:t> ∗ </m:t>
                            </m:r>
                            <m:r>
                              <a:rPr lang="es-ES" altLang="zh-CN" sz="2400" b="1" i="1">
                                <a:solidFill>
                                  <a:schemeClr val="accent2">
                                    <a:lumMod val="50000"/>
                                  </a:schemeClr>
                                </a:solidFill>
                                <a:latin typeface="Cambria Math" panose="02040503050406030204" pitchFamily="18" charset="0"/>
                              </a:rPr>
                              <m:t>𝒚</m:t>
                            </m:r>
                          </m:e>
                        </m:d>
                      </m:e>
                    </m:d>
                  </m:oMath>
                </a14:m>
                <a:r>
                  <a:rPr lang="es-ES" altLang="zh-CN" sz="2400" b="1">
                    <a:solidFill>
                      <a:schemeClr val="accent2">
                        <a:lumMod val="50000"/>
                      </a:schemeClr>
                    </a:solidFill>
                  </a:rPr>
                  <a:t>           </a:t>
                </a:r>
                <a14:m>
                  <m:oMath xmlns:m="http://schemas.openxmlformats.org/officeDocument/2006/math">
                    <m:d>
                      <m:dPr>
                        <m:ctrlPr>
                          <a:rPr lang="es-ES" altLang="zh-CN" sz="2400" b="1" i="1" smtClean="0">
                            <a:solidFill>
                              <a:schemeClr val="accent2">
                                <a:lumMod val="50000"/>
                              </a:schemeClr>
                            </a:solidFill>
                            <a:latin typeface="Cambria Math" panose="02040503050406030204" pitchFamily="18" charset="0"/>
                          </a:rPr>
                        </m:ctrlPr>
                      </m:dPr>
                      <m:e>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𝒙</m:t>
                        </m:r>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𝒚</m:t>
                        </m:r>
                        <m:d>
                          <m:dPr>
                            <m:ctrlPr>
                              <a:rPr lang="es-ES" altLang="zh-CN" sz="2400" b="1" i="1" smtClean="0">
                                <a:solidFill>
                                  <a:schemeClr val="accent2">
                                    <a:lumMod val="50000"/>
                                  </a:schemeClr>
                                </a:solidFill>
                                <a:latin typeface="Cambria Math" panose="02040503050406030204" pitchFamily="18" charset="0"/>
                              </a:rPr>
                            </m:ctrlPr>
                          </m:dPr>
                          <m:e>
                            <m:r>
                              <a:rPr lang="es-ES" altLang="zh-CN" sz="2400" b="1" i="1" smtClean="0">
                                <a:solidFill>
                                  <a:schemeClr val="accent2">
                                    <a:lumMod val="50000"/>
                                  </a:schemeClr>
                                </a:solidFill>
                                <a:latin typeface="Cambria Math" panose="02040503050406030204" pitchFamily="18" charset="0"/>
                              </a:rPr>
                              <m:t>𝒙</m:t>
                            </m:r>
                            <m:r>
                              <a:rPr lang="es-ES" altLang="zh-CN" sz="2400" b="1" i="1" smtClean="0">
                                <a:solidFill>
                                  <a:schemeClr val="accent2">
                                    <a:lumMod val="50000"/>
                                  </a:schemeClr>
                                </a:solidFill>
                                <a:latin typeface="Cambria Math" panose="02040503050406030204" pitchFamily="18" charset="0"/>
                              </a:rPr>
                              <m:t> + </m:t>
                            </m:r>
                            <m:r>
                              <a:rPr lang="es-ES" altLang="zh-CN" sz="2400" b="1" i="1" smtClean="0">
                                <a:solidFill>
                                  <a:schemeClr val="accent2">
                                    <a:lumMod val="50000"/>
                                  </a:schemeClr>
                                </a:solidFill>
                                <a:latin typeface="Cambria Math" panose="02040503050406030204" pitchFamily="18" charset="0"/>
                              </a:rPr>
                              <m:t>𝒚</m:t>
                            </m:r>
                            <m:r>
                              <a:rPr lang="es-ES" altLang="zh-CN" sz="2400" b="1" i="1" smtClean="0">
                                <a:solidFill>
                                  <a:schemeClr val="accent2">
                                    <a:lumMod val="50000"/>
                                  </a:schemeClr>
                                </a:solidFill>
                                <a:latin typeface="Cambria Math" panose="02040503050406030204" pitchFamily="18" charset="0"/>
                              </a:rPr>
                              <m:t> = </m:t>
                            </m:r>
                            <m:r>
                              <a:rPr lang="es-ES" altLang="zh-CN" sz="2400" b="1" i="1" smtClean="0">
                                <a:solidFill>
                                  <a:schemeClr val="accent2">
                                    <a:lumMod val="50000"/>
                                  </a:schemeClr>
                                </a:solidFill>
                                <a:latin typeface="Cambria Math" panose="02040503050406030204" pitchFamily="18" charset="0"/>
                              </a:rPr>
                              <m:t>𝒚</m:t>
                            </m:r>
                          </m:e>
                        </m:d>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𝒙</m:t>
                        </m:r>
                        <m:r>
                          <a:rPr lang="es-ES" altLang="zh-CN" sz="2400" b="1" i="1" smtClean="0">
                            <a:solidFill>
                              <a:schemeClr val="accent2">
                                <a:lumMod val="50000"/>
                              </a:schemeClr>
                            </a:solidFill>
                            <a:latin typeface="Cambria Math" panose="02040503050406030204" pitchFamily="18" charset="0"/>
                          </a:rPr>
                          <m:t>∃</m:t>
                        </m:r>
                        <m:r>
                          <a:rPr lang="es-ES" altLang="zh-CN" sz="2400" b="1" i="1" smtClean="0">
                            <a:solidFill>
                              <a:schemeClr val="accent2">
                                <a:lumMod val="50000"/>
                              </a:schemeClr>
                            </a:solidFill>
                            <a:latin typeface="Cambria Math" panose="02040503050406030204" pitchFamily="18" charset="0"/>
                          </a:rPr>
                          <m:t>𝒚</m:t>
                        </m:r>
                        <m:d>
                          <m:dPr>
                            <m:ctrlPr>
                              <a:rPr lang="es-ES" altLang="zh-CN" sz="2400" b="1" i="1" smtClean="0">
                                <a:solidFill>
                                  <a:schemeClr val="accent2">
                                    <a:lumMod val="50000"/>
                                  </a:schemeClr>
                                </a:solidFill>
                                <a:latin typeface="Cambria Math" panose="02040503050406030204" pitchFamily="18" charset="0"/>
                              </a:rPr>
                            </m:ctrlPr>
                          </m:dPr>
                          <m:e>
                            <m:r>
                              <a:rPr lang="es-ES" altLang="zh-CN" sz="2400" b="1" i="1" smtClean="0">
                                <a:solidFill>
                                  <a:schemeClr val="accent2">
                                    <a:lumMod val="50000"/>
                                  </a:schemeClr>
                                </a:solidFill>
                                <a:latin typeface="Cambria Math" panose="02040503050406030204" pitchFamily="18" charset="0"/>
                              </a:rPr>
                              <m:t>𝒙</m:t>
                            </m:r>
                            <m:r>
                              <a:rPr lang="es-ES" altLang="zh-CN" sz="2400" b="1" i="1" smtClean="0">
                                <a:solidFill>
                                  <a:schemeClr val="accent2">
                                    <a:lumMod val="50000"/>
                                  </a:schemeClr>
                                </a:solidFill>
                                <a:latin typeface="Cambria Math" panose="02040503050406030204" pitchFamily="18" charset="0"/>
                              </a:rPr>
                              <m:t> ∗ </m:t>
                            </m:r>
                            <m:r>
                              <a:rPr lang="es-ES" altLang="zh-CN" sz="2400" b="1" i="1" smtClean="0">
                                <a:solidFill>
                                  <a:schemeClr val="accent2">
                                    <a:lumMod val="50000"/>
                                  </a:schemeClr>
                                </a:solidFill>
                                <a:latin typeface="Cambria Math" panose="02040503050406030204" pitchFamily="18" charset="0"/>
                              </a:rPr>
                              <m:t>𝒚</m:t>
                            </m:r>
                            <m:r>
                              <a:rPr lang="es-ES" altLang="zh-CN" sz="2400" b="1" i="1" smtClean="0">
                                <a:solidFill>
                                  <a:schemeClr val="accent2">
                                    <a:lumMod val="50000"/>
                                  </a:schemeClr>
                                </a:solidFill>
                                <a:latin typeface="Cambria Math" panose="02040503050406030204" pitchFamily="18" charset="0"/>
                              </a:rPr>
                              <m:t> = </m:t>
                            </m:r>
                            <m:r>
                              <a:rPr lang="es-ES" altLang="zh-CN" sz="2400" b="1" i="1">
                                <a:solidFill>
                                  <a:schemeClr val="accent2">
                                    <a:lumMod val="50000"/>
                                  </a:schemeClr>
                                </a:solidFill>
                                <a:latin typeface="Cambria Math" panose="02040503050406030204" pitchFamily="18" charset="0"/>
                              </a:rPr>
                              <m:t>𝟏</m:t>
                            </m:r>
                          </m:e>
                        </m:d>
                      </m:e>
                    </m:d>
                  </m:oMath>
                </a14:m>
                <a:endParaRPr lang="es-ES" altLang="zh-CN" b="1">
                  <a:solidFill>
                    <a:schemeClr val="accent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011725" y="3976335"/>
                <a:ext cx="6168548" cy="1600951"/>
              </a:xfrm>
              <a:prstGeom prst="rect">
                <a:avLst/>
              </a:prstGeom>
              <a:blipFill rotWithShape="1">
                <a:blip r:embed="rId3"/>
                <a:stretch>
                  <a:fillRect l="-9" t="-37" r="1" b="5"/>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一阶逻辑公式的真值</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一阶逻辑公式在无穷论域的真值确定练习</a:t>
            </a:r>
            <a:r>
              <a:rPr lang="en-US" altLang="zh-CN"/>
              <a:t>*</a:t>
            </a:r>
            <a:endParaRPr lang="zh-CN" altLang="en-US"/>
          </a:p>
        </p:txBody>
      </p:sp>
      <mc:AlternateContent xmlns:mc="http://schemas.openxmlformats.org/markup-compatibility/2006" xmlns:a14="http://schemas.microsoft.com/office/drawing/2010/main">
        <mc:Choice Requires="a14">
          <p:sp>
            <p:nvSpPr>
              <p:cNvPr id="11" name="文本框 10"/>
              <p:cNvSpPr txBox="1"/>
              <p:nvPr/>
            </p:nvSpPr>
            <p:spPr>
              <a:xfrm>
                <a:off x="546006" y="1161495"/>
                <a:ext cx="6016335" cy="1431161"/>
              </a:xfrm>
              <a:prstGeom prst="rect">
                <a:avLst/>
              </a:prstGeom>
              <a:solidFill>
                <a:schemeClr val="accent2">
                  <a:lumMod val="20000"/>
                  <a:lumOff val="80000"/>
                  <a:alpha val="25000"/>
                </a:schemeClr>
              </a:solidFill>
              <a:ln w="12700">
                <a:solidFill>
                  <a:schemeClr val="accent1">
                    <a:shade val="50000"/>
                  </a:schemeClr>
                </a:solidFill>
                <a:prstDash val="sysDash"/>
              </a:ln>
            </p:spPr>
            <p:txBody>
              <a:bodyPr wrap="square" rtlCol="0">
                <a:spAutoFit/>
              </a:bodyPr>
              <a:lstStyle/>
              <a:p>
                <a:pPr>
                  <a:spcBef>
                    <a:spcPts val="600"/>
                  </a:spcBef>
                </a:pPr>
                <a:r>
                  <a:rPr lang="zh-CN" altLang="en-US" b="1">
                    <a:solidFill>
                      <a:srgbClr val="002060"/>
                    </a:solidFill>
                    <a:latin typeface="楷体" panose="02010609060101010101" pitchFamily="49" charset="-122"/>
                    <a:ea typeface="楷体" panose="02010609060101010101" pitchFamily="49" charset="-122"/>
                  </a:rPr>
                  <a:t>给定下面的解释，论域是自然数集</a:t>
                </a:r>
                <a14:m>
                  <m:oMath xmlns:m="http://schemas.openxmlformats.org/officeDocument/2006/math">
                    <m:r>
                      <a:rPr lang="en-US" altLang="zh-CN" b="1" i="1">
                        <a:solidFill>
                          <a:srgbClr val="002060"/>
                        </a:solidFill>
                        <a:latin typeface="Cambria Math" panose="02040503050406030204" pitchFamily="18" charset="0"/>
                        <a:ea typeface="Cambria Math" panose="02040503050406030204" pitchFamily="18" charset="0"/>
                      </a:rPr>
                      <m:t>ℕ</m:t>
                    </m:r>
                  </m:oMath>
                </a14:m>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常量符号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分别解释为自然数</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𝟎</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𝟏</m:t>
                    </m:r>
                  </m:oMath>
                </a14:m>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二元函数符号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分别解释为</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b="1">
                    <a:solidFill>
                      <a:schemeClr val="accent6">
                        <a:lumMod val="50000"/>
                      </a:schemeClr>
                    </a:solidFill>
                    <a:latin typeface="宋体" panose="02010600030101010101" pitchFamily="2" charset="-122"/>
                    <a:ea typeface="宋体" panose="02010600030101010101" pitchFamily="2" charset="-122"/>
                  </a:rPr>
                  <a:t>上的加法和乘法运算</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二元谓词符号</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b="1">
                    <a:solidFill>
                      <a:schemeClr val="accent6">
                        <a:lumMod val="50000"/>
                      </a:schemeClr>
                    </a:solidFill>
                    <a:latin typeface="宋体" panose="02010600030101010101" pitchFamily="2" charset="-122"/>
                    <a:ea typeface="宋体" panose="02010600030101010101" pitchFamily="2" charset="-122"/>
                  </a:rPr>
                  <a:t>分别解释</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Cambria Math" panose="02040503050406030204" pitchFamily="18" charset="0"/>
                      </a:rPr>
                      <m:t>ℕ</m:t>
                    </m:r>
                  </m:oMath>
                </a14:m>
                <a:r>
                  <a:rPr lang="zh-CN" altLang="en-US" b="1">
                    <a:solidFill>
                      <a:schemeClr val="accent6">
                        <a:lumMod val="50000"/>
                      </a:schemeClr>
                    </a:solidFill>
                    <a:latin typeface="宋体" panose="02010600030101010101" pitchFamily="2" charset="-122"/>
                    <a:ea typeface="宋体" panose="02010600030101010101" pitchFamily="2" charset="-122"/>
                  </a:rPr>
                  <a:t>上的小于等于和相等关系</a:t>
                </a:r>
              </a:p>
            </p:txBody>
          </p:sp>
        </mc:Choice>
        <mc:Fallback xmlns="">
          <p:sp>
            <p:nvSpPr>
              <p:cNvPr id="11" name="文本框 10"/>
              <p:cNvSpPr txBox="1">
                <a:spLocks noRot="1" noChangeAspect="1" noMove="1" noResize="1" noEditPoints="1" noAdjustHandles="1" noChangeArrowheads="1" noChangeShapeType="1" noTextEdit="1"/>
              </p:cNvSpPr>
              <p:nvPr/>
            </p:nvSpPr>
            <p:spPr>
              <a:xfrm>
                <a:off x="546006" y="1161495"/>
                <a:ext cx="6016335" cy="1431161"/>
              </a:xfrm>
              <a:prstGeom prst="rect">
                <a:avLst/>
              </a:prstGeom>
              <a:blipFill rotWithShape="1">
                <a:blip r:embed="rId2"/>
                <a:stretch>
                  <a:fillRect l="-115" t="-449" r="-101" b="-15000"/>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6833507" y="1305123"/>
                <a:ext cx="4872784" cy="1143903"/>
              </a:xfrm>
              <a:prstGeom prst="rect">
                <a:avLst/>
              </a:prstGeom>
              <a:solidFill>
                <a:schemeClr val="accent6">
                  <a:lumMod val="20000"/>
                  <a:lumOff val="80000"/>
                  <a:alpha val="50000"/>
                </a:schemeClr>
              </a:solidFill>
            </p:spPr>
            <p:txBody>
              <a:bodyPr wrap="square" rtlCol="0">
                <a:spAutoFit/>
              </a:bodyPr>
              <a:lstStyle/>
              <a:p>
                <a:pPr>
                  <a:lnSpc>
                    <a:spcPts val="2800"/>
                  </a:lnSpc>
                </a:pPr>
                <a:r>
                  <a:rPr lang="zh-CN" altLang="en-US" b="1">
                    <a:solidFill>
                      <a:srgbClr val="002060"/>
                    </a:solidFill>
                    <a:latin typeface="楷体" panose="02010609060101010101" pitchFamily="49" charset="-122"/>
                    <a:ea typeface="楷体" panose="02010609060101010101" pitchFamily="49" charset="-122"/>
                  </a:rPr>
                  <a:t>确定下面公式的真值：</a:t>
                </a:r>
                <a:endParaRPr lang="en-US" altLang="zh-CN" b="1">
                  <a:solidFill>
                    <a:srgbClr val="002060"/>
                  </a:solidFill>
                  <a:latin typeface="楷体" panose="02010609060101010101" pitchFamily="49" charset="-122"/>
                  <a:ea typeface="楷体" panose="02010609060101010101" pitchFamily="49" charset="-122"/>
                </a:endParaRPr>
              </a:p>
              <a:p>
                <a:pPr algn="ctr">
                  <a:lnSpc>
                    <a:spcPts val="2400"/>
                  </a:lnSpc>
                  <a:spcBef>
                    <a:spcPts val="600"/>
                  </a:spcBef>
                  <a:spcAft>
                    <a:spcPts val="600"/>
                  </a:spcAft>
                </a:pPr>
                <a14:m>
                  <m:oMath xmlns:m="http://schemas.openxmlformats.org/officeDocument/2006/math">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d>
                      <m:dPr>
                        <m:ctrlPr>
                          <a:rPr lang="es-ES" altLang="zh-CN" b="1" i="1" smtClean="0">
                            <a:solidFill>
                              <a:schemeClr val="accent2">
                                <a:lumMod val="50000"/>
                              </a:schemeClr>
                            </a:solidFill>
                            <a:latin typeface="Cambria Math" panose="02040503050406030204" pitchFamily="18" charset="0"/>
                          </a:rPr>
                        </m:ctrlPr>
                      </m:dPr>
                      <m:e>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𝟎</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𝒚</m:t>
                            </m:r>
                          </m:e>
                        </m:d>
                      </m:e>
                    </m:d>
                  </m:oMath>
                </a14:m>
                <a:r>
                  <a:rPr lang="es-ES" altLang="zh-CN" b="1">
                    <a:solidFill>
                      <a:schemeClr val="accent2">
                        <a:lumMod val="50000"/>
                      </a:schemeClr>
                    </a:solidFill>
                  </a:rPr>
                  <a:t>           </a:t>
                </a:r>
                <a14:m>
                  <m:oMath xmlns:m="http://schemas.openxmlformats.org/officeDocument/2006/math">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e>
                        </m:d>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m:t>
                        </m:r>
                        <m:r>
                          <a:rPr lang="es-ES" altLang="zh-CN" b="1" i="1" smtClean="0">
                            <a:solidFill>
                              <a:schemeClr val="accent2">
                                <a:lumMod val="50000"/>
                              </a:schemeClr>
                            </a:solidFill>
                            <a:latin typeface="Cambria Math" panose="02040503050406030204" pitchFamily="18" charset="0"/>
                          </a:rPr>
                          <m:t>𝒚</m:t>
                        </m:r>
                        <m:d>
                          <m:dPr>
                            <m:ctrlPr>
                              <a:rPr lang="es-ES" altLang="zh-CN" b="1" i="1" smtClean="0">
                                <a:solidFill>
                                  <a:schemeClr val="accent2">
                                    <a:lumMod val="50000"/>
                                  </a:schemeClr>
                                </a:solidFill>
                                <a:latin typeface="Cambria Math" panose="02040503050406030204" pitchFamily="18" charset="0"/>
                              </a:rPr>
                            </m:ctrlPr>
                          </m:dPr>
                          <m:e>
                            <m:r>
                              <a:rPr lang="es-ES" altLang="zh-CN" b="1" i="1" smtClean="0">
                                <a:solidFill>
                                  <a:schemeClr val="accent2">
                                    <a:lumMod val="50000"/>
                                  </a:schemeClr>
                                </a:solidFill>
                                <a:latin typeface="Cambria Math" panose="02040503050406030204" pitchFamily="18" charset="0"/>
                              </a:rPr>
                              <m:t>𝒙</m:t>
                            </m:r>
                            <m:r>
                              <a:rPr lang="es-ES" altLang="zh-CN" b="1" i="1" smtClean="0">
                                <a:solidFill>
                                  <a:schemeClr val="accent2">
                                    <a:lumMod val="50000"/>
                                  </a:schemeClr>
                                </a:solidFill>
                                <a:latin typeface="Cambria Math" panose="02040503050406030204" pitchFamily="18" charset="0"/>
                              </a:rPr>
                              <m:t> ∗ </m:t>
                            </m:r>
                            <m:r>
                              <a:rPr lang="es-ES" altLang="zh-CN" b="1" i="1" smtClean="0">
                                <a:solidFill>
                                  <a:schemeClr val="accent2">
                                    <a:lumMod val="50000"/>
                                  </a:schemeClr>
                                </a:solidFill>
                                <a:latin typeface="Cambria Math" panose="02040503050406030204" pitchFamily="18" charset="0"/>
                              </a:rPr>
                              <m:t>𝒚</m:t>
                            </m:r>
                            <m:r>
                              <a:rPr lang="es-ES" altLang="zh-CN" b="1" i="1" smtClean="0">
                                <a:solidFill>
                                  <a:schemeClr val="accent2">
                                    <a:lumMod val="50000"/>
                                  </a:schemeClr>
                                </a:solidFill>
                                <a:latin typeface="Cambria Math" panose="02040503050406030204" pitchFamily="18" charset="0"/>
                              </a:rPr>
                              <m:t> = </m:t>
                            </m:r>
                            <m:r>
                              <a:rPr lang="es-ES" altLang="zh-CN" b="1" i="1">
                                <a:solidFill>
                                  <a:schemeClr val="accent2">
                                    <a:lumMod val="50000"/>
                                  </a:schemeClr>
                                </a:solidFill>
                                <a:latin typeface="Cambria Math" panose="02040503050406030204" pitchFamily="18" charset="0"/>
                              </a:rPr>
                              <m:t>𝟏</m:t>
                            </m:r>
                          </m:e>
                        </m:d>
                      </m:e>
                    </m:d>
                  </m:oMath>
                </a14:m>
                <a:endParaRPr lang="es-ES" altLang="zh-CN" b="1">
                  <a:solidFill>
                    <a:schemeClr val="accent2">
                      <a:lumMod val="50000"/>
                    </a:schemeClr>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6833507" y="1305123"/>
                <a:ext cx="4872784" cy="1143903"/>
              </a:xfrm>
              <a:prstGeom prst="rect">
                <a:avLst/>
              </a:prstGeom>
              <a:blipFill rotWithShape="1">
                <a:blip r:embed="rId3"/>
                <a:stretch>
                  <a:fillRect l="-6" t="-17" r="1" b="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546006" y="3030058"/>
                <a:ext cx="8348011" cy="1456104"/>
              </a:xfrm>
              <a:prstGeom prst="rect">
                <a:avLst/>
              </a:prstGeom>
              <a:solidFill>
                <a:schemeClr val="accent6">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rPr>
                  <a:t>在给定解释下，公式</a:t>
                </a:r>
                <a14:m>
                  <m:oMath xmlns:m="http://schemas.openxmlformats.org/officeDocument/2006/math">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𝒙</m:t>
                    </m:r>
                    <m:d>
                      <m:dPr>
                        <m:ctrlPr>
                          <a:rPr lang="es-ES" altLang="zh-CN" sz="2000" b="1" i="1">
                            <a:solidFill>
                              <a:srgbClr val="002060"/>
                            </a:solidFill>
                            <a:latin typeface="Cambria Math" panose="02040503050406030204" pitchFamily="18" charset="0"/>
                          </a:rPr>
                        </m:ctrlPr>
                      </m:dPr>
                      <m:e>
                        <m:d>
                          <m:dPr>
                            <m:ctrlPr>
                              <a:rPr lang="es-ES" altLang="zh-CN" sz="2000" b="1" i="1">
                                <a:solidFill>
                                  <a:srgbClr val="002060"/>
                                </a:solidFill>
                                <a:latin typeface="Cambria Math" panose="02040503050406030204" pitchFamily="18" charset="0"/>
                              </a:rPr>
                            </m:ctrlPr>
                          </m:dPr>
                          <m:e>
                            <m:r>
                              <a:rPr lang="es-ES" altLang="zh-CN" sz="2000" b="1" i="1">
                                <a:solidFill>
                                  <a:srgbClr val="002060"/>
                                </a:solidFill>
                                <a:latin typeface="Cambria Math" panose="02040503050406030204" pitchFamily="18" charset="0"/>
                              </a:rPr>
                              <m:t>𝟎</m:t>
                            </m:r>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𝒙</m:t>
                            </m:r>
                          </m:e>
                        </m:d>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𝒚</m:t>
                        </m:r>
                        <m:d>
                          <m:dPr>
                            <m:ctrlPr>
                              <a:rPr lang="es-ES" altLang="zh-CN" sz="2000" b="1" i="1">
                                <a:solidFill>
                                  <a:srgbClr val="002060"/>
                                </a:solidFill>
                                <a:latin typeface="Cambria Math" panose="02040503050406030204" pitchFamily="18" charset="0"/>
                              </a:rPr>
                            </m:ctrlPr>
                          </m:dPr>
                          <m:e>
                            <m:r>
                              <a:rPr lang="es-ES" altLang="zh-CN" sz="2000" b="1" i="1">
                                <a:solidFill>
                                  <a:srgbClr val="002060"/>
                                </a:solidFill>
                                <a:latin typeface="Cambria Math" panose="02040503050406030204" pitchFamily="18" charset="0"/>
                              </a:rPr>
                              <m:t>𝒙</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𝒚</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𝒚</m:t>
                            </m:r>
                          </m:e>
                        </m:d>
                      </m:e>
                    </m:d>
                  </m:oMath>
                </a14:m>
                <a:r>
                  <a:rPr lang="zh-CN" altLang="en-US" sz="2000" b="1">
                    <a:solidFill>
                      <a:srgbClr val="002060"/>
                    </a:solidFill>
                  </a:rPr>
                  <a:t>的含义是：</a:t>
                </a: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对任意自然数</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𝟎</m:t>
                    </m:r>
                  </m:oMath>
                </a14:m>
                <a:r>
                  <a:rPr lang="zh-CN" altLang="en-US" sz="2000" b="1">
                    <a:solidFill>
                      <a:srgbClr val="C00000"/>
                    </a:solidFill>
                    <a:latin typeface="楷体" panose="02010609060101010101" pitchFamily="49" charset="-122"/>
                    <a:ea typeface="楷体" panose="02010609060101010101" pitchFamily="49" charset="-122"/>
                  </a:rPr>
                  <a:t>，则存在整数</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latin typeface="楷体" panose="02010609060101010101" pitchFamily="49" charset="-122"/>
                    <a:ea typeface="楷体" panose="02010609060101010101" pitchFamily="49" charset="-122"/>
                  </a:rPr>
                  <a:t>是等于</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latin typeface="楷体" panose="02010609060101010101" pitchFamily="49" charset="-122"/>
                    <a:ea typeface="楷体" panose="02010609060101010101" pitchFamily="49" charset="-122"/>
                  </a:rPr>
                  <a:t>的平方</a:t>
                </a:r>
              </a:p>
              <a:p>
                <a:pPr>
                  <a:lnSpc>
                    <a:spcPts val="2800"/>
                  </a:lnSpc>
                  <a:spcBef>
                    <a:spcPts val="600"/>
                  </a:spcBef>
                  <a:spcAft>
                    <a:spcPts val="600"/>
                  </a:spcAft>
                </a:pPr>
                <a:r>
                  <a:rPr lang="zh-CN" altLang="en-US" sz="2000" b="1">
                    <a:solidFill>
                      <a:srgbClr val="002060"/>
                    </a:solidFill>
                  </a:rPr>
                  <a:t>因此，由于不是每个自然数都是平方数，该公式在上述解释下的真值为假</a:t>
                </a:r>
              </a:p>
            </p:txBody>
          </p:sp>
        </mc:Choice>
        <mc:Fallback xmlns="">
          <p:sp>
            <p:nvSpPr>
              <p:cNvPr id="13" name="文本框 12"/>
              <p:cNvSpPr txBox="1">
                <a:spLocks noRot="1" noChangeAspect="1" noMove="1" noResize="1" noEditPoints="1" noAdjustHandles="1" noChangeArrowheads="1" noChangeShapeType="1" noTextEdit="1"/>
              </p:cNvSpPr>
              <p:nvPr/>
            </p:nvSpPr>
            <p:spPr>
              <a:xfrm>
                <a:off x="546006" y="3030058"/>
                <a:ext cx="8348011" cy="1456104"/>
              </a:xfrm>
              <a:prstGeom prst="rect">
                <a:avLst/>
              </a:prstGeom>
              <a:blipFill rotWithShape="1">
                <a:blip r:embed="rId4"/>
                <a:stretch>
                  <a:fillRect l="-6" t="-32" r="2"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546006" y="4661485"/>
                <a:ext cx="10870833" cy="1456104"/>
              </a:xfrm>
              <a:prstGeom prst="rect">
                <a:avLst/>
              </a:prstGeom>
              <a:solidFill>
                <a:schemeClr val="accent6">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rPr>
                  <a:t>在给定解释下，公式</a:t>
                </a:r>
                <a14:m>
                  <m:oMath xmlns:m="http://schemas.openxmlformats.org/officeDocument/2006/math">
                    <m:d>
                      <m:dPr>
                        <m:ctrlPr>
                          <a:rPr lang="es-ES" altLang="zh-CN" sz="2000" b="1" i="1" smtClean="0">
                            <a:solidFill>
                              <a:srgbClr val="002060"/>
                            </a:solidFill>
                            <a:latin typeface="Cambria Math" panose="02040503050406030204" pitchFamily="18" charset="0"/>
                          </a:rPr>
                        </m:ctrlPr>
                      </m:dPr>
                      <m:e>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𝒙</m:t>
                        </m:r>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𝒚</m:t>
                        </m:r>
                        <m:d>
                          <m:dPr>
                            <m:ctrlPr>
                              <a:rPr lang="es-ES" altLang="zh-CN" sz="2000" b="1" i="1">
                                <a:solidFill>
                                  <a:srgbClr val="002060"/>
                                </a:solidFill>
                                <a:latin typeface="Cambria Math" panose="02040503050406030204" pitchFamily="18" charset="0"/>
                              </a:rPr>
                            </m:ctrlPr>
                          </m:dPr>
                          <m:e>
                            <m:r>
                              <a:rPr lang="es-ES" altLang="zh-CN" sz="2000" b="1" i="1">
                                <a:solidFill>
                                  <a:srgbClr val="002060"/>
                                </a:solidFill>
                                <a:latin typeface="Cambria Math" panose="02040503050406030204" pitchFamily="18" charset="0"/>
                              </a:rPr>
                              <m:t>𝒙</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𝒚</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𝒚</m:t>
                            </m:r>
                          </m:e>
                        </m:d>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𝒙</m:t>
                        </m:r>
                        <m:r>
                          <a:rPr lang="es-ES" altLang="zh-CN" sz="2000" b="1" i="1">
                            <a:solidFill>
                              <a:srgbClr val="002060"/>
                            </a:solidFill>
                            <a:latin typeface="Cambria Math" panose="02040503050406030204" pitchFamily="18" charset="0"/>
                          </a:rPr>
                          <m:t>∃</m:t>
                        </m:r>
                        <m:r>
                          <a:rPr lang="es-ES" altLang="zh-CN" sz="2000" b="1" i="1">
                            <a:solidFill>
                              <a:srgbClr val="002060"/>
                            </a:solidFill>
                            <a:latin typeface="Cambria Math" panose="02040503050406030204" pitchFamily="18" charset="0"/>
                          </a:rPr>
                          <m:t>𝒚</m:t>
                        </m:r>
                        <m:d>
                          <m:dPr>
                            <m:ctrlPr>
                              <a:rPr lang="es-ES" altLang="zh-CN" sz="2000" b="1" i="1">
                                <a:solidFill>
                                  <a:srgbClr val="002060"/>
                                </a:solidFill>
                                <a:latin typeface="Cambria Math" panose="02040503050406030204" pitchFamily="18" charset="0"/>
                              </a:rPr>
                            </m:ctrlPr>
                          </m:dPr>
                          <m:e>
                            <m:r>
                              <a:rPr lang="es-ES" altLang="zh-CN" sz="2000" b="1" i="1">
                                <a:solidFill>
                                  <a:srgbClr val="002060"/>
                                </a:solidFill>
                                <a:latin typeface="Cambria Math" panose="02040503050406030204" pitchFamily="18" charset="0"/>
                              </a:rPr>
                              <m:t>𝒙</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𝒚</m:t>
                            </m:r>
                            <m:r>
                              <a:rPr lang="es-ES" altLang="zh-CN" sz="2000" b="1" i="1">
                                <a:solidFill>
                                  <a:srgbClr val="002060"/>
                                </a:solidFill>
                                <a:latin typeface="Cambria Math" panose="02040503050406030204" pitchFamily="18" charset="0"/>
                              </a:rPr>
                              <m:t> = </m:t>
                            </m:r>
                            <m:r>
                              <a:rPr lang="es-ES" altLang="zh-CN" sz="2000" b="1" i="1">
                                <a:solidFill>
                                  <a:srgbClr val="002060"/>
                                </a:solidFill>
                                <a:latin typeface="Cambria Math" panose="02040503050406030204" pitchFamily="18" charset="0"/>
                              </a:rPr>
                              <m:t>𝟏</m:t>
                            </m:r>
                          </m:e>
                        </m:d>
                      </m:e>
                    </m:d>
                  </m:oMath>
                </a14:m>
                <a:r>
                  <a:rPr lang="zh-CN" altLang="en-US" sz="2000" b="1">
                    <a:solidFill>
                      <a:srgbClr val="002060"/>
                    </a:solidFill>
                  </a:rPr>
                  <a:t>的含义是：</a:t>
                </a:r>
              </a:p>
              <a:p>
                <a:pPr marL="342900" indent="-342900">
                  <a:lnSpc>
                    <a:spcPts val="2800"/>
                  </a:lnSpc>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存在自然数</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latin typeface="楷体" panose="02010609060101010101" pitchFamily="49" charset="-122"/>
                    <a:ea typeface="楷体" panose="02010609060101010101" pitchFamily="49" charset="-122"/>
                  </a:rPr>
                  <a:t>，对任意自然数</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𝒙</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𝒚</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𝒚</m:t>
                    </m:r>
                  </m:oMath>
                </a14:m>
                <a:r>
                  <a:rPr lang="en-US" altLang="zh-CN" sz="2000" b="1">
                    <a:solidFill>
                      <a:srgbClr val="C00000"/>
                    </a:solidFill>
                    <a:latin typeface="楷体" panose="02010609060101010101" pitchFamily="49" charset="-122"/>
                    <a:ea typeface="楷体" panose="02010609060101010101" pitchFamily="49" charset="-122"/>
                  </a:rPr>
                  <a:t>,</a:t>
                </a:r>
                <a:r>
                  <a:rPr lang="zh-CN" altLang="en-US" sz="2000" b="1">
                    <a:solidFill>
                      <a:srgbClr val="C00000"/>
                    </a:solidFill>
                    <a:latin typeface="楷体" panose="02010609060101010101" pitchFamily="49" charset="-122"/>
                    <a:ea typeface="楷体" panose="02010609060101010101" pitchFamily="49" charset="-122"/>
                  </a:rPr>
                  <a:t>而且对任意自然数</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𝒙</m:t>
                    </m:r>
                  </m:oMath>
                </a14:m>
                <a:r>
                  <a:rPr lang="zh-CN" altLang="en-US" sz="2000" b="1">
                    <a:solidFill>
                      <a:srgbClr val="C00000"/>
                    </a:solidFill>
                    <a:latin typeface="楷体" panose="02010609060101010101" pitchFamily="49" charset="-122"/>
                    <a:ea typeface="楷体" panose="02010609060101010101" pitchFamily="49" charset="-122"/>
                  </a:rPr>
                  <a:t>，存在自然数</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𝒚</m:t>
                    </m:r>
                  </m:oMath>
                </a14:m>
                <a:r>
                  <a:rPr lang="zh-CN" altLang="en-US" sz="2000" b="1">
                    <a:solidFill>
                      <a:srgbClr val="C00000"/>
                    </a:solidFill>
                    <a:latin typeface="楷体" panose="02010609060101010101" pitchFamily="49" charset="-122"/>
                    <a:ea typeface="楷体" panose="02010609060101010101" pitchFamily="49" charset="-122"/>
                  </a:rPr>
                  <a:t>使得</a:t>
                </a:r>
                <a14:m>
                  <m:oMath xmlns:m="http://schemas.openxmlformats.org/officeDocument/2006/math">
                    <m:r>
                      <a:rPr lang="en-US" altLang="zh-CN" sz="2000" b="1" i="1" smtClean="0">
                        <a:solidFill>
                          <a:srgbClr val="C00000"/>
                        </a:solidFill>
                        <a:latin typeface="Cambria Math" panose="02040503050406030204" pitchFamily="18" charset="0"/>
                        <a:ea typeface="楷体" panose="02010609060101010101" pitchFamily="49" charset="-122"/>
                      </a:rPr>
                      <m:t>𝒙</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𝒚</m:t>
                    </m:r>
                    <m:r>
                      <a:rPr lang="en-US" altLang="zh-CN" sz="2000" b="1" i="1" smtClean="0">
                        <a:solidFill>
                          <a:srgbClr val="C00000"/>
                        </a:solidFill>
                        <a:latin typeface="Cambria Math" panose="02040503050406030204" pitchFamily="18" charset="0"/>
                        <a:ea typeface="楷体" panose="02010609060101010101" pitchFamily="49" charset="-122"/>
                      </a:rPr>
                      <m:t>=</m:t>
                    </m:r>
                    <m:r>
                      <a:rPr lang="en-US" altLang="zh-CN" sz="2000" b="1" i="1" smtClean="0">
                        <a:solidFill>
                          <a:srgbClr val="C00000"/>
                        </a:solidFill>
                        <a:latin typeface="Cambria Math" panose="02040503050406030204" pitchFamily="18" charset="0"/>
                        <a:ea typeface="楷体" panose="02010609060101010101" pitchFamily="49" charset="-122"/>
                      </a:rPr>
                      <m:t>𝟏</m:t>
                    </m:r>
                  </m:oMath>
                </a14:m>
                <a:endParaRPr lang="zh-CN" altLang="en-US" sz="2000" b="1">
                  <a:solidFill>
                    <a:srgbClr val="C00000"/>
                  </a:solidFill>
                  <a:latin typeface="楷体" panose="02010609060101010101" pitchFamily="49" charset="-122"/>
                  <a:ea typeface="楷体" panose="02010609060101010101" pitchFamily="49" charset="-122"/>
                </a:endParaRPr>
              </a:p>
              <a:p>
                <a:pPr>
                  <a:lnSpc>
                    <a:spcPts val="2800"/>
                  </a:lnSpc>
                  <a:spcBef>
                    <a:spcPts val="600"/>
                  </a:spcBef>
                  <a:spcAft>
                    <a:spcPts val="600"/>
                  </a:spcAft>
                </a:pPr>
                <a:r>
                  <a:rPr lang="zh-CN" altLang="en-US" sz="2000" b="1">
                    <a:solidFill>
                      <a:srgbClr val="002060"/>
                    </a:solidFill>
                  </a:rPr>
                  <a:t>因此，由于不是每个自然数都存在自然数与它相乘是</a:t>
                </a:r>
                <a:r>
                  <a:rPr lang="en-US" altLang="zh-CN" sz="2000" b="1">
                    <a:solidFill>
                      <a:srgbClr val="002060"/>
                    </a:solidFill>
                  </a:rPr>
                  <a:t>1</a:t>
                </a:r>
                <a:r>
                  <a:rPr lang="zh-CN" altLang="en-US" sz="2000" b="1">
                    <a:solidFill>
                      <a:srgbClr val="002060"/>
                    </a:solidFill>
                  </a:rPr>
                  <a:t>，该公式在上述解释下的真值为假</a:t>
                </a:r>
              </a:p>
            </p:txBody>
          </p:sp>
        </mc:Choice>
        <mc:Fallback xmlns="">
          <p:sp>
            <p:nvSpPr>
              <p:cNvPr id="14" name="文本框 13"/>
              <p:cNvSpPr txBox="1">
                <a:spLocks noRot="1" noChangeAspect="1" noMove="1" noResize="1" noEditPoints="1" noAdjustHandles="1" noChangeArrowheads="1" noChangeShapeType="1" noTextEdit="1"/>
              </p:cNvSpPr>
              <p:nvPr/>
            </p:nvSpPr>
            <p:spPr>
              <a:xfrm>
                <a:off x="546006" y="4661485"/>
                <a:ext cx="10870833" cy="1456104"/>
              </a:xfrm>
              <a:prstGeom prst="rect">
                <a:avLst/>
              </a:prstGeom>
              <a:blipFill rotWithShape="1">
                <a:blip r:embed="rId5"/>
                <a:stretch>
                  <a:fillRect l="-5" t="-40" r="2" b="44"/>
                </a:stretch>
              </a:blipFill>
            </p:spPr>
            <p:txBody>
              <a:bodyPr/>
              <a:lstStyle/>
              <a:p>
                <a:r>
                  <a:rPr lang="zh-CN" altLang="en-US">
                    <a:noFill/>
                  </a:rPr>
                  <a:t> </a:t>
                </a:r>
              </a:p>
            </p:txBody>
          </p:sp>
        </mc:Fallback>
      </mc:AlternateContent>
      <p:sp>
        <p:nvSpPr>
          <p:cNvPr id="2" name="文本框 1"/>
          <p:cNvSpPr txBox="1"/>
          <p:nvPr/>
        </p:nvSpPr>
        <p:spPr>
          <a:xfrm>
            <a:off x="9269899" y="2729130"/>
            <a:ext cx="2036025" cy="923330"/>
          </a:xfrm>
          <a:prstGeom prst="rect">
            <a:avLst/>
          </a:prstGeom>
          <a:solidFill>
            <a:schemeClr val="accent5">
              <a:lumMod val="20000"/>
              <a:lumOff val="80000"/>
            </a:schemeClr>
          </a:solidFill>
        </p:spPr>
        <p:txBody>
          <a:bodyPr wrap="square" rtlCol="0">
            <a:spAutoFit/>
          </a:bodyPr>
          <a:lstStyle/>
          <a:p>
            <a:r>
              <a:rPr lang="zh-CN" altLang="en-US" b="1">
                <a:solidFill>
                  <a:srgbClr val="002060"/>
                </a:solidFill>
              </a:rPr>
              <a:t>如果解释的论域是</a:t>
            </a:r>
            <a:r>
              <a:rPr lang="zh-CN" altLang="en-US" b="1">
                <a:solidFill>
                  <a:srgbClr val="C00000"/>
                </a:solidFill>
              </a:rPr>
              <a:t>实数集</a:t>
            </a:r>
            <a:r>
              <a:rPr lang="zh-CN" altLang="en-US" b="1">
                <a:solidFill>
                  <a:srgbClr val="002060"/>
                </a:solidFill>
              </a:rPr>
              <a:t>，则这两个公式的真值都为真</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p:cNvSpPr txBox="1"/>
          <p:nvPr/>
        </p:nvSpPr>
        <p:spPr>
          <a:xfrm>
            <a:off x="1101012" y="1895880"/>
            <a:ext cx="4733731" cy="2870016"/>
          </a:xfrm>
          <a:prstGeom prst="rect">
            <a:avLst/>
          </a:prstGeom>
          <a:noFill/>
        </p:spPr>
        <p:txBody>
          <a:bodyPr wrap="square" rtlCol="0">
            <a:spAutoFit/>
          </a:bodyPr>
          <a:lstStyle/>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一阶逻辑公式的解释</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solidFill>
                <a:latin typeface="仿宋" panose="02010609060101010101" pitchFamily="49" charset="-122"/>
                <a:ea typeface="仿宋" panose="02010609060101010101" pitchFamily="49" charset="-122"/>
              </a:rPr>
              <a:t>一阶逻辑公式的真值</a:t>
            </a:r>
            <a:endParaRPr lang="en-US" altLang="zh-CN" sz="3200" b="1">
              <a:solidFill>
                <a:schemeClr val="bg2"/>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一阶逻辑公式的分类</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一阶逻辑公式的分类</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永真式、矛盾式和可满足式</a:t>
            </a:r>
          </a:p>
        </p:txBody>
      </p:sp>
      <p:sp>
        <p:nvSpPr>
          <p:cNvPr id="2" name="文本框 1"/>
          <p:cNvSpPr txBox="1"/>
          <p:nvPr/>
        </p:nvSpPr>
        <p:spPr>
          <a:xfrm>
            <a:off x="2375903" y="1201131"/>
            <a:ext cx="7440191" cy="2739211"/>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永真式、矛盾式和可满足式</a:t>
            </a:r>
            <a:endParaRPr lang="en-US" altLang="zh-CN" sz="2400" b="1">
              <a:solidFill>
                <a:srgbClr val="C00000"/>
              </a:solidFill>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rPr>
              <a:t>永真式：</a:t>
            </a:r>
            <a:r>
              <a:rPr lang="zh-CN" altLang="en-US" sz="2000" b="1">
                <a:solidFill>
                  <a:srgbClr val="002060"/>
                </a:solidFill>
                <a:latin typeface="楷体" panose="02010609060101010101" pitchFamily="49" charset="-122"/>
                <a:ea typeface="楷体" panose="02010609060101010101" pitchFamily="49" charset="-122"/>
              </a:rPr>
              <a:t>在任意解释任意个体变量指派函数下的真值都为真</a:t>
            </a:r>
          </a:p>
          <a:p>
            <a:pPr marL="742950" lvl="1" indent="-285750">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一阶逻辑的永真式又称为</a:t>
            </a:r>
            <a:r>
              <a:rPr lang="zh-CN" altLang="en-US" b="1">
                <a:solidFill>
                  <a:srgbClr val="C00000"/>
                </a:solidFill>
                <a:latin typeface="黑体" panose="02010609060101010101" pitchFamily="49" charset="-122"/>
                <a:ea typeface="黑体" panose="02010609060101010101" pitchFamily="49" charset="-122"/>
              </a:rPr>
              <a:t>普遍有效式</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矛盾式：</a:t>
            </a:r>
            <a:r>
              <a:rPr lang="zh-CN" altLang="en-US" sz="2000" b="1">
                <a:solidFill>
                  <a:srgbClr val="002060"/>
                </a:solidFill>
                <a:latin typeface="楷体" panose="02010609060101010101" pitchFamily="49" charset="-122"/>
                <a:ea typeface="楷体" panose="02010609060101010101" pitchFamily="49" charset="-122"/>
              </a:rPr>
              <a:t>在任意解释任意个体变量指派函数下的真值都为假</a:t>
            </a:r>
          </a:p>
          <a:p>
            <a:pPr marL="342900" indent="-342900">
              <a:spcBef>
                <a:spcPts val="600"/>
              </a:spcBef>
              <a:spcAft>
                <a:spcPts val="600"/>
              </a:spcAft>
              <a:buFont typeface="Arial" panose="020B0604020202020204" pitchFamily="34" charset="0"/>
              <a:buChar char="•"/>
            </a:pPr>
            <a:r>
              <a:rPr lang="zh-CN" altLang="en-US" sz="2000" b="1">
                <a:solidFill>
                  <a:srgbClr val="C00000"/>
                </a:solidFill>
              </a:rPr>
              <a:t>可满足式：</a:t>
            </a:r>
            <a:r>
              <a:rPr lang="zh-CN" altLang="en-US" sz="2000" b="1">
                <a:solidFill>
                  <a:srgbClr val="002060"/>
                </a:solidFill>
                <a:latin typeface="楷体" panose="02010609060101010101" pitchFamily="49" charset="-122"/>
                <a:ea typeface="楷体" panose="02010609060101010101" pitchFamily="49" charset="-122"/>
              </a:rPr>
              <a:t>存在解释，存在个体变量指派函数使得其真值为真</a:t>
            </a:r>
          </a:p>
          <a:p>
            <a:pPr marL="800100" lvl="1" indent="-342900">
              <a:spcBef>
                <a:spcPts val="600"/>
              </a:spcBef>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永真式也是可满足式，但通常关注</a:t>
            </a:r>
            <a:r>
              <a:rPr lang="zh-CN" altLang="en-US" b="1">
                <a:solidFill>
                  <a:srgbClr val="C00000"/>
                </a:solidFill>
                <a:latin typeface="黑体" panose="02010609060101010101" pitchFamily="49" charset="-122"/>
                <a:ea typeface="黑体" panose="02010609060101010101" pitchFamily="49" charset="-122"/>
              </a:rPr>
              <a:t>非永真的可满足式</a:t>
            </a:r>
          </a:p>
        </p:txBody>
      </p:sp>
      <p:sp>
        <p:nvSpPr>
          <p:cNvPr id="3" name="文本框 2"/>
          <p:cNvSpPr txBox="1"/>
          <p:nvPr/>
        </p:nvSpPr>
        <p:spPr>
          <a:xfrm>
            <a:off x="608503" y="4439169"/>
            <a:ext cx="4878993" cy="1389419"/>
          </a:xfrm>
          <a:prstGeom prst="rect">
            <a:avLst/>
          </a:prstGeom>
          <a:solidFill>
            <a:schemeClr val="accent4">
              <a:lumMod val="20000"/>
              <a:lumOff val="80000"/>
            </a:schemeClr>
          </a:solidFill>
        </p:spPr>
        <p:txBody>
          <a:bodyPr wrap="square" rtlCol="0">
            <a:spAutoFit/>
          </a:bodyPr>
          <a:lstStyle/>
          <a:p>
            <a:pPr algn="ctr">
              <a:spcAft>
                <a:spcPts val="600"/>
              </a:spcAft>
            </a:pPr>
            <a:r>
              <a:rPr lang="zh-CN" altLang="en-US" sz="2400" b="1">
                <a:solidFill>
                  <a:srgbClr val="002060"/>
                </a:solidFill>
                <a:latin typeface="楷体" panose="02010609060101010101" pitchFamily="49" charset="-122"/>
                <a:ea typeface="楷体" panose="02010609060101010101" pitchFamily="49" charset="-122"/>
              </a:rPr>
              <a:t>永真式的判断</a:t>
            </a:r>
          </a:p>
          <a:p>
            <a:pPr marL="342900" indent="-342900">
              <a:lnSpc>
                <a:spcPts val="2800"/>
              </a:lnSpc>
              <a:spcBef>
                <a:spcPts val="600"/>
              </a:spcBef>
              <a:buFont typeface="Arial" panose="020B0604020202020204" pitchFamily="34" charset="0"/>
              <a:buChar char="•"/>
            </a:pPr>
            <a:r>
              <a:rPr lang="zh-CN" altLang="en-US" sz="2000" b="1">
                <a:solidFill>
                  <a:schemeClr val="accent2">
                    <a:lumMod val="50000"/>
                  </a:schemeClr>
                </a:solidFill>
              </a:rPr>
              <a:t>根据永真式的定义进行</a:t>
            </a:r>
            <a:r>
              <a:rPr lang="zh-CN" altLang="en-US" sz="2000" b="1">
                <a:solidFill>
                  <a:srgbClr val="C00000"/>
                </a:solidFill>
              </a:rPr>
              <a:t>非形式化证明</a:t>
            </a:r>
          </a:p>
          <a:p>
            <a:pPr marL="342900" indent="-342900">
              <a:lnSpc>
                <a:spcPts val="2800"/>
              </a:lnSpc>
              <a:spcBef>
                <a:spcPts val="600"/>
              </a:spcBef>
              <a:buFont typeface="Arial" panose="020B0604020202020204" pitchFamily="34" charset="0"/>
              <a:buChar char="•"/>
            </a:pPr>
            <a:r>
              <a:rPr lang="zh-CN" altLang="en-US" sz="2000" b="1">
                <a:solidFill>
                  <a:schemeClr val="accent2">
                    <a:lumMod val="50000"/>
                  </a:schemeClr>
                </a:solidFill>
              </a:rPr>
              <a:t>判断是否是</a:t>
            </a:r>
            <a:r>
              <a:rPr lang="zh-CN" altLang="en-US" sz="2000" b="1">
                <a:solidFill>
                  <a:srgbClr val="C00000"/>
                </a:solidFill>
              </a:rPr>
              <a:t>命题逻辑永真式的替换实例</a:t>
            </a:r>
          </a:p>
        </p:txBody>
      </p:sp>
      <p:sp>
        <p:nvSpPr>
          <p:cNvPr id="4" name="文本框 3"/>
          <p:cNvSpPr txBox="1"/>
          <p:nvPr/>
        </p:nvSpPr>
        <p:spPr>
          <a:xfrm>
            <a:off x="5662921" y="4277439"/>
            <a:ext cx="5920576" cy="1712135"/>
          </a:xfrm>
          <a:prstGeom prst="rect">
            <a:avLst/>
          </a:prstGeom>
          <a:solidFill>
            <a:schemeClr val="accent5">
              <a:lumMod val="20000"/>
              <a:lumOff val="80000"/>
              <a:alpha val="50000"/>
            </a:schemeClr>
          </a:solidFill>
        </p:spPr>
        <p:txBody>
          <a:bodyPr wrap="square" rtlCol="0">
            <a:spAutoFit/>
          </a:bodyPr>
          <a:lstStyle/>
          <a:p>
            <a:pPr algn="ctr">
              <a:lnSpc>
                <a:spcPts val="2600"/>
              </a:lnSpc>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非永真的可满足式的判断</a:t>
            </a:r>
          </a:p>
          <a:p>
            <a:pPr marL="342900" indent="-342900">
              <a:lnSpc>
                <a:spcPts val="2600"/>
              </a:lnSpc>
              <a:spcBef>
                <a:spcPts val="600"/>
              </a:spcBef>
              <a:spcAft>
                <a:spcPts val="600"/>
              </a:spcAft>
              <a:buFont typeface="Arial" panose="020B0604020202020204" pitchFamily="34" charset="0"/>
              <a:buChar char="•"/>
            </a:pPr>
            <a:r>
              <a:rPr lang="zh-CN" altLang="en-US" sz="2000" b="1">
                <a:solidFill>
                  <a:schemeClr val="accent2">
                    <a:lumMod val="50000"/>
                  </a:schemeClr>
                </a:solidFill>
              </a:rPr>
              <a:t>给一个解释及个体变量指派函数</a:t>
            </a:r>
            <a:r>
              <a:rPr lang="zh-CN" altLang="en-US" sz="2000" b="1">
                <a:solidFill>
                  <a:srgbClr val="C00000"/>
                </a:solidFill>
              </a:rPr>
              <a:t>使其真值为真</a:t>
            </a:r>
          </a:p>
          <a:p>
            <a:pPr marL="342900" indent="-342900">
              <a:lnSpc>
                <a:spcPts val="2600"/>
              </a:lnSpc>
              <a:spcAft>
                <a:spcPts val="600"/>
              </a:spcAft>
              <a:buFont typeface="Arial" panose="020B0604020202020204" pitchFamily="34" charset="0"/>
              <a:buChar char="•"/>
            </a:pPr>
            <a:r>
              <a:rPr lang="zh-CN" altLang="en-US" sz="2000" b="1">
                <a:solidFill>
                  <a:schemeClr val="accent2">
                    <a:lumMod val="50000"/>
                  </a:schemeClr>
                </a:solidFill>
              </a:rPr>
              <a:t>再给一个解释及个体变量指派函数</a:t>
            </a:r>
            <a:r>
              <a:rPr lang="zh-CN" altLang="en-US" sz="2000" b="1">
                <a:solidFill>
                  <a:srgbClr val="C00000"/>
                </a:solidFill>
              </a:rPr>
              <a:t>使其真值为假</a:t>
            </a:r>
          </a:p>
          <a:p>
            <a:pPr marL="800100" lvl="1" indent="-342900">
              <a:lnSpc>
                <a:spcPts val="2600"/>
              </a:lnSpc>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对于闭公式，则无需给出个体变量指派函数</a:t>
            </a:r>
          </a:p>
        </p:txBody>
      </p:sp>
      <mc:AlternateContent xmlns:mc="http://schemas.openxmlformats.org/markup-compatibility/2006" xmlns:a14="http://schemas.microsoft.com/office/drawing/2010/main">
        <mc:Choice Requires="a14">
          <p:sp>
            <p:nvSpPr>
              <p:cNvPr id="6" name="文本框 5"/>
              <p:cNvSpPr txBox="1"/>
              <p:nvPr/>
            </p:nvSpPr>
            <p:spPr>
              <a:xfrm>
                <a:off x="10064978" y="2109071"/>
                <a:ext cx="1749859" cy="923330"/>
              </a:xfrm>
              <a:prstGeom prst="rect">
                <a:avLst/>
              </a:prstGeom>
              <a:solidFill>
                <a:schemeClr val="accent5">
                  <a:lumMod val="20000"/>
                  <a:lumOff val="80000"/>
                </a:schemeClr>
              </a:solidFill>
            </p:spPr>
            <p:txBody>
              <a:bodyPr wrap="square" rtlCol="0">
                <a:spAutoFit/>
              </a:bodyPr>
              <a:lstStyle/>
              <a:p>
                <a:r>
                  <a:rPr lang="zh-CN" altLang="en-US" b="1">
                    <a:solidFill>
                      <a:schemeClr val="accent2">
                        <a:lumMod val="50000"/>
                      </a:schemeClr>
                    </a:solidFill>
                  </a:rPr>
                  <a:t>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是永真式当且仅当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是矛盾式</a:t>
                </a:r>
              </a:p>
            </p:txBody>
          </p:sp>
        </mc:Choice>
        <mc:Fallback xmlns="">
          <p:sp>
            <p:nvSpPr>
              <p:cNvPr id="6" name="文本框 5"/>
              <p:cNvSpPr txBox="1">
                <a:spLocks noRot="1" noChangeAspect="1" noMove="1" noResize="1" noEditPoints="1" noAdjustHandles="1" noChangeArrowheads="1" noChangeShapeType="1" noTextEdit="1"/>
              </p:cNvSpPr>
              <p:nvPr/>
            </p:nvSpPr>
            <p:spPr>
              <a:xfrm>
                <a:off x="10064978" y="2109071"/>
                <a:ext cx="1749859" cy="923330"/>
              </a:xfrm>
              <a:prstGeom prst="rect">
                <a:avLst/>
              </a:prstGeom>
              <a:blipFill rotWithShape="1">
                <a:blip r:embed="rId2"/>
                <a:stretch>
                  <a:fillRect l="-13" t="-26" r="2" b="30"/>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一阶逻辑公式的分类</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命题逻辑公式的替换实例</a:t>
            </a:r>
          </a:p>
        </p:txBody>
      </p:sp>
      <p:sp>
        <p:nvSpPr>
          <p:cNvPr id="11" name="矩形: 圆角 10"/>
          <p:cNvSpPr/>
          <p:nvPr/>
        </p:nvSpPr>
        <p:spPr>
          <a:xfrm>
            <a:off x="540461" y="1202159"/>
            <a:ext cx="4735430"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什么是命题逻辑公式的替换实例？</a:t>
            </a:r>
            <a:endParaRPr lang="zh-CN" altLang="en-US" sz="2400" b="1" dirty="0">
              <a:solidFill>
                <a:schemeClr val="accent2">
                  <a:lumMod val="50000"/>
                </a:schemeClr>
              </a:solidFill>
            </a:endParaRPr>
          </a:p>
        </p:txBody>
      </p:sp>
      <p:sp>
        <p:nvSpPr>
          <p:cNvPr id="2" name="文本框 1"/>
          <p:cNvSpPr txBox="1"/>
          <p:nvPr/>
        </p:nvSpPr>
        <p:spPr>
          <a:xfrm>
            <a:off x="883700" y="2063567"/>
            <a:ext cx="6590543" cy="808876"/>
          </a:xfrm>
          <a:prstGeom prst="rect">
            <a:avLst/>
          </a:prstGeom>
          <a:solidFill>
            <a:schemeClr val="accent2">
              <a:lumMod val="20000"/>
              <a:lumOff val="80000"/>
              <a:alpha val="50000"/>
            </a:schemeClr>
          </a:solidFill>
        </p:spPr>
        <p:txBody>
          <a:bodyPr wrap="square" rtlCol="0">
            <a:spAutoFit/>
          </a:bodyPr>
          <a:lstStyle/>
          <a:p>
            <a:pPr>
              <a:lnSpc>
                <a:spcPts val="3000"/>
              </a:lnSpc>
            </a:pPr>
            <a:r>
              <a:rPr lang="zh-CN" altLang="en-US" sz="2000" b="1">
                <a:solidFill>
                  <a:srgbClr val="C00000"/>
                </a:solidFill>
                <a:latin typeface="黑体" panose="02010609060101010101" pitchFamily="49" charset="-122"/>
                <a:ea typeface="黑体" panose="02010609060101010101" pitchFamily="49" charset="-122"/>
              </a:rPr>
              <a:t>命题逻辑公式的替换实例</a:t>
            </a:r>
            <a:r>
              <a:rPr lang="zh-CN" altLang="en-US" sz="2000" b="1">
                <a:solidFill>
                  <a:srgbClr val="002060"/>
                </a:solidFill>
                <a:latin typeface="楷体" panose="02010609060101010101" pitchFamily="49" charset="-122"/>
                <a:ea typeface="楷体" panose="02010609060101010101" pitchFamily="49" charset="-122"/>
              </a:rPr>
              <a:t>是用一阶逻辑公式替换一个命题逻辑公式中每个命题变量的所有出现得到的一阶逻辑公式</a:t>
            </a:r>
          </a:p>
        </p:txBody>
      </p:sp>
      <p:sp>
        <p:nvSpPr>
          <p:cNvPr id="3" name="文本框 2"/>
          <p:cNvSpPr txBox="1"/>
          <p:nvPr/>
        </p:nvSpPr>
        <p:spPr>
          <a:xfrm>
            <a:off x="8157238" y="2038304"/>
            <a:ext cx="3151062" cy="834139"/>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chemeClr val="accent2">
                    <a:lumMod val="50000"/>
                  </a:schemeClr>
                </a:solidFill>
              </a:rPr>
              <a:t>命题逻辑永真式的替换实例是一阶逻辑的永真式！</a:t>
            </a:r>
          </a:p>
        </p:txBody>
      </p:sp>
      <p:pic>
        <p:nvPicPr>
          <p:cNvPr id="4" name="图片 3"/>
          <p:cNvPicPr>
            <a:picLocks noChangeAspect="1"/>
          </p:cNvPicPr>
          <p:nvPr/>
        </p:nvPicPr>
        <p:blipFill>
          <a:blip r:embed="rId2"/>
          <a:stretch>
            <a:fillRect/>
          </a:stretch>
        </p:blipFill>
        <p:spPr>
          <a:xfrm>
            <a:off x="740071" y="3359336"/>
            <a:ext cx="10711856" cy="28362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740071" y="3359336"/>
            <a:ext cx="10711856" cy="2836251"/>
          </a:xfrm>
          <a:prstGeom prst="rect">
            <a:avLst/>
          </a:prstGeom>
        </p:spPr>
      </p:pic>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一阶逻辑公式的分类</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命题逻辑公式的替换实例举例</a:t>
            </a:r>
          </a:p>
        </p:txBody>
      </p:sp>
      <p:sp>
        <p:nvSpPr>
          <p:cNvPr id="2" name="文本框 1"/>
          <p:cNvSpPr txBox="1"/>
          <p:nvPr/>
        </p:nvSpPr>
        <p:spPr>
          <a:xfrm>
            <a:off x="901954" y="1103964"/>
            <a:ext cx="6590543" cy="808876"/>
          </a:xfrm>
          <a:prstGeom prst="rect">
            <a:avLst/>
          </a:prstGeom>
          <a:solidFill>
            <a:schemeClr val="accent2">
              <a:lumMod val="20000"/>
              <a:lumOff val="80000"/>
              <a:alpha val="50000"/>
            </a:schemeClr>
          </a:solidFill>
        </p:spPr>
        <p:txBody>
          <a:bodyPr wrap="square" rtlCol="0">
            <a:spAutoFit/>
          </a:bodyPr>
          <a:lstStyle/>
          <a:p>
            <a:pPr>
              <a:lnSpc>
                <a:spcPts val="3000"/>
              </a:lnSpc>
            </a:pPr>
            <a:r>
              <a:rPr lang="zh-CN" altLang="en-US" sz="2000" b="1">
                <a:solidFill>
                  <a:srgbClr val="C00000"/>
                </a:solidFill>
                <a:latin typeface="黑体" panose="02010609060101010101" pitchFamily="49" charset="-122"/>
                <a:ea typeface="黑体" panose="02010609060101010101" pitchFamily="49" charset="-122"/>
              </a:rPr>
              <a:t>命题逻辑公式的替换实例</a:t>
            </a:r>
            <a:r>
              <a:rPr lang="zh-CN" altLang="en-US" sz="2000" b="1">
                <a:solidFill>
                  <a:srgbClr val="002060"/>
                </a:solidFill>
                <a:latin typeface="楷体" panose="02010609060101010101" pitchFamily="49" charset="-122"/>
                <a:ea typeface="楷体" panose="02010609060101010101" pitchFamily="49" charset="-122"/>
              </a:rPr>
              <a:t>是用一阶逻辑公式替换一个命题逻辑公式中每个命题变量的所有出现得到的一阶逻辑公式</a:t>
            </a:r>
          </a:p>
        </p:txBody>
      </p:sp>
      <p:sp>
        <p:nvSpPr>
          <p:cNvPr id="3" name="文本框 2"/>
          <p:cNvSpPr txBox="1"/>
          <p:nvPr/>
        </p:nvSpPr>
        <p:spPr>
          <a:xfrm>
            <a:off x="8138984" y="1095944"/>
            <a:ext cx="3151062" cy="834139"/>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chemeClr val="accent2">
                    <a:lumMod val="50000"/>
                  </a:schemeClr>
                </a:solidFill>
              </a:rPr>
              <a:t>命题逻辑永真式的替换实例是一阶逻辑的永真式！</a:t>
            </a:r>
          </a:p>
        </p:txBody>
      </p:sp>
      <p:sp>
        <p:nvSpPr>
          <p:cNvPr id="12" name="文本框 11"/>
          <p:cNvSpPr txBox="1"/>
          <p:nvPr/>
        </p:nvSpPr>
        <p:spPr>
          <a:xfrm>
            <a:off x="2181100" y="5031950"/>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3" name="文本框 12"/>
          <p:cNvSpPr txBox="1"/>
          <p:nvPr/>
        </p:nvSpPr>
        <p:spPr>
          <a:xfrm>
            <a:off x="6095999" y="5522728"/>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文本框 15"/>
              <p:cNvSpPr txBox="1"/>
              <p:nvPr/>
            </p:nvSpPr>
            <p:spPr>
              <a:xfrm>
                <a:off x="1172620" y="2134812"/>
                <a:ext cx="6049209" cy="1058367"/>
              </a:xfrm>
              <a:prstGeom prst="rect">
                <a:avLst/>
              </a:prstGeom>
              <a:solidFill>
                <a:schemeClr val="accent5">
                  <a:lumMod val="20000"/>
                  <a:lumOff val="80000"/>
                </a:schemeClr>
              </a:solidFill>
            </p:spPr>
            <p:txBody>
              <a:bodyPr wrap="square" rtlCol="0">
                <a:spAutoFit/>
              </a:bodyPr>
              <a:lstStyle/>
              <a:p>
                <a:pPr>
                  <a:lnSpc>
                    <a:spcPts val="2600"/>
                  </a:lnSpc>
                </a:pPr>
                <a:r>
                  <a:rPr lang="en-US" altLang="zh-CN"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a:t>
                </a:r>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r>
                  <a:rPr lang="en-US" altLang="zh-CN"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(D)</a:t>
                </a:r>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都是量词公式，整个公式是量词公式时不可能是命题逻辑公式的替换实例。</a:t>
                </a:r>
                <a:r>
                  <a:rPr lang="en-US" altLang="zh-CN"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(B)</a:t>
                </a:r>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中的</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𝒙𝑭</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oMath>
                </a14:m>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改为</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𝒙𝑭</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𝒙</m:t>
                        </m:r>
                      </m:e>
                    </m:d>
                  </m:oMath>
                </a14:m>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才是</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𝒑</m:t>
                    </m:r>
                    <m:r>
                      <a:rPr lang="en-US" altLang="zh-CN" sz="1600" b="1" i="1" smtClean="0">
                        <a:solidFill>
                          <a:schemeClr val="accent6">
                            <a:lumMod val="50000"/>
                          </a:schemeClr>
                        </a:solidFill>
                        <a:latin typeface="Cambria Math" panose="02040503050406030204" pitchFamily="18" charset="0"/>
                      </a:rPr>
                      <m:t>→</m:t>
                    </m:r>
                    <m:d>
                      <m:dPr>
                        <m:ctrlPr>
                          <a:rPr lang="en-US" altLang="zh-CN" sz="1600" b="1" i="1" smtClean="0">
                            <a:solidFill>
                              <a:schemeClr val="accent6">
                                <a:lumMod val="50000"/>
                              </a:schemeClr>
                            </a:solidFill>
                            <a:latin typeface="Cambria Math" panose="02040503050406030204" pitchFamily="18" charset="0"/>
                          </a:rPr>
                        </m:ctrlPr>
                      </m:dPr>
                      <m:e>
                        <m:r>
                          <a:rPr lang="en-US" altLang="zh-CN" sz="1600" b="1" i="1" smtClean="0">
                            <a:solidFill>
                              <a:schemeClr val="accent6">
                                <a:lumMod val="50000"/>
                              </a:schemeClr>
                            </a:solidFill>
                            <a:latin typeface="Cambria Math" panose="02040503050406030204" pitchFamily="18" charset="0"/>
                          </a:rPr>
                          <m:t>𝒒</m:t>
                        </m:r>
                        <m:r>
                          <a:rPr lang="en-US" altLang="zh-CN" sz="1600" b="1" i="1" smtClean="0">
                            <a:solidFill>
                              <a:schemeClr val="accent6">
                                <a:lumMod val="50000"/>
                              </a:schemeClr>
                            </a:solidFill>
                            <a:latin typeface="Cambria Math" panose="02040503050406030204" pitchFamily="18" charset="0"/>
                          </a:rPr>
                          <m:t>→</m:t>
                        </m:r>
                        <m:r>
                          <a:rPr lang="en-US" altLang="zh-CN" sz="1600" b="1" i="1" smtClean="0">
                            <a:solidFill>
                              <a:schemeClr val="accent6">
                                <a:lumMod val="50000"/>
                              </a:schemeClr>
                            </a:solidFill>
                            <a:latin typeface="Cambria Math" panose="02040503050406030204" pitchFamily="18" charset="0"/>
                          </a:rPr>
                          <m:t>𝒑</m:t>
                        </m:r>
                      </m:e>
                    </m:d>
                  </m:oMath>
                </a14:m>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的替换实例，</a:t>
                </a:r>
                <a:r>
                  <a:rPr lang="en-US" altLang="zh-CN"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(E)</a:t>
                </a:r>
                <a:r>
                  <a:rPr lang="zh-CN" altLang="en-US" sz="16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不是一阶逻辑公式。</a:t>
                </a:r>
              </a:p>
            </p:txBody>
          </p:sp>
        </mc:Choice>
        <mc:Fallback xmlns="">
          <p:sp>
            <p:nvSpPr>
              <p:cNvPr id="16" name="文本框 15"/>
              <p:cNvSpPr txBox="1">
                <a:spLocks noRot="1" noChangeAspect="1" noMove="1" noResize="1" noEditPoints="1" noAdjustHandles="1" noChangeArrowheads="1" noChangeShapeType="1" noTextEdit="1"/>
              </p:cNvSpPr>
              <p:nvPr/>
            </p:nvSpPr>
            <p:spPr>
              <a:xfrm>
                <a:off x="1172620" y="2134812"/>
                <a:ext cx="6049209" cy="1058367"/>
              </a:xfrm>
              <a:prstGeom prst="rect">
                <a:avLst/>
              </a:prstGeom>
              <a:blipFill rotWithShape="1">
                <a:blip r:embed="rId3"/>
                <a:stretch>
                  <a:fillRect l="-7" t="-55" r="10" b="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8421856" y="2174423"/>
                <a:ext cx="2585317" cy="923330"/>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e>
                    </m:d>
                  </m:oMath>
                </a14:m>
                <a:r>
                  <a:rPr lang="zh-CN" altLang="en-US" b="1">
                    <a:solidFill>
                      <a:srgbClr val="002060"/>
                    </a:solidFill>
                  </a:rPr>
                  <a:t>是命题逻辑的永真式，因此</a:t>
                </a:r>
                <a:r>
                  <a:rPr lang="en-US" altLang="zh-CN" b="1">
                    <a:solidFill>
                      <a:srgbClr val="002060"/>
                    </a:solidFill>
                  </a:rPr>
                  <a:t>(C)</a:t>
                </a:r>
                <a:r>
                  <a:rPr lang="zh-CN" altLang="en-US" b="1">
                    <a:solidFill>
                      <a:srgbClr val="002060"/>
                    </a:solidFill>
                  </a:rPr>
                  <a:t>、</a:t>
                </a:r>
                <a:r>
                  <a:rPr lang="en-US" altLang="zh-CN" b="1">
                    <a:solidFill>
                      <a:srgbClr val="002060"/>
                    </a:solidFill>
                  </a:rPr>
                  <a:t>(F)</a:t>
                </a:r>
                <a:r>
                  <a:rPr lang="zh-CN" altLang="en-US" b="1">
                    <a:solidFill>
                      <a:srgbClr val="002060"/>
                    </a:solidFill>
                  </a:rPr>
                  <a:t>都是一阶逻辑的永真式</a:t>
                </a:r>
              </a:p>
            </p:txBody>
          </p:sp>
        </mc:Choice>
        <mc:Fallback xmlns="">
          <p:sp>
            <p:nvSpPr>
              <p:cNvPr id="20" name="文本框 19"/>
              <p:cNvSpPr txBox="1">
                <a:spLocks noRot="1" noChangeAspect="1" noMove="1" noResize="1" noEditPoints="1" noAdjustHandles="1" noChangeArrowheads="1" noChangeShapeType="1" noTextEdit="1"/>
              </p:cNvSpPr>
              <p:nvPr/>
            </p:nvSpPr>
            <p:spPr>
              <a:xfrm>
                <a:off x="8421856" y="2174423"/>
                <a:ext cx="2585317" cy="923330"/>
              </a:xfrm>
              <a:prstGeom prst="rect">
                <a:avLst/>
              </a:prstGeom>
              <a:blipFill rotWithShape="1">
                <a:blip r:embed="rId4"/>
                <a:stretch>
                  <a:fillRect l="-19" t="-20" r="3" b="24"/>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一阶逻辑公式的分类</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一阶逻辑公式类型判断举例</a:t>
            </a:r>
          </a:p>
        </p:txBody>
      </p:sp>
      <mc:AlternateContent xmlns:mc="http://schemas.openxmlformats.org/markup-compatibility/2006" xmlns:a14="http://schemas.microsoft.com/office/drawing/2010/main">
        <mc:Choice Requires="a14">
          <p:sp>
            <p:nvSpPr>
              <p:cNvPr id="3" name="文本框 2"/>
              <p:cNvSpPr txBox="1"/>
              <p:nvPr/>
            </p:nvSpPr>
            <p:spPr>
              <a:xfrm>
                <a:off x="1486722" y="2274164"/>
                <a:ext cx="9110186" cy="2309671"/>
              </a:xfrm>
              <a:prstGeom prst="rect">
                <a:avLst/>
              </a:prstGeom>
              <a:solidFill>
                <a:schemeClr val="accent6">
                  <a:lumMod val="20000"/>
                  <a:lumOff val="80000"/>
                  <a:alpha val="50000"/>
                </a:schemeClr>
              </a:solidFill>
            </p:spPr>
            <p:txBody>
              <a:bodyPr wrap="none" rtlCol="0">
                <a:spAutoFit/>
              </a:bodyPr>
              <a:lstStyle/>
              <a:p>
                <a:pPr>
                  <a:spcBef>
                    <a:spcPts val="600"/>
                  </a:spcBef>
                  <a:spcAft>
                    <a:spcPts val="1200"/>
                  </a:spcAft>
                </a:pPr>
                <a:r>
                  <a:rPr lang="zh-CN" altLang="en-US" sz="2400" b="1">
                    <a:solidFill>
                      <a:srgbClr val="002060"/>
                    </a:solidFill>
                  </a:rPr>
                  <a:t>判断下面一阶逻辑公式是永真式、矛盾式，还是非永真的可满足式</a:t>
                </a:r>
              </a:p>
              <a:p>
                <a:pPr marL="342900" indent="-342900">
                  <a:spcBef>
                    <a:spcPts val="600"/>
                  </a:spcBef>
                  <a:spcAft>
                    <a:spcPts val="1200"/>
                  </a:spcAft>
                  <a:buFont typeface="+mj-lt"/>
                  <a:buAutoNum type="arabicPeriod"/>
                </a:pPr>
                <a14:m>
                  <m:oMath xmlns:m="http://schemas.openxmlformats.org/officeDocument/2006/math">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e>
                    </m:d>
                  </m:oMath>
                </a14:m>
                <a:endParaRPr lang="en-US" altLang="zh-CN" sz="2400" b="1">
                  <a:solidFill>
                    <a:srgbClr val="C00000"/>
                  </a:solidFill>
                </a:endParaRPr>
              </a:p>
              <a:p>
                <a:pPr marL="342900" indent="-342900">
                  <a:spcBef>
                    <a:spcPts val="600"/>
                  </a:spcBef>
                  <a:spcAft>
                    <a:spcPts val="1200"/>
                  </a:spcAft>
                  <a:buFont typeface="+mj-lt"/>
                  <a:buAutoNum type="arabicPeriod"/>
                </a:pPr>
                <a14:m>
                  <m:oMath xmlns:m="http://schemas.openxmlformats.org/officeDocument/2006/math">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𝒚</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𝒚</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𝒚</m:t>
                        </m:r>
                      </m:e>
                    </m:d>
                  </m:oMath>
                </a14:m>
                <a:endParaRPr lang="en-US" altLang="zh-CN" sz="2400" b="1">
                  <a:solidFill>
                    <a:srgbClr val="C00000"/>
                  </a:solidFill>
                </a:endParaRPr>
              </a:p>
              <a:p>
                <a:pPr marL="342900" indent="-342900">
                  <a:spcBef>
                    <a:spcPts val="600"/>
                  </a:spcBef>
                  <a:spcAft>
                    <a:spcPts val="1200"/>
                  </a:spcAft>
                  <a:buFont typeface="+mj-lt"/>
                  <a:buAutoNum type="arabicPeriod"/>
                </a:pPr>
                <a14:m>
                  <m:oMath xmlns:m="http://schemas.openxmlformats.org/officeDocument/2006/math">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e>
                    </m:d>
                    <m:r>
                      <a:rPr lang="en-US" altLang="zh-CN" sz="2400" b="1" i="1" smtClean="0">
                        <a:solidFill>
                          <a:srgbClr val="C00000"/>
                        </a:solidFill>
                        <a:latin typeface="Cambria Math" panose="02040503050406030204" pitchFamily="18" charset="0"/>
                      </a:rPr>
                      <m:t>→</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𝑮</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𝒚</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𝒙𝑭</m:t>
                        </m:r>
                        <m:d>
                          <m:dPr>
                            <m:ctrlPr>
                              <a:rPr lang="en-US" altLang="zh-CN" sz="2400" b="1" i="1">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e>
                        </m:d>
                      </m:e>
                    </m:d>
                  </m:oMath>
                </a14:m>
                <a:endParaRPr lang="zh-CN" altLang="en-US" sz="2400" b="1">
                  <a:solidFill>
                    <a:srgbClr val="C00000"/>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486722" y="2274164"/>
                <a:ext cx="9110186" cy="2309671"/>
              </a:xfrm>
              <a:prstGeom prst="rect">
                <a:avLst/>
              </a:prstGeom>
              <a:blipFill rotWithShape="1">
                <a:blip r:embed="rId2"/>
                <a:stretch>
                  <a:fillRect l="-2" t="-10" b="18"/>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一阶逻辑公式的分类</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一阶逻辑公式类型判断举例</a:t>
            </a:r>
          </a:p>
        </p:txBody>
      </p:sp>
      <mc:AlternateContent xmlns:mc="http://schemas.openxmlformats.org/markup-compatibility/2006" xmlns:a14="http://schemas.microsoft.com/office/drawing/2010/main">
        <mc:Choice Requires="a14">
          <p:sp>
            <p:nvSpPr>
              <p:cNvPr id="3" name="文本框 2"/>
              <p:cNvSpPr txBox="1"/>
              <p:nvPr/>
            </p:nvSpPr>
            <p:spPr>
              <a:xfrm>
                <a:off x="440754" y="1103964"/>
                <a:ext cx="6878806" cy="1466812"/>
              </a:xfrm>
              <a:prstGeom prst="rect">
                <a:avLst/>
              </a:prstGeom>
              <a:solidFill>
                <a:schemeClr val="accent6">
                  <a:lumMod val="20000"/>
                  <a:lumOff val="80000"/>
                  <a:alpha val="50000"/>
                </a:schemeClr>
              </a:solidFill>
            </p:spPr>
            <p:txBody>
              <a:bodyPr wrap="none" rtlCol="0">
                <a:spAutoFit/>
              </a:bodyPr>
              <a:lstStyle/>
              <a:p>
                <a:pPr>
                  <a:spcAft>
                    <a:spcPts val="600"/>
                  </a:spcAft>
                </a:pPr>
                <a:r>
                  <a:rPr lang="zh-CN" altLang="en-US" b="1">
                    <a:solidFill>
                      <a:srgbClr val="002060"/>
                    </a:solidFill>
                  </a:rPr>
                  <a:t>判断下面一阶逻辑公式是永真式、矛盾式，还是非永真的可满足式</a:t>
                </a:r>
              </a:p>
              <a:p>
                <a:pPr marL="342900" indent="-342900">
                  <a:spcAft>
                    <a:spcPts val="600"/>
                  </a:spcAft>
                  <a:buFont typeface="+mj-lt"/>
                  <a:buAutoNum type="arabicPeriod"/>
                </a:pPr>
                <a14:m>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oMath>
                </a14:m>
                <a:endParaRPr lang="en-US" altLang="zh-CN" b="1">
                  <a:solidFill>
                    <a:srgbClr val="C00000"/>
                  </a:solidFill>
                </a:endParaRPr>
              </a:p>
              <a:p>
                <a:pPr marL="342900" indent="-342900">
                  <a:spcAft>
                    <a:spcPts val="600"/>
                  </a:spcAft>
                  <a:buFont typeface="+mj-lt"/>
                  <a:buAutoNum type="arabicPeriod"/>
                </a:pPr>
                <a14:m>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e>
                    </m:d>
                  </m:oMath>
                </a14:m>
                <a:endParaRPr lang="en-US" altLang="zh-CN" b="1">
                  <a:solidFill>
                    <a:srgbClr val="C00000"/>
                  </a:solidFill>
                </a:endParaRPr>
              </a:p>
              <a:p>
                <a:pPr marL="342900" indent="-342900">
                  <a:spcAft>
                    <a:spcPts val="600"/>
                  </a:spcAft>
                  <a:buFont typeface="+mj-lt"/>
                  <a:buAutoNum type="arabicPeriod"/>
                </a:pPr>
                <a14:m>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𝑮</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𝒙𝑭</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e>
                    </m:d>
                  </m:oMath>
                </a14:m>
                <a:endParaRPr lang="zh-CN" altLang="en-US" sz="2400" b="1">
                  <a:solidFill>
                    <a:srgbClr val="C00000"/>
                  </a:solidFill>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40754" y="1103964"/>
                <a:ext cx="6878806" cy="1466812"/>
              </a:xfrm>
              <a:prstGeom prst="rect">
                <a:avLst/>
              </a:prstGeom>
              <a:blipFill rotWithShape="1">
                <a:blip r:embed="rId2"/>
                <a:stretch>
                  <a:fillRect l="-1" t="-23" r="8" b="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348656" y="2893118"/>
                <a:ext cx="5289047" cy="3257687"/>
              </a:xfrm>
              <a:prstGeom prst="rect">
                <a:avLst/>
              </a:prstGeom>
              <a:solidFill>
                <a:schemeClr val="accent2">
                  <a:lumMod val="20000"/>
                  <a:lumOff val="80000"/>
                  <a:alpha val="25000"/>
                </a:schemeClr>
              </a:solidFill>
              <a:ln w="12700">
                <a:solidFill>
                  <a:schemeClr val="accent1">
                    <a:shade val="50000"/>
                  </a:schemeClr>
                </a:solidFill>
                <a:prstDash val="sysDot"/>
              </a:ln>
            </p:spPr>
            <p:txBody>
              <a:bodyPr wrap="square" rtlCol="0">
                <a:spAutoFit/>
              </a:bodyPr>
              <a:lstStyle/>
              <a:p>
                <a:pPr algn="ctr">
                  <a:lnSpc>
                    <a:spcPts val="2400"/>
                  </a:lnSpc>
                  <a:spcBef>
                    <a:spcPts val="600"/>
                  </a:spcBef>
                  <a:spcAft>
                    <a:spcPts val="600"/>
                  </a:spcAft>
                </a:pPr>
                <a:r>
                  <a:rPr lang="zh-CN" altLang="en-US" sz="2000" b="1">
                    <a:solidFill>
                      <a:srgbClr val="C00000"/>
                    </a:solidFill>
                    <a:latin typeface="黑体" panose="02010609060101010101" pitchFamily="49" charset="-122"/>
                    <a:ea typeface="黑体" panose="02010609060101010101" pitchFamily="49" charset="-122"/>
                  </a:rPr>
                  <a:t>非形式化方法证明</a:t>
                </a:r>
                <a14:m>
                  <m:oMath xmlns:m="http://schemas.openxmlformats.org/officeDocument/2006/math">
                    <m:r>
                      <a:rPr lang="en-US" altLang="zh-CN" sz="2000" b="1" i="1" smtClean="0">
                        <a:solidFill>
                          <a:srgbClr val="002060"/>
                        </a:solidFill>
                        <a:latin typeface="Cambria Math" panose="02040503050406030204" pitchFamily="18" charset="0"/>
                        <a:ea typeface="宋体" panose="02010600030101010101" pitchFamily="2" charset="-122"/>
                      </a:rPr>
                      <m:t>∀</m:t>
                    </m:r>
                    <m:r>
                      <a:rPr lang="en-US" altLang="zh-CN" sz="2000" b="1" i="1" smtClean="0">
                        <a:solidFill>
                          <a:srgbClr val="002060"/>
                        </a:solidFill>
                        <a:latin typeface="Cambria Math" panose="02040503050406030204" pitchFamily="18" charset="0"/>
                        <a:ea typeface="宋体" panose="02010600030101010101" pitchFamily="2" charset="-122"/>
                      </a:rPr>
                      <m:t>𝒙𝑭</m:t>
                    </m:r>
                    <m:d>
                      <m:dPr>
                        <m:ctrlPr>
                          <a:rPr lang="en-US" altLang="zh-CN" sz="2000" b="1" i="1" smtClean="0">
                            <a:solidFill>
                              <a:srgbClr val="002060"/>
                            </a:solidFill>
                            <a:latin typeface="Cambria Math" panose="02040503050406030204" pitchFamily="18" charset="0"/>
                            <a:ea typeface="宋体" panose="02010600030101010101" pitchFamily="2" charset="-122"/>
                          </a:rPr>
                        </m:ctrlPr>
                      </m:dPr>
                      <m:e>
                        <m:r>
                          <a:rPr lang="en-US" altLang="zh-CN" sz="2000" b="1" i="1" smtClean="0">
                            <a:solidFill>
                              <a:srgbClr val="002060"/>
                            </a:solidFill>
                            <a:latin typeface="Cambria Math" panose="02040503050406030204" pitchFamily="18" charset="0"/>
                            <a:ea typeface="宋体" panose="02010600030101010101" pitchFamily="2" charset="-122"/>
                          </a:rPr>
                          <m:t>𝒙</m:t>
                        </m:r>
                      </m:e>
                    </m:d>
                    <m:r>
                      <a:rPr lang="en-US" altLang="zh-CN" sz="2000" b="1" i="1" smtClean="0">
                        <a:solidFill>
                          <a:srgbClr val="002060"/>
                        </a:solidFill>
                        <a:latin typeface="Cambria Math" panose="02040503050406030204" pitchFamily="18" charset="0"/>
                        <a:ea typeface="宋体" panose="02010600030101010101" pitchFamily="2" charset="-122"/>
                      </a:rPr>
                      <m:t>→∃</m:t>
                    </m:r>
                    <m:r>
                      <a:rPr lang="en-US" altLang="zh-CN" sz="2000" b="1" i="1" smtClean="0">
                        <a:solidFill>
                          <a:srgbClr val="002060"/>
                        </a:solidFill>
                        <a:latin typeface="Cambria Math" panose="02040503050406030204" pitchFamily="18" charset="0"/>
                        <a:ea typeface="宋体" panose="02010600030101010101" pitchFamily="2" charset="-122"/>
                      </a:rPr>
                      <m:t>𝒙𝑭</m:t>
                    </m:r>
                    <m:d>
                      <m:dPr>
                        <m:ctrlPr>
                          <a:rPr lang="en-US" altLang="zh-CN" sz="2000" b="1" i="1" smtClean="0">
                            <a:solidFill>
                              <a:srgbClr val="002060"/>
                            </a:solidFill>
                            <a:latin typeface="Cambria Math" panose="02040503050406030204" pitchFamily="18" charset="0"/>
                            <a:ea typeface="宋体" panose="02010600030101010101" pitchFamily="2" charset="-122"/>
                          </a:rPr>
                        </m:ctrlPr>
                      </m:dPr>
                      <m:e>
                        <m:r>
                          <a:rPr lang="en-US" altLang="zh-CN" sz="2000" b="1" i="1" smtClean="0">
                            <a:solidFill>
                              <a:srgbClr val="002060"/>
                            </a:solidFill>
                            <a:latin typeface="Cambria Math" panose="02040503050406030204" pitchFamily="18" charset="0"/>
                            <a:ea typeface="宋体" panose="02010600030101010101" pitchFamily="2" charset="-122"/>
                          </a:rPr>
                          <m:t>𝒙</m:t>
                        </m:r>
                      </m:e>
                    </m:d>
                  </m:oMath>
                </a14:m>
                <a:r>
                  <a:rPr lang="zh-CN" altLang="en-US" sz="2000" b="1">
                    <a:solidFill>
                      <a:srgbClr val="002060"/>
                    </a:solidFill>
                    <a:latin typeface="黑体" panose="02010609060101010101" pitchFamily="49" charset="-122"/>
                    <a:ea typeface="黑体" panose="02010609060101010101" pitchFamily="49" charset="-122"/>
                  </a:rPr>
                  <a:t>是永真式</a:t>
                </a:r>
                <a:endParaRPr lang="en-US" altLang="zh-CN" sz="2000" b="1">
                  <a:solidFill>
                    <a:srgbClr val="002060"/>
                  </a:solidFill>
                  <a:latin typeface="黑体" panose="02010609060101010101" pitchFamily="49" charset="-122"/>
                  <a:ea typeface="黑体" panose="02010609060101010101" pitchFamily="49" charset="-122"/>
                </a:endParaRPr>
              </a:p>
              <a:p>
                <a:pPr>
                  <a:lnSpc>
                    <a:spcPts val="2800"/>
                  </a:lnSpc>
                  <a:spcBef>
                    <a:spcPts val="600"/>
                  </a:spcBef>
                </a:pPr>
                <a:r>
                  <a:rPr lang="zh-CN" altLang="en-US" b="1">
                    <a:solidFill>
                      <a:schemeClr val="accent6">
                        <a:lumMod val="50000"/>
                      </a:schemeClr>
                    </a:solidFill>
                    <a:latin typeface="宋体" panose="02010600030101010101" pitchFamily="2" charset="-122"/>
                    <a:ea typeface="宋体" panose="02010600030101010101" pitchFamily="2" charset="-122"/>
                  </a:rPr>
                  <a:t>对任意解释，设其论域是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宋体" panose="02010600030101010101" pitchFamily="2" charset="-122"/>
                    <a:ea typeface="宋体" panose="02010600030101010101" pitchFamily="2" charset="-122"/>
                  </a:rPr>
                  <a:t>。</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342900" indent="-342900">
                  <a:lnSpc>
                    <a:spcPts val="2800"/>
                  </a:lnSpc>
                  <a:spcBef>
                    <a:spcPts val="600"/>
                  </a:spcBef>
                  <a:buFont typeface="+mj-l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真值为假，则整个蕴涵式真值为真。</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800"/>
                  </a:lnSpc>
                  <a:spcBef>
                    <a:spcPts val="600"/>
                  </a:spcBef>
                  <a:buFont typeface="+mj-l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真值为真，则对论域</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𝑫</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的任意元素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，有</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为真，由于</a:t>
                </a:r>
                <a:r>
                  <a:rPr lang="zh-CN" altLang="en-US" b="1">
                    <a:solidFill>
                      <a:srgbClr val="C00000"/>
                    </a:solidFill>
                    <a:latin typeface="Arial" panose="020B0604020202020204" pitchFamily="34" charset="0"/>
                    <a:ea typeface="黑体" panose="02010609060101010101" pitchFamily="49" charset="-122"/>
                    <a:cs typeface="Arial" panose="020B0604020202020204" pitchFamily="34" charset="0"/>
                  </a:rPr>
                  <a:t>论域</a:t>
                </a:r>
                <a14:m>
                  <m:oMath xmlns:m="http://schemas.openxmlformats.org/officeDocument/2006/math">
                    <m:r>
                      <a:rPr lang="en-US" altLang="zh-CN" b="1" i="1" smtClean="0">
                        <a:solidFill>
                          <a:srgbClr val="C00000"/>
                        </a:solidFill>
                        <a:latin typeface="Cambria Math" panose="02040503050406030204" pitchFamily="18" charset="0"/>
                      </a:rPr>
                      <m:t>𝑫</m:t>
                    </m:r>
                  </m:oMath>
                </a14:m>
                <a:r>
                  <a:rPr lang="zh-CN" altLang="en-US" b="1">
                    <a:solidFill>
                      <a:srgbClr val="C00000"/>
                    </a:solidFill>
                    <a:latin typeface="Arial" panose="020B0604020202020204" pitchFamily="34" charset="0"/>
                    <a:ea typeface="黑体" panose="02010609060101010101" pitchFamily="49" charset="-122"/>
                    <a:cs typeface="Arial" panose="020B0604020202020204" pitchFamily="34" charset="0"/>
                  </a:rPr>
                  <a:t>是非空集</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，因此总存在元素</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𝒅</m:t>
                    </m:r>
                    <m:r>
                      <a:rPr lang="en-US" altLang="zh-CN" b="1" i="1" smtClean="0">
                        <a:solidFill>
                          <a:schemeClr val="accent6">
                            <a:lumMod val="50000"/>
                          </a:schemeClr>
                        </a:solidFill>
                        <a:latin typeface="Cambria Math" panose="02040503050406030204" pitchFamily="18" charset="0"/>
                      </a:rPr>
                      <m:t>_</m:t>
                    </m:r>
                    <m:r>
                      <a:rPr lang="en-US" altLang="zh-CN" b="1" i="1" smtClean="0">
                        <a:solidFill>
                          <a:schemeClr val="accent6">
                            <a:lumMod val="50000"/>
                          </a:schemeClr>
                        </a:solidFill>
                        <a:latin typeface="Cambria Math" panose="02040503050406030204" pitchFamily="18" charset="0"/>
                      </a:rPr>
                      <m:t>𝟎</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，因此</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𝒅</m:t>
                            </m:r>
                          </m:e>
                          <m:sub>
                            <m:r>
                              <a:rPr lang="en-US" altLang="zh-CN" b="1" i="1" smtClean="0">
                                <a:solidFill>
                                  <a:schemeClr val="accent6">
                                    <a:lumMod val="50000"/>
                                  </a:schemeClr>
                                </a:solidFill>
                                <a:latin typeface="Cambria Math" panose="02040503050406030204" pitchFamily="18" charset="0"/>
                              </a:rPr>
                              <m:t>𝟎</m:t>
                            </m:r>
                          </m:sub>
                        </m:sSub>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为真，即存在论域的元素</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𝒅</m:t>
                        </m:r>
                      </m:e>
                      <m:sub>
                        <m:r>
                          <a:rPr lang="en-US" altLang="zh-CN" b="1" i="1" smtClean="0">
                            <a:solidFill>
                              <a:schemeClr val="accent6">
                                <a:lumMod val="50000"/>
                              </a:schemeClr>
                            </a:solidFill>
                            <a:latin typeface="Cambria Math" panose="02040503050406030204" pitchFamily="18" charset="0"/>
                          </a:rPr>
                          <m:t>𝟎</m:t>
                        </m:r>
                      </m:sub>
                    </m:sSub>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使得</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𝒅</m:t>
                            </m:r>
                          </m:e>
                          <m:sub>
                            <m:r>
                              <a:rPr lang="en-US" altLang="zh-CN" b="1" i="1" smtClean="0">
                                <a:solidFill>
                                  <a:schemeClr val="accent6">
                                    <a:lumMod val="50000"/>
                                  </a:schemeClr>
                                </a:solidFill>
                                <a:latin typeface="Cambria Math" panose="02040503050406030204" pitchFamily="18" charset="0"/>
                              </a:rPr>
                              <m:t>𝟎</m:t>
                            </m:r>
                          </m:sub>
                        </m:sSub>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为真，即</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为真。</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a:lnSpc>
                    <a:spcPts val="2800"/>
                  </a:lnSpc>
                  <a:spcBef>
                    <a:spcPts val="600"/>
                  </a:spcBef>
                </a:pPr>
                <a:r>
                  <a:rPr lang="zh-CN" altLang="en-US" b="1">
                    <a:solidFill>
                      <a:schemeClr val="accent6">
                        <a:lumMod val="50000"/>
                      </a:schemeClr>
                    </a:solidFill>
                    <a:latin typeface="宋体" panose="02010600030101010101" pitchFamily="2" charset="-122"/>
                    <a:ea typeface="宋体" panose="02010600030101010101" pitchFamily="2" charset="-122"/>
                  </a:rPr>
                  <a:t>综上，公式</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e>
                    </m:d>
                  </m:oMath>
                </a14:m>
                <a:r>
                  <a:rPr lang="zh-CN" altLang="en-US" b="1">
                    <a:solidFill>
                      <a:schemeClr val="accent6">
                        <a:lumMod val="50000"/>
                      </a:schemeClr>
                    </a:solidFill>
                    <a:latin typeface="宋体" panose="02010600030101010101" pitchFamily="2" charset="-122"/>
                    <a:ea typeface="宋体" panose="02010600030101010101" pitchFamily="2" charset="-122"/>
                  </a:rPr>
                  <a:t>是永真式。</a:t>
                </a:r>
                <a:endParaRPr lang="zh-CN" altLang="en-US" b="1">
                  <a:latin typeface="宋体" panose="02010600030101010101" pitchFamily="2" charset="-122"/>
                  <a:ea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48656" y="2893118"/>
                <a:ext cx="5289047" cy="3257687"/>
              </a:xfrm>
              <a:prstGeom prst="rect">
                <a:avLst/>
              </a:prstGeom>
              <a:blipFill rotWithShape="1">
                <a:blip r:embed="rId3"/>
                <a:stretch>
                  <a:fillRect l="-121" t="-197" r="-117" b="-189"/>
                </a:stretch>
              </a:blipFill>
              <a:ln w="12700">
                <a:solidFill>
                  <a:schemeClr val="accent1">
                    <a:shade val="50000"/>
                  </a:schemeClr>
                </a:solidFill>
                <a:prstDash val="sysDot"/>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771466" y="2929634"/>
                <a:ext cx="6071878" cy="3184654"/>
              </a:xfrm>
              <a:prstGeom prst="rect">
                <a:avLst/>
              </a:prstGeom>
              <a:solidFill>
                <a:schemeClr val="accent5">
                  <a:lumMod val="20000"/>
                  <a:lumOff val="80000"/>
                  <a:alpha val="25000"/>
                </a:schemeClr>
              </a:solidFill>
              <a:ln w="12700">
                <a:solidFill>
                  <a:schemeClr val="accent1">
                    <a:shade val="50000"/>
                  </a:schemeClr>
                </a:solidFill>
                <a:prstDash val="sysDash"/>
              </a:ln>
            </p:spPr>
            <p:txBody>
              <a:bodyPr wrap="square" rtlCol="0">
                <a:spAutoFit/>
              </a:bodyPr>
              <a:lstStyle/>
              <a:p>
                <a:pPr>
                  <a:spcAft>
                    <a:spcPts val="600"/>
                  </a:spcAft>
                </a:pPr>
                <a:r>
                  <a:rPr lang="zh-CN" altLang="en-US" b="1">
                    <a:solidFill>
                      <a:srgbClr val="C00000"/>
                    </a:solidFill>
                  </a:rPr>
                  <a:t>举例说明</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𝒚𝑭</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𝒚</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𝒙𝑭</m:t>
                    </m:r>
                    <m:d>
                      <m:dPr>
                        <m:ctrlPr>
                          <a:rPr lang="en-US" altLang="zh-CN" b="1" i="1">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𝒙</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𝒚</m:t>
                        </m:r>
                      </m:e>
                    </m:d>
                  </m:oMath>
                </a14:m>
                <a:r>
                  <a:rPr lang="zh-CN" altLang="en-US" b="1">
                    <a:solidFill>
                      <a:srgbClr val="002060"/>
                    </a:solidFill>
                  </a:rPr>
                  <a:t>是非永真的可满足式</a:t>
                </a:r>
                <a:endParaRPr lang="en-US" altLang="zh-CN" b="1">
                  <a:solidFill>
                    <a:srgbClr val="002060"/>
                  </a:solidFill>
                </a:endParaRPr>
              </a:p>
              <a:p>
                <a:pPr>
                  <a:lnSpc>
                    <a:spcPts val="2600"/>
                  </a:lnSpc>
                  <a:spcAft>
                    <a:spcPts val="300"/>
                  </a:spcAft>
                </a:pPr>
                <a:r>
                  <a:rPr lang="zh-CN" altLang="en-US" b="1">
                    <a:solidFill>
                      <a:schemeClr val="accent6">
                        <a:lumMod val="50000"/>
                      </a:schemeClr>
                    </a:solidFill>
                    <a:latin typeface="宋体" panose="02010600030101010101" pitchFamily="2" charset="-122"/>
                    <a:ea typeface="宋体" panose="02010600030101010101" pitchFamily="2" charset="-122"/>
                  </a:rPr>
                  <a:t>设下面解释的论域都是</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𝑫</m:t>
                    </m:r>
                    <m:r>
                      <a:rPr lang="en-US" altLang="zh-CN" b="1" i="1" smtClean="0">
                        <a:solidFill>
                          <a:schemeClr val="accent6">
                            <a:lumMod val="50000"/>
                          </a:schemeClr>
                        </a:solidFill>
                        <a:latin typeface="Cambria Math" panose="02040503050406030204" pitchFamily="18" charset="0"/>
                        <a:ea typeface="宋体" panose="02010600030101010101" pitchFamily="2" charset="-122"/>
                      </a:rPr>
                      <m:t> = </m:t>
                    </m:r>
                    <m:d>
                      <m:dPr>
                        <m:begChr m:val="{"/>
                        <m:endChr m:val="}"/>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𝒂</m:t>
                        </m:r>
                        <m:r>
                          <a:rPr lang="en-US" altLang="zh-CN" b="1" i="1" smtClean="0">
                            <a:solidFill>
                              <a:schemeClr val="accent6">
                                <a:lumMod val="50000"/>
                              </a:schemeClr>
                            </a:solidFill>
                            <a:latin typeface="Cambria Math" panose="02040503050406030204" pitchFamily="18" charset="0"/>
                            <a:ea typeface="宋体" panose="02010600030101010101" pitchFamily="2" charset="-122"/>
                          </a:rPr>
                          <m:t>, </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𝒃</m:t>
                        </m:r>
                      </m:e>
                    </m:d>
                  </m:oMath>
                </a14:m>
                <a:r>
                  <a:rPr lang="zh-CN" altLang="en-US" b="1">
                    <a:solidFill>
                      <a:schemeClr val="accent6">
                        <a:lumMod val="50000"/>
                      </a:schemeClr>
                    </a:solidFill>
                    <a:latin typeface="宋体" panose="02010600030101010101" pitchFamily="2" charset="-122"/>
                    <a:ea typeface="宋体" panose="02010600030101010101" pitchFamily="2" charset="-122"/>
                  </a:rPr>
                  <a:t>。</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342900" indent="-342900">
                  <a:lnSpc>
                    <a:spcPts val="2600"/>
                  </a:lnSpc>
                  <a:spcAft>
                    <a:spcPts val="300"/>
                  </a:spcAft>
                  <a:buFont typeface="+mj-l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若谓词</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𝑭</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的解释是</a:t>
                </a:r>
                <a14:m>
                  <m:oMath xmlns:m="http://schemas.openxmlformats.org/officeDocument/2006/math">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e>
                    </m:d>
                    <m:r>
                      <a:rPr lang="en-US" altLang="zh-CN" b="1" i="1" smtClean="0">
                        <a:solidFill>
                          <a:schemeClr val="accent6">
                            <a:lumMod val="50000"/>
                          </a:schemeClr>
                        </a:solidFill>
                        <a:latin typeface="Cambria Math" panose="02040503050406030204" pitchFamily="18" charset="0"/>
                      </a:rPr>
                      <m:t>={</m:t>
                    </m:r>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𝒂</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14:m>
                  <m:oMath xmlns:m="http://schemas.openxmlformats.org/officeDocument/2006/math">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，则由于</a:t>
                </a:r>
                <a14:m>
                  <m:oMath xmlns:m="http://schemas.openxmlformats.org/officeDocument/2006/math">
                    <m:r>
                      <a:rPr lang="en-US" altLang="zh-CN" b="1" i="1" spc="-100" smtClean="0">
                        <a:solidFill>
                          <a:schemeClr val="accent6">
                            <a:lumMod val="50000"/>
                          </a:schemeClr>
                        </a:solidFill>
                        <a:latin typeface="Cambria Math" panose="02040503050406030204" pitchFamily="18" charset="0"/>
                      </a:rPr>
                      <m:t>∀</m:t>
                    </m:r>
                    <m:r>
                      <a:rPr lang="en-US" altLang="zh-CN" b="1" i="1" spc="-100" smtClean="0">
                        <a:solidFill>
                          <a:schemeClr val="accent6">
                            <a:lumMod val="50000"/>
                          </a:schemeClr>
                        </a:solidFill>
                        <a:latin typeface="Cambria Math" panose="02040503050406030204" pitchFamily="18" charset="0"/>
                      </a:rPr>
                      <m:t>𝒙</m:t>
                    </m:r>
                    <m:r>
                      <a:rPr lang="en-US" altLang="zh-CN" b="1" i="1" spc="-100" smtClean="0">
                        <a:solidFill>
                          <a:schemeClr val="accent6">
                            <a:lumMod val="50000"/>
                          </a:schemeClr>
                        </a:solidFill>
                        <a:latin typeface="Cambria Math" panose="02040503050406030204" pitchFamily="18" charset="0"/>
                      </a:rPr>
                      <m:t>∃</m:t>
                    </m:r>
                    <m:r>
                      <a:rPr lang="en-US" altLang="zh-CN" b="1" i="1" spc="-100" smtClean="0">
                        <a:solidFill>
                          <a:schemeClr val="accent6">
                            <a:lumMod val="50000"/>
                          </a:schemeClr>
                        </a:solidFill>
                        <a:latin typeface="Cambria Math" panose="02040503050406030204" pitchFamily="18" charset="0"/>
                      </a:rPr>
                      <m:t>𝒚𝑭</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𝒙</m:t>
                        </m:r>
                        <m:r>
                          <a:rPr lang="en-US" altLang="zh-CN" b="1" i="1" spc="-100" smtClean="0">
                            <a:solidFill>
                              <a:schemeClr val="accent6">
                                <a:lumMod val="50000"/>
                              </a:schemeClr>
                            </a:solidFill>
                            <a:latin typeface="Cambria Math" panose="02040503050406030204" pitchFamily="18" charset="0"/>
                          </a:rPr>
                          <m:t>, </m:t>
                        </m:r>
                        <m:r>
                          <a:rPr lang="en-US" altLang="zh-CN" b="1" i="1" spc="-100" smtClean="0">
                            <a:solidFill>
                              <a:schemeClr val="accent6">
                                <a:lumMod val="50000"/>
                              </a:schemeClr>
                            </a:solidFill>
                            <a:latin typeface="Cambria Math" panose="02040503050406030204" pitchFamily="18" charset="0"/>
                          </a:rPr>
                          <m:t>𝒚</m:t>
                        </m:r>
                      </m:e>
                    </m:d>
                    <m:r>
                      <a:rPr lang="en-US" altLang="zh-CN" b="1" i="1" spc="-100" smtClean="0">
                        <a:solidFill>
                          <a:schemeClr val="accent6">
                            <a:lumMod val="50000"/>
                          </a:schemeClr>
                        </a:solidFill>
                        <a:latin typeface="Cambria Math" panose="02040503050406030204" pitchFamily="18" charset="0"/>
                      </a:rPr>
                      <m:t>≡</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𝑭</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𝒂</m:t>
                            </m:r>
                            <m:r>
                              <a:rPr lang="en-US" altLang="zh-CN" b="1" i="1" spc="-100" smtClean="0">
                                <a:solidFill>
                                  <a:schemeClr val="accent6">
                                    <a:lumMod val="50000"/>
                                  </a:schemeClr>
                                </a:solidFill>
                                <a:latin typeface="Cambria Math" panose="02040503050406030204" pitchFamily="18" charset="0"/>
                              </a:rPr>
                              <m:t>, </m:t>
                            </m:r>
                            <m:r>
                              <a:rPr lang="en-US" altLang="zh-CN" b="1" i="1" spc="-100" smtClean="0">
                                <a:solidFill>
                                  <a:schemeClr val="accent6">
                                    <a:lumMod val="50000"/>
                                  </a:schemeClr>
                                </a:solidFill>
                                <a:latin typeface="Cambria Math" panose="02040503050406030204" pitchFamily="18" charset="0"/>
                              </a:rPr>
                              <m:t>𝒂</m:t>
                            </m:r>
                          </m:e>
                        </m:d>
                        <m:r>
                          <a:rPr lang="en-US" altLang="zh-CN" b="1" i="1" spc="-100" smtClean="0">
                            <a:solidFill>
                              <a:schemeClr val="accent6">
                                <a:lumMod val="50000"/>
                              </a:schemeClr>
                            </a:solidFill>
                            <a:latin typeface="Cambria Math" panose="02040503050406030204" pitchFamily="18" charset="0"/>
                          </a:rPr>
                          <m:t>∨</m:t>
                        </m:r>
                        <m:r>
                          <a:rPr lang="en-US" altLang="zh-CN" b="1" i="1" spc="-100" smtClean="0">
                            <a:solidFill>
                              <a:schemeClr val="accent6">
                                <a:lumMod val="50000"/>
                              </a:schemeClr>
                            </a:solidFill>
                            <a:latin typeface="Cambria Math" panose="02040503050406030204" pitchFamily="18" charset="0"/>
                          </a:rPr>
                          <m:t>𝑭</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𝒂</m:t>
                            </m:r>
                            <m:r>
                              <a:rPr lang="en-US" altLang="zh-CN" b="1" i="1" spc="-100" smtClean="0">
                                <a:solidFill>
                                  <a:schemeClr val="accent6">
                                    <a:lumMod val="50000"/>
                                  </a:schemeClr>
                                </a:solidFill>
                                <a:latin typeface="Cambria Math" panose="02040503050406030204" pitchFamily="18" charset="0"/>
                              </a:rPr>
                              <m:t>, </m:t>
                            </m:r>
                            <m:r>
                              <a:rPr lang="en-US" altLang="zh-CN" b="1" i="1" spc="-100" smtClean="0">
                                <a:solidFill>
                                  <a:schemeClr val="accent6">
                                    <a:lumMod val="50000"/>
                                  </a:schemeClr>
                                </a:solidFill>
                                <a:latin typeface="Cambria Math" panose="02040503050406030204" pitchFamily="18" charset="0"/>
                              </a:rPr>
                              <m:t>𝒃</m:t>
                            </m:r>
                          </m:e>
                        </m:d>
                      </m:e>
                    </m:d>
                    <m:r>
                      <a:rPr lang="en-US" altLang="zh-CN" b="1" i="1" spc="-100" smtClean="0">
                        <a:solidFill>
                          <a:schemeClr val="accent6">
                            <a:lumMod val="50000"/>
                          </a:schemeClr>
                        </a:solidFill>
                        <a:latin typeface="Cambria Math" panose="02040503050406030204" pitchFamily="18" charset="0"/>
                      </a:rPr>
                      <m:t>∧</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𝑭</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𝒃</m:t>
                            </m:r>
                            <m:r>
                              <a:rPr lang="en-US" altLang="zh-CN" b="1" i="1" spc="-100" smtClean="0">
                                <a:solidFill>
                                  <a:schemeClr val="accent6">
                                    <a:lumMod val="50000"/>
                                  </a:schemeClr>
                                </a:solidFill>
                                <a:latin typeface="Cambria Math" panose="02040503050406030204" pitchFamily="18" charset="0"/>
                              </a:rPr>
                              <m:t>, </m:t>
                            </m:r>
                            <m:r>
                              <a:rPr lang="en-US" altLang="zh-CN" b="1" i="1" spc="-100" smtClean="0">
                                <a:solidFill>
                                  <a:schemeClr val="accent6">
                                    <a:lumMod val="50000"/>
                                  </a:schemeClr>
                                </a:solidFill>
                                <a:latin typeface="Cambria Math" panose="02040503050406030204" pitchFamily="18" charset="0"/>
                              </a:rPr>
                              <m:t>𝒂</m:t>
                            </m:r>
                          </m:e>
                        </m:d>
                        <m:r>
                          <a:rPr lang="en-US" altLang="zh-CN" b="1" i="1" spc="-100" smtClean="0">
                            <a:solidFill>
                              <a:schemeClr val="accent6">
                                <a:lumMod val="50000"/>
                              </a:schemeClr>
                            </a:solidFill>
                            <a:latin typeface="Cambria Math" panose="02040503050406030204" pitchFamily="18" charset="0"/>
                          </a:rPr>
                          <m:t>∨</m:t>
                        </m:r>
                        <m:r>
                          <a:rPr lang="en-US" altLang="zh-CN" b="1" i="1" spc="-100" smtClean="0">
                            <a:solidFill>
                              <a:schemeClr val="accent6">
                                <a:lumMod val="50000"/>
                              </a:schemeClr>
                            </a:solidFill>
                            <a:latin typeface="Cambria Math" panose="02040503050406030204" pitchFamily="18" charset="0"/>
                          </a:rPr>
                          <m:t>𝑭</m:t>
                        </m:r>
                        <m:d>
                          <m:dPr>
                            <m:ctrlPr>
                              <a:rPr lang="en-US" altLang="zh-CN" b="1" i="1" spc="-100" smtClean="0">
                                <a:solidFill>
                                  <a:schemeClr val="accent6">
                                    <a:lumMod val="50000"/>
                                  </a:schemeClr>
                                </a:solidFill>
                                <a:latin typeface="Cambria Math" panose="02040503050406030204" pitchFamily="18" charset="0"/>
                              </a:rPr>
                            </m:ctrlPr>
                          </m:dPr>
                          <m:e>
                            <m:r>
                              <a:rPr lang="en-US" altLang="zh-CN" b="1" i="1" spc="-100" smtClean="0">
                                <a:solidFill>
                                  <a:schemeClr val="accent6">
                                    <a:lumMod val="50000"/>
                                  </a:schemeClr>
                                </a:solidFill>
                                <a:latin typeface="Cambria Math" panose="02040503050406030204" pitchFamily="18" charset="0"/>
                              </a:rPr>
                              <m:t>𝒃</m:t>
                            </m:r>
                            <m:r>
                              <a:rPr lang="en-US" altLang="zh-CN" b="1" i="1" spc="-100" smtClean="0">
                                <a:solidFill>
                                  <a:schemeClr val="accent6">
                                    <a:lumMod val="50000"/>
                                  </a:schemeClr>
                                </a:solidFill>
                                <a:latin typeface="Cambria Math" panose="02040503050406030204" pitchFamily="18" charset="0"/>
                              </a:rPr>
                              <m:t>, </m:t>
                            </m:r>
                            <m:r>
                              <a:rPr lang="en-US" altLang="zh-CN" b="1" i="1" spc="-100" smtClean="0">
                                <a:solidFill>
                                  <a:schemeClr val="accent6">
                                    <a:lumMod val="50000"/>
                                  </a:schemeClr>
                                </a:solidFill>
                                <a:latin typeface="Cambria Math" panose="02040503050406030204" pitchFamily="18" charset="0"/>
                              </a:rPr>
                              <m:t>𝒃</m:t>
                            </m:r>
                          </m:e>
                        </m:d>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，因此真值为假，所以</a:t>
                </a:r>
                <a:r>
                  <a:rPr lang="zh-CN" altLang="en-US" b="1">
                    <a:solidFill>
                      <a:srgbClr val="C00000"/>
                    </a:solidFill>
                    <a:latin typeface="黑体" panose="02010609060101010101" pitchFamily="49" charset="-122"/>
                    <a:ea typeface="黑体" panose="02010609060101010101" pitchFamily="49" charset="-122"/>
                    <a:cs typeface="Arial" panose="020B0604020202020204" pitchFamily="34" charset="0"/>
                  </a:rPr>
                  <a:t>整个蕴涵式真值为真</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lnSpc>
                    <a:spcPts val="2600"/>
                  </a:lnSpc>
                  <a:spcAft>
                    <a:spcPts val="300"/>
                  </a:spcAft>
                  <a:buFont typeface="+mj-lt"/>
                  <a:buAutoNum type="arabicPeriod"/>
                </a:pP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若谓词</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𝑭</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的解释是</a:t>
                </a:r>
                <a14:m>
                  <m:oMath xmlns:m="http://schemas.openxmlformats.org/officeDocument/2006/math">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e>
                    </m:d>
                    <m:r>
                      <a:rPr lang="en-US" altLang="zh-CN" b="1" i="1" smtClean="0">
                        <a:solidFill>
                          <a:schemeClr val="accent6">
                            <a:lumMod val="50000"/>
                          </a:schemeClr>
                        </a:solidFill>
                        <a:latin typeface="Cambria Math" panose="02040503050406030204" pitchFamily="18" charset="0"/>
                      </a:rPr>
                      <m:t>={</m:t>
                    </m:r>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𝒃</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14:m>
                  <m:oMath xmlns:m="http://schemas.openxmlformats.org/officeDocument/2006/math">
                    <m:d>
                      <m:dPr>
                        <m:begChr m:val="⟨"/>
                        <m:endChr m:val="⟩"/>
                        <m:ctrlPr>
                          <a:rPr lang="en-US" altLang="zh-CN" b="1" i="1">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𝒂</m:t>
                        </m:r>
                      </m:e>
                    </m:d>
                    <m:r>
                      <a:rPr lang="en-US" altLang="zh-CN" b="1" i="1" smtClean="0">
                        <a:solidFill>
                          <a:schemeClr val="accent6">
                            <a:lumMod val="50000"/>
                          </a:schemeClr>
                        </a:solidFill>
                        <a:latin typeface="Cambria Math" panose="02040503050406030204" pitchFamily="18" charset="0"/>
                      </a:rPr>
                      <m:t>}</m:t>
                    </m:r>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𝒚𝑭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𝒚</m:t>
                        </m:r>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真值为真，而</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𝒚</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𝒙𝑭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𝒙</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𝒚</m:t>
                        </m:r>
                      </m:e>
                    </m:d>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𝒂</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𝒂</m:t>
                            </m:r>
                          </m:e>
                        </m:d>
                      </m:e>
                    </m:d>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𝒂</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𝑭</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𝒃</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𝒃</m:t>
                            </m:r>
                          </m:e>
                        </m:d>
                      </m:e>
                    </m:d>
                  </m:oMath>
                </a14:m>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，真值为假，</a:t>
                </a:r>
                <a:r>
                  <a:rPr lang="zh-CN" altLang="en-US" b="1">
                    <a:solidFill>
                      <a:srgbClr val="C00000"/>
                    </a:solidFill>
                    <a:latin typeface="黑体" panose="02010609060101010101" pitchFamily="49" charset="-122"/>
                    <a:ea typeface="黑体" panose="02010609060101010101" pitchFamily="49" charset="-122"/>
                    <a:cs typeface="Arial" panose="020B0604020202020204" pitchFamily="34" charset="0"/>
                  </a:rPr>
                  <a:t>整个蕴涵式真值为假</a:t>
                </a:r>
                <a:r>
                  <a:rPr lang="zh-CN" altLang="en-US"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t>
                </a:r>
                <a:endParaRPr lang="en-US" altLang="zh-CN"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a:lnSpc>
                    <a:spcPts val="2600"/>
                  </a:lnSpc>
                  <a:spcAft>
                    <a:spcPts val="300"/>
                  </a:spcAft>
                </a:pPr>
                <a:r>
                  <a:rPr lang="zh-CN" altLang="en-US" b="1">
                    <a:solidFill>
                      <a:schemeClr val="accent6">
                        <a:lumMod val="50000"/>
                      </a:schemeClr>
                    </a:solidFill>
                    <a:latin typeface="宋体" panose="02010600030101010101" pitchFamily="2" charset="-122"/>
                    <a:ea typeface="宋体" panose="02010600030101010101" pitchFamily="2" charset="-122"/>
                  </a:rPr>
                  <a:t>综上，该公式是非永真的可满足式。</a:t>
                </a:r>
              </a:p>
            </p:txBody>
          </p:sp>
        </mc:Choice>
        <mc:Fallback xmlns="">
          <p:sp>
            <p:nvSpPr>
              <p:cNvPr id="4" name="文本框 3"/>
              <p:cNvSpPr txBox="1">
                <a:spLocks noRot="1" noChangeAspect="1" noMove="1" noResize="1" noEditPoints="1" noAdjustHandles="1" noChangeArrowheads="1" noChangeShapeType="1" noTextEdit="1"/>
              </p:cNvSpPr>
              <p:nvPr/>
            </p:nvSpPr>
            <p:spPr>
              <a:xfrm>
                <a:off x="5771466" y="2929634"/>
                <a:ext cx="6071878" cy="3184654"/>
              </a:xfrm>
              <a:prstGeom prst="rect">
                <a:avLst/>
              </a:prstGeom>
              <a:blipFill rotWithShape="1">
                <a:blip r:embed="rId4"/>
                <a:stretch>
                  <a:fillRect l="-114" t="-211" r="-95" b="-9336"/>
                </a:stretch>
              </a:blipFill>
              <a:ln w="12700">
                <a:solidFill>
                  <a:schemeClr val="accent1">
                    <a:shade val="50000"/>
                  </a:schemeClr>
                </a:solidFill>
                <a:prstDash val="sys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7729641" y="1406001"/>
                <a:ext cx="3401041" cy="862737"/>
              </a:xfrm>
              <a:prstGeom prst="rect">
                <a:avLst/>
              </a:prstGeom>
              <a:solidFill>
                <a:schemeClr val="accent4">
                  <a:lumMod val="20000"/>
                  <a:lumOff val="80000"/>
                  <a:alpha val="25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𝒙𝑭</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𝒙</m:t>
                        </m:r>
                      </m:e>
                    </m:d>
                    <m:r>
                      <a:rPr lang="en-US" altLang="zh-CN" sz="1600" b="1" i="1">
                        <a:solidFill>
                          <a:srgbClr val="002060"/>
                        </a:solidFill>
                        <a:latin typeface="Cambria Math" panose="02040503050406030204" pitchFamily="18" charset="0"/>
                      </a:rPr>
                      <m:t>→</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𝑮</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𝒙</m:t>
                            </m:r>
                            <m:r>
                              <a:rPr lang="en-US" altLang="zh-CN" sz="1600" b="1" i="1">
                                <a:solidFill>
                                  <a:srgbClr val="002060"/>
                                </a:solidFill>
                                <a:latin typeface="Cambria Math" panose="02040503050406030204" pitchFamily="18" charset="0"/>
                              </a:rPr>
                              <m:t>, </m:t>
                            </m:r>
                            <m:r>
                              <a:rPr lang="en-US" altLang="zh-CN" sz="1600" b="1" i="1">
                                <a:solidFill>
                                  <a:srgbClr val="002060"/>
                                </a:solidFill>
                                <a:latin typeface="Cambria Math" panose="02040503050406030204" pitchFamily="18" charset="0"/>
                              </a:rPr>
                              <m:t>𝒚</m:t>
                            </m:r>
                          </m:e>
                        </m:d>
                        <m:r>
                          <a:rPr lang="en-US" altLang="zh-CN" sz="1600" b="1" i="1">
                            <a:solidFill>
                              <a:srgbClr val="002060"/>
                            </a:solidFill>
                            <a:latin typeface="Cambria Math" panose="02040503050406030204" pitchFamily="18" charset="0"/>
                          </a:rPr>
                          <m:t>→∀</m:t>
                        </m:r>
                        <m:r>
                          <a:rPr lang="en-US" altLang="zh-CN" sz="1600" b="1" i="1">
                            <a:solidFill>
                              <a:srgbClr val="002060"/>
                            </a:solidFill>
                            <a:latin typeface="Cambria Math" panose="02040503050406030204" pitchFamily="18" charset="0"/>
                          </a:rPr>
                          <m:t>𝒙𝑭</m:t>
                        </m:r>
                        <m:d>
                          <m:dPr>
                            <m:ctrlPr>
                              <a:rPr lang="en-US" altLang="zh-CN" sz="1600" b="1" i="1">
                                <a:solidFill>
                                  <a:srgbClr val="002060"/>
                                </a:solidFill>
                                <a:latin typeface="Cambria Math" panose="02040503050406030204" pitchFamily="18" charset="0"/>
                              </a:rPr>
                            </m:ctrlPr>
                          </m:dPr>
                          <m:e>
                            <m:r>
                              <a:rPr lang="en-US" altLang="zh-CN" sz="1600" b="1" i="1">
                                <a:solidFill>
                                  <a:srgbClr val="002060"/>
                                </a:solidFill>
                                <a:latin typeface="Cambria Math" panose="02040503050406030204" pitchFamily="18" charset="0"/>
                              </a:rPr>
                              <m:t>𝒙</m:t>
                            </m:r>
                          </m:e>
                        </m:d>
                      </m:e>
                    </m:d>
                  </m:oMath>
                </a14:m>
                <a:r>
                  <a:rPr lang="zh-CN" altLang="en-US" sz="1600" b="1" i="0">
                    <a:solidFill>
                      <a:srgbClr val="002060"/>
                    </a:solidFill>
                    <a:latin typeface="+mj-lt"/>
                  </a:rPr>
                  <a:t>是</a:t>
                </a:r>
                <a:r>
                  <a:rPr lang="zh-CN" altLang="en-US" sz="1600" b="1">
                    <a:solidFill>
                      <a:srgbClr val="002060"/>
                    </a:solidFill>
                  </a:rPr>
                  <a:t>命题逻辑永真式</a:t>
                </a:r>
                <a14:m>
                  <m:oMath xmlns:m="http://schemas.openxmlformats.org/officeDocument/2006/math">
                    <m:r>
                      <a:rPr lang="en-US" altLang="zh-CN" sz="1600" b="1" i="1" smtClean="0">
                        <a:solidFill>
                          <a:srgbClr val="002060"/>
                        </a:solidFill>
                        <a:latin typeface="Cambria Math" panose="02040503050406030204" pitchFamily="18" charset="0"/>
                      </a:rPr>
                      <m:t>𝒑</m:t>
                    </m:r>
                    <m:r>
                      <a:rPr lang="en-US" altLang="zh-CN" sz="1600" b="1" i="1" smtClean="0">
                        <a:solidFill>
                          <a:srgbClr val="002060"/>
                        </a:solidFill>
                        <a:latin typeface="Cambria Math" panose="02040503050406030204" pitchFamily="18" charset="0"/>
                      </a:rPr>
                      <m:t>→</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𝒒</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𝒑</m:t>
                        </m:r>
                      </m:e>
                    </m:d>
                  </m:oMath>
                </a14:m>
                <a:r>
                  <a:rPr lang="zh-CN" altLang="en-US" sz="1600" b="1">
                    <a:solidFill>
                      <a:srgbClr val="002060"/>
                    </a:solidFill>
                  </a:rPr>
                  <a:t>的替换实例，因此是一阶逻辑的永真式。</a:t>
                </a:r>
              </a:p>
            </p:txBody>
          </p:sp>
        </mc:Choice>
        <mc:Fallback xmlns="">
          <p:sp>
            <p:nvSpPr>
              <p:cNvPr id="6" name="文本框 5"/>
              <p:cNvSpPr txBox="1">
                <a:spLocks noRot="1" noChangeAspect="1" noMove="1" noResize="1" noEditPoints="1" noAdjustHandles="1" noChangeArrowheads="1" noChangeShapeType="1" noTextEdit="1"/>
              </p:cNvSpPr>
              <p:nvPr/>
            </p:nvSpPr>
            <p:spPr>
              <a:xfrm>
                <a:off x="7729641" y="1406001"/>
                <a:ext cx="3401041" cy="862737"/>
              </a:xfrm>
              <a:prstGeom prst="rect">
                <a:avLst/>
              </a:prstGeom>
              <a:blipFill rotWithShape="1">
                <a:blip r:embed="rId5"/>
                <a:stretch>
                  <a:fillRect l="-199" t="-749" r="-175" b="-676"/>
                </a:stretch>
              </a:blipFill>
              <a:ln w="12700">
                <a:solidFill>
                  <a:schemeClr val="accent1">
                    <a:shade val="50000"/>
                  </a:schemeClr>
                </a:solidFill>
                <a:prstDash val="sysDash"/>
              </a:ln>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p:cNvSpPr txBox="1"/>
          <p:nvPr/>
        </p:nvSpPr>
        <p:spPr>
          <a:xfrm>
            <a:off x="296028" y="1129190"/>
            <a:ext cx="5387723" cy="2728119"/>
          </a:xfrm>
          <a:prstGeom prst="rect">
            <a:avLst/>
          </a:prstGeom>
          <a:solidFill>
            <a:schemeClr val="accent5">
              <a:lumMod val="20000"/>
              <a:lumOff val="80000"/>
              <a:alpha val="50000"/>
            </a:schemeClr>
          </a:solidFill>
        </p:spPr>
        <p:txBody>
          <a:bodyPr wrap="square" rtlCol="0">
            <a:spAutoFit/>
          </a:bodyPr>
          <a:lstStyle/>
          <a:p>
            <a:pPr algn="ctr">
              <a:lnSpc>
                <a:spcPts val="2600"/>
              </a:lnSpc>
              <a:spcAft>
                <a:spcPts val="900"/>
              </a:spcAft>
            </a:pPr>
            <a:r>
              <a:rPr lang="zh-CN" altLang="en-US" b="1">
                <a:solidFill>
                  <a:srgbClr val="C00000"/>
                </a:solidFill>
              </a:rPr>
              <a:t>一阶逻辑公式的解释</a:t>
            </a:r>
          </a:p>
          <a:p>
            <a:pPr marL="285750" indent="-285750">
              <a:lnSpc>
                <a:spcPts val="2600"/>
              </a:lnSpc>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一阶逻辑公式真值基于</a:t>
            </a:r>
            <a:r>
              <a:rPr lang="zh-CN" altLang="en-US" b="1">
                <a:solidFill>
                  <a:srgbClr val="C00000"/>
                </a:solidFill>
                <a:latin typeface="黑体" panose="02010609060101010101" pitchFamily="49" charset="-122"/>
                <a:ea typeface="黑体" panose="02010609060101010101" pitchFamily="49" charset="-122"/>
              </a:rPr>
              <a:t>非逻辑符号集解释</a:t>
            </a:r>
            <a:r>
              <a:rPr lang="zh-CN" altLang="en-US" b="1">
                <a:solidFill>
                  <a:srgbClr val="002060"/>
                </a:solidFill>
                <a:latin typeface="楷体" panose="02010609060101010101" pitchFamily="49" charset="-122"/>
                <a:ea typeface="楷体" panose="02010609060101010101" pitchFamily="49" charset="-122"/>
              </a:rPr>
              <a:t>和</a:t>
            </a:r>
            <a:r>
              <a:rPr lang="zh-CN" altLang="en-US" b="1">
                <a:solidFill>
                  <a:srgbClr val="C00000"/>
                </a:solidFill>
                <a:latin typeface="黑体" panose="02010609060101010101" pitchFamily="49" charset="-122"/>
                <a:ea typeface="黑体" panose="02010609060101010101" pitchFamily="49" charset="-122"/>
              </a:rPr>
              <a:t>个体变量指派函数</a:t>
            </a:r>
            <a:r>
              <a:rPr lang="zh-CN" altLang="en-US" b="1">
                <a:solidFill>
                  <a:srgbClr val="002060"/>
                </a:solidFill>
                <a:latin typeface="楷体" panose="02010609060101010101" pitchFamily="49" charset="-122"/>
                <a:ea typeface="楷体" panose="02010609060101010101" pitchFamily="49" charset="-122"/>
              </a:rPr>
              <a:t>确定</a:t>
            </a:r>
          </a:p>
          <a:p>
            <a:pPr marL="285750" indent="-285750">
              <a:lnSpc>
                <a:spcPts val="2600"/>
              </a:lnSpc>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一阶逻辑公式的解释给定一个非空集合作为论域</a:t>
            </a:r>
          </a:p>
          <a:p>
            <a:pPr marL="742950" lvl="1" indent="-285750">
              <a:lnSpc>
                <a:spcPts val="2600"/>
              </a:lnSpc>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个体常量解释为论域元素，函数解释为论域上的函数，谓词解释为论域上的关系</a:t>
            </a:r>
          </a:p>
          <a:p>
            <a:pPr marL="285750" indent="-285750">
              <a:lnSpc>
                <a:spcPts val="2600"/>
              </a:lnSpc>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个体变量指派函数将个体变量指派为论域的元素</a:t>
            </a:r>
          </a:p>
        </p:txBody>
      </p:sp>
      <p:sp>
        <p:nvSpPr>
          <p:cNvPr id="3" name="文本框 2"/>
          <p:cNvSpPr txBox="1"/>
          <p:nvPr/>
        </p:nvSpPr>
        <p:spPr>
          <a:xfrm>
            <a:off x="5896042" y="1036858"/>
            <a:ext cx="5999930" cy="2912785"/>
          </a:xfrm>
          <a:prstGeom prst="rect">
            <a:avLst/>
          </a:prstGeom>
          <a:solidFill>
            <a:schemeClr val="accent5">
              <a:lumMod val="20000"/>
              <a:lumOff val="80000"/>
            </a:schemeClr>
          </a:solidFill>
        </p:spPr>
        <p:txBody>
          <a:bodyPr wrap="square" rtlCol="0">
            <a:spAutoFit/>
          </a:bodyPr>
          <a:lstStyle/>
          <a:p>
            <a:pPr algn="ctr">
              <a:spcAft>
                <a:spcPts val="900"/>
              </a:spcAft>
            </a:pPr>
            <a:r>
              <a:rPr lang="zh-CN" altLang="en-US" b="1">
                <a:solidFill>
                  <a:srgbClr val="C00000"/>
                </a:solidFill>
                <a:latin typeface="黑体" panose="02010609060101010101" pitchFamily="49" charset="-122"/>
                <a:ea typeface="黑体" panose="02010609060101010101" pitchFamily="49" charset="-122"/>
              </a:rPr>
              <a:t>一阶逻辑公式的真值计算</a:t>
            </a:r>
          </a:p>
          <a:p>
            <a:pPr marL="285750" indent="-285750">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一阶逻辑公式的项对应解释论域的元素</a:t>
            </a:r>
          </a:p>
          <a:p>
            <a:pPr marL="285750" indent="-285750">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原子公式真值由项对应的论域元素以及谓词的解释确定</a:t>
            </a:r>
          </a:p>
          <a:p>
            <a:pPr marL="285750" indent="-285750">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逻辑运算符构造的公式的真值计算与命题逻辑相同</a:t>
            </a:r>
          </a:p>
          <a:p>
            <a:pPr marL="285750" indent="-285750">
              <a:lnSpc>
                <a:spcPts val="2600"/>
              </a:lnSpc>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全称量词的语义是“论域任意元素”，存在量词的语义是“存在论域元素”</a:t>
            </a:r>
          </a:p>
          <a:p>
            <a:pPr marL="742950" lvl="1" indent="-285750">
              <a:lnSpc>
                <a:spcPts val="2600"/>
              </a:lnSpc>
              <a:spcAft>
                <a:spcPts val="6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当论域是有限集时，</a:t>
            </a:r>
            <a:r>
              <a:rPr lang="zh-CN" altLang="en-US" b="1">
                <a:solidFill>
                  <a:srgbClr val="C00000"/>
                </a:solidFill>
                <a:latin typeface="黑体" panose="02010609060101010101" pitchFamily="49" charset="-122"/>
                <a:ea typeface="黑体" panose="02010609060101010101" pitchFamily="49" charset="-122"/>
              </a:rPr>
              <a:t>全称量词相当于合取</a:t>
            </a:r>
            <a:r>
              <a:rPr lang="zh-CN" altLang="en-US" b="1">
                <a:solidFill>
                  <a:schemeClr val="accent6">
                    <a:lumMod val="50000"/>
                  </a:schemeClr>
                </a:solidFill>
                <a:latin typeface="宋体" panose="02010600030101010101" pitchFamily="2" charset="-122"/>
                <a:ea typeface="宋体" panose="02010600030101010101" pitchFamily="2" charset="-122"/>
              </a:rPr>
              <a:t>，</a:t>
            </a:r>
            <a:r>
              <a:rPr lang="zh-CN" altLang="en-US" b="1">
                <a:solidFill>
                  <a:srgbClr val="C00000"/>
                </a:solidFill>
                <a:latin typeface="黑体" panose="02010609060101010101" pitchFamily="49" charset="-122"/>
                <a:ea typeface="黑体" panose="02010609060101010101" pitchFamily="49" charset="-122"/>
              </a:rPr>
              <a:t>存在量词相当于析取</a:t>
            </a:r>
          </a:p>
        </p:txBody>
      </p:sp>
      <p:sp>
        <p:nvSpPr>
          <p:cNvPr id="11" name="文本框 10"/>
          <p:cNvSpPr txBox="1"/>
          <p:nvPr/>
        </p:nvSpPr>
        <p:spPr>
          <a:xfrm>
            <a:off x="1467813" y="4022994"/>
            <a:ext cx="9081787" cy="2177519"/>
          </a:xfrm>
          <a:prstGeom prst="rect">
            <a:avLst/>
          </a:prstGeom>
          <a:solidFill>
            <a:schemeClr val="accent2">
              <a:lumMod val="20000"/>
              <a:lumOff val="80000"/>
            </a:schemeClr>
          </a:solidFill>
        </p:spPr>
        <p:txBody>
          <a:bodyPr wrap="square" rtlCol="0">
            <a:spAutoFit/>
          </a:bodyPr>
          <a:lstStyle/>
          <a:p>
            <a:pPr algn="ctr">
              <a:spcAft>
                <a:spcPts val="900"/>
              </a:spcAft>
            </a:pPr>
            <a:r>
              <a:rPr lang="zh-CN" altLang="en-US" b="1">
                <a:solidFill>
                  <a:srgbClr val="C00000"/>
                </a:solidFill>
              </a:rPr>
              <a:t>学习这一部分的目标</a:t>
            </a: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能自己给出一组一阶逻辑公式的解释和个体变量指派函数</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能在给定的解释和个体变量指派函数时确定一个公式的真值</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能在论域有限时，正确使用类似等值演算的形式确定量词公式的真值</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能判断一个一阶逻辑公式是否是命题逻辑公式的替换实例</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能判断一个一阶逻辑公式是否是永真式、矛盾式还是非永真的可满足式，并说明理由</a:t>
            </a:r>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a:latin typeface="Arial" panose="020B0604020202020204" pitchFamily="34" charset="0"/>
                <a:ea typeface="楷体" panose="02010609060101010101" pitchFamily="49" charset="-122"/>
                <a:cs typeface="Arial" panose="020B0604020202020204" pitchFamily="34" charset="0"/>
              </a:rPr>
              <a:t>/30</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2" name="文本框 11"/>
          <p:cNvSpPr txBox="1"/>
          <p:nvPr>
            <p:custDataLst>
              <p:tags r:id="rId1"/>
            </p:custDataLst>
          </p:nvPr>
        </p:nvSpPr>
        <p:spPr>
          <a:xfrm>
            <a:off x="950408" y="2635602"/>
            <a:ext cx="9990861"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3.4(2,4)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3.6</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3.9</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3.13(2,4)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第九讲  一阶逻辑公式的语义</a:t>
            </a: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Q1M2NkMzQ3MmRmNGQyOTRlYWE3NmYyMDAyZmQ0Y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5289</Words>
  <Application>Microsoft Office PowerPoint</Application>
  <PresentationFormat>宽屏</PresentationFormat>
  <Paragraphs>485</Paragraphs>
  <Slides>31</Slides>
  <Notes>0</Notes>
  <HiddenSlides>2</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等线</vt:lpstr>
      <vt:lpstr>等线 Light</vt:lpstr>
      <vt:lpstr>仿宋</vt:lpstr>
      <vt:lpstr>黑体</vt:lpstr>
      <vt:lpstr>华文新魏</vt:lpstr>
      <vt:lpstr>楷体</vt:lpstr>
      <vt:lpstr>宋体</vt:lpstr>
      <vt:lpstr>Arial</vt:lpstr>
      <vt:lpstr>Cambria Math</vt:lpstr>
      <vt:lpstr>Consolas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96</cp:revision>
  <dcterms:created xsi:type="dcterms:W3CDTF">2022-01-01T06:39:00Z</dcterms:created>
  <dcterms:modified xsi:type="dcterms:W3CDTF">2024-10-09T14:32:15Z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E09F07E61D0D45999462AACBE0731F33_12</vt:lpwstr>
  </property>
  <property fmtid="{D5CDD505-2E9C-101B-9397-08002B2CF9AE}" pid="3" name="KSOProductBuildVer">
    <vt:lpwstr>2052-12.1.0.16120</vt:lpwstr>
  </property>
</Properties>
</file>