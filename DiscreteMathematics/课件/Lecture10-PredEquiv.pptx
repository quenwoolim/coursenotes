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9" r:id="rId3"/>
    <p:sldId id="259" r:id="rId4"/>
    <p:sldId id="295" r:id="rId5"/>
    <p:sldId id="257" r:id="rId6"/>
    <p:sldId id="281" r:id="rId7"/>
    <p:sldId id="296" r:id="rId8"/>
    <p:sldId id="260" r:id="rId9"/>
    <p:sldId id="310" r:id="rId10"/>
    <p:sldId id="297" r:id="rId11"/>
    <p:sldId id="286" r:id="rId12"/>
    <p:sldId id="282" r:id="rId13"/>
    <p:sldId id="287" r:id="rId14"/>
    <p:sldId id="298" r:id="rId15"/>
    <p:sldId id="294" r:id="rId16"/>
    <p:sldId id="283" r:id="rId17"/>
    <p:sldId id="290" r:id="rId18"/>
    <p:sldId id="291" r:id="rId19"/>
    <p:sldId id="292" r:id="rId20"/>
    <p:sldId id="289" r:id="rId21"/>
    <p:sldId id="293" r:id="rId22"/>
    <p:sldId id="288" r:id="rId23"/>
    <p:sldId id="272" r:id="rId24"/>
    <p:sldId id="280" r:id="rId25"/>
    <p:sldId id="262"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4D0"/>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5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2024/10/14</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2024/10/14</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1.xml"/><Relationship Id="rId5" Type="http://schemas.openxmlformats.org/officeDocument/2006/relationships/image" Target="../media/image140.png"/><Relationship Id="rId4" Type="http://schemas.openxmlformats.org/officeDocument/2006/relationships/image" Target="../media/image13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第十讲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一阶逻辑的等值演算</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10</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3" name="文本框 12">
            <a:extLst>
              <a:ext uri="{FF2B5EF4-FFF2-40B4-BE49-F238E27FC236}">
                <a16:creationId xmlns:a16="http://schemas.microsoft.com/office/drawing/2014/main" id="{757E9C8F-8599-458A-BAAF-A6A3BF79169B}"/>
              </a:ext>
            </a:extLst>
          </p:cNvPr>
          <p:cNvSpPr txBox="1"/>
          <p:nvPr/>
        </p:nvSpPr>
        <p:spPr>
          <a:xfrm>
            <a:off x="1246408" y="1597487"/>
            <a:ext cx="9699182" cy="2175083"/>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能使用非形式化的方法，根据一阶逻辑公式语义证明逻辑等值式</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熟记量词公式的基本等值式模式，能使用等值演算法证明逻辑等值式</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能求与一个一阶逻辑公式逻辑等值的前束范式</a:t>
            </a:r>
          </a:p>
        </p:txBody>
      </p:sp>
      <p:sp>
        <p:nvSpPr>
          <p:cNvPr id="14" name="文本框 13">
            <a:extLst>
              <a:ext uri="{FF2B5EF4-FFF2-40B4-BE49-F238E27FC236}">
                <a16:creationId xmlns:a16="http://schemas.microsoft.com/office/drawing/2014/main" id="{6A70CA04-FD2A-4231-97AB-A603826AFCD0}"/>
              </a:ext>
            </a:extLst>
          </p:cNvPr>
          <p:cNvSpPr txBox="1"/>
          <p:nvPr/>
        </p:nvSpPr>
        <p:spPr>
          <a:xfrm>
            <a:off x="1246408" y="4172971"/>
            <a:ext cx="9699182" cy="1688667"/>
          </a:xfrm>
          <a:prstGeom prst="rect">
            <a:avLst/>
          </a:prstGeom>
          <a:solidFill>
            <a:schemeClr val="accent4">
              <a:lumMod val="20000"/>
              <a:lumOff val="80000"/>
              <a:alpha val="60000"/>
            </a:schemeClr>
          </a:solidFill>
        </p:spPr>
        <p:txBody>
          <a:bodyPr wrap="square" rtlCol="0">
            <a:spAutoFit/>
          </a:bodyPr>
          <a:lstStyle/>
          <a:p>
            <a:pPr algn="ctr">
              <a:lnSpc>
                <a:spcPts val="36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6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如何证明一个一阶逻辑公式是永真式？特别地，如何证明两个一阶逻辑公式逻辑等值？</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2603540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076129" y="1908320"/>
            <a:ext cx="4845699" cy="2870016"/>
          </a:xfrm>
          <a:prstGeom prst="rect">
            <a:avLst/>
          </a:prstGeom>
          <a:noFill/>
        </p:spPr>
        <p:txBody>
          <a:bodyPr wrap="square" rtlCol="0">
            <a:spAutoFit/>
          </a:bodyPr>
          <a:lstStyle/>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一阶逻辑公式的逻辑等值量词公式的基本等值式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一阶逻辑公式的前束范式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复习：一阶逻辑公式的语法和语义</a:t>
            </a:r>
          </a:p>
        </p:txBody>
      </p:sp>
      <p:sp>
        <p:nvSpPr>
          <p:cNvPr id="14" name="文本框 13">
            <a:extLst>
              <a:ext uri="{FF2B5EF4-FFF2-40B4-BE49-F238E27FC236}">
                <a16:creationId xmlns:a16="http://schemas.microsoft.com/office/drawing/2014/main" id="{A80A8C94-E323-4DAE-B602-B233E99FD05D}"/>
              </a:ext>
            </a:extLst>
          </p:cNvPr>
          <p:cNvSpPr txBox="1"/>
          <p:nvPr/>
        </p:nvSpPr>
        <p:spPr>
          <a:xfrm>
            <a:off x="625979" y="1103964"/>
            <a:ext cx="8662745" cy="784830"/>
          </a:xfrm>
          <a:prstGeom prst="rect">
            <a:avLst/>
          </a:prstGeom>
          <a:solidFill>
            <a:schemeClr val="accent5">
              <a:lumMod val="20000"/>
              <a:lumOff val="80000"/>
            </a:schemeClr>
          </a:solidFill>
        </p:spPr>
        <p:txBody>
          <a:bodyPr wrap="square" rtlCol="0">
            <a:spAutoFit/>
          </a:bodyPr>
          <a:lstStyle/>
          <a:p>
            <a:pPr marL="285750" indent="-285750">
              <a:spcBef>
                <a:spcPts val="600"/>
              </a:spcBef>
              <a:buFont typeface="Arial" panose="020B0604020202020204" pitchFamily="34" charset="0"/>
              <a:buChar char="•"/>
            </a:pPr>
            <a:r>
              <a:rPr lang="zh-CN" altLang="en-US" sz="2000" b="1" dirty="0">
                <a:solidFill>
                  <a:srgbClr val="002060"/>
                </a:solidFill>
              </a:rPr>
              <a:t>语法：给定非逻辑符号集和个体变量集归纳构造一阶逻辑公式</a:t>
            </a:r>
            <a:endParaRPr lang="en-US" altLang="zh-CN" sz="2000" b="1" dirty="0">
              <a:solidFill>
                <a:srgbClr val="002060"/>
              </a:solidFill>
            </a:endParaRPr>
          </a:p>
          <a:p>
            <a:pPr marL="285750" indent="-285750">
              <a:spcBef>
                <a:spcPts val="600"/>
              </a:spcBef>
              <a:buFont typeface="Arial" panose="020B0604020202020204" pitchFamily="34" charset="0"/>
              <a:buChar char="•"/>
            </a:pPr>
            <a:r>
              <a:rPr lang="zh-CN" altLang="en-US" sz="2000" b="1" dirty="0">
                <a:solidFill>
                  <a:srgbClr val="002060"/>
                </a:solidFill>
              </a:rPr>
              <a:t>语义：给定非逻辑符号集的解释和个体变量指派函数归纳定义公式的真值</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164E8C7-EA31-47E0-8675-6343565684FE}"/>
                  </a:ext>
                </a:extLst>
              </p:cNvPr>
              <p:cNvSpPr txBox="1"/>
              <p:nvPr/>
            </p:nvSpPr>
            <p:spPr>
              <a:xfrm>
                <a:off x="644685" y="2107303"/>
                <a:ext cx="9275568" cy="800219"/>
              </a:xfrm>
              <a:prstGeom prst="rect">
                <a:avLst/>
              </a:prstGeom>
              <a:solidFill>
                <a:schemeClr val="accent4">
                  <a:lumMod val="20000"/>
                  <a:lumOff val="80000"/>
                  <a:alpha val="25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b="1" dirty="0">
                    <a:solidFill>
                      <a:schemeClr val="accent2">
                        <a:lumMod val="50000"/>
                      </a:schemeClr>
                    </a:solidFill>
                  </a:rPr>
                  <a:t>非逻辑符号集的解释：给定一个非空集作为论域</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𝑫</m:t>
                    </m:r>
                  </m:oMath>
                </a14:m>
                <a:r>
                  <a:rPr lang="zh-CN" altLang="en-US" b="1" dirty="0">
                    <a:solidFill>
                      <a:schemeClr val="accent2">
                        <a:lumMod val="50000"/>
                      </a:schemeClr>
                    </a:solidFill>
                  </a:rPr>
                  <a:t>（个体变量的取值范围）</a:t>
                </a:r>
                <a:endParaRPr lang="en-US" altLang="zh-CN" b="1" dirty="0">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dirty="0">
                    <a:solidFill>
                      <a:schemeClr val="accent2">
                        <a:lumMod val="50000"/>
                      </a:schemeClr>
                    </a:solidFill>
                  </a:rPr>
                  <a:t>个体常量解释为论域</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𝑫</m:t>
                    </m:r>
                  </m:oMath>
                </a14:m>
                <a:r>
                  <a:rPr lang="zh-CN" altLang="en-US" b="1" dirty="0">
                    <a:solidFill>
                      <a:schemeClr val="accent2">
                        <a:lumMod val="50000"/>
                      </a:schemeClr>
                    </a:solidFill>
                  </a:rPr>
                  <a:t>的元素、谓词解释为论域</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𝑫</m:t>
                    </m:r>
                  </m:oMath>
                </a14:m>
                <a:r>
                  <a:rPr lang="zh-CN" altLang="en-US" b="1" dirty="0">
                    <a:solidFill>
                      <a:schemeClr val="accent2">
                        <a:lumMod val="50000"/>
                      </a:schemeClr>
                    </a:solidFill>
                  </a:rPr>
                  <a:t>上的关系、函数解释为论域</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𝑫</m:t>
                    </m:r>
                  </m:oMath>
                </a14:m>
                <a:r>
                  <a:rPr lang="zh-CN" altLang="en-US" b="1" dirty="0">
                    <a:solidFill>
                      <a:schemeClr val="accent2">
                        <a:lumMod val="50000"/>
                      </a:schemeClr>
                    </a:solidFill>
                  </a:rPr>
                  <a:t>上的函数</a:t>
                </a:r>
              </a:p>
            </p:txBody>
          </p:sp>
        </mc:Choice>
        <mc:Fallback xmlns="">
          <p:sp>
            <p:nvSpPr>
              <p:cNvPr id="12" name="文本框 11">
                <a:extLst>
                  <a:ext uri="{FF2B5EF4-FFF2-40B4-BE49-F238E27FC236}">
                    <a16:creationId xmlns:a16="http://schemas.microsoft.com/office/drawing/2014/main" id="{8164E8C7-EA31-47E0-8675-6343565684FE}"/>
                  </a:ext>
                </a:extLst>
              </p:cNvPr>
              <p:cNvSpPr txBox="1">
                <a:spLocks noRot="1" noChangeAspect="1" noMove="1" noResize="1" noEditPoints="1" noAdjustHandles="1" noChangeArrowheads="1" noChangeShapeType="1" noTextEdit="1"/>
              </p:cNvSpPr>
              <p:nvPr/>
            </p:nvSpPr>
            <p:spPr>
              <a:xfrm>
                <a:off x="644685" y="2107303"/>
                <a:ext cx="9275568" cy="800219"/>
              </a:xfrm>
              <a:prstGeom prst="rect">
                <a:avLst/>
              </a:prstGeom>
              <a:blipFill>
                <a:blip r:embed="rId2"/>
                <a:stretch>
                  <a:fillRect l="-460" t="-4580" r="-66" b="-114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5C22D38-EA5B-4336-8337-2633BC960DF7}"/>
                  </a:ext>
                </a:extLst>
              </p:cNvPr>
              <p:cNvSpPr txBox="1"/>
              <p:nvPr/>
            </p:nvSpPr>
            <p:spPr>
              <a:xfrm>
                <a:off x="625980" y="3054100"/>
                <a:ext cx="8083844" cy="800219"/>
              </a:xfrm>
              <a:prstGeom prst="rect">
                <a:avLst/>
              </a:prstGeom>
              <a:solidFill>
                <a:schemeClr val="accent4">
                  <a:lumMod val="20000"/>
                  <a:lumOff val="80000"/>
                  <a:alpha val="25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b="1" dirty="0">
                    <a:solidFill>
                      <a:schemeClr val="accent2">
                        <a:lumMod val="50000"/>
                      </a:schemeClr>
                    </a:solidFill>
                  </a:rPr>
                  <a:t>个体变量指派函数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oMath>
                </a14:m>
                <a:r>
                  <a:rPr lang="zh-CN" altLang="en-US" b="1" dirty="0">
                    <a:solidFill>
                      <a:schemeClr val="accent2">
                        <a:lumMod val="50000"/>
                      </a:schemeClr>
                    </a:solidFill>
                  </a:rPr>
                  <a:t>为个体变量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dirty="0">
                    <a:solidFill>
                      <a:schemeClr val="accent2">
                        <a:lumMod val="50000"/>
                      </a:schemeClr>
                    </a:solidFill>
                  </a:rPr>
                  <a:t>指派论域</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𝑫</m:t>
                    </m:r>
                  </m:oMath>
                </a14:m>
                <a:r>
                  <a:rPr lang="zh-CN" altLang="en-US" b="1" dirty="0">
                    <a:solidFill>
                      <a:schemeClr val="accent2">
                        <a:lumMod val="50000"/>
                      </a:schemeClr>
                    </a:solidFill>
                  </a:rPr>
                  <a:t>的元素</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endParaRPr lang="en-US" altLang="zh-CN" b="1" dirty="0">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dirty="0">
                    <a:solidFill>
                      <a:schemeClr val="accent2">
                        <a:lumMod val="50000"/>
                      </a:schemeClr>
                    </a:solidFill>
                  </a:rPr>
                  <a:t>个体变量指派函数的变换</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𝒅</m:t>
                        </m:r>
                      </m:e>
                    </m:d>
                  </m:oMath>
                </a14:m>
                <a:r>
                  <a:rPr lang="zh-CN" altLang="en-US" b="1" dirty="0">
                    <a:solidFill>
                      <a:schemeClr val="accent2">
                        <a:lumMod val="50000"/>
                      </a:schemeClr>
                    </a:solidFill>
                  </a:rPr>
                  <a:t>显式地将个体变量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dirty="0">
                    <a:solidFill>
                      <a:schemeClr val="accent2">
                        <a:lumMod val="50000"/>
                      </a:schemeClr>
                    </a:solidFill>
                  </a:rPr>
                  <a:t>指派为论域的元素</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a14:m>
                <a:endParaRPr lang="zh-CN" altLang="en-US" b="1" dirty="0">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B5C22D38-EA5B-4336-8337-2633BC960DF7}"/>
                  </a:ext>
                </a:extLst>
              </p:cNvPr>
              <p:cNvSpPr txBox="1">
                <a:spLocks noRot="1" noChangeAspect="1" noMove="1" noResize="1" noEditPoints="1" noAdjustHandles="1" noChangeArrowheads="1" noChangeShapeType="1" noTextEdit="1"/>
              </p:cNvSpPr>
              <p:nvPr/>
            </p:nvSpPr>
            <p:spPr>
              <a:xfrm>
                <a:off x="625980" y="3054100"/>
                <a:ext cx="8083844" cy="800219"/>
              </a:xfrm>
              <a:prstGeom prst="rect">
                <a:avLst/>
              </a:prstGeom>
              <a:blipFill>
                <a:blip r:embed="rId3"/>
                <a:stretch>
                  <a:fillRect l="-528" t="-3817" b="-114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244A076-0199-4E5D-B973-35DCAA27D1F5}"/>
                  </a:ext>
                </a:extLst>
              </p:cNvPr>
              <p:cNvSpPr txBox="1"/>
              <p:nvPr/>
            </p:nvSpPr>
            <p:spPr>
              <a:xfrm>
                <a:off x="635332" y="3943899"/>
                <a:ext cx="8699442" cy="1661993"/>
              </a:xfrm>
              <a:prstGeom prst="rect">
                <a:avLst/>
              </a:prstGeom>
              <a:solidFill>
                <a:schemeClr val="accent4">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rPr>
                  <a:t>公式的项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𝒕</m:t>
                    </m:r>
                  </m:oMath>
                </a14:m>
                <a:r>
                  <a:rPr lang="zh-CN" altLang="en-US" b="1">
                    <a:solidFill>
                      <a:schemeClr val="accent2">
                        <a:lumMod val="50000"/>
                      </a:schemeClr>
                    </a:solidFill>
                  </a:rPr>
                  <a:t>解释为论域的元素</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𝒕</m:t>
                        </m:r>
                      </m:e>
                    </m:d>
                  </m:oMath>
                </a14:m>
                <a:endParaRPr lang="en-US" altLang="zh-CN" b="1">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rPr>
                  <a:t>原子公式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𝒕</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 ⋯,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𝒕</m:t>
                            </m:r>
                          </m:e>
                          <m:sub>
                            <m:r>
                              <a:rPr lang="en-US" altLang="zh-CN" b="1" i="1" smtClean="0">
                                <a:solidFill>
                                  <a:schemeClr val="accent2">
                                    <a:lumMod val="50000"/>
                                  </a:schemeClr>
                                </a:solidFill>
                                <a:latin typeface="Cambria Math" panose="02040503050406030204" pitchFamily="18" charset="0"/>
                              </a:rPr>
                              <m:t>𝒏</m:t>
                            </m:r>
                          </m:sub>
                        </m:sSub>
                      </m:e>
                    </m:d>
                  </m:oMath>
                </a14:m>
                <a:r>
                  <a:rPr lang="zh-CN" altLang="en-US" b="1">
                    <a:solidFill>
                      <a:schemeClr val="accent2">
                        <a:lumMod val="50000"/>
                      </a:schemeClr>
                    </a:solidFill>
                  </a:rPr>
                  <a:t>为真当且仅当论域的元素</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𝒕</m:t>
                            </m:r>
                          </m:e>
                          <m:sub>
                            <m:r>
                              <a:rPr lang="en-US" altLang="zh-CN" b="1" i="1" smtClean="0">
                                <a:solidFill>
                                  <a:schemeClr val="accent2">
                                    <a:lumMod val="50000"/>
                                  </a:schemeClr>
                                </a:solidFill>
                                <a:latin typeface="Cambria Math" panose="02040503050406030204" pitchFamily="18" charset="0"/>
                              </a:rPr>
                              <m:t>𝟏</m:t>
                            </m:r>
                          </m:sub>
                        </m:sSub>
                      </m:e>
                    </m:d>
                    <m:r>
                      <a:rPr lang="en-US" altLang="zh-CN" b="1" i="1" smtClean="0">
                        <a:solidFill>
                          <a:schemeClr val="accent2">
                            <a:lumMod val="50000"/>
                          </a:schemeClr>
                        </a:solidFill>
                        <a:latin typeface="Cambria Math" panose="02040503050406030204" pitchFamily="18" charset="0"/>
                      </a:rPr>
                      <m:t>, ⋯, </m:t>
                    </m:r>
                    <m:d>
                      <m:dPr>
                        <m:begChr m:val="⟦"/>
                        <m:endChr m:val="⟧"/>
                        <m:ctrlPr>
                          <a:rPr lang="en-US" altLang="zh-CN" b="1" i="1">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𝒕</m:t>
                            </m:r>
                          </m:e>
                          <m:sub>
                            <m:r>
                              <a:rPr lang="en-US" altLang="zh-CN" b="1" i="1" smtClean="0">
                                <a:solidFill>
                                  <a:schemeClr val="accent2">
                                    <a:lumMod val="50000"/>
                                  </a:schemeClr>
                                </a:solidFill>
                                <a:latin typeface="Cambria Math" panose="02040503050406030204" pitchFamily="18" charset="0"/>
                              </a:rPr>
                              <m:t>𝒏</m:t>
                            </m:r>
                          </m:sub>
                        </m:sSub>
                      </m:e>
                    </m:d>
                  </m:oMath>
                </a14:m>
                <a:r>
                  <a:rPr lang="zh-CN" altLang="en-US" b="1">
                    <a:solidFill>
                      <a:schemeClr val="accent2">
                        <a:lumMod val="50000"/>
                      </a:schemeClr>
                    </a:solidFill>
                  </a:rPr>
                  <a:t>有关系</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e>
                    </m:d>
                  </m:oMath>
                </a14:m>
                <a:endParaRPr lang="en-US" altLang="zh-CN" b="1">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rPr>
                  <a:t>量词公式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oMath>
                </a14:m>
                <a:r>
                  <a:rPr lang="zh-CN" altLang="en-US" b="1">
                    <a:solidFill>
                      <a:schemeClr val="accent2">
                        <a:lumMod val="50000"/>
                      </a:schemeClr>
                    </a:solidFill>
                  </a:rPr>
                  <a:t>为真，即</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当且仅当对论域任意元素</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a14:m>
                <a:r>
                  <a:rPr lang="zh-CN" altLang="en-US" b="1">
                    <a:solidFill>
                      <a:schemeClr val="accent2">
                        <a:lumMod val="50000"/>
                      </a:schemeClr>
                    </a:solidFill>
                  </a:rPr>
                  <a:t>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𝒅</m:t>
                        </m:r>
                      </m:e>
                    </m:d>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a14:m>
                <a:endParaRPr lang="en-US" altLang="zh-CN" b="1">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rPr>
                  <a:t>量词公式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𝒙𝑨</m:t>
                    </m:r>
                  </m:oMath>
                </a14:m>
                <a:r>
                  <a:rPr lang="zh-CN" altLang="en-US" b="1">
                    <a:solidFill>
                      <a:schemeClr val="accent2">
                        <a:lumMod val="50000"/>
                      </a:schemeClr>
                    </a:solidFill>
                  </a:rPr>
                  <a:t>为真，即</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𝒙𝑨</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当且仅当存在论域元素</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a14:m>
                <a:r>
                  <a:rPr lang="zh-CN" altLang="en-US" b="1">
                    <a:solidFill>
                      <a:schemeClr val="accent2">
                        <a:lumMod val="50000"/>
                      </a:schemeClr>
                    </a:solidFill>
                  </a:rPr>
                  <a:t>使得</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𝒅</m:t>
                        </m:r>
                      </m:e>
                    </m:d>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e>
                    </m:d>
                    <m:r>
                      <a:rPr lang="en-US" altLang="zh-CN" b="1" i="1">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a14:m>
                <a:endParaRPr lang="zh-CN" altLang="en-US"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5244A076-0199-4E5D-B973-35DCAA27D1F5}"/>
                  </a:ext>
                </a:extLst>
              </p:cNvPr>
              <p:cNvSpPr txBox="1">
                <a:spLocks noRot="1" noChangeAspect="1" noMove="1" noResize="1" noEditPoints="1" noAdjustHandles="1" noChangeArrowheads="1" noChangeShapeType="1" noTextEdit="1"/>
              </p:cNvSpPr>
              <p:nvPr/>
            </p:nvSpPr>
            <p:spPr>
              <a:xfrm>
                <a:off x="635332" y="3943899"/>
                <a:ext cx="8699442" cy="1661993"/>
              </a:xfrm>
              <a:prstGeom prst="rect">
                <a:avLst/>
              </a:prstGeom>
              <a:blipFill>
                <a:blip r:embed="rId4"/>
                <a:stretch>
                  <a:fillRect l="-420" t="-2198" b="-4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3706ADC-4795-4010-99C4-FEECA9795E5C}"/>
                  </a:ext>
                </a:extLst>
              </p:cNvPr>
              <p:cNvSpPr txBox="1"/>
              <p:nvPr/>
            </p:nvSpPr>
            <p:spPr>
              <a:xfrm>
                <a:off x="644685" y="5822199"/>
                <a:ext cx="8479580" cy="369332"/>
              </a:xfrm>
              <a:prstGeom prst="rect">
                <a:avLst/>
              </a:prstGeom>
              <a:solidFill>
                <a:schemeClr val="accent4">
                  <a:lumMod val="40000"/>
                  <a:lumOff val="60000"/>
                </a:schemeClr>
              </a:solidFill>
            </p:spPr>
            <p:txBody>
              <a:bodyPr wrap="square" rtlCol="0">
                <a:spAutoFit/>
              </a:bodyPr>
              <a:lstStyle/>
              <a:p>
                <a:pPr>
                  <a:spcBef>
                    <a:spcPts val="600"/>
                  </a:spcBef>
                  <a:spcAft>
                    <a:spcPts val="600"/>
                  </a:spcAft>
                </a:pPr>
                <a:r>
                  <a:rPr lang="zh-CN" altLang="en-US" b="1">
                    <a:solidFill>
                      <a:schemeClr val="accent2">
                        <a:lumMod val="50000"/>
                      </a:schemeClr>
                    </a:solidFill>
                  </a:rPr>
                  <a:t>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是永真式，当且仅当它在任意解释和任意个体变量指派函数下的真值都为真</a:t>
                </a:r>
              </a:p>
            </p:txBody>
          </p:sp>
        </mc:Choice>
        <mc:Fallback xmlns="">
          <p:sp>
            <p:nvSpPr>
              <p:cNvPr id="18" name="文本框 17">
                <a:extLst>
                  <a:ext uri="{FF2B5EF4-FFF2-40B4-BE49-F238E27FC236}">
                    <a16:creationId xmlns:a16="http://schemas.microsoft.com/office/drawing/2014/main" id="{E3706ADC-4795-4010-99C4-FEECA9795E5C}"/>
                  </a:ext>
                </a:extLst>
              </p:cNvPr>
              <p:cNvSpPr txBox="1">
                <a:spLocks noRot="1" noChangeAspect="1" noMove="1" noResize="1" noEditPoints="1" noAdjustHandles="1" noChangeArrowheads="1" noChangeShapeType="1" noTextEdit="1"/>
              </p:cNvSpPr>
              <p:nvPr/>
            </p:nvSpPr>
            <p:spPr>
              <a:xfrm>
                <a:off x="644685" y="5822199"/>
                <a:ext cx="8479580" cy="369332"/>
              </a:xfrm>
              <a:prstGeom prst="rect">
                <a:avLst/>
              </a:prstGeom>
              <a:blipFill>
                <a:blip r:embed="rId5"/>
                <a:stretch>
                  <a:fillRect l="-647" t="-8197" b="-2459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EC83E252-8A88-4F94-9A66-6556B6E098EF}"/>
              </a:ext>
            </a:extLst>
          </p:cNvPr>
          <p:cNvSpPr txBox="1"/>
          <p:nvPr/>
        </p:nvSpPr>
        <p:spPr>
          <a:xfrm>
            <a:off x="9591332" y="4342103"/>
            <a:ext cx="1965336" cy="1148328"/>
          </a:xfrm>
          <a:prstGeom prst="rect">
            <a:avLst/>
          </a:prstGeom>
          <a:solidFill>
            <a:schemeClr val="accent2">
              <a:lumMod val="20000"/>
              <a:lumOff val="80000"/>
            </a:schemeClr>
          </a:solidFill>
        </p:spPr>
        <p:txBody>
          <a:bodyPr wrap="square" rtlCol="0">
            <a:spAutoFit/>
          </a:bodyPr>
          <a:lstStyle/>
          <a:p>
            <a:pPr>
              <a:lnSpc>
                <a:spcPts val="2800"/>
              </a:lnSpc>
            </a:pPr>
            <a:r>
              <a:rPr lang="zh-CN" altLang="en-US" sz="2000" b="1">
                <a:solidFill>
                  <a:schemeClr val="accent2">
                    <a:lumMod val="50000"/>
                  </a:schemeClr>
                </a:solidFill>
              </a:rPr>
              <a:t>闭公式的真值确定不需要个体变量指派函数</a:t>
            </a:r>
          </a:p>
        </p:txBody>
      </p:sp>
      <p:sp>
        <p:nvSpPr>
          <p:cNvPr id="20" name="箭头: 右 19">
            <a:extLst>
              <a:ext uri="{FF2B5EF4-FFF2-40B4-BE49-F238E27FC236}">
                <a16:creationId xmlns:a16="http://schemas.microsoft.com/office/drawing/2014/main" id="{6B735485-C771-4FDA-868F-ED6B14B2EDF2}"/>
              </a:ext>
            </a:extLst>
          </p:cNvPr>
          <p:cNvSpPr/>
          <p:nvPr/>
        </p:nvSpPr>
        <p:spPr>
          <a:xfrm>
            <a:off x="9334774" y="4861450"/>
            <a:ext cx="236823" cy="1052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4746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逻辑等值的定义</a:t>
            </a:r>
          </a:p>
        </p:txBody>
      </p:sp>
      <p:sp>
        <p:nvSpPr>
          <p:cNvPr id="3" name="文本框 2">
            <a:extLst>
              <a:ext uri="{FF2B5EF4-FFF2-40B4-BE49-F238E27FC236}">
                <a16:creationId xmlns:a16="http://schemas.microsoft.com/office/drawing/2014/main" id="{97C487EF-3474-4432-9E42-7C5CCA21AAA2}"/>
              </a:ext>
            </a:extLst>
          </p:cNvPr>
          <p:cNvSpPr txBox="1"/>
          <p:nvPr/>
        </p:nvSpPr>
        <p:spPr>
          <a:xfrm>
            <a:off x="523054" y="1419404"/>
            <a:ext cx="5890306" cy="834139"/>
          </a:xfrm>
          <a:prstGeom prst="rect">
            <a:avLst/>
          </a:prstGeom>
          <a:solidFill>
            <a:schemeClr val="accent2">
              <a:lumMod val="20000"/>
              <a:lumOff val="80000"/>
              <a:alpha val="50000"/>
            </a:schemeClr>
          </a:solidFill>
        </p:spPr>
        <p:txBody>
          <a:bodyPr wrap="square" rtlCol="0">
            <a:spAutoFit/>
          </a:bodyPr>
          <a:lstStyle/>
          <a:p>
            <a:pPr>
              <a:lnSpc>
                <a:spcPts val="3000"/>
              </a:lnSpc>
            </a:pPr>
            <a:r>
              <a:rPr lang="zh-CN" altLang="en-US" sz="2000" b="1">
                <a:solidFill>
                  <a:srgbClr val="002060"/>
                </a:solidFill>
              </a:rPr>
              <a:t>如果两个一阶逻辑公式在任意解释和任意个体变量指派函数下真值都相同，则称这两个公式</a:t>
            </a:r>
            <a:r>
              <a:rPr lang="zh-CN" altLang="en-US" sz="2000" b="1">
                <a:solidFill>
                  <a:srgbClr val="C00000"/>
                </a:solidFill>
              </a:rPr>
              <a:t>逻辑等值</a:t>
            </a:r>
          </a:p>
        </p:txBody>
      </p:sp>
      <p:sp>
        <p:nvSpPr>
          <p:cNvPr id="4" name="文本框 3">
            <a:extLst>
              <a:ext uri="{FF2B5EF4-FFF2-40B4-BE49-F238E27FC236}">
                <a16:creationId xmlns:a16="http://schemas.microsoft.com/office/drawing/2014/main" id="{C661E599-4D07-4E13-83E4-162908B992A1}"/>
              </a:ext>
            </a:extLst>
          </p:cNvPr>
          <p:cNvSpPr txBox="1"/>
          <p:nvPr/>
        </p:nvSpPr>
        <p:spPr>
          <a:xfrm>
            <a:off x="7066885" y="1482530"/>
            <a:ext cx="4353485" cy="707886"/>
          </a:xfrm>
          <a:prstGeom prst="rect">
            <a:avLst/>
          </a:prstGeom>
          <a:solidFill>
            <a:schemeClr val="accent4">
              <a:lumMod val="20000"/>
              <a:lumOff val="80000"/>
            </a:schemeClr>
          </a:solidFill>
        </p:spPr>
        <p:txBody>
          <a:bodyPr wrap="square" rtlCol="0">
            <a:spAutoFit/>
          </a:bodyPr>
          <a:lstStyle/>
          <a:p>
            <a:pPr>
              <a:lnSpc>
                <a:spcPts val="2400"/>
              </a:lnSpc>
            </a:pPr>
            <a:r>
              <a:rPr lang="zh-CN" altLang="en-US" sz="2000" b="1">
                <a:solidFill>
                  <a:srgbClr val="002060"/>
                </a:solidFill>
                <a:latin typeface="楷体" panose="02010609060101010101" pitchFamily="49" charset="-122"/>
                <a:ea typeface="楷体" panose="02010609060101010101" pitchFamily="49" charset="-122"/>
              </a:rPr>
              <a:t>总假定所研究的一阶逻辑公式基于同一个非逻辑符号集和个体变量集构造</a:t>
            </a: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3AAC13A3-615C-48E8-84B4-EFB4A2CA27F2}"/>
                  </a:ext>
                </a:extLst>
              </p:cNvPr>
              <p:cNvSpPr txBox="1"/>
              <p:nvPr/>
            </p:nvSpPr>
            <p:spPr>
              <a:xfrm>
                <a:off x="2027949" y="2595199"/>
                <a:ext cx="8350047" cy="461665"/>
              </a:xfrm>
              <a:prstGeom prst="rect">
                <a:avLst/>
              </a:prstGeom>
              <a:solidFill>
                <a:schemeClr val="accent5">
                  <a:lumMod val="20000"/>
                  <a:lumOff val="80000"/>
                  <a:alpha val="50000"/>
                </a:schemeClr>
              </a:solidFill>
            </p:spPr>
            <p:txBody>
              <a:bodyPr wrap="square" rtlCol="0">
                <a:spAutoFit/>
              </a:bodyPr>
              <a:lstStyle/>
              <a:p>
                <a:r>
                  <a:rPr lang="zh-CN" altLang="en-US" sz="2400" b="1" dirty="0">
                    <a:solidFill>
                      <a:srgbClr val="002060"/>
                    </a:solidFill>
                  </a:rPr>
                  <a:t>一阶逻辑公式</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dirty="0">
                    <a:solidFill>
                      <a:srgbClr val="002060"/>
                    </a:solidFill>
                  </a:rPr>
                  <a:t>和</a:t>
                </a:r>
                <a14:m>
                  <m:oMath xmlns:m="http://schemas.openxmlformats.org/officeDocument/2006/math">
                    <m:r>
                      <a:rPr lang="en-US" altLang="zh-CN" sz="2400" b="1" i="1" smtClean="0">
                        <a:solidFill>
                          <a:srgbClr val="002060"/>
                        </a:solidFill>
                        <a:latin typeface="Cambria Math" panose="02040503050406030204" pitchFamily="18" charset="0"/>
                      </a:rPr>
                      <m:t>𝑩</m:t>
                    </m:r>
                  </m:oMath>
                </a14:m>
                <a:r>
                  <a:rPr lang="zh-CN" altLang="en-US" sz="2400" b="1" dirty="0">
                    <a:solidFill>
                      <a:srgbClr val="002060"/>
                    </a:solidFill>
                  </a:rPr>
                  <a:t>逻辑等值当且仅当</a:t>
                </a:r>
                <a:r>
                  <a:rPr lang="zh-CN" altLang="en-US" sz="2400" b="1" dirty="0">
                    <a:solidFill>
                      <a:srgbClr val="C00000"/>
                    </a:solidFill>
                  </a:rPr>
                  <a:t>公式</a:t>
                </a:r>
                <a14:m>
                  <m:oMath xmlns:m="http://schemas.openxmlformats.org/officeDocument/2006/math">
                    <m:r>
                      <a:rPr lang="en-US" altLang="zh-CN" sz="2400" b="1" i="1" smtClean="0">
                        <a:solidFill>
                          <a:srgbClr val="C00000"/>
                        </a:solidFill>
                        <a:latin typeface="Cambria Math" panose="02040503050406030204" pitchFamily="18" charset="0"/>
                      </a:rPr>
                      <m:t>𝑨</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𝑩</m:t>
                    </m:r>
                  </m:oMath>
                </a14:m>
                <a:r>
                  <a:rPr lang="zh-CN" altLang="en-US" sz="2400" b="1" dirty="0">
                    <a:solidFill>
                      <a:srgbClr val="C00000"/>
                    </a:solidFill>
                  </a:rPr>
                  <a:t>是永真式</a:t>
                </a:r>
                <a:endParaRPr lang="zh-CN" altLang="en-US" sz="2400" b="1" dirty="0">
                  <a:solidFill>
                    <a:srgbClr val="002060"/>
                  </a:solidFill>
                </a:endParaRPr>
              </a:p>
            </p:txBody>
          </p:sp>
        </mc:Choice>
        <mc:Fallback>
          <p:sp>
            <p:nvSpPr>
              <p:cNvPr id="6" name="文本框 5">
                <a:extLst>
                  <a:ext uri="{FF2B5EF4-FFF2-40B4-BE49-F238E27FC236}">
                    <a16:creationId xmlns:a16="http://schemas.microsoft.com/office/drawing/2014/main" id="{3AAC13A3-615C-48E8-84B4-EFB4A2CA27F2}"/>
                  </a:ext>
                </a:extLst>
              </p:cNvPr>
              <p:cNvSpPr txBox="1">
                <a:spLocks noRot="1" noChangeAspect="1" noMove="1" noResize="1" noEditPoints="1" noAdjustHandles="1" noChangeArrowheads="1" noChangeShapeType="1" noTextEdit="1"/>
              </p:cNvSpPr>
              <p:nvPr/>
            </p:nvSpPr>
            <p:spPr>
              <a:xfrm>
                <a:off x="2027949" y="2595199"/>
                <a:ext cx="8350047" cy="461665"/>
              </a:xfrm>
              <a:prstGeom prst="rect">
                <a:avLst/>
              </a:prstGeom>
              <a:blipFill>
                <a:blip r:embed="rId2"/>
                <a:stretch>
                  <a:fillRect l="-1169" t="-9333" b="-32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441AC6F7-8DE9-4A1F-BD1B-F75CF0B929DF}"/>
                  </a:ext>
                </a:extLst>
              </p:cNvPr>
              <p:cNvSpPr txBox="1"/>
              <p:nvPr/>
            </p:nvSpPr>
            <p:spPr>
              <a:xfrm>
                <a:off x="523054" y="3421292"/>
                <a:ext cx="4959036" cy="1723549"/>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1200"/>
                  </a:spcAft>
                </a:pPr>
                <a:r>
                  <a:rPr lang="zh-CN" altLang="en-US" sz="2800" b="1">
                    <a:solidFill>
                      <a:srgbClr val="C00000"/>
                    </a:solidFill>
                  </a:rPr>
                  <a:t>证明逻辑等值式</a:t>
                </a:r>
                <a14:m>
                  <m:oMath xmlns:m="http://schemas.openxmlformats.org/officeDocument/2006/math">
                    <m:r>
                      <a:rPr lang="en-US" altLang="zh-CN" sz="2800" b="1" i="1" smtClean="0">
                        <a:solidFill>
                          <a:srgbClr val="C00000"/>
                        </a:solidFill>
                        <a:latin typeface="Cambria Math" panose="02040503050406030204" pitchFamily="18" charset="0"/>
                      </a:rPr>
                      <m:t>𝑨</m:t>
                    </m:r>
                    <m:r>
                      <a:rPr lang="en-US" altLang="zh-CN" sz="2800" b="1" i="1" smtClean="0">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𝑩</m:t>
                    </m:r>
                  </m:oMath>
                </a14:m>
                <a:r>
                  <a:rPr lang="zh-CN" altLang="en-US" sz="2800" b="1">
                    <a:solidFill>
                      <a:srgbClr val="C00000"/>
                    </a:solidFill>
                  </a:rPr>
                  <a:t>的方法</a:t>
                </a:r>
                <a:endParaRPr lang="en-US" altLang="zh-CN" sz="28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非形式化地证明</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是永真式</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从基本等值式出发进行</a:t>
                </a:r>
                <a:r>
                  <a:rPr lang="zh-CN" altLang="en-US" sz="2400" b="1">
                    <a:solidFill>
                      <a:srgbClr val="C00000"/>
                    </a:solidFill>
                    <a:latin typeface="黑体" panose="02010609060101010101" pitchFamily="49" charset="-122"/>
                    <a:ea typeface="黑体" panose="02010609060101010101" pitchFamily="49" charset="-122"/>
                  </a:rPr>
                  <a:t>等值演算</a:t>
                </a:r>
              </a:p>
            </p:txBody>
          </p:sp>
        </mc:Choice>
        <mc:Fallback>
          <p:sp>
            <p:nvSpPr>
              <p:cNvPr id="11" name="文本框 10">
                <a:extLst>
                  <a:ext uri="{FF2B5EF4-FFF2-40B4-BE49-F238E27FC236}">
                    <a16:creationId xmlns:a16="http://schemas.microsoft.com/office/drawing/2014/main" id="{441AC6F7-8DE9-4A1F-BD1B-F75CF0B929DF}"/>
                  </a:ext>
                </a:extLst>
              </p:cNvPr>
              <p:cNvSpPr txBox="1">
                <a:spLocks noRot="1" noChangeAspect="1" noMove="1" noResize="1" noEditPoints="1" noAdjustHandles="1" noChangeArrowheads="1" noChangeShapeType="1" noTextEdit="1"/>
              </p:cNvSpPr>
              <p:nvPr/>
            </p:nvSpPr>
            <p:spPr>
              <a:xfrm>
                <a:off x="523054" y="3421292"/>
                <a:ext cx="4959036" cy="1723549"/>
              </a:xfrm>
              <a:prstGeom prst="rect">
                <a:avLst/>
              </a:prstGeom>
              <a:blipFill>
                <a:blip r:embed="rId3"/>
                <a:stretch>
                  <a:fillRect l="-1722" t="-3534" b="-74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54D02DC9-38FC-48DF-B235-BA9C940B84F4}"/>
                  </a:ext>
                </a:extLst>
              </p:cNvPr>
              <p:cNvSpPr txBox="1"/>
              <p:nvPr/>
            </p:nvSpPr>
            <p:spPr>
              <a:xfrm>
                <a:off x="5993176" y="3287697"/>
                <a:ext cx="5427194" cy="2013500"/>
              </a:xfrm>
              <a:prstGeom prst="rect">
                <a:avLst/>
              </a:prstGeom>
              <a:solidFill>
                <a:schemeClr val="accent4">
                  <a:lumMod val="20000"/>
                  <a:lumOff val="80000"/>
                </a:schemeClr>
              </a:solidFill>
            </p:spPr>
            <p:txBody>
              <a:bodyPr wrap="square" rtlCol="0">
                <a:spAutoFit/>
              </a:bodyPr>
              <a:lstStyle/>
              <a:p>
                <a:pPr>
                  <a:lnSpc>
                    <a:spcPts val="2800"/>
                  </a:lnSpc>
                  <a:spcAft>
                    <a:spcPts val="600"/>
                  </a:spcAft>
                </a:pPr>
                <a:r>
                  <a:rPr lang="zh-CN" altLang="en-US" sz="2000" b="1">
                    <a:solidFill>
                      <a:srgbClr val="002060"/>
                    </a:solidFill>
                    <a:latin typeface="楷体" panose="02010609060101010101" pitchFamily="49" charset="-122"/>
                    <a:ea typeface="楷体" panose="02010609060101010101" pitchFamily="49" charset="-122"/>
                  </a:rPr>
                  <a:t>非形式化证明逻辑等值式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的方法与证明永真式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的方法相同</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2800"/>
                  </a:lnSpc>
                  <a:spcAft>
                    <a:spcPts val="600"/>
                  </a:spcAft>
                  <a:buFont typeface="Arial" panose="020B0604020202020204" pitchFamily="34" charset="0"/>
                  <a:buChar char="•"/>
                </a:pPr>
                <a:r>
                  <a:rPr lang="zh-CN" altLang="en-US" sz="2000" b="1">
                    <a:solidFill>
                      <a:schemeClr val="accent2">
                        <a:lumMod val="50000"/>
                      </a:schemeClr>
                    </a:solidFill>
                  </a:rPr>
                  <a:t>证明对任意解释及任意个体变量指派函数，</a:t>
                </a:r>
                <a14:m>
                  <m:oMath xmlns:m="http://schemas.openxmlformats.org/officeDocument/2006/math">
                    <m:r>
                      <a:rPr lang="en-US" altLang="zh-CN" sz="2000" b="1" i="1" smtClean="0">
                        <a:solidFill>
                          <a:srgbClr val="C00000"/>
                        </a:solidFill>
                        <a:latin typeface="Cambria Math" panose="02040503050406030204" pitchFamily="18" charset="0"/>
                      </a:rPr>
                      <m:t>𝑨</m:t>
                    </m:r>
                  </m:oMath>
                </a14:m>
                <a:r>
                  <a:rPr lang="zh-CN" altLang="en-US" sz="2000" b="1">
                    <a:solidFill>
                      <a:srgbClr val="C00000"/>
                    </a:solidFill>
                  </a:rPr>
                  <a:t>的真值为真当且仅当</a:t>
                </a:r>
                <a14:m>
                  <m:oMath xmlns:m="http://schemas.openxmlformats.org/officeDocument/2006/math">
                    <m:r>
                      <a:rPr lang="en-US" altLang="zh-CN" sz="2000" b="1" i="1" smtClean="0">
                        <a:solidFill>
                          <a:srgbClr val="C00000"/>
                        </a:solidFill>
                        <a:latin typeface="Cambria Math" panose="02040503050406030204" pitchFamily="18" charset="0"/>
                      </a:rPr>
                      <m:t>𝑩</m:t>
                    </m:r>
                  </m:oMath>
                </a14:m>
                <a:r>
                  <a:rPr lang="zh-CN" altLang="en-US" sz="2000" b="1">
                    <a:solidFill>
                      <a:srgbClr val="C00000"/>
                    </a:solidFill>
                  </a:rPr>
                  <a:t>的真值为真</a:t>
                </a:r>
                <a:endParaRPr lang="en-US" altLang="zh-CN" sz="2000" b="1">
                  <a:solidFill>
                    <a:srgbClr val="C00000"/>
                  </a:solidFill>
                </a:endParaRPr>
              </a:p>
              <a:p>
                <a:pPr marL="800100" lvl="1" indent="-342900">
                  <a:lnSpc>
                    <a:spcPts val="2800"/>
                  </a:lnSpc>
                  <a:spcAft>
                    <a:spcPts val="600"/>
                  </a:spcAft>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公式都是闭公式时可不用个体变量指派函数</a:t>
                </a:r>
              </a:p>
            </p:txBody>
          </p:sp>
        </mc:Choice>
        <mc:Fallback>
          <p:sp>
            <p:nvSpPr>
              <p:cNvPr id="13" name="文本框 12">
                <a:extLst>
                  <a:ext uri="{FF2B5EF4-FFF2-40B4-BE49-F238E27FC236}">
                    <a16:creationId xmlns:a16="http://schemas.microsoft.com/office/drawing/2014/main" id="{54D02DC9-38FC-48DF-B235-BA9C940B84F4}"/>
                  </a:ext>
                </a:extLst>
              </p:cNvPr>
              <p:cNvSpPr txBox="1">
                <a:spLocks noRot="1" noChangeAspect="1" noMove="1" noResize="1" noEditPoints="1" noAdjustHandles="1" noChangeArrowheads="1" noChangeShapeType="1" noTextEdit="1"/>
              </p:cNvSpPr>
              <p:nvPr/>
            </p:nvSpPr>
            <p:spPr>
              <a:xfrm>
                <a:off x="5993176" y="3287697"/>
                <a:ext cx="5427194" cy="2013500"/>
              </a:xfrm>
              <a:prstGeom prst="rect">
                <a:avLst/>
              </a:prstGeom>
              <a:blipFill>
                <a:blip r:embed="rId4"/>
                <a:stretch>
                  <a:fillRect l="-1124" t="-1208" r="-225" b="-36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2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一阶逻辑永真式证明举例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CA9677A-1FAC-49A0-B419-36654940340A}"/>
                  </a:ext>
                </a:extLst>
              </p:cNvPr>
              <p:cNvSpPr txBox="1"/>
              <p:nvPr/>
            </p:nvSpPr>
            <p:spPr>
              <a:xfrm>
                <a:off x="933024" y="1443512"/>
                <a:ext cx="9453185" cy="645048"/>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根据定义证明公式</a:t>
                </a:r>
                <a14:m>
                  <m:oMath xmlns:m="http://schemas.openxmlformats.org/officeDocument/2006/math">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e>
                        </m:d>
                      </m:e>
                    </m:d>
                  </m:oMath>
                </a14:m>
                <a:r>
                  <a:rPr lang="zh-CN" altLang="en-US" sz="2400" b="1">
                    <a:solidFill>
                      <a:srgbClr val="002060"/>
                    </a:solidFill>
                    <a:latin typeface="楷体" panose="02010609060101010101" pitchFamily="49" charset="-122"/>
                    <a:ea typeface="楷体" panose="02010609060101010101" pitchFamily="49" charset="-122"/>
                  </a:rPr>
                  <a:t>是永真式</a:t>
                </a:r>
              </a:p>
            </p:txBody>
          </p:sp>
        </mc:Choice>
        <mc:Fallback xmlns="">
          <p:sp>
            <p:nvSpPr>
              <p:cNvPr id="2" name="文本框 1">
                <a:extLst>
                  <a:ext uri="{FF2B5EF4-FFF2-40B4-BE49-F238E27FC236}">
                    <a16:creationId xmlns:a16="http://schemas.microsoft.com/office/drawing/2014/main" id="{4CA9677A-1FAC-49A0-B419-36654940340A}"/>
                  </a:ext>
                </a:extLst>
              </p:cNvPr>
              <p:cNvSpPr txBox="1">
                <a:spLocks noRot="1" noChangeAspect="1" noMove="1" noResize="1" noEditPoints="1" noAdjustHandles="1" noChangeArrowheads="1" noChangeShapeType="1" noTextEdit="1"/>
              </p:cNvSpPr>
              <p:nvPr/>
            </p:nvSpPr>
            <p:spPr>
              <a:xfrm>
                <a:off x="933024" y="1443512"/>
                <a:ext cx="9453185" cy="645048"/>
              </a:xfrm>
              <a:prstGeom prst="rect">
                <a:avLst/>
              </a:prstGeom>
              <a:blipFill>
                <a:blip r:embed="rId2"/>
                <a:stretch>
                  <a:fillRect l="-967" r="-258" b="-283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8CC791E-1FC7-4E69-95EC-107EDAEE27CF}"/>
              </a:ext>
            </a:extLst>
          </p:cNvPr>
          <p:cNvSpPr txBox="1"/>
          <p:nvPr/>
        </p:nvSpPr>
        <p:spPr>
          <a:xfrm>
            <a:off x="933024" y="2293754"/>
            <a:ext cx="7485762" cy="404919"/>
          </a:xfrm>
          <a:prstGeom prst="rect">
            <a:avLst/>
          </a:prstGeom>
          <a:solidFill>
            <a:schemeClr val="accent4">
              <a:lumMod val="20000"/>
              <a:lumOff val="80000"/>
            </a:schemeClr>
          </a:solidFill>
        </p:spPr>
        <p:txBody>
          <a:bodyPr wrap="square" rtlCol="0">
            <a:spAutoFit/>
          </a:bodyPr>
          <a:lstStyle/>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根据永真式的定义，证明在</a:t>
            </a:r>
            <a:r>
              <a:rPr lang="zh-CN" altLang="en-US" sz="2000" b="1">
                <a:solidFill>
                  <a:srgbClr val="C00000"/>
                </a:solidFill>
                <a:latin typeface="黑体" panose="02010609060101010101" pitchFamily="49" charset="-122"/>
                <a:ea typeface="黑体" panose="02010609060101010101" pitchFamily="49" charset="-122"/>
              </a:rPr>
              <a:t>任意解释</a:t>
            </a:r>
            <a:r>
              <a:rPr lang="zh-CN" altLang="en-US" sz="2000" b="1">
                <a:solidFill>
                  <a:srgbClr val="002060"/>
                </a:solidFill>
                <a:latin typeface="楷体" panose="02010609060101010101" pitchFamily="49" charset="-122"/>
                <a:ea typeface="楷体" panose="02010609060101010101" pitchFamily="49" charset="-122"/>
              </a:rPr>
              <a:t>下该蕴涵式的真值为真</a:t>
            </a:r>
            <a:endParaRPr lang="en-US" altLang="zh-CN" sz="2000" b="1">
              <a:solidFill>
                <a:srgbClr val="002060"/>
              </a:solidFill>
              <a:latin typeface="楷体" panose="02010609060101010101" pitchFamily="49" charset="-122"/>
              <a:ea typeface="楷体" panose="02010609060101010101" pitchFamily="49" charset="-122"/>
            </a:endParaRPr>
          </a:p>
        </p:txBody>
      </p:sp>
      <p:sp>
        <p:nvSpPr>
          <p:cNvPr id="11" name="文本框 10">
            <a:extLst>
              <a:ext uri="{FF2B5EF4-FFF2-40B4-BE49-F238E27FC236}">
                <a16:creationId xmlns:a16="http://schemas.microsoft.com/office/drawing/2014/main" id="{5309B818-A2CF-4F95-B3C4-D7E56904A10F}"/>
              </a:ext>
            </a:extLst>
          </p:cNvPr>
          <p:cNvSpPr txBox="1"/>
          <p:nvPr/>
        </p:nvSpPr>
        <p:spPr>
          <a:xfrm>
            <a:off x="933023" y="2698355"/>
            <a:ext cx="9938877" cy="404919"/>
          </a:xfrm>
          <a:prstGeom prst="rect">
            <a:avLst/>
          </a:prstGeom>
          <a:solidFill>
            <a:schemeClr val="accent4">
              <a:lumMod val="20000"/>
              <a:lumOff val="80000"/>
            </a:schemeClr>
          </a:solidFill>
        </p:spPr>
        <p:txBody>
          <a:bodyPr wrap="square" rtlCol="0">
            <a:spAutoFit/>
          </a:bodyPr>
          <a:lstStyle/>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证明蕴涵式真值为真，采用</a:t>
            </a:r>
            <a:r>
              <a:rPr lang="zh-CN" altLang="en-US" sz="2000" b="1">
                <a:solidFill>
                  <a:srgbClr val="C00000"/>
                </a:solidFill>
                <a:latin typeface="黑体" panose="02010609060101010101" pitchFamily="49" charset="-122"/>
                <a:ea typeface="黑体" panose="02010609060101010101" pitchFamily="49" charset="-122"/>
              </a:rPr>
              <a:t>附加前提法</a:t>
            </a:r>
            <a:r>
              <a:rPr lang="zh-CN" altLang="en-US" sz="2000" b="1">
                <a:solidFill>
                  <a:srgbClr val="002060"/>
                </a:solidFill>
                <a:latin typeface="楷体" panose="02010609060101010101" pitchFamily="49" charset="-122"/>
                <a:ea typeface="楷体" panose="02010609060101010101" pitchFamily="49" charset="-122"/>
              </a:rPr>
              <a:t>，假定前件为真的情况下，证明后件也为真</a:t>
            </a:r>
            <a:endParaRPr lang="en-US" altLang="zh-CN" sz="2000" b="1">
              <a:solidFill>
                <a:srgbClr val="002060"/>
              </a:solidFill>
              <a:latin typeface="楷体" panose="02010609060101010101" pitchFamily="49" charset="-122"/>
              <a:ea typeface="楷体" panose="02010609060101010101" pitchFamily="49" charset="-122"/>
            </a:endParaRPr>
          </a:p>
        </p:txBody>
      </p:sp>
      <p:sp>
        <p:nvSpPr>
          <p:cNvPr id="12" name="文本框 11">
            <a:extLst>
              <a:ext uri="{FF2B5EF4-FFF2-40B4-BE49-F238E27FC236}">
                <a16:creationId xmlns:a16="http://schemas.microsoft.com/office/drawing/2014/main" id="{265EADC6-DCFF-4E67-A70B-B707DC97FF47}"/>
              </a:ext>
            </a:extLst>
          </p:cNvPr>
          <p:cNvSpPr txBox="1"/>
          <p:nvPr/>
        </p:nvSpPr>
        <p:spPr>
          <a:xfrm>
            <a:off x="933022" y="3101789"/>
            <a:ext cx="9642486" cy="404919"/>
          </a:xfrm>
          <a:prstGeom prst="rect">
            <a:avLst/>
          </a:prstGeom>
          <a:solidFill>
            <a:schemeClr val="accent4">
              <a:lumMod val="20000"/>
              <a:lumOff val="80000"/>
            </a:schemeClr>
          </a:solidFill>
        </p:spPr>
        <p:txBody>
          <a:bodyPr wrap="square" rtlCol="0">
            <a:spAutoFit/>
          </a:bodyPr>
          <a:lstStyle/>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该蕴涵式前件是析取时，进行</a:t>
            </a:r>
            <a:r>
              <a:rPr lang="zh-CN" altLang="en-US" sz="2000" b="1">
                <a:solidFill>
                  <a:srgbClr val="C00000"/>
                </a:solidFill>
                <a:latin typeface="黑体" panose="02010609060101010101" pitchFamily="49" charset="-122"/>
                <a:ea typeface="黑体" panose="02010609060101010101" pitchFamily="49" charset="-122"/>
              </a:rPr>
              <a:t>分情况证明</a:t>
            </a:r>
            <a:r>
              <a:rPr lang="zh-CN" altLang="en-US" sz="2000" b="1">
                <a:solidFill>
                  <a:srgbClr val="002060"/>
                </a:solidFill>
                <a:latin typeface="楷体" panose="02010609060101010101" pitchFamily="49" charset="-122"/>
                <a:ea typeface="楷体" panose="02010609060101010101" pitchFamily="49" charset="-122"/>
              </a:rPr>
              <a:t>，在每个析取分支为真时证明后件为真</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600E2DF-D2A2-4ADF-B07B-83399918A53F}"/>
                  </a:ext>
                </a:extLst>
              </p:cNvPr>
              <p:cNvSpPr txBox="1"/>
              <p:nvPr/>
            </p:nvSpPr>
            <p:spPr>
              <a:xfrm>
                <a:off x="933022" y="3651426"/>
                <a:ext cx="10227715" cy="2211311"/>
              </a:xfrm>
              <a:prstGeom prst="rect">
                <a:avLst/>
              </a:prstGeom>
              <a:solidFill>
                <a:schemeClr val="accent5">
                  <a:lumMod val="20000"/>
                  <a:lumOff val="80000"/>
                  <a:alpha val="50000"/>
                </a:schemeClr>
              </a:solidFill>
            </p:spPr>
            <p:txBody>
              <a:bodyPr wrap="square" rtlCol="0">
                <a:spAutoFit/>
              </a:bodyPr>
              <a:lstStyle/>
              <a:p>
                <a:pPr algn="ctr">
                  <a:lnSpc>
                    <a:spcPts val="2600"/>
                  </a:lnSpc>
                  <a:spcBef>
                    <a:spcPts val="600"/>
                  </a:spcBef>
                  <a:spcAft>
                    <a:spcPts val="300"/>
                  </a:spcAft>
                </a:pPr>
                <a:r>
                  <a:rPr lang="en-US" altLang="zh-CN" b="1">
                    <a:solidFill>
                      <a:srgbClr val="C00000"/>
                    </a:solidFill>
                  </a:rPr>
                  <a:t>【</a:t>
                </a:r>
                <a:r>
                  <a:rPr lang="zh-CN" altLang="en-US" b="1">
                    <a:solidFill>
                      <a:srgbClr val="C00000"/>
                    </a:solidFill>
                  </a:rPr>
                  <a:t>证明</a:t>
                </a:r>
                <a:r>
                  <a:rPr lang="en-US" altLang="zh-CN" b="1">
                    <a:solidFill>
                      <a:srgbClr val="C00000"/>
                    </a:solidFill>
                  </a:rPr>
                  <a:t>】</a:t>
                </a:r>
              </a:p>
              <a:p>
                <a:pPr>
                  <a:lnSpc>
                    <a:spcPts val="2600"/>
                  </a:lnSpc>
                  <a:spcBef>
                    <a:spcPts val="600"/>
                  </a:spcBef>
                  <a:spcAft>
                    <a:spcPts val="300"/>
                  </a:spcAft>
                </a:pPr>
                <a:r>
                  <a:rPr lang="zh-CN" altLang="en-US" b="1">
                    <a:solidFill>
                      <a:schemeClr val="accent6">
                        <a:lumMod val="50000"/>
                      </a:schemeClr>
                    </a:solidFill>
                    <a:latin typeface="+mn-ea"/>
                    <a:cs typeface="Arial" panose="020B0604020202020204" pitchFamily="34" charset="0"/>
                  </a:rPr>
                  <a:t>对任意的解释，假设其论域是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mn-ea"/>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oMath>
                </a14:m>
                <a:r>
                  <a:rPr lang="zh-CN" altLang="en-US" b="1">
                    <a:solidFill>
                      <a:schemeClr val="accent6">
                        <a:lumMod val="50000"/>
                      </a:schemeClr>
                    </a:solidFill>
                    <a:latin typeface="+mn-ea"/>
                    <a:cs typeface="Arial" panose="020B0604020202020204" pitchFamily="34" charset="0"/>
                  </a:rPr>
                  <a:t>为真，则可</a:t>
                </a:r>
                <a:r>
                  <a:rPr lang="zh-CN" altLang="en-US" b="1">
                    <a:solidFill>
                      <a:srgbClr val="C00000"/>
                    </a:solidFill>
                    <a:latin typeface="+mn-ea"/>
                    <a:cs typeface="Arial" panose="020B0604020202020204" pitchFamily="34" charset="0"/>
                  </a:rPr>
                  <a:t>分两种情况</a:t>
                </a:r>
                <a:r>
                  <a:rPr lang="zh-CN" altLang="en-US" b="1">
                    <a:solidFill>
                      <a:schemeClr val="accent6">
                        <a:lumMod val="50000"/>
                      </a:schemeClr>
                    </a:solidFill>
                    <a:latin typeface="+mn-ea"/>
                    <a:cs typeface="Arial" panose="020B0604020202020204" pitchFamily="34" charset="0"/>
                  </a:rPr>
                  <a:t>：</a:t>
                </a:r>
                <a:endParaRPr lang="en-US" altLang="zh-CN" b="1">
                  <a:solidFill>
                    <a:schemeClr val="accent6">
                      <a:lumMod val="50000"/>
                    </a:schemeClr>
                  </a:solidFill>
                  <a:latin typeface="+mn-ea"/>
                  <a:cs typeface="Arial" panose="020B0604020202020204" pitchFamily="34" charset="0"/>
                </a:endParaRPr>
              </a:p>
              <a:p>
                <a:pPr marL="342900" indent="-342900">
                  <a:lnSpc>
                    <a:spcPts val="2600"/>
                  </a:lnSpc>
                  <a:spcBef>
                    <a:spcPts val="600"/>
                  </a:spcBef>
                  <a:spcAft>
                    <a:spcPts val="300"/>
                  </a:spcAft>
                  <a:buAutoNum type="arabicPeriod"/>
                </a:pPr>
                <a:r>
                  <a:rPr lang="zh-CN" altLang="en-US" b="1">
                    <a:solidFill>
                      <a:srgbClr val="C00000"/>
                    </a:solidFill>
                    <a:latin typeface="+mn-ea"/>
                    <a:cs typeface="Arial" panose="020B0604020202020204" pitchFamily="34" charset="0"/>
                  </a:rPr>
                  <a:t>若</a:t>
                </a:r>
                <a14:m>
                  <m:oMath xmlns:m="http://schemas.openxmlformats.org/officeDocument/2006/math">
                    <m:r>
                      <a:rPr lang="en-US" altLang="zh-CN" b="1">
                        <a:solidFill>
                          <a:srgbClr val="C00000"/>
                        </a:solidFill>
                        <a:latin typeface="Cambria Math" panose="02040503050406030204" pitchFamily="18" charset="0"/>
                        <a:cs typeface="Arial" panose="020B0604020202020204" pitchFamily="34" charset="0"/>
                      </a:rPr>
                      <m:t>∀</m:t>
                    </m:r>
                    <m:r>
                      <a:rPr lang="en-US" altLang="zh-CN" b="1">
                        <a:solidFill>
                          <a:srgbClr val="C00000"/>
                        </a:solidFill>
                        <a:latin typeface="Cambria Math" panose="02040503050406030204" pitchFamily="18" charset="0"/>
                        <a:cs typeface="Arial" panose="020B0604020202020204" pitchFamily="34" charset="0"/>
                      </a:rPr>
                      <m:t>𝒙𝑭</m:t>
                    </m:r>
                    <m:d>
                      <m:dPr>
                        <m:ctrlPr>
                          <a:rPr lang="en-US" altLang="zh-CN" b="1" i="1">
                            <a:solidFill>
                              <a:srgbClr val="C00000"/>
                            </a:solidFill>
                            <a:latin typeface="Cambria Math" panose="02040503050406030204" pitchFamily="18" charset="0"/>
                            <a:cs typeface="Arial" panose="020B0604020202020204" pitchFamily="34" charset="0"/>
                          </a:rPr>
                        </m:ctrlPr>
                      </m:dPr>
                      <m:e>
                        <m:r>
                          <a:rPr lang="en-US" altLang="zh-CN" b="1">
                            <a:solidFill>
                              <a:srgbClr val="C00000"/>
                            </a:solidFill>
                            <a:latin typeface="Cambria Math" panose="02040503050406030204" pitchFamily="18" charset="0"/>
                            <a:cs typeface="Arial" panose="020B0604020202020204" pitchFamily="34" charset="0"/>
                          </a:rPr>
                          <m:t>𝒙</m:t>
                        </m:r>
                      </m:e>
                    </m:d>
                  </m:oMath>
                </a14:m>
                <a:r>
                  <a:rPr lang="zh-CN" altLang="en-US" b="1">
                    <a:solidFill>
                      <a:srgbClr val="C00000"/>
                    </a:solidFill>
                    <a:latin typeface="+mn-ea"/>
                    <a:cs typeface="Arial" panose="020B0604020202020204" pitchFamily="34" charset="0"/>
                  </a:rPr>
                  <a:t>为真</a:t>
                </a:r>
                <a:r>
                  <a:rPr lang="zh-CN" altLang="en-US" b="1">
                    <a:solidFill>
                      <a:schemeClr val="accent6">
                        <a:lumMod val="50000"/>
                      </a:schemeClr>
                    </a:solidFill>
                    <a:latin typeface="+mn-ea"/>
                    <a:cs typeface="Arial" panose="020B0604020202020204" pitchFamily="34" charset="0"/>
                  </a:rPr>
                  <a:t>，</a:t>
                </a:r>
                <a:r>
                  <a:rPr lang="en-US" altLang="zh-CN" b="1">
                    <a:solidFill>
                      <a:schemeClr val="accent6">
                        <a:lumMod val="50000"/>
                      </a:schemeClr>
                    </a:solidFill>
                    <a:latin typeface="+mn-ea"/>
                    <a:cs typeface="Arial" panose="020B0604020202020204" pitchFamily="34" charset="0"/>
                  </a:rPr>
                  <a:t>……</a:t>
                </a:r>
                <a:r>
                  <a:rPr lang="zh-CN" altLang="en-US" b="1">
                    <a:solidFill>
                      <a:schemeClr val="accent6">
                        <a:lumMod val="50000"/>
                      </a:schemeClr>
                    </a:solidFill>
                    <a:latin typeface="+mn-ea"/>
                    <a:cs typeface="Arial" panose="020B0604020202020204" pitchFamily="34" charset="0"/>
                  </a:rPr>
                  <a:t>从而</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oMath>
                </a14:m>
                <a:r>
                  <a:rPr lang="zh-CN" altLang="en-US" b="1">
                    <a:solidFill>
                      <a:schemeClr val="accent6">
                        <a:lumMod val="50000"/>
                      </a:schemeClr>
                    </a:solidFill>
                    <a:latin typeface="+mn-ea"/>
                    <a:cs typeface="Arial" panose="020B0604020202020204" pitchFamily="34" charset="0"/>
                  </a:rPr>
                  <a:t>为真</a:t>
                </a:r>
                <a:endParaRPr lang="en-US" altLang="zh-CN" b="1">
                  <a:solidFill>
                    <a:schemeClr val="accent6">
                      <a:lumMod val="50000"/>
                    </a:schemeClr>
                  </a:solidFill>
                  <a:latin typeface="+mn-ea"/>
                  <a:cs typeface="Arial" panose="020B0604020202020204" pitchFamily="34" charset="0"/>
                </a:endParaRPr>
              </a:p>
              <a:p>
                <a:pPr marL="342900" indent="-342900">
                  <a:lnSpc>
                    <a:spcPts val="2600"/>
                  </a:lnSpc>
                  <a:spcBef>
                    <a:spcPts val="600"/>
                  </a:spcBef>
                  <a:spcAft>
                    <a:spcPts val="300"/>
                  </a:spcAft>
                  <a:buFontTx/>
                  <a:buAutoNum type="arabicPeriod"/>
                </a:pPr>
                <a:r>
                  <a:rPr lang="zh-CN" altLang="en-US" b="1">
                    <a:solidFill>
                      <a:srgbClr val="C00000"/>
                    </a:solidFill>
                    <a:latin typeface="+mn-ea"/>
                    <a:cs typeface="Arial" panose="020B0604020202020204" pitchFamily="34" charset="0"/>
                  </a:rPr>
                  <a:t>若</a:t>
                </a:r>
                <a14:m>
                  <m:oMath xmlns:m="http://schemas.openxmlformats.org/officeDocument/2006/math">
                    <m:r>
                      <a:rPr lang="en-US" altLang="zh-CN" b="1">
                        <a:solidFill>
                          <a:srgbClr val="C00000"/>
                        </a:solidFill>
                        <a:latin typeface="Cambria Math" panose="02040503050406030204" pitchFamily="18" charset="0"/>
                        <a:cs typeface="Arial" panose="020B0604020202020204" pitchFamily="34" charset="0"/>
                      </a:rPr>
                      <m:t>∀</m:t>
                    </m:r>
                    <m:r>
                      <a:rPr lang="en-US" altLang="zh-CN" b="1">
                        <a:solidFill>
                          <a:srgbClr val="C00000"/>
                        </a:solidFill>
                        <a:latin typeface="Cambria Math" panose="02040503050406030204" pitchFamily="18" charset="0"/>
                        <a:cs typeface="Arial" panose="020B0604020202020204" pitchFamily="34" charset="0"/>
                      </a:rPr>
                      <m:t>𝒙𝑮</m:t>
                    </m:r>
                    <m:d>
                      <m:dPr>
                        <m:ctrlPr>
                          <a:rPr lang="en-US" altLang="zh-CN" b="1" i="1">
                            <a:solidFill>
                              <a:srgbClr val="C00000"/>
                            </a:solidFill>
                            <a:latin typeface="Cambria Math" panose="02040503050406030204" pitchFamily="18" charset="0"/>
                            <a:cs typeface="Arial" panose="020B0604020202020204" pitchFamily="34" charset="0"/>
                          </a:rPr>
                        </m:ctrlPr>
                      </m:dPr>
                      <m:e>
                        <m:r>
                          <a:rPr lang="en-US" altLang="zh-CN" b="1">
                            <a:solidFill>
                              <a:srgbClr val="C00000"/>
                            </a:solidFill>
                            <a:latin typeface="Cambria Math" panose="02040503050406030204" pitchFamily="18" charset="0"/>
                            <a:cs typeface="Arial" panose="020B0604020202020204" pitchFamily="34" charset="0"/>
                          </a:rPr>
                          <m:t>𝒙</m:t>
                        </m:r>
                      </m:e>
                    </m:d>
                  </m:oMath>
                </a14:m>
                <a:r>
                  <a:rPr lang="zh-CN" altLang="en-US" b="1">
                    <a:solidFill>
                      <a:srgbClr val="C00000"/>
                    </a:solidFill>
                    <a:latin typeface="+mn-ea"/>
                    <a:cs typeface="Arial" panose="020B0604020202020204" pitchFamily="34" charset="0"/>
                  </a:rPr>
                  <a:t>为真</a:t>
                </a:r>
                <a:r>
                  <a:rPr lang="zh-CN" altLang="en-US" b="1">
                    <a:solidFill>
                      <a:schemeClr val="accent6">
                        <a:lumMod val="50000"/>
                      </a:schemeClr>
                    </a:solidFill>
                    <a:latin typeface="+mn-ea"/>
                    <a:cs typeface="Arial" panose="020B0604020202020204" pitchFamily="34" charset="0"/>
                  </a:rPr>
                  <a:t>，</a:t>
                </a:r>
                <a:r>
                  <a:rPr lang="en-US" altLang="zh-CN" b="1">
                    <a:solidFill>
                      <a:schemeClr val="accent6">
                        <a:lumMod val="50000"/>
                      </a:schemeClr>
                    </a:solidFill>
                    <a:latin typeface="+mn-ea"/>
                    <a:cs typeface="Arial" panose="020B0604020202020204" pitchFamily="34" charset="0"/>
                  </a:rPr>
                  <a:t>……</a:t>
                </a:r>
                <a:r>
                  <a:rPr lang="zh-CN" altLang="en-US" b="1">
                    <a:solidFill>
                      <a:schemeClr val="accent6">
                        <a:lumMod val="50000"/>
                      </a:schemeClr>
                    </a:solidFill>
                    <a:latin typeface="+mn-ea"/>
                    <a:cs typeface="Arial" panose="020B0604020202020204" pitchFamily="34" charset="0"/>
                  </a:rPr>
                  <a:t>即也有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𝑮</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e>
                    </m:d>
                  </m:oMath>
                </a14:m>
                <a:r>
                  <a:rPr lang="zh-CN" altLang="en-US" b="1">
                    <a:solidFill>
                      <a:schemeClr val="accent6">
                        <a:lumMod val="50000"/>
                      </a:schemeClr>
                    </a:solidFill>
                    <a:latin typeface="+mn-ea"/>
                    <a:cs typeface="Arial" panose="020B0604020202020204" pitchFamily="34" charset="0"/>
                  </a:rPr>
                  <a:t>为真</a:t>
                </a:r>
                <a:endParaRPr lang="en-US" altLang="zh-CN" b="1">
                  <a:solidFill>
                    <a:schemeClr val="accent6">
                      <a:lumMod val="50000"/>
                    </a:schemeClr>
                  </a:solidFill>
                  <a:latin typeface="+mn-ea"/>
                  <a:cs typeface="Arial" panose="020B0604020202020204" pitchFamily="34" charset="0"/>
                </a:endParaRPr>
              </a:p>
              <a:p>
                <a:pPr>
                  <a:lnSpc>
                    <a:spcPts val="2600"/>
                  </a:lnSpc>
                  <a:spcBef>
                    <a:spcPts val="600"/>
                  </a:spcBef>
                  <a:spcAft>
                    <a:spcPts val="300"/>
                  </a:spcAft>
                </a:pPr>
                <a:r>
                  <a:rPr lang="zh-CN" altLang="en-US" b="1">
                    <a:solidFill>
                      <a:schemeClr val="accent6">
                        <a:lumMod val="50000"/>
                      </a:schemeClr>
                    </a:solidFill>
                    <a:latin typeface="+mn-ea"/>
                    <a:cs typeface="Arial" panose="020B0604020202020204" pitchFamily="34" charset="0"/>
                  </a:rPr>
                  <a:t>综上，总有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oMath>
                </a14:m>
                <a:r>
                  <a:rPr lang="zh-CN" altLang="en-US" b="1">
                    <a:solidFill>
                      <a:schemeClr val="accent6">
                        <a:lumMod val="50000"/>
                      </a:schemeClr>
                    </a:solidFill>
                    <a:latin typeface="+mn-ea"/>
                    <a:cs typeface="Arial" panose="020B0604020202020204" pitchFamily="34" charset="0"/>
                  </a:rPr>
                  <a:t>为真。这就证明了公式</a:t>
                </a:r>
                <a14:m>
                  <m:oMath xmlns:m="http://schemas.openxmlformats.org/officeDocument/2006/math">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oMath>
                </a14:m>
                <a:r>
                  <a:rPr lang="zh-CN" altLang="en-US" b="1">
                    <a:solidFill>
                      <a:schemeClr val="accent6">
                        <a:lumMod val="50000"/>
                      </a:schemeClr>
                    </a:solidFill>
                    <a:latin typeface="+mn-ea"/>
                    <a:cs typeface="Arial" panose="020B0604020202020204" pitchFamily="34" charset="0"/>
                  </a:rPr>
                  <a:t>是永真式。</a:t>
                </a:r>
                <a:endParaRPr lang="en-US" altLang="zh-CN" b="1">
                  <a:solidFill>
                    <a:schemeClr val="accent6">
                      <a:lumMod val="50000"/>
                    </a:schemeClr>
                  </a:solidFill>
                  <a:latin typeface="+mn-ea"/>
                  <a:cs typeface="Arial" panose="020B0604020202020204" pitchFamily="34" charset="0"/>
                </a:endParaRPr>
              </a:p>
            </p:txBody>
          </p:sp>
        </mc:Choice>
        <mc:Fallback xmlns="">
          <p:sp>
            <p:nvSpPr>
              <p:cNvPr id="14" name="文本框 13">
                <a:extLst>
                  <a:ext uri="{FF2B5EF4-FFF2-40B4-BE49-F238E27FC236}">
                    <a16:creationId xmlns:a16="http://schemas.microsoft.com/office/drawing/2014/main" id="{7600E2DF-D2A2-4ADF-B07B-83399918A53F}"/>
                  </a:ext>
                </a:extLst>
              </p:cNvPr>
              <p:cNvSpPr txBox="1">
                <a:spLocks noRot="1" noChangeAspect="1" noMove="1" noResize="1" noEditPoints="1" noAdjustHandles="1" noChangeArrowheads="1" noChangeShapeType="1" noTextEdit="1"/>
              </p:cNvSpPr>
              <p:nvPr/>
            </p:nvSpPr>
            <p:spPr>
              <a:xfrm>
                <a:off x="933022" y="3651426"/>
                <a:ext cx="10227715" cy="2211311"/>
              </a:xfrm>
              <a:prstGeom prst="rect">
                <a:avLst/>
              </a:prstGeom>
              <a:blipFill>
                <a:blip r:embed="rId3"/>
                <a:stretch>
                  <a:fillRect l="-477" r="-2741" b="-27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819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一阶逻辑永真式证明举例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0A7D6AF-FFAC-42F3-A950-FB1BBF72B276}"/>
                  </a:ext>
                </a:extLst>
              </p:cNvPr>
              <p:cNvSpPr txBox="1"/>
              <p:nvPr/>
            </p:nvSpPr>
            <p:spPr>
              <a:xfrm>
                <a:off x="934221" y="2224156"/>
                <a:ext cx="10323555" cy="2878160"/>
              </a:xfrm>
              <a:prstGeom prst="rect">
                <a:avLst/>
              </a:prstGeom>
              <a:solidFill>
                <a:schemeClr val="accent5">
                  <a:lumMod val="20000"/>
                  <a:lumOff val="80000"/>
                  <a:alpha val="50000"/>
                </a:schemeClr>
              </a:solidFill>
            </p:spPr>
            <p:txBody>
              <a:bodyPr wrap="square" rtlCol="0">
                <a:spAutoFit/>
              </a:bodyPr>
              <a:lstStyle/>
              <a:p>
                <a:pPr algn="ctr">
                  <a:lnSpc>
                    <a:spcPts val="2600"/>
                  </a:lnSpc>
                  <a:spcBef>
                    <a:spcPts val="600"/>
                  </a:spcBef>
                  <a:spcAft>
                    <a:spcPts val="300"/>
                  </a:spcAft>
                </a:pPr>
                <a:r>
                  <a:rPr lang="en-US" altLang="zh-CN" b="1" dirty="0">
                    <a:solidFill>
                      <a:srgbClr val="C00000"/>
                    </a:solidFill>
                  </a:rPr>
                  <a:t>【</a:t>
                </a:r>
                <a:r>
                  <a:rPr lang="zh-CN" altLang="en-US" b="1" dirty="0">
                    <a:solidFill>
                      <a:srgbClr val="C00000"/>
                    </a:solidFill>
                  </a:rPr>
                  <a:t>证明</a:t>
                </a:r>
                <a:r>
                  <a:rPr lang="en-US" altLang="zh-CN" b="1" dirty="0">
                    <a:solidFill>
                      <a:srgbClr val="C00000"/>
                    </a:solidFill>
                  </a:rPr>
                  <a:t>】</a:t>
                </a:r>
              </a:p>
              <a:p>
                <a:pPr>
                  <a:lnSpc>
                    <a:spcPts val="2600"/>
                  </a:lnSpc>
                  <a:spcBef>
                    <a:spcPts val="600"/>
                  </a:spcBef>
                  <a:spcAft>
                    <a:spcPts val="300"/>
                  </a:spcAft>
                </a:pPr>
                <a:r>
                  <a:rPr lang="zh-CN" altLang="en-US" b="1" dirty="0">
                    <a:solidFill>
                      <a:schemeClr val="accent6">
                        <a:lumMod val="50000"/>
                      </a:schemeClr>
                    </a:solidFill>
                    <a:latin typeface="+mn-ea"/>
                    <a:cs typeface="Arial" panose="020B0604020202020204" pitchFamily="34" charset="0"/>
                  </a:rPr>
                  <a:t>对任意的解释，假设其论域是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dirty="0">
                    <a:solidFill>
                      <a:schemeClr val="accent6">
                        <a:lumMod val="50000"/>
                      </a:schemeClr>
                    </a:solidFill>
                    <a:latin typeface="+mn-ea"/>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oMath>
                </a14:m>
                <a:r>
                  <a:rPr lang="zh-CN" altLang="en-US" b="1" dirty="0">
                    <a:solidFill>
                      <a:schemeClr val="accent6">
                        <a:lumMod val="50000"/>
                      </a:schemeClr>
                    </a:solidFill>
                    <a:latin typeface="+mn-ea"/>
                    <a:cs typeface="Arial" panose="020B0604020202020204" pitchFamily="34" charset="0"/>
                  </a:rPr>
                  <a:t>为真，则可</a:t>
                </a:r>
                <a:r>
                  <a:rPr lang="zh-CN" altLang="en-US" b="1" dirty="0">
                    <a:solidFill>
                      <a:srgbClr val="C00000"/>
                    </a:solidFill>
                    <a:latin typeface="+mn-ea"/>
                    <a:cs typeface="Arial" panose="020B0604020202020204" pitchFamily="34" charset="0"/>
                  </a:rPr>
                  <a:t>分两种情况</a:t>
                </a:r>
                <a:r>
                  <a:rPr lang="zh-CN" altLang="en-US" b="1" dirty="0">
                    <a:solidFill>
                      <a:schemeClr val="accent6">
                        <a:lumMod val="50000"/>
                      </a:schemeClr>
                    </a:solidFill>
                    <a:latin typeface="+mn-ea"/>
                    <a:cs typeface="Arial" panose="020B0604020202020204" pitchFamily="34" charset="0"/>
                  </a:rPr>
                  <a:t>：</a:t>
                </a:r>
                <a:endParaRPr lang="en-US" altLang="zh-CN" b="1" dirty="0">
                  <a:solidFill>
                    <a:schemeClr val="accent6">
                      <a:lumMod val="50000"/>
                    </a:schemeClr>
                  </a:solidFill>
                  <a:latin typeface="+mn-ea"/>
                  <a:cs typeface="Arial" panose="020B0604020202020204" pitchFamily="34" charset="0"/>
                </a:endParaRPr>
              </a:p>
              <a:p>
                <a:pPr marL="342900" indent="-342900">
                  <a:lnSpc>
                    <a:spcPts val="2600"/>
                  </a:lnSpc>
                  <a:spcBef>
                    <a:spcPts val="600"/>
                  </a:spcBef>
                  <a:spcAft>
                    <a:spcPts val="300"/>
                  </a:spcAft>
                  <a:buAutoNum type="arabicPeriod"/>
                </a:pPr>
                <a:r>
                  <a:rPr lang="zh-CN" altLang="en-US" b="1" dirty="0">
                    <a:solidFill>
                      <a:srgbClr val="C00000"/>
                    </a:solidFill>
                    <a:latin typeface="+mn-ea"/>
                    <a:cs typeface="Arial" panose="020B0604020202020204" pitchFamily="34" charset="0"/>
                  </a:rPr>
                  <a:t>若</a:t>
                </a:r>
                <a14:m>
                  <m:oMath xmlns:m="http://schemas.openxmlformats.org/officeDocument/2006/math">
                    <m:r>
                      <a:rPr lang="en-US" altLang="zh-CN" b="1">
                        <a:solidFill>
                          <a:srgbClr val="C00000"/>
                        </a:solidFill>
                        <a:latin typeface="Cambria Math" panose="02040503050406030204" pitchFamily="18" charset="0"/>
                        <a:cs typeface="Arial" panose="020B0604020202020204" pitchFamily="34" charset="0"/>
                      </a:rPr>
                      <m:t>∀</m:t>
                    </m:r>
                    <m:r>
                      <a:rPr lang="en-US" altLang="zh-CN" b="1">
                        <a:solidFill>
                          <a:srgbClr val="C00000"/>
                        </a:solidFill>
                        <a:latin typeface="Cambria Math" panose="02040503050406030204" pitchFamily="18" charset="0"/>
                        <a:cs typeface="Arial" panose="020B0604020202020204" pitchFamily="34" charset="0"/>
                      </a:rPr>
                      <m:t>𝒙𝑭</m:t>
                    </m:r>
                    <m:d>
                      <m:dPr>
                        <m:ctrlPr>
                          <a:rPr lang="en-US" altLang="zh-CN" b="1" i="1">
                            <a:solidFill>
                              <a:srgbClr val="C00000"/>
                            </a:solidFill>
                            <a:latin typeface="Cambria Math" panose="02040503050406030204" pitchFamily="18" charset="0"/>
                            <a:cs typeface="Arial" panose="020B0604020202020204" pitchFamily="34" charset="0"/>
                          </a:rPr>
                        </m:ctrlPr>
                      </m:dPr>
                      <m:e>
                        <m:r>
                          <a:rPr lang="en-US" altLang="zh-CN" b="1">
                            <a:solidFill>
                              <a:srgbClr val="C00000"/>
                            </a:solidFill>
                            <a:latin typeface="Cambria Math" panose="02040503050406030204" pitchFamily="18" charset="0"/>
                            <a:cs typeface="Arial" panose="020B0604020202020204" pitchFamily="34" charset="0"/>
                          </a:rPr>
                          <m:t>𝒙</m:t>
                        </m:r>
                      </m:e>
                    </m:d>
                  </m:oMath>
                </a14:m>
                <a:r>
                  <a:rPr lang="zh-CN" altLang="en-US" b="1" dirty="0">
                    <a:solidFill>
                      <a:srgbClr val="C00000"/>
                    </a:solidFill>
                    <a:latin typeface="+mn-ea"/>
                    <a:cs typeface="Arial" panose="020B0604020202020204" pitchFamily="34" charset="0"/>
                  </a:rPr>
                  <a:t>为真</a:t>
                </a:r>
                <a:r>
                  <a:rPr lang="zh-CN" altLang="en-US" b="1" dirty="0">
                    <a:solidFill>
                      <a:schemeClr val="accent6">
                        <a:lumMod val="50000"/>
                      </a:schemeClr>
                    </a:solidFill>
                    <a:latin typeface="+mn-ea"/>
                    <a:cs typeface="Arial" panose="020B0604020202020204" pitchFamily="34" charset="0"/>
                  </a:rPr>
                  <a:t>，即对论域</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dirty="0">
                    <a:solidFill>
                      <a:schemeClr val="accent6">
                        <a:lumMod val="50000"/>
                      </a:schemeClr>
                    </a:solidFill>
                    <a:latin typeface="+mn-ea"/>
                    <a:cs typeface="Arial" panose="020B0604020202020204" pitchFamily="34" charset="0"/>
                  </a:rPr>
                  <a:t>的任意元素</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oMath>
                </a14:m>
                <a:r>
                  <a:rPr lang="zh-CN" altLang="en-US" b="1" dirty="0">
                    <a:solidFill>
                      <a:schemeClr val="accent6">
                        <a:lumMod val="50000"/>
                      </a:schemeClr>
                    </a:solidFill>
                    <a:latin typeface="+mn-ea"/>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oMath>
                </a14:m>
                <a:r>
                  <a:rPr lang="zh-CN" altLang="en-US" b="1" dirty="0">
                    <a:solidFill>
                      <a:schemeClr val="accent6">
                        <a:lumMod val="50000"/>
                      </a:schemeClr>
                    </a:solidFill>
                    <a:latin typeface="+mn-ea"/>
                    <a:cs typeface="Arial" panose="020B0604020202020204" pitchFamily="34" charset="0"/>
                  </a:rPr>
                  <a:t>为真，从而对论域</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dirty="0">
                    <a:solidFill>
                      <a:schemeClr val="accent6">
                        <a:lumMod val="50000"/>
                      </a:schemeClr>
                    </a:solidFill>
                    <a:latin typeface="+mn-ea"/>
                    <a:cs typeface="Arial" panose="020B0604020202020204" pitchFamily="34" charset="0"/>
                  </a:rPr>
                  <a:t>的任意元素</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oMath>
                </a14:m>
                <a:r>
                  <a:rPr lang="zh-CN" altLang="en-US" b="1" dirty="0">
                    <a:solidFill>
                      <a:schemeClr val="accent6">
                        <a:lumMod val="50000"/>
                      </a:schemeClr>
                    </a:solidFill>
                    <a:latin typeface="+mn-ea"/>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𝒅</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𝒅</m:t>
                        </m:r>
                      </m:e>
                    </m:d>
                  </m:oMath>
                </a14:m>
                <a:r>
                  <a:rPr lang="zh-CN" altLang="en-US" b="1" dirty="0">
                    <a:solidFill>
                      <a:schemeClr val="accent6">
                        <a:lumMod val="50000"/>
                      </a:schemeClr>
                    </a:solidFill>
                    <a:latin typeface="+mn-ea"/>
                    <a:cs typeface="Arial" panose="020B0604020202020204" pitchFamily="34" charset="0"/>
                  </a:rPr>
                  <a:t>为真，即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oMath>
                </a14:m>
                <a:r>
                  <a:rPr lang="zh-CN" altLang="en-US" b="1" dirty="0">
                    <a:solidFill>
                      <a:schemeClr val="accent6">
                        <a:lumMod val="50000"/>
                      </a:schemeClr>
                    </a:solidFill>
                    <a:latin typeface="+mn-ea"/>
                    <a:cs typeface="Arial" panose="020B0604020202020204" pitchFamily="34" charset="0"/>
                  </a:rPr>
                  <a:t>为真</a:t>
                </a:r>
                <a:endParaRPr lang="en-US" altLang="zh-CN" b="1" dirty="0">
                  <a:solidFill>
                    <a:schemeClr val="accent6">
                      <a:lumMod val="50000"/>
                    </a:schemeClr>
                  </a:solidFill>
                  <a:latin typeface="+mn-ea"/>
                  <a:cs typeface="Arial" panose="020B0604020202020204" pitchFamily="34" charset="0"/>
                </a:endParaRPr>
              </a:p>
              <a:p>
                <a:pPr marL="342900" indent="-342900">
                  <a:lnSpc>
                    <a:spcPts val="2600"/>
                  </a:lnSpc>
                  <a:spcBef>
                    <a:spcPts val="600"/>
                  </a:spcBef>
                  <a:spcAft>
                    <a:spcPts val="300"/>
                  </a:spcAft>
                  <a:buFontTx/>
                  <a:buAutoNum type="arabicPeriod"/>
                </a:pPr>
                <a:r>
                  <a:rPr lang="zh-CN" altLang="en-US" b="1" dirty="0">
                    <a:solidFill>
                      <a:srgbClr val="C00000"/>
                    </a:solidFill>
                    <a:latin typeface="+mn-ea"/>
                    <a:cs typeface="Arial" panose="020B0604020202020204" pitchFamily="34" charset="0"/>
                  </a:rPr>
                  <a:t>若</a:t>
                </a:r>
                <a14:m>
                  <m:oMath xmlns:m="http://schemas.openxmlformats.org/officeDocument/2006/math">
                    <m:r>
                      <a:rPr lang="en-US" altLang="zh-CN" b="1">
                        <a:solidFill>
                          <a:srgbClr val="C00000"/>
                        </a:solidFill>
                        <a:latin typeface="Cambria Math" panose="02040503050406030204" pitchFamily="18" charset="0"/>
                        <a:cs typeface="Arial" panose="020B0604020202020204" pitchFamily="34" charset="0"/>
                      </a:rPr>
                      <m:t>∀</m:t>
                    </m:r>
                    <m:r>
                      <a:rPr lang="en-US" altLang="zh-CN" b="1">
                        <a:solidFill>
                          <a:srgbClr val="C00000"/>
                        </a:solidFill>
                        <a:latin typeface="Cambria Math" panose="02040503050406030204" pitchFamily="18" charset="0"/>
                        <a:cs typeface="Arial" panose="020B0604020202020204" pitchFamily="34" charset="0"/>
                      </a:rPr>
                      <m:t>𝒙𝑮</m:t>
                    </m:r>
                    <m:d>
                      <m:dPr>
                        <m:ctrlPr>
                          <a:rPr lang="en-US" altLang="zh-CN" b="1" i="1">
                            <a:solidFill>
                              <a:srgbClr val="C00000"/>
                            </a:solidFill>
                            <a:latin typeface="Cambria Math" panose="02040503050406030204" pitchFamily="18" charset="0"/>
                            <a:cs typeface="Arial" panose="020B0604020202020204" pitchFamily="34" charset="0"/>
                          </a:rPr>
                        </m:ctrlPr>
                      </m:dPr>
                      <m:e>
                        <m:r>
                          <a:rPr lang="en-US" altLang="zh-CN" b="1">
                            <a:solidFill>
                              <a:srgbClr val="C00000"/>
                            </a:solidFill>
                            <a:latin typeface="Cambria Math" panose="02040503050406030204" pitchFamily="18" charset="0"/>
                            <a:cs typeface="Arial" panose="020B0604020202020204" pitchFamily="34" charset="0"/>
                          </a:rPr>
                          <m:t>𝒙</m:t>
                        </m:r>
                      </m:e>
                    </m:d>
                  </m:oMath>
                </a14:m>
                <a:r>
                  <a:rPr lang="zh-CN" altLang="en-US" b="1" dirty="0">
                    <a:solidFill>
                      <a:srgbClr val="C00000"/>
                    </a:solidFill>
                    <a:latin typeface="+mn-ea"/>
                    <a:cs typeface="Arial" panose="020B0604020202020204" pitchFamily="34" charset="0"/>
                  </a:rPr>
                  <a:t>为真</a:t>
                </a:r>
                <a:r>
                  <a:rPr lang="zh-CN" altLang="en-US" b="1" dirty="0">
                    <a:solidFill>
                      <a:schemeClr val="accent6">
                        <a:lumMod val="50000"/>
                      </a:schemeClr>
                    </a:solidFill>
                    <a:latin typeface="+mn-ea"/>
                    <a:cs typeface="Arial" panose="020B0604020202020204" pitchFamily="34" charset="0"/>
                  </a:rPr>
                  <a:t>，即对论域</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dirty="0">
                    <a:solidFill>
                      <a:schemeClr val="accent6">
                        <a:lumMod val="50000"/>
                      </a:schemeClr>
                    </a:solidFill>
                    <a:latin typeface="+mn-ea"/>
                    <a:cs typeface="Arial" panose="020B0604020202020204" pitchFamily="34" charset="0"/>
                  </a:rPr>
                  <a:t>的任意元素</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oMath>
                </a14:m>
                <a:r>
                  <a:rPr lang="zh-CN" altLang="en-US" b="1" dirty="0">
                    <a:solidFill>
                      <a:schemeClr val="accent6">
                        <a:lumMod val="50000"/>
                      </a:schemeClr>
                    </a:solidFill>
                    <a:latin typeface="+mn-ea"/>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r>
                      <a:rPr lang="en-US" altLang="zh-CN" b="1" i="1">
                        <a:solidFill>
                          <a:schemeClr val="accent6">
                            <a:lumMod val="50000"/>
                          </a:schemeClr>
                        </a:solidFill>
                        <a:latin typeface="Cambria Math" panose="02040503050406030204" pitchFamily="18" charset="0"/>
                      </a:rPr>
                      <m:t>)</m:t>
                    </m:r>
                  </m:oMath>
                </a14:m>
                <a:r>
                  <a:rPr lang="zh-CN" altLang="en-US" b="1" dirty="0">
                    <a:solidFill>
                      <a:schemeClr val="accent6">
                        <a:lumMod val="50000"/>
                      </a:schemeClr>
                    </a:solidFill>
                    <a:latin typeface="+mn-ea"/>
                    <a:cs typeface="Arial" panose="020B0604020202020204" pitchFamily="34" charset="0"/>
                  </a:rPr>
                  <a:t>为真，从而对论域</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dirty="0">
                    <a:solidFill>
                      <a:schemeClr val="accent6">
                        <a:lumMod val="50000"/>
                      </a:schemeClr>
                    </a:solidFill>
                    <a:latin typeface="+mn-ea"/>
                    <a:cs typeface="Arial" panose="020B0604020202020204" pitchFamily="34" charset="0"/>
                  </a:rPr>
                  <a:t>的任意元素</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oMath>
                </a14:m>
                <a:r>
                  <a:rPr lang="zh-CN" altLang="en-US" b="1" dirty="0">
                    <a:solidFill>
                      <a:schemeClr val="accent6">
                        <a:lumMod val="50000"/>
                      </a:schemeClr>
                    </a:solidFill>
                    <a:latin typeface="+mn-ea"/>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𝒅</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𝒅</m:t>
                        </m:r>
                      </m:e>
                    </m:d>
                  </m:oMath>
                </a14:m>
                <a:r>
                  <a:rPr lang="zh-CN" altLang="en-US" b="1" dirty="0">
                    <a:solidFill>
                      <a:schemeClr val="accent6">
                        <a:lumMod val="50000"/>
                      </a:schemeClr>
                    </a:solidFill>
                    <a:latin typeface="+mn-ea"/>
                    <a:cs typeface="Arial" panose="020B0604020202020204" pitchFamily="34" charset="0"/>
                  </a:rPr>
                  <a:t>为真，即也有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𝑮</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e>
                    </m:d>
                  </m:oMath>
                </a14:m>
                <a:r>
                  <a:rPr lang="zh-CN" altLang="en-US" b="1" dirty="0">
                    <a:solidFill>
                      <a:schemeClr val="accent6">
                        <a:lumMod val="50000"/>
                      </a:schemeClr>
                    </a:solidFill>
                    <a:latin typeface="+mn-ea"/>
                    <a:cs typeface="Arial" panose="020B0604020202020204" pitchFamily="34" charset="0"/>
                  </a:rPr>
                  <a:t>为真</a:t>
                </a:r>
                <a:endParaRPr lang="en-US" altLang="zh-CN" b="1" dirty="0">
                  <a:solidFill>
                    <a:schemeClr val="accent6">
                      <a:lumMod val="50000"/>
                    </a:schemeClr>
                  </a:solidFill>
                  <a:latin typeface="+mn-ea"/>
                  <a:cs typeface="Arial" panose="020B0604020202020204" pitchFamily="34" charset="0"/>
                </a:endParaRPr>
              </a:p>
              <a:p>
                <a:pPr>
                  <a:lnSpc>
                    <a:spcPts val="2600"/>
                  </a:lnSpc>
                  <a:spcBef>
                    <a:spcPts val="600"/>
                  </a:spcBef>
                  <a:spcAft>
                    <a:spcPts val="300"/>
                  </a:spcAft>
                </a:pPr>
                <a:r>
                  <a:rPr lang="zh-CN" altLang="en-US" b="1" dirty="0">
                    <a:solidFill>
                      <a:schemeClr val="accent6">
                        <a:lumMod val="50000"/>
                      </a:schemeClr>
                    </a:solidFill>
                    <a:latin typeface="+mn-ea"/>
                    <a:cs typeface="Arial" panose="020B0604020202020204" pitchFamily="34" charset="0"/>
                  </a:rPr>
                  <a:t>综上，总有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oMath>
                </a14:m>
                <a:r>
                  <a:rPr lang="zh-CN" altLang="en-US" b="1" dirty="0">
                    <a:solidFill>
                      <a:schemeClr val="accent6">
                        <a:lumMod val="50000"/>
                      </a:schemeClr>
                    </a:solidFill>
                    <a:latin typeface="+mn-ea"/>
                    <a:cs typeface="Arial" panose="020B0604020202020204" pitchFamily="34" charset="0"/>
                  </a:rPr>
                  <a:t>为真。这就证明了公式</a:t>
                </a:r>
                <a14:m>
                  <m:oMath xmlns:m="http://schemas.openxmlformats.org/officeDocument/2006/math">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oMath>
                </a14:m>
                <a:r>
                  <a:rPr lang="zh-CN" altLang="en-US" b="1" dirty="0">
                    <a:solidFill>
                      <a:schemeClr val="accent6">
                        <a:lumMod val="50000"/>
                      </a:schemeClr>
                    </a:solidFill>
                    <a:latin typeface="+mn-ea"/>
                    <a:cs typeface="Arial" panose="020B0604020202020204" pitchFamily="34" charset="0"/>
                  </a:rPr>
                  <a:t>是永真式。</a:t>
                </a:r>
                <a:endParaRPr lang="en-US" altLang="zh-CN" b="1" dirty="0">
                  <a:solidFill>
                    <a:schemeClr val="accent6">
                      <a:lumMod val="50000"/>
                    </a:schemeClr>
                  </a:solidFill>
                  <a:latin typeface="+mn-ea"/>
                  <a:cs typeface="Arial" panose="020B0604020202020204" pitchFamily="34" charset="0"/>
                </a:endParaRPr>
              </a:p>
            </p:txBody>
          </p:sp>
        </mc:Choice>
        <mc:Fallback xmlns="">
          <p:sp>
            <p:nvSpPr>
              <p:cNvPr id="3" name="文本框 2">
                <a:extLst>
                  <a:ext uri="{FF2B5EF4-FFF2-40B4-BE49-F238E27FC236}">
                    <a16:creationId xmlns:a16="http://schemas.microsoft.com/office/drawing/2014/main" id="{E0A7D6AF-FFAC-42F3-A950-FB1BBF72B276}"/>
                  </a:ext>
                </a:extLst>
              </p:cNvPr>
              <p:cNvSpPr txBox="1">
                <a:spLocks noRot="1" noChangeAspect="1" noMove="1" noResize="1" noEditPoints="1" noAdjustHandles="1" noChangeArrowheads="1" noChangeShapeType="1" noTextEdit="1"/>
              </p:cNvSpPr>
              <p:nvPr/>
            </p:nvSpPr>
            <p:spPr>
              <a:xfrm>
                <a:off x="934221" y="2224156"/>
                <a:ext cx="10323555" cy="2878160"/>
              </a:xfrm>
              <a:prstGeom prst="rect">
                <a:avLst/>
              </a:prstGeom>
              <a:blipFill>
                <a:blip r:embed="rId2"/>
                <a:stretch>
                  <a:fillRect l="-472" r="-2656" b="-2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1E2CE94-ED77-4FC2-84A7-05FBAFEBDE4F}"/>
                  </a:ext>
                </a:extLst>
              </p:cNvPr>
              <p:cNvSpPr txBox="1"/>
              <p:nvPr/>
            </p:nvSpPr>
            <p:spPr>
              <a:xfrm>
                <a:off x="933024" y="5216445"/>
                <a:ext cx="10323555" cy="782394"/>
              </a:xfrm>
              <a:prstGeom prst="rect">
                <a:avLst/>
              </a:prstGeom>
              <a:solidFill>
                <a:schemeClr val="accent2">
                  <a:lumMod val="20000"/>
                  <a:lumOff val="80000"/>
                  <a:alpha val="50000"/>
                </a:schemeClr>
              </a:solidFill>
            </p:spPr>
            <p:txBody>
              <a:bodyPr wrap="square" rtlCol="0">
                <a:spAutoFit/>
              </a:bodyPr>
              <a:lstStyle/>
              <a:p>
                <a:pPr>
                  <a:lnSpc>
                    <a:spcPts val="2800"/>
                  </a:lnSpc>
                </a:pPr>
                <a:r>
                  <a:rPr lang="zh-CN" altLang="en-US" b="1">
                    <a:solidFill>
                      <a:schemeClr val="accent2">
                        <a:lumMod val="50000"/>
                      </a:schemeClr>
                    </a:solidFill>
                    <a:latin typeface="+mn-ea"/>
                  </a:rPr>
                  <a:t>从“</a:t>
                </a:r>
                <a:r>
                  <a:rPr lang="zh-CN" altLang="en-US" b="1">
                    <a:solidFill>
                      <a:schemeClr val="accent6">
                        <a:lumMod val="50000"/>
                      </a:schemeClr>
                    </a:solidFill>
                    <a:latin typeface="+mn-ea"/>
                    <a:cs typeface="Arial" panose="020B0604020202020204" pitchFamily="34" charset="0"/>
                  </a:rPr>
                  <a:t>对论域</a:t>
                </a:r>
                <a14:m>
                  <m:oMath xmlns:m="http://schemas.openxmlformats.org/officeDocument/2006/math">
                    <m:r>
                      <a:rPr lang="en-US" altLang="zh-CN" b="1" i="1">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mn-ea"/>
                    <a:cs typeface="Arial" panose="020B0604020202020204" pitchFamily="34" charset="0"/>
                  </a:rPr>
                  <a:t>的任意元素</a:t>
                </a:r>
                <a14:m>
                  <m:oMath xmlns:m="http://schemas.openxmlformats.org/officeDocument/2006/math">
                    <m:r>
                      <a:rPr lang="en-US" altLang="zh-CN" b="1" i="1">
                        <a:solidFill>
                          <a:schemeClr val="accent6">
                            <a:lumMod val="50000"/>
                          </a:schemeClr>
                        </a:solidFill>
                        <a:latin typeface="Cambria Math" panose="02040503050406030204" pitchFamily="18" charset="0"/>
                      </a:rPr>
                      <m:t>𝒅</m:t>
                    </m:r>
                  </m:oMath>
                </a14:m>
                <a:r>
                  <a:rPr lang="zh-CN" altLang="en-US" b="1">
                    <a:solidFill>
                      <a:schemeClr val="accent6">
                        <a:lumMod val="50000"/>
                      </a:schemeClr>
                    </a:solidFill>
                    <a:latin typeface="+mn-ea"/>
                    <a:cs typeface="Arial" panose="020B0604020202020204" pitchFamily="34" charset="0"/>
                  </a:rPr>
                  <a:t>有</a:t>
                </a:r>
                <a14:m>
                  <m:oMath xmlns:m="http://schemas.openxmlformats.org/officeDocument/2006/math">
                    <m:r>
                      <a:rPr lang="en-US" altLang="zh-CN" b="1" i="1">
                        <a:solidFill>
                          <a:schemeClr val="accent6">
                            <a:lumMod val="50000"/>
                          </a:schemeClr>
                        </a:solidFill>
                        <a:latin typeface="Cambria Math" panose="02040503050406030204" pitchFamily="18" charset="0"/>
                      </a:rPr>
                      <m:t>𝑭</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r>
                      <a:rPr lang="en-US" altLang="zh-CN" b="1" i="1">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mn-ea"/>
                    <a:cs typeface="Arial" panose="020B0604020202020204" pitchFamily="34" charset="0"/>
                  </a:rPr>
                  <a:t>为真</a:t>
                </a:r>
                <a:r>
                  <a:rPr lang="zh-CN" altLang="en-US" b="1">
                    <a:solidFill>
                      <a:schemeClr val="accent2">
                        <a:lumMod val="50000"/>
                      </a:schemeClr>
                    </a:solidFill>
                    <a:latin typeface="+mn-ea"/>
                  </a:rPr>
                  <a:t>”推出“</a:t>
                </a:r>
                <a:r>
                  <a:rPr lang="zh-CN" altLang="en-US" b="1">
                    <a:solidFill>
                      <a:schemeClr val="accent6">
                        <a:lumMod val="50000"/>
                      </a:schemeClr>
                    </a:solidFill>
                    <a:latin typeface="+mn-ea"/>
                    <a:cs typeface="Arial" panose="020B0604020202020204" pitchFamily="34" charset="0"/>
                  </a:rPr>
                  <a:t>对论域</a:t>
                </a:r>
                <a14:m>
                  <m:oMath xmlns:m="http://schemas.openxmlformats.org/officeDocument/2006/math">
                    <m:r>
                      <a:rPr lang="en-US" altLang="zh-CN" b="1">
                        <a:solidFill>
                          <a:schemeClr val="accent6">
                            <a:lumMod val="50000"/>
                          </a:schemeClr>
                        </a:solidFill>
                        <a:latin typeface="Cambria Math" panose="02040503050406030204" pitchFamily="18" charset="0"/>
                        <a:cs typeface="Arial" panose="020B0604020202020204" pitchFamily="34" charset="0"/>
                      </a:rPr>
                      <m:t>𝑫</m:t>
                    </m:r>
                  </m:oMath>
                </a14:m>
                <a:r>
                  <a:rPr lang="zh-CN" altLang="en-US" b="1">
                    <a:solidFill>
                      <a:schemeClr val="accent6">
                        <a:lumMod val="50000"/>
                      </a:schemeClr>
                    </a:solidFill>
                    <a:latin typeface="+mn-ea"/>
                    <a:cs typeface="Arial" panose="020B0604020202020204" pitchFamily="34" charset="0"/>
                  </a:rPr>
                  <a:t>的任意元素</a:t>
                </a:r>
                <a14:m>
                  <m:oMath xmlns:m="http://schemas.openxmlformats.org/officeDocument/2006/math">
                    <m:r>
                      <a:rPr lang="en-US" altLang="zh-CN" b="1">
                        <a:solidFill>
                          <a:schemeClr val="accent6">
                            <a:lumMod val="50000"/>
                          </a:schemeClr>
                        </a:solidFill>
                        <a:latin typeface="Cambria Math" panose="02040503050406030204" pitchFamily="18" charset="0"/>
                        <a:cs typeface="Arial" panose="020B0604020202020204" pitchFamily="34" charset="0"/>
                      </a:rPr>
                      <m:t>𝒅</m:t>
                    </m:r>
                  </m:oMath>
                </a14:m>
                <a:r>
                  <a:rPr lang="zh-CN" altLang="en-US" b="1">
                    <a:solidFill>
                      <a:schemeClr val="accent6">
                        <a:lumMod val="50000"/>
                      </a:schemeClr>
                    </a:solidFill>
                    <a:latin typeface="+mn-ea"/>
                    <a:cs typeface="Arial" panose="020B0604020202020204" pitchFamily="34" charset="0"/>
                  </a:rPr>
                  <a:t>有</a:t>
                </a:r>
                <a14:m>
                  <m:oMath xmlns:m="http://schemas.openxmlformats.org/officeDocument/2006/math">
                    <m:r>
                      <a:rPr lang="en-US" altLang="zh-CN" b="1">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a:solidFill>
                              <a:schemeClr val="accent6">
                                <a:lumMod val="50000"/>
                              </a:schemeClr>
                            </a:solidFill>
                            <a:latin typeface="Cambria Math" panose="02040503050406030204" pitchFamily="18" charset="0"/>
                            <a:cs typeface="Arial" panose="020B0604020202020204" pitchFamily="34" charset="0"/>
                          </a:rPr>
                        </m:ctrlPr>
                      </m:dPr>
                      <m:e>
                        <m:r>
                          <a:rPr lang="en-US" altLang="zh-CN" b="1">
                            <a:solidFill>
                              <a:schemeClr val="accent6">
                                <a:lumMod val="50000"/>
                              </a:schemeClr>
                            </a:solidFill>
                            <a:latin typeface="Cambria Math" panose="02040503050406030204" pitchFamily="18" charset="0"/>
                            <a:cs typeface="Arial" panose="020B0604020202020204" pitchFamily="34" charset="0"/>
                          </a:rPr>
                          <m:t>𝒅</m:t>
                        </m:r>
                      </m:e>
                    </m:d>
                    <m:r>
                      <a:rPr lang="en-US" altLang="zh-CN" b="1">
                        <a:solidFill>
                          <a:schemeClr val="accent6">
                            <a:lumMod val="50000"/>
                          </a:schemeClr>
                        </a:solidFill>
                        <a:latin typeface="Cambria Math" panose="02040503050406030204" pitchFamily="18" charset="0"/>
                        <a:cs typeface="Arial" panose="020B0604020202020204" pitchFamily="34" charset="0"/>
                      </a:rPr>
                      <m:t>∨</m:t>
                    </m:r>
                    <m:r>
                      <a:rPr lang="en-US" altLang="zh-CN" b="1">
                        <a:solidFill>
                          <a:schemeClr val="accent6">
                            <a:lumMod val="50000"/>
                          </a:schemeClr>
                        </a:solidFill>
                        <a:latin typeface="Cambria Math" panose="02040503050406030204" pitchFamily="18" charset="0"/>
                        <a:cs typeface="Arial" panose="020B0604020202020204" pitchFamily="34" charset="0"/>
                      </a:rPr>
                      <m:t>𝑮</m:t>
                    </m:r>
                    <m:r>
                      <a:rPr lang="en-US" altLang="zh-CN" b="1">
                        <a:solidFill>
                          <a:schemeClr val="accent6">
                            <a:lumMod val="50000"/>
                          </a:schemeClr>
                        </a:solidFill>
                        <a:latin typeface="Cambria Math" panose="02040503050406030204" pitchFamily="18" charset="0"/>
                        <a:cs typeface="Arial" panose="020B0604020202020204" pitchFamily="34" charset="0"/>
                      </a:rPr>
                      <m:t>(</m:t>
                    </m:r>
                    <m:r>
                      <a:rPr lang="en-US" altLang="zh-CN" b="1">
                        <a:solidFill>
                          <a:schemeClr val="accent6">
                            <a:lumMod val="50000"/>
                          </a:schemeClr>
                        </a:solidFill>
                        <a:latin typeface="Cambria Math" panose="02040503050406030204" pitchFamily="18" charset="0"/>
                        <a:cs typeface="Arial" panose="020B0604020202020204" pitchFamily="34" charset="0"/>
                      </a:rPr>
                      <m:t>𝒅</m:t>
                    </m:r>
                    <m:r>
                      <a:rPr lang="en-US" altLang="zh-CN" b="1">
                        <a:solidFill>
                          <a:schemeClr val="accent6">
                            <a:lumMod val="50000"/>
                          </a:schemeClr>
                        </a:solidFill>
                        <a:latin typeface="Cambria Math" panose="02040503050406030204" pitchFamily="18" charset="0"/>
                        <a:cs typeface="Arial" panose="020B0604020202020204" pitchFamily="34" charset="0"/>
                      </a:rPr>
                      <m:t>)</m:t>
                    </m:r>
                  </m:oMath>
                </a14:m>
                <a:r>
                  <a:rPr lang="zh-CN" altLang="en-US" b="1">
                    <a:solidFill>
                      <a:schemeClr val="accent6">
                        <a:lumMod val="50000"/>
                      </a:schemeClr>
                    </a:solidFill>
                    <a:latin typeface="+mn-ea"/>
                    <a:cs typeface="Arial" panose="020B0604020202020204" pitchFamily="34" charset="0"/>
                  </a:rPr>
                  <a:t>为真</a:t>
                </a:r>
                <a:r>
                  <a:rPr lang="zh-CN" altLang="en-US" b="1">
                    <a:solidFill>
                      <a:schemeClr val="accent2">
                        <a:lumMod val="50000"/>
                      </a:schemeClr>
                    </a:solidFill>
                    <a:latin typeface="+mn-ea"/>
                  </a:rPr>
                  <a:t>”应用了命题逻辑推理的什么推理规则？</a:t>
                </a:r>
              </a:p>
            </p:txBody>
          </p:sp>
        </mc:Choice>
        <mc:Fallback xmlns="">
          <p:sp>
            <p:nvSpPr>
              <p:cNvPr id="6" name="文本框 5">
                <a:extLst>
                  <a:ext uri="{FF2B5EF4-FFF2-40B4-BE49-F238E27FC236}">
                    <a16:creationId xmlns:a16="http://schemas.microsoft.com/office/drawing/2014/main" id="{71E2CE94-ED77-4FC2-84A7-05FBAFEBDE4F}"/>
                  </a:ext>
                </a:extLst>
              </p:cNvPr>
              <p:cNvSpPr txBox="1">
                <a:spLocks noRot="1" noChangeAspect="1" noMove="1" noResize="1" noEditPoints="1" noAdjustHandles="1" noChangeArrowheads="1" noChangeShapeType="1" noTextEdit="1"/>
              </p:cNvSpPr>
              <p:nvPr/>
            </p:nvSpPr>
            <p:spPr>
              <a:xfrm>
                <a:off x="933024" y="5216445"/>
                <a:ext cx="10323555" cy="782394"/>
              </a:xfrm>
              <a:prstGeom prst="rect">
                <a:avLst/>
              </a:prstGeom>
              <a:blipFill>
                <a:blip r:embed="rId3"/>
                <a:stretch>
                  <a:fillRect l="-472" b="-117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3F38702-615C-4FEF-94D8-2048F6946917}"/>
                  </a:ext>
                </a:extLst>
              </p:cNvPr>
              <p:cNvSpPr txBox="1"/>
              <p:nvPr/>
            </p:nvSpPr>
            <p:spPr>
              <a:xfrm>
                <a:off x="933024" y="1443512"/>
                <a:ext cx="9453185" cy="645048"/>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根据定义证明公式</a:t>
                </a:r>
                <a14:m>
                  <m:oMath xmlns:m="http://schemas.openxmlformats.org/officeDocument/2006/math">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e>
                        </m:d>
                      </m:e>
                    </m:d>
                  </m:oMath>
                </a14:m>
                <a:r>
                  <a:rPr lang="zh-CN" altLang="en-US" sz="2400" b="1">
                    <a:solidFill>
                      <a:srgbClr val="002060"/>
                    </a:solidFill>
                    <a:latin typeface="楷体" panose="02010609060101010101" pitchFamily="49" charset="-122"/>
                    <a:ea typeface="楷体" panose="02010609060101010101" pitchFamily="49" charset="-122"/>
                  </a:rPr>
                  <a:t>是永真式</a:t>
                </a:r>
              </a:p>
            </p:txBody>
          </p:sp>
        </mc:Choice>
        <mc:Fallback xmlns="">
          <p:sp>
            <p:nvSpPr>
              <p:cNvPr id="14" name="文本框 13">
                <a:extLst>
                  <a:ext uri="{FF2B5EF4-FFF2-40B4-BE49-F238E27FC236}">
                    <a16:creationId xmlns:a16="http://schemas.microsoft.com/office/drawing/2014/main" id="{E3F38702-615C-4FEF-94D8-2048F6946917}"/>
                  </a:ext>
                </a:extLst>
              </p:cNvPr>
              <p:cNvSpPr txBox="1">
                <a:spLocks noRot="1" noChangeAspect="1" noMove="1" noResize="1" noEditPoints="1" noAdjustHandles="1" noChangeArrowheads="1" noChangeShapeType="1" noTextEdit="1"/>
              </p:cNvSpPr>
              <p:nvPr/>
            </p:nvSpPr>
            <p:spPr>
              <a:xfrm>
                <a:off x="933024" y="1443512"/>
                <a:ext cx="9453185" cy="645048"/>
              </a:xfrm>
              <a:prstGeom prst="rect">
                <a:avLst/>
              </a:prstGeom>
              <a:blipFill>
                <a:blip r:embed="rId4"/>
                <a:stretch>
                  <a:fillRect l="-967" r="-258" b="-28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802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E0832956-6D0C-46EB-8296-7AE18E560190}"/>
              </a:ext>
            </a:extLst>
          </p:cNvPr>
          <p:cNvSpPr/>
          <p:nvPr/>
        </p:nvSpPr>
        <p:spPr>
          <a:xfrm>
            <a:off x="711687" y="2182532"/>
            <a:ext cx="10567434" cy="3749055"/>
          </a:xfrm>
          <a:prstGeom prst="roundRect">
            <a:avLst>
              <a:gd name="adj" fmla="val 5984"/>
            </a:avLst>
          </a:prstGeom>
          <a:solidFill>
            <a:schemeClr val="bg1">
              <a:lumMod val="95000"/>
              <a:alpha val="7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一阶逻辑公式逻辑等值式证明举例*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1B551DD-6371-4817-AA3C-7F47D4473268}"/>
                  </a:ext>
                </a:extLst>
              </p:cNvPr>
              <p:cNvSpPr txBox="1"/>
              <p:nvPr/>
            </p:nvSpPr>
            <p:spPr>
              <a:xfrm>
                <a:off x="711687" y="1431448"/>
                <a:ext cx="7742797"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𝒙</m:t>
                    </m:r>
                  </m:oMath>
                </a14:m>
                <a:r>
                  <a:rPr lang="zh-CN" altLang="en-US" sz="2400" b="1">
                    <a:solidFill>
                      <a:srgbClr val="002060"/>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的自由变量，证明</a:t>
                </a:r>
                <a14:m>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41B551DD-6371-4817-AA3C-7F47D4473268}"/>
                  </a:ext>
                </a:extLst>
              </p:cNvPr>
              <p:cNvSpPr txBox="1">
                <a:spLocks noRot="1" noChangeAspect="1" noMove="1" noResize="1" noEditPoints="1" noAdjustHandles="1" noChangeArrowheads="1" noChangeShapeType="1" noTextEdit="1"/>
              </p:cNvSpPr>
              <p:nvPr/>
            </p:nvSpPr>
            <p:spPr>
              <a:xfrm>
                <a:off x="711687" y="1431448"/>
                <a:ext cx="7742797" cy="461665"/>
              </a:xfrm>
              <a:prstGeom prst="rect">
                <a:avLst/>
              </a:prstGeom>
              <a:blipFill>
                <a:blip r:embed="rId2"/>
                <a:stretch>
                  <a:fillRect l="-1260"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344EFE3-1B2E-4141-BFE6-9F4AA4FCFFA3}"/>
                  </a:ext>
                </a:extLst>
              </p:cNvPr>
              <p:cNvSpPr txBox="1"/>
              <p:nvPr/>
            </p:nvSpPr>
            <p:spPr>
              <a:xfrm>
                <a:off x="1801595" y="2262713"/>
                <a:ext cx="3530772" cy="820161"/>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对任意解释（设论域是</a:t>
                </a:r>
                <a14:m>
                  <m:oMath xmlns:m="http://schemas.openxmlformats.org/officeDocument/2006/math">
                    <m:r>
                      <a:rPr lang="en-US" altLang="zh-CN" sz="2000" b="1" i="1" smtClean="0">
                        <a:solidFill>
                          <a:srgbClr val="002060"/>
                        </a:solidFill>
                        <a:latin typeface="Cambria Math" panose="02040503050406030204" pitchFamily="18" charset="0"/>
                      </a:rPr>
                      <m:t>𝑫</m:t>
                    </m:r>
                    <m:r>
                      <m:rPr>
                        <m:nor/>
                      </m:rPr>
                      <a:rPr lang="zh-CN" altLang="en-US" sz="2000" b="1">
                        <a:solidFill>
                          <a:srgbClr val="002060"/>
                        </a:solidFill>
                        <a:latin typeface="楷体" panose="02010609060101010101" pitchFamily="49" charset="-122"/>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，及任意个体变量指派函数</a:t>
                </a:r>
                <a14:m>
                  <m:oMath xmlns:m="http://schemas.openxmlformats.org/officeDocument/2006/math">
                    <m:r>
                      <a:rPr lang="en-US" altLang="zh-CN" sz="2000" b="1" i="1" smtClean="0">
                        <a:solidFill>
                          <a:srgbClr val="002060"/>
                        </a:solidFill>
                        <a:latin typeface="Cambria Math" panose="02040503050406030204" pitchFamily="18" charset="0"/>
                      </a:rPr>
                      <m:t>𝝈</m:t>
                    </m:r>
                  </m:oMath>
                </a14:m>
                <a:r>
                  <a:rPr lang="zh-CN" altLang="en-US" sz="2000" b="1" i="0">
                    <a:solidFill>
                      <a:srgbClr val="002060"/>
                    </a:solidFill>
                    <a:latin typeface="楷体" panose="02010609060101010101" pitchFamily="49" charset="-122"/>
                    <a:ea typeface="楷体" panose="02010609060101010101" pitchFamily="49" charset="-122"/>
                  </a:rPr>
                  <a:t>。</a:t>
                </a:r>
                <a:endParaRPr lang="en-US" altLang="zh-CN" sz="2000" b="1" i="0">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F344EFE3-1B2E-4141-BFE6-9F4AA4FCFFA3}"/>
                  </a:ext>
                </a:extLst>
              </p:cNvPr>
              <p:cNvSpPr txBox="1">
                <a:spLocks noRot="1" noChangeAspect="1" noMove="1" noResize="1" noEditPoints="1" noAdjustHandles="1" noChangeArrowheads="1" noChangeShapeType="1" noTextEdit="1"/>
              </p:cNvSpPr>
              <p:nvPr/>
            </p:nvSpPr>
            <p:spPr>
              <a:xfrm>
                <a:off x="1801595" y="2262713"/>
                <a:ext cx="3530772" cy="820161"/>
              </a:xfrm>
              <a:prstGeom prst="rect">
                <a:avLst/>
              </a:prstGeom>
              <a:blipFill>
                <a:blip r:embed="rId3"/>
                <a:stretch>
                  <a:fillRect l="-1900" t="-741" b="-10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BB1A87D-D268-4E2F-9BAD-9FA3F7D37702}"/>
                  </a:ext>
                </a:extLst>
              </p:cNvPr>
              <p:cNvSpPr txBox="1"/>
              <p:nvPr/>
            </p:nvSpPr>
            <p:spPr>
              <a:xfrm>
                <a:off x="803785" y="3170561"/>
                <a:ext cx="10216781" cy="2668744"/>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spcAft>
                    <a:spcPts val="600"/>
                  </a:spcAft>
                </a:pPr>
                <a:r>
                  <a:rPr lang="zh-CN" altLang="en-US" b="1">
                    <a:solidFill>
                      <a:schemeClr val="accent6">
                        <a:lumMod val="50000"/>
                      </a:schemeClr>
                    </a:solidFill>
                    <a:latin typeface="宋体" panose="02010600030101010101" pitchFamily="2" charset="-122"/>
                    <a:ea typeface="宋体" panose="02010600030101010101" pitchFamily="2" charset="-122"/>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0" smtClean="0">
                        <a:solidFill>
                          <a:schemeClr val="accent6">
                            <a:lumMod val="50000"/>
                          </a:schemeClr>
                        </a:solidFill>
                        <a:latin typeface="Cambria Math" panose="02040503050406030204" pitchFamily="18" charset="0"/>
                      </a:rPr>
                      <m:t>=</m:t>
                    </m:r>
                    <m:r>
                      <a:rPr lang="en-US" altLang="zh-CN" b="1" i="0"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宋体" panose="02010600030101010101" pitchFamily="2" charset="-122"/>
                    <a:ea typeface="宋体" panose="02010600030101010101" pitchFamily="2" charset="-122"/>
                  </a:rPr>
                  <a:t>，即对任意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a:solidFill>
                      <a:schemeClr val="accent6">
                        <a:lumMod val="50000"/>
                      </a:schemeClr>
                    </a:solidFill>
                    <a:latin typeface="宋体" panose="02010600030101010101" pitchFamily="2" charset="-122"/>
                    <a:ea typeface="宋体" panose="02010600030101010101" pitchFamily="2" charset="-122"/>
                  </a:rPr>
                  <a:t>有</a:t>
                </a:r>
                <a14:m>
                  <m:oMath xmlns:m="http://schemas.openxmlformats.org/officeDocument/2006/math">
                    <m:r>
                      <a:rPr lang="en-US" altLang="zh-CN" b="1" i="1">
                        <a:solidFill>
                          <a:schemeClr val="accent6">
                            <a:lumMod val="50000"/>
                          </a:schemeClr>
                        </a:solidFill>
                        <a:latin typeface="Cambria Math" panose="02040503050406030204" pitchFamily="18" charset="0"/>
                      </a:rPr>
                      <m:t>𝝈</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e>
                    </m:d>
                    <m:d>
                      <m:dPr>
                        <m:ctrlPr>
                          <a:rPr lang="en-US" altLang="zh-CN" b="1" i="1">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宋体" panose="02010600030101010101" pitchFamily="2" charset="-122"/>
                    <a:ea typeface="宋体" panose="02010600030101010101" pitchFamily="2" charset="-122"/>
                  </a:rPr>
                  <a:t>。分两种情况：</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342900" indent="-342900">
                  <a:lnSpc>
                    <a:spcPts val="2800"/>
                  </a:lnSpc>
                  <a:spcBef>
                    <a:spcPts val="600"/>
                  </a:spcBef>
                  <a:spcAft>
                    <a:spcPts val="600"/>
                  </a:spcAf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𝑩</m:t>
                        </m:r>
                      </m:e>
                    </m:d>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，则显然</a:t>
                </a:r>
                <a:r>
                  <a:rPr lang="zh-CN" altLang="en-US" b="1" i="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𝒙𝑨</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𝑩</m:t>
                        </m:r>
                      </m:e>
                    </m:d>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i="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i="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lnSpc>
                    <a:spcPts val="2800"/>
                  </a:lnSpc>
                  <a:spcBef>
                    <a:spcPts val="600"/>
                  </a:spcBef>
                  <a:spcAft>
                    <a:spcPts val="600"/>
                  </a:spcAf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𝝈</m:t>
                    </m:r>
                    <m:d>
                      <m:dPr>
                        <m:ctrlPr>
                          <a:rPr lang="en-US" altLang="zh-CN" b="1" i="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ctrlPr>
                      </m:dPr>
                      <m:e>
                        <m:r>
                          <a:rPr lang="en-US" altLang="zh-CN" b="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𝑩</m:t>
                        </m:r>
                      </m:e>
                    </m:d>
                    <m:r>
                      <a:rPr lang="en-US" altLang="zh-CN" b="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m:t>
                    </m:r>
                    <m:r>
                      <a:rPr lang="en-US" altLang="zh-CN" b="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𝟎</m:t>
                    </m:r>
                    <m:r>
                      <m:rPr>
                        <m:nor/>
                      </m:rP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m:t>，则</m:t>
                    </m:r>
                  </m:oMath>
                </a14:m>
                <a:r>
                  <a:rPr lang="zh-CN" altLang="en-US" b="1" i="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因为对任意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a:solidFill>
                          <a:schemeClr val="accent6">
                            <a:lumMod val="50000"/>
                          </a:schemeClr>
                        </a:solidFill>
                        <a:latin typeface="Cambria Math" panose="02040503050406030204" pitchFamily="18" charset="0"/>
                      </a:rPr>
                      <m:t>𝝈</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e>
                    </m:d>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𝑩</m:t>
                        </m:r>
                      </m:e>
                    </m:d>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𝝈</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𝑩</m:t>
                        </m:r>
                      </m:e>
                    </m:d>
                  </m:oMath>
                </a14:m>
                <a:r>
                  <a:rPr lang="zh-CN" altLang="en-US" b="1" i="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，因此对任意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i="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begChr m:val="["/>
                        <m:endChr m:val="]"/>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𝒅</m:t>
                        </m:r>
                      </m:e>
                    </m:d>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r>
                      <a:rPr lang="en-US" altLang="zh-CN" b="1" i="1">
                        <a:solidFill>
                          <a:schemeClr val="accent6">
                            <a:lumMod val="50000"/>
                          </a:schemeClr>
                        </a:solidFill>
                        <a:latin typeface="Cambria Math" panose="02040503050406030204" pitchFamily="18" charset="0"/>
                        <a:ea typeface="宋体" panose="02010600030101010101" pitchFamily="2" charset="-122"/>
                      </a:rPr>
                      <m:t>= </m:t>
                    </m:r>
                    <m:r>
                      <a:rPr lang="en-US" altLang="zh-CN" b="1" i="1">
                        <a:solidFill>
                          <a:schemeClr val="accent6">
                            <a:lumMod val="50000"/>
                          </a:schemeClr>
                        </a:solidFill>
                        <a:latin typeface="Cambria Math" panose="02040503050406030204" pitchFamily="18" charset="0"/>
                        <a:ea typeface="宋体" panose="02010600030101010101" pitchFamily="2" charset="-122"/>
                      </a:rPr>
                      <m:t>𝟎</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，但由</a:t>
                </a:r>
                <a14:m>
                  <m:oMath xmlns:m="http://schemas.openxmlformats.org/officeDocument/2006/math">
                    <m:r>
                      <a:rPr lang="en-US" altLang="zh-CN" b="1" i="1">
                        <a:solidFill>
                          <a:schemeClr val="accent6">
                            <a:lumMod val="50000"/>
                          </a:schemeClr>
                        </a:solidFill>
                        <a:latin typeface="Cambria Math" panose="02040503050406030204" pitchFamily="18" charset="0"/>
                      </a:rPr>
                      <m:t>𝝈</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𝑨</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𝑩</m:t>
                        </m:r>
                      </m:e>
                    </m:d>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有对任意</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𝒅</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都有</a:t>
                </a:r>
                <a14:m>
                  <m:oMath xmlns:m="http://schemas.openxmlformats.org/officeDocument/2006/math">
                    <m:r>
                      <a:rPr lang="en-US" altLang="zh-CN" b="1" i="1">
                        <a:solidFill>
                          <a:schemeClr val="accent6">
                            <a:lumMod val="50000"/>
                          </a:schemeClr>
                        </a:solidFill>
                        <a:latin typeface="Cambria Math" panose="02040503050406030204" pitchFamily="18" charset="0"/>
                      </a:rPr>
                      <m:t>𝝈</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e>
                    </m:d>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𝑨</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𝑩</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，因此对任意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都必有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begChr m:val="["/>
                        <m:endChr m:val="]"/>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𝒅</m:t>
                        </m:r>
                      </m:e>
                    </m:d>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𝑨</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e>
                        </m:d>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，即有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𝒙𝑨</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e>
                        </m:d>
                      </m:e>
                    </m:d>
                    <m:r>
                      <a:rPr lang="en-US" altLang="zh-CN"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，从而也有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𝒙𝑨</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a:lnSpc>
                    <a:spcPts val="2800"/>
                  </a:lnSpc>
                  <a:spcBef>
                    <a:spcPts val="600"/>
                  </a:spcBef>
                  <a:spcAft>
                    <a:spcPts val="600"/>
                  </a:spcAft>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综上证明了，当</a:t>
                </a:r>
                <a14:m>
                  <m:oMath xmlns:m="http://schemas.openxmlformats.org/officeDocument/2006/math">
                    <m:r>
                      <a:rPr lang="en-US" altLang="zh-CN" b="1" i="1">
                        <a:solidFill>
                          <a:schemeClr val="accent6">
                            <a:lumMod val="50000"/>
                          </a:schemeClr>
                        </a:solidFill>
                        <a:latin typeface="Cambria Math" panose="02040503050406030204" pitchFamily="18" charset="0"/>
                      </a:rPr>
                      <m:t>𝝈</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𝑨</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𝑩</m:t>
                        </m:r>
                      </m:e>
                    </m:d>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时总有</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𝒙𝑨</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r>
                      <a:rPr lang="en-US" altLang="zh-CN" b="1" i="1">
                        <a:solidFill>
                          <a:schemeClr val="accent6">
                            <a:lumMod val="50000"/>
                          </a:schemeClr>
                        </a:solidFill>
                        <a:latin typeface="Cambria Math" panose="02040503050406030204" pitchFamily="18" charset="0"/>
                        <a:ea typeface="宋体" panose="02010600030101010101" pitchFamily="2" charset="-122"/>
                      </a:rPr>
                      <m:t>= </m:t>
                    </m:r>
                    <m:r>
                      <a:rPr lang="en-US" altLang="zh-CN" b="1" i="1">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p>
            </p:txBody>
          </p:sp>
        </mc:Choice>
        <mc:Fallback xmlns="">
          <p:sp>
            <p:nvSpPr>
              <p:cNvPr id="6" name="文本框 5">
                <a:extLst>
                  <a:ext uri="{FF2B5EF4-FFF2-40B4-BE49-F238E27FC236}">
                    <a16:creationId xmlns:a16="http://schemas.microsoft.com/office/drawing/2014/main" id="{EBB1A87D-D268-4E2F-9BAD-9FA3F7D37702}"/>
                  </a:ext>
                </a:extLst>
              </p:cNvPr>
              <p:cNvSpPr txBox="1">
                <a:spLocks noRot="1" noChangeAspect="1" noMove="1" noResize="1" noEditPoints="1" noAdjustHandles="1" noChangeArrowheads="1" noChangeShapeType="1" noTextEdit="1"/>
              </p:cNvSpPr>
              <p:nvPr/>
            </p:nvSpPr>
            <p:spPr>
              <a:xfrm>
                <a:off x="803785" y="3170561"/>
                <a:ext cx="10216781" cy="2668744"/>
              </a:xfrm>
              <a:prstGeom prst="rect">
                <a:avLst/>
              </a:prstGeom>
              <a:blipFill>
                <a:blip r:embed="rId4"/>
                <a:stretch>
                  <a:fillRect l="-537" r="-2745" b="-20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DF2B426-1F6A-4A41-A078-2DE6D2F747CC}"/>
                  </a:ext>
                </a:extLst>
              </p:cNvPr>
              <p:cNvSpPr txBox="1"/>
              <p:nvPr/>
            </p:nvSpPr>
            <p:spPr>
              <a:xfrm>
                <a:off x="5841377" y="2281773"/>
                <a:ext cx="4166463" cy="724942"/>
              </a:xfrm>
              <a:prstGeom prst="rect">
                <a:avLst/>
              </a:prstGeom>
              <a:solidFill>
                <a:schemeClr val="accent4">
                  <a:lumMod val="20000"/>
                  <a:lumOff val="80000"/>
                  <a:alpha val="50000"/>
                </a:schemeClr>
              </a:solidFill>
            </p:spPr>
            <p:txBody>
              <a:bodyPr wrap="square" rtlCol="0">
                <a:spAutoFit/>
              </a:bodyPr>
              <a:lstStyle/>
              <a:p>
                <a:pPr>
                  <a:lnSpc>
                    <a:spcPts val="2600"/>
                  </a:lnSpc>
                </a:pPr>
                <a:r>
                  <a:rPr lang="zh-CN" altLang="en-US" b="1">
                    <a:solidFill>
                      <a:schemeClr val="accent2">
                        <a:lumMod val="50000"/>
                      </a:schemeClr>
                    </a:solidFill>
                    <a:latin typeface="黑体" panose="02010609060101010101" pitchFamily="49" charset="-122"/>
                    <a:ea typeface="黑体" panose="02010609060101010101" pitchFamily="49" charset="-122"/>
                  </a:rPr>
                  <a:t>首先，由于</a:t>
                </a:r>
                <a14:m>
                  <m:oMath xmlns:m="http://schemas.openxmlformats.org/officeDocument/2006/math">
                    <m:r>
                      <a:rPr lang="en-US" altLang="zh-CN" b="1" i="1">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latin typeface="黑体" panose="02010609060101010101" pitchFamily="49" charset="-122"/>
                    <a:ea typeface="黑体" panose="02010609060101010101" pitchFamily="49" charset="-122"/>
                  </a:rPr>
                  <a:t>不是</a:t>
                </a:r>
                <a14:m>
                  <m:oMath xmlns:m="http://schemas.openxmlformats.org/officeDocument/2006/math">
                    <m:r>
                      <a:rPr lang="en-US" altLang="zh-CN" b="1" i="1">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latin typeface="黑体" panose="02010609060101010101" pitchFamily="49" charset="-122"/>
                    <a:ea typeface="黑体" panose="02010609060101010101" pitchFamily="49" charset="-122"/>
                  </a:rPr>
                  <a:t>的自由变量，因此对任意</a:t>
                </a:r>
                <a14:m>
                  <m:oMath xmlns:m="http://schemas.openxmlformats.org/officeDocument/2006/math">
                    <m:r>
                      <a:rPr lang="en-US" altLang="zh-CN" b="1" i="1">
                        <a:solidFill>
                          <a:schemeClr val="accent2">
                            <a:lumMod val="50000"/>
                          </a:schemeClr>
                        </a:solidFill>
                        <a:latin typeface="Cambria Math" panose="02040503050406030204" pitchFamily="18" charset="0"/>
                      </a:rPr>
                      <m:t>𝒅</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𝑫</m:t>
                    </m:r>
                  </m:oMath>
                </a14:m>
                <a:r>
                  <a:rPr lang="zh-CN" altLang="en-US" b="1">
                    <a:solidFill>
                      <a:schemeClr val="accent2">
                        <a:lumMod val="50000"/>
                      </a:schemeClr>
                    </a:solidFill>
                    <a:latin typeface="黑体" panose="02010609060101010101" pitchFamily="49" charset="-122"/>
                    <a:ea typeface="黑体" panose="02010609060101010101" pitchFamily="49" charset="-122"/>
                  </a:rPr>
                  <a:t>有</a:t>
                </a:r>
                <a14:m>
                  <m:oMath xmlns:m="http://schemas.openxmlformats.org/officeDocument/2006/math">
                    <m:r>
                      <a:rPr lang="en-US" altLang="zh-CN" b="1" i="1" smtClean="0">
                        <a:solidFill>
                          <a:srgbClr val="C00000"/>
                        </a:solidFill>
                        <a:latin typeface="Cambria Math" panose="02040503050406030204" pitchFamily="18" charset="0"/>
                      </a:rPr>
                      <m:t>𝝈</m:t>
                    </m:r>
                    <m:d>
                      <m:dPr>
                        <m:begChr m:val="["/>
                        <m:endChr m:val="]"/>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𝒙</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𝒅</m:t>
                        </m:r>
                      </m:e>
                    </m:d>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𝑩</m:t>
                        </m:r>
                      </m:e>
                    </m:d>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𝝈</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𝑩</m:t>
                        </m:r>
                      </m:e>
                    </m:d>
                  </m:oMath>
                </a14:m>
                <a:r>
                  <a:rPr lang="zh-CN" altLang="en-US" b="1">
                    <a:solidFill>
                      <a:schemeClr val="accent2">
                        <a:lumMod val="50000"/>
                      </a:schemeClr>
                    </a:solidFill>
                    <a:latin typeface="黑体" panose="02010609060101010101" pitchFamily="49" charset="-122"/>
                    <a:ea typeface="黑体" panose="02010609060101010101" pitchFamily="49" charset="-122"/>
                  </a:rPr>
                  <a:t>。</a:t>
                </a:r>
              </a:p>
            </p:txBody>
          </p:sp>
        </mc:Choice>
        <mc:Fallback xmlns="">
          <p:sp>
            <p:nvSpPr>
              <p:cNvPr id="12" name="文本框 11">
                <a:extLst>
                  <a:ext uri="{FF2B5EF4-FFF2-40B4-BE49-F238E27FC236}">
                    <a16:creationId xmlns:a16="http://schemas.microsoft.com/office/drawing/2014/main" id="{2DF2B426-1F6A-4A41-A078-2DE6D2F747CC}"/>
                  </a:ext>
                </a:extLst>
              </p:cNvPr>
              <p:cNvSpPr txBox="1">
                <a:spLocks noRot="1" noChangeAspect="1" noMove="1" noResize="1" noEditPoints="1" noAdjustHandles="1" noChangeArrowheads="1" noChangeShapeType="1" noTextEdit="1"/>
              </p:cNvSpPr>
              <p:nvPr/>
            </p:nvSpPr>
            <p:spPr>
              <a:xfrm>
                <a:off x="5841377" y="2281773"/>
                <a:ext cx="4166463" cy="724942"/>
              </a:xfrm>
              <a:prstGeom prst="rect">
                <a:avLst/>
              </a:prstGeom>
              <a:blipFill>
                <a:blip r:embed="rId5"/>
                <a:stretch>
                  <a:fillRect l="-1170" t="-2521" r="-1170" b="-10924"/>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08704F8F-D98E-43F5-9313-154127C5D665}"/>
              </a:ext>
            </a:extLst>
          </p:cNvPr>
          <p:cNvSpPr txBox="1"/>
          <p:nvPr/>
        </p:nvSpPr>
        <p:spPr>
          <a:xfrm>
            <a:off x="757736" y="2385824"/>
            <a:ext cx="975983" cy="400110"/>
          </a:xfrm>
          <a:prstGeom prst="rect">
            <a:avLst/>
          </a:prstGeom>
          <a:noFill/>
        </p:spPr>
        <p:txBody>
          <a:bodyPr wrap="square" rtlCol="0">
            <a:spAutoFit/>
          </a:bodyPr>
          <a:lstStyle/>
          <a:p>
            <a:pPr algn="ctr"/>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endParaRPr lang="zh-CN" altLang="en-US" sz="2000" b="1">
              <a:solidFill>
                <a:srgbClr val="C00000"/>
              </a:solidFill>
            </a:endParaRPr>
          </a:p>
        </p:txBody>
      </p:sp>
      <p:cxnSp>
        <p:nvCxnSpPr>
          <p:cNvPr id="16" name="直接连接符 15">
            <a:extLst>
              <a:ext uri="{FF2B5EF4-FFF2-40B4-BE49-F238E27FC236}">
                <a16:creationId xmlns:a16="http://schemas.microsoft.com/office/drawing/2014/main" id="{A6058762-4F2C-41AF-8C0A-6CAA2F43DF5C}"/>
              </a:ext>
            </a:extLst>
          </p:cNvPr>
          <p:cNvCxnSpPr>
            <a:cxnSpLocks/>
          </p:cNvCxnSpPr>
          <p:nvPr/>
        </p:nvCxnSpPr>
        <p:spPr>
          <a:xfrm>
            <a:off x="7718797" y="4577974"/>
            <a:ext cx="3194563"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06D7AB8-E831-464B-A57C-A1F65C511ED0}"/>
              </a:ext>
            </a:extLst>
          </p:cNvPr>
          <p:cNvCxnSpPr>
            <a:cxnSpLocks/>
          </p:cNvCxnSpPr>
          <p:nvPr/>
        </p:nvCxnSpPr>
        <p:spPr>
          <a:xfrm>
            <a:off x="4126965" y="4944349"/>
            <a:ext cx="3938069"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6ED7C083-7CB6-4C29-A963-884B674E874B}"/>
              </a:ext>
            </a:extLst>
          </p:cNvPr>
          <p:cNvCxnSpPr>
            <a:cxnSpLocks/>
          </p:cNvCxnSpPr>
          <p:nvPr/>
        </p:nvCxnSpPr>
        <p:spPr>
          <a:xfrm>
            <a:off x="8833104" y="4935207"/>
            <a:ext cx="197305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02B8D68-FFD3-4BA2-A7CC-7D1A27D0914E}"/>
              </a:ext>
            </a:extLst>
          </p:cNvPr>
          <p:cNvCxnSpPr>
            <a:cxnSpLocks/>
          </p:cNvCxnSpPr>
          <p:nvPr/>
        </p:nvCxnSpPr>
        <p:spPr>
          <a:xfrm>
            <a:off x="1245727" y="5303620"/>
            <a:ext cx="2141216"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6F19F1D2-BBE0-467E-B5DA-C8246311CD51}"/>
              </a:ext>
            </a:extLst>
          </p:cNvPr>
          <p:cNvSpPr txBox="1"/>
          <p:nvPr/>
        </p:nvSpPr>
        <p:spPr>
          <a:xfrm>
            <a:off x="10890265" y="4209356"/>
            <a:ext cx="388856" cy="338554"/>
          </a:xfrm>
          <a:prstGeom prst="rect">
            <a:avLst/>
          </a:prstGeom>
          <a:noFill/>
        </p:spPr>
        <p:txBody>
          <a:bodyPr wrap="square" rtlCol="0">
            <a:spAutoFit/>
          </a:bodyPr>
          <a:lstStyle/>
          <a:p>
            <a:pPr algn="ctr"/>
            <a:r>
              <a:rPr lang="zh-CN" altLang="en-US" sz="1600" b="1">
                <a:solidFill>
                  <a:srgbClr val="C00000"/>
                </a:solidFill>
              </a:rPr>
              <a:t>①</a:t>
            </a:r>
          </a:p>
        </p:txBody>
      </p:sp>
      <p:sp>
        <p:nvSpPr>
          <p:cNvPr id="29" name="文本框 28">
            <a:extLst>
              <a:ext uri="{FF2B5EF4-FFF2-40B4-BE49-F238E27FC236}">
                <a16:creationId xmlns:a16="http://schemas.microsoft.com/office/drawing/2014/main" id="{E0760C12-B9B6-4CCB-8B08-A4550B8C5DC4}"/>
              </a:ext>
            </a:extLst>
          </p:cNvPr>
          <p:cNvSpPr txBox="1"/>
          <p:nvPr/>
        </p:nvSpPr>
        <p:spPr>
          <a:xfrm>
            <a:off x="8000958" y="4577974"/>
            <a:ext cx="388856" cy="338554"/>
          </a:xfrm>
          <a:prstGeom prst="rect">
            <a:avLst/>
          </a:prstGeom>
          <a:noFill/>
        </p:spPr>
        <p:txBody>
          <a:bodyPr wrap="square" rtlCol="0">
            <a:spAutoFit/>
          </a:bodyPr>
          <a:lstStyle/>
          <a:p>
            <a:pPr algn="ctr"/>
            <a:r>
              <a:rPr lang="zh-CN" altLang="en-US" sz="1600" b="1">
                <a:solidFill>
                  <a:srgbClr val="C00000"/>
                </a:solidFill>
              </a:rPr>
              <a:t>②</a:t>
            </a:r>
          </a:p>
        </p:txBody>
      </p:sp>
      <p:sp>
        <p:nvSpPr>
          <p:cNvPr id="31" name="文本框 30">
            <a:extLst>
              <a:ext uri="{FF2B5EF4-FFF2-40B4-BE49-F238E27FC236}">
                <a16:creationId xmlns:a16="http://schemas.microsoft.com/office/drawing/2014/main" id="{EA8CE830-BB4A-480C-812B-E0EEA0C2774E}"/>
              </a:ext>
            </a:extLst>
          </p:cNvPr>
          <p:cNvSpPr txBox="1"/>
          <p:nvPr/>
        </p:nvSpPr>
        <p:spPr>
          <a:xfrm>
            <a:off x="10718932" y="4629833"/>
            <a:ext cx="388856" cy="338554"/>
          </a:xfrm>
          <a:prstGeom prst="rect">
            <a:avLst/>
          </a:prstGeom>
          <a:noFill/>
        </p:spPr>
        <p:txBody>
          <a:bodyPr wrap="square" rtlCol="0">
            <a:spAutoFit/>
          </a:bodyPr>
          <a:lstStyle/>
          <a:p>
            <a:pPr algn="ctr"/>
            <a:r>
              <a:rPr lang="zh-CN" altLang="en-US" sz="1600" b="1">
                <a:solidFill>
                  <a:srgbClr val="C00000"/>
                </a:solidFill>
              </a:rPr>
              <a:t>③</a:t>
            </a:r>
          </a:p>
        </p:txBody>
      </p:sp>
      <p:sp>
        <p:nvSpPr>
          <p:cNvPr id="32" name="文本框 31">
            <a:extLst>
              <a:ext uri="{FF2B5EF4-FFF2-40B4-BE49-F238E27FC236}">
                <a16:creationId xmlns:a16="http://schemas.microsoft.com/office/drawing/2014/main" id="{66641C77-8611-47C7-B5AB-596A39A02402}"/>
              </a:ext>
            </a:extLst>
          </p:cNvPr>
          <p:cNvSpPr txBox="1"/>
          <p:nvPr/>
        </p:nvSpPr>
        <p:spPr>
          <a:xfrm>
            <a:off x="9144000" y="1354247"/>
            <a:ext cx="1971333" cy="646331"/>
          </a:xfrm>
          <a:prstGeom prst="rect">
            <a:avLst/>
          </a:prstGeom>
          <a:solidFill>
            <a:schemeClr val="accent4">
              <a:lumMod val="40000"/>
              <a:lumOff val="60000"/>
            </a:schemeClr>
          </a:solidFill>
        </p:spPr>
        <p:txBody>
          <a:bodyPr wrap="square" rtlCol="0">
            <a:spAutoFit/>
          </a:bodyPr>
          <a:lstStyle/>
          <a:p>
            <a:r>
              <a:rPr lang="zh-CN" altLang="en-US" b="1">
                <a:solidFill>
                  <a:schemeClr val="accent1">
                    <a:lumMod val="50000"/>
                  </a:schemeClr>
                </a:solidFill>
              </a:rPr>
              <a:t>①和②推出③用到什么推理规则？</a:t>
            </a:r>
          </a:p>
        </p:txBody>
      </p:sp>
    </p:spTree>
    <p:extLst>
      <p:ext uri="{BB962C8B-B14F-4D97-AF65-F5344CB8AC3E}">
        <p14:creationId xmlns:p14="http://schemas.microsoft.com/office/powerpoint/2010/main" val="201041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animBg="1"/>
      <p:bldP spid="6" grpId="0" animBg="1"/>
      <p:bldP spid="12" grpId="0" animBg="1"/>
      <p:bldP spid="14" grpId="0"/>
      <p:bldP spid="28" grpId="0"/>
      <p:bldP spid="29" grpId="0"/>
      <p:bldP spid="31" grpId="0"/>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E0832956-6D0C-46EB-8296-7AE18E560190}"/>
              </a:ext>
            </a:extLst>
          </p:cNvPr>
          <p:cNvSpPr/>
          <p:nvPr/>
        </p:nvSpPr>
        <p:spPr>
          <a:xfrm>
            <a:off x="711687" y="2182532"/>
            <a:ext cx="10567434" cy="3881486"/>
          </a:xfrm>
          <a:prstGeom prst="roundRect">
            <a:avLst>
              <a:gd name="adj" fmla="val 5984"/>
            </a:avLst>
          </a:prstGeom>
          <a:solidFill>
            <a:schemeClr val="bg1">
              <a:lumMod val="95000"/>
              <a:alpha val="7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/29</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一阶逻辑公式逻辑等值式证明举例*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1B551DD-6371-4817-AA3C-7F47D4473268}"/>
                  </a:ext>
                </a:extLst>
              </p:cNvPr>
              <p:cNvSpPr txBox="1"/>
              <p:nvPr/>
            </p:nvSpPr>
            <p:spPr>
              <a:xfrm>
                <a:off x="711687" y="1431448"/>
                <a:ext cx="7742797"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𝒙</m:t>
                    </m:r>
                  </m:oMath>
                </a14:m>
                <a:r>
                  <a:rPr lang="zh-CN" altLang="en-US" sz="2400" b="1">
                    <a:solidFill>
                      <a:srgbClr val="002060"/>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的自由变量，证明</a:t>
                </a:r>
                <a14:m>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41B551DD-6371-4817-AA3C-7F47D4473268}"/>
                  </a:ext>
                </a:extLst>
              </p:cNvPr>
              <p:cNvSpPr txBox="1">
                <a:spLocks noRot="1" noChangeAspect="1" noMove="1" noResize="1" noEditPoints="1" noAdjustHandles="1" noChangeArrowheads="1" noChangeShapeType="1" noTextEdit="1"/>
              </p:cNvSpPr>
              <p:nvPr/>
            </p:nvSpPr>
            <p:spPr>
              <a:xfrm>
                <a:off x="711687" y="1431448"/>
                <a:ext cx="7742797" cy="461665"/>
              </a:xfrm>
              <a:prstGeom prst="rect">
                <a:avLst/>
              </a:prstGeom>
              <a:blipFill>
                <a:blip r:embed="rId2"/>
                <a:stretch>
                  <a:fillRect l="-1260"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344EFE3-1B2E-4141-BFE6-9F4AA4FCFFA3}"/>
                  </a:ext>
                </a:extLst>
              </p:cNvPr>
              <p:cNvSpPr txBox="1"/>
              <p:nvPr/>
            </p:nvSpPr>
            <p:spPr>
              <a:xfrm>
                <a:off x="1801595" y="2262713"/>
                <a:ext cx="3530772" cy="820161"/>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对任意解释（设论域是</a:t>
                </a:r>
                <a14:m>
                  <m:oMath xmlns:m="http://schemas.openxmlformats.org/officeDocument/2006/math">
                    <m:r>
                      <a:rPr lang="en-US" altLang="zh-CN" sz="2000" b="1" i="1" smtClean="0">
                        <a:solidFill>
                          <a:srgbClr val="002060"/>
                        </a:solidFill>
                        <a:latin typeface="Cambria Math" panose="02040503050406030204" pitchFamily="18" charset="0"/>
                      </a:rPr>
                      <m:t>𝑫</m:t>
                    </m:r>
                    <m:r>
                      <m:rPr>
                        <m:nor/>
                      </m:rPr>
                      <a:rPr lang="zh-CN" altLang="en-US" sz="2000" b="1">
                        <a:solidFill>
                          <a:srgbClr val="002060"/>
                        </a:solidFill>
                        <a:latin typeface="楷体" panose="02010609060101010101" pitchFamily="49" charset="-122"/>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，及任意个体变量指派函数</a:t>
                </a:r>
                <a14:m>
                  <m:oMath xmlns:m="http://schemas.openxmlformats.org/officeDocument/2006/math">
                    <m:r>
                      <a:rPr lang="en-US" altLang="zh-CN" sz="2000" b="1" i="1" smtClean="0">
                        <a:solidFill>
                          <a:srgbClr val="002060"/>
                        </a:solidFill>
                        <a:latin typeface="Cambria Math" panose="02040503050406030204" pitchFamily="18" charset="0"/>
                      </a:rPr>
                      <m:t>𝝈</m:t>
                    </m:r>
                  </m:oMath>
                </a14:m>
                <a:r>
                  <a:rPr lang="zh-CN" altLang="en-US" sz="2000" b="1" i="0">
                    <a:solidFill>
                      <a:srgbClr val="002060"/>
                    </a:solidFill>
                    <a:latin typeface="楷体" panose="02010609060101010101" pitchFamily="49" charset="-122"/>
                    <a:ea typeface="楷体" panose="02010609060101010101" pitchFamily="49" charset="-122"/>
                  </a:rPr>
                  <a:t>。</a:t>
                </a:r>
                <a:endParaRPr lang="en-US" altLang="zh-CN" sz="2000" b="1" i="0">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F344EFE3-1B2E-4141-BFE6-9F4AA4FCFFA3}"/>
                  </a:ext>
                </a:extLst>
              </p:cNvPr>
              <p:cNvSpPr txBox="1">
                <a:spLocks noRot="1" noChangeAspect="1" noMove="1" noResize="1" noEditPoints="1" noAdjustHandles="1" noChangeArrowheads="1" noChangeShapeType="1" noTextEdit="1"/>
              </p:cNvSpPr>
              <p:nvPr/>
            </p:nvSpPr>
            <p:spPr>
              <a:xfrm>
                <a:off x="1801595" y="2262713"/>
                <a:ext cx="3530772" cy="820161"/>
              </a:xfrm>
              <a:prstGeom prst="rect">
                <a:avLst/>
              </a:prstGeom>
              <a:blipFill>
                <a:blip r:embed="rId3"/>
                <a:stretch>
                  <a:fillRect l="-1900" t="-741" b="-10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BB1A87D-D268-4E2F-9BAD-9FA3F7D37702}"/>
                  </a:ext>
                </a:extLst>
              </p:cNvPr>
              <p:cNvSpPr txBox="1"/>
              <p:nvPr/>
            </p:nvSpPr>
            <p:spPr>
              <a:xfrm>
                <a:off x="887013" y="3245169"/>
                <a:ext cx="10216781" cy="2668744"/>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spcAft>
                    <a:spcPts val="600"/>
                  </a:spcAft>
                </a:pPr>
                <a:r>
                  <a:rPr lang="zh-CN" altLang="en-US" b="1" dirty="0">
                    <a:solidFill>
                      <a:schemeClr val="accent6">
                        <a:lumMod val="50000"/>
                      </a:schemeClr>
                    </a:solidFill>
                    <a:latin typeface="宋体" panose="02010600030101010101" pitchFamily="2" charset="-122"/>
                    <a:ea typeface="宋体" panose="02010600030101010101" pitchFamily="2" charset="-122"/>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0" smtClean="0">
                        <a:solidFill>
                          <a:schemeClr val="accent6">
                            <a:lumMod val="50000"/>
                          </a:schemeClr>
                        </a:solidFill>
                        <a:latin typeface="Cambria Math" panose="02040503050406030204" pitchFamily="18" charset="0"/>
                      </a:rPr>
                      <m:t>=</m:t>
                    </m:r>
                    <m:r>
                      <a:rPr lang="en-US" altLang="zh-CN" b="1" i="0"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latin typeface="宋体" panose="02010600030101010101" pitchFamily="2" charset="-122"/>
                    <a:ea typeface="宋体" panose="02010600030101010101" pitchFamily="2" charset="-122"/>
                  </a:rPr>
                  <a:t>，即对任意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有</a:t>
                </a:r>
                <a14:m>
                  <m:oMath xmlns:m="http://schemas.openxmlformats.org/officeDocument/2006/math">
                    <m:r>
                      <a:rPr lang="en-US" altLang="zh-CN" b="1" i="1">
                        <a:solidFill>
                          <a:schemeClr val="accent6">
                            <a:lumMod val="50000"/>
                          </a:schemeClr>
                        </a:solidFill>
                        <a:latin typeface="Cambria Math" panose="02040503050406030204" pitchFamily="18" charset="0"/>
                      </a:rPr>
                      <m:t>𝝈</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e>
                    </m:d>
                    <m:d>
                      <m:dPr>
                        <m:ctrlPr>
                          <a:rPr lang="en-US" altLang="zh-CN" b="1" i="1">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en-US" altLang="zh-CN" b="1" dirty="0">
                    <a:solidFill>
                      <a:schemeClr val="accent6">
                        <a:lumMod val="50000"/>
                      </a:schemeClr>
                    </a:solidFill>
                    <a:latin typeface="宋体" panose="02010600030101010101" pitchFamily="2" charset="-122"/>
                    <a:ea typeface="宋体" panose="02010600030101010101" pitchFamily="2" charset="-122"/>
                  </a:rPr>
                  <a:t>,</a:t>
                </a:r>
                <a:r>
                  <a:rPr lang="zh-CN" altLang="en-US" b="1" dirty="0">
                    <a:solidFill>
                      <a:schemeClr val="accent6">
                        <a:lumMod val="50000"/>
                      </a:schemeClr>
                    </a:solidFill>
                    <a:latin typeface="宋体" panose="02010600030101010101" pitchFamily="2" charset="-122"/>
                    <a:ea typeface="宋体" panose="02010600030101010101" pitchFamily="2" charset="-122"/>
                  </a:rPr>
                  <a:t>即对任意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begChr m:val="["/>
                        <m:endChr m:val="]"/>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e>
                    </m:d>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𝑨</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e>
                        </m:d>
                      </m:e>
                    </m:d>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或</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begChr m:val="["/>
                        <m:endChr m:val="]"/>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𝒅</m:t>
                        </m:r>
                      </m:e>
                    </m:d>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𝑩</m:t>
                        </m:r>
                      </m:e>
                    </m:d>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dirty="0">
                    <a:solidFill>
                      <a:schemeClr val="accent6">
                        <a:lumMod val="50000"/>
                      </a:schemeClr>
                    </a:solidFill>
                    <a:latin typeface="宋体" panose="02010600030101010101" pitchFamily="2" charset="-122"/>
                    <a:ea typeface="宋体" panose="02010600030101010101" pitchFamily="2" charset="-122"/>
                  </a:rPr>
                  <a:t>，分两种情况：</a:t>
                </a:r>
                <a:endParaRPr lang="en-US" altLang="zh-CN" b="1" dirty="0">
                  <a:solidFill>
                    <a:schemeClr val="accent6">
                      <a:lumMod val="50000"/>
                    </a:schemeClr>
                  </a:solidFill>
                  <a:latin typeface="宋体" panose="02010600030101010101" pitchFamily="2" charset="-122"/>
                  <a:ea typeface="宋体" panose="02010600030101010101" pitchFamily="2" charset="-122"/>
                </a:endParaRPr>
              </a:p>
              <a:p>
                <a:pPr marL="342900" indent="-342900">
                  <a:lnSpc>
                    <a:spcPts val="2800"/>
                  </a:lnSpc>
                  <a:spcBef>
                    <a:spcPts val="600"/>
                  </a:spcBef>
                  <a:spcAft>
                    <a:spcPts val="600"/>
                  </a:spcAft>
                  <a:buAutoNum type="arabicPeriod"/>
                </a:pP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r>
                  <a:rPr lang="zh-CN" altLang="en-US" b="1" dirty="0">
                    <a:solidFill>
                      <a:schemeClr val="accent6">
                        <a:lumMod val="50000"/>
                      </a:schemeClr>
                    </a:solidFill>
                    <a:latin typeface="宋体" panose="02010600030101010101" pitchFamily="2" charset="-122"/>
                    <a:ea typeface="宋体" panose="02010600030101010101" pitchFamily="2" charset="-122"/>
                  </a:rPr>
                  <a:t>对任意</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𝒅</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有</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𝝈</m:t>
                    </m:r>
                    <m:d>
                      <m:dPr>
                        <m:begChr m:val="["/>
                        <m:endChr m:val="]"/>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𝒅</m:t>
                        </m:r>
                      </m:e>
                    </m:d>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𝟏</m:t>
                    </m:r>
                    <m:r>
                      <a:rPr lang="en-US" altLang="zh-CN" b="1" i="1">
                        <a:solidFill>
                          <a:schemeClr val="accent6">
                            <a:lumMod val="50000"/>
                          </a:schemeClr>
                        </a:solidFill>
                        <a:latin typeface="Cambria Math" panose="02040503050406030204" pitchFamily="18" charset="0"/>
                        <a:ea typeface="宋体" panose="02010600030101010101" pitchFamily="2" charset="-122"/>
                      </a:rPr>
                      <m:t> </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，则由于</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𝒙</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不是</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𝑩</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的自由变量，对任意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𝒅</m:t>
                    </m:r>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𝑫</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𝝈</m:t>
                    </m:r>
                    <m:d>
                      <m:dPr>
                        <m:begChr m:val="["/>
                        <m:endChr m:val="]"/>
                        <m:ctrlP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𝒅</m:t>
                        </m:r>
                      </m:e>
                    </m:d>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𝑩</m:t>
                        </m:r>
                      </m:e>
                    </m:d>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𝝈</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𝑩</m:t>
                        </m:r>
                      </m:e>
                    </m:d>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，从而就有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𝝈</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𝑩</m:t>
                        </m:r>
                      </m:e>
                    </m:d>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𝟏</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，从而</a:t>
                </a:r>
                <a:r>
                  <a:rPr lang="zh-CN" altLang="en-US" b="1" i="0"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𝒙𝑨</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𝑩</m:t>
                        </m:r>
                      </m:e>
                    </m:d>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i="0"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i="0"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lnSpc>
                    <a:spcPts val="2800"/>
                  </a:lnSpc>
                  <a:spcBef>
                    <a:spcPts val="600"/>
                  </a:spcBef>
                  <a:spcAft>
                    <a:spcPts val="600"/>
                  </a:spcAft>
                  <a:buAutoNum type="arabicPeriod"/>
                </a:pP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r>
                  <a:rPr lang="zh-CN" altLang="en-US" b="1" dirty="0">
                    <a:solidFill>
                      <a:schemeClr val="accent6">
                        <a:lumMod val="50000"/>
                      </a:schemeClr>
                    </a:solidFill>
                    <a:latin typeface="宋体" panose="02010600030101010101" pitchFamily="2" charset="-122"/>
                    <a:ea typeface="宋体" panose="02010600030101010101" pitchFamily="2" charset="-122"/>
                  </a:rPr>
                  <a:t>对任意</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𝒅</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𝑫</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有</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𝝈</m:t>
                    </m:r>
                    <m:d>
                      <m:dPr>
                        <m:begChr m:val="["/>
                        <m:endChr m:val="]"/>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𝒅</m:t>
                        </m:r>
                      </m:e>
                    </m:d>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𝑨</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i="0"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，即</a:t>
                </a: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𝒙𝑨</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e>
                        </m:d>
                      </m:e>
                    </m:d>
                    <m:r>
                      <a:rPr lang="en-US" altLang="zh-CN"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，从而也有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𝒙𝑨</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a:lnSpc>
                    <a:spcPts val="2800"/>
                  </a:lnSpc>
                  <a:spcBef>
                    <a:spcPts val="600"/>
                  </a:spcBef>
                  <a:spcAft>
                    <a:spcPts val="600"/>
                  </a:spcAft>
                </a:pP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综上证明了，当</a:t>
                </a:r>
                <a14:m>
                  <m:oMath xmlns:m="http://schemas.openxmlformats.org/officeDocument/2006/math">
                    <m:r>
                      <a:rPr lang="en-US" altLang="zh-CN" b="1" i="1">
                        <a:solidFill>
                          <a:schemeClr val="accent6">
                            <a:lumMod val="50000"/>
                          </a:schemeClr>
                        </a:solidFill>
                        <a:latin typeface="Cambria Math" panose="02040503050406030204" pitchFamily="18" charset="0"/>
                      </a:rPr>
                      <m:t>𝝈</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𝒙</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𝑨</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𝑩</m:t>
                        </m:r>
                      </m:e>
                    </m:d>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时总有</a:t>
                </a:r>
                <a14:m>
                  <m:oMath xmlns:m="http://schemas.openxmlformats.org/officeDocument/2006/math">
                    <m:r>
                      <a:rPr lang="en-US" altLang="zh-CN" b="1" i="1">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𝒙𝑨</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𝒙</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r>
                      <a:rPr lang="en-US" altLang="zh-CN" b="1" i="1">
                        <a:solidFill>
                          <a:schemeClr val="accent6">
                            <a:lumMod val="50000"/>
                          </a:schemeClr>
                        </a:solidFill>
                        <a:latin typeface="Cambria Math" panose="02040503050406030204" pitchFamily="18" charset="0"/>
                        <a:ea typeface="宋体" panose="02010600030101010101" pitchFamily="2" charset="-122"/>
                      </a:rPr>
                      <m:t>= </m:t>
                    </m:r>
                    <m:r>
                      <a:rPr lang="en-US" altLang="zh-CN" b="1" i="1">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p>
            </p:txBody>
          </p:sp>
        </mc:Choice>
        <mc:Fallback xmlns="">
          <p:sp>
            <p:nvSpPr>
              <p:cNvPr id="6" name="文本框 5">
                <a:extLst>
                  <a:ext uri="{FF2B5EF4-FFF2-40B4-BE49-F238E27FC236}">
                    <a16:creationId xmlns:a16="http://schemas.microsoft.com/office/drawing/2014/main" id="{EBB1A87D-D268-4E2F-9BAD-9FA3F7D37702}"/>
                  </a:ext>
                </a:extLst>
              </p:cNvPr>
              <p:cNvSpPr txBox="1">
                <a:spLocks noRot="1" noChangeAspect="1" noMove="1" noResize="1" noEditPoints="1" noAdjustHandles="1" noChangeArrowheads="1" noChangeShapeType="1" noTextEdit="1"/>
              </p:cNvSpPr>
              <p:nvPr/>
            </p:nvSpPr>
            <p:spPr>
              <a:xfrm>
                <a:off x="887013" y="3245169"/>
                <a:ext cx="10216781" cy="2668744"/>
              </a:xfrm>
              <a:prstGeom prst="rect">
                <a:avLst/>
              </a:prstGeom>
              <a:blipFill>
                <a:blip r:embed="rId4"/>
                <a:stretch>
                  <a:fillRect l="-2030" t="-15525" b="-20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DF2B426-1F6A-4A41-A078-2DE6D2F747CC}"/>
                  </a:ext>
                </a:extLst>
              </p:cNvPr>
              <p:cNvSpPr txBox="1"/>
              <p:nvPr/>
            </p:nvSpPr>
            <p:spPr>
              <a:xfrm>
                <a:off x="5841377" y="2281773"/>
                <a:ext cx="4166463" cy="724942"/>
              </a:xfrm>
              <a:prstGeom prst="rect">
                <a:avLst/>
              </a:prstGeom>
              <a:solidFill>
                <a:schemeClr val="accent4">
                  <a:lumMod val="20000"/>
                  <a:lumOff val="80000"/>
                  <a:alpha val="50000"/>
                </a:schemeClr>
              </a:solidFill>
            </p:spPr>
            <p:txBody>
              <a:bodyPr wrap="square" rtlCol="0">
                <a:spAutoFit/>
              </a:bodyPr>
              <a:lstStyle/>
              <a:p>
                <a:pPr>
                  <a:lnSpc>
                    <a:spcPts val="2600"/>
                  </a:lnSpc>
                </a:pPr>
                <a:r>
                  <a:rPr lang="zh-CN" altLang="en-US" b="1">
                    <a:solidFill>
                      <a:schemeClr val="accent2">
                        <a:lumMod val="50000"/>
                      </a:schemeClr>
                    </a:solidFill>
                    <a:latin typeface="黑体" panose="02010609060101010101" pitchFamily="49" charset="-122"/>
                    <a:ea typeface="黑体" panose="02010609060101010101" pitchFamily="49" charset="-122"/>
                  </a:rPr>
                  <a:t>首先，由于</a:t>
                </a:r>
                <a14:m>
                  <m:oMath xmlns:m="http://schemas.openxmlformats.org/officeDocument/2006/math">
                    <m:r>
                      <a:rPr lang="en-US" altLang="zh-CN" b="1" i="1">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latin typeface="黑体" panose="02010609060101010101" pitchFamily="49" charset="-122"/>
                    <a:ea typeface="黑体" panose="02010609060101010101" pitchFamily="49" charset="-122"/>
                  </a:rPr>
                  <a:t>不是</a:t>
                </a:r>
                <a14:m>
                  <m:oMath xmlns:m="http://schemas.openxmlformats.org/officeDocument/2006/math">
                    <m:r>
                      <a:rPr lang="en-US" altLang="zh-CN" b="1" i="1">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latin typeface="黑体" panose="02010609060101010101" pitchFamily="49" charset="-122"/>
                    <a:ea typeface="黑体" panose="02010609060101010101" pitchFamily="49" charset="-122"/>
                  </a:rPr>
                  <a:t>的自由变量，因此对任意</a:t>
                </a:r>
                <a14:m>
                  <m:oMath xmlns:m="http://schemas.openxmlformats.org/officeDocument/2006/math">
                    <m:r>
                      <a:rPr lang="en-US" altLang="zh-CN" b="1" i="1">
                        <a:solidFill>
                          <a:schemeClr val="accent2">
                            <a:lumMod val="50000"/>
                          </a:schemeClr>
                        </a:solidFill>
                        <a:latin typeface="Cambria Math" panose="02040503050406030204" pitchFamily="18" charset="0"/>
                      </a:rPr>
                      <m:t>𝒅</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𝑫</m:t>
                    </m:r>
                  </m:oMath>
                </a14:m>
                <a:r>
                  <a:rPr lang="zh-CN" altLang="en-US" b="1">
                    <a:solidFill>
                      <a:schemeClr val="accent2">
                        <a:lumMod val="50000"/>
                      </a:schemeClr>
                    </a:solidFill>
                    <a:latin typeface="黑体" panose="02010609060101010101" pitchFamily="49" charset="-122"/>
                    <a:ea typeface="黑体" panose="02010609060101010101" pitchFamily="49" charset="-122"/>
                  </a:rPr>
                  <a:t>有</a:t>
                </a:r>
                <a14:m>
                  <m:oMath xmlns:m="http://schemas.openxmlformats.org/officeDocument/2006/math">
                    <m:r>
                      <a:rPr lang="en-US" altLang="zh-CN" b="1" i="1" smtClean="0">
                        <a:solidFill>
                          <a:srgbClr val="C00000"/>
                        </a:solidFill>
                        <a:latin typeface="Cambria Math" panose="02040503050406030204" pitchFamily="18" charset="0"/>
                      </a:rPr>
                      <m:t>𝝈</m:t>
                    </m:r>
                    <m:d>
                      <m:dPr>
                        <m:begChr m:val="["/>
                        <m:endChr m:val="]"/>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𝒙</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𝒅</m:t>
                        </m:r>
                      </m:e>
                    </m:d>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𝑩</m:t>
                        </m:r>
                      </m:e>
                    </m:d>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𝝈</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𝑩</m:t>
                        </m:r>
                      </m:e>
                    </m:d>
                  </m:oMath>
                </a14:m>
                <a:r>
                  <a:rPr lang="zh-CN" altLang="en-US" b="1">
                    <a:solidFill>
                      <a:schemeClr val="accent2">
                        <a:lumMod val="50000"/>
                      </a:schemeClr>
                    </a:solidFill>
                    <a:latin typeface="黑体" panose="02010609060101010101" pitchFamily="49" charset="-122"/>
                    <a:ea typeface="黑体" panose="02010609060101010101" pitchFamily="49" charset="-122"/>
                  </a:rPr>
                  <a:t>。</a:t>
                </a:r>
              </a:p>
            </p:txBody>
          </p:sp>
        </mc:Choice>
        <mc:Fallback xmlns="">
          <p:sp>
            <p:nvSpPr>
              <p:cNvPr id="12" name="文本框 11">
                <a:extLst>
                  <a:ext uri="{FF2B5EF4-FFF2-40B4-BE49-F238E27FC236}">
                    <a16:creationId xmlns:a16="http://schemas.microsoft.com/office/drawing/2014/main" id="{2DF2B426-1F6A-4A41-A078-2DE6D2F747CC}"/>
                  </a:ext>
                </a:extLst>
              </p:cNvPr>
              <p:cNvSpPr txBox="1">
                <a:spLocks noRot="1" noChangeAspect="1" noMove="1" noResize="1" noEditPoints="1" noAdjustHandles="1" noChangeArrowheads="1" noChangeShapeType="1" noTextEdit="1"/>
              </p:cNvSpPr>
              <p:nvPr/>
            </p:nvSpPr>
            <p:spPr>
              <a:xfrm>
                <a:off x="5841377" y="2281773"/>
                <a:ext cx="4166463" cy="724942"/>
              </a:xfrm>
              <a:prstGeom prst="rect">
                <a:avLst/>
              </a:prstGeom>
              <a:blipFill>
                <a:blip r:embed="rId5"/>
                <a:stretch>
                  <a:fillRect l="-1170" t="-2521" r="-1170" b="-10924"/>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08704F8F-D98E-43F5-9313-154127C5D665}"/>
              </a:ext>
            </a:extLst>
          </p:cNvPr>
          <p:cNvSpPr txBox="1"/>
          <p:nvPr/>
        </p:nvSpPr>
        <p:spPr>
          <a:xfrm>
            <a:off x="757736" y="2385824"/>
            <a:ext cx="975983" cy="400110"/>
          </a:xfrm>
          <a:prstGeom prst="rect">
            <a:avLst/>
          </a:prstGeom>
          <a:noFill/>
        </p:spPr>
        <p:txBody>
          <a:bodyPr wrap="square" rtlCol="0">
            <a:spAutoFit/>
          </a:bodyPr>
          <a:lstStyle/>
          <a:p>
            <a:pPr algn="ctr"/>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endParaRPr lang="zh-CN" altLang="en-US" sz="2000" b="1">
              <a:solidFill>
                <a:srgbClr val="C00000"/>
              </a:solidFill>
            </a:endParaRPr>
          </a:p>
        </p:txBody>
      </p:sp>
      <p:sp>
        <p:nvSpPr>
          <p:cNvPr id="3" name="文本框 2">
            <a:extLst>
              <a:ext uri="{FF2B5EF4-FFF2-40B4-BE49-F238E27FC236}">
                <a16:creationId xmlns:a16="http://schemas.microsoft.com/office/drawing/2014/main" id="{153B5C61-401F-4DF5-AD14-69D4888A35E2}"/>
              </a:ext>
            </a:extLst>
          </p:cNvPr>
          <p:cNvSpPr txBox="1"/>
          <p:nvPr/>
        </p:nvSpPr>
        <p:spPr>
          <a:xfrm>
            <a:off x="7826003" y="5510021"/>
            <a:ext cx="3102654" cy="369332"/>
          </a:xfrm>
          <a:prstGeom prst="rect">
            <a:avLst/>
          </a:prstGeom>
          <a:solidFill>
            <a:schemeClr val="accent2">
              <a:lumMod val="50000"/>
            </a:schemeClr>
          </a:solidFill>
        </p:spPr>
        <p:txBody>
          <a:bodyPr wrap="square" rtlCol="0">
            <a:spAutoFit/>
          </a:bodyPr>
          <a:lstStyle/>
          <a:p>
            <a:r>
              <a:rPr lang="zh-CN" altLang="en-US" b="1">
                <a:solidFill>
                  <a:schemeClr val="bg1"/>
                </a:solidFill>
              </a:rPr>
              <a:t>这是错误的证明，错在哪里？</a:t>
            </a:r>
          </a:p>
        </p:txBody>
      </p:sp>
      <p:grpSp>
        <p:nvGrpSpPr>
          <p:cNvPr id="18" name="组合 17">
            <a:extLst>
              <a:ext uri="{FF2B5EF4-FFF2-40B4-BE49-F238E27FC236}">
                <a16:creationId xmlns:a16="http://schemas.microsoft.com/office/drawing/2014/main" id="{F3CCE4B0-62A2-0BBC-E8FF-101077C5657E}"/>
              </a:ext>
            </a:extLst>
          </p:cNvPr>
          <p:cNvGrpSpPr/>
          <p:nvPr/>
        </p:nvGrpSpPr>
        <p:grpSpPr>
          <a:xfrm>
            <a:off x="1393794" y="4598633"/>
            <a:ext cx="3293616" cy="930623"/>
            <a:chOff x="1393794" y="4598633"/>
            <a:chExt cx="3293616" cy="930623"/>
          </a:xfrm>
        </p:grpSpPr>
        <p:cxnSp>
          <p:nvCxnSpPr>
            <p:cNvPr id="15" name="直接连接符 14">
              <a:extLst>
                <a:ext uri="{FF2B5EF4-FFF2-40B4-BE49-F238E27FC236}">
                  <a16:creationId xmlns:a16="http://schemas.microsoft.com/office/drawing/2014/main" id="{733ADDF3-C55F-2103-CBA2-1BC14B28DDB1}"/>
                </a:ext>
              </a:extLst>
            </p:cNvPr>
            <p:cNvCxnSpPr/>
            <p:nvPr/>
          </p:nvCxnSpPr>
          <p:spPr>
            <a:xfrm>
              <a:off x="1393794" y="4598633"/>
              <a:ext cx="329361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D756D8C-B5C7-BD26-8359-773F98F5FB54}"/>
                </a:ext>
              </a:extLst>
            </p:cNvPr>
            <p:cNvCxnSpPr/>
            <p:nvPr/>
          </p:nvCxnSpPr>
          <p:spPr>
            <a:xfrm>
              <a:off x="1393794" y="5529256"/>
              <a:ext cx="329361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868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animBg="1"/>
      <p:bldP spid="6" grpId="0" animBg="1"/>
      <p:bldP spid="12" grpId="0" animBg="1"/>
      <p:bldP spid="14"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E0832956-6D0C-46EB-8296-7AE18E560190}"/>
              </a:ext>
            </a:extLst>
          </p:cNvPr>
          <p:cNvSpPr/>
          <p:nvPr/>
        </p:nvSpPr>
        <p:spPr>
          <a:xfrm>
            <a:off x="701759" y="2118668"/>
            <a:ext cx="10680945" cy="3908993"/>
          </a:xfrm>
          <a:prstGeom prst="roundRect">
            <a:avLst>
              <a:gd name="adj" fmla="val 5984"/>
            </a:avLst>
          </a:prstGeom>
          <a:solidFill>
            <a:schemeClr val="bg1">
              <a:lumMod val="95000"/>
              <a:alpha val="7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一阶逻辑公式逻辑等值式证明举例*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1B551DD-6371-4817-AA3C-7F47D4473268}"/>
                  </a:ext>
                </a:extLst>
              </p:cNvPr>
              <p:cNvSpPr txBox="1"/>
              <p:nvPr/>
            </p:nvSpPr>
            <p:spPr>
              <a:xfrm>
                <a:off x="701759" y="1384163"/>
                <a:ext cx="7742797"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𝒙</m:t>
                    </m:r>
                  </m:oMath>
                </a14:m>
                <a:r>
                  <a:rPr lang="zh-CN" altLang="en-US" sz="2400" b="1">
                    <a:solidFill>
                      <a:srgbClr val="002060"/>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的自由变量，证明</a:t>
                </a:r>
                <a14:m>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41B551DD-6371-4817-AA3C-7F47D4473268}"/>
                  </a:ext>
                </a:extLst>
              </p:cNvPr>
              <p:cNvSpPr txBox="1">
                <a:spLocks noRot="1" noChangeAspect="1" noMove="1" noResize="1" noEditPoints="1" noAdjustHandles="1" noChangeArrowheads="1" noChangeShapeType="1" noTextEdit="1"/>
              </p:cNvSpPr>
              <p:nvPr/>
            </p:nvSpPr>
            <p:spPr>
              <a:xfrm>
                <a:off x="701759" y="1384163"/>
                <a:ext cx="7742797" cy="461665"/>
              </a:xfrm>
              <a:prstGeom prst="rect">
                <a:avLst/>
              </a:prstGeom>
              <a:blipFill>
                <a:blip r:embed="rId2"/>
                <a:stretch>
                  <a:fillRect l="-1181"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344EFE3-1B2E-4141-BFE6-9F4AA4FCFFA3}"/>
                  </a:ext>
                </a:extLst>
              </p:cNvPr>
              <p:cNvSpPr txBox="1"/>
              <p:nvPr/>
            </p:nvSpPr>
            <p:spPr>
              <a:xfrm>
                <a:off x="1721961" y="2198849"/>
                <a:ext cx="3442823" cy="775277"/>
              </a:xfrm>
              <a:prstGeom prst="rect">
                <a:avLst/>
              </a:prstGeom>
              <a:solidFill>
                <a:schemeClr val="accent4">
                  <a:lumMod val="20000"/>
                  <a:lumOff val="80000"/>
                </a:schemeClr>
              </a:solidFill>
            </p:spPr>
            <p:txBody>
              <a:bodyPr wrap="square" rtlCol="0">
                <a:spAutoFit/>
              </a:bodyPr>
              <a:lstStyle/>
              <a:p>
                <a:pPr>
                  <a:lnSpc>
                    <a:spcPts val="2800"/>
                  </a:lnSpc>
                </a:pPr>
                <a:r>
                  <a:rPr lang="zh-CN" altLang="en-US" sz="2000" b="1">
                    <a:solidFill>
                      <a:srgbClr val="002060"/>
                    </a:solidFill>
                    <a:latin typeface="楷体" panose="02010609060101010101" pitchFamily="49" charset="-122"/>
                    <a:ea typeface="楷体" panose="02010609060101010101" pitchFamily="49" charset="-122"/>
                  </a:rPr>
                  <a:t>对任意解释（设论域是</a:t>
                </a:r>
                <a14:m>
                  <m:oMath xmlns:m="http://schemas.openxmlformats.org/officeDocument/2006/math">
                    <m:r>
                      <a:rPr lang="en-US" altLang="zh-CN" sz="2000" b="1" i="1" smtClean="0">
                        <a:solidFill>
                          <a:srgbClr val="002060"/>
                        </a:solidFill>
                        <a:latin typeface="Cambria Math" panose="02040503050406030204" pitchFamily="18" charset="0"/>
                      </a:rPr>
                      <m:t>𝑫</m:t>
                    </m:r>
                    <m:r>
                      <m:rPr>
                        <m:nor/>
                      </m:rPr>
                      <a:rPr lang="zh-CN" altLang="en-US" sz="2000" b="1">
                        <a:solidFill>
                          <a:srgbClr val="002060"/>
                        </a:solidFill>
                        <a:latin typeface="楷体" panose="02010609060101010101" pitchFamily="49" charset="-122"/>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，及任意个体变量指派函数</a:t>
                </a:r>
                <a14:m>
                  <m:oMath xmlns:m="http://schemas.openxmlformats.org/officeDocument/2006/math">
                    <m:r>
                      <a:rPr lang="en-US" altLang="zh-CN" sz="2000" b="1" i="1" smtClean="0">
                        <a:solidFill>
                          <a:srgbClr val="002060"/>
                        </a:solidFill>
                        <a:latin typeface="Cambria Math" panose="02040503050406030204" pitchFamily="18" charset="0"/>
                      </a:rPr>
                      <m:t>𝝈</m:t>
                    </m:r>
                  </m:oMath>
                </a14:m>
                <a:r>
                  <a:rPr lang="zh-CN" altLang="en-US" sz="2000" b="1" i="0">
                    <a:solidFill>
                      <a:srgbClr val="002060"/>
                    </a:solidFill>
                    <a:latin typeface="楷体" panose="02010609060101010101" pitchFamily="49" charset="-122"/>
                    <a:ea typeface="楷体" panose="02010609060101010101" pitchFamily="49" charset="-122"/>
                  </a:rPr>
                  <a:t>。</a:t>
                </a:r>
                <a:endParaRPr lang="en-US" altLang="zh-CN" sz="2000" b="1" i="0">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F344EFE3-1B2E-4141-BFE6-9F4AA4FCFFA3}"/>
                  </a:ext>
                </a:extLst>
              </p:cNvPr>
              <p:cNvSpPr txBox="1">
                <a:spLocks noRot="1" noChangeAspect="1" noMove="1" noResize="1" noEditPoints="1" noAdjustHandles="1" noChangeArrowheads="1" noChangeShapeType="1" noTextEdit="1"/>
              </p:cNvSpPr>
              <p:nvPr/>
            </p:nvSpPr>
            <p:spPr>
              <a:xfrm>
                <a:off x="1721961" y="2198849"/>
                <a:ext cx="3442823" cy="775277"/>
              </a:xfrm>
              <a:prstGeom prst="rect">
                <a:avLst/>
              </a:prstGeom>
              <a:blipFill>
                <a:blip r:embed="rId3"/>
                <a:stretch>
                  <a:fillRect l="-1770" t="-3937" r="-1770" b="-118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18FDEBA-EF17-47B8-BF46-06A89C3F6D0D}"/>
                  </a:ext>
                </a:extLst>
              </p:cNvPr>
              <p:cNvSpPr txBox="1"/>
              <p:nvPr/>
            </p:nvSpPr>
            <p:spPr>
              <a:xfrm>
                <a:off x="932006" y="3179759"/>
                <a:ext cx="10260138" cy="2668744"/>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spcAft>
                    <a:spcPts val="600"/>
                  </a:spcAft>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或</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。分两种情况：</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lnSpc>
                    <a:spcPts val="2800"/>
                  </a:lnSpc>
                  <a:spcBef>
                    <a:spcPts val="600"/>
                  </a:spcBef>
                  <a:spcAft>
                    <a:spcPts val="600"/>
                  </a:spcAf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，则对任意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e>
                    </m:d>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，从而对任意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e>
                    </m:d>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lnSpc>
                    <a:spcPts val="2800"/>
                  </a:lnSpc>
                  <a:spcBef>
                    <a:spcPts val="600"/>
                  </a:spcBef>
                  <a:spcAft>
                    <a:spcPts val="600"/>
                  </a:spcAf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，即对任意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e>
                    </m:d>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，从而对任意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e>
                    </m:d>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a:lnSpc>
                    <a:spcPts val="2800"/>
                  </a:lnSpc>
                  <a:spcBef>
                    <a:spcPts val="600"/>
                  </a:spcBef>
                  <a:spcAft>
                    <a:spcPts val="600"/>
                  </a:spcAft>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综上证明了，当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𝒙𝑨</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时总有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p>
            </p:txBody>
          </p:sp>
        </mc:Choice>
        <mc:Fallback xmlns="">
          <p:sp>
            <p:nvSpPr>
              <p:cNvPr id="11" name="文本框 10">
                <a:extLst>
                  <a:ext uri="{FF2B5EF4-FFF2-40B4-BE49-F238E27FC236}">
                    <a16:creationId xmlns:a16="http://schemas.microsoft.com/office/drawing/2014/main" id="{F18FDEBA-EF17-47B8-BF46-06A89C3F6D0D}"/>
                  </a:ext>
                </a:extLst>
              </p:cNvPr>
              <p:cNvSpPr txBox="1">
                <a:spLocks noRot="1" noChangeAspect="1" noMove="1" noResize="1" noEditPoints="1" noAdjustHandles="1" noChangeArrowheads="1" noChangeShapeType="1" noTextEdit="1"/>
              </p:cNvSpPr>
              <p:nvPr/>
            </p:nvSpPr>
            <p:spPr>
              <a:xfrm>
                <a:off x="932006" y="3179759"/>
                <a:ext cx="10260138" cy="2668744"/>
              </a:xfrm>
              <a:prstGeom prst="rect">
                <a:avLst/>
              </a:prstGeom>
              <a:blipFill>
                <a:blip r:embed="rId4"/>
                <a:stretch>
                  <a:fillRect l="-535" t="-229" r="-2733" b="-6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DF2B426-1F6A-4A41-A078-2DE6D2F747CC}"/>
                  </a:ext>
                </a:extLst>
              </p:cNvPr>
              <p:cNvSpPr txBox="1"/>
              <p:nvPr/>
            </p:nvSpPr>
            <p:spPr>
              <a:xfrm>
                <a:off x="5834820" y="2237973"/>
                <a:ext cx="4158652" cy="724942"/>
              </a:xfrm>
              <a:prstGeom prst="rect">
                <a:avLst/>
              </a:prstGeom>
              <a:solidFill>
                <a:schemeClr val="accent4">
                  <a:lumMod val="20000"/>
                  <a:lumOff val="80000"/>
                  <a:alpha val="50000"/>
                </a:schemeClr>
              </a:solidFill>
            </p:spPr>
            <p:txBody>
              <a:bodyPr wrap="square" rtlCol="0">
                <a:spAutoFit/>
              </a:bodyPr>
              <a:lstStyle/>
              <a:p>
                <a:pPr>
                  <a:lnSpc>
                    <a:spcPts val="2600"/>
                  </a:lnSpc>
                </a:pPr>
                <a:r>
                  <a:rPr lang="zh-CN" altLang="en-US" b="1">
                    <a:solidFill>
                      <a:schemeClr val="accent2">
                        <a:lumMod val="50000"/>
                      </a:schemeClr>
                    </a:solidFill>
                    <a:latin typeface="黑体" panose="02010609060101010101" pitchFamily="49" charset="-122"/>
                    <a:ea typeface="黑体" panose="02010609060101010101" pitchFamily="49" charset="-122"/>
                  </a:rPr>
                  <a:t>首先，由于</a:t>
                </a:r>
                <a14:m>
                  <m:oMath xmlns:m="http://schemas.openxmlformats.org/officeDocument/2006/math">
                    <m:r>
                      <a:rPr lang="en-US" altLang="zh-CN" b="1" i="1">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latin typeface="黑体" panose="02010609060101010101" pitchFamily="49" charset="-122"/>
                    <a:ea typeface="黑体" panose="02010609060101010101" pitchFamily="49" charset="-122"/>
                  </a:rPr>
                  <a:t>不是</a:t>
                </a:r>
                <a14:m>
                  <m:oMath xmlns:m="http://schemas.openxmlformats.org/officeDocument/2006/math">
                    <m:r>
                      <a:rPr lang="en-US" altLang="zh-CN" b="1" i="1">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latin typeface="黑体" panose="02010609060101010101" pitchFamily="49" charset="-122"/>
                    <a:ea typeface="黑体" panose="02010609060101010101" pitchFamily="49" charset="-122"/>
                  </a:rPr>
                  <a:t>的自由变量，因此对任意</a:t>
                </a:r>
                <a14:m>
                  <m:oMath xmlns:m="http://schemas.openxmlformats.org/officeDocument/2006/math">
                    <m:r>
                      <a:rPr lang="en-US" altLang="zh-CN" b="1" i="1">
                        <a:solidFill>
                          <a:schemeClr val="accent2">
                            <a:lumMod val="50000"/>
                          </a:schemeClr>
                        </a:solidFill>
                        <a:latin typeface="Cambria Math" panose="02040503050406030204" pitchFamily="18" charset="0"/>
                      </a:rPr>
                      <m:t>𝒅</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𝑫</m:t>
                    </m:r>
                  </m:oMath>
                </a14:m>
                <a:r>
                  <a:rPr lang="zh-CN" altLang="en-US" b="1">
                    <a:solidFill>
                      <a:schemeClr val="accent2">
                        <a:lumMod val="50000"/>
                      </a:schemeClr>
                    </a:solidFill>
                    <a:latin typeface="黑体" panose="02010609060101010101" pitchFamily="49" charset="-122"/>
                    <a:ea typeface="黑体" panose="02010609060101010101" pitchFamily="49" charset="-122"/>
                  </a:rPr>
                  <a:t>有</a:t>
                </a:r>
                <a14:m>
                  <m:oMath xmlns:m="http://schemas.openxmlformats.org/officeDocument/2006/math">
                    <m:r>
                      <a:rPr lang="en-US" altLang="zh-CN" b="1" i="1" smtClean="0">
                        <a:solidFill>
                          <a:srgbClr val="C00000"/>
                        </a:solidFill>
                        <a:latin typeface="Cambria Math" panose="02040503050406030204" pitchFamily="18" charset="0"/>
                      </a:rPr>
                      <m:t>𝝈</m:t>
                    </m:r>
                    <m:d>
                      <m:dPr>
                        <m:begChr m:val="["/>
                        <m:endChr m:val="]"/>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𝒙</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𝒅</m:t>
                        </m:r>
                      </m:e>
                    </m:d>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𝑩</m:t>
                        </m:r>
                      </m:e>
                    </m:d>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𝝈</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𝑩</m:t>
                        </m:r>
                      </m:e>
                    </m:d>
                  </m:oMath>
                </a14:m>
                <a:r>
                  <a:rPr lang="zh-CN" altLang="en-US" b="1">
                    <a:solidFill>
                      <a:schemeClr val="accent2">
                        <a:lumMod val="50000"/>
                      </a:schemeClr>
                    </a:solidFill>
                    <a:latin typeface="黑体" panose="02010609060101010101" pitchFamily="49" charset="-122"/>
                    <a:ea typeface="黑体" panose="02010609060101010101" pitchFamily="49" charset="-122"/>
                  </a:rPr>
                  <a:t>。</a:t>
                </a:r>
              </a:p>
            </p:txBody>
          </p:sp>
        </mc:Choice>
        <mc:Fallback xmlns="">
          <p:sp>
            <p:nvSpPr>
              <p:cNvPr id="12" name="文本框 11">
                <a:extLst>
                  <a:ext uri="{FF2B5EF4-FFF2-40B4-BE49-F238E27FC236}">
                    <a16:creationId xmlns:a16="http://schemas.microsoft.com/office/drawing/2014/main" id="{2DF2B426-1F6A-4A41-A078-2DE6D2F747CC}"/>
                  </a:ext>
                </a:extLst>
              </p:cNvPr>
              <p:cNvSpPr txBox="1">
                <a:spLocks noRot="1" noChangeAspect="1" noMove="1" noResize="1" noEditPoints="1" noAdjustHandles="1" noChangeArrowheads="1" noChangeShapeType="1" noTextEdit="1"/>
              </p:cNvSpPr>
              <p:nvPr/>
            </p:nvSpPr>
            <p:spPr>
              <a:xfrm>
                <a:off x="5834820" y="2237973"/>
                <a:ext cx="4158652" cy="724942"/>
              </a:xfrm>
              <a:prstGeom prst="rect">
                <a:avLst/>
              </a:prstGeom>
              <a:blipFill>
                <a:blip r:embed="rId5"/>
                <a:stretch>
                  <a:fillRect l="-1173" t="-2521" b="-10924"/>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08704F8F-D98E-43F5-9313-154127C5D665}"/>
              </a:ext>
            </a:extLst>
          </p:cNvPr>
          <p:cNvSpPr txBox="1"/>
          <p:nvPr/>
        </p:nvSpPr>
        <p:spPr>
          <a:xfrm>
            <a:off x="747808" y="2321959"/>
            <a:ext cx="974153" cy="400110"/>
          </a:xfrm>
          <a:prstGeom prst="rect">
            <a:avLst/>
          </a:prstGeom>
          <a:noFill/>
        </p:spPr>
        <p:txBody>
          <a:bodyPr wrap="square" rtlCol="0">
            <a:spAutoFit/>
          </a:bodyPr>
          <a:lstStyle/>
          <a:p>
            <a:pPr algn="ctr"/>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endParaRPr lang="zh-CN" altLang="en-US" sz="2000" b="1">
              <a:solidFill>
                <a:srgbClr val="C00000"/>
              </a:solidFill>
            </a:endParaRPr>
          </a:p>
        </p:txBody>
      </p:sp>
      <p:cxnSp>
        <p:nvCxnSpPr>
          <p:cNvPr id="35" name="直接连接符 34">
            <a:extLst>
              <a:ext uri="{FF2B5EF4-FFF2-40B4-BE49-F238E27FC236}">
                <a16:creationId xmlns:a16="http://schemas.microsoft.com/office/drawing/2014/main" id="{3CF56BB9-F537-4EFF-8BAC-4836B7D14F38}"/>
              </a:ext>
            </a:extLst>
          </p:cNvPr>
          <p:cNvCxnSpPr>
            <a:cxnSpLocks/>
          </p:cNvCxnSpPr>
          <p:nvPr/>
        </p:nvCxnSpPr>
        <p:spPr>
          <a:xfrm>
            <a:off x="3894673" y="4961556"/>
            <a:ext cx="3370079"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3FD81FF-56DD-44F6-B7B1-9E8D4CE35607}"/>
              </a:ext>
            </a:extLst>
          </p:cNvPr>
          <p:cNvCxnSpPr>
            <a:cxnSpLocks/>
          </p:cNvCxnSpPr>
          <p:nvPr/>
        </p:nvCxnSpPr>
        <p:spPr>
          <a:xfrm>
            <a:off x="7934097" y="4961556"/>
            <a:ext cx="3159263"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725C4CA5-4A8C-40BE-83BC-7286AD9E2FAD}"/>
              </a:ext>
            </a:extLst>
          </p:cNvPr>
          <p:cNvSpPr txBox="1"/>
          <p:nvPr/>
        </p:nvSpPr>
        <p:spPr>
          <a:xfrm>
            <a:off x="7070688" y="4412312"/>
            <a:ext cx="388127" cy="338554"/>
          </a:xfrm>
          <a:prstGeom prst="rect">
            <a:avLst/>
          </a:prstGeom>
          <a:noFill/>
        </p:spPr>
        <p:txBody>
          <a:bodyPr wrap="square" rtlCol="0">
            <a:spAutoFit/>
          </a:bodyPr>
          <a:lstStyle/>
          <a:p>
            <a:pPr algn="ctr"/>
            <a:r>
              <a:rPr lang="zh-CN" altLang="en-US" sz="1600" b="1">
                <a:solidFill>
                  <a:srgbClr val="C00000"/>
                </a:solidFill>
              </a:rPr>
              <a:t>④</a:t>
            </a:r>
          </a:p>
        </p:txBody>
      </p:sp>
      <p:sp>
        <p:nvSpPr>
          <p:cNvPr id="43" name="文本框 42">
            <a:extLst>
              <a:ext uri="{FF2B5EF4-FFF2-40B4-BE49-F238E27FC236}">
                <a16:creationId xmlns:a16="http://schemas.microsoft.com/office/drawing/2014/main" id="{5ED2CB8F-D36C-4347-A4CB-22D16DE4D5C9}"/>
              </a:ext>
            </a:extLst>
          </p:cNvPr>
          <p:cNvSpPr txBox="1"/>
          <p:nvPr/>
        </p:nvSpPr>
        <p:spPr>
          <a:xfrm>
            <a:off x="10994577" y="4461232"/>
            <a:ext cx="388127" cy="338554"/>
          </a:xfrm>
          <a:prstGeom prst="rect">
            <a:avLst/>
          </a:prstGeom>
          <a:noFill/>
        </p:spPr>
        <p:txBody>
          <a:bodyPr wrap="square" rtlCol="0">
            <a:spAutoFit/>
          </a:bodyPr>
          <a:lstStyle/>
          <a:p>
            <a:pPr algn="ctr"/>
            <a:r>
              <a:rPr lang="zh-CN" altLang="en-US" sz="1600" b="1">
                <a:solidFill>
                  <a:srgbClr val="C00000"/>
                </a:solidFill>
              </a:rPr>
              <a:t>⑤</a:t>
            </a:r>
          </a:p>
        </p:txBody>
      </p:sp>
      <p:sp>
        <p:nvSpPr>
          <p:cNvPr id="44" name="文本框 43">
            <a:extLst>
              <a:ext uri="{FF2B5EF4-FFF2-40B4-BE49-F238E27FC236}">
                <a16:creationId xmlns:a16="http://schemas.microsoft.com/office/drawing/2014/main" id="{F8808048-B4BE-4117-8CBE-ABAADCB35BDC}"/>
              </a:ext>
            </a:extLst>
          </p:cNvPr>
          <p:cNvSpPr txBox="1"/>
          <p:nvPr/>
        </p:nvSpPr>
        <p:spPr>
          <a:xfrm>
            <a:off x="9205246" y="1295264"/>
            <a:ext cx="1789331" cy="646331"/>
          </a:xfrm>
          <a:prstGeom prst="rect">
            <a:avLst/>
          </a:prstGeom>
          <a:solidFill>
            <a:schemeClr val="accent4">
              <a:lumMod val="40000"/>
              <a:lumOff val="60000"/>
            </a:schemeClr>
          </a:solidFill>
        </p:spPr>
        <p:txBody>
          <a:bodyPr wrap="square" rtlCol="0">
            <a:spAutoFit/>
          </a:bodyPr>
          <a:lstStyle/>
          <a:p>
            <a:r>
              <a:rPr lang="zh-CN" altLang="en-US" b="1">
                <a:solidFill>
                  <a:schemeClr val="accent1">
                    <a:lumMod val="50000"/>
                  </a:schemeClr>
                </a:solidFill>
              </a:rPr>
              <a:t>④推出⑤是什么推理规则？</a:t>
            </a:r>
          </a:p>
        </p:txBody>
      </p:sp>
      <p:cxnSp>
        <p:nvCxnSpPr>
          <p:cNvPr id="34" name="直接连接符 33">
            <a:extLst>
              <a:ext uri="{FF2B5EF4-FFF2-40B4-BE49-F238E27FC236}">
                <a16:creationId xmlns:a16="http://schemas.microsoft.com/office/drawing/2014/main" id="{6017F60A-F32C-4A16-9A77-A7F85B6C582B}"/>
              </a:ext>
            </a:extLst>
          </p:cNvPr>
          <p:cNvCxnSpPr>
            <a:cxnSpLocks/>
          </p:cNvCxnSpPr>
          <p:nvPr/>
        </p:nvCxnSpPr>
        <p:spPr>
          <a:xfrm>
            <a:off x="1364125" y="5303511"/>
            <a:ext cx="86418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27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2" grpId="0"/>
      <p:bldP spid="43" grpId="0"/>
      <p:bldP spid="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076129" y="1908320"/>
            <a:ext cx="4845699"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一阶逻辑公式的逻辑等值</a:t>
            </a:r>
            <a:r>
              <a:rPr lang="zh-CN" altLang="en-US" sz="3200" b="1">
                <a:solidFill>
                  <a:schemeClr val="accent6">
                    <a:lumMod val="50000"/>
                  </a:schemeClr>
                </a:solidFill>
                <a:latin typeface="仿宋" panose="02010609060101010101" pitchFamily="49" charset="-122"/>
                <a:ea typeface="仿宋" panose="02010609060101010101" pitchFamily="49" charset="-122"/>
              </a:rPr>
              <a:t>量词公式的基本等值式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一阶逻辑公式的前束范式</a:t>
            </a:r>
            <a:endParaRPr lang="en-US" altLang="zh-CN" sz="3200" b="1">
              <a:solidFill>
                <a:schemeClr val="bg2"/>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4162670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一阶逻辑的基本等值式</a:t>
            </a:r>
          </a:p>
        </p:txBody>
      </p:sp>
      <p:sp>
        <p:nvSpPr>
          <p:cNvPr id="2" name="文本框 1">
            <a:extLst>
              <a:ext uri="{FF2B5EF4-FFF2-40B4-BE49-F238E27FC236}">
                <a16:creationId xmlns:a16="http://schemas.microsoft.com/office/drawing/2014/main" id="{AA790599-285B-4A74-819E-23ADC4FD2BA8}"/>
              </a:ext>
            </a:extLst>
          </p:cNvPr>
          <p:cNvSpPr txBox="1"/>
          <p:nvPr/>
        </p:nvSpPr>
        <p:spPr>
          <a:xfrm>
            <a:off x="559166" y="1177536"/>
            <a:ext cx="7277211" cy="1220142"/>
          </a:xfrm>
          <a:prstGeom prst="rect">
            <a:avLst/>
          </a:prstGeom>
          <a:solidFill>
            <a:schemeClr val="accent4">
              <a:lumMod val="20000"/>
              <a:lumOff val="80000"/>
              <a:alpha val="50000"/>
            </a:schemeClr>
          </a:solidFill>
        </p:spPr>
        <p:txBody>
          <a:bodyPr wrap="square" rtlCol="0">
            <a:spAutoFit/>
          </a:bodyPr>
          <a:lstStyle/>
          <a:p>
            <a:pPr>
              <a:lnSpc>
                <a:spcPts val="2600"/>
              </a:lnSpc>
              <a:spcBef>
                <a:spcPts val="600"/>
              </a:spcBef>
              <a:spcAft>
                <a:spcPts val="600"/>
              </a:spcAft>
            </a:pPr>
            <a:r>
              <a:rPr lang="zh-CN" altLang="en-US" b="1">
                <a:solidFill>
                  <a:schemeClr val="accent2">
                    <a:lumMod val="50000"/>
                  </a:schemeClr>
                </a:solidFill>
              </a:rPr>
              <a:t>一阶逻辑的等值演算本质上与命题逻辑等值演算相同</a:t>
            </a:r>
            <a:endParaRPr lang="en-US" altLang="zh-CN" b="1">
              <a:solidFill>
                <a:schemeClr val="accent2">
                  <a:lumMod val="50000"/>
                </a:schemeClr>
              </a:solidFill>
            </a:endParaRPr>
          </a:p>
          <a:p>
            <a:pPr marL="285750" indent="-285750">
              <a:lnSpc>
                <a:spcPts val="2600"/>
              </a:lnSpc>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根据</a:t>
            </a:r>
            <a:r>
              <a:rPr lang="zh-CN" altLang="en-US" b="1">
                <a:solidFill>
                  <a:srgbClr val="C00000"/>
                </a:solidFill>
                <a:latin typeface="黑体" panose="02010609060101010101" pitchFamily="49" charset="-122"/>
                <a:ea typeface="黑体" panose="02010609060101010101" pitchFamily="49" charset="-122"/>
              </a:rPr>
              <a:t>基本逻辑等值式模式</a:t>
            </a:r>
            <a:r>
              <a:rPr lang="zh-CN" altLang="en-US" b="1">
                <a:solidFill>
                  <a:srgbClr val="002060"/>
                </a:solidFill>
                <a:latin typeface="楷体" panose="02010609060101010101" pitchFamily="49" charset="-122"/>
                <a:ea typeface="楷体" panose="02010609060101010101" pitchFamily="49" charset="-122"/>
              </a:rPr>
              <a:t>，从基本逻辑等值式出发，通过</a:t>
            </a:r>
            <a:r>
              <a:rPr lang="zh-CN" altLang="en-US" b="1">
                <a:solidFill>
                  <a:srgbClr val="C00000"/>
                </a:solidFill>
                <a:latin typeface="黑体" panose="02010609060101010101" pitchFamily="49" charset="-122"/>
                <a:ea typeface="黑体" panose="02010609060101010101" pitchFamily="49" charset="-122"/>
              </a:rPr>
              <a:t>等值子公式置换</a:t>
            </a:r>
            <a:r>
              <a:rPr lang="zh-CN" altLang="en-US" b="1">
                <a:solidFill>
                  <a:srgbClr val="002060"/>
                </a:solidFill>
                <a:latin typeface="楷体" panose="02010609060101010101" pitchFamily="49" charset="-122"/>
                <a:ea typeface="楷体" panose="02010609060101010101" pitchFamily="49" charset="-122"/>
              </a:rPr>
              <a:t>的方式对公式进行演算变形，从而验证两个公式逻辑等值</a:t>
            </a:r>
            <a:endParaRPr lang="zh-CN" altLang="en-US"/>
          </a:p>
        </p:txBody>
      </p:sp>
      <p:sp>
        <p:nvSpPr>
          <p:cNvPr id="3" name="文本框 2">
            <a:extLst>
              <a:ext uri="{FF2B5EF4-FFF2-40B4-BE49-F238E27FC236}">
                <a16:creationId xmlns:a16="http://schemas.microsoft.com/office/drawing/2014/main" id="{54F06E81-7F6E-4D7F-9C45-1345B1743AC5}"/>
              </a:ext>
            </a:extLst>
          </p:cNvPr>
          <p:cNvSpPr txBox="1"/>
          <p:nvPr/>
        </p:nvSpPr>
        <p:spPr>
          <a:xfrm>
            <a:off x="559166" y="2680443"/>
            <a:ext cx="10584673" cy="369332"/>
          </a:xfrm>
          <a:prstGeom prst="rect">
            <a:avLst/>
          </a:prstGeom>
          <a:solidFill>
            <a:schemeClr val="accent5">
              <a:lumMod val="20000"/>
              <a:lumOff val="80000"/>
              <a:alpha val="50000"/>
            </a:schemeClr>
          </a:solidFill>
        </p:spPr>
        <p:txBody>
          <a:bodyPr wrap="square" rtlCol="0">
            <a:spAutoFit/>
          </a:bodyPr>
          <a:lstStyle/>
          <a:p>
            <a:r>
              <a:rPr lang="zh-CN" altLang="en-US" b="1">
                <a:solidFill>
                  <a:srgbClr val="002060"/>
                </a:solidFill>
              </a:rPr>
              <a:t>一阶逻辑的基本逻辑等值式可分为两类：</a:t>
            </a:r>
            <a:r>
              <a:rPr lang="zh-CN" altLang="en-US" b="1">
                <a:solidFill>
                  <a:srgbClr val="C00000"/>
                </a:solidFill>
              </a:rPr>
              <a:t>命题逻辑基本逻辑等值式的替换实例</a:t>
            </a:r>
            <a:r>
              <a:rPr lang="zh-CN" altLang="en-US" b="1">
                <a:solidFill>
                  <a:srgbClr val="002060"/>
                </a:solidFill>
              </a:rPr>
              <a:t>和</a:t>
            </a:r>
            <a:r>
              <a:rPr lang="zh-CN" altLang="en-US" b="1">
                <a:solidFill>
                  <a:srgbClr val="C00000"/>
                </a:solidFill>
              </a:rPr>
              <a:t>量词公式的基本等值式</a:t>
            </a:r>
          </a:p>
        </p:txBody>
      </p:sp>
      <p:sp>
        <p:nvSpPr>
          <p:cNvPr id="6" name="文本框 5">
            <a:extLst>
              <a:ext uri="{FF2B5EF4-FFF2-40B4-BE49-F238E27FC236}">
                <a16:creationId xmlns:a16="http://schemas.microsoft.com/office/drawing/2014/main" id="{917E6A59-488D-4E9D-97DE-6BDEB8801569}"/>
              </a:ext>
            </a:extLst>
          </p:cNvPr>
          <p:cNvSpPr txBox="1"/>
          <p:nvPr/>
        </p:nvSpPr>
        <p:spPr>
          <a:xfrm>
            <a:off x="559166" y="3199984"/>
            <a:ext cx="6183712" cy="1962204"/>
          </a:xfrm>
          <a:prstGeom prst="rect">
            <a:avLst/>
          </a:prstGeom>
          <a:solidFill>
            <a:schemeClr val="accent2">
              <a:lumMod val="40000"/>
              <a:lumOff val="60000"/>
              <a:alpha val="25000"/>
            </a:schemeClr>
          </a:solidFill>
        </p:spPr>
        <p:txBody>
          <a:bodyPr wrap="square" rtlCol="0">
            <a:spAutoFit/>
          </a:bodyPr>
          <a:lstStyle/>
          <a:p>
            <a:pPr algn="ctr">
              <a:lnSpc>
                <a:spcPts val="2600"/>
              </a:lnSpc>
              <a:spcBef>
                <a:spcPts val="600"/>
              </a:spcBef>
            </a:pPr>
            <a:r>
              <a:rPr lang="zh-CN" altLang="en-US" sz="2000" b="1">
                <a:solidFill>
                  <a:srgbClr val="C00000"/>
                </a:solidFill>
              </a:rPr>
              <a:t>命题逻辑基本逻辑等值式</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命题逻辑基本等值式模式主要与逻辑运算符的代数性质有关</a:t>
            </a:r>
          </a:p>
          <a:p>
            <a:pPr marL="285750" indent="-285750">
              <a:lnSpc>
                <a:spcPts val="2800"/>
              </a:lnSpc>
              <a:spcBef>
                <a:spcPts val="600"/>
              </a:spcBef>
              <a:buFont typeface="Arial" panose="020B0604020202020204" pitchFamily="34" charset="0"/>
              <a:buChar char="•"/>
            </a:pPr>
            <a:r>
              <a:rPr lang="zh-CN" altLang="en-US" b="1">
                <a:solidFill>
                  <a:schemeClr val="accent6">
                    <a:lumMod val="50000"/>
                  </a:schemeClr>
                </a:solidFill>
                <a:latin typeface="+mn-ea"/>
              </a:rPr>
              <a:t>同一律、零律、矛盾律、排中律、</a:t>
            </a:r>
            <a:r>
              <a:rPr lang="zh-CN" altLang="en-US" b="1">
                <a:solidFill>
                  <a:srgbClr val="C00000"/>
                </a:solidFill>
                <a:latin typeface="+mn-ea"/>
              </a:rPr>
              <a:t>双重否定律</a:t>
            </a:r>
            <a:r>
              <a:rPr lang="zh-CN" altLang="en-US" b="1">
                <a:solidFill>
                  <a:schemeClr val="accent6">
                    <a:lumMod val="50000"/>
                  </a:schemeClr>
                </a:solidFill>
                <a:latin typeface="+mn-ea"/>
              </a:rPr>
              <a:t>、幂等律、交换律、结合律、</a:t>
            </a:r>
            <a:r>
              <a:rPr lang="zh-CN" altLang="en-US" b="1">
                <a:solidFill>
                  <a:srgbClr val="C00000"/>
                </a:solidFill>
                <a:latin typeface="+mn-ea"/>
              </a:rPr>
              <a:t>分配律</a:t>
            </a:r>
            <a:r>
              <a:rPr lang="zh-CN" altLang="en-US" b="1">
                <a:solidFill>
                  <a:schemeClr val="accent6">
                    <a:lumMod val="50000"/>
                  </a:schemeClr>
                </a:solidFill>
                <a:latin typeface="+mn-ea"/>
              </a:rPr>
              <a:t>、</a:t>
            </a:r>
            <a:r>
              <a:rPr lang="zh-CN" altLang="en-US" b="1">
                <a:solidFill>
                  <a:srgbClr val="C00000"/>
                </a:solidFill>
                <a:latin typeface="+mn-ea"/>
              </a:rPr>
              <a:t>吸收律</a:t>
            </a:r>
            <a:r>
              <a:rPr lang="zh-CN" altLang="en-US" b="1">
                <a:solidFill>
                  <a:schemeClr val="accent6">
                    <a:lumMod val="50000"/>
                  </a:schemeClr>
                </a:solidFill>
                <a:latin typeface="+mn-ea"/>
              </a:rPr>
              <a:t>、</a:t>
            </a:r>
            <a:r>
              <a:rPr lang="zh-CN" altLang="en-US" b="1">
                <a:solidFill>
                  <a:srgbClr val="C00000"/>
                </a:solidFill>
                <a:latin typeface="+mn-ea"/>
              </a:rPr>
              <a:t>德摩尔根律</a:t>
            </a:r>
            <a:r>
              <a:rPr lang="zh-CN" altLang="en-US" b="1">
                <a:solidFill>
                  <a:schemeClr val="accent6">
                    <a:lumMod val="50000"/>
                  </a:schemeClr>
                </a:solidFill>
                <a:latin typeface="+mn-ea"/>
              </a:rPr>
              <a:t>、</a:t>
            </a:r>
            <a:r>
              <a:rPr lang="zh-CN" altLang="en-US" b="1">
                <a:solidFill>
                  <a:srgbClr val="C00000"/>
                </a:solidFill>
                <a:latin typeface="+mn-ea"/>
              </a:rPr>
              <a:t>蕴涵等值式</a:t>
            </a:r>
            <a:r>
              <a:rPr lang="zh-CN" altLang="en-US" b="1">
                <a:solidFill>
                  <a:schemeClr val="accent6">
                    <a:lumMod val="50000"/>
                  </a:schemeClr>
                </a:solidFill>
                <a:latin typeface="+mn-ea"/>
              </a:rPr>
              <a:t>和</a:t>
            </a:r>
            <a:r>
              <a:rPr lang="zh-CN" altLang="en-US" b="1">
                <a:solidFill>
                  <a:srgbClr val="C00000"/>
                </a:solidFill>
                <a:latin typeface="+mn-ea"/>
              </a:rPr>
              <a:t>双蕴涵等值式</a:t>
            </a:r>
          </a:p>
        </p:txBody>
      </p:sp>
      <p:sp>
        <p:nvSpPr>
          <p:cNvPr id="12" name="矩形 11">
            <a:extLst>
              <a:ext uri="{FF2B5EF4-FFF2-40B4-BE49-F238E27FC236}">
                <a16:creationId xmlns:a16="http://schemas.microsoft.com/office/drawing/2014/main" id="{CAC75212-DD56-4BB0-8F1E-80A6DE6C7732}"/>
              </a:ext>
            </a:extLst>
          </p:cNvPr>
          <p:cNvSpPr/>
          <p:nvPr/>
        </p:nvSpPr>
        <p:spPr>
          <a:xfrm>
            <a:off x="559166" y="5289635"/>
            <a:ext cx="8005933" cy="761747"/>
          </a:xfrm>
          <a:prstGeom prst="rect">
            <a:avLst/>
          </a:prstGeom>
          <a:solidFill>
            <a:schemeClr val="accent4">
              <a:lumMod val="20000"/>
              <a:lumOff val="80000"/>
            </a:schemeClr>
          </a:solidFill>
        </p:spPr>
        <p:txBody>
          <a:bodyPr wrap="square">
            <a:spAutoFit/>
          </a:bodyPr>
          <a:lstStyle/>
          <a:p>
            <a:pPr>
              <a:spcBef>
                <a:spcPts val="600"/>
              </a:spcBef>
              <a:spcAft>
                <a:spcPts val="300"/>
              </a:spcAft>
            </a:pPr>
            <a:r>
              <a:rPr lang="zh-CN" altLang="en-US" b="1">
                <a:solidFill>
                  <a:schemeClr val="accent2">
                    <a:lumMod val="50000"/>
                  </a:schemeClr>
                </a:solidFill>
              </a:rPr>
              <a:t>命题逻辑的每个基本逻辑等值式的替换实例都是一阶逻辑的基本逻辑等值式</a:t>
            </a:r>
            <a:endParaRPr lang="en-US" altLang="zh-CN" b="1">
              <a:solidFill>
                <a:schemeClr val="accent2">
                  <a:lumMod val="50000"/>
                </a:schemeClr>
              </a:solidFill>
            </a:endParaRPr>
          </a:p>
          <a:p>
            <a:pPr marL="285750" indent="-28575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命题逻辑永真式（在一阶逻辑）的替换实例都是一阶逻辑的永真式</a:t>
            </a:r>
          </a:p>
        </p:txBody>
      </p:sp>
      <p:sp>
        <p:nvSpPr>
          <p:cNvPr id="13" name="文本框 12">
            <a:extLst>
              <a:ext uri="{FF2B5EF4-FFF2-40B4-BE49-F238E27FC236}">
                <a16:creationId xmlns:a16="http://schemas.microsoft.com/office/drawing/2014/main" id="{D07B7B4F-D048-47CF-8758-AE149208D264}"/>
              </a:ext>
            </a:extLst>
          </p:cNvPr>
          <p:cNvSpPr txBox="1"/>
          <p:nvPr/>
        </p:nvSpPr>
        <p:spPr>
          <a:xfrm>
            <a:off x="7163896" y="3199984"/>
            <a:ext cx="4374647" cy="2013500"/>
          </a:xfrm>
          <a:prstGeom prst="rect">
            <a:avLst/>
          </a:prstGeom>
          <a:solidFill>
            <a:schemeClr val="accent2">
              <a:lumMod val="20000"/>
              <a:lumOff val="80000"/>
              <a:alpha val="25000"/>
            </a:schemeClr>
          </a:solidFill>
        </p:spPr>
        <p:txBody>
          <a:bodyPr wrap="square" rtlCol="0">
            <a:spAutoFit/>
          </a:bodyPr>
          <a:lstStyle/>
          <a:p>
            <a:pPr algn="ctr">
              <a:lnSpc>
                <a:spcPts val="2800"/>
              </a:lnSpc>
              <a:spcAft>
                <a:spcPts val="600"/>
              </a:spcAft>
            </a:pPr>
            <a:r>
              <a:rPr lang="zh-CN" altLang="en-US" sz="2000" b="1">
                <a:solidFill>
                  <a:srgbClr val="C00000"/>
                </a:solidFill>
              </a:rPr>
              <a:t>量词公式的基本等值式</a:t>
            </a:r>
            <a:endParaRPr lang="en-US" altLang="zh-CN" sz="2000" b="1">
              <a:solidFill>
                <a:srgbClr val="C00000"/>
              </a:solidFill>
            </a:endParaRPr>
          </a:p>
          <a:p>
            <a:pPr>
              <a:lnSpc>
                <a:spcPts val="2800"/>
              </a:lnSpc>
              <a:spcAft>
                <a:spcPts val="600"/>
              </a:spcAft>
            </a:pPr>
            <a:r>
              <a:rPr lang="zh-CN" altLang="en-US" b="1">
                <a:solidFill>
                  <a:srgbClr val="002060"/>
                </a:solidFill>
                <a:latin typeface="楷体" panose="02010609060101010101" pitchFamily="49" charset="-122"/>
                <a:ea typeface="楷体" panose="02010609060101010101" pitchFamily="49" charset="-122"/>
              </a:rPr>
              <a:t>包括消除量词等值式，</a:t>
            </a:r>
            <a:r>
              <a:rPr lang="zh-CN" altLang="en-US">
                <a:solidFill>
                  <a:srgbClr val="C00000"/>
                </a:solidFill>
                <a:latin typeface="黑体" panose="02010609060101010101" pitchFamily="49" charset="-122"/>
                <a:ea typeface="黑体" panose="02010609060101010101" pitchFamily="49" charset="-122"/>
              </a:rPr>
              <a:t>量词否定等值式</a:t>
            </a:r>
            <a:r>
              <a:rPr lang="zh-CN" altLang="en-US" b="1">
                <a:solidFill>
                  <a:srgbClr val="002060"/>
                </a:solidFill>
                <a:latin typeface="楷体" panose="02010609060101010101" pitchFamily="49" charset="-122"/>
                <a:ea typeface="楷体" panose="02010609060101010101" pitchFamily="49" charset="-122"/>
              </a:rPr>
              <a:t>、</a:t>
            </a:r>
            <a:r>
              <a:rPr lang="zh-CN" altLang="en-US">
                <a:solidFill>
                  <a:srgbClr val="C00000"/>
                </a:solidFill>
                <a:latin typeface="黑体" panose="02010609060101010101" pitchFamily="49" charset="-122"/>
                <a:ea typeface="黑体" panose="02010609060101010101" pitchFamily="49" charset="-122"/>
              </a:rPr>
              <a:t>量词辖域扩张收缩</a:t>
            </a:r>
            <a:r>
              <a:rPr lang="zh-CN" altLang="en-US" b="1">
                <a:solidFill>
                  <a:srgbClr val="002060"/>
                </a:solidFill>
                <a:latin typeface="楷体" panose="02010609060101010101" pitchFamily="49" charset="-122"/>
                <a:ea typeface="楷体" panose="02010609060101010101" pitchFamily="49" charset="-122"/>
              </a:rPr>
              <a:t>以及量词分配等值式</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800"/>
              </a:lnSpc>
              <a:spcAft>
                <a:spcPts val="600"/>
              </a:spcAft>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这些基本逻辑等值式不是命题逻辑基本逻辑等值式的替换实例</a:t>
            </a:r>
          </a:p>
        </p:txBody>
      </p:sp>
    </p:spTree>
    <p:extLst>
      <p:ext uri="{BB962C8B-B14F-4D97-AF65-F5344CB8AC3E}">
        <p14:creationId xmlns:p14="http://schemas.microsoft.com/office/powerpoint/2010/main" val="220970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量词公式的基本等值式模式</a:t>
            </a:r>
          </a:p>
        </p:txBody>
      </p:sp>
      <p:sp>
        <p:nvSpPr>
          <p:cNvPr id="3" name="文本框 2">
            <a:extLst>
              <a:ext uri="{FF2B5EF4-FFF2-40B4-BE49-F238E27FC236}">
                <a16:creationId xmlns:a16="http://schemas.microsoft.com/office/drawing/2014/main" id="{125589D2-23FA-46FB-8CFB-186A26A09572}"/>
              </a:ext>
            </a:extLst>
          </p:cNvPr>
          <p:cNvSpPr txBox="1"/>
          <p:nvPr/>
        </p:nvSpPr>
        <p:spPr>
          <a:xfrm>
            <a:off x="8379094" y="1089603"/>
            <a:ext cx="2756357" cy="646331"/>
          </a:xfrm>
          <a:prstGeom prst="rect">
            <a:avLst/>
          </a:prstGeom>
          <a:solidFill>
            <a:schemeClr val="accent5">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消除量词等值式实际是量词公式在有限论域的展开</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01BC37-000F-4C36-B561-27D269ED06BB}"/>
                  </a:ext>
                </a:extLst>
              </p:cNvPr>
              <p:cNvSpPr txBox="1"/>
              <p:nvPr/>
            </p:nvSpPr>
            <p:spPr>
              <a:xfrm>
                <a:off x="7941630" y="1940063"/>
                <a:ext cx="3631287" cy="1834220"/>
              </a:xfrm>
              <a:prstGeom prst="rect">
                <a:avLst/>
              </a:prstGeom>
              <a:solidFill>
                <a:schemeClr val="accent4">
                  <a:lumMod val="20000"/>
                  <a:lumOff val="80000"/>
                  <a:alpha val="50000"/>
                </a:schemeClr>
              </a:solidFill>
            </p:spPr>
            <p:txBody>
              <a:bodyPr wrap="square" rtlCol="0">
                <a:spAutoFit/>
              </a:bodyPr>
              <a:lstStyle/>
              <a:p>
                <a:pPr algn="ctr">
                  <a:lnSpc>
                    <a:spcPts val="2400"/>
                  </a:lnSpc>
                  <a:spcBef>
                    <a:spcPts val="600"/>
                  </a:spcBef>
                  <a:spcAft>
                    <a:spcPts val="300"/>
                  </a:spcAft>
                </a:pPr>
                <a:r>
                  <a:rPr lang="zh-CN" altLang="en-US" b="1">
                    <a:solidFill>
                      <a:srgbClr val="C00000"/>
                    </a:solidFill>
                  </a:rPr>
                  <a:t>量词否定等值式的直观含义</a:t>
                </a:r>
                <a:endParaRPr lang="en-US" altLang="zh-CN" b="1">
                  <a:solidFill>
                    <a:srgbClr val="C00000"/>
                  </a:solidFill>
                </a:endParaRP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并非所有元素满足性质</a:t>
                </a:r>
                <a14:m>
                  <m:oMath xmlns:m="http://schemas.openxmlformats.org/officeDocument/2006/math">
                    <m:r>
                      <a:rPr lang="en-US" altLang="zh-CN" b="1" i="1" smtClean="0">
                        <a:solidFill>
                          <a:srgbClr val="002060"/>
                        </a:solidFill>
                        <a:latin typeface="Cambria Math" panose="02040503050406030204" pitchFamily="18" charset="0"/>
                      </a:rPr>
                      <m:t>𝑨</m:t>
                    </m:r>
                  </m:oMath>
                </a14:m>
                <a:r>
                  <a:rPr lang="zh-CN" altLang="en-US" b="1">
                    <a:solidFill>
                      <a:srgbClr val="002060"/>
                    </a:solidFill>
                    <a:latin typeface="楷体" panose="02010609060101010101" pitchFamily="49" charset="-122"/>
                    <a:ea typeface="楷体" panose="02010609060101010101" pitchFamily="49" charset="-122"/>
                  </a:rPr>
                  <a:t>逻辑等值于存在元素不满足性质</a:t>
                </a:r>
                <a14:m>
                  <m:oMath xmlns:m="http://schemas.openxmlformats.org/officeDocument/2006/math">
                    <m:r>
                      <a:rPr lang="en-US" altLang="zh-CN" b="1" i="1" smtClean="0">
                        <a:solidFill>
                          <a:srgbClr val="002060"/>
                        </a:solidFill>
                        <a:latin typeface="Cambria Math" panose="02040503050406030204" pitchFamily="18" charset="0"/>
                      </a:rPr>
                      <m:t>𝑨</m:t>
                    </m:r>
                  </m:oMath>
                </a14:m>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400"/>
                  </a:lnSpc>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并非存在元素满足性质</a:t>
                </a:r>
                <a14:m>
                  <m:oMath xmlns:m="http://schemas.openxmlformats.org/officeDocument/2006/math">
                    <m:r>
                      <a:rPr lang="en-US" altLang="zh-CN" b="1" i="1" smtClean="0">
                        <a:solidFill>
                          <a:srgbClr val="002060"/>
                        </a:solidFill>
                        <a:latin typeface="Cambria Math" panose="02040503050406030204" pitchFamily="18" charset="0"/>
                      </a:rPr>
                      <m:t>𝑨</m:t>
                    </m:r>
                  </m:oMath>
                </a14:m>
                <a:r>
                  <a:rPr lang="zh-CN" altLang="en-US" b="1">
                    <a:solidFill>
                      <a:srgbClr val="002060"/>
                    </a:solidFill>
                    <a:latin typeface="楷体" panose="02010609060101010101" pitchFamily="49" charset="-122"/>
                    <a:ea typeface="楷体" panose="02010609060101010101" pitchFamily="49" charset="-122"/>
                  </a:rPr>
                  <a:t>逻辑等值与所有元素都不满足性质</a:t>
                </a:r>
                <a14:m>
                  <m:oMath xmlns:m="http://schemas.openxmlformats.org/officeDocument/2006/math">
                    <m:r>
                      <a:rPr lang="en-US" altLang="zh-CN" b="1" i="1" smtClean="0">
                        <a:solidFill>
                          <a:srgbClr val="002060"/>
                        </a:solidFill>
                        <a:latin typeface="Cambria Math" panose="02040503050406030204" pitchFamily="18" charset="0"/>
                      </a:rPr>
                      <m:t>𝑨</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1401BC37-000F-4C36-B561-27D269ED06BB}"/>
                  </a:ext>
                </a:extLst>
              </p:cNvPr>
              <p:cNvSpPr txBox="1">
                <a:spLocks noRot="1" noChangeAspect="1" noMove="1" noResize="1" noEditPoints="1" noAdjustHandles="1" noChangeArrowheads="1" noChangeShapeType="1" noTextEdit="1"/>
              </p:cNvSpPr>
              <p:nvPr/>
            </p:nvSpPr>
            <p:spPr>
              <a:xfrm>
                <a:off x="7941630" y="1940063"/>
                <a:ext cx="3631287" cy="1834220"/>
              </a:xfrm>
              <a:prstGeom prst="rect">
                <a:avLst/>
              </a:prstGeom>
              <a:blipFill>
                <a:blip r:embed="rId2"/>
                <a:stretch>
                  <a:fillRect l="-1176" t="-664" r="-1008" b="-166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85FF66D-2D9C-4F36-9270-2189F1AE1A24}"/>
              </a:ext>
            </a:extLst>
          </p:cNvPr>
          <p:cNvSpPr txBox="1"/>
          <p:nvPr/>
        </p:nvSpPr>
        <p:spPr>
          <a:xfrm>
            <a:off x="8236561" y="3961109"/>
            <a:ext cx="3041422" cy="923330"/>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当量词出现在蕴涵式的前件时，其辖域的扩张收缩需要</a:t>
            </a:r>
            <a:r>
              <a:rPr lang="zh-CN" altLang="en-US" b="1">
                <a:solidFill>
                  <a:srgbClr val="C00000"/>
                </a:solidFill>
              </a:rPr>
              <a:t>改变量词的类型</a:t>
            </a:r>
          </a:p>
        </p:txBody>
      </p:sp>
      <p:sp>
        <p:nvSpPr>
          <p:cNvPr id="11" name="文本框 10">
            <a:extLst>
              <a:ext uri="{FF2B5EF4-FFF2-40B4-BE49-F238E27FC236}">
                <a16:creationId xmlns:a16="http://schemas.microsoft.com/office/drawing/2014/main" id="{44250D68-5377-4059-8122-C6582D102744}"/>
              </a:ext>
            </a:extLst>
          </p:cNvPr>
          <p:cNvSpPr txBox="1"/>
          <p:nvPr/>
        </p:nvSpPr>
        <p:spPr>
          <a:xfrm>
            <a:off x="8138984" y="5082768"/>
            <a:ext cx="3236581" cy="1346651"/>
          </a:xfrm>
          <a:prstGeom prst="rect">
            <a:avLst/>
          </a:prstGeom>
          <a:solidFill>
            <a:schemeClr val="accent2">
              <a:lumMod val="20000"/>
              <a:lumOff val="80000"/>
            </a:schemeClr>
          </a:solidFill>
        </p:spPr>
        <p:txBody>
          <a:bodyPr wrap="square" rtlCol="0">
            <a:spAutoFit/>
          </a:bodyPr>
          <a:lstStyle/>
          <a:p>
            <a:pPr>
              <a:lnSpc>
                <a:spcPts val="2400"/>
              </a:lnSpc>
              <a:spcAft>
                <a:spcPts val="300"/>
              </a:spcAft>
            </a:pPr>
            <a:r>
              <a:rPr lang="zh-CN" altLang="en-US" b="1">
                <a:solidFill>
                  <a:srgbClr val="002060"/>
                </a:solidFill>
                <a:latin typeface="楷体" panose="02010609060101010101" pitchFamily="49" charset="-122"/>
                <a:ea typeface="楷体" panose="02010609060101010101" pitchFamily="49" charset="-122"/>
              </a:rPr>
              <a:t>全称量词对合取分配，存在量词对析取分配</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400"/>
              </a:lnSpc>
              <a:spcAft>
                <a:spcPts val="300"/>
              </a:spcAft>
              <a:buFont typeface="Arial" panose="020B0604020202020204" pitchFamily="34" charset="0"/>
              <a:buChar char="•"/>
            </a:pPr>
            <a:r>
              <a:rPr lang="zh-CN" altLang="en-US" b="1">
                <a:solidFill>
                  <a:srgbClr val="C00000"/>
                </a:solidFill>
              </a:rPr>
              <a:t>注意：全称量词对析取不分配，存在量词对合取不分配</a:t>
            </a:r>
          </a:p>
        </p:txBody>
      </p:sp>
      <p:pic>
        <p:nvPicPr>
          <p:cNvPr id="2" name="图片 1">
            <a:extLst>
              <a:ext uri="{FF2B5EF4-FFF2-40B4-BE49-F238E27FC236}">
                <a16:creationId xmlns:a16="http://schemas.microsoft.com/office/drawing/2014/main" id="{59ED4820-9C9E-401F-AA2A-AE721AD47D5C}"/>
              </a:ext>
            </a:extLst>
          </p:cNvPr>
          <p:cNvPicPr>
            <a:picLocks noChangeAspect="1"/>
          </p:cNvPicPr>
          <p:nvPr/>
        </p:nvPicPr>
        <p:blipFill>
          <a:blip r:embed="rId3">
            <a:duotone>
              <a:prstClr val="black"/>
              <a:srgbClr val="D9C3A5">
                <a:tint val="50000"/>
                <a:satMod val="180000"/>
              </a:srgbClr>
            </a:duotone>
          </a:blip>
          <a:stretch>
            <a:fillRect/>
          </a:stretch>
        </p:blipFill>
        <p:spPr>
          <a:xfrm>
            <a:off x="782833" y="860164"/>
            <a:ext cx="7067172" cy="5584590"/>
          </a:xfrm>
          <a:prstGeom prst="rect">
            <a:avLst/>
          </a:prstGeom>
          <a:noFill/>
        </p:spPr>
      </p:pic>
      <p:sp>
        <p:nvSpPr>
          <p:cNvPr id="12" name="矩形 11">
            <a:extLst>
              <a:ext uri="{FF2B5EF4-FFF2-40B4-BE49-F238E27FC236}">
                <a16:creationId xmlns:a16="http://schemas.microsoft.com/office/drawing/2014/main" id="{365BCE77-B99F-457B-B034-4DC395A11507}"/>
              </a:ext>
            </a:extLst>
          </p:cNvPr>
          <p:cNvSpPr/>
          <p:nvPr/>
        </p:nvSpPr>
        <p:spPr>
          <a:xfrm>
            <a:off x="2236662" y="3468861"/>
            <a:ext cx="3078699" cy="28616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FD206458-97D7-44DB-8E90-2BAB5DFA5D36}"/>
              </a:ext>
            </a:extLst>
          </p:cNvPr>
          <p:cNvSpPr/>
          <p:nvPr/>
        </p:nvSpPr>
        <p:spPr>
          <a:xfrm>
            <a:off x="2236662" y="4986053"/>
            <a:ext cx="3078699" cy="28616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70AF0A05-B12E-4A5D-B449-532D7418F560}"/>
              </a:ext>
            </a:extLst>
          </p:cNvPr>
          <p:cNvSpPr txBox="1"/>
          <p:nvPr/>
        </p:nvSpPr>
        <p:spPr>
          <a:xfrm>
            <a:off x="1035006" y="958798"/>
            <a:ext cx="697312" cy="261610"/>
          </a:xfrm>
          <a:prstGeom prst="rect">
            <a:avLst/>
          </a:prstGeom>
          <a:solidFill>
            <a:srgbClr val="F5E4D0"/>
          </a:solidFill>
        </p:spPr>
        <p:txBody>
          <a:bodyPr wrap="square" tIns="0" bIns="0" rtlCol="0">
            <a:spAutoFit/>
          </a:bodyPr>
          <a:lstStyle/>
          <a:p>
            <a:r>
              <a:rPr lang="zh-CN" altLang="en-US" sz="1700" b="1">
                <a:solidFill>
                  <a:srgbClr val="002060"/>
                </a:solidFill>
              </a:rPr>
              <a:t>名称</a:t>
            </a:r>
          </a:p>
        </p:txBody>
      </p:sp>
      <p:sp>
        <p:nvSpPr>
          <p:cNvPr id="16" name="文本框 15">
            <a:extLst>
              <a:ext uri="{FF2B5EF4-FFF2-40B4-BE49-F238E27FC236}">
                <a16:creationId xmlns:a16="http://schemas.microsoft.com/office/drawing/2014/main" id="{EDE1AF3C-866B-42C3-B7EC-EF06F96B5966}"/>
              </a:ext>
            </a:extLst>
          </p:cNvPr>
          <p:cNvSpPr txBox="1"/>
          <p:nvPr/>
        </p:nvSpPr>
        <p:spPr>
          <a:xfrm>
            <a:off x="2891215" y="958798"/>
            <a:ext cx="1772883" cy="261610"/>
          </a:xfrm>
          <a:prstGeom prst="rect">
            <a:avLst/>
          </a:prstGeom>
          <a:solidFill>
            <a:srgbClr val="F5E4D0"/>
          </a:solidFill>
        </p:spPr>
        <p:txBody>
          <a:bodyPr wrap="square" tIns="0" bIns="0" rtlCol="0">
            <a:spAutoFit/>
          </a:bodyPr>
          <a:lstStyle/>
          <a:p>
            <a:r>
              <a:rPr lang="zh-CN" altLang="en-US" sz="1700" b="1">
                <a:solidFill>
                  <a:srgbClr val="002060"/>
                </a:solidFill>
              </a:rPr>
              <a:t>基本等值式模式</a:t>
            </a:r>
          </a:p>
        </p:txBody>
      </p:sp>
      <p:sp>
        <p:nvSpPr>
          <p:cNvPr id="18" name="文本框 17">
            <a:extLst>
              <a:ext uri="{FF2B5EF4-FFF2-40B4-BE49-F238E27FC236}">
                <a16:creationId xmlns:a16="http://schemas.microsoft.com/office/drawing/2014/main" id="{8DBB031D-E971-48C3-B1D5-584FEF46B6BF}"/>
              </a:ext>
            </a:extLst>
          </p:cNvPr>
          <p:cNvSpPr txBox="1"/>
          <p:nvPr/>
        </p:nvSpPr>
        <p:spPr>
          <a:xfrm>
            <a:off x="6096000" y="958798"/>
            <a:ext cx="1074476" cy="261610"/>
          </a:xfrm>
          <a:prstGeom prst="rect">
            <a:avLst/>
          </a:prstGeom>
          <a:solidFill>
            <a:srgbClr val="F5E4D0"/>
          </a:solidFill>
        </p:spPr>
        <p:txBody>
          <a:bodyPr wrap="square" tIns="0" bIns="0" rtlCol="0">
            <a:spAutoFit/>
          </a:bodyPr>
          <a:lstStyle/>
          <a:p>
            <a:r>
              <a:rPr lang="zh-CN" altLang="en-US" sz="1700" b="1">
                <a:solidFill>
                  <a:srgbClr val="002060"/>
                </a:solidFill>
              </a:rPr>
              <a:t>成立条件</a:t>
            </a:r>
          </a:p>
        </p:txBody>
      </p:sp>
      <p:sp>
        <p:nvSpPr>
          <p:cNvPr id="15" name="文本框 14">
            <a:extLst>
              <a:ext uri="{FF2B5EF4-FFF2-40B4-BE49-F238E27FC236}">
                <a16:creationId xmlns:a16="http://schemas.microsoft.com/office/drawing/2014/main" id="{BD149314-43EA-4EB4-9A34-8E6C4792E966}"/>
              </a:ext>
            </a:extLst>
          </p:cNvPr>
          <p:cNvSpPr txBox="1"/>
          <p:nvPr/>
        </p:nvSpPr>
        <p:spPr>
          <a:xfrm>
            <a:off x="835458" y="1368050"/>
            <a:ext cx="967027" cy="552972"/>
          </a:xfrm>
          <a:prstGeom prst="rect">
            <a:avLst/>
          </a:prstGeom>
          <a:solidFill>
            <a:srgbClr val="F5E4D0"/>
          </a:solidFill>
        </p:spPr>
        <p:txBody>
          <a:bodyPr wrap="square" lIns="0" tIns="0" rIns="0" bIns="0" rtlCol="0">
            <a:spAutoFit/>
          </a:bodyPr>
          <a:lstStyle/>
          <a:p>
            <a:pPr algn="ctr">
              <a:lnSpc>
                <a:spcPts val="2300"/>
              </a:lnSpc>
            </a:pPr>
            <a:r>
              <a:rPr lang="zh-CN" altLang="en-US" sz="1700" b="1">
                <a:solidFill>
                  <a:srgbClr val="C00000"/>
                </a:solidFill>
                <a:latin typeface="楷体" panose="02010609060101010101" pitchFamily="49" charset="-122"/>
                <a:ea typeface="楷体" panose="02010609060101010101" pitchFamily="49" charset="-122"/>
              </a:rPr>
              <a:t>消除量词等值式</a:t>
            </a:r>
          </a:p>
        </p:txBody>
      </p:sp>
      <p:sp>
        <p:nvSpPr>
          <p:cNvPr id="19" name="文本框 18">
            <a:extLst>
              <a:ext uri="{FF2B5EF4-FFF2-40B4-BE49-F238E27FC236}">
                <a16:creationId xmlns:a16="http://schemas.microsoft.com/office/drawing/2014/main" id="{93BD59DA-AA68-4F66-8539-CD52BC7F68E9}"/>
              </a:ext>
            </a:extLst>
          </p:cNvPr>
          <p:cNvSpPr txBox="1"/>
          <p:nvPr/>
        </p:nvSpPr>
        <p:spPr>
          <a:xfrm>
            <a:off x="835458" y="2084861"/>
            <a:ext cx="967027" cy="552972"/>
          </a:xfrm>
          <a:prstGeom prst="rect">
            <a:avLst/>
          </a:prstGeom>
          <a:solidFill>
            <a:srgbClr val="F5E4D0"/>
          </a:solidFill>
        </p:spPr>
        <p:txBody>
          <a:bodyPr wrap="square" lIns="0" tIns="0" rIns="0" bIns="0" rtlCol="0">
            <a:spAutoFit/>
          </a:bodyPr>
          <a:lstStyle/>
          <a:p>
            <a:pPr algn="ctr">
              <a:lnSpc>
                <a:spcPts val="2300"/>
              </a:lnSpc>
            </a:pPr>
            <a:r>
              <a:rPr lang="zh-CN" altLang="en-US" sz="1700" b="1">
                <a:solidFill>
                  <a:srgbClr val="C00000"/>
                </a:solidFill>
                <a:latin typeface="楷体" panose="02010609060101010101" pitchFamily="49" charset="-122"/>
                <a:ea typeface="楷体" panose="02010609060101010101" pitchFamily="49" charset="-122"/>
              </a:rPr>
              <a:t>量词否定等值式</a:t>
            </a:r>
          </a:p>
        </p:txBody>
      </p:sp>
      <p:sp>
        <p:nvSpPr>
          <p:cNvPr id="20" name="文本框 19">
            <a:extLst>
              <a:ext uri="{FF2B5EF4-FFF2-40B4-BE49-F238E27FC236}">
                <a16:creationId xmlns:a16="http://schemas.microsoft.com/office/drawing/2014/main" id="{CDBBD1E6-60BB-4A3B-956E-B2134376A550}"/>
              </a:ext>
            </a:extLst>
          </p:cNvPr>
          <p:cNvSpPr txBox="1"/>
          <p:nvPr/>
        </p:nvSpPr>
        <p:spPr>
          <a:xfrm>
            <a:off x="845324" y="3914986"/>
            <a:ext cx="967027" cy="552972"/>
          </a:xfrm>
          <a:prstGeom prst="rect">
            <a:avLst/>
          </a:prstGeom>
          <a:solidFill>
            <a:srgbClr val="F5E4D0"/>
          </a:solidFill>
        </p:spPr>
        <p:txBody>
          <a:bodyPr wrap="square" lIns="0" tIns="0" rIns="0" bIns="0" rtlCol="0">
            <a:spAutoFit/>
          </a:bodyPr>
          <a:lstStyle/>
          <a:p>
            <a:pPr algn="ctr">
              <a:lnSpc>
                <a:spcPts val="2300"/>
              </a:lnSpc>
            </a:pPr>
            <a:r>
              <a:rPr lang="zh-CN" altLang="en-US" sz="1700" b="1">
                <a:solidFill>
                  <a:srgbClr val="C00000"/>
                </a:solidFill>
                <a:latin typeface="楷体" panose="02010609060101010101" pitchFamily="49" charset="-122"/>
                <a:ea typeface="楷体" panose="02010609060101010101" pitchFamily="49" charset="-122"/>
              </a:rPr>
              <a:t>量词辖域扩张收缩</a:t>
            </a:r>
          </a:p>
        </p:txBody>
      </p:sp>
      <p:sp>
        <p:nvSpPr>
          <p:cNvPr id="21" name="文本框 20">
            <a:extLst>
              <a:ext uri="{FF2B5EF4-FFF2-40B4-BE49-F238E27FC236}">
                <a16:creationId xmlns:a16="http://schemas.microsoft.com/office/drawing/2014/main" id="{540D83E9-5B4C-4820-81E5-E490A9CD195F}"/>
              </a:ext>
            </a:extLst>
          </p:cNvPr>
          <p:cNvSpPr txBox="1"/>
          <p:nvPr/>
        </p:nvSpPr>
        <p:spPr>
          <a:xfrm>
            <a:off x="835457" y="5767801"/>
            <a:ext cx="967027" cy="552972"/>
          </a:xfrm>
          <a:prstGeom prst="rect">
            <a:avLst/>
          </a:prstGeom>
          <a:solidFill>
            <a:srgbClr val="F5E4D0"/>
          </a:solidFill>
        </p:spPr>
        <p:txBody>
          <a:bodyPr wrap="square" lIns="0" tIns="0" rIns="0" bIns="0" rtlCol="0">
            <a:spAutoFit/>
          </a:bodyPr>
          <a:lstStyle/>
          <a:p>
            <a:pPr algn="ctr">
              <a:lnSpc>
                <a:spcPts val="2300"/>
              </a:lnSpc>
            </a:pPr>
            <a:r>
              <a:rPr lang="zh-CN" altLang="en-US" sz="1700" b="1">
                <a:solidFill>
                  <a:srgbClr val="C00000"/>
                </a:solidFill>
                <a:latin typeface="楷体" panose="02010609060101010101" pitchFamily="49" charset="-122"/>
                <a:ea typeface="楷体" panose="02010609060101010101" pitchFamily="49" charset="-122"/>
              </a:rPr>
              <a:t>量词分配等值式</a:t>
            </a:r>
          </a:p>
        </p:txBody>
      </p:sp>
    </p:spTree>
    <p:extLst>
      <p:ext uri="{BB962C8B-B14F-4D97-AF65-F5344CB8AC3E}">
        <p14:creationId xmlns:p14="http://schemas.microsoft.com/office/powerpoint/2010/main" val="327105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inVertical)">
                                      <p:cBhvr>
                                        <p:cTn id="19" dur="500"/>
                                        <p:tgtEl>
                                          <p:spTgt spid="14"/>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11" grpId="0" animBg="1"/>
      <p:bldP spid="12"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量词分配等值式</a:t>
            </a:r>
          </a:p>
        </p:txBody>
      </p:sp>
      <p:sp>
        <p:nvSpPr>
          <p:cNvPr id="13" name="文本框 12">
            <a:extLst>
              <a:ext uri="{FF2B5EF4-FFF2-40B4-BE49-F238E27FC236}">
                <a16:creationId xmlns:a16="http://schemas.microsoft.com/office/drawing/2014/main" id="{0C46C53D-1A8D-46E0-A391-6168EB7CBB56}"/>
              </a:ext>
            </a:extLst>
          </p:cNvPr>
          <p:cNvSpPr txBox="1"/>
          <p:nvPr/>
        </p:nvSpPr>
        <p:spPr>
          <a:xfrm>
            <a:off x="1110717" y="1328256"/>
            <a:ext cx="6702673" cy="917880"/>
          </a:xfrm>
          <a:prstGeom prst="rect">
            <a:avLst/>
          </a:prstGeom>
          <a:solidFill>
            <a:schemeClr val="accent2">
              <a:lumMod val="20000"/>
              <a:lumOff val="80000"/>
            </a:schemeClr>
          </a:solidFill>
        </p:spPr>
        <p:txBody>
          <a:bodyPr wrap="square" rtlCol="0">
            <a:spAutoFit/>
          </a:bodyPr>
          <a:lstStyle/>
          <a:p>
            <a:pPr marL="342900" indent="-342900">
              <a:lnSpc>
                <a:spcPts val="2800"/>
              </a:lnSpc>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全称量词对合取分配，存在量词对析取分配</a:t>
            </a:r>
            <a:endParaRPr lang="en-US" altLang="zh-CN" sz="2400" b="1">
              <a:solidFill>
                <a:srgbClr val="002060"/>
              </a:solidFill>
              <a:latin typeface="楷体" panose="02010609060101010101" pitchFamily="49" charset="-122"/>
              <a:ea typeface="楷体" panose="02010609060101010101" pitchFamily="49" charset="-122"/>
            </a:endParaRPr>
          </a:p>
          <a:p>
            <a:pPr marL="800100" lvl="1"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黑体" panose="02010609060101010101" pitchFamily="49" charset="-122"/>
                <a:ea typeface="黑体" panose="02010609060101010101" pitchFamily="49" charset="-122"/>
              </a:rPr>
              <a:t>但</a:t>
            </a:r>
            <a:r>
              <a:rPr lang="zh-CN" altLang="en-US" sz="2000" b="1">
                <a:solidFill>
                  <a:srgbClr val="C00000"/>
                </a:solidFill>
                <a:latin typeface="黑体" panose="02010609060101010101" pitchFamily="49" charset="-122"/>
                <a:ea typeface="黑体" panose="02010609060101010101" pitchFamily="49" charset="-122"/>
              </a:rPr>
              <a:t>全称量词对析取不分配，存在量词对合取不分配</a:t>
            </a:r>
          </a:p>
        </p:txBody>
      </p:sp>
      <p:grpSp>
        <p:nvGrpSpPr>
          <p:cNvPr id="14" name="组合 13">
            <a:extLst>
              <a:ext uri="{FF2B5EF4-FFF2-40B4-BE49-F238E27FC236}">
                <a16:creationId xmlns:a16="http://schemas.microsoft.com/office/drawing/2014/main" id="{369A1867-FCD7-4C32-AEF1-D783CE790204}"/>
              </a:ext>
            </a:extLst>
          </p:cNvPr>
          <p:cNvGrpSpPr/>
          <p:nvPr/>
        </p:nvGrpSpPr>
        <p:grpSpPr>
          <a:xfrm>
            <a:off x="1266529" y="2510329"/>
            <a:ext cx="4183873" cy="1313803"/>
            <a:chOff x="342078" y="2631577"/>
            <a:chExt cx="4183873" cy="1313803"/>
          </a:xfrm>
        </p:grpSpPr>
        <p:sp>
          <p:nvSpPr>
            <p:cNvPr id="3" name="文本框 2">
              <a:extLst>
                <a:ext uri="{FF2B5EF4-FFF2-40B4-BE49-F238E27FC236}">
                  <a16:creationId xmlns:a16="http://schemas.microsoft.com/office/drawing/2014/main" id="{F1D00ED7-FE44-4AF2-86FE-25B267B01B05}"/>
                </a:ext>
              </a:extLst>
            </p:cNvPr>
            <p:cNvSpPr txBox="1"/>
            <p:nvPr/>
          </p:nvSpPr>
          <p:spPr>
            <a:xfrm>
              <a:off x="1221271" y="2631577"/>
              <a:ext cx="2348495" cy="400110"/>
            </a:xfrm>
            <a:prstGeom prst="rect">
              <a:avLst/>
            </a:prstGeom>
            <a:noFill/>
          </p:spPr>
          <p:txBody>
            <a:bodyPr wrap="square" rtlCol="0">
              <a:spAutoFit/>
            </a:bodyPr>
            <a:lstStyle/>
            <a:p>
              <a:pPr algn="ctr"/>
              <a:r>
                <a:rPr lang="zh-CN" altLang="en-US" sz="2000" b="1">
                  <a:solidFill>
                    <a:srgbClr val="002060"/>
                  </a:solidFill>
                </a:rPr>
                <a:t>量词分配等值式</a:t>
              </a:r>
            </a:p>
          </p:txBody>
        </p:sp>
        <p:pic>
          <p:nvPicPr>
            <p:cNvPr id="4" name="图片 3">
              <a:extLst>
                <a:ext uri="{FF2B5EF4-FFF2-40B4-BE49-F238E27FC236}">
                  <a16:creationId xmlns:a16="http://schemas.microsoft.com/office/drawing/2014/main" id="{231771F5-A1C1-4950-81E3-EED9076BABE2}"/>
                </a:ext>
              </a:extLst>
            </p:cNvPr>
            <p:cNvPicPr>
              <a:picLocks noChangeAspect="1"/>
            </p:cNvPicPr>
            <p:nvPr/>
          </p:nvPicPr>
          <p:blipFill>
            <a:blip r:embed="rId2"/>
            <a:stretch>
              <a:fillRect/>
            </a:stretch>
          </p:blipFill>
          <p:spPr>
            <a:xfrm>
              <a:off x="396655" y="3059737"/>
              <a:ext cx="3997725" cy="775394"/>
            </a:xfrm>
            <a:prstGeom prst="rect">
              <a:avLst/>
            </a:prstGeom>
          </p:spPr>
        </p:pic>
        <p:sp>
          <p:nvSpPr>
            <p:cNvPr id="6" name="矩形: 圆角 5">
              <a:extLst>
                <a:ext uri="{FF2B5EF4-FFF2-40B4-BE49-F238E27FC236}">
                  <a16:creationId xmlns:a16="http://schemas.microsoft.com/office/drawing/2014/main" id="{4B423A13-CBE6-40B3-B310-12B4D8FDE2B0}"/>
                </a:ext>
              </a:extLst>
            </p:cNvPr>
            <p:cNvSpPr/>
            <p:nvPr/>
          </p:nvSpPr>
          <p:spPr>
            <a:xfrm>
              <a:off x="342078" y="2631578"/>
              <a:ext cx="4183873" cy="131380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id="{A489710D-27A2-4D2A-BCA8-8283B61824AC}"/>
              </a:ext>
            </a:extLst>
          </p:cNvPr>
          <p:cNvGrpSpPr/>
          <p:nvPr/>
        </p:nvGrpSpPr>
        <p:grpSpPr>
          <a:xfrm>
            <a:off x="6133461" y="2471620"/>
            <a:ext cx="4624628" cy="1424011"/>
            <a:chOff x="5348253" y="2427436"/>
            <a:chExt cx="4624628" cy="1424011"/>
          </a:xfrm>
        </p:grpSpPr>
        <p:sp>
          <p:nvSpPr>
            <p:cNvPr id="15" name="文本框 14">
              <a:extLst>
                <a:ext uri="{FF2B5EF4-FFF2-40B4-BE49-F238E27FC236}">
                  <a16:creationId xmlns:a16="http://schemas.microsoft.com/office/drawing/2014/main" id="{DF1A183F-BA37-4E53-B1B5-D6CD379E9051}"/>
                </a:ext>
              </a:extLst>
            </p:cNvPr>
            <p:cNvSpPr txBox="1"/>
            <p:nvPr/>
          </p:nvSpPr>
          <p:spPr>
            <a:xfrm>
              <a:off x="5602263" y="2427436"/>
              <a:ext cx="4107481" cy="400110"/>
            </a:xfrm>
            <a:prstGeom prst="rect">
              <a:avLst/>
            </a:prstGeom>
            <a:noFill/>
          </p:spPr>
          <p:txBody>
            <a:bodyPr wrap="square" rtlCol="0">
              <a:spAutoFit/>
            </a:bodyPr>
            <a:lstStyle/>
            <a:p>
              <a:pPr algn="ctr"/>
              <a:r>
                <a:rPr lang="zh-CN" altLang="en-US" sz="2000" b="1">
                  <a:solidFill>
                    <a:srgbClr val="002060"/>
                  </a:solidFill>
                </a:rPr>
                <a:t>下面公式是一阶逻辑永真式</a:t>
              </a:r>
            </a:p>
          </p:txBody>
        </p:sp>
        <p:pic>
          <p:nvPicPr>
            <p:cNvPr id="16" name="图片 15">
              <a:extLst>
                <a:ext uri="{FF2B5EF4-FFF2-40B4-BE49-F238E27FC236}">
                  <a16:creationId xmlns:a16="http://schemas.microsoft.com/office/drawing/2014/main" id="{7E47BC15-D0FA-41FE-A7CA-82CD0451C2E8}"/>
                </a:ext>
              </a:extLst>
            </p:cNvPr>
            <p:cNvPicPr>
              <a:picLocks noChangeAspect="1"/>
            </p:cNvPicPr>
            <p:nvPr/>
          </p:nvPicPr>
          <p:blipFill>
            <a:blip r:embed="rId3"/>
            <a:stretch>
              <a:fillRect/>
            </a:stretch>
          </p:blipFill>
          <p:spPr>
            <a:xfrm>
              <a:off x="5431607" y="2874971"/>
              <a:ext cx="4448792" cy="899083"/>
            </a:xfrm>
            <a:prstGeom prst="rect">
              <a:avLst/>
            </a:prstGeom>
          </p:spPr>
        </p:pic>
        <p:sp>
          <p:nvSpPr>
            <p:cNvPr id="18" name="矩形: 圆角 17">
              <a:extLst>
                <a:ext uri="{FF2B5EF4-FFF2-40B4-BE49-F238E27FC236}">
                  <a16:creationId xmlns:a16="http://schemas.microsoft.com/office/drawing/2014/main" id="{77ADC12D-2084-45EE-B746-128E7315C611}"/>
                </a:ext>
              </a:extLst>
            </p:cNvPr>
            <p:cNvSpPr/>
            <p:nvPr/>
          </p:nvSpPr>
          <p:spPr>
            <a:xfrm>
              <a:off x="5348253" y="2427436"/>
              <a:ext cx="4624628" cy="142401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AB71850-AED5-40D5-A07B-EA31ACE5141E}"/>
              </a:ext>
            </a:extLst>
          </p:cNvPr>
          <p:cNvSpPr txBox="1"/>
          <p:nvPr/>
        </p:nvSpPr>
        <p:spPr>
          <a:xfrm>
            <a:off x="1110717" y="4102256"/>
            <a:ext cx="4495499" cy="1654427"/>
          </a:xfrm>
          <a:prstGeom prst="rect">
            <a:avLst/>
          </a:prstGeom>
          <a:solidFill>
            <a:schemeClr val="accent2">
              <a:lumMod val="20000"/>
              <a:lumOff val="80000"/>
              <a:alpha val="25000"/>
            </a:schemeClr>
          </a:solidFill>
        </p:spPr>
        <p:txBody>
          <a:bodyPr wrap="square" rtlCol="0">
            <a:spAutoFit/>
          </a:bodyPr>
          <a:lstStyle/>
          <a:p>
            <a:pPr marL="285750" indent="-285750">
              <a:lnSpc>
                <a:spcPts val="2800"/>
              </a:lnSpc>
              <a:spcBef>
                <a:spcPts val="600"/>
              </a:spcBef>
              <a:spcAft>
                <a:spcPts val="600"/>
              </a:spcAft>
              <a:buFont typeface="Arial" panose="020B0604020202020204" pitchFamily="34" charset="0"/>
              <a:buChar char="•"/>
            </a:pPr>
            <a:r>
              <a:rPr lang="zh-CN" altLang="en-US" b="1">
                <a:solidFill>
                  <a:schemeClr val="accent2">
                    <a:lumMod val="50000"/>
                  </a:schemeClr>
                </a:solidFill>
              </a:rPr>
              <a:t>任意元素同时满足性质</a:t>
            </a:r>
            <a:r>
              <a:rPr lang="en-US" altLang="zh-CN" b="1">
                <a:solidFill>
                  <a:schemeClr val="accent2">
                    <a:lumMod val="50000"/>
                  </a:schemeClr>
                </a:solidFill>
              </a:rPr>
              <a:t>F</a:t>
            </a:r>
            <a:r>
              <a:rPr lang="zh-CN" altLang="en-US" b="1">
                <a:solidFill>
                  <a:schemeClr val="accent2">
                    <a:lumMod val="50000"/>
                  </a:schemeClr>
                </a:solidFill>
              </a:rPr>
              <a:t>和</a:t>
            </a:r>
            <a:r>
              <a:rPr lang="en-US" altLang="zh-CN" b="1">
                <a:solidFill>
                  <a:schemeClr val="accent2">
                    <a:lumMod val="50000"/>
                  </a:schemeClr>
                </a:solidFill>
              </a:rPr>
              <a:t>G</a:t>
            </a:r>
            <a:r>
              <a:rPr lang="zh-CN" altLang="en-US" b="1">
                <a:solidFill>
                  <a:schemeClr val="accent2">
                    <a:lumMod val="50000"/>
                  </a:schemeClr>
                </a:solidFill>
              </a:rPr>
              <a:t>，那么任意元素满足性质</a:t>
            </a:r>
            <a:r>
              <a:rPr lang="en-US" altLang="zh-CN" b="1">
                <a:solidFill>
                  <a:schemeClr val="accent2">
                    <a:lumMod val="50000"/>
                  </a:schemeClr>
                </a:solidFill>
              </a:rPr>
              <a:t>F</a:t>
            </a:r>
            <a:r>
              <a:rPr lang="zh-CN" altLang="en-US" b="1">
                <a:solidFill>
                  <a:schemeClr val="accent2">
                    <a:lumMod val="50000"/>
                  </a:schemeClr>
                </a:solidFill>
              </a:rPr>
              <a:t>而且任意元素满足性质</a:t>
            </a:r>
            <a:r>
              <a:rPr lang="en-US" altLang="zh-CN" b="1">
                <a:solidFill>
                  <a:schemeClr val="accent2">
                    <a:lumMod val="50000"/>
                  </a:schemeClr>
                </a:solidFill>
              </a:rPr>
              <a:t>G</a:t>
            </a:r>
            <a:r>
              <a:rPr lang="zh-CN" altLang="en-US" b="1">
                <a:solidFill>
                  <a:schemeClr val="accent2">
                    <a:lumMod val="50000"/>
                  </a:schemeClr>
                </a:solidFill>
              </a:rPr>
              <a:t>；</a:t>
            </a:r>
            <a:endParaRPr lang="en-US" altLang="zh-CN" b="1">
              <a:solidFill>
                <a:schemeClr val="accent2">
                  <a:lumMod val="50000"/>
                </a:schemeClr>
              </a:solidFill>
            </a:endParaRPr>
          </a:p>
          <a:p>
            <a:pPr marL="285750" indent="-285750">
              <a:lnSpc>
                <a:spcPts val="2800"/>
              </a:lnSpc>
              <a:spcBef>
                <a:spcPts val="600"/>
              </a:spcBef>
              <a:spcAft>
                <a:spcPts val="600"/>
              </a:spcAft>
              <a:buFont typeface="Arial" panose="020B0604020202020204" pitchFamily="34" charset="0"/>
              <a:buChar char="•"/>
            </a:pPr>
            <a:r>
              <a:rPr lang="zh-CN" altLang="en-US" b="1">
                <a:solidFill>
                  <a:schemeClr val="accent2">
                    <a:lumMod val="50000"/>
                  </a:schemeClr>
                </a:solidFill>
              </a:rPr>
              <a:t>存在元素满足性质</a:t>
            </a:r>
            <a:r>
              <a:rPr lang="en-US" altLang="zh-CN" b="1">
                <a:solidFill>
                  <a:schemeClr val="accent2">
                    <a:lumMod val="50000"/>
                  </a:schemeClr>
                </a:solidFill>
              </a:rPr>
              <a:t>F</a:t>
            </a:r>
            <a:r>
              <a:rPr lang="zh-CN" altLang="en-US" b="1">
                <a:solidFill>
                  <a:schemeClr val="accent2">
                    <a:lumMod val="50000"/>
                  </a:schemeClr>
                </a:solidFill>
              </a:rPr>
              <a:t>或</a:t>
            </a:r>
            <a:r>
              <a:rPr lang="en-US" altLang="zh-CN" b="1">
                <a:solidFill>
                  <a:schemeClr val="accent2">
                    <a:lumMod val="50000"/>
                  </a:schemeClr>
                </a:solidFill>
              </a:rPr>
              <a:t>G</a:t>
            </a:r>
            <a:r>
              <a:rPr lang="zh-CN" altLang="en-US" b="1">
                <a:solidFill>
                  <a:schemeClr val="accent2">
                    <a:lumMod val="50000"/>
                  </a:schemeClr>
                </a:solidFill>
              </a:rPr>
              <a:t>，那么存在元素满足性质</a:t>
            </a:r>
            <a:r>
              <a:rPr lang="en-US" altLang="zh-CN" b="1">
                <a:solidFill>
                  <a:schemeClr val="accent2">
                    <a:lumMod val="50000"/>
                  </a:schemeClr>
                </a:solidFill>
              </a:rPr>
              <a:t>F</a:t>
            </a:r>
            <a:r>
              <a:rPr lang="zh-CN" altLang="en-US" b="1">
                <a:solidFill>
                  <a:schemeClr val="accent2">
                    <a:lumMod val="50000"/>
                  </a:schemeClr>
                </a:solidFill>
              </a:rPr>
              <a:t>或存在元素满足性质</a:t>
            </a:r>
            <a:r>
              <a:rPr lang="en-US" altLang="zh-CN" b="1">
                <a:solidFill>
                  <a:schemeClr val="accent2">
                    <a:lumMod val="50000"/>
                  </a:schemeClr>
                </a:solidFill>
              </a:rPr>
              <a:t>G</a:t>
            </a:r>
          </a:p>
        </p:txBody>
      </p:sp>
      <p:sp>
        <p:nvSpPr>
          <p:cNvPr id="26" name="文本框 25">
            <a:extLst>
              <a:ext uri="{FF2B5EF4-FFF2-40B4-BE49-F238E27FC236}">
                <a16:creationId xmlns:a16="http://schemas.microsoft.com/office/drawing/2014/main" id="{92219792-B702-4E1E-8EFC-16703708F9C3}"/>
              </a:ext>
            </a:extLst>
          </p:cNvPr>
          <p:cNvSpPr txBox="1"/>
          <p:nvPr/>
        </p:nvSpPr>
        <p:spPr>
          <a:xfrm>
            <a:off x="6198026" y="4099172"/>
            <a:ext cx="4495499" cy="1654427"/>
          </a:xfrm>
          <a:prstGeom prst="rect">
            <a:avLst/>
          </a:prstGeom>
          <a:solidFill>
            <a:schemeClr val="accent2">
              <a:lumMod val="20000"/>
              <a:lumOff val="80000"/>
              <a:alpha val="25000"/>
            </a:schemeClr>
          </a:solidFill>
        </p:spPr>
        <p:txBody>
          <a:bodyPr wrap="square" rtlCol="0">
            <a:spAutoFit/>
          </a:bodyPr>
          <a:lstStyle>
            <a:defPPr>
              <a:defRPr lang="zh-CN"/>
            </a:defPPr>
            <a:lvl1pPr marL="285750" indent="-285750">
              <a:lnSpc>
                <a:spcPts val="2800"/>
              </a:lnSpc>
              <a:spcBef>
                <a:spcPts val="600"/>
              </a:spcBef>
              <a:spcAft>
                <a:spcPts val="600"/>
              </a:spcAft>
              <a:buFont typeface="Arial" panose="020B0604020202020204" pitchFamily="34" charset="0"/>
              <a:buChar char="•"/>
              <a:defRPr b="1">
                <a:solidFill>
                  <a:schemeClr val="accent2">
                    <a:lumMod val="50000"/>
                  </a:schemeClr>
                </a:solidFill>
              </a:defRPr>
            </a:lvl1pPr>
          </a:lstStyle>
          <a:p>
            <a:r>
              <a:rPr lang="zh-CN" altLang="en-US"/>
              <a:t>任意元素满足性质</a:t>
            </a:r>
            <a:r>
              <a:rPr lang="en-US" altLang="zh-CN"/>
              <a:t>F</a:t>
            </a:r>
            <a:r>
              <a:rPr lang="zh-CN" altLang="en-US"/>
              <a:t>或任意元素满足性质</a:t>
            </a:r>
            <a:r>
              <a:rPr lang="en-US" altLang="zh-CN"/>
              <a:t>G</a:t>
            </a:r>
            <a:r>
              <a:rPr lang="zh-CN" altLang="en-US"/>
              <a:t>，那么任意元素满足性质</a:t>
            </a:r>
            <a:r>
              <a:rPr lang="en-US" altLang="zh-CN"/>
              <a:t>F</a:t>
            </a:r>
            <a:r>
              <a:rPr lang="zh-CN" altLang="en-US"/>
              <a:t>或</a:t>
            </a:r>
            <a:r>
              <a:rPr lang="en-US" altLang="zh-CN"/>
              <a:t>G</a:t>
            </a:r>
            <a:r>
              <a:rPr lang="zh-CN" altLang="en-US"/>
              <a:t>；</a:t>
            </a:r>
            <a:endParaRPr lang="en-US" altLang="zh-CN"/>
          </a:p>
          <a:p>
            <a:r>
              <a:rPr lang="zh-CN" altLang="en-US"/>
              <a:t>存在元素同时满足性质</a:t>
            </a:r>
            <a:r>
              <a:rPr lang="en-US" altLang="zh-CN"/>
              <a:t>F</a:t>
            </a:r>
            <a:r>
              <a:rPr lang="zh-CN" altLang="en-US"/>
              <a:t>和</a:t>
            </a:r>
            <a:r>
              <a:rPr lang="en-US" altLang="zh-CN"/>
              <a:t>G</a:t>
            </a:r>
            <a:r>
              <a:rPr lang="zh-CN" altLang="en-US"/>
              <a:t>，那么存在元素满足性质</a:t>
            </a:r>
            <a:r>
              <a:rPr lang="en-US" altLang="zh-CN"/>
              <a:t>F</a:t>
            </a:r>
            <a:r>
              <a:rPr lang="zh-CN" altLang="en-US"/>
              <a:t>而且存在元素满足性质</a:t>
            </a:r>
            <a:r>
              <a:rPr lang="en-US" altLang="zh-CN"/>
              <a:t>G</a:t>
            </a:r>
          </a:p>
        </p:txBody>
      </p:sp>
    </p:spTree>
    <p:extLst>
      <p:ext uri="{BB962C8B-B14F-4D97-AF65-F5344CB8AC3E}">
        <p14:creationId xmlns:p14="http://schemas.microsoft.com/office/powerpoint/2010/main" val="378778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量词分配等值式</a:t>
            </a:r>
          </a:p>
        </p:txBody>
      </p:sp>
      <p:grpSp>
        <p:nvGrpSpPr>
          <p:cNvPr id="23" name="组合 22">
            <a:extLst>
              <a:ext uri="{FF2B5EF4-FFF2-40B4-BE49-F238E27FC236}">
                <a16:creationId xmlns:a16="http://schemas.microsoft.com/office/drawing/2014/main" id="{7A8C74B1-84F0-4DC4-A39E-4E810D0A5D55}"/>
              </a:ext>
            </a:extLst>
          </p:cNvPr>
          <p:cNvGrpSpPr/>
          <p:nvPr/>
        </p:nvGrpSpPr>
        <p:grpSpPr>
          <a:xfrm>
            <a:off x="3629092" y="2477961"/>
            <a:ext cx="4933813" cy="1313802"/>
            <a:chOff x="5302204" y="4410725"/>
            <a:chExt cx="4933813" cy="1313802"/>
          </a:xfrm>
        </p:grpSpPr>
        <p:sp>
          <p:nvSpPr>
            <p:cNvPr id="20" name="文本框 19">
              <a:extLst>
                <a:ext uri="{FF2B5EF4-FFF2-40B4-BE49-F238E27FC236}">
                  <a16:creationId xmlns:a16="http://schemas.microsoft.com/office/drawing/2014/main" id="{9655D4F7-0580-4875-8B09-A01335F59893}"/>
                </a:ext>
              </a:extLst>
            </p:cNvPr>
            <p:cNvSpPr txBox="1"/>
            <p:nvPr/>
          </p:nvSpPr>
          <p:spPr>
            <a:xfrm>
              <a:off x="5488238" y="4410725"/>
              <a:ext cx="4677254" cy="400110"/>
            </a:xfrm>
            <a:prstGeom prst="rect">
              <a:avLst/>
            </a:prstGeom>
            <a:noFill/>
          </p:spPr>
          <p:txBody>
            <a:bodyPr wrap="square" rtlCol="0">
              <a:spAutoFit/>
            </a:bodyPr>
            <a:lstStyle/>
            <a:p>
              <a:pPr algn="ctr"/>
              <a:r>
                <a:rPr lang="zh-CN" altLang="en-US" sz="2000" b="1">
                  <a:solidFill>
                    <a:srgbClr val="C00000"/>
                  </a:solidFill>
                </a:rPr>
                <a:t>但下面公式不是一阶逻辑永真式</a:t>
              </a:r>
            </a:p>
          </p:txBody>
        </p:sp>
        <p:pic>
          <p:nvPicPr>
            <p:cNvPr id="21" name="图片 20">
              <a:extLst>
                <a:ext uri="{FF2B5EF4-FFF2-40B4-BE49-F238E27FC236}">
                  <a16:creationId xmlns:a16="http://schemas.microsoft.com/office/drawing/2014/main" id="{AFF51D09-8118-4122-A882-7497D11E8F05}"/>
                </a:ext>
              </a:extLst>
            </p:cNvPr>
            <p:cNvPicPr>
              <a:picLocks noChangeAspect="1"/>
            </p:cNvPicPr>
            <p:nvPr/>
          </p:nvPicPr>
          <p:blipFill>
            <a:blip r:embed="rId2">
              <a:duotone>
                <a:prstClr val="black"/>
                <a:schemeClr val="accent3">
                  <a:tint val="45000"/>
                  <a:satMod val="400000"/>
                </a:schemeClr>
              </a:duotone>
            </a:blip>
            <a:stretch>
              <a:fillRect/>
            </a:stretch>
          </p:blipFill>
          <p:spPr>
            <a:xfrm>
              <a:off x="5430482" y="4847483"/>
              <a:ext cx="4677255" cy="770122"/>
            </a:xfrm>
            <a:prstGeom prst="rect">
              <a:avLst/>
            </a:prstGeom>
          </p:spPr>
        </p:pic>
        <p:sp>
          <p:nvSpPr>
            <p:cNvPr id="22" name="矩形: 圆角 21">
              <a:extLst>
                <a:ext uri="{FF2B5EF4-FFF2-40B4-BE49-F238E27FC236}">
                  <a16:creationId xmlns:a16="http://schemas.microsoft.com/office/drawing/2014/main" id="{1CDB0723-22BE-4432-BD7B-BCB254E41B28}"/>
                </a:ext>
              </a:extLst>
            </p:cNvPr>
            <p:cNvSpPr/>
            <p:nvPr/>
          </p:nvSpPr>
          <p:spPr>
            <a:xfrm>
              <a:off x="5302204" y="4410725"/>
              <a:ext cx="4933813" cy="1313802"/>
            </a:xfrm>
            <a:prstGeom prst="roundRect">
              <a:avLst>
                <a:gd name="adj" fmla="val 12548"/>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8CBFD4AB-4A7C-48F4-A880-248FF37B98E6}"/>
                  </a:ext>
                </a:extLst>
              </p:cNvPr>
              <p:cNvSpPr txBox="1"/>
              <p:nvPr/>
            </p:nvSpPr>
            <p:spPr>
              <a:xfrm>
                <a:off x="1110717" y="3942475"/>
                <a:ext cx="9709337" cy="2121543"/>
              </a:xfrm>
              <a:prstGeom prst="rect">
                <a:avLst/>
              </a:prstGeom>
              <a:solidFill>
                <a:schemeClr val="accent6">
                  <a:lumMod val="20000"/>
                  <a:lumOff val="80000"/>
                  <a:alpha val="50000"/>
                </a:schemeClr>
              </a:solidFill>
            </p:spPr>
            <p:txBody>
              <a:bodyPr wrap="square" rtlCol="0">
                <a:spAutoFit/>
              </a:bodyPr>
              <a:lstStyle/>
              <a:p>
                <a:pPr>
                  <a:lnSpc>
                    <a:spcPts val="2200"/>
                  </a:lnSpc>
                  <a:spcBef>
                    <a:spcPts val="600"/>
                  </a:spcBef>
                  <a:spcAft>
                    <a:spcPts val="600"/>
                  </a:spcAft>
                </a:pPr>
                <a:r>
                  <a:rPr lang="zh-CN" altLang="en-US" sz="2000" b="1">
                    <a:solidFill>
                      <a:srgbClr val="C00000"/>
                    </a:solidFill>
                  </a:rPr>
                  <a:t>论域是自然数集，</a:t>
                </a:r>
                <a14:m>
                  <m:oMath xmlns:m="http://schemas.openxmlformats.org/officeDocument/2006/math">
                    <m:r>
                      <a:rPr lang="en-US" altLang="zh-CN" sz="2000" b="1" i="1" smtClean="0">
                        <a:solidFill>
                          <a:srgbClr val="C00000"/>
                        </a:solidFill>
                        <a:latin typeface="Cambria Math" panose="02040503050406030204" pitchFamily="18" charset="0"/>
                      </a:rPr>
                      <m:t>𝑭</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oMath>
                </a14:m>
                <a:r>
                  <a:rPr lang="zh-CN" altLang="en-US" sz="2000" b="1">
                    <a:solidFill>
                      <a:srgbClr val="C00000"/>
                    </a:solidFill>
                  </a:rPr>
                  <a:t>表示</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rPr>
                  <a:t>是奇数，</a:t>
                </a:r>
                <a14:m>
                  <m:oMath xmlns:m="http://schemas.openxmlformats.org/officeDocument/2006/math">
                    <m:r>
                      <a:rPr lang="en-US" altLang="zh-CN" sz="2000" b="1" i="1" smtClean="0">
                        <a:solidFill>
                          <a:srgbClr val="C00000"/>
                        </a:solidFill>
                        <a:latin typeface="Cambria Math" panose="02040503050406030204" pitchFamily="18" charset="0"/>
                      </a:rPr>
                      <m:t>𝑮</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oMath>
                </a14:m>
                <a:r>
                  <a:rPr lang="zh-CN" altLang="en-US" sz="2000" b="1">
                    <a:solidFill>
                      <a:srgbClr val="C00000"/>
                    </a:solidFill>
                  </a:rPr>
                  <a:t>表示</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rPr>
                  <a:t>是偶数</a:t>
                </a:r>
                <a:endParaRPr lang="en-US" altLang="zh-CN" sz="2000" b="1">
                  <a:solidFill>
                    <a:srgbClr val="C00000"/>
                  </a:solidFill>
                </a:endParaRPr>
              </a:p>
              <a:p>
                <a:pPr marL="285750" indent="-285750">
                  <a:lnSpc>
                    <a:spcPts val="2200"/>
                  </a:lnSpc>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a14:m>
                <a:r>
                  <a:rPr lang="zh-CN" altLang="en-US" b="1">
                    <a:solidFill>
                      <a:srgbClr val="002060"/>
                    </a:solidFill>
                    <a:latin typeface="楷体" panose="02010609060101010101" pitchFamily="49" charset="-122"/>
                    <a:ea typeface="楷体" panose="02010609060101010101" pitchFamily="49" charset="-122"/>
                  </a:rPr>
                  <a:t>的含义是“任意自然数要么是奇数，要么是偶数”，</a:t>
                </a:r>
                <a:r>
                  <a:rPr lang="zh-CN" altLang="en-US" b="1">
                    <a:solidFill>
                      <a:srgbClr val="C00000"/>
                    </a:solidFill>
                    <a:latin typeface="黑体" panose="02010609060101010101" pitchFamily="49" charset="-122"/>
                    <a:ea typeface="黑体" panose="02010609060101010101" pitchFamily="49" charset="-122"/>
                  </a:rPr>
                  <a:t>真值为真</a:t>
                </a:r>
                <a:endParaRPr lang="en-US" altLang="zh-CN" b="1">
                  <a:solidFill>
                    <a:srgbClr val="C00000"/>
                  </a:solidFill>
                  <a:latin typeface="黑体" panose="02010609060101010101" pitchFamily="49" charset="-122"/>
                  <a:ea typeface="黑体" panose="02010609060101010101" pitchFamily="49" charset="-122"/>
                </a:endParaRPr>
              </a:p>
              <a:p>
                <a:pPr marL="285750" indent="-285750">
                  <a:lnSpc>
                    <a:spcPts val="2200"/>
                  </a:lnSpc>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rgbClr val="002060"/>
                    </a:solidFill>
                    <a:latin typeface="楷体" panose="02010609060101010101" pitchFamily="49" charset="-122"/>
                    <a:ea typeface="楷体" panose="02010609060101010101" pitchFamily="49" charset="-122"/>
                  </a:rPr>
                  <a:t>的含义是“要么所有自然数是奇数，要么所有自然数是偶数”，</a:t>
                </a:r>
                <a:r>
                  <a:rPr lang="zh-CN" altLang="en-US" b="1">
                    <a:solidFill>
                      <a:srgbClr val="C00000"/>
                    </a:solidFill>
                    <a:latin typeface="黑体" panose="02010609060101010101" pitchFamily="49" charset="-122"/>
                    <a:ea typeface="黑体" panose="02010609060101010101" pitchFamily="49" charset="-122"/>
                  </a:rPr>
                  <a:t>真值为假</a:t>
                </a:r>
                <a:endParaRPr lang="en-US" altLang="zh-CN" b="1">
                  <a:solidFill>
                    <a:srgbClr val="C00000"/>
                  </a:solidFill>
                  <a:latin typeface="黑体" panose="02010609060101010101" pitchFamily="49" charset="-122"/>
                  <a:ea typeface="黑体" panose="02010609060101010101" pitchFamily="49" charset="-122"/>
                </a:endParaRPr>
              </a:p>
              <a:p>
                <a:pPr marL="285750" indent="-285750">
                  <a:lnSpc>
                    <a:spcPts val="2200"/>
                  </a:lnSpc>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𝒙𝑭</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𝒙</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𝒙𝑮</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𝒙</m:t>
                        </m:r>
                      </m:e>
                    </m:d>
                  </m:oMath>
                </a14:m>
                <a:r>
                  <a:rPr lang="zh-CN" altLang="en-US" b="1">
                    <a:solidFill>
                      <a:srgbClr val="002060"/>
                    </a:solidFill>
                    <a:latin typeface="楷体" panose="02010609060101010101" pitchFamily="49" charset="-122"/>
                    <a:ea typeface="楷体" panose="02010609060101010101" pitchFamily="49" charset="-122"/>
                  </a:rPr>
                  <a:t>的含义是“存在自然数是奇数，也存在自然数是偶数”，</a:t>
                </a:r>
                <a:r>
                  <a:rPr lang="zh-CN" altLang="en-US" b="1">
                    <a:solidFill>
                      <a:srgbClr val="C00000"/>
                    </a:solidFill>
                    <a:latin typeface="黑体" panose="02010609060101010101" pitchFamily="49" charset="-122"/>
                    <a:ea typeface="黑体" panose="02010609060101010101" pitchFamily="49" charset="-122"/>
                  </a:rPr>
                  <a:t>真值为真</a:t>
                </a:r>
                <a:endParaRPr lang="en-US" altLang="zh-CN" b="1">
                  <a:solidFill>
                    <a:srgbClr val="C00000"/>
                  </a:solidFill>
                  <a:latin typeface="黑体" panose="02010609060101010101" pitchFamily="49" charset="-122"/>
                  <a:ea typeface="黑体" panose="02010609060101010101" pitchFamily="49" charset="-122"/>
                </a:endParaRPr>
              </a:p>
              <a:p>
                <a:pPr marL="285750" indent="-285750">
                  <a:lnSpc>
                    <a:spcPts val="2200"/>
                  </a:lnSpc>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𝒙</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𝑭</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𝒙</m:t>
                            </m:r>
                          </m:e>
                        </m:d>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𝑮</m:t>
                        </m:r>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2">
                                    <a:lumMod val="50000"/>
                                  </a:schemeClr>
                                </a:solidFill>
                                <a:latin typeface="Cambria Math" panose="02040503050406030204" pitchFamily="18" charset="0"/>
                                <a:ea typeface="楷体" panose="02010609060101010101" pitchFamily="49" charset="-122"/>
                              </a:rPr>
                              <m:t>𝒙</m:t>
                            </m:r>
                          </m:e>
                        </m:d>
                      </m:e>
                    </m:d>
                  </m:oMath>
                </a14:m>
                <a:r>
                  <a:rPr lang="zh-CN" altLang="en-US" b="1">
                    <a:solidFill>
                      <a:srgbClr val="002060"/>
                    </a:solidFill>
                    <a:latin typeface="楷体" panose="02010609060101010101" pitchFamily="49" charset="-122"/>
                    <a:ea typeface="楷体" panose="02010609060101010101" pitchFamily="49" charset="-122"/>
                  </a:rPr>
                  <a:t>的含义是“存在自然数，它既是奇数也是偶数”，</a:t>
                </a:r>
                <a:r>
                  <a:rPr lang="zh-CN" altLang="en-US" b="1">
                    <a:solidFill>
                      <a:srgbClr val="C00000"/>
                    </a:solidFill>
                    <a:latin typeface="黑体" panose="02010609060101010101" pitchFamily="49" charset="-122"/>
                    <a:ea typeface="黑体" panose="02010609060101010101" pitchFamily="49" charset="-122"/>
                  </a:rPr>
                  <a:t>真值为假</a:t>
                </a:r>
              </a:p>
            </p:txBody>
          </p:sp>
        </mc:Choice>
        <mc:Fallback xmlns="">
          <p:sp>
            <p:nvSpPr>
              <p:cNvPr id="24" name="文本框 23">
                <a:extLst>
                  <a:ext uri="{FF2B5EF4-FFF2-40B4-BE49-F238E27FC236}">
                    <a16:creationId xmlns:a16="http://schemas.microsoft.com/office/drawing/2014/main" id="{8CBFD4AB-4A7C-48F4-A880-248FF37B98E6}"/>
                  </a:ext>
                </a:extLst>
              </p:cNvPr>
              <p:cNvSpPr txBox="1">
                <a:spLocks noRot="1" noChangeAspect="1" noMove="1" noResize="1" noEditPoints="1" noAdjustHandles="1" noChangeArrowheads="1" noChangeShapeType="1" noTextEdit="1"/>
              </p:cNvSpPr>
              <p:nvPr/>
            </p:nvSpPr>
            <p:spPr>
              <a:xfrm>
                <a:off x="1110717" y="3942475"/>
                <a:ext cx="9709337" cy="2121543"/>
              </a:xfrm>
              <a:prstGeom prst="rect">
                <a:avLst/>
              </a:prstGeom>
              <a:blipFill>
                <a:blip r:embed="rId3"/>
                <a:stretch>
                  <a:fillRect l="-628" t="-2874" b="-2011"/>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AC014999-4C5E-4146-9FD4-6C19E9A22D4D}"/>
              </a:ext>
            </a:extLst>
          </p:cNvPr>
          <p:cNvSpPr txBox="1"/>
          <p:nvPr/>
        </p:nvSpPr>
        <p:spPr>
          <a:xfrm>
            <a:off x="1110717" y="1328256"/>
            <a:ext cx="6702673" cy="917880"/>
          </a:xfrm>
          <a:prstGeom prst="rect">
            <a:avLst/>
          </a:prstGeom>
          <a:solidFill>
            <a:schemeClr val="accent2">
              <a:lumMod val="20000"/>
              <a:lumOff val="80000"/>
            </a:schemeClr>
          </a:solidFill>
        </p:spPr>
        <p:txBody>
          <a:bodyPr wrap="square" rtlCol="0">
            <a:spAutoFit/>
          </a:bodyPr>
          <a:lstStyle/>
          <a:p>
            <a:pPr marL="342900" indent="-342900">
              <a:lnSpc>
                <a:spcPts val="2800"/>
              </a:lnSpc>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全称量词对合取分配，存在量词对析取分配</a:t>
            </a:r>
            <a:endParaRPr lang="en-US" altLang="zh-CN" sz="2400" b="1">
              <a:solidFill>
                <a:srgbClr val="002060"/>
              </a:solidFill>
              <a:latin typeface="楷体" panose="02010609060101010101" pitchFamily="49" charset="-122"/>
              <a:ea typeface="楷体" panose="02010609060101010101" pitchFamily="49" charset="-122"/>
            </a:endParaRPr>
          </a:p>
          <a:p>
            <a:pPr marL="800100" lvl="1"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黑体" panose="02010609060101010101" pitchFamily="49" charset="-122"/>
                <a:ea typeface="黑体" panose="02010609060101010101" pitchFamily="49" charset="-122"/>
              </a:rPr>
              <a:t>但</a:t>
            </a:r>
            <a:r>
              <a:rPr lang="zh-CN" altLang="en-US" sz="2000" b="1">
                <a:solidFill>
                  <a:srgbClr val="C00000"/>
                </a:solidFill>
                <a:latin typeface="黑体" panose="02010609060101010101" pitchFamily="49" charset="-122"/>
                <a:ea typeface="黑体" panose="02010609060101010101" pitchFamily="49" charset="-122"/>
              </a:rPr>
              <a:t>全称量词对析取不分配，存在量词对合取不分配</a:t>
            </a:r>
          </a:p>
        </p:txBody>
      </p:sp>
    </p:spTree>
    <p:extLst>
      <p:ext uri="{BB962C8B-B14F-4D97-AF65-F5344CB8AC3E}">
        <p14:creationId xmlns:p14="http://schemas.microsoft.com/office/powerpoint/2010/main" val="315423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一阶逻辑的等值演算举例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A056426-CACA-459C-B01B-D16856D98586}"/>
                  </a:ext>
                </a:extLst>
              </p:cNvPr>
              <p:cNvSpPr txBox="1"/>
              <p:nvPr/>
            </p:nvSpPr>
            <p:spPr>
              <a:xfrm>
                <a:off x="1281320" y="1220893"/>
                <a:ext cx="9629352" cy="578685"/>
              </a:xfrm>
              <a:prstGeom prst="rect">
                <a:avLst/>
              </a:prstGeom>
              <a:solidFill>
                <a:schemeClr val="accent6">
                  <a:lumMod val="20000"/>
                  <a:lumOff val="80000"/>
                  <a:alpha val="50000"/>
                </a:schemeClr>
              </a:solidFill>
            </p:spPr>
            <p:txBody>
              <a:bodyPr wrap="square" rtlCol="0">
                <a:spAutoFit/>
              </a:bodyPr>
              <a:lstStyle/>
              <a:p>
                <a:r>
                  <a:rPr lang="zh-CN" altLang="en-US" sz="2800" b="1">
                    <a:solidFill>
                      <a:srgbClr val="002060"/>
                    </a:solidFill>
                    <a:latin typeface="楷体" panose="02010609060101010101" pitchFamily="49" charset="-122"/>
                    <a:ea typeface="楷体" panose="02010609060101010101" pitchFamily="49" charset="-122"/>
                  </a:rPr>
                  <a:t>使用等值演算证明</a:t>
                </a:r>
                <a14:m>
                  <m:oMath xmlns:m="http://schemas.openxmlformats.org/officeDocument/2006/math">
                    <m:r>
                      <a:rPr lang="en-US" altLang="zh-CN" sz="2800" b="1" i="1" smtClean="0">
                        <a:solidFill>
                          <a:srgbClr val="002060"/>
                        </a:solidFill>
                        <a:latin typeface="Cambria Math" panose="02040503050406030204" pitchFamily="18" charset="0"/>
                      </a:rPr>
                      <m:t>∀</m:t>
                    </m:r>
                    <m:r>
                      <a:rPr lang="en-US" altLang="zh-CN" sz="2800" b="1" i="1" smtClean="0">
                        <a:solidFill>
                          <a:srgbClr val="002060"/>
                        </a:solidFill>
                        <a:latin typeface="Cambria Math" panose="02040503050406030204" pitchFamily="18" charset="0"/>
                      </a:rPr>
                      <m:t>𝒙𝑷</m:t>
                    </m:r>
                    <m:d>
                      <m:dPr>
                        <m:ctrlPr>
                          <a:rPr lang="en-US" altLang="zh-CN" sz="2800" b="1" i="1">
                            <a:solidFill>
                              <a:srgbClr val="002060"/>
                            </a:solidFill>
                            <a:latin typeface="Cambria Math" panose="02040503050406030204" pitchFamily="18" charset="0"/>
                          </a:rPr>
                        </m:ctrlPr>
                      </m:dPr>
                      <m:e>
                        <m:r>
                          <a:rPr lang="en-US" altLang="zh-CN" sz="2800" b="1" i="1">
                            <a:solidFill>
                              <a:srgbClr val="002060"/>
                            </a:solidFill>
                            <a:latin typeface="Cambria Math" panose="02040503050406030204" pitchFamily="18" charset="0"/>
                          </a:rPr>
                          <m:t>𝒙</m:t>
                        </m:r>
                      </m:e>
                    </m:d>
                    <m: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𝒙</m:t>
                    </m:r>
                    <m: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𝑸</m:t>
                    </m:r>
                    <m:d>
                      <m:dPr>
                        <m:ctrlPr>
                          <a:rPr lang="en-US" altLang="zh-CN" sz="2800" b="1" i="1">
                            <a:solidFill>
                              <a:srgbClr val="002060"/>
                            </a:solidFill>
                            <a:latin typeface="Cambria Math" panose="02040503050406030204" pitchFamily="18" charset="0"/>
                          </a:rPr>
                        </m:ctrlPr>
                      </m:dPr>
                      <m:e>
                        <m:r>
                          <a:rPr lang="en-US" altLang="zh-CN" sz="2800" b="1" i="1">
                            <a:solidFill>
                              <a:srgbClr val="002060"/>
                            </a:solidFill>
                            <a:latin typeface="Cambria Math" panose="02040503050406030204" pitchFamily="18" charset="0"/>
                          </a:rPr>
                          <m:t>𝒙</m:t>
                        </m:r>
                      </m:e>
                    </m:d>
                    <m: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𝒙</m:t>
                    </m:r>
                    <m:d>
                      <m:dPr>
                        <m:ctrlPr>
                          <a:rPr lang="en-US" altLang="zh-CN" sz="2800" b="1" i="1">
                            <a:solidFill>
                              <a:srgbClr val="002060"/>
                            </a:solidFill>
                            <a:latin typeface="Cambria Math" panose="02040503050406030204" pitchFamily="18" charset="0"/>
                          </a:rPr>
                        </m:ctrlPr>
                      </m:dPr>
                      <m:e>
                        <m:r>
                          <a:rPr lang="en-US" altLang="zh-CN" sz="2800" b="1" i="1">
                            <a:solidFill>
                              <a:srgbClr val="002060"/>
                            </a:solidFill>
                            <a:latin typeface="Cambria Math" panose="02040503050406030204" pitchFamily="18" charset="0"/>
                          </a:rPr>
                          <m:t>𝑷</m:t>
                        </m:r>
                        <m:d>
                          <m:dPr>
                            <m:ctrlPr>
                              <a:rPr lang="en-US" altLang="zh-CN" sz="2800" b="1" i="1">
                                <a:solidFill>
                                  <a:srgbClr val="002060"/>
                                </a:solidFill>
                                <a:latin typeface="Cambria Math" panose="02040503050406030204" pitchFamily="18" charset="0"/>
                              </a:rPr>
                            </m:ctrlPr>
                          </m:dPr>
                          <m:e>
                            <m:r>
                              <a:rPr lang="en-US" altLang="zh-CN" sz="2800" b="1" i="1">
                                <a:solidFill>
                                  <a:srgbClr val="002060"/>
                                </a:solidFill>
                                <a:latin typeface="Cambria Math" panose="02040503050406030204" pitchFamily="18" charset="0"/>
                              </a:rPr>
                              <m:t>𝒙</m:t>
                            </m:r>
                          </m:e>
                        </m:d>
                        <m:r>
                          <a:rPr lang="en-US" altLang="zh-CN" sz="2800" b="1" i="1">
                            <a:solidFill>
                              <a:srgbClr val="002060"/>
                            </a:solidFill>
                            <a:latin typeface="Cambria Math" panose="02040503050406030204" pitchFamily="18" charset="0"/>
                          </a:rPr>
                          <m:t>∧</m:t>
                        </m:r>
                        <m:r>
                          <a:rPr lang="en-US" altLang="zh-CN" sz="2800" b="1" i="1">
                            <a:solidFill>
                              <a:srgbClr val="002060"/>
                            </a:solidFill>
                            <a:latin typeface="Cambria Math" panose="02040503050406030204" pitchFamily="18" charset="0"/>
                          </a:rPr>
                          <m:t>𝑸</m:t>
                        </m:r>
                        <m:d>
                          <m:dPr>
                            <m:ctrlPr>
                              <a:rPr lang="en-US" altLang="zh-CN" sz="2800" b="1" i="1">
                                <a:solidFill>
                                  <a:srgbClr val="002060"/>
                                </a:solidFill>
                                <a:latin typeface="Cambria Math" panose="02040503050406030204" pitchFamily="18" charset="0"/>
                              </a:rPr>
                            </m:ctrlPr>
                          </m:dPr>
                          <m:e>
                            <m:r>
                              <a:rPr lang="en-US" altLang="zh-CN" sz="2800" b="1" i="1">
                                <a:solidFill>
                                  <a:srgbClr val="002060"/>
                                </a:solidFill>
                                <a:latin typeface="Cambria Math" panose="02040503050406030204" pitchFamily="18" charset="0"/>
                              </a:rPr>
                              <m:t>𝒙</m:t>
                            </m:r>
                          </m:e>
                        </m:d>
                      </m:e>
                    </m:d>
                  </m:oMath>
                </a14:m>
                <a:endParaRPr lang="zh-CN" altLang="en-US" sz="2800" b="1">
                  <a:solidFill>
                    <a:srgbClr val="002060"/>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0A056426-CACA-459C-B01B-D16856D98586}"/>
                  </a:ext>
                </a:extLst>
              </p:cNvPr>
              <p:cNvSpPr txBox="1">
                <a:spLocks noRot="1" noChangeAspect="1" noMove="1" noResize="1" noEditPoints="1" noAdjustHandles="1" noChangeArrowheads="1" noChangeShapeType="1" noTextEdit="1"/>
              </p:cNvSpPr>
              <p:nvPr/>
            </p:nvSpPr>
            <p:spPr>
              <a:xfrm>
                <a:off x="1281320" y="1220893"/>
                <a:ext cx="9629352" cy="578685"/>
              </a:xfrm>
              <a:prstGeom prst="rect">
                <a:avLst/>
              </a:prstGeom>
              <a:blipFill>
                <a:blip r:embed="rId2"/>
                <a:stretch>
                  <a:fillRect l="-1266" t="-10526" b="-18947"/>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DB5D470E-DA75-4F72-A18D-479BE9E59657}"/>
              </a:ext>
            </a:extLst>
          </p:cNvPr>
          <p:cNvPicPr>
            <a:picLocks noChangeAspect="1"/>
          </p:cNvPicPr>
          <p:nvPr/>
        </p:nvPicPr>
        <p:blipFill>
          <a:blip r:embed="rId3"/>
          <a:stretch>
            <a:fillRect/>
          </a:stretch>
        </p:blipFill>
        <p:spPr>
          <a:xfrm>
            <a:off x="1638385" y="1918440"/>
            <a:ext cx="8915223" cy="2673827"/>
          </a:xfrm>
          <a:prstGeom prst="rect">
            <a:avLst/>
          </a:prstGeom>
        </p:spPr>
      </p:pic>
      <p:sp>
        <p:nvSpPr>
          <p:cNvPr id="12" name="文本框 11">
            <a:extLst>
              <a:ext uri="{FF2B5EF4-FFF2-40B4-BE49-F238E27FC236}">
                <a16:creationId xmlns:a16="http://schemas.microsoft.com/office/drawing/2014/main" id="{1DF3B4ED-9586-408A-8C9E-16723C785B40}"/>
              </a:ext>
            </a:extLst>
          </p:cNvPr>
          <p:cNvSpPr txBox="1"/>
          <p:nvPr/>
        </p:nvSpPr>
        <p:spPr>
          <a:xfrm>
            <a:off x="1092374" y="4839196"/>
            <a:ext cx="10007244" cy="1224822"/>
          </a:xfrm>
          <a:prstGeom prst="rect">
            <a:avLst/>
          </a:prstGeom>
          <a:solidFill>
            <a:schemeClr val="accent2">
              <a:lumMod val="20000"/>
              <a:lumOff val="80000"/>
            </a:schemeClr>
          </a:solidFill>
        </p:spPr>
        <p:txBody>
          <a:bodyPr wrap="square" rtlCol="0">
            <a:spAutoFit/>
          </a:bodyPr>
          <a:lstStyle/>
          <a:p>
            <a:pPr>
              <a:lnSpc>
                <a:spcPts val="2600"/>
              </a:lnSpc>
              <a:spcBef>
                <a:spcPts val="600"/>
              </a:spcBef>
            </a:pPr>
            <a:r>
              <a:rPr lang="zh-CN" altLang="en-US" sz="2000" b="1">
                <a:solidFill>
                  <a:srgbClr val="002060"/>
                </a:solidFill>
                <a:latin typeface="楷体" panose="02010609060101010101" pitchFamily="49" charset="-122"/>
                <a:ea typeface="楷体" panose="02010609060101010101" pitchFamily="49" charset="-122"/>
              </a:rPr>
              <a:t>同样，在等值演算过程中要使用</a:t>
            </a:r>
            <a:r>
              <a:rPr lang="zh-CN" altLang="en-US" sz="2000" b="1">
                <a:solidFill>
                  <a:srgbClr val="C00000"/>
                </a:solidFill>
                <a:latin typeface="黑体" panose="02010609060101010101" pitchFamily="49" charset="-122"/>
                <a:ea typeface="黑体" panose="02010609060101010101" pitchFamily="49" charset="-122"/>
              </a:rPr>
              <a:t>注释</a:t>
            </a:r>
            <a:r>
              <a:rPr lang="zh-CN" altLang="en-US" sz="2000" b="1">
                <a:solidFill>
                  <a:srgbClr val="002060"/>
                </a:solidFill>
                <a:latin typeface="楷体" panose="02010609060101010101" pitchFamily="49" charset="-122"/>
                <a:ea typeface="楷体" panose="02010609060101010101" pitchFamily="49" charset="-122"/>
              </a:rPr>
              <a:t>写清楚每一步用到的重要基本逻辑等值式，特别是：</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b="1">
                <a:solidFill>
                  <a:srgbClr val="C00000"/>
                </a:solidFill>
              </a:rPr>
              <a:t>分配律、吸收律、德摩尔根律、蕴涵等值式、双蕴涵等值式</a:t>
            </a:r>
            <a:endParaRPr lang="en-US" altLang="zh-CN" b="1">
              <a:solidFill>
                <a:srgbClr val="C00000"/>
              </a:solidFill>
            </a:endParaRPr>
          </a:p>
          <a:p>
            <a:pPr marL="285750" indent="-285750">
              <a:lnSpc>
                <a:spcPts val="2600"/>
              </a:lnSpc>
              <a:spcBef>
                <a:spcPts val="600"/>
              </a:spcBef>
              <a:buFont typeface="Arial" panose="020B0604020202020204" pitchFamily="34" charset="0"/>
              <a:buChar char="•"/>
            </a:pPr>
            <a:r>
              <a:rPr lang="zh-CN" altLang="en-US" b="1">
                <a:solidFill>
                  <a:srgbClr val="C00000"/>
                </a:solidFill>
              </a:rPr>
              <a:t>量词否定等值式、量词辖域扩张收缩、量词分配等值式</a:t>
            </a:r>
          </a:p>
        </p:txBody>
      </p:sp>
    </p:spTree>
    <p:extLst>
      <p:ext uri="{BB962C8B-B14F-4D97-AF65-F5344CB8AC3E}">
        <p14:creationId xmlns:p14="http://schemas.microsoft.com/office/powerpoint/2010/main" val="357564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一阶逻辑等值式判断练习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B0AEC88-2B96-4B25-92CE-72240084AAB5}"/>
                  </a:ext>
                </a:extLst>
              </p:cNvPr>
              <p:cNvSpPr txBox="1"/>
              <p:nvPr/>
            </p:nvSpPr>
            <p:spPr>
              <a:xfrm>
                <a:off x="902337" y="1581059"/>
                <a:ext cx="8769031" cy="4142801"/>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800" b="1">
                    <a:solidFill>
                      <a:srgbClr val="002060"/>
                    </a:solidFill>
                    <a:latin typeface="Arial" panose="020B0604020202020204" pitchFamily="34" charset="0"/>
                    <a:cs typeface="Arial" panose="020B0604020202020204" pitchFamily="34" charset="0"/>
                  </a:rPr>
                  <a:t>下面哪些一阶逻辑公式逻辑等值式是正确的（多选）？</a:t>
                </a: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A.</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B.</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C.</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D.</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E.</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F.</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oMath>
                </a14:m>
                <a:endParaRPr lang="zh-CN" altLang="en-US" sz="2800" b="1">
                  <a:solidFill>
                    <a:schemeClr val="accent2">
                      <a:lumMod val="50000"/>
                    </a:schemeClr>
                  </a:solidFill>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DB0AEC88-2B96-4B25-92CE-72240084AAB5}"/>
                  </a:ext>
                </a:extLst>
              </p:cNvPr>
              <p:cNvSpPr txBox="1">
                <a:spLocks noRot="1" noChangeAspect="1" noMove="1" noResize="1" noEditPoints="1" noAdjustHandles="1" noChangeArrowheads="1" noChangeShapeType="1" noTextEdit="1"/>
              </p:cNvSpPr>
              <p:nvPr/>
            </p:nvSpPr>
            <p:spPr>
              <a:xfrm>
                <a:off x="902337" y="1581059"/>
                <a:ext cx="8769031" cy="4142801"/>
              </a:xfrm>
              <a:prstGeom prst="rect">
                <a:avLst/>
              </a:prstGeom>
              <a:blipFill>
                <a:blip r:embed="rId2"/>
                <a:stretch>
                  <a:fillRect l="-1390" t="-1471" r="-486" b="-22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89703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量词公式的基本等值式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一阶逻辑等值式判断练习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B0AEC88-2B96-4B25-92CE-72240084AAB5}"/>
                  </a:ext>
                </a:extLst>
              </p:cNvPr>
              <p:cNvSpPr txBox="1"/>
              <p:nvPr/>
            </p:nvSpPr>
            <p:spPr>
              <a:xfrm>
                <a:off x="902337" y="1581059"/>
                <a:ext cx="8769031" cy="4142801"/>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800" b="1">
                    <a:solidFill>
                      <a:srgbClr val="002060"/>
                    </a:solidFill>
                    <a:latin typeface="Arial" panose="020B0604020202020204" pitchFamily="34" charset="0"/>
                    <a:cs typeface="Arial" panose="020B0604020202020204" pitchFamily="34" charset="0"/>
                  </a:rPr>
                  <a:t>下面哪些一阶逻辑公式逻辑等值式是正确的（多选）？</a:t>
                </a: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A.</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B.</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C.</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D.</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E.</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𝒚</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𝒙𝑭</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𝒚</m:t>
                        </m:r>
                      </m:e>
                    </m:d>
                  </m:oMath>
                </a14:m>
                <a:endParaRPr lang="en-US" altLang="zh-CN" sz="2800" b="1">
                  <a:solidFill>
                    <a:schemeClr val="accent2">
                      <a:lumMod val="50000"/>
                    </a:schemeClr>
                  </a:solidFill>
                  <a:latin typeface="Arial" panose="020B0604020202020204" pitchFamily="34" charset="0"/>
                  <a:cs typeface="Arial" panose="020B0604020202020204" pitchFamily="34" charset="0"/>
                </a:endParaRPr>
              </a:p>
              <a:p>
                <a:pPr>
                  <a:spcBef>
                    <a:spcPts val="600"/>
                  </a:spcBef>
                  <a:spcAft>
                    <a:spcPts val="600"/>
                  </a:spcAft>
                </a:pPr>
                <a:r>
                  <a:rPr lang="en-US" altLang="zh-CN" sz="2800">
                    <a:solidFill>
                      <a:schemeClr val="accent2">
                        <a:lumMod val="50000"/>
                      </a:schemeClr>
                    </a:solidFill>
                    <a:latin typeface="Arial" panose="020B0604020202020204" pitchFamily="34" charset="0"/>
                    <a:cs typeface="Arial" panose="020B0604020202020204" pitchFamily="34" charset="0"/>
                  </a:rPr>
                  <a:t>F.</a:t>
                </a:r>
                <a:r>
                  <a:rPr lang="en-US" altLang="zh-CN" sz="2800" b="1">
                    <a:solidFill>
                      <a:schemeClr val="accent2">
                        <a:lumMod val="50000"/>
                      </a:schemeClr>
                    </a:solidFill>
                    <a:latin typeface="Arial" panose="020B0604020202020204" pitchFamily="34" charset="0"/>
                    <a:cs typeface="Arial" panose="020B0604020202020204" pitchFamily="34" charset="0"/>
                  </a:rPr>
                  <a:t>  </a:t>
                </a:r>
                <a14:m>
                  <m:oMath xmlns:m="http://schemas.openxmlformats.org/officeDocument/2006/math">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𝒙𝑷</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𝒙𝑸</m:t>
                    </m:r>
                    <m:d>
                      <m:dPr>
                        <m:ctrlPr>
                          <a:rPr lang="en-US" altLang="zh-CN" sz="2800" b="1" i="1">
                            <a:solidFill>
                              <a:schemeClr val="accent2">
                                <a:lumMod val="50000"/>
                              </a:schemeClr>
                            </a:solidFill>
                            <a:latin typeface="Cambria Math" panose="02040503050406030204" pitchFamily="18" charset="0"/>
                          </a:rPr>
                        </m:ctrlPr>
                      </m:dPr>
                      <m:e>
                        <m:r>
                          <a:rPr lang="en-US" altLang="zh-CN" sz="2800" b="1" i="1" smtClean="0">
                            <a:solidFill>
                              <a:schemeClr val="accent2">
                                <a:lumMod val="50000"/>
                              </a:schemeClr>
                            </a:solidFill>
                            <a:latin typeface="Cambria Math" panose="02040503050406030204" pitchFamily="18" charset="0"/>
                          </a:rPr>
                          <m:t>𝒙</m:t>
                        </m:r>
                      </m:e>
                    </m:d>
                  </m:oMath>
                </a14:m>
                <a:endParaRPr lang="zh-CN" altLang="en-US" sz="2800" b="1">
                  <a:solidFill>
                    <a:schemeClr val="accent2">
                      <a:lumMod val="50000"/>
                    </a:schemeClr>
                  </a:solidFill>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DB0AEC88-2B96-4B25-92CE-72240084AAB5}"/>
                  </a:ext>
                </a:extLst>
              </p:cNvPr>
              <p:cNvSpPr txBox="1">
                <a:spLocks noRot="1" noChangeAspect="1" noMove="1" noResize="1" noEditPoints="1" noAdjustHandles="1" noChangeArrowheads="1" noChangeShapeType="1" noTextEdit="1"/>
              </p:cNvSpPr>
              <p:nvPr/>
            </p:nvSpPr>
            <p:spPr>
              <a:xfrm>
                <a:off x="902337" y="1581059"/>
                <a:ext cx="8769031" cy="4142801"/>
              </a:xfrm>
              <a:prstGeom prst="rect">
                <a:avLst/>
              </a:prstGeom>
              <a:blipFill>
                <a:blip r:embed="rId2"/>
                <a:stretch>
                  <a:fillRect l="-1390" t="-1471" r="-486" b="-2206"/>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4B4DA78-01D7-4310-A21C-0DE2ACEE8620}"/>
              </a:ext>
            </a:extLst>
          </p:cNvPr>
          <p:cNvSpPr txBox="1"/>
          <p:nvPr/>
        </p:nvSpPr>
        <p:spPr>
          <a:xfrm>
            <a:off x="845681" y="3525493"/>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53B1193-CBC7-4B73-BBD8-1158E9F875DD}"/>
              </a:ext>
            </a:extLst>
          </p:cNvPr>
          <p:cNvSpPr txBox="1"/>
          <p:nvPr/>
        </p:nvSpPr>
        <p:spPr>
          <a:xfrm>
            <a:off x="845681" y="4121638"/>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4071ED8-A323-4DD6-8A9C-1DE369D4B866}"/>
                  </a:ext>
                </a:extLst>
              </p:cNvPr>
              <p:cNvSpPr txBox="1"/>
              <p:nvPr/>
            </p:nvSpPr>
            <p:spPr>
              <a:xfrm>
                <a:off x="6484126" y="2158531"/>
                <a:ext cx="5014948"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6">
                        <a:lumMod val="50000"/>
                      </a:schemeClr>
                    </a:solidFill>
                  </a:rPr>
                  <a:t>考虑论域 </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r>
                      <a:rPr lang="en-US" altLang="zh-CN" b="1" i="1">
                        <a:solidFill>
                          <a:schemeClr val="accent6">
                            <a:lumMod val="50000"/>
                          </a:schemeClr>
                        </a:solidFill>
                        <a:latin typeface="Cambria Math" panose="02040503050406030204" pitchFamily="18" charset="0"/>
                      </a:rPr>
                      <m:t>=</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𝒃</m:t>
                        </m:r>
                      </m:e>
                    </m:d>
                    <m:r>
                      <a:rPr lang="en-US" altLang="zh-CN" b="1" i="1" smtClean="0">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𝒂</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𝟎</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𝒃</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𝒃</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𝒂</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𝒃</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𝒃</m:t>
                        </m:r>
                      </m:e>
                    </m:d>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𝟎</m:t>
                    </m:r>
                    <m:r>
                      <a:rPr lang="en-US" altLang="zh-CN" b="1" i="1" smtClean="0">
                        <a:solidFill>
                          <a:schemeClr val="accent6">
                            <a:lumMod val="50000"/>
                          </a:schemeClr>
                        </a:solidFill>
                        <a:latin typeface="Cambria Math" panose="02040503050406030204" pitchFamily="18" charset="0"/>
                      </a:rPr>
                      <m:t> </m:t>
                    </m:r>
                  </m:oMath>
                </a14:m>
                <a:r>
                  <a:rPr lang="en-US" altLang="zh-CN" b="1" i="0">
                    <a:solidFill>
                      <a:schemeClr val="accent6">
                        <a:lumMod val="50000"/>
                      </a:schemeClr>
                    </a:solidFill>
                    <a:latin typeface="+mj-lt"/>
                  </a:rPr>
                  <a:t>(</a:t>
                </a:r>
                <a:r>
                  <a:rPr lang="zh-CN" altLang="en-US" b="1" i="0">
                    <a:solidFill>
                      <a:schemeClr val="accent6">
                        <a:lumMod val="50000"/>
                      </a:schemeClr>
                    </a:solidFill>
                    <a:latin typeface="+mj-lt"/>
                  </a:rPr>
                  <a:t>即</a:t>
                </a:r>
                <a14:m>
                  <m:oMath xmlns:m="http://schemas.openxmlformats.org/officeDocument/2006/math">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𝑭</m:t>
                        </m:r>
                      </m:e>
                    </m:d>
                    <m:r>
                      <a:rPr lang="en-US" altLang="zh-CN" b="1" i="1">
                        <a:solidFill>
                          <a:schemeClr val="accent6">
                            <a:lumMod val="50000"/>
                          </a:schemeClr>
                        </a:solidFill>
                        <a:latin typeface="Cambria Math" panose="02040503050406030204" pitchFamily="18" charset="0"/>
                      </a:rPr>
                      <m:t>={</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𝒃</m:t>
                        </m:r>
                      </m:e>
                    </m:d>
                    <m:r>
                      <m:rPr>
                        <m:nor/>
                      </m:rP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m:t>,</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𝒃</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𝒂</m:t>
                        </m:r>
                      </m:e>
                    </m:d>
                    <m:r>
                      <a:rPr lang="en-US" altLang="zh-CN" b="1" i="1" smtClean="0">
                        <a:solidFill>
                          <a:schemeClr val="accent6">
                            <a:lumMod val="50000"/>
                          </a:schemeClr>
                        </a:solidFill>
                        <a:latin typeface="Cambria Math" panose="02040503050406030204" pitchFamily="18" charset="0"/>
                      </a:rPr>
                      <m:t>}</m:t>
                    </m:r>
                    <m:r>
                      <a:rPr lang="en-US" altLang="zh-CN" b="0" i="1" smtClean="0">
                        <a:solidFill>
                          <a:schemeClr val="accent6">
                            <a:lumMod val="50000"/>
                          </a:schemeClr>
                        </a:solidFill>
                        <a:latin typeface="Cambria Math" panose="02040503050406030204" pitchFamily="18" charset="0"/>
                      </a:rPr>
                      <m:t>)</m:t>
                    </m:r>
                  </m:oMath>
                </a14:m>
                <a:endParaRPr lang="zh-CN" altLang="en-US"/>
              </a:p>
            </p:txBody>
          </p:sp>
        </mc:Choice>
        <mc:Fallback xmlns="">
          <p:sp>
            <p:nvSpPr>
              <p:cNvPr id="3" name="文本框 2">
                <a:extLst>
                  <a:ext uri="{FF2B5EF4-FFF2-40B4-BE49-F238E27FC236}">
                    <a16:creationId xmlns:a16="http://schemas.microsoft.com/office/drawing/2014/main" id="{E4071ED8-A323-4DD6-8A9C-1DE369D4B866}"/>
                  </a:ext>
                </a:extLst>
              </p:cNvPr>
              <p:cNvSpPr txBox="1">
                <a:spLocks noRot="1" noChangeAspect="1" noMove="1" noResize="1" noEditPoints="1" noAdjustHandles="1" noChangeArrowheads="1" noChangeShapeType="1" noTextEdit="1"/>
              </p:cNvSpPr>
              <p:nvPr/>
            </p:nvSpPr>
            <p:spPr>
              <a:xfrm>
                <a:off x="6484126" y="2158531"/>
                <a:ext cx="5014948" cy="553998"/>
              </a:xfrm>
              <a:prstGeom prst="rect">
                <a:avLst/>
              </a:prstGeom>
              <a:blipFill>
                <a:blip r:embed="rId3"/>
                <a:stretch>
                  <a:fillRect l="-1095" t="-14286" b="-252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C8B7E2E-9DD3-4CB8-954B-DADE5EAA6E3E}"/>
                  </a:ext>
                </a:extLst>
              </p:cNvPr>
              <p:cNvSpPr txBox="1"/>
              <p:nvPr/>
            </p:nvSpPr>
            <p:spPr>
              <a:xfrm>
                <a:off x="7954592" y="2768845"/>
                <a:ext cx="3533707"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6">
                        <a:lumMod val="50000"/>
                      </a:schemeClr>
                    </a:solidFill>
                  </a:rPr>
                  <a:t>考虑论域 </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r>
                      <a:rPr lang="en-US" altLang="zh-CN" b="1" i="1">
                        <a:solidFill>
                          <a:schemeClr val="accent6">
                            <a:lumMod val="50000"/>
                          </a:schemeClr>
                        </a:solidFill>
                        <a:latin typeface="Cambria Math" panose="02040503050406030204" pitchFamily="18" charset="0"/>
                      </a:rPr>
                      <m:t>=</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𝒃</m:t>
                        </m:r>
                      </m:e>
                    </m:d>
                    <m:r>
                      <a:rPr lang="en-US" altLang="zh-CN" b="1" i="1" smtClean="0">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𝑷</m:t>
                    </m:r>
                    <m:d>
                      <m:dPr>
                        <m:ctrlPr>
                          <a:rPr lang="pt-BR" altLang="zh-CN" b="1" i="1">
                            <a:solidFill>
                              <a:schemeClr val="accent6">
                                <a:lumMod val="50000"/>
                              </a:schemeClr>
                            </a:solidFill>
                            <a:latin typeface="Cambria Math" panose="02040503050406030204" pitchFamily="18" charset="0"/>
                          </a:rPr>
                        </m:ctrlPr>
                      </m:dPr>
                      <m:e>
                        <m:r>
                          <a:rPr lang="pt-BR" altLang="zh-CN" b="1" i="1">
                            <a:solidFill>
                              <a:schemeClr val="accent6">
                                <a:lumMod val="50000"/>
                              </a:schemeClr>
                            </a:solidFill>
                            <a:latin typeface="Cambria Math" panose="02040503050406030204" pitchFamily="18" charset="0"/>
                          </a:rPr>
                          <m:t>𝒂</m:t>
                        </m:r>
                      </m:e>
                    </m:d>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𝟎</m:t>
                    </m:r>
                    <m:r>
                      <a:rPr lang="pt-BR" altLang="zh-CN" b="1" i="1">
                        <a:solidFill>
                          <a:schemeClr val="accent6">
                            <a:lumMod val="50000"/>
                          </a:schemeClr>
                        </a:solidFill>
                        <a:latin typeface="Cambria Math" panose="02040503050406030204" pitchFamily="18" charset="0"/>
                      </a:rPr>
                      <m:t>, </m:t>
                    </m:r>
                  </m:oMath>
                </a14:m>
                <a:endParaRPr lang="en-US" altLang="zh-CN" b="1" i="1">
                  <a:solidFill>
                    <a:schemeClr val="accent6">
                      <a:lumMod val="50000"/>
                    </a:schemeClr>
                  </a:solidFill>
                  <a:latin typeface="Cambria Math" panose="02040503050406030204" pitchFamily="18" charset="0"/>
                </a:endParaRPr>
              </a:p>
              <a:p>
                <a:r>
                  <a:rPr lang="en-US" altLang="zh-CN" b="1">
                    <a:solidFill>
                      <a:schemeClr val="accent6">
                        <a:lumMod val="50000"/>
                      </a:schemeClr>
                    </a:solidFill>
                  </a:rPr>
                  <a:t> </a:t>
                </a:r>
                <a14:m>
                  <m:oMath xmlns:m="http://schemas.openxmlformats.org/officeDocument/2006/math">
                    <m:r>
                      <a:rPr lang="pt-BR" altLang="zh-CN" b="1" i="1">
                        <a:solidFill>
                          <a:schemeClr val="accent6">
                            <a:lumMod val="50000"/>
                          </a:schemeClr>
                        </a:solidFill>
                        <a:latin typeface="Cambria Math" panose="02040503050406030204" pitchFamily="18" charset="0"/>
                      </a:rPr>
                      <m:t>𝑷</m:t>
                    </m:r>
                    <m:r>
                      <a:rPr lang="pt-BR" altLang="zh-CN" b="1" i="1">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𝒃</m:t>
                    </m:r>
                    <m:r>
                      <a:rPr lang="pt-BR" altLang="zh-CN" b="1" i="1">
                        <a:solidFill>
                          <a:schemeClr val="accent6">
                            <a:lumMod val="50000"/>
                          </a:schemeClr>
                        </a:solidFill>
                        <a:latin typeface="Cambria Math" panose="02040503050406030204" pitchFamily="18" charset="0"/>
                      </a:rPr>
                      <m:t>) = </m:t>
                    </m:r>
                    <m:r>
                      <a:rPr lang="pt-BR" altLang="zh-CN" b="1" i="1">
                        <a:solidFill>
                          <a:schemeClr val="accent6">
                            <a:lumMod val="50000"/>
                          </a:schemeClr>
                        </a:solidFill>
                        <a:latin typeface="Cambria Math" panose="02040503050406030204" pitchFamily="18" charset="0"/>
                      </a:rPr>
                      <m:t>𝟏</m:t>
                    </m:r>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𝑸</m:t>
                    </m:r>
                    <m:r>
                      <a:rPr lang="pt-BR" altLang="zh-CN" b="1" i="1">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𝒂</m:t>
                    </m:r>
                    <m:r>
                      <a:rPr lang="pt-BR" altLang="zh-CN" b="1" i="1">
                        <a:solidFill>
                          <a:schemeClr val="accent6">
                            <a:lumMod val="50000"/>
                          </a:schemeClr>
                        </a:solidFill>
                        <a:latin typeface="Cambria Math" panose="02040503050406030204" pitchFamily="18" charset="0"/>
                      </a:rPr>
                      <m:t>) = </m:t>
                    </m:r>
                    <m:r>
                      <a:rPr lang="pt-BR" altLang="zh-CN" b="1" i="1">
                        <a:solidFill>
                          <a:schemeClr val="accent6">
                            <a:lumMod val="50000"/>
                          </a:schemeClr>
                        </a:solidFill>
                        <a:latin typeface="Cambria Math" panose="02040503050406030204" pitchFamily="18" charset="0"/>
                      </a:rPr>
                      <m:t>𝟏</m:t>
                    </m:r>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𝑸</m:t>
                    </m:r>
                    <m:r>
                      <a:rPr lang="pt-BR" altLang="zh-CN" b="1" i="1">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𝒃</m:t>
                    </m:r>
                    <m:r>
                      <a:rPr lang="pt-BR" altLang="zh-CN" b="1" i="1">
                        <a:solidFill>
                          <a:schemeClr val="accent6">
                            <a:lumMod val="50000"/>
                          </a:schemeClr>
                        </a:solidFill>
                        <a:latin typeface="Cambria Math" panose="02040503050406030204" pitchFamily="18" charset="0"/>
                      </a:rPr>
                      <m:t>) = </m:t>
                    </m:r>
                    <m:r>
                      <a:rPr lang="pt-BR" altLang="zh-CN" b="1" i="1">
                        <a:solidFill>
                          <a:schemeClr val="accent6">
                            <a:lumMod val="50000"/>
                          </a:schemeClr>
                        </a:solidFill>
                        <a:latin typeface="Cambria Math" panose="02040503050406030204" pitchFamily="18" charset="0"/>
                      </a:rPr>
                      <m:t>𝟎</m:t>
                    </m:r>
                  </m:oMath>
                </a14:m>
                <a:endParaRPr lang="zh-CN" altLang="en-US"/>
              </a:p>
            </p:txBody>
          </p:sp>
        </mc:Choice>
        <mc:Fallback xmlns="">
          <p:sp>
            <p:nvSpPr>
              <p:cNvPr id="13" name="文本框 12">
                <a:extLst>
                  <a:ext uri="{FF2B5EF4-FFF2-40B4-BE49-F238E27FC236}">
                    <a16:creationId xmlns:a16="http://schemas.microsoft.com/office/drawing/2014/main" id="{AC8B7E2E-9DD3-4CB8-954B-DADE5EAA6E3E}"/>
                  </a:ext>
                </a:extLst>
              </p:cNvPr>
              <p:cNvSpPr txBox="1">
                <a:spLocks noRot="1" noChangeAspect="1" noMove="1" noResize="1" noEditPoints="1" noAdjustHandles="1" noChangeArrowheads="1" noChangeShapeType="1" noTextEdit="1"/>
              </p:cNvSpPr>
              <p:nvPr/>
            </p:nvSpPr>
            <p:spPr>
              <a:xfrm>
                <a:off x="7954592" y="2768845"/>
                <a:ext cx="3533707" cy="553998"/>
              </a:xfrm>
              <a:prstGeom prst="rect">
                <a:avLst/>
              </a:prstGeom>
              <a:blipFill>
                <a:blip r:embed="rId4"/>
                <a:stretch>
                  <a:fillRect l="-1552" t="-14286" b="-164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AFA8669-4812-497D-B27E-872BA1D74CAB}"/>
                  </a:ext>
                </a:extLst>
              </p:cNvPr>
              <p:cNvSpPr txBox="1"/>
              <p:nvPr/>
            </p:nvSpPr>
            <p:spPr>
              <a:xfrm>
                <a:off x="6484126" y="4521280"/>
                <a:ext cx="3962401"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6">
                        <a:lumMod val="50000"/>
                      </a:schemeClr>
                    </a:solidFill>
                  </a:rPr>
                  <a:t>考虑论域 </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r>
                      <a:rPr lang="en-US" altLang="zh-CN" b="1" i="1">
                        <a:solidFill>
                          <a:schemeClr val="accent6">
                            <a:lumMod val="50000"/>
                          </a:schemeClr>
                        </a:solidFill>
                        <a:latin typeface="Cambria Math" panose="02040503050406030204" pitchFamily="18" charset="0"/>
                      </a:rPr>
                      <m:t>=</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𝒃</m:t>
                        </m:r>
                      </m:e>
                    </m:d>
                    <m:r>
                      <a:rPr lang="en-US" altLang="zh-CN" b="1" i="1" smtClean="0">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𝒂</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𝟎</m:t>
                    </m:r>
                    <m:r>
                      <a:rPr lang="en-US" altLang="zh-CN" b="1" i="1">
                        <a:solidFill>
                          <a:schemeClr val="accent6">
                            <a:lumMod val="50000"/>
                          </a:schemeClr>
                        </a:solidFill>
                        <a:latin typeface="Cambria Math" panose="02040503050406030204" pitchFamily="18" charset="0"/>
                      </a:rPr>
                      <m:t>, </m:t>
                    </m:r>
                  </m:oMath>
                </a14:m>
                <a:endParaRPr lang="en-US" altLang="zh-CN" b="1" i="1">
                  <a:solidFill>
                    <a:schemeClr val="accent6">
                      <a:lumMod val="50000"/>
                    </a:schemeClr>
                  </a:solidFill>
                  <a:latin typeface="Cambria Math" panose="02040503050406030204" pitchFamily="18" charset="0"/>
                </a:endParaRPr>
              </a:p>
              <a:p>
                <a:r>
                  <a:rPr lang="en-US" altLang="zh-CN" b="1">
                    <a:solidFill>
                      <a:schemeClr val="accent6">
                        <a:lumMod val="50000"/>
                      </a:schemeClr>
                    </a:solidFill>
                  </a:rPr>
                  <a:t> </a:t>
                </a:r>
                <a14:m>
                  <m:oMath xmlns:m="http://schemas.openxmlformats.org/officeDocument/2006/math">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𝒃</m:t>
                        </m:r>
                      </m:e>
                    </m:d>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𝒃</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𝒂</m:t>
                        </m:r>
                      </m:e>
                    </m:d>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𝟎</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𝑭</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𝒃</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𝒃</m:t>
                        </m:r>
                      </m:e>
                    </m:d>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endParaRPr lang="zh-CN" altLang="en-US"/>
              </a:p>
            </p:txBody>
          </p:sp>
        </mc:Choice>
        <mc:Fallback xmlns="">
          <p:sp>
            <p:nvSpPr>
              <p:cNvPr id="14" name="文本框 13">
                <a:extLst>
                  <a:ext uri="{FF2B5EF4-FFF2-40B4-BE49-F238E27FC236}">
                    <a16:creationId xmlns:a16="http://schemas.microsoft.com/office/drawing/2014/main" id="{CAFA8669-4812-497D-B27E-872BA1D74CAB}"/>
                  </a:ext>
                </a:extLst>
              </p:cNvPr>
              <p:cNvSpPr txBox="1">
                <a:spLocks noRot="1" noChangeAspect="1" noMove="1" noResize="1" noEditPoints="1" noAdjustHandles="1" noChangeArrowheads="1" noChangeShapeType="1" noTextEdit="1"/>
              </p:cNvSpPr>
              <p:nvPr/>
            </p:nvSpPr>
            <p:spPr>
              <a:xfrm>
                <a:off x="6484126" y="4521280"/>
                <a:ext cx="3962401" cy="553998"/>
              </a:xfrm>
              <a:prstGeom prst="rect">
                <a:avLst/>
              </a:prstGeom>
              <a:blipFill>
                <a:blip r:embed="rId5"/>
                <a:stretch>
                  <a:fillRect l="-1385" t="-14286" b="-32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1C7C8C5-ABE8-483A-8E02-665862E6CBBA}"/>
                  </a:ext>
                </a:extLst>
              </p:cNvPr>
              <p:cNvSpPr txBox="1"/>
              <p:nvPr/>
            </p:nvSpPr>
            <p:spPr>
              <a:xfrm>
                <a:off x="7954592" y="5133536"/>
                <a:ext cx="3533707"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6">
                        <a:lumMod val="50000"/>
                      </a:schemeClr>
                    </a:solidFill>
                  </a:rPr>
                  <a:t>考虑论域 </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r>
                      <a:rPr lang="en-US" altLang="zh-CN" b="1" i="1">
                        <a:solidFill>
                          <a:schemeClr val="accent6">
                            <a:lumMod val="50000"/>
                          </a:schemeClr>
                        </a:solidFill>
                        <a:latin typeface="Cambria Math" panose="02040503050406030204" pitchFamily="18" charset="0"/>
                      </a:rPr>
                      <m:t>=</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𝒂</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𝒃</m:t>
                        </m:r>
                      </m:e>
                    </m:d>
                    <m:r>
                      <a:rPr lang="en-US" altLang="zh-CN" b="1" i="1" smtClean="0">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𝑷</m:t>
                    </m:r>
                    <m:d>
                      <m:dPr>
                        <m:ctrlPr>
                          <a:rPr lang="pt-BR" altLang="zh-CN" b="1" i="1">
                            <a:solidFill>
                              <a:schemeClr val="accent6">
                                <a:lumMod val="50000"/>
                              </a:schemeClr>
                            </a:solidFill>
                            <a:latin typeface="Cambria Math" panose="02040503050406030204" pitchFamily="18" charset="0"/>
                          </a:rPr>
                        </m:ctrlPr>
                      </m:dPr>
                      <m:e>
                        <m:r>
                          <a:rPr lang="pt-BR" altLang="zh-CN" b="1" i="1">
                            <a:solidFill>
                              <a:schemeClr val="accent6">
                                <a:lumMod val="50000"/>
                              </a:schemeClr>
                            </a:solidFill>
                            <a:latin typeface="Cambria Math" panose="02040503050406030204" pitchFamily="18" charset="0"/>
                          </a:rPr>
                          <m:t>𝒂</m:t>
                        </m:r>
                      </m:e>
                    </m:d>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𝟎</m:t>
                    </m:r>
                    <m:r>
                      <a:rPr lang="pt-BR" altLang="zh-CN" b="1" i="1">
                        <a:solidFill>
                          <a:schemeClr val="accent6">
                            <a:lumMod val="50000"/>
                          </a:schemeClr>
                        </a:solidFill>
                        <a:latin typeface="Cambria Math" panose="02040503050406030204" pitchFamily="18" charset="0"/>
                      </a:rPr>
                      <m:t>, </m:t>
                    </m:r>
                  </m:oMath>
                </a14:m>
                <a:endParaRPr lang="en-US" altLang="zh-CN" b="1" i="1">
                  <a:solidFill>
                    <a:schemeClr val="accent6">
                      <a:lumMod val="50000"/>
                    </a:schemeClr>
                  </a:solidFill>
                  <a:latin typeface="Cambria Math" panose="02040503050406030204" pitchFamily="18" charset="0"/>
                </a:endParaRPr>
              </a:p>
              <a:p>
                <a:r>
                  <a:rPr lang="en-US" altLang="zh-CN" b="1">
                    <a:solidFill>
                      <a:schemeClr val="accent6">
                        <a:lumMod val="50000"/>
                      </a:schemeClr>
                    </a:solidFill>
                  </a:rPr>
                  <a:t> </a:t>
                </a:r>
                <a14:m>
                  <m:oMath xmlns:m="http://schemas.openxmlformats.org/officeDocument/2006/math">
                    <m:r>
                      <a:rPr lang="pt-BR" altLang="zh-CN" b="1" i="1">
                        <a:solidFill>
                          <a:schemeClr val="accent6">
                            <a:lumMod val="50000"/>
                          </a:schemeClr>
                        </a:solidFill>
                        <a:latin typeface="Cambria Math" panose="02040503050406030204" pitchFamily="18" charset="0"/>
                      </a:rPr>
                      <m:t>𝑷</m:t>
                    </m:r>
                    <m:r>
                      <a:rPr lang="pt-BR" altLang="zh-CN" b="1" i="1">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𝒃</m:t>
                    </m:r>
                    <m:r>
                      <a:rPr lang="pt-BR" altLang="zh-CN" b="1" i="1">
                        <a:solidFill>
                          <a:schemeClr val="accent6">
                            <a:lumMod val="50000"/>
                          </a:schemeClr>
                        </a:solidFill>
                        <a:latin typeface="Cambria Math" panose="02040503050406030204" pitchFamily="18" charset="0"/>
                      </a:rPr>
                      <m:t>) = </m:t>
                    </m:r>
                    <m:r>
                      <a:rPr lang="pt-BR" altLang="zh-CN" b="1" i="1">
                        <a:solidFill>
                          <a:schemeClr val="accent6">
                            <a:lumMod val="50000"/>
                          </a:schemeClr>
                        </a:solidFill>
                        <a:latin typeface="Cambria Math" panose="02040503050406030204" pitchFamily="18" charset="0"/>
                      </a:rPr>
                      <m:t>𝟏</m:t>
                    </m:r>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𝑸</m:t>
                    </m:r>
                    <m:r>
                      <a:rPr lang="pt-BR" altLang="zh-CN" b="1" i="1">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𝒂</m:t>
                    </m:r>
                    <m:r>
                      <a:rPr lang="pt-BR" altLang="zh-CN" b="1" i="1">
                        <a:solidFill>
                          <a:schemeClr val="accent6">
                            <a:lumMod val="50000"/>
                          </a:schemeClr>
                        </a:solidFill>
                        <a:latin typeface="Cambria Math" panose="02040503050406030204" pitchFamily="18" charset="0"/>
                      </a:rPr>
                      <m:t>) = </m:t>
                    </m:r>
                    <m:r>
                      <a:rPr lang="pt-BR" altLang="zh-CN" b="1" i="1">
                        <a:solidFill>
                          <a:schemeClr val="accent6">
                            <a:lumMod val="50000"/>
                          </a:schemeClr>
                        </a:solidFill>
                        <a:latin typeface="Cambria Math" panose="02040503050406030204" pitchFamily="18" charset="0"/>
                      </a:rPr>
                      <m:t>𝟏</m:t>
                    </m:r>
                    <m:r>
                      <a:rPr lang="pt-BR" altLang="zh-CN" b="1" i="1">
                        <a:solidFill>
                          <a:schemeClr val="accent6">
                            <a:lumMod val="50000"/>
                          </a:schemeClr>
                        </a:solidFill>
                        <a:latin typeface="Cambria Math" panose="02040503050406030204" pitchFamily="18" charset="0"/>
                      </a:rPr>
                      <m:t>, </m:t>
                    </m:r>
                    <m:r>
                      <a:rPr lang="pt-BR" altLang="zh-CN" b="1" i="1">
                        <a:solidFill>
                          <a:schemeClr val="accent6">
                            <a:lumMod val="50000"/>
                          </a:schemeClr>
                        </a:solidFill>
                        <a:latin typeface="Cambria Math" panose="02040503050406030204" pitchFamily="18" charset="0"/>
                      </a:rPr>
                      <m:t>𝑸</m:t>
                    </m:r>
                    <m:r>
                      <a:rPr lang="pt-BR" altLang="zh-CN" b="1" i="1">
                        <a:solidFill>
                          <a:schemeClr val="accent6">
                            <a:lumMod val="50000"/>
                          </a:schemeClr>
                        </a:solidFill>
                        <a:latin typeface="Cambria Math" panose="02040503050406030204" pitchFamily="18" charset="0"/>
                      </a:rPr>
                      <m:t>(</m:t>
                    </m:r>
                    <m:r>
                      <a:rPr lang="pt-BR" altLang="zh-CN" b="1" i="1">
                        <a:solidFill>
                          <a:schemeClr val="accent6">
                            <a:lumMod val="50000"/>
                          </a:schemeClr>
                        </a:solidFill>
                        <a:latin typeface="Cambria Math" panose="02040503050406030204" pitchFamily="18" charset="0"/>
                      </a:rPr>
                      <m:t>𝒃</m:t>
                    </m:r>
                    <m:r>
                      <a:rPr lang="pt-BR" altLang="zh-CN" b="1" i="1">
                        <a:solidFill>
                          <a:schemeClr val="accent6">
                            <a:lumMod val="50000"/>
                          </a:schemeClr>
                        </a:solidFill>
                        <a:latin typeface="Cambria Math" panose="02040503050406030204" pitchFamily="18" charset="0"/>
                      </a:rPr>
                      <m:t>) = </m:t>
                    </m:r>
                    <m:r>
                      <a:rPr lang="pt-BR" altLang="zh-CN" b="1" i="1">
                        <a:solidFill>
                          <a:schemeClr val="accent6">
                            <a:lumMod val="50000"/>
                          </a:schemeClr>
                        </a:solidFill>
                        <a:latin typeface="Cambria Math" panose="02040503050406030204" pitchFamily="18" charset="0"/>
                      </a:rPr>
                      <m:t>𝟎</m:t>
                    </m:r>
                  </m:oMath>
                </a14:m>
                <a:endParaRPr lang="zh-CN" altLang="en-US"/>
              </a:p>
            </p:txBody>
          </p:sp>
        </mc:Choice>
        <mc:Fallback xmlns="">
          <p:sp>
            <p:nvSpPr>
              <p:cNvPr id="15" name="文本框 14">
                <a:extLst>
                  <a:ext uri="{FF2B5EF4-FFF2-40B4-BE49-F238E27FC236}">
                    <a16:creationId xmlns:a16="http://schemas.microsoft.com/office/drawing/2014/main" id="{41C7C8C5-ABE8-483A-8E02-665862E6CBBA}"/>
                  </a:ext>
                </a:extLst>
              </p:cNvPr>
              <p:cNvSpPr txBox="1">
                <a:spLocks noRot="1" noChangeAspect="1" noMove="1" noResize="1" noEditPoints="1" noAdjustHandles="1" noChangeArrowheads="1" noChangeShapeType="1" noTextEdit="1"/>
              </p:cNvSpPr>
              <p:nvPr/>
            </p:nvSpPr>
            <p:spPr>
              <a:xfrm>
                <a:off x="7954592" y="5133536"/>
                <a:ext cx="3533707" cy="553998"/>
              </a:xfrm>
              <a:prstGeom prst="rect">
                <a:avLst/>
              </a:prstGeom>
              <a:blipFill>
                <a:blip r:embed="rId6"/>
                <a:stretch>
                  <a:fillRect l="-1552" t="-14286" b="-1648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FFE1475-ED21-49F0-892D-D052EEFD74D7}"/>
              </a:ext>
            </a:extLst>
          </p:cNvPr>
          <p:cNvSpPr txBox="1"/>
          <p:nvPr/>
        </p:nvSpPr>
        <p:spPr>
          <a:xfrm>
            <a:off x="6782348" y="3748276"/>
            <a:ext cx="4775931" cy="369332"/>
          </a:xfrm>
          <a:prstGeom prst="rect">
            <a:avLst/>
          </a:prstGeom>
          <a:solidFill>
            <a:schemeClr val="accent2">
              <a:lumMod val="20000"/>
              <a:lumOff val="80000"/>
            </a:schemeClr>
          </a:solidFill>
        </p:spPr>
        <p:txBody>
          <a:bodyPr wrap="square" rtlCol="0">
            <a:spAutoFit/>
          </a:bodyPr>
          <a:lstStyle/>
          <a:p>
            <a:r>
              <a:rPr lang="zh-CN" altLang="en-US" b="1">
                <a:solidFill>
                  <a:srgbClr val="C00000"/>
                </a:solidFill>
              </a:rPr>
              <a:t>同是全称量词或同是存在量词可交换量词顺序</a:t>
            </a:r>
          </a:p>
        </p:txBody>
      </p:sp>
    </p:spTree>
    <p:extLst>
      <p:ext uri="{BB962C8B-B14F-4D97-AF65-F5344CB8AC3E}">
        <p14:creationId xmlns:p14="http://schemas.microsoft.com/office/powerpoint/2010/main" val="4246882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076129" y="1908320"/>
            <a:ext cx="4845699"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一阶逻辑公式的逻辑等值量词公式的基本等值式</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一阶逻辑公式的前束范式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4121602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一阶逻辑公式的前束范式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前束范式的定义</a:t>
            </a:r>
          </a:p>
        </p:txBody>
      </p:sp>
      <p:sp>
        <p:nvSpPr>
          <p:cNvPr id="2" name="文本框 1">
            <a:extLst>
              <a:ext uri="{FF2B5EF4-FFF2-40B4-BE49-F238E27FC236}">
                <a16:creationId xmlns:a16="http://schemas.microsoft.com/office/drawing/2014/main" id="{1D2D1E78-CBB8-422B-BFEA-6139C5F10DFD}"/>
              </a:ext>
            </a:extLst>
          </p:cNvPr>
          <p:cNvSpPr txBox="1"/>
          <p:nvPr/>
        </p:nvSpPr>
        <p:spPr>
          <a:xfrm>
            <a:off x="560195" y="2131484"/>
            <a:ext cx="7006014" cy="1184940"/>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一阶逻辑的前束范式是一种特殊形式的一阶逻辑公式</a:t>
            </a: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mn-ea"/>
              </a:rPr>
              <a:t>它将公式中量词的应用与逻辑运算分开，使整个公式更容易理解</a:t>
            </a: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mn-ea"/>
              </a:rPr>
              <a:t>一阶逻辑的自然推理中与量词有关的规则也</a:t>
            </a:r>
            <a:r>
              <a:rPr lang="zh-CN" altLang="en-US" b="1">
                <a:solidFill>
                  <a:srgbClr val="C00000"/>
                </a:solidFill>
                <a:latin typeface="+mn-ea"/>
              </a:rPr>
              <a:t>只能应用于前束范式</a:t>
            </a:r>
          </a:p>
        </p:txBody>
      </p:sp>
      <p:sp>
        <p:nvSpPr>
          <p:cNvPr id="12" name="矩形: 圆角 11">
            <a:extLst>
              <a:ext uri="{FF2B5EF4-FFF2-40B4-BE49-F238E27FC236}">
                <a16:creationId xmlns:a16="http://schemas.microsoft.com/office/drawing/2014/main" id="{1E8778DF-B467-4175-A196-0F5AA535455B}"/>
              </a:ext>
            </a:extLst>
          </p:cNvPr>
          <p:cNvSpPr/>
          <p:nvPr/>
        </p:nvSpPr>
        <p:spPr>
          <a:xfrm>
            <a:off x="560195" y="1260794"/>
            <a:ext cx="5393271"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为什么需要一阶逻辑公式的前束范式？</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23449C9-3324-4270-AC39-4605E304EF1B}"/>
                  </a:ext>
                </a:extLst>
              </p:cNvPr>
              <p:cNvSpPr txBox="1"/>
              <p:nvPr/>
            </p:nvSpPr>
            <p:spPr>
              <a:xfrm>
                <a:off x="7775690" y="1869874"/>
                <a:ext cx="3856116" cy="176971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前束范式的形式</a:t>
                </a:r>
                <a:endParaRPr lang="en-US" altLang="zh-CN" sz="2400" b="1">
                  <a:solidFill>
                    <a:srgbClr val="C0000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𝑸</m:t>
                          </m:r>
                        </m:e>
                        <m:sub>
                          <m:r>
                            <a:rPr lang="en-US" altLang="zh-CN" sz="2000" b="1" i="1">
                              <a:solidFill>
                                <a:srgbClr val="002060"/>
                              </a:solidFill>
                              <a:latin typeface="Cambria Math" panose="02040503050406030204" pitchFamily="18" charset="0"/>
                            </a:rPr>
                            <m:t>𝟏</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𝒙</m:t>
                          </m:r>
                        </m:e>
                        <m:sub>
                          <m:r>
                            <a:rPr lang="en-US" altLang="zh-CN" sz="2000" b="1" i="1">
                              <a:solidFill>
                                <a:srgbClr val="002060"/>
                              </a:solidFill>
                              <a:latin typeface="Cambria Math" panose="02040503050406030204" pitchFamily="18" charset="0"/>
                            </a:rPr>
                            <m:t>𝟏</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𝑸</m:t>
                          </m:r>
                        </m:e>
                        <m:sub>
                          <m:r>
                            <a:rPr lang="en-US" altLang="zh-CN" sz="2000" b="1" i="1">
                              <a:solidFill>
                                <a:srgbClr val="002060"/>
                              </a:solidFill>
                              <a:latin typeface="Cambria Math" panose="02040503050406030204" pitchFamily="18" charset="0"/>
                            </a:rPr>
                            <m:t>𝟐</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𝒙</m:t>
                          </m:r>
                        </m:e>
                        <m:sub>
                          <m:r>
                            <a:rPr lang="en-US" altLang="zh-CN" sz="2000" b="1" i="1">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𝑸</m:t>
                          </m:r>
                        </m:e>
                        <m:sub>
                          <m:r>
                            <a:rPr lang="en-US" altLang="zh-CN" sz="2000" b="1" i="1">
                              <a:solidFill>
                                <a:srgbClr val="002060"/>
                              </a:solidFill>
                              <a:latin typeface="Cambria Math" panose="02040503050406030204" pitchFamily="18" charset="0"/>
                            </a:rPr>
                            <m:t>𝒌</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𝒙</m:t>
                          </m:r>
                        </m:e>
                        <m:sub>
                          <m:r>
                            <a:rPr lang="en-US" altLang="zh-CN" sz="2000" b="1" i="1">
                              <a:solidFill>
                                <a:srgbClr val="002060"/>
                              </a:solidFill>
                              <a:latin typeface="Cambria Math" panose="02040503050406030204" pitchFamily="18" charset="0"/>
                            </a:rPr>
                            <m:t>𝒌</m:t>
                          </m:r>
                        </m:sub>
                      </m:sSub>
                      <m:r>
                        <a:rPr lang="en-US" altLang="zh-CN" sz="2000" b="1" i="1" smtClean="0">
                          <a:solidFill>
                            <a:srgbClr val="002060"/>
                          </a:solidFill>
                          <a:latin typeface="Cambria Math" panose="02040503050406030204" pitchFamily="18" charset="0"/>
                        </a:rPr>
                        <m:t>𝑩</m:t>
                      </m:r>
                    </m:oMath>
                  </m:oMathPara>
                </a14:m>
                <a:endParaRPr lang="en-US" altLang="zh-CN" sz="2000" b="1">
                  <a:solidFill>
                    <a:srgbClr val="002060"/>
                  </a:solidFill>
                </a:endParaRPr>
              </a:p>
              <a:p>
                <a:pPr marL="285750" indent="-285750">
                  <a:spcBef>
                    <a:spcPts val="600"/>
                  </a:spcBef>
                  <a:spcAft>
                    <a:spcPts val="600"/>
                  </a:spcAft>
                  <a:buFont typeface="Arial" panose="020B0604020202020204" pitchFamily="34" charset="0"/>
                  <a:buChar char="•"/>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𝑸</m:t>
                        </m:r>
                      </m:e>
                      <m:sub>
                        <m:r>
                          <a:rPr lang="en-US" altLang="zh-CN" sz="2000" b="1" i="1" smtClean="0">
                            <a:solidFill>
                              <a:schemeClr val="accent2">
                                <a:lumMod val="50000"/>
                              </a:schemeClr>
                            </a:solidFill>
                            <a:latin typeface="Cambria Math" panose="02040503050406030204" pitchFamily="18" charset="0"/>
                          </a:rPr>
                          <m:t>𝒊</m:t>
                        </m:r>
                      </m:sub>
                    </m:sSub>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e>
                    </m:d>
                  </m:oMath>
                </a14:m>
                <a:r>
                  <a:rPr lang="zh-CN" altLang="en-US" sz="2000" b="1">
                    <a:solidFill>
                      <a:schemeClr val="accent2">
                        <a:lumMod val="50000"/>
                      </a:schemeClr>
                    </a:solidFill>
                  </a:rPr>
                  <a:t>是量词符号</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或</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rPr>
                  <a:t>是不含量词的一阶逻辑公式</a:t>
                </a:r>
                <a:endParaRPr lang="zh-CN" altLang="en-US"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923449C9-3324-4270-AC39-4605E304EF1B}"/>
                  </a:ext>
                </a:extLst>
              </p:cNvPr>
              <p:cNvSpPr txBox="1">
                <a:spLocks noRot="1" noChangeAspect="1" noMove="1" noResize="1" noEditPoints="1" noAdjustHandles="1" noChangeArrowheads="1" noChangeShapeType="1" noTextEdit="1"/>
              </p:cNvSpPr>
              <p:nvPr/>
            </p:nvSpPr>
            <p:spPr>
              <a:xfrm>
                <a:off x="7775690" y="1869874"/>
                <a:ext cx="3856116" cy="1769715"/>
              </a:xfrm>
              <a:prstGeom prst="rect">
                <a:avLst/>
              </a:prstGeom>
              <a:blipFill>
                <a:blip r:embed="rId2"/>
                <a:stretch>
                  <a:fillRect l="-1424" t="-2414" b="-5517"/>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CADCE7D4-5E89-4982-8817-1892FCC95F23}"/>
              </a:ext>
            </a:extLst>
          </p:cNvPr>
          <p:cNvGrpSpPr/>
          <p:nvPr/>
        </p:nvGrpSpPr>
        <p:grpSpPr>
          <a:xfrm>
            <a:off x="991148" y="3877699"/>
            <a:ext cx="10209703" cy="2223504"/>
            <a:chOff x="927557" y="3907581"/>
            <a:chExt cx="10209703" cy="2223504"/>
          </a:xfrm>
        </p:grpSpPr>
        <p:sp>
          <p:nvSpPr>
            <p:cNvPr id="6" name="矩形: 圆角 5">
              <a:extLst>
                <a:ext uri="{FF2B5EF4-FFF2-40B4-BE49-F238E27FC236}">
                  <a16:creationId xmlns:a16="http://schemas.microsoft.com/office/drawing/2014/main" id="{EBA4EA66-3A16-4DC0-B936-79B7BAAA5134}"/>
                </a:ext>
              </a:extLst>
            </p:cNvPr>
            <p:cNvSpPr/>
            <p:nvPr/>
          </p:nvSpPr>
          <p:spPr>
            <a:xfrm>
              <a:off x="927557" y="3907581"/>
              <a:ext cx="10209703" cy="2223504"/>
            </a:xfrm>
            <a:prstGeom prst="roundRect">
              <a:avLst>
                <a:gd name="adj" fmla="val 10499"/>
              </a:avLst>
            </a:prstGeom>
            <a:solidFill>
              <a:schemeClr val="accent6">
                <a:lumMod val="20000"/>
                <a:lumOff val="80000"/>
                <a:alpha val="25000"/>
              </a:schemeClr>
            </a:solidFill>
            <a:ln w="12700">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8CAEF66-99F6-45EF-9262-D11489648901}"/>
                </a:ext>
              </a:extLst>
            </p:cNvPr>
            <p:cNvSpPr/>
            <p:nvPr/>
          </p:nvSpPr>
          <p:spPr>
            <a:xfrm>
              <a:off x="927557" y="3995966"/>
              <a:ext cx="4504577" cy="400110"/>
            </a:xfrm>
            <a:prstGeom prst="rect">
              <a:avLst/>
            </a:prstGeom>
          </p:spPr>
          <p:txBody>
            <a:bodyPr wrap="square">
              <a:spAutoFit/>
            </a:bodyPr>
            <a:lstStyle/>
            <a:p>
              <a:r>
                <a:rPr lang="zh-CN" altLang="en-US" sz="2000" b="1">
                  <a:solidFill>
                    <a:srgbClr val="002060"/>
                  </a:solidFill>
                </a:rPr>
                <a:t>下面的一阶逻辑公式哪些是前束范式？</a:t>
              </a:r>
            </a:p>
          </p:txBody>
        </p:sp>
        <p:pic>
          <p:nvPicPr>
            <p:cNvPr id="14" name="图片 13">
              <a:extLst>
                <a:ext uri="{FF2B5EF4-FFF2-40B4-BE49-F238E27FC236}">
                  <a16:creationId xmlns:a16="http://schemas.microsoft.com/office/drawing/2014/main" id="{2E9935C2-7E4D-4435-8EC5-42B4E83B3D8A}"/>
                </a:ext>
              </a:extLst>
            </p:cNvPr>
            <p:cNvPicPr>
              <a:picLocks noChangeAspect="1"/>
            </p:cNvPicPr>
            <p:nvPr/>
          </p:nvPicPr>
          <p:blipFill>
            <a:blip r:embed="rId3"/>
            <a:stretch>
              <a:fillRect/>
            </a:stretch>
          </p:blipFill>
          <p:spPr>
            <a:xfrm>
              <a:off x="1378734" y="4451228"/>
              <a:ext cx="9307347" cy="1579557"/>
            </a:xfrm>
            <a:prstGeom prst="rect">
              <a:avLst/>
            </a:prstGeom>
          </p:spPr>
        </p:pic>
      </p:grpSp>
    </p:spTree>
    <p:extLst>
      <p:ext uri="{BB962C8B-B14F-4D97-AF65-F5344CB8AC3E}">
        <p14:creationId xmlns:p14="http://schemas.microsoft.com/office/powerpoint/2010/main" val="2063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一阶逻辑公式的前束范式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前束范式的定义</a:t>
            </a:r>
          </a:p>
        </p:txBody>
      </p:sp>
      <p:sp>
        <p:nvSpPr>
          <p:cNvPr id="2" name="文本框 1">
            <a:extLst>
              <a:ext uri="{FF2B5EF4-FFF2-40B4-BE49-F238E27FC236}">
                <a16:creationId xmlns:a16="http://schemas.microsoft.com/office/drawing/2014/main" id="{1D2D1E78-CBB8-422B-BFEA-6139C5F10DFD}"/>
              </a:ext>
            </a:extLst>
          </p:cNvPr>
          <p:cNvSpPr txBox="1"/>
          <p:nvPr/>
        </p:nvSpPr>
        <p:spPr>
          <a:xfrm>
            <a:off x="560195" y="2131484"/>
            <a:ext cx="7006014" cy="1184940"/>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一阶逻辑的前束范式是一种特殊形式的一阶逻辑公式</a:t>
            </a: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它将公式中量词的应用与逻辑运算分开，使整个公式更容易理解</a:t>
            </a: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一阶逻辑的自然推理中与量词有关的规则也</a:t>
            </a:r>
            <a:r>
              <a:rPr lang="zh-CN" altLang="en-US" b="1">
                <a:solidFill>
                  <a:srgbClr val="C00000"/>
                </a:solidFill>
                <a:latin typeface="黑体" panose="02010609060101010101" pitchFamily="49" charset="-122"/>
                <a:ea typeface="黑体" panose="02010609060101010101" pitchFamily="49" charset="-122"/>
              </a:rPr>
              <a:t>只能应用于前束范式</a:t>
            </a:r>
          </a:p>
        </p:txBody>
      </p:sp>
      <p:sp>
        <p:nvSpPr>
          <p:cNvPr id="12" name="矩形: 圆角 11">
            <a:extLst>
              <a:ext uri="{FF2B5EF4-FFF2-40B4-BE49-F238E27FC236}">
                <a16:creationId xmlns:a16="http://schemas.microsoft.com/office/drawing/2014/main" id="{1E8778DF-B467-4175-A196-0F5AA535455B}"/>
              </a:ext>
            </a:extLst>
          </p:cNvPr>
          <p:cNvSpPr/>
          <p:nvPr/>
        </p:nvSpPr>
        <p:spPr>
          <a:xfrm>
            <a:off x="560195" y="1260794"/>
            <a:ext cx="5393271"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为什么需要一阶逻辑公式的前束范式？</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23449C9-3324-4270-AC39-4605E304EF1B}"/>
                  </a:ext>
                </a:extLst>
              </p:cNvPr>
              <p:cNvSpPr txBox="1"/>
              <p:nvPr/>
            </p:nvSpPr>
            <p:spPr>
              <a:xfrm>
                <a:off x="7775690" y="1869874"/>
                <a:ext cx="3856116" cy="176971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前束范式的形式</a:t>
                </a:r>
                <a:endParaRPr lang="en-US" altLang="zh-CN" sz="2400" b="1">
                  <a:solidFill>
                    <a:srgbClr val="C0000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𝑸</m:t>
                          </m:r>
                        </m:e>
                        <m:sub>
                          <m:r>
                            <a:rPr lang="en-US" altLang="zh-CN" sz="2000" b="1" i="1">
                              <a:solidFill>
                                <a:srgbClr val="002060"/>
                              </a:solidFill>
                              <a:latin typeface="Cambria Math" panose="02040503050406030204" pitchFamily="18" charset="0"/>
                            </a:rPr>
                            <m:t>𝟏</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𝒙</m:t>
                          </m:r>
                        </m:e>
                        <m:sub>
                          <m:r>
                            <a:rPr lang="en-US" altLang="zh-CN" sz="2000" b="1" i="1">
                              <a:solidFill>
                                <a:srgbClr val="002060"/>
                              </a:solidFill>
                              <a:latin typeface="Cambria Math" panose="02040503050406030204" pitchFamily="18" charset="0"/>
                            </a:rPr>
                            <m:t>𝟏</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𝑸</m:t>
                          </m:r>
                        </m:e>
                        <m:sub>
                          <m:r>
                            <a:rPr lang="en-US" altLang="zh-CN" sz="2000" b="1" i="1">
                              <a:solidFill>
                                <a:srgbClr val="002060"/>
                              </a:solidFill>
                              <a:latin typeface="Cambria Math" panose="02040503050406030204" pitchFamily="18" charset="0"/>
                            </a:rPr>
                            <m:t>𝟐</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𝒙</m:t>
                          </m:r>
                        </m:e>
                        <m:sub>
                          <m:r>
                            <a:rPr lang="en-US" altLang="zh-CN" sz="2000" b="1" i="1">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𝑸</m:t>
                          </m:r>
                        </m:e>
                        <m:sub>
                          <m:r>
                            <a:rPr lang="en-US" altLang="zh-CN" sz="2000" b="1" i="1">
                              <a:solidFill>
                                <a:srgbClr val="002060"/>
                              </a:solidFill>
                              <a:latin typeface="Cambria Math" panose="02040503050406030204" pitchFamily="18" charset="0"/>
                            </a:rPr>
                            <m:t>𝒌</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𝒙</m:t>
                          </m:r>
                        </m:e>
                        <m:sub>
                          <m:r>
                            <a:rPr lang="en-US" altLang="zh-CN" sz="2000" b="1" i="1">
                              <a:solidFill>
                                <a:srgbClr val="002060"/>
                              </a:solidFill>
                              <a:latin typeface="Cambria Math" panose="02040503050406030204" pitchFamily="18" charset="0"/>
                            </a:rPr>
                            <m:t>𝒌</m:t>
                          </m:r>
                        </m:sub>
                      </m:sSub>
                      <m:r>
                        <a:rPr lang="en-US" altLang="zh-CN" sz="2000" b="1" i="1" smtClean="0">
                          <a:solidFill>
                            <a:srgbClr val="002060"/>
                          </a:solidFill>
                          <a:latin typeface="Cambria Math" panose="02040503050406030204" pitchFamily="18" charset="0"/>
                        </a:rPr>
                        <m:t>𝑩</m:t>
                      </m:r>
                    </m:oMath>
                  </m:oMathPara>
                </a14:m>
                <a:endParaRPr lang="en-US" altLang="zh-CN" sz="2000" b="1">
                  <a:solidFill>
                    <a:srgbClr val="002060"/>
                  </a:solidFill>
                </a:endParaRPr>
              </a:p>
              <a:p>
                <a:pPr marL="285750" indent="-285750">
                  <a:spcBef>
                    <a:spcPts val="600"/>
                  </a:spcBef>
                  <a:spcAft>
                    <a:spcPts val="600"/>
                  </a:spcAft>
                  <a:buFont typeface="Arial" panose="020B0604020202020204" pitchFamily="34" charset="0"/>
                  <a:buChar char="•"/>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𝑸</m:t>
                        </m:r>
                      </m:e>
                      <m:sub>
                        <m:r>
                          <a:rPr lang="en-US" altLang="zh-CN" sz="2000" b="1" i="1" smtClean="0">
                            <a:solidFill>
                              <a:schemeClr val="accent2">
                                <a:lumMod val="50000"/>
                              </a:schemeClr>
                            </a:solidFill>
                            <a:latin typeface="Cambria Math" panose="02040503050406030204" pitchFamily="18" charset="0"/>
                          </a:rPr>
                          <m:t>𝒊</m:t>
                        </m:r>
                      </m:sub>
                    </m:sSub>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𝒊</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e>
                    </m:d>
                  </m:oMath>
                </a14:m>
                <a:r>
                  <a:rPr lang="zh-CN" altLang="en-US" sz="2000" b="1">
                    <a:solidFill>
                      <a:schemeClr val="accent2">
                        <a:lumMod val="50000"/>
                      </a:schemeClr>
                    </a:solidFill>
                  </a:rPr>
                  <a:t>是量词符号</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或</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rPr>
                  <a:t>是不含量词的一阶逻辑公式</a:t>
                </a:r>
                <a:endParaRPr lang="zh-CN" altLang="en-US"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923449C9-3324-4270-AC39-4605E304EF1B}"/>
                  </a:ext>
                </a:extLst>
              </p:cNvPr>
              <p:cNvSpPr txBox="1">
                <a:spLocks noRot="1" noChangeAspect="1" noMove="1" noResize="1" noEditPoints="1" noAdjustHandles="1" noChangeArrowheads="1" noChangeShapeType="1" noTextEdit="1"/>
              </p:cNvSpPr>
              <p:nvPr/>
            </p:nvSpPr>
            <p:spPr>
              <a:xfrm>
                <a:off x="7775690" y="1869874"/>
                <a:ext cx="3856116" cy="1769715"/>
              </a:xfrm>
              <a:prstGeom prst="rect">
                <a:avLst/>
              </a:prstGeom>
              <a:blipFill>
                <a:blip r:embed="rId2"/>
                <a:stretch>
                  <a:fillRect l="-1424" t="-2414" b="-5517"/>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CADCE7D4-5E89-4982-8817-1892FCC95F23}"/>
              </a:ext>
            </a:extLst>
          </p:cNvPr>
          <p:cNvGrpSpPr/>
          <p:nvPr/>
        </p:nvGrpSpPr>
        <p:grpSpPr>
          <a:xfrm>
            <a:off x="991148" y="3877699"/>
            <a:ext cx="10209703" cy="2223504"/>
            <a:chOff x="927557" y="3907581"/>
            <a:chExt cx="10209703" cy="2223504"/>
          </a:xfrm>
        </p:grpSpPr>
        <p:sp>
          <p:nvSpPr>
            <p:cNvPr id="6" name="矩形: 圆角 5">
              <a:extLst>
                <a:ext uri="{FF2B5EF4-FFF2-40B4-BE49-F238E27FC236}">
                  <a16:creationId xmlns:a16="http://schemas.microsoft.com/office/drawing/2014/main" id="{EBA4EA66-3A16-4DC0-B936-79B7BAAA5134}"/>
                </a:ext>
              </a:extLst>
            </p:cNvPr>
            <p:cNvSpPr/>
            <p:nvPr/>
          </p:nvSpPr>
          <p:spPr>
            <a:xfrm>
              <a:off x="927557" y="3907581"/>
              <a:ext cx="10209703" cy="2223504"/>
            </a:xfrm>
            <a:prstGeom prst="roundRect">
              <a:avLst>
                <a:gd name="adj" fmla="val 10499"/>
              </a:avLst>
            </a:prstGeom>
            <a:solidFill>
              <a:schemeClr val="accent6">
                <a:lumMod val="20000"/>
                <a:lumOff val="80000"/>
                <a:alpha val="25000"/>
              </a:schemeClr>
            </a:solidFill>
            <a:ln w="12700">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8CAEF66-99F6-45EF-9262-D11489648901}"/>
                </a:ext>
              </a:extLst>
            </p:cNvPr>
            <p:cNvSpPr/>
            <p:nvPr/>
          </p:nvSpPr>
          <p:spPr>
            <a:xfrm>
              <a:off x="927557" y="3995966"/>
              <a:ext cx="4504577" cy="400110"/>
            </a:xfrm>
            <a:prstGeom prst="rect">
              <a:avLst/>
            </a:prstGeom>
          </p:spPr>
          <p:txBody>
            <a:bodyPr wrap="square">
              <a:spAutoFit/>
            </a:bodyPr>
            <a:lstStyle/>
            <a:p>
              <a:r>
                <a:rPr lang="zh-CN" altLang="en-US" sz="2000" b="1">
                  <a:solidFill>
                    <a:srgbClr val="002060"/>
                  </a:solidFill>
                </a:rPr>
                <a:t>下面的一阶逻辑公式哪些是前束范式？</a:t>
              </a:r>
            </a:p>
          </p:txBody>
        </p:sp>
        <p:pic>
          <p:nvPicPr>
            <p:cNvPr id="14" name="图片 13">
              <a:extLst>
                <a:ext uri="{FF2B5EF4-FFF2-40B4-BE49-F238E27FC236}">
                  <a16:creationId xmlns:a16="http://schemas.microsoft.com/office/drawing/2014/main" id="{2E9935C2-7E4D-4435-8EC5-42B4E83B3D8A}"/>
                </a:ext>
              </a:extLst>
            </p:cNvPr>
            <p:cNvPicPr>
              <a:picLocks noChangeAspect="1"/>
            </p:cNvPicPr>
            <p:nvPr/>
          </p:nvPicPr>
          <p:blipFill>
            <a:blip r:embed="rId3"/>
            <a:stretch>
              <a:fillRect/>
            </a:stretch>
          </p:blipFill>
          <p:spPr>
            <a:xfrm>
              <a:off x="1378734" y="4451228"/>
              <a:ext cx="9307347" cy="1579557"/>
            </a:xfrm>
            <a:prstGeom prst="rect">
              <a:avLst/>
            </a:prstGeom>
          </p:spPr>
        </p:pic>
      </p:grpSp>
      <p:sp>
        <p:nvSpPr>
          <p:cNvPr id="16" name="文本框 15">
            <a:extLst>
              <a:ext uri="{FF2B5EF4-FFF2-40B4-BE49-F238E27FC236}">
                <a16:creationId xmlns:a16="http://schemas.microsoft.com/office/drawing/2014/main" id="{A8ADE4EB-8143-46D8-A473-A724A15EF143}"/>
              </a:ext>
            </a:extLst>
          </p:cNvPr>
          <p:cNvSpPr txBox="1"/>
          <p:nvPr/>
        </p:nvSpPr>
        <p:spPr>
          <a:xfrm>
            <a:off x="1426975" y="4557458"/>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57F95432-DB6E-4CB4-A780-B80582D20D9A}"/>
              </a:ext>
            </a:extLst>
          </p:cNvPr>
          <p:cNvSpPr txBox="1"/>
          <p:nvPr/>
        </p:nvSpPr>
        <p:spPr>
          <a:xfrm>
            <a:off x="5927154" y="5109229"/>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AF3752BD-ECE8-4804-9366-73D9CF6C9AF4}"/>
              </a:ext>
            </a:extLst>
          </p:cNvPr>
          <p:cNvSpPr txBox="1"/>
          <p:nvPr/>
        </p:nvSpPr>
        <p:spPr>
          <a:xfrm>
            <a:off x="1426975" y="5667114"/>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cxnSp>
        <p:nvCxnSpPr>
          <p:cNvPr id="11" name="直接连接符 10">
            <a:extLst>
              <a:ext uri="{FF2B5EF4-FFF2-40B4-BE49-F238E27FC236}">
                <a16:creationId xmlns:a16="http://schemas.microsoft.com/office/drawing/2014/main" id="{BCB43E3A-7D6F-4B5A-B955-5D9FF77212F8}"/>
              </a:ext>
            </a:extLst>
          </p:cNvPr>
          <p:cNvCxnSpPr/>
          <p:nvPr/>
        </p:nvCxnSpPr>
        <p:spPr>
          <a:xfrm>
            <a:off x="2026508" y="5412423"/>
            <a:ext cx="210154" cy="0"/>
          </a:xfrm>
          <a:prstGeom prst="line">
            <a:avLst/>
          </a:prstGeom>
          <a:ln w="254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727A663-4350-487E-9F71-D7ED9B3F00C6}"/>
              </a:ext>
            </a:extLst>
          </p:cNvPr>
          <p:cNvCxnSpPr/>
          <p:nvPr/>
        </p:nvCxnSpPr>
        <p:spPr>
          <a:xfrm>
            <a:off x="7875817" y="4860932"/>
            <a:ext cx="210154" cy="0"/>
          </a:xfrm>
          <a:prstGeom prst="line">
            <a:avLst/>
          </a:prstGeom>
          <a:ln w="254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D0333C0-9DE5-4461-8D54-CA416516BB89}"/>
              </a:ext>
            </a:extLst>
          </p:cNvPr>
          <p:cNvCxnSpPr/>
          <p:nvPr/>
        </p:nvCxnSpPr>
        <p:spPr>
          <a:xfrm>
            <a:off x="8138984" y="5952949"/>
            <a:ext cx="210154" cy="0"/>
          </a:xfrm>
          <a:prstGeom prst="line">
            <a:avLst/>
          </a:prstGeom>
          <a:ln w="254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3413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一阶逻辑公式的前束范式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与一阶逻辑公式逻辑等值的前束范式</a:t>
            </a:r>
          </a:p>
        </p:txBody>
      </p:sp>
      <p:sp>
        <p:nvSpPr>
          <p:cNvPr id="2" name="文本框 1">
            <a:extLst>
              <a:ext uri="{FF2B5EF4-FFF2-40B4-BE49-F238E27FC236}">
                <a16:creationId xmlns:a16="http://schemas.microsoft.com/office/drawing/2014/main" id="{40FAA559-73D8-4E03-BFB6-C667AB1689A3}"/>
              </a:ext>
            </a:extLst>
          </p:cNvPr>
          <p:cNvSpPr txBox="1"/>
          <p:nvPr/>
        </p:nvSpPr>
        <p:spPr>
          <a:xfrm>
            <a:off x="484608" y="1004682"/>
            <a:ext cx="6626659"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rPr>
              <a:t>每个一阶逻辑公式都有与它逻辑等值的前束范式</a:t>
            </a:r>
          </a:p>
        </p:txBody>
      </p:sp>
      <p:sp>
        <p:nvSpPr>
          <p:cNvPr id="3" name="文本框 2">
            <a:extLst>
              <a:ext uri="{FF2B5EF4-FFF2-40B4-BE49-F238E27FC236}">
                <a16:creationId xmlns:a16="http://schemas.microsoft.com/office/drawing/2014/main" id="{CCF7E342-E40B-4974-AEA7-5DC1B11E9DB0}"/>
              </a:ext>
            </a:extLst>
          </p:cNvPr>
          <p:cNvSpPr txBox="1"/>
          <p:nvPr/>
        </p:nvSpPr>
        <p:spPr>
          <a:xfrm>
            <a:off x="1133679" y="1604305"/>
            <a:ext cx="8082682" cy="196977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300"/>
              </a:spcAft>
            </a:pPr>
            <a:r>
              <a:rPr lang="zh-CN" altLang="en-US" sz="2000" b="1" dirty="0">
                <a:solidFill>
                  <a:srgbClr val="C00000"/>
                </a:solidFill>
              </a:rPr>
              <a:t>使用等值演算求与一阶逻辑公式逻辑等值的前束范式</a:t>
            </a:r>
          </a:p>
          <a:p>
            <a:pPr marL="285750" indent="-285750">
              <a:spcBef>
                <a:spcPts val="600"/>
              </a:spcBef>
              <a:spcAft>
                <a:spcPts val="300"/>
              </a:spcAft>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应用约束变量改名规则使公式的每个个体变量要么约束出现，要么自由出现</a:t>
            </a:r>
          </a:p>
          <a:p>
            <a:pPr marL="742950" lvl="1" indent="-285750">
              <a:spcBef>
                <a:spcPts val="600"/>
              </a:spcBef>
              <a:spcAft>
                <a:spcPts val="300"/>
              </a:spcAft>
              <a:buFont typeface="Arial" panose="020B0604020202020204" pitchFamily="34" charset="0"/>
              <a:buChar char="•"/>
            </a:pPr>
            <a:r>
              <a:rPr lang="zh-CN" altLang="en-US" b="1" dirty="0">
                <a:solidFill>
                  <a:schemeClr val="accent6">
                    <a:lumMod val="50000"/>
                  </a:schemeClr>
                </a:solidFill>
                <a:latin typeface="宋体" panose="02010600030101010101" pitchFamily="2" charset="-122"/>
                <a:ea typeface="宋体" panose="02010600030101010101" pitchFamily="2" charset="-122"/>
              </a:rPr>
              <a:t>并且每个量词的指示变量都互不相同</a:t>
            </a:r>
          </a:p>
          <a:p>
            <a:pPr marL="285750" indent="-285750">
              <a:spcBef>
                <a:spcPts val="600"/>
              </a:spcBef>
              <a:spcAft>
                <a:spcPts val="300"/>
              </a:spcAft>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应用量词否定等值式将否定联结词放到量词的后面</a:t>
            </a:r>
          </a:p>
          <a:p>
            <a:pPr marL="285750" indent="-285750">
              <a:spcBef>
                <a:spcPts val="600"/>
              </a:spcBef>
              <a:spcAft>
                <a:spcPts val="300"/>
              </a:spcAft>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应用量词辖域扩张等值式将量词放到所有逻辑运算符的前面</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66BE27A-FDD1-446D-9F55-CF46510A856E}"/>
                  </a:ext>
                </a:extLst>
              </p:cNvPr>
              <p:cNvSpPr txBox="1"/>
              <p:nvPr/>
            </p:nvSpPr>
            <p:spPr>
              <a:xfrm>
                <a:off x="484608" y="3741297"/>
                <a:ext cx="4769353" cy="685765"/>
              </a:xfrm>
              <a:prstGeom prst="rect">
                <a:avLst/>
              </a:prstGeom>
              <a:solidFill>
                <a:schemeClr val="accent6">
                  <a:lumMod val="20000"/>
                  <a:lumOff val="80000"/>
                  <a:alpha val="50000"/>
                </a:schemeClr>
              </a:solidFill>
            </p:spPr>
            <p:txBody>
              <a:bodyPr wrap="square" rtlCol="0">
                <a:spAutoFit/>
              </a:bodyPr>
              <a:lstStyle/>
              <a:p>
                <a:pPr>
                  <a:lnSpc>
                    <a:spcPts val="2400"/>
                  </a:lnSpc>
                </a:pPr>
                <a:r>
                  <a:rPr lang="zh-CN" altLang="en-US" sz="1600" b="1">
                    <a:solidFill>
                      <a:srgbClr val="002060"/>
                    </a:solidFill>
                  </a:rPr>
                  <a:t>求与</a:t>
                </a:r>
                <a14:m>
                  <m:oMath xmlns:m="http://schemas.openxmlformats.org/officeDocument/2006/math">
                    <m:r>
                      <a:rPr lang="en-US" altLang="zh-CN" sz="1600" b="1" i="1" smtClean="0">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𝒙</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𝑨</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𝒙</m:t>
                            </m:r>
                          </m:e>
                        </m:d>
                        <m:r>
                          <a:rPr lang="en-US" altLang="zh-CN" sz="1600" b="1"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𝑩</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𝒙</m:t>
                            </m:r>
                            <m:r>
                              <a:rPr lang="en-US" altLang="zh-CN" sz="1600" b="1" i="1">
                                <a:solidFill>
                                  <a:srgbClr val="002060"/>
                                </a:solidFill>
                                <a:latin typeface="Cambria Math" panose="02040503050406030204" pitchFamily="18" charset="0"/>
                              </a:rPr>
                              <m:t>, </m:t>
                            </m:r>
                            <m:r>
                              <a:rPr lang="en-US" altLang="zh-CN" sz="1600" b="1" i="1">
                                <a:solidFill>
                                  <a:srgbClr val="002060"/>
                                </a:solidFill>
                                <a:latin typeface="Cambria Math" panose="02040503050406030204" pitchFamily="18" charset="0"/>
                              </a:rPr>
                              <m:t>𝒚</m:t>
                            </m:r>
                          </m:e>
                        </m:d>
                      </m:e>
                    </m:d>
                    <m:r>
                      <a:rPr lang="en-US" altLang="zh-CN" sz="1600" b="1" i="1">
                        <a:solidFill>
                          <a:srgbClr val="002060"/>
                        </a:solidFill>
                        <a:latin typeface="Cambria Math" panose="02040503050406030204" pitchFamily="18" charset="0"/>
                      </a:rPr>
                      <m:t>→</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𝒚</m:t>
                        </m:r>
                        <m:r>
                          <a:rPr lang="en-US" altLang="zh-CN" sz="1600" b="1"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𝑪</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𝒚</m:t>
                            </m:r>
                          </m:e>
                        </m:d>
                        <m:r>
                          <a:rPr lang="en-US" altLang="zh-CN" sz="1600" b="1"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𝒛𝑫</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𝒚</m:t>
                            </m:r>
                            <m:r>
                              <a:rPr lang="en-US" altLang="zh-CN" sz="1600" b="1" i="1">
                                <a:solidFill>
                                  <a:srgbClr val="002060"/>
                                </a:solidFill>
                                <a:latin typeface="Cambria Math" panose="02040503050406030204" pitchFamily="18" charset="0"/>
                              </a:rPr>
                              <m:t>, </m:t>
                            </m:r>
                            <m:r>
                              <a:rPr lang="en-US" altLang="zh-CN" sz="1600" b="1" i="1">
                                <a:solidFill>
                                  <a:srgbClr val="002060"/>
                                </a:solidFill>
                                <a:latin typeface="Cambria Math" panose="02040503050406030204" pitchFamily="18" charset="0"/>
                              </a:rPr>
                              <m:t>𝒛</m:t>
                            </m:r>
                          </m:e>
                        </m:d>
                      </m:e>
                    </m:d>
                  </m:oMath>
                </a14:m>
                <a:r>
                  <a:rPr lang="zh-CN" altLang="en-US" sz="1600" b="1">
                    <a:solidFill>
                      <a:srgbClr val="002060"/>
                    </a:solidFill>
                  </a:rPr>
                  <a:t>逻辑等值的前束范式</a:t>
                </a:r>
              </a:p>
            </p:txBody>
          </p:sp>
        </mc:Choice>
        <mc:Fallback xmlns="">
          <p:sp>
            <p:nvSpPr>
              <p:cNvPr id="4" name="文本框 3">
                <a:extLst>
                  <a:ext uri="{FF2B5EF4-FFF2-40B4-BE49-F238E27FC236}">
                    <a16:creationId xmlns:a16="http://schemas.microsoft.com/office/drawing/2014/main" id="{B66BE27A-FDD1-446D-9F55-CF46510A856E}"/>
                  </a:ext>
                </a:extLst>
              </p:cNvPr>
              <p:cNvSpPr txBox="1">
                <a:spLocks noRot="1" noChangeAspect="1" noMove="1" noResize="1" noEditPoints="1" noAdjustHandles="1" noChangeArrowheads="1" noChangeShapeType="1" noTextEdit="1"/>
              </p:cNvSpPr>
              <p:nvPr/>
            </p:nvSpPr>
            <p:spPr>
              <a:xfrm>
                <a:off x="484608" y="3741297"/>
                <a:ext cx="4769353" cy="685765"/>
              </a:xfrm>
              <a:prstGeom prst="rect">
                <a:avLst/>
              </a:prstGeom>
              <a:blipFill>
                <a:blip r:embed="rId2"/>
                <a:stretch>
                  <a:fillRect l="-639" b="-11607"/>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F172BF8F-42A4-409A-BDF4-AEF03AB2C68A}"/>
              </a:ext>
            </a:extLst>
          </p:cNvPr>
          <p:cNvSpPr txBox="1"/>
          <p:nvPr/>
        </p:nvSpPr>
        <p:spPr>
          <a:xfrm>
            <a:off x="9262411" y="2266024"/>
            <a:ext cx="2267363"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与一个公式逻辑等值的前束范式不唯一</a:t>
            </a:r>
          </a:p>
        </p:txBody>
      </p:sp>
      <p:sp>
        <p:nvSpPr>
          <p:cNvPr id="14" name="文本框 13">
            <a:extLst>
              <a:ext uri="{FF2B5EF4-FFF2-40B4-BE49-F238E27FC236}">
                <a16:creationId xmlns:a16="http://schemas.microsoft.com/office/drawing/2014/main" id="{BC52A69C-5865-43A7-A7DE-DD28C4E4E4F9}"/>
              </a:ext>
            </a:extLst>
          </p:cNvPr>
          <p:cNvSpPr txBox="1"/>
          <p:nvPr/>
        </p:nvSpPr>
        <p:spPr>
          <a:xfrm>
            <a:off x="405667" y="4505416"/>
            <a:ext cx="4769353" cy="369332"/>
          </a:xfrm>
          <a:prstGeom prst="rect">
            <a:avLst/>
          </a:prstGeom>
          <a:solidFill>
            <a:schemeClr val="accent2">
              <a:lumMod val="20000"/>
              <a:lumOff val="80000"/>
            </a:schemeClr>
          </a:solidFill>
        </p:spPr>
        <p:txBody>
          <a:bodyPr wrap="square" rtlCol="0">
            <a:spAutoFit/>
          </a:bodyPr>
          <a:lstStyle/>
          <a:p>
            <a:r>
              <a:rPr lang="zh-CN" altLang="en-US" b="1">
                <a:solidFill>
                  <a:srgbClr val="002060"/>
                </a:solidFill>
              </a:rPr>
              <a:t>量词在蕴涵式前件，辖域扩张需</a:t>
            </a:r>
            <a:r>
              <a:rPr lang="zh-CN" altLang="en-US" b="1">
                <a:solidFill>
                  <a:srgbClr val="C00000"/>
                </a:solidFill>
              </a:rPr>
              <a:t>改变量词类型</a:t>
            </a:r>
          </a:p>
        </p:txBody>
      </p:sp>
      <p:sp>
        <p:nvSpPr>
          <p:cNvPr id="15" name="箭头: 右 14">
            <a:extLst>
              <a:ext uri="{FF2B5EF4-FFF2-40B4-BE49-F238E27FC236}">
                <a16:creationId xmlns:a16="http://schemas.microsoft.com/office/drawing/2014/main" id="{FCA2635E-8711-41C6-A25C-90A1B2761EA1}"/>
              </a:ext>
            </a:extLst>
          </p:cNvPr>
          <p:cNvSpPr/>
          <p:nvPr/>
        </p:nvSpPr>
        <p:spPr>
          <a:xfrm>
            <a:off x="5175020" y="4657519"/>
            <a:ext cx="24998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4F6372A-77D7-47FE-954F-B66A7C3BF4F9}"/>
                  </a:ext>
                </a:extLst>
              </p:cNvPr>
              <p:cNvSpPr txBox="1"/>
              <p:nvPr/>
            </p:nvSpPr>
            <p:spPr>
              <a:xfrm>
                <a:off x="445135" y="5255514"/>
                <a:ext cx="4699185" cy="723275"/>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b="1">
                    <a:solidFill>
                      <a:schemeClr val="accent6">
                        <a:lumMod val="50000"/>
                      </a:schemeClr>
                    </a:solidFill>
                    <a:latin typeface="宋体" panose="02010600030101010101" pitchFamily="2" charset="-122"/>
                    <a:ea typeface="宋体" panose="02010600030101010101" pitchFamily="2" charset="-122"/>
                  </a:rPr>
                  <a:t>在蕴涵式后件，辖域扩张不要改变量词类型</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algn="ctr">
                  <a:spcAft>
                    <a:spcPts val="600"/>
                  </a:spcAft>
                </a:pP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m:t>
                    </m:r>
                    <m:r>
                      <a:rPr lang="en-US" altLang="zh-CN" b="1" i="1" smtClean="0">
                        <a:solidFill>
                          <a:srgbClr val="C00000"/>
                        </a:solidFill>
                        <a:latin typeface="Cambria Math" panose="02040503050406030204" pitchFamily="18" charset="0"/>
                        <a:ea typeface="宋体" panose="02010600030101010101" pitchFamily="2" charset="-122"/>
                      </a:rPr>
                      <m:t>𝒖</m:t>
                    </m:r>
                  </m:oMath>
                </a14:m>
                <a:r>
                  <a:rPr lang="zh-CN" altLang="en-US" b="1">
                    <a:solidFill>
                      <a:srgbClr val="C00000"/>
                    </a:solidFill>
                    <a:latin typeface="黑体" panose="02010609060101010101" pitchFamily="49" charset="-122"/>
                    <a:ea typeface="黑体" panose="02010609060101010101" pitchFamily="49" charset="-122"/>
                  </a:rPr>
                  <a:t>辖域扩张后应在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m:t>
                    </m:r>
                    <m:r>
                      <a:rPr lang="en-US" altLang="zh-CN" b="1" i="1" smtClean="0">
                        <a:solidFill>
                          <a:srgbClr val="C00000"/>
                        </a:solidFill>
                        <a:latin typeface="Cambria Math" panose="02040503050406030204" pitchFamily="18" charset="0"/>
                        <a:ea typeface="宋体" panose="02010600030101010101" pitchFamily="2" charset="-122"/>
                      </a:rPr>
                      <m:t>𝒙</m:t>
                    </m:r>
                  </m:oMath>
                </a14:m>
                <a:r>
                  <a:rPr lang="zh-CN" altLang="en-US" b="1">
                    <a:solidFill>
                      <a:srgbClr val="C00000"/>
                    </a:solidFill>
                    <a:latin typeface="黑体" panose="02010609060101010101" pitchFamily="49" charset="-122"/>
                    <a:ea typeface="黑体" panose="02010609060101010101" pitchFamily="49" charset="-122"/>
                  </a:rPr>
                  <a:t>后面</a:t>
                </a:r>
                <a:r>
                  <a:rPr lang="zh-CN" altLang="en-US" b="1">
                    <a:solidFill>
                      <a:schemeClr val="accent6">
                        <a:lumMod val="50000"/>
                      </a:schemeClr>
                    </a:solidFill>
                    <a:latin typeface="宋体" panose="02010600030101010101" pitchFamily="2" charset="-122"/>
                    <a:ea typeface="宋体" panose="02010600030101010101" pitchFamily="2" charset="-122"/>
                  </a:rPr>
                  <a:t>，即在</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oMath>
                </a14:m>
                <a:r>
                  <a:rPr lang="zh-CN" altLang="en-US" b="1">
                    <a:solidFill>
                      <a:schemeClr val="accent6">
                        <a:lumMod val="50000"/>
                      </a:schemeClr>
                    </a:solidFill>
                    <a:latin typeface="宋体" panose="02010600030101010101" pitchFamily="2" charset="-122"/>
                    <a:ea typeface="宋体" panose="02010600030101010101" pitchFamily="2" charset="-122"/>
                  </a:rPr>
                  <a:t>的辖域内</a:t>
                </a:r>
              </a:p>
            </p:txBody>
          </p:sp>
        </mc:Choice>
        <mc:Fallback xmlns="">
          <p:sp>
            <p:nvSpPr>
              <p:cNvPr id="18" name="文本框 17">
                <a:extLst>
                  <a:ext uri="{FF2B5EF4-FFF2-40B4-BE49-F238E27FC236}">
                    <a16:creationId xmlns:a16="http://schemas.microsoft.com/office/drawing/2014/main" id="{54F6372A-77D7-47FE-954F-B66A7C3BF4F9}"/>
                  </a:ext>
                </a:extLst>
              </p:cNvPr>
              <p:cNvSpPr txBox="1">
                <a:spLocks noRot="1" noChangeAspect="1" noMove="1" noResize="1" noEditPoints="1" noAdjustHandles="1" noChangeArrowheads="1" noChangeShapeType="1" noTextEdit="1"/>
              </p:cNvSpPr>
              <p:nvPr/>
            </p:nvSpPr>
            <p:spPr>
              <a:xfrm>
                <a:off x="445135" y="5255514"/>
                <a:ext cx="4699185" cy="723275"/>
              </a:xfrm>
              <a:prstGeom prst="rect">
                <a:avLst/>
              </a:prstGeom>
              <a:blipFill>
                <a:blip r:embed="rId3"/>
                <a:stretch>
                  <a:fillRect t="-4202" r="-1167" b="-10924"/>
                </a:stretch>
              </a:blipFill>
            </p:spPr>
            <p:txBody>
              <a:bodyPr/>
              <a:lstStyle/>
              <a:p>
                <a:r>
                  <a:rPr lang="zh-CN" altLang="en-US">
                    <a:noFill/>
                  </a:rPr>
                  <a:t> </a:t>
                </a:r>
              </a:p>
            </p:txBody>
          </p:sp>
        </mc:Fallback>
      </mc:AlternateContent>
      <p:sp>
        <p:nvSpPr>
          <p:cNvPr id="19" name="箭头: 右 18">
            <a:extLst>
              <a:ext uri="{FF2B5EF4-FFF2-40B4-BE49-F238E27FC236}">
                <a16:creationId xmlns:a16="http://schemas.microsoft.com/office/drawing/2014/main" id="{1345F7A7-C972-4FC2-96B6-27ABBD36C9E6}"/>
              </a:ext>
            </a:extLst>
          </p:cNvPr>
          <p:cNvSpPr/>
          <p:nvPr/>
        </p:nvSpPr>
        <p:spPr>
          <a:xfrm>
            <a:off x="5164059" y="5427495"/>
            <a:ext cx="256559" cy="687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F5556B3A-A041-48B9-A3D7-3D1422A9D29D}"/>
              </a:ext>
            </a:extLst>
          </p:cNvPr>
          <p:cNvPicPr>
            <a:picLocks noChangeAspect="1"/>
          </p:cNvPicPr>
          <p:nvPr/>
        </p:nvPicPr>
        <p:blipFill>
          <a:blip r:embed="rId4"/>
          <a:stretch>
            <a:fillRect/>
          </a:stretch>
        </p:blipFill>
        <p:spPr>
          <a:xfrm>
            <a:off x="5425003" y="3751087"/>
            <a:ext cx="6361330" cy="2614779"/>
          </a:xfrm>
          <a:prstGeom prst="rect">
            <a:avLst/>
          </a:prstGeom>
        </p:spPr>
      </p:pic>
      <p:sp>
        <p:nvSpPr>
          <p:cNvPr id="16" name="矩形 15">
            <a:extLst>
              <a:ext uri="{FF2B5EF4-FFF2-40B4-BE49-F238E27FC236}">
                <a16:creationId xmlns:a16="http://schemas.microsoft.com/office/drawing/2014/main" id="{06ADEF7A-2F20-4DDE-9A81-8CBADC392B71}"/>
              </a:ext>
            </a:extLst>
          </p:cNvPr>
          <p:cNvSpPr/>
          <p:nvPr/>
        </p:nvSpPr>
        <p:spPr>
          <a:xfrm>
            <a:off x="5729801" y="4124668"/>
            <a:ext cx="256559" cy="27209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63652AF8-7A5F-4980-82E7-68E72F52FD7D}"/>
              </a:ext>
            </a:extLst>
          </p:cNvPr>
          <p:cNvSpPr/>
          <p:nvPr/>
        </p:nvSpPr>
        <p:spPr>
          <a:xfrm>
            <a:off x="5729801" y="4519668"/>
            <a:ext cx="256559" cy="27209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C9FAEAB-190A-44DC-97E9-724996A4EFE6}"/>
              </a:ext>
            </a:extLst>
          </p:cNvPr>
          <p:cNvSpPr/>
          <p:nvPr/>
        </p:nvSpPr>
        <p:spPr>
          <a:xfrm>
            <a:off x="7882425" y="4922431"/>
            <a:ext cx="256559" cy="27209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5966BCB-7695-44B4-9777-7066C46DD1D8}"/>
              </a:ext>
            </a:extLst>
          </p:cNvPr>
          <p:cNvSpPr/>
          <p:nvPr/>
        </p:nvSpPr>
        <p:spPr>
          <a:xfrm>
            <a:off x="5967719" y="5285036"/>
            <a:ext cx="256559" cy="27209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a:extLst>
              <a:ext uri="{FF2B5EF4-FFF2-40B4-BE49-F238E27FC236}">
                <a16:creationId xmlns:a16="http://schemas.microsoft.com/office/drawing/2014/main" id="{6911AB65-B551-46D5-9CB5-E0F55D0DAEB6}"/>
              </a:ext>
            </a:extLst>
          </p:cNvPr>
          <p:cNvCxnSpPr/>
          <p:nvPr/>
        </p:nvCxnSpPr>
        <p:spPr>
          <a:xfrm flipH="1">
            <a:off x="6224278" y="5194521"/>
            <a:ext cx="1658147" cy="9051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36FC890F-A70E-4B67-8FDD-D0AA8FBE4446}"/>
              </a:ext>
            </a:extLst>
          </p:cNvPr>
          <p:cNvCxnSpPr>
            <a:stCxn id="16" idx="2"/>
            <a:endCxn id="20" idx="0"/>
          </p:cNvCxnSpPr>
          <p:nvPr/>
        </p:nvCxnSpPr>
        <p:spPr>
          <a:xfrm>
            <a:off x="5858081" y="4396758"/>
            <a:ext cx="0" cy="1229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48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par>
                                <p:cTn id="16" presetID="16" presetClass="entr" presetSubtype="21"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barn(inVertical)">
                                      <p:cBhvr>
                                        <p:cTn id="18" dur="500"/>
                                        <p:tgtEl>
                                          <p:spTgt spid="27"/>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arn(inVertical)">
                                      <p:cBhvr>
                                        <p:cTn id="21" dur="500"/>
                                        <p:tgtEl>
                                          <p:spTgt spid="20"/>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arn(inVertic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arn(inVertical)">
                                      <p:cBhvr>
                                        <p:cTn id="32" dur="500"/>
                                        <p:tgtEl>
                                          <p:spTgt spid="22"/>
                                        </p:tgtEl>
                                      </p:cBhvr>
                                    </p:animEffect>
                                  </p:childTnLst>
                                </p:cTn>
                              </p:par>
                              <p:par>
                                <p:cTn id="33" presetID="16" presetClass="entr" presetSubtype="21"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arn(inVertical)">
                                      <p:cBhvr>
                                        <p:cTn id="35" dur="500"/>
                                        <p:tgtEl>
                                          <p:spTgt spid="25"/>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arn(inVertical)">
                                      <p:cBhvr>
                                        <p:cTn id="38" dur="500"/>
                                        <p:tgtEl>
                                          <p:spTgt spid="23"/>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barn(inVertical)">
                                      <p:cBhvr>
                                        <p:cTn id="41" dur="500"/>
                                        <p:tgtEl>
                                          <p:spTgt spid="19"/>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barn(inVertical)">
                                      <p:cBhvr>
                                        <p:cTn id="4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P spid="15" grpId="0" animBg="1"/>
      <p:bldP spid="18" grpId="0" animBg="1"/>
      <p:bldP spid="19" grpId="0" animBg="1"/>
      <p:bldP spid="16" grpId="0" animBg="1"/>
      <p:bldP spid="20" grpId="0" animBg="1"/>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F550948-0A88-4D14-B7D1-47069CABE5F1}"/>
                  </a:ext>
                </a:extLst>
              </p:cNvPr>
              <p:cNvSpPr txBox="1"/>
              <p:nvPr/>
            </p:nvSpPr>
            <p:spPr>
              <a:xfrm>
                <a:off x="725818" y="1206300"/>
                <a:ext cx="5749537" cy="1744067"/>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一阶逻辑公式的</a:t>
                </a:r>
                <a:r>
                  <a:rPr lang="zh-CN" altLang="en-US" sz="2400" b="1">
                    <a:solidFill>
                      <a:srgbClr val="C00000"/>
                    </a:solidFill>
                  </a:rPr>
                  <a:t>逻辑等值</a:t>
                </a: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两个一阶逻辑公式逻辑等值当且仅当它们在任意解释和任意个体变量指派函数下真值相同</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𝑨</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逻辑等值当且仅当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𝑨</m:t>
                    </m:r>
                    <m:r>
                      <a:rPr lang="en-US" altLang="zh-CN" sz="2000" b="1" i="1">
                        <a:solidFill>
                          <a:schemeClr val="accent6">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是永真式</a:t>
                </a:r>
              </a:p>
            </p:txBody>
          </p:sp>
        </mc:Choice>
        <mc:Fallback xmlns="">
          <p:sp>
            <p:nvSpPr>
              <p:cNvPr id="2" name="文本框 1">
                <a:extLst>
                  <a:ext uri="{FF2B5EF4-FFF2-40B4-BE49-F238E27FC236}">
                    <a16:creationId xmlns:a16="http://schemas.microsoft.com/office/drawing/2014/main" id="{EF550948-0A88-4D14-B7D1-47069CABE5F1}"/>
                  </a:ext>
                </a:extLst>
              </p:cNvPr>
              <p:cNvSpPr txBox="1">
                <a:spLocks noRot="1" noChangeAspect="1" noMove="1" noResize="1" noEditPoints="1" noAdjustHandles="1" noChangeArrowheads="1" noChangeShapeType="1" noTextEdit="1"/>
              </p:cNvSpPr>
              <p:nvPr/>
            </p:nvSpPr>
            <p:spPr>
              <a:xfrm>
                <a:off x="725818" y="1206300"/>
                <a:ext cx="5749537" cy="1744067"/>
              </a:xfrm>
              <a:prstGeom prst="rect">
                <a:avLst/>
              </a:prstGeom>
              <a:blipFill>
                <a:blip r:embed="rId2"/>
                <a:stretch>
                  <a:fillRect l="-954" t="-2448" b="-4545"/>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CB454D62-D95A-49D5-9CE8-5DF2CFBD3372}"/>
              </a:ext>
            </a:extLst>
          </p:cNvPr>
          <p:cNvSpPr txBox="1"/>
          <p:nvPr/>
        </p:nvSpPr>
        <p:spPr>
          <a:xfrm>
            <a:off x="6622269" y="1210367"/>
            <a:ext cx="4843913" cy="2883803"/>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sz="2400" b="1">
                <a:solidFill>
                  <a:srgbClr val="002060"/>
                </a:solidFill>
              </a:rPr>
              <a:t>证明两个公式逻辑等值</a:t>
            </a: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根据逻辑等值的定义进行</a:t>
            </a:r>
            <a:r>
              <a:rPr lang="zh-CN" altLang="en-US" sz="2000" b="1">
                <a:solidFill>
                  <a:srgbClr val="C00000"/>
                </a:solidFill>
                <a:latin typeface="黑体" panose="02010609060101010101" pitchFamily="49" charset="-122"/>
                <a:ea typeface="黑体" panose="02010609060101010101" pitchFamily="49" charset="-122"/>
              </a:rPr>
              <a:t>非形式化的证明</a:t>
            </a:r>
            <a:r>
              <a:rPr lang="zh-CN" altLang="en-US" sz="2000" b="1">
                <a:solidFill>
                  <a:schemeClr val="accent6">
                    <a:lumMod val="50000"/>
                  </a:schemeClr>
                </a:solidFill>
                <a:latin typeface="楷体" panose="02010609060101010101" pitchFamily="49" charset="-122"/>
                <a:ea typeface="楷体" panose="02010609060101010101" pitchFamily="49" charset="-122"/>
              </a:rPr>
              <a:t>，与证明永真式的方法相同</a:t>
            </a:r>
          </a:p>
          <a:p>
            <a:pPr marL="342900" indent="-342900">
              <a:lnSpc>
                <a:spcPts val="26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等值演算法</a:t>
            </a:r>
            <a:r>
              <a:rPr lang="zh-CN" altLang="en-US" sz="2000" b="1">
                <a:solidFill>
                  <a:schemeClr val="accent6">
                    <a:lumMod val="50000"/>
                  </a:schemeClr>
                </a:solidFill>
                <a:latin typeface="楷体" panose="02010609060101010101" pitchFamily="49" charset="-122"/>
                <a:ea typeface="楷体" panose="02010609060101010101" pitchFamily="49" charset="-122"/>
              </a:rPr>
              <a:t>：利用基本等值式模式，使用子公式等值置换的方式进行变形</a:t>
            </a:r>
          </a:p>
          <a:p>
            <a:pPr marL="800100" lvl="1" indent="-34290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命题逻辑基本等值式模式可用于一阶逻辑的等值演算</a:t>
            </a:r>
          </a:p>
        </p:txBody>
      </p:sp>
      <p:sp>
        <p:nvSpPr>
          <p:cNvPr id="4" name="文本框 3">
            <a:extLst>
              <a:ext uri="{FF2B5EF4-FFF2-40B4-BE49-F238E27FC236}">
                <a16:creationId xmlns:a16="http://schemas.microsoft.com/office/drawing/2014/main" id="{79046192-3E11-4E79-BCD3-91093B8CC99E}"/>
              </a:ext>
            </a:extLst>
          </p:cNvPr>
          <p:cNvSpPr txBox="1"/>
          <p:nvPr/>
        </p:nvSpPr>
        <p:spPr>
          <a:xfrm>
            <a:off x="1806182" y="4328497"/>
            <a:ext cx="8233171" cy="1846659"/>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能使用非形式化的方法，根据一阶逻辑公式语义证明逻辑等值式</a:t>
            </a: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熟记量词公式的基本等值式模式，能使用等值演算法证明逻辑等值式</a:t>
            </a: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能求与一个一阶逻辑公式逻辑等值的前束范式</a:t>
            </a:r>
          </a:p>
        </p:txBody>
      </p:sp>
      <p:sp>
        <p:nvSpPr>
          <p:cNvPr id="6" name="文本框 5">
            <a:extLst>
              <a:ext uri="{FF2B5EF4-FFF2-40B4-BE49-F238E27FC236}">
                <a16:creationId xmlns:a16="http://schemas.microsoft.com/office/drawing/2014/main" id="{FBD8C56A-28AD-43B0-A5DF-979ECC004D81}"/>
              </a:ext>
            </a:extLst>
          </p:cNvPr>
          <p:cNvSpPr txBox="1"/>
          <p:nvPr/>
        </p:nvSpPr>
        <p:spPr>
          <a:xfrm>
            <a:off x="1178629" y="3218753"/>
            <a:ext cx="4843913" cy="846386"/>
          </a:xfrm>
          <a:prstGeom prst="rect">
            <a:avLst/>
          </a:prstGeom>
          <a:solidFill>
            <a:schemeClr val="accent5">
              <a:lumMod val="20000"/>
              <a:lumOff val="80000"/>
              <a:alpha val="75000"/>
            </a:schemeClr>
          </a:solidFill>
        </p:spPr>
        <p:txBody>
          <a:bodyPr wrap="square" rtlCol="0">
            <a:spAutoFit/>
          </a:bodyPr>
          <a:lstStyle/>
          <a:p>
            <a:pPr algn="ctr">
              <a:spcAft>
                <a:spcPts val="600"/>
              </a:spcAft>
            </a:pPr>
            <a:r>
              <a:rPr lang="zh-CN" altLang="en-US" sz="2400" b="1">
                <a:solidFill>
                  <a:srgbClr val="C00000"/>
                </a:solidFill>
              </a:rPr>
              <a:t>前束范式</a:t>
            </a:r>
            <a:endParaRPr lang="en-US" altLang="zh-CN" sz="2400" b="1">
              <a:solidFill>
                <a:srgbClr val="C00000"/>
              </a:solidFill>
            </a:endParaRPr>
          </a:p>
          <a:p>
            <a:pPr>
              <a:spcAft>
                <a:spcPts val="600"/>
              </a:spcAft>
            </a:pPr>
            <a:r>
              <a:rPr lang="zh-CN" altLang="en-US" sz="2000" b="1">
                <a:solidFill>
                  <a:schemeClr val="accent6">
                    <a:lumMod val="50000"/>
                  </a:schemeClr>
                </a:solidFill>
                <a:latin typeface="楷体" panose="02010609060101010101" pitchFamily="49" charset="-122"/>
                <a:ea typeface="楷体" panose="02010609060101010101" pitchFamily="49" charset="-122"/>
              </a:rPr>
              <a:t>量词约束都在公式最前面的一阶逻辑公式</a:t>
            </a:r>
          </a:p>
        </p:txBody>
      </p:sp>
    </p:spTree>
    <p:extLst>
      <p:ext uri="{BB962C8B-B14F-4D97-AF65-F5344CB8AC3E}">
        <p14:creationId xmlns:p14="http://schemas.microsoft.com/office/powerpoint/2010/main" val="375313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/24</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11" name="文本框 10">
            <a:extLst>
              <a:ext uri="{FF2B5EF4-FFF2-40B4-BE49-F238E27FC236}">
                <a16:creationId xmlns:a16="http://schemas.microsoft.com/office/drawing/2014/main" id="{0F55049D-CFE2-4567-B478-6BBB2F2BF4E7}"/>
              </a:ext>
            </a:extLst>
          </p:cNvPr>
          <p:cNvSpPr txBox="1"/>
          <p:nvPr/>
        </p:nvSpPr>
        <p:spPr>
          <a:xfrm>
            <a:off x="652828" y="2736502"/>
            <a:ext cx="9802863" cy="58477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完成练习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3.14(1,3)</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3.17</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3.20</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3.22</a:t>
            </a:r>
          </a:p>
        </p:txBody>
      </p:sp>
    </p:spTree>
    <p:extLst>
      <p:ext uri="{BB962C8B-B14F-4D97-AF65-F5344CB8AC3E}">
        <p14:creationId xmlns:p14="http://schemas.microsoft.com/office/powerpoint/2010/main" val="118656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1126</TotalTime>
  <Words>3502</Words>
  <Application>Microsoft Office PowerPoint</Application>
  <PresentationFormat>宽屏</PresentationFormat>
  <Paragraphs>322</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等线</vt:lpstr>
      <vt:lpstr>等线 Light</vt:lpstr>
      <vt:lpstr>仿宋</vt:lpstr>
      <vt:lpstr>黑体</vt:lpstr>
      <vt:lpstr>华文新魏</vt:lpstr>
      <vt:lpstr>楷体</vt:lpstr>
      <vt:lpstr>宋体</vt:lpstr>
      <vt:lpstr>Arial</vt:lpstr>
      <vt:lpstr>Cambria Math</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84</cp:revision>
  <dcterms:created xsi:type="dcterms:W3CDTF">2022-01-01T06:39:40Z</dcterms:created>
  <dcterms:modified xsi:type="dcterms:W3CDTF">2024-10-14T15:34:41Z</dcterms:modified>
</cp:coreProperties>
</file>